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41"/>
  </p:notesMasterIdLst>
  <p:handoutMasterIdLst>
    <p:handoutMasterId r:id="rId42"/>
  </p:handoutMasterIdLst>
  <p:sldIdLst>
    <p:sldId id="1605" r:id="rId5"/>
    <p:sldId id="1129" r:id="rId6"/>
    <p:sldId id="1438" r:id="rId7"/>
    <p:sldId id="1358" r:id="rId8"/>
    <p:sldId id="1574" r:id="rId9"/>
    <p:sldId id="1575" r:id="rId10"/>
    <p:sldId id="1576" r:id="rId11"/>
    <p:sldId id="1577" r:id="rId12"/>
    <p:sldId id="1580" r:id="rId13"/>
    <p:sldId id="1579" r:id="rId14"/>
    <p:sldId id="1578" r:id="rId15"/>
    <p:sldId id="1581" r:id="rId16"/>
    <p:sldId id="1582" r:id="rId17"/>
    <p:sldId id="1583" r:id="rId18"/>
    <p:sldId id="1584" r:id="rId19"/>
    <p:sldId id="1585" r:id="rId20"/>
    <p:sldId id="1586" r:id="rId21"/>
    <p:sldId id="1587" r:id="rId22"/>
    <p:sldId id="1588" r:id="rId23"/>
    <p:sldId id="1589" r:id="rId24"/>
    <p:sldId id="1590" r:id="rId25"/>
    <p:sldId id="1591" r:id="rId26"/>
    <p:sldId id="1592" r:id="rId27"/>
    <p:sldId id="1593" r:id="rId28"/>
    <p:sldId id="1594" r:id="rId29"/>
    <p:sldId id="1595" r:id="rId30"/>
    <p:sldId id="1596" r:id="rId31"/>
    <p:sldId id="1597" r:id="rId32"/>
    <p:sldId id="1598" r:id="rId33"/>
    <p:sldId id="1599" r:id="rId34"/>
    <p:sldId id="1600" r:id="rId35"/>
    <p:sldId id="1602" r:id="rId36"/>
    <p:sldId id="1601" r:id="rId37"/>
    <p:sldId id="1603" r:id="rId38"/>
    <p:sldId id="1604" r:id="rId39"/>
    <p:sldId id="1357" r:id="rId4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8" autoAdjust="0"/>
    <p:restoredTop sz="93807" autoAdjust="0"/>
  </p:normalViewPr>
  <p:slideViewPr>
    <p:cSldViewPr>
      <p:cViewPr varScale="1">
        <p:scale>
          <a:sx n="109" d="100"/>
          <a:sy n="109" d="100"/>
        </p:scale>
        <p:origin x="184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4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33.wmf"/><Relationship Id="rId21" Type="http://schemas.openxmlformats.org/officeDocument/2006/relationships/image" Target="../media/image42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40.wmf"/><Relationship Id="rId25" Type="http://schemas.openxmlformats.org/officeDocument/2006/relationships/image" Target="../media/image44.w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7.wmf"/><Relationship Id="rId24" Type="http://schemas.openxmlformats.org/officeDocument/2006/relationships/oleObject" Target="../embeddings/oleObject38.bin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43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4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55.emf"/><Relationship Id="rId4" Type="http://schemas.openxmlformats.org/officeDocument/2006/relationships/oleObject" Target="../embeddings/oleObject4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7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028476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1FA1D84-786D-49E5-B770-BEFA554F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104490"/>
            <a:ext cx="85689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第三章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线性方程组与向量组的线性相关性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654644-2266-4BF2-81A4-27F5243891BA}"/>
              </a:ext>
            </a:extLst>
          </p:cNvPr>
          <p:cNvSpPr/>
          <p:nvPr/>
        </p:nvSpPr>
        <p:spPr>
          <a:xfrm>
            <a:off x="2699792" y="1700808"/>
            <a:ext cx="32624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§6  </a:t>
            </a:r>
            <a:r>
              <a:rPr lang="zh-CN" altLang="en-US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向量空间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>
            <a:extLst>
              <a:ext uri="{FF2B5EF4-FFF2-40B4-BE49-F238E27FC236}">
                <a16:creationId xmlns:a16="http://schemas.microsoft.com/office/drawing/2014/main" id="{7568BA63-4688-4AC2-A6B8-AE73447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0" y="1089610"/>
            <a:ext cx="7560840" cy="324742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本节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重点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解决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如下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</a:t>
            </a:r>
            <a:r>
              <a:rPr lang="zh-CN" altLang="zh-CN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向量空间的基和向量的坐标的相关定义</a:t>
            </a: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建立向量的坐标和线性方程组的内在联系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楷体_GB2312" pitchFamily="49" charset="-122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讨论</a:t>
            </a:r>
            <a:r>
              <a:rPr lang="zh-CN" altLang="zh-CN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向量空间的基变换和坐标变换公式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9C6B4F-6DDD-0D59-4611-2C56CEB4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3920026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186BAE3-90A5-9852-6684-822A84EFB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834301"/>
            <a:ext cx="19134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3.12</a:t>
            </a:r>
            <a:endParaRPr lang="en-US" altLang="zh-CN" b="1" i="1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066716-7E0C-C14D-C784-9D9A103B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333" y="2261215"/>
            <a:ext cx="46354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则称集合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9123C3-E486-7954-2875-FF607F1F1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966777"/>
            <a:ext cx="792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所谓封闭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是指在集合</a:t>
            </a:r>
            <a:r>
              <a:rPr lang="zh-CN" altLang="en-US" sz="16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中可以进行加法及数乘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E9F2B0C-1477-CFE8-B651-70EFEFE4D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3687502"/>
            <a:ext cx="259681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两种运算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1128AA2-C3C8-CAA7-D765-907CD0FE2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158" y="4406640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; 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D728520F-1833-7593-10AE-BF3AE0F47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333" y="5127365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若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R, 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83E22A66-2192-6FB8-E991-F0A3DDA02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471" y="3687502"/>
            <a:ext cx="122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4C8CC27-9A74-9F48-885C-D4FCBAFEE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333" y="4406640"/>
            <a:ext cx="3167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16624862-8EAA-7C53-70B5-BEB34CC84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810" y="824523"/>
            <a:ext cx="233464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如果集合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8B6A1353-5785-E47B-06FA-1BFAC1EB5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266" y="1562224"/>
            <a:ext cx="72311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且集合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对于向量的加法及乘数两种运算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473344B8-1B29-85D6-4833-7E175B63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240" y="5125777"/>
            <a:ext cx="217755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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80DD2AB0-C117-1052-EDF1-ED65F3CAA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9370" y="824523"/>
            <a:ext cx="420752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维向量的集合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A17D27-4D62-8AA6-1896-8321C91D3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1554999"/>
            <a:ext cx="1871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1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非空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C0446BC-6B77-9062-9386-C9C5C72C3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2256894"/>
            <a:ext cx="146773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封闭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build="p" autoUpdateAnimBg="0"/>
      <p:bldP spid="7" grpId="0" build="p" autoUpdateAnimBg="0" advAuto="0"/>
      <p:bldP spid="13" grpId="0" build="p" autoUpdateAnimBg="0" advAuto="0"/>
      <p:bldP spid="14" grpId="0" build="p" autoUpdateAnimBg="0"/>
      <p:bldP spid="16" grpId="0" build="p" autoUpdateAnimBg="0"/>
      <p:bldP spid="17" grpId="0" build="p" autoUpdateAnimBg="0"/>
      <p:bldP spid="23" grpId="0" autoUpdateAnimBg="0"/>
      <p:bldP spid="24" grpId="0" autoUpdateAnimBg="0"/>
      <p:bldP spid="25" grpId="0" build="p" autoUpdateAnimBg="0"/>
      <p:bldP spid="30" grpId="0" autoUpdateAnimBg="0"/>
      <p:bldP spid="5" grpId="0" autoUpdateAnimBg="0"/>
      <p:bldP spid="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1">
            <a:extLst>
              <a:ext uri="{FF2B5EF4-FFF2-40B4-BE49-F238E27FC236}">
                <a16:creationId xmlns:a16="http://schemas.microsoft.com/office/drawing/2014/main" id="{AEB2A3A7-AAE2-F7EC-EFD5-D4FF6A4B1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950" y="4991079"/>
            <a:ext cx="1079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B55E95F-4F05-7E28-7C1C-9DE2282C7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725" y="696912"/>
            <a:ext cx="655272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判别一个非空集合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000" b="1" i="1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是否为向量空间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0C46DAE-68EC-0C60-D0B3-914303A9C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412" y="694720"/>
            <a:ext cx="1528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主要看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62F1E90-F698-6397-98E3-6C90B8605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063" y="1900210"/>
            <a:ext cx="45511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向量的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加法是否封闭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;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8787830-3CC5-37AF-07BA-01A71D02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063" y="2495032"/>
            <a:ext cx="46231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向量的数乘是否封闭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EDFC7C49-CE54-85C4-0C07-EEE1E9112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062" y="3697745"/>
            <a:ext cx="186245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集合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90AFF5B0-60A1-151E-6DC9-11B894316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062" y="4357083"/>
            <a:ext cx="296693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不是向量空间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5C82A4E1-92F7-55F4-904A-ED1594FE8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076" y="4353801"/>
            <a:ext cx="177882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因为若</a:t>
            </a:r>
          </a:p>
        </p:txBody>
      </p:sp>
      <p:graphicFrame>
        <p:nvGraphicFramePr>
          <p:cNvPr id="40" name="Object 23">
            <a:extLst>
              <a:ext uri="{FF2B5EF4-FFF2-40B4-BE49-F238E27FC236}">
                <a16:creationId xmlns:a16="http://schemas.microsoft.com/office/drawing/2014/main" id="{EAA76B39-F315-5E0B-B4C9-7DA051BDA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614838"/>
              </p:ext>
            </p:extLst>
          </p:nvPr>
        </p:nvGraphicFramePr>
        <p:xfrm>
          <a:off x="2082704" y="3703244"/>
          <a:ext cx="613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34040" imgH="507960" progId="Equation.DSMT4">
                  <p:embed/>
                </p:oleObj>
              </mc:Choice>
              <mc:Fallback>
                <p:oleObj name="Equation" r:id="rId2" imgW="6134040" imgH="507960" progId="Equation.DSMT4">
                  <p:embed/>
                  <p:pic>
                    <p:nvPicPr>
                      <p:cNvPr id="19" name="Object 23">
                        <a:extLst>
                          <a:ext uri="{FF2B5EF4-FFF2-40B4-BE49-F238E27FC236}">
                            <a16:creationId xmlns:a16="http://schemas.microsoft.com/office/drawing/2014/main" id="{93D04A85-C2F0-5E01-8FA5-B654F88B71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704" y="3703244"/>
                        <a:ext cx="613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7C3538DD-DD75-AA61-35C7-C5FF45E4A3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765136"/>
              </p:ext>
            </p:extLst>
          </p:nvPr>
        </p:nvGraphicFramePr>
        <p:xfrm>
          <a:off x="4483216" y="4382422"/>
          <a:ext cx="3517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482400" progId="Equation.DSMT4">
                  <p:embed/>
                </p:oleObj>
              </mc:Choice>
              <mc:Fallback>
                <p:oleObj name="Equation" r:id="rId4" imgW="3517560" imgH="482400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912EB5CA-56CE-26FF-6795-31A938EA1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216" y="4382422"/>
                        <a:ext cx="3517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3">
            <a:extLst>
              <a:ext uri="{FF2B5EF4-FFF2-40B4-BE49-F238E27FC236}">
                <a16:creationId xmlns:a16="http://schemas.microsoft.com/office/drawing/2014/main" id="{C70E1449-4A54-9363-B539-E9DB5C501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522682"/>
              </p:ext>
            </p:extLst>
          </p:nvPr>
        </p:nvGraphicFramePr>
        <p:xfrm>
          <a:off x="1325728" y="5030766"/>
          <a:ext cx="422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28920" imgH="482400" progId="Equation.DSMT4">
                  <p:embed/>
                </p:oleObj>
              </mc:Choice>
              <mc:Fallback>
                <p:oleObj name="Equation" r:id="rId6" imgW="4228920" imgH="482400" progId="Equation.DSMT4">
                  <p:embed/>
                  <p:pic>
                    <p:nvPicPr>
                      <p:cNvPr id="21" name="Object 13">
                        <a:extLst>
                          <a:ext uri="{FF2B5EF4-FFF2-40B4-BE49-F238E27FC236}">
                            <a16:creationId xmlns:a16="http://schemas.microsoft.com/office/drawing/2014/main" id="{9E71BB54-FFAC-4B98-15C3-2F4A30BA8E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728" y="5030766"/>
                        <a:ext cx="4229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11">
            <a:extLst>
              <a:ext uri="{FF2B5EF4-FFF2-40B4-BE49-F238E27FC236}">
                <a16:creationId xmlns:a16="http://schemas.microsoft.com/office/drawing/2014/main" id="{162A8D69-062E-45A8-958C-4BBD9B9AA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725" y="3101391"/>
            <a:ext cx="13684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TextBox 3">
            <a:extLst>
              <a:ext uri="{FF2B5EF4-FFF2-40B4-BE49-F238E27FC236}">
                <a16:creationId xmlns:a16="http://schemas.microsoft.com/office/drawing/2014/main" id="{BC07DB8F-F936-F09B-FD66-CE0C7D34C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062" y="1301533"/>
            <a:ext cx="24628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以下两点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B63963A5-CB64-8595-3104-F9B5E5DB8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88" y="5631626"/>
            <a:ext cx="54798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所以此非空集合不是向量空间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82CF73F4-9261-44F5-BE4F-1B84F5E8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89466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7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8" grpId="0"/>
      <p:bldP spid="9" grpId="0"/>
      <p:bldP spid="10" grpId="0"/>
      <p:bldP spid="11" grpId="0"/>
      <p:bldP spid="12" grpId="0"/>
      <p:bldP spid="18" grpId="0"/>
      <p:bldP spid="32" grpId="0"/>
      <p:bldP spid="48" grpId="0"/>
      <p:bldP spid="49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09AF1CE3-1C74-6196-0C98-8FBF1B001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29" y="1826127"/>
            <a:ext cx="222609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1E063E32-504F-6FF7-6624-2EFFDD7C2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29" y="2546075"/>
            <a:ext cx="167165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因为若</a:t>
            </a: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3DC65AAC-DE8B-079E-BED2-66E3D194B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29" y="3293523"/>
            <a:ext cx="129562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D03C7E8-44FA-6AAA-DFC8-380CB890ED6C}"/>
              </a:ext>
            </a:extLst>
          </p:cNvPr>
          <p:cNvGrpSpPr/>
          <p:nvPr/>
        </p:nvGrpSpPr>
        <p:grpSpPr>
          <a:xfrm>
            <a:off x="971600" y="923651"/>
            <a:ext cx="7337426" cy="990600"/>
            <a:chOff x="971600" y="923651"/>
            <a:chExt cx="7337426" cy="990600"/>
          </a:xfrm>
        </p:grpSpPr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635BD726-2625-0EC9-CFF3-77CEB7CAF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1106989"/>
              <a:ext cx="1863726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②</a:t>
              </a: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集合</a:t>
              </a: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47914E3B-2243-4981-1F9B-9AB66ED96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601" y="1108577"/>
              <a:ext cx="1368425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不是</a:t>
              </a:r>
            </a:p>
          </p:txBody>
        </p:sp>
        <p:graphicFrame>
          <p:nvGraphicFramePr>
            <p:cNvPr id="43" name="Object 14">
              <a:extLst>
                <a:ext uri="{FF2B5EF4-FFF2-40B4-BE49-F238E27FC236}">
                  <a16:creationId xmlns:a16="http://schemas.microsoft.com/office/drawing/2014/main" id="{B92B1BB3-3418-F658-A93E-E211B7CF72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681481"/>
                </p:ext>
              </p:extLst>
            </p:nvPr>
          </p:nvGraphicFramePr>
          <p:xfrm>
            <a:off x="2265413" y="923651"/>
            <a:ext cx="4749800" cy="990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749800" imgH="990600" progId="Equation.DSMT4">
                    <p:embed/>
                  </p:oleObj>
                </mc:Choice>
                <mc:Fallback>
                  <p:oleObj name="Equation" r:id="rId2" imgW="4749800" imgH="990600" progId="Equation.DSMT4">
                    <p:embed/>
                    <p:pic>
                      <p:nvPicPr>
                        <p:cNvPr id="43" name="Object 14">
                          <a:extLst>
                            <a:ext uri="{FF2B5EF4-FFF2-40B4-BE49-F238E27FC236}">
                              <a16:creationId xmlns:a16="http://schemas.microsoft.com/office/drawing/2014/main" id="{B92B1BB3-3418-F658-A93E-E211B7CF72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5413" y="923651"/>
                          <a:ext cx="4749800" cy="990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Object 15">
            <a:extLst>
              <a:ext uri="{FF2B5EF4-FFF2-40B4-BE49-F238E27FC236}">
                <a16:creationId xmlns:a16="http://schemas.microsoft.com/office/drawing/2014/main" id="{D394DFD3-090A-9BA3-E220-DD54B2D4F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128121"/>
              </p:ext>
            </p:extLst>
          </p:nvPr>
        </p:nvGraphicFramePr>
        <p:xfrm>
          <a:off x="1992852" y="2565918"/>
          <a:ext cx="3238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482400" progId="Equation.DSMT4">
                  <p:embed/>
                </p:oleObj>
              </mc:Choice>
              <mc:Fallback>
                <p:oleObj name="Equation" r:id="rId4" imgW="3238200" imgH="482400" progId="Equation.DSMT4">
                  <p:embed/>
                  <p:pic>
                    <p:nvPicPr>
                      <p:cNvPr id="44" name="Object 15">
                        <a:extLst>
                          <a:ext uri="{FF2B5EF4-FFF2-40B4-BE49-F238E27FC236}">
                            <a16:creationId xmlns:a16="http://schemas.microsoft.com/office/drawing/2014/main" id="{D394DFD3-090A-9BA3-E220-DD54B2D4F5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852" y="2565918"/>
                        <a:ext cx="3238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6">
            <a:extLst>
              <a:ext uri="{FF2B5EF4-FFF2-40B4-BE49-F238E27FC236}">
                <a16:creationId xmlns:a16="http://schemas.microsoft.com/office/drawing/2014/main" id="{8FD8D093-E7F6-9EF9-1CB4-876DF30FC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811865"/>
              </p:ext>
            </p:extLst>
          </p:nvPr>
        </p:nvGraphicFramePr>
        <p:xfrm>
          <a:off x="1273276" y="3313367"/>
          <a:ext cx="336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65280" imgH="482400" progId="Equation.DSMT4">
                  <p:embed/>
                </p:oleObj>
              </mc:Choice>
              <mc:Fallback>
                <p:oleObj name="Equation" r:id="rId6" imgW="3365280" imgH="482400" progId="Equation.DSMT4">
                  <p:embed/>
                  <p:pic>
                    <p:nvPicPr>
                      <p:cNvPr id="45" name="Object 16">
                        <a:extLst>
                          <a:ext uri="{FF2B5EF4-FFF2-40B4-BE49-F238E27FC236}">
                            <a16:creationId xmlns:a16="http://schemas.microsoft.com/office/drawing/2014/main" id="{8FD8D093-E7F6-9EF9-1CB4-876DF30FC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276" y="3313367"/>
                        <a:ext cx="3365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7">
            <a:extLst>
              <a:ext uri="{FF2B5EF4-FFF2-40B4-BE49-F238E27FC236}">
                <a16:creationId xmlns:a16="http://schemas.microsoft.com/office/drawing/2014/main" id="{454FB58B-EDC0-9335-8D20-7A6CE95CA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248" y="3293523"/>
            <a:ext cx="12600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</a:t>
            </a:r>
          </a:p>
        </p:txBody>
      </p:sp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1B43A414-4466-A3C8-AFCF-661EFAA49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607694"/>
              </p:ext>
            </p:extLst>
          </p:nvPr>
        </p:nvGraphicFramePr>
        <p:xfrm>
          <a:off x="1083518" y="4052287"/>
          <a:ext cx="6972301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72120" imgH="419040" progId="Equation.DSMT4">
                  <p:embed/>
                </p:oleObj>
              </mc:Choice>
              <mc:Fallback>
                <p:oleObj name="Equation" r:id="rId8" imgW="6972120" imgH="419040" progId="Equation.DSMT4">
                  <p:embed/>
                  <p:pic>
                    <p:nvPicPr>
                      <p:cNvPr id="45" name="Object 16">
                        <a:extLst>
                          <a:ext uri="{FF2B5EF4-FFF2-40B4-BE49-F238E27FC236}">
                            <a16:creationId xmlns:a16="http://schemas.microsoft.com/office/drawing/2014/main" id="{8FD8D093-E7F6-9EF9-1CB4-876DF30FC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518" y="4052287"/>
                        <a:ext cx="6972301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7">
            <a:extLst>
              <a:ext uri="{FF2B5EF4-FFF2-40B4-BE49-F238E27FC236}">
                <a16:creationId xmlns:a16="http://schemas.microsoft.com/office/drawing/2014/main" id="{39982118-ABE0-3C1B-EDAD-BCE7C40DF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65" y="4747041"/>
            <a:ext cx="126007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C1DF9A19-71A7-068B-AE2B-91399880EC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595708"/>
              </p:ext>
            </p:extLst>
          </p:nvPr>
        </p:nvGraphicFramePr>
        <p:xfrm>
          <a:off x="1188877" y="4855319"/>
          <a:ext cx="1066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304560" progId="Equation.DSMT4">
                  <p:embed/>
                </p:oleObj>
              </mc:Choice>
              <mc:Fallback>
                <p:oleObj name="Equation" r:id="rId10" imgW="1066680" imgH="304560" progId="Equation.DSMT4">
                  <p:embed/>
                  <p:pic>
                    <p:nvPicPr>
                      <p:cNvPr id="45" name="Object 16">
                        <a:extLst>
                          <a:ext uri="{FF2B5EF4-FFF2-40B4-BE49-F238E27FC236}">
                            <a16:creationId xmlns:a16="http://schemas.microsoft.com/office/drawing/2014/main" id="{8FD8D093-E7F6-9EF9-1CB4-876DF30FC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877" y="4855319"/>
                        <a:ext cx="1066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0">
            <a:extLst>
              <a:ext uri="{FF2B5EF4-FFF2-40B4-BE49-F238E27FC236}">
                <a16:creationId xmlns:a16="http://schemas.microsoft.com/office/drawing/2014/main" id="{21D5BBE3-BCB0-3E1A-74A1-AD774C6CF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4746109"/>
            <a:ext cx="5680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所以此非空集合不是向量空间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0131F67B-7E18-4E0D-9CE1-55FB529B8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96236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2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/>
      <p:bldP spid="34" grpId="0"/>
      <p:bldP spid="37" grpId="0"/>
      <p:bldP spid="2" grpId="0"/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>
            <a:extLst>
              <a:ext uri="{FF2B5EF4-FFF2-40B4-BE49-F238E27FC236}">
                <a16:creationId xmlns:a16="http://schemas.microsoft.com/office/drawing/2014/main" id="{BBE268D9-5FC3-4CE0-5202-1C61784D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20688"/>
            <a:ext cx="158417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3.23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F6B4FA89-E2B2-49AA-589C-3D386B833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141" y="1947337"/>
            <a:ext cx="3959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是一个向量空间吗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?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9173A6EF-7D3C-36EF-A923-3D72539A1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46" y="3894974"/>
            <a:ext cx="2016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5516DC75-05F8-BA3B-EDDB-872EB278E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404" y="4572370"/>
            <a:ext cx="1296714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1" name="Rectangle 44">
            <a:extLst>
              <a:ext uri="{FF2B5EF4-FFF2-40B4-BE49-F238E27FC236}">
                <a16:creationId xmlns:a16="http://schemas.microsoft.com/office/drawing/2014/main" id="{981A5CE3-3B54-7A43-E9AC-3AB4BA0C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21" y="3220753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(0,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E129AD55-FDC2-9720-8C68-596A79B5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2567694"/>
            <a:ext cx="797101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Rectangle 41">
            <a:extLst>
              <a:ext uri="{FF2B5EF4-FFF2-40B4-BE49-F238E27FC236}">
                <a16:creationId xmlns:a16="http://schemas.microsoft.com/office/drawing/2014/main" id="{543D1B75-E4B9-330F-58DB-5D01A4A8B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113" y="3220843"/>
            <a:ext cx="388843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(0,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477D4933-C121-A476-BF46-441924D70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471" y="3894974"/>
            <a:ext cx="47247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(0,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7" name="Rectangle 43">
            <a:extLst>
              <a:ext uri="{FF2B5EF4-FFF2-40B4-BE49-F238E27FC236}">
                <a16:creationId xmlns:a16="http://schemas.microsoft.com/office/drawing/2014/main" id="{A30F7C6A-7622-BE11-E872-5B0C13BE3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471" y="4572370"/>
            <a:ext cx="38635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(0,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a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a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" name="Rectangle 40">
            <a:extLst>
              <a:ext uri="{FF2B5EF4-FFF2-40B4-BE49-F238E27FC236}">
                <a16:creationId xmlns:a16="http://schemas.microsoft.com/office/drawing/2014/main" id="{5F6F6AE5-A2D6-8770-07B5-01244EC5D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11" y="5213525"/>
            <a:ext cx="8429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故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集合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{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(0,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R}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是一个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3" name="Rectangle 39">
            <a:extLst>
              <a:ext uri="{FF2B5EF4-FFF2-40B4-BE49-F238E27FC236}">
                <a16:creationId xmlns:a16="http://schemas.microsoft.com/office/drawing/2014/main" id="{77E9D2B7-0575-10F8-5406-682DECCA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622275"/>
            <a:ext cx="144517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集合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4" name="Rectangle 39">
            <a:extLst>
              <a:ext uri="{FF2B5EF4-FFF2-40B4-BE49-F238E27FC236}">
                <a16:creationId xmlns:a16="http://schemas.microsoft.com/office/drawing/2014/main" id="{AEC07117-4508-A69E-9937-4EA1144D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768" y="1297538"/>
            <a:ext cx="677448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{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(0,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,...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,...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R}</a:t>
            </a:r>
          </a:p>
        </p:txBody>
      </p:sp>
      <p:sp>
        <p:nvSpPr>
          <p:cNvPr id="25" name="Rectangle 38">
            <a:extLst>
              <a:ext uri="{FF2B5EF4-FFF2-40B4-BE49-F238E27FC236}">
                <a16:creationId xmlns:a16="http://schemas.microsoft.com/office/drawing/2014/main" id="{ED022346-1B97-3E70-EF95-910E524E5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773" y="2567693"/>
            <a:ext cx="1008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52D83D22-5618-49D8-3875-8BEAD0801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333" y="3212023"/>
            <a:ext cx="144232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R, </a:t>
            </a:r>
          </a:p>
        </p:txBody>
      </p:sp>
      <p:sp>
        <p:nvSpPr>
          <p:cNvPr id="2" name="Rectangle 40">
            <a:extLst>
              <a:ext uri="{FF2B5EF4-FFF2-40B4-BE49-F238E27FC236}">
                <a16:creationId xmlns:a16="http://schemas.microsoft.com/office/drawing/2014/main" id="{F819DB40-D0FE-ECD6-A97F-6D2B66C09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11" y="5854269"/>
            <a:ext cx="20286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向量空间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7" name="Rectangle 30">
            <a:extLst>
              <a:ext uri="{FF2B5EF4-FFF2-40B4-BE49-F238E27FC236}">
                <a16:creationId xmlns:a16="http://schemas.microsoft.com/office/drawing/2014/main" id="{56E63A19-5059-4CDD-A974-BBD26F08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5655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7" grpId="0"/>
      <p:bldP spid="18" grpId="0"/>
      <p:bldP spid="23" grpId="0"/>
      <p:bldP spid="24" grpId="0"/>
      <p:bldP spid="25" grpId="0"/>
      <p:bldP spid="26" grpId="0" build="p" autoUpdateAnimBg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BBE268D9-5FC3-4CE0-5202-1C61784D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53" y="968476"/>
            <a:ext cx="158417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3.24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E129AD55-FDC2-9720-8C68-596A79B5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52" y="1747844"/>
            <a:ext cx="12997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477D4933-C121-A476-BF46-441924D70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2508026"/>
            <a:ext cx="283805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它们都属于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endParaRPr lang="en-US" altLang="zh-CN" b="1" i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3" name="Rectangle 39">
            <a:extLst>
              <a:ext uri="{FF2B5EF4-FFF2-40B4-BE49-F238E27FC236}">
                <a16:creationId xmlns:a16="http://schemas.microsoft.com/office/drawing/2014/main" id="{77E9D2B7-0575-10F8-5406-682DECCA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504" y="970063"/>
            <a:ext cx="6984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维向量的全体</a:t>
            </a:r>
            <a:r>
              <a:rPr lang="en-US" altLang="zh-CN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是一个向量空间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" name="Rectangle 38">
            <a:extLst>
              <a:ext uri="{FF2B5EF4-FFF2-40B4-BE49-F238E27FC236}">
                <a16:creationId xmlns:a16="http://schemas.microsoft.com/office/drawing/2014/main" id="{ED022346-1B97-3E70-EF95-910E524E5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704" y="1747843"/>
            <a:ext cx="7200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因为任意两个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之和仍是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52D83D22-5618-49D8-3875-8BEAD0801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503919"/>
            <a:ext cx="56886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数</a:t>
            </a:r>
            <a:r>
              <a:rPr lang="zh-CN" altLang="en-US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乘以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也是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2" name="Rectangle 39">
            <a:extLst>
              <a:ext uri="{FF2B5EF4-FFF2-40B4-BE49-F238E27FC236}">
                <a16:creationId xmlns:a16="http://schemas.microsoft.com/office/drawing/2014/main" id="{89543824-D7F8-F4C5-30F5-35D2C7B0A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86" y="3266799"/>
            <a:ext cx="75136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维向量的全体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是一个向量空间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A0CA8EA3-9BF9-4EF9-A2A5-363F8280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65133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  <p:bldP spid="23" grpId="0"/>
      <p:bldP spid="25" grpId="0"/>
      <p:bldP spid="26" grpId="0" build="p" autoUpdateAnimBg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BBE268D9-5FC3-4CE0-5202-1C61784D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949426"/>
            <a:ext cx="158417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3.25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E129AD55-FDC2-9720-8C68-596A79B5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27" y="2278419"/>
            <a:ext cx="12723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39">
            <a:extLst>
              <a:ext uri="{FF2B5EF4-FFF2-40B4-BE49-F238E27FC236}">
                <a16:creationId xmlns:a16="http://schemas.microsoft.com/office/drawing/2014/main" id="{77E9D2B7-0575-10F8-5406-682DECCA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951013"/>
            <a:ext cx="6984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齐次线性方程组的解集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{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x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|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Ax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0}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1B09960-8520-4D0E-01E8-38F31D7C5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18" y="1612333"/>
            <a:ext cx="83103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是一个向量空间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齐次线性方程组的解空间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04FB1D9-62BA-6A99-A9FC-D0F2192E4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18" y="2944505"/>
            <a:ext cx="87991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由齐次线性方程组的解向量的性质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和性质</a:t>
            </a:r>
            <a:r>
              <a:rPr lang="zh-CN" altLang="en-US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DE6C3758-0EEC-5AF1-0783-AC7DF5102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18" y="3636652"/>
            <a:ext cx="65427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它的解集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对向量的线性运算封闭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0" name="Rectangle 39">
            <a:extLst>
              <a:ext uri="{FF2B5EF4-FFF2-40B4-BE49-F238E27FC236}">
                <a16:creationId xmlns:a16="http://schemas.microsoft.com/office/drawing/2014/main" id="{48698975-F482-318C-93AE-39732E9DF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3454" y="3636652"/>
            <a:ext cx="29878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故齐次线性方程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E64613B3-869B-4EC4-5400-B05A4A4F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03" y="4324692"/>
            <a:ext cx="5133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组的解集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是一个向量空间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10E66E97-08B7-4CB8-8951-C3C83BF38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7444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23" grpId="0"/>
      <p:bldP spid="4" grpId="0"/>
      <p:bldP spid="6" grpId="0"/>
      <p:bldP spid="7" grpId="0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BBE268D9-5FC3-4CE0-5202-1C61784D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920876"/>
            <a:ext cx="135685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思考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3" name="Rectangle 39">
            <a:extLst>
              <a:ext uri="{FF2B5EF4-FFF2-40B4-BE49-F238E27FC236}">
                <a16:creationId xmlns:a16="http://schemas.microsoft.com/office/drawing/2014/main" id="{77E9D2B7-0575-10F8-5406-682DECCA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693594"/>
            <a:ext cx="77768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非齐次线性方程组的解集</a:t>
            </a:r>
            <a:r>
              <a:rPr lang="zh-CN" altLang="en-US" sz="12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{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x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|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Ax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}</a:t>
            </a:r>
            <a:r>
              <a:rPr lang="en-US" altLang="zh-CN" sz="2000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是一个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1B09960-8520-4D0E-01E8-38F31D7C5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451720"/>
            <a:ext cx="29523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向量空间吗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04FB1D9-62BA-6A99-A9FC-D0F2192E4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233189"/>
            <a:ext cx="75819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讨论时需分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是空集和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是非空集两种情形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DE6C3758-0EEC-5AF1-0783-AC7DF5102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925336"/>
            <a:ext cx="60486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具体的论述留给同学们自己完成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86A3D3D-B0FE-4543-B05E-CD9DD67A4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6006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4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>
            <a:extLst>
              <a:ext uri="{FF2B5EF4-FFF2-40B4-BE49-F238E27FC236}">
                <a16:creationId xmlns:a16="http://schemas.microsoft.com/office/drawing/2014/main" id="{BBE268D9-5FC3-4CE0-5202-1C61784D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620688"/>
            <a:ext cx="158401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3.26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036E4D30-0B86-9E2E-06D8-56F498E8A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417" y="3022458"/>
            <a:ext cx="578536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 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7" name="Rectangle 43">
            <a:extLst>
              <a:ext uri="{FF2B5EF4-FFF2-40B4-BE49-F238E27FC236}">
                <a16:creationId xmlns:a16="http://schemas.microsoft.com/office/drawing/2014/main" id="{445297DE-089C-C46A-4B4A-D4A9987B0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92" y="3642069"/>
            <a:ext cx="134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18" name="Rectangle 44">
            <a:extLst>
              <a:ext uri="{FF2B5EF4-FFF2-40B4-BE49-F238E27FC236}">
                <a16:creationId xmlns:a16="http://schemas.microsoft.com/office/drawing/2014/main" id="{9978C278-AB41-5A9B-A7F9-2AE446860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417" y="3647405"/>
            <a:ext cx="2017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12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CD3C4E79-4ABA-D3F5-6D62-2BC6957CD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805" y="4294762"/>
            <a:ext cx="104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kx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</a:p>
        </p:txBody>
      </p:sp>
      <p:sp>
        <p:nvSpPr>
          <p:cNvPr id="27" name="Rectangle 46">
            <a:extLst>
              <a:ext uri="{FF2B5EF4-FFF2-40B4-BE49-F238E27FC236}">
                <a16:creationId xmlns:a16="http://schemas.microsoft.com/office/drawing/2014/main" id="{F2FECE9C-DE20-D5A4-F518-79418ACC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793" y="4930960"/>
            <a:ext cx="462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称为由向量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14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所生成的</a:t>
            </a:r>
            <a:endParaRPr lang="zh-CN" altLang="en-US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28" name="Rectangle 49">
            <a:extLst>
              <a:ext uri="{FF2B5EF4-FFF2-40B4-BE49-F238E27FC236}">
                <a16:creationId xmlns:a16="http://schemas.microsoft.com/office/drawing/2014/main" id="{FA29EE86-A68F-01F6-6E31-9C82ED1E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3" y="3017122"/>
            <a:ext cx="95338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设</a:t>
            </a:r>
          </a:p>
        </p:txBody>
      </p:sp>
      <p:sp>
        <p:nvSpPr>
          <p:cNvPr id="29" name="Rectangle 52">
            <a:extLst>
              <a:ext uri="{FF2B5EF4-FFF2-40B4-BE49-F238E27FC236}">
                <a16:creationId xmlns:a16="http://schemas.microsoft.com/office/drawing/2014/main" id="{58B784B1-E3CE-7187-7F68-2CFDB880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221" y="613618"/>
            <a:ext cx="67744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是两个已知的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集合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0" name="Rectangle 40">
            <a:extLst>
              <a:ext uri="{FF2B5EF4-FFF2-40B4-BE49-F238E27FC236}">
                <a16:creationId xmlns:a16="http://schemas.microsoft.com/office/drawing/2014/main" id="{C56244D2-BA85-6AA8-CB00-1074B9B75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98" y="1222458"/>
            <a:ext cx="533988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{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+</a:t>
            </a:r>
            <a:r>
              <a:rPr lang="en-US" altLang="zh-CN" sz="1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9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R}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04A655D3-FE43-679A-3724-B307EAF0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9" y="2426203"/>
            <a:ext cx="143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32" name="Rectangle 46">
            <a:extLst>
              <a:ext uri="{FF2B5EF4-FFF2-40B4-BE49-F238E27FC236}">
                <a16:creationId xmlns:a16="http://schemas.microsoft.com/office/drawing/2014/main" id="{13696D56-B24F-D677-2070-E5B3AD1DD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41" y="4936781"/>
            <a:ext cx="404374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故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是一个向量空间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Rectangle 44">
            <a:extLst>
              <a:ext uri="{FF2B5EF4-FFF2-40B4-BE49-F238E27FC236}">
                <a16:creationId xmlns:a16="http://schemas.microsoft.com/office/drawing/2014/main" id="{D49C3CF9-DDC9-6990-62E5-1ED7D34A9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842" y="3647405"/>
            <a:ext cx="4386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zh-CN" altLang="en-US" sz="20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E5F43F3D-8270-D3E3-CE91-9BD2BE8A8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842" y="4294762"/>
            <a:ext cx="37412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k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k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zh-CN" altLang="en-US" sz="20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DB56E74F-6D1F-5371-1912-D3588607D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06" y="1824227"/>
            <a:ext cx="331514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是一个向量空间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D0465198-C96F-1C8A-367C-2F0526D77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914" y="3016638"/>
            <a:ext cx="143430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R, </a:t>
            </a:r>
          </a:p>
        </p:txBody>
      </p:sp>
      <p:sp>
        <p:nvSpPr>
          <p:cNvPr id="42" name="Rectangle 46">
            <a:extLst>
              <a:ext uri="{FF2B5EF4-FFF2-40B4-BE49-F238E27FC236}">
                <a16:creationId xmlns:a16="http://schemas.microsoft.com/office/drawing/2014/main" id="{8B40FE6C-CAC4-42C9-6ABF-2B84C1984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59" y="5615270"/>
            <a:ext cx="21630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向量空间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</a:t>
            </a:r>
            <a:endParaRPr lang="zh-CN" altLang="en-US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189BDA5E-2F64-4F2B-9346-F91DB835F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68225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7" grpId="0"/>
      <p:bldP spid="18" grpId="0"/>
      <p:bldP spid="24" grpId="0"/>
      <p:bldP spid="27" grpId="0"/>
      <p:bldP spid="27" grpId="1"/>
      <p:bldP spid="28" grpId="0"/>
      <p:bldP spid="29" grpId="0"/>
      <p:bldP spid="30" grpId="0"/>
      <p:bldP spid="31" grpId="0"/>
      <p:bldP spid="32" grpId="0"/>
      <p:bldP spid="33" grpId="0"/>
      <p:bldP spid="35" grpId="0"/>
      <p:bldP spid="40" grpId="0"/>
      <p:bldP spid="41" grpId="0" build="p" autoUpdateAnimBg="0"/>
      <p:bldP spid="42" grpId="0"/>
      <p:bldP spid="4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92D404D8-EAA3-8C1F-D2AD-2F5F64192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1009781"/>
            <a:ext cx="1984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一般地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180F53BF-977A-8D00-0044-D34C551B5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728919"/>
            <a:ext cx="194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空间为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29E18323-CEEF-2262-98B9-71F9D4BE6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49644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{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000" b="1" i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zh-CN" altLang="en-US" b="1" i="1" dirty="0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+</a:t>
            </a:r>
            <a:r>
              <a:rPr lang="en-US" altLang="zh-CN" sz="18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zh-CN" altLang="en-US" b="1" i="1" dirty="0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R}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63706EB-6CF1-1F51-BB7C-F91D5B27C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009781"/>
            <a:ext cx="6192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由向量组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所生成的向量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64B599F6-6D19-4C18-B44C-2806D167A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18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向量空间的定义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5532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 advAuto="0"/>
      <p:bldP spid="4" grpId="0" build="p" autoUpdateAnimBg="0" advAuto="1000"/>
      <p:bldP spid="4" grpId="1"/>
      <p:bldP spid="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的子空间的定义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3DB171E0-1E6A-27FE-2C9B-A6F44749F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7526" y="787348"/>
            <a:ext cx="432162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设有向量空间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及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8" name="Rectangle 39">
            <a:extLst>
              <a:ext uri="{FF2B5EF4-FFF2-40B4-BE49-F238E27FC236}">
                <a16:creationId xmlns:a16="http://schemas.microsoft.com/office/drawing/2014/main" id="{90D3EC81-A3F7-388D-6466-0B79D117F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68" y="2957557"/>
            <a:ext cx="2968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总有</a:t>
            </a:r>
            <a:r>
              <a:rPr lang="zh-CN" altLang="en-US" sz="16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9" name="Rectangle 40">
            <a:extLst>
              <a:ext uri="{FF2B5EF4-FFF2-40B4-BE49-F238E27FC236}">
                <a16:creationId xmlns:a16="http://schemas.microsoft.com/office/drawing/2014/main" id="{65E554AD-3B9D-EF15-80D7-F163A6CC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318" y="2236832"/>
            <a:ext cx="1443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FE2116F0-A827-6BD3-0D1D-2B45049D6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69" y="1517695"/>
            <a:ext cx="4840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则称</a:t>
            </a:r>
            <a:r>
              <a:rPr lang="zh-CN" altLang="en-US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子空间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7ED7A266-6AC8-EBA0-B951-2F819FEBC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3950" y="797903"/>
            <a:ext cx="211749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5B629CA0-C2F2-476E-71E1-729EF4D74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18" y="796970"/>
            <a:ext cx="20162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3.13</a:t>
            </a:r>
            <a:endParaRPr lang="en-US" altLang="zh-CN" b="1" dirty="0">
              <a:solidFill>
                <a:srgbClr val="C0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461A898A-0CEA-D61C-5D97-021B4371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1503" y="2957557"/>
            <a:ext cx="64824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因此这样的向量空间总是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的子空间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" name="Rectangle 40">
            <a:extLst>
              <a:ext uri="{FF2B5EF4-FFF2-40B4-BE49-F238E27FC236}">
                <a16:creationId xmlns:a16="http://schemas.microsoft.com/office/drawing/2014/main" id="{08D037ED-F008-D1FE-F2E2-7723B2394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47" y="2236832"/>
            <a:ext cx="665400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任何由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维向量所生成的向量空间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162643246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1035">
            <a:extLst>
              <a:ext uri="{FF2B5EF4-FFF2-40B4-BE49-F238E27FC236}">
                <a16:creationId xmlns:a16="http://schemas.microsoft.com/office/drawing/2014/main" id="{65ADF4BE-E6E2-06EE-3AE0-25C23022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25500"/>
            <a:ext cx="1874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3.14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3BF7A4F0-2E60-6370-E75E-9A2EA246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7" y="1526389"/>
            <a:ext cx="316835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F832637F-4178-CAA9-1BBD-F3D4DDC0E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791" y="2231120"/>
            <a:ext cx="497864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(1)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;</a:t>
            </a:r>
          </a:p>
        </p:txBody>
      </p:sp>
      <p:sp>
        <p:nvSpPr>
          <p:cNvPr id="6" name="Rectangle 1038">
            <a:extLst>
              <a:ext uri="{FF2B5EF4-FFF2-40B4-BE49-F238E27FC236}">
                <a16:creationId xmlns:a16="http://schemas.microsoft.com/office/drawing/2014/main" id="{0662B5E4-4A5A-2608-C759-7CD515589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12" y="2918787"/>
            <a:ext cx="772608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(2)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中任一向量都可由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7" name="Rectangle 1040">
            <a:extLst>
              <a:ext uri="{FF2B5EF4-FFF2-40B4-BE49-F238E27FC236}">
                <a16:creationId xmlns:a16="http://schemas.microsoft.com/office/drawing/2014/main" id="{769764C0-6F0B-158E-FEA0-E4993D5F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40" y="3603306"/>
            <a:ext cx="8424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为向量空间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一个基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" name="Rectangle 1035">
            <a:extLst>
              <a:ext uri="{FF2B5EF4-FFF2-40B4-BE49-F238E27FC236}">
                <a16:creationId xmlns:a16="http://schemas.microsoft.com/office/drawing/2014/main" id="{0F10B3F7-45C2-EC1F-3DDC-C8DC8A9C3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028" y="825500"/>
            <a:ext cx="287522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如果</a:t>
            </a:r>
            <a:r>
              <a:rPr lang="zh-CN" altLang="en-US" sz="1000" b="1" i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个向量</a:t>
            </a:r>
          </a:p>
        </p:txBody>
      </p:sp>
      <p:sp>
        <p:nvSpPr>
          <p:cNvPr id="17" name="Rectangle 1036">
            <a:extLst>
              <a:ext uri="{FF2B5EF4-FFF2-40B4-BE49-F238E27FC236}">
                <a16:creationId xmlns:a16="http://schemas.microsoft.com/office/drawing/2014/main" id="{1A89BB07-302E-344E-9C93-DF0EE3D1D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4166" y="1531567"/>
            <a:ext cx="183296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且满足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" name="Rectangle 1041">
            <a:extLst>
              <a:ext uri="{FF2B5EF4-FFF2-40B4-BE49-F238E27FC236}">
                <a16:creationId xmlns:a16="http://schemas.microsoft.com/office/drawing/2014/main" id="{EDCD5F22-0067-5039-DE51-F1EBB207C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40" y="4295735"/>
            <a:ext cx="4968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称为向量空间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维数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" name="Rectangle 1041">
            <a:extLst>
              <a:ext uri="{FF2B5EF4-FFF2-40B4-BE49-F238E27FC236}">
                <a16:creationId xmlns:a16="http://schemas.microsoft.com/office/drawing/2014/main" id="{6E82A3B3-EAA5-5946-92D5-CBA26F9FE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319" y="4295735"/>
            <a:ext cx="41737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并称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sz="10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16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维向量空间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 i="1" dirty="0">
              <a:solidFill>
                <a:srgbClr val="0000FF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" name="Rectangle 1035">
            <a:extLst>
              <a:ext uri="{FF2B5EF4-FFF2-40B4-BE49-F238E27FC236}">
                <a16:creationId xmlns:a16="http://schemas.microsoft.com/office/drawing/2014/main" id="{97F67485-8364-DFB0-568C-DCBA60048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6094" y="825500"/>
            <a:ext cx="324036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为向量空间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    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4505242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16" grpId="0"/>
      <p:bldP spid="17" grpId="0"/>
      <p:bldP spid="18" grpId="0"/>
      <p:bldP spid="23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196617C-26BF-E5F2-9E53-15D305C8C93A}"/>
              </a:ext>
            </a:extLst>
          </p:cNvPr>
          <p:cNvSpPr txBox="1"/>
          <p:nvPr/>
        </p:nvSpPr>
        <p:spPr>
          <a:xfrm>
            <a:off x="1115616" y="910291"/>
            <a:ext cx="69127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关于向量空间的基的几点说明</a:t>
            </a:r>
            <a:endParaRPr lang="zh-CN" altLang="zh-CN" dirty="0">
              <a:solidFill>
                <a:srgbClr val="C00000"/>
              </a:solidFill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CEDFE068-17BE-5F5C-F77D-86612B58C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330" y="1599598"/>
            <a:ext cx="555925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若把向量空间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看作向量组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82D14FE4-FED6-1045-B79F-009D721C8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757" y="1599598"/>
            <a:ext cx="3041739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zh-CN" altLang="en-US" sz="12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12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的基就是向</a:t>
            </a:r>
          </a:p>
        </p:txBody>
      </p:sp>
      <p:sp>
        <p:nvSpPr>
          <p:cNvPr id="10" name="Rectangle 42">
            <a:extLst>
              <a:ext uri="{FF2B5EF4-FFF2-40B4-BE49-F238E27FC236}">
                <a16:creationId xmlns:a16="http://schemas.microsoft.com/office/drawing/2014/main" id="{E1493606-3146-8F8D-B37F-7B824D79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80" y="2269535"/>
            <a:ext cx="357846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量组的最大无关组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1" name="Rectangle 42">
            <a:extLst>
              <a:ext uri="{FF2B5EF4-FFF2-40B4-BE49-F238E27FC236}">
                <a16:creationId xmlns:a16="http://schemas.microsoft.com/office/drawing/2014/main" id="{DE68C2D4-147F-198C-E20B-E5A4FB761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1" y="2269535"/>
            <a:ext cx="468052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的维数就是向量组的秩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2" name="Rectangle 43">
            <a:extLst>
              <a:ext uri="{FF2B5EF4-FFF2-40B4-BE49-F238E27FC236}">
                <a16:creationId xmlns:a16="http://schemas.microsoft.com/office/drawing/2014/main" id="{D4DD44E8-1ED6-E831-D4E7-EE314A04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49" y="2953595"/>
            <a:ext cx="525339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向量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空间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的基未必唯一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7BC604E9-73C5-521A-25C6-6D90D4E3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330" y="3622108"/>
            <a:ext cx="1366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Rectangle 44">
            <a:extLst>
              <a:ext uri="{FF2B5EF4-FFF2-40B4-BE49-F238E27FC236}">
                <a16:creationId xmlns:a16="http://schemas.microsoft.com/office/drawing/2014/main" id="{C5B89B20-317C-1F33-00B9-298FBD65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80" y="4342833"/>
            <a:ext cx="42497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量空间</a:t>
            </a:r>
            <a:r>
              <a:rPr lang="zh-CN" altLang="en-US" sz="1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5" name="Rectangle 46">
            <a:extLst>
              <a:ext uri="{FF2B5EF4-FFF2-40B4-BE49-F238E27FC236}">
                <a16:creationId xmlns:a16="http://schemas.microsoft.com/office/drawing/2014/main" id="{BD85634B-5302-D020-1AF6-810B69CAF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81" y="5104820"/>
            <a:ext cx="44425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并称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维向量空间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4" name="Rectangle 44">
            <a:extLst>
              <a:ext uri="{FF2B5EF4-FFF2-40B4-BE49-F238E27FC236}">
                <a16:creationId xmlns:a16="http://schemas.microsoft.com/office/drawing/2014/main" id="{CDDF08E0-8764-6FD4-1F45-09200B0DD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4342833"/>
            <a:ext cx="50798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且由此可知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的维数等于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" name="Rectangle 43">
            <a:extLst>
              <a:ext uri="{FF2B5EF4-FFF2-40B4-BE49-F238E27FC236}">
                <a16:creationId xmlns:a16="http://schemas.microsoft.com/office/drawing/2014/main" id="{438A0475-6DC6-0D98-E225-ACE86E36C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830" y="3622108"/>
            <a:ext cx="691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任何</a:t>
            </a:r>
            <a:r>
              <a:rPr lang="zh-CN" altLang="en-US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个线性无关的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维向量都可以是向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C292CC11-716E-4EAA-8BD2-65B242E2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9663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8" grpId="0" build="p" autoUpdateAnimBg="0"/>
      <p:bldP spid="9" grpId="0"/>
      <p:bldP spid="10" grpId="0" build="p" autoUpdateAnimBg="0" advAuto="0"/>
      <p:bldP spid="11" grpId="0" build="p" autoUpdateAnimBg="0" advAuto="0"/>
      <p:bldP spid="12" grpId="0" build="p" autoUpdateAnimBg="0"/>
      <p:bldP spid="13" grpId="0" build="p" autoUpdateAnimBg="0"/>
      <p:bldP spid="14" grpId="0" build="p" autoUpdateAnimBg="0" advAuto="0"/>
      <p:bldP spid="15" grpId="0" build="p" autoUpdateAnimBg="0"/>
      <p:bldP spid="24" grpId="0" build="p" autoUpdateAnimBg="0" advAuto="0"/>
      <p:bldP spid="2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6">
            <a:extLst>
              <a:ext uri="{FF2B5EF4-FFF2-40B4-BE49-F238E27FC236}">
                <a16:creationId xmlns:a16="http://schemas.microsoft.com/office/drawing/2014/main" id="{3BF7A4F0-2E60-6370-E75E-9A2EA246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85" y="3820381"/>
            <a:ext cx="81811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是向量空间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V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的一个基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CEDFE068-17BE-5F5C-F77D-86612B58C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85" y="2542567"/>
            <a:ext cx="82102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V 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没有基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V 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为零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空间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7BC604E9-73C5-521A-25C6-6D90D4E3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20688"/>
            <a:ext cx="1366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又如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Rectangle 46">
            <a:extLst>
              <a:ext uri="{FF2B5EF4-FFF2-40B4-BE49-F238E27FC236}">
                <a16:creationId xmlns:a16="http://schemas.microsoft.com/office/drawing/2014/main" id="{BD85634B-5302-D020-1AF6-810B69CAF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00" y="1906581"/>
            <a:ext cx="50926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也是向量空间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1C32B474-2B1B-5F99-CDE6-1F5139EE90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620670"/>
              </p:ext>
            </p:extLst>
          </p:nvPr>
        </p:nvGraphicFramePr>
        <p:xfrm>
          <a:off x="603932" y="1268123"/>
          <a:ext cx="2273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482400" progId="Equation.DSMT4">
                  <p:embed/>
                </p:oleObj>
              </mc:Choice>
              <mc:Fallback>
                <p:oleObj name="Equation" r:id="rId2" imgW="2273040" imgH="482400" progId="Equation.DSMT4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9FAD23FC-623C-7D64-179F-1BE01092A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32" y="1268123"/>
                        <a:ext cx="2273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A0A190A3-34BC-4E88-7388-D5142E12E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251632"/>
              </p:ext>
            </p:extLst>
          </p:nvPr>
        </p:nvGraphicFramePr>
        <p:xfrm>
          <a:off x="3032344" y="1267543"/>
          <a:ext cx="2298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482400" progId="Equation.DSMT4">
                  <p:embed/>
                </p:oleObj>
              </mc:Choice>
              <mc:Fallback>
                <p:oleObj name="Equation" r:id="rId4" imgW="2298600" imgH="482400" progId="Equation.DSMT4">
                  <p:embed/>
                  <p:pic>
                    <p:nvPicPr>
                      <p:cNvPr id="26" name="Object 8">
                        <a:extLst>
                          <a:ext uri="{FF2B5EF4-FFF2-40B4-BE49-F238E27FC236}">
                            <a16:creationId xmlns:a16="http://schemas.microsoft.com/office/drawing/2014/main" id="{1C32B474-2B1B-5F99-CDE6-1F5139EE9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344" y="1267543"/>
                        <a:ext cx="2298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8">
            <a:extLst>
              <a:ext uri="{FF2B5EF4-FFF2-40B4-BE49-F238E27FC236}">
                <a16:creationId xmlns:a16="http://schemas.microsoft.com/office/drawing/2014/main" id="{0387493E-1E7A-4274-DCCB-A424C9FDD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694238"/>
              </p:ext>
            </p:extLst>
          </p:nvPr>
        </p:nvGraphicFramePr>
        <p:xfrm>
          <a:off x="6132386" y="1245509"/>
          <a:ext cx="2311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82400" progId="Equation.DSMT4">
                  <p:embed/>
                </p:oleObj>
              </mc:Choice>
              <mc:Fallback>
                <p:oleObj name="Equation" r:id="rId6" imgW="2311200" imgH="482400" progId="Equation.DSMT4">
                  <p:embed/>
                  <p:pic>
                    <p:nvPicPr>
                      <p:cNvPr id="26" name="Object 8">
                        <a:extLst>
                          <a:ext uri="{FF2B5EF4-FFF2-40B4-BE49-F238E27FC236}">
                            <a16:creationId xmlns:a16="http://schemas.microsoft.com/office/drawing/2014/main" id="{1C32B474-2B1B-5F99-CDE6-1F5139EE9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386" y="1245509"/>
                        <a:ext cx="2311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">
            <a:extLst>
              <a:ext uri="{FF2B5EF4-FFF2-40B4-BE49-F238E27FC236}">
                <a16:creationId xmlns:a16="http://schemas.microsoft.com/office/drawing/2014/main" id="{EC71A37B-16EB-0551-C508-B26761043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75031"/>
              </p:ext>
            </p:extLst>
          </p:nvPr>
        </p:nvGraphicFramePr>
        <p:xfrm>
          <a:off x="5515815" y="1499509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228600" progId="Equation.DSMT4">
                  <p:embed/>
                </p:oleObj>
              </mc:Choice>
              <mc:Fallback>
                <p:oleObj name="Equation" r:id="rId8" imgW="431640" imgH="228600" progId="Equation.DSMT4">
                  <p:embed/>
                  <p:pic>
                    <p:nvPicPr>
                      <p:cNvPr id="33" name="Object 8">
                        <a:extLst>
                          <a:ext uri="{FF2B5EF4-FFF2-40B4-BE49-F238E27FC236}">
                            <a16:creationId xmlns:a16="http://schemas.microsoft.com/office/drawing/2014/main" id="{0387493E-1E7A-4274-DCCB-A424C9FDDE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5815" y="1499509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3">
            <a:extLst>
              <a:ext uri="{FF2B5EF4-FFF2-40B4-BE49-F238E27FC236}">
                <a16:creationId xmlns:a16="http://schemas.microsoft.com/office/drawing/2014/main" id="{CFCA8550-11FB-ADFB-8CD4-DFB9FF911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422" y="620688"/>
            <a:ext cx="324036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维单位向量组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CA0DB411-C8C0-516F-098B-BE1FCA256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85" y="4471828"/>
            <a:ext cx="309088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V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可以表示为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94FE18A-A892-E16A-CBC2-B58F4C4D1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78" y="5119167"/>
            <a:ext cx="734481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{</a:t>
            </a:r>
            <a:r>
              <a:rPr lang="en-US" altLang="zh-CN" b="1" i="1" dirty="0">
                <a:solidFill>
                  <a:srgbClr val="0000FF"/>
                </a:solidFill>
              </a:rPr>
              <a:t>x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|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R}.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EEFDE9FB-DF80-F566-3A0D-CA3CDBD91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99" y="5794725"/>
            <a:ext cx="659575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它清楚地显示出向量空间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V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的构造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D2A73716-A522-C74F-5867-BA5ABC0BE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85" y="3172330"/>
            <a:ext cx="60733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零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空间只含有一个零向量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0.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714831D3-AF6B-42FC-A6A4-C39BD6F9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8945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2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2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uild="p" autoUpdateAnimBg="0"/>
      <p:bldP spid="13" grpId="0" build="p" autoUpdateAnimBg="0"/>
      <p:bldP spid="15" grpId="0" build="p" autoUpdateAnimBg="0"/>
      <p:bldP spid="4" grpId="0" build="p" autoUpdateAnimBg="0"/>
      <p:bldP spid="5" grpId="0" build="p" autoUpdateAnimBg="0" advAuto="0"/>
      <p:bldP spid="6" grpId="0" build="p" autoUpdateAnimBg="0" advAuto="1000"/>
      <p:bldP spid="6" grpId="1"/>
      <p:bldP spid="7" grpId="0" autoUpdateAnimBg="0"/>
      <p:bldP spid="10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6">
            <a:extLst>
              <a:ext uri="{FF2B5EF4-FFF2-40B4-BE49-F238E27FC236}">
                <a16:creationId xmlns:a16="http://schemas.microsoft.com/office/drawing/2014/main" id="{3BF7A4F0-2E60-6370-E75E-9A2EA246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4" y="1618289"/>
            <a:ext cx="6898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若能找到解空间的一个基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sz="1000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7BC604E9-73C5-521A-25C6-6D90D4E3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814" y="898809"/>
            <a:ext cx="1366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Rectangle 39">
            <a:extLst>
              <a:ext uri="{FF2B5EF4-FFF2-40B4-BE49-F238E27FC236}">
                <a16:creationId xmlns:a16="http://schemas.microsoft.com/office/drawing/2014/main" id="{CEE9092C-3FBF-4AEB-4D95-E67DA0DD3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899023"/>
            <a:ext cx="6898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齐次线性方程组的解空间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{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x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|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Ax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0}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C62BD9BB-DE47-E0D1-7B09-B74F99286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79" y="1611148"/>
            <a:ext cx="1858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解空间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01863562-CCFC-7F9E-067A-106BBAC68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4" y="2324607"/>
            <a:ext cx="26853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可以表示为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F78F63C2-7A6A-A328-D5D8-969DC3871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554451"/>
              </p:ext>
            </p:extLst>
          </p:nvPr>
        </p:nvGraphicFramePr>
        <p:xfrm>
          <a:off x="957263" y="3068638"/>
          <a:ext cx="7226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26280" imgH="482400" progId="Equation.DSMT4">
                  <p:embed/>
                </p:oleObj>
              </mc:Choice>
              <mc:Fallback>
                <p:oleObj name="Equation" r:id="rId2" imgW="7226280" imgH="482400" progId="Equation.DSMT4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9FAD23FC-623C-7D64-179F-1BE01092A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3068638"/>
                        <a:ext cx="7226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0">
            <a:extLst>
              <a:ext uri="{FF2B5EF4-FFF2-40B4-BE49-F238E27FC236}">
                <a16:creationId xmlns:a16="http://schemas.microsoft.com/office/drawing/2014/main" id="{80BB7AFE-C258-4C03-AC4F-7D074B2DD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3643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build="p" autoUpdateAnimBg="0"/>
      <p:bldP spid="9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65ADF4BE-E6E2-06EE-3AE0-25C23022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972" y="1149121"/>
            <a:ext cx="1874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3.15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01863562-CCFC-7F9E-067A-106BBAC68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45" y="4131234"/>
            <a:ext cx="39009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记作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sz="1000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1000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F78F63C2-7A6A-A328-D5D8-969DC3871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493912"/>
              </p:ext>
            </p:extLst>
          </p:nvPr>
        </p:nvGraphicFramePr>
        <p:xfrm>
          <a:off x="2679751" y="2702212"/>
          <a:ext cx="377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71720" imgH="419040" progId="Equation.DSMT4">
                  <p:embed/>
                </p:oleObj>
              </mc:Choice>
              <mc:Fallback>
                <p:oleObj name="Equation" r:id="rId2" imgW="3771720" imgH="419040" progId="Equation.DSMT4">
                  <p:embed/>
                  <p:pic>
                    <p:nvPicPr>
                      <p:cNvPr id="16" name="Object 8">
                        <a:extLst>
                          <a:ext uri="{FF2B5EF4-FFF2-40B4-BE49-F238E27FC236}">
                            <a16:creationId xmlns:a16="http://schemas.microsoft.com/office/drawing/2014/main" id="{F78F63C2-7A6A-A328-D5D8-969DC3871E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51" y="2702212"/>
                        <a:ext cx="377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036">
            <a:extLst>
              <a:ext uri="{FF2B5EF4-FFF2-40B4-BE49-F238E27FC236}">
                <a16:creationId xmlns:a16="http://schemas.microsoft.com/office/drawing/2014/main" id="{B6E52583-210C-8E2F-86FD-12977FD03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466" y="1155474"/>
            <a:ext cx="62561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如果在向量空间</a:t>
            </a:r>
            <a:r>
              <a:rPr lang="zh-CN" altLang="en-US" sz="16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中取定一个基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7" name="Rectangle 1036">
            <a:extLst>
              <a:ext uri="{FF2B5EF4-FFF2-40B4-BE49-F238E27FC236}">
                <a16:creationId xmlns:a16="http://schemas.microsoft.com/office/drawing/2014/main" id="{AE1F0A57-CE62-F03E-05A9-C9A1F907B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45" y="1910304"/>
            <a:ext cx="22394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E3FD23-0832-C6FF-32BE-9393183B0E36}"/>
              </a:ext>
            </a:extLst>
          </p:cNvPr>
          <p:cNvSpPr txBox="1"/>
          <p:nvPr/>
        </p:nvSpPr>
        <p:spPr>
          <a:xfrm>
            <a:off x="2262817" y="1916657"/>
            <a:ext cx="68762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zh-CN" dirty="0"/>
              <a:t>那么</a:t>
            </a:r>
            <a:r>
              <a:rPr lang="en-US" altLang="zh-CN" sz="1000" dirty="0"/>
              <a:t> </a:t>
            </a:r>
            <a:r>
              <a:rPr lang="en-US" altLang="zh-CN" i="1" dirty="0"/>
              <a:t>V</a:t>
            </a:r>
            <a:r>
              <a:rPr lang="en-US" altLang="zh-CN" sz="2000" i="1" dirty="0"/>
              <a:t> </a:t>
            </a:r>
            <a:r>
              <a:rPr lang="zh-CN" altLang="zh-CN" dirty="0"/>
              <a:t>中任一向量</a:t>
            </a:r>
            <a:r>
              <a:rPr lang="en-US" altLang="zh-CN" sz="2000" dirty="0"/>
              <a:t> </a:t>
            </a:r>
            <a:r>
              <a:rPr lang="en-US" altLang="zh-CN" i="1" dirty="0"/>
              <a:t>x</a:t>
            </a:r>
            <a:r>
              <a:rPr lang="en-US" altLang="zh-CN" sz="2000" i="1" dirty="0"/>
              <a:t> </a:t>
            </a:r>
            <a:r>
              <a:rPr lang="zh-CN" altLang="zh-CN" dirty="0"/>
              <a:t>可以唯一地表示为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4A0A627C-3E33-A34E-70D3-E7CBE51D9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53" y="3346688"/>
            <a:ext cx="86539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数组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称为向量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1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在基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坐标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E74C101B-54D3-406B-83F0-B4564A38F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113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2" grpId="0"/>
      <p:bldP spid="5" grpId="0"/>
      <p:bldP spid="7" grpId="0"/>
      <p:bldP spid="10" grpId="0"/>
      <p:bldP spid="14" grpId="0" build="p" autoUpdateAnimBg="0" advAuto="1000"/>
      <p:bldP spid="1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1">
            <a:extLst>
              <a:ext uri="{FF2B5EF4-FFF2-40B4-BE49-F238E27FC236}">
                <a16:creationId xmlns:a16="http://schemas.microsoft.com/office/drawing/2014/main" id="{5681823D-8C43-A14B-F56E-DC1AA7EA4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5" y="4590474"/>
            <a:ext cx="75819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叫作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自然基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标准基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1696CD2-D9AD-52AB-4306-5FCBE5E8C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929" y="990024"/>
            <a:ext cx="182602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特别地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baseline="30000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06BE722-E5A4-3983-78DA-D1C31AD7D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5" y="1709162"/>
            <a:ext cx="32964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为基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b="1" i="1" baseline="-25000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728932B-331B-7FA1-1730-8786111E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5" y="2429887"/>
            <a:ext cx="237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可表示为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33DB1-7B60-0891-05CB-40B36C848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427" y="3149024"/>
            <a:ext cx="574489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D28F3876-C264-5019-DD18-80B1C7B96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5" y="3869749"/>
            <a:ext cx="835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向量在基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ε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中的坐标就是该向量的分量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19ECB98E-0CCF-1711-C4FE-2CDB62FD4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7" y="990024"/>
            <a:ext cx="660337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若在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维向量空间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</a:rPr>
              <a:t>n</a:t>
            </a:r>
            <a:r>
              <a:rPr lang="en-US" altLang="zh-CN" sz="2000" b="1" i="1" baseline="30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中取单位向量组</a:t>
            </a:r>
            <a:endParaRPr lang="zh-CN" altLang="en-US" b="1" baseline="30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4FB5948A-558C-2612-7ADD-00982637B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709162"/>
            <a:ext cx="563190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则以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为分量的向量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endParaRPr lang="en-US" altLang="zh-CN" b="1" i="1" baseline="-25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800653AA-6F9C-4EA0-935F-67C3528CC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049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750"/>
                            </p:stCondLst>
                            <p:childTnLst>
                              <p:par>
                                <p:cTn id="2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3" grpId="0" build="p" autoUpdateAnimBg="0"/>
      <p:bldP spid="6" grpId="0" build="p" autoUpdateAnimBg="0" advAuto="0"/>
      <p:bldP spid="8" grpId="0" build="p" autoUpdateAnimBg="0" advAuto="0"/>
      <p:bldP spid="9" grpId="0" build="p" autoUpdateAnimBg="0"/>
      <p:bldP spid="9" grpId="1"/>
      <p:bldP spid="11" grpId="0" build="p" autoUpdateAnimBg="0"/>
      <p:bldP spid="17" grpId="0" build="p" autoUpdateAnimBg="0"/>
      <p:bldP spid="18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2138CB82-166F-FD55-89B9-11A7CDA3D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20688"/>
            <a:ext cx="1802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3.27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7F2B88-1BF3-D015-E8FC-A8695B4EBDA7}"/>
              </a:ext>
            </a:extLst>
          </p:cNvPr>
          <p:cNvSpPr txBox="1"/>
          <p:nvPr/>
        </p:nvSpPr>
        <p:spPr>
          <a:xfrm>
            <a:off x="2399343" y="629189"/>
            <a:ext cx="3096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向量组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7BB061B-0D3D-E2E9-5742-936305B63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834279"/>
              </p:ext>
            </p:extLst>
          </p:nvPr>
        </p:nvGraphicFramePr>
        <p:xfrm>
          <a:off x="1758950" y="1336488"/>
          <a:ext cx="5626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26080" imgH="482400" progId="Equation.DSMT4">
                  <p:embed/>
                </p:oleObj>
              </mc:Choice>
              <mc:Fallback>
                <p:oleObj name="Equation" r:id="rId2" imgW="5626080" imgH="482400" progId="Equation.DSMT4">
                  <p:embed/>
                  <p:pic>
                    <p:nvPicPr>
                      <p:cNvPr id="16" name="Object 8">
                        <a:extLst>
                          <a:ext uri="{FF2B5EF4-FFF2-40B4-BE49-F238E27FC236}">
                            <a16:creationId xmlns:a16="http://schemas.microsoft.com/office/drawing/2014/main" id="{F78F63C2-7A6A-A328-D5D8-969DC3871E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1336488"/>
                        <a:ext cx="5626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6">
            <a:extLst>
              <a:ext uri="{FF2B5EF4-FFF2-40B4-BE49-F238E27FC236}">
                <a16:creationId xmlns:a16="http://schemas.microsoft.com/office/drawing/2014/main" id="{CB797759-CD6B-95AE-37EA-3DD1AB479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22" y="1986721"/>
            <a:ext cx="312167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4ED201B-FF03-5CAA-F42C-04CAD9341634}"/>
              </a:ext>
            </a:extLst>
          </p:cNvPr>
          <p:cNvSpPr txBox="1"/>
          <p:nvPr/>
        </p:nvSpPr>
        <p:spPr>
          <a:xfrm>
            <a:off x="3218232" y="1982613"/>
            <a:ext cx="5626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并求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sz="16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0,2,3</a:t>
            </a:r>
            <a:r>
              <a:rPr lang="en-US" altLang="zh-CN" sz="1000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在这个基</a:t>
            </a:r>
            <a:endParaRPr lang="zh-CN" altLang="en-US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B69BAB-D8A1-0328-17AA-1D885522744B}"/>
              </a:ext>
            </a:extLst>
          </p:cNvPr>
          <p:cNvSpPr txBox="1"/>
          <p:nvPr/>
        </p:nvSpPr>
        <p:spPr>
          <a:xfrm>
            <a:off x="514222" y="2689912"/>
            <a:ext cx="2473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b="1" dirty="0"/>
          </a:p>
        </p:txBody>
      </p:sp>
      <p:sp>
        <p:nvSpPr>
          <p:cNvPr id="32" name="Rectangle 38">
            <a:extLst>
              <a:ext uri="{FF2B5EF4-FFF2-40B4-BE49-F238E27FC236}">
                <a16:creationId xmlns:a16="http://schemas.microsoft.com/office/drawing/2014/main" id="{2BF5B65B-00F2-01C7-53FE-94E84DC0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428699"/>
            <a:ext cx="12241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FAA516-51E0-B64C-7C81-E256FD0CC88E}"/>
              </a:ext>
            </a:extLst>
          </p:cNvPr>
          <p:cNvSpPr txBox="1"/>
          <p:nvPr/>
        </p:nvSpPr>
        <p:spPr>
          <a:xfrm>
            <a:off x="514222" y="4137761"/>
            <a:ext cx="3913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维空间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1107BE9-C774-BF41-39C5-E8AA2AE19E8E}"/>
              </a:ext>
            </a:extLst>
          </p:cNvPr>
          <p:cNvSpPr txBox="1"/>
          <p:nvPr/>
        </p:nvSpPr>
        <p:spPr>
          <a:xfrm>
            <a:off x="514222" y="4875950"/>
            <a:ext cx="6218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无关的向量都可以作为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3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的一个基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1A8B2BE-A144-CFB8-7F13-00186D55D8E0}"/>
              </a:ext>
            </a:extLst>
          </p:cNvPr>
          <p:cNvSpPr txBox="1"/>
          <p:nvPr/>
        </p:nvSpPr>
        <p:spPr>
          <a:xfrm>
            <a:off x="6444208" y="4875950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下面证明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F311A6DE-5247-EF7F-CF10-30AEAC601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22" y="5566281"/>
            <a:ext cx="46751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9006A3-B311-2D05-A5A4-24F1BC7EF348}"/>
              </a:ext>
            </a:extLst>
          </p:cNvPr>
          <p:cNvSpPr txBox="1"/>
          <p:nvPr/>
        </p:nvSpPr>
        <p:spPr>
          <a:xfrm>
            <a:off x="3947515" y="4137761"/>
            <a:ext cx="4800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中的任何</a:t>
            </a:r>
            <a:r>
              <a:rPr lang="en-US" altLang="zh-CN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个线性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3B97ED9D-7DB0-4995-A965-FC9BD004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35079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10" grpId="0" build="p" autoUpdateAnimBg="0"/>
      <p:bldP spid="25" grpId="0"/>
      <p:bldP spid="31" grpId="0"/>
      <p:bldP spid="32" grpId="0"/>
      <p:bldP spid="39" grpId="0"/>
      <p:bldP spid="40" grpId="0"/>
      <p:bldP spid="41" grpId="0"/>
      <p:bldP spid="42" grpId="0" build="p" autoUpdateAnimBg="0" advAuto="1000"/>
      <p:bldP spid="42" grpId="1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7BB061B-0D3D-E2E9-5742-936305B63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836999"/>
              </p:ext>
            </p:extLst>
          </p:nvPr>
        </p:nvGraphicFramePr>
        <p:xfrm>
          <a:off x="1763688" y="2320220"/>
          <a:ext cx="3860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0640" imgH="1244520" progId="Equation.DSMT4">
                  <p:embed/>
                </p:oleObj>
              </mc:Choice>
              <mc:Fallback>
                <p:oleObj name="Equation" r:id="rId2" imgW="3860640" imgH="12445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E7BB061B-0D3D-E2E9-5742-936305B63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320220"/>
                        <a:ext cx="38608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5">
            <a:extLst>
              <a:ext uri="{FF2B5EF4-FFF2-40B4-BE49-F238E27FC236}">
                <a16:creationId xmlns:a16="http://schemas.microsoft.com/office/drawing/2014/main" id="{8E3039ED-57F9-4F88-EDB2-08EC5B185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797" y="726703"/>
            <a:ext cx="44279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32BDEB71-8BFC-C259-D369-CD96E6C58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213" y="726703"/>
            <a:ext cx="44279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线性无关的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54971A26-BCAA-9AD0-7711-35422F726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" y="1484970"/>
            <a:ext cx="35651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充要条件是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 ≠ 0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0C30599-779D-01DC-8DEE-AAB5F2109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758" y="1483033"/>
            <a:ext cx="14289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因为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8BEC624E-35E3-F1D9-0AA1-D4189EEE8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28" y="3858588"/>
            <a:ext cx="4141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线性无关</a:t>
            </a:r>
            <a:r>
              <a:rPr lang="en-US" altLang="zh-CN" b="1" kern="100" dirty="0"/>
              <a:t>,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C1F361F1-3E9A-4B50-62F1-14D4D2683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131" y="2680910"/>
            <a:ext cx="18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 ≠ 0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3C906A21-C8BC-9919-D04C-E8EE0EF92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3858588"/>
            <a:ext cx="4860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从而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2000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的一个基</a:t>
            </a:r>
            <a:r>
              <a:rPr lang="en-US" altLang="zh-CN" b="1" kern="100" dirty="0"/>
              <a:t>.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B7D4DF-8362-F742-F9CA-98CAE0FEA87E}"/>
              </a:ext>
            </a:extLst>
          </p:cNvPr>
          <p:cNvSpPr txBox="1"/>
          <p:nvPr/>
        </p:nvSpPr>
        <p:spPr>
          <a:xfrm>
            <a:off x="899592" y="4631006"/>
            <a:ext cx="576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再解方程组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5467E7-6041-3E34-1956-7A79D997AAEE}"/>
              </a:ext>
            </a:extLst>
          </p:cNvPr>
          <p:cNvSpPr txBox="1"/>
          <p:nvPr/>
        </p:nvSpPr>
        <p:spPr>
          <a:xfrm>
            <a:off x="6015038" y="4628433"/>
            <a:ext cx="3053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对其增广矩阵</a:t>
            </a:r>
            <a:r>
              <a:rPr lang="en-US" altLang="zh-CN" sz="1000" dirty="0"/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zh-CN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D6327A-E621-060D-4B9F-8B8AF66B8388}"/>
              </a:ext>
            </a:extLst>
          </p:cNvPr>
          <p:cNvSpPr txBox="1"/>
          <p:nvPr/>
        </p:nvSpPr>
        <p:spPr>
          <a:xfrm>
            <a:off x="430828" y="5371900"/>
            <a:ext cx="392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施</a:t>
            </a:r>
            <a:r>
              <a:rPr lang="zh-CN" altLang="en-US" dirty="0"/>
              <a:t>行</a:t>
            </a:r>
            <a:r>
              <a:rPr lang="zh-CN" altLang="zh-CN" dirty="0"/>
              <a:t>初等行变换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sz="1000" dirty="0">
                <a:latin typeface="Times New Roman" panose="02020603050405020304" pitchFamily="18" charset="0"/>
              </a:rPr>
              <a:t> </a:t>
            </a:r>
            <a:r>
              <a:rPr lang="zh-CN" altLang="en-US" dirty="0"/>
              <a:t>有</a:t>
            </a:r>
            <a:endParaRPr lang="zh-CN" altLang="zh-CN" dirty="0"/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E4CF12CB-8ADD-4025-B8C9-656F38316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6165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1000"/>
      <p:bldP spid="3" grpId="1"/>
      <p:bldP spid="4" grpId="0" build="p" autoUpdateAnimBg="0" advAuto="1000"/>
      <p:bldP spid="4" grpId="1"/>
      <p:bldP spid="6" grpId="0" build="p" autoUpdateAnimBg="0" advAuto="1000"/>
      <p:bldP spid="6" grpId="1"/>
      <p:bldP spid="8" grpId="0" build="p" autoUpdateAnimBg="0" advAuto="1000"/>
      <p:bldP spid="8" grpId="1"/>
      <p:bldP spid="9" grpId="0" build="p" autoUpdateAnimBg="0" advAuto="1000"/>
      <p:bldP spid="9" grpId="1"/>
      <p:bldP spid="11" grpId="0" build="p" autoUpdateAnimBg="0" advAuto="1000"/>
      <p:bldP spid="11" grpId="1"/>
      <p:bldP spid="12" grpId="0" build="p" autoUpdateAnimBg="0" advAuto="1000"/>
      <p:bldP spid="12" grpId="1"/>
      <p:bldP spid="14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7D6327A-E621-060D-4B9F-8B8AF66B8388}"/>
              </a:ext>
            </a:extLst>
          </p:cNvPr>
          <p:cNvSpPr txBox="1"/>
          <p:nvPr/>
        </p:nvSpPr>
        <p:spPr>
          <a:xfrm>
            <a:off x="530615" y="5021877"/>
            <a:ext cx="7941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故向量</a:t>
            </a:r>
            <a:r>
              <a:rPr lang="en-US" altLang="zh-CN" sz="16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</a:t>
            </a:r>
            <a:r>
              <a:rPr lang="zh-CN" alt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0,2,3</a:t>
            </a:r>
            <a:r>
              <a:rPr lang="en-US" altLang="zh-CN" sz="1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000" b="1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在基</a:t>
            </a:r>
            <a:r>
              <a:rPr lang="en-US" altLang="zh-CN" sz="2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i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/>
              <a:t>中的坐标为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7BB061B-0D3D-E2E9-5742-936305B63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590294"/>
              </p:ext>
            </p:extLst>
          </p:nvPr>
        </p:nvGraphicFramePr>
        <p:xfrm>
          <a:off x="655877" y="1151079"/>
          <a:ext cx="245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419040" progId="Equation.DSMT4">
                  <p:embed/>
                </p:oleObj>
              </mc:Choice>
              <mc:Fallback>
                <p:oleObj name="Equation" r:id="rId2" imgW="2450880" imgH="41904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E7BB061B-0D3D-E2E9-5742-936305B63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877" y="1151079"/>
                        <a:ext cx="245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5">
            <a:extLst>
              <a:ext uri="{FF2B5EF4-FFF2-40B4-BE49-F238E27FC236}">
                <a16:creationId xmlns:a16="http://schemas.microsoft.com/office/drawing/2014/main" id="{8BEC624E-35E3-F1D9-0AA1-D4189EEE8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90" y="3724715"/>
            <a:ext cx="2120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由此可得</a:t>
            </a:r>
            <a:r>
              <a:rPr lang="en-US" altLang="zh-CN" b="1" kern="100" dirty="0"/>
              <a:t>,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B7D4DF-8362-F742-F9CA-98CAE0FEA87E}"/>
              </a:ext>
            </a:extLst>
          </p:cNvPr>
          <p:cNvSpPr txBox="1"/>
          <p:nvPr/>
        </p:nvSpPr>
        <p:spPr>
          <a:xfrm>
            <a:off x="2346428" y="3732344"/>
            <a:ext cx="3923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此</a:t>
            </a:r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方程组</a:t>
            </a: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的唯一解为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" name="Object 23">
            <a:extLst>
              <a:ext uri="{FF2B5EF4-FFF2-40B4-BE49-F238E27FC236}">
                <a16:creationId xmlns:a16="http://schemas.microsoft.com/office/drawing/2014/main" id="{578A141F-5D8A-5BCE-D636-E9FF36F3C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268178"/>
              </p:ext>
            </p:extLst>
          </p:nvPr>
        </p:nvGraphicFramePr>
        <p:xfrm>
          <a:off x="5418330" y="611069"/>
          <a:ext cx="84455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1384200" progId="Equation.DSMT4">
                  <p:embed/>
                </p:oleObj>
              </mc:Choice>
              <mc:Fallback>
                <p:oleObj name="Equation" r:id="rId4" imgW="634680" imgH="1384200" progId="Equation.DSMT4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42814506-76B2-6380-FA9E-C5A508677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330" y="611069"/>
                        <a:ext cx="84455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3">
            <a:extLst>
              <a:ext uri="{FF2B5EF4-FFF2-40B4-BE49-F238E27FC236}">
                <a16:creationId xmlns:a16="http://schemas.microsoft.com/office/drawing/2014/main" id="{0A39F2E0-8006-71A7-FB97-959D5E5D1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962038"/>
              </p:ext>
            </p:extLst>
          </p:nvPr>
        </p:nvGraphicFramePr>
        <p:xfrm>
          <a:off x="649065" y="2100941"/>
          <a:ext cx="827087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1396800" progId="Equation.DSMT4">
                  <p:embed/>
                </p:oleObj>
              </mc:Choice>
              <mc:Fallback>
                <p:oleObj name="Equation" r:id="rId6" imgW="622080" imgH="1396800" progId="Equation.DSMT4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42814506-76B2-6380-FA9E-C5A508677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065" y="2100941"/>
                        <a:ext cx="827087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654B931A-243F-A7A3-9021-E50EB35B65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555284"/>
              </p:ext>
            </p:extLst>
          </p:nvPr>
        </p:nvGraphicFramePr>
        <p:xfrm>
          <a:off x="6351733" y="760072"/>
          <a:ext cx="2133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360" imgH="1244520" progId="Equation.DSMT4">
                  <p:embed/>
                </p:oleObj>
              </mc:Choice>
              <mc:Fallback>
                <p:oleObj name="Equation" r:id="rId8" imgW="2133360" imgH="12445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E7BB061B-0D3D-E2E9-5742-936305B63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733" y="760072"/>
                        <a:ext cx="2133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47CDC9CC-CFC1-9D64-1EA9-A134BF715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759476"/>
              </p:ext>
            </p:extLst>
          </p:nvPr>
        </p:nvGraphicFramePr>
        <p:xfrm>
          <a:off x="1559814" y="2204705"/>
          <a:ext cx="2120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1244520" progId="Equation.DSMT4">
                  <p:embed/>
                </p:oleObj>
              </mc:Choice>
              <mc:Fallback>
                <p:oleObj name="Equation" r:id="rId10" imgW="2120760" imgH="124452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654B931A-243F-A7A3-9021-E50EB35B6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814" y="2204705"/>
                        <a:ext cx="21209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BEA0C491-E629-940B-D0B4-CCCD5FDB0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340595"/>
              </p:ext>
            </p:extLst>
          </p:nvPr>
        </p:nvGraphicFramePr>
        <p:xfrm>
          <a:off x="3106977" y="750675"/>
          <a:ext cx="22225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22280" imgH="1244520" progId="Equation.DSMT4">
                  <p:embed/>
                </p:oleObj>
              </mc:Choice>
              <mc:Fallback>
                <p:oleObj name="Equation" r:id="rId12" imgW="2222280" imgH="12445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E7BB061B-0D3D-E2E9-5742-936305B63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977" y="750675"/>
                        <a:ext cx="22225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5">
            <a:extLst>
              <a:ext uri="{FF2B5EF4-FFF2-40B4-BE49-F238E27FC236}">
                <a16:creationId xmlns:a16="http://schemas.microsoft.com/office/drawing/2014/main" id="{897EBA61-11BB-26BC-67FB-A0D69CFE2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429" y="4365104"/>
            <a:ext cx="4451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1000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1000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1000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1000" b="1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F7D922-9B47-2505-FC42-EAF93E8E620B}"/>
              </a:ext>
            </a:extLst>
          </p:cNvPr>
          <p:cNvSpPr txBox="1"/>
          <p:nvPr/>
        </p:nvSpPr>
        <p:spPr>
          <a:xfrm>
            <a:off x="3256878" y="5678650"/>
            <a:ext cx="2654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1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0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1B6893D-49C8-354F-2CF5-E9E5542E3A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53153" y="2261544"/>
            <a:ext cx="0" cy="1187761"/>
          </a:xfrm>
          <a:prstGeom prst="line">
            <a:avLst/>
          </a:prstGeom>
          <a:noFill/>
          <a:ln w="381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30">
            <a:extLst>
              <a:ext uri="{FF2B5EF4-FFF2-40B4-BE49-F238E27FC236}">
                <a16:creationId xmlns:a16="http://schemas.microsoft.com/office/drawing/2014/main" id="{E0BFD34B-0199-475F-8DA7-E8CE435EF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3418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build="p" autoUpdateAnimBg="0" advAuto="1000"/>
      <p:bldP spid="9" grpId="1"/>
      <p:bldP spid="14" grpId="0"/>
      <p:bldP spid="33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2138CB82-166F-FD55-89B9-11A7CDA3D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482" y="692696"/>
            <a:ext cx="1802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3.28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7BB061B-0D3D-E2E9-5742-936305B63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838814"/>
              </p:ext>
            </p:extLst>
          </p:nvPr>
        </p:nvGraphicFramePr>
        <p:xfrm>
          <a:off x="749458" y="1387537"/>
          <a:ext cx="4546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46440" imgH="1244520" progId="Equation.DSMT4">
                  <p:embed/>
                </p:oleObj>
              </mc:Choice>
              <mc:Fallback>
                <p:oleObj name="Equation" r:id="rId2" imgW="4546440" imgH="12445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E7BB061B-0D3D-E2E9-5742-936305B63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458" y="1387537"/>
                        <a:ext cx="4546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0">
            <a:extLst>
              <a:ext uri="{FF2B5EF4-FFF2-40B4-BE49-F238E27FC236}">
                <a16:creationId xmlns:a16="http://schemas.microsoft.com/office/drawing/2014/main" id="{4CC24FB7-B9AB-130F-27D4-C3C300CE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1913" y="685278"/>
            <a:ext cx="991841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C6EB7052-5B0D-4D2B-4F4E-BF0F3351F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606" y="2808488"/>
            <a:ext cx="862553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并求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在这个基</a:t>
            </a:r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1AABEBBC-49F5-87A8-49D6-B1E39C10E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15" y="3499171"/>
            <a:ext cx="211224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中的坐标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97BE5CD-D51E-D372-6CD8-8298E1FFA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606" y="4880537"/>
            <a:ext cx="528310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要证</a:t>
            </a:r>
            <a:r>
              <a:rPr lang="zh-CN" altLang="en-US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DFDFE17-1911-EC9D-178A-85C3ABC0D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606" y="5575327"/>
            <a:ext cx="218676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81502-CAFF-7BEF-1983-4DFC19B26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482" y="4189854"/>
            <a:ext cx="12961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07186359-44BB-0967-040D-DA829B95F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1987" y="4880537"/>
            <a:ext cx="360754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只需证明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B86FD8A4-0F15-28A5-C2CE-B018C5835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145958"/>
              </p:ext>
            </p:extLst>
          </p:nvPr>
        </p:nvGraphicFramePr>
        <p:xfrm>
          <a:off x="5357970" y="1387537"/>
          <a:ext cx="3251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1244520" progId="Equation.DSMT4">
                  <p:embed/>
                </p:oleObj>
              </mc:Choice>
              <mc:Fallback>
                <p:oleObj name="Equation" r:id="rId4" imgW="3251160" imgH="124452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E7BB061B-0D3D-E2E9-5742-936305B63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970" y="1387537"/>
                        <a:ext cx="3251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578C11D-AFFB-A166-1B14-CED78AA39A00}"/>
              </a:ext>
            </a:extLst>
          </p:cNvPr>
          <p:cNvGrpSpPr/>
          <p:nvPr/>
        </p:nvGrpSpPr>
        <p:grpSpPr>
          <a:xfrm>
            <a:off x="2444287" y="5399649"/>
            <a:ext cx="2952750" cy="803479"/>
            <a:chOff x="2566267" y="5422762"/>
            <a:chExt cx="2952750" cy="803479"/>
          </a:xfrm>
        </p:grpSpPr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127CCDD0-669A-7E52-B532-58B86A88F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267" y="5598440"/>
              <a:ext cx="258646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即只需证明</a:t>
              </a:r>
              <a:endPara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Object 23">
              <a:extLst>
                <a:ext uri="{FF2B5EF4-FFF2-40B4-BE49-F238E27FC236}">
                  <a16:creationId xmlns:a16="http://schemas.microsoft.com/office/drawing/2014/main" id="{FAAC99BC-7981-43D4-6B3F-787B33D3F2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5346410"/>
                </p:ext>
              </p:extLst>
            </p:nvPr>
          </p:nvGraphicFramePr>
          <p:xfrm>
            <a:off x="4595264" y="5422762"/>
            <a:ext cx="923753" cy="803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88840" imgH="774360" progId="Equation.DSMT4">
                    <p:embed/>
                  </p:oleObj>
                </mc:Choice>
                <mc:Fallback>
                  <p:oleObj name="Equation" r:id="rId6" imgW="888840" imgH="774360" progId="Equation.DSMT4">
                    <p:embed/>
                    <p:pic>
                      <p:nvPicPr>
                        <p:cNvPr id="2" name="Object 23">
                          <a:extLst>
                            <a:ext uri="{FF2B5EF4-FFF2-40B4-BE49-F238E27FC236}">
                              <a16:creationId xmlns:a16="http://schemas.microsoft.com/office/drawing/2014/main" id="{578A141F-5D8A-5BCE-D636-E9FF36F3C0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264" y="5422762"/>
                          <a:ext cx="923753" cy="803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30">
            <a:extLst>
              <a:ext uri="{FF2B5EF4-FFF2-40B4-BE49-F238E27FC236}">
                <a16:creationId xmlns:a16="http://schemas.microsoft.com/office/drawing/2014/main" id="{3C53DDC1-61BE-44D6-8D66-34E55880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42466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7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4" grpId="0"/>
      <p:bldP spid="6" grpId="0"/>
      <p:bldP spid="8" grpId="0" autoUpdateAnimBg="0"/>
      <p:bldP spid="9" grpId="0" autoUpdateAnimBg="0"/>
      <p:bldP spid="11" grpId="0"/>
      <p:bldP spid="12" grpId="0" autoUpdateAnimBg="0"/>
      <p:bldP spid="1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2EBD7855-E1B4-634D-9810-F6EF161C8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1" y="3298252"/>
            <a:ext cx="281099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</a:t>
            </a:r>
            <a:r>
              <a:rPr lang="zh-CN" altLang="en-US" b="1" dirty="0">
                <a:solidFill>
                  <a:schemeClr val="tx1"/>
                </a:solidFill>
              </a:rPr>
              <a:t>  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F775793-0205-0337-AE74-3DD723FA4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764704"/>
            <a:ext cx="49712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11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31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30DE8443-BE24-C90E-4737-FE9732FE1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326" y="764704"/>
            <a:ext cx="420385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12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32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752800-0BB5-E493-7FFF-2D062C0F5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1" y="1483842"/>
            <a:ext cx="86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1876C65C-140B-343F-13D9-E976D7E9D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6" y="4022152"/>
            <a:ext cx="54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B697B626-46DF-82E5-CEB3-747B0403F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91" y="4739243"/>
            <a:ext cx="504324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39F443E7-5C14-34D1-AECD-66DEEBD1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92" y="5458381"/>
            <a:ext cx="333291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D098B0AE-4C44-3668-916C-03F7E795E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833" y="4022152"/>
            <a:ext cx="28352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能变为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E1BAE3BF-A9D1-E7FD-B0F2-74856C2BF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46" y="4742877"/>
            <a:ext cx="324036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且当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</a:p>
        </p:txBody>
      </p:sp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0A1D772D-0403-412A-6555-60E8524DBD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857910"/>
              </p:ext>
            </p:extLst>
          </p:nvPr>
        </p:nvGraphicFramePr>
        <p:xfrm>
          <a:off x="2126409" y="1804329"/>
          <a:ext cx="4515345" cy="129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03360" imgH="1206360" progId="Equation.DSMT4">
                  <p:embed/>
                </p:oleObj>
              </mc:Choice>
              <mc:Fallback>
                <p:oleObj name="Equation" r:id="rId2" imgW="4203360" imgH="1206360" progId="Equation.DSMT4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B843C1BA-E458-F684-3CB2-8064E8B1FD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409" y="1804329"/>
                        <a:ext cx="4515345" cy="1295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0">
            <a:extLst>
              <a:ext uri="{FF2B5EF4-FFF2-40B4-BE49-F238E27FC236}">
                <a16:creationId xmlns:a16="http://schemas.microsoft.com/office/drawing/2014/main" id="{4D865C8C-4B09-48CD-B6B9-620ECE57F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3735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1000"/>
      <p:bldP spid="10" grpId="0" autoUpdateAnimBg="0"/>
      <p:bldP spid="16" grpId="0" autoUpdateAnimBg="0"/>
      <p:bldP spid="17" grpId="0"/>
      <p:bldP spid="18" grpId="0" autoUpdateAnimBg="0"/>
      <p:bldP spid="23" grpId="0" autoUpdateAnimBg="0"/>
      <p:bldP spid="24" grpId="0" autoUpdateAnimBg="0"/>
      <p:bldP spid="26" grpId="0" autoUpdateAnimBg="0"/>
      <p:bldP spid="2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3F13539B-C923-DC85-00E9-D1B380203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49738"/>
              </p:ext>
            </p:extLst>
          </p:nvPr>
        </p:nvGraphicFramePr>
        <p:xfrm>
          <a:off x="688264" y="1307633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342720" progId="Equation.DSMT4">
                  <p:embed/>
                </p:oleObj>
              </mc:Choice>
              <mc:Fallback>
                <p:oleObj name="Equation" r:id="rId2" imgW="1015920" imgH="34272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04CEFBB6-A34F-3BE7-6928-4734E60BD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64" y="1307633"/>
                        <a:ext cx="1016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32F97D29-7606-0A50-B70D-35E985D3C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515791"/>
              </p:ext>
            </p:extLst>
          </p:nvPr>
        </p:nvGraphicFramePr>
        <p:xfrm>
          <a:off x="5151392" y="930263"/>
          <a:ext cx="2501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1155600" progId="Equation.DSMT4">
                  <p:embed/>
                </p:oleObj>
              </mc:Choice>
              <mc:Fallback>
                <p:oleObj name="Equation" r:id="rId4" imgW="2501640" imgH="1155600" progId="Equation.DSMT4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CB904137-3D46-F625-3B36-D7EF2BA61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392" y="930263"/>
                        <a:ext cx="25019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548CE5BE-4076-DFB5-85A4-B5DB3E6BB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713712"/>
              </p:ext>
            </p:extLst>
          </p:nvPr>
        </p:nvGraphicFramePr>
        <p:xfrm>
          <a:off x="1665285" y="2357426"/>
          <a:ext cx="2501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1155600" progId="Equation.DSMT4">
                  <p:embed/>
                </p:oleObj>
              </mc:Choice>
              <mc:Fallback>
                <p:oleObj name="Equation" r:id="rId6" imgW="2501640" imgH="1155600" progId="Equation.DSMT4">
                  <p:embed/>
                  <p:pic>
                    <p:nvPicPr>
                      <p:cNvPr id="5" name="Object 12">
                        <a:extLst>
                          <a:ext uri="{FF2B5EF4-FFF2-40B4-BE49-F238E27FC236}">
                            <a16:creationId xmlns:a16="http://schemas.microsoft.com/office/drawing/2014/main" id="{B96E120C-873B-576F-3A5B-8E76EE840C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5" y="2357426"/>
                        <a:ext cx="25019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5">
            <a:extLst>
              <a:ext uri="{FF2B5EF4-FFF2-40B4-BE49-F238E27FC236}">
                <a16:creationId xmlns:a16="http://schemas.microsoft.com/office/drawing/2014/main" id="{42291869-06D8-AB89-27FA-F646A0011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55386"/>
              </p:ext>
            </p:extLst>
          </p:nvPr>
        </p:nvGraphicFramePr>
        <p:xfrm>
          <a:off x="1721439" y="910412"/>
          <a:ext cx="2667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7000" imgH="1155700" progId="Equation.DSMT4">
                  <p:embed/>
                </p:oleObj>
              </mc:Choice>
              <mc:Fallback>
                <p:oleObj name="Equation" r:id="rId8" imgW="2667000" imgH="1155700" progId="Equation.DSMT4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7450E597-897B-D11C-8EAE-55366CDD9D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439" y="910412"/>
                        <a:ext cx="26670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3">
            <a:extLst>
              <a:ext uri="{FF2B5EF4-FFF2-40B4-BE49-F238E27FC236}">
                <a16:creationId xmlns:a16="http://schemas.microsoft.com/office/drawing/2014/main" id="{D9A27C22-C9CD-1128-2BD3-EDEDB0E4D3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837921"/>
              </p:ext>
            </p:extLst>
          </p:nvPr>
        </p:nvGraphicFramePr>
        <p:xfrm>
          <a:off x="4442444" y="915174"/>
          <a:ext cx="6762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960" imgH="863280" progId="Equation.DSMT4">
                  <p:embed/>
                </p:oleObj>
              </mc:Choice>
              <mc:Fallback>
                <p:oleObj name="Equation" r:id="rId10" imgW="507960" imgH="863280" progId="Equation.DSMT4">
                  <p:embed/>
                  <p:pic>
                    <p:nvPicPr>
                      <p:cNvPr id="2" name="Object 23">
                        <a:extLst>
                          <a:ext uri="{FF2B5EF4-FFF2-40B4-BE49-F238E27FC236}">
                            <a16:creationId xmlns:a16="http://schemas.microsoft.com/office/drawing/2014/main" id="{578A141F-5D8A-5BCE-D636-E9FF36F3C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2444" y="915174"/>
                        <a:ext cx="67627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7ADCF204-F3EE-5887-3F32-474687CA13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475640"/>
              </p:ext>
            </p:extLst>
          </p:nvPr>
        </p:nvGraphicFramePr>
        <p:xfrm>
          <a:off x="1059721" y="2546338"/>
          <a:ext cx="557212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812520" progId="Equation.DSMT4">
                  <p:embed/>
                </p:oleObj>
              </mc:Choice>
              <mc:Fallback>
                <p:oleObj name="Equation" r:id="rId12" imgW="419040" imgH="812520" progId="Equation.DSMT4">
                  <p:embed/>
                  <p:pic>
                    <p:nvPicPr>
                      <p:cNvPr id="5" name="Object 23">
                        <a:extLst>
                          <a:ext uri="{FF2B5EF4-FFF2-40B4-BE49-F238E27FC236}">
                            <a16:creationId xmlns:a16="http://schemas.microsoft.com/office/drawing/2014/main" id="{D9A27C22-C9CD-1128-2BD3-EDEDB0E4D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721" y="2546338"/>
                        <a:ext cx="557212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3CD8915C-450F-C1DA-E96D-E0115F32DC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593898"/>
              </p:ext>
            </p:extLst>
          </p:nvPr>
        </p:nvGraphicFramePr>
        <p:xfrm>
          <a:off x="4240813" y="2368613"/>
          <a:ext cx="8286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80" imgH="863280" progId="Equation.DSMT4">
                  <p:embed/>
                </p:oleObj>
              </mc:Choice>
              <mc:Fallback>
                <p:oleObj name="Equation" r:id="rId14" imgW="622080" imgH="863280" progId="Equation.DSMT4">
                  <p:embed/>
                  <p:pic>
                    <p:nvPicPr>
                      <p:cNvPr id="5" name="Object 23">
                        <a:extLst>
                          <a:ext uri="{FF2B5EF4-FFF2-40B4-BE49-F238E27FC236}">
                            <a16:creationId xmlns:a16="http://schemas.microsoft.com/office/drawing/2014/main" id="{D9A27C22-C9CD-1128-2BD3-EDEDB0E4D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813" y="2368613"/>
                        <a:ext cx="82867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543B9D0C-0A88-9EDC-9266-FDF216BAB5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803527"/>
              </p:ext>
            </p:extLst>
          </p:nvPr>
        </p:nvGraphicFramePr>
        <p:xfrm>
          <a:off x="5205584" y="2348235"/>
          <a:ext cx="25146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14600" imgH="1155600" progId="Equation.DSMT4">
                  <p:embed/>
                </p:oleObj>
              </mc:Choice>
              <mc:Fallback>
                <p:oleObj name="Equation" r:id="rId16" imgW="2514600" imgH="115560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548CE5BE-4076-DFB5-85A4-B5DB3E6BB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584" y="2348235"/>
                        <a:ext cx="25146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4935451A-008A-DB8F-30A5-209532376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114610"/>
              </p:ext>
            </p:extLst>
          </p:nvPr>
        </p:nvGraphicFramePr>
        <p:xfrm>
          <a:off x="968325" y="4256373"/>
          <a:ext cx="6921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0560" imgH="799920" progId="Equation.DSMT4">
                  <p:embed/>
                </p:oleObj>
              </mc:Choice>
              <mc:Fallback>
                <p:oleObj name="Equation" r:id="rId18" imgW="520560" imgH="799920" progId="Equation.DSMT4">
                  <p:embed/>
                  <p:pic>
                    <p:nvPicPr>
                      <p:cNvPr id="10" name="Object 23">
                        <a:extLst>
                          <a:ext uri="{FF2B5EF4-FFF2-40B4-BE49-F238E27FC236}">
                            <a16:creationId xmlns:a16="http://schemas.microsoft.com/office/drawing/2014/main" id="{7ADCF204-F3EE-5887-3F32-474687CA13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25" y="4256373"/>
                        <a:ext cx="6921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22B14703-6570-DE09-4965-87446CD8B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438354"/>
              </p:ext>
            </p:extLst>
          </p:nvPr>
        </p:nvGraphicFramePr>
        <p:xfrm>
          <a:off x="1672033" y="4154440"/>
          <a:ext cx="25146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14600" imgH="1155600" progId="Equation.DSMT4">
                  <p:embed/>
                </p:oleObj>
              </mc:Choice>
              <mc:Fallback>
                <p:oleObj name="Equation" r:id="rId20" imgW="2514600" imgH="1155600" progId="Equation.DSMT4">
                  <p:embed/>
                  <p:pic>
                    <p:nvPicPr>
                      <p:cNvPr id="17" name="Object 12">
                        <a:extLst>
                          <a:ext uri="{FF2B5EF4-FFF2-40B4-BE49-F238E27FC236}">
                            <a16:creationId xmlns:a16="http://schemas.microsoft.com/office/drawing/2014/main" id="{543B9D0C-0A88-9EDC-9266-FDF216BAB5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033" y="4154440"/>
                        <a:ext cx="25146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E6E4B58F-D313-341D-8C96-9B053C44B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334009"/>
              </p:ext>
            </p:extLst>
          </p:nvPr>
        </p:nvGraphicFramePr>
        <p:xfrm>
          <a:off x="4236539" y="4086548"/>
          <a:ext cx="995363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49160" imgH="888840" progId="Equation.DSMT4">
                  <p:embed/>
                </p:oleObj>
              </mc:Choice>
              <mc:Fallback>
                <p:oleObj name="Equation" r:id="rId22" imgW="749160" imgH="888840" progId="Equation.DSMT4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4935451A-008A-DB8F-30A5-2095323769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6539" y="4086548"/>
                        <a:ext cx="995363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>
            <a:extLst>
              <a:ext uri="{FF2B5EF4-FFF2-40B4-BE49-F238E27FC236}">
                <a16:creationId xmlns:a16="http://schemas.microsoft.com/office/drawing/2014/main" id="{746A281F-4F2C-B5F6-663D-420489EC1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537064"/>
              </p:ext>
            </p:extLst>
          </p:nvPr>
        </p:nvGraphicFramePr>
        <p:xfrm>
          <a:off x="5286794" y="3635759"/>
          <a:ext cx="2311400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11200" imgH="2222280" progId="Equation.DSMT4">
                  <p:embed/>
                </p:oleObj>
              </mc:Choice>
              <mc:Fallback>
                <p:oleObj name="Equation" r:id="rId24" imgW="2311200" imgH="2222280" progId="Equation.DSMT4">
                  <p:embed/>
                  <p:pic>
                    <p:nvPicPr>
                      <p:cNvPr id="23" name="Object 12">
                        <a:extLst>
                          <a:ext uri="{FF2B5EF4-FFF2-40B4-BE49-F238E27FC236}">
                            <a16:creationId xmlns:a16="http://schemas.microsoft.com/office/drawing/2014/main" id="{22B14703-6570-DE09-4965-87446CD8BF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794" y="3635759"/>
                        <a:ext cx="2311400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0">
            <a:extLst>
              <a:ext uri="{FF2B5EF4-FFF2-40B4-BE49-F238E27FC236}">
                <a16:creationId xmlns:a16="http://schemas.microsoft.com/office/drawing/2014/main" id="{1D790AC5-9786-4C88-A49E-69E9246FA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4846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3">
            <a:extLst>
              <a:ext uri="{FF2B5EF4-FFF2-40B4-BE49-F238E27FC236}">
                <a16:creationId xmlns:a16="http://schemas.microsoft.com/office/drawing/2014/main" id="{17188672-EF87-488F-9F6F-96A2597305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792122"/>
              </p:ext>
            </p:extLst>
          </p:nvPr>
        </p:nvGraphicFramePr>
        <p:xfrm>
          <a:off x="2339752" y="692696"/>
          <a:ext cx="2413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2286000" progId="Equation.DSMT4">
                  <p:embed/>
                </p:oleObj>
              </mc:Choice>
              <mc:Fallback>
                <p:oleObj name="Equation" r:id="rId2" imgW="2412720" imgH="2286000" progId="Equation.DSMT4">
                  <p:embed/>
                  <p:pic>
                    <p:nvPicPr>
                      <p:cNvPr id="20" name="Object 23">
                        <a:extLst>
                          <a:ext uri="{FF2B5EF4-FFF2-40B4-BE49-F238E27FC236}">
                            <a16:creationId xmlns:a16="http://schemas.microsoft.com/office/drawing/2014/main" id="{2A415F00-CE79-17A1-C85E-B9976280D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92696"/>
                        <a:ext cx="24130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5C3C817-7A6D-637F-F7FB-94CEFDEA6E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51014" y="765721"/>
            <a:ext cx="0" cy="215900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2">
            <a:extLst>
              <a:ext uri="{FF2B5EF4-FFF2-40B4-BE49-F238E27FC236}">
                <a16:creationId xmlns:a16="http://schemas.microsoft.com/office/drawing/2014/main" id="{3FEC85FC-4B53-046B-03DE-063BF7777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800" y="3182713"/>
            <a:ext cx="526372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3200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2ADD7D3F-3391-5472-FAE8-4208EAC8E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714" y="3178605"/>
            <a:ext cx="7014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</a:p>
        </p:txBody>
      </p:sp>
      <p:graphicFrame>
        <p:nvGraphicFramePr>
          <p:cNvPr id="31" name="Object 3">
            <a:extLst>
              <a:ext uri="{FF2B5EF4-FFF2-40B4-BE49-F238E27FC236}">
                <a16:creationId xmlns:a16="http://schemas.microsoft.com/office/drawing/2014/main" id="{E81A69E6-F999-4C33-6A76-88D20D517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829519"/>
              </p:ext>
            </p:extLst>
          </p:nvPr>
        </p:nvGraphicFramePr>
        <p:xfrm>
          <a:off x="1930598" y="3881694"/>
          <a:ext cx="4360862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68600" imgH="2463480" progId="Equation.DSMT4">
                  <p:embed/>
                </p:oleObj>
              </mc:Choice>
              <mc:Fallback>
                <p:oleObj name="Equation" r:id="rId4" imgW="4368600" imgH="2463480" progId="Equation.DSMT4">
                  <p:embed/>
                  <p:pic>
                    <p:nvPicPr>
                      <p:cNvPr id="30" name="Object 3">
                        <a:extLst>
                          <a:ext uri="{FF2B5EF4-FFF2-40B4-BE49-F238E27FC236}">
                            <a16:creationId xmlns:a16="http://schemas.microsoft.com/office/drawing/2014/main" id="{7B52314A-8A68-73D4-DF92-CF6D89C27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598" y="3881694"/>
                        <a:ext cx="4360862" cy="246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3">
            <a:extLst>
              <a:ext uri="{FF2B5EF4-FFF2-40B4-BE49-F238E27FC236}">
                <a16:creationId xmlns:a16="http://schemas.microsoft.com/office/drawing/2014/main" id="{7DC20F0A-9B03-A197-61A1-80D5BD4984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639997"/>
              </p:ext>
            </p:extLst>
          </p:nvPr>
        </p:nvGraphicFramePr>
        <p:xfrm>
          <a:off x="1619672" y="1256803"/>
          <a:ext cx="65881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863280" progId="Equation.DSMT4">
                  <p:embed/>
                </p:oleObj>
              </mc:Choice>
              <mc:Fallback>
                <p:oleObj name="Equation" r:id="rId6" imgW="495000" imgH="86328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3CD8915C-450F-C1DA-E96D-E0115F32DC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256803"/>
                        <a:ext cx="65881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C8E6E23F-4316-40F5-79D8-832FE28C1AFA}"/>
              </a:ext>
            </a:extLst>
          </p:cNvPr>
          <p:cNvGrpSpPr/>
          <p:nvPr/>
        </p:nvGrpSpPr>
        <p:grpSpPr>
          <a:xfrm>
            <a:off x="670148" y="3044599"/>
            <a:ext cx="1813620" cy="803275"/>
            <a:chOff x="1030188" y="3140868"/>
            <a:chExt cx="1813620" cy="803275"/>
          </a:xfrm>
        </p:grpSpPr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08BAC3F8-FBAB-BE73-9669-3B182C00E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188" y="3327400"/>
              <a:ext cx="181362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因为</a:t>
              </a:r>
              <a:endParaRPr lang="zh-CN" altLang="en-US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Object 23">
              <a:extLst>
                <a:ext uri="{FF2B5EF4-FFF2-40B4-BE49-F238E27FC236}">
                  <a16:creationId xmlns:a16="http://schemas.microsoft.com/office/drawing/2014/main" id="{35F73880-FAA1-1241-965A-FF0F1110A1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2772824"/>
                </p:ext>
              </p:extLst>
            </p:nvPr>
          </p:nvGraphicFramePr>
          <p:xfrm>
            <a:off x="1822326" y="3140868"/>
            <a:ext cx="936625" cy="803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01440" imgH="774360" progId="Equation.DSMT4">
                    <p:embed/>
                  </p:oleObj>
                </mc:Choice>
                <mc:Fallback>
                  <p:oleObj name="Equation" r:id="rId8" imgW="901440" imgH="774360" progId="Equation.DSMT4">
                    <p:embed/>
                    <p:pic>
                      <p:nvPicPr>
                        <p:cNvPr id="5" name="Object 23">
                          <a:extLst>
                            <a:ext uri="{FF2B5EF4-FFF2-40B4-BE49-F238E27FC236}">
                              <a16:creationId xmlns:a16="http://schemas.microsoft.com/office/drawing/2014/main" id="{FAAC99BC-7981-43D4-6B3F-787B33D3F2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2326" y="3140868"/>
                          <a:ext cx="936625" cy="803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30">
            <a:extLst>
              <a:ext uri="{FF2B5EF4-FFF2-40B4-BE49-F238E27FC236}">
                <a16:creationId xmlns:a16="http://schemas.microsoft.com/office/drawing/2014/main" id="{1B041920-F210-4EBA-B414-0E2629A18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99969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2A29B15B-F793-A362-B8C3-9B6D734CC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63605"/>
            <a:ext cx="6911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中的坐标分别为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D54DC31C-A8C1-3938-B73F-0C88424693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132553"/>
              </p:ext>
            </p:extLst>
          </p:nvPr>
        </p:nvGraphicFramePr>
        <p:xfrm>
          <a:off x="2587327" y="1749409"/>
          <a:ext cx="1701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901440" progId="Equation.DSMT4">
                  <p:embed/>
                </p:oleObj>
              </mc:Choice>
              <mc:Fallback>
                <p:oleObj name="Equation" r:id="rId2" imgW="1701720" imgH="901440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D06902FA-938F-92AD-EB9F-13303E1BD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327" y="1749409"/>
                        <a:ext cx="1701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2784178-2204-3230-7EE2-E39B7FA69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7632"/>
              </p:ext>
            </p:extLst>
          </p:nvPr>
        </p:nvGraphicFramePr>
        <p:xfrm>
          <a:off x="4779764" y="1749409"/>
          <a:ext cx="1397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901440" progId="Equation.DSMT4">
                  <p:embed/>
                </p:oleObj>
              </mc:Choice>
              <mc:Fallback>
                <p:oleObj name="Equation" r:id="rId4" imgW="1396800" imgH="901440" progId="Equation.DSMT4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92675D22-D64F-D3F3-AF43-9F21E3D628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764" y="1749409"/>
                        <a:ext cx="1397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62C8A736-BB02-6D50-8F1A-AA7EB3CB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497" y="2009752"/>
            <a:ext cx="6270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E6219BC6-3D1B-4C8A-B841-8E0875D7D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23"/>
            <a:ext cx="80859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向量空间的基与维数和向量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在基中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的坐标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09739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1035">
            <a:extLst>
              <a:ext uri="{FF2B5EF4-FFF2-40B4-BE49-F238E27FC236}">
                <a16:creationId xmlns:a16="http://schemas.microsoft.com/office/drawing/2014/main" id="{8D9DB3AE-AC3C-57C7-53EE-B1D493157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38" y="765449"/>
            <a:ext cx="1874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3.16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A4BD3F1-FACA-0F62-3F1E-AFFCFD00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86" y="1404557"/>
            <a:ext cx="3384550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空间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的两个基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4F05BBD-EC10-F578-84BE-D6A093CB4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911" y="1404557"/>
            <a:ext cx="566866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且第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个基可由第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个基表示为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E8A3E02C-BC98-84AE-E0DF-3E3B54AB0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019959"/>
              </p:ext>
            </p:extLst>
          </p:nvPr>
        </p:nvGraphicFramePr>
        <p:xfrm>
          <a:off x="2349500" y="2094663"/>
          <a:ext cx="44450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4920" imgH="1701720" progId="Equation.DSMT4">
                  <p:embed/>
                </p:oleObj>
              </mc:Choice>
              <mc:Fallback>
                <p:oleObj name="Equation" r:id="rId2" imgW="4444920" imgH="170172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56F158CC-634C-3AD7-0678-3B63E0A5DC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2094663"/>
                        <a:ext cx="44450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6E617A3C-6E76-F0B2-5D09-B8EEABB04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29" y="3992925"/>
            <a:ext cx="5472113" cy="53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ij</a:t>
            </a:r>
            <a:r>
              <a:rPr lang="en-US" altLang="zh-CN" sz="16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j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1,2,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为常数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C5815AB-BE2E-2418-565B-469B6AA26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353" y="2793800"/>
            <a:ext cx="1221197" cy="5318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(3.15)</a:t>
            </a:r>
            <a:endParaRPr lang="zh-CN" altLang="en-US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B1943B3-D3DC-FB38-D824-0FEAC1F5C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29" y="4640806"/>
            <a:ext cx="8250535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华文中宋"/>
                <a:ea typeface="华文中宋"/>
              </a:rPr>
              <a:t>为</a:t>
            </a: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由基</a:t>
            </a:r>
            <a:r>
              <a:rPr lang="zh-CN" altLang="en-US" sz="16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到基</a:t>
            </a:r>
            <a:r>
              <a:rPr lang="zh-CN" altLang="en-US" sz="16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过渡矩阵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.</a:t>
            </a:r>
            <a:endParaRPr lang="zh-CN" altLang="en-US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82E6F3C-390C-C674-BF73-6ADC04556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36" y="764704"/>
            <a:ext cx="6789241" cy="531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95DFAF6-9D16-8075-7E59-2E33CC578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0904" y="3993438"/>
            <a:ext cx="3795415" cy="5318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则称矩阵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itchFamily="2" charset="-122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itchFamily="2" charset="-122"/>
              </a:rPr>
              <a:t>n</a:t>
            </a:r>
            <a:r>
              <a:rPr lang="en-US" altLang="zh-CN" b="1" baseline="-25000" dirty="0" err="1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574162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build="p"/>
      <p:bldP spid="11" grpId="0" build="p"/>
      <p:bldP spid="13" grpId="0" build="p"/>
      <p:bldP spid="14" grpId="0"/>
      <p:bldP spid="15" grpId="0"/>
      <p:bldP spid="17" grpId="0" build="p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9ED8533-9E0E-C624-4B9B-4F516C680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50623"/>
            <a:ext cx="3455988" cy="5328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利用矩阵的乘法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FDADB8B-E127-B1BA-A977-CA6E964CB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557798"/>
              </p:ext>
            </p:extLst>
          </p:nvPr>
        </p:nvGraphicFramePr>
        <p:xfrm>
          <a:off x="971600" y="1691458"/>
          <a:ext cx="71755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75160" imgH="1701720" progId="Equation.DSMT4">
                  <p:embed/>
                </p:oleObj>
              </mc:Choice>
              <mc:Fallback>
                <p:oleObj name="Equation" r:id="rId2" imgW="7175160" imgH="17017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122BD3A-1CF6-3C23-84DC-271D7508E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691458"/>
                        <a:ext cx="71755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8">
            <a:extLst>
              <a:ext uri="{FF2B5EF4-FFF2-40B4-BE49-F238E27FC236}">
                <a16:creationId xmlns:a16="http://schemas.microsoft.com/office/drawing/2014/main" id="{623AB185-BE2A-A1AB-AC1A-71EFBA00A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392" y="3685081"/>
            <a:ext cx="6270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3CFF8523-D14E-CB1F-7E9F-D534BBC33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845773"/>
              </p:ext>
            </p:extLst>
          </p:nvPr>
        </p:nvGraphicFramePr>
        <p:xfrm>
          <a:off x="2057072" y="3717032"/>
          <a:ext cx="4521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20880" imgH="419040" progId="Equation.DSMT4">
                  <p:embed/>
                </p:oleObj>
              </mc:Choice>
              <mc:Fallback>
                <p:oleObj name="Equation" r:id="rId4" imgW="4520880" imgH="41904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6AE2587C-EAD1-86C2-5A99-F64A3A8291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072" y="3717032"/>
                        <a:ext cx="4521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">
            <a:extLst>
              <a:ext uri="{FF2B5EF4-FFF2-40B4-BE49-F238E27FC236}">
                <a16:creationId xmlns:a16="http://schemas.microsoft.com/office/drawing/2014/main" id="{55E3AAA6-44E5-325E-D012-883B3DC3D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4384967"/>
            <a:ext cx="6574626" cy="5334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(3.15)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(3.16)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基变换公式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dirty="0">
              <a:solidFill>
                <a:srgbClr val="0000FF"/>
              </a:solidFill>
              <a:cs typeface="Times New Roman" pitchFamily="18" charset="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78EF5540-39E6-A3C8-1D09-937508FF4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325" y="950623"/>
            <a:ext cx="4742228" cy="5328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可将式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(3.15)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改写为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dirty="0">
              <a:cs typeface="Times New Roman" pitchFamily="18" charset="0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6360B9ED-F227-90B6-EF74-57119235C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485" y="3654432"/>
            <a:ext cx="1262416" cy="5318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(3.16)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80056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2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5" grpId="0"/>
      <p:bldP spid="26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5">
            <a:extLst>
              <a:ext uri="{FF2B5EF4-FFF2-40B4-BE49-F238E27FC236}">
                <a16:creationId xmlns:a16="http://schemas.microsoft.com/office/drawing/2014/main" id="{CDCFBC77-514D-42D9-BABC-3D25E2261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36712"/>
            <a:ext cx="22322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3.17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878033-DCED-962C-7AC3-62D2FECC2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875" y="839002"/>
            <a:ext cx="6128964" cy="53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的两个基分别为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CAAD564-E569-A5D7-1568-6F2A32F2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5846" y="1620776"/>
            <a:ext cx="6789241" cy="531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I: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n</a:t>
            </a:r>
            <a:r>
              <a:rPr lang="en-US" altLang="zh-CN" sz="2000" b="1" i="1" baseline="-25000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II: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n</a:t>
            </a:r>
            <a:r>
              <a:rPr lang="en-US" altLang="zh-CN" sz="2000" b="1" i="1" baseline="-25000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AB13309-2C76-4C6D-7BE6-7E4FBB77F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254" y="2397404"/>
            <a:ext cx="5403479" cy="531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由基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到基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的过渡矩阵为</a:t>
            </a:r>
            <a:r>
              <a:rPr lang="zh-CN" altLang="en-US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30B26B-8828-E600-55EC-E454BA796560}"/>
              </a:ext>
            </a:extLst>
          </p:cNvPr>
          <p:cNvSpPr txBox="1"/>
          <p:nvPr/>
        </p:nvSpPr>
        <p:spPr>
          <a:xfrm>
            <a:off x="5556081" y="2405740"/>
            <a:ext cx="3242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中向量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000" b="1" i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zh-CN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在基</a:t>
            </a:r>
            <a:r>
              <a:rPr lang="en-US" altLang="zh-CN" sz="20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zh-CN" altLang="en-US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D3740F-C5F1-6031-51C1-31EFDD1A0B91}"/>
              </a:ext>
            </a:extLst>
          </p:cNvPr>
          <p:cNvSpPr txBox="1"/>
          <p:nvPr/>
        </p:nvSpPr>
        <p:spPr>
          <a:xfrm>
            <a:off x="509254" y="3189804"/>
            <a:ext cx="56228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i="1" baseline="-25000" dirty="0" err="1">
                <a:solidFill>
                  <a:srgbClr val="0000FF"/>
                </a:solidFill>
              </a:rPr>
              <a:t>n</a:t>
            </a:r>
            <a:r>
              <a:rPr lang="en-US" altLang="zh-CN" sz="2000" b="1" i="1" baseline="-25000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rgbClr val="0000FF"/>
                </a:solidFill>
                <a:ea typeface="黑体" panose="02010609060101010101" pitchFamily="49" charset="-122"/>
              </a:rPr>
              <a:t>T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A3CCBE-F74B-BCFE-8CA0-8E021B76D893}"/>
              </a:ext>
            </a:extLst>
          </p:cNvPr>
          <p:cNvSpPr txBox="1"/>
          <p:nvPr/>
        </p:nvSpPr>
        <p:spPr>
          <a:xfrm>
            <a:off x="5333791" y="3189392"/>
            <a:ext cx="3464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sz="16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000" b="1" i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zh-CN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在基</a:t>
            </a:r>
            <a:r>
              <a:rPr lang="en-US" altLang="zh-CN" sz="16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II </a:t>
            </a: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endParaRPr lang="zh-CN" altLang="en-US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E073FD-4302-4BE5-1C7D-606EC2F03DD4}"/>
              </a:ext>
            </a:extLst>
          </p:cNvPr>
          <p:cNvSpPr txBox="1"/>
          <p:nvPr/>
        </p:nvSpPr>
        <p:spPr>
          <a:xfrm>
            <a:off x="491617" y="3985486"/>
            <a:ext cx="5562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坐标为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b="1" i="1" baseline="-25000" dirty="0" err="1">
                <a:solidFill>
                  <a:srgbClr val="0000FF"/>
                </a:solidFill>
              </a:rPr>
              <a:t>n</a:t>
            </a:r>
            <a:r>
              <a:rPr lang="en-US" altLang="zh-CN" sz="2000" b="1" i="1" baseline="-25000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rgbClr val="0000FF"/>
                </a:solidFill>
                <a:ea typeface="黑体" panose="02010609060101010101" pitchFamily="49" charset="-122"/>
              </a:rPr>
              <a:t>T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E804AE10-0E61-812B-BCD3-7DB1AAC38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002" y="3975456"/>
            <a:ext cx="3962456" cy="53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则有坐标变换公式</a:t>
            </a:r>
            <a:endParaRPr lang="zh-CN" altLang="en-US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8BA8E163-AF0B-1E5B-AA27-C9F239849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150" y="4686980"/>
            <a:ext cx="609600" cy="519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graphicFrame>
        <p:nvGraphicFramePr>
          <p:cNvPr id="27" name="Object 18">
            <a:extLst>
              <a:ext uri="{FF2B5EF4-FFF2-40B4-BE49-F238E27FC236}">
                <a16:creationId xmlns:a16="http://schemas.microsoft.com/office/drawing/2014/main" id="{6E5DC6B1-79F4-84EF-F5B8-EDCD99B8C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105755"/>
              </p:ext>
            </p:extLst>
          </p:nvPr>
        </p:nvGraphicFramePr>
        <p:xfrm>
          <a:off x="526088" y="4760017"/>
          <a:ext cx="1066800" cy="3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38357" imgH="361789" progId="Equation.DSMT4">
                  <p:embed/>
                </p:oleObj>
              </mc:Choice>
              <mc:Fallback>
                <p:oleObj name="Equation" r:id="rId2" imgW="1038357" imgH="361789" progId="Equation.DSMT4">
                  <p:embed/>
                  <p:pic>
                    <p:nvPicPr>
                      <p:cNvPr id="53262" name="Object 18">
                        <a:extLst>
                          <a:ext uri="{FF2B5EF4-FFF2-40B4-BE49-F238E27FC236}">
                            <a16:creationId xmlns:a16="http://schemas.microsoft.com/office/drawing/2014/main" id="{4B7E7EF2-D1AF-7BF0-117F-789F7E401F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88" y="4760017"/>
                        <a:ext cx="1066800" cy="3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96426FB9-EBEE-2C9A-57CB-FA2EE524E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657868"/>
              </p:ext>
            </p:extLst>
          </p:nvPr>
        </p:nvGraphicFramePr>
        <p:xfrm>
          <a:off x="2038975" y="4686981"/>
          <a:ext cx="1447800" cy="495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19357" imgH="466765" progId="Equation.DSMT4">
                  <p:embed/>
                </p:oleObj>
              </mc:Choice>
              <mc:Fallback>
                <p:oleObj name="Equation" r:id="rId4" imgW="1419357" imgH="466765" progId="Equation.DSMT4">
                  <p:embed/>
                  <p:pic>
                    <p:nvPicPr>
                      <p:cNvPr id="53263" name="Object 15">
                        <a:extLst>
                          <a:ext uri="{FF2B5EF4-FFF2-40B4-BE49-F238E27FC236}">
                            <a16:creationId xmlns:a16="http://schemas.microsoft.com/office/drawing/2014/main" id="{31BA4C07-9702-C442-7F7F-AEDF18BA9B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975" y="4686981"/>
                        <a:ext cx="1447800" cy="495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0">
            <a:extLst>
              <a:ext uri="{FF2B5EF4-FFF2-40B4-BE49-F238E27FC236}">
                <a16:creationId xmlns:a16="http://schemas.microsoft.com/office/drawing/2014/main" id="{486A6811-A6F8-4167-8E55-F7AB4F99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48673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7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build="p"/>
      <p:bldP spid="10" grpId="0" build="p"/>
      <p:bldP spid="11" grpId="0" build="p"/>
      <p:bldP spid="13" grpId="0"/>
      <p:bldP spid="15" grpId="0"/>
      <p:bldP spid="16" grpId="0"/>
      <p:bldP spid="18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2CB85366-8586-46C5-A839-46D8BAF70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5" y="831824"/>
            <a:ext cx="1295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3AAC115-94CD-BA16-D49F-DFDBBD02E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43185"/>
              </p:ext>
            </p:extLst>
          </p:nvPr>
        </p:nvGraphicFramePr>
        <p:xfrm>
          <a:off x="2051720" y="1562613"/>
          <a:ext cx="37274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419040" progId="Equation.DSMT4">
                  <p:embed/>
                </p:oleObj>
              </mc:Choice>
              <mc:Fallback>
                <p:oleObj name="Equation" r:id="rId2" imgW="3733560" imgH="41904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2B01381B-67A3-6AF8-AEC3-E3FE643A63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562613"/>
                        <a:ext cx="37274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9EF473C-ED8A-3532-0068-76387F075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858210"/>
              </p:ext>
            </p:extLst>
          </p:nvPr>
        </p:nvGraphicFramePr>
        <p:xfrm>
          <a:off x="2699792" y="4153606"/>
          <a:ext cx="28114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160" imgH="419040" progId="Equation.DSMT4">
                  <p:embed/>
                </p:oleObj>
              </mc:Choice>
              <mc:Fallback>
                <p:oleObj name="Equation" r:id="rId4" imgW="2819160" imgH="41904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6E6824E1-CE1F-9B4C-DB71-92D1CEBB56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153606"/>
                        <a:ext cx="28114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2">
            <a:extLst>
              <a:ext uri="{FF2B5EF4-FFF2-40B4-BE49-F238E27FC236}">
                <a16:creationId xmlns:a16="http://schemas.microsoft.com/office/drawing/2014/main" id="{1844ECC8-725E-F292-F341-4F7DA80C3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62" y="836586"/>
            <a:ext cx="2408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由已知可得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65C9EA1B-661C-67E2-5368-8946865DF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722167"/>
              </p:ext>
            </p:extLst>
          </p:nvPr>
        </p:nvGraphicFramePr>
        <p:xfrm>
          <a:off x="2284338" y="2214110"/>
          <a:ext cx="307975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5920" imgH="1688760" progId="Equation.DSMT4">
                  <p:embed/>
                </p:oleObj>
              </mc:Choice>
              <mc:Fallback>
                <p:oleObj name="Equation" r:id="rId6" imgW="3085920" imgH="168876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3EC640D6-42C6-B85F-56ED-4D8B56DAC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338" y="2214110"/>
                        <a:ext cx="307975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>
            <a:extLst>
              <a:ext uri="{FF2B5EF4-FFF2-40B4-BE49-F238E27FC236}">
                <a16:creationId xmlns:a16="http://schemas.microsoft.com/office/drawing/2014/main" id="{248B8C63-1018-D54B-E72E-8160D8A69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4880220"/>
            <a:ext cx="1988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同理可得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C6BEE57D-3FB4-6824-84FE-44047ACD3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29357"/>
              </p:ext>
            </p:extLst>
          </p:nvPr>
        </p:nvGraphicFramePr>
        <p:xfrm>
          <a:off x="2674393" y="4953918"/>
          <a:ext cx="28368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44720" imgH="419040" progId="Equation.DSMT4">
                  <p:embed/>
                </p:oleObj>
              </mc:Choice>
              <mc:Fallback>
                <p:oleObj name="Equation" r:id="rId8" imgW="2844720" imgH="419040" progId="Equation.DSMT4">
                  <p:embed/>
                  <p:pic>
                    <p:nvPicPr>
                      <p:cNvPr id="39942" name="Object 6">
                        <a:extLst>
                          <a:ext uri="{FF2B5EF4-FFF2-40B4-BE49-F238E27FC236}">
                            <a16:creationId xmlns:a16="http://schemas.microsoft.com/office/drawing/2014/main" id="{26BD1DD3-30B1-800A-340C-F5FB2BB9E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393" y="4953918"/>
                        <a:ext cx="28368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2">
            <a:extLst>
              <a:ext uri="{FF2B5EF4-FFF2-40B4-BE49-F238E27FC236}">
                <a16:creationId xmlns:a16="http://schemas.microsoft.com/office/drawing/2014/main" id="{05E3E191-D940-1D17-2E7A-1B5A16090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4152607"/>
            <a:ext cx="81621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B43D6BD2-ABC3-2138-7AE6-7AF01D3CC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73" y="4113480"/>
            <a:ext cx="1278755" cy="5318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(3.17)</a:t>
            </a:r>
            <a:endParaRPr lang="zh-CN" altLang="en-US" dirty="0"/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25E5F136-5D2C-5CE7-1C16-CC2898CC8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771" y="4902425"/>
            <a:ext cx="1278755" cy="5318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(3.18)</a:t>
            </a:r>
            <a:endParaRPr lang="zh-CN" altLang="en-US" dirty="0"/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AEB0F1DE-8EDE-4B79-A3A5-84E257721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2525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2" grpId="0"/>
      <p:bldP spid="33" grpId="0"/>
      <p:bldP spid="42" grpId="0"/>
      <p:bldP spid="4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BFB646D-51F8-F41E-21F3-7BBCB149B75B}"/>
              </a:ext>
            </a:extLst>
          </p:cNvPr>
          <p:cNvSpPr txBox="1"/>
          <p:nvPr/>
        </p:nvSpPr>
        <p:spPr>
          <a:xfrm>
            <a:off x="671042" y="2339762"/>
            <a:ext cx="8244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比较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式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(3.17)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式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(3.19)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并利用坐标的唯一性可得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en-US" b="1" dirty="0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910BCE6A-03F4-D34E-7473-AFCF0302F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73277"/>
            <a:ext cx="67591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将基变换公式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(3.16)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代入式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(3.18)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74177050-0BE8-0159-E440-7740B1543A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885793"/>
              </p:ext>
            </p:extLst>
          </p:nvPr>
        </p:nvGraphicFramePr>
        <p:xfrm>
          <a:off x="2797175" y="1704975"/>
          <a:ext cx="29384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419040" progId="Equation.DSMT4">
                  <p:embed/>
                </p:oleObj>
              </mc:Choice>
              <mc:Fallback>
                <p:oleObj name="Equation" r:id="rId2" imgW="2946240" imgH="419040" progId="Equation.DSMT4">
                  <p:embed/>
                  <p:pic>
                    <p:nvPicPr>
                      <p:cNvPr id="31" name="Object 9">
                        <a:extLst>
                          <a:ext uri="{FF2B5EF4-FFF2-40B4-BE49-F238E27FC236}">
                            <a16:creationId xmlns:a16="http://schemas.microsoft.com/office/drawing/2014/main" id="{D749210D-6C0D-1D58-02DA-B9E0420F4E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704975"/>
                        <a:ext cx="29384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1B065054-D035-6E3A-3A68-78E60DCD0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956" y="1615066"/>
            <a:ext cx="1278755" cy="5318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(3.19)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2F50D98-B8F5-CEA6-B315-F2A2B401E638}"/>
              </a:ext>
            </a:extLst>
          </p:cNvPr>
          <p:cNvGrpSpPr/>
          <p:nvPr/>
        </p:nvGrpSpPr>
        <p:grpSpPr>
          <a:xfrm>
            <a:off x="3335437" y="3061185"/>
            <a:ext cx="2915617" cy="519112"/>
            <a:chOff x="4730775" y="2388213"/>
            <a:chExt cx="2915617" cy="519112"/>
          </a:xfrm>
        </p:grpSpPr>
        <p:graphicFrame>
          <p:nvGraphicFramePr>
            <p:cNvPr id="30" name="Object 10">
              <a:extLst>
                <a:ext uri="{FF2B5EF4-FFF2-40B4-BE49-F238E27FC236}">
                  <a16:creationId xmlns:a16="http://schemas.microsoft.com/office/drawing/2014/main" id="{CC9DD3CE-7DE2-AF35-52B7-4FAEBBA6C1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917379"/>
                </p:ext>
              </p:extLst>
            </p:nvPr>
          </p:nvGraphicFramePr>
          <p:xfrm>
            <a:off x="4730775" y="2489813"/>
            <a:ext cx="990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90170" imgH="355446" progId="Equation.DSMT4">
                    <p:embed/>
                  </p:oleObj>
                </mc:Choice>
                <mc:Fallback>
                  <p:oleObj name="Equation" r:id="rId4" imgW="990170" imgH="355446" progId="Equation.DSMT4">
                    <p:embed/>
                    <p:pic>
                      <p:nvPicPr>
                        <p:cNvPr id="35" name="Object 10">
                          <a:extLst>
                            <a:ext uri="{FF2B5EF4-FFF2-40B4-BE49-F238E27FC236}">
                              <a16:creationId xmlns:a16="http://schemas.microsoft.com/office/drawing/2014/main" id="{3A402D70-1CCE-9B3C-3097-D60F9F38D9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775" y="2489813"/>
                          <a:ext cx="990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1">
              <a:extLst>
                <a:ext uri="{FF2B5EF4-FFF2-40B4-BE49-F238E27FC236}">
                  <a16:creationId xmlns:a16="http://schemas.microsoft.com/office/drawing/2014/main" id="{9DB3CC5B-5488-6F06-92C0-5EF3CAD43A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6769821"/>
                </p:ext>
              </p:extLst>
            </p:nvPr>
          </p:nvGraphicFramePr>
          <p:xfrm>
            <a:off x="6300192" y="2388213"/>
            <a:ext cx="1346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46200" imgH="457200" progId="Equation.DSMT4">
                    <p:embed/>
                  </p:oleObj>
                </mc:Choice>
                <mc:Fallback>
                  <p:oleObj name="Equation" r:id="rId6" imgW="1346200" imgH="457200" progId="Equation.DSMT4">
                    <p:embed/>
                    <p:pic>
                      <p:nvPicPr>
                        <p:cNvPr id="36" name="Object 11">
                          <a:extLst>
                            <a:ext uri="{FF2B5EF4-FFF2-40B4-BE49-F238E27FC236}">
                              <a16:creationId xmlns:a16="http://schemas.microsoft.com/office/drawing/2014/main" id="{537367B7-8E93-B0CF-F8E1-6C5EC6EA2C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0192" y="2388213"/>
                          <a:ext cx="13462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CF7907C4-7D7A-346C-C19A-D07188AD0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3929" y="2388213"/>
              <a:ext cx="609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或</a:t>
              </a:r>
            </a:p>
          </p:txBody>
        </p:sp>
      </p:grpSp>
      <p:sp>
        <p:nvSpPr>
          <p:cNvPr id="14" name="Rectangle 30">
            <a:extLst>
              <a:ext uri="{FF2B5EF4-FFF2-40B4-BE49-F238E27FC236}">
                <a16:creationId xmlns:a16="http://schemas.microsoft.com/office/drawing/2014/main" id="{18DF9C73-65A0-45EF-A9AD-DC70D68A4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23614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8" grpId="0"/>
      <p:bldP spid="18" grpId="1"/>
      <p:bldP spid="34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5">
            <a:extLst>
              <a:ext uri="{FF2B5EF4-FFF2-40B4-BE49-F238E27FC236}">
                <a16:creationId xmlns:a16="http://schemas.microsoft.com/office/drawing/2014/main" id="{6C229924-A276-A558-1233-7313D6881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06" y="764704"/>
            <a:ext cx="16046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3.29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C543813E-0241-80B6-46DA-BFCB15292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096" y="757821"/>
            <a:ext cx="364474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已知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有两个基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D19C9A0F-069A-649A-3FA1-28585FB94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91" y="4868183"/>
            <a:ext cx="504056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到基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的过渡矩阵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b="1" baseline="-25000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03F2514B-7C65-BE0A-ECA4-77E6DC533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91" y="5588908"/>
            <a:ext cx="6984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中的坐标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4" name="Object 3">
            <a:extLst>
              <a:ext uri="{FF2B5EF4-FFF2-40B4-BE49-F238E27FC236}">
                <a16:creationId xmlns:a16="http://schemas.microsoft.com/office/drawing/2014/main" id="{29FE6A42-5B4F-B338-B21E-F5F842ADFA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650087"/>
              </p:ext>
            </p:extLst>
          </p:nvPr>
        </p:nvGraphicFramePr>
        <p:xfrm>
          <a:off x="2333688" y="1480895"/>
          <a:ext cx="4483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1244520" progId="Equation.DSMT4">
                  <p:embed/>
                </p:oleObj>
              </mc:Choice>
              <mc:Fallback>
                <p:oleObj name="Equation" r:id="rId2" imgW="4483080" imgH="124452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E8A3E02C-BC98-84AE-E0DF-3E3B54AB0E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88" y="1480895"/>
                        <a:ext cx="44831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">
            <a:extLst>
              <a:ext uri="{FF2B5EF4-FFF2-40B4-BE49-F238E27FC236}">
                <a16:creationId xmlns:a16="http://schemas.microsoft.com/office/drawing/2014/main" id="{430A5CCC-8D12-4350-C32B-09710EB7E6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050203"/>
              </p:ext>
            </p:extLst>
          </p:nvPr>
        </p:nvGraphicFramePr>
        <p:xfrm>
          <a:off x="2306722" y="2960580"/>
          <a:ext cx="4495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95680" imgH="1244520" progId="Equation.DSMT4">
                  <p:embed/>
                </p:oleObj>
              </mc:Choice>
              <mc:Fallback>
                <p:oleObj name="Equation" r:id="rId4" imgW="4495680" imgH="1244520" progId="Equation.DSMT4">
                  <p:embed/>
                  <p:pic>
                    <p:nvPicPr>
                      <p:cNvPr id="44" name="Object 3">
                        <a:extLst>
                          <a:ext uri="{FF2B5EF4-FFF2-40B4-BE49-F238E27FC236}">
                            <a16:creationId xmlns:a16="http://schemas.microsoft.com/office/drawing/2014/main" id="{29FE6A42-5B4F-B338-B21E-F5F842ADFA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722" y="2960580"/>
                        <a:ext cx="44958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7C4B29C7-16CD-B5E8-C078-D54271508737}"/>
              </a:ext>
            </a:extLst>
          </p:cNvPr>
          <p:cNvSpPr txBox="1"/>
          <p:nvPr/>
        </p:nvSpPr>
        <p:spPr>
          <a:xfrm>
            <a:off x="815390" y="4178655"/>
            <a:ext cx="1121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A45C7455-C487-4556-8C6E-F61A8E1A3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01352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1" grpId="0"/>
      <p:bldP spid="13" grpId="0"/>
      <p:bldP spid="4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BDF65D8B-C660-B5A5-2281-ECF648FA7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92696"/>
            <a:ext cx="7921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32754C2F-B7A6-FDE7-D859-AA3957D7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300" y="691109"/>
            <a:ext cx="612115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设由基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到基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的过渡矩阵为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49FF1EF7-488E-027B-49BD-5F93D1009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943" y="1375831"/>
            <a:ext cx="50403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7DFE7E24-4C73-E37C-D461-332CCA1C0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692" y="2073262"/>
            <a:ext cx="52565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上式两边左乘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Text Box 10">
            <a:extLst>
              <a:ext uri="{FF2B5EF4-FFF2-40B4-BE49-F238E27FC236}">
                <a16:creationId xmlns:a16="http://schemas.microsoft.com/office/drawing/2014/main" id="{5D9DDC32-0B04-1E86-77F6-B0227DAE0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2421" y="691109"/>
            <a:ext cx="86409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38" name="Text Box 9">
            <a:extLst>
              <a:ext uri="{FF2B5EF4-FFF2-40B4-BE49-F238E27FC236}">
                <a16:creationId xmlns:a16="http://schemas.microsoft.com/office/drawing/2014/main" id="{BE05153C-78AB-9D8F-BB01-37FBA5B17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431" y="2756397"/>
            <a:ext cx="51133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72F13A0B-6397-3C7E-7E60-29163AE1F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07882"/>
              </p:ext>
            </p:extLst>
          </p:nvPr>
        </p:nvGraphicFramePr>
        <p:xfrm>
          <a:off x="2915916" y="3445678"/>
          <a:ext cx="3649662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1333440" progId="Equation.DSMT4">
                  <p:embed/>
                </p:oleObj>
              </mc:Choice>
              <mc:Fallback>
                <p:oleObj name="Equation" r:id="rId2" imgW="3657600" imgH="1333440" progId="Equation.DSMT4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FB25C941-BAF5-95AE-A6F5-7B3AFD63D1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916" y="3445678"/>
                        <a:ext cx="3649662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81C53F6-87F5-3952-3230-5ED6EA45F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995266"/>
              </p:ext>
            </p:extLst>
          </p:nvPr>
        </p:nvGraphicFramePr>
        <p:xfrm>
          <a:off x="2915916" y="4935275"/>
          <a:ext cx="2382838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1244600" progId="Equation.DSMT4">
                  <p:embed/>
                </p:oleObj>
              </mc:Choice>
              <mc:Fallback>
                <p:oleObj name="Equation" r:id="rId4" imgW="2387600" imgH="1244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FE80F39-ED33-C21E-81A3-B174D4197E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916" y="4935275"/>
                        <a:ext cx="2382838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0">
            <a:extLst>
              <a:ext uri="{FF2B5EF4-FFF2-40B4-BE49-F238E27FC236}">
                <a16:creationId xmlns:a16="http://schemas.microsoft.com/office/drawing/2014/main" id="{371F7BD3-7A20-47A7-BB01-88F7F66B9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3912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build="p" autoUpdateAnimBg="0"/>
      <p:bldP spid="18" grpId="0" build="p" autoUpdateAnimBg="0"/>
      <p:bldP spid="23" grpId="0" build="p" autoUpdateAnimBg="0"/>
      <p:bldP spid="32" grpId="0" build="p" autoUpdateAnimBg="0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>
            <a:extLst>
              <a:ext uri="{FF2B5EF4-FFF2-40B4-BE49-F238E27FC236}">
                <a16:creationId xmlns:a16="http://schemas.microsoft.com/office/drawing/2014/main" id="{61194964-EFE9-E7F7-1F90-A80A6E982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736" y="620688"/>
            <a:ext cx="7487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由已知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在基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中的坐标为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x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(1,2,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–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1)</a:t>
            </a:r>
            <a:r>
              <a:rPr lang="en-US" altLang="zh-CN" b="1" baseline="30000" dirty="0">
                <a:solidFill>
                  <a:schemeClr val="tx1"/>
                </a:solidFill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32754C2F-B7A6-FDE7-D859-AA3957D7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709" y="620688"/>
            <a:ext cx="95707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DF2936AA-AE09-BA88-DA8D-240F789092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94566"/>
              </p:ext>
            </p:extLst>
          </p:nvPr>
        </p:nvGraphicFramePr>
        <p:xfrm>
          <a:off x="3413760" y="3011725"/>
          <a:ext cx="327025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600" imgH="1333500" progId="Equation.DSMT4">
                  <p:embed/>
                </p:oleObj>
              </mc:Choice>
              <mc:Fallback>
                <p:oleObj name="Equation" r:id="rId2" imgW="3276600" imgH="13335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E3274E6-1958-0EA6-4B0E-0BEF68170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760" y="3011725"/>
                        <a:ext cx="327025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id="{CE5478A5-45A9-5EA8-7C66-23DDAFF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81" y="1354378"/>
            <a:ext cx="731374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在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基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II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中的坐标为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y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C00000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D49D10B-1FC7-94D4-4450-E1F6A8F11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25" y="2037757"/>
            <a:ext cx="44640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则由坐标变换公式可知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C00000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4B6B1942-E8F2-FE56-B520-E57B80070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889641"/>
              </p:ext>
            </p:extLst>
          </p:nvPr>
        </p:nvGraphicFramePr>
        <p:xfrm>
          <a:off x="6694885" y="2669930"/>
          <a:ext cx="1204913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2031840" progId="Equation.DSMT4">
                  <p:embed/>
                </p:oleObj>
              </mc:Choice>
              <mc:Fallback>
                <p:oleObj name="Equation" r:id="rId4" imgW="1206360" imgH="203184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8D8A1A81-324F-1962-C794-E2A0C35F7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885" y="2669930"/>
                        <a:ext cx="1204913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401913C1-1C1F-7D1F-CA14-EB2C023E07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237711"/>
              </p:ext>
            </p:extLst>
          </p:nvPr>
        </p:nvGraphicFramePr>
        <p:xfrm>
          <a:off x="1068059" y="3037059"/>
          <a:ext cx="1244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1295280" progId="Equation.DSMT4">
                  <p:embed/>
                </p:oleObj>
              </mc:Choice>
              <mc:Fallback>
                <p:oleObj name="Equation" r:id="rId6" imgW="1244520" imgH="129528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9C0EE7F9-4F54-7E9E-8A6F-BD4BCE1FB1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059" y="3037059"/>
                        <a:ext cx="12446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0CF29797-6F20-EAFE-AAA3-659B89032D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78189"/>
              </p:ext>
            </p:extLst>
          </p:nvPr>
        </p:nvGraphicFramePr>
        <p:xfrm>
          <a:off x="2346914" y="3481625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393480" progId="Equation.DSMT4">
                  <p:embed/>
                </p:oleObj>
              </mc:Choice>
              <mc:Fallback>
                <p:oleObj name="Equation" r:id="rId8" imgW="1002960" imgH="39348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9C0EE7F9-4F54-7E9E-8A6F-BD4BCE1FB1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914" y="3481625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5">
            <a:extLst>
              <a:ext uri="{FF2B5EF4-FFF2-40B4-BE49-F238E27FC236}">
                <a16:creationId xmlns:a16="http://schemas.microsoft.com/office/drawing/2014/main" id="{9BFD0AB6-3E54-E2D7-895A-29D393716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63" y="4816864"/>
            <a:ext cx="77914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故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中的坐标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5">
            <a:extLst>
              <a:ext uri="{FF2B5EF4-FFF2-40B4-BE49-F238E27FC236}">
                <a16:creationId xmlns:a16="http://schemas.microsoft.com/office/drawing/2014/main" id="{A719A053-77E2-5DAE-E254-FE731DF26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989913"/>
              </p:ext>
            </p:extLst>
          </p:nvPr>
        </p:nvGraphicFramePr>
        <p:xfrm>
          <a:off x="3581400" y="5338081"/>
          <a:ext cx="19542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55520" imgH="965160" progId="Equation.DSMT4">
                  <p:embed/>
                </p:oleObj>
              </mc:Choice>
              <mc:Fallback>
                <p:oleObj name="Equation" r:id="rId10" imgW="1955520" imgH="96516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4B6B1942-E8F2-FE56-B520-E57B80070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338081"/>
                        <a:ext cx="195421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">
            <a:extLst>
              <a:ext uri="{FF2B5EF4-FFF2-40B4-BE49-F238E27FC236}">
                <a16:creationId xmlns:a16="http://schemas.microsoft.com/office/drawing/2014/main" id="{50574F03-1F44-9479-0A4B-51D33A282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8769" y="2043813"/>
            <a:ext cx="44640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在基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II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中的坐标为</a:t>
            </a:r>
            <a:endParaRPr lang="zh-CN" altLang="en-US" b="1" dirty="0">
              <a:solidFill>
                <a:srgbClr val="C00000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88826E18-2B59-4C06-9A44-2CDC90876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765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向量空间的基变换与坐标变换公式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10215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build="p" autoUpdateAnimBg="0"/>
      <p:bldP spid="8" grpId="0"/>
      <p:bldP spid="9" grpId="0"/>
      <p:bldP spid="29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65" y="1125885"/>
            <a:ext cx="8354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向量空间及其子空间的定义是什么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</a:t>
            </a: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68560" y="69220"/>
            <a:ext cx="5616623" cy="63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向量空间小结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415414" y="123833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95" y="2434073"/>
            <a:ext cx="83826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向量空间的基与维数、向量的坐标的计算法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408860" y="2570334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5" y="3772552"/>
            <a:ext cx="7891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向量空间的基变换与坐标变换公式是什么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412264" y="386796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5" y="4491408"/>
            <a:ext cx="65231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向量空间的基有哪些实际应用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416398" y="530493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95" y="5173848"/>
            <a:ext cx="73903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向量空间的坐标变换公式有哪些应用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407813" y="4626483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95CAB06-33A9-208B-D9BA-FA6375736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45" y="1777608"/>
            <a:ext cx="69171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的基与维数</a:t>
            </a:r>
            <a:r>
              <a:rPr lang="zh-CN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在基中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的坐标的定义是什么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45A7E06-A4AC-83E1-3961-6861737D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791" y="3095044"/>
            <a:ext cx="16605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  <p:bldP spid="3" grpId="0"/>
      <p:bldP spid="5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25688</TotalTime>
  <Words>2698</Words>
  <Application>Microsoft Office PowerPoint</Application>
  <PresentationFormat>全屏显示(4:3)</PresentationFormat>
  <Paragraphs>291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黑体</vt:lpstr>
      <vt:lpstr>华文中宋</vt:lpstr>
      <vt:lpstr>宋体</vt:lpstr>
      <vt:lpstr>Arial</vt:lpstr>
      <vt:lpstr>Arial Black</vt:lpstr>
      <vt:lpstr>Calibri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1163</cp:revision>
  <dcterms:created xsi:type="dcterms:W3CDTF">2012-06-17T01:12:18Z</dcterms:created>
  <dcterms:modified xsi:type="dcterms:W3CDTF">2023-08-25T06:36:04Z</dcterms:modified>
</cp:coreProperties>
</file>