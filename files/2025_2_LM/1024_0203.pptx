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  <p:sldMasterId id="2147483676" r:id="rId3"/>
    <p:sldMasterId id="2147483688" r:id="rId4"/>
  </p:sldMasterIdLst>
  <p:notesMasterIdLst>
    <p:notesMasterId r:id="rId28"/>
  </p:notesMasterIdLst>
  <p:handoutMasterIdLst>
    <p:handoutMasterId r:id="rId29"/>
  </p:handoutMasterIdLst>
  <p:sldIdLst>
    <p:sldId id="1129" r:id="rId5"/>
    <p:sldId id="1516" r:id="rId6"/>
    <p:sldId id="1414" r:id="rId7"/>
    <p:sldId id="1472" r:id="rId8"/>
    <p:sldId id="1473" r:id="rId9"/>
    <p:sldId id="1415" r:id="rId10"/>
    <p:sldId id="1475" r:id="rId11"/>
    <p:sldId id="1476" r:id="rId12"/>
    <p:sldId id="1477" r:id="rId13"/>
    <p:sldId id="1478" r:id="rId14"/>
    <p:sldId id="1481" r:id="rId15"/>
    <p:sldId id="1482" r:id="rId16"/>
    <p:sldId id="1484" r:id="rId17"/>
    <p:sldId id="1487" r:id="rId18"/>
    <p:sldId id="1488" r:id="rId19"/>
    <p:sldId id="1489" r:id="rId20"/>
    <p:sldId id="1491" r:id="rId21"/>
    <p:sldId id="1509" r:id="rId22"/>
    <p:sldId id="1492" r:id="rId23"/>
    <p:sldId id="1493" r:id="rId24"/>
    <p:sldId id="1494" r:id="rId25"/>
    <p:sldId id="1495" r:id="rId26"/>
    <p:sldId id="1470" r:id="rId27"/>
  </p:sldIdLst>
  <p:sldSz cx="9144000" cy="6858000" type="screen4x3"/>
  <p:notesSz cx="6858000" cy="9144000"/>
  <p:custDataLst>
    <p:tags r:id="rId30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9" userDrawn="1">
          <p15:clr>
            <a:srgbClr val="A4A3A4"/>
          </p15:clr>
        </p15:guide>
        <p15:guide id="2" pos="29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3333FF"/>
    <a:srgbClr val="0033CC"/>
    <a:srgbClr val="0000FF"/>
    <a:srgbClr val="C7E6A4"/>
    <a:srgbClr val="FF0066"/>
    <a:srgbClr val="6666FF"/>
    <a:srgbClr val="969696"/>
    <a:srgbClr val="2B2B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9" autoAdjust="0"/>
    <p:restoredTop sz="93807" autoAdjust="0"/>
  </p:normalViewPr>
  <p:slideViewPr>
    <p:cSldViewPr showGuides="1">
      <p:cViewPr varScale="1">
        <p:scale>
          <a:sx n="127" d="100"/>
          <a:sy n="127" d="100"/>
        </p:scale>
        <p:origin x="1616" y="176"/>
      </p:cViewPr>
      <p:guideLst>
        <p:guide orient="horz" pos="2129"/>
        <p:guide pos="297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ags" Target="tags/tag1.xml"/><Relationship Id="rId8" Type="http://schemas.openxmlformats.org/officeDocument/2006/relationships/slide" Target="slides/slide4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image" Target="../media/image15.wmf"/><Relationship Id="rId1" Type="http://schemas.openxmlformats.org/officeDocument/2006/relationships/image" Target="../media/image14.wmf"/><Relationship Id="rId4" Type="http://schemas.openxmlformats.org/officeDocument/2006/relationships/image" Target="../media/image17.w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image" Target="../media/image1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image" Target="../media/image23.wmf"/><Relationship Id="rId1" Type="http://schemas.openxmlformats.org/officeDocument/2006/relationships/image" Target="../media/image22.wmf"/><Relationship Id="rId5" Type="http://schemas.openxmlformats.org/officeDocument/2006/relationships/image" Target="../media/image26.wmf"/><Relationship Id="rId4" Type="http://schemas.openxmlformats.org/officeDocument/2006/relationships/image" Target="../media/image25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2" Type="http://schemas.openxmlformats.org/officeDocument/2006/relationships/image" Target="../media/image28.wmf"/><Relationship Id="rId1" Type="http://schemas.openxmlformats.org/officeDocument/2006/relationships/image" Target="../media/image27.wmf"/><Relationship Id="rId4" Type="http://schemas.openxmlformats.org/officeDocument/2006/relationships/image" Target="../media/image30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image" Target="../media/image32.wmf"/><Relationship Id="rId1" Type="http://schemas.openxmlformats.org/officeDocument/2006/relationships/image" Target="../media/image31.wmf"/><Relationship Id="rId4" Type="http://schemas.openxmlformats.org/officeDocument/2006/relationships/image" Target="../media/image3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ea typeface="华文中宋" panose="02010600040101010101" pitchFamily="2" charset="-122"/>
              </a:rPr>
              <a:t>2026/10/13</a:t>
            </a:fld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ea typeface="华文中宋" panose="0201060004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ea typeface="华文中宋" panose="02010600040101010101" pitchFamily="2" charset="-122"/>
              </a:rPr>
              <a:t>‹#›</a:t>
            </a:fld>
            <a:endParaRPr lang="zh-CN" altLang="en-US">
              <a:ea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华文中宋" panose="0201060004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 u="none" strike="noStrike" kern="0" cap="none" spc="0" normalizeH="0">
                <a:ea typeface="华文中宋" panose="02010600040101010101" pitchFamily="2" charset="-122"/>
              </a:defRPr>
            </a:lvl1pPr>
            <a:lvl2pPr>
              <a:defRPr sz="2800" u="none" strike="noStrike" kern="0" cap="none" spc="0" normalizeH="0">
                <a:ea typeface="华文中宋" panose="02010600040101010101" pitchFamily="2" charset="-122"/>
              </a:defRPr>
            </a:lvl2pPr>
            <a:lvl3pPr>
              <a:defRPr sz="2800" u="none" strike="noStrike" kern="0" cap="none" spc="0" normalizeH="0">
                <a:ea typeface="华文中宋" panose="02010600040101010101" pitchFamily="2" charset="-122"/>
              </a:defRPr>
            </a:lvl3pPr>
            <a:lvl4pPr>
              <a:defRPr sz="2800" u="none" strike="noStrike" kern="0" cap="none" spc="0" normalizeH="0">
                <a:ea typeface="华文中宋" panose="02010600040101010101" pitchFamily="2" charset="-122"/>
              </a:defRPr>
            </a:lvl4pPr>
            <a:lvl5pPr>
              <a:defRPr sz="2800" u="none" strike="noStrike" kern="0" cap="none" spc="0" normalizeH="0"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 sz="2800" u="none" strike="noStrike" kern="0" cap="none" spc="0" normalizeH="0">
                <a:solidFill>
                  <a:srgbClr val="0000FF"/>
                </a:solidFill>
                <a:uFillTx/>
                <a:ea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>
                <a:ea typeface="华文中宋" panose="02010600040101010101" pitchFamily="2" charset="-122"/>
              </a:defRPr>
            </a:lvl3pPr>
            <a:lvl4pPr>
              <a:defRPr sz="1800">
                <a:ea typeface="华文中宋" panose="02010600040101010101" pitchFamily="2" charset="-122"/>
              </a:defRPr>
            </a:lvl4pPr>
            <a:lvl5pPr>
              <a:defRPr sz="1800">
                <a:ea typeface="华文中宋" panose="02010600040101010101" pitchFamily="2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>
                <a:ea typeface="华文中宋" panose="02010600040101010101" pitchFamily="2" charset="-122"/>
              </a:defRPr>
            </a:lvl3pPr>
            <a:lvl4pPr>
              <a:defRPr sz="1800">
                <a:ea typeface="华文中宋" panose="02010600040101010101" pitchFamily="2" charset="-122"/>
              </a:defRPr>
            </a:lvl4pPr>
            <a:lvl5pPr>
              <a:defRPr sz="1800">
                <a:ea typeface="华文中宋" panose="02010600040101010101" pitchFamily="2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>
                <a:ea typeface="华文中宋" panose="02010600040101010101" pitchFamily="2" charset="-122"/>
              </a:defRPr>
            </a:lvl3pPr>
            <a:lvl4pPr>
              <a:defRPr sz="1600">
                <a:ea typeface="华文中宋" panose="02010600040101010101" pitchFamily="2" charset="-122"/>
              </a:defRPr>
            </a:lvl4pPr>
            <a:lvl5pPr>
              <a:defRPr sz="1600">
                <a:ea typeface="华文中宋" panose="02010600040101010101" pitchFamily="2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>
                <a:ea typeface="华文中宋" panose="02010600040101010101" pitchFamily="2" charset="-122"/>
              </a:defRPr>
            </a:lvl3pPr>
            <a:lvl4pPr>
              <a:defRPr sz="1600">
                <a:ea typeface="华文中宋" panose="02010600040101010101" pitchFamily="2" charset="-122"/>
              </a:defRPr>
            </a:lvl4pPr>
            <a:lvl5pPr>
              <a:defRPr sz="1600">
                <a:ea typeface="华文中宋" panose="02010600040101010101" pitchFamily="2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>
                <a:ea typeface="华文中宋" panose="02010600040101010101" pitchFamily="2" charset="-122"/>
              </a:defRPr>
            </a:lvl3pPr>
            <a:lvl4pPr>
              <a:defRPr sz="2000">
                <a:ea typeface="华文中宋" panose="02010600040101010101" pitchFamily="2" charset="-122"/>
              </a:defRPr>
            </a:lvl4pPr>
            <a:lvl5pPr>
              <a:defRPr sz="2000">
                <a:ea typeface="华文中宋" panose="02010600040101010101" pitchFamily="2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>
                <a:ea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3pPr>
              <a:defRPr>
                <a:ea typeface="华文中宋" panose="02010600040101010101" pitchFamily="2" charset="-122"/>
              </a:defRPr>
            </a:lvl3pPr>
            <a:lvl4pPr>
              <a:defRPr>
                <a:ea typeface="华文中宋" panose="02010600040101010101" pitchFamily="2" charset="-122"/>
              </a:defRPr>
            </a:lvl4pPr>
            <a:lvl5pPr>
              <a:defRPr>
                <a:ea typeface="华文中宋" panose="02010600040101010101" pitchFamily="2" charset="-122"/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grpSp>
          <p:nvGrpSpPr>
            <p:cNvPr id="7" name="Group 5"/>
            <p:cNvGrpSpPr/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ea typeface="华文中宋" panose="02010600040101010101" pitchFamily="2" charset="-122"/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zh-CN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ea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ea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+mj-ea"/>
                <a:ea typeface="+mj-ea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>
                <a:latin typeface="华文中宋" panose="02010600040101010101" pitchFamily="2" charset="-122"/>
                <a:ea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华文中宋" panose="02010600040101010101" pitchFamily="2" charset="-122"/>
              <a:sym typeface="华文中宋" panose="0201060004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华文中宋" panose="02010600040101010101" pitchFamily="2" charset="-122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华文中宋" panose="0201060004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/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7" name="AutoShape 27"/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8" name="AutoShape 8"/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29" name="AutoShape 10"/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30" name="AutoShape 24"/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  <p:sp>
        <p:nvSpPr>
          <p:cNvPr id="1031" name="AutoShape 26"/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  <a:ea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>
              <a:defRPr sz="1200">
                <a:solidFill>
                  <a:srgbClr val="000000"/>
                </a:solidFill>
                <a:latin typeface="+mn-lt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t>‹#›</a:t>
            </a:fld>
            <a:endParaRPr lang="en-US" altLang="zh-CN"/>
          </a:p>
        </p:txBody>
      </p:sp>
      <p:grpSp>
        <p:nvGrpSpPr>
          <p:cNvPr id="1028" name="Group 4"/>
          <p:cNvGrpSpPr/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57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58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59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0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1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2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ea typeface="华文中宋" panose="02010600040101010101" pitchFamily="2" charset="-122"/>
              </a:endParaRPr>
            </a:p>
          </p:txBody>
        </p:sp>
        <p:sp>
          <p:nvSpPr>
            <p:cNvPr id="2063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2064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  <a:ea typeface="华文中宋" panose="02010600040101010101" pitchFamily="2" charset="-122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solidFill>
                  <a:srgbClr val="000000"/>
                </a:solidFill>
                <a:latin typeface="+mn-lt"/>
                <a:ea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slow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华文中宋" panose="02010600040101010101" pitchFamily="2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华文中宋" panose="02010600040101010101" pitchFamily="2" charset="-122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华文中宋" panose="02010600040101010101" pitchFamily="2" charset="-122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华文中宋" panose="02010600040101010101" pitchFamily="2" charset="-122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华文中宋" panose="02010600040101010101" pitchFamily="2" charset="-122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华文中宋" panose="02010600040101010101" pitchFamily="2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" Type="http://schemas.openxmlformats.org/officeDocument/2006/relationships/tags" Target="../tags/tag3.xml"/><Relationship Id="rId21" Type="http://schemas.openxmlformats.org/officeDocument/2006/relationships/image" Target="../media/image6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slide" Target="slide1.xml"/><Relationship Id="rId1" Type="http://schemas.openxmlformats.org/officeDocument/2006/relationships/vmlDrawing" Target="../drawings/vmlDrawing1.v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7.wmf"/><Relationship Id="rId10" Type="http://schemas.openxmlformats.org/officeDocument/2006/relationships/tags" Target="../tags/tag10.xml"/><Relationship Id="rId19" Type="http://schemas.openxmlformats.org/officeDocument/2006/relationships/slideLayout" Target="../slideLayouts/slideLayout44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13" Type="http://schemas.openxmlformats.org/officeDocument/2006/relationships/image" Target="../media/image6.png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12" Type="http://schemas.openxmlformats.org/officeDocument/2006/relationships/slide" Target="slide1.xml"/><Relationship Id="rId2" Type="http://schemas.openxmlformats.org/officeDocument/2006/relationships/tags" Target="../tags/tag19.xml"/><Relationship Id="rId1" Type="http://schemas.openxmlformats.org/officeDocument/2006/relationships/vmlDrawing" Target="../drawings/vmlDrawing2.vml"/><Relationship Id="rId6" Type="http://schemas.openxmlformats.org/officeDocument/2006/relationships/tags" Target="../tags/tag23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22.xml"/><Relationship Id="rId15" Type="http://schemas.openxmlformats.org/officeDocument/2006/relationships/image" Target="../media/image8.wmf"/><Relationship Id="rId10" Type="http://schemas.openxmlformats.org/officeDocument/2006/relationships/tags" Target="../tags/tag27.xml"/><Relationship Id="rId4" Type="http://schemas.openxmlformats.org/officeDocument/2006/relationships/tags" Target="../tags/tag21.xml"/><Relationship Id="rId9" Type="http://schemas.openxmlformats.org/officeDocument/2006/relationships/tags" Target="../tags/tag26.xml"/><Relationship Id="rId1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10" Type="http://schemas.openxmlformats.org/officeDocument/2006/relationships/image" Target="../media/image6.png"/><Relationship Id="rId4" Type="http://schemas.openxmlformats.org/officeDocument/2006/relationships/tags" Target="../tags/tag31.xml"/><Relationship Id="rId9" Type="http://schemas.openxmlformats.org/officeDocument/2006/relationships/slide" Target="slid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10" Type="http://schemas.openxmlformats.org/officeDocument/2006/relationships/image" Target="../media/image6.png"/><Relationship Id="rId4" Type="http://schemas.openxmlformats.org/officeDocument/2006/relationships/tags" Target="../tags/tag38.xml"/><Relationship Id="rId9" Type="http://schemas.openxmlformats.org/officeDocument/2006/relationships/slide" Target="slide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44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11" Type="http://schemas.openxmlformats.org/officeDocument/2006/relationships/image" Target="../media/image10.wmf"/><Relationship Id="rId5" Type="http://schemas.openxmlformats.org/officeDocument/2006/relationships/tags" Target="../tags/tag46.xml"/><Relationship Id="rId10" Type="http://schemas.openxmlformats.org/officeDocument/2006/relationships/image" Target="../media/image9.wmf"/><Relationship Id="rId4" Type="http://schemas.openxmlformats.org/officeDocument/2006/relationships/tags" Target="../tags/tag45.xml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60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2" Type="http://schemas.openxmlformats.org/officeDocument/2006/relationships/tags" Target="../tags/tag49.xml"/><Relationship Id="rId16" Type="http://schemas.openxmlformats.org/officeDocument/2006/relationships/image" Target="../media/image6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5" Type="http://schemas.openxmlformats.org/officeDocument/2006/relationships/tags" Target="../tags/tag52.xml"/><Relationship Id="rId15" Type="http://schemas.openxmlformats.org/officeDocument/2006/relationships/slide" Target="slide1.xml"/><Relationship Id="rId10" Type="http://schemas.openxmlformats.org/officeDocument/2006/relationships/tags" Target="../tags/tag57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68.xml"/><Relationship Id="rId13" Type="http://schemas.openxmlformats.org/officeDocument/2006/relationships/slideLayout" Target="../slideLayouts/slideLayout44.xml"/><Relationship Id="rId3" Type="http://schemas.openxmlformats.org/officeDocument/2006/relationships/tags" Target="../tags/tag63.xml"/><Relationship Id="rId7" Type="http://schemas.openxmlformats.org/officeDocument/2006/relationships/tags" Target="../tags/tag67.xml"/><Relationship Id="rId12" Type="http://schemas.openxmlformats.org/officeDocument/2006/relationships/tags" Target="../tags/tag7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tags" Target="../tags/tag66.xml"/><Relationship Id="rId11" Type="http://schemas.openxmlformats.org/officeDocument/2006/relationships/tags" Target="../tags/tag71.xml"/><Relationship Id="rId5" Type="http://schemas.openxmlformats.org/officeDocument/2006/relationships/tags" Target="../tags/tag65.xml"/><Relationship Id="rId15" Type="http://schemas.openxmlformats.org/officeDocument/2006/relationships/image" Target="../media/image6.png"/><Relationship Id="rId10" Type="http://schemas.openxmlformats.org/officeDocument/2006/relationships/tags" Target="../tags/tag70.xml"/><Relationship Id="rId4" Type="http://schemas.openxmlformats.org/officeDocument/2006/relationships/tags" Target="../tags/tag64.xml"/><Relationship Id="rId9" Type="http://schemas.openxmlformats.org/officeDocument/2006/relationships/tags" Target="../tags/tag69.xml"/><Relationship Id="rId14" Type="http://schemas.openxmlformats.org/officeDocument/2006/relationships/slide" Target="slide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79.xml"/><Relationship Id="rId13" Type="http://schemas.openxmlformats.org/officeDocument/2006/relationships/slideLayout" Target="../slideLayouts/slideLayout44.xml"/><Relationship Id="rId3" Type="http://schemas.openxmlformats.org/officeDocument/2006/relationships/tags" Target="../tags/tag74.xml"/><Relationship Id="rId7" Type="http://schemas.openxmlformats.org/officeDocument/2006/relationships/tags" Target="../tags/tag78.xml"/><Relationship Id="rId12" Type="http://schemas.openxmlformats.org/officeDocument/2006/relationships/tags" Target="../tags/tag83.xml"/><Relationship Id="rId17" Type="http://schemas.openxmlformats.org/officeDocument/2006/relationships/image" Target="../media/image11.wmf"/><Relationship Id="rId2" Type="http://schemas.openxmlformats.org/officeDocument/2006/relationships/tags" Target="../tags/tag73.xml"/><Relationship Id="rId16" Type="http://schemas.openxmlformats.org/officeDocument/2006/relationships/oleObject" Target="../embeddings/oleObject3.bin"/><Relationship Id="rId1" Type="http://schemas.openxmlformats.org/officeDocument/2006/relationships/vmlDrawing" Target="../drawings/vmlDrawing3.vml"/><Relationship Id="rId6" Type="http://schemas.openxmlformats.org/officeDocument/2006/relationships/tags" Target="../tags/tag77.xml"/><Relationship Id="rId11" Type="http://schemas.openxmlformats.org/officeDocument/2006/relationships/tags" Target="../tags/tag82.xml"/><Relationship Id="rId5" Type="http://schemas.openxmlformats.org/officeDocument/2006/relationships/tags" Target="../tags/tag76.xml"/><Relationship Id="rId15" Type="http://schemas.openxmlformats.org/officeDocument/2006/relationships/image" Target="../media/image6.png"/><Relationship Id="rId10" Type="http://schemas.openxmlformats.org/officeDocument/2006/relationships/tags" Target="../tags/tag81.xml"/><Relationship Id="rId4" Type="http://schemas.openxmlformats.org/officeDocument/2006/relationships/tags" Target="../tags/tag75.xml"/><Relationship Id="rId9" Type="http://schemas.openxmlformats.org/officeDocument/2006/relationships/tags" Target="../tags/tag80.xml"/><Relationship Id="rId14" Type="http://schemas.openxmlformats.org/officeDocument/2006/relationships/slide" Target="slide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13" Type="http://schemas.openxmlformats.org/officeDocument/2006/relationships/image" Target="../media/image6.png"/><Relationship Id="rId3" Type="http://schemas.openxmlformats.org/officeDocument/2006/relationships/tags" Target="../tags/tag86.xml"/><Relationship Id="rId7" Type="http://schemas.openxmlformats.org/officeDocument/2006/relationships/tags" Target="../tags/tag90.xml"/><Relationship Id="rId12" Type="http://schemas.openxmlformats.org/officeDocument/2006/relationships/slide" Target="slide1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9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88.xml"/><Relationship Id="rId10" Type="http://schemas.openxmlformats.org/officeDocument/2006/relationships/tags" Target="../tags/tag93.xml"/><Relationship Id="rId4" Type="http://schemas.openxmlformats.org/officeDocument/2006/relationships/tags" Target="../tags/tag87.xml"/><Relationship Id="rId9" Type="http://schemas.openxmlformats.org/officeDocument/2006/relationships/tags" Target="../tags/tag9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5.bin"/><Relationship Id="rId3" Type="http://schemas.openxmlformats.org/officeDocument/2006/relationships/tags" Target="../tags/tag95.xml"/><Relationship Id="rId7" Type="http://schemas.openxmlformats.org/officeDocument/2006/relationships/tags" Target="../tags/tag99.xml"/><Relationship Id="rId12" Type="http://schemas.openxmlformats.org/officeDocument/2006/relationships/image" Target="../media/image12.wmf"/><Relationship Id="rId2" Type="http://schemas.openxmlformats.org/officeDocument/2006/relationships/tags" Target="../tags/tag94.xml"/><Relationship Id="rId1" Type="http://schemas.openxmlformats.org/officeDocument/2006/relationships/vmlDrawing" Target="../drawings/vmlDrawing4.vml"/><Relationship Id="rId6" Type="http://schemas.openxmlformats.org/officeDocument/2006/relationships/tags" Target="../tags/tag98.xml"/><Relationship Id="rId11" Type="http://schemas.openxmlformats.org/officeDocument/2006/relationships/oleObject" Target="../embeddings/oleObject4.bin"/><Relationship Id="rId5" Type="http://schemas.openxmlformats.org/officeDocument/2006/relationships/tags" Target="../tags/tag97.xml"/><Relationship Id="rId10" Type="http://schemas.openxmlformats.org/officeDocument/2006/relationships/image" Target="../media/image6.png"/><Relationship Id="rId4" Type="http://schemas.openxmlformats.org/officeDocument/2006/relationships/tags" Target="../tags/tag96.xml"/><Relationship Id="rId9" Type="http://schemas.openxmlformats.org/officeDocument/2006/relationships/slide" Target="slide1.xml"/><Relationship Id="rId14" Type="http://schemas.openxmlformats.org/officeDocument/2006/relationships/image" Target="../media/image13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7.bin"/><Relationship Id="rId18" Type="http://schemas.openxmlformats.org/officeDocument/2006/relationships/image" Target="../media/image17.wmf"/><Relationship Id="rId3" Type="http://schemas.openxmlformats.org/officeDocument/2006/relationships/tags" Target="../tags/tag101.xml"/><Relationship Id="rId7" Type="http://schemas.openxmlformats.org/officeDocument/2006/relationships/tags" Target="../tags/tag105.xml"/><Relationship Id="rId12" Type="http://schemas.openxmlformats.org/officeDocument/2006/relationships/image" Target="../media/image14.wmf"/><Relationship Id="rId17" Type="http://schemas.openxmlformats.org/officeDocument/2006/relationships/oleObject" Target="../embeddings/oleObject9.bin"/><Relationship Id="rId2" Type="http://schemas.openxmlformats.org/officeDocument/2006/relationships/tags" Target="../tags/tag100.xml"/><Relationship Id="rId16" Type="http://schemas.openxmlformats.org/officeDocument/2006/relationships/image" Target="../media/image16.wmf"/><Relationship Id="rId1" Type="http://schemas.openxmlformats.org/officeDocument/2006/relationships/vmlDrawing" Target="../drawings/vmlDrawing5.vml"/><Relationship Id="rId6" Type="http://schemas.openxmlformats.org/officeDocument/2006/relationships/tags" Target="../tags/tag104.xml"/><Relationship Id="rId11" Type="http://schemas.openxmlformats.org/officeDocument/2006/relationships/oleObject" Target="../embeddings/oleObject6.bin"/><Relationship Id="rId5" Type="http://schemas.openxmlformats.org/officeDocument/2006/relationships/tags" Target="../tags/tag103.xml"/><Relationship Id="rId15" Type="http://schemas.openxmlformats.org/officeDocument/2006/relationships/oleObject" Target="../embeddings/oleObject8.bin"/><Relationship Id="rId10" Type="http://schemas.openxmlformats.org/officeDocument/2006/relationships/image" Target="../media/image6.png"/><Relationship Id="rId4" Type="http://schemas.openxmlformats.org/officeDocument/2006/relationships/tags" Target="../tags/tag102.xml"/><Relationship Id="rId9" Type="http://schemas.openxmlformats.org/officeDocument/2006/relationships/slide" Target="slide1.xml"/><Relationship Id="rId14" Type="http://schemas.openxmlformats.org/officeDocument/2006/relationships/image" Target="../media/image15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112.xml"/><Relationship Id="rId13" Type="http://schemas.openxmlformats.org/officeDocument/2006/relationships/slideLayout" Target="../slideLayouts/slideLayout44.xml"/><Relationship Id="rId18" Type="http://schemas.openxmlformats.org/officeDocument/2006/relationships/oleObject" Target="../embeddings/oleObject11.bin"/><Relationship Id="rId3" Type="http://schemas.openxmlformats.org/officeDocument/2006/relationships/tags" Target="../tags/tag107.xml"/><Relationship Id="rId7" Type="http://schemas.openxmlformats.org/officeDocument/2006/relationships/tags" Target="../tags/tag111.xml"/><Relationship Id="rId12" Type="http://schemas.openxmlformats.org/officeDocument/2006/relationships/tags" Target="../tags/tag116.xml"/><Relationship Id="rId17" Type="http://schemas.openxmlformats.org/officeDocument/2006/relationships/image" Target="../media/image18.wmf"/><Relationship Id="rId2" Type="http://schemas.openxmlformats.org/officeDocument/2006/relationships/tags" Target="../tags/tag106.xml"/><Relationship Id="rId16" Type="http://schemas.openxmlformats.org/officeDocument/2006/relationships/oleObject" Target="../embeddings/oleObject10.bin"/><Relationship Id="rId1" Type="http://schemas.openxmlformats.org/officeDocument/2006/relationships/vmlDrawing" Target="../drawings/vmlDrawing6.vml"/><Relationship Id="rId6" Type="http://schemas.openxmlformats.org/officeDocument/2006/relationships/tags" Target="../tags/tag110.xml"/><Relationship Id="rId11" Type="http://schemas.openxmlformats.org/officeDocument/2006/relationships/tags" Target="../tags/tag115.xml"/><Relationship Id="rId5" Type="http://schemas.openxmlformats.org/officeDocument/2006/relationships/tags" Target="../tags/tag109.xml"/><Relationship Id="rId15" Type="http://schemas.openxmlformats.org/officeDocument/2006/relationships/image" Target="../media/image6.png"/><Relationship Id="rId10" Type="http://schemas.openxmlformats.org/officeDocument/2006/relationships/tags" Target="../tags/tag114.xml"/><Relationship Id="rId19" Type="http://schemas.openxmlformats.org/officeDocument/2006/relationships/image" Target="../media/image19.wmf"/><Relationship Id="rId4" Type="http://schemas.openxmlformats.org/officeDocument/2006/relationships/tags" Target="../tags/tag108.xml"/><Relationship Id="rId9" Type="http://schemas.openxmlformats.org/officeDocument/2006/relationships/tags" Target="../tags/tag113.xml"/><Relationship Id="rId14" Type="http://schemas.openxmlformats.org/officeDocument/2006/relationships/slide" Target="slid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118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117.xml"/><Relationship Id="rId1" Type="http://schemas.openxmlformats.org/officeDocument/2006/relationships/vmlDrawing" Target="../drawings/vmlDrawing7.vml"/><Relationship Id="rId6" Type="http://schemas.openxmlformats.org/officeDocument/2006/relationships/tags" Target="../tags/tag121.xml"/><Relationship Id="rId11" Type="http://schemas.openxmlformats.org/officeDocument/2006/relationships/image" Target="../media/image20.wmf"/><Relationship Id="rId5" Type="http://schemas.openxmlformats.org/officeDocument/2006/relationships/tags" Target="../tags/tag120.xml"/><Relationship Id="rId10" Type="http://schemas.openxmlformats.org/officeDocument/2006/relationships/oleObject" Target="../embeddings/oleObject12.bin"/><Relationship Id="rId4" Type="http://schemas.openxmlformats.org/officeDocument/2006/relationships/tags" Target="../tags/tag119.xml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29.xml"/><Relationship Id="rId13" Type="http://schemas.openxmlformats.org/officeDocument/2006/relationships/tags" Target="../tags/tag134.xml"/><Relationship Id="rId18" Type="http://schemas.openxmlformats.org/officeDocument/2006/relationships/tags" Target="../tags/tag139.xml"/><Relationship Id="rId3" Type="http://schemas.openxmlformats.org/officeDocument/2006/relationships/tags" Target="../tags/tag124.xml"/><Relationship Id="rId21" Type="http://schemas.openxmlformats.org/officeDocument/2006/relationships/image" Target="../media/image6.png"/><Relationship Id="rId7" Type="http://schemas.openxmlformats.org/officeDocument/2006/relationships/tags" Target="../tags/tag128.xml"/><Relationship Id="rId12" Type="http://schemas.openxmlformats.org/officeDocument/2006/relationships/tags" Target="../tags/tag133.xml"/><Relationship Id="rId17" Type="http://schemas.openxmlformats.org/officeDocument/2006/relationships/tags" Target="../tags/tag138.xml"/><Relationship Id="rId2" Type="http://schemas.openxmlformats.org/officeDocument/2006/relationships/tags" Target="../tags/tag123.xml"/><Relationship Id="rId16" Type="http://schemas.openxmlformats.org/officeDocument/2006/relationships/tags" Target="../tags/tag137.xml"/><Relationship Id="rId20" Type="http://schemas.openxmlformats.org/officeDocument/2006/relationships/slide" Target="slide1.xml"/><Relationship Id="rId1" Type="http://schemas.openxmlformats.org/officeDocument/2006/relationships/tags" Target="../tags/tag122.xml"/><Relationship Id="rId6" Type="http://schemas.openxmlformats.org/officeDocument/2006/relationships/tags" Target="../tags/tag127.xml"/><Relationship Id="rId11" Type="http://schemas.openxmlformats.org/officeDocument/2006/relationships/tags" Target="../tags/tag132.xml"/><Relationship Id="rId5" Type="http://schemas.openxmlformats.org/officeDocument/2006/relationships/tags" Target="../tags/tag126.xml"/><Relationship Id="rId15" Type="http://schemas.openxmlformats.org/officeDocument/2006/relationships/tags" Target="../tags/tag136.xml"/><Relationship Id="rId10" Type="http://schemas.openxmlformats.org/officeDocument/2006/relationships/tags" Target="../tags/tag131.xml"/><Relationship Id="rId19" Type="http://schemas.openxmlformats.org/officeDocument/2006/relationships/slideLayout" Target="../slideLayouts/slideLayout44.xml"/><Relationship Id="rId4" Type="http://schemas.openxmlformats.org/officeDocument/2006/relationships/tags" Target="../tags/tag125.xml"/><Relationship Id="rId9" Type="http://schemas.openxmlformats.org/officeDocument/2006/relationships/tags" Target="../tags/tag130.xml"/><Relationship Id="rId14" Type="http://schemas.openxmlformats.org/officeDocument/2006/relationships/tags" Target="../tags/tag13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42.xml"/><Relationship Id="rId7" Type="http://schemas.openxmlformats.org/officeDocument/2006/relationships/slide" Target="slide1.xml"/><Relationship Id="rId2" Type="http://schemas.openxmlformats.org/officeDocument/2006/relationships/tags" Target="../tags/tag141.xml"/><Relationship Id="rId1" Type="http://schemas.openxmlformats.org/officeDocument/2006/relationships/tags" Target="../tags/tag140.x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144.xml"/><Relationship Id="rId4" Type="http://schemas.openxmlformats.org/officeDocument/2006/relationships/tags" Target="../tags/tag14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52.xml"/><Relationship Id="rId13" Type="http://schemas.openxmlformats.org/officeDocument/2006/relationships/slide" Target="slide1.xml"/><Relationship Id="rId3" Type="http://schemas.openxmlformats.org/officeDocument/2006/relationships/tags" Target="../tags/tag147.xml"/><Relationship Id="rId7" Type="http://schemas.openxmlformats.org/officeDocument/2006/relationships/tags" Target="../tags/tag151.xml"/><Relationship Id="rId12" Type="http://schemas.openxmlformats.org/officeDocument/2006/relationships/slideLayout" Target="../slideLayouts/slideLayout44.xml"/><Relationship Id="rId2" Type="http://schemas.openxmlformats.org/officeDocument/2006/relationships/tags" Target="../tags/tag146.xml"/><Relationship Id="rId1" Type="http://schemas.openxmlformats.org/officeDocument/2006/relationships/tags" Target="../tags/tag145.xml"/><Relationship Id="rId6" Type="http://schemas.openxmlformats.org/officeDocument/2006/relationships/tags" Target="../tags/tag150.xml"/><Relationship Id="rId11" Type="http://schemas.openxmlformats.org/officeDocument/2006/relationships/tags" Target="../tags/tag155.xml"/><Relationship Id="rId5" Type="http://schemas.openxmlformats.org/officeDocument/2006/relationships/tags" Target="../tags/tag149.xml"/><Relationship Id="rId15" Type="http://schemas.openxmlformats.org/officeDocument/2006/relationships/image" Target="../media/image21.png"/><Relationship Id="rId10" Type="http://schemas.openxmlformats.org/officeDocument/2006/relationships/tags" Target="../tags/tag154.xml"/><Relationship Id="rId4" Type="http://schemas.openxmlformats.org/officeDocument/2006/relationships/tags" Target="../tags/tag148.xml"/><Relationship Id="rId9" Type="http://schemas.openxmlformats.org/officeDocument/2006/relationships/tags" Target="../tags/tag153.xml"/><Relationship Id="rId1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23.wmf"/><Relationship Id="rId18" Type="http://schemas.openxmlformats.org/officeDocument/2006/relationships/oleObject" Target="../embeddings/oleObject17.bin"/><Relationship Id="rId3" Type="http://schemas.openxmlformats.org/officeDocument/2006/relationships/tags" Target="../tags/tag157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14.bin"/><Relationship Id="rId17" Type="http://schemas.openxmlformats.org/officeDocument/2006/relationships/image" Target="../media/image25.wmf"/><Relationship Id="rId2" Type="http://schemas.openxmlformats.org/officeDocument/2006/relationships/tags" Target="../tags/tag156.xml"/><Relationship Id="rId16" Type="http://schemas.openxmlformats.org/officeDocument/2006/relationships/oleObject" Target="../embeddings/oleObject16.bin"/><Relationship Id="rId1" Type="http://schemas.openxmlformats.org/officeDocument/2006/relationships/vmlDrawing" Target="../drawings/vmlDrawing8.vml"/><Relationship Id="rId6" Type="http://schemas.openxmlformats.org/officeDocument/2006/relationships/tags" Target="../tags/tag160.xml"/><Relationship Id="rId11" Type="http://schemas.openxmlformats.org/officeDocument/2006/relationships/image" Target="../media/image22.wmf"/><Relationship Id="rId5" Type="http://schemas.openxmlformats.org/officeDocument/2006/relationships/tags" Target="../tags/tag159.xml"/><Relationship Id="rId15" Type="http://schemas.openxmlformats.org/officeDocument/2006/relationships/image" Target="../media/image24.wmf"/><Relationship Id="rId10" Type="http://schemas.openxmlformats.org/officeDocument/2006/relationships/oleObject" Target="../embeddings/oleObject13.bin"/><Relationship Id="rId19" Type="http://schemas.openxmlformats.org/officeDocument/2006/relationships/image" Target="../media/image26.wmf"/><Relationship Id="rId4" Type="http://schemas.openxmlformats.org/officeDocument/2006/relationships/tags" Target="../tags/tag158.xml"/><Relationship Id="rId9" Type="http://schemas.openxmlformats.org/officeDocument/2006/relationships/image" Target="../media/image6.png"/><Relationship Id="rId14" Type="http://schemas.openxmlformats.org/officeDocument/2006/relationships/oleObject" Target="../embeddings/oleObject15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13" Type="http://schemas.openxmlformats.org/officeDocument/2006/relationships/oleObject" Target="../embeddings/oleObject21.bin"/><Relationship Id="rId3" Type="http://schemas.openxmlformats.org/officeDocument/2006/relationships/tags" Target="../tags/tag162.xml"/><Relationship Id="rId7" Type="http://schemas.openxmlformats.org/officeDocument/2006/relationships/oleObject" Target="../embeddings/oleObject18.bin"/><Relationship Id="rId12" Type="http://schemas.openxmlformats.org/officeDocument/2006/relationships/image" Target="../media/image29.wmf"/><Relationship Id="rId2" Type="http://schemas.openxmlformats.org/officeDocument/2006/relationships/tags" Target="../tags/tag161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6.png"/><Relationship Id="rId11" Type="http://schemas.openxmlformats.org/officeDocument/2006/relationships/oleObject" Target="../embeddings/oleObject20.bin"/><Relationship Id="rId5" Type="http://schemas.openxmlformats.org/officeDocument/2006/relationships/slide" Target="slide1.xml"/><Relationship Id="rId10" Type="http://schemas.openxmlformats.org/officeDocument/2006/relationships/image" Target="../media/image28.wmf"/><Relationship Id="rId4" Type="http://schemas.openxmlformats.org/officeDocument/2006/relationships/slideLayout" Target="../slideLayouts/slideLayout44.xml"/><Relationship Id="rId9" Type="http://schemas.openxmlformats.org/officeDocument/2006/relationships/oleObject" Target="../embeddings/oleObject19.bin"/><Relationship Id="rId14" Type="http://schemas.openxmlformats.org/officeDocument/2006/relationships/image" Target="../media/image30.w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13" Type="http://schemas.openxmlformats.org/officeDocument/2006/relationships/image" Target="../media/image34.wmf"/><Relationship Id="rId3" Type="http://schemas.openxmlformats.org/officeDocument/2006/relationships/slideLayout" Target="../slideLayouts/slideLayout44.xml"/><Relationship Id="rId7" Type="http://schemas.openxmlformats.org/officeDocument/2006/relationships/image" Target="../media/image31.wmf"/><Relationship Id="rId12" Type="http://schemas.openxmlformats.org/officeDocument/2006/relationships/oleObject" Target="../embeddings/oleObject25.bin"/><Relationship Id="rId2" Type="http://schemas.openxmlformats.org/officeDocument/2006/relationships/tags" Target="../tags/tag163.xml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33.wmf"/><Relationship Id="rId5" Type="http://schemas.openxmlformats.org/officeDocument/2006/relationships/image" Target="../media/image6.png"/><Relationship Id="rId10" Type="http://schemas.openxmlformats.org/officeDocument/2006/relationships/oleObject" Target="../embeddings/oleObject24.bin"/><Relationship Id="rId4" Type="http://schemas.openxmlformats.org/officeDocument/2006/relationships/slide" Target="slide1.xml"/><Relationship Id="rId9" Type="http://schemas.openxmlformats.org/officeDocument/2006/relationships/image" Target="../media/image32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GIF"/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/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67585" y="44768"/>
            <a:ext cx="5108575" cy="706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第二章  矩阵及其运算</a:t>
            </a:r>
          </a:p>
        </p:txBody>
      </p:sp>
      <p:sp>
        <p:nvSpPr>
          <p:cNvPr id="14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2915920" y="1772920"/>
            <a:ext cx="3864610" cy="6451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§2.3 </a:t>
            </a: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逆矩阵</a:t>
            </a: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</p:spTree>
  </p:cSld>
  <p:clrMapOvr>
    <a:masterClrMapping/>
  </p:clrMapOvr>
  <p:transition spd="slow">
    <p:sndAc>
      <p:stSnd>
        <p:snd r:embed="rId2" name="chim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" action="ppaction://noaction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Text Box 3"/>
          <p:cNvSpPr>
            <a:spLocks noChangeArrowheads="1"/>
          </p:cNvSpPr>
          <p:nvPr/>
        </p:nvSpPr>
        <p:spPr bwMode="auto">
          <a:xfrm>
            <a:off x="611505" y="1557020"/>
            <a:ext cx="7835265" cy="1470025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矩阵矩阵乘法的逆运算是如何定义的？</a:t>
            </a:r>
          </a:p>
          <a:p>
            <a:pPr marL="0" marR="0" lvl="0" algn="l" defTabSz="914400" rtl="0" eaLnBrk="1" fontAlgn="base" latinLnBrk="0" hangingPunct="1">
              <a:lnSpc>
                <a:spcPct val="150000"/>
              </a:lnSpc>
              <a:spcBef>
                <a:spcPct val="2000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Arial" panose="020B0604020202020204" pitchFamily="34" charset="0"/>
              </a:rPr>
              <a:t>本节讨论矩阵的逆矩阵及其性质和求法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楷体_GB2312" panose="02010609030101010101" charset="-122"/>
              </a:rPr>
              <a:t>.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836930"/>
            <a:ext cx="162877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2.6</a:t>
            </a:r>
          </a:p>
        </p:txBody>
      </p:sp>
      <p:sp>
        <p:nvSpPr>
          <p:cNvPr id="39945" name="Text Box 9"/>
          <p:cNvSpPr txBox="1"/>
          <p:nvPr>
            <p:custDataLst>
              <p:tags r:id="rId3"/>
            </p:custDataLst>
          </p:nvPr>
        </p:nvSpPr>
        <p:spPr>
          <a:xfrm>
            <a:off x="1978660" y="922655"/>
            <a:ext cx="694245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设有两组变量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2……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2……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n 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</a:p>
        </p:txBody>
      </p:sp>
      <p:sp>
        <p:nvSpPr>
          <p:cNvPr id="2" name="Text Box 9"/>
          <p:cNvSpPr txBox="1"/>
          <p:nvPr>
            <p:custDataLst>
              <p:tags r:id="rId4"/>
            </p:custDataLst>
          </p:nvPr>
        </p:nvSpPr>
        <p:spPr>
          <a:xfrm>
            <a:off x="395605" y="1772603"/>
            <a:ext cx="73914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已知</a:t>
            </a:r>
          </a:p>
        </p:txBody>
      </p:sp>
      <p:graphicFrame>
        <p:nvGraphicFramePr>
          <p:cNvPr id="3" name="对象 -2147481479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2120900" y="1560513"/>
          <a:ext cx="5183188" cy="2401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Equation" r:id="rId22" imgW="48158400" imgH="22555200" progId="Equation.DSMT4">
                  <p:embed/>
                </p:oleObj>
              </mc:Choice>
              <mc:Fallback>
                <p:oleObj name="Equation" r:id="rId22" imgW="48158400" imgH="225552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2120900" y="1560513"/>
                        <a:ext cx="5183188" cy="2401887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20" name="Text Box 4"/>
          <p:cNvSpPr txBox="1"/>
          <p:nvPr>
            <p:custDataLst>
              <p:tags r:id="rId6"/>
            </p:custDataLst>
          </p:nvPr>
        </p:nvSpPr>
        <p:spPr>
          <a:xfrm>
            <a:off x="539750" y="4077335"/>
            <a:ext cx="5410200" cy="47942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可以用矩阵形式表示为</a:t>
            </a:r>
            <a:r>
              <a:rPr lang="zh-CN" altLang="en-US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y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=</a:t>
            </a:r>
            <a:r>
              <a:rPr lang="en-US" altLang="zh-CN" sz="2600" b="1" i="1">
                <a:latin typeface="Times New Roman" panose="02020603050405020304" pitchFamily="18" charset="0"/>
                <a:ea typeface="华文中宋" panose="02010600040101010101" pitchFamily="2" charset="-122"/>
              </a:rPr>
              <a:t>Ax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其中</a:t>
            </a:r>
          </a:p>
        </p:txBody>
      </p:sp>
      <p:grpSp>
        <p:nvGrpSpPr>
          <p:cNvPr id="6" name="Group 17"/>
          <p:cNvGrpSpPr/>
          <p:nvPr/>
        </p:nvGrpSpPr>
        <p:grpSpPr>
          <a:xfrm>
            <a:off x="6303010" y="4785678"/>
            <a:ext cx="1409700" cy="1635124"/>
            <a:chOff x="4297" y="2413"/>
            <a:chExt cx="888" cy="1030"/>
          </a:xfrm>
        </p:grpSpPr>
        <p:sp>
          <p:nvSpPr>
            <p:cNvPr id="61458" name="Text Box 18"/>
            <p:cNvSpPr txBox="1"/>
            <p:nvPr>
              <p:custDataLst>
                <p:tags r:id="rId16"/>
              </p:custDataLst>
            </p:nvPr>
          </p:nvSpPr>
          <p:spPr>
            <a:xfrm>
              <a:off x="4297" y="2789"/>
              <a:ext cx="888" cy="30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y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。</a:t>
              </a:r>
            </a:p>
          </p:txBody>
        </p:sp>
        <p:grpSp>
          <p:nvGrpSpPr>
            <p:cNvPr id="61459" name="Group 19"/>
            <p:cNvGrpSpPr/>
            <p:nvPr/>
          </p:nvGrpSpPr>
          <p:grpSpPr>
            <a:xfrm>
              <a:off x="4557" y="2413"/>
              <a:ext cx="349" cy="1030"/>
              <a:chOff x="4557" y="2470"/>
              <a:chExt cx="349" cy="1030"/>
            </a:xfrm>
          </p:grpSpPr>
          <p:sp>
            <p:nvSpPr>
              <p:cNvPr id="61460" name="Rectangle 20"/>
              <p:cNvSpPr/>
              <p:nvPr>
                <p:custDataLst>
                  <p:tags r:id="rId17"/>
                </p:custDataLst>
              </p:nvPr>
            </p:nvSpPr>
            <p:spPr>
              <a:xfrm>
                <a:off x="4639" y="2470"/>
                <a:ext cx="168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l"/>
                <a:r>
                  <a:rPr lang="en-US" altLang="zh-CN" sz="2600" b="1" i="1" dirty="0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</a:p>
              <a:p>
                <a:pPr algn="l"/>
                <a:r>
                  <a:rPr lang="en-US" altLang="zh-CN" sz="2600" b="1" i="1" dirty="0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endPara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l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l"/>
                <a:r>
                  <a:rPr lang="en-US" altLang="zh-CN" sz="2600" b="1" i="1" dirty="0" err="1">
                    <a:ea typeface="华文中宋" panose="02010600040101010101" pitchFamily="2" charset="-122"/>
                    <a:sym typeface="+mn-ea"/>
                  </a:rPr>
                  <a:t>y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1" name="AutoShape 21"/>
              <p:cNvSpPr/>
              <p:nvPr>
                <p:custDataLst>
                  <p:tags r:id="rId18"/>
                </p:custDataLst>
              </p:nvPr>
            </p:nvSpPr>
            <p:spPr>
              <a:xfrm>
                <a:off x="4557" y="2552"/>
                <a:ext cx="349" cy="927"/>
              </a:xfrm>
              <a:prstGeom prst="bracketPair">
                <a:avLst>
                  <a:gd name="adj" fmla="val 14898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7" name="Group 22"/>
          <p:cNvGrpSpPr/>
          <p:nvPr/>
        </p:nvGrpSpPr>
        <p:grpSpPr>
          <a:xfrm>
            <a:off x="1561148" y="4785678"/>
            <a:ext cx="3143250" cy="1635124"/>
            <a:chOff x="969" y="2413"/>
            <a:chExt cx="1980" cy="1030"/>
          </a:xfrm>
        </p:grpSpPr>
        <p:sp>
          <p:nvSpPr>
            <p:cNvPr id="61463" name="Text Box 23"/>
            <p:cNvSpPr txBox="1"/>
            <p:nvPr>
              <p:custDataLst>
                <p:tags r:id="rId10"/>
              </p:custDataLst>
            </p:nvPr>
          </p:nvSpPr>
          <p:spPr>
            <a:xfrm>
              <a:off x="969" y="2789"/>
              <a:ext cx="1980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         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64" name="Group 24"/>
            <p:cNvGrpSpPr/>
            <p:nvPr/>
          </p:nvGrpSpPr>
          <p:grpSpPr>
            <a:xfrm>
              <a:off x="1235" y="2413"/>
              <a:ext cx="1413" cy="1030"/>
              <a:chOff x="1235" y="2413"/>
              <a:chExt cx="1413" cy="1030"/>
            </a:xfrm>
          </p:grpSpPr>
          <p:sp>
            <p:nvSpPr>
              <p:cNvPr id="61465" name="Rectangle 25"/>
              <p:cNvSpPr/>
              <p:nvPr>
                <p:custDataLst>
                  <p:tags r:id="rId11"/>
                </p:custDataLst>
              </p:nvPr>
            </p:nvSpPr>
            <p:spPr>
              <a:xfrm>
                <a:off x="1338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11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21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n1</a:t>
                </a:r>
              </a:p>
            </p:txBody>
          </p:sp>
          <p:sp>
            <p:nvSpPr>
              <p:cNvPr id="61466" name="Rectangle 26"/>
              <p:cNvSpPr/>
              <p:nvPr>
                <p:custDataLst>
                  <p:tags r:id="rId12"/>
                </p:custDataLst>
              </p:nvPr>
            </p:nvSpPr>
            <p:spPr>
              <a:xfrm>
                <a:off x="1705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12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22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</a:p>
            </p:txBody>
          </p:sp>
          <p:sp>
            <p:nvSpPr>
              <p:cNvPr id="61467" name="Rectangle 27"/>
              <p:cNvSpPr/>
              <p:nvPr>
                <p:custDataLst>
                  <p:tags r:id="rId13"/>
                </p:custDataLst>
              </p:nvPr>
            </p:nvSpPr>
            <p:spPr>
              <a:xfrm>
                <a:off x="2060" y="2413"/>
                <a:ext cx="156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</p:txBody>
          </p:sp>
          <p:sp>
            <p:nvSpPr>
              <p:cNvPr id="61468" name="Rectangle 28"/>
              <p:cNvSpPr/>
              <p:nvPr>
                <p:custDataLst>
                  <p:tags r:id="rId14"/>
                </p:custDataLst>
              </p:nvPr>
            </p:nvSpPr>
            <p:spPr>
              <a:xfrm>
                <a:off x="2321" y="2413"/>
                <a:ext cx="254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a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9" name="AutoShape 29"/>
              <p:cNvSpPr/>
              <p:nvPr>
                <p:custDataLst>
                  <p:tags r:id="rId15"/>
                </p:custDataLst>
              </p:nvPr>
            </p:nvSpPr>
            <p:spPr>
              <a:xfrm>
                <a:off x="1235" y="2495"/>
                <a:ext cx="1413" cy="927"/>
              </a:xfrm>
              <a:prstGeom prst="bracketPair">
                <a:avLst>
                  <a:gd name="adj" fmla="val 4856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8" name="Group 30"/>
          <p:cNvGrpSpPr/>
          <p:nvPr/>
        </p:nvGrpSpPr>
        <p:grpSpPr>
          <a:xfrm>
            <a:off x="4763135" y="4785678"/>
            <a:ext cx="1501775" cy="1624012"/>
            <a:chOff x="3327" y="2413"/>
            <a:chExt cx="946" cy="1023"/>
          </a:xfrm>
        </p:grpSpPr>
        <p:sp>
          <p:nvSpPr>
            <p:cNvPr id="61471" name="Text Box 31"/>
            <p:cNvSpPr txBox="1"/>
            <p:nvPr>
              <p:custDataLst>
                <p:tags r:id="rId7"/>
              </p:custDataLst>
            </p:nvPr>
          </p:nvSpPr>
          <p:spPr>
            <a:xfrm>
              <a:off x="3327" y="2789"/>
              <a:ext cx="946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x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72" name="Group 32"/>
            <p:cNvGrpSpPr/>
            <p:nvPr/>
          </p:nvGrpSpPr>
          <p:grpSpPr>
            <a:xfrm>
              <a:off x="3619" y="2413"/>
              <a:ext cx="349" cy="1023"/>
              <a:chOff x="4557" y="2470"/>
              <a:chExt cx="349" cy="1023"/>
            </a:xfrm>
          </p:grpSpPr>
          <p:sp>
            <p:nvSpPr>
              <p:cNvPr id="61473" name="Rectangle 33"/>
              <p:cNvSpPr/>
              <p:nvPr>
                <p:custDataLst>
                  <p:tags r:id="rId8"/>
                </p:custDataLst>
              </p:nvPr>
            </p:nvSpPr>
            <p:spPr>
              <a:xfrm>
                <a:off x="4639" y="2470"/>
                <a:ext cx="172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</a:p>
              <a:p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endPara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x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74" name="AutoShape 3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57" y="2552"/>
                <a:ext cx="349" cy="927"/>
              </a:xfrm>
              <a:prstGeom prst="bracketPair">
                <a:avLst>
                  <a:gd name="adj" fmla="val 14898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2" grpId="0" build="p"/>
      <p:bldP spid="13722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945" name="Text Box 9"/>
          <p:cNvSpPr txBox="1"/>
          <p:nvPr>
            <p:custDataLst>
              <p:tags r:id="rId2"/>
            </p:custDataLst>
          </p:nvPr>
        </p:nvSpPr>
        <p:spPr>
          <a:xfrm>
            <a:off x="683895" y="963930"/>
            <a:ext cx="776097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若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|0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则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由克莱姆法则可知，唯一解可表示为</a:t>
            </a:r>
          </a:p>
        </p:txBody>
      </p:sp>
      <p:sp>
        <p:nvSpPr>
          <p:cNvPr id="137220" name="Text Box 4"/>
          <p:cNvSpPr txBox="1"/>
          <p:nvPr>
            <p:custDataLst>
              <p:tags r:id="rId3"/>
            </p:custDataLst>
          </p:nvPr>
        </p:nvSpPr>
        <p:spPr>
          <a:xfrm>
            <a:off x="467360" y="3957320"/>
            <a:ext cx="8072120" cy="103314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这就是从变量组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1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2……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n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到变量组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1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2……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baseline="-25000" dirty="0">
                <a:ea typeface="华文中宋" panose="02010600040101010101" pitchFamily="2" charset="-122"/>
                <a:sym typeface="+mn-ea"/>
              </a:rPr>
              <a:t>n 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的逆变换，记</a:t>
            </a:r>
          </a:p>
        </p:txBody>
      </p:sp>
      <p:grpSp>
        <p:nvGrpSpPr>
          <p:cNvPr id="6" name="Group 22"/>
          <p:cNvGrpSpPr/>
          <p:nvPr/>
        </p:nvGrpSpPr>
        <p:grpSpPr>
          <a:xfrm>
            <a:off x="2771458" y="4658043"/>
            <a:ext cx="3146425" cy="1635124"/>
            <a:chOff x="969" y="2413"/>
            <a:chExt cx="1982" cy="1030"/>
          </a:xfrm>
        </p:grpSpPr>
        <p:sp>
          <p:nvSpPr>
            <p:cNvPr id="61463" name="Text Box 23"/>
            <p:cNvSpPr txBox="1"/>
            <p:nvPr>
              <p:custDataLst>
                <p:tags r:id="rId5"/>
              </p:custDataLst>
            </p:nvPr>
          </p:nvSpPr>
          <p:spPr>
            <a:xfrm>
              <a:off x="969" y="2789"/>
              <a:ext cx="1982" cy="30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B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</a:rPr>
                <a:t>=                             </a:t>
              </a:r>
              <a:r>
                <a:rPr lang="zh-CN" altLang="en-US" sz="26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endParaRPr>
            </a:p>
          </p:txBody>
        </p:sp>
        <p:grpSp>
          <p:nvGrpSpPr>
            <p:cNvPr id="61464" name="Group 24"/>
            <p:cNvGrpSpPr/>
            <p:nvPr/>
          </p:nvGrpSpPr>
          <p:grpSpPr>
            <a:xfrm>
              <a:off x="1235" y="2413"/>
              <a:ext cx="1413" cy="1030"/>
              <a:chOff x="1235" y="2413"/>
              <a:chExt cx="1413" cy="1030"/>
            </a:xfrm>
          </p:grpSpPr>
          <p:sp>
            <p:nvSpPr>
              <p:cNvPr id="61465" name="Rectangle 25"/>
              <p:cNvSpPr/>
              <p:nvPr>
                <p:custDataLst>
                  <p:tags r:id="rId6"/>
                </p:custDataLst>
              </p:nvPr>
            </p:nvSpPr>
            <p:spPr>
              <a:xfrm>
                <a:off x="1338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11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21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n1</a:t>
                </a:r>
              </a:p>
            </p:txBody>
          </p:sp>
          <p:sp>
            <p:nvSpPr>
              <p:cNvPr id="61466" name="Rectangle 26"/>
              <p:cNvSpPr/>
              <p:nvPr>
                <p:custDataLst>
                  <p:tags r:id="rId7"/>
                </p:custDataLst>
              </p:nvPr>
            </p:nvSpPr>
            <p:spPr>
              <a:xfrm>
                <a:off x="1705" y="2413"/>
                <a:ext cx="247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12</a:t>
                </a: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22</a:t>
                </a: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</a:p>
            </p:txBody>
          </p:sp>
          <p:sp>
            <p:nvSpPr>
              <p:cNvPr id="61467" name="Rectangle 27"/>
              <p:cNvSpPr/>
              <p:nvPr>
                <p:custDataLst>
                  <p:tags r:id="rId8"/>
                </p:custDataLst>
              </p:nvPr>
            </p:nvSpPr>
            <p:spPr>
              <a:xfrm>
                <a:off x="2060" y="2413"/>
                <a:ext cx="156" cy="10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  <a:p>
                <a:pPr algn="r" eaLnBrk="0" hangingPunct="0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</a:p>
            </p:txBody>
          </p:sp>
          <p:sp>
            <p:nvSpPr>
              <p:cNvPr id="61468" name="Rectangle 28"/>
              <p:cNvSpPr/>
              <p:nvPr>
                <p:custDataLst>
                  <p:tags r:id="rId9"/>
                </p:custDataLst>
              </p:nvPr>
            </p:nvSpPr>
            <p:spPr>
              <a:xfrm>
                <a:off x="2321" y="2413"/>
                <a:ext cx="254" cy="103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36000">
                <a:spAutoFit/>
              </a:bodyPr>
              <a:lstStyle/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1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2</a:t>
                </a:r>
                <a:r>
                  <a:rPr lang="en-US" altLang="zh-CN" sz="2600" b="1" i="1" baseline="-30000" dirty="0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dirty="0">
                    <a:latin typeface="Times New Roman" panose="02020603050405020304" pitchFamily="18" charset="0"/>
                    <a:ea typeface="华文中宋" panose="02010600040101010101" pitchFamily="2" charset="-122"/>
                    <a:sym typeface="Symbol" panose="05050102010706020507" pitchFamily="18" charset="2"/>
                  </a:rPr>
                  <a:t></a:t>
                </a:r>
                <a:endParaRPr lang="en-US" altLang="zh-CN" sz="2600" b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sz="2600" b="1" i="1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b</a:t>
                </a:r>
                <a:r>
                  <a:rPr lang="en-US" altLang="zh-CN" sz="2600" b="1" i="1" baseline="-30000" dirty="0" err="1">
                    <a:latin typeface="Times New Roman" panose="02020603050405020304" pitchFamily="18" charset="0"/>
                    <a:ea typeface="华文中宋" panose="02010600040101010101" pitchFamily="2" charset="-122"/>
                  </a:rPr>
                  <a:t>nn</a:t>
                </a:r>
                <a:endParaRPr lang="en-US" altLang="zh-CN" sz="2600" b="1" i="1" baseline="-30000" dirty="0">
                  <a:latin typeface="Times New Roman" panose="02020603050405020304" pitchFamily="18" charset="0"/>
                  <a:ea typeface="华文中宋" panose="02010600040101010101" pitchFamily="2" charset="-122"/>
                </a:endParaRPr>
              </a:p>
            </p:txBody>
          </p:sp>
          <p:sp>
            <p:nvSpPr>
              <p:cNvPr id="61469" name="AutoShape 29"/>
              <p:cNvSpPr/>
              <p:nvPr>
                <p:custDataLst>
                  <p:tags r:id="rId10"/>
                </p:custDataLst>
              </p:nvPr>
            </p:nvSpPr>
            <p:spPr>
              <a:xfrm>
                <a:off x="1235" y="2495"/>
                <a:ext cx="1413" cy="927"/>
              </a:xfrm>
              <a:prstGeom prst="bracketPair">
                <a:avLst>
                  <a:gd name="adj" fmla="val 4856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lIns="0" tIns="0" rIns="0" bIns="0" anchor="ctr" anchorCtr="0">
                <a:spAutoFit/>
              </a:bodyPr>
              <a:lstStyle/>
              <a:p>
                <a:endParaRPr dirty="0">
                  <a:latin typeface="Arial" panose="020B0604020202020204" pitchFamily="34" charset="0"/>
                  <a:ea typeface="华文中宋" panose="02010600040101010101" pitchFamily="2" charset="-122"/>
                </a:endParaRPr>
              </a:p>
            </p:txBody>
          </p:sp>
        </p:grpSp>
      </p:grpSp>
      <p:graphicFrame>
        <p:nvGraphicFramePr>
          <p:cNvPr id="2" name="对象 -2147482272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2146618" y="1487805"/>
          <a:ext cx="4768215" cy="2360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Equation" r:id="rId14" imgW="47244000" imgH="22555200" progId="Equation.DSMT4">
                  <p:embed/>
                </p:oleObj>
              </mc:Choice>
              <mc:Fallback>
                <p:oleObj name="Equation" r:id="rId14" imgW="47244000" imgH="225552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146618" y="1487805"/>
                        <a:ext cx="4768215" cy="236029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1372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通过线性变换得到逆矩阵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945" name="Text Box 9"/>
          <p:cNvSpPr txBox="1"/>
          <p:nvPr>
            <p:custDataLst>
              <p:tags r:id="rId1"/>
            </p:custDataLst>
          </p:nvPr>
        </p:nvSpPr>
        <p:spPr>
          <a:xfrm>
            <a:off x="683895" y="963930"/>
            <a:ext cx="776097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则逆变换的矩阵形式为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800" b="1" i="1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By</a:t>
            </a:r>
          </a:p>
        </p:txBody>
      </p:sp>
      <p:sp>
        <p:nvSpPr>
          <p:cNvPr id="137220" name="Text Box 4"/>
          <p:cNvSpPr txBox="1"/>
          <p:nvPr>
            <p:custDataLst>
              <p:tags r:id="rId2"/>
            </p:custDataLst>
          </p:nvPr>
        </p:nvSpPr>
        <p:spPr>
          <a:xfrm>
            <a:off x="755650" y="155702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把</a:t>
            </a:r>
            <a:r>
              <a:rPr lang="en-US" altLang="zh-CN" sz="2600" b="1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 </a:t>
            </a:r>
            <a:r>
              <a:rPr lang="en-US" altLang="zh-CN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代入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可得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)=(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AB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y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3" name="Text Box 4"/>
          <p:cNvSpPr txBox="1"/>
          <p:nvPr>
            <p:custDataLst>
              <p:tags r:id="rId3"/>
            </p:custDataLst>
          </p:nvPr>
        </p:nvSpPr>
        <p:spPr>
          <a:xfrm>
            <a:off x="755650" y="2205355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b="1" i="1">
                <a:ea typeface="华文中宋" panose="02010600040101010101" pitchFamily="2" charset="-122"/>
                <a:sym typeface="+mn-ea"/>
              </a:rPr>
              <a:t>AB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=I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5" name="Text Box 4"/>
          <p:cNvSpPr txBox="1"/>
          <p:nvPr>
            <p:custDataLst>
              <p:tags r:id="rId4"/>
            </p:custDataLst>
          </p:nvPr>
        </p:nvSpPr>
        <p:spPr>
          <a:xfrm>
            <a:off x="755650" y="275590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同理，把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y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代入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By </a:t>
            </a:r>
            <a:r>
              <a:rPr lang="zh-CN" altLang="en-US" sz="2600" b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可得</a:t>
            </a:r>
            <a:r>
              <a:rPr lang="en-US" altLang="zh-CN" sz="2600" b="1" i="1" dirty="0">
                <a:ea typeface="华文中宋" panose="02010600040101010101" pitchFamily="2" charset="-122"/>
                <a:sym typeface="+mn-ea"/>
              </a:rPr>
              <a:t>x</a:t>
            </a:r>
            <a:r>
              <a:rPr lang="en-US" altLang="zh-CN" sz="2600" b="1" dirty="0"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Ax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)=(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BA</a:t>
            </a:r>
            <a:r>
              <a:rPr lang="en-US" altLang="zh-CN" sz="2600" b="1">
                <a:ea typeface="华文中宋" panose="02010600040101010101" pitchFamily="2" charset="-122"/>
                <a:sym typeface="+mn-ea"/>
              </a:rPr>
              <a:t>)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x</a:t>
            </a:r>
          </a:p>
        </p:txBody>
      </p:sp>
      <p:sp>
        <p:nvSpPr>
          <p:cNvPr id="7" name="Text Box 4"/>
          <p:cNvSpPr txBox="1"/>
          <p:nvPr>
            <p:custDataLst>
              <p:tags r:id="rId5"/>
            </p:custDataLst>
          </p:nvPr>
        </p:nvSpPr>
        <p:spPr>
          <a:xfrm>
            <a:off x="755650" y="3404235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sz="2600" b="1" i="1">
                <a:ea typeface="华文中宋" panose="02010600040101010101" pitchFamily="2" charset="-122"/>
                <a:sym typeface="+mn-ea"/>
              </a:rPr>
              <a:t>BA=I</a:t>
            </a:r>
            <a:endParaRPr lang="en-US" altLang="zh-CN" sz="2600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9" name="Text Box 4"/>
          <p:cNvSpPr txBox="1"/>
          <p:nvPr>
            <p:custDataLst>
              <p:tags r:id="rId6"/>
            </p:custDataLst>
          </p:nvPr>
        </p:nvSpPr>
        <p:spPr>
          <a:xfrm>
            <a:off x="755650" y="395478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</a:t>
            </a:r>
            <a:r>
              <a:rPr lang="en-US" altLang="zh-CN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               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AB=BA=I</a:t>
            </a:r>
            <a:endParaRPr lang="en-US" altLang="zh-CN" b="1" dirty="0">
              <a:ea typeface="华文中宋" panose="02010600040101010101" pitchFamily="2" charset="-122"/>
              <a:sym typeface="+mn-ea"/>
            </a:endParaRPr>
          </a:p>
        </p:txBody>
      </p:sp>
      <p:sp>
        <p:nvSpPr>
          <p:cNvPr id="10" name="Text Box 4"/>
          <p:cNvSpPr txBox="1"/>
          <p:nvPr>
            <p:custDataLst>
              <p:tags r:id="rId7"/>
            </p:custDataLst>
          </p:nvPr>
        </p:nvSpPr>
        <p:spPr>
          <a:xfrm>
            <a:off x="755650" y="4653280"/>
            <a:ext cx="8072120" cy="51625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我们把满足这样条件的矩阵称为互为逆矩阵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7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5" grpId="0" build="p"/>
      <p:bldP spid="137220" grpId="0" build="p"/>
      <p:bldP spid="3" grpId="0" build="p"/>
      <p:bldP spid="5" grpId="0" build="p"/>
      <p:bldP spid="7" grpId="0" build="p"/>
      <p:bldP spid="9" grpId="0" build="p"/>
      <p:bldP spid="10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逆矩阵定义</a:t>
            </a:r>
          </a:p>
        </p:txBody>
      </p:sp>
      <p:sp>
        <p:nvSpPr>
          <p:cNvPr id="33" name="矩形 32"/>
          <p:cNvSpPr>
            <a:spLocks noChangeArrowheads="1"/>
          </p:cNvSpPr>
          <p:nvPr/>
        </p:nvSpPr>
        <p:spPr bwMode="auto">
          <a:xfrm>
            <a:off x="683895" y="1103630"/>
            <a:ext cx="161734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定义</a:t>
            </a:r>
            <a:r>
              <a:rPr kumimoji="1" lang="en-US" altLang="zh-CN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2.9</a:t>
            </a:r>
          </a:p>
        </p:txBody>
      </p:sp>
      <p:sp>
        <p:nvSpPr>
          <p:cNvPr id="41986" name="Rectangle 2"/>
          <p:cNvSpPr/>
          <p:nvPr>
            <p:custDataLst>
              <p:tags r:id="rId1"/>
            </p:custDataLst>
          </p:nvPr>
        </p:nvSpPr>
        <p:spPr>
          <a:xfrm>
            <a:off x="2194560" y="1196975"/>
            <a:ext cx="649986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设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阶方阵，若存在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阶方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，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7" name="Rectangle 3"/>
          <p:cNvSpPr/>
          <p:nvPr>
            <p:custDataLst>
              <p:tags r:id="rId2"/>
            </p:custDataLst>
          </p:nvPr>
        </p:nvSpPr>
        <p:spPr>
          <a:xfrm>
            <a:off x="539433" y="1919288"/>
            <a:ext cx="89535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使得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8" name="Rectangle 4"/>
          <p:cNvSpPr/>
          <p:nvPr>
            <p:custDataLst>
              <p:tags r:id="rId3"/>
            </p:custDataLst>
          </p:nvPr>
        </p:nvSpPr>
        <p:spPr>
          <a:xfrm>
            <a:off x="3275965" y="1916748"/>
            <a:ext cx="385318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1989" name="Rectangle 5"/>
          <p:cNvSpPr/>
          <p:nvPr>
            <p:custDataLst>
              <p:tags r:id="rId4"/>
            </p:custDataLst>
          </p:nvPr>
        </p:nvSpPr>
        <p:spPr>
          <a:xfrm>
            <a:off x="539433" y="2601913"/>
            <a:ext cx="673417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则称矩阵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可逆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且称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逆矩阵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endParaRPr lang="zh-CN" altLang="en-US" sz="2800" b="1" dirty="0">
              <a:solidFill>
                <a:srgbClr val="FF0000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1991" name="Rectangle 7"/>
          <p:cNvSpPr/>
          <p:nvPr>
            <p:custDataLst>
              <p:tags r:id="rId5"/>
            </p:custDataLst>
          </p:nvPr>
        </p:nvSpPr>
        <p:spPr>
          <a:xfrm>
            <a:off x="1436688" y="3932238"/>
            <a:ext cx="668083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如果不存在满足上式的矩阵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则称矩阵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</a:p>
        </p:txBody>
      </p:sp>
      <p:sp>
        <p:nvSpPr>
          <p:cNvPr id="41992" name="Rectangle 8"/>
          <p:cNvSpPr/>
          <p:nvPr>
            <p:custDataLst>
              <p:tags r:id="rId6"/>
            </p:custDataLst>
          </p:nvPr>
        </p:nvSpPr>
        <p:spPr>
          <a:xfrm>
            <a:off x="446088" y="4541838"/>
            <a:ext cx="271716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不可逆的</a:t>
            </a:r>
            <a:r>
              <a: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． </a:t>
            </a:r>
          </a:p>
        </p:txBody>
      </p:sp>
      <p:sp>
        <p:nvSpPr>
          <p:cNvPr id="41994" name="Rectangle 10"/>
          <p:cNvSpPr/>
          <p:nvPr>
            <p:custDataLst>
              <p:tags r:id="rId7"/>
            </p:custDataLst>
          </p:nvPr>
        </p:nvSpPr>
        <p:spPr>
          <a:xfrm>
            <a:off x="630873" y="3299778"/>
            <a:ext cx="3671887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并称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为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可逆矩阵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19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19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build="p"/>
      <p:bldP spid="41987" grpId="0" build="p" advAuto="1000"/>
      <p:bldP spid="41988" grpId="0" build="p" advAuto="1000"/>
      <p:bldP spid="41989" grpId="0" build="p" advAuto="1000"/>
      <p:bldP spid="41991" grpId="0" build="p"/>
      <p:bldP spid="41992" grpId="0" build="p" advAuto="1000"/>
      <p:bldP spid="41994" grpId="0" build="p" advAuto="100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逆矩阵定义</a:t>
            </a:r>
          </a:p>
        </p:txBody>
      </p:sp>
      <p:sp>
        <p:nvSpPr>
          <p:cNvPr id="33" name="矩形 32"/>
          <p:cNvSpPr>
            <a:spLocks noChangeArrowheads="1"/>
          </p:cNvSpPr>
          <p:nvPr/>
        </p:nvSpPr>
        <p:spPr bwMode="auto">
          <a:xfrm>
            <a:off x="683895" y="110363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注</a:t>
            </a:r>
          </a:p>
        </p:txBody>
      </p:sp>
      <p:sp>
        <p:nvSpPr>
          <p:cNvPr id="41986" name="Rectangle 2"/>
          <p:cNvSpPr/>
          <p:nvPr/>
        </p:nvSpPr>
        <p:spPr>
          <a:xfrm>
            <a:off x="683260" y="1196975"/>
            <a:ext cx="7550785" cy="10388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（1）只有当一个矩阵是方阵时，才有可能</a:t>
            </a:r>
          </a:p>
          <a:p>
            <a:pPr marL="0" lvl="0" algn="l"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存在其逆矩阵</a:t>
            </a:r>
            <a:endParaRPr lang="zh-CN" altLang="en-US" sz="28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1989" name="Rectangle 5"/>
          <p:cNvSpPr/>
          <p:nvPr>
            <p:custDataLst>
              <p:tags r:id="rId1"/>
            </p:custDataLst>
          </p:nvPr>
        </p:nvSpPr>
        <p:spPr>
          <a:xfrm>
            <a:off x="682943" y="2492693"/>
            <a:ext cx="761301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（2）若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是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的逆矩阵，则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也是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的逆矩阵．</a:t>
            </a:r>
            <a:endParaRPr lang="zh-CN" altLang="zh-CN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6" name="文本框 75791"/>
          <p:cNvSpPr txBox="1"/>
          <p:nvPr>
            <p:custDataLst>
              <p:tags r:id="rId2"/>
            </p:custDataLst>
          </p:nvPr>
        </p:nvSpPr>
        <p:spPr>
          <a:xfrm>
            <a:off x="891858" y="3725545"/>
            <a:ext cx="125222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例</a:t>
            </a:r>
            <a:r>
              <a:rPr lang="zh-CN" altLang="en-US" sz="2800" b="1" dirty="0">
                <a:latin typeface="Times New Roman" panose="02020603050405020304" pitchFamily="18" charset="0"/>
              </a:rPr>
              <a:t>  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设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pic>
        <p:nvPicPr>
          <p:cNvPr id="7" name="图片 6"/>
          <p:cNvPicPr/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394890" y="3573016"/>
            <a:ext cx="4660900" cy="977900"/>
          </a:xfrm>
          <a:prstGeom prst="rect">
            <a:avLst/>
          </a:prstGeom>
          <a:noFill/>
          <a:ln w="38100">
            <a:noFill/>
          </a:ln>
        </p:spPr>
      </p:pic>
      <p:sp>
        <p:nvSpPr>
          <p:cNvPr id="2" name="Rectangle 4"/>
          <p:cNvSpPr/>
          <p:nvPr>
            <p:custDataLst>
              <p:tags r:id="rId4"/>
            </p:custDataLst>
          </p:nvPr>
        </p:nvSpPr>
        <p:spPr>
          <a:xfrm>
            <a:off x="1331595" y="4869180"/>
            <a:ext cx="633920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∵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284345" y="4923155"/>
            <a:ext cx="3599815" cy="521970"/>
            <a:chOff x="6747" y="7753"/>
            <a:chExt cx="5669" cy="822"/>
          </a:xfrm>
        </p:grpSpPr>
        <p:pic>
          <p:nvPicPr>
            <p:cNvPr id="9" name="图片 8"/>
            <p:cNvPicPr/>
            <p:nvPr>
              <p:custDataLst>
                <p:tags r:id="rId5"/>
              </p:custDataLst>
            </p:nvPr>
          </p:nvPicPr>
          <p:blipFill>
            <a:blip r:embed="rId11"/>
            <a:srcRect r="91602" b="-13286"/>
            <a:stretch>
              <a:fillRect/>
            </a:stretch>
          </p:blipFill>
          <p:spPr>
            <a:xfrm>
              <a:off x="6747" y="7782"/>
              <a:ext cx="453" cy="793"/>
            </a:xfrm>
            <a:prstGeom prst="rect">
              <a:avLst/>
            </a:prstGeom>
            <a:noFill/>
            <a:ln w="38100">
              <a:noFill/>
            </a:ln>
          </p:spPr>
        </p:pic>
        <p:sp>
          <p:nvSpPr>
            <p:cNvPr id="3" name="Rectangle 5"/>
            <p:cNvSpPr/>
            <p:nvPr>
              <p:custDataLst>
                <p:tags r:id="rId6"/>
              </p:custDataLst>
            </p:nvPr>
          </p:nvSpPr>
          <p:spPr>
            <a:xfrm>
              <a:off x="7314" y="7753"/>
              <a:ext cx="5103" cy="82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l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altLang="zh-CN" sz="2800" b="1" i="1" noProof="0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B</a:t>
              </a:r>
              <a:r>
                <a:rPr lang="zh-CN" altLang="en-US" sz="2800" b="1" dirty="0">
                  <a:solidFill>
                    <a:schemeClr val="tx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</a:rPr>
                <a:t>是</a:t>
              </a:r>
              <a:r>
                <a:rPr lang="zh-CN" altLang="zh-CN" sz="2800" b="1" dirty="0"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 </a:t>
              </a:r>
              <a:r>
                <a:rPr lang="en-US" altLang="zh-CN" sz="2800" b="1" i="1" dirty="0"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A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一个</a:t>
              </a:r>
              <a:r>
                <a:rPr lang="zh-CN" altLang="en-US" sz="2800" b="1" dirty="0">
                  <a:solidFill>
                    <a:schemeClr val="tx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华文中宋" panose="02010600040101010101" pitchFamily="2" charset="-122"/>
                </a:rPr>
                <a:t>逆矩阵．</a:t>
              </a:r>
              <a:endParaRPr lang="zh-CN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1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uiExpand="1" build="p"/>
      <p:bldP spid="41989" grpId="0" build="p" advAuto="1000"/>
      <p:bldP spid="6" grpId="0"/>
      <p:bldP spid="2" grpId="0" build="p" advAuto="100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736330" cy="116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2.1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如果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阶方阵</a:t>
            </a:r>
            <a:r>
              <a:rPr lang="zh-CN" altLang="en-US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Ａ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可逆，则它的逆矩阵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是唯一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    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的．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8637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572955" y="2205246"/>
            <a:ext cx="60737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与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都是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的逆矩阵，则有</a:t>
            </a:r>
          </a:p>
        </p:txBody>
      </p:sp>
      <p:sp>
        <p:nvSpPr>
          <p:cNvPr id="186371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411572" y="2893378"/>
            <a:ext cx="5329238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　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AC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186372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777935" y="3530869"/>
            <a:ext cx="121920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>
                <a:latin typeface="Times New Roman" panose="02020603050405020304" pitchFamily="18" charset="0"/>
                <a:ea typeface="华文中宋" panose="02010600040101010101" pitchFamily="2" charset="-122"/>
              </a:rPr>
              <a:t>因而</a:t>
            </a:r>
          </a:p>
        </p:txBody>
      </p:sp>
      <p:sp>
        <p:nvSpPr>
          <p:cNvPr id="186373" name="Rectangle 5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1637715" y="4233228"/>
            <a:ext cx="601503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                       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．</a:t>
            </a:r>
          </a:p>
        </p:txBody>
      </p:sp>
      <p:sp>
        <p:nvSpPr>
          <p:cNvPr id="186374" name="Rectangle 6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450939" y="2205516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zh-CN" altLang="en-US" sz="2800" b="1" dirty="0">
                <a:solidFill>
                  <a:srgbClr val="0000FF"/>
                </a:solidFill>
                <a:ea typeface="华文中宋" panose="02010600040101010101" pitchFamily="2" charset="-122"/>
              </a:rPr>
              <a:t>证明</a:t>
            </a:r>
            <a:endParaRPr lang="zh-CN" altLang="en-US" sz="3200" b="1" dirty="0">
              <a:solidFill>
                <a:srgbClr val="0000FF"/>
              </a:solidFill>
              <a:effectLst>
                <a:outerShdw blurRad="38100" dist="38100" dir="2700000" algn="tl">
                  <a:srgbClr val="C0C0C0"/>
                </a:outerShdw>
              </a:effectLst>
              <a:ea typeface="华文中宋" panose="02010600040101010101" pitchFamily="2" charset="-122"/>
            </a:endParaRPr>
          </a:p>
        </p:txBody>
      </p:sp>
      <p:sp>
        <p:nvSpPr>
          <p:cNvPr id="186377" name="Rectangle 9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777935" y="5205194"/>
            <a:ext cx="1219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故</a:t>
            </a:r>
          </a:p>
        </p:txBody>
      </p:sp>
      <p:sp>
        <p:nvSpPr>
          <p:cNvPr id="186378" name="Rectangle 10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3814822" y="5205194"/>
            <a:ext cx="148748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11" name="Rectangle 5"/>
          <p:cNvSpPr>
            <a:spLocks noChangeArrowheads="1"/>
          </p:cNvSpPr>
          <p:nvPr>
            <p:custDataLst>
              <p:tags r:id="rId9"/>
            </p:custDataLst>
          </p:nvPr>
        </p:nvSpPr>
        <p:spPr bwMode="auto">
          <a:xfrm>
            <a:off x="2292633" y="4251544"/>
            <a:ext cx="79251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BE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2" name="Rectangle 5"/>
          <p:cNvSpPr>
            <a:spLocks noChangeArrowheads="1"/>
          </p:cNvSpPr>
          <p:nvPr>
            <p:custDataLst>
              <p:tags r:id="rId10"/>
            </p:custDataLst>
          </p:nvPr>
        </p:nvSpPr>
        <p:spPr bwMode="auto">
          <a:xfrm>
            <a:off x="2882787" y="4219020"/>
            <a:ext cx="1652711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3" name="Rectangle 5"/>
          <p:cNvSpPr>
            <a:spLocks noChangeArrowheads="1"/>
          </p:cNvSpPr>
          <p:nvPr>
            <p:custDataLst>
              <p:tags r:id="rId11"/>
            </p:custDataLst>
          </p:nvPr>
        </p:nvSpPr>
        <p:spPr bwMode="auto">
          <a:xfrm>
            <a:off x="4244676" y="4226361"/>
            <a:ext cx="166303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4" name="Rectangle 5"/>
          <p:cNvSpPr>
            <a:spLocks noChangeArrowheads="1"/>
          </p:cNvSpPr>
          <p:nvPr>
            <p:custDataLst>
              <p:tags r:id="rId12"/>
            </p:custDataLst>
          </p:nvPr>
        </p:nvSpPr>
        <p:spPr bwMode="auto">
          <a:xfrm>
            <a:off x="5561029" y="4233228"/>
            <a:ext cx="12192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IC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3" name="Rectangle 9"/>
          <p:cNvSpPr>
            <a:spLocks noChangeArrowheads="1"/>
          </p:cNvSpPr>
          <p:nvPr>
            <p:custDataLst>
              <p:tags r:id="rId13"/>
            </p:custDataLst>
          </p:nvPr>
        </p:nvSpPr>
        <p:spPr bwMode="auto">
          <a:xfrm>
            <a:off x="301625" y="5949315"/>
            <a:ext cx="8842375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依据逆矩阵的唯一性,我们把可逆矩阵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的逆阵记作</a:t>
            </a:r>
            <a:r>
              <a:rPr lang="en-US" altLang="zh-CN" sz="2800" b="1" i="1" noProof="0">
                <a:ln>
                  <a:noFill/>
                </a:ln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baseline="30000" noProof="0">
                <a:ln>
                  <a:noFill/>
                </a:ln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－１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86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6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63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6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86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863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86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5" grpId="0" build="p" autoUpdateAnimBg="0"/>
      <p:bldP spid="186370" grpId="0" build="p" autoUpdateAnimBg="0"/>
      <p:bldP spid="186371" grpId="0" build="p" autoUpdateAnimBg="0" advAuto="1000"/>
      <p:bldP spid="186372" grpId="0" build="p" autoUpdateAnimBg="0" advAuto="1000"/>
      <p:bldP spid="186373" grpId="0" build="p" autoUpdateAnimBg="0" advAuto="1000"/>
      <p:bldP spid="186374" grpId="0" bldLvl="0" animBg="1"/>
      <p:bldP spid="186377" grpId="0" build="p" autoUpdateAnimBg="0" advAuto="1000"/>
      <p:bldP spid="186378" grpId="0" build="p" autoUpdateAnimBg="0" advAuto="1000"/>
      <p:bldP spid="11" grpId="0" build="p" autoUpdateAnimBg="0" advAuto="1000"/>
      <p:bldP spid="12" grpId="0" build="p" autoUpdateAnimBg="0" advAuto="1000"/>
      <p:bldP spid="13" grpId="0" build="p" autoUpdateAnimBg="0" advAuto="1000"/>
      <p:bldP spid="14" grpId="0" build="p" autoUpdateAnimBg="0" advAuto="1000"/>
      <p:bldP spid="3" grpId="0" build="p" autoUpdateAnimBg="0" advAuto="100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0964" name="Rectangle 4"/>
          <p:cNvSpPr/>
          <p:nvPr>
            <p:custDataLst>
              <p:tags r:id="rId2"/>
            </p:custDataLst>
          </p:nvPr>
        </p:nvSpPr>
        <p:spPr>
          <a:xfrm>
            <a:off x="392430" y="2126615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40965" name="Rectangle 5"/>
          <p:cNvSpPr/>
          <p:nvPr>
            <p:custDataLst>
              <p:tags r:id="rId3"/>
            </p:custDataLst>
          </p:nvPr>
        </p:nvSpPr>
        <p:spPr>
          <a:xfrm>
            <a:off x="5918518" y="2126615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66" name="Rectangle 6"/>
          <p:cNvSpPr/>
          <p:nvPr>
            <p:custDataLst>
              <p:tags r:id="rId4"/>
            </p:custDataLst>
          </p:nvPr>
        </p:nvSpPr>
        <p:spPr>
          <a:xfrm>
            <a:off x="392430" y="1556703"/>
            <a:ext cx="4709160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en-US" altLang="zh-CN" sz="26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(1)</a:t>
            </a:r>
            <a:r>
              <a:rPr lang="zh-CN" altLang="en-US" sz="26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40967" name="Rectangle 7"/>
          <p:cNvSpPr/>
          <p:nvPr>
            <p:custDataLst>
              <p:tags r:id="rId5"/>
            </p:custDataLst>
          </p:nvPr>
        </p:nvSpPr>
        <p:spPr>
          <a:xfrm>
            <a:off x="5004118" y="1556703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68" name="Rectangle 8"/>
          <p:cNvSpPr/>
          <p:nvPr>
            <p:custDataLst>
              <p:tags r:id="rId6"/>
            </p:custDataLst>
          </p:nvPr>
        </p:nvSpPr>
        <p:spPr>
          <a:xfrm>
            <a:off x="376555" y="2740978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40969" name="Rectangle 9"/>
          <p:cNvSpPr/>
          <p:nvPr>
            <p:custDataLst>
              <p:tags r:id="rId7"/>
            </p:custDataLst>
          </p:nvPr>
        </p:nvSpPr>
        <p:spPr>
          <a:xfrm>
            <a:off x="4831080" y="2740978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70" name="Rectangle 10"/>
          <p:cNvSpPr/>
          <p:nvPr>
            <p:custDataLst>
              <p:tags r:id="rId8"/>
            </p:custDataLst>
          </p:nvPr>
        </p:nvSpPr>
        <p:spPr>
          <a:xfrm>
            <a:off x="376555" y="4438015"/>
            <a:ext cx="28765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所以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0971" name="Rectangle 11"/>
          <p:cNvSpPr/>
          <p:nvPr>
            <p:custDataLst>
              <p:tags r:id="rId9"/>
            </p:custDataLst>
          </p:nvPr>
        </p:nvSpPr>
        <p:spPr>
          <a:xfrm>
            <a:off x="376555" y="3331528"/>
            <a:ext cx="13208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这是因为</a:t>
            </a:r>
          </a:p>
        </p:txBody>
      </p:sp>
      <p:sp>
        <p:nvSpPr>
          <p:cNvPr id="40972" name="Rectangle 12"/>
          <p:cNvSpPr/>
          <p:nvPr>
            <p:custDataLst>
              <p:tags r:id="rId10"/>
            </p:custDataLst>
          </p:nvPr>
        </p:nvSpPr>
        <p:spPr>
          <a:xfrm>
            <a:off x="376555" y="3871278"/>
            <a:ext cx="252571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 </a:t>
            </a:r>
          </a:p>
        </p:txBody>
      </p:sp>
      <p:sp>
        <p:nvSpPr>
          <p:cNvPr id="40973" name="Rectangle 13"/>
          <p:cNvSpPr/>
          <p:nvPr>
            <p:custDataLst>
              <p:tags r:id="rId11"/>
            </p:custDataLst>
          </p:nvPr>
        </p:nvSpPr>
        <p:spPr>
          <a:xfrm>
            <a:off x="2884805" y="3871278"/>
            <a:ext cx="12001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</a:p>
        </p:txBody>
      </p:sp>
      <p:sp>
        <p:nvSpPr>
          <p:cNvPr id="40974" name="Rectangle 14"/>
          <p:cNvSpPr/>
          <p:nvPr>
            <p:custDataLst>
              <p:tags r:id="rId12"/>
            </p:custDataLst>
          </p:nvPr>
        </p:nvSpPr>
        <p:spPr>
          <a:xfrm>
            <a:off x="4113530" y="3871278"/>
            <a:ext cx="108140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6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0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0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0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0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40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0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09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5" grpId="0" build="p" autoUpdateAnimBg="0"/>
      <p:bldP spid="40964" grpId="0" build="p"/>
      <p:bldP spid="40965" grpId="0" build="p"/>
      <p:bldP spid="40966" grpId="0" build="p"/>
      <p:bldP spid="40967" grpId="0" build="p"/>
      <p:bldP spid="40968" grpId="0" build="p"/>
      <p:bldP spid="40969" grpId="0" build="p"/>
      <p:bldP spid="40970" grpId="0" build="p"/>
      <p:bldP spid="40971" grpId="0" build="p"/>
      <p:bldP spid="40972" grpId="0" build="p"/>
      <p:bldP spid="40973" grpId="0" build="p"/>
      <p:bldP spid="4097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2.2-</a:t>
            </a: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性质</a:t>
            </a:r>
            <a:r>
              <a:rPr lang="en-US" altLang="zh-CN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2.5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57348" name="Rectangle 4"/>
          <p:cNvSpPr/>
          <p:nvPr>
            <p:custDataLst>
              <p:tags r:id="rId3"/>
            </p:custDataLst>
          </p:nvPr>
        </p:nvSpPr>
        <p:spPr>
          <a:xfrm>
            <a:off x="323215" y="2060893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57349" name="Rectangle 5"/>
          <p:cNvSpPr/>
          <p:nvPr>
            <p:custDataLst>
              <p:tags r:id="rId4"/>
            </p:custDataLst>
          </p:nvPr>
        </p:nvSpPr>
        <p:spPr>
          <a:xfrm>
            <a:off x="5849303" y="2060893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0" name="Rectangle 6"/>
          <p:cNvSpPr/>
          <p:nvPr>
            <p:custDataLst>
              <p:tags r:id="rId5"/>
            </p:custDataLst>
          </p:nvPr>
        </p:nvSpPr>
        <p:spPr>
          <a:xfrm>
            <a:off x="323215" y="1490980"/>
            <a:ext cx="4719638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(1)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1" name="Rectangle 7"/>
          <p:cNvSpPr/>
          <p:nvPr>
            <p:custDataLst>
              <p:tags r:id="rId6"/>
            </p:custDataLst>
          </p:nvPr>
        </p:nvSpPr>
        <p:spPr>
          <a:xfrm>
            <a:off x="4934903" y="1490980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2" name="Rectangle 8"/>
          <p:cNvSpPr/>
          <p:nvPr>
            <p:custDataLst>
              <p:tags r:id="rId7"/>
            </p:custDataLst>
          </p:nvPr>
        </p:nvSpPr>
        <p:spPr>
          <a:xfrm>
            <a:off x="307340" y="2676843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3" name="Rectangle 9"/>
          <p:cNvSpPr/>
          <p:nvPr>
            <p:custDataLst>
              <p:tags r:id="rId8"/>
            </p:custDataLst>
          </p:nvPr>
        </p:nvSpPr>
        <p:spPr>
          <a:xfrm>
            <a:off x="4761865" y="2676843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1994" name="Rectangle 10"/>
          <p:cNvSpPr/>
          <p:nvPr>
            <p:custDataLst>
              <p:tags r:id="rId9"/>
            </p:custDataLst>
          </p:nvPr>
        </p:nvSpPr>
        <p:spPr>
          <a:xfrm>
            <a:off x="278765" y="3192780"/>
            <a:ext cx="8686800" cy="9525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(4)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为同阶可逆矩阵，则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亦可逆，且</a:t>
            </a:r>
          </a:p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3019" name="Text Box 11"/>
          <p:cNvSpPr txBox="1"/>
          <p:nvPr>
            <p:custDataLst>
              <p:tags r:id="rId10"/>
            </p:custDataLst>
          </p:nvPr>
        </p:nvSpPr>
        <p:spPr>
          <a:xfrm>
            <a:off x="539750" y="4365308"/>
            <a:ext cx="2952750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该性质可作推广</a:t>
            </a:r>
            <a:endParaRPr lang="zh-CN" altLang="en-US" sz="2600" b="1" dirty="0">
              <a:solidFill>
                <a:srgbClr val="3333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43020" name="Rectangle 12"/>
          <p:cNvSpPr/>
          <p:nvPr>
            <p:custDataLst>
              <p:tags r:id="rId11"/>
            </p:custDataLst>
          </p:nvPr>
        </p:nvSpPr>
        <p:spPr>
          <a:xfrm>
            <a:off x="539750" y="4941570"/>
            <a:ext cx="7977188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zh-CN" altLang="en-US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 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… A</a:t>
            </a:r>
            <a:r>
              <a:rPr lang="en-US" altLang="zh-CN" sz="26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6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均为 </a:t>
            </a:r>
            <a:r>
              <a:rPr lang="en-US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 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</a:t>
            </a:r>
            <a:r>
              <a:rPr lang="zh-CN" altLang="zh-CN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可逆</a:t>
            </a:r>
            <a:r>
              <a:rPr lang="zh-CN" altLang="en-US" sz="26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阵，则</a:t>
            </a:r>
          </a:p>
        </p:txBody>
      </p:sp>
      <p:graphicFrame>
        <p:nvGraphicFramePr>
          <p:cNvPr id="43021" name="Object 13"/>
          <p:cNvGraphicFramePr>
            <a:graphicFrameLocks noChangeAspect="1"/>
          </p:cNvGraphicFramePr>
          <p:nvPr>
            <p:custDataLst>
              <p:tags r:id="rId12"/>
            </p:custDataLst>
          </p:nvPr>
        </p:nvGraphicFramePr>
        <p:xfrm>
          <a:off x="2051050" y="5517833"/>
          <a:ext cx="5113338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4" r:id="rId16" imgW="1663700" imgH="241300" progId="Equation.3">
                  <p:embed/>
                </p:oleObj>
              </mc:Choice>
              <mc:Fallback>
                <p:oleObj r:id="rId16" imgW="1663700" imgH="241300" progId="Equation.3">
                  <p:embed/>
                  <p:pic>
                    <p:nvPicPr>
                      <p:cNvPr id="0" name="图片 308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051050" y="5517833"/>
                        <a:ext cx="5113338" cy="7080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0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30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430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3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4" grpId="0" build="p"/>
      <p:bldP spid="43019" grpId="0"/>
      <p:bldP spid="43020" grpId="0" build="p" advAuto="100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逆矩阵的性质</a:t>
            </a:r>
          </a:p>
        </p:txBody>
      </p:sp>
      <p:sp>
        <p:nvSpPr>
          <p:cNvPr id="186375" name="Rectangle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5605" y="908685"/>
            <a:ext cx="83439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00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对于逆矩阵，我们还有以下性质</a:t>
            </a:r>
            <a:r>
              <a:rPr lang="zh-CN" altLang="en-US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57348" name="Rectangle 4"/>
          <p:cNvSpPr/>
          <p:nvPr>
            <p:custDataLst>
              <p:tags r:id="rId2"/>
            </p:custDataLst>
          </p:nvPr>
        </p:nvSpPr>
        <p:spPr>
          <a:xfrm>
            <a:off x="323215" y="2060893"/>
            <a:ext cx="5613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(2)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可逆，数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0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</a:rPr>
              <a:t>则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</a:t>
            </a:r>
          </a:p>
        </p:txBody>
      </p:sp>
      <p:sp>
        <p:nvSpPr>
          <p:cNvPr id="57349" name="Rectangle 5"/>
          <p:cNvSpPr/>
          <p:nvPr>
            <p:custDataLst>
              <p:tags r:id="rId3"/>
            </p:custDataLst>
          </p:nvPr>
        </p:nvSpPr>
        <p:spPr>
          <a:xfrm>
            <a:off x="5849303" y="2060893"/>
            <a:ext cx="266223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</a:rPr>
              <a:t>l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0" name="Rectangle 6"/>
          <p:cNvSpPr/>
          <p:nvPr>
            <p:custDataLst>
              <p:tags r:id="rId4"/>
            </p:custDataLst>
          </p:nvPr>
        </p:nvSpPr>
        <p:spPr>
          <a:xfrm>
            <a:off x="323215" y="1490980"/>
            <a:ext cx="4719638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(1)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1" name="Rectangle 7"/>
          <p:cNvSpPr/>
          <p:nvPr>
            <p:custDataLst>
              <p:tags r:id="rId5"/>
            </p:custDataLst>
          </p:nvPr>
        </p:nvSpPr>
        <p:spPr>
          <a:xfrm>
            <a:off x="4934903" y="1490980"/>
            <a:ext cx="19907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7352" name="Rectangle 8"/>
          <p:cNvSpPr/>
          <p:nvPr>
            <p:custDataLst>
              <p:tags r:id="rId6"/>
            </p:custDataLst>
          </p:nvPr>
        </p:nvSpPr>
        <p:spPr>
          <a:xfrm>
            <a:off x="307340" y="2676843"/>
            <a:ext cx="45894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(3)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也可逆，</a:t>
            </a:r>
          </a:p>
        </p:txBody>
      </p:sp>
      <p:sp>
        <p:nvSpPr>
          <p:cNvPr id="57353" name="Rectangle 9"/>
          <p:cNvSpPr/>
          <p:nvPr>
            <p:custDataLst>
              <p:tags r:id="rId7"/>
            </p:custDataLst>
          </p:nvPr>
        </p:nvSpPr>
        <p:spPr>
          <a:xfrm>
            <a:off x="4761865" y="2676843"/>
            <a:ext cx="254635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且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1994" name="Rectangle 10"/>
          <p:cNvSpPr/>
          <p:nvPr>
            <p:custDataLst>
              <p:tags r:id="rId8"/>
            </p:custDataLst>
          </p:nvPr>
        </p:nvSpPr>
        <p:spPr>
          <a:xfrm>
            <a:off x="278765" y="3192780"/>
            <a:ext cx="8686800" cy="9525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(4)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若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为同阶可逆矩阵，则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亦可逆，且</a:t>
            </a:r>
          </a:p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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</a:t>
            </a:r>
            <a:r>
              <a:rPr lang="en-US" altLang="zh-CN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44043" name="Rectangle 11"/>
          <p:cNvSpPr/>
          <p:nvPr>
            <p:custDataLst>
              <p:tags r:id="rId9"/>
            </p:custDataLst>
          </p:nvPr>
        </p:nvSpPr>
        <p:spPr>
          <a:xfrm>
            <a:off x="899478" y="4335145"/>
            <a:ext cx="4032250" cy="4889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(5)|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| 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endParaRPr lang="zh-CN" altLang="en-US" sz="26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44044" name="Rectangle 12"/>
          <p:cNvSpPr/>
          <p:nvPr>
            <p:custDataLst>
              <p:tags r:id="rId10"/>
            </p:custDataLst>
          </p:nvPr>
        </p:nvSpPr>
        <p:spPr>
          <a:xfrm>
            <a:off x="683578" y="4982845"/>
            <a:ext cx="7416800" cy="89154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因为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| 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|=|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|=1</a:t>
            </a:r>
            <a:r>
              <a:rPr lang="en-US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</a:p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故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 A | </a:t>
            </a:r>
            <a:r>
              <a:rPr lang="zh-CN" altLang="en-US" sz="26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－１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1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40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40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4" grpId="0" build="p"/>
      <p:bldP spid="44043" grpId="0" build="p" advAuto="1000"/>
      <p:bldP spid="44044" grpId="0" build="p" advAuto="100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2583" y="98107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伴随矩阵</a:t>
            </a:r>
          </a:p>
        </p:txBody>
      </p:sp>
      <p:graphicFrame>
        <p:nvGraphicFramePr>
          <p:cNvPr id="59396" name="Object 12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596900" y="1701800"/>
          <a:ext cx="3629025" cy="214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name="Equation" r:id="rId11" imgW="38100000" imgH="22555200" progId="Equation.DSMT4">
                  <p:embed/>
                </p:oleObj>
              </mc:Choice>
              <mc:Fallback>
                <p:oleObj name="Equation" r:id="rId11" imgW="38100000" imgH="22555200" progId="Equation.DSMT4">
                  <p:embed/>
                  <p:pic>
                    <p:nvPicPr>
                      <p:cNvPr id="0" name="图片 3083"/>
                      <p:cNvPicPr/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>
                      <a:xfrm>
                        <a:off x="596900" y="1701800"/>
                        <a:ext cx="3629025" cy="2149475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85" name="Object 17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441825" y="1774825"/>
          <a:ext cx="3978275" cy="214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" name="Equation" r:id="rId13" imgW="41757600" imgH="22555200" progId="Equation.DSMT4">
                  <p:embed/>
                </p:oleObj>
              </mc:Choice>
              <mc:Fallback>
                <p:oleObj name="Equation" r:id="rId13" imgW="41757600" imgH="22555200" progId="Equation.DSMT4">
                  <p:embed/>
                  <p:pic>
                    <p:nvPicPr>
                      <p:cNvPr id="0" name="图片 30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41825" y="1774825"/>
                        <a:ext cx="3978275" cy="21494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86" name="Rectangle 18"/>
          <p:cNvSpPr/>
          <p:nvPr>
            <p:custDataLst>
              <p:tags r:id="rId5"/>
            </p:custDataLst>
          </p:nvPr>
        </p:nvSpPr>
        <p:spPr>
          <a:xfrm>
            <a:off x="611188" y="4066540"/>
            <a:ext cx="698500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记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的元素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的代数余子式</a:t>
            </a:r>
          </a:p>
        </p:txBody>
      </p:sp>
      <p:sp>
        <p:nvSpPr>
          <p:cNvPr id="32787" name="Rectangle 19"/>
          <p:cNvSpPr/>
          <p:nvPr>
            <p:custDataLst>
              <p:tags r:id="rId6"/>
            </p:custDataLst>
          </p:nvPr>
        </p:nvSpPr>
        <p:spPr>
          <a:xfrm>
            <a:off x="682625" y="4787265"/>
            <a:ext cx="554355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*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称为矩阵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</a:t>
            </a: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伴随矩阵</a:t>
            </a:r>
          </a:p>
        </p:txBody>
      </p:sp>
      <p:sp>
        <p:nvSpPr>
          <p:cNvPr id="32788" name="Rectangle 20"/>
          <p:cNvSpPr/>
          <p:nvPr>
            <p:custDataLst>
              <p:tags r:id="rId7"/>
            </p:custDataLst>
          </p:nvPr>
        </p:nvSpPr>
        <p:spPr>
          <a:xfrm>
            <a:off x="682625" y="5492115"/>
            <a:ext cx="6840538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原矩阵的元素用代数余子式替换，再转置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93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93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27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2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27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32786" grpId="0" build="p"/>
      <p:bldP spid="32787" grpId="0" build="p"/>
      <p:bldP spid="32788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2583" y="98107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伴随矩阵重要性质</a:t>
            </a:r>
          </a:p>
        </p:txBody>
      </p:sp>
      <p:graphicFrame>
        <p:nvGraphicFramePr>
          <p:cNvPr id="43010" name="Object 2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2224088" y="1465263"/>
          <a:ext cx="6269037" cy="217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Equation" r:id="rId11" imgW="64922400" imgH="22555200" progId="Equation.DSMT4">
                  <p:embed/>
                </p:oleObj>
              </mc:Choice>
              <mc:Fallback>
                <p:oleObj name="Equation" r:id="rId11" imgW="64922400" imgH="22555200" progId="Equation.DSMT4">
                  <p:embed/>
                  <p:pic>
                    <p:nvPicPr>
                      <p:cNvPr id="0" name="图片 309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24088" y="1465263"/>
                        <a:ext cx="6269037" cy="21780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1" name="Object 3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735013" y="2060575"/>
          <a:ext cx="1492250" cy="641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Equation" r:id="rId13" imgW="10668000" imgH="4572000" progId="Equation.DSMT4">
                  <p:embed/>
                </p:oleObj>
              </mc:Choice>
              <mc:Fallback>
                <p:oleObj name="Equation" r:id="rId13" imgW="10668000" imgH="4572000" progId="Equation.DSMT4">
                  <p:embed/>
                  <p:pic>
                    <p:nvPicPr>
                      <p:cNvPr id="0" name="图片 3094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35013" y="2060575"/>
                        <a:ext cx="1492250" cy="6413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4" name="Object 6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764030" y="3679825"/>
          <a:ext cx="3862070" cy="21659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7" name="Equation" r:id="rId15" imgW="1409700" imgH="736600" progId="Equation.DSMT4">
                  <p:embed/>
                </p:oleObj>
              </mc:Choice>
              <mc:Fallback>
                <p:oleObj name="Equation" r:id="rId15" imgW="1409700" imgH="736600" progId="Equation.DSMT4">
                  <p:embed/>
                  <p:pic>
                    <p:nvPicPr>
                      <p:cNvPr id="0" name="图片 30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764030" y="3679825"/>
                        <a:ext cx="3862070" cy="216598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17" name="Object 9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2915920" y="5733415"/>
          <a:ext cx="4266565" cy="9182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8" name="Equation" r:id="rId17" imgW="1181100" imgH="254000" progId="Equation.DSMT4">
                  <p:embed/>
                </p:oleObj>
              </mc:Choice>
              <mc:Fallback>
                <p:oleObj name="Equation" r:id="rId17" imgW="1181100" imgH="254000" progId="Equation.DSMT4">
                  <p:embed/>
                  <p:pic>
                    <p:nvPicPr>
                      <p:cNvPr id="0" name="图片 309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915920" y="5733415"/>
                        <a:ext cx="4266565" cy="91821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18" name="Rectangle 10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867093" y="5845493"/>
            <a:ext cx="2354263" cy="5540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重要性质：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3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3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3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30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43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4301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定理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197643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690370" y="1002030"/>
            <a:ext cx="66294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effectLst/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为可逆矩阵的充要条件为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|A|≠0</a:t>
            </a:r>
          </a:p>
        </p:txBody>
      </p:sp>
      <p:sp>
        <p:nvSpPr>
          <p:cNvPr id="197634" name="Rectangle 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692275" y="1808798"/>
            <a:ext cx="50990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（必要性）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若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可逆，则</a:t>
            </a:r>
          </a:p>
        </p:txBody>
      </p:sp>
      <p:sp>
        <p:nvSpPr>
          <p:cNvPr id="197635" name="Rectangle 3"/>
          <p:cNvSpPr/>
          <p:nvPr>
            <p:custDataLst>
              <p:tags r:id="rId5"/>
            </p:custDataLst>
          </p:nvPr>
        </p:nvSpPr>
        <p:spPr>
          <a:xfrm>
            <a:off x="828675" y="3104198"/>
            <a:ext cx="752538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两边取行列式，得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= 1, 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因而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 0 .</a:t>
            </a:r>
          </a:p>
        </p:txBody>
      </p:sp>
      <p:sp>
        <p:nvSpPr>
          <p:cNvPr id="197636" name="Rectangle 4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80975" y="3832860"/>
            <a:ext cx="5400675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（充分性）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     若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 0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，则由</a:t>
            </a:r>
          </a:p>
        </p:txBody>
      </p:sp>
      <p:sp>
        <p:nvSpPr>
          <p:cNvPr id="197637" name="Rectangle 5"/>
          <p:cNvSpPr/>
          <p:nvPr>
            <p:custDataLst>
              <p:tags r:id="rId7"/>
            </p:custDataLst>
          </p:nvPr>
        </p:nvSpPr>
        <p:spPr>
          <a:xfrm>
            <a:off x="3119438" y="2456498"/>
            <a:ext cx="283368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-1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</a:t>
            </a:r>
          </a:p>
        </p:txBody>
      </p:sp>
      <p:sp>
        <p:nvSpPr>
          <p:cNvPr id="197638" name="Rectangle 6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552450" y="1811973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证明</a:t>
            </a:r>
          </a:p>
        </p:txBody>
      </p:sp>
      <p:sp>
        <p:nvSpPr>
          <p:cNvPr id="197639" name="Text Box 7"/>
          <p:cNvSpPr txBox="1"/>
          <p:nvPr>
            <p:custDataLst>
              <p:tags r:id="rId9"/>
            </p:custDataLst>
          </p:nvPr>
        </p:nvSpPr>
        <p:spPr>
          <a:xfrm>
            <a:off x="923925" y="5671185"/>
            <a:ext cx="6400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由逆矩阵的定义可知，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可逆，且有</a:t>
            </a:r>
          </a:p>
        </p:txBody>
      </p:sp>
      <p:graphicFrame>
        <p:nvGraphicFramePr>
          <p:cNvPr id="29706" name="Object 10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700020" y="4461510"/>
          <a:ext cx="4111625" cy="1167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7" name="Equation" r:id="rId16" imgW="1790700" imgH="508000" progId="Equation.DSMT4">
                  <p:embed/>
                </p:oleObj>
              </mc:Choice>
              <mc:Fallback>
                <p:oleObj name="Equation" r:id="rId16" imgW="1790700" imgH="508000" progId="Equation.DSMT4">
                  <p:embed/>
                  <p:pic>
                    <p:nvPicPr>
                      <p:cNvPr id="0" name="图片 3125"/>
                      <p:cNvPicPr/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>
                      <a:xfrm>
                        <a:off x="2700020" y="4461510"/>
                        <a:ext cx="4111625" cy="1167130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644" name="Object 12"/>
          <p:cNvGraphicFramePr>
            <a:graphicFrameLocks noChangeAspect="1"/>
          </p:cNvGraphicFramePr>
          <p:nvPr>
            <p:custDataLst>
              <p:tags r:id="rId11"/>
            </p:custDataLst>
          </p:nvPr>
        </p:nvGraphicFramePr>
        <p:xfrm>
          <a:off x="5147945" y="3838575"/>
          <a:ext cx="2766060" cy="5803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8" name="Equation" r:id="rId18" imgW="1206500" imgH="254000" progId="Equation.DSMT4">
                  <p:embed/>
                </p:oleObj>
              </mc:Choice>
              <mc:Fallback>
                <p:oleObj name="Equation" r:id="rId18" imgW="1206500" imgH="254000" progId="Equation.DSMT4">
                  <p:embed/>
                  <p:pic>
                    <p:nvPicPr>
                      <p:cNvPr id="0" name="图片 3116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147945" y="3838575"/>
                        <a:ext cx="2766060" cy="5803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645" name="Rectangle 13"/>
          <p:cNvSpPr/>
          <p:nvPr>
            <p:custDataLst>
              <p:tags r:id="rId12"/>
            </p:custDataLst>
          </p:nvPr>
        </p:nvSpPr>
        <p:spPr>
          <a:xfrm>
            <a:off x="928688" y="4712335"/>
            <a:ext cx="12954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可得：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97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97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97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97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976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97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9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7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197643" grpId="0" build="p"/>
      <p:bldP spid="197634" grpId="0" build="p"/>
      <p:bldP spid="197635" grpId="0" build="p" advAuto="1000"/>
      <p:bldP spid="197636" grpId="0" build="p"/>
      <p:bldP spid="197637" grpId="0" build="p"/>
      <p:bldP spid="197638" grpId="0" bldLvl="0" animBg="1"/>
      <p:bldP spid="197639" grpId="0" build="p"/>
      <p:bldP spid="19764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32771" name="Text Box 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思考</a:t>
            </a:r>
          </a:p>
        </p:txBody>
      </p:sp>
      <p:sp>
        <p:nvSpPr>
          <p:cNvPr id="197643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259840" y="1002030"/>
            <a:ext cx="66294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如何求一个矩阵的逆矩阵？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+mn-ea"/>
            </a:endParaRPr>
          </a:p>
        </p:txBody>
      </p:sp>
      <p:sp>
        <p:nvSpPr>
          <p:cNvPr id="190466" name="Rectangle 2"/>
          <p:cNvSpPr/>
          <p:nvPr>
            <p:custDataLst>
              <p:tags r:id="rId4"/>
            </p:custDataLst>
          </p:nvPr>
        </p:nvSpPr>
        <p:spPr>
          <a:xfrm>
            <a:off x="611823" y="1772603"/>
            <a:ext cx="7486650" cy="5238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由定理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2.1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我们可以得到一个求逆矩阵的公式：</a:t>
            </a:r>
          </a:p>
        </p:txBody>
      </p:sp>
      <p:graphicFrame>
        <p:nvGraphicFramePr>
          <p:cNvPr id="190468" name="Object 4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3398838" y="2347913"/>
          <a:ext cx="2778125" cy="1431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0" name="Equation" r:id="rId10" imgW="20726400" imgH="10668000" progId="Equation.DSMT4">
                  <p:embed/>
                </p:oleObj>
              </mc:Choice>
              <mc:Fallback>
                <p:oleObj name="Equation" r:id="rId10" imgW="20726400" imgH="10668000" progId="Equation.DSMT4">
                  <p:embed/>
                  <p:pic>
                    <p:nvPicPr>
                      <p:cNvPr id="0" name="图片 311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398838" y="2347913"/>
                        <a:ext cx="2778125" cy="14319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4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755650" y="3861435"/>
            <a:ext cx="7985760" cy="203009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为方阵</a:t>
            </a:r>
            <a:r>
              <a:rPr 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若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| 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 0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，则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称为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rgbClr val="C00000"/>
                </a:solidFill>
                <a:ea typeface="华文中宋" panose="02010600040101010101" pitchFamily="2" charset="-122"/>
                <a:sym typeface="+mn-ea"/>
              </a:rPr>
              <a:t>非奇异方阵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；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若 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| 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= 0 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Symbol" panose="05050102010706020507" pitchFamily="18" charset="2"/>
              </a:rPr>
              <a:t>，则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称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A 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为</a:t>
            </a:r>
            <a:r>
              <a:rPr b="1" dirty="0">
                <a:solidFill>
                  <a:srgbClr val="C00000"/>
                </a:solidFill>
                <a:ea typeface="华文中宋" panose="02010600040101010101" pitchFamily="2" charset="-122"/>
                <a:sym typeface="+mn-ea"/>
              </a:rPr>
              <a:t>奇异方阵</a:t>
            </a:r>
            <a:r>
              <a:rPr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；即可逆方阵就是非奇异方阵．</a:t>
            </a:r>
            <a:endParaRPr kumimoji="1" lang="zh-CN" altLang="en-US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Symbol" panose="05050102010706020507" pitchFamily="18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7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90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0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  <p:bldP spid="197643" grpId="0" build="p"/>
      <p:bldP spid="190466" grpId="0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sp>
        <p:nvSpPr>
          <p:cNvPr id="193538" name="Rectangle 2"/>
          <p:cNvSpPr/>
          <p:nvPr>
            <p:custDataLst>
              <p:tags r:id="rId4"/>
            </p:custDataLst>
          </p:nvPr>
        </p:nvSpPr>
        <p:spPr>
          <a:xfrm>
            <a:off x="1907858" y="2493010"/>
            <a:ext cx="441801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AB=I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两边取行列式有</a:t>
            </a:r>
          </a:p>
        </p:txBody>
      </p:sp>
      <p:sp>
        <p:nvSpPr>
          <p:cNvPr id="193540" name="Rectangle 4"/>
          <p:cNvSpPr/>
          <p:nvPr>
            <p:custDataLst>
              <p:tags r:id="rId5"/>
            </p:custDataLst>
          </p:nvPr>
        </p:nvSpPr>
        <p:spPr>
          <a:xfrm>
            <a:off x="862648" y="3808095"/>
            <a:ext cx="936625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因而</a:t>
            </a:r>
          </a:p>
        </p:txBody>
      </p:sp>
      <p:sp>
        <p:nvSpPr>
          <p:cNvPr id="193541" name="Rectangle 5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683578" y="2485708"/>
            <a:ext cx="89789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证明</a:t>
            </a:r>
          </a:p>
        </p:txBody>
      </p:sp>
      <p:sp>
        <p:nvSpPr>
          <p:cNvPr id="193544" name="Rectangle 8"/>
          <p:cNvSpPr/>
          <p:nvPr>
            <p:custDataLst>
              <p:tags r:id="rId7"/>
            </p:custDataLst>
          </p:nvPr>
        </p:nvSpPr>
        <p:spPr>
          <a:xfrm>
            <a:off x="1748473" y="3795395"/>
            <a:ext cx="264318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</a:t>
            </a:r>
            <a:r>
              <a:rPr lang="en-US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≠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</a:p>
        </p:txBody>
      </p:sp>
      <p:sp>
        <p:nvSpPr>
          <p:cNvPr id="193545" name="Rectangle 9"/>
          <p:cNvSpPr/>
          <p:nvPr>
            <p:custDataLst>
              <p:tags r:id="rId8"/>
            </p:custDataLst>
          </p:nvPr>
        </p:nvSpPr>
        <p:spPr>
          <a:xfrm>
            <a:off x="4302760" y="3789045"/>
            <a:ext cx="2752725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即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均可逆</a:t>
            </a:r>
          </a:p>
        </p:txBody>
      </p:sp>
      <p:sp>
        <p:nvSpPr>
          <p:cNvPr id="37897" name="Rectangle 10"/>
          <p:cNvSpPr/>
          <p:nvPr>
            <p:custDataLst>
              <p:tags r:id="rId9"/>
            </p:custDataLst>
          </p:nvPr>
        </p:nvSpPr>
        <p:spPr>
          <a:xfrm>
            <a:off x="898843" y="4556760"/>
            <a:ext cx="4537075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的逆矩阵为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，则有</a:t>
            </a:r>
          </a:p>
        </p:txBody>
      </p:sp>
      <p:sp>
        <p:nvSpPr>
          <p:cNvPr id="37899" name="Rectangle 11"/>
          <p:cNvSpPr/>
          <p:nvPr>
            <p:custDataLst>
              <p:tags r:id="rId10"/>
            </p:custDataLst>
          </p:nvPr>
        </p:nvSpPr>
        <p:spPr>
          <a:xfrm>
            <a:off x="3058160" y="3122930"/>
            <a:ext cx="6381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</a:p>
        </p:txBody>
      </p:sp>
      <p:sp>
        <p:nvSpPr>
          <p:cNvPr id="37900" name="Rectangle 12"/>
          <p:cNvSpPr/>
          <p:nvPr>
            <p:custDataLst>
              <p:tags r:id="rId11"/>
            </p:custDataLst>
          </p:nvPr>
        </p:nvSpPr>
        <p:spPr>
          <a:xfrm>
            <a:off x="3737610" y="3122930"/>
            <a:ext cx="1065213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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</a:p>
        </p:txBody>
      </p:sp>
      <p:sp>
        <p:nvSpPr>
          <p:cNvPr id="37901" name="Rectangle 13"/>
          <p:cNvSpPr/>
          <p:nvPr>
            <p:custDataLst>
              <p:tags r:id="rId12"/>
            </p:custDataLst>
          </p:nvPr>
        </p:nvSpPr>
        <p:spPr>
          <a:xfrm>
            <a:off x="4901248" y="3122930"/>
            <a:ext cx="130873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37902" name="Rectangle 14"/>
          <p:cNvSpPr/>
          <p:nvPr>
            <p:custDataLst>
              <p:tags r:id="rId13"/>
            </p:custDataLst>
          </p:nvPr>
        </p:nvSpPr>
        <p:spPr>
          <a:xfrm>
            <a:off x="278765" y="5173345"/>
            <a:ext cx="223139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B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IB</a:t>
            </a: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6" name="Rectangle 15"/>
          <p:cNvSpPr/>
          <p:nvPr>
            <p:custDataLst>
              <p:tags r:id="rId14"/>
            </p:custDataLst>
          </p:nvPr>
        </p:nvSpPr>
        <p:spPr>
          <a:xfrm>
            <a:off x="6730365" y="5173345"/>
            <a:ext cx="1060450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7" name="Rectangle 16"/>
          <p:cNvSpPr/>
          <p:nvPr>
            <p:custDataLst>
              <p:tags r:id="rId15"/>
            </p:custDataLst>
          </p:nvPr>
        </p:nvSpPr>
        <p:spPr>
          <a:xfrm>
            <a:off x="5752465" y="5173345"/>
            <a:ext cx="81470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</a:p>
        </p:txBody>
      </p:sp>
      <p:sp>
        <p:nvSpPr>
          <p:cNvPr id="8" name="Rectangle 17"/>
          <p:cNvSpPr/>
          <p:nvPr>
            <p:custDataLst>
              <p:tags r:id="rId16"/>
            </p:custDataLst>
          </p:nvPr>
        </p:nvSpPr>
        <p:spPr>
          <a:xfrm>
            <a:off x="4190365" y="5173345"/>
            <a:ext cx="14382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</a:p>
        </p:txBody>
      </p:sp>
      <p:sp>
        <p:nvSpPr>
          <p:cNvPr id="9" name="Rectangle 18"/>
          <p:cNvSpPr/>
          <p:nvPr>
            <p:custDataLst>
              <p:tags r:id="rId17"/>
            </p:custDataLst>
          </p:nvPr>
        </p:nvSpPr>
        <p:spPr>
          <a:xfrm>
            <a:off x="2628265" y="5173345"/>
            <a:ext cx="143827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</a:p>
        </p:txBody>
      </p:sp>
      <p:sp>
        <p:nvSpPr>
          <p:cNvPr id="193548" name="Rectangle 12"/>
          <p:cNvSpPr/>
          <p:nvPr>
            <p:custDataLst>
              <p:tags r:id="rId18"/>
            </p:custDataLst>
          </p:nvPr>
        </p:nvSpPr>
        <p:spPr>
          <a:xfrm>
            <a:off x="972185" y="5805170"/>
            <a:ext cx="638238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同理，当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时，结论也成立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3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93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7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79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79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93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35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935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78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379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935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  <p:bldP spid="5" grpId="0" build="p"/>
      <p:bldP spid="193538" grpId="0" build="p"/>
      <p:bldP spid="193540" grpId="0" build="p" advAuto="1000"/>
      <p:bldP spid="193541" grpId="0" bldLvl="0" animBg="1"/>
      <p:bldP spid="193544" grpId="0" build="p" advAuto="1000"/>
      <p:bldP spid="193545" grpId="0" build="p" advAuto="1000"/>
      <p:bldP spid="37897" grpId="0" build="p"/>
      <p:bldP spid="37899" grpId="0" build="p"/>
      <p:bldP spid="37900" grpId="0" build="p"/>
      <p:bldP spid="37901" grpId="0" build="p"/>
      <p:bldP spid="37902" grpId="0" build="p"/>
      <p:bldP spid="6" grpId="0" build="p"/>
      <p:bldP spid="7" grpId="0" build="p"/>
      <p:bldP spid="8" grpId="0" build="p"/>
      <p:bldP spid="9" grpId="0" build="p"/>
      <p:bldP spid="19354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sp>
        <p:nvSpPr>
          <p:cNvPr id="38916" name="Rectangle 13"/>
          <p:cNvSpPr/>
          <p:nvPr>
            <p:custDataLst>
              <p:tags r:id="rId4"/>
            </p:custDataLst>
          </p:nvPr>
        </p:nvSpPr>
        <p:spPr>
          <a:xfrm>
            <a:off x="1260793" y="3716338"/>
            <a:ext cx="66976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注：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只有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、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为方阵才有结论成立</a:t>
            </a:r>
          </a:p>
        </p:txBody>
      </p:sp>
      <p:sp>
        <p:nvSpPr>
          <p:cNvPr id="38917" name="Text Box 5"/>
          <p:cNvSpPr txBox="1"/>
          <p:nvPr>
            <p:custDataLst>
              <p:tags r:id="rId5"/>
            </p:custDataLst>
          </p:nvPr>
        </p:nvSpPr>
        <p:spPr>
          <a:xfrm>
            <a:off x="179705" y="2420938"/>
            <a:ext cx="8686800" cy="103314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这一结论说明，如果要验证矩阵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是矩阵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的逆矩阵，只要验证一个等式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或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即可。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9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  <p:bldP spid="5" grpId="0" build="p"/>
      <p:bldP spid="38916" grpId="0" build="allAtOnce"/>
      <p:bldP spid="3891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</a:t>
            </a:r>
          </a:p>
        </p:txBody>
      </p:sp>
      <p:sp>
        <p:nvSpPr>
          <p:cNvPr id="2" name="Text Box 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678" y="1063625"/>
            <a:ext cx="42481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推论</a:t>
            </a:r>
            <a:r>
              <a:rPr kumimoji="1" lang="en-US" altLang="zh-CN" sz="2800" b="1" kern="1200" cap="none" spc="0" normalizeH="0" baseline="0" noProof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2.1</a:t>
            </a:r>
          </a:p>
        </p:txBody>
      </p:sp>
      <p:sp>
        <p:nvSpPr>
          <p:cNvPr id="4" name="Rectangle 1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618615" y="1002030"/>
            <a:ext cx="706374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均为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阶方阵，且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AB=I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,</a:t>
            </a: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BA=I</a:t>
            </a:r>
            <a:r>
              <a:rPr lang="zh-CN" altLang="en-US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，</a:t>
            </a:r>
          </a:p>
        </p:txBody>
      </p:sp>
      <p:sp>
        <p:nvSpPr>
          <p:cNvPr id="5" name="Rectangle 1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3895" y="1701165"/>
            <a:ext cx="70637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则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baseline="30000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－１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B</a:t>
            </a:r>
          </a:p>
        </p:txBody>
      </p:sp>
      <p:pic>
        <p:nvPicPr>
          <p:cNvPr id="50186" name="Picture 10" descr="BD14710_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179705" y="2276793"/>
            <a:ext cx="8610600" cy="1428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6802" name="Text Box 2"/>
          <p:cNvSpPr txBox="1"/>
          <p:nvPr>
            <p:custDataLst>
              <p:tags r:id="rId5"/>
            </p:custDataLst>
          </p:nvPr>
        </p:nvSpPr>
        <p:spPr>
          <a:xfrm>
            <a:off x="228600" y="2442528"/>
            <a:ext cx="8686800" cy="102552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en-US" altLang="zh-CN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例．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阶矩阵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满足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cE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，证明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为可逆矩阵，并求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为常数，且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0)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76803" name="Rectangle 3"/>
          <p:cNvSpPr/>
          <p:nvPr>
            <p:custDataLst>
              <p:tags r:id="rId6"/>
            </p:custDataLst>
          </p:nvPr>
        </p:nvSpPr>
        <p:spPr>
          <a:xfrm>
            <a:off x="228600" y="4436428"/>
            <a:ext cx="2309813" cy="5127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又因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，故有</a:t>
            </a:r>
          </a:p>
        </p:txBody>
      </p:sp>
      <p:sp>
        <p:nvSpPr>
          <p:cNvPr id="76804" name="Rectangle 4"/>
          <p:cNvSpPr/>
          <p:nvPr>
            <p:custDataLst>
              <p:tags r:id="rId7"/>
            </p:custDataLst>
          </p:nvPr>
        </p:nvSpPr>
        <p:spPr>
          <a:xfrm>
            <a:off x="228600" y="3920490"/>
            <a:ext cx="360807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5" name="Rectangle 5"/>
          <p:cNvSpPr/>
          <p:nvPr>
            <p:custDataLst>
              <p:tags r:id="rId8"/>
            </p:custDataLst>
          </p:nvPr>
        </p:nvSpPr>
        <p:spPr>
          <a:xfrm>
            <a:off x="228600" y="3404553"/>
            <a:ext cx="457835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</a:t>
            </a:r>
            <a:r>
              <a:rPr lang="en-US" altLang="zh-CN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解：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cI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，有</a:t>
            </a:r>
          </a:p>
        </p:txBody>
      </p:sp>
      <p:sp>
        <p:nvSpPr>
          <p:cNvPr id="76806" name="Rectangle 6"/>
          <p:cNvSpPr/>
          <p:nvPr>
            <p:custDataLst>
              <p:tags r:id="rId9"/>
            </p:custDataLst>
          </p:nvPr>
        </p:nvSpPr>
        <p:spPr>
          <a:xfrm>
            <a:off x="228600" y="4952365"/>
            <a:ext cx="434213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        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2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7" name="Rectangle 7"/>
          <p:cNvSpPr/>
          <p:nvPr>
            <p:custDataLst>
              <p:tags r:id="rId10"/>
            </p:custDataLst>
          </p:nvPr>
        </p:nvSpPr>
        <p:spPr>
          <a:xfrm>
            <a:off x="4584700" y="4952365"/>
            <a:ext cx="363347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即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bE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I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76808" name="Text Box 8"/>
          <p:cNvSpPr txBox="1"/>
          <p:nvPr>
            <p:custDataLst>
              <p:tags r:id="rId11"/>
            </p:custDataLst>
          </p:nvPr>
        </p:nvSpPr>
        <p:spPr>
          <a:xfrm>
            <a:off x="228600" y="5468303"/>
            <a:ext cx="5421630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因此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可逆，且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=-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</a:t>
            </a:r>
            <a:r>
              <a:rPr lang="en-US" altLang="zh-CN" sz="2800" b="1" baseline="30000" dirty="0">
                <a:latin typeface="Symbol" panose="05050102010706020507" pitchFamily="18" charset="2"/>
                <a:ea typeface="华文中宋" panose="02010600040101010101" pitchFamily="2" charset="-122"/>
              </a:rPr>
              <a:t>-</a:t>
            </a:r>
            <a:r>
              <a:rPr lang="en-US" altLang="zh-CN" sz="2800" b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bI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68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68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68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68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68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6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2" grpId="0" build="p"/>
      <p:bldP spid="76803" grpId="0" build="p"/>
      <p:bldP spid="76804" grpId="0" build="p"/>
      <p:bldP spid="76805" grpId="0" build="p"/>
      <p:bldP spid="76806" grpId="0" build="p"/>
      <p:bldP spid="76807" grpId="0" build="p"/>
      <p:bldP spid="76808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58877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2.10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90370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2536" name="Object 8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4787900" y="1018858"/>
          <a:ext cx="1871663" cy="1103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Equation" r:id="rId10" imgW="18592800" imgH="10972800" progId="Equation.DSMT4">
                  <p:embed/>
                </p:oleObj>
              </mc:Choice>
              <mc:Fallback>
                <p:oleObj name="Equation" r:id="rId10" imgW="18592800" imgH="10972800" progId="Equation.DSMT4">
                  <p:embed/>
                  <p:pic>
                    <p:nvPicPr>
                      <p:cNvPr id="0" name="图片 308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787900" y="1018858"/>
                        <a:ext cx="1871663" cy="110331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12140" y="220535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331595" y="224790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因为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|=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ad-bc</a:t>
            </a:r>
            <a:r>
              <a:rPr lang="zh-CN" altLang="en-US" b="1" i="1" dirty="0"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的伴随矩阵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2540" name="Object 12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533525" y="2870200"/>
          <a:ext cx="2560638" cy="1219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9" name="Equation" r:id="rId12" imgW="25908000" imgH="11582400" progId="Equation.DSMT4">
                  <p:embed/>
                </p:oleObj>
              </mc:Choice>
              <mc:Fallback>
                <p:oleObj name="Equation" r:id="rId12" imgW="25908000" imgH="11582400" progId="Equation.DSMT4">
                  <p:embed/>
                  <p:pic>
                    <p:nvPicPr>
                      <p:cNvPr id="0" name="图片 3090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33525" y="2870200"/>
                        <a:ext cx="2560638" cy="12192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5" name="Object 17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4071938" y="2895600"/>
          <a:ext cx="1763712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0" name="Equation" r:id="rId14" imgW="18897600" imgH="10972800" progId="Equation.DSMT4">
                  <p:embed/>
                </p:oleObj>
              </mc:Choice>
              <mc:Fallback>
                <p:oleObj name="Equation" r:id="rId14" imgW="18897600" imgH="10972800" progId="Equation.DSMT4">
                  <p:embed/>
                  <p:pic>
                    <p:nvPicPr>
                      <p:cNvPr id="0" name="图片 3087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071938" y="2895600"/>
                        <a:ext cx="1763712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1332230" y="414655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当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i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|</a:t>
            </a:r>
            <a:r>
              <a:rPr lang="en-US" altLang="zh-CN" b="1" noProof="0" dirty="0">
                <a:solidFill>
                  <a:schemeClr val="tx1"/>
                </a:solidFill>
                <a:ea typeface="华文中宋" panose="02010600040101010101" pitchFamily="2" charset="-122"/>
                <a:sym typeface="Symbol" panose="05050102010706020507" pitchFamily="18" charset="2"/>
              </a:rPr>
              <a:t> 0 </a:t>
            </a:r>
            <a:r>
              <a:rPr lang="zh-CN" altLang="en-US" b="1" noProof="0" dirty="0">
                <a:solidFill>
                  <a:schemeClr val="tx1"/>
                </a:solidFill>
                <a:ea typeface="华文中宋" panose="02010600040101010101" pitchFamily="2" charset="-122"/>
                <a:sym typeface="Symbol" panose="05050102010706020507" pitchFamily="18" charset="2"/>
              </a:rPr>
              <a:t>，有：</a:t>
            </a: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1907540" y="4914265"/>
          <a:ext cx="1964055" cy="10947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1" name="Equation" r:id="rId16" imgW="800100" imgH="444500" progId="Equation.DSMT4">
                  <p:embed/>
                </p:oleObj>
              </mc:Choice>
              <mc:Fallback>
                <p:oleObj name="Equation" r:id="rId16" imgW="800100" imgH="4445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907540" y="4914265"/>
                        <a:ext cx="1964055" cy="109474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-2147482162"/>
          <p:cNvGraphicFramePr>
            <a:graphicFrameLocks noChangeAspect="1"/>
          </p:cNvGraphicFramePr>
          <p:nvPr/>
        </p:nvGraphicFramePr>
        <p:xfrm>
          <a:off x="3872230" y="4797425"/>
          <a:ext cx="3381375" cy="12115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Equation" r:id="rId18" imgW="30480000" imgH="10972800" progId="Equation.DSMT4">
                  <p:embed/>
                </p:oleObj>
              </mc:Choice>
              <mc:Fallback>
                <p:oleObj name="Equation" r:id="rId18" imgW="30480000" imgH="1097280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872230" y="4797425"/>
                        <a:ext cx="3381375" cy="121158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5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5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5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5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0" bldLvl="0" animBg="1"/>
      <p:bldP spid="64514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85737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2.11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18615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的逆矩阵，其中</a:t>
            </a: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12140" y="263588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331595" y="271399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因为</a:t>
            </a:r>
            <a:endParaRPr kumimoji="1" lang="zh-CN" altLang="en-US" b="1" kern="1200" cap="none" spc="0" normalizeH="0" baseline="0" noProof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2" name="对象 -2147482161"/>
          <p:cNvGraphicFramePr>
            <a:graphicFrameLocks noChangeAspect="1"/>
          </p:cNvGraphicFramePr>
          <p:nvPr/>
        </p:nvGraphicFramePr>
        <p:xfrm>
          <a:off x="5723255" y="836930"/>
          <a:ext cx="1978660" cy="14357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name="Equation" r:id="rId7" imgW="23469600" imgH="17068800" progId="Equation.DSMT4">
                  <p:embed/>
                </p:oleObj>
              </mc:Choice>
              <mc:Fallback>
                <p:oleObj name="Equation" r:id="rId7" imgW="234696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723255" y="836930"/>
                        <a:ext cx="1978660" cy="14357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-2147482159"/>
          <p:cNvGraphicFramePr>
            <a:graphicFrameLocks noChangeAspect="1"/>
          </p:cNvGraphicFramePr>
          <p:nvPr/>
        </p:nvGraphicFramePr>
        <p:xfrm>
          <a:off x="2592388" y="2282825"/>
          <a:ext cx="4976812" cy="1365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Equation" r:id="rId9" imgW="61874400" imgH="17068800" progId="Equation.DSMT4">
                  <p:embed/>
                </p:oleObj>
              </mc:Choice>
              <mc:Fallback>
                <p:oleObj name="Equation" r:id="rId9" imgW="61874400" imgH="17068800" progId="Equation.DSMT4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592388" y="2282825"/>
                        <a:ext cx="4976812" cy="13652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2"/>
          <p:cNvSpPr txBox="1">
            <a:spLocks noChangeArrowheads="1"/>
          </p:cNvSpPr>
          <p:nvPr/>
        </p:nvSpPr>
        <p:spPr bwMode="auto">
          <a:xfrm>
            <a:off x="1332230" y="365760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即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可逆，又因为</a:t>
            </a:r>
          </a:p>
        </p:txBody>
      </p:sp>
      <p:graphicFrame>
        <p:nvGraphicFramePr>
          <p:cNvPr id="9" name="对象 -2147482157"/>
          <p:cNvGraphicFramePr>
            <a:graphicFrameLocks noChangeAspect="1"/>
          </p:cNvGraphicFramePr>
          <p:nvPr/>
        </p:nvGraphicFramePr>
        <p:xfrm>
          <a:off x="549275" y="4292600"/>
          <a:ext cx="8110538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3" name="Equation" r:id="rId11" imgW="77114400" imgH="10972800" progId="Equation.DSMT4">
                  <p:embed/>
                </p:oleObj>
              </mc:Choice>
              <mc:Fallback>
                <p:oleObj name="Equation" r:id="rId11" imgW="77114400" imgH="109728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49275" y="4292600"/>
                        <a:ext cx="8110538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-2147482156"/>
          <p:cNvGraphicFramePr>
            <a:graphicFrameLocks noChangeAspect="1"/>
          </p:cNvGraphicFramePr>
          <p:nvPr/>
        </p:nvGraphicFramePr>
        <p:xfrm>
          <a:off x="549275" y="5518150"/>
          <a:ext cx="8169275" cy="1155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4" name="Equation" r:id="rId13" imgW="77724000" imgH="10972800" progId="Equation.DSMT4">
                  <p:embed/>
                </p:oleObj>
              </mc:Choice>
              <mc:Fallback>
                <p:oleObj name="Equation" r:id="rId13" imgW="77724000" imgH="109728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49275" y="5518150"/>
                        <a:ext cx="8169275" cy="11557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0" bldLvl="0" animBg="1"/>
      <p:bldP spid="64514" grpId="1" animBg="1"/>
      <p:bldP spid="6" grpId="0" animBg="1"/>
      <p:bldP spid="6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逆矩阵的计算</a:t>
            </a:r>
          </a:p>
        </p:txBody>
      </p:sp>
      <p:sp>
        <p:nvSpPr>
          <p:cNvPr id="3" name="矩形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67767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2.11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18615" y="1281430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求矩阵</a:t>
            </a:r>
            <a:r>
              <a:rPr lang="zh-CN" altLang="en-US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b="1" i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b="1" noProof="0">
                <a:solidFill>
                  <a:schemeClr val="tx1"/>
                </a:solidFill>
                <a:ea typeface="华文中宋" panose="02010600040101010101" pitchFamily="2" charset="-122"/>
                <a:sym typeface="+mn-ea"/>
              </a:rPr>
              <a:t>的逆矩阵，其中</a:t>
            </a:r>
          </a:p>
        </p:txBody>
      </p:sp>
      <p:graphicFrame>
        <p:nvGraphicFramePr>
          <p:cNvPr id="2" name="对象 -2147482161"/>
          <p:cNvGraphicFramePr>
            <a:graphicFrameLocks noChangeAspect="1"/>
          </p:cNvGraphicFramePr>
          <p:nvPr/>
        </p:nvGraphicFramePr>
        <p:xfrm>
          <a:off x="5723255" y="836930"/>
          <a:ext cx="1978660" cy="14357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5" name="Equation" r:id="rId6" imgW="23469600" imgH="17068800" progId="Equation.DSMT4">
                  <p:embed/>
                </p:oleObj>
              </mc:Choice>
              <mc:Fallback>
                <p:oleObj name="Equation" r:id="rId6" imgW="234696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723255" y="836930"/>
                        <a:ext cx="1978660" cy="14357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2"/>
          <p:cNvSpPr txBox="1">
            <a:spLocks noChangeArrowheads="1"/>
          </p:cNvSpPr>
          <p:nvPr/>
        </p:nvSpPr>
        <p:spPr bwMode="auto">
          <a:xfrm>
            <a:off x="899795" y="3932555"/>
            <a:ext cx="53822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故</a:t>
            </a:r>
          </a:p>
        </p:txBody>
      </p:sp>
      <p:graphicFrame>
        <p:nvGraphicFramePr>
          <p:cNvPr id="15" name="对象 14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1455738" y="3495675"/>
          <a:ext cx="5284787" cy="151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Equation" r:id="rId8" imgW="59740800" imgH="17068800" progId="Equation.DSMT4">
                  <p:embed/>
                </p:oleObj>
              </mc:Choice>
              <mc:Fallback>
                <p:oleObj name="Equation" r:id="rId8" imgW="59740800" imgH="17068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455738" y="3495675"/>
                        <a:ext cx="5284787" cy="151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-2147482152"/>
          <p:cNvGraphicFramePr>
            <a:graphicFrameLocks noChangeAspect="1"/>
          </p:cNvGraphicFramePr>
          <p:nvPr/>
        </p:nvGraphicFramePr>
        <p:xfrm>
          <a:off x="1017588" y="5153025"/>
          <a:ext cx="6475412" cy="155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7" name="Equation" r:id="rId10" imgW="70713600" imgH="17068800" progId="Equation.DSMT4">
                  <p:embed/>
                </p:oleObj>
              </mc:Choice>
              <mc:Fallback>
                <p:oleObj name="Equation" r:id="rId10" imgW="70713600" imgH="17068800" progId="Equation.DSMT4">
                  <p:embed/>
                  <p:pic>
                    <p:nvPicPr>
                      <p:cNvPr id="0" name="图片 1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17588" y="5153025"/>
                        <a:ext cx="6475412" cy="15525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-2147482155"/>
          <p:cNvGraphicFramePr>
            <a:graphicFrameLocks noChangeAspect="1"/>
          </p:cNvGraphicFramePr>
          <p:nvPr/>
        </p:nvGraphicFramePr>
        <p:xfrm>
          <a:off x="752475" y="2339975"/>
          <a:ext cx="7461250" cy="1089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8" name="Equation" r:id="rId12" imgW="75285600" imgH="10972800" progId="Equation.DSMT4">
                  <p:embed/>
                </p:oleObj>
              </mc:Choice>
              <mc:Fallback>
                <p:oleObj name="Equation" r:id="rId12" imgW="75285600" imgH="10972800" progId="Equation.DSMT4">
                  <p:embed/>
                  <p:pic>
                    <p:nvPicPr>
                      <p:cNvPr id="0" name="图片 16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52475" y="2339975"/>
                        <a:ext cx="7461250" cy="10890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1" animBg="1"/>
      <p:bldP spid="14" grpId="0" animBg="1"/>
      <p:bldP spid="14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实践拓展问题</a:t>
            </a:r>
            <a:r>
              <a:rPr 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：逆矩阵的应用</a:t>
            </a:r>
            <a:r>
              <a:rPr lang="en-US" alt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——</a:t>
            </a: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希尔密码</a:t>
            </a:r>
          </a:p>
        </p:txBody>
      </p:sp>
      <p:sp>
        <p:nvSpPr>
          <p:cNvPr id="175114" name="Rectangle 10"/>
          <p:cNvSpPr/>
          <p:nvPr>
            <p:custDataLst>
              <p:tags r:id="rId1"/>
            </p:custDataLst>
          </p:nvPr>
        </p:nvSpPr>
        <p:spPr>
          <a:xfrm>
            <a:off x="467995" y="825500"/>
            <a:ext cx="8115300" cy="33229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希尔密码是加密和解密的一种方法，就是利用可逆的密钥矩阵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在模26的意义下进行线性变换，其基本思想是将一个明文字母通过线性变换，将它们转换为一个密文字母，解密只要作一次逆变换就可以了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7" name="Rectangle 10"/>
          <p:cNvSpPr/>
          <p:nvPr>
            <p:custDataLst>
              <p:tags r:id="rId2"/>
            </p:custDataLst>
          </p:nvPr>
        </p:nvSpPr>
        <p:spPr>
          <a:xfrm>
            <a:off x="395605" y="4221480"/>
            <a:ext cx="8115300" cy="13836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请阅读课本关于希尔密码的加密过程，完成希尔密码的加密和解密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5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4" grpId="0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30465" y="1628041"/>
            <a:ext cx="7586663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通过实例抽象出逆矩阵的定义</a:t>
            </a:r>
          </a:p>
        </p:txBody>
      </p:sp>
      <p:sp>
        <p:nvSpPr>
          <p:cNvPr id="44035" name="Line 12"/>
          <p:cNvSpPr>
            <a:spLocks noChangeShapeType="1"/>
          </p:cNvSpPr>
          <p:nvPr/>
        </p:nvSpPr>
        <p:spPr bwMode="auto">
          <a:xfrm>
            <a:off x="0" y="836613"/>
            <a:ext cx="9144000" cy="0"/>
          </a:xfrm>
          <a:prstGeom prst="line">
            <a:avLst/>
          </a:prstGeom>
          <a:noFill/>
          <a:ln w="25400">
            <a:solidFill>
              <a:srgbClr val="C0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44037" name="Text Box 2"/>
          <p:cNvSpPr txBox="1">
            <a:spLocks noChangeArrowheads="1"/>
          </p:cNvSpPr>
          <p:nvPr/>
        </p:nvSpPr>
        <p:spPr bwMode="auto">
          <a:xfrm>
            <a:off x="1835785" y="185120"/>
            <a:ext cx="5407025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30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</a:t>
            </a: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小结</a:t>
            </a:r>
          </a:p>
        </p:txBody>
      </p:sp>
      <p:sp>
        <p:nvSpPr>
          <p:cNvPr id="2" name="爆炸形: 8 pt  1"/>
          <p:cNvSpPr/>
          <p:nvPr/>
        </p:nvSpPr>
        <p:spPr bwMode="auto">
          <a:xfrm>
            <a:off x="684070" y="178134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997141" y="2345591"/>
            <a:ext cx="7303839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逆矩阵的定义、性质和求法.</a:t>
            </a:r>
          </a:p>
        </p:txBody>
      </p:sp>
      <p:sp>
        <p:nvSpPr>
          <p:cNvPr id="28" name="爆炸形: 8 pt  27"/>
          <p:cNvSpPr/>
          <p:nvPr/>
        </p:nvSpPr>
        <p:spPr bwMode="auto">
          <a:xfrm>
            <a:off x="676632" y="24846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9" name="Rectangle 1"/>
          <p:cNvSpPr>
            <a:spLocks noChangeArrowheads="1"/>
          </p:cNvSpPr>
          <p:nvPr/>
        </p:nvSpPr>
        <p:spPr bwMode="auto">
          <a:xfrm>
            <a:off x="997141" y="3109814"/>
            <a:ext cx="758666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逆矩阵的求法及运用.</a:t>
            </a:r>
          </a:p>
        </p:txBody>
      </p:sp>
      <p:sp>
        <p:nvSpPr>
          <p:cNvPr id="34" name="爆炸形: 8 pt  33"/>
          <p:cNvSpPr/>
          <p:nvPr/>
        </p:nvSpPr>
        <p:spPr bwMode="auto">
          <a:xfrm>
            <a:off x="696219" y="323088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4" name="Rectangle 1"/>
          <p:cNvSpPr>
            <a:spLocks noChangeArrowheads="1"/>
          </p:cNvSpPr>
          <p:nvPr/>
        </p:nvSpPr>
        <p:spPr bwMode="auto">
          <a:xfrm>
            <a:off x="957580" y="3813175"/>
            <a:ext cx="8362315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利用逆矩阵解决Hill密码问题，完成应用练习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6" name="爆炸形: 8 pt  25"/>
          <p:cNvSpPr/>
          <p:nvPr/>
        </p:nvSpPr>
        <p:spPr bwMode="auto">
          <a:xfrm>
            <a:off x="678738" y="3842297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7" name="Rectangle 1"/>
          <p:cNvSpPr>
            <a:spLocks noChangeArrowheads="1"/>
          </p:cNvSpPr>
          <p:nvPr/>
        </p:nvSpPr>
        <p:spPr bwMode="auto">
          <a:xfrm>
            <a:off x="951104" y="4457284"/>
            <a:ext cx="7745412" cy="86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拓展问题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你知道逆矩阵在数学上和实际问题中还有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                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哪些应用吗？</a:t>
            </a:r>
          </a:p>
        </p:txBody>
      </p:sp>
      <p:sp>
        <p:nvSpPr>
          <p:cNvPr id="30" name="爆炸形: 8 pt  29"/>
          <p:cNvSpPr/>
          <p:nvPr/>
        </p:nvSpPr>
        <p:spPr bwMode="auto">
          <a:xfrm>
            <a:off x="661601" y="44573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pic>
        <p:nvPicPr>
          <p:cNvPr id="44059" name="Picture 11"/>
          <p:cNvPicPr>
            <a:picLocks noChangeAspect="1" noChangeArrowheads="1" noCrop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42863" y="-9525"/>
            <a:ext cx="1014413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2" grpId="0"/>
      <p:bldP spid="29" grpId="0"/>
      <p:bldP spid="24" grpId="0"/>
      <p:bldP spid="2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47fcc34-08aa-4d11-ab19-1f61cfe44d19"/>
  <p:tag name="COMMONDATA" val="eyJoZGlkIjoiZmRhY2I1Yzc3MDRmODQ3NWQxMWUzOTBiYTliNDAwZ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UNIT_PLACING_PICTURE_USER_VIEWPORT" val="{&quot;height&quot;:700,&quot;width&quot;:5400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华文中宋"/>
        <a:cs typeface=""/>
      </a:majorFont>
      <a:minorFont>
        <a:latin typeface="Times New Roman"/>
        <a:ea typeface="华文中宋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华文中宋"/>
        <a:cs typeface=""/>
      </a:majorFont>
      <a:minorFont>
        <a:latin typeface="Arial"/>
        <a:ea typeface="华文中宋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 w="9525">
          <a:noFill/>
        </a:ln>
      </a:spPr>
      <a:bodyPr lIns="0" tIns="0" rIns="0" bIns="0">
        <a:spAutoFit/>
      </a:bodyPr>
      <a:lstStyle>
        <a:defPPr>
          <a:lnSpc>
            <a:spcPct val="120000"/>
          </a:lnSpc>
          <a:defRPr lang="zh-CN" altLang="en-US" sz="2600" b="1" dirty="0">
            <a:latin typeface="华文中宋" panose="02010600040101010101" pitchFamily="2" charset="-122"/>
            <a:ea typeface="华文中宋" panose="02010600040101010101" pitchFamily="2" charset="-122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0</TotalTime>
  <Words>1769</Words>
  <Application>Microsoft Macintosh PowerPoint</Application>
  <PresentationFormat>On-screen Show (4:3)</PresentationFormat>
  <Paragraphs>220</Paragraphs>
  <Slides>23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7" baseType="lpstr">
      <vt:lpstr>微软雅黑</vt:lpstr>
      <vt:lpstr>华文中宋</vt:lpstr>
      <vt:lpstr>Arial</vt:lpstr>
      <vt:lpstr>Arial Black</vt:lpstr>
      <vt:lpstr>Calibri</vt:lpstr>
      <vt:lpstr>Symbol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Equation.3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1141</cp:revision>
  <dcterms:created xsi:type="dcterms:W3CDTF">2012-06-17T01:12:00Z</dcterms:created>
  <dcterms:modified xsi:type="dcterms:W3CDTF">2026-10-13T05:38:31Z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9BC41F0822344354A71AE6278D199AA9_13</vt:lpwstr>
  </property>
  <property fmtid="{D5CDD505-2E9C-101B-9397-08002B2CF9AE}" pid="3" name="KSOProductBuildVer">
    <vt:lpwstr>2052-12.1.0.15120</vt:lpwstr>
  </property>
</Properties>
</file>