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  <p:sldMasterId id="2147483676" r:id="rId3"/>
    <p:sldMasterId id="2147483688" r:id="rId4"/>
  </p:sldMasterIdLst>
  <p:notesMasterIdLst>
    <p:notesMasterId r:id="rId40"/>
  </p:notesMasterIdLst>
  <p:handoutMasterIdLst>
    <p:handoutMasterId r:id="rId41"/>
  </p:handoutMasterIdLst>
  <p:sldIdLst>
    <p:sldId id="1129" r:id="rId5"/>
    <p:sldId id="1516" r:id="rId6"/>
    <p:sldId id="1414" r:id="rId7"/>
    <p:sldId id="1472" r:id="rId8"/>
    <p:sldId id="1517" r:id="rId9"/>
    <p:sldId id="1518" r:id="rId10"/>
    <p:sldId id="1519" r:id="rId11"/>
    <p:sldId id="1520" r:id="rId12"/>
    <p:sldId id="1473" r:id="rId13"/>
    <p:sldId id="1415" r:id="rId14"/>
    <p:sldId id="1475" r:id="rId15"/>
    <p:sldId id="1476" r:id="rId16"/>
    <p:sldId id="1477" r:id="rId17"/>
    <p:sldId id="1478" r:id="rId18"/>
    <p:sldId id="1481" r:id="rId19"/>
    <p:sldId id="1482" r:id="rId20"/>
    <p:sldId id="1484" r:id="rId21"/>
    <p:sldId id="1487" r:id="rId22"/>
    <p:sldId id="1488" r:id="rId23"/>
    <p:sldId id="1489" r:id="rId24"/>
    <p:sldId id="1491" r:id="rId25"/>
    <p:sldId id="1509" r:id="rId26"/>
    <p:sldId id="1492" r:id="rId27"/>
    <p:sldId id="1493" r:id="rId28"/>
    <p:sldId id="1494" r:id="rId29"/>
    <p:sldId id="1522" r:id="rId30"/>
    <p:sldId id="1523" r:id="rId31"/>
    <p:sldId id="1521" r:id="rId32"/>
    <p:sldId id="1524" r:id="rId33"/>
    <p:sldId id="1525" r:id="rId34"/>
    <p:sldId id="1526" r:id="rId35"/>
    <p:sldId id="1527" r:id="rId36"/>
    <p:sldId id="1528" r:id="rId37"/>
    <p:sldId id="1495" r:id="rId38"/>
    <p:sldId id="1470" r:id="rId39"/>
  </p:sldIdLst>
  <p:sldSz cx="9144000" cy="6858000" type="screen4x3"/>
  <p:notesSz cx="6858000" cy="9144000"/>
  <p:custDataLst>
    <p:tags r:id="rId42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9" userDrawn="1">
          <p15:clr>
            <a:srgbClr val="A4A3A4"/>
          </p15:clr>
        </p15:guide>
        <p15:guide id="2" pos="29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BABA"/>
    <a:srgbClr val="C00000"/>
    <a:srgbClr val="3333FF"/>
    <a:srgbClr val="0033CC"/>
    <a:srgbClr val="0000FF"/>
    <a:srgbClr val="C7E6A4"/>
    <a:srgbClr val="FF0066"/>
    <a:srgbClr val="6666FF"/>
    <a:srgbClr val="969696"/>
    <a:srgbClr val="2B2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301" autoAdjust="0"/>
    <p:restoredTop sz="93807" autoAdjust="0"/>
  </p:normalViewPr>
  <p:slideViewPr>
    <p:cSldViewPr showGuides="1">
      <p:cViewPr varScale="1">
        <p:scale>
          <a:sx n="67" d="100"/>
          <a:sy n="67" d="100"/>
        </p:scale>
        <p:origin x="192" y="1464"/>
      </p:cViewPr>
      <p:guideLst>
        <p:guide orient="horz" pos="2129"/>
        <p:guide pos="297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2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gs" Target="tags/tag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Relationship Id="rId9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image" Target="../media/image30.emf"/><Relationship Id="rId3" Type="http://schemas.openxmlformats.org/officeDocument/2006/relationships/image" Target="../media/image20.emf"/><Relationship Id="rId7" Type="http://schemas.openxmlformats.org/officeDocument/2006/relationships/image" Target="../media/image24.emf"/><Relationship Id="rId12" Type="http://schemas.openxmlformats.org/officeDocument/2006/relationships/image" Target="../media/image29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Relationship Id="rId6" Type="http://schemas.openxmlformats.org/officeDocument/2006/relationships/image" Target="../media/image23.emf"/><Relationship Id="rId11" Type="http://schemas.openxmlformats.org/officeDocument/2006/relationships/image" Target="../media/image28.emf"/><Relationship Id="rId5" Type="http://schemas.openxmlformats.org/officeDocument/2006/relationships/image" Target="../media/image22.emf"/><Relationship Id="rId10" Type="http://schemas.openxmlformats.org/officeDocument/2006/relationships/image" Target="../media/image27.emf"/><Relationship Id="rId4" Type="http://schemas.openxmlformats.org/officeDocument/2006/relationships/image" Target="../media/image21.emf"/><Relationship Id="rId9" Type="http://schemas.openxmlformats.org/officeDocument/2006/relationships/image" Target="../media/image26.emf"/><Relationship Id="rId14" Type="http://schemas.openxmlformats.org/officeDocument/2006/relationships/image" Target="../media/image3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4" Type="http://schemas.openxmlformats.org/officeDocument/2006/relationships/image" Target="../media/image45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4" Type="http://schemas.openxmlformats.org/officeDocument/2006/relationships/image" Target="../media/image5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4" Type="http://schemas.openxmlformats.org/officeDocument/2006/relationships/image" Target="../media/image6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image" Target="../media/image63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67.emf"/><Relationship Id="rId1" Type="http://schemas.openxmlformats.org/officeDocument/2006/relationships/image" Target="../media/image66.emf"/><Relationship Id="rId6" Type="http://schemas.openxmlformats.org/officeDocument/2006/relationships/image" Target="../media/image71.emf"/><Relationship Id="rId5" Type="http://schemas.openxmlformats.org/officeDocument/2006/relationships/image" Target="../media/image70.emf"/><Relationship Id="rId4" Type="http://schemas.openxmlformats.org/officeDocument/2006/relationships/image" Target="../media/image69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image" Target="../media/image73.emf"/><Relationship Id="rId1" Type="http://schemas.openxmlformats.org/officeDocument/2006/relationships/image" Target="../media/image72.emf"/><Relationship Id="rId4" Type="http://schemas.openxmlformats.org/officeDocument/2006/relationships/image" Target="../media/image75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image" Target="../media/image76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image" Target="../media/image76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image" Target="../media/image79.emf"/><Relationship Id="rId1" Type="http://schemas.openxmlformats.org/officeDocument/2006/relationships/image" Target="../media/image78.emf"/><Relationship Id="rId4" Type="http://schemas.openxmlformats.org/officeDocument/2006/relationships/image" Target="../media/image81.e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3" Type="http://schemas.openxmlformats.org/officeDocument/2006/relationships/image" Target="../media/image84.emf"/><Relationship Id="rId7" Type="http://schemas.openxmlformats.org/officeDocument/2006/relationships/image" Target="../media/image88.emf"/><Relationship Id="rId2" Type="http://schemas.openxmlformats.org/officeDocument/2006/relationships/image" Target="../media/image83.emf"/><Relationship Id="rId1" Type="http://schemas.openxmlformats.org/officeDocument/2006/relationships/image" Target="../media/image82.emf"/><Relationship Id="rId6" Type="http://schemas.openxmlformats.org/officeDocument/2006/relationships/image" Target="../media/image87.emf"/><Relationship Id="rId11" Type="http://schemas.openxmlformats.org/officeDocument/2006/relationships/image" Target="../media/image92.emf"/><Relationship Id="rId5" Type="http://schemas.openxmlformats.org/officeDocument/2006/relationships/image" Target="../media/image86.emf"/><Relationship Id="rId10" Type="http://schemas.openxmlformats.org/officeDocument/2006/relationships/image" Target="../media/image91.emf"/><Relationship Id="rId4" Type="http://schemas.openxmlformats.org/officeDocument/2006/relationships/image" Target="../media/image85.emf"/><Relationship Id="rId9" Type="http://schemas.openxmlformats.org/officeDocument/2006/relationships/image" Target="../media/image9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ea typeface="华文中宋" panose="0201060004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华文中宋" panose="02010600040101010101" pitchFamily="2" charset="-122"/>
              </a:rPr>
              <a:t>2026/10/19</a:t>
            </a:fld>
            <a:endParaRPr lang="zh-CN" altLang="en-US">
              <a:ea typeface="华文中宋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ea typeface="华文中宋" panose="0201060004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华文中宋" panose="02010600040101010101" pitchFamily="2" charset="-122"/>
              </a:rPr>
              <a:t>‹#›</a:t>
            </a:fld>
            <a:endParaRPr lang="zh-CN" altLang="en-US">
              <a:ea typeface="华文中宋" panose="020106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fld id="{D2B7DC5F-3EFA-4251-8C20-6E9EC7819C7B}" type="datetimeFigureOut">
              <a:rPr lang="zh-CN" altLang="en-US"/>
              <a:t>2026/10/19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fld id="{5EECF8E6-7687-4417-B0A4-6F969A7F5643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华文中宋" panose="0201060004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华文中宋" panose="0201060004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华文中宋" panose="0201060004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华文中宋" panose="0201060004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华文中宋" panose="0201060004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5C615-27DC-4BF8-A59E-3AA49FB0D5E8}" type="slidenum">
              <a:rPr lang="zh-CN" altLang="en-US">
                <a:ea typeface="华文中宋" panose="02010600040101010101" pitchFamily="2" charset="-122"/>
              </a:rPr>
              <a:t>‹#›</a:t>
            </a:fld>
            <a:endParaRPr lang="en-US" sz="180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>
            <a:lvl1pPr>
              <a:defRPr sz="2800" u="none" strike="noStrike" kern="0" cap="none" spc="0" normalizeH="0">
                <a:ea typeface="华文中宋" panose="02010600040101010101" pitchFamily="2" charset="-122"/>
              </a:defRPr>
            </a:lvl1pPr>
            <a:lvl2pPr>
              <a:defRPr sz="2800" u="none" strike="noStrike" kern="0" cap="none" spc="0" normalizeH="0">
                <a:ea typeface="华文中宋" panose="02010600040101010101" pitchFamily="2" charset="-122"/>
              </a:defRPr>
            </a:lvl2pPr>
            <a:lvl3pPr>
              <a:defRPr sz="2800" u="none" strike="noStrike" kern="0" cap="none" spc="0" normalizeH="0">
                <a:ea typeface="华文中宋" panose="02010600040101010101" pitchFamily="2" charset="-122"/>
              </a:defRPr>
            </a:lvl3pPr>
            <a:lvl4pPr>
              <a:defRPr sz="2800" u="none" strike="noStrike" kern="0" cap="none" spc="0" normalizeH="0">
                <a:ea typeface="华文中宋" panose="02010600040101010101" pitchFamily="2" charset="-122"/>
              </a:defRPr>
            </a:lvl4pPr>
            <a:lvl5pPr>
              <a:defRPr sz="2800" u="none" strike="noStrike" kern="0" cap="none" spc="0" normalizeH="0"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>
            <a:lvl1pPr>
              <a:defRPr sz="2800" u="none" strike="noStrike" kern="0" cap="none" spc="0" normalizeH="0">
                <a:solidFill>
                  <a:srgbClr val="0000FF"/>
                </a:solidFill>
                <a:uFillTx/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B0E9A-86DB-4D24-B690-7EB825DC079D}" type="slidenum">
              <a:rPr lang="zh-CN" altLang="en-US">
                <a:ea typeface="华文中宋" panose="02010600040101010101" pitchFamily="2" charset="-122"/>
              </a:rPr>
              <a:t>‹#›</a:t>
            </a:fld>
            <a:endParaRPr lang="en-US" sz="180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230BC-C4BF-4D06-8DEA-E30815249296}" type="slidenum">
              <a:rPr lang="zh-CN" altLang="en-US">
                <a:ea typeface="华文中宋" panose="02010600040101010101" pitchFamily="2" charset="-122"/>
              </a:rPr>
              <a:t>‹#›</a:t>
            </a:fld>
            <a:endParaRPr lang="en-US" sz="180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>
                <a:ea typeface="华文中宋" panose="02010600040101010101" pitchFamily="2" charset="-122"/>
              </a:defRPr>
            </a:lvl3pPr>
            <a:lvl4pPr>
              <a:defRPr sz="1800">
                <a:ea typeface="华文中宋" panose="02010600040101010101" pitchFamily="2" charset="-122"/>
              </a:defRPr>
            </a:lvl4pPr>
            <a:lvl5pPr>
              <a:defRPr sz="1800">
                <a:ea typeface="华文中宋" panose="0201060004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>
                <a:ea typeface="华文中宋" panose="02010600040101010101" pitchFamily="2" charset="-122"/>
              </a:defRPr>
            </a:lvl3pPr>
            <a:lvl4pPr>
              <a:defRPr sz="1800">
                <a:ea typeface="华文中宋" panose="02010600040101010101" pitchFamily="2" charset="-122"/>
              </a:defRPr>
            </a:lvl4pPr>
            <a:lvl5pPr>
              <a:defRPr sz="1800">
                <a:ea typeface="华文中宋" panose="0201060004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8A078-8F53-4DD8-99BE-6937C29878CC}" type="slidenum">
              <a:rPr lang="zh-CN" altLang="en-US">
                <a:ea typeface="华文中宋" panose="02010600040101010101" pitchFamily="2" charset="-122"/>
              </a:rPr>
              <a:t>‹#›</a:t>
            </a:fld>
            <a:endParaRPr lang="en-US" sz="180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ea typeface="华文中宋" panose="02010600040101010101" pitchFamily="2" charset="-122"/>
              </a:defRPr>
            </a:lvl3pPr>
            <a:lvl4pPr>
              <a:defRPr sz="1600">
                <a:ea typeface="华文中宋" panose="02010600040101010101" pitchFamily="2" charset="-122"/>
              </a:defRPr>
            </a:lvl4pPr>
            <a:lvl5pPr>
              <a:defRPr sz="1600">
                <a:ea typeface="华文中宋" panose="0201060004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ea typeface="华文中宋" panose="02010600040101010101" pitchFamily="2" charset="-122"/>
              </a:defRPr>
            </a:lvl3pPr>
            <a:lvl4pPr>
              <a:defRPr sz="1600">
                <a:ea typeface="华文中宋" panose="02010600040101010101" pitchFamily="2" charset="-122"/>
              </a:defRPr>
            </a:lvl4pPr>
            <a:lvl5pPr>
              <a:defRPr sz="1600">
                <a:ea typeface="华文中宋" panose="0201060004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4D90F-E331-47DC-92F1-E62695D6C2EE}" type="slidenum">
              <a:rPr lang="zh-CN" altLang="en-US">
                <a:ea typeface="华文中宋" panose="02010600040101010101" pitchFamily="2" charset="-122"/>
              </a:rPr>
              <a:t>‹#›</a:t>
            </a:fld>
            <a:endParaRPr lang="en-US" sz="180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>
                <a:ea typeface="华文中宋" panose="02010600040101010101" pitchFamily="2" charset="-122"/>
              </a:defRPr>
            </a:lvl3pPr>
            <a:lvl4pPr>
              <a:defRPr sz="2000">
                <a:ea typeface="华文中宋" panose="02010600040101010101" pitchFamily="2" charset="-122"/>
              </a:defRPr>
            </a:lvl4pPr>
            <a:lvl5pPr>
              <a:defRPr sz="2000">
                <a:ea typeface="华文中宋" panose="02010600040101010101" pitchFamily="2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5CD7D-56B0-4C13-84D6-F0DB2E473BD9}" type="slidenum">
              <a:rPr lang="zh-CN" altLang="en-US">
                <a:ea typeface="华文中宋" panose="02010600040101010101" pitchFamily="2" charset="-122"/>
              </a:rPr>
              <a:t>‹#›</a:t>
            </a:fld>
            <a:endParaRPr lang="en-US" sz="180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F3216-45D4-4224-B7C6-5D94FF958E90}" type="slidenum">
              <a:rPr lang="zh-CN" altLang="en-US">
                <a:ea typeface="华文中宋" panose="02010600040101010101" pitchFamily="2" charset="-122"/>
              </a:rPr>
              <a:t>‹#›</a:t>
            </a:fld>
            <a:endParaRPr lang="en-US" sz="180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 vert="eaVert"/>
          <a:lstStyle>
            <a:lvl3pPr>
              <a:defRPr>
                <a:ea typeface="华文中宋" panose="02010600040101010101" pitchFamily="2" charset="-122"/>
              </a:defRPr>
            </a:lvl3pPr>
            <a:lvl4pPr>
              <a:defRPr>
                <a:ea typeface="华文中宋" panose="02010600040101010101" pitchFamily="2" charset="-122"/>
              </a:defRPr>
            </a:lvl4pPr>
            <a:lvl5pPr>
              <a:defRPr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28436-CF71-46CC-B37F-786C39E55141}" type="slidenum">
              <a:rPr lang="zh-CN" altLang="en-US">
                <a:ea typeface="华文中宋" panose="02010600040101010101" pitchFamily="2" charset="-122"/>
              </a:rPr>
              <a:t>‹#›</a:t>
            </a:fld>
            <a:endParaRPr lang="en-US" sz="180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  <a:prstGeom prst="rect">
            <a:avLst/>
          </a:prstGeom>
        </p:spPr>
        <p:txBody>
          <a:bodyPr vert="eaVert"/>
          <a:lstStyle>
            <a:lvl3pPr>
              <a:defRPr>
                <a:ea typeface="华文中宋" panose="02010600040101010101" pitchFamily="2" charset="-122"/>
              </a:defRPr>
            </a:lvl3pPr>
            <a:lvl4pPr>
              <a:defRPr>
                <a:ea typeface="华文中宋" panose="02010600040101010101" pitchFamily="2" charset="-122"/>
              </a:defRPr>
            </a:lvl4pPr>
            <a:lvl5pPr>
              <a:defRPr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1C669-4DB4-4AE4-93DC-BF8A4974A3A8}" type="slidenum">
              <a:rPr lang="zh-CN" altLang="en-US">
                <a:ea typeface="华文中宋" panose="02010600040101010101" pitchFamily="2" charset="-122"/>
              </a:rPr>
              <a:t>‹#›</a:t>
            </a:fld>
            <a:endParaRPr lang="en-US" sz="180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24609-233C-4051-A6FF-16711CDE0657}" type="slidenum">
              <a:rPr lang="zh-CN" altLang="en-US">
                <a:ea typeface="华文中宋" panose="02010600040101010101" pitchFamily="2" charset="-122"/>
              </a:rPr>
              <a:t>‹#›</a:t>
            </a:fld>
            <a:endParaRPr lang="en-US" sz="180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fld id="{A8F56CD3-B855-4099-A6DC-544CDEEBCED0}" type="datetimeFigureOut">
              <a:rPr lang="zh-CN" altLang="en-US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fld id="{A9CB58C0-F69D-4AAE-A851-DF9D5545662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>
            <a:lvl3pPr>
              <a:defRPr>
                <a:ea typeface="华文中宋" panose="02010600040101010101" pitchFamily="2" charset="-122"/>
              </a:defRPr>
            </a:lvl3pPr>
            <a:lvl4pPr>
              <a:defRPr>
                <a:ea typeface="华文中宋" panose="02010600040101010101" pitchFamily="2" charset="-122"/>
              </a:defRPr>
            </a:lvl4pPr>
            <a:lvl5pPr>
              <a:defRPr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fld id="{8E63F919-ACE6-499C-B04E-6F37524E2A4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fld id="{D7788AB1-6F8F-4880-A2F2-6438CF0D6A2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53664-7945-4AD5-AF54-C8983D411A1E}" type="slidenum">
              <a:rPr lang="zh-CN" altLang="en-US"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华文中宋" panose="02010600040101010101" pitchFamily="2" charset="-122"/>
              <a:sym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76212E-F15C-4F9E-AD83-F17D9A8F846C}" type="slidenum">
              <a:rPr lang="zh-CN" altLang="en-US"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华文中宋" panose="02010600040101010101" pitchFamily="2" charset="-122"/>
              <a:sym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2D0075-AF19-4B1B-8011-58A6AB795AD5}" type="slidenum">
              <a:rPr lang="zh-CN" altLang="en-US"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华文中宋" panose="02010600040101010101" pitchFamily="2" charset="-122"/>
              <a:sym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44D41-A3C1-4F4A-A879-73119D3260B5}" type="slidenum">
              <a:rPr lang="zh-CN" altLang="en-US"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华文中宋" panose="02010600040101010101" pitchFamily="2" charset="-122"/>
              <a:sym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10F8A1-99AE-4343-9EF8-7AC2031B1C11}" type="slidenum">
              <a:rPr lang="zh-CN" altLang="en-US"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华文中宋" panose="02010600040101010101" pitchFamily="2" charset="-122"/>
              <a:sym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240E5-FDED-47C5-BE2C-DF3B3D01D70B}" type="slidenum">
              <a:rPr lang="zh-CN" altLang="en-US"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华文中宋" panose="02010600040101010101" pitchFamily="2" charset="-122"/>
              <a:sym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9BCF9-9D56-4431-ADCF-17A2E61D8B5B}" type="slidenum">
              <a:rPr lang="zh-CN" altLang="en-US"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华文中宋" panose="02010600040101010101" pitchFamily="2" charset="-122"/>
              <a:sym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C3078C-7EAC-411A-B198-BA9F1B1734ED}" type="slidenum">
              <a:rPr lang="zh-CN" altLang="en-US"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华文中宋" panose="02010600040101010101" pitchFamily="2" charset="-122"/>
              <a:sym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B9937-D75B-494B-97E0-CD8A7339E004}" type="slidenum">
              <a:rPr lang="zh-CN" altLang="en-US"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华文中宋" panose="02010600040101010101" pitchFamily="2" charset="-122"/>
              <a:sym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A460E3-F074-47B4-96DD-BC52E33C0F01}" type="slidenum">
              <a:rPr lang="zh-CN" altLang="en-US"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华文中宋" panose="02010600040101010101" pitchFamily="2" charset="-122"/>
              <a:sym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86A95-86B7-4F54-92AB-60B264BB6D59}" type="datetimeFigureOut">
              <a:rPr lang="zh-CN" altLang="en-US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ym typeface="华文中宋" panose="02010600040101010101" pitchFamily="2" charset="-122"/>
              </a:defRPr>
            </a:lvl1pPr>
          </a:lstStyle>
          <a:p>
            <a:pPr>
              <a:defRPr/>
            </a:pPr>
            <a:fld id="{2E415841-6B32-4D7D-ADE2-76473CE275C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ym typeface="华文中宋" panose="02010600040101010101" pitchFamily="2" charset="-122"/>
              </a:defRPr>
            </a:lvl1pPr>
          </a:lstStyle>
          <a:p>
            <a:pPr>
              <a:defRPr/>
            </a:pPr>
            <a:fld id="{B33F6EC3-AABE-42C7-BDC1-3B47FDB7D27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ym typeface="华文中宋" panose="02010600040101010101" pitchFamily="2" charset="-122"/>
              </a:defRPr>
            </a:lvl1pPr>
          </a:lstStyle>
          <a:p>
            <a:pPr>
              <a:defRPr/>
            </a:pPr>
            <a:fld id="{C4B39F2B-6D2D-42CF-BE86-44F3C34AB1F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党办校办\党办校办文件夹\学校资料\学校标志\校徽透明_蓝_完美版-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0"/>
            <a:ext cx="63023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7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0"/>
            <a:ext cx="7635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26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7857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  <a:ea typeface="华文中宋" panose="02010600040101010101" pitchFamily="2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ea typeface="华文中宋" panose="02010600040101010101" pitchFamily="2" charset="-122"/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ea typeface="华文中宋" panose="02010600040101010101" pitchFamily="2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ea typeface="华文中宋" panose="02010600040101010101" pitchFamily="2" charset="-122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ea typeface="华文中宋" panose="02010600040101010101" pitchFamily="2" charset="-12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ea typeface="华文中宋" panose="02010600040101010101" pitchFamily="2" charset="-122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ea typeface="华文中宋" panose="02010600040101010101" pitchFamily="2" charset="-122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ea typeface="华文中宋" panose="02010600040101010101" pitchFamily="2" charset="-122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ea typeface="华文中宋" panose="02010600040101010101" pitchFamily="2" charset="-122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ea typeface="华文中宋" panose="02010600040101010101" pitchFamily="2" charset="-122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ea typeface="华文中宋" panose="02010600040101010101" pitchFamily="2" charset="-122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ea typeface="华文中宋" panose="02010600040101010101" pitchFamily="2" charset="-122"/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FFE78-55F7-431F-BCD8-F3E0D0F5D7A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EF225-F500-4420-A403-553EDAA46BD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10590-E611-40D8-BC78-27420DD68B89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94E81-E1D8-45D8-9C37-5E31D1C2C214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A2442-AFC7-4FFD-82F8-524F2229C181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A9A7B-6518-4705-B33A-BF06ABC47328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DC4BB-AB2F-46F7-AF26-133DAD60E8E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518AF-6C9F-4F47-B896-EB22B9855F7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6D19-00A4-4745-9E70-FDB09DCE2DC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8A8F0-77B5-4BCF-8040-6A35B75A602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党办校办\党办校办文件夹\学校资料\学校标志\校徽透明_蓝_完美版-2.png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8" y="85725"/>
            <a:ext cx="631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Arial" panose="020B0604020202020204" pitchFamily="34" charset="0"/>
              </a:rPr>
              <a:t>第二级</a:t>
            </a:r>
          </a:p>
          <a:p>
            <a:pPr lvl="2"/>
            <a:r>
              <a:rPr lang="zh-CN" altLang="zh-CN">
                <a:sym typeface="Arial" panose="020B0604020202020204" pitchFamily="34" charset="0"/>
              </a:rPr>
              <a:t>第三级</a:t>
            </a:r>
          </a:p>
          <a:p>
            <a:pPr lvl="3"/>
            <a:r>
              <a:rPr lang="zh-CN" altLang="zh-CN">
                <a:sym typeface="Arial" panose="020B0604020202020204" pitchFamily="34" charset="0"/>
              </a:rPr>
              <a:t>第四级</a:t>
            </a:r>
          </a:p>
          <a:p>
            <a:pPr lvl="4"/>
            <a:r>
              <a:rPr lang="zh-CN" altLang="zh-CN">
                <a:sym typeface="Arial" panose="020B0604020202020204" pitchFamily="34" charset="0"/>
              </a:rPr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>
                <a:ea typeface="华文中宋" panose="02010600040101010101" pitchFamily="2" charset="-122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>
                <a:ea typeface="华文中宋" panose="02010600040101010101" pitchFamily="2" charset="-122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600" b="1">
                <a:solidFill>
                  <a:srgbClr val="FFFF99"/>
                </a:solidFill>
                <a:latin typeface="+mj-ea"/>
                <a:ea typeface="+mj-ea"/>
                <a:sym typeface="黑体" panose="02010609060101010101" pitchFamily="49" charset="-122"/>
              </a:defRPr>
            </a:lvl1pPr>
          </a:lstStyle>
          <a:p>
            <a:pPr>
              <a:defRPr/>
            </a:pPr>
            <a:fld id="{2BA5B29F-AC96-412D-BF2C-3AFF6CC73BBE}" type="slidenum"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  <a:sym typeface="华文中宋" panose="02010600040101010101" pitchFamily="2" charset="-122"/>
              </a:r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华文中宋" panose="02010600040101010101" pitchFamily="2" charset="-122"/>
              <a:sym typeface="华文中宋" panose="02010600040101010101" pitchFamily="2" charset="-122"/>
            </a:endParaRPr>
          </a:p>
        </p:txBody>
      </p:sp>
      <p:pic>
        <p:nvPicPr>
          <p:cNvPr id="3079" name="Picture 2" descr="E:\党办校办\党办校办文件夹\学校资料\学校标志\校徽透明_蓝_完美版-2.png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475" y="187325"/>
            <a:ext cx="630238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华文中宋" panose="02010600040101010101" pitchFamily="2" charset="-122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华文中宋" panose="0201060004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华文中宋" panose="0201060004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华文中宋" panose="0201060004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9"/>
          <p:cNvSpPr>
            <a:spLocks noChangeArrowheads="1"/>
          </p:cNvSpPr>
          <p:nvPr userDrawn="1"/>
        </p:nvSpPr>
        <p:spPr bwMode="auto">
          <a:xfrm>
            <a:off x="611188" y="188913"/>
            <a:ext cx="3241675" cy="144462"/>
          </a:xfrm>
          <a:prstGeom prst="cloudCallout">
            <a:avLst>
              <a:gd name="adj1" fmla="val 49019"/>
              <a:gd name="adj2" fmla="val 604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1027" name="AutoShape 27"/>
          <p:cNvSpPr>
            <a:spLocks noChangeArrowheads="1"/>
          </p:cNvSpPr>
          <p:nvPr userDrawn="1"/>
        </p:nvSpPr>
        <p:spPr bwMode="auto">
          <a:xfrm>
            <a:off x="4140200" y="115888"/>
            <a:ext cx="1223963" cy="142875"/>
          </a:xfrm>
          <a:prstGeom prst="cloudCallout">
            <a:avLst>
              <a:gd name="adj1" fmla="val 36639"/>
              <a:gd name="adj2" fmla="val 3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1028" name="AutoShape 8"/>
          <p:cNvSpPr>
            <a:spLocks noChangeArrowheads="1"/>
          </p:cNvSpPr>
          <p:nvPr userDrawn="1"/>
        </p:nvSpPr>
        <p:spPr bwMode="auto">
          <a:xfrm>
            <a:off x="358775" y="114300"/>
            <a:ext cx="2519363" cy="312738"/>
          </a:xfrm>
          <a:prstGeom prst="cloudCallout">
            <a:avLst>
              <a:gd name="adj1" fmla="val -7907"/>
              <a:gd name="adj2" fmla="val 279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1029" name="AutoShape 10"/>
          <p:cNvSpPr>
            <a:spLocks noChangeArrowheads="1"/>
          </p:cNvSpPr>
          <p:nvPr userDrawn="1"/>
        </p:nvSpPr>
        <p:spPr bwMode="auto">
          <a:xfrm>
            <a:off x="3924300" y="0"/>
            <a:ext cx="3887788" cy="188913"/>
          </a:xfrm>
          <a:prstGeom prst="cloudCallout">
            <a:avLst>
              <a:gd name="adj1" fmla="val 17782"/>
              <a:gd name="adj2" fmla="val -3403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1030" name="AutoShape 24"/>
          <p:cNvSpPr>
            <a:spLocks noChangeArrowheads="1"/>
          </p:cNvSpPr>
          <p:nvPr userDrawn="1"/>
        </p:nvSpPr>
        <p:spPr bwMode="auto">
          <a:xfrm>
            <a:off x="1547813" y="115888"/>
            <a:ext cx="1655762" cy="144462"/>
          </a:xfrm>
          <a:prstGeom prst="cloudCallout">
            <a:avLst>
              <a:gd name="adj1" fmla="val 14046"/>
              <a:gd name="adj2" fmla="val -15935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1031" name="AutoShape 26"/>
          <p:cNvSpPr>
            <a:spLocks noChangeArrowheads="1"/>
          </p:cNvSpPr>
          <p:nvPr userDrawn="1"/>
        </p:nvSpPr>
        <p:spPr bwMode="auto">
          <a:xfrm>
            <a:off x="0" y="-71438"/>
            <a:ext cx="1223963" cy="142876"/>
          </a:xfrm>
          <a:prstGeom prst="cloudCallout">
            <a:avLst>
              <a:gd name="adj1" fmla="val 36639"/>
              <a:gd name="adj2" fmla="val -1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solidFill>
                  <a:srgbClr val="000000"/>
                </a:solidFill>
                <a:latin typeface="+mn-lt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fld id="{18D3D8D6-D2D6-43CF-91A8-D9580B07DE9B}" type="slidenum">
              <a:rPr lang="en-US" altLang="zh-CN"/>
              <a:t>‹#›</a:t>
            </a:fld>
            <a:endParaRPr lang="en-US" altLang="zh-CN"/>
          </a:p>
        </p:txBody>
      </p:sp>
      <p:grpSp>
        <p:nvGrpSpPr>
          <p:cNvPr id="1028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  <a:ea typeface="华文中宋" panose="02010600040101010101" pitchFamily="2" charset="-122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ea typeface="华文中宋" panose="02010600040101010101" pitchFamily="2" charset="-122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  <a:ea typeface="华文中宋" panose="02010600040101010101" pitchFamily="2" charset="-122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40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solidFill>
                  <a:srgbClr val="000000"/>
                </a:solidFill>
                <a:latin typeface="+mn-lt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华文中宋" panose="02010600040101010101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华文中宋" panose="0201060004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华文中宋" panose="0201060004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华文中宋" panose="0201060004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华文中宋" panose="0201060004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image" Target="../media/image6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slide" Target="slide1.xml"/><Relationship Id="rId1" Type="http://schemas.openxmlformats.org/officeDocument/2006/relationships/vmlDrawing" Target="../drawings/vmlDrawing1.v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7.wmf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44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image" Target="../media/image6.png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slide" Target="slide1.xml"/><Relationship Id="rId2" Type="http://schemas.openxmlformats.org/officeDocument/2006/relationships/tags" Target="../tags/tag19.xml"/><Relationship Id="rId1" Type="http://schemas.openxmlformats.org/officeDocument/2006/relationships/vmlDrawing" Target="../drawings/vmlDrawing2.vml"/><Relationship Id="rId6" Type="http://schemas.openxmlformats.org/officeDocument/2006/relationships/tags" Target="../tags/tag23.xml"/><Relationship Id="rId11" Type="http://schemas.openxmlformats.org/officeDocument/2006/relationships/slideLayout" Target="../slideLayouts/slideLayout44.xml"/><Relationship Id="rId5" Type="http://schemas.openxmlformats.org/officeDocument/2006/relationships/tags" Target="../tags/tag22.xml"/><Relationship Id="rId15" Type="http://schemas.openxmlformats.org/officeDocument/2006/relationships/image" Target="../media/image8.wmf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oleObject" Target="../embeddings/oleObject8.bin"/><Relationship Id="rId18" Type="http://schemas.openxmlformats.org/officeDocument/2006/relationships/image" Target="../media/image16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3.emf"/><Relationship Id="rId17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6" Type="http://schemas.openxmlformats.org/officeDocument/2006/relationships/image" Target="../media/image15.emf"/><Relationship Id="rId20" Type="http://schemas.openxmlformats.org/officeDocument/2006/relationships/image" Target="../media/image17.e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10" Type="http://schemas.openxmlformats.org/officeDocument/2006/relationships/image" Target="../media/image12.emf"/><Relationship Id="rId19" Type="http://schemas.openxmlformats.org/officeDocument/2006/relationships/oleObject" Target="../embeddings/oleObject11.bin"/><Relationship Id="rId4" Type="http://schemas.openxmlformats.org/officeDocument/2006/relationships/image" Target="../media/image9.e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14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13" Type="http://schemas.openxmlformats.org/officeDocument/2006/relationships/oleObject" Target="../embeddings/oleObject17.bin"/><Relationship Id="rId18" Type="http://schemas.openxmlformats.org/officeDocument/2006/relationships/image" Target="../media/image25.emf"/><Relationship Id="rId26" Type="http://schemas.openxmlformats.org/officeDocument/2006/relationships/image" Target="../media/image29.emf"/><Relationship Id="rId3" Type="http://schemas.openxmlformats.org/officeDocument/2006/relationships/oleObject" Target="../embeddings/oleObject12.bin"/><Relationship Id="rId21" Type="http://schemas.openxmlformats.org/officeDocument/2006/relationships/oleObject" Target="../embeddings/oleObject21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2.emf"/><Relationship Id="rId17" Type="http://schemas.openxmlformats.org/officeDocument/2006/relationships/oleObject" Target="../embeddings/oleObject19.bin"/><Relationship Id="rId25" Type="http://schemas.openxmlformats.org/officeDocument/2006/relationships/oleObject" Target="../embeddings/oleObject23.bin"/><Relationship Id="rId2" Type="http://schemas.openxmlformats.org/officeDocument/2006/relationships/slideLayout" Target="../slideLayouts/slideLayout44.xml"/><Relationship Id="rId16" Type="http://schemas.openxmlformats.org/officeDocument/2006/relationships/image" Target="../media/image24.emf"/><Relationship Id="rId20" Type="http://schemas.openxmlformats.org/officeDocument/2006/relationships/image" Target="../media/image26.emf"/><Relationship Id="rId29" Type="http://schemas.openxmlformats.org/officeDocument/2006/relationships/oleObject" Target="../embeddings/oleObject25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emf"/><Relationship Id="rId11" Type="http://schemas.openxmlformats.org/officeDocument/2006/relationships/oleObject" Target="../embeddings/oleObject16.bin"/><Relationship Id="rId24" Type="http://schemas.openxmlformats.org/officeDocument/2006/relationships/image" Target="../media/image28.emf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23" Type="http://schemas.openxmlformats.org/officeDocument/2006/relationships/oleObject" Target="../embeddings/oleObject22.bin"/><Relationship Id="rId28" Type="http://schemas.openxmlformats.org/officeDocument/2006/relationships/image" Target="../media/image30.emf"/><Relationship Id="rId10" Type="http://schemas.openxmlformats.org/officeDocument/2006/relationships/image" Target="../media/image21.emf"/><Relationship Id="rId19" Type="http://schemas.openxmlformats.org/officeDocument/2006/relationships/oleObject" Target="../embeddings/oleObject20.bin"/><Relationship Id="rId4" Type="http://schemas.openxmlformats.org/officeDocument/2006/relationships/image" Target="../media/image18.e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3.emf"/><Relationship Id="rId22" Type="http://schemas.openxmlformats.org/officeDocument/2006/relationships/image" Target="../media/image27.emf"/><Relationship Id="rId27" Type="http://schemas.openxmlformats.org/officeDocument/2006/relationships/oleObject" Target="../embeddings/oleObject24.bin"/><Relationship Id="rId30" Type="http://schemas.openxmlformats.org/officeDocument/2006/relationships/image" Target="../media/image3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2.emf"/><Relationship Id="rId4" Type="http://schemas.openxmlformats.org/officeDocument/2006/relationships/oleObject" Target="../embeddings/oleObject2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oleObject" Target="../embeddings/oleObject27.bin"/><Relationship Id="rId7" Type="http://schemas.openxmlformats.org/officeDocument/2006/relationships/image" Target="../media/image35.e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9.bin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4.emf"/><Relationship Id="rId9" Type="http://schemas.openxmlformats.org/officeDocument/2006/relationships/image" Target="../media/image36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10" Type="http://schemas.openxmlformats.org/officeDocument/2006/relationships/image" Target="../media/image6.png"/><Relationship Id="rId4" Type="http://schemas.openxmlformats.org/officeDocument/2006/relationships/tags" Target="../tags/tag31.xml"/><Relationship Id="rId9" Type="http://schemas.openxmlformats.org/officeDocument/2006/relationships/slide" Target="slide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10" Type="http://schemas.openxmlformats.org/officeDocument/2006/relationships/image" Target="../media/image6.png"/><Relationship Id="rId4" Type="http://schemas.openxmlformats.org/officeDocument/2006/relationships/tags" Target="../tags/tag38.xml"/><Relationship Id="rId9" Type="http://schemas.openxmlformats.org/officeDocument/2006/relationships/slide" Target="slide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tags" Target="../tags/tag44.xml"/><Relationship Id="rId7" Type="http://schemas.openxmlformats.org/officeDocument/2006/relationships/slideLayout" Target="../slideLayouts/slideLayout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image" Target="../media/image38.wmf"/><Relationship Id="rId5" Type="http://schemas.openxmlformats.org/officeDocument/2006/relationships/tags" Target="../tags/tag46.xml"/><Relationship Id="rId10" Type="http://schemas.openxmlformats.org/officeDocument/2006/relationships/image" Target="../media/image37.wmf"/><Relationship Id="rId4" Type="http://schemas.openxmlformats.org/officeDocument/2006/relationships/tags" Target="../tags/tag45.xml"/><Relationship Id="rId9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2" Type="http://schemas.openxmlformats.org/officeDocument/2006/relationships/tags" Target="../tags/tag49.xml"/><Relationship Id="rId16" Type="http://schemas.openxmlformats.org/officeDocument/2006/relationships/image" Target="../media/image6.png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5" Type="http://schemas.openxmlformats.org/officeDocument/2006/relationships/slide" Target="slide1.xml"/><Relationship Id="rId10" Type="http://schemas.openxmlformats.org/officeDocument/2006/relationships/tags" Target="../tags/tag57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slideLayout" Target="../slideLayouts/slideLayout4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slideLayout" Target="../slideLayouts/slideLayout44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5" Type="http://schemas.openxmlformats.org/officeDocument/2006/relationships/image" Target="../media/image6.png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slide" Target="slide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13" Type="http://schemas.openxmlformats.org/officeDocument/2006/relationships/slideLayout" Target="../slideLayouts/slideLayout44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12" Type="http://schemas.openxmlformats.org/officeDocument/2006/relationships/tags" Target="../tags/tag83.xml"/><Relationship Id="rId17" Type="http://schemas.openxmlformats.org/officeDocument/2006/relationships/image" Target="../media/image39.wmf"/><Relationship Id="rId2" Type="http://schemas.openxmlformats.org/officeDocument/2006/relationships/tags" Target="../tags/tag73.xml"/><Relationship Id="rId16" Type="http://schemas.openxmlformats.org/officeDocument/2006/relationships/oleObject" Target="../embeddings/oleObject31.bin"/><Relationship Id="rId1" Type="http://schemas.openxmlformats.org/officeDocument/2006/relationships/vmlDrawing" Target="../drawings/vmlDrawing7.vml"/><Relationship Id="rId6" Type="http://schemas.openxmlformats.org/officeDocument/2006/relationships/tags" Target="../tags/tag77.xml"/><Relationship Id="rId11" Type="http://schemas.openxmlformats.org/officeDocument/2006/relationships/tags" Target="../tags/tag82.xml"/><Relationship Id="rId5" Type="http://schemas.openxmlformats.org/officeDocument/2006/relationships/tags" Target="../tags/tag76.xml"/><Relationship Id="rId15" Type="http://schemas.openxmlformats.org/officeDocument/2006/relationships/image" Target="../media/image6.png"/><Relationship Id="rId10" Type="http://schemas.openxmlformats.org/officeDocument/2006/relationships/tags" Target="../tags/tag81.xml"/><Relationship Id="rId4" Type="http://schemas.openxmlformats.org/officeDocument/2006/relationships/tags" Target="../tags/tag75.xml"/><Relationship Id="rId9" Type="http://schemas.openxmlformats.org/officeDocument/2006/relationships/tags" Target="../tags/tag80.xml"/><Relationship Id="rId14" Type="http://schemas.openxmlformats.org/officeDocument/2006/relationships/slide" Target="slide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13" Type="http://schemas.openxmlformats.org/officeDocument/2006/relationships/image" Target="../media/image6.png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slide" Target="slide1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slideLayout" Target="../slideLayouts/slideLayout44.xml"/><Relationship Id="rId5" Type="http://schemas.openxmlformats.org/officeDocument/2006/relationships/tags" Target="../tags/tag88.xml"/><Relationship Id="rId10" Type="http://schemas.openxmlformats.org/officeDocument/2006/relationships/tags" Target="../tags/tag93.xml"/><Relationship Id="rId4" Type="http://schemas.openxmlformats.org/officeDocument/2006/relationships/tags" Target="../tags/tag87.xml"/><Relationship Id="rId9" Type="http://schemas.openxmlformats.org/officeDocument/2006/relationships/tags" Target="../tags/tag9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oleObject" Target="../embeddings/oleObject33.bin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12" Type="http://schemas.openxmlformats.org/officeDocument/2006/relationships/image" Target="../media/image40.wmf"/><Relationship Id="rId2" Type="http://schemas.openxmlformats.org/officeDocument/2006/relationships/tags" Target="../tags/tag94.xml"/><Relationship Id="rId1" Type="http://schemas.openxmlformats.org/officeDocument/2006/relationships/vmlDrawing" Target="../drawings/vmlDrawing8.vml"/><Relationship Id="rId6" Type="http://schemas.openxmlformats.org/officeDocument/2006/relationships/tags" Target="../tags/tag98.xml"/><Relationship Id="rId11" Type="http://schemas.openxmlformats.org/officeDocument/2006/relationships/oleObject" Target="../embeddings/oleObject32.bin"/><Relationship Id="rId5" Type="http://schemas.openxmlformats.org/officeDocument/2006/relationships/tags" Target="../tags/tag97.xml"/><Relationship Id="rId10" Type="http://schemas.openxmlformats.org/officeDocument/2006/relationships/image" Target="../media/image6.png"/><Relationship Id="rId4" Type="http://schemas.openxmlformats.org/officeDocument/2006/relationships/tags" Target="../tags/tag96.xml"/><Relationship Id="rId9" Type="http://schemas.openxmlformats.org/officeDocument/2006/relationships/slide" Target="slide1.xml"/><Relationship Id="rId14" Type="http://schemas.openxmlformats.org/officeDocument/2006/relationships/image" Target="../media/image4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oleObject" Target="../embeddings/oleObject35.bin"/><Relationship Id="rId18" Type="http://schemas.openxmlformats.org/officeDocument/2006/relationships/image" Target="../media/image45.wmf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image" Target="../media/image42.wmf"/><Relationship Id="rId17" Type="http://schemas.openxmlformats.org/officeDocument/2006/relationships/oleObject" Target="../embeddings/oleObject37.bin"/><Relationship Id="rId2" Type="http://schemas.openxmlformats.org/officeDocument/2006/relationships/tags" Target="../tags/tag100.xml"/><Relationship Id="rId16" Type="http://schemas.openxmlformats.org/officeDocument/2006/relationships/image" Target="../media/image44.wmf"/><Relationship Id="rId1" Type="http://schemas.openxmlformats.org/officeDocument/2006/relationships/vmlDrawing" Target="../drawings/vmlDrawing9.vml"/><Relationship Id="rId6" Type="http://schemas.openxmlformats.org/officeDocument/2006/relationships/tags" Target="../tags/tag104.xml"/><Relationship Id="rId11" Type="http://schemas.openxmlformats.org/officeDocument/2006/relationships/oleObject" Target="../embeddings/oleObject34.bin"/><Relationship Id="rId5" Type="http://schemas.openxmlformats.org/officeDocument/2006/relationships/tags" Target="../tags/tag103.xml"/><Relationship Id="rId15" Type="http://schemas.openxmlformats.org/officeDocument/2006/relationships/oleObject" Target="../embeddings/oleObject36.bin"/><Relationship Id="rId10" Type="http://schemas.openxmlformats.org/officeDocument/2006/relationships/image" Target="../media/image6.png"/><Relationship Id="rId4" Type="http://schemas.openxmlformats.org/officeDocument/2006/relationships/tags" Target="../tags/tag102.xml"/><Relationship Id="rId9" Type="http://schemas.openxmlformats.org/officeDocument/2006/relationships/slide" Target="slide1.xml"/><Relationship Id="rId14" Type="http://schemas.openxmlformats.org/officeDocument/2006/relationships/image" Target="../media/image4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slideLayout" Target="../slideLayouts/slideLayout44.xml"/><Relationship Id="rId18" Type="http://schemas.openxmlformats.org/officeDocument/2006/relationships/oleObject" Target="../embeddings/oleObject39.bin"/><Relationship Id="rId3" Type="http://schemas.openxmlformats.org/officeDocument/2006/relationships/tags" Target="../tags/tag107.xml"/><Relationship Id="rId7" Type="http://schemas.openxmlformats.org/officeDocument/2006/relationships/tags" Target="../tags/tag111.xml"/><Relationship Id="rId12" Type="http://schemas.openxmlformats.org/officeDocument/2006/relationships/tags" Target="../tags/tag116.xml"/><Relationship Id="rId17" Type="http://schemas.openxmlformats.org/officeDocument/2006/relationships/image" Target="../media/image46.wmf"/><Relationship Id="rId2" Type="http://schemas.openxmlformats.org/officeDocument/2006/relationships/tags" Target="../tags/tag106.xml"/><Relationship Id="rId16" Type="http://schemas.openxmlformats.org/officeDocument/2006/relationships/oleObject" Target="../embeddings/oleObject38.bin"/><Relationship Id="rId1" Type="http://schemas.openxmlformats.org/officeDocument/2006/relationships/vmlDrawing" Target="../drawings/vmlDrawing10.v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5" Type="http://schemas.openxmlformats.org/officeDocument/2006/relationships/tags" Target="../tags/tag109.xml"/><Relationship Id="rId15" Type="http://schemas.openxmlformats.org/officeDocument/2006/relationships/image" Target="../media/image6.png"/><Relationship Id="rId10" Type="http://schemas.openxmlformats.org/officeDocument/2006/relationships/tags" Target="../tags/tag114.xml"/><Relationship Id="rId19" Type="http://schemas.openxmlformats.org/officeDocument/2006/relationships/image" Target="../media/image47.wmf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slide" Target="slide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tags" Target="../tags/tag118.xml"/><Relationship Id="rId7" Type="http://schemas.openxmlformats.org/officeDocument/2006/relationships/slideLayout" Target="../slideLayouts/slideLayout44.xml"/><Relationship Id="rId2" Type="http://schemas.openxmlformats.org/officeDocument/2006/relationships/tags" Target="../tags/tag117.xml"/><Relationship Id="rId1" Type="http://schemas.openxmlformats.org/officeDocument/2006/relationships/vmlDrawing" Target="../drawings/vmlDrawing11.vml"/><Relationship Id="rId6" Type="http://schemas.openxmlformats.org/officeDocument/2006/relationships/tags" Target="../tags/tag121.xml"/><Relationship Id="rId11" Type="http://schemas.openxmlformats.org/officeDocument/2006/relationships/image" Target="../media/image48.wmf"/><Relationship Id="rId5" Type="http://schemas.openxmlformats.org/officeDocument/2006/relationships/tags" Target="../tags/tag120.xml"/><Relationship Id="rId10" Type="http://schemas.openxmlformats.org/officeDocument/2006/relationships/oleObject" Target="../embeddings/oleObject40.bin"/><Relationship Id="rId4" Type="http://schemas.openxmlformats.org/officeDocument/2006/relationships/tags" Target="../tags/tag119.xml"/><Relationship Id="rId9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18" Type="http://schemas.openxmlformats.org/officeDocument/2006/relationships/tags" Target="../tags/tag139.xml"/><Relationship Id="rId3" Type="http://schemas.openxmlformats.org/officeDocument/2006/relationships/tags" Target="../tags/tag124.xml"/><Relationship Id="rId21" Type="http://schemas.openxmlformats.org/officeDocument/2006/relationships/image" Target="../media/image6.png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20" Type="http://schemas.openxmlformats.org/officeDocument/2006/relationships/slide" Target="slide1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10" Type="http://schemas.openxmlformats.org/officeDocument/2006/relationships/tags" Target="../tags/tag131.xml"/><Relationship Id="rId19" Type="http://schemas.openxmlformats.org/officeDocument/2006/relationships/slideLayout" Target="../slideLayouts/slideLayout44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42.xml"/><Relationship Id="rId7" Type="http://schemas.openxmlformats.org/officeDocument/2006/relationships/slide" Target="slide1.xml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6" Type="http://schemas.openxmlformats.org/officeDocument/2006/relationships/slideLayout" Target="../slideLayouts/slideLayout44.xml"/><Relationship Id="rId5" Type="http://schemas.openxmlformats.org/officeDocument/2006/relationships/tags" Target="../tags/tag144.xml"/><Relationship Id="rId4" Type="http://schemas.openxmlformats.org/officeDocument/2006/relationships/tags" Target="../tags/tag14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52.xml"/><Relationship Id="rId13" Type="http://schemas.openxmlformats.org/officeDocument/2006/relationships/slide" Target="slide1.xml"/><Relationship Id="rId3" Type="http://schemas.openxmlformats.org/officeDocument/2006/relationships/tags" Target="../tags/tag147.xml"/><Relationship Id="rId7" Type="http://schemas.openxmlformats.org/officeDocument/2006/relationships/tags" Target="../tags/tag151.xml"/><Relationship Id="rId12" Type="http://schemas.openxmlformats.org/officeDocument/2006/relationships/slideLayout" Target="../slideLayouts/slideLayout44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tags" Target="../tags/tag150.xml"/><Relationship Id="rId11" Type="http://schemas.openxmlformats.org/officeDocument/2006/relationships/tags" Target="../tags/tag155.xml"/><Relationship Id="rId5" Type="http://schemas.openxmlformats.org/officeDocument/2006/relationships/tags" Target="../tags/tag149.xml"/><Relationship Id="rId15" Type="http://schemas.openxmlformats.org/officeDocument/2006/relationships/image" Target="../media/image49.png"/><Relationship Id="rId10" Type="http://schemas.openxmlformats.org/officeDocument/2006/relationships/tags" Target="../tags/tag154.xml"/><Relationship Id="rId4" Type="http://schemas.openxmlformats.org/officeDocument/2006/relationships/tags" Target="../tags/tag148.xml"/><Relationship Id="rId9" Type="http://schemas.openxmlformats.org/officeDocument/2006/relationships/tags" Target="../tags/tag153.xml"/><Relationship Id="rId1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image" Target="../media/image51.wmf"/><Relationship Id="rId18" Type="http://schemas.openxmlformats.org/officeDocument/2006/relationships/oleObject" Target="../embeddings/oleObject45.bin"/><Relationship Id="rId3" Type="http://schemas.openxmlformats.org/officeDocument/2006/relationships/tags" Target="../tags/tag157.xml"/><Relationship Id="rId7" Type="http://schemas.openxmlformats.org/officeDocument/2006/relationships/slideLayout" Target="../slideLayouts/slideLayout44.xml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53.wmf"/><Relationship Id="rId2" Type="http://schemas.openxmlformats.org/officeDocument/2006/relationships/tags" Target="../tags/tag156.xml"/><Relationship Id="rId16" Type="http://schemas.openxmlformats.org/officeDocument/2006/relationships/oleObject" Target="../embeddings/oleObject44.bin"/><Relationship Id="rId1" Type="http://schemas.openxmlformats.org/officeDocument/2006/relationships/vmlDrawing" Target="../drawings/vmlDrawing12.vml"/><Relationship Id="rId6" Type="http://schemas.openxmlformats.org/officeDocument/2006/relationships/tags" Target="../tags/tag160.xml"/><Relationship Id="rId11" Type="http://schemas.openxmlformats.org/officeDocument/2006/relationships/image" Target="../media/image50.wmf"/><Relationship Id="rId5" Type="http://schemas.openxmlformats.org/officeDocument/2006/relationships/tags" Target="../tags/tag159.xml"/><Relationship Id="rId15" Type="http://schemas.openxmlformats.org/officeDocument/2006/relationships/image" Target="../media/image52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54.wmf"/><Relationship Id="rId4" Type="http://schemas.openxmlformats.org/officeDocument/2006/relationships/tags" Target="../tags/tag158.xml"/><Relationship Id="rId9" Type="http://schemas.openxmlformats.org/officeDocument/2006/relationships/image" Target="../media/image6.png"/><Relationship Id="rId14" Type="http://schemas.openxmlformats.org/officeDocument/2006/relationships/oleObject" Target="../embeddings/oleObject43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oleObject" Target="../embeddings/oleObject49.bin"/><Relationship Id="rId3" Type="http://schemas.openxmlformats.org/officeDocument/2006/relationships/tags" Target="../tags/tag162.xml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57.wmf"/><Relationship Id="rId2" Type="http://schemas.openxmlformats.org/officeDocument/2006/relationships/tags" Target="../tags/tag161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.png"/><Relationship Id="rId11" Type="http://schemas.openxmlformats.org/officeDocument/2006/relationships/oleObject" Target="../embeddings/oleObject48.bin"/><Relationship Id="rId5" Type="http://schemas.openxmlformats.org/officeDocument/2006/relationships/slide" Target="slide1.xml"/><Relationship Id="rId10" Type="http://schemas.openxmlformats.org/officeDocument/2006/relationships/image" Target="../media/image56.wmf"/><Relationship Id="rId4" Type="http://schemas.openxmlformats.org/officeDocument/2006/relationships/slideLayout" Target="../slideLayouts/slideLayout44.xml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58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62.wmf"/><Relationship Id="rId3" Type="http://schemas.openxmlformats.org/officeDocument/2006/relationships/slideLayout" Target="../slideLayouts/slideLayout44.xml"/><Relationship Id="rId7" Type="http://schemas.openxmlformats.org/officeDocument/2006/relationships/image" Target="../media/image59.wmf"/><Relationship Id="rId12" Type="http://schemas.openxmlformats.org/officeDocument/2006/relationships/oleObject" Target="../embeddings/oleObject53.bin"/><Relationship Id="rId2" Type="http://schemas.openxmlformats.org/officeDocument/2006/relationships/tags" Target="../tags/tag163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61.w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52.bin"/><Relationship Id="rId4" Type="http://schemas.openxmlformats.org/officeDocument/2006/relationships/slide" Target="slide1.xml"/><Relationship Id="rId9" Type="http://schemas.openxmlformats.org/officeDocument/2006/relationships/image" Target="../media/image60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4.e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63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13" Type="http://schemas.openxmlformats.org/officeDocument/2006/relationships/oleObject" Target="../embeddings/oleObject62.bin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70.emf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7.e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69.emf"/><Relationship Id="rId4" Type="http://schemas.openxmlformats.org/officeDocument/2006/relationships/image" Target="../media/image66.e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71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3.emf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75.emf"/><Relationship Id="rId4" Type="http://schemas.openxmlformats.org/officeDocument/2006/relationships/image" Target="../media/image72.emf"/><Relationship Id="rId9" Type="http://schemas.openxmlformats.org/officeDocument/2006/relationships/oleObject" Target="../embeddings/oleObject66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7.e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76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7.e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76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9.emf"/><Relationship Id="rId5" Type="http://schemas.openxmlformats.org/officeDocument/2006/relationships/oleObject" Target="../embeddings/oleObject70.bin"/><Relationship Id="rId10" Type="http://schemas.openxmlformats.org/officeDocument/2006/relationships/image" Target="../media/image81.emf"/><Relationship Id="rId4" Type="http://schemas.openxmlformats.org/officeDocument/2006/relationships/image" Target="../media/image78.emf"/><Relationship Id="rId9" Type="http://schemas.openxmlformats.org/officeDocument/2006/relationships/oleObject" Target="../embeddings/oleObject72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13" Type="http://schemas.openxmlformats.org/officeDocument/2006/relationships/oleObject" Target="../embeddings/oleObject78.bin"/><Relationship Id="rId18" Type="http://schemas.openxmlformats.org/officeDocument/2006/relationships/image" Target="../media/image89.emf"/><Relationship Id="rId3" Type="http://schemas.openxmlformats.org/officeDocument/2006/relationships/oleObject" Target="../embeddings/oleObject73.bin"/><Relationship Id="rId21" Type="http://schemas.openxmlformats.org/officeDocument/2006/relationships/oleObject" Target="../embeddings/oleObject82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86.emf"/><Relationship Id="rId17" Type="http://schemas.openxmlformats.org/officeDocument/2006/relationships/oleObject" Target="../embeddings/oleObject80.bin"/><Relationship Id="rId2" Type="http://schemas.openxmlformats.org/officeDocument/2006/relationships/slideLayout" Target="../slideLayouts/slideLayout44.xml"/><Relationship Id="rId16" Type="http://schemas.openxmlformats.org/officeDocument/2006/relationships/image" Target="../media/image88.emf"/><Relationship Id="rId20" Type="http://schemas.openxmlformats.org/officeDocument/2006/relationships/image" Target="../media/image90.e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83.emf"/><Relationship Id="rId11" Type="http://schemas.openxmlformats.org/officeDocument/2006/relationships/oleObject" Target="../embeddings/oleObject77.bin"/><Relationship Id="rId24" Type="http://schemas.openxmlformats.org/officeDocument/2006/relationships/image" Target="../media/image92.emf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23" Type="http://schemas.openxmlformats.org/officeDocument/2006/relationships/oleObject" Target="../embeddings/oleObject83.bin"/><Relationship Id="rId10" Type="http://schemas.openxmlformats.org/officeDocument/2006/relationships/image" Target="../media/image85.emf"/><Relationship Id="rId19" Type="http://schemas.openxmlformats.org/officeDocument/2006/relationships/oleObject" Target="../embeddings/oleObject81.bin"/><Relationship Id="rId4" Type="http://schemas.openxmlformats.org/officeDocument/2006/relationships/image" Target="../media/image82.e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87.emf"/><Relationship Id="rId22" Type="http://schemas.openxmlformats.org/officeDocument/2006/relationships/image" Target="../media/image91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GIF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Line 2"/>
          <p:cNvSpPr>
            <a:spLocks noChangeShapeType="1"/>
          </p:cNvSpPr>
          <p:nvPr/>
        </p:nvSpPr>
        <p:spPr bwMode="auto">
          <a:xfrm>
            <a:off x="0" y="808038"/>
            <a:ext cx="9144000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2267585" y="44768"/>
            <a:ext cx="5108575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第二章  矩阵及其运算</a:t>
            </a:r>
          </a:p>
        </p:txBody>
      </p:sp>
      <p:sp>
        <p:nvSpPr>
          <p:cNvPr id="14" name="Text Box 4103">
            <a:hlinkClick r:id="rId3" action="ppaction://hlinksldjump" highlightClick="1"/>
            <a:hlinkHover r:id="" action="ppaction://macro?name=Macro1" highlightClick="1"/>
          </p:cNvPr>
          <p:cNvSpPr txBox="1">
            <a:spLocks noChangeArrowheads="1"/>
          </p:cNvSpPr>
          <p:nvPr/>
        </p:nvSpPr>
        <p:spPr bwMode="auto">
          <a:xfrm>
            <a:off x="2915920" y="1772920"/>
            <a:ext cx="3864610" cy="6451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§2.3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逆矩阵</a:t>
            </a: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450" y="0"/>
            <a:ext cx="1008112" cy="771926"/>
          </a:xfrm>
          <a:prstGeom prst="rect">
            <a:avLst/>
          </a:prstGeom>
        </p:spPr>
      </p:pic>
    </p:spTree>
  </p:cSld>
  <p:clrMapOvr>
    <a:masterClrMapping/>
  </p:clrMapOvr>
  <p:transition spd="slow"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前言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 Box 3"/>
          <p:cNvSpPr>
            <a:spLocks noChangeArrowheads="1"/>
          </p:cNvSpPr>
          <p:nvPr/>
        </p:nvSpPr>
        <p:spPr bwMode="auto">
          <a:xfrm>
            <a:off x="611505" y="1557020"/>
            <a:ext cx="7835265" cy="1470025"/>
          </a:xfrm>
          <a:prstGeom prst="rect">
            <a:avLst/>
          </a:prstGeom>
          <a:solidFill>
            <a:schemeClr val="bg1">
              <a:alpha val="56078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wrap="square" anchor="ctr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矩阵矩阵乘法的逆运算是如何定义的？</a:t>
            </a:r>
          </a:p>
          <a:p>
            <a:pPr marL="0" marR="0" lvl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Arial" panose="020B0604020202020204" pitchFamily="34" charset="0"/>
              </a:rPr>
              <a:t>本节讨论矩阵的逆矩阵及其性质和求法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anose="02010609030101010101" charset="-122"/>
              </a:rPr>
              <a:t>.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0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通过线性变换得到逆矩阵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8160" y="836930"/>
            <a:ext cx="162877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引例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2.6</a:t>
            </a:r>
          </a:p>
        </p:txBody>
      </p:sp>
      <p:sp>
        <p:nvSpPr>
          <p:cNvPr id="39945" name="Text Box 9"/>
          <p:cNvSpPr txBox="1"/>
          <p:nvPr>
            <p:custDataLst>
              <p:tags r:id="rId3"/>
            </p:custDataLst>
          </p:nvPr>
        </p:nvSpPr>
        <p:spPr>
          <a:xfrm>
            <a:off x="1978660" y="922655"/>
            <a:ext cx="694245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设有两组变量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,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2……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y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,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y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2……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,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y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n 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</a:p>
        </p:txBody>
      </p:sp>
      <p:sp>
        <p:nvSpPr>
          <p:cNvPr id="2" name="Text Box 9"/>
          <p:cNvSpPr txBox="1"/>
          <p:nvPr>
            <p:custDataLst>
              <p:tags r:id="rId4"/>
            </p:custDataLst>
          </p:nvPr>
        </p:nvSpPr>
        <p:spPr>
          <a:xfrm>
            <a:off x="395605" y="1772603"/>
            <a:ext cx="7391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已知</a:t>
            </a:r>
          </a:p>
        </p:txBody>
      </p:sp>
      <p:graphicFrame>
        <p:nvGraphicFramePr>
          <p:cNvPr id="3" name="对象 -2147481479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2120900" y="1560513"/>
          <a:ext cx="5183188" cy="240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Equation" r:id="rId22" imgW="48158400" imgH="22555200" progId="Equation.DSMT4">
                  <p:embed/>
                </p:oleObj>
              </mc:Choice>
              <mc:Fallback>
                <p:oleObj name="Equation" r:id="rId22" imgW="48158400" imgH="22555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120900" y="1560513"/>
                        <a:ext cx="5183188" cy="2401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0" name="Text Box 4"/>
          <p:cNvSpPr txBox="1"/>
          <p:nvPr>
            <p:custDataLst>
              <p:tags r:id="rId6"/>
            </p:custDataLst>
          </p:nvPr>
        </p:nvSpPr>
        <p:spPr>
          <a:xfrm>
            <a:off x="539750" y="4077335"/>
            <a:ext cx="5410200" cy="4794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可以用矩阵形式表示为</a:t>
            </a:r>
            <a:r>
              <a:rPr lang="zh-CN" altLang="en-US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y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=</a:t>
            </a:r>
            <a:r>
              <a:rPr lang="en-US" altLang="zh-CN" sz="2600" b="1" i="1">
                <a:latin typeface="Times New Roman" panose="02020603050405020304" pitchFamily="18" charset="0"/>
                <a:ea typeface="华文中宋" panose="02010600040101010101" pitchFamily="2" charset="-122"/>
              </a:rPr>
              <a:t>Ax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lang="zh-CN" altLang="en-US" sz="2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其中</a:t>
            </a:r>
          </a:p>
        </p:txBody>
      </p:sp>
      <p:grpSp>
        <p:nvGrpSpPr>
          <p:cNvPr id="6" name="Group 17"/>
          <p:cNvGrpSpPr/>
          <p:nvPr/>
        </p:nvGrpSpPr>
        <p:grpSpPr>
          <a:xfrm>
            <a:off x="6303010" y="4785678"/>
            <a:ext cx="1409700" cy="1635124"/>
            <a:chOff x="4297" y="2413"/>
            <a:chExt cx="888" cy="1030"/>
          </a:xfrm>
        </p:grpSpPr>
        <p:sp>
          <p:nvSpPr>
            <p:cNvPr id="61458" name="Text Box 18"/>
            <p:cNvSpPr txBox="1"/>
            <p:nvPr>
              <p:custDataLst>
                <p:tags r:id="rId16"/>
              </p:custDataLst>
            </p:nvPr>
          </p:nvSpPr>
          <p:spPr>
            <a:xfrm>
              <a:off x="4297" y="2789"/>
              <a:ext cx="888" cy="3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y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</a:rPr>
                <a:t>=         </a:t>
              </a:r>
              <a:r>
                <a:rPr lang="zh-CN" altLang="en-US" sz="2600" b="1" dirty="0">
                  <a:latin typeface="Symbol" panose="05050102010706020507" pitchFamily="18" charset="2"/>
                  <a:ea typeface="华文中宋" panose="02010600040101010101" pitchFamily="2" charset="-122"/>
                </a:rPr>
                <a:t>。</a:t>
              </a:r>
            </a:p>
          </p:txBody>
        </p:sp>
        <p:grpSp>
          <p:nvGrpSpPr>
            <p:cNvPr id="61459" name="Group 19"/>
            <p:cNvGrpSpPr/>
            <p:nvPr/>
          </p:nvGrpSpPr>
          <p:grpSpPr>
            <a:xfrm>
              <a:off x="4557" y="2413"/>
              <a:ext cx="349" cy="1030"/>
              <a:chOff x="4557" y="2470"/>
              <a:chExt cx="349" cy="1030"/>
            </a:xfrm>
          </p:grpSpPr>
          <p:sp>
            <p:nvSpPr>
              <p:cNvPr id="61460" name="Rectangle 20"/>
              <p:cNvSpPr/>
              <p:nvPr>
                <p:custDataLst>
                  <p:tags r:id="rId17"/>
                </p:custDataLst>
              </p:nvPr>
            </p:nvSpPr>
            <p:spPr>
              <a:xfrm>
                <a:off x="4639" y="2470"/>
                <a:ext cx="168" cy="10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/>
              <a:p>
                <a:pPr algn="l"/>
                <a:r>
                  <a:rPr lang="en-US" altLang="zh-CN" sz="2600" b="1" i="1" dirty="0">
                    <a:ea typeface="华文中宋" panose="02010600040101010101" pitchFamily="2" charset="-122"/>
                    <a:sym typeface="+mn-ea"/>
                  </a:rPr>
                  <a:t>y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</a:t>
                </a:r>
              </a:p>
              <a:p>
                <a:pPr algn="l"/>
                <a:r>
                  <a:rPr lang="en-US" altLang="zh-CN" sz="2600" b="1" i="1" dirty="0">
                    <a:ea typeface="华文中宋" panose="02010600040101010101" pitchFamily="2" charset="-122"/>
                    <a:sym typeface="+mn-ea"/>
                  </a:rPr>
                  <a:t>y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</a:t>
                </a:r>
                <a:endPara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pPr algn="l"/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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pPr algn="l"/>
                <a:r>
                  <a:rPr lang="en-US" altLang="zh-CN" sz="2600" b="1" i="1" dirty="0" err="1">
                    <a:ea typeface="华文中宋" panose="02010600040101010101" pitchFamily="2" charset="-122"/>
                    <a:sym typeface="+mn-ea"/>
                  </a:rPr>
                  <a:t>y</a:t>
                </a:r>
                <a:r>
                  <a:rPr lang="en-US" altLang="zh-CN" sz="2600" b="1" i="1" baseline="-30000" dirty="0" err="1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n</a:t>
                </a:r>
                <a:endParaRPr lang="en-US" altLang="zh-CN" sz="2600" b="1" i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61461" name="AutoShape 21"/>
              <p:cNvSpPr/>
              <p:nvPr>
                <p:custDataLst>
                  <p:tags r:id="rId18"/>
                </p:custDataLst>
              </p:nvPr>
            </p:nvSpPr>
            <p:spPr>
              <a:xfrm>
                <a:off x="4557" y="2552"/>
                <a:ext cx="349" cy="927"/>
              </a:xfrm>
              <a:prstGeom prst="bracketPair">
                <a:avLst>
                  <a:gd name="adj" fmla="val 14898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lstStyle/>
              <a:p>
                <a:endParaRPr dirty="0">
                  <a:latin typeface="Arial" panose="020B0604020202020204" pitchFamily="34" charset="0"/>
                  <a:ea typeface="华文中宋" panose="02010600040101010101" pitchFamily="2" charset="-122"/>
                </a:endParaRPr>
              </a:p>
            </p:txBody>
          </p:sp>
        </p:grpSp>
      </p:grpSp>
      <p:grpSp>
        <p:nvGrpSpPr>
          <p:cNvPr id="7" name="Group 22"/>
          <p:cNvGrpSpPr/>
          <p:nvPr/>
        </p:nvGrpSpPr>
        <p:grpSpPr>
          <a:xfrm>
            <a:off x="1561148" y="4785678"/>
            <a:ext cx="3143250" cy="1635124"/>
            <a:chOff x="969" y="2413"/>
            <a:chExt cx="1980" cy="1030"/>
          </a:xfrm>
        </p:grpSpPr>
        <p:sp>
          <p:nvSpPr>
            <p:cNvPr id="61463" name="Text Box 23"/>
            <p:cNvSpPr txBox="1"/>
            <p:nvPr>
              <p:custDataLst>
                <p:tags r:id="rId10"/>
              </p:custDataLst>
            </p:nvPr>
          </p:nvSpPr>
          <p:spPr>
            <a:xfrm>
              <a:off x="969" y="2789"/>
              <a:ext cx="198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A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</a:rPr>
                <a:t>=                             </a:t>
              </a:r>
              <a:r>
                <a:rPr lang="zh-CN" altLang="en-US" sz="26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，</a:t>
              </a:r>
              <a:endParaRPr lang="zh-CN" altLang="en-US" sz="2600" b="1" dirty="0">
                <a:latin typeface="Symbol" panose="05050102010706020507" pitchFamily="18" charset="2"/>
                <a:ea typeface="华文中宋" panose="02010600040101010101" pitchFamily="2" charset="-122"/>
              </a:endParaRPr>
            </a:p>
          </p:txBody>
        </p:sp>
        <p:grpSp>
          <p:nvGrpSpPr>
            <p:cNvPr id="61464" name="Group 24"/>
            <p:cNvGrpSpPr/>
            <p:nvPr/>
          </p:nvGrpSpPr>
          <p:grpSpPr>
            <a:xfrm>
              <a:off x="1235" y="2413"/>
              <a:ext cx="1413" cy="1030"/>
              <a:chOff x="1235" y="2413"/>
              <a:chExt cx="1413" cy="1030"/>
            </a:xfrm>
          </p:grpSpPr>
          <p:sp>
            <p:nvSpPr>
              <p:cNvPr id="61465" name="Rectangle 25"/>
              <p:cNvSpPr/>
              <p:nvPr>
                <p:custDataLst>
                  <p:tags r:id="rId11"/>
                </p:custDataLst>
              </p:nvPr>
            </p:nvSpPr>
            <p:spPr>
              <a:xfrm>
                <a:off x="1338" y="2413"/>
                <a:ext cx="247" cy="10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/>
              <a:p>
                <a:pPr algn="ctr"/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a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11</a:t>
                </a:r>
              </a:p>
              <a:p>
                <a:pPr algn="ctr"/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a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21</a:t>
                </a:r>
              </a:p>
              <a:p>
                <a:pPr algn="ctr"/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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pPr algn="ctr"/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a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n1</a:t>
                </a:r>
              </a:p>
            </p:txBody>
          </p:sp>
          <p:sp>
            <p:nvSpPr>
              <p:cNvPr id="61466" name="Rectangle 26"/>
              <p:cNvSpPr/>
              <p:nvPr>
                <p:custDataLst>
                  <p:tags r:id="rId12"/>
                </p:custDataLst>
              </p:nvPr>
            </p:nvSpPr>
            <p:spPr>
              <a:xfrm>
                <a:off x="1705" y="2413"/>
                <a:ext cx="247" cy="10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/>
              <a:p>
                <a:pPr algn="ctr"/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a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12</a:t>
                </a:r>
              </a:p>
              <a:p>
                <a:pPr algn="ctr"/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a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22</a:t>
                </a:r>
              </a:p>
              <a:p>
                <a:pPr algn="ctr"/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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pPr algn="ctr"/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a</a:t>
                </a:r>
                <a:r>
                  <a:rPr lang="en-US" altLang="zh-CN" sz="2600" b="1" i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n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</a:t>
                </a:r>
              </a:p>
            </p:txBody>
          </p:sp>
          <p:sp>
            <p:nvSpPr>
              <p:cNvPr id="61467" name="Rectangle 27"/>
              <p:cNvSpPr/>
              <p:nvPr>
                <p:custDataLst>
                  <p:tags r:id="rId13"/>
                </p:custDataLst>
              </p:nvPr>
            </p:nvSpPr>
            <p:spPr>
              <a:xfrm>
                <a:off x="2060" y="2413"/>
                <a:ext cx="156" cy="10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/>
              <a:p>
                <a:pPr algn="r" eaLnBrk="0" hangingPunct="0"/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</a:t>
                </a:r>
              </a:p>
              <a:p>
                <a:pPr algn="r" eaLnBrk="0" hangingPunct="0"/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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pPr algn="r"/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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pPr algn="r"/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</a:t>
                </a:r>
              </a:p>
            </p:txBody>
          </p:sp>
          <p:sp>
            <p:nvSpPr>
              <p:cNvPr id="61468" name="Rectangle 28"/>
              <p:cNvSpPr/>
              <p:nvPr>
                <p:custDataLst>
                  <p:tags r:id="rId14"/>
                </p:custDataLst>
              </p:nvPr>
            </p:nvSpPr>
            <p:spPr>
              <a:xfrm>
                <a:off x="2321" y="2413"/>
                <a:ext cx="254" cy="10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/>
              <a:p>
                <a:pPr algn="ctr"/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a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</a:t>
                </a:r>
                <a:r>
                  <a:rPr lang="en-US" altLang="zh-CN" sz="2600" b="1" i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n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pPr algn="ctr"/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a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</a:t>
                </a:r>
                <a:r>
                  <a:rPr lang="en-US" altLang="zh-CN" sz="2600" b="1" i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n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pPr algn="ctr"/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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pPr algn="ctr"/>
                <a:r>
                  <a:rPr lang="en-US" altLang="zh-CN" sz="2600" b="1" i="1" dirty="0" err="1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a</a:t>
                </a:r>
                <a:r>
                  <a:rPr lang="en-US" altLang="zh-CN" sz="2600" b="1" i="1" baseline="-30000" dirty="0" err="1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nn</a:t>
                </a:r>
                <a:endParaRPr lang="en-US" altLang="zh-CN" sz="2600" b="1" i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61469" name="AutoShape 29"/>
              <p:cNvSpPr/>
              <p:nvPr>
                <p:custDataLst>
                  <p:tags r:id="rId15"/>
                </p:custDataLst>
              </p:nvPr>
            </p:nvSpPr>
            <p:spPr>
              <a:xfrm>
                <a:off x="1235" y="2495"/>
                <a:ext cx="1413" cy="927"/>
              </a:xfrm>
              <a:prstGeom prst="bracketPair">
                <a:avLst>
                  <a:gd name="adj" fmla="val 4856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lstStyle/>
              <a:p>
                <a:endParaRPr dirty="0">
                  <a:latin typeface="Arial" panose="020B0604020202020204" pitchFamily="34" charset="0"/>
                  <a:ea typeface="华文中宋" panose="02010600040101010101" pitchFamily="2" charset="-122"/>
                </a:endParaRPr>
              </a:p>
            </p:txBody>
          </p:sp>
        </p:grpSp>
      </p:grpSp>
      <p:grpSp>
        <p:nvGrpSpPr>
          <p:cNvPr id="8" name="Group 30"/>
          <p:cNvGrpSpPr/>
          <p:nvPr/>
        </p:nvGrpSpPr>
        <p:grpSpPr>
          <a:xfrm>
            <a:off x="4763135" y="4785678"/>
            <a:ext cx="1501775" cy="1624012"/>
            <a:chOff x="3327" y="2413"/>
            <a:chExt cx="946" cy="1023"/>
          </a:xfrm>
        </p:grpSpPr>
        <p:sp>
          <p:nvSpPr>
            <p:cNvPr id="61471" name="Text Box 31"/>
            <p:cNvSpPr txBox="1"/>
            <p:nvPr>
              <p:custDataLst>
                <p:tags r:id="rId7"/>
              </p:custDataLst>
            </p:nvPr>
          </p:nvSpPr>
          <p:spPr>
            <a:xfrm>
              <a:off x="3327" y="2789"/>
              <a:ext cx="9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x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</a:rPr>
                <a:t>=          </a:t>
              </a:r>
              <a:r>
                <a:rPr lang="zh-CN" altLang="en-US" sz="26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，</a:t>
              </a:r>
              <a:endParaRPr lang="zh-CN" altLang="en-US" sz="2600" b="1" dirty="0">
                <a:latin typeface="Symbol" panose="05050102010706020507" pitchFamily="18" charset="2"/>
                <a:ea typeface="华文中宋" panose="02010600040101010101" pitchFamily="2" charset="-122"/>
              </a:endParaRPr>
            </a:p>
          </p:txBody>
        </p:sp>
        <p:grpSp>
          <p:nvGrpSpPr>
            <p:cNvPr id="61472" name="Group 32"/>
            <p:cNvGrpSpPr/>
            <p:nvPr/>
          </p:nvGrpSpPr>
          <p:grpSpPr>
            <a:xfrm>
              <a:off x="3619" y="2413"/>
              <a:ext cx="349" cy="1023"/>
              <a:chOff x="4557" y="2470"/>
              <a:chExt cx="349" cy="1023"/>
            </a:xfrm>
          </p:grpSpPr>
          <p:sp>
            <p:nvSpPr>
              <p:cNvPr id="61473" name="Rectangle 33"/>
              <p:cNvSpPr/>
              <p:nvPr>
                <p:custDataLst>
                  <p:tags r:id="rId8"/>
                </p:custDataLst>
              </p:nvPr>
            </p:nvSpPr>
            <p:spPr>
              <a:xfrm>
                <a:off x="4639" y="2470"/>
                <a:ext cx="172" cy="10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/>
              <a:p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x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</a:t>
                </a:r>
              </a:p>
              <a:p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x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</a:t>
                </a:r>
                <a:endParaRPr lang="en-US" altLang="zh-CN" sz="2600" b="1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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r>
                  <a:rPr lang="en-US" altLang="zh-CN" sz="2600" b="1" i="1" dirty="0" err="1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x</a:t>
                </a:r>
                <a:r>
                  <a:rPr lang="en-US" altLang="zh-CN" sz="2600" b="1" i="1" baseline="-30000" dirty="0" err="1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n</a:t>
                </a:r>
                <a:endParaRPr lang="en-US" altLang="zh-CN" sz="2600" b="1" i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61474" name="AutoShape 34"/>
              <p:cNvSpPr/>
              <p:nvPr>
                <p:custDataLst>
                  <p:tags r:id="rId9"/>
                </p:custDataLst>
              </p:nvPr>
            </p:nvSpPr>
            <p:spPr>
              <a:xfrm>
                <a:off x="4557" y="2552"/>
                <a:ext cx="349" cy="927"/>
              </a:xfrm>
              <a:prstGeom prst="bracketPair">
                <a:avLst>
                  <a:gd name="adj" fmla="val 14898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lstStyle/>
              <a:p>
                <a:endParaRPr dirty="0">
                  <a:latin typeface="Arial" panose="020B0604020202020204" pitchFamily="34" charset="0"/>
                  <a:ea typeface="华文中宋" panose="02010600040101010101" pitchFamily="2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7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5" grpId="0" build="p"/>
      <p:bldP spid="2" grpId="0" build="p"/>
      <p:bldP spid="13722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通过线性变换得到逆矩阵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945" name="Text Box 9"/>
          <p:cNvSpPr txBox="1"/>
          <p:nvPr>
            <p:custDataLst>
              <p:tags r:id="rId2"/>
            </p:custDataLst>
          </p:nvPr>
        </p:nvSpPr>
        <p:spPr>
          <a:xfrm>
            <a:off x="683895" y="963930"/>
            <a:ext cx="776097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|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|0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由克莱姆法则可知，唯一解可表示为</a:t>
            </a:r>
          </a:p>
        </p:txBody>
      </p:sp>
      <p:sp>
        <p:nvSpPr>
          <p:cNvPr id="137220" name="Text Box 4"/>
          <p:cNvSpPr txBox="1"/>
          <p:nvPr>
            <p:custDataLst>
              <p:tags r:id="rId3"/>
            </p:custDataLst>
          </p:nvPr>
        </p:nvSpPr>
        <p:spPr>
          <a:xfrm>
            <a:off x="467360" y="3957320"/>
            <a:ext cx="8072120" cy="103314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这就是从变量组</a:t>
            </a:r>
            <a:r>
              <a:rPr lang="zh-CN" altLang="en-US" sz="2600" b="1" dirty="0">
                <a:ea typeface="华文中宋" panose="02010600040101010101" pitchFamily="2" charset="-122"/>
                <a:sym typeface="+mn-ea"/>
              </a:rPr>
              <a:t> </a:t>
            </a:r>
            <a:r>
              <a:rPr lang="en-US" altLang="zh-CN" sz="2600" b="1" i="1" dirty="0">
                <a:ea typeface="华文中宋" panose="02010600040101010101" pitchFamily="2" charset="-122"/>
                <a:sym typeface="+mn-ea"/>
              </a:rPr>
              <a:t>x</a:t>
            </a:r>
            <a:r>
              <a:rPr lang="en-US" altLang="zh-CN" sz="2600" b="1" baseline="-25000" dirty="0">
                <a:ea typeface="华文中宋" panose="02010600040101010101" pitchFamily="2" charset="-122"/>
                <a:sym typeface="+mn-ea"/>
              </a:rPr>
              <a:t>1</a:t>
            </a:r>
            <a:r>
              <a:rPr lang="en-US" altLang="zh-CN" sz="2600" b="1" dirty="0">
                <a:ea typeface="华文中宋" panose="02010600040101010101" pitchFamily="2" charset="-122"/>
                <a:sym typeface="+mn-ea"/>
              </a:rPr>
              <a:t> , </a:t>
            </a:r>
            <a:r>
              <a:rPr lang="en-US" altLang="zh-CN" sz="2600" b="1" i="1" dirty="0">
                <a:ea typeface="华文中宋" panose="02010600040101010101" pitchFamily="2" charset="-122"/>
                <a:sym typeface="+mn-ea"/>
              </a:rPr>
              <a:t>x</a:t>
            </a:r>
            <a:r>
              <a:rPr lang="en-US" altLang="zh-CN" sz="2600" b="1" baseline="-25000" dirty="0">
                <a:ea typeface="华文中宋" panose="02010600040101010101" pitchFamily="2" charset="-122"/>
                <a:sym typeface="+mn-ea"/>
              </a:rPr>
              <a:t>2……</a:t>
            </a:r>
            <a:r>
              <a:rPr lang="en-US" altLang="zh-CN" sz="2600" b="1" dirty="0">
                <a:ea typeface="华文中宋" panose="02010600040101010101" pitchFamily="2" charset="-122"/>
                <a:sym typeface="+mn-ea"/>
              </a:rPr>
              <a:t> </a:t>
            </a:r>
            <a:r>
              <a:rPr lang="en-US" altLang="zh-CN" sz="2600" b="1" i="1" dirty="0">
                <a:ea typeface="华文中宋" panose="02010600040101010101" pitchFamily="2" charset="-122"/>
                <a:sym typeface="+mn-ea"/>
              </a:rPr>
              <a:t>x</a:t>
            </a:r>
            <a:r>
              <a:rPr lang="en-US" altLang="zh-CN" sz="2600" b="1" baseline="-25000" dirty="0">
                <a:ea typeface="华文中宋" panose="02010600040101010101" pitchFamily="2" charset="-122"/>
                <a:sym typeface="+mn-ea"/>
              </a:rPr>
              <a:t>n</a:t>
            </a:r>
            <a:r>
              <a:rPr lang="en-US" altLang="zh-CN" sz="2600" b="1" dirty="0">
                <a:ea typeface="华文中宋" panose="02010600040101010101" pitchFamily="2" charset="-122"/>
                <a:sym typeface="+mn-ea"/>
              </a:rPr>
              <a:t>  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到变量组</a:t>
            </a:r>
            <a:r>
              <a:rPr lang="zh-CN" altLang="en-US" sz="2600" b="1" dirty="0">
                <a:ea typeface="华文中宋" panose="02010600040101010101" pitchFamily="2" charset="-122"/>
                <a:sym typeface="+mn-ea"/>
              </a:rPr>
              <a:t> </a:t>
            </a:r>
            <a:r>
              <a:rPr lang="en-US" altLang="zh-CN" sz="2600" b="1" i="1" dirty="0">
                <a:ea typeface="华文中宋" panose="02010600040101010101" pitchFamily="2" charset="-122"/>
                <a:sym typeface="+mn-ea"/>
              </a:rPr>
              <a:t>y</a:t>
            </a:r>
            <a:r>
              <a:rPr lang="en-US" altLang="zh-CN" sz="2600" b="1" baseline="-25000" dirty="0">
                <a:ea typeface="华文中宋" panose="02010600040101010101" pitchFamily="2" charset="-122"/>
                <a:sym typeface="+mn-ea"/>
              </a:rPr>
              <a:t>1</a:t>
            </a:r>
            <a:r>
              <a:rPr lang="en-US" altLang="zh-CN" sz="2600" b="1" dirty="0">
                <a:ea typeface="华文中宋" panose="02010600040101010101" pitchFamily="2" charset="-122"/>
                <a:sym typeface="+mn-ea"/>
              </a:rPr>
              <a:t> , </a:t>
            </a:r>
            <a:r>
              <a:rPr lang="en-US" altLang="zh-CN" sz="2600" b="1" i="1" dirty="0">
                <a:ea typeface="华文中宋" panose="02010600040101010101" pitchFamily="2" charset="-122"/>
                <a:sym typeface="+mn-ea"/>
              </a:rPr>
              <a:t>y</a:t>
            </a:r>
            <a:r>
              <a:rPr lang="en-US" altLang="zh-CN" sz="2600" b="1" baseline="-25000" dirty="0">
                <a:ea typeface="华文中宋" panose="02010600040101010101" pitchFamily="2" charset="-122"/>
                <a:sym typeface="+mn-ea"/>
              </a:rPr>
              <a:t>2……</a:t>
            </a:r>
            <a:r>
              <a:rPr lang="en-US" altLang="zh-CN" sz="2600" b="1" dirty="0">
                <a:ea typeface="华文中宋" panose="02010600040101010101" pitchFamily="2" charset="-122"/>
                <a:sym typeface="+mn-ea"/>
              </a:rPr>
              <a:t> , </a:t>
            </a:r>
            <a:r>
              <a:rPr lang="en-US" altLang="zh-CN" sz="2600" b="1" i="1" dirty="0">
                <a:ea typeface="华文中宋" panose="02010600040101010101" pitchFamily="2" charset="-122"/>
                <a:sym typeface="+mn-ea"/>
              </a:rPr>
              <a:t>y</a:t>
            </a:r>
            <a:r>
              <a:rPr lang="en-US" altLang="zh-CN" sz="2600" b="1" baseline="-25000" dirty="0">
                <a:ea typeface="华文中宋" panose="02010600040101010101" pitchFamily="2" charset="-122"/>
                <a:sym typeface="+mn-ea"/>
              </a:rPr>
              <a:t>n  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的逆变换，记</a:t>
            </a:r>
          </a:p>
        </p:txBody>
      </p:sp>
      <p:grpSp>
        <p:nvGrpSpPr>
          <p:cNvPr id="6" name="Group 22"/>
          <p:cNvGrpSpPr/>
          <p:nvPr/>
        </p:nvGrpSpPr>
        <p:grpSpPr>
          <a:xfrm>
            <a:off x="2771458" y="4658043"/>
            <a:ext cx="3146425" cy="1635124"/>
            <a:chOff x="969" y="2413"/>
            <a:chExt cx="1982" cy="1030"/>
          </a:xfrm>
        </p:grpSpPr>
        <p:sp>
          <p:nvSpPr>
            <p:cNvPr id="61463" name="Text Box 23"/>
            <p:cNvSpPr txBox="1"/>
            <p:nvPr>
              <p:custDataLst>
                <p:tags r:id="rId5"/>
              </p:custDataLst>
            </p:nvPr>
          </p:nvSpPr>
          <p:spPr>
            <a:xfrm>
              <a:off x="969" y="2789"/>
              <a:ext cx="1982" cy="3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600" b="1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B</a:t>
              </a:r>
              <a:r>
                <a:rPr lang="en-US" altLang="zh-CN" sz="2600" b="1" dirty="0">
                  <a:latin typeface="Symbol" panose="05050102010706020507" pitchFamily="18" charset="2"/>
                  <a:ea typeface="华文中宋" panose="02010600040101010101" pitchFamily="2" charset="-122"/>
                </a:rPr>
                <a:t>=                             </a:t>
              </a:r>
              <a:r>
                <a:rPr lang="zh-CN" altLang="en-US" sz="26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，</a:t>
              </a:r>
              <a:endParaRPr lang="zh-CN" altLang="en-US" sz="2600" b="1" dirty="0">
                <a:latin typeface="Symbol" panose="05050102010706020507" pitchFamily="18" charset="2"/>
                <a:ea typeface="华文中宋" panose="02010600040101010101" pitchFamily="2" charset="-122"/>
              </a:endParaRPr>
            </a:p>
          </p:txBody>
        </p:sp>
        <p:grpSp>
          <p:nvGrpSpPr>
            <p:cNvPr id="61464" name="Group 24"/>
            <p:cNvGrpSpPr/>
            <p:nvPr/>
          </p:nvGrpSpPr>
          <p:grpSpPr>
            <a:xfrm>
              <a:off x="1235" y="2413"/>
              <a:ext cx="1413" cy="1030"/>
              <a:chOff x="1235" y="2413"/>
              <a:chExt cx="1413" cy="1030"/>
            </a:xfrm>
          </p:grpSpPr>
          <p:sp>
            <p:nvSpPr>
              <p:cNvPr id="61465" name="Rectangle 25"/>
              <p:cNvSpPr/>
              <p:nvPr>
                <p:custDataLst>
                  <p:tags r:id="rId6"/>
                </p:custDataLst>
              </p:nvPr>
            </p:nvSpPr>
            <p:spPr>
              <a:xfrm>
                <a:off x="1338" y="2413"/>
                <a:ext cx="247" cy="10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/>
              <a:p>
                <a:pPr algn="ctr"/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b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11</a:t>
                </a:r>
              </a:p>
              <a:p>
                <a:pPr algn="ctr"/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b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21</a:t>
                </a:r>
              </a:p>
              <a:p>
                <a:pPr algn="ctr"/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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pPr algn="ctr"/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b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n1</a:t>
                </a:r>
              </a:p>
            </p:txBody>
          </p:sp>
          <p:sp>
            <p:nvSpPr>
              <p:cNvPr id="61466" name="Rectangle 26"/>
              <p:cNvSpPr/>
              <p:nvPr>
                <p:custDataLst>
                  <p:tags r:id="rId7"/>
                </p:custDataLst>
              </p:nvPr>
            </p:nvSpPr>
            <p:spPr>
              <a:xfrm>
                <a:off x="1705" y="2413"/>
                <a:ext cx="247" cy="10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/>
              <a:p>
                <a:pPr algn="ctr"/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b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12</a:t>
                </a:r>
              </a:p>
              <a:p>
                <a:pPr algn="ctr"/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b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22</a:t>
                </a:r>
              </a:p>
              <a:p>
                <a:pPr algn="ctr"/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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pPr algn="ctr"/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b</a:t>
                </a:r>
                <a:r>
                  <a:rPr lang="en-US" altLang="zh-CN" sz="2600" b="1" i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n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</a:t>
                </a:r>
              </a:p>
            </p:txBody>
          </p:sp>
          <p:sp>
            <p:nvSpPr>
              <p:cNvPr id="61467" name="Rectangle 27"/>
              <p:cNvSpPr/>
              <p:nvPr>
                <p:custDataLst>
                  <p:tags r:id="rId8"/>
                </p:custDataLst>
              </p:nvPr>
            </p:nvSpPr>
            <p:spPr>
              <a:xfrm>
                <a:off x="2060" y="2413"/>
                <a:ext cx="156" cy="10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/>
              <a:p>
                <a:pPr algn="r" eaLnBrk="0" hangingPunct="0"/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</a:t>
                </a:r>
              </a:p>
              <a:p>
                <a:pPr algn="r" eaLnBrk="0" hangingPunct="0"/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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pPr algn="r"/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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pPr algn="r"/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</a:t>
                </a:r>
              </a:p>
            </p:txBody>
          </p:sp>
          <p:sp>
            <p:nvSpPr>
              <p:cNvPr id="61468" name="Rectangle 28"/>
              <p:cNvSpPr/>
              <p:nvPr>
                <p:custDataLst>
                  <p:tags r:id="rId9"/>
                </p:custDataLst>
              </p:nvPr>
            </p:nvSpPr>
            <p:spPr>
              <a:xfrm>
                <a:off x="2321" y="2413"/>
                <a:ext cx="254" cy="10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36000">
                <a:spAutoFit/>
              </a:bodyPr>
              <a:lstStyle/>
              <a:p>
                <a:pPr algn="ctr"/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b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</a:t>
                </a:r>
                <a:r>
                  <a:rPr lang="en-US" altLang="zh-CN" sz="2600" b="1" i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n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pPr algn="ctr"/>
                <a:r>
                  <a:rPr lang="en-US" altLang="zh-CN" sz="2600" b="1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b</a:t>
                </a:r>
                <a:r>
                  <a:rPr lang="en-US" altLang="zh-CN" sz="2600" b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</a:t>
                </a:r>
                <a:r>
                  <a:rPr lang="en-US" altLang="zh-CN" sz="2600" b="1" i="1" baseline="-30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n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pPr algn="ctr"/>
                <a:r>
                  <a:rPr lang="en-US" altLang="zh-CN" sz="2600" b="1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</a:t>
                </a:r>
                <a:endParaRPr lang="en-US" altLang="zh-CN" sz="2600" b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  <a:p>
                <a:pPr algn="ctr"/>
                <a:r>
                  <a:rPr lang="en-US" altLang="zh-CN" sz="2600" b="1" i="1" dirty="0" err="1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b</a:t>
                </a:r>
                <a:r>
                  <a:rPr lang="en-US" altLang="zh-CN" sz="2600" b="1" i="1" baseline="-30000" dirty="0" err="1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nn</a:t>
                </a:r>
                <a:endParaRPr lang="en-US" altLang="zh-CN" sz="2600" b="1" i="1" baseline="-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61469" name="AutoShape 29"/>
              <p:cNvSpPr/>
              <p:nvPr>
                <p:custDataLst>
                  <p:tags r:id="rId10"/>
                </p:custDataLst>
              </p:nvPr>
            </p:nvSpPr>
            <p:spPr>
              <a:xfrm>
                <a:off x="1235" y="2495"/>
                <a:ext cx="1413" cy="927"/>
              </a:xfrm>
              <a:prstGeom prst="bracketPair">
                <a:avLst>
                  <a:gd name="adj" fmla="val 4856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lIns="0" tIns="0" rIns="0" bIns="0" anchor="ctr" anchorCtr="0">
                <a:spAutoFit/>
              </a:bodyPr>
              <a:lstStyle/>
              <a:p>
                <a:endParaRPr dirty="0">
                  <a:latin typeface="Arial" panose="020B0604020202020204" pitchFamily="34" charset="0"/>
                  <a:ea typeface="华文中宋" panose="02010600040101010101" pitchFamily="2" charset="-122"/>
                </a:endParaRPr>
              </a:p>
            </p:txBody>
          </p:sp>
        </p:grpSp>
      </p:grpSp>
      <p:graphicFrame>
        <p:nvGraphicFramePr>
          <p:cNvPr id="2" name="对象 -2147482272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2146618" y="1487805"/>
          <a:ext cx="4768215" cy="2360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14" imgW="47244000" imgH="22555200" progId="Equation.DSMT4">
                  <p:embed/>
                </p:oleObj>
              </mc:Choice>
              <mc:Fallback>
                <p:oleObj name="Equation" r:id="rId14" imgW="47244000" imgH="225552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146618" y="1487805"/>
                        <a:ext cx="4768215" cy="23602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5" grpId="0" build="p"/>
      <p:bldP spid="137220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2">
            <a:extLst>
              <a:ext uri="{FF2B5EF4-FFF2-40B4-BE49-F238E27FC236}">
                <a16:creationId xmlns:a16="http://schemas.microsoft.com/office/drawing/2014/main" id="{979E5A3C-4508-8C4B-96FD-9A03820B1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862388"/>
            <a:ext cx="13668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2.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性质</a:t>
            </a:r>
          </a:p>
        </p:txBody>
      </p:sp>
      <p:sp>
        <p:nvSpPr>
          <p:cNvPr id="20" name="Text Box 3">
            <a:extLst>
              <a:ext uri="{FF2B5EF4-FFF2-40B4-BE49-F238E27FC236}">
                <a16:creationId xmlns:a16="http://schemas.microsoft.com/office/drawing/2014/main" id="{E2929A98-34DA-E54C-B74A-3F68510DF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60350"/>
            <a:ext cx="457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一、</a:t>
            </a: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方阵的行列式</a:t>
            </a: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id="{2B9C0584-5B3F-DE4E-85F4-EF45DE18E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836613"/>
            <a:ext cx="860425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1.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定义 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阶方阵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=(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ij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×</a:t>
            </a:r>
            <a:r>
              <a:rPr kumimoji="1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的元素按原有位置构成的行列式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, 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称为方阵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的行列式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. 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记作</a:t>
            </a:r>
          </a:p>
        </p:txBody>
      </p:sp>
      <p:graphicFrame>
        <p:nvGraphicFramePr>
          <p:cNvPr id="22" name="Object 5">
            <a:extLst>
              <a:ext uri="{FF2B5EF4-FFF2-40B4-BE49-F238E27FC236}">
                <a16:creationId xmlns:a16="http://schemas.microsoft.com/office/drawing/2014/main" id="{D7A04FBD-49DB-5F47-87A5-72551D9BA1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2133600"/>
          <a:ext cx="3905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5" name="Equation" r:id="rId3" imgW="266700" imgH="330200" progId="Equation.DSMT4">
                  <p:embed/>
                </p:oleObj>
              </mc:Choice>
              <mc:Fallback>
                <p:oleObj name="Equation" r:id="rId3" imgW="266700" imgH="330200" progId="Equation.DSMT4">
                  <p:embed/>
                  <p:pic>
                    <p:nvPicPr>
                      <p:cNvPr id="147461" name="Object 5">
                        <a:extLst>
                          <a:ext uri="{FF2B5EF4-FFF2-40B4-BE49-F238E27FC236}">
                            <a16:creationId xmlns:a16="http://schemas.microsoft.com/office/drawing/2014/main" id="{A1060339-F901-8447-827E-ED85F08480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133600"/>
                        <a:ext cx="39052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">
            <a:extLst>
              <a:ext uri="{FF2B5EF4-FFF2-40B4-BE49-F238E27FC236}">
                <a16:creationId xmlns:a16="http://schemas.microsoft.com/office/drawing/2014/main" id="{17E5898B-DAB6-A843-A375-94B385E8AF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8963" y="4162425"/>
          <a:ext cx="196532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6" name="Equation" r:id="rId5" imgW="1028700" imgH="368300" progId="Equation.DSMT4">
                  <p:embed/>
                </p:oleObj>
              </mc:Choice>
              <mc:Fallback>
                <p:oleObj name="Equation" r:id="rId5" imgW="1028700" imgH="368300" progId="Equation.DSMT4">
                  <p:embed/>
                  <p:pic>
                    <p:nvPicPr>
                      <p:cNvPr id="147462" name="Object 6">
                        <a:extLst>
                          <a:ext uri="{FF2B5EF4-FFF2-40B4-BE49-F238E27FC236}">
                            <a16:creationId xmlns:a16="http://schemas.microsoft.com/office/drawing/2014/main" id="{25E23A42-2968-0B4A-803D-002396E3EA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963" y="4162425"/>
                        <a:ext cx="1965325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7">
            <a:extLst>
              <a:ext uri="{FF2B5EF4-FFF2-40B4-BE49-F238E27FC236}">
                <a16:creationId xmlns:a16="http://schemas.microsoft.com/office/drawing/2014/main" id="{043DB7F3-3311-514A-857C-0DFD6754C4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4189413"/>
          <a:ext cx="11049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7" name="Equation" r:id="rId7" imgW="571500" imgH="330200" progId="Equation.DSMT4">
                  <p:embed/>
                </p:oleObj>
              </mc:Choice>
              <mc:Fallback>
                <p:oleObj name="Equation" r:id="rId7" imgW="571500" imgH="330200" progId="Equation.DSMT4">
                  <p:embed/>
                  <p:pic>
                    <p:nvPicPr>
                      <p:cNvPr id="147463" name="Object 7">
                        <a:extLst>
                          <a:ext uri="{FF2B5EF4-FFF2-40B4-BE49-F238E27FC236}">
                            <a16:creationId xmlns:a16="http://schemas.microsoft.com/office/drawing/2014/main" id="{4E552A18-036A-F14D-8FAB-F41DBF65D7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189413"/>
                        <a:ext cx="1104900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8">
            <a:extLst>
              <a:ext uri="{FF2B5EF4-FFF2-40B4-BE49-F238E27FC236}">
                <a16:creationId xmlns:a16="http://schemas.microsoft.com/office/drawing/2014/main" id="{DCB5F25B-E77E-7F4F-BAF0-ED766C7614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5100" y="4078288"/>
          <a:ext cx="178752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8" name="Equation" r:id="rId9" imgW="673100" imgH="330200" progId="Equation.DSMT4">
                  <p:embed/>
                </p:oleObj>
              </mc:Choice>
              <mc:Fallback>
                <p:oleObj name="Equation" r:id="rId9" imgW="673100" imgH="330200" progId="Equation.DSMT4">
                  <p:embed/>
                  <p:pic>
                    <p:nvPicPr>
                      <p:cNvPr id="147464" name="Object 8">
                        <a:extLst>
                          <a:ext uri="{FF2B5EF4-FFF2-40B4-BE49-F238E27FC236}">
                            <a16:creationId xmlns:a16="http://schemas.microsoft.com/office/drawing/2014/main" id="{C582F97A-2F11-3C4E-9B29-D2DFD88F74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078288"/>
                        <a:ext cx="1787525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9">
            <a:extLst>
              <a:ext uri="{FF2B5EF4-FFF2-40B4-BE49-F238E27FC236}">
                <a16:creationId xmlns:a16="http://schemas.microsoft.com/office/drawing/2014/main" id="{6FE8A173-C521-1C4B-8EEC-600F3160D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4221163"/>
            <a:ext cx="8651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>
                <a:solidFill>
                  <a:srgbClr val="FFFF00"/>
                </a:solidFill>
                <a:ea typeface="宋体" panose="02010600030101010101" pitchFamily="2" charset="-122"/>
              </a:rPr>
              <a:t>2)</a:t>
            </a:r>
          </a:p>
        </p:txBody>
      </p:sp>
      <p:graphicFrame>
        <p:nvGraphicFramePr>
          <p:cNvPr id="27" name="Object 10">
            <a:extLst>
              <a:ext uri="{FF2B5EF4-FFF2-40B4-BE49-F238E27FC236}">
                <a16:creationId xmlns:a16="http://schemas.microsoft.com/office/drawing/2014/main" id="{606F24CD-88B7-F640-B924-87D2EC250E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4926013"/>
          <a:ext cx="180181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9" name="Equation" r:id="rId11" imgW="1143000" imgH="330200" progId="Equation.DSMT4">
                  <p:embed/>
                </p:oleObj>
              </mc:Choice>
              <mc:Fallback>
                <p:oleObj name="Equation" r:id="rId11" imgW="1143000" imgH="330200" progId="Equation.DSMT4">
                  <p:embed/>
                  <p:pic>
                    <p:nvPicPr>
                      <p:cNvPr id="147466" name="Object 10">
                        <a:extLst>
                          <a:ext uri="{FF2B5EF4-FFF2-40B4-BE49-F238E27FC236}">
                            <a16:creationId xmlns:a16="http://schemas.microsoft.com/office/drawing/2014/main" id="{BC6E61D4-6315-0D46-A44B-BDC5FC04E7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926013"/>
                        <a:ext cx="1801813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11">
            <a:extLst>
              <a:ext uri="{FF2B5EF4-FFF2-40B4-BE49-F238E27FC236}">
                <a16:creationId xmlns:a16="http://schemas.microsoft.com/office/drawing/2014/main" id="{D1F138F2-DE1B-154B-BE24-381CE453F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4941888"/>
            <a:ext cx="14144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10800" rIns="18000" bIns="10800"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1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kumimoji="1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9" name="Object 12">
            <a:extLst>
              <a:ext uri="{FF2B5EF4-FFF2-40B4-BE49-F238E27FC236}">
                <a16:creationId xmlns:a16="http://schemas.microsoft.com/office/drawing/2014/main" id="{36564A7A-D39F-1344-ABB3-95E5B83E6A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1379538"/>
          <a:ext cx="609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0" name="Equation" r:id="rId13" imgW="266700" imgH="330200" progId="Equation.DSMT4">
                  <p:embed/>
                </p:oleObj>
              </mc:Choice>
              <mc:Fallback>
                <p:oleObj name="Equation" r:id="rId13" imgW="266700" imgH="330200" progId="Equation.DSMT4">
                  <p:embed/>
                  <p:pic>
                    <p:nvPicPr>
                      <p:cNvPr id="147468" name="Object 12">
                        <a:extLst>
                          <a:ext uri="{FF2B5EF4-FFF2-40B4-BE49-F238E27FC236}">
                            <a16:creationId xmlns:a16="http://schemas.microsoft.com/office/drawing/2014/main" id="{B401CE4D-5045-6547-B2EA-1BDBD950C2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379538"/>
                        <a:ext cx="609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3">
            <a:extLst>
              <a:ext uri="{FF2B5EF4-FFF2-40B4-BE49-F238E27FC236}">
                <a16:creationId xmlns:a16="http://schemas.microsoft.com/office/drawing/2014/main" id="{84034001-6AB3-1E46-9C65-28E1F45C2D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6688" y="2781300"/>
          <a:ext cx="3921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1" name="Equation" r:id="rId15" imgW="266700" imgH="330200" progId="Equation.DSMT4">
                  <p:embed/>
                </p:oleObj>
              </mc:Choice>
              <mc:Fallback>
                <p:oleObj name="Equation" r:id="rId15" imgW="266700" imgH="330200" progId="Equation.DSMT4">
                  <p:embed/>
                  <p:pic>
                    <p:nvPicPr>
                      <p:cNvPr id="147469" name="Object 13">
                        <a:extLst>
                          <a:ext uri="{FF2B5EF4-FFF2-40B4-BE49-F238E27FC236}">
                            <a16:creationId xmlns:a16="http://schemas.microsoft.com/office/drawing/2014/main" id="{F6A9EE7E-977C-9C44-A3AF-8EA7146DAF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2781300"/>
                        <a:ext cx="39211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4">
            <a:extLst>
              <a:ext uri="{FF2B5EF4-FFF2-40B4-BE49-F238E27FC236}">
                <a16:creationId xmlns:a16="http://schemas.microsoft.com/office/drawing/2014/main" id="{EFDEF70B-5FD7-8B4D-8377-9A23A94C38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5100" y="4078288"/>
          <a:ext cx="1728788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2" name="Equation" r:id="rId17" imgW="685800" imgH="330200" progId="Equation.DSMT4">
                  <p:embed/>
                </p:oleObj>
              </mc:Choice>
              <mc:Fallback>
                <p:oleObj name="Equation" r:id="rId17" imgW="685800" imgH="330200" progId="Equation.DSMT4">
                  <p:embed/>
                  <p:pic>
                    <p:nvPicPr>
                      <p:cNvPr id="147470" name="Object 14">
                        <a:extLst>
                          <a:ext uri="{FF2B5EF4-FFF2-40B4-BE49-F238E27FC236}">
                            <a16:creationId xmlns:a16="http://schemas.microsoft.com/office/drawing/2014/main" id="{DF380E7C-32B7-6744-8D58-09A2B92B60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078288"/>
                        <a:ext cx="1728788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15">
            <a:extLst>
              <a:ext uri="{FF2B5EF4-FFF2-40B4-BE49-F238E27FC236}">
                <a16:creationId xmlns:a16="http://schemas.microsoft.com/office/drawing/2014/main" id="{F9EFC0E4-842E-FE44-80FC-D4D0FAB69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989138"/>
            <a:ext cx="7993063" cy="187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</a:rPr>
              <a:t>注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] 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方阵</a:t>
            </a:r>
            <a:r>
              <a:rPr kumimoji="1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kumimoji="1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和它的行列式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是完全不同的两个概念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，</a:t>
            </a:r>
          </a:p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矩阵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是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个数排列成的一个正方形数表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而   则表示矩阵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所对应的一个数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.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3" name="Text Box 16">
            <a:extLst>
              <a:ext uri="{FF2B5EF4-FFF2-40B4-BE49-F238E27FC236}">
                <a16:creationId xmlns:a16="http://schemas.microsoft.com/office/drawing/2014/main" id="{822EB3D1-2C9E-4447-A656-1050B92EB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4870450"/>
            <a:ext cx="7191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3)</a:t>
            </a:r>
          </a:p>
        </p:txBody>
      </p:sp>
      <p:sp>
        <p:nvSpPr>
          <p:cNvPr id="34" name="Text Box 17">
            <a:extLst>
              <a:ext uri="{FF2B5EF4-FFF2-40B4-BE49-F238E27FC236}">
                <a16:creationId xmlns:a16="http://schemas.microsoft.com/office/drawing/2014/main" id="{511BC9D1-7798-6E43-BFA9-62720243B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5805488"/>
            <a:ext cx="12239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F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推广</a:t>
            </a:r>
            <a:r>
              <a:rPr kumimoji="0" lang="en-US" altLang="zh-CN">
                <a:solidFill>
                  <a:srgbClr val="FFFFFF"/>
                </a:solidFill>
                <a:ea typeface="华文行楷" panose="02010800040101010101" pitchFamily="2" charset="-122"/>
              </a:rPr>
              <a:t>:</a:t>
            </a:r>
          </a:p>
        </p:txBody>
      </p:sp>
      <p:graphicFrame>
        <p:nvGraphicFramePr>
          <p:cNvPr id="35" name="Object 18">
            <a:extLst>
              <a:ext uri="{FF2B5EF4-FFF2-40B4-BE49-F238E27FC236}">
                <a16:creationId xmlns:a16="http://schemas.microsoft.com/office/drawing/2014/main" id="{57F7ECF3-789E-5044-86C6-6916289133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2025" y="5800725"/>
          <a:ext cx="360045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3" name="Equation" r:id="rId19" imgW="2247900" imgH="330200" progId="Equation.DSMT4">
                  <p:embed/>
                </p:oleObj>
              </mc:Choice>
              <mc:Fallback>
                <p:oleObj name="Equation" r:id="rId19" imgW="2247900" imgH="330200" progId="Equation.DSMT4">
                  <p:embed/>
                  <p:pic>
                    <p:nvPicPr>
                      <p:cNvPr id="147474" name="Object 18">
                        <a:extLst>
                          <a:ext uri="{FF2B5EF4-FFF2-40B4-BE49-F238E27FC236}">
                            <a16:creationId xmlns:a16="http://schemas.microsoft.com/office/drawing/2014/main" id="{353A8832-D647-E444-9D9E-7D2F6403F0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5800725"/>
                        <a:ext cx="360045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587237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1" grpId="0" autoUpdateAnimBg="0"/>
      <p:bldP spid="26" grpId="0" autoUpdateAnimBg="0"/>
      <p:bldP spid="28" grpId="0"/>
      <p:bldP spid="32" grpId="0" autoUpdateAnimBg="0"/>
      <p:bldP spid="33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2">
            <a:extLst>
              <a:ext uri="{FF2B5EF4-FFF2-40B4-BE49-F238E27FC236}">
                <a16:creationId xmlns:a16="http://schemas.microsoft.com/office/drawing/2014/main" id="{A650D9E3-44B0-764D-809F-FE6B330BA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2024063"/>
            <a:ext cx="67325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设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为三阶矩阵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为四阶矩阵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21" name="Object 3">
            <a:extLst>
              <a:ext uri="{FF2B5EF4-FFF2-40B4-BE49-F238E27FC236}">
                <a16:creationId xmlns:a16="http://schemas.microsoft.com/office/drawing/2014/main" id="{E2F98619-DC83-7849-8F95-D90986723C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69000" y="2073275"/>
          <a:ext cx="210185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5" name="Equation" r:id="rId3" imgW="24282400" imgH="5854700" progId="Equation.DSMT4">
                  <p:embed/>
                </p:oleObj>
              </mc:Choice>
              <mc:Fallback>
                <p:oleObj name="Equation" r:id="rId3" imgW="24282400" imgH="5854700" progId="Equation.DSMT4">
                  <p:embed/>
                  <p:pic>
                    <p:nvPicPr>
                      <p:cNvPr id="148483" name="Object 3">
                        <a:extLst>
                          <a:ext uri="{FF2B5EF4-FFF2-40B4-BE49-F238E27FC236}">
                            <a16:creationId xmlns:a16="http://schemas.microsoft.com/office/drawing/2014/main" id="{5C5B7274-A946-AD42-A2CA-D15F3C02BE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0" y="2073275"/>
                        <a:ext cx="210185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4">
            <a:extLst>
              <a:ext uri="{FF2B5EF4-FFF2-40B4-BE49-F238E27FC236}">
                <a16:creationId xmlns:a16="http://schemas.microsoft.com/office/drawing/2014/main" id="{2B31EC54-AECA-B740-9702-6AB505479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2671763"/>
            <a:ext cx="8509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rgbClr val="FFFF00"/>
                </a:solidFill>
                <a:latin typeface="楷体_GB2312" pitchFamily="49" charset="-122"/>
              </a:rPr>
              <a:t>求</a:t>
            </a:r>
            <a:r>
              <a:rPr lang="zh-CN" altLang="en-US">
                <a:solidFill>
                  <a:srgbClr val="FFFF00"/>
                </a:solidFill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23" name="Object 5">
            <a:extLst>
              <a:ext uri="{FF2B5EF4-FFF2-40B4-BE49-F238E27FC236}">
                <a16:creationId xmlns:a16="http://schemas.microsoft.com/office/drawing/2014/main" id="{FE040D26-C1DA-D045-ADE2-57726C158B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2388" y="2716213"/>
          <a:ext cx="19780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6" name="Equation" r:id="rId5" imgW="21945600" imgH="6438900" progId="Equation.DSMT4">
                  <p:embed/>
                </p:oleObj>
              </mc:Choice>
              <mc:Fallback>
                <p:oleObj name="Equation" r:id="rId5" imgW="21945600" imgH="6438900" progId="Equation.DSMT4">
                  <p:embed/>
                  <p:pic>
                    <p:nvPicPr>
                      <p:cNvPr id="148485" name="Object 5">
                        <a:extLst>
                          <a:ext uri="{FF2B5EF4-FFF2-40B4-BE49-F238E27FC236}">
                            <a16:creationId xmlns:a16="http://schemas.microsoft.com/office/drawing/2014/main" id="{24D748BC-A2B2-694B-8340-2A6CEFD10B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388" y="2716213"/>
                        <a:ext cx="19780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>
            <a:extLst>
              <a:ext uri="{FF2B5EF4-FFF2-40B4-BE49-F238E27FC236}">
                <a16:creationId xmlns:a16="http://schemas.microsoft.com/office/drawing/2014/main" id="{1C2BC46B-4D33-AB40-B28A-876DBC37AD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4078288"/>
          <a:ext cx="1584325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7" name="Equation" r:id="rId7" imgW="14046200" imgH="6438900" progId="Equation.DSMT4">
                  <p:embed/>
                </p:oleObj>
              </mc:Choice>
              <mc:Fallback>
                <p:oleObj name="Equation" r:id="rId7" imgW="14046200" imgH="6438900" progId="Equation.DSMT4">
                  <p:embed/>
                  <p:pic>
                    <p:nvPicPr>
                      <p:cNvPr id="148486" name="Object 6">
                        <a:extLst>
                          <a:ext uri="{FF2B5EF4-FFF2-40B4-BE49-F238E27FC236}">
                            <a16:creationId xmlns:a16="http://schemas.microsoft.com/office/drawing/2014/main" id="{D279DDFA-FF46-BE4F-9A4D-3BE153D708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078288"/>
                        <a:ext cx="1584325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7">
            <a:extLst>
              <a:ext uri="{FF2B5EF4-FFF2-40B4-BE49-F238E27FC236}">
                <a16:creationId xmlns:a16="http://schemas.microsoft.com/office/drawing/2014/main" id="{E86E010B-13D1-6F40-B01E-E5C4D8F2A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284538"/>
            <a:ext cx="1260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26" name="Object 8">
            <a:extLst>
              <a:ext uri="{FF2B5EF4-FFF2-40B4-BE49-F238E27FC236}">
                <a16:creationId xmlns:a16="http://schemas.microsoft.com/office/drawing/2014/main" id="{41D41460-360A-AD44-AB8F-879344D221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4149725"/>
          <a:ext cx="122396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8" name="Equation" r:id="rId9" imgW="11404600" imgH="5854700" progId="Equation.DSMT4">
                  <p:embed/>
                </p:oleObj>
              </mc:Choice>
              <mc:Fallback>
                <p:oleObj name="Equation" r:id="rId9" imgW="11404600" imgH="5854700" progId="Equation.DSMT4">
                  <p:embed/>
                  <p:pic>
                    <p:nvPicPr>
                      <p:cNvPr id="148488" name="Object 8">
                        <a:extLst>
                          <a:ext uri="{FF2B5EF4-FFF2-40B4-BE49-F238E27FC236}">
                            <a16:creationId xmlns:a16="http://schemas.microsoft.com/office/drawing/2014/main" id="{AA364F89-CE13-C64E-BC2E-2FE4932FEA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149725"/>
                        <a:ext cx="1223962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9">
            <a:extLst>
              <a:ext uri="{FF2B5EF4-FFF2-40B4-BE49-F238E27FC236}">
                <a16:creationId xmlns:a16="http://schemas.microsoft.com/office/drawing/2014/main" id="{C7ECDA26-9124-6C41-93B6-F620DA7E39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4078288"/>
          <a:ext cx="1871663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9" name="Equation" r:id="rId11" imgW="15506700" imgH="5854700" progId="Equation.DSMT4">
                  <p:embed/>
                </p:oleObj>
              </mc:Choice>
              <mc:Fallback>
                <p:oleObj name="Equation" r:id="rId11" imgW="15506700" imgH="5854700" progId="Equation.DSMT4">
                  <p:embed/>
                  <p:pic>
                    <p:nvPicPr>
                      <p:cNvPr id="148489" name="Object 9">
                        <a:extLst>
                          <a:ext uri="{FF2B5EF4-FFF2-40B4-BE49-F238E27FC236}">
                            <a16:creationId xmlns:a16="http://schemas.microsoft.com/office/drawing/2014/main" id="{6AE16AFB-7C62-D242-B3B4-52BEE8C290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078288"/>
                        <a:ext cx="1871663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0">
            <a:extLst>
              <a:ext uri="{FF2B5EF4-FFF2-40B4-BE49-F238E27FC236}">
                <a16:creationId xmlns:a16="http://schemas.microsoft.com/office/drawing/2014/main" id="{0E296EAC-C9C0-4C4E-A286-B0A6062106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4149725"/>
          <a:ext cx="14398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0" name="Equation" r:id="rId13" imgW="13169900" imgH="4686300" progId="Equation.DSMT4">
                  <p:embed/>
                </p:oleObj>
              </mc:Choice>
              <mc:Fallback>
                <p:oleObj name="Equation" r:id="rId13" imgW="13169900" imgH="4686300" progId="Equation.DSMT4">
                  <p:embed/>
                  <p:pic>
                    <p:nvPicPr>
                      <p:cNvPr id="148490" name="Object 10">
                        <a:extLst>
                          <a:ext uri="{FF2B5EF4-FFF2-40B4-BE49-F238E27FC236}">
                            <a16:creationId xmlns:a16="http://schemas.microsoft.com/office/drawing/2014/main" id="{A6BAD152-20B8-C644-86A6-CB58168936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4149725"/>
                        <a:ext cx="14398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2">
            <a:extLst>
              <a:ext uri="{FF2B5EF4-FFF2-40B4-BE49-F238E27FC236}">
                <a16:creationId xmlns:a16="http://schemas.microsoft.com/office/drawing/2014/main" id="{59F6F723-463B-BD49-BBC1-E171585C4E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8675" y="4941888"/>
          <a:ext cx="1439863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1" name="Equation" r:id="rId15" imgW="12293600" imgH="6438900" progId="Equation.DSMT4">
                  <p:embed/>
                </p:oleObj>
              </mc:Choice>
              <mc:Fallback>
                <p:oleObj name="Equation" r:id="rId15" imgW="12293600" imgH="6438900" progId="Equation.DSMT4">
                  <p:embed/>
                  <p:pic>
                    <p:nvPicPr>
                      <p:cNvPr id="148492" name="Object 12">
                        <a:extLst>
                          <a:ext uri="{FF2B5EF4-FFF2-40B4-BE49-F238E27FC236}">
                            <a16:creationId xmlns:a16="http://schemas.microsoft.com/office/drawing/2014/main" id="{9FC72717-0E2B-5141-9BE9-CD01EFD702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4941888"/>
                        <a:ext cx="1439863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3">
            <a:extLst>
              <a:ext uri="{FF2B5EF4-FFF2-40B4-BE49-F238E27FC236}">
                <a16:creationId xmlns:a16="http://schemas.microsoft.com/office/drawing/2014/main" id="{07B42142-5F7D-3543-95BC-34B6311C5F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3000" y="4941888"/>
          <a:ext cx="1368425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2" name="Equation" r:id="rId17" imgW="11404600" imgH="5854700" progId="Equation.DSMT4">
                  <p:embed/>
                </p:oleObj>
              </mc:Choice>
              <mc:Fallback>
                <p:oleObj name="Equation" r:id="rId17" imgW="11404600" imgH="5854700" progId="Equation.DSMT4">
                  <p:embed/>
                  <p:pic>
                    <p:nvPicPr>
                      <p:cNvPr id="148493" name="Object 13">
                        <a:extLst>
                          <a:ext uri="{FF2B5EF4-FFF2-40B4-BE49-F238E27FC236}">
                            <a16:creationId xmlns:a16="http://schemas.microsoft.com/office/drawing/2014/main" id="{508CDB0B-340F-0741-9182-DF7AAE886E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4941888"/>
                        <a:ext cx="1368425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4">
            <a:extLst>
              <a:ext uri="{FF2B5EF4-FFF2-40B4-BE49-F238E27FC236}">
                <a16:creationId xmlns:a16="http://schemas.microsoft.com/office/drawing/2014/main" id="{350798B0-2CC4-AB48-9FF2-0A9DB77A07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4941888"/>
          <a:ext cx="190817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3" name="Equation" r:id="rId19" imgW="15506700" imgH="5854700" progId="Equation.DSMT4">
                  <p:embed/>
                </p:oleObj>
              </mc:Choice>
              <mc:Fallback>
                <p:oleObj name="Equation" r:id="rId19" imgW="15506700" imgH="5854700" progId="Equation.DSMT4">
                  <p:embed/>
                  <p:pic>
                    <p:nvPicPr>
                      <p:cNvPr id="148494" name="Object 14">
                        <a:extLst>
                          <a:ext uri="{FF2B5EF4-FFF2-40B4-BE49-F238E27FC236}">
                            <a16:creationId xmlns:a16="http://schemas.microsoft.com/office/drawing/2014/main" id="{AF1ADD5A-B527-EB49-B482-68FEE18ED6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4941888"/>
                        <a:ext cx="190817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5">
            <a:extLst>
              <a:ext uri="{FF2B5EF4-FFF2-40B4-BE49-F238E27FC236}">
                <a16:creationId xmlns:a16="http://schemas.microsoft.com/office/drawing/2014/main" id="{43408F9A-8495-944D-AFC5-97C3236882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3088" y="5014913"/>
          <a:ext cx="14986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4" name="Equation" r:id="rId21" imgW="11112500" imgH="3797300" progId="Equation.DSMT4">
                  <p:embed/>
                </p:oleObj>
              </mc:Choice>
              <mc:Fallback>
                <p:oleObj name="Equation" r:id="rId21" imgW="11112500" imgH="3797300" progId="Equation.DSMT4">
                  <p:embed/>
                  <p:pic>
                    <p:nvPicPr>
                      <p:cNvPr id="148495" name="Object 15">
                        <a:extLst>
                          <a:ext uri="{FF2B5EF4-FFF2-40B4-BE49-F238E27FC236}">
                            <a16:creationId xmlns:a16="http://schemas.microsoft.com/office/drawing/2014/main" id="{0E506EF6-7612-3041-B2A3-CC7E938551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3088" y="5014913"/>
                        <a:ext cx="14986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17">
            <a:extLst>
              <a:ext uri="{FF2B5EF4-FFF2-40B4-BE49-F238E27FC236}">
                <a16:creationId xmlns:a16="http://schemas.microsoft.com/office/drawing/2014/main" id="{5978FF60-5963-0B44-A39F-15516EA1F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92150"/>
            <a:ext cx="87852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方正静蕾简体" pitchFamily="2" charset="-122"/>
              </a:rPr>
              <a:t>注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矩阵乘法不满足交换律，但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为同阶方阵时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34" name="Object 18">
            <a:extLst>
              <a:ext uri="{FF2B5EF4-FFF2-40B4-BE49-F238E27FC236}">
                <a16:creationId xmlns:a16="http://schemas.microsoft.com/office/drawing/2014/main" id="{7A4D8843-6450-1746-AD13-D071115135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7925" y="1303338"/>
          <a:ext cx="3024188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5" name="Equation" r:id="rId23" imgW="1689100" imgH="330200" progId="Equation.DSMT4">
                  <p:embed/>
                </p:oleObj>
              </mc:Choice>
              <mc:Fallback>
                <p:oleObj name="Equation" r:id="rId23" imgW="1689100" imgH="330200" progId="Equation.DSMT4">
                  <p:embed/>
                  <p:pic>
                    <p:nvPicPr>
                      <p:cNvPr id="148498" name="Object 18">
                        <a:extLst>
                          <a:ext uri="{FF2B5EF4-FFF2-40B4-BE49-F238E27FC236}">
                            <a16:creationId xmlns:a16="http://schemas.microsoft.com/office/drawing/2014/main" id="{5B4233D9-E305-C842-A776-76DEDF5DCF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5" y="1303338"/>
                        <a:ext cx="3024188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9">
            <a:extLst>
              <a:ext uri="{FF2B5EF4-FFF2-40B4-BE49-F238E27FC236}">
                <a16:creationId xmlns:a16="http://schemas.microsoft.com/office/drawing/2014/main" id="{09B3B41C-74BC-1945-ABF1-2EEC19CC4F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89400" y="24892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6" name="Equation" r:id="rId25" imgW="2628900" imgH="4102100" progId="Equation.DSMT4">
                  <p:embed/>
                </p:oleObj>
              </mc:Choice>
              <mc:Fallback>
                <p:oleObj name="Equation" r:id="rId25" imgW="2628900" imgH="4102100" progId="Equation.DSMT4">
                  <p:embed/>
                  <p:pic>
                    <p:nvPicPr>
                      <p:cNvPr id="8209" name="Object 19">
                        <a:extLst>
                          <a:ext uri="{FF2B5EF4-FFF2-40B4-BE49-F238E27FC236}">
                            <a16:creationId xmlns:a16="http://schemas.microsoft.com/office/drawing/2014/main" id="{FDDA4C95-4F34-4A4E-8ABF-F764AE87BE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248920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0">
            <a:extLst>
              <a:ext uri="{FF2B5EF4-FFF2-40B4-BE49-F238E27FC236}">
                <a16:creationId xmlns:a16="http://schemas.microsoft.com/office/drawing/2014/main" id="{1337D943-AC83-2341-B851-5EF3A56C0C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5" y="4117975"/>
          <a:ext cx="105092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7" name="Equation" r:id="rId27" imgW="9067800" imgH="4102100" progId="Equation.DSMT4">
                  <p:embed/>
                </p:oleObj>
              </mc:Choice>
              <mc:Fallback>
                <p:oleObj name="Equation" r:id="rId27" imgW="9067800" imgH="4102100" progId="Equation.DSMT4">
                  <p:embed/>
                  <p:pic>
                    <p:nvPicPr>
                      <p:cNvPr id="148500" name="Object 20">
                        <a:extLst>
                          <a:ext uri="{FF2B5EF4-FFF2-40B4-BE49-F238E27FC236}">
                            <a16:creationId xmlns:a16="http://schemas.microsoft.com/office/drawing/2014/main" id="{39F48D94-DA10-E049-B797-6893E2C09A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4117975"/>
                        <a:ext cx="1050925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1">
            <a:extLst>
              <a:ext uri="{FF2B5EF4-FFF2-40B4-BE49-F238E27FC236}">
                <a16:creationId xmlns:a16="http://schemas.microsoft.com/office/drawing/2014/main" id="{7735828C-34A2-A34A-BBF4-C2450B6EDD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23113" y="5070475"/>
          <a:ext cx="9763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8" name="Equation" r:id="rId29" imgW="9359900" imgH="4102100" progId="Equation.DSMT4">
                  <p:embed/>
                </p:oleObj>
              </mc:Choice>
              <mc:Fallback>
                <p:oleObj name="Equation" r:id="rId29" imgW="9359900" imgH="4102100" progId="Equation.DSMT4">
                  <p:embed/>
                  <p:pic>
                    <p:nvPicPr>
                      <p:cNvPr id="148501" name="Object 21">
                        <a:extLst>
                          <a:ext uri="{FF2B5EF4-FFF2-40B4-BE49-F238E27FC236}">
                            <a16:creationId xmlns:a16="http://schemas.microsoft.com/office/drawing/2014/main" id="{A01E8C58-6161-1040-A693-A6BF2E03F0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3113" y="5070475"/>
                        <a:ext cx="9763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624771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和谐美1：">
            <a:extLst>
              <a:ext uri="{FF2B5EF4-FFF2-40B4-BE49-F238E27FC236}">
                <a16:creationId xmlns:a16="http://schemas.microsoft.com/office/drawing/2014/main" id="{85E4CB0A-4069-4341-9C9B-116875748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4221163"/>
            <a:ext cx="1800225" cy="134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AF90CFF8-A999-664D-A5A0-18BEC3F6E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76250"/>
            <a:ext cx="25542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>
                    <a:alpha val="56078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3600">
                <a:solidFill>
                  <a:srgbClr val="ECFB7D"/>
                </a:solidFill>
                <a:ea typeface="隶书" pitchFamily="49" charset="-122"/>
              </a:rPr>
              <a:t>【</a:t>
            </a:r>
            <a:r>
              <a:rPr lang="zh-CN" altLang="en-US" sz="3600">
                <a:solidFill>
                  <a:srgbClr val="ECFB7D"/>
                </a:solidFill>
                <a:ea typeface="隶书" pitchFamily="49" charset="-122"/>
              </a:rPr>
              <a:t>和谐美</a:t>
            </a:r>
            <a:r>
              <a:rPr lang="en-US" altLang="zh-CN" sz="3600">
                <a:solidFill>
                  <a:srgbClr val="ECFB7D"/>
                </a:solidFill>
                <a:ea typeface="隶书" pitchFamily="49" charset="-122"/>
              </a:rPr>
              <a:t>】</a:t>
            </a:r>
            <a:r>
              <a:rPr lang="en-US" altLang="zh-CN" sz="2400" b="0">
                <a:solidFill>
                  <a:srgbClr val="FFFFFF"/>
                </a:solidFill>
                <a:ea typeface="隶书" pitchFamily="49" charset="-122"/>
              </a:rPr>
              <a:t> 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B9D0C4D8-8FED-0446-8E4D-B7116879A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981075"/>
            <a:ext cx="78771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>
                <a:solidFill>
                  <a:srgbClr val="FFFFFF"/>
                </a:solidFill>
                <a:latin typeface="Tahoma" panose="020B0604030504040204" pitchFamily="34" charset="0"/>
                <a:ea typeface="仿宋_GB2312" pitchFamily="49" charset="-122"/>
              </a:rPr>
              <a:t>    </a:t>
            </a:r>
            <a:r>
              <a:rPr lang="zh-CN" altLang="en-US" sz="2000">
                <a:solidFill>
                  <a:srgbClr val="FFFFFF"/>
                </a:solidFill>
                <a:latin typeface="Tahoma" panose="020B0604030504040204" pitchFamily="34" charset="0"/>
              </a:rPr>
              <a:t>统一与和谐美是数学美的又一侧面，它比对称美具有广泛性。以几何与代数的和谐与统一的表现为例：</a:t>
            </a:r>
            <a:r>
              <a:rPr lang="zh-CN" altLang="en-US" sz="2000">
                <a:solidFill>
                  <a:srgbClr val="DBF709"/>
                </a:solidFill>
                <a:latin typeface="Tahoma" panose="020B0604030504040204" pitchFamily="34" charset="0"/>
              </a:rPr>
              <a:t>行列式与矩阵</a:t>
            </a:r>
            <a:endParaRPr lang="zh-CN" altLang="en-US" sz="2000" b="0">
              <a:solidFill>
                <a:srgbClr val="DBF709"/>
              </a:solidFill>
              <a:latin typeface="Tahoma" panose="020B0604030504040204" pitchFamily="34" charset="0"/>
            </a:endParaRP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5AE30351-B86A-5A4D-8A36-E8BCC735D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276475"/>
            <a:ext cx="76200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矩阵、行列式在数学中起多方面作用，它在几何研究中也起作用。它把几何图形的某些内在联系提示得更清楚，从而也使人更易看清它们之间的和谐、统一。这是代数与几何和谐、统一的进一步表现。</a:t>
            </a:r>
          </a:p>
        </p:txBody>
      </p:sp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E4097326-812A-4146-8CDF-7A418E72B8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3716338"/>
          <a:ext cx="3609975" cy="239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Equation" r:id="rId4" imgW="40957500" imgH="27203400" progId="Equation.DSMT4">
                  <p:embed/>
                </p:oleObj>
              </mc:Choice>
              <mc:Fallback>
                <p:oleObj name="Equation" r:id="rId4" imgW="40957500" imgH="27203400" progId="Equation.DSMT4">
                  <p:embed/>
                  <p:pic>
                    <p:nvPicPr>
                      <p:cNvPr id="181254" name="Object 6">
                        <a:extLst>
                          <a:ext uri="{FF2B5EF4-FFF2-40B4-BE49-F238E27FC236}">
                            <a16:creationId xmlns:a16="http://schemas.microsoft.com/office/drawing/2014/main" id="{689200F0-F2EF-C743-AAFB-F519DD1C9A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716338"/>
                        <a:ext cx="3609975" cy="239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791232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Box 2">
            <a:extLst>
              <a:ext uri="{FF2B5EF4-FFF2-40B4-BE49-F238E27FC236}">
                <a16:creationId xmlns:a16="http://schemas.microsoft.com/office/drawing/2014/main" id="{49C8CC01-10E4-3E43-ADA0-11E4BDD92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76250"/>
            <a:ext cx="824388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800">
                <a:solidFill>
                  <a:srgbClr val="FFFF00"/>
                </a:solidFill>
                <a:latin typeface="楷体_GB2312" pitchFamily="49" charset="-122"/>
              </a:rPr>
              <a:t>我们对矩阵定义了加减、数乘、乘法、方阵的乘方与多项式、转置等运算</a:t>
            </a:r>
            <a:r>
              <a:rPr lang="en-US" altLang="zh-CN" sz="2800">
                <a:solidFill>
                  <a:srgbClr val="FFFF00"/>
                </a:solidFill>
                <a:latin typeface="楷体_GB2312" pitchFamily="49" charset="-122"/>
              </a:rPr>
              <a:t>.   </a:t>
            </a:r>
            <a:r>
              <a:rPr lang="zh-CN" altLang="en-US" sz="2800">
                <a:solidFill>
                  <a:srgbClr val="FF0000"/>
                </a:solidFill>
                <a:latin typeface="楷体_GB2312" pitchFamily="49" charset="-122"/>
              </a:rPr>
              <a:t>矩阵无除法运算</a:t>
            </a:r>
            <a:r>
              <a:rPr lang="en-US" altLang="zh-CN" sz="2800">
                <a:solidFill>
                  <a:srgbClr val="FF0000"/>
                </a:solidFill>
                <a:latin typeface="楷体_GB2312" pitchFamily="49" charset="-122"/>
              </a:rPr>
              <a:t>!</a:t>
            </a:r>
          </a:p>
        </p:txBody>
      </p:sp>
      <p:sp>
        <p:nvSpPr>
          <p:cNvPr id="43" name="Text Box 3">
            <a:extLst>
              <a:ext uri="{FF2B5EF4-FFF2-40B4-BE49-F238E27FC236}">
                <a16:creationId xmlns:a16="http://schemas.microsoft.com/office/drawing/2014/main" id="{43EF08A9-60EC-C64A-AF73-FFB3EBD97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566988"/>
            <a:ext cx="47513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但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除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从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乘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来：</a:t>
            </a: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4" name="Text Box 4">
            <a:extLst>
              <a:ext uri="{FF2B5EF4-FFF2-40B4-BE49-F238E27FC236}">
                <a16:creationId xmlns:a16="http://schemas.microsoft.com/office/drawing/2014/main" id="{AB43DFBE-5CB7-1D4F-B5A2-E8E5DB0CB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149725"/>
            <a:ext cx="7524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那么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AX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可否类此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两边同乘以一矩阵得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45" name="Text Box 5">
            <a:extLst>
              <a:ext uri="{FF2B5EF4-FFF2-40B4-BE49-F238E27FC236}">
                <a16:creationId xmlns:a16="http://schemas.microsoft.com/office/drawing/2014/main" id="{63348C92-5C49-1244-B54B-8B33D6F10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5445125"/>
            <a:ext cx="47164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引入新概念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kumimoji="1" lang="zh-CN" altLang="en-US" sz="3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</a:rPr>
              <a:t>逆矩阵</a:t>
            </a:r>
          </a:p>
        </p:txBody>
      </p:sp>
      <p:sp>
        <p:nvSpPr>
          <p:cNvPr id="46" name="Text Box 6">
            <a:extLst>
              <a:ext uri="{FF2B5EF4-FFF2-40B4-BE49-F238E27FC236}">
                <a16:creationId xmlns:a16="http://schemas.microsoft.com/office/drawing/2014/main" id="{81E296A2-7299-6749-BDC5-68D1701D4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3357563"/>
            <a:ext cx="15128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FFFFFF"/>
                </a:solidFill>
                <a:ea typeface="宋体" panose="02010600030101010101" pitchFamily="2" charset="-122"/>
              </a:rPr>
              <a:t>3</a:t>
            </a:r>
            <a:r>
              <a:rPr kumimoji="0" lang="en-US" altLang="zh-CN" i="1">
                <a:solidFill>
                  <a:srgbClr val="FFFFFF"/>
                </a:solidFill>
                <a:ea typeface="宋体" panose="02010600030101010101" pitchFamily="2" charset="-122"/>
              </a:rPr>
              <a:t>x</a:t>
            </a:r>
            <a:r>
              <a:rPr kumimoji="0" lang="zh-CN" altLang="en-US">
                <a:solidFill>
                  <a:srgbClr val="FFFFFF"/>
                </a:solidFill>
                <a:ea typeface="宋体" panose="02010600030101010101" pitchFamily="2" charset="-122"/>
              </a:rPr>
              <a:t>＝</a:t>
            </a:r>
            <a:r>
              <a:rPr kumimoji="0" lang="en-US" altLang="zh-CN">
                <a:solidFill>
                  <a:srgbClr val="FFFFFF"/>
                </a:solidFill>
                <a:ea typeface="宋体" panose="02010600030101010101" pitchFamily="2" charset="-122"/>
              </a:rPr>
              <a:t>5</a:t>
            </a:r>
          </a:p>
        </p:txBody>
      </p:sp>
      <p:grpSp>
        <p:nvGrpSpPr>
          <p:cNvPr id="47" name="Group 7">
            <a:extLst>
              <a:ext uri="{FF2B5EF4-FFF2-40B4-BE49-F238E27FC236}">
                <a16:creationId xmlns:a16="http://schemas.microsoft.com/office/drawing/2014/main" id="{A827F234-7E2E-7D4F-9A7F-96C36F020039}"/>
              </a:ext>
            </a:extLst>
          </p:cNvPr>
          <p:cNvGrpSpPr>
            <a:grpSpLocks/>
          </p:cNvGrpSpPr>
          <p:nvPr/>
        </p:nvGrpSpPr>
        <p:grpSpPr bwMode="auto">
          <a:xfrm>
            <a:off x="3059113" y="3068638"/>
            <a:ext cx="2592387" cy="1068387"/>
            <a:chOff x="1610" y="1162"/>
            <a:chExt cx="1315" cy="673"/>
          </a:xfrm>
        </p:grpSpPr>
        <p:graphicFrame>
          <p:nvGraphicFramePr>
            <p:cNvPr id="48" name="Object 8">
              <a:extLst>
                <a:ext uri="{FF2B5EF4-FFF2-40B4-BE49-F238E27FC236}">
                  <a16:creationId xmlns:a16="http://schemas.microsoft.com/office/drawing/2014/main" id="{A07B775C-B8B8-B240-9AAC-E5D1F85F55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10" y="1162"/>
            <a:ext cx="311" cy="6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9" name="Equation" r:id="rId3" imgW="3505200" imgH="9067800" progId="Equation.DSMT4">
                    <p:embed/>
                  </p:oleObj>
                </mc:Choice>
                <mc:Fallback>
                  <p:oleObj name="Equation" r:id="rId3" imgW="3505200" imgH="9067800" progId="Equation.DSMT4">
                    <p:embed/>
                    <p:pic>
                      <p:nvPicPr>
                        <p:cNvPr id="10259" name="Object 8">
                          <a:extLst>
                            <a:ext uri="{FF2B5EF4-FFF2-40B4-BE49-F238E27FC236}">
                              <a16:creationId xmlns:a16="http://schemas.microsoft.com/office/drawing/2014/main" id="{0996AB08-82EE-954E-B684-627C4D72A90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0" y="1162"/>
                          <a:ext cx="311" cy="6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Text Box 9">
              <a:extLst>
                <a:ext uri="{FF2B5EF4-FFF2-40B4-BE49-F238E27FC236}">
                  <a16:creationId xmlns:a16="http://schemas.microsoft.com/office/drawing/2014/main" id="{D5D6232C-479D-864C-A931-5D5C4D2351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4" y="1326"/>
              <a:ext cx="111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·</a:t>
              </a:r>
              <a:r>
                <a:rPr kumimoji="0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en-US" altLang="zh-CN" sz="32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zh-CN" altLang="en-US" sz="3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＝   </a:t>
              </a:r>
              <a:r>
                <a:rPr kumimoji="0" lang="en-US" altLang="en-US" sz="3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·</a:t>
              </a:r>
              <a:r>
                <a:rPr kumimoji="0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graphicFrame>
          <p:nvGraphicFramePr>
            <p:cNvPr id="50" name="Object 10">
              <a:extLst>
                <a:ext uri="{FF2B5EF4-FFF2-40B4-BE49-F238E27FC236}">
                  <a16:creationId xmlns:a16="http://schemas.microsoft.com/office/drawing/2014/main" id="{EDA6D82F-ECE2-5243-87E6-368DD44F50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81" y="1162"/>
            <a:ext cx="311" cy="6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70" name="Equation" r:id="rId5" imgW="3505200" imgH="9067800" progId="Equation.DSMT4">
                    <p:embed/>
                  </p:oleObj>
                </mc:Choice>
                <mc:Fallback>
                  <p:oleObj name="Equation" r:id="rId5" imgW="3505200" imgH="9067800" progId="Equation.DSMT4">
                    <p:embed/>
                    <p:pic>
                      <p:nvPicPr>
                        <p:cNvPr id="10261" name="Object 10">
                          <a:extLst>
                            <a:ext uri="{FF2B5EF4-FFF2-40B4-BE49-F238E27FC236}">
                              <a16:creationId xmlns:a16="http://schemas.microsoft.com/office/drawing/2014/main" id="{19E7F04B-D8F3-3B4C-AAFD-833B55FBF4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1" y="1162"/>
                          <a:ext cx="311" cy="6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" name="Text Box 11">
            <a:extLst>
              <a:ext uri="{FF2B5EF4-FFF2-40B4-BE49-F238E27FC236}">
                <a16:creationId xmlns:a16="http://schemas.microsoft.com/office/drawing/2014/main" id="{A1DEA50F-30D3-C948-BD41-ADEA1DE25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3357563"/>
            <a:ext cx="15128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FFFFFF"/>
                </a:solidFill>
                <a:ea typeface="宋体" panose="02010600030101010101" pitchFamily="2" charset="-122"/>
              </a:rPr>
              <a:t>x</a:t>
            </a:r>
            <a:r>
              <a:rPr kumimoji="0" lang="zh-CN" altLang="en-US">
                <a:solidFill>
                  <a:srgbClr val="FFFFFF"/>
                </a:solidFill>
                <a:ea typeface="宋体" panose="02010600030101010101" pitchFamily="2" charset="-122"/>
              </a:rPr>
              <a:t>＝</a:t>
            </a:r>
            <a:r>
              <a:rPr kumimoji="0" lang="en-US" altLang="en-US" sz="4000" baseline="18000">
                <a:solidFill>
                  <a:srgbClr val="FFFFFF"/>
                </a:solidFill>
                <a:ea typeface="宋体" panose="02010600030101010101" pitchFamily="2" charset="-122"/>
              </a:rPr>
              <a:t>…</a:t>
            </a:r>
            <a:endParaRPr kumimoji="0" lang="en-US" altLang="zh-CN" sz="4000" baseline="180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52" name="Text Box 12">
            <a:extLst>
              <a:ext uri="{FF2B5EF4-FFF2-40B4-BE49-F238E27FC236}">
                <a16:creationId xmlns:a16="http://schemas.microsoft.com/office/drawing/2014/main" id="{ABA78640-0121-4F46-A0D1-197D3723E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8025" y="1744663"/>
            <a:ext cx="14779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i="1">
                <a:solidFill>
                  <a:srgbClr val="FFFF00"/>
                </a:solidFill>
                <a:ea typeface="宋体" panose="02010600030101010101" pitchFamily="2" charset="-122"/>
              </a:rPr>
              <a:t>AX</a:t>
            </a:r>
            <a:r>
              <a:rPr lang="zh-CN" altLang="en-US">
                <a:solidFill>
                  <a:srgbClr val="FFFF00"/>
                </a:solidFill>
                <a:ea typeface="宋体" panose="02010600030101010101" pitchFamily="2" charset="-122"/>
              </a:rPr>
              <a:t>＝</a:t>
            </a:r>
            <a:r>
              <a:rPr lang="en-US" altLang="zh-CN" i="1">
                <a:solidFill>
                  <a:srgbClr val="FFFF00"/>
                </a:solidFill>
                <a:ea typeface="宋体" panose="02010600030101010101" pitchFamily="2" charset="-122"/>
              </a:rPr>
              <a:t>B </a:t>
            </a:r>
            <a:endParaRPr lang="en-US" altLang="zh-CN">
              <a:solidFill>
                <a:srgbClr val="FFFF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3" name="Object 13">
            <a:extLst>
              <a:ext uri="{FF2B5EF4-FFF2-40B4-BE49-F238E27FC236}">
                <a16:creationId xmlns:a16="http://schemas.microsoft.com/office/drawing/2014/main" id="{6BCF1B2F-5CFF-2943-9963-ED5D3DE00F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1557338"/>
          <a:ext cx="1223962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1" name="Equation" r:id="rId6" imgW="10820400" imgH="9067800" progId="Equation.DSMT4">
                  <p:embed/>
                </p:oleObj>
              </mc:Choice>
              <mc:Fallback>
                <p:oleObj name="Equation" r:id="rId6" imgW="10820400" imgH="9067800" progId="Equation.DSMT4">
                  <p:embed/>
                  <p:pic>
                    <p:nvPicPr>
                      <p:cNvPr id="149517" name="Object 13">
                        <a:extLst>
                          <a:ext uri="{FF2B5EF4-FFF2-40B4-BE49-F238E27FC236}">
                            <a16:creationId xmlns:a16="http://schemas.microsoft.com/office/drawing/2014/main" id="{B59D905F-FFD2-6042-9457-0D6DA3B6EF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1557338"/>
                        <a:ext cx="1223962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15">
            <a:extLst>
              <a:ext uri="{FF2B5EF4-FFF2-40B4-BE49-F238E27FC236}">
                <a16:creationId xmlns:a16="http://schemas.microsoft.com/office/drawing/2014/main" id="{0E9A16FC-A8B3-5945-B25F-33159DF4DA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5013" y="1744663"/>
          <a:ext cx="79216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2" name="Equation" r:id="rId8" imgW="4394200" imgH="3505200" progId="Equation.DSMT4">
                  <p:embed/>
                </p:oleObj>
              </mc:Choice>
              <mc:Fallback>
                <p:oleObj name="Equation" r:id="rId8" imgW="4394200" imgH="3505200" progId="Equation.DSMT4">
                  <p:embed/>
                  <p:pic>
                    <p:nvPicPr>
                      <p:cNvPr id="149519" name="Object 15">
                        <a:extLst>
                          <a:ext uri="{FF2B5EF4-FFF2-40B4-BE49-F238E27FC236}">
                            <a16:creationId xmlns:a16="http://schemas.microsoft.com/office/drawing/2014/main" id="{0D624F58-9564-E045-BBE7-CE738F896D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013" y="1744663"/>
                        <a:ext cx="792162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16">
            <a:extLst>
              <a:ext uri="{FF2B5EF4-FFF2-40B4-BE49-F238E27FC236}">
                <a16:creationId xmlns:a16="http://schemas.microsoft.com/office/drawing/2014/main" id="{4B4A2482-4EDD-EA43-BB2A-7787F69C1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550" y="1528763"/>
            <a:ext cx="1025525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0" lang="en-US" altLang="zh-CN" sz="6600">
                <a:solidFill>
                  <a:srgbClr val="FF0000"/>
                </a:solidFill>
                <a:ea typeface="宋体" panose="02010600030101010101" pitchFamily="2" charset="-122"/>
              </a:rPr>
              <a:t>×</a:t>
            </a:r>
          </a:p>
        </p:txBody>
      </p:sp>
      <p:sp>
        <p:nvSpPr>
          <p:cNvPr id="56" name="Text Box 17">
            <a:extLst>
              <a:ext uri="{FF2B5EF4-FFF2-40B4-BE49-F238E27FC236}">
                <a16:creationId xmlns:a16="http://schemas.microsoft.com/office/drawing/2014/main" id="{B5B47E8F-07EC-CA44-9027-F8CD1207A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4799013"/>
            <a:ext cx="15128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FFFFFF"/>
                </a:solidFill>
                <a:ea typeface="宋体" panose="02010600030101010101" pitchFamily="2" charset="-122"/>
              </a:rPr>
              <a:t>X</a:t>
            </a:r>
            <a:r>
              <a:rPr kumimoji="0" lang="zh-CN" altLang="en-US">
                <a:solidFill>
                  <a:srgbClr val="FFFFFF"/>
                </a:solidFill>
                <a:ea typeface="宋体" panose="02010600030101010101" pitchFamily="2" charset="-122"/>
              </a:rPr>
              <a:t>＝</a:t>
            </a:r>
            <a:r>
              <a:rPr kumimoji="0" lang="en-US" altLang="en-US" sz="4000" baseline="18000">
                <a:solidFill>
                  <a:srgbClr val="FFFFFF"/>
                </a:solidFill>
                <a:ea typeface="宋体" panose="02010600030101010101" pitchFamily="2" charset="-122"/>
              </a:rPr>
              <a:t>…</a:t>
            </a:r>
            <a:endParaRPr kumimoji="0" lang="en-US" altLang="zh-CN" sz="4000" baseline="180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57" name="Oval 18">
            <a:extLst>
              <a:ext uri="{FF2B5EF4-FFF2-40B4-BE49-F238E27FC236}">
                <a16:creationId xmlns:a16="http://schemas.microsoft.com/office/drawing/2014/main" id="{FEB8760D-D301-304E-8E78-D033C2B05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3140075"/>
            <a:ext cx="936625" cy="936625"/>
          </a:xfrm>
          <a:prstGeom prst="ellips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8" name="Group 19">
            <a:extLst>
              <a:ext uri="{FF2B5EF4-FFF2-40B4-BE49-F238E27FC236}">
                <a16:creationId xmlns:a16="http://schemas.microsoft.com/office/drawing/2014/main" id="{F12EFFF9-AA7E-B142-8394-0E6BF0EE0038}"/>
              </a:ext>
            </a:extLst>
          </p:cNvPr>
          <p:cNvGrpSpPr>
            <a:grpSpLocks/>
          </p:cNvGrpSpPr>
          <p:nvPr/>
        </p:nvGrpSpPr>
        <p:grpSpPr bwMode="auto">
          <a:xfrm>
            <a:off x="3563938" y="2709863"/>
            <a:ext cx="576262" cy="579437"/>
            <a:chOff x="2245" y="1434"/>
            <a:chExt cx="363" cy="365"/>
          </a:xfrm>
        </p:grpSpPr>
        <p:sp>
          <p:nvSpPr>
            <p:cNvPr id="59" name="Line 20">
              <a:extLst>
                <a:ext uri="{FF2B5EF4-FFF2-40B4-BE49-F238E27FC236}">
                  <a16:creationId xmlns:a16="http://schemas.microsoft.com/office/drawing/2014/main" id="{413B72A0-77D3-FC4F-945A-05C260E929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45" y="1647"/>
              <a:ext cx="164" cy="104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  <p:sp>
          <p:nvSpPr>
            <p:cNvPr id="60" name="Line 21">
              <a:extLst>
                <a:ext uri="{FF2B5EF4-FFF2-40B4-BE49-F238E27FC236}">
                  <a16:creationId xmlns:a16="http://schemas.microsoft.com/office/drawing/2014/main" id="{98F28392-EF4C-8240-BBE3-039D679C50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90" y="1706"/>
              <a:ext cx="136" cy="9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  <p:sp>
          <p:nvSpPr>
            <p:cNvPr id="61" name="Text Box 22">
              <a:extLst>
                <a:ext uri="{FF2B5EF4-FFF2-40B4-BE49-F238E27FC236}">
                  <a16:creationId xmlns:a16="http://schemas.microsoft.com/office/drawing/2014/main" id="{41DB3D94-26C8-5D4C-ABBE-4A469865A9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1434"/>
              <a:ext cx="22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039360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utoUpdateAnimBg="0"/>
      <p:bldP spid="44" grpId="0" autoUpdateAnimBg="0"/>
      <p:bldP spid="45" grpId="0" autoUpdateAnimBg="0"/>
      <p:bldP spid="46" grpId="0"/>
      <p:bldP spid="51" grpId="0"/>
      <p:bldP spid="52" grpId="0" autoUpdateAnimBg="0"/>
      <p:bldP spid="55" grpId="0"/>
      <p:bldP spid="56" grpId="0"/>
      <p:bldP spid="5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通过线性变换得到逆矩阵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945" name="Text Box 9"/>
          <p:cNvSpPr txBox="1"/>
          <p:nvPr>
            <p:custDataLst>
              <p:tags r:id="rId1"/>
            </p:custDataLst>
          </p:nvPr>
        </p:nvSpPr>
        <p:spPr>
          <a:xfrm>
            <a:off x="683895" y="963930"/>
            <a:ext cx="776097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则逆变换的矩阵形式为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By</a:t>
            </a:r>
          </a:p>
        </p:txBody>
      </p:sp>
      <p:sp>
        <p:nvSpPr>
          <p:cNvPr id="137220" name="Text Box 4"/>
          <p:cNvSpPr txBox="1"/>
          <p:nvPr>
            <p:custDataLst>
              <p:tags r:id="rId2"/>
            </p:custDataLst>
          </p:nvPr>
        </p:nvSpPr>
        <p:spPr>
          <a:xfrm>
            <a:off x="755650" y="1557020"/>
            <a:ext cx="8072120" cy="51625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把</a:t>
            </a:r>
            <a:r>
              <a:rPr lang="en-US" altLang="zh-CN" sz="2600" b="1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600" b="1" i="1" dirty="0">
                <a:ea typeface="华文中宋" panose="02010600040101010101" pitchFamily="2" charset="-122"/>
                <a:sym typeface="+mn-ea"/>
              </a:rPr>
              <a:t>x</a:t>
            </a:r>
            <a:r>
              <a:rPr lang="en-US" altLang="zh-CN" sz="2600" b="1" dirty="0">
                <a:ea typeface="华文中宋" panose="02010600040101010101" pitchFamily="2" charset="-122"/>
                <a:sym typeface="+mn-ea"/>
              </a:rPr>
              <a:t>=</a:t>
            </a:r>
            <a:r>
              <a:rPr lang="en-US" altLang="zh-CN" sz="2600" b="1" i="1">
                <a:ea typeface="华文中宋" panose="02010600040101010101" pitchFamily="2" charset="-122"/>
                <a:sym typeface="+mn-ea"/>
              </a:rPr>
              <a:t>By 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代入</a:t>
            </a:r>
            <a:r>
              <a:rPr lang="en-US" altLang="zh-CN" sz="2600" b="1" i="1" dirty="0">
                <a:ea typeface="华文中宋" panose="02010600040101010101" pitchFamily="2" charset="-122"/>
                <a:sym typeface="+mn-ea"/>
              </a:rPr>
              <a:t>y</a:t>
            </a:r>
            <a:r>
              <a:rPr lang="en-US" altLang="zh-CN" sz="2600" b="1" dirty="0">
                <a:ea typeface="华文中宋" panose="02010600040101010101" pitchFamily="2" charset="-122"/>
                <a:sym typeface="+mn-ea"/>
              </a:rPr>
              <a:t>=</a:t>
            </a:r>
            <a:r>
              <a:rPr lang="en-US" altLang="zh-CN" sz="2600" b="1" i="1">
                <a:ea typeface="华文中宋" panose="02010600040101010101" pitchFamily="2" charset="-122"/>
                <a:sym typeface="+mn-ea"/>
              </a:rPr>
              <a:t>Ax</a:t>
            </a:r>
            <a:r>
              <a:rPr lang="zh-CN" altLang="en-US" sz="2600" b="1" dirty="0">
                <a:ea typeface="华文中宋" panose="02010600040101010101" pitchFamily="2" charset="-122"/>
                <a:sym typeface="+mn-ea"/>
              </a:rPr>
              <a:t>，</a:t>
            </a:r>
            <a:r>
              <a:rPr lang="zh-CN" altLang="en-US" sz="26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可得</a:t>
            </a:r>
            <a:r>
              <a:rPr lang="en-US" altLang="zh-CN" sz="2600" b="1" i="1" dirty="0">
                <a:ea typeface="华文中宋" panose="02010600040101010101" pitchFamily="2" charset="-122"/>
                <a:sym typeface="+mn-ea"/>
              </a:rPr>
              <a:t>y</a:t>
            </a:r>
            <a:r>
              <a:rPr lang="en-US" altLang="zh-CN" sz="2600" b="1" dirty="0">
                <a:ea typeface="华文中宋" panose="02010600040101010101" pitchFamily="2" charset="-122"/>
                <a:sym typeface="+mn-ea"/>
              </a:rPr>
              <a:t>=</a:t>
            </a:r>
            <a:r>
              <a:rPr lang="en-US" altLang="zh-CN" sz="2600" b="1" i="1">
                <a:ea typeface="华文中宋" panose="02010600040101010101" pitchFamily="2" charset="-122"/>
                <a:sym typeface="+mn-ea"/>
              </a:rPr>
              <a:t>A</a:t>
            </a:r>
            <a:r>
              <a:rPr lang="en-US" altLang="zh-CN" sz="2600" b="1">
                <a:ea typeface="华文中宋" panose="02010600040101010101" pitchFamily="2" charset="-122"/>
                <a:sym typeface="+mn-ea"/>
              </a:rPr>
              <a:t>(</a:t>
            </a:r>
            <a:r>
              <a:rPr lang="en-US" altLang="zh-CN" sz="2600" b="1" i="1">
                <a:ea typeface="华文中宋" panose="02010600040101010101" pitchFamily="2" charset="-122"/>
                <a:sym typeface="+mn-ea"/>
              </a:rPr>
              <a:t>By</a:t>
            </a:r>
            <a:r>
              <a:rPr lang="en-US" altLang="zh-CN" sz="2600" b="1">
                <a:ea typeface="华文中宋" panose="02010600040101010101" pitchFamily="2" charset="-122"/>
                <a:sym typeface="+mn-ea"/>
              </a:rPr>
              <a:t>)=(</a:t>
            </a:r>
            <a:r>
              <a:rPr lang="en-US" altLang="zh-CN" sz="2600" b="1" i="1">
                <a:ea typeface="华文中宋" panose="02010600040101010101" pitchFamily="2" charset="-122"/>
                <a:sym typeface="+mn-ea"/>
              </a:rPr>
              <a:t>AB</a:t>
            </a:r>
            <a:r>
              <a:rPr lang="en-US" altLang="zh-CN" sz="2600" b="1">
                <a:ea typeface="华文中宋" panose="02010600040101010101" pitchFamily="2" charset="-122"/>
                <a:sym typeface="+mn-ea"/>
              </a:rPr>
              <a:t>)</a:t>
            </a:r>
            <a:r>
              <a:rPr lang="en-US" altLang="zh-CN" sz="2600" b="1" i="1">
                <a:ea typeface="华文中宋" panose="02010600040101010101" pitchFamily="2" charset="-122"/>
                <a:sym typeface="+mn-ea"/>
              </a:rPr>
              <a:t>y</a:t>
            </a:r>
            <a:endParaRPr lang="en-US" altLang="zh-CN" sz="2600" b="1" dirty="0"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3" name="Text Box 4"/>
          <p:cNvSpPr txBox="1"/>
          <p:nvPr>
            <p:custDataLst>
              <p:tags r:id="rId3"/>
            </p:custDataLst>
          </p:nvPr>
        </p:nvSpPr>
        <p:spPr>
          <a:xfrm>
            <a:off x="755650" y="2205355"/>
            <a:ext cx="8072120" cy="51625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故</a:t>
            </a:r>
            <a:r>
              <a:rPr lang="zh-CN" altLang="en-US" sz="2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>
                <a:ea typeface="华文中宋" panose="02010600040101010101" pitchFamily="2" charset="-122"/>
                <a:sym typeface="+mn-ea"/>
              </a:rPr>
              <a:t>AB</a:t>
            </a:r>
            <a:r>
              <a:rPr lang="en-US" altLang="zh-CN" sz="2600" b="1" i="1">
                <a:ea typeface="华文中宋" panose="02010600040101010101" pitchFamily="2" charset="-122"/>
                <a:sym typeface="+mn-ea"/>
              </a:rPr>
              <a:t>=I</a:t>
            </a:r>
            <a:endParaRPr lang="en-US" altLang="zh-CN" sz="2600" b="1" dirty="0"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5" name="Text Box 4"/>
          <p:cNvSpPr txBox="1"/>
          <p:nvPr>
            <p:custDataLst>
              <p:tags r:id="rId4"/>
            </p:custDataLst>
          </p:nvPr>
        </p:nvSpPr>
        <p:spPr>
          <a:xfrm>
            <a:off x="755650" y="2755900"/>
            <a:ext cx="8072120" cy="51625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同理，把</a:t>
            </a:r>
            <a:r>
              <a:rPr lang="zh-CN" altLang="en-US" sz="2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600" b="1" i="1" dirty="0">
                <a:ea typeface="华文中宋" panose="02010600040101010101" pitchFamily="2" charset="-122"/>
                <a:sym typeface="+mn-ea"/>
              </a:rPr>
              <a:t>y</a:t>
            </a:r>
            <a:r>
              <a:rPr lang="en-US" altLang="zh-CN" sz="2600" b="1" dirty="0">
                <a:ea typeface="华文中宋" panose="02010600040101010101" pitchFamily="2" charset="-122"/>
                <a:sym typeface="+mn-ea"/>
              </a:rPr>
              <a:t>=</a:t>
            </a:r>
            <a:r>
              <a:rPr lang="en-US" altLang="zh-CN" sz="2600" b="1" i="1">
                <a:ea typeface="华文中宋" panose="02010600040101010101" pitchFamily="2" charset="-122"/>
                <a:sym typeface="+mn-ea"/>
              </a:rPr>
              <a:t>Ax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代入</a:t>
            </a:r>
            <a:r>
              <a:rPr lang="en-US" altLang="zh-CN" sz="2600" b="1" i="1" dirty="0">
                <a:ea typeface="华文中宋" panose="02010600040101010101" pitchFamily="2" charset="-122"/>
                <a:sym typeface="+mn-ea"/>
              </a:rPr>
              <a:t>x</a:t>
            </a:r>
            <a:r>
              <a:rPr lang="en-US" altLang="zh-CN" sz="2600" b="1" dirty="0">
                <a:ea typeface="华文中宋" panose="02010600040101010101" pitchFamily="2" charset="-122"/>
                <a:sym typeface="+mn-ea"/>
              </a:rPr>
              <a:t>=</a:t>
            </a:r>
            <a:r>
              <a:rPr lang="en-US" altLang="zh-CN" sz="2600" b="1" i="1">
                <a:ea typeface="华文中宋" panose="02010600040101010101" pitchFamily="2" charset="-122"/>
                <a:sym typeface="+mn-ea"/>
              </a:rPr>
              <a:t>By </a:t>
            </a:r>
            <a:r>
              <a:rPr lang="zh-CN" altLang="en-US" sz="2600" b="1" dirty="0">
                <a:ea typeface="华文中宋" panose="02010600040101010101" pitchFamily="2" charset="-122"/>
                <a:sym typeface="+mn-ea"/>
              </a:rPr>
              <a:t>，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可得</a:t>
            </a:r>
            <a:r>
              <a:rPr lang="en-US" altLang="zh-CN" sz="2600" b="1" i="1" dirty="0">
                <a:ea typeface="华文中宋" panose="02010600040101010101" pitchFamily="2" charset="-122"/>
                <a:sym typeface="+mn-ea"/>
              </a:rPr>
              <a:t>x</a:t>
            </a:r>
            <a:r>
              <a:rPr lang="en-US" altLang="zh-CN" sz="2600" b="1" dirty="0">
                <a:ea typeface="华文中宋" panose="02010600040101010101" pitchFamily="2" charset="-122"/>
                <a:sym typeface="+mn-ea"/>
              </a:rPr>
              <a:t>=</a:t>
            </a:r>
            <a:r>
              <a:rPr lang="en-US" altLang="zh-CN" sz="2600" b="1" i="1">
                <a:ea typeface="华文中宋" panose="02010600040101010101" pitchFamily="2" charset="-122"/>
                <a:sym typeface="+mn-ea"/>
              </a:rPr>
              <a:t>B</a:t>
            </a:r>
            <a:r>
              <a:rPr lang="en-US" altLang="zh-CN" sz="2600" b="1">
                <a:ea typeface="华文中宋" panose="02010600040101010101" pitchFamily="2" charset="-122"/>
                <a:sym typeface="+mn-ea"/>
              </a:rPr>
              <a:t>(</a:t>
            </a:r>
            <a:r>
              <a:rPr lang="en-US" altLang="zh-CN" sz="2600" b="1" i="1">
                <a:ea typeface="华文中宋" panose="02010600040101010101" pitchFamily="2" charset="-122"/>
                <a:sym typeface="+mn-ea"/>
              </a:rPr>
              <a:t>Ax</a:t>
            </a:r>
            <a:r>
              <a:rPr lang="en-US" altLang="zh-CN" sz="2600" b="1">
                <a:ea typeface="华文中宋" panose="02010600040101010101" pitchFamily="2" charset="-122"/>
                <a:sym typeface="+mn-ea"/>
              </a:rPr>
              <a:t>)=(</a:t>
            </a:r>
            <a:r>
              <a:rPr lang="en-US" altLang="zh-CN" sz="2600" b="1" i="1">
                <a:ea typeface="华文中宋" panose="02010600040101010101" pitchFamily="2" charset="-122"/>
                <a:sym typeface="+mn-ea"/>
              </a:rPr>
              <a:t>BA</a:t>
            </a:r>
            <a:r>
              <a:rPr lang="en-US" altLang="zh-CN" sz="2600" b="1">
                <a:ea typeface="华文中宋" panose="02010600040101010101" pitchFamily="2" charset="-122"/>
                <a:sym typeface="+mn-ea"/>
              </a:rPr>
              <a:t>)</a:t>
            </a:r>
            <a:r>
              <a:rPr lang="en-US" altLang="zh-CN" sz="2600" b="1" i="1">
                <a:ea typeface="华文中宋" panose="02010600040101010101" pitchFamily="2" charset="-122"/>
                <a:sym typeface="+mn-ea"/>
              </a:rPr>
              <a:t>x</a:t>
            </a:r>
          </a:p>
        </p:txBody>
      </p:sp>
      <p:sp>
        <p:nvSpPr>
          <p:cNvPr id="7" name="Text Box 4"/>
          <p:cNvSpPr txBox="1"/>
          <p:nvPr>
            <p:custDataLst>
              <p:tags r:id="rId5"/>
            </p:custDataLst>
          </p:nvPr>
        </p:nvSpPr>
        <p:spPr>
          <a:xfrm>
            <a:off x="755650" y="3404235"/>
            <a:ext cx="8072120" cy="51625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故</a:t>
            </a:r>
            <a:r>
              <a:rPr lang="zh-CN" altLang="en-US" sz="2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600" b="1" i="1">
                <a:ea typeface="华文中宋" panose="02010600040101010101" pitchFamily="2" charset="-122"/>
                <a:sym typeface="+mn-ea"/>
              </a:rPr>
              <a:t>BA=I</a:t>
            </a:r>
            <a:endParaRPr lang="en-US" altLang="zh-CN" sz="2600" b="1" dirty="0"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9" name="Text Box 4"/>
          <p:cNvSpPr txBox="1"/>
          <p:nvPr>
            <p:custDataLst>
              <p:tags r:id="rId6"/>
            </p:custDataLst>
          </p:nvPr>
        </p:nvSpPr>
        <p:spPr>
          <a:xfrm>
            <a:off x="755650" y="3954780"/>
            <a:ext cx="8072120" cy="51625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               </a:t>
            </a:r>
            <a:r>
              <a:rPr lang="en-US" altLang="zh-CN" b="1" i="1" dirty="0">
                <a:ea typeface="华文中宋" panose="02010600040101010101" pitchFamily="2" charset="-122"/>
                <a:sym typeface="+mn-ea"/>
              </a:rPr>
              <a:t>AB=BA=I</a:t>
            </a:r>
            <a:endParaRPr lang="en-US" altLang="zh-CN" b="1" dirty="0"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10" name="Text Box 4"/>
          <p:cNvSpPr txBox="1"/>
          <p:nvPr>
            <p:custDataLst>
              <p:tags r:id="rId7"/>
            </p:custDataLst>
          </p:nvPr>
        </p:nvSpPr>
        <p:spPr>
          <a:xfrm>
            <a:off x="755650" y="4653280"/>
            <a:ext cx="8072120" cy="51625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我们把满足这样条件的矩阵称为互为逆矩阵</a:t>
            </a:r>
            <a:r>
              <a:rPr lang="zh-CN" altLang="en-US" sz="2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5" grpId="0" build="p"/>
      <p:bldP spid="137220" grpId="0" build="p"/>
      <p:bldP spid="3" grpId="0" build="p"/>
      <p:bldP spid="5" grpId="0" build="p"/>
      <p:bldP spid="7" grpId="0" build="p"/>
      <p:bldP spid="9" grpId="0" build="p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逆矩阵定义</a:t>
            </a:r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683895" y="1103630"/>
            <a:ext cx="161734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定义</a:t>
            </a:r>
            <a:r>
              <a:rPr kumimoji="1" lang="en-US" altLang="zh-CN" sz="2800" b="1" i="0" u="none" strike="noStrike" kern="1200" cap="none" spc="0" normalizeH="0" baseline="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2.9</a:t>
            </a:r>
          </a:p>
        </p:txBody>
      </p:sp>
      <p:sp>
        <p:nvSpPr>
          <p:cNvPr id="41986" name="Rectangle 2"/>
          <p:cNvSpPr/>
          <p:nvPr>
            <p:custDataLst>
              <p:tags r:id="rId1"/>
            </p:custDataLst>
          </p:nvPr>
        </p:nvSpPr>
        <p:spPr>
          <a:xfrm>
            <a:off x="2194560" y="1196975"/>
            <a:ext cx="64998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设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是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阶方阵，若存在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阶方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阵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，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1987" name="Rectangle 3"/>
          <p:cNvSpPr/>
          <p:nvPr>
            <p:custDataLst>
              <p:tags r:id="rId2"/>
            </p:custDataLst>
          </p:nvPr>
        </p:nvSpPr>
        <p:spPr>
          <a:xfrm>
            <a:off x="539433" y="1919288"/>
            <a:ext cx="89535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使得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1988" name="Rectangle 4"/>
          <p:cNvSpPr/>
          <p:nvPr>
            <p:custDataLst>
              <p:tags r:id="rId3"/>
            </p:custDataLst>
          </p:nvPr>
        </p:nvSpPr>
        <p:spPr>
          <a:xfrm>
            <a:off x="3275965" y="1916748"/>
            <a:ext cx="38531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AB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BA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1989" name="Rectangle 5"/>
          <p:cNvSpPr/>
          <p:nvPr>
            <p:custDataLst>
              <p:tags r:id="rId4"/>
            </p:custDataLst>
          </p:nvPr>
        </p:nvSpPr>
        <p:spPr>
          <a:xfrm>
            <a:off x="539433" y="2601913"/>
            <a:ext cx="673417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则称矩阵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 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可逆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且称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B 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是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 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逆矩阵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，</a:t>
            </a:r>
            <a:endParaRPr lang="zh-CN" altLang="en-US" sz="2800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41991" name="Rectangle 7"/>
          <p:cNvSpPr/>
          <p:nvPr>
            <p:custDataLst>
              <p:tags r:id="rId5"/>
            </p:custDataLst>
          </p:nvPr>
        </p:nvSpPr>
        <p:spPr>
          <a:xfrm>
            <a:off x="1436688" y="3932238"/>
            <a:ext cx="668083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如果不存在满足上式的矩阵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则称矩阵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41992" name="Rectangle 8"/>
          <p:cNvSpPr/>
          <p:nvPr>
            <p:custDataLst>
              <p:tags r:id="rId6"/>
            </p:custDataLst>
          </p:nvPr>
        </p:nvSpPr>
        <p:spPr>
          <a:xfrm>
            <a:off x="446088" y="4541838"/>
            <a:ext cx="271716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 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是</a:t>
            </a:r>
            <a:r>
              <a:rPr lang="zh-CN" altLang="en-US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不可逆的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． </a:t>
            </a:r>
          </a:p>
        </p:txBody>
      </p:sp>
      <p:sp>
        <p:nvSpPr>
          <p:cNvPr id="41994" name="Rectangle 10"/>
          <p:cNvSpPr/>
          <p:nvPr>
            <p:custDataLst>
              <p:tags r:id="rId7"/>
            </p:custDataLst>
          </p:nvPr>
        </p:nvSpPr>
        <p:spPr>
          <a:xfrm>
            <a:off x="630873" y="3299778"/>
            <a:ext cx="3671887" cy="6076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algn="l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并称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 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为</a:t>
            </a:r>
            <a:r>
              <a:rPr lang="zh-CN" altLang="en-US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可逆矩阵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build="p"/>
      <p:bldP spid="41987" grpId="0" build="p" advAuto="1000"/>
      <p:bldP spid="41988" grpId="0" build="p" advAuto="1000"/>
      <p:bldP spid="41989" grpId="0" build="p" advAuto="1000"/>
      <p:bldP spid="41991" grpId="0" build="p"/>
      <p:bldP spid="41992" grpId="0" build="p" advAuto="1000"/>
      <p:bldP spid="41994" grpId="0" build="p" advAuto="100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逆矩阵定义</a:t>
            </a:r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683895" y="1103630"/>
            <a:ext cx="122555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注</a:t>
            </a:r>
          </a:p>
        </p:txBody>
      </p:sp>
      <p:sp>
        <p:nvSpPr>
          <p:cNvPr id="41986" name="Rectangle 2"/>
          <p:cNvSpPr/>
          <p:nvPr/>
        </p:nvSpPr>
        <p:spPr>
          <a:xfrm>
            <a:off x="683260" y="1196975"/>
            <a:ext cx="7550785" cy="10388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algn="l"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     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（1）只有当一个矩阵是方阵时，才有可能</a:t>
            </a:r>
          </a:p>
          <a:p>
            <a:pPr marL="0" lvl="0" algn="l">
              <a:buClrTx/>
              <a:buSzTx/>
              <a:buFontTx/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存在其逆矩阵</a:t>
            </a:r>
            <a:endParaRPr lang="zh-CN" altLang="en-US" sz="28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41989" name="Rectangle 5"/>
          <p:cNvSpPr/>
          <p:nvPr>
            <p:custDataLst>
              <p:tags r:id="rId1"/>
            </p:custDataLst>
          </p:nvPr>
        </p:nvSpPr>
        <p:spPr>
          <a:xfrm>
            <a:off x="682943" y="2492693"/>
            <a:ext cx="761301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（2）若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+mn-ea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是</a:t>
            </a:r>
            <a:r>
              <a:rPr lang="en-US" altLang="zh-CN" sz="2800" b="1" i="1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B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的逆矩阵，则</a:t>
            </a:r>
            <a:r>
              <a:rPr lang="en-US" altLang="zh-CN" sz="2800" b="1" i="1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B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也是</a:t>
            </a:r>
            <a:r>
              <a:rPr lang="zh-CN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的逆矩阵．</a:t>
            </a:r>
            <a:endParaRPr lang="zh-CN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6" name="文本框 75791"/>
          <p:cNvSpPr txBox="1"/>
          <p:nvPr>
            <p:custDataLst>
              <p:tags r:id="rId2"/>
            </p:custDataLst>
          </p:nvPr>
        </p:nvSpPr>
        <p:spPr>
          <a:xfrm>
            <a:off x="891858" y="3725545"/>
            <a:ext cx="125222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例</a:t>
            </a:r>
            <a:r>
              <a:rPr lang="zh-CN" altLang="en-US" sz="2800" b="1" dirty="0"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设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pic>
        <p:nvPicPr>
          <p:cNvPr id="7" name="图片 6"/>
          <p:cNvPicPr/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394890" y="3573016"/>
            <a:ext cx="4660900" cy="977900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2" name="Rectangle 4"/>
          <p:cNvSpPr/>
          <p:nvPr>
            <p:custDataLst>
              <p:tags r:id="rId4"/>
            </p:custDataLst>
          </p:nvPr>
        </p:nvSpPr>
        <p:spPr>
          <a:xfrm>
            <a:off x="1331595" y="4869180"/>
            <a:ext cx="6339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algn="l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∵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AB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BA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  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  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284345" y="4923155"/>
            <a:ext cx="3599815" cy="521970"/>
            <a:chOff x="6747" y="7753"/>
            <a:chExt cx="5669" cy="822"/>
          </a:xfrm>
        </p:grpSpPr>
        <p:pic>
          <p:nvPicPr>
            <p:cNvPr id="9" name="图片 8"/>
            <p:cNvPicPr/>
            <p:nvPr>
              <p:custDataLst>
                <p:tags r:id="rId5"/>
              </p:custDataLst>
            </p:nvPr>
          </p:nvPicPr>
          <p:blipFill>
            <a:blip r:embed="rId11"/>
            <a:srcRect r="91602" b="-13286"/>
            <a:stretch>
              <a:fillRect/>
            </a:stretch>
          </p:blipFill>
          <p:spPr>
            <a:xfrm>
              <a:off x="6747" y="7782"/>
              <a:ext cx="453" cy="793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3" name="Rectangle 5"/>
            <p:cNvSpPr/>
            <p:nvPr>
              <p:custDataLst>
                <p:tags r:id="rId6"/>
              </p:custDataLst>
            </p:nvPr>
          </p:nvSpPr>
          <p:spPr>
            <a:xfrm>
              <a:off x="7314" y="7753"/>
              <a:ext cx="5103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l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i="1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中宋" panose="02010600040101010101" pitchFamily="2" charset="-122"/>
                  <a:sym typeface="+mn-ea"/>
                </a:rPr>
                <a:t>B</a:t>
              </a:r>
              <a:r>
                <a:rPr lang="zh-CN" altLang="en-US" sz="2800" b="1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华文中宋" panose="02010600040101010101" pitchFamily="2" charset="-122"/>
                </a:rPr>
                <a:t>是</a:t>
              </a:r>
              <a:r>
                <a:rPr lang="zh-CN" altLang="zh-CN" sz="2800" b="1" dirty="0">
                  <a:latin typeface="Times New Roman" panose="02020603050405020304" pitchFamily="18" charset="0"/>
                  <a:ea typeface="华文中宋" panose="02010600040101010101" pitchFamily="2" charset="-122"/>
                  <a:sym typeface="+mn-ea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华文中宋" panose="02010600040101010101" pitchFamily="2" charset="-122"/>
                  <a:sym typeface="+mn-ea"/>
                </a:rPr>
                <a:t>A</a:t>
              </a:r>
              <a:r>
                <a:rPr lang="zh-CN" altLang="en-US" sz="2800" b="1" dirty="0">
                  <a:latin typeface="华文中宋" panose="02010600040101010101" pitchFamily="2" charset="-122"/>
                  <a:ea typeface="华文中宋" panose="02010600040101010101" pitchFamily="2" charset="-122"/>
                  <a:cs typeface="华文中宋" panose="02010600040101010101" pitchFamily="2" charset="-122"/>
                  <a:sym typeface="+mn-ea"/>
                </a:rPr>
                <a:t>一个</a:t>
              </a:r>
              <a:r>
                <a:rPr lang="zh-CN" altLang="en-US" sz="2800" b="1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华文中宋" panose="02010600040101010101" pitchFamily="2" charset="-122"/>
                </a:rPr>
                <a:t>逆矩阵．</a:t>
              </a:r>
              <a:endParaRPr lang="zh-CN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uiExpand="1" build="p"/>
      <p:bldP spid="41989" grpId="0" build="p" advAuto="1000"/>
      <p:bldP spid="6" grpId="0"/>
      <p:bldP spid="2" grpId="0" build="p" advAuto="100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5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难点问题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逆矩阵的性质</a:t>
            </a:r>
          </a:p>
        </p:txBody>
      </p:sp>
      <p:sp>
        <p:nvSpPr>
          <p:cNvPr id="186375" name="Rectangle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95605" y="908685"/>
            <a:ext cx="873633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性质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2.1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如果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阶方阵</a:t>
            </a:r>
            <a:r>
              <a:rPr lang="zh-CN" altLang="en-US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Ａ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可逆，则它的逆矩阵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是唯一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            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的．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8637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72955" y="2205246"/>
            <a:ext cx="6073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设矩阵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与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都是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的逆矩阵，则有</a:t>
            </a:r>
          </a:p>
        </p:txBody>
      </p:sp>
      <p:sp>
        <p:nvSpPr>
          <p:cNvPr id="186371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11572" y="2893378"/>
            <a:ext cx="532923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AB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BA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　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AC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CA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</a:p>
        </p:txBody>
      </p:sp>
      <p:sp>
        <p:nvSpPr>
          <p:cNvPr id="186372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77935" y="3530869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中宋" panose="02010600040101010101" pitchFamily="2" charset="-122"/>
              </a:rPr>
              <a:t>因而</a:t>
            </a:r>
          </a:p>
        </p:txBody>
      </p:sp>
      <p:sp>
        <p:nvSpPr>
          <p:cNvPr id="186373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37715" y="4233228"/>
            <a:ext cx="60150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                         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．</a:t>
            </a:r>
          </a:p>
        </p:txBody>
      </p:sp>
      <p:sp>
        <p:nvSpPr>
          <p:cNvPr id="186374" name="Rectangle 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50939" y="2205516"/>
            <a:ext cx="89789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证明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186377" name="Rectangle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77935" y="5205194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故</a:t>
            </a:r>
          </a:p>
        </p:txBody>
      </p:sp>
      <p:sp>
        <p:nvSpPr>
          <p:cNvPr id="186378" name="Rectangle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814822" y="5205194"/>
            <a:ext cx="1487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.</a:t>
            </a:r>
          </a:p>
        </p:txBody>
      </p:sp>
      <p:sp>
        <p:nvSpPr>
          <p:cNvPr id="11" name="Rectangle 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292633" y="4251544"/>
            <a:ext cx="79251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BE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2" name="Rectangle 5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882787" y="4219020"/>
            <a:ext cx="165271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AC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3" name="Rectangle 5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244676" y="4226361"/>
            <a:ext cx="166303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4" name="Rectangle 5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61029" y="4233228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IC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3" name="Rectangle 9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01625" y="5949315"/>
            <a:ext cx="88423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依据逆矩阵的唯一性,我们把可逆矩阵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的逆阵记作</a:t>
            </a:r>
            <a:r>
              <a:rPr lang="en-US" altLang="zh-CN" sz="2800" b="1" i="1" noProof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A</a:t>
            </a:r>
            <a:r>
              <a:rPr lang="zh-CN" altLang="en-US" sz="2800" b="1" baseline="30000" noProof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－１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6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6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6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6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6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6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86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5" grpId="0" build="p" autoUpdateAnimBg="0"/>
      <p:bldP spid="186370" grpId="0" build="p" autoUpdateAnimBg="0"/>
      <p:bldP spid="186371" grpId="0" build="p" autoUpdateAnimBg="0" advAuto="1000"/>
      <p:bldP spid="186372" grpId="0" build="p" autoUpdateAnimBg="0" advAuto="1000"/>
      <p:bldP spid="186373" grpId="0" build="p" autoUpdateAnimBg="0" advAuto="1000"/>
      <p:bldP spid="186374" grpId="0" bldLvl="0" animBg="1"/>
      <p:bldP spid="186377" grpId="0" build="p" autoUpdateAnimBg="0" advAuto="1000"/>
      <p:bldP spid="186378" grpId="0" build="p" autoUpdateAnimBg="0" advAuto="1000"/>
      <p:bldP spid="11" grpId="0" build="p" autoUpdateAnimBg="0" advAuto="1000"/>
      <p:bldP spid="12" grpId="0" build="p" autoUpdateAnimBg="0" advAuto="1000"/>
      <p:bldP spid="13" grpId="0" build="p" autoUpdateAnimBg="0" advAuto="1000"/>
      <p:bldP spid="14" grpId="0" build="p" autoUpdateAnimBg="0" advAuto="1000"/>
      <p:bldP spid="3" grpId="0" build="p" autoUpdateAnimBg="0" advAuto="100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4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难点问题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逆矩阵的性质</a:t>
            </a:r>
          </a:p>
        </p:txBody>
      </p:sp>
      <p:sp>
        <p:nvSpPr>
          <p:cNvPr id="186375" name="Rectangle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95605" y="908685"/>
            <a:ext cx="8343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对于逆矩阵，我们还有以下性质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0964" name="Rectangle 4"/>
          <p:cNvSpPr/>
          <p:nvPr>
            <p:custDataLst>
              <p:tags r:id="rId2"/>
            </p:custDataLst>
          </p:nvPr>
        </p:nvSpPr>
        <p:spPr>
          <a:xfrm>
            <a:off x="392430" y="2126615"/>
            <a:ext cx="5613400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(2)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若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可逆，数</a:t>
            </a:r>
            <a:r>
              <a:rPr lang="en-US" altLang="zh-CN" sz="2600" b="1" i="1" dirty="0">
                <a:latin typeface="Symbol" panose="05050102010706020507" pitchFamily="18" charset="2"/>
                <a:ea typeface="华文中宋" panose="02010600040101010101" pitchFamily="2" charset="-122"/>
              </a:rPr>
              <a:t>l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2600" b="1" dirty="0">
                <a:latin typeface="Symbol" panose="05050102010706020507" pitchFamily="18" charset="2"/>
                <a:ea typeface="华文中宋" panose="02010600040101010101" pitchFamily="2" charset="-122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lang="zh-CN" altLang="en-US" sz="2600" b="1" dirty="0">
                <a:latin typeface="Symbol" panose="05050102010706020507" pitchFamily="18" charset="2"/>
                <a:ea typeface="华文中宋" panose="02010600040101010101" pitchFamily="2" charset="-122"/>
              </a:rPr>
              <a:t>则</a:t>
            </a:r>
            <a:r>
              <a:rPr lang="en-US" altLang="zh-CN" sz="2600" b="1" i="1" dirty="0">
                <a:latin typeface="Symbol" panose="05050102010706020507" pitchFamily="18" charset="2"/>
                <a:ea typeface="华文中宋" panose="02010600040101010101" pitchFamily="2" charset="-122"/>
              </a:rPr>
              <a:t>l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可逆，</a:t>
            </a:r>
          </a:p>
        </p:txBody>
      </p:sp>
      <p:sp>
        <p:nvSpPr>
          <p:cNvPr id="40965" name="Rectangle 5"/>
          <p:cNvSpPr/>
          <p:nvPr>
            <p:custDataLst>
              <p:tags r:id="rId3"/>
            </p:custDataLst>
          </p:nvPr>
        </p:nvSpPr>
        <p:spPr>
          <a:xfrm>
            <a:off x="5918518" y="2126615"/>
            <a:ext cx="2662237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且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600" b="1" i="1" dirty="0">
                <a:latin typeface="Symbol" panose="05050102010706020507" pitchFamily="18" charset="2"/>
                <a:ea typeface="华文中宋" panose="02010600040101010101" pitchFamily="2" charset="-122"/>
              </a:rPr>
              <a:t>l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)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sz="2600" b="1" i="1" dirty="0">
                <a:latin typeface="Symbol" panose="05050102010706020507" pitchFamily="18" charset="2"/>
                <a:ea typeface="华文中宋" panose="02010600040101010101" pitchFamily="2" charset="-122"/>
              </a:rPr>
              <a:t>l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40966" name="Rectangle 6"/>
          <p:cNvSpPr/>
          <p:nvPr>
            <p:custDataLst>
              <p:tags r:id="rId4"/>
            </p:custDataLst>
          </p:nvPr>
        </p:nvSpPr>
        <p:spPr>
          <a:xfrm>
            <a:off x="392430" y="1556703"/>
            <a:ext cx="4709160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</a:t>
            </a:r>
            <a:r>
              <a:rPr lang="en-US" altLang="zh-CN" sz="26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(1)</a:t>
            </a:r>
            <a:r>
              <a:rPr lang="zh-CN" altLang="en-US" sz="2600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若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可逆，则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也可逆，</a:t>
            </a:r>
          </a:p>
        </p:txBody>
      </p:sp>
      <p:sp>
        <p:nvSpPr>
          <p:cNvPr id="40967" name="Rectangle 7"/>
          <p:cNvSpPr/>
          <p:nvPr>
            <p:custDataLst>
              <p:tags r:id="rId5"/>
            </p:custDataLst>
          </p:nvPr>
        </p:nvSpPr>
        <p:spPr>
          <a:xfrm>
            <a:off x="5004118" y="1556703"/>
            <a:ext cx="1990725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且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40968" name="Rectangle 8"/>
          <p:cNvSpPr/>
          <p:nvPr>
            <p:custDataLst>
              <p:tags r:id="rId6"/>
            </p:custDataLst>
          </p:nvPr>
        </p:nvSpPr>
        <p:spPr>
          <a:xfrm>
            <a:off x="376555" y="2740978"/>
            <a:ext cx="4589463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(3)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若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可逆，则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也可逆，</a:t>
            </a:r>
          </a:p>
        </p:txBody>
      </p:sp>
      <p:sp>
        <p:nvSpPr>
          <p:cNvPr id="40969" name="Rectangle 9"/>
          <p:cNvSpPr/>
          <p:nvPr>
            <p:custDataLst>
              <p:tags r:id="rId7"/>
            </p:custDataLst>
          </p:nvPr>
        </p:nvSpPr>
        <p:spPr>
          <a:xfrm>
            <a:off x="4831080" y="2740978"/>
            <a:ext cx="2546350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且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40970" name="Rectangle 10"/>
          <p:cNvSpPr/>
          <p:nvPr>
            <p:custDataLst>
              <p:tags r:id="rId8"/>
            </p:custDataLst>
          </p:nvPr>
        </p:nvSpPr>
        <p:spPr>
          <a:xfrm>
            <a:off x="376555" y="4438015"/>
            <a:ext cx="2876550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所以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40971" name="Rectangle 11"/>
          <p:cNvSpPr/>
          <p:nvPr>
            <p:custDataLst>
              <p:tags r:id="rId9"/>
            </p:custDataLst>
          </p:nvPr>
        </p:nvSpPr>
        <p:spPr>
          <a:xfrm>
            <a:off x="376555" y="3331528"/>
            <a:ext cx="1320800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这是因为</a:t>
            </a:r>
          </a:p>
        </p:txBody>
      </p:sp>
      <p:sp>
        <p:nvSpPr>
          <p:cNvPr id="40972" name="Rectangle 12"/>
          <p:cNvSpPr/>
          <p:nvPr>
            <p:custDataLst>
              <p:tags r:id="rId10"/>
            </p:custDataLst>
          </p:nvPr>
        </p:nvSpPr>
        <p:spPr>
          <a:xfrm>
            <a:off x="376555" y="3871278"/>
            <a:ext cx="2525713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A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baseline="30000" dirty="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 </a:t>
            </a:r>
          </a:p>
        </p:txBody>
      </p:sp>
      <p:sp>
        <p:nvSpPr>
          <p:cNvPr id="40973" name="Rectangle 13"/>
          <p:cNvSpPr/>
          <p:nvPr>
            <p:custDataLst>
              <p:tags r:id="rId11"/>
            </p:custDataLst>
          </p:nvPr>
        </p:nvSpPr>
        <p:spPr>
          <a:xfrm>
            <a:off x="2884805" y="3871278"/>
            <a:ext cx="1200150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ea typeface="华文中宋" panose="02010600040101010101" pitchFamily="2" charset="-122"/>
              </a:rPr>
              <a:t>=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baseline="30000" dirty="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</a:p>
        </p:txBody>
      </p:sp>
      <p:sp>
        <p:nvSpPr>
          <p:cNvPr id="40974" name="Rectangle 14"/>
          <p:cNvSpPr/>
          <p:nvPr>
            <p:custDataLst>
              <p:tags r:id="rId12"/>
            </p:custDataLst>
          </p:nvPr>
        </p:nvSpPr>
        <p:spPr>
          <a:xfrm>
            <a:off x="4113530" y="3871278"/>
            <a:ext cx="1081405" cy="4794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Symbol" panose="05050102010706020507" pitchFamily="18" charset="2"/>
                <a:ea typeface="华文中宋" panose="02010600040101010101" pitchFamily="2" charset="-12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600" b="1" dirty="0">
                <a:latin typeface="Symbol" panose="05050102010706020507" pitchFamily="18" charset="2"/>
                <a:ea typeface="华文中宋" panose="02010600040101010101" pitchFamily="2" charset="-122"/>
              </a:rPr>
              <a:t>=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6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5" grpId="0" build="p" autoUpdateAnimBg="0"/>
      <p:bldP spid="40964" grpId="0" build="p"/>
      <p:bldP spid="40965" grpId="0" build="p"/>
      <p:bldP spid="40966" grpId="0" build="p"/>
      <p:bldP spid="40967" grpId="0" build="p"/>
      <p:bldP spid="40968" grpId="0" build="p"/>
      <p:bldP spid="40969" grpId="0" build="p"/>
      <p:bldP spid="40970" grpId="0" build="p"/>
      <p:bldP spid="40971" grpId="0" build="p"/>
      <p:bldP spid="40972" grpId="0" build="p"/>
      <p:bldP spid="40973" grpId="0" build="p"/>
      <p:bldP spid="4097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4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难点问题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逆矩阵的性质</a:t>
            </a:r>
          </a:p>
        </p:txBody>
      </p:sp>
      <p:sp>
        <p:nvSpPr>
          <p:cNvPr id="186375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5605" y="908685"/>
            <a:ext cx="8343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对于逆矩阵，我们还有以下性质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2.2-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性质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2.5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57348" name="Rectangle 4"/>
          <p:cNvSpPr/>
          <p:nvPr>
            <p:custDataLst>
              <p:tags r:id="rId3"/>
            </p:custDataLst>
          </p:nvPr>
        </p:nvSpPr>
        <p:spPr>
          <a:xfrm>
            <a:off x="323215" y="2060893"/>
            <a:ext cx="5613400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(2)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若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可逆，数</a:t>
            </a:r>
            <a:r>
              <a:rPr lang="en-US" altLang="zh-CN" sz="2600" b="1" i="1" dirty="0">
                <a:latin typeface="Symbol" panose="05050102010706020507" pitchFamily="18" charset="2"/>
                <a:ea typeface="华文中宋" panose="02010600040101010101" pitchFamily="2" charset="-122"/>
              </a:rPr>
              <a:t>l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2600" b="1" dirty="0">
                <a:latin typeface="Symbol" panose="05050102010706020507" pitchFamily="18" charset="2"/>
                <a:ea typeface="华文中宋" panose="02010600040101010101" pitchFamily="2" charset="-122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lang="zh-CN" altLang="en-US" sz="2600" b="1" dirty="0">
                <a:latin typeface="Symbol" panose="05050102010706020507" pitchFamily="18" charset="2"/>
                <a:ea typeface="华文中宋" panose="02010600040101010101" pitchFamily="2" charset="-122"/>
              </a:rPr>
              <a:t>则</a:t>
            </a:r>
            <a:r>
              <a:rPr lang="en-US" altLang="zh-CN" sz="2600" b="1" i="1" dirty="0">
                <a:latin typeface="Symbol" panose="05050102010706020507" pitchFamily="18" charset="2"/>
                <a:ea typeface="华文中宋" panose="02010600040101010101" pitchFamily="2" charset="-122"/>
              </a:rPr>
              <a:t>l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可逆，</a:t>
            </a:r>
          </a:p>
        </p:txBody>
      </p:sp>
      <p:sp>
        <p:nvSpPr>
          <p:cNvPr id="57349" name="Rectangle 5"/>
          <p:cNvSpPr/>
          <p:nvPr>
            <p:custDataLst>
              <p:tags r:id="rId4"/>
            </p:custDataLst>
          </p:nvPr>
        </p:nvSpPr>
        <p:spPr>
          <a:xfrm>
            <a:off x="5849303" y="2060893"/>
            <a:ext cx="2662237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且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600" b="1" i="1" dirty="0">
                <a:latin typeface="Symbol" panose="05050102010706020507" pitchFamily="18" charset="2"/>
                <a:ea typeface="华文中宋" panose="02010600040101010101" pitchFamily="2" charset="-122"/>
              </a:rPr>
              <a:t>l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)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sz="2600" b="1" i="1" dirty="0">
                <a:latin typeface="Symbol" panose="05050102010706020507" pitchFamily="18" charset="2"/>
                <a:ea typeface="华文中宋" panose="02010600040101010101" pitchFamily="2" charset="-122"/>
              </a:rPr>
              <a:t>l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57350" name="Rectangle 6"/>
          <p:cNvSpPr/>
          <p:nvPr>
            <p:custDataLst>
              <p:tags r:id="rId5"/>
            </p:custDataLst>
          </p:nvPr>
        </p:nvSpPr>
        <p:spPr>
          <a:xfrm>
            <a:off x="323215" y="1490980"/>
            <a:ext cx="4719638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(1)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若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可逆，则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也可逆，</a:t>
            </a:r>
          </a:p>
        </p:txBody>
      </p:sp>
      <p:sp>
        <p:nvSpPr>
          <p:cNvPr id="57351" name="Rectangle 7"/>
          <p:cNvSpPr/>
          <p:nvPr>
            <p:custDataLst>
              <p:tags r:id="rId6"/>
            </p:custDataLst>
          </p:nvPr>
        </p:nvSpPr>
        <p:spPr>
          <a:xfrm>
            <a:off x="4934903" y="1490980"/>
            <a:ext cx="1990725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且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57352" name="Rectangle 8"/>
          <p:cNvSpPr/>
          <p:nvPr>
            <p:custDataLst>
              <p:tags r:id="rId7"/>
            </p:custDataLst>
          </p:nvPr>
        </p:nvSpPr>
        <p:spPr>
          <a:xfrm>
            <a:off x="307340" y="2676843"/>
            <a:ext cx="4589463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(3)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若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可逆，则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也可逆，</a:t>
            </a:r>
          </a:p>
        </p:txBody>
      </p:sp>
      <p:sp>
        <p:nvSpPr>
          <p:cNvPr id="57353" name="Rectangle 9"/>
          <p:cNvSpPr/>
          <p:nvPr>
            <p:custDataLst>
              <p:tags r:id="rId8"/>
            </p:custDataLst>
          </p:nvPr>
        </p:nvSpPr>
        <p:spPr>
          <a:xfrm>
            <a:off x="4761865" y="2676843"/>
            <a:ext cx="2546350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且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41994" name="Rectangle 10"/>
          <p:cNvSpPr/>
          <p:nvPr>
            <p:custDataLst>
              <p:tags r:id="rId9"/>
            </p:custDataLst>
          </p:nvPr>
        </p:nvSpPr>
        <p:spPr>
          <a:xfrm>
            <a:off x="278765" y="3192780"/>
            <a:ext cx="8686800" cy="9525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(4)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若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为同阶可逆矩阵，则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AB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亦可逆，且</a:t>
            </a: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AB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)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43019" name="Text Box 11"/>
          <p:cNvSpPr txBox="1"/>
          <p:nvPr>
            <p:custDataLst>
              <p:tags r:id="rId10"/>
            </p:custDataLst>
          </p:nvPr>
        </p:nvSpPr>
        <p:spPr>
          <a:xfrm>
            <a:off x="539750" y="4365308"/>
            <a:ext cx="2952750" cy="48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600" b="1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该性质可作推广</a:t>
            </a:r>
            <a:endParaRPr lang="zh-CN" altLang="en-US" sz="2600" b="1" dirty="0">
              <a:solidFill>
                <a:srgbClr val="3333FF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020" name="Rectangle 12"/>
          <p:cNvSpPr/>
          <p:nvPr>
            <p:custDataLst>
              <p:tags r:id="rId11"/>
            </p:custDataLst>
          </p:nvPr>
        </p:nvSpPr>
        <p:spPr>
          <a:xfrm>
            <a:off x="539750" y="4941570"/>
            <a:ext cx="7977188" cy="48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若</a:t>
            </a:r>
            <a:r>
              <a:rPr lang="en-US" altLang="zh-CN" sz="26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6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 </a:t>
            </a:r>
            <a:r>
              <a:rPr lang="en-US" altLang="zh-CN" sz="26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zh-CN" altLang="en-US" sz="26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 </a:t>
            </a:r>
            <a:r>
              <a:rPr lang="en-US" altLang="zh-CN" sz="26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… A</a:t>
            </a:r>
            <a:r>
              <a:rPr lang="en-US" altLang="zh-CN" sz="26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6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均为 </a:t>
            </a:r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n 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阶</a:t>
            </a:r>
            <a:r>
              <a:rPr lang="zh-CN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可逆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阵，则</a:t>
            </a:r>
          </a:p>
        </p:txBody>
      </p:sp>
      <p:graphicFrame>
        <p:nvGraphicFramePr>
          <p:cNvPr id="43021" name="Object 13"/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2051050" y="5517833"/>
          <a:ext cx="5113338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r:id="rId16" imgW="1663700" imgH="241300" progId="Equation.3">
                  <p:embed/>
                </p:oleObj>
              </mc:Choice>
              <mc:Fallback>
                <p:oleObj r:id="rId16" imgW="1663700" imgH="2413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051050" y="5517833"/>
                        <a:ext cx="5113338" cy="708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3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4" grpId="0" build="p"/>
      <p:bldP spid="43019" grpId="0"/>
      <p:bldP spid="43020" grpId="0" build="p" advAuto="100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难点问题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逆矩阵的性质</a:t>
            </a:r>
          </a:p>
        </p:txBody>
      </p:sp>
      <p:sp>
        <p:nvSpPr>
          <p:cNvPr id="186375" name="Rectangle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95605" y="908685"/>
            <a:ext cx="8343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对于逆矩阵，我们还有以下性质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57348" name="Rectangle 4"/>
          <p:cNvSpPr/>
          <p:nvPr>
            <p:custDataLst>
              <p:tags r:id="rId2"/>
            </p:custDataLst>
          </p:nvPr>
        </p:nvSpPr>
        <p:spPr>
          <a:xfrm>
            <a:off x="323215" y="2060893"/>
            <a:ext cx="5613400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(2)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若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可逆，数</a:t>
            </a:r>
            <a:r>
              <a:rPr lang="en-US" altLang="zh-CN" sz="2600" b="1" i="1" dirty="0">
                <a:latin typeface="Symbol" panose="05050102010706020507" pitchFamily="18" charset="2"/>
                <a:ea typeface="华文中宋" panose="02010600040101010101" pitchFamily="2" charset="-122"/>
              </a:rPr>
              <a:t>l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2600" b="1" dirty="0">
                <a:latin typeface="Symbol" panose="05050102010706020507" pitchFamily="18" charset="2"/>
                <a:ea typeface="华文中宋" panose="02010600040101010101" pitchFamily="2" charset="-122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lang="zh-CN" altLang="en-US" sz="2600" b="1" dirty="0">
                <a:latin typeface="Symbol" panose="05050102010706020507" pitchFamily="18" charset="2"/>
                <a:ea typeface="华文中宋" panose="02010600040101010101" pitchFamily="2" charset="-122"/>
              </a:rPr>
              <a:t>则</a:t>
            </a:r>
            <a:r>
              <a:rPr lang="en-US" altLang="zh-CN" sz="2600" b="1" i="1" dirty="0">
                <a:latin typeface="Symbol" panose="05050102010706020507" pitchFamily="18" charset="2"/>
                <a:ea typeface="华文中宋" panose="02010600040101010101" pitchFamily="2" charset="-122"/>
              </a:rPr>
              <a:t>l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可逆，</a:t>
            </a:r>
          </a:p>
        </p:txBody>
      </p:sp>
      <p:sp>
        <p:nvSpPr>
          <p:cNvPr id="57349" name="Rectangle 5"/>
          <p:cNvSpPr/>
          <p:nvPr>
            <p:custDataLst>
              <p:tags r:id="rId3"/>
            </p:custDataLst>
          </p:nvPr>
        </p:nvSpPr>
        <p:spPr>
          <a:xfrm>
            <a:off x="5849303" y="2060893"/>
            <a:ext cx="2662237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且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600" b="1" i="1" dirty="0">
                <a:latin typeface="Symbol" panose="05050102010706020507" pitchFamily="18" charset="2"/>
                <a:ea typeface="华文中宋" panose="02010600040101010101" pitchFamily="2" charset="-122"/>
              </a:rPr>
              <a:t>l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)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sz="2600" b="1" i="1" dirty="0">
                <a:latin typeface="Symbol" panose="05050102010706020507" pitchFamily="18" charset="2"/>
                <a:ea typeface="华文中宋" panose="02010600040101010101" pitchFamily="2" charset="-122"/>
              </a:rPr>
              <a:t>l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57350" name="Rectangle 6"/>
          <p:cNvSpPr/>
          <p:nvPr>
            <p:custDataLst>
              <p:tags r:id="rId4"/>
            </p:custDataLst>
          </p:nvPr>
        </p:nvSpPr>
        <p:spPr>
          <a:xfrm>
            <a:off x="323215" y="1490980"/>
            <a:ext cx="4719638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(1)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若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可逆，则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也可逆，</a:t>
            </a:r>
          </a:p>
        </p:txBody>
      </p:sp>
      <p:sp>
        <p:nvSpPr>
          <p:cNvPr id="57351" name="Rectangle 7"/>
          <p:cNvSpPr/>
          <p:nvPr>
            <p:custDataLst>
              <p:tags r:id="rId5"/>
            </p:custDataLst>
          </p:nvPr>
        </p:nvSpPr>
        <p:spPr>
          <a:xfrm>
            <a:off x="4934903" y="1490980"/>
            <a:ext cx="1990725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且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57352" name="Rectangle 8"/>
          <p:cNvSpPr/>
          <p:nvPr>
            <p:custDataLst>
              <p:tags r:id="rId6"/>
            </p:custDataLst>
          </p:nvPr>
        </p:nvSpPr>
        <p:spPr>
          <a:xfrm>
            <a:off x="307340" y="2676843"/>
            <a:ext cx="4589463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(3)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若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可逆，则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也可逆，</a:t>
            </a:r>
          </a:p>
        </p:txBody>
      </p:sp>
      <p:sp>
        <p:nvSpPr>
          <p:cNvPr id="57353" name="Rectangle 9"/>
          <p:cNvSpPr/>
          <p:nvPr>
            <p:custDataLst>
              <p:tags r:id="rId7"/>
            </p:custDataLst>
          </p:nvPr>
        </p:nvSpPr>
        <p:spPr>
          <a:xfrm>
            <a:off x="4761865" y="2676843"/>
            <a:ext cx="2546350" cy="4762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且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6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41994" name="Rectangle 10"/>
          <p:cNvSpPr/>
          <p:nvPr>
            <p:custDataLst>
              <p:tags r:id="rId8"/>
            </p:custDataLst>
          </p:nvPr>
        </p:nvSpPr>
        <p:spPr>
          <a:xfrm>
            <a:off x="278765" y="3192780"/>
            <a:ext cx="8686800" cy="9525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(4)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若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为同阶可逆矩阵，则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AB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亦可逆，且</a:t>
            </a: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AB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)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44043" name="Rectangle 11"/>
          <p:cNvSpPr/>
          <p:nvPr>
            <p:custDataLst>
              <p:tags r:id="rId9"/>
            </p:custDataLst>
          </p:nvPr>
        </p:nvSpPr>
        <p:spPr>
          <a:xfrm>
            <a:off x="899478" y="4335145"/>
            <a:ext cx="4032250" cy="48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(5)|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－１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 = | 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| </a:t>
            </a:r>
            <a:r>
              <a:rPr lang="zh-CN" altLang="en-US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－１</a:t>
            </a:r>
            <a:endParaRPr lang="zh-CN" altLang="en-US" sz="26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4044" name="Rectangle 12"/>
          <p:cNvSpPr/>
          <p:nvPr>
            <p:custDataLst>
              <p:tags r:id="rId10"/>
            </p:custDataLst>
          </p:nvPr>
        </p:nvSpPr>
        <p:spPr>
          <a:xfrm>
            <a:off x="683578" y="4982845"/>
            <a:ext cx="7416800" cy="8915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因为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| |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－１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|=| 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 A</a:t>
            </a:r>
            <a:r>
              <a:rPr lang="zh-CN" altLang="en-US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－１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|=|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|=1</a:t>
            </a:r>
            <a:r>
              <a:rPr lang="en-US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≠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0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</a:t>
            </a:r>
            <a:r>
              <a:rPr lang="zh-CN" altLang="en-US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故 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</a:t>
            </a:r>
            <a:r>
              <a:rPr lang="en-US" altLang="zh-CN" sz="26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－１</a:t>
            </a:r>
            <a:r>
              <a:rPr lang="en-US" altLang="zh-CN" sz="2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 = | A | </a:t>
            </a:r>
            <a:r>
              <a:rPr lang="zh-CN" altLang="en-US" sz="26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－１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4" grpId="0" build="p"/>
      <p:bldP spid="44043" grpId="0" build="p" advAuto="1000"/>
      <p:bldP spid="44044" grpId="0" build="p" advAuto="100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重（难）点问题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逆矩阵的求法</a:t>
            </a:r>
          </a:p>
        </p:txBody>
      </p:sp>
      <p:sp>
        <p:nvSpPr>
          <p:cNvPr id="32771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42583" y="981075"/>
            <a:ext cx="424815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l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伴随矩阵</a:t>
            </a:r>
          </a:p>
        </p:txBody>
      </p:sp>
      <p:graphicFrame>
        <p:nvGraphicFramePr>
          <p:cNvPr id="59396" name="Object 12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596900" y="1701800"/>
          <a:ext cx="3629025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Equation" r:id="rId11" imgW="38100000" imgH="22555200" progId="Equation.DSMT4">
                  <p:embed/>
                </p:oleObj>
              </mc:Choice>
              <mc:Fallback>
                <p:oleObj name="Equation" r:id="rId11" imgW="38100000" imgH="225552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>
                      <a:xfrm>
                        <a:off x="596900" y="1701800"/>
                        <a:ext cx="3629025" cy="21494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5" name="Object 17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4441825" y="1774825"/>
          <a:ext cx="3978275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Equation" r:id="rId13" imgW="41757600" imgH="22555200" progId="Equation.DSMT4">
                  <p:embed/>
                </p:oleObj>
              </mc:Choice>
              <mc:Fallback>
                <p:oleObj name="Equation" r:id="rId13" imgW="41757600" imgH="225552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41825" y="1774825"/>
                        <a:ext cx="3978275" cy="214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6" name="Rectangle 18"/>
          <p:cNvSpPr/>
          <p:nvPr>
            <p:custDataLst>
              <p:tags r:id="rId5"/>
            </p:custDataLst>
          </p:nvPr>
        </p:nvSpPr>
        <p:spPr>
          <a:xfrm>
            <a:off x="611188" y="4066540"/>
            <a:ext cx="6985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记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ij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为矩阵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的元素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ij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的代数余子式</a:t>
            </a:r>
          </a:p>
        </p:txBody>
      </p:sp>
      <p:sp>
        <p:nvSpPr>
          <p:cNvPr id="32787" name="Rectangle 19"/>
          <p:cNvSpPr/>
          <p:nvPr>
            <p:custDataLst>
              <p:tags r:id="rId6"/>
            </p:custDataLst>
          </p:nvPr>
        </p:nvSpPr>
        <p:spPr>
          <a:xfrm>
            <a:off x="682625" y="4787265"/>
            <a:ext cx="55435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*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称为矩阵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伴随矩阵</a:t>
            </a:r>
          </a:p>
        </p:txBody>
      </p:sp>
      <p:sp>
        <p:nvSpPr>
          <p:cNvPr id="32788" name="Rectangle 20"/>
          <p:cNvSpPr/>
          <p:nvPr>
            <p:custDataLst>
              <p:tags r:id="rId7"/>
            </p:custDataLst>
          </p:nvPr>
        </p:nvSpPr>
        <p:spPr>
          <a:xfrm>
            <a:off x="682625" y="5492115"/>
            <a:ext cx="68405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原矩阵的元素用代数余子式替换，再转置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2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2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  <p:bldP spid="32786" grpId="0" build="p"/>
      <p:bldP spid="32787" grpId="0" build="p"/>
      <p:bldP spid="3278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重（难）点问题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逆矩阵的求法</a:t>
            </a:r>
          </a:p>
        </p:txBody>
      </p:sp>
      <p:sp>
        <p:nvSpPr>
          <p:cNvPr id="32771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42583" y="981075"/>
            <a:ext cx="424815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l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伴随矩阵重要性质</a:t>
            </a:r>
          </a:p>
        </p:txBody>
      </p:sp>
      <p:graphicFrame>
        <p:nvGraphicFramePr>
          <p:cNvPr id="43010" name="Object 2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224088" y="1465263"/>
          <a:ext cx="6269037" cy="217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9" name="Equation" r:id="rId11" imgW="64922400" imgH="22555200" progId="Equation.DSMT4">
                  <p:embed/>
                </p:oleObj>
              </mc:Choice>
              <mc:Fallback>
                <p:oleObj name="Equation" r:id="rId11" imgW="64922400" imgH="225552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24088" y="1465263"/>
                        <a:ext cx="6269037" cy="2178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" name="Object 3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735013" y="2060575"/>
          <a:ext cx="149225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0" name="Equation" r:id="rId13" imgW="10668000" imgH="4572000" progId="Equation.DSMT4">
                  <p:embed/>
                </p:oleObj>
              </mc:Choice>
              <mc:Fallback>
                <p:oleObj name="Equation" r:id="rId13" imgW="10668000" imgH="45720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35013" y="2060575"/>
                        <a:ext cx="1492250" cy="641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6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1764030" y="3679825"/>
          <a:ext cx="3862070" cy="2165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1" name="Equation" r:id="rId15" imgW="1409700" imgH="736600" progId="Equation.DSMT4">
                  <p:embed/>
                </p:oleObj>
              </mc:Choice>
              <mc:Fallback>
                <p:oleObj name="Equation" r:id="rId15" imgW="1409700" imgH="7366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64030" y="3679825"/>
                        <a:ext cx="3862070" cy="21659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7" name="Object 9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2915920" y="5733415"/>
          <a:ext cx="4266565" cy="918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2" name="Equation" r:id="rId17" imgW="1181100" imgH="254000" progId="Equation.DSMT4">
                  <p:embed/>
                </p:oleObj>
              </mc:Choice>
              <mc:Fallback>
                <p:oleObj name="Equation" r:id="rId17" imgW="1181100" imgH="2540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15920" y="5733415"/>
                        <a:ext cx="4266565" cy="9182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8" name="Rectangle 10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67093" y="5845493"/>
            <a:ext cx="2354263" cy="554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重要性质：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  <p:bldP spid="43018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4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重（难）点问题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逆矩阵的求法</a:t>
            </a:r>
          </a:p>
        </p:txBody>
      </p:sp>
      <p:sp>
        <p:nvSpPr>
          <p:cNvPr id="32771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67678" y="1063625"/>
            <a:ext cx="424815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l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定理</a:t>
            </a:r>
            <a:r>
              <a:rPr kumimoji="1" lang="en-US" altLang="zh-CN" sz="2800" b="1" kern="1200" cap="none" spc="0" normalizeH="0" baseline="0" noProof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2.1</a:t>
            </a:r>
          </a:p>
        </p:txBody>
      </p:sp>
      <p:sp>
        <p:nvSpPr>
          <p:cNvPr id="197643" name="Rectangle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690370" y="1002030"/>
            <a:ext cx="662940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</a:t>
            </a:r>
            <a:r>
              <a:rPr lang="en-US" altLang="zh-CN" b="1" i="1" dirty="0">
                <a:solidFill>
                  <a:schemeClr val="tx1"/>
                </a:solidFill>
                <a:effectLst/>
                <a:ea typeface="华文中宋" panose="02010600040101010101" pitchFamily="2" charset="-122"/>
                <a:sym typeface="+mn-ea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为可逆矩阵的充要条件为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|A|≠0</a:t>
            </a:r>
          </a:p>
        </p:txBody>
      </p:sp>
      <p:sp>
        <p:nvSpPr>
          <p:cNvPr id="197634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92275" y="1808798"/>
            <a:ext cx="509905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（必要性）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  若</a:t>
            </a:r>
            <a:r>
              <a:rPr lang="en-US" altLang="zh-CN" b="1" i="1" dirty="0">
                <a:ea typeface="华文中宋" panose="02010600040101010101" pitchFamily="2" charset="-122"/>
                <a:sym typeface="+mn-ea"/>
              </a:rPr>
              <a:t>A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可逆，则</a:t>
            </a:r>
          </a:p>
        </p:txBody>
      </p:sp>
      <p:sp>
        <p:nvSpPr>
          <p:cNvPr id="197635" name="Rectangle 3"/>
          <p:cNvSpPr/>
          <p:nvPr>
            <p:custDataLst>
              <p:tags r:id="rId5"/>
            </p:custDataLst>
          </p:nvPr>
        </p:nvSpPr>
        <p:spPr>
          <a:xfrm>
            <a:off x="828675" y="3104198"/>
            <a:ext cx="752538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两边取行列式，得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||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i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-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 = |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 = 1, </a:t>
            </a:r>
            <a:r>
              <a:rPr lang="zh-CN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因而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 0 .</a:t>
            </a:r>
          </a:p>
        </p:txBody>
      </p:sp>
      <p:sp>
        <p:nvSpPr>
          <p:cNvPr id="197636" name="Rectangle 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0975" y="3832860"/>
            <a:ext cx="5400675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（充分性）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     若 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|</a:t>
            </a:r>
            <a:r>
              <a:rPr lang="en-US" altLang="zh-CN" b="1" i="1" dirty="0">
                <a:ea typeface="华文中宋" panose="02010600040101010101" pitchFamily="2" charset="-122"/>
                <a:sym typeface="+mn-ea"/>
              </a:rPr>
              <a:t>A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| 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 0 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，则由</a:t>
            </a:r>
          </a:p>
        </p:txBody>
      </p:sp>
      <p:sp>
        <p:nvSpPr>
          <p:cNvPr id="197637" name="Rectangle 5"/>
          <p:cNvSpPr/>
          <p:nvPr>
            <p:custDataLst>
              <p:tags r:id="rId7"/>
            </p:custDataLst>
          </p:nvPr>
        </p:nvSpPr>
        <p:spPr>
          <a:xfrm>
            <a:off x="3119438" y="2456498"/>
            <a:ext cx="28336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AA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-1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-1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,</a:t>
            </a:r>
          </a:p>
        </p:txBody>
      </p:sp>
      <p:sp>
        <p:nvSpPr>
          <p:cNvPr id="197638" name="Rectangle 6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52450" y="1811973"/>
            <a:ext cx="89789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证明</a:t>
            </a:r>
          </a:p>
        </p:txBody>
      </p:sp>
      <p:sp>
        <p:nvSpPr>
          <p:cNvPr id="197639" name="Text Box 7"/>
          <p:cNvSpPr txBox="1"/>
          <p:nvPr>
            <p:custDataLst>
              <p:tags r:id="rId9"/>
            </p:custDataLst>
          </p:nvPr>
        </p:nvSpPr>
        <p:spPr>
          <a:xfrm>
            <a:off x="923925" y="5671185"/>
            <a:ext cx="6400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由逆矩阵的定义可知，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可逆，且有</a:t>
            </a:r>
          </a:p>
        </p:txBody>
      </p:sp>
      <p:graphicFrame>
        <p:nvGraphicFramePr>
          <p:cNvPr id="29706" name="Object 10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2700020" y="4461510"/>
          <a:ext cx="4111625" cy="1167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" name="Equation" r:id="rId16" imgW="1790700" imgH="508000" progId="Equation.DSMT4">
                  <p:embed/>
                </p:oleObj>
              </mc:Choice>
              <mc:Fallback>
                <p:oleObj name="Equation" r:id="rId16" imgW="1790700" imgH="5080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>
                      <a:xfrm>
                        <a:off x="2700020" y="4461510"/>
                        <a:ext cx="4111625" cy="116713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4" name="Object 12"/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5147945" y="3838575"/>
          <a:ext cx="2766060" cy="580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Equation" r:id="rId18" imgW="1206500" imgH="254000" progId="Equation.DSMT4">
                  <p:embed/>
                </p:oleObj>
              </mc:Choice>
              <mc:Fallback>
                <p:oleObj name="Equation" r:id="rId18" imgW="1206500" imgH="2540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147945" y="3838575"/>
                        <a:ext cx="2766060" cy="5803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645" name="Rectangle 13"/>
          <p:cNvSpPr/>
          <p:nvPr>
            <p:custDataLst>
              <p:tags r:id="rId12"/>
            </p:custDataLst>
          </p:nvPr>
        </p:nvSpPr>
        <p:spPr>
          <a:xfrm>
            <a:off x="928688" y="4712335"/>
            <a:ext cx="1295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可得：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7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7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7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7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7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7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76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  <p:bldP spid="197643" grpId="0" build="p"/>
      <p:bldP spid="197634" grpId="0" build="p"/>
      <p:bldP spid="197635" grpId="0" build="p" advAuto="1000"/>
      <p:bldP spid="197636" grpId="0" build="p"/>
      <p:bldP spid="197637" grpId="0" build="p"/>
      <p:bldP spid="197638" grpId="0" bldLvl="0" animBg="1"/>
      <p:bldP spid="197639" grpId="0" build="p"/>
      <p:bldP spid="19764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重（难）点问题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逆矩阵的求法</a:t>
            </a:r>
          </a:p>
        </p:txBody>
      </p:sp>
      <p:sp>
        <p:nvSpPr>
          <p:cNvPr id="32771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67678" y="1063625"/>
            <a:ext cx="424815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l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思考</a:t>
            </a:r>
          </a:p>
        </p:txBody>
      </p:sp>
      <p:sp>
        <p:nvSpPr>
          <p:cNvPr id="197643" name="Rectangle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259840" y="1002030"/>
            <a:ext cx="662940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如何求一个矩阵的逆矩阵？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  <a:sym typeface="+mn-ea"/>
            </a:endParaRPr>
          </a:p>
        </p:txBody>
      </p:sp>
      <p:sp>
        <p:nvSpPr>
          <p:cNvPr id="190466" name="Rectangle 2"/>
          <p:cNvSpPr/>
          <p:nvPr>
            <p:custDataLst>
              <p:tags r:id="rId4"/>
            </p:custDataLst>
          </p:nvPr>
        </p:nvSpPr>
        <p:spPr>
          <a:xfrm>
            <a:off x="611823" y="1772603"/>
            <a:ext cx="748665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由定理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2.1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我们可以得到一个求逆矩阵的公式：</a:t>
            </a:r>
          </a:p>
        </p:txBody>
      </p:sp>
      <p:graphicFrame>
        <p:nvGraphicFramePr>
          <p:cNvPr id="190468" name="Object 4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3398838" y="2347913"/>
          <a:ext cx="2778125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Equation" r:id="rId10" imgW="20726400" imgH="10668000" progId="Equation.DSMT4">
                  <p:embed/>
                </p:oleObj>
              </mc:Choice>
              <mc:Fallback>
                <p:oleObj name="Equation" r:id="rId10" imgW="20726400" imgH="106680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398838" y="2347913"/>
                        <a:ext cx="2778125" cy="1431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55650" y="3861435"/>
            <a:ext cx="7985760" cy="2030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设</a:t>
            </a:r>
            <a:r>
              <a:rPr lang="en-US" altLang="zh-CN" b="1" i="1" dirty="0">
                <a:ea typeface="华文中宋" panose="02010600040101010101" pitchFamily="2" charset="-122"/>
                <a:sym typeface="+mn-ea"/>
              </a:rPr>
              <a:t>A </a:t>
            </a:r>
            <a:r>
              <a:rPr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为方阵</a:t>
            </a:r>
            <a:r>
              <a:rPr lang="zh-CN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，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若 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|</a:t>
            </a:r>
            <a:r>
              <a:rPr lang="en-US" altLang="zh-CN" b="1" i="1" dirty="0">
                <a:ea typeface="华文中宋" panose="02010600040101010101" pitchFamily="2" charset="-122"/>
                <a:sym typeface="+mn-ea"/>
              </a:rPr>
              <a:t>A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| 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 0 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，则</a:t>
            </a:r>
            <a:r>
              <a:rPr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称为</a:t>
            </a:r>
            <a:r>
              <a:rPr lang="en-US" altLang="zh-CN" b="1" i="1" dirty="0">
                <a:ea typeface="华文中宋" panose="02010600040101010101" pitchFamily="2" charset="-122"/>
                <a:sym typeface="+mn-ea"/>
              </a:rPr>
              <a:t>A </a:t>
            </a:r>
            <a:r>
              <a:rPr b="1" dirty="0">
                <a:solidFill>
                  <a:srgbClr val="C00000"/>
                </a:solidFill>
                <a:ea typeface="华文中宋" panose="02010600040101010101" pitchFamily="2" charset="-122"/>
                <a:sym typeface="+mn-ea"/>
              </a:rPr>
              <a:t>非奇异方阵</a:t>
            </a:r>
            <a:r>
              <a:rPr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；</a:t>
            </a:r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anose="02010600040101010101" pitchFamily="2" charset="-122"/>
                <a:sym typeface="Symbol" panose="05050102010706020507" pitchFamily="18" charset="2"/>
              </a:rPr>
              <a:t>若 </a:t>
            </a:r>
            <a:r>
              <a:rPr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anose="02010600040101010101" pitchFamily="2" charset="-122"/>
                <a:sym typeface="+mn-ea"/>
              </a:rPr>
              <a:t>|</a:t>
            </a:r>
            <a:r>
              <a:rPr lang="en-US" altLang="zh-CN" b="1" i="1" dirty="0">
                <a:ea typeface="华文中宋" panose="02010600040101010101" pitchFamily="2" charset="-122"/>
                <a:sym typeface="+mn-ea"/>
              </a:rPr>
              <a:t>A</a:t>
            </a:r>
            <a:r>
              <a:rPr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anose="02010600040101010101" pitchFamily="2" charset="-122"/>
                <a:sym typeface="+mn-ea"/>
              </a:rPr>
              <a:t>| </a:t>
            </a:r>
            <a:r>
              <a:rPr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anose="02010600040101010101" pitchFamily="2" charset="-122"/>
                <a:sym typeface="Symbol" panose="05050102010706020507" pitchFamily="18" charset="2"/>
              </a:rPr>
              <a:t>= 0 </a:t>
            </a:r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华文中宋" panose="02010600040101010101" pitchFamily="2" charset="-122"/>
                <a:sym typeface="Symbol" panose="05050102010706020507" pitchFamily="18" charset="2"/>
              </a:rPr>
              <a:t>，则</a:t>
            </a:r>
            <a:r>
              <a:rPr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称</a:t>
            </a:r>
            <a:r>
              <a:rPr lang="en-US" altLang="zh-CN" b="1" i="1" dirty="0">
                <a:ea typeface="华文中宋" panose="02010600040101010101" pitchFamily="2" charset="-122"/>
                <a:sym typeface="+mn-ea"/>
              </a:rPr>
              <a:t>A </a:t>
            </a:r>
            <a:r>
              <a:rPr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为</a:t>
            </a:r>
            <a:r>
              <a:rPr b="1" dirty="0">
                <a:solidFill>
                  <a:srgbClr val="C00000"/>
                </a:solidFill>
                <a:ea typeface="华文中宋" panose="02010600040101010101" pitchFamily="2" charset="-122"/>
                <a:sym typeface="+mn-ea"/>
              </a:rPr>
              <a:t>奇异方阵</a:t>
            </a:r>
            <a:r>
              <a:rPr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；即可逆方阵就是非奇异方阵．</a:t>
            </a:r>
            <a:endParaRPr kumimoji="1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7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  <p:bldP spid="197643" grpId="0" build="p"/>
      <p:bldP spid="190466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0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重（难）点问题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逆矩阵的求法</a:t>
            </a:r>
          </a:p>
        </p:txBody>
      </p:sp>
      <p:sp>
        <p:nvSpPr>
          <p:cNvPr id="2" name="Text Box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67678" y="1063625"/>
            <a:ext cx="424815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l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推论</a:t>
            </a:r>
            <a:r>
              <a:rPr kumimoji="1" lang="en-US" altLang="zh-CN" sz="2800" b="1" kern="1200" cap="none" spc="0" normalizeH="0" baseline="0" noProof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2.1</a:t>
            </a:r>
          </a:p>
        </p:txBody>
      </p:sp>
      <p:sp>
        <p:nvSpPr>
          <p:cNvPr id="4" name="Rectangle 1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18615" y="1002030"/>
            <a:ext cx="706374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设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A</a:t>
            </a:r>
            <a:r>
              <a:rPr lang="zh-CN" altLang="en-US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B 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均为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n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阶方阵，且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AB=I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或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BA=I</a:t>
            </a:r>
            <a:r>
              <a:rPr lang="zh-CN" altLang="en-US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，</a:t>
            </a:r>
          </a:p>
        </p:txBody>
      </p:sp>
      <p:sp>
        <p:nvSpPr>
          <p:cNvPr id="5" name="Rectangle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3895" y="1701165"/>
            <a:ext cx="706374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则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A</a:t>
            </a:r>
            <a:r>
              <a:rPr lang="zh-CN" altLang="en-US" b="1" baseline="30000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－１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=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B</a:t>
            </a:r>
          </a:p>
        </p:txBody>
      </p:sp>
      <p:sp>
        <p:nvSpPr>
          <p:cNvPr id="193538" name="Rectangle 2"/>
          <p:cNvSpPr/>
          <p:nvPr>
            <p:custDataLst>
              <p:tags r:id="rId4"/>
            </p:custDataLst>
          </p:nvPr>
        </p:nvSpPr>
        <p:spPr>
          <a:xfrm>
            <a:off x="1907858" y="2493010"/>
            <a:ext cx="441801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由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AB=I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两边取行列式有</a:t>
            </a:r>
          </a:p>
        </p:txBody>
      </p:sp>
      <p:sp>
        <p:nvSpPr>
          <p:cNvPr id="193540" name="Rectangle 4"/>
          <p:cNvSpPr/>
          <p:nvPr>
            <p:custDataLst>
              <p:tags r:id="rId5"/>
            </p:custDataLst>
          </p:nvPr>
        </p:nvSpPr>
        <p:spPr>
          <a:xfrm>
            <a:off x="862648" y="3808095"/>
            <a:ext cx="9366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因而</a:t>
            </a:r>
          </a:p>
        </p:txBody>
      </p:sp>
      <p:sp>
        <p:nvSpPr>
          <p:cNvPr id="193541" name="Rectangl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83578" y="2485708"/>
            <a:ext cx="89789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证明</a:t>
            </a:r>
          </a:p>
        </p:txBody>
      </p:sp>
      <p:sp>
        <p:nvSpPr>
          <p:cNvPr id="193544" name="Rectangle 8"/>
          <p:cNvSpPr/>
          <p:nvPr>
            <p:custDataLst>
              <p:tags r:id="rId7"/>
            </p:custDataLst>
          </p:nvPr>
        </p:nvSpPr>
        <p:spPr>
          <a:xfrm>
            <a:off x="1748473" y="3795395"/>
            <a:ext cx="26431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</a:t>
            </a:r>
            <a:r>
              <a:rPr lang="en-US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≠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 </a:t>
            </a:r>
            <a:r>
              <a:rPr lang="en-US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≠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0</a:t>
            </a:r>
          </a:p>
        </p:txBody>
      </p:sp>
      <p:sp>
        <p:nvSpPr>
          <p:cNvPr id="193545" name="Rectangle 9"/>
          <p:cNvSpPr/>
          <p:nvPr>
            <p:custDataLst>
              <p:tags r:id="rId8"/>
            </p:custDataLst>
          </p:nvPr>
        </p:nvSpPr>
        <p:spPr>
          <a:xfrm>
            <a:off x="4302760" y="3789045"/>
            <a:ext cx="27527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即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均可逆</a:t>
            </a:r>
          </a:p>
        </p:txBody>
      </p:sp>
      <p:sp>
        <p:nvSpPr>
          <p:cNvPr id="37897" name="Rectangle 10"/>
          <p:cNvSpPr/>
          <p:nvPr>
            <p:custDataLst>
              <p:tags r:id="rId9"/>
            </p:custDataLst>
          </p:nvPr>
        </p:nvSpPr>
        <p:spPr>
          <a:xfrm>
            <a:off x="898843" y="4556760"/>
            <a:ext cx="45370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的逆矩阵为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baseline="30000" dirty="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，则有</a:t>
            </a:r>
          </a:p>
        </p:txBody>
      </p:sp>
      <p:sp>
        <p:nvSpPr>
          <p:cNvPr id="37899" name="Rectangle 11"/>
          <p:cNvSpPr/>
          <p:nvPr>
            <p:custDataLst>
              <p:tags r:id="rId10"/>
            </p:custDataLst>
          </p:nvPr>
        </p:nvSpPr>
        <p:spPr>
          <a:xfrm>
            <a:off x="3058160" y="3122930"/>
            <a:ext cx="638175" cy="5127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AB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</a:t>
            </a:r>
          </a:p>
        </p:txBody>
      </p:sp>
      <p:sp>
        <p:nvSpPr>
          <p:cNvPr id="37900" name="Rectangle 12"/>
          <p:cNvSpPr/>
          <p:nvPr>
            <p:custDataLst>
              <p:tags r:id="rId11"/>
            </p:custDataLst>
          </p:nvPr>
        </p:nvSpPr>
        <p:spPr>
          <a:xfrm>
            <a:off x="3737610" y="3122930"/>
            <a:ext cx="1065213" cy="5127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</a:t>
            </a:r>
          </a:p>
        </p:txBody>
      </p:sp>
      <p:sp>
        <p:nvSpPr>
          <p:cNvPr id="37901" name="Rectangle 13"/>
          <p:cNvSpPr/>
          <p:nvPr>
            <p:custDataLst>
              <p:tags r:id="rId12"/>
            </p:custDataLst>
          </p:nvPr>
        </p:nvSpPr>
        <p:spPr>
          <a:xfrm>
            <a:off x="4901248" y="3122930"/>
            <a:ext cx="1308735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|</a:t>
            </a: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</a:p>
        </p:txBody>
      </p:sp>
      <p:sp>
        <p:nvSpPr>
          <p:cNvPr id="37902" name="Rectangle 14"/>
          <p:cNvSpPr/>
          <p:nvPr>
            <p:custDataLst>
              <p:tags r:id="rId13"/>
            </p:custDataLst>
          </p:nvPr>
        </p:nvSpPr>
        <p:spPr>
          <a:xfrm>
            <a:off x="278765" y="5173345"/>
            <a:ext cx="2231390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B</a:t>
            </a: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IB</a:t>
            </a:r>
            <a:endParaRPr lang="en-US" altLang="zh-CN" sz="28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6" name="Rectangle 15"/>
          <p:cNvSpPr/>
          <p:nvPr>
            <p:custDataLst>
              <p:tags r:id="rId14"/>
            </p:custDataLst>
          </p:nvPr>
        </p:nvSpPr>
        <p:spPr>
          <a:xfrm>
            <a:off x="6730365" y="5173345"/>
            <a:ext cx="1060450" cy="5127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baseline="30000" dirty="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7" name="Rectangle 16"/>
          <p:cNvSpPr/>
          <p:nvPr>
            <p:custDataLst>
              <p:tags r:id="rId15"/>
            </p:custDataLst>
          </p:nvPr>
        </p:nvSpPr>
        <p:spPr>
          <a:xfrm>
            <a:off x="5752465" y="5173345"/>
            <a:ext cx="814705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baseline="30000" dirty="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</a:p>
        </p:txBody>
      </p:sp>
      <p:sp>
        <p:nvSpPr>
          <p:cNvPr id="8" name="Rectangle 17"/>
          <p:cNvSpPr/>
          <p:nvPr>
            <p:custDataLst>
              <p:tags r:id="rId16"/>
            </p:custDataLst>
          </p:nvPr>
        </p:nvSpPr>
        <p:spPr>
          <a:xfrm>
            <a:off x="4190365" y="5173345"/>
            <a:ext cx="1438275" cy="5127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baseline="30000" dirty="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AB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</a:p>
        </p:txBody>
      </p:sp>
      <p:sp>
        <p:nvSpPr>
          <p:cNvPr id="9" name="Rectangle 18"/>
          <p:cNvSpPr/>
          <p:nvPr>
            <p:custDataLst>
              <p:tags r:id="rId17"/>
            </p:custDataLst>
          </p:nvPr>
        </p:nvSpPr>
        <p:spPr>
          <a:xfrm>
            <a:off x="2628265" y="5173345"/>
            <a:ext cx="1438275" cy="5127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baseline="30000" dirty="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</a:p>
        </p:txBody>
      </p:sp>
      <p:sp>
        <p:nvSpPr>
          <p:cNvPr id="193548" name="Rectangle 12"/>
          <p:cNvSpPr/>
          <p:nvPr>
            <p:custDataLst>
              <p:tags r:id="rId18"/>
            </p:custDataLst>
          </p:nvPr>
        </p:nvSpPr>
        <p:spPr>
          <a:xfrm>
            <a:off x="972185" y="5805170"/>
            <a:ext cx="638238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同理，当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BA=I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时，结论也成立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3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3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3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35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35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78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7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93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build="p"/>
      <p:bldP spid="5" grpId="0" build="p"/>
      <p:bldP spid="193538" grpId="0" build="p"/>
      <p:bldP spid="193540" grpId="0" build="p" advAuto="1000"/>
      <p:bldP spid="193541" grpId="0" bldLvl="0" animBg="1"/>
      <p:bldP spid="193544" grpId="0" build="p" advAuto="1000"/>
      <p:bldP spid="193545" grpId="0" build="p" advAuto="1000"/>
      <p:bldP spid="37897" grpId="0" build="p"/>
      <p:bldP spid="37899" grpId="0" build="p"/>
      <p:bldP spid="37900" grpId="0" build="p"/>
      <p:bldP spid="37901" grpId="0" build="p"/>
      <p:bldP spid="37902" grpId="0" build="p"/>
      <p:bldP spid="6" grpId="0" build="p"/>
      <p:bldP spid="7" grpId="0" build="p"/>
      <p:bldP spid="8" grpId="0" build="p"/>
      <p:bldP spid="9" grpId="0" build="p"/>
      <p:bldP spid="193548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重（难）点问题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逆矩阵的求法</a:t>
            </a:r>
          </a:p>
        </p:txBody>
      </p:sp>
      <p:sp>
        <p:nvSpPr>
          <p:cNvPr id="2" name="Text Box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67678" y="1063625"/>
            <a:ext cx="424815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l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推论</a:t>
            </a:r>
            <a:r>
              <a:rPr kumimoji="1" lang="en-US" altLang="zh-CN" sz="2800" b="1" kern="1200" cap="none" spc="0" normalizeH="0" baseline="0" noProof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2.1</a:t>
            </a:r>
          </a:p>
        </p:txBody>
      </p:sp>
      <p:sp>
        <p:nvSpPr>
          <p:cNvPr id="4" name="Rectangle 1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18615" y="1002030"/>
            <a:ext cx="706374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设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A</a:t>
            </a:r>
            <a:r>
              <a:rPr lang="zh-CN" altLang="en-US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B 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均为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n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阶方阵，且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AB=I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或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BA=I</a:t>
            </a:r>
            <a:r>
              <a:rPr lang="zh-CN" altLang="en-US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，</a:t>
            </a:r>
          </a:p>
        </p:txBody>
      </p:sp>
      <p:sp>
        <p:nvSpPr>
          <p:cNvPr id="5" name="Rectangle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3895" y="1701165"/>
            <a:ext cx="706374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则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A</a:t>
            </a:r>
            <a:r>
              <a:rPr lang="zh-CN" altLang="en-US" b="1" baseline="30000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－１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=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B</a:t>
            </a:r>
          </a:p>
        </p:txBody>
      </p:sp>
      <p:sp>
        <p:nvSpPr>
          <p:cNvPr id="38916" name="Rectangle 13"/>
          <p:cNvSpPr/>
          <p:nvPr>
            <p:custDataLst>
              <p:tags r:id="rId4"/>
            </p:custDataLst>
          </p:nvPr>
        </p:nvSpPr>
        <p:spPr>
          <a:xfrm>
            <a:off x="1260793" y="3716338"/>
            <a:ext cx="66976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注：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只有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为方阵才有结论成立</a:t>
            </a:r>
          </a:p>
        </p:txBody>
      </p:sp>
      <p:sp>
        <p:nvSpPr>
          <p:cNvPr id="38917" name="Text Box 5"/>
          <p:cNvSpPr txBox="1"/>
          <p:nvPr>
            <p:custDataLst>
              <p:tags r:id="rId5"/>
            </p:custDataLst>
          </p:nvPr>
        </p:nvSpPr>
        <p:spPr>
          <a:xfrm>
            <a:off x="179705" y="2420938"/>
            <a:ext cx="8686800" cy="103314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这一结论说明，如果要验证矩阵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是矩阵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的逆矩阵，只要验证一个等式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AB</a:t>
            </a: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或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BA</a:t>
            </a: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即可。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build="p"/>
      <p:bldP spid="5" grpId="0" build="p"/>
      <p:bldP spid="38916" grpId="0" build="allAtOnce"/>
      <p:bldP spid="3891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13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重（难）点问题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逆矩阵的求法</a:t>
            </a:r>
          </a:p>
        </p:txBody>
      </p:sp>
      <p:sp>
        <p:nvSpPr>
          <p:cNvPr id="2" name="Text Box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67678" y="1063625"/>
            <a:ext cx="424815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l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推论</a:t>
            </a:r>
            <a:r>
              <a:rPr kumimoji="1" lang="en-US" altLang="zh-CN" sz="2800" b="1" kern="1200" cap="none" spc="0" normalizeH="0" baseline="0" noProof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2.1</a:t>
            </a:r>
          </a:p>
        </p:txBody>
      </p:sp>
      <p:sp>
        <p:nvSpPr>
          <p:cNvPr id="4" name="Rectangle 1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18615" y="1002030"/>
            <a:ext cx="706374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设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A</a:t>
            </a:r>
            <a:r>
              <a:rPr lang="zh-CN" altLang="en-US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B 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均为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n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阶方阵，且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AB=I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或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BA=I</a:t>
            </a:r>
            <a:r>
              <a:rPr lang="zh-CN" altLang="en-US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，</a:t>
            </a:r>
          </a:p>
        </p:txBody>
      </p:sp>
      <p:sp>
        <p:nvSpPr>
          <p:cNvPr id="5" name="Rectangle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3895" y="1701165"/>
            <a:ext cx="706374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则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A</a:t>
            </a:r>
            <a:r>
              <a:rPr lang="zh-CN" altLang="en-US" b="1" baseline="30000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－１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=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B</a:t>
            </a:r>
          </a:p>
        </p:txBody>
      </p:sp>
      <p:pic>
        <p:nvPicPr>
          <p:cNvPr id="50186" name="Picture 10" descr="BD14710_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79705" y="2276793"/>
            <a:ext cx="8610600" cy="142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6802" name="Text Box 2"/>
          <p:cNvSpPr txBox="1"/>
          <p:nvPr>
            <p:custDataLst>
              <p:tags r:id="rId5"/>
            </p:custDataLst>
          </p:nvPr>
        </p:nvSpPr>
        <p:spPr>
          <a:xfrm>
            <a:off x="228600" y="2442528"/>
            <a:ext cx="8686800" cy="10255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例．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n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阶矩阵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满足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aA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bA</a:t>
            </a: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cE</a:t>
            </a: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O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，证明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为可逆矩阵，并求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baseline="30000" dirty="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为常数，且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0)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76803" name="Rectangle 3"/>
          <p:cNvSpPr/>
          <p:nvPr>
            <p:custDataLst>
              <p:tags r:id="rId6"/>
            </p:custDataLst>
          </p:nvPr>
        </p:nvSpPr>
        <p:spPr>
          <a:xfrm>
            <a:off x="228600" y="4436428"/>
            <a:ext cx="2309813" cy="5127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又因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，故有</a:t>
            </a:r>
          </a:p>
        </p:txBody>
      </p:sp>
      <p:sp>
        <p:nvSpPr>
          <p:cNvPr id="76804" name="Rectangle 4"/>
          <p:cNvSpPr/>
          <p:nvPr>
            <p:custDataLst>
              <p:tags r:id="rId7"/>
            </p:custDataLst>
          </p:nvPr>
        </p:nvSpPr>
        <p:spPr>
          <a:xfrm>
            <a:off x="228600" y="3920490"/>
            <a:ext cx="3608070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aA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bA</a:t>
            </a: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=-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cI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</a:p>
        </p:txBody>
      </p:sp>
      <p:sp>
        <p:nvSpPr>
          <p:cNvPr id="76805" name="Rectangle 5"/>
          <p:cNvSpPr/>
          <p:nvPr>
            <p:custDataLst>
              <p:tags r:id="rId8"/>
            </p:custDataLst>
          </p:nvPr>
        </p:nvSpPr>
        <p:spPr>
          <a:xfrm>
            <a:off x="228600" y="3404553"/>
            <a:ext cx="4578350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解：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由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aA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bA</a:t>
            </a: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cI</a:t>
            </a: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O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，有</a:t>
            </a:r>
          </a:p>
        </p:txBody>
      </p:sp>
      <p:sp>
        <p:nvSpPr>
          <p:cNvPr id="76806" name="Rectangle 6"/>
          <p:cNvSpPr/>
          <p:nvPr>
            <p:custDataLst>
              <p:tags r:id="rId9"/>
            </p:custDataLst>
          </p:nvPr>
        </p:nvSpPr>
        <p:spPr>
          <a:xfrm>
            <a:off x="228600" y="4952365"/>
            <a:ext cx="4342130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</a:t>
            </a: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800" b="1" baseline="30000" dirty="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aA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-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800" b="1" baseline="30000" dirty="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bA</a:t>
            </a: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</a:p>
        </p:txBody>
      </p:sp>
      <p:sp>
        <p:nvSpPr>
          <p:cNvPr id="76807" name="Rectangle 7"/>
          <p:cNvSpPr/>
          <p:nvPr>
            <p:custDataLst>
              <p:tags r:id="rId10"/>
            </p:custDataLst>
          </p:nvPr>
        </p:nvSpPr>
        <p:spPr>
          <a:xfrm>
            <a:off x="4584700" y="4952365"/>
            <a:ext cx="3633470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即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800" b="1" baseline="30000" dirty="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aA</a:t>
            </a: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800" b="1" baseline="30000" dirty="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bE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</a:p>
        </p:txBody>
      </p:sp>
      <p:sp>
        <p:nvSpPr>
          <p:cNvPr id="76808" name="Text Box 8"/>
          <p:cNvSpPr txBox="1"/>
          <p:nvPr>
            <p:custDataLst>
              <p:tags r:id="rId11"/>
            </p:custDataLst>
          </p:nvPr>
        </p:nvSpPr>
        <p:spPr>
          <a:xfrm>
            <a:off x="228600" y="5468303"/>
            <a:ext cx="5421630" cy="51625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因此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可逆，且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baseline="30000" dirty="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=-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800" b="1" baseline="30000" dirty="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aA</a:t>
            </a:r>
            <a:r>
              <a:rPr lang="en-US" altLang="zh-CN" sz="2800" b="1" dirty="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800" b="1" baseline="30000" dirty="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bI 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6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6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6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68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 build="p"/>
      <p:bldP spid="76803" grpId="0" build="p"/>
      <p:bldP spid="76804" grpId="0" build="p"/>
      <p:bldP spid="76805" grpId="0" build="p"/>
      <p:bldP spid="76806" grpId="0" build="p"/>
      <p:bldP spid="76807" grpId="0" build="p"/>
      <p:bldP spid="7680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重（难）点问题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逆矩阵的计算</a:t>
            </a:r>
          </a:p>
        </p:txBody>
      </p:sp>
      <p:sp>
        <p:nvSpPr>
          <p:cNvPr id="3" name="矩形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8160" y="1195705"/>
            <a:ext cx="158877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2.10</a:t>
            </a:r>
          </a:p>
        </p:txBody>
      </p:sp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1690370" y="1281430"/>
            <a:ext cx="538226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lang="zh-CN" altLang="en-US" b="1" noProof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求矩阵</a:t>
            </a:r>
            <a:r>
              <a:rPr lang="zh-CN" altLang="en-US" b="1" i="1" noProof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 </a:t>
            </a:r>
            <a:r>
              <a:rPr lang="en-US" altLang="zh-CN" b="1" i="1" noProof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A</a:t>
            </a:r>
            <a:r>
              <a:rPr lang="zh-CN" altLang="en-US" b="1" noProof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的逆矩阵</a:t>
            </a:r>
            <a:endParaRPr kumimoji="1" lang="zh-CN" altLang="en-US" b="1" kern="1200" cap="none" spc="0" normalizeH="0" baseline="0" noProof="0"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graphicFrame>
        <p:nvGraphicFramePr>
          <p:cNvPr id="22536" name="Object 8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4787900" y="1018858"/>
          <a:ext cx="1871663" cy="110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3" name="Equation" r:id="rId10" imgW="18592800" imgH="10972800" progId="Equation.DSMT4">
                  <p:embed/>
                </p:oleObj>
              </mc:Choice>
              <mc:Fallback>
                <p:oleObj name="Equation" r:id="rId10" imgW="18592800" imgH="109728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787900" y="1018858"/>
                        <a:ext cx="1871663" cy="1103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12140" y="2205355"/>
            <a:ext cx="122555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解：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331595" y="2247900"/>
            <a:ext cx="538226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lang="zh-CN" altLang="en-US" b="1" noProof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因为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|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|=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ad-bc</a:t>
            </a:r>
            <a:r>
              <a:rPr lang="zh-CN" altLang="en-US" b="1" i="1" dirty="0">
                <a:ea typeface="华文中宋" panose="02010600040101010101" pitchFamily="2" charset="-122"/>
                <a:sym typeface="+mn-ea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A</a:t>
            </a:r>
            <a:r>
              <a:rPr lang="zh-CN" altLang="en-US" b="1" noProof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的伴随矩阵</a:t>
            </a:r>
            <a:endParaRPr kumimoji="1" lang="zh-CN" altLang="en-US" b="1" kern="1200" cap="none" spc="0" normalizeH="0" baseline="0" noProof="0"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graphicFrame>
        <p:nvGraphicFramePr>
          <p:cNvPr id="22540" name="Object 12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1533525" y="2870200"/>
          <a:ext cx="2560638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4" name="Equation" r:id="rId12" imgW="25908000" imgH="11582400" progId="Equation.DSMT4">
                  <p:embed/>
                </p:oleObj>
              </mc:Choice>
              <mc:Fallback>
                <p:oleObj name="Equation" r:id="rId12" imgW="25908000" imgH="115824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33525" y="2870200"/>
                        <a:ext cx="2560638" cy="1219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5" name="Object 17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4071938" y="2895600"/>
          <a:ext cx="1763712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5" name="Equation" r:id="rId14" imgW="18897600" imgH="10972800" progId="Equation.DSMT4">
                  <p:embed/>
                </p:oleObj>
              </mc:Choice>
              <mc:Fallback>
                <p:oleObj name="Equation" r:id="rId14" imgW="18897600" imgH="109728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071938" y="2895600"/>
                        <a:ext cx="1763712" cy="1155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332230" y="4146550"/>
            <a:ext cx="538226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当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|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|</a:t>
            </a:r>
            <a:r>
              <a:rPr lang="en-US" altLang="zh-CN" b="1" noProof="0" dirty="0">
                <a:solidFill>
                  <a:schemeClr val="tx1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 0 </a:t>
            </a:r>
            <a:r>
              <a:rPr lang="zh-CN" altLang="en-US" b="1" noProof="0" dirty="0">
                <a:solidFill>
                  <a:schemeClr val="tx1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，有：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907540" y="4914265"/>
          <a:ext cx="1964055" cy="1094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6" name="Equation" r:id="rId16" imgW="800100" imgH="444500" progId="Equation.DSMT4">
                  <p:embed/>
                </p:oleObj>
              </mc:Choice>
              <mc:Fallback>
                <p:oleObj name="Equation" r:id="rId16" imgW="800100" imgH="4445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907540" y="4914265"/>
                        <a:ext cx="1964055" cy="10947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-2147482162"/>
          <p:cNvGraphicFramePr>
            <a:graphicFrameLocks noChangeAspect="1"/>
          </p:cNvGraphicFramePr>
          <p:nvPr/>
        </p:nvGraphicFramePr>
        <p:xfrm>
          <a:off x="3872230" y="4797425"/>
          <a:ext cx="3381375" cy="1211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7" name="Equation" r:id="rId18" imgW="30480000" imgH="10972800" progId="Equation.DSMT4">
                  <p:embed/>
                </p:oleObj>
              </mc:Choice>
              <mc:Fallback>
                <p:oleObj name="Equation" r:id="rId18" imgW="30480000" imgH="1097280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872230" y="4797425"/>
                        <a:ext cx="3381375" cy="12115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bldLvl="0" animBg="1"/>
      <p:bldP spid="64514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重（难）点问题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逆矩阵的计算</a:t>
            </a:r>
          </a:p>
        </p:txBody>
      </p:sp>
      <p:sp>
        <p:nvSpPr>
          <p:cNvPr id="3" name="矩形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8160" y="1195705"/>
            <a:ext cx="1857375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2.11</a:t>
            </a:r>
          </a:p>
        </p:txBody>
      </p:sp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1618615" y="1281430"/>
            <a:ext cx="538226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lang="zh-CN" altLang="en-US" b="1" noProof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求矩阵</a:t>
            </a:r>
            <a:r>
              <a:rPr lang="zh-CN" altLang="en-US" b="1" i="1" noProof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 </a:t>
            </a:r>
            <a:r>
              <a:rPr lang="en-US" altLang="zh-CN" b="1" i="1" noProof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A</a:t>
            </a:r>
            <a:r>
              <a:rPr lang="zh-CN" altLang="en-US" b="1" noProof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的逆矩阵，其中</a:t>
            </a:r>
          </a:p>
        </p:txBody>
      </p:sp>
      <p:sp>
        <p:nvSpPr>
          <p:cNvPr id="13" name="矩形 1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12140" y="2635885"/>
            <a:ext cx="122555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解：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331595" y="2713990"/>
            <a:ext cx="538226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lang="zh-CN" altLang="en-US" b="1" noProof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因为</a:t>
            </a:r>
            <a:endParaRPr kumimoji="1" lang="zh-CN" altLang="en-US" b="1" kern="1200" cap="none" spc="0" normalizeH="0" baseline="0" noProof="0"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graphicFrame>
        <p:nvGraphicFramePr>
          <p:cNvPr id="2" name="对象 -2147482161"/>
          <p:cNvGraphicFramePr>
            <a:graphicFrameLocks noChangeAspect="1"/>
          </p:cNvGraphicFramePr>
          <p:nvPr/>
        </p:nvGraphicFramePr>
        <p:xfrm>
          <a:off x="5723255" y="836930"/>
          <a:ext cx="1978660" cy="1435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5" name="Equation" r:id="rId7" imgW="23469600" imgH="17068800" progId="Equation.DSMT4">
                  <p:embed/>
                </p:oleObj>
              </mc:Choice>
              <mc:Fallback>
                <p:oleObj name="Equation" r:id="rId7" imgW="23469600" imgH="17068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23255" y="836930"/>
                        <a:ext cx="1978660" cy="14357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2159"/>
          <p:cNvGraphicFramePr>
            <a:graphicFrameLocks noChangeAspect="1"/>
          </p:cNvGraphicFramePr>
          <p:nvPr/>
        </p:nvGraphicFramePr>
        <p:xfrm>
          <a:off x="2592388" y="2282825"/>
          <a:ext cx="4976812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6" name="Equation" r:id="rId9" imgW="61874400" imgH="17068800" progId="Equation.DSMT4">
                  <p:embed/>
                </p:oleObj>
              </mc:Choice>
              <mc:Fallback>
                <p:oleObj name="Equation" r:id="rId9" imgW="61874400" imgH="170688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92388" y="2282825"/>
                        <a:ext cx="4976812" cy="1365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332230" y="3657600"/>
            <a:ext cx="538226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lang="zh-CN" altLang="en-US" b="1" noProof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即</a:t>
            </a:r>
            <a:r>
              <a:rPr lang="en-US" altLang="zh-CN" b="1" i="1" noProof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A</a:t>
            </a:r>
            <a:r>
              <a:rPr lang="zh-CN" altLang="en-US" b="1" noProof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可逆，又因为</a:t>
            </a:r>
          </a:p>
        </p:txBody>
      </p:sp>
      <p:graphicFrame>
        <p:nvGraphicFramePr>
          <p:cNvPr id="9" name="对象 -2147482157"/>
          <p:cNvGraphicFramePr>
            <a:graphicFrameLocks noChangeAspect="1"/>
          </p:cNvGraphicFramePr>
          <p:nvPr/>
        </p:nvGraphicFramePr>
        <p:xfrm>
          <a:off x="549275" y="4292600"/>
          <a:ext cx="8110538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7" name="Equation" r:id="rId11" imgW="77114400" imgH="10972800" progId="Equation.DSMT4">
                  <p:embed/>
                </p:oleObj>
              </mc:Choice>
              <mc:Fallback>
                <p:oleObj name="Equation" r:id="rId11" imgW="77114400" imgH="109728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9275" y="4292600"/>
                        <a:ext cx="8110538" cy="1155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-2147482156"/>
          <p:cNvGraphicFramePr>
            <a:graphicFrameLocks noChangeAspect="1"/>
          </p:cNvGraphicFramePr>
          <p:nvPr/>
        </p:nvGraphicFramePr>
        <p:xfrm>
          <a:off x="549275" y="5518150"/>
          <a:ext cx="8169275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8" name="Equation" r:id="rId13" imgW="77724000" imgH="10972800" progId="Equation.DSMT4">
                  <p:embed/>
                </p:oleObj>
              </mc:Choice>
              <mc:Fallback>
                <p:oleObj name="Equation" r:id="rId13" imgW="77724000" imgH="1097280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9275" y="5518150"/>
                        <a:ext cx="8169275" cy="1155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bldLvl="0" animBg="1"/>
      <p:bldP spid="64514" grpId="1" animBg="1"/>
      <p:bldP spid="6" grpId="0" animBg="1"/>
      <p:bldP spid="6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重（难）点问题</a:t>
            </a:r>
            <a:r>
              <a:rPr lang="en-US" altLang="zh-CN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:  </a:t>
            </a:r>
            <a:r>
              <a:rPr lang="zh-CN" altLang="en-US" sz="2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逆矩阵的计算</a:t>
            </a:r>
          </a:p>
        </p:txBody>
      </p:sp>
      <p:sp>
        <p:nvSpPr>
          <p:cNvPr id="3" name="矩形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8160" y="1195705"/>
            <a:ext cx="1677670" cy="60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2.11</a:t>
            </a:r>
          </a:p>
        </p:txBody>
      </p:sp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1618615" y="1281430"/>
            <a:ext cx="538226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lang="zh-CN" altLang="en-US" b="1" noProof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求矩阵</a:t>
            </a:r>
            <a:r>
              <a:rPr lang="zh-CN" altLang="en-US" b="1" i="1" noProof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 </a:t>
            </a:r>
            <a:r>
              <a:rPr lang="en-US" altLang="zh-CN" b="1" i="1" noProof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A</a:t>
            </a:r>
            <a:r>
              <a:rPr lang="zh-CN" altLang="en-US" b="1" noProof="0">
                <a:solidFill>
                  <a:schemeClr val="tx1"/>
                </a:solidFill>
                <a:ea typeface="华文中宋" panose="02010600040101010101" pitchFamily="2" charset="-122"/>
                <a:sym typeface="+mn-ea"/>
              </a:rPr>
              <a:t>的逆矩阵，其中</a:t>
            </a:r>
          </a:p>
        </p:txBody>
      </p:sp>
      <p:graphicFrame>
        <p:nvGraphicFramePr>
          <p:cNvPr id="2" name="对象 -2147482161"/>
          <p:cNvGraphicFramePr>
            <a:graphicFrameLocks noChangeAspect="1"/>
          </p:cNvGraphicFramePr>
          <p:nvPr/>
        </p:nvGraphicFramePr>
        <p:xfrm>
          <a:off x="5723255" y="836930"/>
          <a:ext cx="1978660" cy="1435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9" name="Equation" r:id="rId6" imgW="23469600" imgH="17068800" progId="Equation.DSMT4">
                  <p:embed/>
                </p:oleObj>
              </mc:Choice>
              <mc:Fallback>
                <p:oleObj name="Equation" r:id="rId6" imgW="23469600" imgH="17068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23255" y="836930"/>
                        <a:ext cx="1978660" cy="14357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899795" y="3932555"/>
            <a:ext cx="538226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故</a:t>
            </a:r>
          </a:p>
        </p:txBody>
      </p:sp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455738" y="3495675"/>
          <a:ext cx="5284787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0" name="Equation" r:id="rId8" imgW="59740800" imgH="17068800" progId="Equation.DSMT4">
                  <p:embed/>
                </p:oleObj>
              </mc:Choice>
              <mc:Fallback>
                <p:oleObj name="Equation" r:id="rId8" imgW="59740800" imgH="170688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55738" y="3495675"/>
                        <a:ext cx="5284787" cy="151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-2147482152"/>
          <p:cNvGraphicFramePr>
            <a:graphicFrameLocks noChangeAspect="1"/>
          </p:cNvGraphicFramePr>
          <p:nvPr/>
        </p:nvGraphicFramePr>
        <p:xfrm>
          <a:off x="1017588" y="5153025"/>
          <a:ext cx="6475412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" name="Equation" r:id="rId10" imgW="70713600" imgH="17068800" progId="Equation.DSMT4">
                  <p:embed/>
                </p:oleObj>
              </mc:Choice>
              <mc:Fallback>
                <p:oleObj name="Equation" r:id="rId10" imgW="70713600" imgH="17068800" progId="Equation.DSMT4">
                  <p:embed/>
                  <p:pic>
                    <p:nvPicPr>
                      <p:cNvPr id="0" name="图片 1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17588" y="5153025"/>
                        <a:ext cx="6475412" cy="1552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-2147482155"/>
          <p:cNvGraphicFramePr>
            <a:graphicFrameLocks noChangeAspect="1"/>
          </p:cNvGraphicFramePr>
          <p:nvPr/>
        </p:nvGraphicFramePr>
        <p:xfrm>
          <a:off x="752475" y="2339975"/>
          <a:ext cx="7461250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2" name="Equation" r:id="rId12" imgW="75285600" imgH="10972800" progId="Equation.DSMT4">
                  <p:embed/>
                </p:oleObj>
              </mc:Choice>
              <mc:Fallback>
                <p:oleObj name="Equation" r:id="rId12" imgW="75285600" imgH="10972800" progId="Equation.DSMT4">
                  <p:embed/>
                  <p:pic>
                    <p:nvPicPr>
                      <p:cNvPr id="0" name="图片 1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52475" y="2339975"/>
                        <a:ext cx="7461250" cy="1089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1" animBg="1"/>
      <p:bldP spid="14" grpId="0" animBg="1"/>
      <p:bldP spid="14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C65EE66C-B6EA-0A4C-BA62-2A258E582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49275"/>
            <a:ext cx="2916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>
                <a:latin typeface="楷体_GB2312" pitchFamily="49" charset="-122"/>
              </a:rPr>
              <a:t>三、矩阵方程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6AAD0A4E-AF49-6E41-B633-4A487CEB8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555750"/>
            <a:ext cx="26273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 dirty="0">
                <a:solidFill>
                  <a:srgbClr val="FFFF00"/>
                </a:solidFill>
              </a:rPr>
              <a:t>1. </a:t>
            </a:r>
            <a:r>
              <a:rPr lang="zh-CN" altLang="en-US" sz="2800" dirty="0">
                <a:solidFill>
                  <a:srgbClr val="FFFF00"/>
                </a:solidFill>
                <a:latin typeface="楷体_GB2312" pitchFamily="49" charset="-122"/>
              </a:rPr>
              <a:t>解矩阵方程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023B07E0-538F-E64A-A283-5139222D7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492375"/>
            <a:ext cx="2800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i="1">
                <a:ea typeface="宋体" panose="02010600030101010101" pitchFamily="2" charset="-122"/>
              </a:rPr>
              <a:t>AX</a:t>
            </a:r>
            <a:r>
              <a:rPr kumimoji="0" lang="zh-CN" altLang="en-US">
                <a:ea typeface="宋体" panose="02010600030101010101" pitchFamily="2" charset="-122"/>
              </a:rPr>
              <a:t>＝</a:t>
            </a:r>
            <a:r>
              <a:rPr kumimoji="0" lang="en-US" altLang="zh-CN" i="1">
                <a:ea typeface="宋体" panose="02010600030101010101" pitchFamily="2" charset="-122"/>
              </a:rPr>
              <a:t>B</a:t>
            </a:r>
            <a:r>
              <a:rPr kumimoji="0" lang="en-US" altLang="zh-CN">
                <a:ea typeface="宋体" panose="02010600030101010101" pitchFamily="2" charset="-122"/>
              </a:rPr>
              <a:t>, </a:t>
            </a:r>
            <a:r>
              <a:rPr kumimoji="0" lang="en-US" altLang="zh-CN" i="1">
                <a:ea typeface="宋体" panose="02010600030101010101" pitchFamily="2" charset="-122"/>
              </a:rPr>
              <a:t>A</a:t>
            </a:r>
            <a:r>
              <a:rPr kumimoji="0" lang="zh-CN" altLang="en-US" sz="2800"/>
              <a:t>可逆</a:t>
            </a:r>
            <a:endParaRPr kumimoji="0" lang="zh-CN" altLang="en-US" sz="2800" i="1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BD8567D-780E-FE4B-A2E8-20EA0D77D259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2492375"/>
            <a:ext cx="2676525" cy="579438"/>
            <a:chOff x="3286" y="14"/>
            <a:chExt cx="1686" cy="365"/>
          </a:xfrm>
        </p:grpSpPr>
        <p:graphicFrame>
          <p:nvGraphicFramePr>
            <p:cNvPr id="6" name="Object 6">
              <a:extLst>
                <a:ext uri="{FF2B5EF4-FFF2-40B4-BE49-F238E27FC236}">
                  <a16:creationId xmlns:a16="http://schemas.microsoft.com/office/drawing/2014/main" id="{5FDB25E7-FF10-A147-A402-7F72AFFAB7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86" y="67"/>
            <a:ext cx="408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3" name="Equation" r:id="rId3" imgW="4686300" imgH="3213100" progId="Equation.DSMT4">
                    <p:embed/>
                  </p:oleObj>
                </mc:Choice>
                <mc:Fallback>
                  <p:oleObj name="Equation" r:id="rId3" imgW="4686300" imgH="3213100" progId="Equation.DSMT4">
                    <p:embed/>
                    <p:pic>
                      <p:nvPicPr>
                        <p:cNvPr id="22542" name="Object 6">
                          <a:extLst>
                            <a:ext uri="{FF2B5EF4-FFF2-40B4-BE49-F238E27FC236}">
                              <a16:creationId xmlns:a16="http://schemas.microsoft.com/office/drawing/2014/main" id="{C9D23D2F-746E-E341-8036-15B0AAF893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6" y="67"/>
                          <a:ext cx="408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2D1E1941-C269-7B45-9D85-358E2045D9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1" y="14"/>
              <a:ext cx="136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0" lang="en-US" altLang="zh-CN" i="1">
                  <a:ea typeface="宋体" panose="02010600030101010101" pitchFamily="2" charset="-122"/>
                </a:rPr>
                <a:t>X</a:t>
              </a:r>
              <a:r>
                <a:rPr kumimoji="0" lang="zh-CN" altLang="en-US">
                  <a:ea typeface="宋体" panose="02010600030101010101" pitchFamily="2" charset="-122"/>
                </a:rPr>
                <a:t>＝</a:t>
              </a:r>
              <a:r>
                <a:rPr kumimoji="0" lang="en-US" altLang="zh-CN" i="1">
                  <a:ea typeface="宋体" panose="02010600030101010101" pitchFamily="2" charset="-122"/>
                </a:rPr>
                <a:t>A</a:t>
              </a:r>
              <a:r>
                <a:rPr kumimoji="0" lang="zh-CN" altLang="en-US" baseline="30000">
                  <a:ea typeface="宋体" panose="02010600030101010101" pitchFamily="2" charset="-122"/>
                </a:rPr>
                <a:t>－</a:t>
              </a:r>
              <a:r>
                <a:rPr kumimoji="0" lang="en-US" altLang="zh-CN" baseline="30000">
                  <a:ea typeface="宋体" panose="02010600030101010101" pitchFamily="2" charset="-122"/>
                </a:rPr>
                <a:t>1</a:t>
              </a:r>
              <a:r>
                <a:rPr kumimoji="0" lang="en-US" altLang="zh-CN" i="1">
                  <a:ea typeface="宋体" panose="02010600030101010101" pitchFamily="2" charset="-122"/>
                </a:rPr>
                <a:t>B</a:t>
              </a:r>
            </a:p>
          </p:txBody>
        </p:sp>
      </p:grpSp>
      <p:sp>
        <p:nvSpPr>
          <p:cNvPr id="8" name="Text Box 8">
            <a:extLst>
              <a:ext uri="{FF2B5EF4-FFF2-40B4-BE49-F238E27FC236}">
                <a16:creationId xmlns:a16="http://schemas.microsoft.com/office/drawing/2014/main" id="{1A3C8879-0F2A-F84F-A48C-A0DF7A861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429000"/>
            <a:ext cx="2952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i="1">
                <a:ea typeface="宋体" panose="02010600030101010101" pitchFamily="2" charset="-122"/>
              </a:rPr>
              <a:t>XA</a:t>
            </a:r>
            <a:r>
              <a:rPr kumimoji="0" lang="zh-CN" altLang="en-US">
                <a:ea typeface="宋体" panose="02010600030101010101" pitchFamily="2" charset="-122"/>
              </a:rPr>
              <a:t>＝</a:t>
            </a:r>
            <a:r>
              <a:rPr kumimoji="0" lang="en-US" altLang="zh-CN" i="1">
                <a:ea typeface="宋体" panose="02010600030101010101" pitchFamily="2" charset="-122"/>
              </a:rPr>
              <a:t>B</a:t>
            </a:r>
            <a:r>
              <a:rPr kumimoji="0" lang="en-US" altLang="zh-CN">
                <a:ea typeface="宋体" panose="02010600030101010101" pitchFamily="2" charset="-122"/>
              </a:rPr>
              <a:t>, </a:t>
            </a:r>
            <a:r>
              <a:rPr kumimoji="0" lang="en-US" altLang="zh-CN" i="1">
                <a:ea typeface="宋体" panose="02010600030101010101" pitchFamily="2" charset="-122"/>
              </a:rPr>
              <a:t>A</a:t>
            </a:r>
            <a:r>
              <a:rPr kumimoji="0" lang="zh-CN" altLang="en-US" sz="2800"/>
              <a:t>可逆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0F1C114D-F305-C94B-AD52-7D59F48985BC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3355975"/>
            <a:ext cx="2527300" cy="579438"/>
            <a:chOff x="3288" y="377"/>
            <a:chExt cx="1592" cy="365"/>
          </a:xfrm>
        </p:grpSpPr>
        <p:graphicFrame>
          <p:nvGraphicFramePr>
            <p:cNvPr id="10" name="Object 10">
              <a:extLst>
                <a:ext uri="{FF2B5EF4-FFF2-40B4-BE49-F238E27FC236}">
                  <a16:creationId xmlns:a16="http://schemas.microsoft.com/office/drawing/2014/main" id="{D0334B00-9FC1-B14B-909C-A583280D5A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88" y="436"/>
            <a:ext cx="408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4" name="Equation" r:id="rId5" imgW="4686300" imgH="3213100" progId="Equation.DSMT4">
                    <p:embed/>
                  </p:oleObj>
                </mc:Choice>
                <mc:Fallback>
                  <p:oleObj name="Equation" r:id="rId5" imgW="4686300" imgH="3213100" progId="Equation.DSMT4">
                    <p:embed/>
                    <p:pic>
                      <p:nvPicPr>
                        <p:cNvPr id="22540" name="Object 10">
                          <a:extLst>
                            <a:ext uri="{FF2B5EF4-FFF2-40B4-BE49-F238E27FC236}">
                              <a16:creationId xmlns:a16="http://schemas.microsoft.com/office/drawing/2014/main" id="{B1246C8C-C2FA-4446-A91B-2AF82656DB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436"/>
                          <a:ext cx="408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B264BC05-9CD0-B94C-8BBA-3057A575B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4" y="377"/>
              <a:ext cx="128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0" lang="en-US" altLang="zh-CN" i="1">
                  <a:ea typeface="宋体" panose="02010600030101010101" pitchFamily="2" charset="-122"/>
                </a:rPr>
                <a:t>X</a:t>
              </a:r>
              <a:r>
                <a:rPr kumimoji="0" lang="zh-CN" altLang="en-US">
                  <a:ea typeface="宋体" panose="02010600030101010101" pitchFamily="2" charset="-122"/>
                </a:rPr>
                <a:t>＝</a:t>
              </a:r>
              <a:r>
                <a:rPr kumimoji="0" lang="en-US" altLang="zh-CN" i="1">
                  <a:ea typeface="宋体" panose="02010600030101010101" pitchFamily="2" charset="-122"/>
                </a:rPr>
                <a:t>BA</a:t>
              </a:r>
              <a:r>
                <a:rPr kumimoji="0" lang="zh-CN" altLang="en-US" baseline="30000">
                  <a:ea typeface="宋体" panose="02010600030101010101" pitchFamily="2" charset="-122"/>
                </a:rPr>
                <a:t>－</a:t>
              </a:r>
              <a:r>
                <a:rPr kumimoji="0" lang="en-US" altLang="zh-CN" baseline="30000"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12" name="Text Box 12">
            <a:extLst>
              <a:ext uri="{FF2B5EF4-FFF2-40B4-BE49-F238E27FC236}">
                <a16:creationId xmlns:a16="http://schemas.microsoft.com/office/drawing/2014/main" id="{C218631A-B373-F748-9220-845C96A11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437063"/>
            <a:ext cx="36734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i="1">
                <a:ea typeface="宋体" panose="02010600030101010101" pitchFamily="2" charset="-122"/>
              </a:rPr>
              <a:t>AXB</a:t>
            </a:r>
            <a:r>
              <a:rPr kumimoji="0" lang="zh-CN" altLang="en-US">
                <a:ea typeface="宋体" panose="02010600030101010101" pitchFamily="2" charset="-122"/>
              </a:rPr>
              <a:t>＝</a:t>
            </a:r>
            <a:r>
              <a:rPr kumimoji="0" lang="en-US" altLang="zh-CN" i="1">
                <a:ea typeface="宋体" panose="02010600030101010101" pitchFamily="2" charset="-122"/>
              </a:rPr>
              <a:t>C</a:t>
            </a:r>
            <a:r>
              <a:rPr kumimoji="0" lang="en-US" altLang="zh-CN">
                <a:ea typeface="宋体" panose="02010600030101010101" pitchFamily="2" charset="-122"/>
              </a:rPr>
              <a:t>, </a:t>
            </a:r>
            <a:r>
              <a:rPr kumimoji="0" lang="en-US" altLang="zh-CN" i="1">
                <a:ea typeface="宋体" panose="02010600030101010101" pitchFamily="2" charset="-122"/>
              </a:rPr>
              <a:t>A</a:t>
            </a:r>
            <a:r>
              <a:rPr kumimoji="0" lang="zh-CN" altLang="en-US">
                <a:ea typeface="宋体" panose="02010600030101010101" pitchFamily="2" charset="-122"/>
              </a:rPr>
              <a:t>、</a:t>
            </a:r>
            <a:r>
              <a:rPr kumimoji="0" lang="en-US" altLang="zh-CN" i="1">
                <a:ea typeface="宋体" panose="02010600030101010101" pitchFamily="2" charset="-122"/>
              </a:rPr>
              <a:t>B</a:t>
            </a:r>
            <a:r>
              <a:rPr kumimoji="0" lang="zh-CN" altLang="en-US" sz="2800"/>
              <a:t>可逆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2BD56BE2-75E8-9244-A2E4-66038A67AD46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4437063"/>
            <a:ext cx="3240088" cy="579437"/>
            <a:chOff x="3833" y="735"/>
            <a:chExt cx="1855" cy="365"/>
          </a:xfrm>
        </p:grpSpPr>
        <p:graphicFrame>
          <p:nvGraphicFramePr>
            <p:cNvPr id="14" name="Object 14">
              <a:extLst>
                <a:ext uri="{FF2B5EF4-FFF2-40B4-BE49-F238E27FC236}">
                  <a16:creationId xmlns:a16="http://schemas.microsoft.com/office/drawing/2014/main" id="{B3DF5E10-C2C3-4A46-BCE2-6040E34638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33" y="799"/>
            <a:ext cx="408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5" name="Equation" r:id="rId7" imgW="4686300" imgH="3213100" progId="Equation.DSMT4">
                    <p:embed/>
                  </p:oleObj>
                </mc:Choice>
                <mc:Fallback>
                  <p:oleObj name="Equation" r:id="rId7" imgW="4686300" imgH="3213100" progId="Equation.DSMT4">
                    <p:embed/>
                    <p:pic>
                      <p:nvPicPr>
                        <p:cNvPr id="22538" name="Object 14">
                          <a:extLst>
                            <a:ext uri="{FF2B5EF4-FFF2-40B4-BE49-F238E27FC236}">
                              <a16:creationId xmlns:a16="http://schemas.microsoft.com/office/drawing/2014/main" id="{5811941F-D8E8-DF4C-958E-C8A7F5B67C6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799"/>
                          <a:ext cx="408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7134F732-9E31-E749-9CB6-AA3196FE80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3" y="735"/>
              <a:ext cx="156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0" lang="en-US" altLang="zh-CN" i="1">
                  <a:ea typeface="宋体" panose="02010600030101010101" pitchFamily="2" charset="-122"/>
                </a:rPr>
                <a:t>X</a:t>
              </a:r>
              <a:r>
                <a:rPr kumimoji="0" lang="zh-CN" altLang="en-US">
                  <a:ea typeface="宋体" panose="02010600030101010101" pitchFamily="2" charset="-122"/>
                </a:rPr>
                <a:t>＝</a:t>
              </a:r>
              <a:r>
                <a:rPr kumimoji="0" lang="en-US" altLang="zh-CN" i="1">
                  <a:ea typeface="宋体" panose="02010600030101010101" pitchFamily="2" charset="-122"/>
                </a:rPr>
                <a:t>A</a:t>
              </a:r>
              <a:r>
                <a:rPr kumimoji="0" lang="zh-CN" altLang="en-US" baseline="30000">
                  <a:ea typeface="宋体" panose="02010600030101010101" pitchFamily="2" charset="-122"/>
                </a:rPr>
                <a:t>－</a:t>
              </a:r>
              <a:r>
                <a:rPr kumimoji="0" lang="en-US" altLang="zh-CN" baseline="30000">
                  <a:ea typeface="宋体" panose="02010600030101010101" pitchFamily="2" charset="-122"/>
                </a:rPr>
                <a:t>1</a:t>
              </a:r>
              <a:r>
                <a:rPr kumimoji="0" lang="en-US" altLang="zh-CN" i="1">
                  <a:ea typeface="宋体" panose="02010600030101010101" pitchFamily="2" charset="-122"/>
                </a:rPr>
                <a:t>CB</a:t>
              </a:r>
              <a:r>
                <a:rPr kumimoji="0" lang="zh-CN" altLang="en-US" baseline="30000">
                  <a:ea typeface="宋体" panose="02010600030101010101" pitchFamily="2" charset="-122"/>
                </a:rPr>
                <a:t>－</a:t>
              </a:r>
              <a:r>
                <a:rPr kumimoji="0" lang="en-US" altLang="zh-CN" baseline="30000">
                  <a:ea typeface="宋体" panose="02010600030101010101" pitchFamily="2" charset="-122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029472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Box 2">
            <a:extLst>
              <a:ext uri="{FF2B5EF4-FFF2-40B4-BE49-F238E27FC236}">
                <a16:creationId xmlns:a16="http://schemas.microsoft.com/office/drawing/2014/main" id="{4D18AE98-9371-4548-895C-956898B2F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2553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例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5" name="Object 3">
            <a:extLst>
              <a:ext uri="{FF2B5EF4-FFF2-40B4-BE49-F238E27FC236}">
                <a16:creationId xmlns:a16="http://schemas.microsoft.com/office/drawing/2014/main" id="{4958AA63-F393-024B-ABF9-18EFDC29D9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620713"/>
          <a:ext cx="2303462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5" name="Equation" r:id="rId3" imgW="23698200" imgH="16383000" progId="Equation.DSMT4">
                  <p:embed/>
                </p:oleObj>
              </mc:Choice>
              <mc:Fallback>
                <p:oleObj name="Equation" r:id="rId3" imgW="23698200" imgH="16383000" progId="Equation.DSMT4">
                  <p:embed/>
                  <p:pic>
                    <p:nvPicPr>
                      <p:cNvPr id="162819" name="Object 3">
                        <a:extLst>
                          <a:ext uri="{FF2B5EF4-FFF2-40B4-BE49-F238E27FC236}">
                            <a16:creationId xmlns:a16="http://schemas.microsoft.com/office/drawing/2014/main" id="{987026CF-FBBD-F54B-87D3-161238F2FE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620713"/>
                        <a:ext cx="2303462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">
            <a:extLst>
              <a:ext uri="{FF2B5EF4-FFF2-40B4-BE49-F238E27FC236}">
                <a16:creationId xmlns:a16="http://schemas.microsoft.com/office/drawing/2014/main" id="{7F23A67A-880B-DC4E-B3E8-8BB0B665CB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8763" y="620713"/>
          <a:ext cx="3673475" cy="163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6" name="Equation" r:id="rId5" imgW="36868100" imgH="16383000" progId="Equation.DSMT4">
                  <p:embed/>
                </p:oleObj>
              </mc:Choice>
              <mc:Fallback>
                <p:oleObj name="Equation" r:id="rId5" imgW="36868100" imgH="16383000" progId="Equation.DSMT4">
                  <p:embed/>
                  <p:pic>
                    <p:nvPicPr>
                      <p:cNvPr id="162820" name="Object 4">
                        <a:extLst>
                          <a:ext uri="{FF2B5EF4-FFF2-40B4-BE49-F238E27FC236}">
                            <a16:creationId xmlns:a16="http://schemas.microsoft.com/office/drawing/2014/main" id="{377CC115-4044-DE42-B523-34442605EB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763" y="620713"/>
                        <a:ext cx="3673475" cy="163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5">
            <a:extLst>
              <a:ext uri="{FF2B5EF4-FFF2-40B4-BE49-F238E27FC236}">
                <a16:creationId xmlns:a16="http://schemas.microsoft.com/office/drawing/2014/main" id="{3FCBC3B6-5779-D546-8EAE-30AA21E2C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205038"/>
            <a:ext cx="3384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rgbClr val="FFFF00"/>
                </a:solidFill>
                <a:latin typeface="楷体_GB2312" pitchFamily="49" charset="-122"/>
              </a:rPr>
              <a:t>求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>
                <a:solidFill>
                  <a:srgbClr val="FFFF00"/>
                </a:solidFill>
                <a:latin typeface="楷体_GB2312" pitchFamily="49" charset="-122"/>
              </a:rPr>
              <a:t>使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AXB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=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8" name="Text Box 6">
            <a:extLst>
              <a:ext uri="{FF2B5EF4-FFF2-40B4-BE49-F238E27FC236}">
                <a16:creationId xmlns:a16="http://schemas.microsoft.com/office/drawing/2014/main" id="{C3E3BE20-6802-6049-8EC6-685112AD9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924175"/>
            <a:ext cx="3635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rgbClr val="FFFFFF"/>
                </a:solidFill>
                <a:latin typeface="楷体_GB2312" pitchFamily="49" charset="-122"/>
              </a:rPr>
              <a:t>解：由例</a:t>
            </a:r>
            <a:r>
              <a:rPr lang="en-US" altLang="zh-CN" sz="28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4,</a:t>
            </a:r>
            <a:r>
              <a:rPr lang="en-US" altLang="zh-CN" sz="2800" i="1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r>
              <a:rPr lang="zh-CN" altLang="en-US" sz="2800">
                <a:solidFill>
                  <a:srgbClr val="FFFFFF"/>
                </a:solidFill>
                <a:latin typeface="楷体_GB2312" pitchFamily="49" charset="-122"/>
              </a:rPr>
              <a:t>可逆</a:t>
            </a:r>
            <a:r>
              <a:rPr lang="en-US" altLang="zh-CN" sz="2800">
                <a:solidFill>
                  <a:srgbClr val="FFFFFF"/>
                </a:solidFill>
                <a:latin typeface="楷体_GB2312" pitchFamily="49" charset="-122"/>
              </a:rPr>
              <a:t>,</a:t>
            </a:r>
          </a:p>
        </p:txBody>
      </p:sp>
      <p:graphicFrame>
        <p:nvGraphicFramePr>
          <p:cNvPr id="29" name="Object 7">
            <a:extLst>
              <a:ext uri="{FF2B5EF4-FFF2-40B4-BE49-F238E27FC236}">
                <a16:creationId xmlns:a16="http://schemas.microsoft.com/office/drawing/2014/main" id="{1310EC43-A07B-1343-8561-1FE0959157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2924175"/>
          <a:ext cx="1800225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7" name="Equation" r:id="rId7" imgW="17843500" imgH="5854700" progId="Equation.DSMT4">
                  <p:embed/>
                </p:oleObj>
              </mc:Choice>
              <mc:Fallback>
                <p:oleObj name="Equation" r:id="rId7" imgW="17843500" imgH="5854700" progId="Equation.DSMT4">
                  <p:embed/>
                  <p:pic>
                    <p:nvPicPr>
                      <p:cNvPr id="162823" name="Object 7">
                        <a:extLst>
                          <a:ext uri="{FF2B5EF4-FFF2-40B4-BE49-F238E27FC236}">
                            <a16:creationId xmlns:a16="http://schemas.microsoft.com/office/drawing/2014/main" id="{3446E916-1644-BE40-80F7-BC0F353EDF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924175"/>
                        <a:ext cx="1800225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8">
            <a:extLst>
              <a:ext uri="{FF2B5EF4-FFF2-40B4-BE49-F238E27FC236}">
                <a16:creationId xmlns:a16="http://schemas.microsoft.com/office/drawing/2014/main" id="{BD369900-4CD9-2C4E-B5C2-6BE782A7F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2924175"/>
            <a:ext cx="2209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，故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可逆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.</a:t>
            </a:r>
            <a:r>
              <a:rPr kumimoji="1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31" name="Object 9">
            <a:extLst>
              <a:ext uri="{FF2B5EF4-FFF2-40B4-BE49-F238E27FC236}">
                <a16:creationId xmlns:a16="http://schemas.microsoft.com/office/drawing/2014/main" id="{6F8340D1-FB46-C54E-9C27-8EE4586FEA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573463"/>
          <a:ext cx="2160587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8" name="Equation" r:id="rId9" imgW="22237700" imgH="4686300" progId="Equation.DSMT4">
                  <p:embed/>
                </p:oleObj>
              </mc:Choice>
              <mc:Fallback>
                <p:oleObj name="Equation" r:id="rId9" imgW="22237700" imgH="4686300" progId="Equation.DSMT4">
                  <p:embed/>
                  <p:pic>
                    <p:nvPicPr>
                      <p:cNvPr id="162825" name="Object 9">
                        <a:extLst>
                          <a:ext uri="{FF2B5EF4-FFF2-40B4-BE49-F238E27FC236}">
                            <a16:creationId xmlns:a16="http://schemas.microsoft.com/office/drawing/2014/main" id="{0E69E21F-BBC1-7343-8DC3-BFD17588D6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573463"/>
                        <a:ext cx="2160587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10">
            <a:extLst>
              <a:ext uri="{FF2B5EF4-FFF2-40B4-BE49-F238E27FC236}">
                <a16:creationId xmlns:a16="http://schemas.microsoft.com/office/drawing/2014/main" id="{3F538F63-90E5-2345-AC3C-86E1D6616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125538"/>
            <a:ext cx="792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2800">
                <a:solidFill>
                  <a:srgbClr val="FFFF00"/>
                </a:solidFill>
                <a:latin typeface="Arial" panose="020B0604020202020204" pitchFamily="34" charset="0"/>
              </a:rPr>
              <a:t>设</a:t>
            </a:r>
          </a:p>
        </p:txBody>
      </p:sp>
      <p:graphicFrame>
        <p:nvGraphicFramePr>
          <p:cNvPr id="33" name="Object 11">
            <a:extLst>
              <a:ext uri="{FF2B5EF4-FFF2-40B4-BE49-F238E27FC236}">
                <a16:creationId xmlns:a16="http://schemas.microsoft.com/office/drawing/2014/main" id="{B24263E1-C6B6-9449-A724-DD814C75CF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4221163"/>
          <a:ext cx="5329238" cy="211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9" name="Equation" r:id="rId11" imgW="51498500" imgH="20485100" progId="Equation.DSMT4">
                  <p:embed/>
                </p:oleObj>
              </mc:Choice>
              <mc:Fallback>
                <p:oleObj name="Equation" r:id="rId11" imgW="51498500" imgH="20485100" progId="Equation.DSMT4">
                  <p:embed/>
                  <p:pic>
                    <p:nvPicPr>
                      <p:cNvPr id="162827" name="Object 11">
                        <a:extLst>
                          <a:ext uri="{FF2B5EF4-FFF2-40B4-BE49-F238E27FC236}">
                            <a16:creationId xmlns:a16="http://schemas.microsoft.com/office/drawing/2014/main" id="{5BFD325C-EA1B-F746-8926-59BC2A6261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221163"/>
                        <a:ext cx="5329238" cy="211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>
                                <a:alpha val="56078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2">
            <a:extLst>
              <a:ext uri="{FF2B5EF4-FFF2-40B4-BE49-F238E27FC236}">
                <a16:creationId xmlns:a16="http://schemas.microsoft.com/office/drawing/2014/main" id="{BFADE6DC-5876-6742-90DC-F5310D01A5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4437063"/>
          <a:ext cx="1979612" cy="165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0" name="Equation" r:id="rId13" imgW="19596100" imgH="16383000" progId="Equation.DSMT4">
                  <p:embed/>
                </p:oleObj>
              </mc:Choice>
              <mc:Fallback>
                <p:oleObj name="Equation" r:id="rId13" imgW="19596100" imgH="16383000" progId="Equation.DSMT4">
                  <p:embed/>
                  <p:pic>
                    <p:nvPicPr>
                      <p:cNvPr id="162828" name="Object 12">
                        <a:extLst>
                          <a:ext uri="{FF2B5EF4-FFF2-40B4-BE49-F238E27FC236}">
                            <a16:creationId xmlns:a16="http://schemas.microsoft.com/office/drawing/2014/main" id="{C06F5339-A7E6-A040-8D13-650BEA7FD2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4437063"/>
                        <a:ext cx="1979612" cy="165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>
                                <a:alpha val="56078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962540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/>
      <p:bldP spid="28" grpId="0"/>
      <p:bldP spid="30" grpId="0"/>
      <p:bldP spid="3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2">
            <a:extLst>
              <a:ext uri="{FF2B5EF4-FFF2-40B4-BE49-F238E27FC236}">
                <a16:creationId xmlns:a16="http://schemas.microsoft.com/office/drawing/2014/main" id="{1C93B0EB-111D-5340-8747-AF0033C89B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4797425"/>
          <a:ext cx="7200900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Equation" r:id="rId3" imgW="83096100" imgH="16967200" progId="Equation.DSMT4">
                  <p:embed/>
                </p:oleObj>
              </mc:Choice>
              <mc:Fallback>
                <p:oleObj name="Equation" r:id="rId3" imgW="83096100" imgH="16967200" progId="Equation.DSMT4">
                  <p:embed/>
                  <p:pic>
                    <p:nvPicPr>
                      <p:cNvPr id="163842" name="Object 2">
                        <a:extLst>
                          <a:ext uri="{FF2B5EF4-FFF2-40B4-BE49-F238E27FC236}">
                            <a16:creationId xmlns:a16="http://schemas.microsoft.com/office/drawing/2014/main" id="{CF46CE03-5C06-8D4C-942B-7D3A04A2F0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797425"/>
                        <a:ext cx="7200900" cy="153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">
            <a:extLst>
              <a:ext uri="{FF2B5EF4-FFF2-40B4-BE49-F238E27FC236}">
                <a16:creationId xmlns:a16="http://schemas.microsoft.com/office/drawing/2014/main" id="{5968ACDE-1C34-0548-82EE-617621EDC9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1412875"/>
          <a:ext cx="3503613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6" name="Equation" r:id="rId5" imgW="38036500" imgH="16383000" progId="Equation.DSMT4">
                  <p:embed/>
                </p:oleObj>
              </mc:Choice>
              <mc:Fallback>
                <p:oleObj name="Equation" r:id="rId5" imgW="38036500" imgH="16383000" progId="Equation.DSMT4">
                  <p:embed/>
                  <p:pic>
                    <p:nvPicPr>
                      <p:cNvPr id="163843" name="Object 3">
                        <a:extLst>
                          <a:ext uri="{FF2B5EF4-FFF2-40B4-BE49-F238E27FC236}">
                            <a16:creationId xmlns:a16="http://schemas.microsoft.com/office/drawing/2014/main" id="{EDCE0470-C73F-2846-9F2B-04FB160346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1412875"/>
                        <a:ext cx="3503613" cy="151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4">
            <a:extLst>
              <a:ext uri="{FF2B5EF4-FFF2-40B4-BE49-F238E27FC236}">
                <a16:creationId xmlns:a16="http://schemas.microsoft.com/office/drawing/2014/main" id="{0C4B9BA8-D818-934E-AC7C-E398FC8AC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60350"/>
            <a:ext cx="3924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用逆阵解线性方程组</a:t>
            </a:r>
          </a:p>
        </p:txBody>
      </p:sp>
      <p:sp>
        <p:nvSpPr>
          <p:cNvPr id="24" name="Text Box 5">
            <a:extLst>
              <a:ext uri="{FF2B5EF4-FFF2-40B4-BE49-F238E27FC236}">
                <a16:creationId xmlns:a16="http://schemas.microsoft.com/office/drawing/2014/main" id="{B6592E42-870D-7843-ACC7-23A76292A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1196975"/>
            <a:ext cx="971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 dirty="0">
                <a:solidFill>
                  <a:srgbClr val="FFFFFF"/>
                </a:solidFill>
                <a:latin typeface="楷体_GB2312" pitchFamily="49" charset="-122"/>
              </a:rPr>
              <a:t>例</a:t>
            </a:r>
            <a:endParaRPr lang="en-US" altLang="zh-CN" sz="2800" dirty="0">
              <a:solidFill>
                <a:srgbClr val="FFFFFF"/>
              </a:solidFill>
              <a:latin typeface="楷体_GB2312" pitchFamily="49" charset="-122"/>
            </a:endParaRPr>
          </a:p>
        </p:txBody>
      </p:sp>
      <p:sp>
        <p:nvSpPr>
          <p:cNvPr id="25" name="Text Box 6">
            <a:extLst>
              <a:ext uri="{FF2B5EF4-FFF2-40B4-BE49-F238E27FC236}">
                <a16:creationId xmlns:a16="http://schemas.microsoft.com/office/drawing/2014/main" id="{FFA1C2DD-B73F-534E-9702-9BC154CD4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1773238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记</a:t>
            </a:r>
          </a:p>
        </p:txBody>
      </p:sp>
      <p:sp>
        <p:nvSpPr>
          <p:cNvPr id="26" name="Text Box 7">
            <a:extLst>
              <a:ext uri="{FF2B5EF4-FFF2-40B4-BE49-F238E27FC236}">
                <a16:creationId xmlns:a16="http://schemas.microsoft.com/office/drawing/2014/main" id="{6DC61197-4C1E-7C4F-8C40-195E26A40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3088" y="2997200"/>
            <a:ext cx="1908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AX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graphicFrame>
        <p:nvGraphicFramePr>
          <p:cNvPr id="27" name="Object 8">
            <a:extLst>
              <a:ext uri="{FF2B5EF4-FFF2-40B4-BE49-F238E27FC236}">
                <a16:creationId xmlns:a16="http://schemas.microsoft.com/office/drawing/2014/main" id="{9E720B3E-FF26-3C4D-888C-EFBD523CDA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3213100"/>
          <a:ext cx="3779837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7" name="Equation" r:id="rId7" imgW="40081200" imgH="16383000" progId="Equation.DSMT4">
                  <p:embed/>
                </p:oleObj>
              </mc:Choice>
              <mc:Fallback>
                <p:oleObj name="Equation" r:id="rId7" imgW="40081200" imgH="16383000" progId="Equation.DSMT4">
                  <p:embed/>
                  <p:pic>
                    <p:nvPicPr>
                      <p:cNvPr id="163848" name="Object 8">
                        <a:extLst>
                          <a:ext uri="{FF2B5EF4-FFF2-40B4-BE49-F238E27FC236}">
                            <a16:creationId xmlns:a16="http://schemas.microsoft.com/office/drawing/2014/main" id="{70CD4447-24A5-3D4B-B782-4106B5947D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213100"/>
                        <a:ext cx="3779837" cy="153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9">
            <a:extLst>
              <a:ext uri="{FF2B5EF4-FFF2-40B4-BE49-F238E27FC236}">
                <a16:creationId xmlns:a16="http://schemas.microsoft.com/office/drawing/2014/main" id="{409F0C6B-FA5E-2549-9552-F74614FB4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3716338"/>
            <a:ext cx="1944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∴</a:t>
            </a:r>
            <a:r>
              <a:rPr kumimoji="1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可逆</a:t>
            </a:r>
          </a:p>
        </p:txBody>
      </p:sp>
      <p:sp>
        <p:nvSpPr>
          <p:cNvPr id="29" name="Text Box 10">
            <a:extLst>
              <a:ext uri="{FF2B5EF4-FFF2-40B4-BE49-F238E27FC236}">
                <a16:creationId xmlns:a16="http://schemas.microsoft.com/office/drawing/2014/main" id="{B21FD24B-782B-5246-9385-C444E788E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652963"/>
            <a:ext cx="11160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即：</a:t>
            </a:r>
          </a:p>
        </p:txBody>
      </p:sp>
      <p:sp>
        <p:nvSpPr>
          <p:cNvPr id="30" name="Text Box 12">
            <a:extLst>
              <a:ext uri="{FF2B5EF4-FFF2-40B4-BE49-F238E27FC236}">
                <a16:creationId xmlns:a16="http://schemas.microsoft.com/office/drawing/2014/main" id="{A8C63004-A611-B24F-A904-054245D04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7963" y="454025"/>
            <a:ext cx="2843212" cy="3968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000" b="0">
                <a:solidFill>
                  <a:srgbClr val="6600CC"/>
                </a:solidFill>
                <a:latin typeface="楷体_GB2312" pitchFamily="49" charset="-122"/>
              </a:rPr>
              <a:t>与克莱姆法则条件相同</a:t>
            </a:r>
          </a:p>
        </p:txBody>
      </p:sp>
      <p:grpSp>
        <p:nvGrpSpPr>
          <p:cNvPr id="31" name="Group 13">
            <a:extLst>
              <a:ext uri="{FF2B5EF4-FFF2-40B4-BE49-F238E27FC236}">
                <a16:creationId xmlns:a16="http://schemas.microsoft.com/office/drawing/2014/main" id="{3CFC4ADC-31AC-C44A-827E-903F823E2013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1341438"/>
            <a:ext cx="2952750" cy="1657350"/>
            <a:chOff x="340" y="890"/>
            <a:chExt cx="1860" cy="1044"/>
          </a:xfrm>
        </p:grpSpPr>
        <p:sp>
          <p:nvSpPr>
            <p:cNvPr id="32" name="Text Box 14">
              <a:extLst>
                <a:ext uri="{FF2B5EF4-FFF2-40B4-BE49-F238E27FC236}">
                  <a16:creationId xmlns:a16="http://schemas.microsoft.com/office/drawing/2014/main" id="{0B888FB1-CF30-D74A-A9F8-E2350FB06D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" y="890"/>
              <a:ext cx="16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4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                 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+2</a:t>
              </a: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4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＝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3" name="Text Box 15">
              <a:extLst>
                <a:ext uri="{FF2B5EF4-FFF2-40B4-BE49-F238E27FC236}">
                  <a16:creationId xmlns:a16="http://schemas.microsoft.com/office/drawing/2014/main" id="{CCEFEEEC-8A7E-FB4E-9FFD-235217B998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1264"/>
              <a:ext cx="181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4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4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4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＝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4" name="Text Box 16">
              <a:extLst>
                <a:ext uri="{FF2B5EF4-FFF2-40B4-BE49-F238E27FC236}">
                  <a16:creationId xmlns:a16="http://schemas.microsoft.com/office/drawing/2014/main" id="{84BF51A1-A560-584A-A6BC-77960ECC2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1570"/>
              <a:ext cx="104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4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4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＝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5" name="AutoShape 17">
              <a:extLst>
                <a:ext uri="{FF2B5EF4-FFF2-40B4-BE49-F238E27FC236}">
                  <a16:creationId xmlns:a16="http://schemas.microsoft.com/office/drawing/2014/main" id="{B1873672-68A3-E14D-9CFD-D7F4929B2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981"/>
              <a:ext cx="136" cy="953"/>
            </a:xfrm>
            <a:prstGeom prst="leftBrace">
              <a:avLst>
                <a:gd name="adj1" fmla="val 58395"/>
                <a:gd name="adj2" fmla="val 50000"/>
              </a:avLst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6" name="Group 18">
            <a:extLst>
              <a:ext uri="{FF2B5EF4-FFF2-40B4-BE49-F238E27FC236}">
                <a16:creationId xmlns:a16="http://schemas.microsoft.com/office/drawing/2014/main" id="{E54F734A-E2A0-4D4C-A0AA-59D8C3EC3E94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3716338"/>
            <a:ext cx="2305050" cy="519112"/>
            <a:chOff x="3787" y="2295"/>
            <a:chExt cx="1701" cy="327"/>
          </a:xfrm>
        </p:grpSpPr>
        <p:sp>
          <p:nvSpPr>
            <p:cNvPr id="37" name="Text Box 19">
              <a:extLst>
                <a:ext uri="{FF2B5EF4-FFF2-40B4-BE49-F238E27FC236}">
                  <a16:creationId xmlns:a16="http://schemas.microsoft.com/office/drawing/2014/main" id="{9FE5411C-C3D0-284F-A2B6-A4762EA42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7" y="2295"/>
              <a:ext cx="13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＝</a:t>
              </a: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0" lang="en-US" altLang="zh-CN" sz="2400" b="1" i="0" u="none" strike="noStrike" kern="0" cap="none" spc="0" normalizeH="0" baseline="30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-1</a:t>
              </a: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graphicFrame>
          <p:nvGraphicFramePr>
            <p:cNvPr id="38" name="Object 20">
              <a:extLst>
                <a:ext uri="{FF2B5EF4-FFF2-40B4-BE49-F238E27FC236}">
                  <a16:creationId xmlns:a16="http://schemas.microsoft.com/office/drawing/2014/main" id="{EDD0AD6C-859B-7C49-A634-E712ECBF78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87" y="2341"/>
            <a:ext cx="408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8" name="Equation" r:id="rId9" imgW="4686300" imgH="3213100" progId="Equation.DSMT4">
                    <p:embed/>
                  </p:oleObj>
                </mc:Choice>
                <mc:Fallback>
                  <p:oleObj name="Equation" r:id="rId9" imgW="4686300" imgH="3213100" progId="Equation.DSMT4">
                    <p:embed/>
                    <p:pic>
                      <p:nvPicPr>
                        <p:cNvPr id="24592" name="Object 20">
                          <a:extLst>
                            <a:ext uri="{FF2B5EF4-FFF2-40B4-BE49-F238E27FC236}">
                              <a16:creationId xmlns:a16="http://schemas.microsoft.com/office/drawing/2014/main" id="{73DBB1E2-7EEB-8845-8B4F-DD171248BF5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2341"/>
                          <a:ext cx="408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" name="Text Box 21">
            <a:extLst>
              <a:ext uri="{FF2B5EF4-FFF2-40B4-BE49-F238E27FC236}">
                <a16:creationId xmlns:a16="http://schemas.microsoft.com/office/drawing/2014/main" id="{64E6D27F-3AA0-AA47-901F-0D94E7600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068638"/>
            <a:ext cx="10080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rgbClr val="FFFFFF"/>
                </a:solidFill>
                <a:latin typeface="楷体_GB2312" pitchFamily="49" charset="-122"/>
              </a:rPr>
              <a:t>解</a:t>
            </a:r>
            <a:r>
              <a:rPr lang="en-US" altLang="zh-CN" sz="2800">
                <a:solidFill>
                  <a:srgbClr val="FFFFFF"/>
                </a:solidFill>
                <a:latin typeface="楷体_GB2312" pitchFamily="49" charset="-122"/>
              </a:rPr>
              <a:t>:</a:t>
            </a:r>
            <a:r>
              <a:rPr lang="en-US" altLang="zh-CN" sz="2800">
                <a:solidFill>
                  <a:srgbClr val="FFFFFF"/>
                </a:solidFill>
                <a:ea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79960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utoUpdateAnimBg="0"/>
      <p:bldP spid="25" grpId="0" autoUpdateAnimBg="0"/>
      <p:bldP spid="26" grpId="0" autoUpdateAnimBg="0"/>
      <p:bldP spid="28" grpId="0" autoUpdateAnimBg="0"/>
      <p:bldP spid="29" grpId="0" autoUpdateAnimBg="0"/>
      <p:bldP spid="30" grpId="0" animBg="1" autoUpdateAnimBg="0"/>
      <p:bldP spid="3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5739EA36-DA79-814E-9DF4-B2F5B7F80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04813"/>
            <a:ext cx="25923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3. 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求逆变换</a:t>
            </a: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9" name="Text Box 3">
            <a:extLst>
              <a:ext uri="{FF2B5EF4-FFF2-40B4-BE49-F238E27FC236}">
                <a16:creationId xmlns:a16="http://schemas.microsoft.com/office/drawing/2014/main" id="{BEE0263D-9425-6148-9943-825B11C60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068638"/>
            <a:ext cx="7092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解：将变换记为：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AX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(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同例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3)  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宋体" panose="02010600030101010101" pitchFamily="2" charset="-122"/>
                <a:ea typeface="楷体_GB2312" pitchFamily="49" charset="-122"/>
              </a:rPr>
              <a:t>则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0" name="Object 4">
            <a:extLst>
              <a:ext uri="{FF2B5EF4-FFF2-40B4-BE49-F238E27FC236}">
                <a16:creationId xmlns:a16="http://schemas.microsoft.com/office/drawing/2014/main" id="{8C3BCD85-EF34-7149-A86B-AF0F6B1E7E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4076700"/>
          <a:ext cx="3384550" cy="182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" name="Equation" r:id="rId3" imgW="40957500" imgH="20485100" progId="Equation.DSMT4">
                  <p:embed/>
                </p:oleObj>
              </mc:Choice>
              <mc:Fallback>
                <p:oleObj name="Equation" r:id="rId3" imgW="40957500" imgH="20485100" progId="Equation.DSMT4">
                  <p:embed/>
                  <p:pic>
                    <p:nvPicPr>
                      <p:cNvPr id="164868" name="Object 4">
                        <a:extLst>
                          <a:ext uri="{FF2B5EF4-FFF2-40B4-BE49-F238E27FC236}">
                            <a16:creationId xmlns:a16="http://schemas.microsoft.com/office/drawing/2014/main" id="{1455CAB7-9F32-CF42-9A74-380943217A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076700"/>
                        <a:ext cx="3384550" cy="182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6">
            <a:extLst>
              <a:ext uri="{FF2B5EF4-FFF2-40B4-BE49-F238E27FC236}">
                <a16:creationId xmlns:a16="http://schemas.microsoft.com/office/drawing/2014/main" id="{3927C076-5707-3A49-813B-F17C6166BE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3933825"/>
          <a:ext cx="3240088" cy="195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Equation" r:id="rId5" imgW="35991800" imgH="21069300" progId="Equation.DSMT4">
                  <p:embed/>
                </p:oleObj>
              </mc:Choice>
              <mc:Fallback>
                <p:oleObj name="Equation" r:id="rId5" imgW="35991800" imgH="21069300" progId="Equation.DSMT4">
                  <p:embed/>
                  <p:pic>
                    <p:nvPicPr>
                      <p:cNvPr id="164870" name="Object 6">
                        <a:extLst>
                          <a:ext uri="{FF2B5EF4-FFF2-40B4-BE49-F238E27FC236}">
                            <a16:creationId xmlns:a16="http://schemas.microsoft.com/office/drawing/2014/main" id="{B0D93841-C33B-2443-A7FF-95E72504EE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3933825"/>
                        <a:ext cx="3240088" cy="195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7">
            <a:extLst>
              <a:ext uri="{FF2B5EF4-FFF2-40B4-BE49-F238E27FC236}">
                <a16:creationId xmlns:a16="http://schemas.microsoft.com/office/drawing/2014/main" id="{510CC7E9-365E-9E4B-B2FB-98D400721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3860800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rgbClr val="FFFF00"/>
                </a:solidFill>
                <a:latin typeface="楷体_GB2312" pitchFamily="49" charset="-122"/>
              </a:rPr>
              <a:t>即</a:t>
            </a:r>
            <a:r>
              <a:rPr lang="en-US" altLang="zh-CN" sz="2800">
                <a:solidFill>
                  <a:srgbClr val="FFFF00"/>
                </a:solidFill>
                <a:latin typeface="楷体_GB2312" pitchFamily="49" charset="-122"/>
              </a:rPr>
              <a:t>:</a:t>
            </a:r>
          </a:p>
        </p:txBody>
      </p:sp>
      <p:sp>
        <p:nvSpPr>
          <p:cNvPr id="33" name="Text Box 8">
            <a:extLst>
              <a:ext uri="{FF2B5EF4-FFF2-40B4-BE49-F238E27FC236}">
                <a16:creationId xmlns:a16="http://schemas.microsoft.com/office/drawing/2014/main" id="{D41B16A3-6132-2741-91D7-C16565DF1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349500"/>
            <a:ext cx="6769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分析：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即将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用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表示出来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!</a:t>
            </a:r>
          </a:p>
        </p:txBody>
      </p:sp>
      <p:grpSp>
        <p:nvGrpSpPr>
          <p:cNvPr id="34" name="Group 9">
            <a:extLst>
              <a:ext uri="{FF2B5EF4-FFF2-40B4-BE49-F238E27FC236}">
                <a16:creationId xmlns:a16="http://schemas.microsoft.com/office/drawing/2014/main" id="{9AD4DB51-30F1-D146-BA17-0867C39C9888}"/>
              </a:ext>
            </a:extLst>
          </p:cNvPr>
          <p:cNvGrpSpPr>
            <a:grpSpLocks/>
          </p:cNvGrpSpPr>
          <p:nvPr/>
        </p:nvGrpSpPr>
        <p:grpSpPr bwMode="auto">
          <a:xfrm>
            <a:off x="2187575" y="611188"/>
            <a:ext cx="3508375" cy="1701800"/>
            <a:chOff x="1396" y="293"/>
            <a:chExt cx="2210" cy="1072"/>
          </a:xfrm>
        </p:grpSpPr>
        <p:sp>
          <p:nvSpPr>
            <p:cNvPr id="35" name="Text Box 10">
              <a:extLst>
                <a:ext uri="{FF2B5EF4-FFF2-40B4-BE49-F238E27FC236}">
                  <a16:creationId xmlns:a16="http://schemas.microsoft.com/office/drawing/2014/main" id="{BA783B0A-9A50-AB44-9E12-FF67EB0D6A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4" y="293"/>
              <a:ext cx="200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＝</a:t>
              </a: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Text Box 11">
              <a:extLst>
                <a:ext uri="{FF2B5EF4-FFF2-40B4-BE49-F238E27FC236}">
                  <a16:creationId xmlns:a16="http://schemas.microsoft.com/office/drawing/2014/main" id="{C527D107-83FC-6A45-A565-68AED1922F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5" y="645"/>
              <a:ext cx="204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＝</a:t>
              </a: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37" name="AutoShape 12">
              <a:extLst>
                <a:ext uri="{FF2B5EF4-FFF2-40B4-BE49-F238E27FC236}">
                  <a16:creationId xmlns:a16="http://schemas.microsoft.com/office/drawing/2014/main" id="{E2C95361-DA4B-1348-B822-3120F5594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412"/>
              <a:ext cx="136" cy="953"/>
            </a:xfrm>
            <a:prstGeom prst="leftBrace">
              <a:avLst>
                <a:gd name="adj1" fmla="val 58395"/>
                <a:gd name="adj2" fmla="val 50000"/>
              </a:avLst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8" name="Text Box 13">
              <a:extLst>
                <a:ext uri="{FF2B5EF4-FFF2-40B4-BE49-F238E27FC236}">
                  <a16:creationId xmlns:a16="http://schemas.microsoft.com/office/drawing/2014/main" id="{BCA9FB30-C7EF-6F49-9079-71C0EB57B6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8" y="987"/>
              <a:ext cx="21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0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＝</a:t>
              </a: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0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1" i="0" u="none" strike="noStrike" kern="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</p:grpSp>
      <p:sp>
        <p:nvSpPr>
          <p:cNvPr id="39" name="Text Box 14">
            <a:extLst>
              <a:ext uri="{FF2B5EF4-FFF2-40B4-BE49-F238E27FC236}">
                <a16:creationId xmlns:a16="http://schemas.microsoft.com/office/drawing/2014/main" id="{727A11E3-D9B9-6C47-A252-3E58BB694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268413"/>
            <a:ext cx="7524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 dirty="0">
                <a:solidFill>
                  <a:srgbClr val="FFFFFF"/>
                </a:solidFill>
                <a:latin typeface="楷体_GB2312" pitchFamily="49" charset="-122"/>
              </a:rPr>
              <a:t>例</a:t>
            </a:r>
            <a:r>
              <a:rPr lang="en-US" altLang="zh-CN" sz="2800" dirty="0">
                <a:solidFill>
                  <a:srgbClr val="FFFFFF"/>
                </a:solidFill>
                <a:latin typeface="楷体_GB2312" pitchFamily="49" charset="-122"/>
              </a:rPr>
              <a:t>  </a:t>
            </a:r>
            <a:r>
              <a:rPr lang="zh-CN" altLang="en-US" sz="2800" dirty="0">
                <a:solidFill>
                  <a:srgbClr val="FFFFFF"/>
                </a:solidFill>
                <a:latin typeface="楷体_GB2312" pitchFamily="49" charset="-122"/>
              </a:rPr>
              <a:t>求变换                                 的逆变换</a:t>
            </a:r>
            <a:r>
              <a:rPr lang="en-US" altLang="zh-CN" sz="2800" dirty="0">
                <a:solidFill>
                  <a:srgbClr val="FFFFFF"/>
                </a:solidFill>
                <a:latin typeface="楷体_GB2312" pitchFamily="49" charset="-122"/>
              </a:rPr>
              <a:t>.</a:t>
            </a:r>
          </a:p>
        </p:txBody>
      </p:sp>
      <p:sp>
        <p:nvSpPr>
          <p:cNvPr id="40" name="Text Box 15">
            <a:extLst>
              <a:ext uri="{FF2B5EF4-FFF2-40B4-BE49-F238E27FC236}">
                <a16:creationId xmlns:a16="http://schemas.microsoft.com/office/drawing/2014/main" id="{50F12861-9D0A-5F4C-974B-FC4B5CF66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3068638"/>
            <a:ext cx="2041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 i="1">
                <a:solidFill>
                  <a:srgbClr val="FFFFFF"/>
                </a:solidFill>
                <a:ea typeface="宋体" panose="02010600030101010101" pitchFamily="2" charset="-122"/>
              </a:rPr>
              <a:t>X</a:t>
            </a:r>
            <a:r>
              <a:rPr kumimoji="0" lang="zh-CN" altLang="en-US" sz="2800">
                <a:solidFill>
                  <a:srgbClr val="FFFFFF"/>
                </a:solidFill>
                <a:ea typeface="宋体" panose="02010600030101010101" pitchFamily="2" charset="-122"/>
              </a:rPr>
              <a:t>＝</a:t>
            </a:r>
            <a:r>
              <a:rPr kumimoji="0" lang="en-US" altLang="zh-CN" sz="2800" i="1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aseline="30000">
                <a:solidFill>
                  <a:srgbClr val="FFFFFF"/>
                </a:solidFill>
                <a:ea typeface="宋体" panose="02010600030101010101" pitchFamily="2" charset="-122"/>
              </a:rPr>
              <a:t>-1</a:t>
            </a:r>
            <a:r>
              <a:rPr kumimoji="0" lang="en-US" altLang="zh-CN" sz="2800" i="1">
                <a:solidFill>
                  <a:srgbClr val="FFFFFF"/>
                </a:solidFill>
                <a:ea typeface="宋体" panose="02010600030101010101" pitchFamily="2" charset="-122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82071339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utoUpdateAnimBg="0"/>
      <p:bldP spid="32" grpId="0" autoUpdateAnimBg="0"/>
      <p:bldP spid="33" grpId="0" autoUpdateAnimBg="0"/>
      <p:bldP spid="4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2">
            <a:extLst>
              <a:ext uri="{FF2B5EF4-FFF2-40B4-BE49-F238E27FC236}">
                <a16:creationId xmlns:a16="http://schemas.microsoft.com/office/drawing/2014/main" id="{04B5240F-1F9E-A74D-ABA9-FE2C33B03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04813"/>
            <a:ext cx="25923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3. 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求逆变换</a:t>
            </a: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CB04E687-D905-264C-8091-ECAF8734F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068638"/>
            <a:ext cx="7092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解：将变换记为：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AX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(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同例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3)  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宋体" panose="02010600030101010101" pitchFamily="2" charset="-122"/>
                <a:ea typeface="楷体_GB2312" pitchFamily="49" charset="-122"/>
              </a:rPr>
              <a:t>则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" name="Object 4">
            <a:extLst>
              <a:ext uri="{FF2B5EF4-FFF2-40B4-BE49-F238E27FC236}">
                <a16:creationId xmlns:a16="http://schemas.microsoft.com/office/drawing/2014/main" id="{8967787A-BEF4-644C-BC82-388ADC8F64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4076700"/>
          <a:ext cx="3384550" cy="182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name="Equation" r:id="rId3" imgW="40957500" imgH="20485100" progId="Equation.DSMT4">
                  <p:embed/>
                </p:oleObj>
              </mc:Choice>
              <mc:Fallback>
                <p:oleObj name="Equation" r:id="rId3" imgW="40957500" imgH="20485100" progId="Equation.DSMT4">
                  <p:embed/>
                  <p:pic>
                    <p:nvPicPr>
                      <p:cNvPr id="164868" name="Object 4">
                        <a:extLst>
                          <a:ext uri="{FF2B5EF4-FFF2-40B4-BE49-F238E27FC236}">
                            <a16:creationId xmlns:a16="http://schemas.microsoft.com/office/drawing/2014/main" id="{1455CAB7-9F32-CF42-9A74-380943217A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076700"/>
                        <a:ext cx="3384550" cy="182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>
            <a:extLst>
              <a:ext uri="{FF2B5EF4-FFF2-40B4-BE49-F238E27FC236}">
                <a16:creationId xmlns:a16="http://schemas.microsoft.com/office/drawing/2014/main" id="{6A5F9C26-417A-0445-A1DD-3EF26386B6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3933825"/>
          <a:ext cx="3240088" cy="195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Equation" r:id="rId5" imgW="35991800" imgH="21069300" progId="Equation.DSMT4">
                  <p:embed/>
                </p:oleObj>
              </mc:Choice>
              <mc:Fallback>
                <p:oleObj name="Equation" r:id="rId5" imgW="35991800" imgH="21069300" progId="Equation.DSMT4">
                  <p:embed/>
                  <p:pic>
                    <p:nvPicPr>
                      <p:cNvPr id="164870" name="Object 6">
                        <a:extLst>
                          <a:ext uri="{FF2B5EF4-FFF2-40B4-BE49-F238E27FC236}">
                            <a16:creationId xmlns:a16="http://schemas.microsoft.com/office/drawing/2014/main" id="{B0D93841-C33B-2443-A7FF-95E72504EE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3933825"/>
                        <a:ext cx="3240088" cy="195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7">
            <a:extLst>
              <a:ext uri="{FF2B5EF4-FFF2-40B4-BE49-F238E27FC236}">
                <a16:creationId xmlns:a16="http://schemas.microsoft.com/office/drawing/2014/main" id="{F104648B-3415-E647-BB2F-4AD596FBB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3860800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rgbClr val="FFFF00"/>
                </a:solidFill>
                <a:latin typeface="楷体_GB2312" pitchFamily="49" charset="-122"/>
              </a:rPr>
              <a:t>即</a:t>
            </a:r>
            <a:r>
              <a:rPr lang="en-US" altLang="zh-CN" sz="2800">
                <a:solidFill>
                  <a:srgbClr val="FFFF00"/>
                </a:solidFill>
                <a:latin typeface="楷体_GB2312" pitchFamily="49" charset="-122"/>
              </a:rPr>
              <a:t>:</a:t>
            </a:r>
          </a:p>
        </p:txBody>
      </p:sp>
      <p:sp>
        <p:nvSpPr>
          <p:cNvPr id="20" name="Text Box 8">
            <a:extLst>
              <a:ext uri="{FF2B5EF4-FFF2-40B4-BE49-F238E27FC236}">
                <a16:creationId xmlns:a16="http://schemas.microsoft.com/office/drawing/2014/main" id="{D544ED27-8A53-824B-AE28-580E81843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349500"/>
            <a:ext cx="6769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分析：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即将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用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1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表示出来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!</a:t>
            </a:r>
          </a:p>
        </p:txBody>
      </p:sp>
      <p:grpSp>
        <p:nvGrpSpPr>
          <p:cNvPr id="21" name="Group 9">
            <a:extLst>
              <a:ext uri="{FF2B5EF4-FFF2-40B4-BE49-F238E27FC236}">
                <a16:creationId xmlns:a16="http://schemas.microsoft.com/office/drawing/2014/main" id="{897202BC-54E7-3841-A64D-6C2912DF59A7}"/>
              </a:ext>
            </a:extLst>
          </p:cNvPr>
          <p:cNvGrpSpPr>
            <a:grpSpLocks/>
          </p:cNvGrpSpPr>
          <p:nvPr/>
        </p:nvGrpSpPr>
        <p:grpSpPr bwMode="auto">
          <a:xfrm>
            <a:off x="2700338" y="692150"/>
            <a:ext cx="3508375" cy="1701800"/>
            <a:chOff x="1396" y="293"/>
            <a:chExt cx="2210" cy="1072"/>
          </a:xfrm>
        </p:grpSpPr>
        <p:sp>
          <p:nvSpPr>
            <p:cNvPr id="22" name="Text Box 10">
              <a:extLst>
                <a:ext uri="{FF2B5EF4-FFF2-40B4-BE49-F238E27FC236}">
                  <a16:creationId xmlns:a16="http://schemas.microsoft.com/office/drawing/2014/main" id="{879BB51C-9905-A340-A394-691DAC4D7A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4" y="293"/>
              <a:ext cx="200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＝</a:t>
              </a: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Text Box 11">
              <a:extLst>
                <a:ext uri="{FF2B5EF4-FFF2-40B4-BE49-F238E27FC236}">
                  <a16:creationId xmlns:a16="http://schemas.microsoft.com/office/drawing/2014/main" id="{56430606-6CB4-B248-95A0-E62EDD5CC0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5" y="645"/>
              <a:ext cx="204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＝</a:t>
              </a: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4" name="AutoShape 12">
              <a:extLst>
                <a:ext uri="{FF2B5EF4-FFF2-40B4-BE49-F238E27FC236}">
                  <a16:creationId xmlns:a16="http://schemas.microsoft.com/office/drawing/2014/main" id="{82114EB6-C6D2-FA46-B544-34C12323E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412"/>
              <a:ext cx="136" cy="953"/>
            </a:xfrm>
            <a:prstGeom prst="leftBrace">
              <a:avLst>
                <a:gd name="adj1" fmla="val 58395"/>
                <a:gd name="adj2" fmla="val 50000"/>
              </a:avLst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5" name="Text Box 13">
              <a:extLst>
                <a:ext uri="{FF2B5EF4-FFF2-40B4-BE49-F238E27FC236}">
                  <a16:creationId xmlns:a16="http://schemas.microsoft.com/office/drawing/2014/main" id="{D4B086EC-77D1-944C-859E-739BA9C49A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8" y="987"/>
              <a:ext cx="21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＝</a:t>
              </a: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</p:grpSp>
      <p:sp>
        <p:nvSpPr>
          <p:cNvPr id="26" name="Text Box 14">
            <a:extLst>
              <a:ext uri="{FF2B5EF4-FFF2-40B4-BE49-F238E27FC236}">
                <a16:creationId xmlns:a16="http://schemas.microsoft.com/office/drawing/2014/main" id="{779B75C0-01A8-0C43-B524-4E14A50A4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268413"/>
            <a:ext cx="7524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 dirty="0">
                <a:solidFill>
                  <a:srgbClr val="FFFFFF"/>
                </a:solidFill>
                <a:latin typeface="楷体_GB2312" pitchFamily="49" charset="-122"/>
              </a:rPr>
              <a:t>例</a:t>
            </a:r>
            <a:r>
              <a:rPr lang="en-US" altLang="zh-CN" sz="2800" dirty="0">
                <a:solidFill>
                  <a:srgbClr val="FFFFFF"/>
                </a:solidFill>
                <a:latin typeface="楷体_GB2312" pitchFamily="49" charset="-122"/>
              </a:rPr>
              <a:t>  </a:t>
            </a:r>
            <a:r>
              <a:rPr lang="zh-CN" altLang="en-US" sz="2800" dirty="0">
                <a:solidFill>
                  <a:srgbClr val="FFFFFF"/>
                </a:solidFill>
                <a:latin typeface="楷体_GB2312" pitchFamily="49" charset="-122"/>
              </a:rPr>
              <a:t>求</a:t>
            </a:r>
            <a:r>
              <a:rPr lang="zh-CN" altLang="en-US" sz="2800">
                <a:solidFill>
                  <a:srgbClr val="FFFFFF"/>
                </a:solidFill>
                <a:latin typeface="楷体_GB2312" pitchFamily="49" charset="-122"/>
              </a:rPr>
              <a:t>变换                                   </a:t>
            </a:r>
            <a:r>
              <a:rPr lang="zh-CN" altLang="en-US" sz="2800" dirty="0">
                <a:solidFill>
                  <a:srgbClr val="FFFFFF"/>
                </a:solidFill>
                <a:latin typeface="楷体_GB2312" pitchFamily="49" charset="-122"/>
              </a:rPr>
              <a:t>的逆变换</a:t>
            </a:r>
            <a:r>
              <a:rPr lang="en-US" altLang="zh-CN" sz="2800" dirty="0">
                <a:solidFill>
                  <a:srgbClr val="FFFFFF"/>
                </a:solidFill>
                <a:latin typeface="楷体_GB2312" pitchFamily="49" charset="-122"/>
              </a:rPr>
              <a:t>.</a:t>
            </a:r>
          </a:p>
        </p:txBody>
      </p:sp>
      <p:sp>
        <p:nvSpPr>
          <p:cNvPr id="27" name="Text Box 15">
            <a:extLst>
              <a:ext uri="{FF2B5EF4-FFF2-40B4-BE49-F238E27FC236}">
                <a16:creationId xmlns:a16="http://schemas.microsoft.com/office/drawing/2014/main" id="{70912C12-A166-644D-BE76-DB23467E0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3068638"/>
            <a:ext cx="2041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2800" i="1">
                <a:solidFill>
                  <a:srgbClr val="FFFFFF"/>
                </a:solidFill>
                <a:ea typeface="宋体" panose="02010600030101010101" pitchFamily="2" charset="-122"/>
              </a:rPr>
              <a:t>X</a:t>
            </a:r>
            <a:r>
              <a:rPr kumimoji="0" lang="zh-CN" altLang="en-US" sz="2800">
                <a:solidFill>
                  <a:srgbClr val="FFFFFF"/>
                </a:solidFill>
                <a:ea typeface="宋体" panose="02010600030101010101" pitchFamily="2" charset="-122"/>
              </a:rPr>
              <a:t>＝</a:t>
            </a:r>
            <a:r>
              <a:rPr kumimoji="0" lang="en-US" altLang="zh-CN" sz="2800" i="1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r>
              <a:rPr kumimoji="0" lang="en-US" altLang="zh-CN" sz="2800" baseline="30000">
                <a:solidFill>
                  <a:srgbClr val="FFFFFF"/>
                </a:solidFill>
                <a:ea typeface="宋体" panose="02010600030101010101" pitchFamily="2" charset="-122"/>
              </a:rPr>
              <a:t>-1</a:t>
            </a:r>
            <a:r>
              <a:rPr kumimoji="0" lang="en-US" altLang="zh-CN" sz="2800" i="1">
                <a:solidFill>
                  <a:srgbClr val="FFFFFF"/>
                </a:solidFill>
                <a:ea typeface="宋体" panose="02010600030101010101" pitchFamily="2" charset="-122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97716006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19" grpId="0" autoUpdateAnimBg="0"/>
      <p:bldP spid="20" grpId="0" autoUpdateAnimBg="0"/>
      <p:bldP spid="2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2">
            <a:extLst>
              <a:ext uri="{FF2B5EF4-FFF2-40B4-BE49-F238E27FC236}">
                <a16:creationId xmlns:a16="http://schemas.microsoft.com/office/drawing/2014/main" id="{CADCCFDB-E633-5D48-AA82-B248030FD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92150"/>
            <a:ext cx="8532813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(05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考研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: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设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均为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阶矩阵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,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若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CA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，求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C.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7C5B11F4-D9F7-0E46-8EC3-77713447B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2844800"/>
            <a:ext cx="3095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∴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 B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＝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  <a:r>
              <a:rPr lang="zh-CN" altLang="en-US" sz="2800">
                <a:solidFill>
                  <a:srgbClr val="FF0000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baseline="30000">
                <a:solidFill>
                  <a:srgbClr val="FF0000"/>
                </a:solidFill>
                <a:ea typeface="宋体" panose="02010600030101010101" pitchFamily="2" charset="-122"/>
              </a:rPr>
              <a:t>-1</a:t>
            </a:r>
            <a:endParaRPr lang="en-US" altLang="zh-CN" sz="28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id="{F5863C9F-8C0E-0B45-83D3-C1F02FB03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700213"/>
            <a:ext cx="1152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</a:p>
        </p:txBody>
      </p:sp>
      <p:sp>
        <p:nvSpPr>
          <p:cNvPr id="20" name="Text Box 5">
            <a:extLst>
              <a:ext uri="{FF2B5EF4-FFF2-40B4-BE49-F238E27FC236}">
                <a16:creationId xmlns:a16="http://schemas.microsoft.com/office/drawing/2014/main" id="{E5D3D80D-F938-B147-ABEC-0B18C44E8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143125"/>
            <a:ext cx="3527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由 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AB 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得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21" name="Text Box 6">
            <a:extLst>
              <a:ext uri="{FF2B5EF4-FFF2-40B4-BE49-F238E27FC236}">
                <a16:creationId xmlns:a16="http://schemas.microsoft.com/office/drawing/2014/main" id="{74C3236F-3241-7D46-A5C4-4C08C13D7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2133600"/>
            <a:ext cx="2268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B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AB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＝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9580543D-FD4B-A748-82EB-BCCC64239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844800"/>
            <a:ext cx="29511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∴(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B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＝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23" name="Text Box 8">
            <a:extLst>
              <a:ext uri="{FF2B5EF4-FFF2-40B4-BE49-F238E27FC236}">
                <a16:creationId xmlns:a16="http://schemas.microsoft.com/office/drawing/2014/main" id="{2A663419-C34C-0642-91CD-4CF82195A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6663" y="3603625"/>
            <a:ext cx="31321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由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CA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得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24" name="Text Box 9">
            <a:extLst>
              <a:ext uri="{FF2B5EF4-FFF2-40B4-BE49-F238E27FC236}">
                <a16:creationId xmlns:a16="http://schemas.microsoft.com/office/drawing/2014/main" id="{310946D2-6A18-E940-84F8-21FA4DD97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7863" y="4275138"/>
            <a:ext cx="3419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∴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C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＝</a:t>
            </a:r>
            <a:r>
              <a:rPr lang="en-US" altLang="zh-CN" sz="2800" i="1">
                <a:solidFill>
                  <a:srgbClr val="FFFF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  <a:r>
              <a:rPr lang="zh-CN" altLang="en-US" sz="2800">
                <a:solidFill>
                  <a:srgbClr val="FF0000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baseline="30000">
                <a:solidFill>
                  <a:srgbClr val="FF0000"/>
                </a:solidFill>
                <a:ea typeface="宋体" panose="02010600030101010101" pitchFamily="2" charset="-122"/>
              </a:rPr>
              <a:t>-1</a:t>
            </a:r>
          </a:p>
        </p:txBody>
      </p:sp>
      <p:sp>
        <p:nvSpPr>
          <p:cNvPr id="25" name="Text Box 10">
            <a:extLst>
              <a:ext uri="{FF2B5EF4-FFF2-40B4-BE49-F238E27FC236}">
                <a16:creationId xmlns:a16="http://schemas.microsoft.com/office/drawing/2014/main" id="{69F770C9-FF0D-4343-9AFB-D71E4416E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0" y="3592513"/>
            <a:ext cx="2268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C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CA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＝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6" name="Text Box 11">
            <a:extLst>
              <a:ext uri="{FF2B5EF4-FFF2-40B4-BE49-F238E27FC236}">
                <a16:creationId xmlns:a16="http://schemas.microsoft.com/office/drawing/2014/main" id="{07E0FD5C-C31F-4B4E-87CC-94A22A1F9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7775" y="4275138"/>
            <a:ext cx="2951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∴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＝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7" name="Text Box 12">
            <a:extLst>
              <a:ext uri="{FF2B5EF4-FFF2-40B4-BE49-F238E27FC236}">
                <a16:creationId xmlns:a16="http://schemas.microsoft.com/office/drawing/2014/main" id="{ED392BF5-AEDF-9348-AA74-DE15EE6B7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941888"/>
            <a:ext cx="6048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∴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B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C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＝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E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baseline="30000">
                <a:solidFill>
                  <a:srgbClr val="FFFF00"/>
                </a:solidFill>
                <a:ea typeface="宋体" panose="02010600030101010101" pitchFamily="2" charset="-122"/>
              </a:rPr>
              <a:t>-1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E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baseline="30000">
                <a:solidFill>
                  <a:srgbClr val="FFFF00"/>
                </a:solidFill>
                <a:ea typeface="宋体" panose="02010600030101010101" pitchFamily="2" charset="-122"/>
              </a:rPr>
              <a:t>-1</a:t>
            </a:r>
            <a:endParaRPr lang="en-US" altLang="zh-CN" sz="2800" i="1">
              <a:solidFill>
                <a:srgbClr val="FFFF00"/>
              </a:solidFill>
              <a:ea typeface="宋体" panose="02010600030101010101" pitchFamily="2" charset="-122"/>
            </a:endParaRPr>
          </a:p>
        </p:txBody>
      </p:sp>
      <p:sp>
        <p:nvSpPr>
          <p:cNvPr id="28" name="Text Box 13">
            <a:extLst>
              <a:ext uri="{FF2B5EF4-FFF2-40B4-BE49-F238E27FC236}">
                <a16:creationId xmlns:a16="http://schemas.microsoft.com/office/drawing/2014/main" id="{1A147315-8D20-514E-AF2B-04031BCFA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5589588"/>
            <a:ext cx="35290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＝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E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)(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E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baseline="30000">
                <a:solidFill>
                  <a:srgbClr val="FFFF00"/>
                </a:solidFill>
                <a:ea typeface="宋体" panose="02010600030101010101" pitchFamily="2" charset="-122"/>
              </a:rPr>
              <a:t>-1</a:t>
            </a:r>
            <a:endParaRPr lang="en-US" altLang="zh-CN" sz="2800" i="1">
              <a:solidFill>
                <a:srgbClr val="FFFF00"/>
              </a:solidFill>
              <a:ea typeface="宋体" panose="02010600030101010101" pitchFamily="2" charset="-122"/>
            </a:endParaRPr>
          </a:p>
        </p:txBody>
      </p:sp>
      <p:sp>
        <p:nvSpPr>
          <p:cNvPr id="29" name="Text Box 14">
            <a:extLst>
              <a:ext uri="{FF2B5EF4-FFF2-40B4-BE49-F238E27FC236}">
                <a16:creationId xmlns:a16="http://schemas.microsoft.com/office/drawing/2014/main" id="{39C4BB84-C5F1-2D4C-8610-A5140DB25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2836863"/>
            <a:ext cx="5762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FFFFFF"/>
                </a:solidFill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30" name="Text Box 15">
            <a:extLst>
              <a:ext uri="{FF2B5EF4-FFF2-40B4-BE49-F238E27FC236}">
                <a16:creationId xmlns:a16="http://schemas.microsoft.com/office/drawing/2014/main" id="{8478E76E-D11F-5246-9203-CA80343D2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5589588"/>
            <a:ext cx="10810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>
                <a:solidFill>
                  <a:srgbClr val="FFFF00"/>
                </a:solidFill>
                <a:ea typeface="宋体" panose="02010600030101010101" pitchFamily="2" charset="-122"/>
              </a:rPr>
              <a:t>＝</a:t>
            </a:r>
            <a:r>
              <a:rPr lang="en-US" altLang="zh-CN" i="1">
                <a:solidFill>
                  <a:srgbClr val="FFFF00"/>
                </a:solidFill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31" name="Text Box 16">
            <a:extLst>
              <a:ext uri="{FF2B5EF4-FFF2-40B4-BE49-F238E27FC236}">
                <a16:creationId xmlns:a16="http://schemas.microsoft.com/office/drawing/2014/main" id="{26E9B135-E6C6-884A-B272-DCD338426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5106988"/>
            <a:ext cx="1619250" cy="708025"/>
          </a:xfrm>
          <a:prstGeom prst="rect">
            <a:avLst/>
          </a:prstGeom>
          <a:solidFill>
            <a:srgbClr val="FF9900">
              <a:alpha val="5607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思考：</a:t>
            </a: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方正静蕾简体" pitchFamily="2" charset="-122"/>
              </a:rPr>
              <a:t>交换是关键？</a:t>
            </a:r>
          </a:p>
        </p:txBody>
      </p:sp>
    </p:spTree>
    <p:extLst>
      <p:ext uri="{BB962C8B-B14F-4D97-AF65-F5344CB8AC3E}">
        <p14:creationId xmlns:p14="http://schemas.microsoft.com/office/powerpoint/2010/main" val="7755684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4"/>
                                            </p:cond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6" dur="80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7" dur="80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80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20" grpId="0" autoUpdateAnimBg="0"/>
      <p:bldP spid="21" grpId="0" autoUpdateAnimBg="0"/>
      <p:bldP spid="22" grpId="0" autoUpdateAnimBg="0"/>
      <p:bldP spid="23" grpId="0" autoUpdateAnimBg="0"/>
      <p:bldP spid="24" grpId="0" autoUpdateAnimBg="0"/>
      <p:bldP spid="25" grpId="0" autoUpdateAnimBg="0"/>
      <p:bldP spid="26" grpId="0" autoUpdateAnimBg="0"/>
      <p:bldP spid="27" grpId="0" autoUpdateAnimBg="0"/>
      <p:bldP spid="28" grpId="0" autoUpdateAnimBg="0"/>
      <p:bldP spid="29" grpId="0"/>
      <p:bldP spid="30" grpId="0" autoUpdateAnimBg="0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2">
            <a:extLst>
              <a:ext uri="{FF2B5EF4-FFF2-40B4-BE49-F238E27FC236}">
                <a16:creationId xmlns:a16="http://schemas.microsoft.com/office/drawing/2014/main" id="{3B74BC3A-9BEA-9243-98A5-353B8F64B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620713"/>
            <a:ext cx="84597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(03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考研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均为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阶矩阵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,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已知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B,</a:t>
            </a:r>
          </a:p>
        </p:txBody>
      </p:sp>
      <p:sp>
        <p:nvSpPr>
          <p:cNvPr id="20" name="Text Box 3">
            <a:extLst>
              <a:ext uri="{FF2B5EF4-FFF2-40B4-BE49-F238E27FC236}">
                <a16:creationId xmlns:a16="http://schemas.microsoft.com/office/drawing/2014/main" id="{42463C0E-F3A5-0A4A-9FA1-093A3DBC2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563" y="1557338"/>
            <a:ext cx="2303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en-US" altLang="zh-CN" sz="2800" b="1" i="0" u="none" strike="noStrike" kern="0" cap="none" spc="0" normalizeH="0" baseline="3000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</a:p>
        </p:txBody>
      </p:sp>
      <p:graphicFrame>
        <p:nvGraphicFramePr>
          <p:cNvPr id="21" name="Object 4">
            <a:extLst>
              <a:ext uri="{FF2B5EF4-FFF2-40B4-BE49-F238E27FC236}">
                <a16:creationId xmlns:a16="http://schemas.microsoft.com/office/drawing/2014/main" id="{76E191E2-AD2B-224F-80BE-5E280C1393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1663" y="1054100"/>
          <a:ext cx="208915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3" name="Equation" r:id="rId3" imgW="22529800" imgH="16383000" progId="Equation.DSMT4">
                  <p:embed/>
                </p:oleObj>
              </mc:Choice>
              <mc:Fallback>
                <p:oleObj name="Equation" r:id="rId3" imgW="22529800" imgH="16383000" progId="Equation.DSMT4">
                  <p:embed/>
                  <p:pic>
                    <p:nvPicPr>
                      <p:cNvPr id="27652" name="Object 4">
                        <a:extLst>
                          <a:ext uri="{FF2B5EF4-FFF2-40B4-BE49-F238E27FC236}">
                            <a16:creationId xmlns:a16="http://schemas.microsoft.com/office/drawing/2014/main" id="{7DFD30CC-9951-3143-B719-9E1B8037FD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1054100"/>
                        <a:ext cx="208915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5">
            <a:extLst>
              <a:ext uri="{FF2B5EF4-FFF2-40B4-BE49-F238E27FC236}">
                <a16:creationId xmlns:a16="http://schemas.microsoft.com/office/drawing/2014/main" id="{2EE05F63-955F-D44B-985A-30157B495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7788" y="2854325"/>
            <a:ext cx="25923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B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)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－</a:t>
            </a:r>
            <a:endParaRPr lang="zh-CN" altLang="en-US" sz="2800" i="1">
              <a:solidFill>
                <a:srgbClr val="FFFF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3" name="Object 6">
            <a:extLst>
              <a:ext uri="{FF2B5EF4-FFF2-40B4-BE49-F238E27FC236}">
                <a16:creationId xmlns:a16="http://schemas.microsoft.com/office/drawing/2014/main" id="{45D97801-F05F-3A44-9C6A-E3EA76D859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83413" y="4438650"/>
          <a:ext cx="1836737" cy="158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4" name="Equation" r:id="rId5" imgW="19011900" imgH="16383000" progId="Equation.DSMT4">
                  <p:embed/>
                </p:oleObj>
              </mc:Choice>
              <mc:Fallback>
                <p:oleObj name="Equation" r:id="rId5" imgW="19011900" imgH="16383000" progId="Equation.DSMT4">
                  <p:embed/>
                  <p:pic>
                    <p:nvPicPr>
                      <p:cNvPr id="169990" name="Object 6">
                        <a:extLst>
                          <a:ext uri="{FF2B5EF4-FFF2-40B4-BE49-F238E27FC236}">
                            <a16:creationId xmlns:a16="http://schemas.microsoft.com/office/drawing/2014/main" id="{90BEF0F8-5578-5047-8C36-EDE34A3770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3413" y="4438650"/>
                        <a:ext cx="1836737" cy="158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7">
            <a:extLst>
              <a:ext uri="{FF2B5EF4-FFF2-40B4-BE49-F238E27FC236}">
                <a16:creationId xmlns:a16="http://schemas.microsoft.com/office/drawing/2014/main" id="{38BA7CFC-E93F-1542-949A-EA8C5856E842}"/>
              </a:ext>
            </a:extLst>
          </p:cNvPr>
          <p:cNvGrpSpPr>
            <a:grpSpLocks/>
          </p:cNvGrpSpPr>
          <p:nvPr/>
        </p:nvGrpSpPr>
        <p:grpSpPr bwMode="auto">
          <a:xfrm>
            <a:off x="863600" y="4799013"/>
            <a:ext cx="3959225" cy="935037"/>
            <a:chOff x="431" y="2614"/>
            <a:chExt cx="2494" cy="589"/>
          </a:xfrm>
        </p:grpSpPr>
        <p:graphicFrame>
          <p:nvGraphicFramePr>
            <p:cNvPr id="25" name="Object 8">
              <a:extLst>
                <a:ext uri="{FF2B5EF4-FFF2-40B4-BE49-F238E27FC236}">
                  <a16:creationId xmlns:a16="http://schemas.microsoft.com/office/drawing/2014/main" id="{0234AE8F-DB8B-2040-AFAE-24AB43A7A8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37" y="2614"/>
            <a:ext cx="221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5" name="Equation" r:id="rId7" imgW="3505200" imgH="9359900" progId="Equation.DSMT4">
                    <p:embed/>
                  </p:oleObj>
                </mc:Choice>
                <mc:Fallback>
                  <p:oleObj name="Equation" r:id="rId7" imgW="3505200" imgH="9359900" progId="Equation.DSMT4">
                    <p:embed/>
                    <p:pic>
                      <p:nvPicPr>
                        <p:cNvPr id="27665" name="Object 8">
                          <a:extLst>
                            <a:ext uri="{FF2B5EF4-FFF2-40B4-BE49-F238E27FC236}">
                              <a16:creationId xmlns:a16="http://schemas.microsoft.com/office/drawing/2014/main" id="{830BCEF4-0CBE-B74A-B96A-D1D92393FC3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7" y="2614"/>
                          <a:ext cx="221" cy="5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Text Box 9">
              <a:extLst>
                <a:ext uri="{FF2B5EF4-FFF2-40B4-BE49-F238E27FC236}">
                  <a16:creationId xmlns:a16="http://schemas.microsoft.com/office/drawing/2014/main" id="{FE8FD4A4-274F-6443-92AD-699DF9BDFB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2750"/>
              <a:ext cx="249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50000"/>
                </a:spcBef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∴(</a:t>
              </a:r>
              <a:r>
                <a:rPr kumimoji="1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kumimoji="1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r>
                <a:rPr kumimoji="1" lang="zh-CN" altLang="en-US" sz="2800" b="1" i="0" u="none" strike="noStrike" kern="0" cap="none" spc="0" normalizeH="0" baseline="3000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kumimoji="1" lang="en-US" altLang="zh-CN" sz="2800" b="1" i="0" u="none" strike="noStrike" kern="0" cap="none" spc="0" normalizeH="0" baseline="3000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＝    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kumimoji="1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800" b="1" i="1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</p:grpSp>
      <p:sp>
        <p:nvSpPr>
          <p:cNvPr id="27" name="Text Box 10">
            <a:extLst>
              <a:ext uri="{FF2B5EF4-FFF2-40B4-BE49-F238E27FC236}">
                <a16:creationId xmlns:a16="http://schemas.microsoft.com/office/drawing/2014/main" id="{E65B27D2-A8DC-1B45-AB97-E1CD23818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349500"/>
            <a:ext cx="1044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</a:p>
        </p:txBody>
      </p:sp>
      <p:sp>
        <p:nvSpPr>
          <p:cNvPr id="28" name="Text Box 11">
            <a:extLst>
              <a:ext uri="{FF2B5EF4-FFF2-40B4-BE49-F238E27FC236}">
                <a16:creationId xmlns:a16="http://schemas.microsoft.com/office/drawing/2014/main" id="{84988819-3AEF-1146-B26D-9890CC362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2854325"/>
            <a:ext cx="3527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由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得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0AF5EF09-B82D-F446-A1C4-B2C1C3B2A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4078288"/>
            <a:ext cx="43926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∴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zh-CN" altLang="en-US" sz="2800">
                <a:solidFill>
                  <a:srgbClr val="FF0000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B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)</a:t>
            </a:r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＝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108C42A6-C327-8449-87E4-81076619A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8013" y="2854325"/>
            <a:ext cx="1749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zh-CN" altLang="en-US" sz="2800">
                <a:solidFill>
                  <a:srgbClr val="FF0000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endParaRPr lang="en-US" altLang="zh-CN" sz="2800" i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1" name="Text Box 14">
            <a:extLst>
              <a:ext uri="{FF2B5EF4-FFF2-40B4-BE49-F238E27FC236}">
                <a16:creationId xmlns:a16="http://schemas.microsoft.com/office/drawing/2014/main" id="{6833862E-F252-E942-AE4D-B44FF35A9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2852738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＝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E</a:t>
            </a:r>
          </a:p>
        </p:txBody>
      </p:sp>
      <p:graphicFrame>
        <p:nvGraphicFramePr>
          <p:cNvPr id="32" name="Object 15">
            <a:extLst>
              <a:ext uri="{FF2B5EF4-FFF2-40B4-BE49-F238E27FC236}">
                <a16:creationId xmlns:a16="http://schemas.microsoft.com/office/drawing/2014/main" id="{12453571-3770-C44A-9B48-69AAE525B3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22825" y="4438650"/>
          <a:ext cx="2243138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6" name="Equation" r:id="rId9" imgW="21945600" imgH="16383000" progId="Equation.DSMT4">
                  <p:embed/>
                </p:oleObj>
              </mc:Choice>
              <mc:Fallback>
                <p:oleObj name="Equation" r:id="rId9" imgW="21945600" imgH="16383000" progId="Equation.DSMT4">
                  <p:embed/>
                  <p:pic>
                    <p:nvPicPr>
                      <p:cNvPr id="169999" name="Object 15">
                        <a:extLst>
                          <a:ext uri="{FF2B5EF4-FFF2-40B4-BE49-F238E27FC236}">
                            <a16:creationId xmlns:a16="http://schemas.microsoft.com/office/drawing/2014/main" id="{7FBE0B7E-C0BB-C848-81DC-82E1BCD3E0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2825" y="4438650"/>
                        <a:ext cx="2243138" cy="168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16">
            <a:extLst>
              <a:ext uri="{FF2B5EF4-FFF2-40B4-BE49-F238E27FC236}">
                <a16:creationId xmlns:a16="http://schemas.microsoft.com/office/drawing/2014/main" id="{6BBE4452-AA12-E94D-BF8A-4AE186069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1163" y="3430588"/>
            <a:ext cx="30749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: (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</a:p>
        </p:txBody>
      </p:sp>
      <p:sp>
        <p:nvSpPr>
          <p:cNvPr id="34" name="Text Box 17">
            <a:extLst>
              <a:ext uri="{FF2B5EF4-FFF2-40B4-BE49-F238E27FC236}">
                <a16:creationId xmlns:a16="http://schemas.microsoft.com/office/drawing/2014/main" id="{F230D27C-5F50-474A-B558-7F726D999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2113" y="3430588"/>
            <a:ext cx="1657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2(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zh-CN" altLang="en-US" sz="2800">
                <a:solidFill>
                  <a:srgbClr val="FF0000"/>
                </a:solidFill>
                <a:ea typeface="宋体" panose="02010600030101010101" pitchFamily="2" charset="-122"/>
              </a:rPr>
              <a:t>－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5" name="Text Box 18">
            <a:extLst>
              <a:ext uri="{FF2B5EF4-FFF2-40B4-BE49-F238E27FC236}">
                <a16:creationId xmlns:a16="http://schemas.microsoft.com/office/drawing/2014/main" id="{53BA7D4B-DECE-2C48-8525-9B9790832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7513" y="3430588"/>
            <a:ext cx="1439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rgbClr val="FFFF00"/>
                </a:solidFill>
                <a:ea typeface="宋体" panose="02010600030101010101" pitchFamily="2" charset="-122"/>
              </a:rPr>
              <a:t>＋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i="1">
                <a:solidFill>
                  <a:srgbClr val="FFFF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800">
                <a:solidFill>
                  <a:srgbClr val="FFFF00"/>
                </a:solidFill>
                <a:ea typeface="宋体" panose="02010600030101010101" pitchFamily="2" charset="-122"/>
              </a:rPr>
              <a:t>]</a:t>
            </a:r>
            <a:endParaRPr lang="en-US" altLang="zh-CN" sz="2800" i="1">
              <a:solidFill>
                <a:srgbClr val="FFFF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521262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8" grpId="0" autoUpdateAnimBg="0"/>
      <p:bldP spid="29" grpId="0" autoUpdateAnimBg="0"/>
      <p:bldP spid="30" grpId="0" autoUpdateAnimBg="0"/>
      <p:bldP spid="31" grpId="0" autoUpdateAnimBg="0"/>
      <p:bldP spid="33" grpId="0" autoUpdateAnimBg="0"/>
      <p:bldP spid="34" grpId="0" autoUpdateAnimBg="0"/>
      <p:bldP spid="35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2">
            <a:extLst>
              <a:ext uri="{FF2B5EF4-FFF2-40B4-BE49-F238E27FC236}">
                <a16:creationId xmlns:a16="http://schemas.microsoft.com/office/drawing/2014/main" id="{699F4E32-C2AD-4847-8D5A-7B585A542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76250"/>
            <a:ext cx="5940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13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(02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考研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阶方阵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18" name="Object 3">
            <a:extLst>
              <a:ext uri="{FF2B5EF4-FFF2-40B4-BE49-F238E27FC236}">
                <a16:creationId xmlns:a16="http://schemas.microsoft.com/office/drawing/2014/main" id="{467CDB18-DA8F-A642-8C92-CB99B4E84B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260350"/>
          <a:ext cx="2166937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1" name="Equation" r:id="rId3" imgW="20193000" imgH="10528300" progId="Equation.DSMT4">
                  <p:embed/>
                </p:oleObj>
              </mc:Choice>
              <mc:Fallback>
                <p:oleObj name="Equation" r:id="rId3" imgW="20193000" imgH="10528300" progId="Equation.DSMT4">
                  <p:embed/>
                  <p:pic>
                    <p:nvPicPr>
                      <p:cNvPr id="28675" name="Object 3">
                        <a:extLst>
                          <a:ext uri="{FF2B5EF4-FFF2-40B4-BE49-F238E27FC236}">
                            <a16:creationId xmlns:a16="http://schemas.microsoft.com/office/drawing/2014/main" id="{02C8212B-1506-EA44-9986-C4E6A1969A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260350"/>
                        <a:ext cx="2166937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4">
            <a:extLst>
              <a:ext uri="{FF2B5EF4-FFF2-40B4-BE49-F238E27FC236}">
                <a16:creationId xmlns:a16="http://schemas.microsoft.com/office/drawing/2014/main" id="{2D32BC5B-ED74-2F46-ADB8-EF421C3E4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25538"/>
            <a:ext cx="5148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的伴随矩阵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 </a:t>
            </a:r>
            <a:r>
              <a:rPr kumimoji="0" lang="en-US" altLang="zh-CN" sz="2800" b="1" i="0" u="none" strike="noStrike" kern="0" cap="none" spc="0" normalizeH="0" baseline="3000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         )</a:t>
            </a:r>
          </a:p>
        </p:txBody>
      </p:sp>
      <p:graphicFrame>
        <p:nvGraphicFramePr>
          <p:cNvPr id="20" name="Object 5">
            <a:extLst>
              <a:ext uri="{FF2B5EF4-FFF2-40B4-BE49-F238E27FC236}">
                <a16:creationId xmlns:a16="http://schemas.microsoft.com/office/drawing/2014/main" id="{07F56267-9E75-8F42-979A-E0B205FE86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1628775"/>
          <a:ext cx="2736850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2" name="Equation" r:id="rId5" imgW="29260800" imgH="11696700" progId="Equation.DSMT4">
                  <p:embed/>
                </p:oleObj>
              </mc:Choice>
              <mc:Fallback>
                <p:oleObj name="Equation" r:id="rId5" imgW="29260800" imgH="11696700" progId="Equation.DSMT4">
                  <p:embed/>
                  <p:pic>
                    <p:nvPicPr>
                      <p:cNvPr id="173061" name="Object 5">
                        <a:extLst>
                          <a:ext uri="{FF2B5EF4-FFF2-40B4-BE49-F238E27FC236}">
                            <a16:creationId xmlns:a16="http://schemas.microsoft.com/office/drawing/2014/main" id="{1522C8FA-BF3F-FE4D-91AC-810810E420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628775"/>
                        <a:ext cx="2736850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6">
            <a:extLst>
              <a:ext uri="{FF2B5EF4-FFF2-40B4-BE49-F238E27FC236}">
                <a16:creationId xmlns:a16="http://schemas.microsoft.com/office/drawing/2014/main" id="{7384C5F4-FE5D-7C41-81F0-584831227D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1557338"/>
          <a:ext cx="2592388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3" name="Equation" r:id="rId7" imgW="29260800" imgH="11696700" progId="Equation.DSMT4">
                  <p:embed/>
                </p:oleObj>
              </mc:Choice>
              <mc:Fallback>
                <p:oleObj name="Equation" r:id="rId7" imgW="29260800" imgH="11696700" progId="Equation.DSMT4">
                  <p:embed/>
                  <p:pic>
                    <p:nvPicPr>
                      <p:cNvPr id="173062" name="Object 6">
                        <a:extLst>
                          <a:ext uri="{FF2B5EF4-FFF2-40B4-BE49-F238E27FC236}">
                            <a16:creationId xmlns:a16="http://schemas.microsoft.com/office/drawing/2014/main" id="{2F1EE2DE-94D0-2849-849E-30683BA186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1557338"/>
                        <a:ext cx="2592388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7">
            <a:extLst>
              <a:ext uri="{FF2B5EF4-FFF2-40B4-BE49-F238E27FC236}">
                <a16:creationId xmlns:a16="http://schemas.microsoft.com/office/drawing/2014/main" id="{8827C6C6-4072-594C-887A-C342569F7E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2636838"/>
          <a:ext cx="2663825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4" name="Equation" r:id="rId9" imgW="29260800" imgH="11696700" progId="Equation.DSMT4">
                  <p:embed/>
                </p:oleObj>
              </mc:Choice>
              <mc:Fallback>
                <p:oleObj name="Equation" r:id="rId9" imgW="29260800" imgH="11696700" progId="Equation.DSMT4">
                  <p:embed/>
                  <p:pic>
                    <p:nvPicPr>
                      <p:cNvPr id="173063" name="Object 7">
                        <a:extLst>
                          <a:ext uri="{FF2B5EF4-FFF2-40B4-BE49-F238E27FC236}">
                            <a16:creationId xmlns:a16="http://schemas.microsoft.com/office/drawing/2014/main" id="{ADAE5A13-A395-8D41-A57C-ACD4B8CB3D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636838"/>
                        <a:ext cx="2663825" cy="1065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8">
            <a:extLst>
              <a:ext uri="{FF2B5EF4-FFF2-40B4-BE49-F238E27FC236}">
                <a16:creationId xmlns:a16="http://schemas.microsoft.com/office/drawing/2014/main" id="{E9B77E95-E3D7-9A4D-9EF7-C515B754BE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2708275"/>
          <a:ext cx="2592388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5" name="Equation" r:id="rId11" imgW="29552900" imgH="11696700" progId="Equation.DSMT4">
                  <p:embed/>
                </p:oleObj>
              </mc:Choice>
              <mc:Fallback>
                <p:oleObj name="Equation" r:id="rId11" imgW="29552900" imgH="11696700" progId="Equation.DSMT4">
                  <p:embed/>
                  <p:pic>
                    <p:nvPicPr>
                      <p:cNvPr id="173064" name="Object 8">
                        <a:extLst>
                          <a:ext uri="{FF2B5EF4-FFF2-40B4-BE49-F238E27FC236}">
                            <a16:creationId xmlns:a16="http://schemas.microsoft.com/office/drawing/2014/main" id="{952CE571-727A-6846-9E39-D82FBE1AF1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708275"/>
                        <a:ext cx="2592388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9">
            <a:extLst>
              <a:ext uri="{FF2B5EF4-FFF2-40B4-BE49-F238E27FC236}">
                <a16:creationId xmlns:a16="http://schemas.microsoft.com/office/drawing/2014/main" id="{CAE8A2AB-482A-C140-A4DA-53CDED76F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1125538"/>
            <a:ext cx="5032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FFFFFF"/>
                </a:solidFill>
                <a:ea typeface="宋体" panose="02010600030101010101" pitchFamily="2" charset="-122"/>
              </a:rPr>
              <a:t>D</a:t>
            </a:r>
          </a:p>
        </p:txBody>
      </p:sp>
      <p:graphicFrame>
        <p:nvGraphicFramePr>
          <p:cNvPr id="25" name="Object 10">
            <a:extLst>
              <a:ext uri="{FF2B5EF4-FFF2-40B4-BE49-F238E27FC236}">
                <a16:creationId xmlns:a16="http://schemas.microsoft.com/office/drawing/2014/main" id="{1AE62080-29AD-9140-A792-95F7BBEA05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4076700"/>
          <a:ext cx="2978150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6" name="Equation" r:id="rId13" imgW="1587500" imgH="330200" progId="Equation.DSMT4">
                  <p:embed/>
                </p:oleObj>
              </mc:Choice>
              <mc:Fallback>
                <p:oleObj name="Equation" r:id="rId13" imgW="1587500" imgH="330200" progId="Equation.DSMT4">
                  <p:embed/>
                  <p:pic>
                    <p:nvPicPr>
                      <p:cNvPr id="173066" name="Object 10">
                        <a:extLst>
                          <a:ext uri="{FF2B5EF4-FFF2-40B4-BE49-F238E27FC236}">
                            <a16:creationId xmlns:a16="http://schemas.microsoft.com/office/drawing/2014/main" id="{50B97A1D-6F3D-D249-93BD-D6915075F1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4076700"/>
                        <a:ext cx="2978150" cy="738188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1">
            <a:extLst>
              <a:ext uri="{FF2B5EF4-FFF2-40B4-BE49-F238E27FC236}">
                <a16:creationId xmlns:a16="http://schemas.microsoft.com/office/drawing/2014/main" id="{4003B6C6-D19B-1E40-8E2A-9706DBB939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2525" y="4149725"/>
          <a:ext cx="2217738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7" name="Equation" r:id="rId15" imgW="1181100" imgH="330200" progId="Equation.DSMT4">
                  <p:embed/>
                </p:oleObj>
              </mc:Choice>
              <mc:Fallback>
                <p:oleObj name="Equation" r:id="rId15" imgW="1181100" imgH="330200" progId="Equation.DSMT4">
                  <p:embed/>
                  <p:pic>
                    <p:nvPicPr>
                      <p:cNvPr id="173067" name="Object 11">
                        <a:extLst>
                          <a:ext uri="{FF2B5EF4-FFF2-40B4-BE49-F238E27FC236}">
                            <a16:creationId xmlns:a16="http://schemas.microsoft.com/office/drawing/2014/main" id="{CE89AB87-68E4-5844-B73E-3183D857F3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525" y="4149725"/>
                        <a:ext cx="2217738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2">
            <a:extLst>
              <a:ext uri="{FF2B5EF4-FFF2-40B4-BE49-F238E27FC236}">
                <a16:creationId xmlns:a16="http://schemas.microsoft.com/office/drawing/2014/main" id="{4700FAFC-C465-5047-BE0C-B3DB296B7F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4550" y="4149725"/>
          <a:ext cx="981075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8" name="Equation" r:id="rId17" imgW="520700" imgH="330200" progId="Equation.DSMT4">
                  <p:embed/>
                </p:oleObj>
              </mc:Choice>
              <mc:Fallback>
                <p:oleObj name="Equation" r:id="rId17" imgW="520700" imgH="330200" progId="Equation.DSMT4">
                  <p:embed/>
                  <p:pic>
                    <p:nvPicPr>
                      <p:cNvPr id="173068" name="Object 12">
                        <a:extLst>
                          <a:ext uri="{FF2B5EF4-FFF2-40B4-BE49-F238E27FC236}">
                            <a16:creationId xmlns:a16="http://schemas.microsoft.com/office/drawing/2014/main" id="{682801EB-3777-7F4B-BD67-6594654BBA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550" y="4149725"/>
                        <a:ext cx="981075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3">
            <a:extLst>
              <a:ext uri="{FF2B5EF4-FFF2-40B4-BE49-F238E27FC236}">
                <a16:creationId xmlns:a16="http://schemas.microsoft.com/office/drawing/2014/main" id="{8FD800E6-DB7E-DA4E-A04D-4D55CC4D9E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3933825"/>
          <a:ext cx="12954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9" name="Equation" r:id="rId19" imgW="774700" imgH="596900" progId="Equation.DSMT4">
                  <p:embed/>
                </p:oleObj>
              </mc:Choice>
              <mc:Fallback>
                <p:oleObj name="Equation" r:id="rId19" imgW="774700" imgH="596900" progId="Equation.DSMT4">
                  <p:embed/>
                  <p:pic>
                    <p:nvPicPr>
                      <p:cNvPr id="173069" name="Object 13">
                        <a:extLst>
                          <a:ext uri="{FF2B5EF4-FFF2-40B4-BE49-F238E27FC236}">
                            <a16:creationId xmlns:a16="http://schemas.microsoft.com/office/drawing/2014/main" id="{2391CF11-C8DD-594E-9051-8A429E3191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3933825"/>
                        <a:ext cx="129540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4">
            <a:extLst>
              <a:ext uri="{FF2B5EF4-FFF2-40B4-BE49-F238E27FC236}">
                <a16:creationId xmlns:a16="http://schemas.microsoft.com/office/drawing/2014/main" id="{E9FEDC03-2D95-AC4C-BA06-9007312175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5084763"/>
          <a:ext cx="2808287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0" name="Equation" r:id="rId21" imgW="1892300" imgH="673100" progId="Equation.DSMT4">
                  <p:embed/>
                </p:oleObj>
              </mc:Choice>
              <mc:Fallback>
                <p:oleObj name="Equation" r:id="rId21" imgW="1892300" imgH="673100" progId="Equation.DSMT4">
                  <p:embed/>
                  <p:pic>
                    <p:nvPicPr>
                      <p:cNvPr id="173070" name="Object 14">
                        <a:extLst>
                          <a:ext uri="{FF2B5EF4-FFF2-40B4-BE49-F238E27FC236}">
                            <a16:creationId xmlns:a16="http://schemas.microsoft.com/office/drawing/2014/main" id="{D9A96123-471B-904F-BB6C-1EBB382492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084763"/>
                        <a:ext cx="2808287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5">
            <a:extLst>
              <a:ext uri="{FF2B5EF4-FFF2-40B4-BE49-F238E27FC236}">
                <a16:creationId xmlns:a16="http://schemas.microsoft.com/office/drawing/2014/main" id="{25117B42-68B6-DA49-BD22-7BB2C24298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5084763"/>
          <a:ext cx="2771775" cy="120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1" name="Equation" r:id="rId23" imgW="1803400" imgH="673100" progId="Equation.DSMT4">
                  <p:embed/>
                </p:oleObj>
              </mc:Choice>
              <mc:Fallback>
                <p:oleObj name="Equation" r:id="rId23" imgW="1803400" imgH="673100" progId="Equation.DSMT4">
                  <p:embed/>
                  <p:pic>
                    <p:nvPicPr>
                      <p:cNvPr id="173071" name="Object 15">
                        <a:extLst>
                          <a:ext uri="{FF2B5EF4-FFF2-40B4-BE49-F238E27FC236}">
                            <a16:creationId xmlns:a16="http://schemas.microsoft.com/office/drawing/2014/main" id="{23D6C2C9-98E3-8648-AC63-25A4A8B30E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5084763"/>
                        <a:ext cx="2771775" cy="120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16">
            <a:extLst>
              <a:ext uri="{FF2B5EF4-FFF2-40B4-BE49-F238E27FC236}">
                <a16:creationId xmlns:a16="http://schemas.microsoft.com/office/drawing/2014/main" id="{0632BF94-25FA-F745-8067-8FAFFCCB5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644900"/>
            <a:ext cx="1152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50000"/>
              </a:spcBef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</a:p>
        </p:txBody>
      </p:sp>
    </p:spTree>
    <p:extLst>
      <p:ext uri="{BB962C8B-B14F-4D97-AF65-F5344CB8AC3E}">
        <p14:creationId xmlns:p14="http://schemas.microsoft.com/office/powerpoint/2010/main" val="269794073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9" name="Group 31"/>
          <p:cNvGrpSpPr/>
          <p:nvPr/>
        </p:nvGrpSpPr>
        <p:grpSpPr bwMode="auto">
          <a:xfrm>
            <a:off x="0" y="0"/>
            <a:ext cx="6371219" cy="825500"/>
            <a:chOff x="51" y="0"/>
            <a:chExt cx="3023" cy="246"/>
          </a:xfrm>
        </p:grpSpPr>
        <p:sp>
          <p:nvSpPr>
            <p:cNvPr id="23" name="Line 32"/>
            <p:cNvSpPr>
              <a:spLocks noChangeShapeType="1"/>
            </p:cNvSpPr>
            <p:nvPr/>
          </p:nvSpPr>
          <p:spPr bwMode="auto">
            <a:xfrm flipV="1">
              <a:off x="96" y="202"/>
              <a:ext cx="297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5076" name="Picture 33" descr="BD10263_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" y="0"/>
              <a:ext cx="24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0" name="Rectangle 30"/>
          <p:cNvSpPr>
            <a:spLocks noChangeArrowheads="1"/>
          </p:cNvSpPr>
          <p:nvPr/>
        </p:nvSpPr>
        <p:spPr bwMode="auto">
          <a:xfrm>
            <a:off x="518465" y="163830"/>
            <a:ext cx="6537325" cy="491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实践拓展问题</a:t>
            </a:r>
            <a:r>
              <a:rPr 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：逆矩阵的应用</a:t>
            </a:r>
            <a:r>
              <a:rPr lang="en-US" altLang="zh-CN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 sz="2600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希尔密码</a:t>
            </a:r>
          </a:p>
        </p:txBody>
      </p:sp>
      <p:sp>
        <p:nvSpPr>
          <p:cNvPr id="175114" name="Rectangle 10"/>
          <p:cNvSpPr/>
          <p:nvPr>
            <p:custDataLst>
              <p:tags r:id="rId1"/>
            </p:custDataLst>
          </p:nvPr>
        </p:nvSpPr>
        <p:spPr>
          <a:xfrm>
            <a:off x="467995" y="825500"/>
            <a:ext cx="8115300" cy="3322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希尔密码是加密和解密的一种方法，就是利用可逆的密钥矩阵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K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在模26的意义下进行线性变换，其基本思想是将一个明文字母通过线性变换，将它们转换为一个密文字母，解密只要作一次逆变换就可以了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.</a:t>
            </a:r>
          </a:p>
        </p:txBody>
      </p:sp>
      <p:sp>
        <p:nvSpPr>
          <p:cNvPr id="7" name="Rectangle 10"/>
          <p:cNvSpPr/>
          <p:nvPr>
            <p:custDataLst>
              <p:tags r:id="rId2"/>
            </p:custDataLst>
          </p:nvPr>
        </p:nvSpPr>
        <p:spPr>
          <a:xfrm>
            <a:off x="395605" y="4221480"/>
            <a:ext cx="811530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请阅读课本关于希尔密码的加密过程，完成希尔密码的加密和解密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14" grpId="0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930465" y="1628041"/>
            <a:ext cx="7586663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 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通过实例抽象出逆矩阵的定义</a:t>
            </a:r>
          </a:p>
        </p:txBody>
      </p:sp>
      <p:sp>
        <p:nvSpPr>
          <p:cNvPr id="44035" name="Line 12"/>
          <p:cNvSpPr>
            <a:spLocks noChangeShapeType="1"/>
          </p:cNvSpPr>
          <p:nvPr/>
        </p:nvSpPr>
        <p:spPr bwMode="auto">
          <a:xfrm>
            <a:off x="0" y="836613"/>
            <a:ext cx="91440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44037" name="Text Box 2"/>
          <p:cNvSpPr txBox="1">
            <a:spLocks noChangeArrowheads="1"/>
          </p:cNvSpPr>
          <p:nvPr/>
        </p:nvSpPr>
        <p:spPr bwMode="auto">
          <a:xfrm>
            <a:off x="1835785" y="185120"/>
            <a:ext cx="540702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逆矩阵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小结</a:t>
            </a:r>
          </a:p>
        </p:txBody>
      </p:sp>
      <p:sp>
        <p:nvSpPr>
          <p:cNvPr id="2" name="爆炸形: 8 pt  1"/>
          <p:cNvSpPr/>
          <p:nvPr/>
        </p:nvSpPr>
        <p:spPr bwMode="auto">
          <a:xfrm>
            <a:off x="684070" y="1781345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997141" y="2345591"/>
            <a:ext cx="7303839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逆矩阵的定义、性质和求法.</a:t>
            </a:r>
          </a:p>
        </p:txBody>
      </p:sp>
      <p:sp>
        <p:nvSpPr>
          <p:cNvPr id="28" name="爆炸形: 8 pt  27"/>
          <p:cNvSpPr/>
          <p:nvPr/>
        </p:nvSpPr>
        <p:spPr bwMode="auto">
          <a:xfrm>
            <a:off x="676632" y="2484678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29" name="Rectangle 1"/>
          <p:cNvSpPr>
            <a:spLocks noChangeArrowheads="1"/>
          </p:cNvSpPr>
          <p:nvPr/>
        </p:nvSpPr>
        <p:spPr bwMode="auto">
          <a:xfrm>
            <a:off x="997141" y="3109814"/>
            <a:ext cx="7586662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sz="25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逆矩阵的求法及运用.</a:t>
            </a:r>
          </a:p>
        </p:txBody>
      </p:sp>
      <p:sp>
        <p:nvSpPr>
          <p:cNvPr id="34" name="爆炸形: 8 pt  33"/>
          <p:cNvSpPr/>
          <p:nvPr/>
        </p:nvSpPr>
        <p:spPr bwMode="auto">
          <a:xfrm>
            <a:off x="696219" y="3230885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957580" y="3813175"/>
            <a:ext cx="8362315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利用逆矩阵解决Hill密码问题，完成应用练习</a:t>
            </a:r>
            <a:r>
              <a:rPr kumimoji="1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6" name="爆炸形: 8 pt  25"/>
          <p:cNvSpPr/>
          <p:nvPr/>
        </p:nvSpPr>
        <p:spPr bwMode="auto">
          <a:xfrm>
            <a:off x="678738" y="3842297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27" name="Rectangle 1"/>
          <p:cNvSpPr>
            <a:spLocks noChangeArrowheads="1"/>
          </p:cNvSpPr>
          <p:nvPr/>
        </p:nvSpPr>
        <p:spPr bwMode="auto">
          <a:xfrm>
            <a:off x="951104" y="4457284"/>
            <a:ext cx="7745412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 </a:t>
            </a:r>
            <a:r>
              <a:rPr kumimoji="1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你知道逆矩阵在数学上和实际问题中还有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          </a:t>
            </a:r>
            <a:r>
              <a:rPr kumimoji="1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哪些应用吗？</a:t>
            </a:r>
          </a:p>
        </p:txBody>
      </p:sp>
      <p:sp>
        <p:nvSpPr>
          <p:cNvPr id="30" name="爆炸形: 8 pt  29"/>
          <p:cNvSpPr/>
          <p:nvPr/>
        </p:nvSpPr>
        <p:spPr bwMode="auto">
          <a:xfrm>
            <a:off x="661601" y="4457378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44059" name="Picture 11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2863" y="-9525"/>
            <a:ext cx="1014413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2" grpId="0"/>
      <p:bldP spid="29" grpId="0"/>
      <p:bldP spid="24" grpId="0"/>
      <p:bldP spid="2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47fcc34-08aa-4d11-ab19-1f61cfe44d19"/>
  <p:tag name="COMMONDATA" val="eyJoZGlkIjoiZmRhY2I1Yzc3MDRmODQ3NWQxMWUzOTBiYTliNDAwZT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700,&quot;width&quot;:5400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华文中宋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华文中宋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习题课模板">
  <a:themeElements>
    <a:clrScheme name="2_习题课模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习题课模板">
      <a:majorFont>
        <a:latin typeface="Times New Roman"/>
        <a:ea typeface="华文中宋"/>
        <a:cs typeface=""/>
      </a:majorFont>
      <a:minorFont>
        <a:latin typeface="Times New Roman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习题课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习题课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华文中宋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 w="9525">
          <a:noFill/>
        </a:ln>
      </a:spPr>
      <a:bodyPr lIns="0" tIns="0" rIns="0" bIns="0">
        <a:spAutoFit/>
      </a:bodyPr>
      <a:lstStyle>
        <a:defPPr>
          <a:lnSpc>
            <a:spcPct val="120000"/>
          </a:lnSpc>
          <a:defRPr lang="zh-CN" altLang="en-US" sz="2600" b="1" dirty="0">
            <a:latin typeface="华文中宋" panose="02010600040101010101" pitchFamily="2" charset="-122"/>
            <a:ea typeface="华文中宋" panose="02010600040101010101" pitchFamily="2" charset="-122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华文中宋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华文中宋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华文中宋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华文中宋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10</TotalTime>
  <Words>2624</Words>
  <Application>Microsoft Macintosh PowerPoint</Application>
  <PresentationFormat>On-screen Show (4:3)</PresentationFormat>
  <Paragraphs>322</Paragraphs>
  <Slides>35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53" baseType="lpstr">
      <vt:lpstr>楷体_GB2312</vt:lpstr>
      <vt:lpstr>微软雅黑</vt:lpstr>
      <vt:lpstr>宋体</vt:lpstr>
      <vt:lpstr>华文行楷</vt:lpstr>
      <vt:lpstr>华文中宋</vt:lpstr>
      <vt:lpstr>Arial</vt:lpstr>
      <vt:lpstr>Arial Black</vt:lpstr>
      <vt:lpstr>Calibri</vt:lpstr>
      <vt:lpstr>Symbol</vt:lpstr>
      <vt:lpstr>Tahoma</vt:lpstr>
      <vt:lpstr>Times New Roman</vt:lpstr>
      <vt:lpstr>Wingdings</vt:lpstr>
      <vt:lpstr>1_默认设计模板</vt:lpstr>
      <vt:lpstr>2_默认设计模板</vt:lpstr>
      <vt:lpstr>2_习题课模板</vt:lpstr>
      <vt:lpstr>2_Pixel</vt:lpstr>
      <vt:lpstr>Equation</vt:lpstr>
      <vt:lpstr>Equation.3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lilian</dc:creator>
  <cp:lastModifiedBy>Microsoft Office User</cp:lastModifiedBy>
  <cp:revision>1150</cp:revision>
  <dcterms:created xsi:type="dcterms:W3CDTF">2012-06-17T01:12:00Z</dcterms:created>
  <dcterms:modified xsi:type="dcterms:W3CDTF">2026-10-19T03:17:48Z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9BC41F0822344354A71AE6278D199AA9_13</vt:lpwstr>
  </property>
  <property fmtid="{D5CDD505-2E9C-101B-9397-08002B2CF9AE}" pid="3" name="KSOProductBuildVer">
    <vt:lpwstr>2052-12.1.0.15120</vt:lpwstr>
  </property>
</Properties>
</file>