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6" r:id="rId3"/>
    <p:sldMasterId id="2147483688" r:id="rId4"/>
  </p:sldMasterIdLst>
  <p:notesMasterIdLst>
    <p:notesMasterId r:id="rId52"/>
  </p:notesMasterIdLst>
  <p:sldIdLst>
    <p:sldId id="1129" r:id="rId5"/>
    <p:sldId id="1472" r:id="rId6"/>
    <p:sldId id="1414" r:id="rId7"/>
    <p:sldId id="1379" r:id="rId8"/>
    <p:sldId id="1415" r:id="rId9"/>
    <p:sldId id="1418" r:id="rId10"/>
    <p:sldId id="1419" r:id="rId11"/>
    <p:sldId id="1420" r:id="rId12"/>
    <p:sldId id="1421" r:id="rId13"/>
    <p:sldId id="1473" r:id="rId14"/>
    <p:sldId id="1422" r:id="rId15"/>
    <p:sldId id="1417" r:id="rId16"/>
    <p:sldId id="1444" r:id="rId17"/>
    <p:sldId id="1445" r:id="rId18"/>
    <p:sldId id="1446" r:id="rId19"/>
    <p:sldId id="1447" r:id="rId20"/>
    <p:sldId id="1416" r:id="rId21"/>
    <p:sldId id="1449" r:id="rId22"/>
    <p:sldId id="1474" r:id="rId23"/>
    <p:sldId id="1475" r:id="rId24"/>
    <p:sldId id="1452" r:id="rId25"/>
    <p:sldId id="1476" r:id="rId26"/>
    <p:sldId id="1477" r:id="rId27"/>
    <p:sldId id="1453" r:id="rId28"/>
    <p:sldId id="1454" r:id="rId29"/>
    <p:sldId id="1483" r:id="rId30"/>
    <p:sldId id="1485" r:id="rId31"/>
    <p:sldId id="1484" r:id="rId32"/>
    <p:sldId id="1455" r:id="rId33"/>
    <p:sldId id="1456" r:id="rId34"/>
    <p:sldId id="1457" r:id="rId35"/>
    <p:sldId id="1459" r:id="rId36"/>
    <p:sldId id="1486" r:id="rId37"/>
    <p:sldId id="1460" r:id="rId38"/>
    <p:sldId id="1463" r:id="rId39"/>
    <p:sldId id="1487" r:id="rId40"/>
    <p:sldId id="1488" r:id="rId41"/>
    <p:sldId id="1464" r:id="rId42"/>
    <p:sldId id="1479" r:id="rId43"/>
    <p:sldId id="1480" r:id="rId44"/>
    <p:sldId id="1481" r:id="rId45"/>
    <p:sldId id="1465" r:id="rId46"/>
    <p:sldId id="1482" r:id="rId47"/>
    <p:sldId id="1466" r:id="rId48"/>
    <p:sldId id="1467" r:id="rId49"/>
    <p:sldId id="1468" r:id="rId50"/>
    <p:sldId id="1469" r:id="rId51"/>
  </p:sldIdLst>
  <p:sldSz cx="9144000" cy="6858000" type="screen4x3"/>
  <p:notesSz cx="6858000" cy="9144000"/>
  <p:custDataLst>
    <p:tags r:id="rId5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ABA"/>
    <a:srgbClr val="00FDFF"/>
    <a:srgbClr val="C00000"/>
    <a:srgbClr val="3333FF"/>
    <a:srgbClr val="0033CC"/>
    <a:srgbClr val="0000FF"/>
    <a:srgbClr val="C7E6A4"/>
    <a:srgbClr val="FF0066"/>
    <a:srgbClr val="6666F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797" autoAdjust="0"/>
    <p:restoredTop sz="93807" autoAdjust="0"/>
  </p:normalViewPr>
  <p:slideViewPr>
    <p:cSldViewPr showGuides="1">
      <p:cViewPr varScale="1">
        <p:scale>
          <a:sx n="47" d="100"/>
          <a:sy n="47" d="100"/>
        </p:scale>
        <p:origin x="200" y="1912"/>
      </p:cViewPr>
      <p:guideLst>
        <p:guide orient="horz" pos="2172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gs" Target="tags/tag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4" Type="http://schemas.openxmlformats.org/officeDocument/2006/relationships/image" Target="../media/image53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4" Type="http://schemas.openxmlformats.org/officeDocument/2006/relationships/image" Target="../media/image8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4" Type="http://schemas.openxmlformats.org/officeDocument/2006/relationships/image" Target="../media/image85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4" Type="http://schemas.openxmlformats.org/officeDocument/2006/relationships/image" Target="../media/image89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9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dirty="0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 smtClean="0"/>
              <a:t>‹#›</a:t>
            </a:fld>
            <a:endParaRPr lang="en-US" sz="1800" b="0" dirty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华文中宋" panose="02010600040101010101" pitchFamily="2" charset="-122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/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/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/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/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/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image" Target="../media/image8.wmf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44.xml"/><Relationship Id="rId12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tags" Target="../tags/tag6.xml"/><Relationship Id="rId11" Type="http://schemas.openxmlformats.org/officeDocument/2006/relationships/image" Target="../media/image7.wmf"/><Relationship Id="rId5" Type="http://schemas.openxmlformats.org/officeDocument/2006/relationships/tags" Target="../tags/tag5.xml"/><Relationship Id="rId10" Type="http://schemas.openxmlformats.org/officeDocument/2006/relationships/oleObject" Target="../embeddings/oleObject1.bin"/><Relationship Id="rId4" Type="http://schemas.openxmlformats.org/officeDocument/2006/relationships/tags" Target="../tags/tag4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8.xml"/><Relationship Id="rId7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vmlDrawing" Target="../drawings/vmlDrawing2.vml"/><Relationship Id="rId6" Type="http://schemas.openxmlformats.org/officeDocument/2006/relationships/slide" Target="slide1.xml"/><Relationship Id="rId5" Type="http://schemas.openxmlformats.org/officeDocument/2006/relationships/slideLayout" Target="../slideLayouts/slideLayout44.xml"/><Relationship Id="rId4" Type="http://schemas.openxmlformats.org/officeDocument/2006/relationships/tags" Target="../tags/tag9.xml"/><Relationship Id="rId9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6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slide" Target="slide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6.png"/><Relationship Id="rId5" Type="http://schemas.openxmlformats.org/officeDocument/2006/relationships/slide" Target="slide1.xml"/><Relationship Id="rId4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24.xml"/><Relationship Id="rId7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vmlDrawing" Target="../drawings/vmlDrawing3.vml"/><Relationship Id="rId6" Type="http://schemas.openxmlformats.org/officeDocument/2006/relationships/slide" Target="slide1.xml"/><Relationship Id="rId5" Type="http://schemas.openxmlformats.org/officeDocument/2006/relationships/slideLayout" Target="../slideLayouts/slideLayout44.xml"/><Relationship Id="rId4" Type="http://schemas.openxmlformats.org/officeDocument/2006/relationships/tags" Target="../tags/tag25.xml"/><Relationship Id="rId9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7.xml"/><Relationship Id="rId7" Type="http://schemas.openxmlformats.org/officeDocument/2006/relationships/slide" Target="slide1.xml"/><Relationship Id="rId2" Type="http://schemas.openxmlformats.org/officeDocument/2006/relationships/tags" Target="../tags/tag26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29.xml"/><Relationship Id="rId10" Type="http://schemas.openxmlformats.org/officeDocument/2006/relationships/image" Target="../media/image11.wmf"/><Relationship Id="rId4" Type="http://schemas.openxmlformats.org/officeDocument/2006/relationships/tags" Target="../tags/tag28.xml"/><Relationship Id="rId9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6.png"/><Relationship Id="rId5" Type="http://schemas.openxmlformats.org/officeDocument/2006/relationships/slide" Target="slide1.xml"/><Relationship Id="rId4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6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image" Target="../media/image18.wmf"/><Relationship Id="rId3" Type="http://schemas.openxmlformats.org/officeDocument/2006/relationships/tags" Target="../tags/tag34.xml"/><Relationship Id="rId7" Type="http://schemas.openxmlformats.org/officeDocument/2006/relationships/slideLayout" Target="../slideLayouts/slideLayout44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33.xml"/><Relationship Id="rId1" Type="http://schemas.openxmlformats.org/officeDocument/2006/relationships/vmlDrawing" Target="../drawings/vmlDrawing6.vml"/><Relationship Id="rId6" Type="http://schemas.openxmlformats.org/officeDocument/2006/relationships/tags" Target="../tags/tag37.xml"/><Relationship Id="rId11" Type="http://schemas.openxmlformats.org/officeDocument/2006/relationships/image" Target="../media/image17.wmf"/><Relationship Id="rId5" Type="http://schemas.openxmlformats.org/officeDocument/2006/relationships/tags" Target="../tags/tag36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35.xm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image" Target="../media/image20.wmf"/><Relationship Id="rId3" Type="http://schemas.openxmlformats.org/officeDocument/2006/relationships/tags" Target="../tags/tag39.xml"/><Relationship Id="rId7" Type="http://schemas.openxmlformats.org/officeDocument/2006/relationships/slideLayout" Target="../slideLayouts/slideLayout44.xml"/><Relationship Id="rId12" Type="http://schemas.openxmlformats.org/officeDocument/2006/relationships/oleObject" Target="../embeddings/oleObject14.bin"/><Relationship Id="rId2" Type="http://schemas.openxmlformats.org/officeDocument/2006/relationships/tags" Target="../tags/tag38.xml"/><Relationship Id="rId1" Type="http://schemas.openxmlformats.org/officeDocument/2006/relationships/vmlDrawing" Target="../drawings/vmlDrawing7.vml"/><Relationship Id="rId6" Type="http://schemas.openxmlformats.org/officeDocument/2006/relationships/tags" Target="../tags/tag42.xml"/><Relationship Id="rId11" Type="http://schemas.openxmlformats.org/officeDocument/2006/relationships/image" Target="../media/image19.wmf"/><Relationship Id="rId5" Type="http://schemas.openxmlformats.org/officeDocument/2006/relationships/tags" Target="../tags/tag41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40.xml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image" Target="../media/image21.wmf"/><Relationship Id="rId3" Type="http://schemas.openxmlformats.org/officeDocument/2006/relationships/tags" Target="../tags/tag44.xml"/><Relationship Id="rId21" Type="http://schemas.openxmlformats.org/officeDocument/2006/relationships/oleObject" Target="../embeddings/oleObject17.bin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43.xml"/><Relationship Id="rId16" Type="http://schemas.openxmlformats.org/officeDocument/2006/relationships/image" Target="../media/image6.png"/><Relationship Id="rId20" Type="http://schemas.openxmlformats.org/officeDocument/2006/relationships/image" Target="../media/image22.wmf"/><Relationship Id="rId1" Type="http://schemas.openxmlformats.org/officeDocument/2006/relationships/vmlDrawing" Target="../drawings/vmlDrawing8.v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slide" Target="slide1.xml"/><Relationship Id="rId10" Type="http://schemas.openxmlformats.org/officeDocument/2006/relationships/tags" Target="../tags/tag51.xml"/><Relationship Id="rId19" Type="http://schemas.openxmlformats.org/officeDocument/2006/relationships/oleObject" Target="../embeddings/oleObject16.bin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slideLayout" Target="../slideLayouts/slideLayout44.xml"/><Relationship Id="rId22" Type="http://schemas.openxmlformats.org/officeDocument/2006/relationships/image" Target="../media/image2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image" Target="../media/image24.wmf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oleObject" Target="../embeddings/oleObject18.bin"/><Relationship Id="rId2" Type="http://schemas.openxmlformats.org/officeDocument/2006/relationships/tags" Target="../tags/tag55.xml"/><Relationship Id="rId1" Type="http://schemas.openxmlformats.org/officeDocument/2006/relationships/vmlDrawing" Target="../drawings/vmlDrawing9.vml"/><Relationship Id="rId6" Type="http://schemas.openxmlformats.org/officeDocument/2006/relationships/tags" Target="../tags/tag59.xml"/><Relationship Id="rId11" Type="http://schemas.openxmlformats.org/officeDocument/2006/relationships/image" Target="../media/image6.png"/><Relationship Id="rId5" Type="http://schemas.openxmlformats.org/officeDocument/2006/relationships/tags" Target="../tags/tag58.xml"/><Relationship Id="rId10" Type="http://schemas.openxmlformats.org/officeDocument/2006/relationships/slide" Target="slide1.xml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6.png"/><Relationship Id="rId5" Type="http://schemas.openxmlformats.org/officeDocument/2006/relationships/slide" Target="slide1.xml"/><Relationship Id="rId4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6.png"/><Relationship Id="rId18" Type="http://schemas.openxmlformats.org/officeDocument/2006/relationships/oleObject" Target="../embeddings/oleObject21.bin"/><Relationship Id="rId3" Type="http://schemas.openxmlformats.org/officeDocument/2006/relationships/tags" Target="../tags/tag66.xml"/><Relationship Id="rId21" Type="http://schemas.openxmlformats.org/officeDocument/2006/relationships/image" Target="../media/image28.wmf"/><Relationship Id="rId7" Type="http://schemas.openxmlformats.org/officeDocument/2006/relationships/tags" Target="../tags/tag70.xml"/><Relationship Id="rId12" Type="http://schemas.openxmlformats.org/officeDocument/2006/relationships/slide" Target="slide1.xml"/><Relationship Id="rId17" Type="http://schemas.openxmlformats.org/officeDocument/2006/relationships/image" Target="../media/image26.wmf"/><Relationship Id="rId2" Type="http://schemas.openxmlformats.org/officeDocument/2006/relationships/tags" Target="../tags/tag65.xml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vmlDrawing" Target="../drawings/vmlDrawing10.vml"/><Relationship Id="rId6" Type="http://schemas.openxmlformats.org/officeDocument/2006/relationships/tags" Target="../tags/tag69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68.xml"/><Relationship Id="rId15" Type="http://schemas.openxmlformats.org/officeDocument/2006/relationships/image" Target="../media/image25.wmf"/><Relationship Id="rId10" Type="http://schemas.openxmlformats.org/officeDocument/2006/relationships/tags" Target="../tags/tag73.xml"/><Relationship Id="rId19" Type="http://schemas.openxmlformats.org/officeDocument/2006/relationships/image" Target="../media/image27.wmf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oleObject" Target="../embeddings/oleObject1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6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" Target="slide1.xml"/><Relationship Id="rId5" Type="http://schemas.openxmlformats.org/officeDocument/2006/relationships/slideLayout" Target="../slideLayouts/slideLayout44.xml"/><Relationship Id="rId4" Type="http://schemas.openxmlformats.org/officeDocument/2006/relationships/tags" Target="../tags/tag7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6.png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2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9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0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3.wmf"/><Relationship Id="rId3" Type="http://schemas.openxmlformats.org/officeDocument/2006/relationships/tags" Target="../tags/tag81.xml"/><Relationship Id="rId21" Type="http://schemas.openxmlformats.org/officeDocument/2006/relationships/oleObject" Target="../embeddings/oleObject40.bin"/><Relationship Id="rId7" Type="http://schemas.openxmlformats.org/officeDocument/2006/relationships/tags" Target="../tags/tag85.xml"/><Relationship Id="rId12" Type="http://schemas.openxmlformats.org/officeDocument/2006/relationships/image" Target="../media/image6.png"/><Relationship Id="rId17" Type="http://schemas.openxmlformats.org/officeDocument/2006/relationships/oleObject" Target="../embeddings/oleObject38.bin"/><Relationship Id="rId2" Type="http://schemas.openxmlformats.org/officeDocument/2006/relationships/tags" Target="../tags/tag80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1" Type="http://schemas.openxmlformats.org/officeDocument/2006/relationships/vmlDrawing" Target="../drawings/vmlDrawing13.vml"/><Relationship Id="rId6" Type="http://schemas.openxmlformats.org/officeDocument/2006/relationships/tags" Target="../tags/tag84.xml"/><Relationship Id="rId11" Type="http://schemas.openxmlformats.org/officeDocument/2006/relationships/slide" Target="slide1.xml"/><Relationship Id="rId24" Type="http://schemas.openxmlformats.org/officeDocument/2006/relationships/image" Target="../media/image46.wmf"/><Relationship Id="rId5" Type="http://schemas.openxmlformats.org/officeDocument/2006/relationships/tags" Target="../tags/tag83.xml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10" Type="http://schemas.openxmlformats.org/officeDocument/2006/relationships/slideLayout" Target="../slideLayouts/slideLayout44.xml"/><Relationship Id="rId19" Type="http://schemas.openxmlformats.org/officeDocument/2006/relationships/oleObject" Target="../embeddings/oleObject39.bin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image" Target="../media/image41.wmf"/><Relationship Id="rId22" Type="http://schemas.openxmlformats.org/officeDocument/2006/relationships/image" Target="../media/image4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4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image" Target="../media/image54.wmf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oleObject" Target="../embeddings/oleObject49.bin"/><Relationship Id="rId2" Type="http://schemas.openxmlformats.org/officeDocument/2006/relationships/tags" Target="../tags/tag88.xml"/><Relationship Id="rId1" Type="http://schemas.openxmlformats.org/officeDocument/2006/relationships/vmlDrawing" Target="../drawings/vmlDrawing16.vml"/><Relationship Id="rId6" Type="http://schemas.openxmlformats.org/officeDocument/2006/relationships/tags" Target="../tags/tag92.xml"/><Relationship Id="rId11" Type="http://schemas.openxmlformats.org/officeDocument/2006/relationships/image" Target="../media/image6.png"/><Relationship Id="rId5" Type="http://schemas.openxmlformats.org/officeDocument/2006/relationships/tags" Target="../tags/tag91.xml"/><Relationship Id="rId15" Type="http://schemas.openxmlformats.org/officeDocument/2006/relationships/image" Target="../media/image55.wmf"/><Relationship Id="rId10" Type="http://schemas.openxmlformats.org/officeDocument/2006/relationships/slide" Target="slide1.xml"/><Relationship Id="rId4" Type="http://schemas.openxmlformats.org/officeDocument/2006/relationships/tags" Target="../tags/tag90.xml"/><Relationship Id="rId9" Type="http://schemas.openxmlformats.org/officeDocument/2006/relationships/slideLayout" Target="../slideLayouts/slideLayout44.xml"/><Relationship Id="rId14" Type="http://schemas.openxmlformats.org/officeDocument/2006/relationships/oleObject" Target="../embeddings/oleObject5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7.xml"/><Relationship Id="rId7" Type="http://schemas.openxmlformats.org/officeDocument/2006/relationships/slide" Target="slide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99.xml"/><Relationship Id="rId4" Type="http://schemas.openxmlformats.org/officeDocument/2006/relationships/tags" Target="../tags/tag9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61.wmf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6.png"/><Relationship Id="rId17" Type="http://schemas.openxmlformats.org/officeDocument/2006/relationships/oleObject" Target="../embeddings/oleObject53.bin"/><Relationship Id="rId2" Type="http://schemas.openxmlformats.org/officeDocument/2006/relationships/tags" Target="../tags/tag100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7.vml"/><Relationship Id="rId6" Type="http://schemas.openxmlformats.org/officeDocument/2006/relationships/tags" Target="../tags/tag104.xml"/><Relationship Id="rId11" Type="http://schemas.openxmlformats.org/officeDocument/2006/relationships/slide" Target="slide1.xml"/><Relationship Id="rId5" Type="http://schemas.openxmlformats.org/officeDocument/2006/relationships/tags" Target="../tags/tag103.xml"/><Relationship Id="rId15" Type="http://schemas.openxmlformats.org/officeDocument/2006/relationships/oleObject" Target="../embeddings/oleObject52.bin"/><Relationship Id="rId10" Type="http://schemas.openxmlformats.org/officeDocument/2006/relationships/slideLayout" Target="../slideLayouts/slideLayout44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image" Target="../media/image5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image" Target="../media/image62.wmf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64.wmf"/><Relationship Id="rId2" Type="http://schemas.openxmlformats.org/officeDocument/2006/relationships/tags" Target="../tags/tag108.xml"/><Relationship Id="rId16" Type="http://schemas.openxmlformats.org/officeDocument/2006/relationships/oleObject" Target="../embeddings/oleObject56.bin"/><Relationship Id="rId1" Type="http://schemas.openxmlformats.org/officeDocument/2006/relationships/vmlDrawing" Target="../drawings/vmlDrawing18.vml"/><Relationship Id="rId6" Type="http://schemas.openxmlformats.org/officeDocument/2006/relationships/tags" Target="../tags/tag112.xml"/><Relationship Id="rId11" Type="http://schemas.openxmlformats.org/officeDocument/2006/relationships/image" Target="../media/image6.png"/><Relationship Id="rId5" Type="http://schemas.openxmlformats.org/officeDocument/2006/relationships/tags" Target="../tags/tag111.xml"/><Relationship Id="rId15" Type="http://schemas.openxmlformats.org/officeDocument/2006/relationships/image" Target="../media/image63.wmf"/><Relationship Id="rId10" Type="http://schemas.openxmlformats.org/officeDocument/2006/relationships/slide" Target="slide1.xml"/><Relationship Id="rId4" Type="http://schemas.openxmlformats.org/officeDocument/2006/relationships/tags" Target="../tags/tag110.xml"/><Relationship Id="rId9" Type="http://schemas.openxmlformats.org/officeDocument/2006/relationships/slideLayout" Target="../slideLayouts/slideLayout44.xml"/><Relationship Id="rId14" Type="http://schemas.openxmlformats.org/officeDocument/2006/relationships/oleObject" Target="../embeddings/oleObject5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slide" Target="slide1.xml"/><Relationship Id="rId18" Type="http://schemas.openxmlformats.org/officeDocument/2006/relationships/image" Target="../media/image66.wmf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slideLayout" Target="../slideLayouts/slideLayout44.xml"/><Relationship Id="rId17" Type="http://schemas.openxmlformats.org/officeDocument/2006/relationships/oleObject" Target="../embeddings/oleObject58.bin"/><Relationship Id="rId2" Type="http://schemas.openxmlformats.org/officeDocument/2006/relationships/tags" Target="../tags/tag115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19.v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oleObject" Target="../embeddings/oleObject57.bin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27.xml"/><Relationship Id="rId7" Type="http://schemas.openxmlformats.org/officeDocument/2006/relationships/slide" Target="slide1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129.xml"/><Relationship Id="rId4" Type="http://schemas.openxmlformats.org/officeDocument/2006/relationships/tags" Target="../tags/tag1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12" Type="http://schemas.openxmlformats.org/officeDocument/2006/relationships/image" Target="../media/image69.wmf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image" Target="../media/image68.wmf"/><Relationship Id="rId5" Type="http://schemas.openxmlformats.org/officeDocument/2006/relationships/tags" Target="../tags/tag134.xml"/><Relationship Id="rId10" Type="http://schemas.openxmlformats.org/officeDocument/2006/relationships/image" Target="../media/image6.png"/><Relationship Id="rId4" Type="http://schemas.openxmlformats.org/officeDocument/2006/relationships/tags" Target="../tags/tag133.xml"/><Relationship Id="rId9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image" Target="../media/image70.wmf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oleObject" Target="../embeddings/oleObject59.bin"/><Relationship Id="rId2" Type="http://schemas.openxmlformats.org/officeDocument/2006/relationships/tags" Target="../tags/tag137.xml"/><Relationship Id="rId1" Type="http://schemas.openxmlformats.org/officeDocument/2006/relationships/vmlDrawing" Target="../drawings/vmlDrawing20.vml"/><Relationship Id="rId6" Type="http://schemas.openxmlformats.org/officeDocument/2006/relationships/tags" Target="../tags/tag141.xml"/><Relationship Id="rId11" Type="http://schemas.openxmlformats.org/officeDocument/2006/relationships/image" Target="../media/image6.png"/><Relationship Id="rId5" Type="http://schemas.openxmlformats.org/officeDocument/2006/relationships/tags" Target="../tags/tag140.xml"/><Relationship Id="rId10" Type="http://schemas.openxmlformats.org/officeDocument/2006/relationships/slideLayout" Target="../slideLayouts/slideLayout44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13" Type="http://schemas.openxmlformats.org/officeDocument/2006/relationships/tags" Target="../tags/tag157.xml"/><Relationship Id="rId18" Type="http://schemas.openxmlformats.org/officeDocument/2006/relationships/tags" Target="../tags/tag162.xml"/><Relationship Id="rId3" Type="http://schemas.openxmlformats.org/officeDocument/2006/relationships/tags" Target="../tags/tag147.xml"/><Relationship Id="rId21" Type="http://schemas.openxmlformats.org/officeDocument/2006/relationships/image" Target="../media/image6.png"/><Relationship Id="rId7" Type="http://schemas.openxmlformats.org/officeDocument/2006/relationships/tags" Target="../tags/tag151.xml"/><Relationship Id="rId12" Type="http://schemas.openxmlformats.org/officeDocument/2006/relationships/tags" Target="../tags/tag156.xml"/><Relationship Id="rId17" Type="http://schemas.openxmlformats.org/officeDocument/2006/relationships/tags" Target="../tags/tag161.xml"/><Relationship Id="rId2" Type="http://schemas.openxmlformats.org/officeDocument/2006/relationships/tags" Target="../tags/tag146.xml"/><Relationship Id="rId16" Type="http://schemas.openxmlformats.org/officeDocument/2006/relationships/tags" Target="../tags/tag160.xml"/><Relationship Id="rId20" Type="http://schemas.openxmlformats.org/officeDocument/2006/relationships/slideLayout" Target="../slideLayouts/slideLayout44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tags" Target="../tags/tag155.xml"/><Relationship Id="rId5" Type="http://schemas.openxmlformats.org/officeDocument/2006/relationships/tags" Target="../tags/tag149.xml"/><Relationship Id="rId15" Type="http://schemas.openxmlformats.org/officeDocument/2006/relationships/tags" Target="../tags/tag159.xml"/><Relationship Id="rId10" Type="http://schemas.openxmlformats.org/officeDocument/2006/relationships/tags" Target="../tags/tag154.xml"/><Relationship Id="rId19" Type="http://schemas.openxmlformats.org/officeDocument/2006/relationships/tags" Target="../tags/tag163.xml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tags" Target="../tags/tag15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oleObject" Target="../embeddings/oleObject63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81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3.e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85.emf"/><Relationship Id="rId4" Type="http://schemas.openxmlformats.org/officeDocument/2006/relationships/image" Target="../media/image82.emf"/><Relationship Id="rId9" Type="http://schemas.openxmlformats.org/officeDocument/2006/relationships/oleObject" Target="../embeddings/oleObject6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image" Target="../media/image6.png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slide" Target="slide1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16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89.emf"/><Relationship Id="rId4" Type="http://schemas.openxmlformats.org/officeDocument/2006/relationships/image" Target="../media/image86.emf"/><Relationship Id="rId9" Type="http://schemas.openxmlformats.org/officeDocument/2006/relationships/oleObject" Target="../embeddings/oleObject72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/><Relationship Id="rId13" Type="http://schemas.openxmlformats.org/officeDocument/2006/relationships/slide" Target="slide1.xml"/><Relationship Id="rId3" Type="http://schemas.openxmlformats.org/officeDocument/2006/relationships/tags" Target="../tags/tag176.xml"/><Relationship Id="rId7" Type="http://schemas.openxmlformats.org/officeDocument/2006/relationships/tags" Target="../tags/tag180.xml"/><Relationship Id="rId12" Type="http://schemas.openxmlformats.org/officeDocument/2006/relationships/slideLayout" Target="../slideLayouts/slideLayout44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1" Type="http://schemas.openxmlformats.org/officeDocument/2006/relationships/tags" Target="../tags/tag184.xml"/><Relationship Id="rId5" Type="http://schemas.openxmlformats.org/officeDocument/2006/relationships/tags" Target="../tags/tag178.xml"/><Relationship Id="rId10" Type="http://schemas.openxmlformats.org/officeDocument/2006/relationships/tags" Target="../tags/tag183.xml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image" Target="../media/image91.wmf"/><Relationship Id="rId3" Type="http://schemas.openxmlformats.org/officeDocument/2006/relationships/tags" Target="../tags/tag186.xml"/><Relationship Id="rId7" Type="http://schemas.openxmlformats.org/officeDocument/2006/relationships/slideLayout" Target="../slideLayouts/slideLayout44.xml"/><Relationship Id="rId12" Type="http://schemas.openxmlformats.org/officeDocument/2006/relationships/oleObject" Target="../embeddings/oleObject74.bin"/><Relationship Id="rId2" Type="http://schemas.openxmlformats.org/officeDocument/2006/relationships/tags" Target="../tags/tag185.xml"/><Relationship Id="rId1" Type="http://schemas.openxmlformats.org/officeDocument/2006/relationships/vmlDrawing" Target="../drawings/vmlDrawing25.vml"/><Relationship Id="rId6" Type="http://schemas.openxmlformats.org/officeDocument/2006/relationships/tags" Target="../tags/tag189.xml"/><Relationship Id="rId11" Type="http://schemas.openxmlformats.org/officeDocument/2006/relationships/image" Target="../media/image90.wmf"/><Relationship Id="rId5" Type="http://schemas.openxmlformats.org/officeDocument/2006/relationships/tags" Target="../tags/tag188.xml"/><Relationship Id="rId10" Type="http://schemas.openxmlformats.org/officeDocument/2006/relationships/oleObject" Target="../embeddings/oleObject73.bin"/><Relationship Id="rId4" Type="http://schemas.openxmlformats.org/officeDocument/2006/relationships/tags" Target="../tags/tag187.xml"/><Relationship Id="rId9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oleObject" Target="../embeddings/oleObject77.bin"/><Relationship Id="rId3" Type="http://schemas.openxmlformats.org/officeDocument/2006/relationships/tags" Target="../tags/tag191.xml"/><Relationship Id="rId7" Type="http://schemas.openxmlformats.org/officeDocument/2006/relationships/slide" Target="slide1.xml"/><Relationship Id="rId12" Type="http://schemas.openxmlformats.org/officeDocument/2006/relationships/image" Target="../media/image93.wmf"/><Relationship Id="rId2" Type="http://schemas.openxmlformats.org/officeDocument/2006/relationships/tags" Target="../tags/tag190.xml"/><Relationship Id="rId16" Type="http://schemas.openxmlformats.org/officeDocument/2006/relationships/image" Target="../media/image95.wmf"/><Relationship Id="rId1" Type="http://schemas.openxmlformats.org/officeDocument/2006/relationships/vmlDrawing" Target="../drawings/vmlDrawing26.vml"/><Relationship Id="rId6" Type="http://schemas.openxmlformats.org/officeDocument/2006/relationships/slideLayout" Target="../slideLayouts/slideLayout44.xml"/><Relationship Id="rId11" Type="http://schemas.openxmlformats.org/officeDocument/2006/relationships/oleObject" Target="../embeddings/oleObject76.bin"/><Relationship Id="rId5" Type="http://schemas.openxmlformats.org/officeDocument/2006/relationships/tags" Target="../tags/tag193.xml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92.wmf"/><Relationship Id="rId4" Type="http://schemas.openxmlformats.org/officeDocument/2006/relationships/tags" Target="../tags/tag192.xml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9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5" Type="http://schemas.openxmlformats.org/officeDocument/2006/relationships/image" Target="../media/image6.png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/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267585" y="44768"/>
            <a:ext cx="510857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第二章  矩阵及其运算</a:t>
            </a:r>
          </a:p>
        </p:txBody>
      </p:sp>
      <p:sp>
        <p:nvSpPr>
          <p:cNvPr id="14" name="Text Box 4103">
            <a:hlinkClick r:id="rId3" action="ppaction://hlinksldjump" highlightClick="1"/>
            <a:hlinkHover r:id="" action="ppaction://macro?name=Macro1" highlightClick="1"/>
          </p:cNvPr>
          <p:cNvSpPr txBox="1">
            <a:spLocks noChangeArrowheads="1"/>
          </p:cNvSpPr>
          <p:nvPr/>
        </p:nvSpPr>
        <p:spPr bwMode="auto">
          <a:xfrm>
            <a:off x="2772410" y="1988820"/>
            <a:ext cx="3864610" cy="645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§2.2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矩阵的运算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50" y="0"/>
            <a:ext cx="1008112" cy="771926"/>
          </a:xfrm>
          <a:prstGeom prst="rect">
            <a:avLst/>
          </a:prstGeom>
        </p:spPr>
      </p:pic>
    </p:spTree>
  </p:cSld>
  <p:clrMapOvr>
    <a:masterClrMapping/>
  </p:clrMapOvr>
  <p:transition spd="slow"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3"/>
          <p:cNvSpPr>
            <a:spLocks noChangeArrowheads="1"/>
          </p:cNvSpPr>
          <p:nvPr/>
        </p:nvSpPr>
        <p:spPr bwMode="auto">
          <a:xfrm>
            <a:off x="683895" y="1484313"/>
            <a:ext cx="7835265" cy="2115820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矩阵是一个数表，如果加上运算，将能解决更多的问题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楷体_GB2312" panose="02010609030101010101" charset="-122"/>
            </a:endParaRPr>
          </a:p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Arial" panose="020B0604020202020204" pitchFamily="34" charset="0"/>
              </a:rPr>
              <a:t>本节讨论矩阵的运算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anose="02010609030101010101" charset="-122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通过实例得到矩阵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加法的定义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611188" y="698500"/>
            <a:ext cx="8001000" cy="22879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接上一节引例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甲企业第一季度生产各产品的数量用矩阵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甲企业第一季度各产品的数量生产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用矩阵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" y="836930"/>
            <a:ext cx="182943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2.3</a:t>
            </a:r>
          </a:p>
        </p:txBody>
      </p:sp>
      <p:graphicFrame>
        <p:nvGraphicFramePr>
          <p:cNvPr id="5" name="对象 -214748262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22275" y="3068638"/>
          <a:ext cx="4027488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10" imgW="42976800" imgH="17068800" progId="Equation.DSMT4">
                  <p:embed/>
                </p:oleObj>
              </mc:Choice>
              <mc:Fallback>
                <p:oleObj name="Equation" r:id="rId10" imgW="42976800" imgH="17068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2275" y="3068638"/>
                        <a:ext cx="4027488" cy="160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624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4686300" y="3068638"/>
          <a:ext cx="405606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12" imgW="43281600" imgH="17068800" progId="Equation.DSMT4">
                  <p:embed/>
                </p:oleObj>
              </mc:Choice>
              <mc:Fallback>
                <p:oleObj name="Equation" r:id="rId12" imgW="43281600" imgH="17068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86300" y="3068638"/>
                        <a:ext cx="4056063" cy="160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"/>
          <p:cNvSpPr txBox="1"/>
          <p:nvPr>
            <p:custDataLst>
              <p:tags r:id="rId6"/>
            </p:custDataLst>
          </p:nvPr>
        </p:nvSpPr>
        <p:spPr>
          <a:xfrm>
            <a:off x="323533" y="4797425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求此两个企业上第一季度生产各产品的数量之和.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9" grpId="0" build="p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通过实例得到矩阵加法的定义</a:t>
            </a: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518160" y="805815"/>
            <a:ext cx="8197850" cy="17710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解：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两个企业上第一季度生产各产品的数量之和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用矩阵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" y="836930"/>
            <a:ext cx="18859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2.3</a:t>
            </a:r>
          </a:p>
        </p:txBody>
      </p:sp>
      <p:sp>
        <p:nvSpPr>
          <p:cNvPr id="9" name="Text Box 2"/>
          <p:cNvSpPr txBox="1"/>
          <p:nvPr>
            <p:custDataLst>
              <p:tags r:id="rId4"/>
            </p:custDataLst>
          </p:nvPr>
        </p:nvSpPr>
        <p:spPr>
          <a:xfrm>
            <a:off x="539433" y="6171565"/>
            <a:ext cx="8001000" cy="57656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称矩阵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为矩阵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与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的和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。</a:t>
            </a: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9750" y="2561908"/>
          <a:ext cx="8082915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8" imgW="78028800" imgH="34137600" progId="Equation.DSMT4">
                  <p:embed/>
                </p:oleObj>
              </mc:Choice>
              <mc:Fallback>
                <p:oleObj name="Equation" r:id="rId8" imgW="78028800" imgH="34137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9750" y="2561908"/>
                        <a:ext cx="8082915" cy="353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9" grpId="0" build="p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矩阵的加法的定义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55650" y="1031875"/>
            <a:ext cx="182118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2.2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22170" y="1052830"/>
            <a:ext cx="6791325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＝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en-US" altLang="zh-CN" sz="2800" b="1" i="1" kern="1200" cap="none" spc="0" normalizeH="0" baseline="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＝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en-US" altLang="zh-CN" sz="2800" b="1" i="1" kern="1200" cap="none" spc="0" normalizeH="0" baseline="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两个</a:t>
            </a:r>
            <a:endParaRPr lang="zh-CN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475" name="Rectangle 19"/>
          <p:cNvSpPr/>
          <p:nvPr>
            <p:custDataLst>
              <p:tags r:id="rId2"/>
            </p:custDataLst>
          </p:nvPr>
        </p:nvSpPr>
        <p:spPr>
          <a:xfrm>
            <a:off x="683895" y="2570480"/>
            <a:ext cx="64770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矩阵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与矩阵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的和</a:t>
            </a:r>
            <a:r>
              <a:rPr lang="zh-CN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记为</a:t>
            </a:r>
            <a:r>
              <a:rPr lang="zh-CN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．</a:t>
            </a:r>
          </a:p>
        </p:txBody>
      </p:sp>
      <p:sp>
        <p:nvSpPr>
          <p:cNvPr id="19476" name="Rectangle 20"/>
          <p:cNvSpPr/>
          <p:nvPr>
            <p:custDataLst>
              <p:tags r:id="rId3"/>
            </p:custDataLst>
          </p:nvPr>
        </p:nvSpPr>
        <p:spPr>
          <a:xfrm>
            <a:off x="683895" y="1875155"/>
            <a:ext cx="822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同型矩阵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称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ij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+ b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m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</a:p>
        </p:txBody>
      </p:sp>
      <p:sp>
        <p:nvSpPr>
          <p:cNvPr id="19477" name="Line 21"/>
          <p:cNvSpPr/>
          <p:nvPr>
            <p:custDataLst>
              <p:tags r:id="rId4"/>
            </p:custDataLst>
          </p:nvPr>
        </p:nvSpPr>
        <p:spPr>
          <a:xfrm>
            <a:off x="828040" y="2440940"/>
            <a:ext cx="1366838" cy="0"/>
          </a:xfrm>
          <a:prstGeom prst="line">
            <a:avLst/>
          </a:prstGeom>
          <a:ln w="635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78" name="Line 22"/>
          <p:cNvSpPr/>
          <p:nvPr>
            <p:custDataLst>
              <p:tags r:id="rId5"/>
            </p:custDataLst>
          </p:nvPr>
        </p:nvSpPr>
        <p:spPr>
          <a:xfrm>
            <a:off x="4644390" y="2421255"/>
            <a:ext cx="2665413" cy="0"/>
          </a:xfrm>
          <a:prstGeom prst="line">
            <a:avLst/>
          </a:prstGeom>
          <a:ln w="635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70" name="Rectangle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0380" y="4668520"/>
            <a:ext cx="3505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 - 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+ (-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 .</a:t>
            </a:r>
          </a:p>
        </p:txBody>
      </p:sp>
      <p:sp>
        <p:nvSpPr>
          <p:cNvPr id="19471" name="Rectangle 15"/>
          <p:cNvSpPr/>
          <p:nvPr>
            <p:custDataLst>
              <p:tags r:id="rId7"/>
            </p:custDataLst>
          </p:nvPr>
        </p:nvSpPr>
        <p:spPr>
          <a:xfrm>
            <a:off x="500380" y="3976370"/>
            <a:ext cx="855663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阵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19472" name="Rectangle 16"/>
          <p:cNvSpPr/>
          <p:nvPr>
            <p:custDataLst>
              <p:tags r:id="rId8"/>
            </p:custDataLst>
          </p:nvPr>
        </p:nvSpPr>
        <p:spPr>
          <a:xfrm>
            <a:off x="1109980" y="4030345"/>
            <a:ext cx="38465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显然有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+ (-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</a:p>
        </p:txBody>
      </p:sp>
      <p:sp>
        <p:nvSpPr>
          <p:cNvPr id="19473" name="Rectangle 1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577080" y="3954145"/>
            <a:ext cx="39243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由此可定义矩阵的</a:t>
            </a:r>
            <a:r>
              <a:rPr kumimoji="1" lang="zh-CN" altLang="zh-CN" sz="3200" b="1" i="0" u="none" strike="noStrike" kern="1200" cap="none" spc="0" normalizeH="0" baseline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减法</a:t>
            </a:r>
          </a:p>
        </p:txBody>
      </p:sp>
      <p:sp>
        <p:nvSpPr>
          <p:cNvPr id="19474" name="Rectangle 18"/>
          <p:cNvSpPr/>
          <p:nvPr>
            <p:custDataLst>
              <p:tags r:id="rId10"/>
            </p:custDataLst>
          </p:nvPr>
        </p:nvSpPr>
        <p:spPr>
          <a:xfrm>
            <a:off x="1187768" y="3279458"/>
            <a:ext cx="72548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若记</a:t>
            </a:r>
            <a:r>
              <a:rPr lang="zh-CN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-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= ( 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 ,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则称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为矩阵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负矩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9" grpId="0" uiExpand="1" build="p"/>
      <p:bldP spid="19475" grpId="0" build="p" advAuto="1000"/>
      <p:bldP spid="19476" grpId="0" build="p" advAuto="1000"/>
      <p:bldP spid="19470" grpId="0" uiExpand="1" build="p" advAuto="1000"/>
      <p:bldP spid="19471" grpId="0" build="p" advAuto="1000"/>
      <p:bldP spid="19472" grpId="0" build="p"/>
      <p:bldP spid="19473" grpId="0" uiExpand="1" build="p"/>
      <p:bldP spid="1947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矩阵的加法的定义</a:t>
            </a:r>
          </a:p>
        </p:txBody>
      </p:sp>
      <p:sp>
        <p:nvSpPr>
          <p:cNvPr id="3174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188" y="956945"/>
            <a:ext cx="8077200" cy="31997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运算规律：</a:t>
            </a:r>
            <a:endParaRPr kumimoji="1" lang="zh-CN" altLang="en-US" sz="3200" b="1" kern="1200" cap="none" spc="0" normalizeH="0" baseline="0" noProof="0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为同型矩阵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 </a:t>
            </a:r>
            <a:r>
              <a:rPr kumimoji="1" lang="en-US" altLang="zh-CN" sz="2800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(1)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 + B = B + 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( </a:t>
            </a: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加法交换律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 ;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kumimoji="1" lang="en-US" altLang="zh-CN" sz="2800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(2)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(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 + B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) +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+ (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 + C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) (</a:t>
            </a: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加法结合律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);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</a:t>
            </a:r>
            <a:r>
              <a:rPr kumimoji="1" lang="en-US" altLang="zh-CN" sz="2800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(3)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+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O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O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+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</a:p>
        </p:txBody>
      </p:sp>
      <p:sp>
        <p:nvSpPr>
          <p:cNvPr id="31747" name="Rectangle 3"/>
          <p:cNvSpPr/>
          <p:nvPr>
            <p:custDataLst>
              <p:tags r:id="rId2"/>
            </p:custDataLst>
          </p:nvPr>
        </p:nvSpPr>
        <p:spPr>
          <a:xfrm>
            <a:off x="1165225" y="4941570"/>
            <a:ext cx="34083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(4)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+ ( 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)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.</a:t>
            </a:r>
          </a:p>
        </p:txBody>
      </p:sp>
      <p:sp>
        <p:nvSpPr>
          <p:cNvPr id="31748" name="Rectangle 4"/>
          <p:cNvSpPr/>
          <p:nvPr>
            <p:custDataLst>
              <p:tags r:id="rId3"/>
            </p:custDataLst>
          </p:nvPr>
        </p:nvSpPr>
        <p:spPr>
          <a:xfrm>
            <a:off x="1835468" y="4292918"/>
            <a:ext cx="426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其中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是与</a:t>
            </a:r>
            <a:r>
              <a:rPr lang="zh-CN" altLang="en-US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同型矩阵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/>
      <p:bldP spid="31747" grpId="0" build="p"/>
      <p:bldP spid="31748" grpId="0" build="p" advAuto="100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160" y="163830"/>
            <a:ext cx="78498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通过实例得到数与矩阵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乘法的定义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611188" y="698500"/>
            <a:ext cx="8001000" cy="22879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接引例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2.3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，已知某企业上半年生产各产品的数量用矩阵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 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表示，求此企业上半年每季度生产各产品的平均数量。</a:t>
            </a: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" y="836930"/>
            <a:ext cx="181038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2.4</a:t>
            </a: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016318" y="3141345"/>
          <a:ext cx="7334885" cy="2629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8" imgW="85039200" imgH="30480000" progId="Equation.DSMT4">
                  <p:embed/>
                </p:oleObj>
              </mc:Choice>
              <mc:Fallback>
                <p:oleObj name="Equation" r:id="rId8" imgW="85039200" imgH="304800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6318" y="3141345"/>
                        <a:ext cx="7334885" cy="2629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数与矩阵乘法的定义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650" y="1031875"/>
            <a:ext cx="175450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2.3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22170" y="1052830"/>
            <a:ext cx="6765925" cy="1229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 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＝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en-US" altLang="zh-CN" sz="2800" b="1" i="1" kern="1200" cap="none" spc="0" normalizeH="0" baseline="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kern="1200" cap="none" spc="0" normalizeH="0" baseline="-25000" noProof="0" dirty="0" err="1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k 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是一个数</a:t>
            </a:r>
            <a:r>
              <a:rPr lang="en-US" altLang="zh-CN" b="1" dirty="0">
                <a:ea typeface="华文中宋" panose="02010600040101010101" pitchFamily="2" charset="-122"/>
                <a:sym typeface="+mn-ea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则称矩阵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zh-CN" sz="2800" b="1" kern="1200" cap="none" spc="0" normalizeH="0" baseline="0" noProof="0" dirty="0"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187291" y="2017713"/>
          <a:ext cx="669417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9" imgW="55778400" imgH="22555200" progId="Equation.DSMT4">
                  <p:embed/>
                </p:oleObj>
              </mc:Choice>
              <mc:Fallback>
                <p:oleObj name="Equation" r:id="rId9" imgW="55778400" imgH="22555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291" y="2017713"/>
                        <a:ext cx="6694170" cy="2590800"/>
                      </a:xfrm>
                      <a:prstGeom prst="rect">
                        <a:avLst/>
                      </a:prstGeom>
                      <a:noFill/>
                      <a:ln w="25400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6"/>
          <p:cNvSpPr txBox="1"/>
          <p:nvPr>
            <p:custDataLst>
              <p:tags r:id="rId5"/>
            </p:custDataLst>
          </p:nvPr>
        </p:nvSpPr>
        <p:spPr>
          <a:xfrm>
            <a:off x="755650" y="5084763"/>
            <a:ext cx="7848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为数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与矩阵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数量乘积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简称数乘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记为</a:t>
            </a:r>
            <a:r>
              <a:rPr lang="zh-CN" altLang="en-US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kA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9" grpId="0" uiExpand="1" build="p"/>
      <p:bldP spid="34822" grpId="0" build="p" advAuto="100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数与矩阵乘法的定义</a:t>
            </a:r>
          </a:p>
        </p:txBody>
      </p:sp>
      <p:sp>
        <p:nvSpPr>
          <p:cNvPr id="3174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188" y="956945"/>
            <a:ext cx="807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运算规律：</a:t>
            </a:r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687705" y="1630045"/>
            <a:ext cx="79248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为同型矩阵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k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t 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为常数，则</a:t>
            </a:r>
          </a:p>
        </p:txBody>
      </p:sp>
      <p:sp>
        <p:nvSpPr>
          <p:cNvPr id="38915" name="Rectangle 3"/>
          <p:cNvSpPr/>
          <p:nvPr>
            <p:custDataLst>
              <p:tags r:id="rId2"/>
            </p:custDataLst>
          </p:nvPr>
        </p:nvSpPr>
        <p:spPr>
          <a:xfrm>
            <a:off x="1524000" y="2493963"/>
            <a:ext cx="4572000" cy="2443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(1)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lang="en-US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1800" b="1" dirty="0"/>
              <a:t>●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tA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 = 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kt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(3)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 + 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 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kA + kB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(4) 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k + t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kA + tA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. </a:t>
            </a:r>
          </a:p>
        </p:txBody>
      </p:sp>
      <p:sp>
        <p:nvSpPr>
          <p:cNvPr id="38921" name="AutoShape 9"/>
          <p:cNvSpPr/>
          <p:nvPr>
            <p:custDataLst>
              <p:tags r:id="rId3"/>
            </p:custDataLst>
          </p:nvPr>
        </p:nvSpPr>
        <p:spPr>
          <a:xfrm>
            <a:off x="5580063" y="2925763"/>
            <a:ext cx="2879725" cy="720725"/>
          </a:xfrm>
          <a:prstGeom prst="wedgeRoundRectCallout">
            <a:avLst>
              <a:gd name="adj1" fmla="val -45644"/>
              <a:gd name="adj2" fmla="val 70046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33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你能证明吗？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/>
      <p:bldP spid="38914" grpId="0" animBg="1"/>
      <p:bldP spid="38914" grpId="1" animBg="1"/>
      <p:bldP spid="38915" grpId="0" build="p"/>
      <p:bldP spid="3892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349D46-EF2B-C849-9326-054B290ED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8532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lang="zh-CN" altLang="en-US" b="1" dirty="0">
                <a:solidFill>
                  <a:schemeClr val="tx1"/>
                </a:solidFill>
                <a:latin typeface="+mn-lt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</a:t>
            </a:r>
            <a:r>
              <a:rPr lang="zh-CN" altLang="en-US" sz="3200" b="1" dirty="0">
                <a:solidFill>
                  <a:srgbClr val="FFFF00"/>
                </a:solidFill>
                <a:ea typeface="宋体" panose="02010600030101010101" pitchFamily="2" charset="-122"/>
              </a:rPr>
              <a:t>                                         </a:t>
            </a:r>
            <a:r>
              <a:rPr lang="en-US" altLang="zh-CN" sz="2800" b="1" dirty="0">
                <a:solidFill>
                  <a:srgbClr val="FFFF00"/>
                </a:solidFill>
                <a:ea typeface="宋体" panose="02010600030101010101" pitchFamily="2" charset="-122"/>
              </a:rPr>
              <a:t>, 3</a:t>
            </a:r>
            <a:r>
              <a:rPr lang="en-US" altLang="zh-CN" sz="2800" b="1" i="1" dirty="0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FFFF00"/>
                </a:solidFill>
                <a:ea typeface="宋体" panose="02010600030101010101" pitchFamily="2" charset="-122"/>
              </a:rPr>
              <a:t>=2(</a:t>
            </a:r>
            <a:r>
              <a:rPr lang="en-US" altLang="zh-CN" sz="2800" b="1" i="1" dirty="0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FFFF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solidFill>
                  <a:srgbClr val="FFFF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FFFF00"/>
                </a:solidFill>
                <a:ea typeface="宋体" panose="02010600030101010101" pitchFamily="2" charset="-122"/>
              </a:rPr>
              <a:t>) ,</a:t>
            </a:r>
            <a:r>
              <a:rPr lang="zh-CN" altLang="en-US" sz="2800" b="1" dirty="0">
                <a:solidFill>
                  <a:srgbClr val="FFFF00"/>
                </a:solidFill>
                <a:ea typeface="楷体_GB2312" panose="02010609030101010101" pitchFamily="49" charset="-122"/>
              </a:rPr>
              <a:t>求</a:t>
            </a:r>
            <a:r>
              <a:rPr lang="en-US" altLang="zh-CN" sz="2800" b="1" i="1" dirty="0">
                <a:solidFill>
                  <a:srgbClr val="FFFF00"/>
                </a:solidFill>
                <a:ea typeface="宋体" panose="02010600030101010101" pitchFamily="2" charset="-122"/>
              </a:rPr>
              <a:t>X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DBDF5AF0-E265-714B-AD6B-D25089092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620713"/>
          <a:ext cx="41052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3" name="Equation" r:id="rId3" imgW="51206400" imgH="10528300" progId="Equation.DSMT4">
                  <p:embed/>
                </p:oleObj>
              </mc:Choice>
              <mc:Fallback>
                <p:oleObj name="Equation" r:id="rId3" imgW="51206400" imgH="10528300" progId="Equation.DSMT4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419C7DFC-F2FD-6440-8D5B-0FE89F3F2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620713"/>
                        <a:ext cx="410527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13C3E01-7865-7745-A4AD-9D3C91818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773238"/>
          <a:ext cx="3381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" name="Equation" r:id="rId5" imgW="3505200" imgH="9067800" progId="Equation.DSMT4">
                  <p:embed/>
                </p:oleObj>
              </mc:Choice>
              <mc:Fallback>
                <p:oleObj name="Equation" r:id="rId5" imgW="3505200" imgH="9067800" progId="Equation.DSMT4">
                  <p:embed/>
                  <p:pic>
                    <p:nvPicPr>
                      <p:cNvPr id="153604" name="Object 4">
                        <a:extLst>
                          <a:ext uri="{FF2B5EF4-FFF2-40B4-BE49-F238E27FC236}">
                            <a16:creationId xmlns:a16="http://schemas.microsoft.com/office/drawing/2014/main" id="{CEC88F6C-67AC-DD46-8510-A1898BB2A3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773238"/>
                        <a:ext cx="33813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087F098B-1E06-404E-8591-3EE6BCDB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89138"/>
            <a:ext cx="4391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ea typeface="楷体_GB2312" panose="02010609030101010101" pitchFamily="49" charset="-122"/>
              </a:rPr>
              <a:t>解：</a:t>
            </a:r>
            <a:r>
              <a:rPr lang="zh-CN" altLang="en-US" sz="3200" b="1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=       (3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chemeClr val="tx1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sz="3200" b="1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7CC25D4-7061-E744-84B9-6F9B95893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852738"/>
          <a:ext cx="42116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name="Equation" r:id="rId7" imgW="50609500" imgH="11112500" progId="Equation.DSMT4">
                  <p:embed/>
                </p:oleObj>
              </mc:Choice>
              <mc:Fallback>
                <p:oleObj name="Equation" r:id="rId7" imgW="50609500" imgH="11112500" progId="Equation.DSMT4">
                  <p:embed/>
                  <p:pic>
                    <p:nvPicPr>
                      <p:cNvPr id="153606" name="Object 6">
                        <a:extLst>
                          <a:ext uri="{FF2B5EF4-FFF2-40B4-BE49-F238E27FC236}">
                            <a16:creationId xmlns:a16="http://schemas.microsoft.com/office/drawing/2014/main" id="{3D64095E-1406-C841-BD12-6D640ED122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4211637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3E2B7913-15E5-4243-8E93-059B4C875F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437063"/>
          <a:ext cx="28082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Equation" r:id="rId9" imgW="28968700" imgH="10528300" progId="Equation.DSMT4">
                  <p:embed/>
                </p:oleObj>
              </mc:Choice>
              <mc:Fallback>
                <p:oleObj name="Equation" r:id="rId9" imgW="28968700" imgH="10528300" progId="Equation.DSMT4">
                  <p:embed/>
                  <p:pic>
                    <p:nvPicPr>
                      <p:cNvPr id="153607" name="Object 7">
                        <a:extLst>
                          <a:ext uri="{FF2B5EF4-FFF2-40B4-BE49-F238E27FC236}">
                            <a16:creationId xmlns:a16="http://schemas.microsoft.com/office/drawing/2014/main" id="{11A42C64-E3AF-8049-A474-CA237AE78F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437063"/>
                        <a:ext cx="2808287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14D50451-8687-3E4C-BF27-8F68A1F3E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005263"/>
          <a:ext cx="2592387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Equation" r:id="rId11" imgW="27495500" imgH="19304000" progId="Equation.DSMT4">
                  <p:embed/>
                </p:oleObj>
              </mc:Choice>
              <mc:Fallback>
                <p:oleObj name="Equation" r:id="rId11" imgW="27495500" imgH="19304000" progId="Equation.DSMT4">
                  <p:embed/>
                  <p:pic>
                    <p:nvPicPr>
                      <p:cNvPr id="153608" name="Object 8">
                        <a:extLst>
                          <a:ext uri="{FF2B5EF4-FFF2-40B4-BE49-F238E27FC236}">
                            <a16:creationId xmlns:a16="http://schemas.microsoft.com/office/drawing/2014/main" id="{525556B1-3917-FC4D-96C3-6554ACA6E8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005263"/>
                        <a:ext cx="2592387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83201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矩阵的乘法</a:t>
            </a: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611188" y="698500"/>
            <a:ext cx="8001000" cy="1254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设某企业第一季度各月份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生产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Ⅰ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Ⅱ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Ⅲ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0678" name="Rectangle 22"/>
          <p:cNvSpPr/>
          <p:nvPr>
            <p:custDataLst>
              <p:tags r:id="rId3"/>
            </p:custDataLst>
          </p:nvPr>
        </p:nvSpPr>
        <p:spPr>
          <a:xfrm>
            <a:off x="467360" y="1917065"/>
            <a:ext cx="827532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Ⅳ  4 种产品.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矩阵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表示第一季度各月份生产各种产品的数量，矩阵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表示各种产品的单位价格（元）及单位利润（元），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求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企业第一季度各月份收入及利润.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160" y="836930"/>
            <a:ext cx="176466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2.5</a:t>
            </a: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680403" y="4509135"/>
          <a:ext cx="3802380" cy="186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Equation" r:id="rId10" imgW="46024800" imgH="22555200" progId="Equation.DSMT4">
                  <p:embed/>
                </p:oleObj>
              </mc:Choice>
              <mc:Fallback>
                <p:oleObj name="Equation" r:id="rId10" imgW="46024800" imgH="22555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0403" y="4509135"/>
                        <a:ext cx="3802380" cy="1864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135563" y="4593591"/>
          <a:ext cx="2265680" cy="2171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Equation" r:id="rId12" imgW="29260800" imgH="28041600" progId="Equation.DSMT4">
                  <p:embed/>
                </p:oleObj>
              </mc:Choice>
              <mc:Fallback>
                <p:oleObj name="Equation" r:id="rId12" imgW="29260800" imgH="28041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35563" y="4593591"/>
                        <a:ext cx="2265680" cy="2171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70678" grpId="0" build="p" advAuto="100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矩阵的乘法</a:t>
            </a:r>
          </a:p>
        </p:txBody>
      </p:sp>
      <p:sp>
        <p:nvSpPr>
          <p:cNvPr id="70678" name="Rectangle 22"/>
          <p:cNvSpPr/>
          <p:nvPr>
            <p:custDataLst>
              <p:tags r:id="rId2"/>
            </p:custDataLst>
          </p:nvPr>
        </p:nvSpPr>
        <p:spPr>
          <a:xfrm>
            <a:off x="1115695" y="1412875"/>
            <a:ext cx="8275320" cy="6735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设矩阵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为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企业第一季度各月份收入及利润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，则</a:t>
            </a: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" y="836930"/>
            <a:ext cx="173609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2.5</a:t>
            </a: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46088" y="2349500"/>
          <a:ext cx="841533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Equation" r:id="rId10" imgW="99669600" imgH="17068800" progId="Equation.DSMT4">
                  <p:embed/>
                </p:oleObj>
              </mc:Choice>
              <mc:Fallback>
                <p:oleObj name="Equation" r:id="rId10" imgW="99669600" imgH="17068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6088" y="2349500"/>
                        <a:ext cx="8415337" cy="144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598488" y="4149725"/>
          <a:ext cx="2408237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Equation" r:id="rId12" imgW="29260800" imgH="22555200" progId="Equation.DSMT4">
                  <p:embed/>
                </p:oleObj>
              </mc:Choice>
              <mc:Fallback>
                <p:oleObj name="Equation" r:id="rId12" imgW="29260800" imgH="22555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8488" y="4149725"/>
                        <a:ext cx="2408237" cy="197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2"/>
          <p:cNvSpPr/>
          <p:nvPr>
            <p:custDataLst>
              <p:tags r:id="rId6"/>
            </p:custDataLst>
          </p:nvPr>
        </p:nvSpPr>
        <p:spPr>
          <a:xfrm>
            <a:off x="3131820" y="4293235"/>
            <a:ext cx="5652135" cy="13234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这种由矩阵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,决定矩阵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C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的方法就称为矩阵的乘法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8" grpId="0" build="p" advAuto="1000"/>
      <p:bldP spid="5" grpId="0" build="p" advAuto="100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矩阵乘法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0385" y="888365"/>
            <a:ext cx="1225550" cy="580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324485" y="961390"/>
            <a:ext cx="8689975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2.4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其中</a:t>
            </a:r>
          </a:p>
        </p:txBody>
      </p:sp>
      <p:graphicFrame>
        <p:nvGraphicFramePr>
          <p:cNvPr id="139268" name="Object 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322388" y="1644650"/>
          <a:ext cx="2689225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Equation" r:id="rId17" imgW="33223200" imgH="29870400" progId="Equation.DSMT4">
                  <p:embed/>
                </p:oleObj>
              </mc:Choice>
              <mc:Fallback>
                <p:oleObj name="Equation" r:id="rId17" imgW="33223200" imgH="298704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>
                      <a:xfrm>
                        <a:off x="1322388" y="1644650"/>
                        <a:ext cx="2689225" cy="2419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225925" y="1860550"/>
          <a:ext cx="3060700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Equation" r:id="rId19" imgW="37795200" imgH="24384000" progId="Equation.DSMT4">
                  <p:embed/>
                </p:oleObj>
              </mc:Choice>
              <mc:Fallback>
                <p:oleObj name="Equation" r:id="rId19" imgW="37795200" imgH="243840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25925" y="1860550"/>
                        <a:ext cx="3060700" cy="197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901700" y="4017963"/>
          <a:ext cx="3494088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Equation" r:id="rId21" imgW="41452800" imgH="29870400" progId="Equation.DSMT4">
                  <p:embed/>
                </p:oleObj>
              </mc:Choice>
              <mc:Fallback>
                <p:oleObj name="Equation" r:id="rId21" imgW="41452800" imgH="298704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1700" y="4017963"/>
                        <a:ext cx="3494088" cy="2519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Rectangle 7"/>
          <p:cNvSpPr/>
          <p:nvPr>
            <p:custDataLst>
              <p:tags r:id="rId6"/>
            </p:custDataLst>
          </p:nvPr>
        </p:nvSpPr>
        <p:spPr>
          <a:xfrm>
            <a:off x="1433195" y="2640330"/>
            <a:ext cx="2447925" cy="504825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/>
          </a:p>
        </p:txBody>
      </p:sp>
      <p:sp>
        <p:nvSpPr>
          <p:cNvPr id="63496" name="Rectangle 8"/>
          <p:cNvSpPr/>
          <p:nvPr>
            <p:custDataLst>
              <p:tags r:id="rId7"/>
            </p:custDataLst>
          </p:nvPr>
        </p:nvSpPr>
        <p:spPr>
          <a:xfrm>
            <a:off x="5452745" y="1978343"/>
            <a:ext cx="576263" cy="17272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/>
          </a:p>
        </p:txBody>
      </p:sp>
      <p:sp>
        <p:nvSpPr>
          <p:cNvPr id="63497" name="Rectangle 9"/>
          <p:cNvSpPr/>
          <p:nvPr>
            <p:custDataLst>
              <p:tags r:id="rId8"/>
            </p:custDataLst>
          </p:nvPr>
        </p:nvSpPr>
        <p:spPr>
          <a:xfrm>
            <a:off x="2514283" y="5073968"/>
            <a:ext cx="431800" cy="43180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/>
          </a:p>
        </p:txBody>
      </p:sp>
      <p:sp>
        <p:nvSpPr>
          <p:cNvPr id="63498" name="Rectangle 10"/>
          <p:cNvSpPr/>
          <p:nvPr>
            <p:custDataLst>
              <p:tags r:id="rId9"/>
            </p:custDataLst>
          </p:nvPr>
        </p:nvSpPr>
        <p:spPr>
          <a:xfrm>
            <a:off x="5293995" y="5751830"/>
            <a:ext cx="3168650" cy="508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600" b="1" i="1" baseline="-30000" dirty="0">
                <a:latin typeface="Times New Roman" panose="02020603050405020304" pitchFamily="18" charset="0"/>
              </a:rPr>
              <a:t>j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600" b="1" i="1" baseline="-30000" dirty="0">
                <a:latin typeface="Times New Roman" panose="02020603050405020304" pitchFamily="18" charset="0"/>
              </a:rPr>
              <a:t>j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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-30000" dirty="0">
                <a:latin typeface="Times New Roman" panose="02020603050405020304" pitchFamily="18" charset="0"/>
              </a:rPr>
              <a:t>is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i="1" baseline="-30000" dirty="0">
                <a:latin typeface="Times New Roman" panose="02020603050405020304" pitchFamily="18" charset="0"/>
              </a:rPr>
              <a:t>sj </a:t>
            </a:r>
            <a:endParaRPr lang="en-US" altLang="zh-CN" sz="26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1"/>
          <p:cNvGrpSpPr/>
          <p:nvPr/>
        </p:nvGrpSpPr>
        <p:grpSpPr>
          <a:xfrm>
            <a:off x="5432108" y="3716655"/>
            <a:ext cx="2813050" cy="1746250"/>
            <a:chOff x="1059" y="2332"/>
            <a:chExt cx="1772" cy="1100"/>
          </a:xfrm>
        </p:grpSpPr>
        <p:sp>
          <p:nvSpPr>
            <p:cNvPr id="33805" name="Rectangle 12"/>
            <p:cNvSpPr/>
            <p:nvPr>
              <p:custDataLst>
                <p:tags r:id="rId11"/>
              </p:custDataLst>
            </p:nvPr>
          </p:nvSpPr>
          <p:spPr>
            <a:xfrm>
              <a:off x="1059" y="2722"/>
              <a:ext cx="1323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600" b="1" baseline="-30000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600" b="1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6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6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6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is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3806" name="Text Box 13"/>
            <p:cNvSpPr txBox="1"/>
            <p:nvPr>
              <p:custDataLst>
                <p:tags r:id="rId12"/>
              </p:custDataLst>
            </p:nvPr>
          </p:nvSpPr>
          <p:spPr>
            <a:xfrm>
              <a:off x="2566" y="2332"/>
              <a:ext cx="247" cy="11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b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1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j</a:t>
              </a:r>
              <a:endPara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  <a:p>
              <a:pPr marL="0" lvl="0" indent="0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b</a:t>
              </a:r>
              <a:r>
                <a:rPr lang="en-US" altLang="zh-CN" sz="2600" b="1" baseline="-25000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2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j</a:t>
              </a:r>
              <a:endPara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  <a:p>
              <a:pPr marL="0" lvl="0" indent="0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华文细黑" panose="02010600040101010101" pitchFamily="2" charset="-122"/>
                  <a:sym typeface="Symbol" panose="05050102010706020507" pitchFamily="18" charset="2"/>
                </a:rPr>
                <a:t></a:t>
              </a:r>
              <a:endPara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endParaRPr>
            </a:p>
            <a:p>
              <a:pPr marL="0" lvl="0" indent="0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b</a:t>
              </a:r>
              <a:r>
                <a:rPr lang="en-US" altLang="zh-CN" sz="2600" b="1" i="1" baseline="-25000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s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 </a:t>
              </a:r>
            </a:p>
          </p:txBody>
        </p:sp>
        <p:sp>
          <p:nvSpPr>
            <p:cNvPr id="33807" name="AutoShape 14"/>
            <p:cNvSpPr/>
            <p:nvPr>
              <p:custDataLst>
                <p:tags r:id="rId13"/>
              </p:custDataLst>
            </p:nvPr>
          </p:nvSpPr>
          <p:spPr>
            <a:xfrm>
              <a:off x="2459" y="2396"/>
              <a:ext cx="372" cy="982"/>
            </a:xfrm>
            <a:prstGeom prst="bracketPair">
              <a:avLst>
                <a:gd name="adj" fmla="val 9875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/>
            </a:p>
          </p:txBody>
        </p:sp>
      </p:grpSp>
      <p:sp>
        <p:nvSpPr>
          <p:cNvPr id="63503" name="Rectangle 15"/>
          <p:cNvSpPr/>
          <p:nvPr>
            <p:custDataLst>
              <p:tags r:id="rId10"/>
            </p:custDataLst>
          </p:nvPr>
        </p:nvSpPr>
        <p:spPr>
          <a:xfrm>
            <a:off x="4933633" y="4335780"/>
            <a:ext cx="447675" cy="4365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600" b="1" i="1" baseline="-30000" dirty="0">
                <a:latin typeface="Times New Roman" panose="02020603050405020304" pitchFamily="18" charset="0"/>
              </a:rPr>
              <a:t>ij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3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dvAuto="1000"/>
      <p:bldP spid="63495" grpId="0" bldLvl="0" animBg="1"/>
      <p:bldP spid="63496" grpId="0" bldLvl="0" animBg="1"/>
      <p:bldP spid="63497" grpId="0" bldLvl="0" animBg="1"/>
      <p:bldP spid="63498" grpId="0" build="p"/>
      <p:bldP spid="6350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矩阵乘法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0385" y="888365"/>
            <a:ext cx="184404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2.4</a:t>
            </a:r>
          </a:p>
        </p:txBody>
      </p:sp>
      <p:sp>
        <p:nvSpPr>
          <p:cNvPr id="63491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85495" y="961390"/>
            <a:ext cx="8229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×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86835" y="3332480"/>
            <a:ext cx="4648200" cy="5194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 dirty="0" err="1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= 1, 2, … , 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j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1, 2, …, 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endParaRPr kumimoji="1" lang="en-US" altLang="zh-CN" sz="2800" b="1" kern="1200" cap="none" spc="0" normalizeH="0" baseline="0" noProof="0" dirty="0">
              <a:effectLst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27088" y="4250055"/>
            <a:ext cx="66246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则称矩阵</a:t>
            </a:r>
            <a:r>
              <a:rPr kumimoji="1" lang="zh-CN" altLang="en-US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</a:t>
            </a:r>
            <a:r>
              <a:rPr kumimoji="1" lang="zh-CN" altLang="en-US" sz="28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矩阵 </a:t>
            </a:r>
            <a:r>
              <a:rPr kumimoji="1" lang="en-US" altLang="zh-CN" sz="2800" b="1" i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与矩阵 </a:t>
            </a:r>
            <a:r>
              <a:rPr kumimoji="1" lang="en-US" altLang="zh-CN" sz="2800" b="1" i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的乘积</a:t>
            </a:r>
            <a:r>
              <a:rPr kumimoji="1" lang="en-US" altLang="zh-CN" sz="28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</a:p>
        </p:txBody>
      </p:sp>
      <p:sp>
        <p:nvSpPr>
          <p:cNvPr id="9" name="Rectangle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27088" y="4873943"/>
            <a:ext cx="5029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记作                         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 = AB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.</a:t>
            </a:r>
          </a:p>
        </p:txBody>
      </p:sp>
      <p:sp>
        <p:nvSpPr>
          <p:cNvPr id="10" name="Rectangle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00113" y="2275205"/>
            <a:ext cx="49514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j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+ … +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ip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pj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63494" name="Object 6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471930" y="2945130"/>
          <a:ext cx="1989455" cy="115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12" imgW="749300" imgH="431800" progId="Equation.DSMT4">
                  <p:embed/>
                </p:oleObj>
              </mc:Choice>
              <mc:Fallback>
                <p:oleObj name="Equation" r:id="rId12" imgW="749300" imgH="4318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71930" y="2945130"/>
                        <a:ext cx="1989455" cy="1154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 advAuto="1000"/>
      <p:bldP spid="9" grpId="0" build="p" advAuto="1000"/>
      <p:bldP spid="10" grpId="0" build="p" advAuto="100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矩阵乘法</a:t>
            </a:r>
          </a:p>
        </p:txBody>
      </p:sp>
      <p:sp>
        <p:nvSpPr>
          <p:cNvPr id="11" name="Text Box 1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8160" y="1052830"/>
            <a:ext cx="80010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注意</a:t>
            </a:r>
            <a:r>
              <a:rPr kumimoji="1" lang="en-US" altLang="zh-CN" sz="32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:</a:t>
            </a:r>
            <a:r>
              <a:rPr kumimoji="1" lang="en-US" altLang="zh-CN" sz="2800" b="1" kern="1200" cap="none" spc="0" normalizeH="0" baseline="0" noProof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</a:t>
            </a:r>
            <a:r>
              <a:rPr kumimoji="1" lang="en-US" altLang="zh-CN" sz="2800" b="1" kern="1200" cap="none" spc="0" normalizeH="0" baseline="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（</a:t>
            </a:r>
            <a:r>
              <a:rPr kumimoji="1" lang="en-US" altLang="zh-CN" sz="2800" b="1" kern="1200" cap="none" spc="0" normalizeH="0" baseline="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2800" b="1" kern="1200" cap="none" spc="0" normalizeH="0" baseline="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）</a:t>
            </a:r>
            <a:r>
              <a:rPr kumimoji="1" lang="en-US" altLang="zh-CN" sz="2800" b="1" kern="1200" cap="none" spc="0" normalizeH="0" baseline="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只有当第一个矩阵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左矩阵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的列数</a:t>
            </a:r>
          </a:p>
        </p:txBody>
      </p:sp>
      <p:sp>
        <p:nvSpPr>
          <p:cNvPr id="12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9750" y="1636395"/>
            <a:ext cx="7978775" cy="13198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effectLst/>
                <a:ea typeface="华文中宋" panose="02010600040101010101" pitchFamily="2" charset="-122"/>
                <a:sym typeface="+mn-ea"/>
              </a:rPr>
              <a:t>等于第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二个矩阵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右矩阵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的行数时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两个矩阵才能相乘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.</a:t>
            </a:r>
          </a:p>
        </p:txBody>
      </p:sp>
      <p:sp>
        <p:nvSpPr>
          <p:cNvPr id="2" name="Rectangle 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40385" y="2997200"/>
            <a:ext cx="7978775" cy="13198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effectLst/>
                <a:ea typeface="华文中宋" panose="02010600040101010101" pitchFamily="2" charset="-122"/>
                <a:sym typeface="+mn-ea"/>
              </a:rPr>
              <a:t>（</a:t>
            </a:r>
            <a:r>
              <a:rPr lang="en-US" altLang="zh-CN" b="1" noProof="0" dirty="0">
                <a:effectLst/>
                <a:ea typeface="华文中宋" panose="02010600040101010101" pitchFamily="2" charset="-122"/>
                <a:sym typeface="+mn-ea"/>
              </a:rPr>
              <a:t>2</a:t>
            </a:r>
            <a:r>
              <a:rPr lang="zh-CN" altLang="en-US" b="1" noProof="0" dirty="0">
                <a:effectLst/>
                <a:ea typeface="华文中宋" panose="02010600040101010101" pitchFamily="2" charset="-122"/>
                <a:sym typeface="+mn-ea"/>
              </a:rPr>
              <a:t>）</a:t>
            </a:r>
            <a:r>
              <a:rPr b="1" noProof="0" dirty="0" err="1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乘积矩阵</a:t>
            </a:r>
            <a:r>
              <a:rPr lang="en-US" altLang="zh-CN" b="1" i="1" noProof="0" dirty="0" err="1">
                <a:effectLst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b="1" noProof="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</a:t>
            </a:r>
            <a:r>
              <a:rPr b="1" noProof="0" dirty="0" err="1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的行数等于左矩阵的行数，列数等于右矩阵的列数</a:t>
            </a:r>
            <a:r>
              <a:rPr lang="en-US" b="1" noProof="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build="p" advAuto="1000"/>
      <p:bldP spid="2" grpId="0" build="p" advAuto="10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矩阵乘法的计算</a:t>
            </a:r>
          </a:p>
        </p:txBody>
      </p:sp>
      <p:sp>
        <p:nvSpPr>
          <p:cNvPr id="2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119570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2.6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475105" y="964565"/>
            <a:ext cx="6257290" cy="2022475"/>
            <a:chOff x="2097" y="1519"/>
            <a:chExt cx="9854" cy="3185"/>
          </a:xfrm>
        </p:grpSpPr>
        <p:sp>
          <p:nvSpPr>
            <p:cNvPr id="64514" name="Text Box 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097" y="2018"/>
              <a:ext cx="1777" cy="8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dirty="0">
                  <a:latin typeface="Times New Roman" panose="02020603050405020304" pitchFamily="18" charset="0"/>
                  <a:ea typeface="华文中宋" panose="02010600040101010101" pitchFamily="2" charset="-122"/>
                  <a:cs typeface="+mn-cs"/>
                </a:rPr>
                <a:t> </a:t>
              </a:r>
              <a:r>
                <a:rPr kumimoji="1" lang="zh-CN" altLang="en-US" sz="2800" b="1" kern="1200" cap="none" spc="0" normalizeH="0" baseline="0" noProof="0" dirty="0">
                  <a:latin typeface="Times New Roman" panose="02020603050405020304" pitchFamily="18" charset="0"/>
                  <a:ea typeface="华文中宋" panose="02010600040101010101" pitchFamily="2" charset="-122"/>
                  <a:cs typeface="+mn-cs"/>
                </a:rPr>
                <a:t>设</a:t>
              </a:r>
            </a:p>
          </p:txBody>
        </p:sp>
        <p:graphicFrame>
          <p:nvGraphicFramePr>
            <p:cNvPr id="38915" name="Object 3">
              <a:hlinkClick r:id="" action="ppaction://ole?verb=0"/>
              <a:hlinkHover r:id="" action="ppaction://macro?name=Macro1"/>
            </p:cNvPr>
            <p:cNvGraphicFramePr>
              <a:graphicFrameLocks noChangeAspect="1"/>
            </p:cNvGraphicFramePr>
            <p:nvPr>
              <p:custDataLst>
                <p:tags r:id="rId8"/>
              </p:custDataLst>
            </p:nvPr>
          </p:nvGraphicFramePr>
          <p:xfrm>
            <a:off x="3360" y="1598"/>
            <a:ext cx="4515" cy="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9" name="Equation" r:id="rId14" imgW="26822400" imgH="10972800" progId="Equation.DSMT4">
                    <p:embed/>
                  </p:oleObj>
                </mc:Choice>
                <mc:Fallback>
                  <p:oleObj name="Equation" r:id="rId14" imgW="26822400" imgH="109728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360" y="1598"/>
                          <a:ext cx="4515" cy="1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6" name="Rectangle 4"/>
            <p:cNvSpPr/>
            <p:nvPr>
              <p:custDataLst>
                <p:tags r:id="rId9"/>
              </p:custDataLst>
            </p:nvPr>
          </p:nvSpPr>
          <p:spPr>
            <a:xfrm>
              <a:off x="2269" y="3882"/>
              <a:ext cx="5625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求矩阵</a:t>
              </a:r>
              <a:r>
                <a:rPr lang="en-US" altLang="zh-CN" sz="2800" b="1" i="1" noProof="0" dirty="0">
                  <a:solidFill>
                    <a:schemeClr val="tx2"/>
                  </a:solidFill>
                  <a:effectLst/>
                  <a:latin typeface="Times New Roman" panose="02020603050405020304" pitchFamily="18" charset="0"/>
                  <a:ea typeface="华文中宋" panose="02010600040101010101" pitchFamily="2" charset="-122"/>
                </a:rPr>
                <a:t>C=AB</a:t>
              </a:r>
              <a:r>
                <a:rPr lang="en-US" altLang="zh-CN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, </a:t>
              </a:r>
              <a:r>
                <a:rPr lang="en-US" altLang="zh-CN" sz="2800" b="1" i="1" noProof="0" dirty="0">
                  <a:solidFill>
                    <a:schemeClr val="tx2"/>
                  </a:solidFill>
                  <a:effectLst/>
                  <a:latin typeface="Times New Roman" panose="02020603050405020304" pitchFamily="18" charset="0"/>
                  <a:ea typeface="华文中宋" panose="02010600040101010101" pitchFamily="2" charset="-122"/>
                </a:rPr>
                <a:t>D=BA</a:t>
              </a:r>
              <a:r>
                <a:rPr lang="en-US" altLang="zh-CN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.</a:t>
              </a:r>
            </a:p>
          </p:txBody>
        </p:sp>
        <p:graphicFrame>
          <p:nvGraphicFramePr>
            <p:cNvPr id="38918" name="Object 7">
              <a:hlinkClick r:id="" action="ppaction://ole?verb=0"/>
              <a:hlinkHover r:id="" action="ppaction://macro?name=Macro1"/>
            </p:cNvPr>
            <p:cNvGraphicFramePr>
              <a:graphicFrameLocks noChangeAspect="1"/>
            </p:cNvGraphicFramePr>
            <p:nvPr>
              <p:custDataLst>
                <p:tags r:id="rId10"/>
              </p:custDataLst>
            </p:nvPr>
          </p:nvGraphicFramePr>
          <p:xfrm>
            <a:off x="7843" y="1519"/>
            <a:ext cx="4108" cy="18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0" name="Equation" r:id="rId16" imgW="1016000" imgH="469900" progId="Equation.DSMT4">
                    <p:embed/>
                  </p:oleObj>
                </mc:Choice>
                <mc:Fallback>
                  <p:oleObj name="Equation" r:id="rId16" imgW="1016000" imgH="469900" progId="Equation.DSMT4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843" y="1519"/>
                          <a:ext cx="4108" cy="18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116013" y="3070225"/>
          <a:ext cx="6227762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Equation" r:id="rId18" imgW="60045600" imgH="10972800" progId="Equation.DSMT4">
                  <p:embed/>
                </p:oleObj>
              </mc:Choice>
              <mc:Fallback>
                <p:oleObj name="Equation" r:id="rId18" imgW="60045600" imgH="10972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16013" y="3070225"/>
                        <a:ext cx="6227762" cy="1138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5605" y="3298190"/>
            <a:ext cx="1225550" cy="580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解：</a:t>
            </a:r>
          </a:p>
        </p:txBody>
      </p:sp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116013" y="4365625"/>
          <a:ext cx="6354762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20" imgW="64008000" imgH="10972800" progId="Equation.DSMT4">
                  <p:embed/>
                </p:oleObj>
              </mc:Choice>
              <mc:Fallback>
                <p:oleObj name="Equation" r:id="rId20" imgW="64008000" imgH="10972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16013" y="4365625"/>
                        <a:ext cx="6354762" cy="108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Rectangle 12"/>
          <p:cNvSpPr/>
          <p:nvPr>
            <p:custDataLst>
              <p:tags r:id="rId6"/>
            </p:custDataLst>
          </p:nvPr>
        </p:nvSpPr>
        <p:spPr>
          <a:xfrm>
            <a:off x="611188" y="5805488"/>
            <a:ext cx="79200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问题：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你能得到什么结论？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6" grpId="0" build="p" advAuto="100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矩阵乘法的计算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524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55115" y="1052513"/>
            <a:ext cx="67691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1)</a:t>
            </a: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两个矩阵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A、B，AB</a:t>
            </a: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不一定等于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BA</a:t>
            </a:r>
          </a:p>
        </p:txBody>
      </p:sp>
      <p:sp>
        <p:nvSpPr>
          <p:cNvPr id="64525" name="Text Box 1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69403" y="1571625"/>
            <a:ext cx="66103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2)</a:t>
            </a:r>
            <a:r>
              <a:rPr kumimoji="1" lang="en-US" altLang="zh-CN" sz="2800" b="1" i="1" u="none" strike="noStrike" kern="1200" cap="none" spc="0" normalizeH="0" baseline="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u="none" strike="noStrike" kern="1200" cap="none" spc="0" normalizeH="0" baseline="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≠</a:t>
            </a:r>
            <a:r>
              <a:rPr kumimoji="1" lang="en-US" altLang="zh-CN" sz="2800" b="1" i="1" u="none" strike="noStrike" kern="1200" cap="none" spc="0" normalizeH="0" baseline="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O， B</a:t>
            </a:r>
            <a:r>
              <a:rPr kumimoji="1" lang="en-US" altLang="zh-CN" sz="2800" b="1" u="none" strike="noStrike" kern="1200" cap="none" spc="0" normalizeH="0" baseline="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≠</a:t>
            </a:r>
            <a:r>
              <a:rPr kumimoji="1" lang="en-US" altLang="zh-CN" sz="2800" b="1" i="1" u="none" strike="noStrike" kern="1200" cap="none" spc="0" normalizeH="0" baseline="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O 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但</a:t>
            </a:r>
            <a:r>
              <a:rPr kumimoji="1" lang="en-US" altLang="zh-CN" sz="2800" b="1" i="1" u="none" strike="noStrike" kern="1200" cap="none" spc="0" normalizeH="0" baseline="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有可能等于</a:t>
            </a:r>
            <a:r>
              <a:rPr kumimoji="1" lang="en-US" altLang="zh-CN" sz="2800" b="1" i="1" u="none" strike="noStrike" kern="1200" cap="none" spc="0" normalizeH="0" baseline="0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O</a:t>
            </a:r>
          </a:p>
        </p:txBody>
      </p:sp>
      <p:sp>
        <p:nvSpPr>
          <p:cNvPr id="64527" name="Rectangle 15"/>
          <p:cNvSpPr/>
          <p:nvPr>
            <p:custDataLst>
              <p:tags r:id="rId3"/>
            </p:custDataLst>
          </p:nvPr>
        </p:nvSpPr>
        <p:spPr>
          <a:xfrm>
            <a:off x="474663" y="1052830"/>
            <a:ext cx="13668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结论：</a:t>
            </a:r>
          </a:p>
        </p:txBody>
      </p:sp>
      <p:sp>
        <p:nvSpPr>
          <p:cNvPr id="72716" name="Rectangle 12"/>
          <p:cNvSpPr/>
          <p:nvPr>
            <p:custDataLst>
              <p:tags r:id="rId4"/>
            </p:custDataLst>
          </p:nvPr>
        </p:nvSpPr>
        <p:spPr>
          <a:xfrm>
            <a:off x="539433" y="2636838"/>
            <a:ext cx="79200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问题：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矩阵乘法满足哪些运算律？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4" grpId="0" build="p"/>
      <p:bldP spid="64525" grpId="0" build="p"/>
      <p:bldP spid="64527" grpId="0" build="p" advAuto="1000"/>
      <p:bldP spid="72716" grpId="0" build="p" advAuto="100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矩阵乘法的运算律</a:t>
            </a:r>
          </a:p>
        </p:txBody>
      </p:sp>
      <p:sp>
        <p:nvSpPr>
          <p:cNvPr id="3174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188" y="956945"/>
            <a:ext cx="807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运算规律：</a:t>
            </a:r>
          </a:p>
        </p:txBody>
      </p:sp>
      <p:sp>
        <p:nvSpPr>
          <p:cNvPr id="37890" name="Text Box 3"/>
          <p:cNvSpPr txBox="1"/>
          <p:nvPr/>
        </p:nvSpPr>
        <p:spPr>
          <a:xfrm>
            <a:off x="827405" y="2277110"/>
            <a:ext cx="4325938" cy="2400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(1) 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BC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</a:rPr>
              <a:t>；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(2) 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AC</a:t>
            </a:r>
            <a:r>
              <a:rPr lang="en-US" altLang="zh-CN" sz="2600" b="1" dirty="0">
                <a:latin typeface="Symbol" panose="05050102010706020507" pitchFamily="18" charset="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BC</a:t>
            </a:r>
            <a:r>
              <a:rPr lang="zh-CN" altLang="en-US" sz="2600" b="1" dirty="0">
                <a:latin typeface="Times New Roman" panose="02020603050405020304" pitchFamily="18" charset="0"/>
              </a:rPr>
              <a:t>；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(3)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CA</a:t>
            </a:r>
            <a:r>
              <a:rPr lang="en-US" altLang="zh-CN" sz="2600" b="1" dirty="0">
                <a:latin typeface="Symbol" panose="05050102010706020507" pitchFamily="18" charset="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CB</a:t>
            </a:r>
            <a:r>
              <a:rPr lang="zh-CN" altLang="en-US" sz="2600" b="1" dirty="0">
                <a:latin typeface="Times New Roman" panose="02020603050405020304" pitchFamily="18" charset="0"/>
              </a:rPr>
              <a:t>；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(4)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kA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kB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</a:rPr>
              <a:t>。</a:t>
            </a:r>
            <a:endParaRPr lang="zh-CN" altLang="en-US" sz="2600" b="1" dirty="0"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6349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605" y="1628775"/>
            <a:ext cx="8229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满足运算要求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lang="en-US" altLang="zh-CN" b="1" i="1" noProof="0" dirty="0">
                <a:ea typeface="华文中宋" panose="02010600040101010101" pitchFamily="2" charset="-122"/>
                <a:sym typeface="+mn-ea"/>
              </a:rPr>
              <a:t>k</a:t>
            </a:r>
            <a:r>
              <a:rPr lang="zh-CN" altLang="en-US" b="1" noProof="0" dirty="0">
                <a:ea typeface="华文中宋" panose="02010600040101010101" pitchFamily="2" charset="-122"/>
                <a:sym typeface="+mn-ea"/>
              </a:rPr>
              <a:t>为常数，则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123" name="Text Box 9"/>
          <p:cNvSpPr txBox="1"/>
          <p:nvPr/>
        </p:nvSpPr>
        <p:spPr>
          <a:xfrm>
            <a:off x="4460955" y="2430800"/>
            <a:ext cx="237470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乘法结合律</a:t>
            </a:r>
            <a:endParaRPr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5" name="Text Box 10"/>
          <p:cNvSpPr txBox="1"/>
          <p:nvPr/>
        </p:nvSpPr>
        <p:spPr>
          <a:xfrm>
            <a:off x="4499610" y="3501073"/>
            <a:ext cx="19446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左分配律</a:t>
            </a:r>
            <a:endParaRPr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6" name="Text Box 11"/>
          <p:cNvSpPr txBox="1"/>
          <p:nvPr/>
        </p:nvSpPr>
        <p:spPr>
          <a:xfrm>
            <a:off x="4488498" y="2997835"/>
            <a:ext cx="194468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右分配律</a:t>
            </a:r>
            <a:endParaRPr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/>
      <p:bldP spid="63491" grpId="0" build="p" advAuto="1000"/>
      <p:bldP spid="5123" grpId="0"/>
      <p:bldP spid="5123" grpId="1"/>
      <p:bldP spid="5125" grpId="0"/>
      <p:bldP spid="5125" grpId="1"/>
      <p:bldP spid="5126" grpId="0"/>
      <p:bldP spid="512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>
            <a:extLst>
              <a:ext uri="{FF2B5EF4-FFF2-40B4-BE49-F238E27FC236}">
                <a16:creationId xmlns:a16="http://schemas.microsoft.com/office/drawing/2014/main" id="{EFB85234-5A7F-E943-AA13-F5E0E62C2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052513"/>
            <a:ext cx="87487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）矩阵乘法不满足交换律</a:t>
            </a:r>
            <a:r>
              <a:rPr lang="en-US" altLang="zh-CN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AB</a:t>
            </a:r>
            <a:r>
              <a:rPr lang="en-US" altLang="zh-CN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右乘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有意义</a:t>
            </a:r>
            <a:r>
              <a:rPr lang="en-US" altLang="zh-CN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BA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未必有意义</a:t>
            </a:r>
            <a:r>
              <a:rPr lang="en-US" altLang="zh-CN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即使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AB</a:t>
            </a:r>
            <a:r>
              <a:rPr lang="zh-CN" alt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BA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都有意义</a:t>
            </a:r>
            <a:r>
              <a:rPr lang="en-US" altLang="zh-CN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一般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AB</a:t>
            </a:r>
            <a:r>
              <a:rPr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≠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BA</a:t>
            </a:r>
            <a:r>
              <a:rPr lang="en-US" altLang="zh-CN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4D1D0644-DFB6-2D4A-B5FD-0428F3394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511800"/>
            <a:ext cx="4357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矩阵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可交换</a:t>
            </a:r>
            <a:r>
              <a:rPr lang="zh-CN" altLang="en-US" sz="2800" b="1">
                <a:solidFill>
                  <a:srgbClr val="FFFF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AB</a:t>
            </a:r>
            <a:r>
              <a:rPr lang="zh-CN" altLang="en-US" sz="2800" b="1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BA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29440F1C-685F-514D-B8D9-F9C3AE054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445125"/>
            <a:ext cx="35988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为同阶方阵</a:t>
            </a:r>
            <a:r>
              <a:rPr lang="en-US" altLang="zh-CN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6680376A-148F-7F41-9269-FABE375BD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541963"/>
          <a:ext cx="64928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3" name="Equation" r:id="rId3" imgW="4686300" imgH="3213100" progId="Equation.DSMT4">
                  <p:embed/>
                </p:oleObj>
              </mc:Choice>
              <mc:Fallback>
                <p:oleObj name="Equation" r:id="rId3" imgW="4686300" imgH="3213100" progId="Equation.DSMT4">
                  <p:embed/>
                  <p:pic>
                    <p:nvPicPr>
                      <p:cNvPr id="158725" name="Object 5">
                        <a:extLst>
                          <a:ext uri="{FF2B5EF4-FFF2-40B4-BE49-F238E27FC236}">
                            <a16:creationId xmlns:a16="http://schemas.microsoft.com/office/drawing/2014/main" id="{C396CF77-C545-C346-A741-28CDC23DD2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541963"/>
                        <a:ext cx="64928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>
            <a:extLst>
              <a:ext uri="{FF2B5EF4-FFF2-40B4-BE49-F238E27FC236}">
                <a16:creationId xmlns:a16="http://schemas.microsoft.com/office/drawing/2014/main" id="{BE6135EC-F575-AF48-9757-0E7F49DC4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349500"/>
            <a:ext cx="169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</a:t>
            </a:r>
          </a:p>
        </p:txBody>
      </p:sp>
      <p:graphicFrame>
        <p:nvGraphicFramePr>
          <p:cNvPr id="20" name="Object 7">
            <a:extLst>
              <a:ext uri="{FF2B5EF4-FFF2-40B4-BE49-F238E27FC236}">
                <a16:creationId xmlns:a16="http://schemas.microsoft.com/office/drawing/2014/main" id="{692E73C8-887C-0C41-AB10-E31385F1ED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205038"/>
          <a:ext cx="3889375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4" name="Equation" r:id="rId5" imgW="43294300" imgH="10528300" progId="Equation.DSMT4">
                  <p:embed/>
                </p:oleObj>
              </mc:Choice>
              <mc:Fallback>
                <p:oleObj name="Equation" r:id="rId5" imgW="43294300" imgH="10528300" progId="Equation.DSMT4">
                  <p:embed/>
                  <p:pic>
                    <p:nvPicPr>
                      <p:cNvPr id="158727" name="Object 7">
                        <a:extLst>
                          <a:ext uri="{FF2B5EF4-FFF2-40B4-BE49-F238E27FC236}">
                            <a16:creationId xmlns:a16="http://schemas.microsoft.com/office/drawing/2014/main" id="{F1BBCB04-8C80-484F-AAD4-F99154B7AE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205038"/>
                        <a:ext cx="3889375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8">
            <a:extLst>
              <a:ext uri="{FF2B5EF4-FFF2-40B4-BE49-F238E27FC236}">
                <a16:creationId xmlns:a16="http://schemas.microsoft.com/office/drawing/2014/main" id="{58269FEF-DF08-7F43-B05C-BE25E1B9F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349500"/>
            <a:ext cx="2762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，求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AB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BA</a:t>
            </a:r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A363C479-41B6-C242-B145-65B3723D0C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140075"/>
          <a:ext cx="388937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5" name="Equation" r:id="rId7" imgW="41249600" imgH="10528300" progId="Equation.DSMT4">
                  <p:embed/>
                </p:oleObj>
              </mc:Choice>
              <mc:Fallback>
                <p:oleObj name="Equation" r:id="rId7" imgW="41249600" imgH="10528300" progId="Equation.DSMT4">
                  <p:embed/>
                  <p:pic>
                    <p:nvPicPr>
                      <p:cNvPr id="158729" name="Object 9">
                        <a:extLst>
                          <a:ext uri="{FF2B5EF4-FFF2-40B4-BE49-F238E27FC236}">
                            <a16:creationId xmlns:a16="http://schemas.microsoft.com/office/drawing/2014/main" id="{1F15D75E-7AFB-7441-A13A-1F7A1E5AED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140075"/>
                        <a:ext cx="3889375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0">
            <a:extLst>
              <a:ext uri="{FF2B5EF4-FFF2-40B4-BE49-F238E27FC236}">
                <a16:creationId xmlns:a16="http://schemas.microsoft.com/office/drawing/2014/main" id="{2D6DFDB7-CA46-254B-A87A-A4FF2E1A3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140075"/>
            <a:ext cx="1006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解：</a:t>
            </a:r>
          </a:p>
        </p:txBody>
      </p:sp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B8EE2961-A8D5-8743-82BE-DC404A2719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221163"/>
          <a:ext cx="374332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6" name="Equation" r:id="rId9" imgW="40373300" imgH="10528300" progId="Equation.DSMT4">
                  <p:embed/>
                </p:oleObj>
              </mc:Choice>
              <mc:Fallback>
                <p:oleObj name="Equation" r:id="rId9" imgW="40373300" imgH="10528300" progId="Equation.DSMT4">
                  <p:embed/>
                  <p:pic>
                    <p:nvPicPr>
                      <p:cNvPr id="158731" name="Object 11">
                        <a:extLst>
                          <a:ext uri="{FF2B5EF4-FFF2-40B4-BE49-F238E27FC236}">
                            <a16:creationId xmlns:a16="http://schemas.microsoft.com/office/drawing/2014/main" id="{A49C472C-F889-0543-BF00-07BDDA750B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221163"/>
                        <a:ext cx="3743325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AEACB437-4998-C54E-A661-33A532C86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3068638"/>
          <a:ext cx="111601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7" name="Equation" r:id="rId11" imgW="11404600" imgH="10528300" progId="Equation.DSMT4">
                  <p:embed/>
                </p:oleObj>
              </mc:Choice>
              <mc:Fallback>
                <p:oleObj name="Equation" r:id="rId11" imgW="11404600" imgH="10528300" progId="Equation.DSMT4">
                  <p:embed/>
                  <p:pic>
                    <p:nvPicPr>
                      <p:cNvPr id="158732" name="Object 12">
                        <a:extLst>
                          <a:ext uri="{FF2B5EF4-FFF2-40B4-BE49-F238E27FC236}">
                            <a16:creationId xmlns:a16="http://schemas.microsoft.com/office/drawing/2014/main" id="{F492BB46-C4B8-C94C-A5EE-8DE503ED65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068638"/>
                        <a:ext cx="111601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>
            <a:extLst>
              <a:ext uri="{FF2B5EF4-FFF2-40B4-BE49-F238E27FC236}">
                <a16:creationId xmlns:a16="http://schemas.microsoft.com/office/drawing/2014/main" id="{A03B823C-F604-D041-9B1F-33712DC78F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4221163"/>
          <a:ext cx="154781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name="Equation" r:id="rId13" imgW="18719800" imgH="10528300" progId="Equation.DSMT4">
                  <p:embed/>
                </p:oleObj>
              </mc:Choice>
              <mc:Fallback>
                <p:oleObj name="Equation" r:id="rId13" imgW="18719800" imgH="10528300" progId="Equation.DSMT4">
                  <p:embed/>
                  <p:pic>
                    <p:nvPicPr>
                      <p:cNvPr id="158733" name="Object 13">
                        <a:extLst>
                          <a:ext uri="{FF2B5EF4-FFF2-40B4-BE49-F238E27FC236}">
                            <a16:creationId xmlns:a16="http://schemas.microsoft.com/office/drawing/2014/main" id="{01C51AF5-79B5-894C-8397-A75F394E3C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221163"/>
                        <a:ext cx="154781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4">
            <a:extLst>
              <a:ext uri="{FF2B5EF4-FFF2-40B4-BE49-F238E27FC236}">
                <a16:creationId xmlns:a16="http://schemas.microsoft.com/office/drawing/2014/main" id="{CDDA90DE-DE45-F14D-8D87-628C2DE62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2233613" cy="70167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方正静蕾简体" pitchFamily="2" charset="-122"/>
              </a:rPr>
              <a:t>特别提示</a:t>
            </a:r>
          </a:p>
        </p:txBody>
      </p:sp>
    </p:spTree>
    <p:extLst>
      <p:ext uri="{BB962C8B-B14F-4D97-AF65-F5344CB8AC3E}">
        <p14:creationId xmlns:p14="http://schemas.microsoft.com/office/powerpoint/2010/main" val="163822004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9" grpId="0"/>
      <p:bldP spid="21" grpId="0"/>
      <p:bldP spid="2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">
            <a:extLst>
              <a:ext uri="{FF2B5EF4-FFF2-40B4-BE49-F238E27FC236}">
                <a16:creationId xmlns:a16="http://schemas.microsoft.com/office/drawing/2014/main" id="{A735E337-077E-3E4E-BAC9-30B70D7C9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6264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楷体_GB2312" panose="02010609030101010101" pitchFamily="49" charset="-122"/>
              </a:rPr>
              <a:t>（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楷体_GB2312" panose="02010609030101010101" pitchFamily="49" charset="-122"/>
              </a:rPr>
              <a:t>2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楷体_GB2312" panose="02010609030101010101" pitchFamily="49" charset="-122"/>
              </a:rPr>
              <a:t>）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 </a:t>
            </a:r>
            <a:r>
              <a:rPr kumimoji="0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≠</a:t>
            </a:r>
            <a:r>
              <a:rPr kumimoji="0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O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楷体_GB2312" panose="02010609030101010101" pitchFamily="49" charset="-122"/>
              </a:rPr>
              <a:t>且</a:t>
            </a:r>
            <a:r>
              <a:rPr kumimoji="0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B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≠</a:t>
            </a:r>
            <a:r>
              <a:rPr kumimoji="0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O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楷体_GB2312" panose="02010609030101010101" pitchFamily="49" charset="-122"/>
              </a:rPr>
              <a:t>但可能有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</a:t>
            </a:r>
            <a:r>
              <a:rPr kumimoji="0" lang="en-US" altLang="zh-CN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AB=O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EB21058F-ECFE-484C-B3F7-3F263B027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781300"/>
            <a:ext cx="1873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lang="en-US" altLang="zh-CN" sz="2800" b="1">
                <a:solidFill>
                  <a:srgbClr val="FFFF00"/>
                </a:solidFill>
                <a:ea typeface="楷体_GB2312" panose="02010609030101010101" pitchFamily="49" charset="-122"/>
              </a:rPr>
              <a:t>7</a:t>
            </a:r>
            <a:r>
              <a:rPr lang="en-US" altLang="zh-CN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 </a:t>
            </a:r>
          </a:p>
        </p:txBody>
      </p:sp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6515894B-BEE6-5B47-82A4-99EC53286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636838"/>
          <a:ext cx="47529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6" name="Equation" r:id="rId3" imgW="59105800" imgH="10528300" progId="Equation.DSMT4">
                  <p:embed/>
                </p:oleObj>
              </mc:Choice>
              <mc:Fallback>
                <p:oleObj name="Equation" r:id="rId3" imgW="59105800" imgH="10528300" progId="Equation.DSMT4">
                  <p:embed/>
                  <p:pic>
                    <p:nvPicPr>
                      <p:cNvPr id="159748" name="Object 4">
                        <a:extLst>
                          <a:ext uri="{FF2B5EF4-FFF2-40B4-BE49-F238E27FC236}">
                            <a16:creationId xmlns:a16="http://schemas.microsoft.com/office/drawing/2014/main" id="{9185BA16-A9F5-D345-8117-7597D5DA53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636838"/>
                        <a:ext cx="475297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ED96586D-7A39-4C4D-A13C-ECDC4DECA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933825"/>
          <a:ext cx="31686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Equation" r:id="rId5" imgW="35394900" imgH="10528300" progId="Equation.DSMT4">
                  <p:embed/>
                </p:oleObj>
              </mc:Choice>
              <mc:Fallback>
                <p:oleObj name="Equation" r:id="rId5" imgW="35394900" imgH="10528300" progId="Equation.DSMT4">
                  <p:embed/>
                  <p:pic>
                    <p:nvPicPr>
                      <p:cNvPr id="159749" name="Object 5">
                        <a:extLst>
                          <a:ext uri="{FF2B5EF4-FFF2-40B4-BE49-F238E27FC236}">
                            <a16:creationId xmlns:a16="http://schemas.microsoft.com/office/drawing/2014/main" id="{10A6FD3E-356C-1A41-9C75-E39D45B89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933825"/>
                        <a:ext cx="316865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6">
            <a:extLst>
              <a:ext uri="{FF2B5EF4-FFF2-40B4-BE49-F238E27FC236}">
                <a16:creationId xmlns:a16="http://schemas.microsoft.com/office/drawing/2014/main" id="{F24AA10B-3BFC-2541-AB91-99726DB65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2852738"/>
            <a:ext cx="2232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求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AB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AC</a:t>
            </a:r>
            <a:endParaRPr lang="en-US" altLang="zh-CN" sz="2800" b="1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60C4F033-A81B-A34A-A12F-19BF55FAA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4652963"/>
            <a:ext cx="3384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但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≠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且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≠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O</a:t>
            </a:r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7" name="Text Box 8">
            <a:extLst>
              <a:ext uri="{FF2B5EF4-FFF2-40B4-BE49-F238E27FC236}">
                <a16:creationId xmlns:a16="http://schemas.microsoft.com/office/drawing/2014/main" id="{B2363FCF-C7E0-C64D-8631-0861ADB8D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44675"/>
            <a:ext cx="8964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 dirty="0">
                <a:solidFill>
                  <a:srgbClr val="FFFFFF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FF"/>
                </a:solidFill>
                <a:ea typeface="楷体_GB2312" panose="02010609030101010101" pitchFamily="49" charset="-122"/>
              </a:rPr>
              <a:t>3） </a:t>
            </a:r>
            <a:r>
              <a:rPr lang="zh-CN" altLang="en-US" sz="2800" b="1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矩阵乘法不满足消去律</a:t>
            </a:r>
            <a:r>
              <a:rPr lang="en-US" altLang="zh-CN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800" b="1" i="1" dirty="0">
                <a:solidFill>
                  <a:srgbClr val="FFFFFF"/>
                </a:solidFill>
                <a:ea typeface="宋体" panose="02010600030101010101" pitchFamily="2" charset="-122"/>
              </a:rPr>
              <a:t>AB=AC</a:t>
            </a:r>
            <a:r>
              <a:rPr lang="en-US" altLang="zh-CN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sz="2800" b="1" i="1" dirty="0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≠</a:t>
            </a:r>
            <a:r>
              <a:rPr lang="en-US" altLang="zh-CN" sz="2800" b="1" i="1" dirty="0">
                <a:solidFill>
                  <a:srgbClr val="FFFFFF"/>
                </a:solidFill>
                <a:ea typeface="宋体" panose="02010600030101010101" pitchFamily="2" charset="-122"/>
              </a:rPr>
              <a:t>O  </a:t>
            </a:r>
            <a:r>
              <a:rPr lang="en-US" altLang="zh-CN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800" b="1" i="1" dirty="0">
                <a:solidFill>
                  <a:srgbClr val="FFFFFF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FFFFFF"/>
                </a:solidFill>
                <a:ea typeface="宋体" panose="02010600030101010101" pitchFamily="2" charset="-122"/>
              </a:rPr>
              <a:t>C</a:t>
            </a:r>
            <a:endParaRPr lang="en-US" altLang="zh-CN" sz="28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8" name="Group 9">
            <a:extLst>
              <a:ext uri="{FF2B5EF4-FFF2-40B4-BE49-F238E27FC236}">
                <a16:creationId xmlns:a16="http://schemas.microsoft.com/office/drawing/2014/main" id="{763C54A3-A715-E54C-A41D-13A3C6C3795B}"/>
              </a:ext>
            </a:extLst>
          </p:cNvPr>
          <p:cNvGrpSpPr>
            <a:grpSpLocks/>
          </p:cNvGrpSpPr>
          <p:nvPr/>
        </p:nvGrpSpPr>
        <p:grpSpPr bwMode="auto">
          <a:xfrm>
            <a:off x="7380288" y="1906588"/>
            <a:ext cx="609600" cy="457200"/>
            <a:chOff x="4785" y="2523"/>
            <a:chExt cx="384" cy="288"/>
          </a:xfrm>
        </p:grpSpPr>
        <p:graphicFrame>
          <p:nvGraphicFramePr>
            <p:cNvPr id="29" name="Object 10">
              <a:extLst>
                <a:ext uri="{FF2B5EF4-FFF2-40B4-BE49-F238E27FC236}">
                  <a16:creationId xmlns:a16="http://schemas.microsoft.com/office/drawing/2014/main" id="{B1450572-DAC3-8E47-A4ED-C86DE1A92D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2523"/>
            <a:ext cx="38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8" name="Equation" r:id="rId7" imgW="254000" imgH="203200" progId="Equation.DSMT4">
                    <p:embed/>
                  </p:oleObj>
                </mc:Choice>
                <mc:Fallback>
                  <p:oleObj name="Equation" r:id="rId7" imgW="254000" imgH="203200" progId="Equation.DSMT4">
                    <p:embed/>
                    <p:pic>
                      <p:nvPicPr>
                        <p:cNvPr id="18451" name="Object 10">
                          <a:extLst>
                            <a:ext uri="{FF2B5EF4-FFF2-40B4-BE49-F238E27FC236}">
                              <a16:creationId xmlns:a16="http://schemas.microsoft.com/office/drawing/2014/main" id="{60545A82-07DE-CF41-99E8-F36E69693C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2523"/>
                          <a:ext cx="38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8F01BE7A-7692-214E-A039-4D59B0C57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9" y="2541"/>
              <a:ext cx="192" cy="240"/>
            </a:xfrm>
            <a:prstGeom prst="line">
              <a:avLst/>
            </a:prstGeom>
            <a:noFill/>
            <a:ln w="317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ECFB7D"/>
                </a:solidFill>
                <a:effectLst/>
                <a:uLnTx/>
                <a:uFillTx/>
                <a:ea typeface="隶书" pitchFamily="49" charset="-122"/>
              </a:endParaRPr>
            </a:p>
          </p:txBody>
        </p:sp>
      </p:grpSp>
      <p:sp>
        <p:nvSpPr>
          <p:cNvPr id="31" name="Text Box 12">
            <a:extLst>
              <a:ext uri="{FF2B5EF4-FFF2-40B4-BE49-F238E27FC236}">
                <a16:creationId xmlns:a16="http://schemas.microsoft.com/office/drawing/2014/main" id="{EE7A363B-AF42-134A-A5A3-5033B637C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25538"/>
            <a:ext cx="5257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ea typeface="楷体_GB2312" panose="02010609030101010101" pitchFamily="49" charset="-122"/>
              </a:rPr>
              <a:t>即：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AB=O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O 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或 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O</a:t>
            </a:r>
            <a:r>
              <a:rPr lang="en-US" altLang="zh-CN" sz="3200" b="1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32" name="Group 13">
            <a:extLst>
              <a:ext uri="{FF2B5EF4-FFF2-40B4-BE49-F238E27FC236}">
                <a16:creationId xmlns:a16="http://schemas.microsoft.com/office/drawing/2014/main" id="{44AB5B15-244D-854F-B489-B765108A6477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1268413"/>
            <a:ext cx="609600" cy="457200"/>
            <a:chOff x="4785" y="2523"/>
            <a:chExt cx="384" cy="288"/>
          </a:xfrm>
        </p:grpSpPr>
        <p:graphicFrame>
          <p:nvGraphicFramePr>
            <p:cNvPr id="33" name="Object 14">
              <a:extLst>
                <a:ext uri="{FF2B5EF4-FFF2-40B4-BE49-F238E27FC236}">
                  <a16:creationId xmlns:a16="http://schemas.microsoft.com/office/drawing/2014/main" id="{6DE4D163-3818-B948-82BA-2177C6FD67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2523"/>
            <a:ext cx="38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9" name="Equation" r:id="rId9" imgW="254000" imgH="203200" progId="Equation.DSMT4">
                    <p:embed/>
                  </p:oleObj>
                </mc:Choice>
                <mc:Fallback>
                  <p:oleObj name="Equation" r:id="rId9" imgW="254000" imgH="203200" progId="Equation.DSMT4">
                    <p:embed/>
                    <p:pic>
                      <p:nvPicPr>
                        <p:cNvPr id="18449" name="Object 14">
                          <a:extLst>
                            <a:ext uri="{FF2B5EF4-FFF2-40B4-BE49-F238E27FC236}">
                              <a16:creationId xmlns:a16="http://schemas.microsoft.com/office/drawing/2014/main" id="{F8F69E28-2CB3-9647-B398-DAA3A5DB8C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2523"/>
                          <a:ext cx="38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07A6E7B9-0362-9C4A-9EE0-B817B9EFA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9" y="2541"/>
              <a:ext cx="192" cy="240"/>
            </a:xfrm>
            <a:prstGeom prst="line">
              <a:avLst/>
            </a:prstGeom>
            <a:noFill/>
            <a:ln w="317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ECFB7D"/>
                </a:solidFill>
                <a:effectLst/>
                <a:uLnTx/>
                <a:uFillTx/>
                <a:ea typeface="隶书" pitchFamily="49" charset="-122"/>
              </a:endParaRPr>
            </a:p>
          </p:txBody>
        </p:sp>
      </p:grpSp>
      <p:graphicFrame>
        <p:nvGraphicFramePr>
          <p:cNvPr id="35" name="Object 16">
            <a:extLst>
              <a:ext uri="{FF2B5EF4-FFF2-40B4-BE49-F238E27FC236}">
                <a16:creationId xmlns:a16="http://schemas.microsoft.com/office/drawing/2014/main" id="{3E2F7E21-D53C-E94D-BA58-FFBF978642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5157788"/>
          <a:ext cx="31115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0" name="Equation" r:id="rId11" imgW="35394900" imgH="10528300" progId="Equation.DSMT4">
                  <p:embed/>
                </p:oleObj>
              </mc:Choice>
              <mc:Fallback>
                <p:oleObj name="Equation" r:id="rId11" imgW="35394900" imgH="10528300" progId="Equation.DSMT4">
                  <p:embed/>
                  <p:pic>
                    <p:nvPicPr>
                      <p:cNvPr id="159760" name="Object 16">
                        <a:extLst>
                          <a:ext uri="{FF2B5EF4-FFF2-40B4-BE49-F238E27FC236}">
                            <a16:creationId xmlns:a16="http://schemas.microsoft.com/office/drawing/2014/main" id="{FC505930-41C4-7E4B-966E-1832916BF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157788"/>
                        <a:ext cx="31115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7">
            <a:extLst>
              <a:ext uri="{FF2B5EF4-FFF2-40B4-BE49-F238E27FC236}">
                <a16:creationId xmlns:a16="http://schemas.microsoft.com/office/drawing/2014/main" id="{78733D49-7561-264F-9B9D-FA185B945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3933825"/>
          <a:ext cx="14049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" name="Equation" r:id="rId13" imgW="16675100" imgH="10528300" progId="Equation.DSMT4">
                  <p:embed/>
                </p:oleObj>
              </mc:Choice>
              <mc:Fallback>
                <p:oleObj name="Equation" r:id="rId13" imgW="16675100" imgH="10528300" progId="Equation.DSMT4">
                  <p:embed/>
                  <p:pic>
                    <p:nvPicPr>
                      <p:cNvPr id="159761" name="Object 17">
                        <a:extLst>
                          <a:ext uri="{FF2B5EF4-FFF2-40B4-BE49-F238E27FC236}">
                            <a16:creationId xmlns:a16="http://schemas.microsoft.com/office/drawing/2014/main" id="{9DF5EBE7-52E9-7B40-96F0-28FCAF85CC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933825"/>
                        <a:ext cx="1404937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9">
            <a:extLst>
              <a:ext uri="{FF2B5EF4-FFF2-40B4-BE49-F238E27FC236}">
                <a16:creationId xmlns:a16="http://schemas.microsoft.com/office/drawing/2014/main" id="{10F3B0B0-2883-F243-B9DA-BDA0C1B46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33375"/>
            <a:ext cx="1441450" cy="604838"/>
          </a:xfrm>
          <a:prstGeom prst="rect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</a:rPr>
              <a:t>零因子</a:t>
            </a:r>
          </a:p>
        </p:txBody>
      </p:sp>
      <p:sp>
        <p:nvSpPr>
          <p:cNvPr id="38" name="Text Box 20">
            <a:extLst>
              <a:ext uri="{FF2B5EF4-FFF2-40B4-BE49-F238E27FC236}">
                <a16:creationId xmlns:a16="http://schemas.microsoft.com/office/drawing/2014/main" id="{AAB0B929-59FF-C04A-A5DF-69A28ED38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644900"/>
            <a:ext cx="1006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解：</a:t>
            </a:r>
          </a:p>
        </p:txBody>
      </p:sp>
      <p:graphicFrame>
        <p:nvGraphicFramePr>
          <p:cNvPr id="39" name="Object 21">
            <a:extLst>
              <a:ext uri="{FF2B5EF4-FFF2-40B4-BE49-F238E27FC236}">
                <a16:creationId xmlns:a16="http://schemas.microsoft.com/office/drawing/2014/main" id="{4AEEC29D-6285-6F4E-9B4A-9727C2BC0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5157788"/>
          <a:ext cx="140493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2" name="Equation" r:id="rId15" imgW="16675100" imgH="10528300" progId="Equation.DSMT4">
                  <p:embed/>
                </p:oleObj>
              </mc:Choice>
              <mc:Fallback>
                <p:oleObj name="Equation" r:id="rId15" imgW="16675100" imgH="10528300" progId="Equation.DSMT4">
                  <p:embed/>
                  <p:pic>
                    <p:nvPicPr>
                      <p:cNvPr id="159765" name="Object 21">
                        <a:extLst>
                          <a:ext uri="{FF2B5EF4-FFF2-40B4-BE49-F238E27FC236}">
                            <a16:creationId xmlns:a16="http://schemas.microsoft.com/office/drawing/2014/main" id="{F67E7F8B-7AB0-F24B-8592-B0E1D3BF2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157788"/>
                        <a:ext cx="1404937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95581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5" grpId="0" autoUpdateAnimBg="0"/>
      <p:bldP spid="26" grpId="0" autoUpdateAnimBg="0"/>
      <p:bldP spid="27" grpId="0" autoUpdateAnimBg="0"/>
      <p:bldP spid="31" grpId="0" autoUpdateAnimBg="0"/>
      <p:bldP spid="3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矩阵乘法的应用</a:t>
            </a:r>
          </a:p>
        </p:txBody>
      </p:sp>
      <p:sp>
        <p:nvSpPr>
          <p:cNvPr id="11059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4653" y="764540"/>
            <a:ext cx="576103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线性方程组矩阵形式</a:t>
            </a:r>
          </a:p>
        </p:txBody>
      </p:sp>
      <p:graphicFrame>
        <p:nvGraphicFramePr>
          <p:cNvPr id="110598" name="Object 6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44638" y="1268413"/>
          <a:ext cx="6056312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Equation" r:id="rId13" imgW="46634400" imgH="22555200" progId="Equation.DSMT4">
                  <p:embed/>
                </p:oleObj>
              </mc:Choice>
              <mc:Fallback>
                <p:oleObj name="Equation" r:id="rId13" imgW="46634400" imgH="225552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44638" y="1268413"/>
                        <a:ext cx="6056312" cy="266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55613" y="4076700"/>
          <a:ext cx="2997200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Equation" r:id="rId15" imgW="31699200" imgH="22555200" progId="Equation.DSMT4">
                  <p:embed/>
                </p:oleObj>
              </mc:Choice>
              <mc:Fallback>
                <p:oleObj name="Equation" r:id="rId15" imgW="31699200" imgH="225552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5613" y="4076700"/>
                        <a:ext cx="2997200" cy="2520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1" name="Object 9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3527584" y="4003993"/>
          <a:ext cx="941705" cy="259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" name="Equation" r:id="rId17" imgW="355600" imgH="939800" progId="Equation.DSMT4">
                  <p:embed/>
                </p:oleObj>
              </mc:Choice>
              <mc:Fallback>
                <p:oleObj name="Equation" r:id="rId17" imgW="355600" imgH="9398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27584" y="4003993"/>
                        <a:ext cx="941705" cy="2592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2" name="Object 10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451668" y="4003993"/>
          <a:ext cx="1276350" cy="259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" r:id="rId19" imgW="482600" imgH="939800" progId="Equation.3">
                  <p:embed/>
                </p:oleObj>
              </mc:Choice>
              <mc:Fallback>
                <p:oleObj r:id="rId19" imgW="482600" imgH="9398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51668" y="4003993"/>
                        <a:ext cx="1276350" cy="2592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4500245" y="3932555"/>
          <a:ext cx="4191000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" name="Equation" r:id="rId21" imgW="44196000" imgH="22555200" progId="Equation.DSMT4">
                  <p:embed/>
                </p:oleObj>
              </mc:Choice>
              <mc:Fallback>
                <p:oleObj name="Equation" r:id="rId21" imgW="44196000" imgH="225552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00245" y="3932555"/>
                        <a:ext cx="4191000" cy="266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4" name="Rectangle 12"/>
          <p:cNvSpPr/>
          <p:nvPr>
            <p:custDataLst>
              <p:tags r:id="rId8"/>
            </p:custDataLst>
          </p:nvPr>
        </p:nvSpPr>
        <p:spPr>
          <a:xfrm>
            <a:off x="5799455" y="4455795"/>
            <a:ext cx="29527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线性方程组的矩阵形式</a:t>
            </a:r>
          </a:p>
        </p:txBody>
      </p:sp>
      <p:graphicFrame>
        <p:nvGraphicFramePr>
          <p:cNvPr id="110605" name="Object 13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6274118" y="5405120"/>
          <a:ext cx="18002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4" r:id="rId23" imgW="494665" imgH="177800" progId="Equation.3">
                  <p:embed/>
                </p:oleObj>
              </mc:Choice>
              <mc:Fallback>
                <p:oleObj r:id="rId23" imgW="494665" imgH="1778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74118" y="5405120"/>
                        <a:ext cx="1800225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0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4" grpId="0" build="p" advAuto="100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2">
            <a:extLst>
              <a:ext uri="{FF2B5EF4-FFF2-40B4-BE49-F238E27FC236}">
                <a16:creationId xmlns:a16="http://schemas.microsoft.com/office/drawing/2014/main" id="{608AD867-CCB3-B04B-9747-DBE489D7F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45" y="835496"/>
            <a:ext cx="80645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lang="en-US" altLang="zh-CN" sz="2800" b="1" dirty="0">
                <a:solidFill>
                  <a:srgbClr val="FFFF00"/>
                </a:solidFill>
                <a:ea typeface="楷体_GB2312" panose="02010609030101010101" pitchFamily="49" charset="-122"/>
              </a:rPr>
              <a:t>9  </a:t>
            </a:r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已知                              </a:t>
            </a:r>
            <a:r>
              <a:rPr lang="en-US" altLang="zh-CN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矩阵方程</a:t>
            </a:r>
            <a:r>
              <a:rPr lang="en-US" altLang="zh-CN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，求</a:t>
            </a:r>
            <a:r>
              <a:rPr lang="en-US" altLang="zh-CN" sz="2800" b="1" i="1" dirty="0">
                <a:solidFill>
                  <a:srgbClr val="FFFF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3200" b="1" dirty="0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1718FA5C-AD5F-8E47-BAB1-70AE5EF000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542301"/>
              </p:ext>
            </p:extLst>
          </p:nvPr>
        </p:nvGraphicFramePr>
        <p:xfrm>
          <a:off x="2196108" y="619596"/>
          <a:ext cx="309562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Equation" r:id="rId3" imgW="30429200" imgH="10528300" progId="Equation.DSMT4">
                  <p:embed/>
                </p:oleObj>
              </mc:Choice>
              <mc:Fallback>
                <p:oleObj name="Equation" r:id="rId3" imgW="30429200" imgH="10528300" progId="Equation.DSMT4">
                  <p:embed/>
                  <p:pic>
                    <p:nvPicPr>
                      <p:cNvPr id="20483" name="Object 3">
                        <a:extLst>
                          <a:ext uri="{FF2B5EF4-FFF2-40B4-BE49-F238E27FC236}">
                            <a16:creationId xmlns:a16="http://schemas.microsoft.com/office/drawing/2014/main" id="{65A1D340-6A39-5542-BC09-9D29DF1E38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108" y="619596"/>
                        <a:ext cx="3095625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492618F5-36AB-0442-8280-8494E516A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120059"/>
              </p:ext>
            </p:extLst>
          </p:nvPr>
        </p:nvGraphicFramePr>
        <p:xfrm>
          <a:off x="1692870" y="2921471"/>
          <a:ext cx="16922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" name="Equation" r:id="rId5" imgW="18427700" imgH="10528300" progId="Equation.DSMT4">
                  <p:embed/>
                </p:oleObj>
              </mc:Choice>
              <mc:Fallback>
                <p:oleObj name="Equation" r:id="rId5" imgW="18427700" imgH="10528300" progId="Equation.DSMT4">
                  <p:embed/>
                  <p:pic>
                    <p:nvPicPr>
                      <p:cNvPr id="161796" name="Object 4">
                        <a:extLst>
                          <a:ext uri="{FF2B5EF4-FFF2-40B4-BE49-F238E27FC236}">
                            <a16:creationId xmlns:a16="http://schemas.microsoft.com/office/drawing/2014/main" id="{AC2D1370-1DC0-7E48-AE9D-A70490299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870" y="2921471"/>
                        <a:ext cx="1692275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5">
            <a:extLst>
              <a:ext uri="{FF2B5EF4-FFF2-40B4-BE49-F238E27FC236}">
                <a16:creationId xmlns:a16="http://schemas.microsoft.com/office/drawing/2014/main" id="{61BB1697-5122-534A-9647-5DDB2B73F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808" y="1772121"/>
            <a:ext cx="1008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解：</a:t>
            </a: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D8CBBEF4-992F-EB4C-8C08-D44F125DC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383" y="1772121"/>
            <a:ext cx="5292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由矩阵方程知</a:t>
            </a:r>
            <a:r>
              <a:rPr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X </a:t>
            </a:r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为 </a:t>
            </a:r>
            <a:r>
              <a:rPr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×</a:t>
            </a:r>
            <a:r>
              <a:rPr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矩阵</a:t>
            </a:r>
            <a:r>
              <a:rPr lang="zh-CN" altLang="en-US" sz="32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2CAE4A9B-2236-534F-BD21-D4797B535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633" y="3065933"/>
            <a:ext cx="719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设</a:t>
            </a: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05503F78-DED4-354C-8C3B-93246A8EA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3095" y="3067521"/>
            <a:ext cx="790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2800" b="1">
                <a:solidFill>
                  <a:srgbClr val="FFFFFF"/>
                </a:solidFill>
                <a:ea typeface="楷体_GB2312" panose="02010609030101010101" pitchFamily="49" charset="-122"/>
              </a:rPr>
              <a:t>, </a:t>
            </a:r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则</a:t>
            </a: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62EE6AAE-A91C-4740-AD97-47D7A77CE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495" y="2276946"/>
            <a:ext cx="2003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＋</a:t>
            </a:r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c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0" name="AutoShape 10">
            <a:extLst>
              <a:ext uri="{FF2B5EF4-FFF2-40B4-BE49-F238E27FC236}">
                <a16:creationId xmlns:a16="http://schemas.microsoft.com/office/drawing/2014/main" id="{84E8AEA2-36C4-5C4C-9ED7-2A0DE81190C7}"/>
              </a:ext>
            </a:extLst>
          </p:cNvPr>
          <p:cNvSpPr>
            <a:spLocks/>
          </p:cNvSpPr>
          <p:nvPr/>
        </p:nvSpPr>
        <p:spPr bwMode="auto">
          <a:xfrm>
            <a:off x="4429720" y="2564283"/>
            <a:ext cx="360363" cy="1795463"/>
          </a:xfrm>
          <a:prstGeom prst="leftBrace">
            <a:avLst>
              <a:gd name="adj1" fmla="val 41520"/>
              <a:gd name="adj2" fmla="val 50000"/>
            </a:avLst>
          </a:prstGeom>
          <a:noFill/>
          <a:ln w="2857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ECFB7D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0FC570ED-A4AF-334C-9E0A-F2C7A017D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7058" y="2851621"/>
            <a:ext cx="2003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b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＋</a:t>
            </a:r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2" name="Text Box 12">
            <a:extLst>
              <a:ext uri="{FF2B5EF4-FFF2-40B4-BE49-F238E27FC236}">
                <a16:creationId xmlns:a16="http://schemas.microsoft.com/office/drawing/2014/main" id="{AD26ABC2-976E-874E-A0D1-B6D442F47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7058" y="3427883"/>
            <a:ext cx="2339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＋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c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＝－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Text Box 13">
            <a:extLst>
              <a:ext uri="{FF2B5EF4-FFF2-40B4-BE49-F238E27FC236}">
                <a16:creationId xmlns:a16="http://schemas.microsoft.com/office/drawing/2014/main" id="{4C08D069-D8AF-3945-8107-5401BFFD7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7058" y="4075583"/>
            <a:ext cx="200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b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＋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507C2BCF-5036-B146-87A2-4CB098C5E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458" y="4508971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解得</a:t>
            </a:r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6716CE0C-B5BF-F944-99A0-61A4CB3E7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4364508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6" name="AutoShape 16">
            <a:extLst>
              <a:ext uri="{FF2B5EF4-FFF2-40B4-BE49-F238E27FC236}">
                <a16:creationId xmlns:a16="http://schemas.microsoft.com/office/drawing/2014/main" id="{EDFFFA36-D2C2-FD48-9863-26F2FD1E6F97}"/>
              </a:ext>
            </a:extLst>
          </p:cNvPr>
          <p:cNvSpPr>
            <a:spLocks/>
          </p:cNvSpPr>
          <p:nvPr/>
        </p:nvSpPr>
        <p:spPr bwMode="auto">
          <a:xfrm>
            <a:off x="2412008" y="4580408"/>
            <a:ext cx="360362" cy="1795463"/>
          </a:xfrm>
          <a:prstGeom prst="leftBrace">
            <a:avLst>
              <a:gd name="adj1" fmla="val 41520"/>
              <a:gd name="adj2" fmla="val 50000"/>
            </a:avLst>
          </a:prstGeom>
          <a:noFill/>
          <a:ln w="2857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ECFB7D"/>
              </a:solidFill>
              <a:effectLst/>
              <a:uLnTx/>
              <a:uFillTx/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37" name="Text Box 17">
            <a:extLst>
              <a:ext uri="{FF2B5EF4-FFF2-40B4-BE49-F238E27FC236}">
                <a16:creationId xmlns:a16="http://schemas.microsoft.com/office/drawing/2014/main" id="{5DD61C41-762C-8D41-9A79-6CA864839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4939183"/>
            <a:ext cx="1163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b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8" name="Text Box 18">
            <a:extLst>
              <a:ext uri="{FF2B5EF4-FFF2-40B4-BE49-F238E27FC236}">
                <a16:creationId xmlns:a16="http://schemas.microsoft.com/office/drawing/2014/main" id="{A31D0FDF-6329-7341-B3A1-D7FB5E68C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5517033"/>
            <a:ext cx="122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c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27C606DC-A14A-964D-9B7F-50E2B6899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6093296"/>
            <a:ext cx="1308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/>
            <a:r>
              <a:rPr kumimoji="0" lang="en-US" altLang="zh-CN" sz="2800" b="1" i="1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  <a:r>
              <a:rPr kumimoji="0" lang="zh-CN" altLang="en-US" sz="2800" b="1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FFFF"/>
                </a:solidFill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40" name="Object 20">
            <a:extLst>
              <a:ext uri="{FF2B5EF4-FFF2-40B4-BE49-F238E27FC236}">
                <a16:creationId xmlns:a16="http://schemas.microsoft.com/office/drawing/2014/main" id="{5BC4E3D1-C563-E546-AF66-E8EEBC309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803277"/>
              </p:ext>
            </p:extLst>
          </p:nvPr>
        </p:nvGraphicFramePr>
        <p:xfrm>
          <a:off x="4932958" y="5012208"/>
          <a:ext cx="2376487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" name="Equation" r:id="rId7" imgW="22529800" imgH="10528300" progId="Equation.DSMT4">
                  <p:embed/>
                </p:oleObj>
              </mc:Choice>
              <mc:Fallback>
                <p:oleObj name="Equation" r:id="rId7" imgW="22529800" imgH="10528300" progId="Equation.DSMT4">
                  <p:embed/>
                  <p:pic>
                    <p:nvPicPr>
                      <p:cNvPr id="161812" name="Object 20">
                        <a:extLst>
                          <a:ext uri="{FF2B5EF4-FFF2-40B4-BE49-F238E27FC236}">
                            <a16:creationId xmlns:a16="http://schemas.microsoft.com/office/drawing/2014/main" id="{30065533-1241-A441-B565-4CD4C2B26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958" y="5012208"/>
                        <a:ext cx="2376487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1">
            <a:extLst>
              <a:ext uri="{FF2B5EF4-FFF2-40B4-BE49-F238E27FC236}">
                <a16:creationId xmlns:a16="http://schemas.microsoft.com/office/drawing/2014/main" id="{CE8F4D69-76DA-B840-A7F7-9AF2548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683" y="2908771"/>
            <a:ext cx="10795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ECFB7D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</a:rPr>
              <a:t>这里实际上是倒置</a:t>
            </a:r>
          </a:p>
        </p:txBody>
      </p:sp>
    </p:spTree>
    <p:extLst>
      <p:ext uri="{BB962C8B-B14F-4D97-AF65-F5344CB8AC3E}">
        <p14:creationId xmlns:p14="http://schemas.microsoft.com/office/powerpoint/2010/main" val="26044757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8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26" grpId="0"/>
      <p:bldP spid="27" grpId="0" autoUpdateAnimBg="0"/>
      <p:bldP spid="28" grpId="0" autoUpdateAnimBg="0"/>
      <p:bldP spid="29" grpId="0"/>
      <p:bldP spid="31" grpId="0"/>
      <p:bldP spid="32" grpId="0"/>
      <p:bldP spid="33" grpId="0"/>
      <p:bldP spid="34" grpId="0" autoUpdateAnimBg="0"/>
      <p:bldP spid="35" grpId="0"/>
      <p:bldP spid="37" grpId="0"/>
      <p:bldP spid="38" grpId="0"/>
      <p:bldP spid="39" grpId="0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2">
            <a:extLst>
              <a:ext uri="{FF2B5EF4-FFF2-40B4-BE49-F238E27FC236}">
                <a16:creationId xmlns:a16="http://schemas.microsoft.com/office/drawing/2014/main" id="{4C4C799E-26D5-F14C-AC32-1100BB089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196975"/>
            <a:ext cx="543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看两个特殊的矩阵相乘</a:t>
            </a:r>
            <a:r>
              <a:rPr lang="en-US" altLang="zh-CN" sz="28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</a:p>
        </p:txBody>
      </p:sp>
      <p:graphicFrame>
        <p:nvGraphicFramePr>
          <p:cNvPr id="35" name="Object 3">
            <a:extLst>
              <a:ext uri="{FF2B5EF4-FFF2-40B4-BE49-F238E27FC236}">
                <a16:creationId xmlns:a16="http://schemas.microsoft.com/office/drawing/2014/main" id="{A0C949DB-9CCF-884D-9C8D-4609CA4AD8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133600"/>
          <a:ext cx="3059112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5" name="Equation" r:id="rId3" imgW="40373300" imgH="16383000" progId="Equation.DSMT4">
                  <p:embed/>
                </p:oleObj>
              </mc:Choice>
              <mc:Fallback>
                <p:oleObj name="Equation" r:id="rId3" imgW="40373300" imgH="16383000" progId="Equation.DSMT4">
                  <p:embed/>
                  <p:pic>
                    <p:nvPicPr>
                      <p:cNvPr id="162819" name="Object 3">
                        <a:extLst>
                          <a:ext uri="{FF2B5EF4-FFF2-40B4-BE49-F238E27FC236}">
                            <a16:creationId xmlns:a16="http://schemas.microsoft.com/office/drawing/2014/main" id="{46F3CECA-9D3C-914D-A16A-88E0813475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133600"/>
                        <a:ext cx="3059112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">
            <a:extLst>
              <a:ext uri="{FF2B5EF4-FFF2-40B4-BE49-F238E27FC236}">
                <a16:creationId xmlns:a16="http://schemas.microsoft.com/office/drawing/2014/main" id="{AF850FD5-9862-714B-84DA-76D2C9567B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060575"/>
          <a:ext cx="20034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6" name="Equation" r:id="rId5" imgW="27495500" imgH="16383000" progId="Equation.DSMT4">
                  <p:embed/>
                </p:oleObj>
              </mc:Choice>
              <mc:Fallback>
                <p:oleObj name="Equation" r:id="rId5" imgW="27495500" imgH="16383000" progId="Equation.DSMT4">
                  <p:embed/>
                  <p:pic>
                    <p:nvPicPr>
                      <p:cNvPr id="162820" name="Object 4">
                        <a:extLst>
                          <a:ext uri="{FF2B5EF4-FFF2-40B4-BE49-F238E27FC236}">
                            <a16:creationId xmlns:a16="http://schemas.microsoft.com/office/drawing/2014/main" id="{56D20C8B-43B9-534B-8DC5-EECF57B91C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60575"/>
                        <a:ext cx="20034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">
            <a:extLst>
              <a:ext uri="{FF2B5EF4-FFF2-40B4-BE49-F238E27FC236}">
                <a16:creationId xmlns:a16="http://schemas.microsoft.com/office/drawing/2014/main" id="{014B0114-365C-3D40-95AD-19CFEEFE38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0500" y="1773238"/>
          <a:ext cx="3703638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7" name="Equation" r:id="rId7" imgW="48272700" imgH="21069300" progId="Equation.DSMT4">
                  <p:embed/>
                </p:oleObj>
              </mc:Choice>
              <mc:Fallback>
                <p:oleObj name="Equation" r:id="rId7" imgW="48272700" imgH="21069300" progId="Equation.DSMT4">
                  <p:embed/>
                  <p:pic>
                    <p:nvPicPr>
                      <p:cNvPr id="162821" name="Object 5">
                        <a:extLst>
                          <a:ext uri="{FF2B5EF4-FFF2-40B4-BE49-F238E27FC236}">
                            <a16:creationId xmlns:a16="http://schemas.microsoft.com/office/drawing/2014/main" id="{877BFE5F-EEA5-5547-AAFA-AC9B2762D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0" y="1773238"/>
                        <a:ext cx="3703638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6">
            <a:extLst>
              <a:ext uri="{FF2B5EF4-FFF2-40B4-BE49-F238E27FC236}">
                <a16:creationId xmlns:a16="http://schemas.microsoft.com/office/drawing/2014/main" id="{44CE6A4C-1F91-1448-AD94-6E6826A37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076700"/>
          <a:ext cx="42799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8" name="Equation" r:id="rId9" imgW="36283900" imgH="5270500" progId="Equation.DSMT4">
                  <p:embed/>
                </p:oleObj>
              </mc:Choice>
              <mc:Fallback>
                <p:oleObj name="Equation" r:id="rId9" imgW="36283900" imgH="5270500" progId="Equation.DSMT4">
                  <p:embed/>
                  <p:pic>
                    <p:nvPicPr>
                      <p:cNvPr id="162822" name="Object 6">
                        <a:extLst>
                          <a:ext uri="{FF2B5EF4-FFF2-40B4-BE49-F238E27FC236}">
                            <a16:creationId xmlns:a16="http://schemas.microsoft.com/office/drawing/2014/main" id="{DD05BB1C-E1DB-4A4D-8F68-EBFA82528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076700"/>
                        <a:ext cx="42799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7">
            <a:extLst>
              <a:ext uri="{FF2B5EF4-FFF2-40B4-BE49-F238E27FC236}">
                <a16:creationId xmlns:a16="http://schemas.microsoft.com/office/drawing/2014/main" id="{F46A79A8-7E3D-1345-B7C1-A98BC5049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011738"/>
            <a:ext cx="8388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2800" b="1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 b="1">
                <a:solidFill>
                  <a:srgbClr val="FFFF00"/>
                </a:solidFill>
                <a:ea typeface="宋体" panose="02010600030101010101" pitchFamily="2" charset="-122"/>
              </a:rPr>
              <a:t>—</a:t>
            </a:r>
            <a:r>
              <a:rPr lang="zh-CN" altLang="en-US" sz="28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单位矩阵</a:t>
            </a:r>
            <a:r>
              <a:rPr lang="en-US" altLang="zh-CN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矩阵运算中的</a:t>
            </a:r>
            <a:r>
              <a:rPr lang="en-US" altLang="zh-CN" b="1" i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E </a:t>
            </a:r>
            <a:r>
              <a:rPr lang="zh-CN" altLang="en-US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，相当于数中的</a:t>
            </a:r>
            <a:r>
              <a:rPr lang="en-US" altLang="zh-CN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1) </a:t>
            </a:r>
          </a:p>
        </p:txBody>
      </p:sp>
      <p:sp>
        <p:nvSpPr>
          <p:cNvPr id="40" name="Text Box 8">
            <a:extLst>
              <a:ext uri="{FF2B5EF4-FFF2-40B4-BE49-F238E27FC236}">
                <a16:creationId xmlns:a16="http://schemas.microsoft.com/office/drawing/2014/main" id="{D350629C-9792-AF41-B937-EBF2C4F0F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03675"/>
            <a:ext cx="2987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ea typeface="楷体_GB2312" panose="02010609030101010101" pitchFamily="49" charset="-122"/>
              </a:rPr>
              <a:t>一般地，有：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F519B8A3-2116-0D49-9F72-6AAA580E4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1816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 b="1">
                <a:solidFill>
                  <a:srgbClr val="FFFFFF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单位矩阵</a:t>
            </a:r>
          </a:p>
        </p:txBody>
      </p:sp>
    </p:spTree>
    <p:extLst>
      <p:ext uri="{BB962C8B-B14F-4D97-AF65-F5344CB8AC3E}">
        <p14:creationId xmlns:p14="http://schemas.microsoft.com/office/powerpoint/2010/main" val="14543273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  <p:bldP spid="40" grpId="0" autoUpdateAnimBg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幂运算的定义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3895" y="2359660"/>
            <a:ext cx="150558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2.5</a:t>
            </a:r>
          </a:p>
        </p:txBody>
      </p:sp>
      <p:sp>
        <p:nvSpPr>
          <p:cNvPr id="168963" name="Text Box 3"/>
          <p:cNvSpPr txBox="1"/>
          <p:nvPr>
            <p:custDataLst>
              <p:tags r:id="rId3"/>
            </p:custDataLst>
          </p:nvPr>
        </p:nvSpPr>
        <p:spPr>
          <a:xfrm>
            <a:off x="923290" y="1140143"/>
            <a:ext cx="6248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如果 </a:t>
            </a:r>
            <a:r>
              <a:rPr lang="en-US" altLang="zh-CN" sz="2800" b="1" i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是 </a:t>
            </a:r>
            <a:r>
              <a:rPr lang="en-US" altLang="zh-CN" sz="2800" b="1" i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阶矩阵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那么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sz="2800" b="1" i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有意义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</a:p>
        </p:txBody>
      </p:sp>
      <p:graphicFrame>
        <p:nvGraphicFramePr>
          <p:cNvPr id="168964" name="Object 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163753" y="1068705"/>
          <a:ext cx="13716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r:id="rId12" imgW="508000" imgH="368300" progId="Equation.3">
                  <p:embed/>
                </p:oleObj>
              </mc:Choice>
              <mc:Fallback>
                <p:oleObj r:id="rId12" imgW="508000" imgH="368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63753" y="1068705"/>
                        <a:ext cx="1371600" cy="833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5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2290" y="1749743"/>
            <a:ext cx="62484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也有意义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因此有下述定义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:</a:t>
            </a:r>
            <a:endParaRPr kumimoji="1" lang="en-US" altLang="zh-CN" sz="2800" b="1" kern="1200" cap="none" spc="0" normalizeH="0" baseline="0" noProof="0" dirty="0">
              <a:solidFill>
                <a:srgbClr val="006600"/>
              </a:solidFill>
              <a:effectLst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168966" name="Object 6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3014663" y="4005263"/>
          <a:ext cx="31130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14" imgW="21640800" imgH="9144000" progId="Equation.DSMT4">
                  <p:embed/>
                </p:oleObj>
              </mc:Choice>
              <mc:Fallback>
                <p:oleObj name="Equation" r:id="rId14" imgW="21640800" imgH="91440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14663" y="4005263"/>
                        <a:ext cx="3113087" cy="1008062"/>
                      </a:xfrm>
                      <a:prstGeom prst="rect">
                        <a:avLst/>
                      </a:prstGeom>
                      <a:noFill/>
                      <a:ln w="25400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8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1505" y="3078798"/>
            <a:ext cx="67818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</a:rPr>
              <a:t>称为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ffectLst/>
                <a:ea typeface="华文中宋" panose="02010600040101010101" pitchFamily="2" charset="-122"/>
                <a:sym typeface="+mn-ea"/>
              </a:rPr>
              <a:t>A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</a:rPr>
              <a:t> 的 </a:t>
            </a: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</a:rPr>
              <a:t>m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</a:rPr>
              <a:t>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anose="02010600040101010101" pitchFamily="2" charset="-122"/>
              </a:rPr>
              <a:t>次幂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，记为 </a:t>
            </a:r>
            <a:r>
              <a:rPr lang="en-US" altLang="zh-CN" b="1" i="1" dirty="0">
                <a:solidFill>
                  <a:schemeClr val="tx1"/>
                </a:solidFill>
                <a:effectLst/>
                <a:ea typeface="华文中宋" panose="02010600040101010101" pitchFamily="2" charset="-122"/>
                <a:sym typeface="+mn-ea"/>
              </a:rPr>
              <a:t>A</a:t>
            </a:r>
            <a:r>
              <a:rPr kumimoji="1" lang="en-US" altLang="zh-CN" sz="28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即</a:t>
            </a:r>
          </a:p>
        </p:txBody>
      </p:sp>
      <p:sp>
        <p:nvSpPr>
          <p:cNvPr id="168969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004060" y="2447290"/>
            <a:ext cx="710057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是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阶矩阵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是正整数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个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en-US" altLang="zh-CN" b="1" i="1" dirty="0">
                <a:effectLst/>
                <a:ea typeface="华文中宋" panose="02010600040101010101" pitchFamily="2" charset="-122"/>
                <a:sym typeface="+mn-ea"/>
              </a:rPr>
              <a:t>A 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+mn-ea"/>
              </a:rPr>
              <a:t>相乘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8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8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8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  <p:bldP spid="168965" grpId="0" build="p" advAuto="1000"/>
      <p:bldP spid="168968" grpId="0" build="p" advAuto="1000"/>
      <p:bldP spid="16896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幂运算的运算规律</a:t>
            </a:r>
          </a:p>
        </p:txBody>
      </p:sp>
      <p:sp>
        <p:nvSpPr>
          <p:cNvPr id="3174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188" y="956945"/>
            <a:ext cx="807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运算规律：</a:t>
            </a:r>
          </a:p>
        </p:txBody>
      </p:sp>
      <p:sp>
        <p:nvSpPr>
          <p:cNvPr id="169986" name="Text Box 2"/>
          <p:cNvSpPr txBox="1">
            <a:spLocks noChangeArrowheads="1"/>
          </p:cNvSpPr>
          <p:nvPr/>
        </p:nvSpPr>
        <p:spPr bwMode="auto">
          <a:xfrm>
            <a:off x="683260" y="1494473"/>
            <a:ext cx="80010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     设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为方阵,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k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l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为正整数, 则</a:t>
            </a:r>
          </a:p>
        </p:txBody>
      </p:sp>
      <p:sp>
        <p:nvSpPr>
          <p:cNvPr id="169987" name="Rectangle 3"/>
          <p:cNvSpPr/>
          <p:nvPr>
            <p:custDataLst>
              <p:tags r:id="rId2"/>
            </p:custDataLst>
          </p:nvPr>
        </p:nvSpPr>
        <p:spPr>
          <a:xfrm>
            <a:off x="709613" y="3519488"/>
            <a:ext cx="66706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阶方阵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一般来说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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.</a:t>
            </a:r>
          </a:p>
        </p:txBody>
      </p:sp>
      <p:sp>
        <p:nvSpPr>
          <p:cNvPr id="169988" name="Rectangle 4"/>
          <p:cNvSpPr/>
          <p:nvPr>
            <p:custDataLst>
              <p:tags r:id="rId3"/>
            </p:custDataLst>
          </p:nvPr>
        </p:nvSpPr>
        <p:spPr>
          <a:xfrm>
            <a:off x="709613" y="2833688"/>
            <a:ext cx="7977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又因矩阵乘法一般不满足交换律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所以对于两个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</a:p>
        </p:txBody>
      </p:sp>
      <p:sp>
        <p:nvSpPr>
          <p:cNvPr id="169989" name="Rectangle 5"/>
          <p:cNvSpPr/>
          <p:nvPr>
            <p:custDataLst>
              <p:tags r:id="rId4"/>
            </p:custDataLst>
          </p:nvPr>
        </p:nvSpPr>
        <p:spPr>
          <a:xfrm>
            <a:off x="2646363" y="2133600"/>
            <a:ext cx="40592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k+l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,  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kl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.</a:t>
            </a:r>
            <a:endParaRPr lang="en-US" altLang="zh-CN" sz="2800" b="1" i="1" baseline="30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69990" name="Text Box 6"/>
          <p:cNvSpPr txBox="1"/>
          <p:nvPr>
            <p:custDataLst>
              <p:tags r:id="rId5"/>
            </p:custDataLst>
          </p:nvPr>
        </p:nvSpPr>
        <p:spPr>
          <a:xfrm>
            <a:off x="611188" y="4652963"/>
            <a:ext cx="8001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在什么条件下可以相等？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9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9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/>
      <p:bldP spid="169986" grpId="0" animBg="1"/>
      <p:bldP spid="169986" grpId="1" animBg="1"/>
      <p:bldP spid="169987" grpId="0" build="p" advAuto="1000"/>
      <p:bldP spid="169988" grpId="0" build="p" advAuto="1000"/>
      <p:bldP spid="169989" grpId="0" build="p" advAuto="1000"/>
      <p:bldP spid="16999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4">
            <a:extLst>
              <a:ext uri="{FF2B5EF4-FFF2-40B4-BE49-F238E27FC236}">
                <a16:creationId xmlns:a16="http://schemas.microsoft.com/office/drawing/2014/main" id="{35FA86A5-53A0-A94A-8FB5-D2715346A01A}"/>
              </a:ext>
            </a:extLst>
          </p:cNvPr>
          <p:cNvSpPr/>
          <p:nvPr/>
        </p:nvSpPr>
        <p:spPr>
          <a:xfrm>
            <a:off x="1734207" y="3090041"/>
            <a:ext cx="5746531" cy="2329003"/>
          </a:xfrm>
          <a:prstGeom prst="roundRect">
            <a:avLst>
              <a:gd name="adj" fmla="val 5822"/>
            </a:avLst>
          </a:prstGeom>
          <a:solidFill>
            <a:schemeClr val="bg1">
              <a:lumMod val="95000"/>
            </a:schemeClr>
          </a:solidFill>
          <a:ln w="38100">
            <a:solidFill>
              <a:srgbClr val="FF99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标题 3">
            <a:extLst>
              <a:ext uri="{FF2B5EF4-FFF2-40B4-BE49-F238E27FC236}">
                <a16:creationId xmlns:a16="http://schemas.microsoft.com/office/drawing/2014/main" id="{9E926B81-2F5F-FD48-A995-E2BB52A5B26F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sz="16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16">
                <a:extLst>
                  <a:ext uri="{FF2B5EF4-FFF2-40B4-BE49-F238E27FC236}">
                    <a16:creationId xmlns:a16="http://schemas.microsoft.com/office/drawing/2014/main" id="{8E39C04C-475C-FD47-8EE3-AFF4C64C5B11}"/>
                  </a:ext>
                </a:extLst>
              </p:cNvPr>
              <p:cNvSpPr/>
              <p:nvPr/>
            </p:nvSpPr>
            <p:spPr>
              <a:xfrm>
                <a:off x="539750" y="826204"/>
                <a:ext cx="8064500" cy="53322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711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由于矩阵乘法不满足交换律，一般来讲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𝐴𝐵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 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711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只有当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可交换（即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𝐵𝐴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）时，公式</a:t>
                </a:r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𝐴𝐵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kern="1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等才成立</a:t>
                </a:r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 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16">
                <a:extLst>
                  <a:ext uri="{FF2B5EF4-FFF2-40B4-BE49-F238E27FC236}">
                    <a16:creationId xmlns:a16="http://schemas.microsoft.com/office/drawing/2014/main" id="{8E39C04C-475C-FD47-8EE3-AFF4C64C5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826204"/>
                <a:ext cx="8064500" cy="5332229"/>
              </a:xfrm>
              <a:prstGeom prst="rect">
                <a:avLst/>
              </a:prstGeom>
              <a:blipFill>
                <a:blip r:embed="rId2"/>
                <a:stretch>
                  <a:fillRect l="-1572" r="-1415" b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0">
            <a:extLst>
              <a:ext uri="{FF2B5EF4-FFF2-40B4-BE49-F238E27FC236}">
                <a16:creationId xmlns:a16="http://schemas.microsoft.com/office/drawing/2014/main" id="{F628F4FD-E3CA-DA44-B1B7-0F39F5855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幂运算的运算规律</a:t>
            </a:r>
          </a:p>
        </p:txBody>
      </p:sp>
    </p:spTree>
    <p:extLst>
      <p:ext uri="{BB962C8B-B14F-4D97-AF65-F5344CB8AC3E}">
        <p14:creationId xmlns:p14="http://schemas.microsoft.com/office/powerpoint/2010/main" val="42580514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9BA92E6F-3127-584A-B50C-60503240DB12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sz="1650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0B5A2297-7EFD-A94A-AFC6-DED8D480B83A}"/>
              </a:ext>
            </a:extLst>
          </p:cNvPr>
          <p:cNvSpPr/>
          <p:nvPr/>
        </p:nvSpPr>
        <p:spPr bwMode="auto">
          <a:xfrm>
            <a:off x="422698" y="1556792"/>
            <a:ext cx="871264" cy="50250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/>
              <a:t>例</a:t>
            </a:r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19">
                <a:extLst>
                  <a:ext uri="{FF2B5EF4-FFF2-40B4-BE49-F238E27FC236}">
                    <a16:creationId xmlns:a16="http://schemas.microsoft.com/office/drawing/2014/main" id="{BF9C2CF4-4216-B649-AE55-25B98D32FF41}"/>
                  </a:ext>
                </a:extLst>
              </p:cNvPr>
              <p:cNvSpPr/>
              <p:nvPr/>
            </p:nvSpPr>
            <p:spPr>
              <a:xfrm>
                <a:off x="746245" y="643880"/>
                <a:ext cx="7975057" cy="5219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宋体" panose="02010600030101010101" pitchFamily="2" charset="-122"/>
                  </a:rPr>
                  <a:t>. 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19">
                <a:extLst>
                  <a:ext uri="{FF2B5EF4-FFF2-40B4-BE49-F238E27FC236}">
                    <a16:creationId xmlns:a16="http://schemas.microsoft.com/office/drawing/2014/main" id="{BF9C2CF4-4216-B649-AE55-25B98D32F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45" y="643880"/>
                <a:ext cx="7975057" cy="5219699"/>
              </a:xfrm>
              <a:prstGeom prst="rect">
                <a:avLst/>
              </a:prstGeom>
              <a:blipFill>
                <a:blip r:embed="rId2"/>
                <a:stretch>
                  <a:fillRect l="-318" r="-954" b="-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0">
            <a:extLst>
              <a:ext uri="{FF2B5EF4-FFF2-40B4-BE49-F238E27FC236}">
                <a16:creationId xmlns:a16="http://schemas.microsoft.com/office/drawing/2014/main" id="{72AD4C42-7D27-CE42-BFF9-F7B2DE7EC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幂运算的运算规律</a:t>
            </a:r>
          </a:p>
        </p:txBody>
      </p:sp>
    </p:spTree>
    <p:extLst>
      <p:ext uri="{BB962C8B-B14F-4D97-AF65-F5344CB8AC3E}">
        <p14:creationId xmlns:p14="http://schemas.microsoft.com/office/powerpoint/2010/main" val="18878281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A3BEAEF8-C565-E048-B912-96D7ABC2A4E1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sz="1650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658ADAD9-54F0-7846-97E2-B3BA43A471A9}"/>
              </a:ext>
            </a:extLst>
          </p:cNvPr>
          <p:cNvSpPr/>
          <p:nvPr/>
        </p:nvSpPr>
        <p:spPr bwMode="auto">
          <a:xfrm>
            <a:off x="422698" y="1557510"/>
            <a:ext cx="988316" cy="50250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/>
              <a:t>补例</a:t>
            </a:r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19">
                <a:extLst>
                  <a:ext uri="{FF2B5EF4-FFF2-40B4-BE49-F238E27FC236}">
                    <a16:creationId xmlns:a16="http://schemas.microsoft.com/office/drawing/2014/main" id="{BF43BD84-6594-4F4F-BFF5-F4AAD7D26F56}"/>
                  </a:ext>
                </a:extLst>
              </p:cNvPr>
              <p:cNvSpPr/>
              <p:nvPr/>
            </p:nvSpPr>
            <p:spPr>
              <a:xfrm>
                <a:off x="746245" y="643880"/>
                <a:ext cx="7975057" cy="5219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宋体" panose="02010600030101010101" pitchFamily="2" charset="-122"/>
                  </a:rPr>
                  <a:t>. 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19">
                <a:extLst>
                  <a:ext uri="{FF2B5EF4-FFF2-40B4-BE49-F238E27FC236}">
                    <a16:creationId xmlns:a16="http://schemas.microsoft.com/office/drawing/2014/main" id="{BF43BD84-6594-4F4F-BFF5-F4AAD7D26F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45" y="643880"/>
                <a:ext cx="7975057" cy="5219699"/>
              </a:xfrm>
              <a:prstGeom prst="rect">
                <a:avLst/>
              </a:prstGeom>
              <a:blipFill>
                <a:blip r:embed="rId2"/>
                <a:stretch>
                  <a:fillRect l="-318" r="-954" b="-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527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矩阵幂运算的计算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7995" y="908685"/>
            <a:ext cx="7604125" cy="1771650"/>
            <a:chOff x="737" y="1431"/>
            <a:chExt cx="11975" cy="2790"/>
          </a:xfrm>
        </p:grpSpPr>
        <p:sp>
          <p:nvSpPr>
            <p:cNvPr id="2" name="矩形 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37" y="2225"/>
              <a:ext cx="1930" cy="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例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2.7</a:t>
              </a:r>
            </a:p>
          </p:txBody>
        </p:sp>
        <p:sp>
          <p:nvSpPr>
            <p:cNvPr id="64514" name="Text Box 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018" y="2360"/>
              <a:ext cx="1777" cy="8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dirty="0">
                  <a:latin typeface="Times New Roman" panose="02020603050405020304" pitchFamily="18" charset="0"/>
                  <a:ea typeface="华文中宋" panose="02010600040101010101" pitchFamily="2" charset="-122"/>
                  <a:cs typeface="+mn-cs"/>
                </a:rPr>
                <a:t> </a:t>
              </a:r>
              <a:r>
                <a:rPr kumimoji="1" lang="zh-CN" altLang="en-US" sz="2800" b="1" kern="1200" cap="none" spc="0" normalizeH="0" baseline="0" noProof="0" dirty="0">
                  <a:latin typeface="Times New Roman" panose="02020603050405020304" pitchFamily="18" charset="0"/>
                  <a:ea typeface="华文中宋" panose="02010600040101010101" pitchFamily="2" charset="-122"/>
                  <a:cs typeface="+mn-cs"/>
                </a:rPr>
                <a:t>设</a:t>
              </a:r>
            </a:p>
          </p:txBody>
        </p:sp>
        <p:sp>
          <p:nvSpPr>
            <p:cNvPr id="38916" name="Rectangle 4"/>
            <p:cNvSpPr/>
            <p:nvPr>
              <p:custDataLst>
                <p:tags r:id="rId8"/>
              </p:custDataLst>
            </p:nvPr>
          </p:nvSpPr>
          <p:spPr>
            <a:xfrm>
              <a:off x="7087" y="2293"/>
              <a:ext cx="5625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求矩阵</a:t>
              </a:r>
              <a:r>
                <a:rPr lang="en-US" altLang="zh-CN" sz="2800" b="1" i="1" noProof="0" dirty="0">
                  <a:solidFill>
                    <a:schemeClr val="tx2"/>
                  </a:solidFill>
                  <a:effectLst/>
                  <a:latin typeface="Times New Roman" panose="02020603050405020304" pitchFamily="18" charset="0"/>
                  <a:ea typeface="华文中宋" panose="02010600040101010101" pitchFamily="2" charset="-122"/>
                </a:rPr>
                <a:t>A</a:t>
              </a:r>
              <a:r>
                <a:rPr lang="en-US" altLang="zh-CN" sz="2800" b="1" i="1" baseline="30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  <a:sym typeface="+mn-ea"/>
                </a:rPr>
                <a:t>k</a:t>
              </a:r>
              <a:r>
                <a:rPr lang="en-US" altLang="zh-CN" sz="2800" b="1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  <a:sym typeface="+mn-ea"/>
                </a:rPr>
                <a:t> , </a:t>
              </a:r>
              <a:r>
                <a:rPr lang="en-US" altLang="zh-CN" sz="2800" b="1" i="1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  <a:sym typeface="+mn-ea"/>
                </a:rPr>
                <a:t>k </a:t>
              </a:r>
              <a:r>
                <a:rPr lang="en-US" altLang="zh-CN" sz="2800" b="1" noProof="0" dirty="0" err="1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  <a:sym typeface="+mn-ea"/>
                </a:rPr>
                <a:t>为正整数</a:t>
              </a:r>
              <a:endPara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endParaRPr>
            </a:p>
          </p:txBody>
        </p:sp>
        <p:graphicFrame>
          <p:nvGraphicFramePr>
            <p:cNvPr id="3" name="对象 2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3004" y="1431"/>
            <a:ext cx="3834" cy="2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3" name="Equation" r:id="rId13" imgW="23469600" imgH="17068800" progId="Equation.DSMT4">
                    <p:embed/>
                  </p:oleObj>
                </mc:Choice>
                <mc:Fallback>
                  <p:oleObj name="Equation" r:id="rId13" imgW="23469600" imgH="170688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004" y="1431"/>
                          <a:ext cx="3834" cy="27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605" y="3298190"/>
            <a:ext cx="1225550" cy="580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解：</a:t>
            </a:r>
          </a:p>
        </p:txBody>
      </p:sp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952625" y="2781300"/>
          <a:ext cx="4538663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Equation" r:id="rId15" imgW="45720000" imgH="17678400" progId="Equation.DSMT4">
                  <p:embed/>
                </p:oleObj>
              </mc:Choice>
              <mc:Fallback>
                <p:oleObj name="Equation" r:id="rId15" imgW="45720000" imgH="17678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52625" y="2781300"/>
                        <a:ext cx="4538663" cy="175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>
            <p:custDataLst>
              <p:tags r:id="rId4"/>
            </p:custDataLst>
          </p:nvPr>
        </p:nvSpPr>
        <p:spPr>
          <a:xfrm>
            <a:off x="1115695" y="3383915"/>
            <a:ext cx="10668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因为</a:t>
            </a: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954213" y="4537075"/>
          <a:ext cx="4538662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5" name="Equation" r:id="rId17" imgW="45720000" imgH="17678400" progId="Equation.DSMT4">
                  <p:embed/>
                </p:oleObj>
              </mc:Choice>
              <mc:Fallback>
                <p:oleObj name="Equation" r:id="rId17" imgW="45720000" imgH="17678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54213" y="4537075"/>
                        <a:ext cx="4538662" cy="175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矩阵幂运算的计算</a:t>
            </a:r>
          </a:p>
        </p:txBody>
      </p:sp>
      <p:sp>
        <p:nvSpPr>
          <p:cNvPr id="2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995" y="141287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2.7</a:t>
            </a:r>
          </a:p>
        </p:txBody>
      </p:sp>
      <p:sp>
        <p:nvSpPr>
          <p:cNvPr id="64514" name="Text Box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81430" y="1498600"/>
            <a:ext cx="112839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</a:t>
            </a:r>
          </a:p>
        </p:txBody>
      </p:sp>
      <p:sp>
        <p:nvSpPr>
          <p:cNvPr id="38916" name="Rectangle 4"/>
          <p:cNvSpPr/>
          <p:nvPr>
            <p:custDataLst>
              <p:tags r:id="rId4"/>
            </p:custDataLst>
          </p:nvPr>
        </p:nvSpPr>
        <p:spPr>
          <a:xfrm>
            <a:off x="4499928" y="1456055"/>
            <a:ext cx="3571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求矩阵</a:t>
            </a:r>
            <a:r>
              <a:rPr lang="en-US" altLang="zh-CN" sz="2800" b="1" i="1" noProof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k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, 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k </a:t>
            </a:r>
            <a:r>
              <a:rPr lang="en-US" altLang="zh-CN" sz="2800" b="1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为正整数</a:t>
            </a:r>
            <a:endParaRPr lang="en-US" altLang="zh-CN" sz="2800" b="1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907223" y="908368"/>
          <a:ext cx="243459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7" name="Equation" r:id="rId12" imgW="23469600" imgH="17068800" progId="Equation.DSMT4">
                  <p:embed/>
                </p:oleObj>
              </mc:Choice>
              <mc:Fallback>
                <p:oleObj name="Equation" r:id="rId12" imgW="23469600" imgH="17068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07223" y="908368"/>
                        <a:ext cx="2434590" cy="177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097088" y="2693988"/>
          <a:ext cx="4538662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8" name="Equation" r:id="rId14" imgW="45720000" imgH="17678400" progId="Equation.DSMT4">
                  <p:embed/>
                </p:oleObj>
              </mc:Choice>
              <mc:Fallback>
                <p:oleObj name="Equation" r:id="rId14" imgW="45720000" imgH="17678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97088" y="2693988"/>
                        <a:ext cx="4538662" cy="175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>
            <p:custDataLst>
              <p:tags r:id="rId7"/>
            </p:custDataLst>
          </p:nvPr>
        </p:nvSpPr>
        <p:spPr>
          <a:xfrm>
            <a:off x="467995" y="4537075"/>
            <a:ext cx="3642995" cy="5619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由数学归纳法，可得</a:t>
            </a: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2211388" y="5013325"/>
          <a:ext cx="4600575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9" name="Equation" r:id="rId16" imgW="46329600" imgH="17678400" progId="Equation.DSMT4">
                  <p:embed/>
                </p:oleObj>
              </mc:Choice>
              <mc:Fallback>
                <p:oleObj name="Equation" r:id="rId16" imgW="46329600" imgH="176784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11388" y="5013325"/>
                        <a:ext cx="4600575" cy="175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矩阵转置的定义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1505" y="1026795"/>
            <a:ext cx="161353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2.6</a:t>
            </a:r>
          </a:p>
        </p:txBody>
      </p:sp>
      <p:graphicFrame>
        <p:nvGraphicFramePr>
          <p:cNvPr id="3" name="Object 2">
            <a:hlinkClick r:id="" action="ppaction://ole?verb=0"/>
            <a:hlinkHover r:id="" action="ppaction://macro?name=Macro1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888298" y="3917816"/>
          <a:ext cx="2930525" cy="221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Equation" r:id="rId15" imgW="1066800" imgH="927100" progId="Equation.DSMT4">
                  <p:embed/>
                </p:oleObj>
              </mc:Choice>
              <mc:Fallback>
                <p:oleObj name="Equation" r:id="rId15" imgW="1066800" imgH="9271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88298" y="3917816"/>
                        <a:ext cx="2930525" cy="2211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78025" y="1124585"/>
            <a:ext cx="702564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把矩阵 </a:t>
            </a:r>
            <a:r>
              <a:rPr kumimoji="1" lang="en-US" altLang="zh-CN" sz="2800" b="1" i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的行换成同序数的列得到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+mn-ea"/>
              </a:rPr>
              <a:t>一个</a:t>
            </a:r>
            <a:endParaRPr kumimoji="1" lang="zh-CN" altLang="en-US" sz="2800" b="1" kern="1200" cap="none" spc="0" normalizeH="0" baseline="0" noProof="0" dirty="0">
              <a:effectLst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" name="Text Box 5"/>
          <p:cNvSpPr txBox="1"/>
          <p:nvPr>
            <p:custDataLst>
              <p:tags r:id="rId4"/>
            </p:custDataLst>
          </p:nvPr>
        </p:nvSpPr>
        <p:spPr>
          <a:xfrm>
            <a:off x="661035" y="2929573"/>
            <a:ext cx="175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例如矩阵</a:t>
            </a:r>
          </a:p>
        </p:txBody>
      </p:sp>
      <p:graphicFrame>
        <p:nvGraphicFramePr>
          <p:cNvPr id="7" name="Object 6">
            <a:hlinkClick r:id="" action="ppaction://ole?verb=0"/>
            <a:hlinkHover r:id="" action="ppaction://macro?name=Macro1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593182" y="2624614"/>
          <a:ext cx="3741420" cy="128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17" imgW="1371600" imgH="469900" progId="Equation.DSMT4">
                  <p:embed/>
                </p:oleObj>
              </mc:Choice>
              <mc:Fallback>
                <p:oleObj name="Equation" r:id="rId17" imgW="1371600" imgH="469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93182" y="2624614"/>
                        <a:ext cx="3741420" cy="1281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/>
          <p:nvPr>
            <p:custDataLst>
              <p:tags r:id="rId6"/>
            </p:custDataLst>
          </p:nvPr>
        </p:nvSpPr>
        <p:spPr>
          <a:xfrm>
            <a:off x="661035" y="4669473"/>
            <a:ext cx="2438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</a:rPr>
              <a:t>的转置矩阵为</a:t>
            </a:r>
          </a:p>
        </p:txBody>
      </p:sp>
      <p:sp>
        <p:nvSpPr>
          <p:cNvPr id="10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1505" y="1797685"/>
            <a:ext cx="7848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+mn-ea"/>
              </a:rPr>
              <a:t>新矩阵</a:t>
            </a: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+mn-ea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叫做 </a:t>
            </a: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转置矩阵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记作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或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′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.</a:t>
            </a:r>
          </a:p>
        </p:txBody>
      </p:sp>
      <p:sp>
        <p:nvSpPr>
          <p:cNvPr id="11" name="Line 9"/>
          <p:cNvSpPr/>
          <p:nvPr>
            <p:custDataLst>
              <p:tags r:id="rId8"/>
            </p:custDataLst>
          </p:nvPr>
        </p:nvSpPr>
        <p:spPr>
          <a:xfrm>
            <a:off x="3470910" y="3142298"/>
            <a:ext cx="2665413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Line 10"/>
          <p:cNvSpPr/>
          <p:nvPr>
            <p:custDataLst>
              <p:tags r:id="rId9"/>
            </p:custDataLst>
          </p:nvPr>
        </p:nvSpPr>
        <p:spPr>
          <a:xfrm>
            <a:off x="3470910" y="3791585"/>
            <a:ext cx="266541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Line 11"/>
          <p:cNvSpPr/>
          <p:nvPr>
            <p:custDataLst>
              <p:tags r:id="rId10"/>
            </p:custDataLst>
          </p:nvPr>
        </p:nvSpPr>
        <p:spPr>
          <a:xfrm>
            <a:off x="5474335" y="3991610"/>
            <a:ext cx="0" cy="20907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2"/>
          <p:cNvSpPr/>
          <p:nvPr>
            <p:custDataLst>
              <p:tags r:id="rId11"/>
            </p:custDataLst>
          </p:nvPr>
        </p:nvSpPr>
        <p:spPr>
          <a:xfrm>
            <a:off x="4694873" y="3934460"/>
            <a:ext cx="0" cy="2090738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 build="p"/>
      <p:bldP spid="9" grpId="0" build="p"/>
      <p:bldP spid="10" grpId="0" uiExpand="1" build="p" advAuto="100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转置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的运算规律</a:t>
            </a:r>
          </a:p>
        </p:txBody>
      </p:sp>
      <p:sp>
        <p:nvSpPr>
          <p:cNvPr id="3174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188" y="956945"/>
            <a:ext cx="807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运算规律：</a:t>
            </a:r>
          </a:p>
        </p:txBody>
      </p:sp>
      <p:sp>
        <p:nvSpPr>
          <p:cNvPr id="172034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31595" y="1478915"/>
            <a:ext cx="74269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设 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B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-2500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-2500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…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</a:t>
            </a:r>
            <a:r>
              <a:rPr kumimoji="1" lang="en-US" altLang="zh-CN" sz="2800" b="1" i="1" kern="1200" cap="none" spc="0" normalizeH="0" baseline="-2500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k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是矩阵，且</a:t>
            </a:r>
          </a:p>
        </p:txBody>
      </p:sp>
      <p:sp>
        <p:nvSpPr>
          <p:cNvPr id="172035" name="Rectangle 3"/>
          <p:cNvSpPr/>
          <p:nvPr>
            <p:custDataLst>
              <p:tags r:id="rId3"/>
            </p:custDataLst>
          </p:nvPr>
        </p:nvSpPr>
        <p:spPr>
          <a:xfrm>
            <a:off x="2123440" y="3141345"/>
            <a:ext cx="4572000" cy="2461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(1)    (</a:t>
            </a:r>
            <a:r>
              <a:rPr lang="en-US" altLang="zh-CN" sz="2800" b="1" i="1" noProof="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(2)    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C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C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(3)    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kA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kA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(4)    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; </a:t>
            </a:r>
          </a:p>
        </p:txBody>
      </p:sp>
      <p:sp>
        <p:nvSpPr>
          <p:cNvPr id="172036" name="Rectangle 4"/>
          <p:cNvSpPr/>
          <p:nvPr>
            <p:custDataLst>
              <p:tags r:id="rId4"/>
            </p:custDataLst>
          </p:nvPr>
        </p:nvSpPr>
        <p:spPr>
          <a:xfrm>
            <a:off x="518160" y="2528888"/>
            <a:ext cx="762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172037" name="Rectangle 5"/>
          <p:cNvSpPr/>
          <p:nvPr>
            <p:custDataLst>
              <p:tags r:id="rId5"/>
            </p:custDataLst>
          </p:nvPr>
        </p:nvSpPr>
        <p:spPr>
          <a:xfrm>
            <a:off x="394970" y="1946593"/>
            <a:ext cx="8001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它们的行数与列数使相应的运算有定义，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是数，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2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2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/>
      <p:bldP spid="172034" grpId="0" build="p" advAuto="1000"/>
      <p:bldP spid="172035" grpId="0" uiExpand="1" build="p"/>
      <p:bldP spid="172036" grpId="0" build="p" advAuto="1000"/>
      <p:bldP spid="172037" grpId="0" build="p" advAuto="100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4">
            <a:extLst>
              <a:ext uri="{FF2B5EF4-FFF2-40B4-BE49-F238E27FC236}">
                <a16:creationId xmlns:a16="http://schemas.microsoft.com/office/drawing/2014/main" id="{12EAF590-4BD0-CA44-974C-06F9EC37F349}"/>
              </a:ext>
            </a:extLst>
          </p:cNvPr>
          <p:cNvSpPr/>
          <p:nvPr/>
        </p:nvSpPr>
        <p:spPr>
          <a:xfrm>
            <a:off x="459581" y="5203781"/>
            <a:ext cx="8115300" cy="1177547"/>
          </a:xfrm>
          <a:prstGeom prst="roundRect">
            <a:avLst>
              <a:gd name="adj" fmla="val 5822"/>
            </a:avLst>
          </a:prstGeom>
          <a:solidFill>
            <a:schemeClr val="bg1">
              <a:lumMod val="95000"/>
            </a:schemeClr>
          </a:solidFill>
          <a:ln w="38100">
            <a:solidFill>
              <a:srgbClr val="FF99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圆角矩形 13">
            <a:extLst>
              <a:ext uri="{FF2B5EF4-FFF2-40B4-BE49-F238E27FC236}">
                <a16:creationId xmlns:a16="http://schemas.microsoft.com/office/drawing/2014/main" id="{D550827D-23FD-3A49-9F1F-2BEE3F1C2D7D}"/>
              </a:ext>
            </a:extLst>
          </p:cNvPr>
          <p:cNvSpPr/>
          <p:nvPr/>
        </p:nvSpPr>
        <p:spPr>
          <a:xfrm>
            <a:off x="459581" y="2461267"/>
            <a:ext cx="8115300" cy="1290231"/>
          </a:xfrm>
          <a:prstGeom prst="roundRect">
            <a:avLst>
              <a:gd name="adj" fmla="val 5822"/>
            </a:avLst>
          </a:prstGeom>
          <a:solidFill>
            <a:schemeClr val="bg1">
              <a:lumMod val="95000"/>
            </a:schemeClr>
          </a:solidFill>
          <a:ln w="38100">
            <a:solidFill>
              <a:srgbClr val="FF99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CE3CC40-5543-8349-920C-38590D4A7612}"/>
              </a:ext>
            </a:extLst>
          </p:cNvPr>
          <p:cNvSpPr txBox="1">
            <a:spLocks/>
          </p:cNvSpPr>
          <p:nvPr/>
        </p:nvSpPr>
        <p:spPr>
          <a:xfrm>
            <a:off x="790985" y="896133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sz="1650" dirty="0"/>
          </a:p>
        </p:txBody>
      </p:sp>
      <p:sp>
        <p:nvSpPr>
          <p:cNvPr id="5" name="矩形 10">
            <a:extLst>
              <a:ext uri="{FF2B5EF4-FFF2-40B4-BE49-F238E27FC236}">
                <a16:creationId xmlns:a16="http://schemas.microsoft.com/office/drawing/2014/main" id="{C2E28AD0-2C30-1B48-9FDD-495148481391}"/>
              </a:ext>
            </a:extLst>
          </p:cNvPr>
          <p:cNvSpPr/>
          <p:nvPr/>
        </p:nvSpPr>
        <p:spPr bwMode="auto">
          <a:xfrm>
            <a:off x="195048" y="1002273"/>
            <a:ext cx="873928" cy="509615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</a:rPr>
              <a:t>例 </a:t>
            </a:r>
          </a:p>
        </p:txBody>
      </p:sp>
      <p:cxnSp>
        <p:nvCxnSpPr>
          <p:cNvPr id="6" name="直接连接符 12">
            <a:extLst>
              <a:ext uri="{FF2B5EF4-FFF2-40B4-BE49-F238E27FC236}">
                <a16:creationId xmlns:a16="http://schemas.microsoft.com/office/drawing/2014/main" id="{12008E94-5B96-6C4C-811F-8028EE4A0BAD}"/>
              </a:ext>
            </a:extLst>
          </p:cNvPr>
          <p:cNvCxnSpPr/>
          <p:nvPr/>
        </p:nvCxnSpPr>
        <p:spPr>
          <a:xfrm>
            <a:off x="0" y="4941168"/>
            <a:ext cx="914400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15">
                <a:extLst>
                  <a:ext uri="{FF2B5EF4-FFF2-40B4-BE49-F238E27FC236}">
                    <a16:creationId xmlns:a16="http://schemas.microsoft.com/office/drawing/2014/main" id="{B5949E57-727C-974E-A34F-07FC1ABD6B0D}"/>
                  </a:ext>
                </a:extLst>
              </p:cNvPr>
              <p:cNvSpPr/>
              <p:nvPr/>
            </p:nvSpPr>
            <p:spPr>
              <a:xfrm>
                <a:off x="702355" y="734526"/>
                <a:ext cx="7942869" cy="56468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altLang="zh-CN" sz="2800" dirty="0"/>
                  <a:t>    </a:t>
                </a:r>
                <a:r>
                  <a:rPr lang="zh-CN" altLang="zh-CN" sz="2800" dirty="0"/>
                  <a:t>设矩阵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𝐴</m:t>
                    </m:r>
                    <m:r>
                      <a:rPr lang="en-US" altLang="zh-CN" sz="240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𝐵</m:t>
                    </m:r>
                    <m:r>
                      <a:rPr lang="en-US" altLang="zh-CN" sz="240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/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800" dirty="0"/>
                  <a:t>.    </a:t>
                </a:r>
                <a:endParaRPr lang="zh-CN" altLang="zh-CN" sz="2800" dirty="0"/>
              </a:p>
              <a:p>
                <a:pPr>
                  <a:spcAft>
                    <a:spcPts val="1800"/>
                  </a:spcAft>
                </a:pPr>
                <a:r>
                  <a:rPr lang="zh-CN" altLang="zh-CN" sz="2800" dirty="0"/>
                  <a:t>解法一</a:t>
                </a:r>
                <a:r>
                  <a:rPr lang="en-US" altLang="zh-CN" sz="2800" dirty="0"/>
                  <a:t>  </a:t>
                </a:r>
                <a:endParaRPr lang="zh-CN" altLang="zh-CN" sz="2800" dirty="0"/>
              </a:p>
              <a:p>
                <a:pPr algn="ctr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𝐴𝐵</m:t>
                    </m:r>
                    <m:r>
                      <a:rPr lang="en-US" altLang="zh-CN" sz="240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/>
                  <a:t>，</a:t>
                </a:r>
              </a:p>
              <a:p>
                <a:pPr>
                  <a:spcAft>
                    <a:spcPts val="1800"/>
                  </a:spcAft>
                </a:pPr>
                <a:r>
                  <a:rPr lang="zh-CN" altLang="zh-CN" sz="2800" dirty="0"/>
                  <a:t>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.  </a:t>
                </a:r>
              </a:p>
              <a:p>
                <a:pPr>
                  <a:spcAft>
                    <a:spcPts val="1800"/>
                  </a:spcAft>
                </a:pPr>
                <a:r>
                  <a:rPr lang="zh-CN" altLang="zh-CN" sz="2800" dirty="0"/>
                  <a:t>解法二</a:t>
                </a:r>
              </a:p>
              <a:p>
                <a:pPr algn="ctr">
                  <a:spcAft>
                    <a:spcPts val="1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.  </a:t>
                </a:r>
                <a:endParaRPr lang="zh-CN" altLang="zh-CN" sz="2400" dirty="0"/>
              </a:p>
            </p:txBody>
          </p:sp>
        </mc:Choice>
        <mc:Fallback>
          <p:sp>
            <p:nvSpPr>
              <p:cNvPr id="7" name="矩形 15">
                <a:extLst>
                  <a:ext uri="{FF2B5EF4-FFF2-40B4-BE49-F238E27FC236}">
                    <a16:creationId xmlns:a16="http://schemas.microsoft.com/office/drawing/2014/main" id="{B5949E57-727C-974E-A34F-07FC1ABD6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55" y="734526"/>
                <a:ext cx="7942869" cy="5646802"/>
              </a:xfrm>
              <a:prstGeom prst="rect">
                <a:avLst/>
              </a:prstGeom>
              <a:blipFill>
                <a:blip r:embed="rId2"/>
                <a:stretch>
                  <a:fillRect l="-1435" b="-7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5068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转置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的运算规律的证明</a:t>
            </a:r>
          </a:p>
        </p:txBody>
      </p:sp>
      <p:sp>
        <p:nvSpPr>
          <p:cNvPr id="100354" name="Text Box 2"/>
          <p:cNvSpPr txBox="1"/>
          <p:nvPr>
            <p:custDataLst>
              <p:tags r:id="rId1"/>
            </p:custDataLst>
          </p:nvPr>
        </p:nvSpPr>
        <p:spPr>
          <a:xfrm>
            <a:off x="228283" y="774700"/>
            <a:ext cx="8686800" cy="4029821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AB</a:t>
            </a:r>
            <a:r>
              <a:rPr lang="en-US" altLang="zh-CN" sz="2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600" b="1" i="1" baseline="30000" dirty="0">
                <a:solidFill>
                  <a:srgbClr val="3333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600" b="1" dirty="0">
                <a:solidFill>
                  <a:srgbClr val="3333FF"/>
                </a:solidFill>
                <a:latin typeface="Symbol" panose="05050102010706020507" pitchFamily="18" charset="2"/>
              </a:rPr>
              <a:t>=</a:t>
            </a:r>
            <a:r>
              <a:rPr lang="en-US" altLang="zh-CN" sz="2600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600" b="1" i="1" baseline="30000" dirty="0">
                <a:solidFill>
                  <a:srgbClr val="3333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600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30000" dirty="0">
                <a:solidFill>
                  <a:srgbClr val="3333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 </a:t>
            </a:r>
            <a:r>
              <a:rPr lang="zh-CN" altLang="en-US" sz="2600" b="1" dirty="0">
                <a:solidFill>
                  <a:srgbClr val="33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的证明：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ij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m</a:t>
            </a:r>
            <a:r>
              <a:rPr lang="en-US" altLang="zh-CN" sz="2600" b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l </a:t>
            </a:r>
            <a:r>
              <a:rPr lang="zh-CN" altLang="en-US" sz="2600" b="1" dirty="0">
                <a:latin typeface="Times New Roman" panose="02020603050405020304" pitchFamily="18" charset="0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ij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l</a:t>
            </a:r>
            <a:r>
              <a:rPr lang="en-US" altLang="zh-CN" sz="2600" b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n </a:t>
            </a:r>
            <a:r>
              <a:rPr lang="zh-CN" altLang="en-US" sz="2600" b="1" dirty="0">
                <a:latin typeface="Times New Roman" panose="02020603050405020304" pitchFamily="18" charset="0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ij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l</a:t>
            </a:r>
            <a:r>
              <a:rPr lang="en-US" altLang="zh-CN" sz="2600" b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m </a:t>
            </a:r>
            <a:r>
              <a:rPr lang="zh-CN" altLang="en-US" sz="2600" b="1" dirty="0">
                <a:latin typeface="Times New Roman" panose="02020603050405020304" pitchFamily="18" charset="0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ij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n</a:t>
            </a:r>
            <a:r>
              <a:rPr lang="en-US" altLang="zh-CN" sz="2600" b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l </a:t>
            </a:r>
            <a:r>
              <a:rPr lang="zh-CN" altLang="en-US" sz="2600" b="1" dirty="0">
                <a:latin typeface="Times New Roman" panose="02020603050405020304" pitchFamily="18" charset="0"/>
              </a:rPr>
              <a:t>，则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ij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 a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ji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ij</a:t>
            </a:r>
            <a:r>
              <a:rPr lang="en-US" altLang="zh-CN" sz="2600" b="1" dirty="0">
                <a:latin typeface="Symbol" panose="05050102010706020507" pitchFamily="18" charset="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 b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ji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。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i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因为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m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矩阵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n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dirty="0">
                <a:latin typeface="Times New Roman" panose="02020603050405020304" pitchFamily="18" charset="0"/>
              </a:rPr>
              <a:t>m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矩阵</a:t>
            </a:r>
            <a:r>
              <a:rPr lang="zh-CN" altLang="en-US" sz="2600" b="1" dirty="0">
                <a:latin typeface="Times New Roman" panose="02020603050405020304" pitchFamily="18" charset="0"/>
              </a:rPr>
              <a:t>；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n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dirty="0">
                <a:latin typeface="Times New Roman" panose="02020603050405020304" pitchFamily="18" charset="0"/>
              </a:rPr>
              <a:t>l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矩阵</a:t>
            </a:r>
            <a:r>
              <a:rPr lang="zh-CN" altLang="en-US" sz="2600" b="1" dirty="0">
                <a:latin typeface="Times New Roman" panose="02020603050405020304" pitchFamily="18" charset="0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l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dirty="0">
                <a:latin typeface="Times New Roman" panose="02020603050405020304" pitchFamily="18" charset="0"/>
              </a:rPr>
              <a:t>m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矩阵</a:t>
            </a:r>
            <a:r>
              <a:rPr lang="zh-CN" altLang="en-US" sz="2600" b="1" dirty="0">
                <a:latin typeface="Times New Roman" panose="02020603050405020304" pitchFamily="18" charset="0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n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 dirty="0">
                <a:latin typeface="Times New Roman" panose="02020603050405020304" pitchFamily="18" charset="0"/>
              </a:rPr>
              <a:t>m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矩阵</a:t>
            </a:r>
            <a:r>
              <a:rPr lang="zh-CN" altLang="en-US" sz="2600" b="1" dirty="0">
                <a:latin typeface="Times New Roman" panose="02020603050405020304" pitchFamily="18" charset="0"/>
              </a:rPr>
              <a:t>。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所以矩阵</a:t>
            </a:r>
            <a:r>
              <a:rPr lang="en-US" altLang="zh-CN" sz="2600" b="1" dirty="0">
                <a:solidFill>
                  <a:srgbClr val="FD2F2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solidFill>
                  <a:srgbClr val="FD2F2F"/>
                </a:solidFill>
                <a:latin typeface="Times New Roman" panose="02020603050405020304" pitchFamily="18" charset="0"/>
              </a:rPr>
              <a:t>AB</a:t>
            </a:r>
            <a:r>
              <a:rPr lang="en-US" altLang="zh-CN" sz="2600" b="1" dirty="0">
                <a:solidFill>
                  <a:srgbClr val="FD2F2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600" b="1" i="1" baseline="30000" dirty="0">
                <a:solidFill>
                  <a:srgbClr val="FD2F2F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与矩阵</a:t>
            </a:r>
            <a:r>
              <a:rPr lang="en-US" altLang="zh-CN" sz="2600" b="1" i="1" dirty="0">
                <a:solidFill>
                  <a:srgbClr val="FD2F2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600" b="1" i="1" baseline="30000" dirty="0">
                <a:solidFill>
                  <a:srgbClr val="FD2F2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600" b="1" i="1" dirty="0">
                <a:solidFill>
                  <a:srgbClr val="FD2F2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30000" dirty="0">
                <a:solidFill>
                  <a:srgbClr val="FD2F2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600" b="1" dirty="0">
                <a:solidFill>
                  <a:srgbClr val="FD2F2F"/>
                </a:solidFill>
                <a:latin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有相同的行数与相同的列数</a:t>
            </a:r>
            <a:r>
              <a:rPr lang="zh-CN" altLang="en-US" sz="2600" b="1" dirty="0">
                <a:solidFill>
                  <a:srgbClr val="FD2F2F"/>
                </a:solidFill>
                <a:latin typeface="Times New Roman" panose="02020603050405020304" pitchFamily="18" charset="0"/>
              </a:rPr>
              <a:t>。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矩阵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</a:rPr>
              <a:t>T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的第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i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行第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j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列元素为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的第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j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行第 </a:t>
            </a:r>
            <a:r>
              <a:rPr lang="en-US" altLang="zh-CN" sz="2600" b="1" dirty="0">
                <a:latin typeface="Times New Roman" panose="02020603050405020304" pitchFamily="18" charset="0"/>
              </a:rPr>
              <a:t>i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列元素</a:t>
            </a:r>
          </a:p>
        </p:txBody>
      </p:sp>
      <p:sp>
        <p:nvSpPr>
          <p:cNvPr id="100355" name="Text Box 3"/>
          <p:cNvSpPr txBox="1"/>
          <p:nvPr>
            <p:custDataLst>
              <p:tags r:id="rId2"/>
            </p:custDataLst>
          </p:nvPr>
        </p:nvSpPr>
        <p:spPr>
          <a:xfrm>
            <a:off x="228283" y="4889500"/>
            <a:ext cx="4188454" cy="4842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 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的第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i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行第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j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列的元素为</a:t>
            </a:r>
          </a:p>
        </p:txBody>
      </p:sp>
      <p:pic>
        <p:nvPicPr>
          <p:cNvPr id="100356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rcRect t="14839" r="82811" b="14839"/>
          <a:stretch>
            <a:fillRect/>
          </a:stretch>
        </p:blipFill>
        <p:spPr>
          <a:xfrm>
            <a:off x="228283" y="5492750"/>
            <a:ext cx="2362200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357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rcRect r="36787"/>
          <a:stretch>
            <a:fillRect/>
          </a:stretch>
        </p:blipFill>
        <p:spPr>
          <a:xfrm>
            <a:off x="-154305" y="4171950"/>
            <a:ext cx="8686800" cy="984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358" name="Text Box 6"/>
          <p:cNvSpPr txBox="1"/>
          <p:nvPr>
            <p:custDataLst>
              <p:tags r:id="rId5"/>
            </p:custDataLst>
          </p:nvPr>
        </p:nvSpPr>
        <p:spPr>
          <a:xfrm>
            <a:off x="323528" y="5919022"/>
            <a:ext cx="8686800" cy="95410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所以矩阵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与矩阵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的对应元素相等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故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 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  <p:pic>
        <p:nvPicPr>
          <p:cNvPr id="100359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rcRect l="17189" t="14839" r="72310" b="14839"/>
          <a:stretch>
            <a:fillRect/>
          </a:stretch>
        </p:blipFill>
        <p:spPr>
          <a:xfrm>
            <a:off x="2590483" y="5492750"/>
            <a:ext cx="1443037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360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"/>
          <a:srcRect l="27563" t="14839" r="36787" b="14839"/>
          <a:stretch>
            <a:fillRect/>
          </a:stretch>
        </p:blipFill>
        <p:spPr>
          <a:xfrm>
            <a:off x="4016058" y="5492750"/>
            <a:ext cx="4899025" cy="692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0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uiExpand="1" build="p"/>
      <p:bldP spid="100355" grpId="0" build="p"/>
      <p:bldP spid="10035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矩阵转置的应用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0080" y="949325"/>
            <a:ext cx="428561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2.7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（对称矩阵）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7650" name="Text Box 2"/>
          <p:cNvSpPr txBox="1"/>
          <p:nvPr>
            <p:custDataLst>
              <p:tags r:id="rId3"/>
            </p:custDataLst>
          </p:nvPr>
        </p:nvSpPr>
        <p:spPr>
          <a:xfrm>
            <a:off x="395605" y="1628775"/>
            <a:ext cx="8686800" cy="487826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如果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n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阶矩阵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满足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zh-CN" altLang="en-US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则称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为对称矩阵。</a:t>
            </a:r>
          </a:p>
        </p:txBody>
      </p:sp>
      <p:sp>
        <p:nvSpPr>
          <p:cNvPr id="7" name="矩形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40080" y="2228850"/>
            <a:ext cx="33210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（反对称矩阵）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8" name="Text Box 2"/>
          <p:cNvSpPr txBox="1"/>
          <p:nvPr>
            <p:custDataLst>
              <p:tags r:id="rId5"/>
            </p:custDataLst>
          </p:nvPr>
        </p:nvSpPr>
        <p:spPr>
          <a:xfrm>
            <a:off x="395605" y="2908300"/>
            <a:ext cx="8686800" cy="487826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如果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n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阶矩阵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满足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=-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zh-CN" altLang="en-US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则称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为反对称矩阵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  <p:sp>
        <p:nvSpPr>
          <p:cNvPr id="9" name="Text Box 2"/>
          <p:cNvSpPr txBox="1"/>
          <p:nvPr>
            <p:custDataLst>
              <p:tags r:id="rId6"/>
            </p:custDataLst>
          </p:nvPr>
        </p:nvSpPr>
        <p:spPr>
          <a:xfrm>
            <a:off x="395605" y="3573145"/>
            <a:ext cx="8686800" cy="47307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</a:t>
            </a:r>
            <a:r>
              <a:rPr sz="2800" b="1" dirty="0" err="1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对称矩阵的特点是：矩阵的元素关于主对角线对</a:t>
            </a:r>
            <a:r>
              <a:rPr sz="2800" b="1" dirty="0" err="1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称</a:t>
            </a:r>
            <a:r>
              <a:rPr sz="2600" b="1" dirty="0">
                <a:ea typeface="华文细黑" panose="02010600040101010101" pitchFamily="2" charset="-122"/>
              </a:rPr>
              <a:t>．</a:t>
            </a:r>
          </a:p>
        </p:txBody>
      </p:sp>
      <p:sp>
        <p:nvSpPr>
          <p:cNvPr id="10" name="Text Box 2"/>
          <p:cNvSpPr txBox="1"/>
          <p:nvPr>
            <p:custDataLst>
              <p:tags r:id="rId7"/>
            </p:custDataLst>
          </p:nvPr>
        </p:nvSpPr>
        <p:spPr>
          <a:xfrm>
            <a:off x="395605" y="4077335"/>
            <a:ext cx="8686800" cy="487826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</a:t>
            </a:r>
            <a:r>
              <a:rPr sz="2800" b="1" dirty="0" err="1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对称矩阵</a:t>
            </a:r>
            <a:r>
              <a:rPr lang="zh-CN"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要求</a:t>
            </a:r>
            <a:r>
              <a:rPr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：矩阵主对角线</a:t>
            </a:r>
            <a:r>
              <a:rPr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的元素</a:t>
            </a:r>
            <a:r>
              <a:rPr lang="zh-CN"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．</a:t>
            </a:r>
          </a:p>
        </p:txBody>
      </p:sp>
      <p:graphicFrame>
        <p:nvGraphicFramePr>
          <p:cNvPr id="45" name="Object 4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2117725" y="4797425"/>
          <a:ext cx="2044700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Equation" r:id="rId12" imgW="23164800" imgH="17068800" progId="Equation.DSMT4">
                  <p:embed/>
                </p:oleObj>
              </mc:Choice>
              <mc:Fallback>
                <p:oleObj name="Equation" r:id="rId12" imgW="23164800" imgH="17068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7725" y="4797425"/>
                        <a:ext cx="2044700" cy="175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/>
          <p:nvPr>
            <p:custDataLst>
              <p:tags r:id="rId9"/>
            </p:custDataLst>
          </p:nvPr>
        </p:nvSpPr>
        <p:spPr>
          <a:xfrm>
            <a:off x="3780155" y="5373370"/>
            <a:ext cx="3074035" cy="4842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为反</a:t>
            </a:r>
            <a:r>
              <a:rPr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对称矩阵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8" grpId="0"/>
      <p:bldP spid="9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9">
                <a:extLst>
                  <a:ext uri="{FF2B5EF4-FFF2-40B4-BE49-F238E27FC236}">
                    <a16:creationId xmlns:a16="http://schemas.microsoft.com/office/drawing/2014/main" id="{9EB0EEDC-7C1B-E541-97DF-1627FE209466}"/>
                  </a:ext>
                </a:extLst>
              </p:cNvPr>
              <p:cNvSpPr/>
              <p:nvPr/>
            </p:nvSpPr>
            <p:spPr>
              <a:xfrm>
                <a:off x="698137" y="5180749"/>
                <a:ext cx="5152615" cy="62681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zh-CN" sz="2800" dirty="0">
                    <a:solidFill>
                      <a:schemeClr val="tx1"/>
                    </a:solidFill>
                  </a:rPr>
                  <a:t>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sz="2800" dirty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800" dirty="0">
                    <a:solidFill>
                      <a:schemeClr val="tx1"/>
                    </a:solidFill>
                  </a:rPr>
                  <a:t>都是对称矩阵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.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矩形 19">
                <a:extLst>
                  <a:ext uri="{FF2B5EF4-FFF2-40B4-BE49-F238E27FC236}">
                    <a16:creationId xmlns:a16="http://schemas.microsoft.com/office/drawing/2014/main" id="{9EB0EEDC-7C1B-E541-97DF-1627FE209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37" y="5180749"/>
                <a:ext cx="5152615" cy="626818"/>
              </a:xfrm>
              <a:prstGeom prst="rect">
                <a:avLst/>
              </a:prstGeom>
              <a:blipFill>
                <a:blip r:embed="rId2"/>
                <a:stretch>
                  <a:fillRect t="-4082" b="-20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3">
            <a:extLst>
              <a:ext uri="{FF2B5EF4-FFF2-40B4-BE49-F238E27FC236}">
                <a16:creationId xmlns:a16="http://schemas.microsoft.com/office/drawing/2014/main" id="{E1658399-45D4-C24E-9507-C9F9FC4C8FE1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sz="1650" dirty="0"/>
          </a:p>
        </p:txBody>
      </p:sp>
      <p:sp>
        <p:nvSpPr>
          <p:cNvPr id="4" name="矩形 16">
            <a:extLst>
              <a:ext uri="{FF2B5EF4-FFF2-40B4-BE49-F238E27FC236}">
                <a16:creationId xmlns:a16="http://schemas.microsoft.com/office/drawing/2014/main" id="{E51B4FFB-2562-B747-9667-556C9A77B706}"/>
              </a:ext>
            </a:extLst>
          </p:cNvPr>
          <p:cNvSpPr/>
          <p:nvPr/>
        </p:nvSpPr>
        <p:spPr bwMode="auto">
          <a:xfrm>
            <a:off x="611200" y="1137433"/>
            <a:ext cx="1016794" cy="472608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5" name="矩形 18">
            <a:extLst>
              <a:ext uri="{FF2B5EF4-FFF2-40B4-BE49-F238E27FC236}">
                <a16:creationId xmlns:a16="http://schemas.microsoft.com/office/drawing/2014/main" id="{C5FC9A62-CC42-4349-AD85-57E5C50631CB}"/>
              </a:ext>
            </a:extLst>
          </p:cNvPr>
          <p:cNvSpPr/>
          <p:nvPr/>
        </p:nvSpPr>
        <p:spPr bwMode="auto">
          <a:xfrm>
            <a:off x="611200" y="2486590"/>
            <a:ext cx="1057274" cy="523220"/>
          </a:xfrm>
          <a:prstGeom prst="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/>
          <a:p>
            <a:pPr algn="ctr" eaLnBrk="1" hangingPunct="1">
              <a:defRPr/>
            </a:pPr>
            <a:r>
              <a:rPr lang="zh-CN" altLang="en-US" sz="2800" dirty="0">
                <a:latin typeface="+mj-ea"/>
                <a:ea typeface="+mj-ea"/>
              </a:rPr>
              <a:t>证明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2">
                <a:extLst>
                  <a:ext uri="{FF2B5EF4-FFF2-40B4-BE49-F238E27FC236}">
                    <a16:creationId xmlns:a16="http://schemas.microsoft.com/office/drawing/2014/main" id="{2A3831F0-E61B-F64D-B0EA-A135A135837F}"/>
                  </a:ext>
                </a:extLst>
              </p:cNvPr>
              <p:cNvSpPr/>
              <p:nvPr/>
            </p:nvSpPr>
            <p:spPr>
              <a:xfrm>
                <a:off x="1654311" y="1006670"/>
                <a:ext cx="6684321" cy="1206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800" dirty="0"/>
                  <a:t>设矩阵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𝐴</m:t>
                    </m:r>
                  </m:oMath>
                </a14:m>
                <a:r>
                  <a:rPr lang="zh-CN" altLang="zh-CN" sz="2800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𝑚</m:t>
                    </m:r>
                    <m:r>
                      <a:rPr lang="en-US" altLang="zh-CN" sz="2800">
                        <a:latin typeface="Cambria Math"/>
                      </a:rPr>
                      <m:t>×</m:t>
                    </m:r>
                    <m:r>
                      <a:rPr lang="en-US" altLang="zh-CN" sz="2800" i="1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zh-CN" sz="2800" dirty="0"/>
                  <a:t>矩阵，证明：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/>
                      </a:rPr>
                      <m:t>𝐴</m:t>
                    </m:r>
                  </m:oMath>
                </a14:m>
                <a:r>
                  <a:rPr lang="zh-CN" altLang="zh-CN" sz="28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𝐴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800" dirty="0"/>
                  <a:t>都是对称矩阵</a:t>
                </a:r>
                <a:r>
                  <a:rPr lang="en-US" altLang="zh-CN" sz="2800" dirty="0"/>
                  <a:t>. 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6" name="矩形 2">
                <a:extLst>
                  <a:ext uri="{FF2B5EF4-FFF2-40B4-BE49-F238E27FC236}">
                    <a16:creationId xmlns:a16="http://schemas.microsoft.com/office/drawing/2014/main" id="{2A3831F0-E61B-F64D-B0EA-A135A13583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311" y="1006670"/>
                <a:ext cx="6684321" cy="1206741"/>
              </a:xfrm>
              <a:prstGeom prst="rect">
                <a:avLst/>
              </a:prstGeom>
              <a:blipFill>
                <a:blip r:embed="rId3"/>
                <a:stretch>
                  <a:fillRect l="-1705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E0042778-F8ED-5F47-9E8C-C3765FF6ED0B}"/>
                  </a:ext>
                </a:extLst>
              </p:cNvPr>
              <p:cNvSpPr/>
              <p:nvPr/>
            </p:nvSpPr>
            <p:spPr>
              <a:xfrm>
                <a:off x="1685146" y="2446608"/>
                <a:ext cx="6940306" cy="21253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800" dirty="0"/>
                  <a:t>因为 </a:t>
                </a: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sz="2800" dirty="0"/>
                  <a:t>，</a:t>
                </a:r>
                <a:endParaRPr lang="en-US" altLang="zh-CN" sz="2800" dirty="0"/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800" dirty="0"/>
                  <a:t>，</a:t>
                </a:r>
              </a:p>
            </p:txBody>
          </p:sp>
        </mc:Choice>
        <mc:Fallback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E0042778-F8ED-5F47-9E8C-C3765FF6E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146" y="2446608"/>
                <a:ext cx="6940306" cy="2125390"/>
              </a:xfrm>
              <a:prstGeom prst="rect">
                <a:avLst/>
              </a:prstGeom>
              <a:blipFill>
                <a:blip r:embed="rId4"/>
                <a:stretch>
                  <a:fillRect l="-1828" t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6306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build="p"/>
      <p:bldP spid="7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9">
                <a:extLst>
                  <a:ext uri="{FF2B5EF4-FFF2-40B4-BE49-F238E27FC236}">
                    <a16:creationId xmlns:a16="http://schemas.microsoft.com/office/drawing/2014/main" id="{19A16AFD-62B2-0942-B98A-93011C2B3D63}"/>
                  </a:ext>
                </a:extLst>
              </p:cNvPr>
              <p:cNvSpPr/>
              <p:nvPr/>
            </p:nvSpPr>
            <p:spPr>
              <a:xfrm>
                <a:off x="698137" y="5180749"/>
                <a:ext cx="5152615" cy="62681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zh-CN" sz="2800" dirty="0">
                    <a:solidFill>
                      <a:schemeClr val="tx1"/>
                    </a:solidFill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zh-CN" sz="2800" dirty="0">
                    <a:solidFill>
                      <a:schemeClr val="tx1"/>
                    </a:solidFill>
                  </a:rPr>
                  <a:t>是对称矩阵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.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矩形 19">
                <a:extLst>
                  <a:ext uri="{FF2B5EF4-FFF2-40B4-BE49-F238E27FC236}">
                    <a16:creationId xmlns:a16="http://schemas.microsoft.com/office/drawing/2014/main" id="{19A16AFD-62B2-0942-B98A-93011C2B3D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37" y="5180749"/>
                <a:ext cx="5152615" cy="626818"/>
              </a:xfrm>
              <a:prstGeom prst="rect">
                <a:avLst/>
              </a:prstGeom>
              <a:blipFill>
                <a:blip r:embed="rId2"/>
                <a:stretch>
                  <a:fillRect t="-4082" b="-20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3">
            <a:extLst>
              <a:ext uri="{FF2B5EF4-FFF2-40B4-BE49-F238E27FC236}">
                <a16:creationId xmlns:a16="http://schemas.microsoft.com/office/drawing/2014/main" id="{033C8BCC-7962-484B-8DD3-4D3547164B7B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sz="1650" dirty="0"/>
          </a:p>
        </p:txBody>
      </p:sp>
      <p:sp>
        <p:nvSpPr>
          <p:cNvPr id="4" name="矩形 16">
            <a:extLst>
              <a:ext uri="{FF2B5EF4-FFF2-40B4-BE49-F238E27FC236}">
                <a16:creationId xmlns:a16="http://schemas.microsoft.com/office/drawing/2014/main" id="{E61FCA83-FC44-1648-AEF2-0B7964A51A44}"/>
              </a:ext>
            </a:extLst>
          </p:cNvPr>
          <p:cNvSpPr/>
          <p:nvPr/>
        </p:nvSpPr>
        <p:spPr bwMode="auto">
          <a:xfrm>
            <a:off x="611200" y="1137433"/>
            <a:ext cx="1016794" cy="472608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补例</a:t>
            </a:r>
          </a:p>
        </p:txBody>
      </p:sp>
      <p:sp>
        <p:nvSpPr>
          <p:cNvPr id="5" name="矩形 18">
            <a:extLst>
              <a:ext uri="{FF2B5EF4-FFF2-40B4-BE49-F238E27FC236}">
                <a16:creationId xmlns:a16="http://schemas.microsoft.com/office/drawing/2014/main" id="{3A2F8BEF-AADE-0141-800E-1C6B19B98805}"/>
              </a:ext>
            </a:extLst>
          </p:cNvPr>
          <p:cNvSpPr/>
          <p:nvPr/>
        </p:nvSpPr>
        <p:spPr bwMode="auto">
          <a:xfrm>
            <a:off x="611200" y="2486590"/>
            <a:ext cx="1057274" cy="523220"/>
          </a:xfrm>
          <a:prstGeom prst="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/>
          <a:p>
            <a:pPr algn="ctr" eaLnBrk="1" hangingPunct="1">
              <a:defRPr/>
            </a:pPr>
            <a:r>
              <a:rPr lang="zh-CN" altLang="en-US" sz="2800" dirty="0">
                <a:latin typeface="+mj-ea"/>
                <a:ea typeface="+mj-ea"/>
              </a:rPr>
              <a:t>证明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D668B0D-474D-CF40-AC3A-ABA5DD35C17E}"/>
                  </a:ext>
                </a:extLst>
              </p:cNvPr>
              <p:cNvSpPr/>
              <p:nvPr/>
            </p:nvSpPr>
            <p:spPr>
              <a:xfrm>
                <a:off x="1685146" y="2446608"/>
                <a:ext cx="6940306" cy="1717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800" dirty="0"/>
                  <a:t>因为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altLang="zh-CN" sz="28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800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2800" i="1" dirty="0"/>
                  <a:t>H</a:t>
                </a:r>
                <a:r>
                  <a:rPr lang="zh-CN" altLang="zh-CN" sz="2800" dirty="0"/>
                  <a:t>，</a:t>
                </a:r>
                <a:endParaRPr lang="en-US" altLang="zh-CN" sz="2800" dirty="0"/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D668B0D-474D-CF40-AC3A-ABA5DD35C1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146" y="2446608"/>
                <a:ext cx="6940306" cy="1717330"/>
              </a:xfrm>
              <a:prstGeom prst="rect">
                <a:avLst/>
              </a:prstGeom>
              <a:blipFill>
                <a:blip r:embed="rId3"/>
                <a:stretch>
                  <a:fillRect l="-1828" t="-735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2">
                <a:extLst>
                  <a:ext uri="{FF2B5EF4-FFF2-40B4-BE49-F238E27FC236}">
                    <a16:creationId xmlns:a16="http://schemas.microsoft.com/office/drawing/2014/main" id="{5361B578-BD17-ED4E-85CF-960AA3539F6E}"/>
                  </a:ext>
                </a:extLst>
              </p:cNvPr>
              <p:cNvSpPr/>
              <p:nvPr/>
            </p:nvSpPr>
            <p:spPr>
              <a:xfrm>
                <a:off x="1654311" y="1006670"/>
                <a:ext cx="6816764" cy="1157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800" dirty="0"/>
                  <a:t>设矩阵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𝐴</m:t>
                    </m:r>
                  </m:oMath>
                </a14:m>
                <a:r>
                  <a:rPr lang="zh-CN" altLang="zh-CN" sz="2800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𝑚</m:t>
                    </m:r>
                    <m:r>
                      <a:rPr lang="en-US" altLang="zh-CN" sz="2800">
                        <a:latin typeface="Cambria Math"/>
                      </a:rPr>
                      <m:t>×</m:t>
                    </m:r>
                    <m:r>
                      <a:rPr lang="en-US" altLang="zh-CN" sz="2800" i="1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zh-CN" sz="2800" dirty="0"/>
                  <a:t>矩阵，</a:t>
                </a:r>
                <a:r>
                  <a:rPr lang="en-US" altLang="zh-CN" sz="2800" i="1" dirty="0"/>
                  <a:t>E</a:t>
                </a:r>
                <a:r>
                  <a:rPr lang="zh-CN" altLang="en-US" sz="2800" dirty="0"/>
                  <a:t>是</a:t>
                </a:r>
                <a:r>
                  <a:rPr lang="en-US" altLang="zh-CN" sz="2800" i="1" dirty="0"/>
                  <a:t>n</a:t>
                </a:r>
                <a:r>
                  <a:rPr lang="zh-CN" altLang="en-US" sz="2800" dirty="0"/>
                  <a:t>阶单位矩阵，</a:t>
                </a:r>
                <a:r>
                  <a:rPr lang="en-US" altLang="zh-CN" sz="2800" i="1" dirty="0"/>
                  <a:t>H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2800" i="1" dirty="0"/>
                  <a:t>E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zh-CN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altLang="zh-CN" sz="2800" dirty="0"/>
                  <a:t>.  </a:t>
                </a:r>
                <a:r>
                  <a:rPr lang="zh-CN" altLang="zh-CN" sz="2800" dirty="0"/>
                  <a:t>证明：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zh-CN" sz="2800" dirty="0"/>
                  <a:t>是对称矩阵</a:t>
                </a:r>
                <a:r>
                  <a:rPr lang="en-US" altLang="zh-CN" sz="2800" dirty="0"/>
                  <a:t>. 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7" name="矩形 2">
                <a:extLst>
                  <a:ext uri="{FF2B5EF4-FFF2-40B4-BE49-F238E27FC236}">
                    <a16:creationId xmlns:a16="http://schemas.microsoft.com/office/drawing/2014/main" id="{5361B578-BD17-ED4E-85CF-960AA3539F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311" y="1006670"/>
                <a:ext cx="6816764" cy="1157176"/>
              </a:xfrm>
              <a:prstGeom prst="rect">
                <a:avLst/>
              </a:prstGeom>
              <a:blipFill>
                <a:blip r:embed="rId4"/>
                <a:stretch>
                  <a:fillRect l="-1673" r="-167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0076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build="p"/>
      <p:bldP spid="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矩阵转置的应用</a:t>
            </a:r>
          </a:p>
        </p:txBody>
      </p:sp>
      <p:sp>
        <p:nvSpPr>
          <p:cNvPr id="2" name="矩形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00266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2.9</a:t>
            </a:r>
          </a:p>
        </p:txBody>
      </p:sp>
      <p:sp>
        <p:nvSpPr>
          <p:cNvPr id="181250" name="Text Box 2"/>
          <p:cNvSpPr txBox="1"/>
          <p:nvPr>
            <p:custDataLst>
              <p:tags r:id="rId2"/>
            </p:custDataLst>
          </p:nvPr>
        </p:nvSpPr>
        <p:spPr>
          <a:xfrm>
            <a:off x="189230" y="1012825"/>
            <a:ext cx="8507095" cy="1119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是两个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阶对称矩阵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证明：当且仅当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B=-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时，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AB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是反对称矩阵。</a:t>
            </a:r>
          </a:p>
        </p:txBody>
      </p:sp>
      <p:sp>
        <p:nvSpPr>
          <p:cNvPr id="181251" name="Rectangle 3"/>
          <p:cNvSpPr/>
          <p:nvPr>
            <p:custDataLst>
              <p:tags r:id="rId3"/>
            </p:custDataLst>
          </p:nvPr>
        </p:nvSpPr>
        <p:spPr>
          <a:xfrm>
            <a:off x="97189" y="2277745"/>
            <a:ext cx="5344412" cy="48782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证：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由于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都是对称矩阵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</a:p>
        </p:txBody>
      </p:sp>
      <p:sp>
        <p:nvSpPr>
          <p:cNvPr id="181252" name="Rectangle 4"/>
          <p:cNvSpPr/>
          <p:nvPr>
            <p:custDataLst>
              <p:tags r:id="rId4"/>
            </p:custDataLst>
          </p:nvPr>
        </p:nvSpPr>
        <p:spPr>
          <a:xfrm>
            <a:off x="5275682" y="2277745"/>
            <a:ext cx="1797800" cy="48782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所以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</a:p>
        </p:txBody>
      </p:sp>
      <p:sp>
        <p:nvSpPr>
          <p:cNvPr id="181253" name="Rectangle 5"/>
          <p:cNvSpPr/>
          <p:nvPr>
            <p:custDataLst>
              <p:tags r:id="rId5"/>
            </p:custDataLst>
          </p:nvPr>
        </p:nvSpPr>
        <p:spPr>
          <a:xfrm>
            <a:off x="7010400" y="2277745"/>
            <a:ext cx="1084263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  <p:sp>
        <p:nvSpPr>
          <p:cNvPr id="181254" name="Rectangle 6"/>
          <p:cNvSpPr/>
          <p:nvPr>
            <p:custDataLst>
              <p:tags r:id="rId6"/>
            </p:custDataLst>
          </p:nvPr>
        </p:nvSpPr>
        <p:spPr>
          <a:xfrm>
            <a:off x="86916" y="2842895"/>
            <a:ext cx="3693319" cy="51655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如果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=-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BA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则有</a:t>
            </a:r>
          </a:p>
        </p:txBody>
      </p:sp>
      <p:sp>
        <p:nvSpPr>
          <p:cNvPr id="181255" name="Rectangle 7"/>
          <p:cNvSpPr/>
          <p:nvPr>
            <p:custDataLst>
              <p:tags r:id="rId7"/>
            </p:custDataLst>
          </p:nvPr>
        </p:nvSpPr>
        <p:spPr>
          <a:xfrm>
            <a:off x="1649413" y="3447733"/>
            <a:ext cx="892175" cy="5159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(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endParaRPr lang="en-US" altLang="zh-CN" sz="2600" b="1" dirty="0"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181256" name="Rectangle 8"/>
          <p:cNvSpPr/>
          <p:nvPr>
            <p:custDataLst>
              <p:tags r:id="rId8"/>
            </p:custDataLst>
          </p:nvPr>
        </p:nvSpPr>
        <p:spPr>
          <a:xfrm>
            <a:off x="4032409" y="3447733"/>
            <a:ext cx="1134745" cy="5194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=-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</a:p>
        </p:txBody>
      </p:sp>
      <p:sp>
        <p:nvSpPr>
          <p:cNvPr id="181257" name="Rectangle 9"/>
          <p:cNvSpPr/>
          <p:nvPr>
            <p:custDataLst>
              <p:tags r:id="rId9"/>
            </p:custDataLst>
          </p:nvPr>
        </p:nvSpPr>
        <p:spPr>
          <a:xfrm>
            <a:off x="3452813" y="3447733"/>
            <a:ext cx="639762" cy="5159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BA</a:t>
            </a:r>
          </a:p>
        </p:txBody>
      </p:sp>
      <p:sp>
        <p:nvSpPr>
          <p:cNvPr id="181258" name="Rectangle 10"/>
          <p:cNvSpPr/>
          <p:nvPr>
            <p:custDataLst>
              <p:tags r:id="rId10"/>
            </p:custDataLst>
          </p:nvPr>
        </p:nvSpPr>
        <p:spPr>
          <a:xfrm>
            <a:off x="2551113" y="3447733"/>
            <a:ext cx="903287" cy="5159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</a:p>
        </p:txBody>
      </p:sp>
      <p:sp>
        <p:nvSpPr>
          <p:cNvPr id="181259" name="Rectangle 11"/>
          <p:cNvSpPr/>
          <p:nvPr>
            <p:custDataLst>
              <p:tags r:id="rId11"/>
            </p:custDataLst>
          </p:nvPr>
        </p:nvSpPr>
        <p:spPr>
          <a:xfrm>
            <a:off x="252818" y="4054158"/>
            <a:ext cx="3625993" cy="52014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所以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是反对称矩阵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  <p:sp>
        <p:nvSpPr>
          <p:cNvPr id="181260" name="Rectangle 12"/>
          <p:cNvSpPr/>
          <p:nvPr>
            <p:custDataLst>
              <p:tags r:id="rId12"/>
            </p:custDataLst>
          </p:nvPr>
        </p:nvSpPr>
        <p:spPr>
          <a:xfrm>
            <a:off x="-93560" y="4658995"/>
            <a:ext cx="5395708" cy="48782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反之，如果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是反对称矩阵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</a:p>
        </p:txBody>
      </p:sp>
      <p:sp>
        <p:nvSpPr>
          <p:cNvPr id="181261" name="Rectangle 13"/>
          <p:cNvSpPr/>
          <p:nvPr>
            <p:custDataLst>
              <p:tags r:id="rId13"/>
            </p:custDataLst>
          </p:nvPr>
        </p:nvSpPr>
        <p:spPr>
          <a:xfrm>
            <a:off x="4917080" y="4648835"/>
            <a:ext cx="2306722" cy="48782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即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=-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</a:p>
        </p:txBody>
      </p:sp>
      <p:sp>
        <p:nvSpPr>
          <p:cNvPr id="181262" name="Rectangle 14"/>
          <p:cNvSpPr/>
          <p:nvPr>
            <p:custDataLst>
              <p:tags r:id="rId14"/>
            </p:custDataLst>
          </p:nvPr>
        </p:nvSpPr>
        <p:spPr>
          <a:xfrm>
            <a:off x="7118032" y="4658995"/>
            <a:ext cx="838343" cy="4842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则有</a:t>
            </a:r>
          </a:p>
        </p:txBody>
      </p:sp>
      <p:sp>
        <p:nvSpPr>
          <p:cNvPr id="181263" name="Rectangle 15"/>
          <p:cNvSpPr/>
          <p:nvPr>
            <p:custDataLst>
              <p:tags r:id="rId15"/>
            </p:custDataLst>
          </p:nvPr>
        </p:nvSpPr>
        <p:spPr>
          <a:xfrm>
            <a:off x="4494689" y="5213985"/>
            <a:ext cx="113474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=-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BA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，</a:t>
            </a:r>
          </a:p>
        </p:txBody>
      </p:sp>
      <p:sp>
        <p:nvSpPr>
          <p:cNvPr id="181264" name="Rectangle 16"/>
          <p:cNvSpPr/>
          <p:nvPr>
            <p:custDataLst>
              <p:tags r:id="rId16"/>
            </p:custDataLst>
          </p:nvPr>
        </p:nvSpPr>
        <p:spPr>
          <a:xfrm>
            <a:off x="2175828" y="5188585"/>
            <a:ext cx="115443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=-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</a:p>
        </p:txBody>
      </p:sp>
      <p:sp>
        <p:nvSpPr>
          <p:cNvPr id="181265" name="Rectangle 17"/>
          <p:cNvSpPr/>
          <p:nvPr>
            <p:custDataLst>
              <p:tags r:id="rId17"/>
            </p:custDataLst>
          </p:nvPr>
        </p:nvSpPr>
        <p:spPr>
          <a:xfrm>
            <a:off x="1773238" y="5224145"/>
            <a:ext cx="458787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AB</a:t>
            </a:r>
          </a:p>
        </p:txBody>
      </p:sp>
      <p:sp>
        <p:nvSpPr>
          <p:cNvPr id="181266" name="Rectangle 18"/>
          <p:cNvSpPr/>
          <p:nvPr>
            <p:custDataLst>
              <p:tags r:id="rId18"/>
            </p:custDataLst>
          </p:nvPr>
        </p:nvSpPr>
        <p:spPr>
          <a:xfrm>
            <a:off x="3402806" y="5213985"/>
            <a:ext cx="106553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=-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T</a:t>
            </a:r>
          </a:p>
        </p:txBody>
      </p:sp>
      <p:sp>
        <p:nvSpPr>
          <p:cNvPr id="181267" name="Rectangle 19"/>
          <p:cNvSpPr/>
          <p:nvPr>
            <p:custDataLst>
              <p:tags r:id="rId19"/>
            </p:custDataLst>
          </p:nvPr>
        </p:nvSpPr>
        <p:spPr>
          <a:xfrm>
            <a:off x="649538" y="5790883"/>
            <a:ext cx="1885131" cy="52014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即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AB=-BA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1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1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1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1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1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1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1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1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1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1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1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1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build="p"/>
      <p:bldP spid="181251" grpId="0" build="p"/>
      <p:bldP spid="181252" grpId="0" build="p"/>
      <p:bldP spid="181253" grpId="0" build="p"/>
      <p:bldP spid="181254" grpId="0" build="p"/>
      <p:bldP spid="181255" grpId="0" build="p"/>
      <p:bldP spid="181256" grpId="0" build="p"/>
      <p:bldP spid="181257" grpId="0" build="p"/>
      <p:bldP spid="181258" grpId="0" build="p"/>
      <p:bldP spid="181259" grpId="0" build="p"/>
      <p:bldP spid="181260" grpId="0" build="p"/>
      <p:bldP spid="181261" grpId="0" build="p"/>
      <p:bldP spid="181262" grpId="0" build="p"/>
      <p:bldP spid="181263" grpId="0" build="p"/>
      <p:bldP spid="181264" grpId="0" build="p"/>
      <p:bldP spid="181265" grpId="0" build="p"/>
      <p:bldP spid="181266" grpId="0" build="p"/>
      <p:bldP spid="18126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">
            <a:extLst>
              <a:ext uri="{FF2B5EF4-FFF2-40B4-BE49-F238E27FC236}">
                <a16:creationId xmlns:a16="http://schemas.microsoft.com/office/drawing/2014/main" id="{37E781FA-DC6F-EA47-835D-4F5836E8E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6264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）求                   </a:t>
            </a:r>
            <a:r>
              <a:rPr lang="en-US" altLang="zh-CN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练习</a:t>
            </a:r>
            <a:r>
              <a:rPr lang="en-US" altLang="zh-CN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9BE52FED-A59D-864E-883D-89025B601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407255"/>
              </p:ext>
            </p:extLst>
          </p:nvPr>
        </p:nvGraphicFramePr>
        <p:xfrm>
          <a:off x="2411760" y="404813"/>
          <a:ext cx="1404937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" name="Equation" r:id="rId3" imgW="12293600" imgH="11404600" progId="Equation.DSMT4">
                  <p:embed/>
                </p:oleObj>
              </mc:Choice>
              <mc:Fallback>
                <p:oleObj name="Equation" r:id="rId3" imgW="12293600" imgH="11404600" progId="Equation.DSMT4">
                  <p:embed/>
                  <p:pic>
                    <p:nvPicPr>
                      <p:cNvPr id="163845" name="Object 5">
                        <a:extLst>
                          <a:ext uri="{FF2B5EF4-FFF2-40B4-BE49-F238E27FC236}">
                            <a16:creationId xmlns:a16="http://schemas.microsoft.com/office/drawing/2014/main" id="{B2C3D98A-420F-9A42-ADA5-D46725003C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04813"/>
                        <a:ext cx="1404937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38305D9B-3241-B84F-81E2-5E4B9D8B09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3925" y="1917700"/>
          <a:ext cx="99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0" name="Equation" r:id="rId5" imgW="11404600" imgH="10528300" progId="Equation.DSMT4">
                  <p:embed/>
                </p:oleObj>
              </mc:Choice>
              <mc:Fallback>
                <p:oleObj name="Equation" r:id="rId5" imgW="11404600" imgH="10528300" progId="Equation.DSMT4">
                  <p:embed/>
                  <p:pic>
                    <p:nvPicPr>
                      <p:cNvPr id="163846" name="Object 6">
                        <a:extLst>
                          <a:ext uri="{FF2B5EF4-FFF2-40B4-BE49-F238E27FC236}">
                            <a16:creationId xmlns:a16="http://schemas.microsoft.com/office/drawing/2014/main" id="{95AE5E90-95E4-EE49-A530-8998B76C0F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1917700"/>
                        <a:ext cx="990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7">
            <a:extLst>
              <a:ext uri="{FF2B5EF4-FFF2-40B4-BE49-F238E27FC236}">
                <a16:creationId xmlns:a16="http://schemas.microsoft.com/office/drawing/2014/main" id="{3AEF7A52-C432-F945-94FF-669873373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060575"/>
            <a:ext cx="1828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[            ]</a:t>
            </a:r>
          </a:p>
        </p:txBody>
      </p:sp>
      <p:sp>
        <p:nvSpPr>
          <p:cNvPr id="17" name="Text Box 24">
            <a:extLst>
              <a:ext uri="{FF2B5EF4-FFF2-40B4-BE49-F238E27FC236}">
                <a16:creationId xmlns:a16="http://schemas.microsoft.com/office/drawing/2014/main" id="{DCB9B75E-8F45-2847-9DDB-24F413DF6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133600"/>
            <a:ext cx="1800225" cy="457200"/>
          </a:xfrm>
          <a:prstGeom prst="rect">
            <a:avLst/>
          </a:prstGeom>
          <a:solidFill>
            <a:srgbClr val="FF9900">
              <a:alpha val="5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ECFB7D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</a:rPr>
              <a:t>数学归纳法</a:t>
            </a:r>
          </a:p>
        </p:txBody>
      </p:sp>
      <p:grpSp>
        <p:nvGrpSpPr>
          <p:cNvPr id="18" name="Group 29">
            <a:extLst>
              <a:ext uri="{FF2B5EF4-FFF2-40B4-BE49-F238E27FC236}">
                <a16:creationId xmlns:a16="http://schemas.microsoft.com/office/drawing/2014/main" id="{C9531059-83CF-ED41-AD3D-DBFD5EE4C112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429000"/>
            <a:ext cx="8280400" cy="519113"/>
            <a:chOff x="113" y="1979"/>
            <a:chExt cx="5216" cy="327"/>
          </a:xfrm>
        </p:grpSpPr>
        <p:sp>
          <p:nvSpPr>
            <p:cNvPr id="19" name="Text Box 25">
              <a:extLst>
                <a:ext uri="{FF2B5EF4-FFF2-40B4-BE49-F238E27FC236}">
                  <a16:creationId xmlns:a16="http://schemas.microsoft.com/office/drawing/2014/main" id="{36922F27-8063-004F-970F-BBB211ABD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1979"/>
              <a:ext cx="5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>
                      <a:alpha val="56078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rgbClr val="ECFB7D"/>
                  </a:solidFill>
                  <a:latin typeface="Times New Roman" panose="02020603050405020304" pitchFamily="18" charset="0"/>
                  <a:ea typeface="隶书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itchFamily="49" charset="-122"/>
                </a:rPr>
                <a:t>（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itchFamily="49" charset="-122"/>
                </a:rPr>
                <a:t>2</a:t>
              </a:r>
              <a:r>
                <a:rPr kumimoji="1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itchFamily="49" charset="-122"/>
                </a:rPr>
                <a:t>）</a:t>
              </a:r>
              <a:r>
                <a:rPr kumimoji="1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</a:rPr>
                <a:t>设                                                           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</a:rPr>
                <a:t>, </a:t>
              </a:r>
              <a:r>
                <a:rPr kumimoji="1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</a:rPr>
                <a:t>求</a:t>
              </a:r>
              <a:r>
                <a:rPr kumimoji="1" lang="en-US" altLang="zh-CN" sz="2800" b="0" i="1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</a:rPr>
                <a:t>A</a:t>
              </a:r>
              <a:r>
                <a:rPr kumimoji="1" lang="en-US" altLang="zh-CN" sz="2800" b="0" i="1" u="none" strike="noStrike" kern="0" cap="none" spc="0" normalizeH="0" baseline="3000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</a:rPr>
                <a:t>m</a:t>
              </a:r>
              <a:r>
                <a:rPr kumimoji="1" lang="en-US" altLang="zh-CN" sz="2800" b="0" i="1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</a:rPr>
                <a:t> . </a:t>
              </a:r>
            </a:p>
          </p:txBody>
        </p:sp>
        <p:graphicFrame>
          <p:nvGraphicFramePr>
            <p:cNvPr id="20" name="Object 26">
              <a:extLst>
                <a:ext uri="{FF2B5EF4-FFF2-40B4-BE49-F238E27FC236}">
                  <a16:creationId xmlns:a16="http://schemas.microsoft.com/office/drawing/2014/main" id="{40E8FB33-7E8A-644A-81C1-05B2218A75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0" y="1979"/>
            <a:ext cx="3221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1" name="Equation" r:id="rId7" imgW="57924700" imgH="5270500" progId="Equation.DSMT4">
                    <p:embed/>
                  </p:oleObj>
                </mc:Choice>
                <mc:Fallback>
                  <p:oleObj name="Equation" r:id="rId7" imgW="57924700" imgH="5270500" progId="Equation.DSMT4">
                    <p:embed/>
                    <p:pic>
                      <p:nvPicPr>
                        <p:cNvPr id="23564" name="Object 26">
                          <a:extLst>
                            <a:ext uri="{FF2B5EF4-FFF2-40B4-BE49-F238E27FC236}">
                              <a16:creationId xmlns:a16="http://schemas.microsoft.com/office/drawing/2014/main" id="{18EEB93D-9531-AD4F-A67F-C06C103BED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979"/>
                          <a:ext cx="3221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27">
            <a:extLst>
              <a:ext uri="{FF2B5EF4-FFF2-40B4-BE49-F238E27FC236}">
                <a16:creationId xmlns:a16="http://schemas.microsoft.com/office/drawing/2014/main" id="{37F3720F-12C2-9E49-A253-A09BB69EC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724400"/>
            <a:ext cx="25923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ea typeface="宋体" panose="02010600030101010101" pitchFamily="2" charset="-122"/>
              </a:rPr>
              <a:t>[                   ]</a:t>
            </a:r>
          </a:p>
        </p:txBody>
      </p:sp>
      <p:graphicFrame>
        <p:nvGraphicFramePr>
          <p:cNvPr id="22" name="Object 28">
            <a:extLst>
              <a:ext uri="{FF2B5EF4-FFF2-40B4-BE49-F238E27FC236}">
                <a16:creationId xmlns:a16="http://schemas.microsoft.com/office/drawing/2014/main" id="{B3186E34-008F-2541-BDF3-FDE262331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724400"/>
          <a:ext cx="13668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2" name="Equation" r:id="rId9" imgW="14046200" imgH="5270500" progId="Equation.DSMT4">
                  <p:embed/>
                </p:oleObj>
              </mc:Choice>
              <mc:Fallback>
                <p:oleObj name="Equation" r:id="rId9" imgW="14046200" imgH="5270500" progId="Equation.DSMT4">
                  <p:embed/>
                  <p:pic>
                    <p:nvPicPr>
                      <p:cNvPr id="163868" name="Object 28">
                        <a:extLst>
                          <a:ext uri="{FF2B5EF4-FFF2-40B4-BE49-F238E27FC236}">
                            <a16:creationId xmlns:a16="http://schemas.microsoft.com/office/drawing/2014/main" id="{25B7B2F3-1EC6-F14B-901C-995CFB56B5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24400"/>
                        <a:ext cx="136683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0">
            <a:extLst>
              <a:ext uri="{FF2B5EF4-FFF2-40B4-BE49-F238E27FC236}">
                <a16:creationId xmlns:a16="http://schemas.microsoft.com/office/drawing/2014/main" id="{2A85241E-BAE7-E24B-94E0-7083AD011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24400"/>
            <a:ext cx="2952750" cy="457200"/>
          </a:xfrm>
          <a:prstGeom prst="rect">
            <a:avLst/>
          </a:prstGeom>
          <a:solidFill>
            <a:srgbClr val="FF9900">
              <a:alpha val="5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ECFB7D"/>
                </a:solidFill>
                <a:effectLst/>
                <a:uLnTx/>
                <a:uFillTx/>
                <a:latin typeface="Times New Roman" panose="02020603050405020304" pitchFamily="18" charset="0"/>
                <a:ea typeface="隶书" pitchFamily="49" charset="-122"/>
              </a:rPr>
              <a:t>矩阵乘法的结合律</a:t>
            </a:r>
          </a:p>
        </p:txBody>
      </p:sp>
    </p:spTree>
    <p:extLst>
      <p:ext uri="{BB962C8B-B14F-4D97-AF65-F5344CB8AC3E}">
        <p14:creationId xmlns:p14="http://schemas.microsoft.com/office/powerpoint/2010/main" val="2861638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6" grpId="0" autoUpdateAnimBg="0"/>
      <p:bldP spid="17" grpId="0" animBg="1"/>
      <p:bldP spid="21" grpId="0" autoUpdateAnimBg="0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1FBFF058-173D-314B-A702-E5C9CBC975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21635"/>
              </p:ext>
            </p:extLst>
          </p:nvPr>
        </p:nvGraphicFramePr>
        <p:xfrm>
          <a:off x="467518" y="764704"/>
          <a:ext cx="8208963" cy="624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文档" r:id="rId3" imgW="6273800" imgH="4737100" progId="Word.Document.8">
                  <p:embed/>
                </p:oleObj>
              </mc:Choice>
              <mc:Fallback>
                <p:oleObj name="文档" r:id="rId3" imgW="6273800" imgH="4737100" progId="Word.Document.8">
                  <p:embed/>
                  <p:pic>
                    <p:nvPicPr>
                      <p:cNvPr id="177156" name="Object 4">
                        <a:extLst>
                          <a:ext uri="{FF2B5EF4-FFF2-40B4-BE49-F238E27FC236}">
                            <a16:creationId xmlns:a16="http://schemas.microsoft.com/office/drawing/2014/main" id="{80113F2C-2D27-D347-B533-BC3EAA6591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18" y="764704"/>
                        <a:ext cx="8208963" cy="624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20137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95FC2C97-AEDB-0B48-BB9B-19101F986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6804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lang="en-US" altLang="zh-CN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已知                      ，求</a:t>
            </a:r>
            <a:r>
              <a:rPr lang="zh-CN" altLang="en-US" sz="28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>
                <a:solidFill>
                  <a:srgbClr val="FFFF00"/>
                </a:solidFill>
                <a:ea typeface="宋体" panose="02010600030101010101" pitchFamily="2" charset="-122"/>
              </a:rPr>
              <a:t>100</a:t>
            </a:r>
            <a:r>
              <a:rPr lang="en-US" altLang="zh-CN" sz="2800" b="1" dirty="0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A7CE9A96-09C0-0F4F-80F5-7AB5D7718A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310171"/>
              </p:ext>
            </p:extLst>
          </p:nvPr>
        </p:nvGraphicFramePr>
        <p:xfrm>
          <a:off x="1763688" y="431800"/>
          <a:ext cx="2185988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7" name="Equation" r:id="rId3" imgW="24282400" imgH="16383000" progId="Equation.DSMT4">
                  <p:embed/>
                </p:oleObj>
              </mc:Choice>
              <mc:Fallback>
                <p:oleObj name="Equation" r:id="rId3" imgW="24282400" imgH="16383000" progId="Equation.DSMT4">
                  <p:embed/>
                  <p:pic>
                    <p:nvPicPr>
                      <p:cNvPr id="25603" name="Object 3">
                        <a:extLst>
                          <a:ext uri="{FF2B5EF4-FFF2-40B4-BE49-F238E27FC236}">
                            <a16:creationId xmlns:a16="http://schemas.microsoft.com/office/drawing/2014/main" id="{8ECA4125-8645-9F47-B690-C209EBAC69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31800"/>
                        <a:ext cx="2185988" cy="148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64F5E2F8-B40C-0543-9142-FE00C58236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916113"/>
          <a:ext cx="547211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" name="Equation" r:id="rId5" imgW="64363600" imgH="16383000" progId="Equation.DSMT4">
                  <p:embed/>
                </p:oleObj>
              </mc:Choice>
              <mc:Fallback>
                <p:oleObj name="Equation" r:id="rId5" imgW="64363600" imgH="16383000" progId="Equation.DSMT4">
                  <p:embed/>
                  <p:pic>
                    <p:nvPicPr>
                      <p:cNvPr id="164868" name="Object 4">
                        <a:extLst>
                          <a:ext uri="{FF2B5EF4-FFF2-40B4-BE49-F238E27FC236}">
                            <a16:creationId xmlns:a16="http://schemas.microsoft.com/office/drawing/2014/main" id="{1D979DB0-9183-E243-9768-2ED8936018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16113"/>
                        <a:ext cx="5472112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8A579CAA-076C-9C42-8A27-B664A51A33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357563"/>
          <a:ext cx="4608512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" name="Equation" r:id="rId7" imgW="47980600" imgH="16383000" progId="Equation.DSMT4">
                  <p:embed/>
                </p:oleObj>
              </mc:Choice>
              <mc:Fallback>
                <p:oleObj name="Equation" r:id="rId7" imgW="47980600" imgH="16383000" progId="Equation.DSMT4">
                  <p:embed/>
                  <p:pic>
                    <p:nvPicPr>
                      <p:cNvPr id="164869" name="Object 5">
                        <a:extLst>
                          <a:ext uri="{FF2B5EF4-FFF2-40B4-BE49-F238E27FC236}">
                            <a16:creationId xmlns:a16="http://schemas.microsoft.com/office/drawing/2014/main" id="{58E2F794-665F-7543-82CC-10740D68B7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4608512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0F7C07E9-CEB0-5C46-977F-6F94DD4688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581525"/>
          <a:ext cx="6913562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0" name="Equation" r:id="rId9" imgW="74599800" imgH="16383000" progId="Equation.DSMT4">
                  <p:embed/>
                </p:oleObj>
              </mc:Choice>
              <mc:Fallback>
                <p:oleObj name="Equation" r:id="rId9" imgW="74599800" imgH="16383000" progId="Equation.DSMT4">
                  <p:embed/>
                  <p:pic>
                    <p:nvPicPr>
                      <p:cNvPr id="164870" name="Object 6">
                        <a:extLst>
                          <a:ext uri="{FF2B5EF4-FFF2-40B4-BE49-F238E27FC236}">
                            <a16:creationId xmlns:a16="http://schemas.microsoft.com/office/drawing/2014/main" id="{24F10831-304B-6943-A4F0-49647709B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581525"/>
                        <a:ext cx="6913562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">
            <a:extLst>
              <a:ext uri="{FF2B5EF4-FFF2-40B4-BE49-F238E27FC236}">
                <a16:creationId xmlns:a16="http://schemas.microsoft.com/office/drawing/2014/main" id="{BA510514-A0D1-1B4D-9C33-B074D099C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7338"/>
            <a:ext cx="1008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4420666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方阵的行列式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23850" y="1092200"/>
            <a:ext cx="176339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2.8</a:t>
            </a:r>
          </a:p>
        </p:txBody>
      </p:sp>
      <p:sp>
        <p:nvSpPr>
          <p:cNvPr id="175108" name="Rectangle 4"/>
          <p:cNvSpPr/>
          <p:nvPr>
            <p:custDataLst>
              <p:tags r:id="rId2"/>
            </p:custDataLst>
          </p:nvPr>
        </p:nvSpPr>
        <p:spPr>
          <a:xfrm>
            <a:off x="1690688" y="1149033"/>
            <a:ext cx="74263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阶方阵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的元素所构成的行列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式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各元素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75109" name="Rectangle 5"/>
          <p:cNvSpPr/>
          <p:nvPr>
            <p:custDataLst>
              <p:tags r:id="rId3"/>
            </p:custDataLst>
          </p:nvPr>
        </p:nvSpPr>
        <p:spPr>
          <a:xfrm>
            <a:off x="450533" y="1787843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的位置不变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叫做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方阵 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的行列式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</a:p>
        </p:txBody>
      </p:sp>
      <p:sp>
        <p:nvSpPr>
          <p:cNvPr id="175110" name="Rectangle 6"/>
          <p:cNvSpPr/>
          <p:nvPr>
            <p:custDataLst>
              <p:tags r:id="rId4"/>
            </p:custDataLst>
          </p:nvPr>
        </p:nvSpPr>
        <p:spPr>
          <a:xfrm>
            <a:off x="450533" y="2507298"/>
            <a:ext cx="3959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记作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或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det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.</a:t>
            </a:r>
          </a:p>
        </p:txBody>
      </p:sp>
      <p:sp>
        <p:nvSpPr>
          <p:cNvPr id="175111" name="Rectangle 7"/>
          <p:cNvSpPr/>
          <p:nvPr>
            <p:custDataLst>
              <p:tags r:id="rId5"/>
            </p:custDataLst>
          </p:nvPr>
        </p:nvSpPr>
        <p:spPr>
          <a:xfrm>
            <a:off x="1691640" y="3833813"/>
            <a:ext cx="7082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方阵与行列式是两个不同的概念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阶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方阵是</a:t>
            </a:r>
          </a:p>
        </p:txBody>
      </p:sp>
      <p:sp>
        <p:nvSpPr>
          <p:cNvPr id="175112" name="Rectangle 8"/>
          <p:cNvSpPr/>
          <p:nvPr>
            <p:custDataLst>
              <p:tags r:id="rId6"/>
            </p:custDataLst>
          </p:nvPr>
        </p:nvSpPr>
        <p:spPr>
          <a:xfrm>
            <a:off x="450533" y="4488180"/>
            <a:ext cx="784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一个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数表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而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阶行列式则是一个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数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</p:txBody>
      </p:sp>
      <p:sp>
        <p:nvSpPr>
          <p:cNvPr id="175113" name="Rectangle 9"/>
          <p:cNvSpPr/>
          <p:nvPr>
            <p:custDataLst>
              <p:tags r:id="rId7"/>
            </p:custDataLst>
          </p:nvPr>
        </p:nvSpPr>
        <p:spPr>
          <a:xfrm>
            <a:off x="468313" y="5176838"/>
            <a:ext cx="807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一个方阵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也就是数表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)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按行列式的运算法则确</a:t>
            </a:r>
          </a:p>
        </p:txBody>
      </p:sp>
      <p:sp>
        <p:nvSpPr>
          <p:cNvPr id="175114" name="Rectangle 10"/>
          <p:cNvSpPr/>
          <p:nvPr>
            <p:custDataLst>
              <p:tags r:id="rId8"/>
            </p:custDataLst>
          </p:nvPr>
        </p:nvSpPr>
        <p:spPr>
          <a:xfrm>
            <a:off x="450533" y="5862638"/>
            <a:ext cx="66246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定的一个数，就是方阵的行列式的值</a:t>
            </a:r>
          </a:p>
        </p:txBody>
      </p:sp>
      <p:sp>
        <p:nvSpPr>
          <p:cNvPr id="175115" name="Rectangle 11"/>
          <p:cNvSpPr/>
          <p:nvPr>
            <p:custDataLst>
              <p:tags r:id="rId9"/>
            </p:custDataLst>
          </p:nvPr>
        </p:nvSpPr>
        <p:spPr>
          <a:xfrm>
            <a:off x="899478" y="3825240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注：</a:t>
            </a:r>
            <a:endParaRPr lang="zh-CN" altLang="en-US" b="1" dirty="0">
              <a:solidFill>
                <a:schemeClr val="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72716" name="Rectangle 12"/>
          <p:cNvSpPr/>
          <p:nvPr>
            <p:custDataLst>
              <p:tags r:id="rId10"/>
            </p:custDataLst>
          </p:nvPr>
        </p:nvSpPr>
        <p:spPr>
          <a:xfrm>
            <a:off x="539433" y="3083243"/>
            <a:ext cx="79200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思考：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方阵与方阵的行列式有什么联系与区别？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5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5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5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8" grpId="0" build="p" advAuto="1000"/>
      <p:bldP spid="175109" grpId="0" build="p" advAuto="1000"/>
      <p:bldP spid="175110" grpId="0" build="p" advAuto="1000"/>
      <p:bldP spid="175111" grpId="0"/>
      <p:bldP spid="175112" grpId="0"/>
      <p:bldP spid="175113" grpId="0"/>
      <p:bldP spid="175114" grpId="0"/>
      <p:bldP spid="175115" grpId="0"/>
      <p:bldP spid="72716" grpId="0" build="p" advAuto="100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">
            <a:extLst>
              <a:ext uri="{FF2B5EF4-FFF2-40B4-BE49-F238E27FC236}">
                <a16:creationId xmlns:a16="http://schemas.microsoft.com/office/drawing/2014/main" id="{6A022077-9651-0B4C-8D9B-C2D4FD7A9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49275"/>
            <a:ext cx="370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2800" b="1" dirty="0">
                <a:solidFill>
                  <a:srgbClr val="FFFFFF"/>
                </a:solidFill>
                <a:ea typeface="楷体_GB2312" panose="02010609030101010101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方阵的多项式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6C1F053B-C587-EC49-AE5A-281B80D04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3" y="1992313"/>
            <a:ext cx="5257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3200" b="1" i="1">
                <a:solidFill>
                  <a:srgbClr val="FFFFFF"/>
                </a:solidFill>
                <a:ea typeface="宋体" panose="02010600030101010101" pitchFamily="2" charset="-122"/>
              </a:rPr>
              <a:t>f</a:t>
            </a:r>
            <a:r>
              <a:rPr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2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)=</a:t>
            </a:r>
            <a:r>
              <a:rPr lang="en-US" altLang="zh-CN" sz="32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baseline="-25000">
                <a:solidFill>
                  <a:srgbClr val="FFFFFF"/>
                </a:solidFill>
                <a:ea typeface="宋体" panose="02010600030101010101" pitchFamily="2" charset="-122"/>
              </a:rPr>
              <a:t>0</a:t>
            </a:r>
            <a:r>
              <a:rPr lang="en-US" altLang="zh-CN" sz="32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i="1" baseline="30000">
                <a:solidFill>
                  <a:srgbClr val="FFFFFF"/>
                </a:solidFill>
                <a:ea typeface="宋体" panose="02010600030101010101" pitchFamily="2" charset="-122"/>
              </a:rPr>
              <a:t>k</a:t>
            </a:r>
            <a:r>
              <a:rPr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+</a:t>
            </a:r>
            <a:r>
              <a:rPr lang="en-US" altLang="zh-CN" sz="32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baseline="-25000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i="1" baseline="30000">
                <a:solidFill>
                  <a:srgbClr val="FFFFFF"/>
                </a:solidFill>
                <a:ea typeface="宋体" panose="02010600030101010101" pitchFamily="2" charset="-122"/>
              </a:rPr>
              <a:t>k</a:t>
            </a:r>
            <a:r>
              <a:rPr lang="en-US" altLang="zh-CN" sz="3200" b="1" baseline="30000">
                <a:solidFill>
                  <a:srgbClr val="FFFFFF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+</a:t>
            </a:r>
            <a:r>
              <a:rPr lang="en-US" altLang="zh-CN" sz="3200" b="1" baseline="18000">
                <a:solidFill>
                  <a:srgbClr val="FFFFFF"/>
                </a:solidFill>
                <a:ea typeface="宋体" panose="02010600030101010101" pitchFamily="2" charset="-122"/>
              </a:rPr>
              <a:t>…</a:t>
            </a:r>
            <a:r>
              <a:rPr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+</a:t>
            </a:r>
            <a:r>
              <a:rPr lang="en-US" altLang="zh-CN" sz="32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i="1" baseline="-25000">
                <a:solidFill>
                  <a:srgbClr val="FFFFFF"/>
                </a:solidFill>
                <a:ea typeface="宋体" panose="02010600030101010101" pitchFamily="2" charset="-122"/>
              </a:rPr>
              <a:t>k</a:t>
            </a:r>
            <a:r>
              <a:rPr lang="en-US" altLang="zh-CN" sz="3200" b="1" baseline="-25000">
                <a:solidFill>
                  <a:srgbClr val="FFFFFF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b="1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>
                <a:solidFill>
                  <a:srgbClr val="FFFFFF"/>
                </a:solidFill>
                <a:ea typeface="宋体" panose="02010600030101010101" pitchFamily="2" charset="-122"/>
              </a:rPr>
              <a:t>+</a:t>
            </a:r>
            <a:r>
              <a:rPr lang="en-US" altLang="zh-CN" sz="3200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="1" i="1" baseline="-25000">
                <a:solidFill>
                  <a:srgbClr val="FFFFFF"/>
                </a:solidFill>
                <a:ea typeface="宋体" panose="02010600030101010101" pitchFamily="2" charset="-122"/>
              </a:rPr>
              <a:t>k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56E22968-0397-234A-8A7A-CDD68F967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8" y="1198563"/>
            <a:ext cx="78898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 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) = 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solidFill>
                  <a:srgbClr val="FFFFFF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>
                <a:solidFill>
                  <a:srgbClr val="FFFFFF"/>
                </a:solidFill>
                <a:ea typeface="宋体" panose="02010600030101010101" pitchFamily="2" charset="-122"/>
              </a:rPr>
              <a:t>k </a:t>
            </a:r>
            <a:r>
              <a:rPr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+ 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solidFill>
                  <a:srgbClr val="FFFFFF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>
                <a:solidFill>
                  <a:srgbClr val="FFFFFF"/>
                </a:solidFill>
                <a:ea typeface="宋体" panose="02010600030101010101" pitchFamily="2" charset="-122"/>
              </a:rPr>
              <a:t>k</a:t>
            </a:r>
            <a:r>
              <a:rPr lang="en-US" altLang="zh-CN" b="1" baseline="30000">
                <a:solidFill>
                  <a:srgbClr val="FFFFFF"/>
                </a:solidFill>
                <a:ea typeface="宋体" panose="02010600030101010101" pitchFamily="2" charset="-122"/>
              </a:rPr>
              <a:t>-1 </a:t>
            </a:r>
            <a:r>
              <a:rPr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+ </a:t>
            </a:r>
            <a:r>
              <a:rPr lang="en-US" altLang="zh-CN" b="1" baseline="18000">
                <a:solidFill>
                  <a:srgbClr val="FFFFFF"/>
                </a:solidFill>
                <a:ea typeface="宋体" panose="02010600030101010101" pitchFamily="2" charset="-122"/>
              </a:rPr>
              <a:t>… </a:t>
            </a:r>
            <a:r>
              <a:rPr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+ 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rgbClr val="FFFFFF"/>
                </a:solidFill>
                <a:ea typeface="宋体" panose="02010600030101010101" pitchFamily="2" charset="-122"/>
              </a:rPr>
              <a:t>k</a:t>
            </a:r>
            <a:r>
              <a:rPr lang="en-US" altLang="zh-CN" b="1" baseline="-25000">
                <a:solidFill>
                  <a:srgbClr val="FFFFFF"/>
                </a:solidFill>
                <a:ea typeface="宋体" panose="02010600030101010101" pitchFamily="2" charset="-122"/>
              </a:rPr>
              <a:t>-1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>
                <a:solidFill>
                  <a:srgbClr val="FFFFFF"/>
                </a:solidFill>
                <a:ea typeface="宋体" panose="02010600030101010101" pitchFamily="2" charset="-122"/>
              </a:rPr>
              <a:t>+ 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rgbClr val="FFFFFF"/>
                </a:solidFill>
                <a:ea typeface="宋体" panose="02010600030101010101" pitchFamily="2" charset="-122"/>
              </a:rPr>
              <a:t>k  </a:t>
            </a:r>
            <a:r>
              <a:rPr lang="zh-CN" altLang="en-US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定义矩阵</a:t>
            </a:r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rgbClr val="FFFFFF"/>
                </a:solidFill>
                <a:ea typeface="宋体" panose="02010600030101010101" pitchFamily="2" charset="-122"/>
              </a:rPr>
              <a:t>n</a:t>
            </a:r>
            <a:r>
              <a:rPr lang="en-US" altLang="zh-CN" b="1" baseline="-25000">
                <a:solidFill>
                  <a:srgbClr val="FFFFFF"/>
                </a:solidFill>
                <a:ea typeface="宋体" panose="02010600030101010101" pitchFamily="2" charset="-122"/>
              </a:rPr>
              <a:t>×</a:t>
            </a:r>
            <a:r>
              <a:rPr lang="en-US" altLang="zh-CN" b="1" i="1" baseline="-25000">
                <a:solidFill>
                  <a:srgbClr val="FFFFFF"/>
                </a:solidFill>
                <a:ea typeface="宋体" panose="02010600030101010101" pitchFamily="2" charset="-122"/>
              </a:rPr>
              <a:t>n</a:t>
            </a:r>
            <a:r>
              <a:rPr lang="zh-CN" altLang="en-US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D89244F4-D164-8440-97F4-081EC1AD2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860550"/>
            <a:ext cx="29876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b="1" i="1">
                <a:solidFill>
                  <a:srgbClr val="FFFFFF"/>
                </a:solidFill>
                <a:ea typeface="宋体" panose="02010600030101010101" pitchFamily="2" charset="-122"/>
              </a:rPr>
              <a:t>k </a:t>
            </a:r>
            <a:r>
              <a:rPr lang="zh-CN" altLang="en-US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次多项式为</a:t>
            </a:r>
            <a:r>
              <a:rPr lang="en-US" altLang="zh-CN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AF8AD2A6-896D-EF42-9A7F-6B6778F0E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9075" y="2016125"/>
            <a:ext cx="792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en-US" altLang="zh-CN" sz="3200" b="1" i="1">
                <a:solidFill>
                  <a:srgbClr val="FF0066"/>
                </a:solidFill>
                <a:ea typeface="宋体" panose="02010600030101010101" pitchFamily="2" charset="-122"/>
              </a:rPr>
              <a:t>E</a:t>
            </a:r>
            <a:r>
              <a:rPr lang="en-US" altLang="zh-CN" sz="3200" b="1" i="1" baseline="-25000">
                <a:solidFill>
                  <a:srgbClr val="FF0066"/>
                </a:solidFill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D17D4E04-CB40-5344-A974-72CD00FB2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1775" y="2093913"/>
            <a:ext cx="3587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3200" b="1">
                <a:solidFill>
                  <a:srgbClr val="FF0066"/>
                </a:solidFill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8D57CA2E-F281-B849-B645-11993DDFD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3176588"/>
            <a:ext cx="83518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0" lang="zh-CN" altLang="en-US" sz="1800" b="1" kern="0" dirty="0">
                <a:solidFill>
                  <a:srgbClr val="FFFF00"/>
                </a:solidFill>
                <a:latin typeface="Times New Roman"/>
                <a:ea typeface="楷体_GB2312" panose="02010609030101010101" pitchFamily="49" charset="-122"/>
              </a:rPr>
              <a:t>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设    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</a:rPr>
              <a:t>           ，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(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x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) = 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x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－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3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x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＋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</a:rPr>
              <a:t>，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求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B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</a:rPr>
              <a:t>＝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f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(</a:t>
            </a:r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A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)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8AEFAFFA-C07C-2D46-9C6F-DD943BA80E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405017"/>
              </p:ext>
            </p:extLst>
          </p:nvPr>
        </p:nvGraphicFramePr>
        <p:xfrm>
          <a:off x="971600" y="2852936"/>
          <a:ext cx="18430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3" imgW="19304000" imgH="10528300" progId="Equation.DSMT4">
                  <p:embed/>
                </p:oleObj>
              </mc:Choice>
              <mc:Fallback>
                <p:oleObj name="Equation" r:id="rId3" imgW="19304000" imgH="10528300" progId="Equation.DSMT4">
                  <p:embed/>
                  <p:pic>
                    <p:nvPicPr>
                      <p:cNvPr id="165897" name="Object 9">
                        <a:extLst>
                          <a:ext uri="{FF2B5EF4-FFF2-40B4-BE49-F238E27FC236}">
                            <a16:creationId xmlns:a16="http://schemas.microsoft.com/office/drawing/2014/main" id="{D4EA8287-18EB-2942-84A7-53246763AB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852936"/>
                        <a:ext cx="1843088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2EA55D67-321A-1544-B769-394BE7A293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149725"/>
          <a:ext cx="29130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8" name="Equation" r:id="rId5" imgW="26327100" imgH="4686300" progId="Equation.DSMT4">
                  <p:embed/>
                </p:oleObj>
              </mc:Choice>
              <mc:Fallback>
                <p:oleObj name="Equation" r:id="rId5" imgW="26327100" imgH="4686300" progId="Equation.DSMT4">
                  <p:embed/>
                  <p:pic>
                    <p:nvPicPr>
                      <p:cNvPr id="165898" name="Object 10">
                        <a:extLst>
                          <a:ext uri="{FF2B5EF4-FFF2-40B4-BE49-F238E27FC236}">
                            <a16:creationId xmlns:a16="http://schemas.microsoft.com/office/drawing/2014/main" id="{587F2ECA-156E-E04C-9454-81E957D685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49725"/>
                        <a:ext cx="29130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>
            <a:extLst>
              <a:ext uri="{FF2B5EF4-FFF2-40B4-BE49-F238E27FC236}">
                <a16:creationId xmlns:a16="http://schemas.microsoft.com/office/drawing/2014/main" id="{2082FCA3-A52B-0346-9D9D-D5CBEEAB15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868863"/>
          <a:ext cx="619283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9" name="Equation" r:id="rId7" imgW="63779400" imgH="10528300" progId="Equation.DSMT4">
                  <p:embed/>
                </p:oleObj>
              </mc:Choice>
              <mc:Fallback>
                <p:oleObj name="Equation" r:id="rId7" imgW="63779400" imgH="10528300" progId="Equation.DSMT4">
                  <p:embed/>
                  <p:pic>
                    <p:nvPicPr>
                      <p:cNvPr id="165899" name="Object 11">
                        <a:extLst>
                          <a:ext uri="{FF2B5EF4-FFF2-40B4-BE49-F238E27FC236}">
                            <a16:creationId xmlns:a16="http://schemas.microsoft.com/office/drawing/2014/main" id="{E911D35B-3FE1-9F4D-9FEE-A61A97450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868863"/>
                        <a:ext cx="619283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7061B441-A8DB-CE45-93AE-C244A8010E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4868863"/>
          <a:ext cx="143986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0" name="Equation" r:id="rId9" imgW="14922500" imgH="10528300" progId="Equation.DSMT4">
                  <p:embed/>
                </p:oleObj>
              </mc:Choice>
              <mc:Fallback>
                <p:oleObj name="Equation" r:id="rId9" imgW="14922500" imgH="10528300" progId="Equation.DSMT4">
                  <p:embed/>
                  <p:pic>
                    <p:nvPicPr>
                      <p:cNvPr id="165900" name="Object 12">
                        <a:extLst>
                          <a:ext uri="{FF2B5EF4-FFF2-40B4-BE49-F238E27FC236}">
                            <a16:creationId xmlns:a16="http://schemas.microsoft.com/office/drawing/2014/main" id="{07140DDA-D8B8-F64F-A5BE-408F843C34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868863"/>
                        <a:ext cx="1439863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3">
            <a:extLst>
              <a:ext uri="{FF2B5EF4-FFF2-40B4-BE49-F238E27FC236}">
                <a16:creationId xmlns:a16="http://schemas.microsoft.com/office/drawing/2014/main" id="{AAAA16F2-F221-FA42-85B9-FDBE8C806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05263"/>
            <a:ext cx="1008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rgbClr val="ECFB7D"/>
                </a:solidFill>
                <a:latin typeface="Times New Roman" panose="02020603050405020304" pitchFamily="18" charset="0"/>
                <a:ea typeface="隶书" pitchFamily="49" charset="-122"/>
              </a:defRPr>
            </a:lvl9pPr>
          </a:lstStyle>
          <a:p>
            <a:r>
              <a:rPr lang="zh-CN" altLang="en-US" sz="2800" b="1">
                <a:solidFill>
                  <a:srgbClr val="FFFFFF"/>
                </a:solidFill>
                <a:ea typeface="楷体_GB2312" panose="02010609030101010101" pitchFamily="49" charset="-122"/>
              </a:rPr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36852054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方阵的行列式</a:t>
            </a:r>
          </a:p>
        </p:txBody>
      </p:sp>
      <p:sp>
        <p:nvSpPr>
          <p:cNvPr id="3174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188" y="956945"/>
            <a:ext cx="807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运算规律：</a:t>
            </a:r>
          </a:p>
        </p:txBody>
      </p:sp>
      <p:sp>
        <p:nvSpPr>
          <p:cNvPr id="176131" name="Rectangle 3"/>
          <p:cNvSpPr/>
          <p:nvPr>
            <p:custDataLst>
              <p:tags r:id="rId2"/>
            </p:custDataLst>
          </p:nvPr>
        </p:nvSpPr>
        <p:spPr>
          <a:xfrm>
            <a:off x="1331278" y="1445578"/>
            <a:ext cx="71167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为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阶方阵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为数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则有</a:t>
            </a:r>
          </a:p>
        </p:txBody>
      </p:sp>
      <p:sp>
        <p:nvSpPr>
          <p:cNvPr id="176132" name="Rectangle 4"/>
          <p:cNvSpPr/>
          <p:nvPr>
            <p:custDataLst>
              <p:tags r:id="rId3"/>
            </p:custDataLst>
          </p:nvPr>
        </p:nvSpPr>
        <p:spPr>
          <a:xfrm>
            <a:off x="1293495" y="1937703"/>
            <a:ext cx="2510624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(1)    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= 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;</a:t>
            </a:r>
          </a:p>
        </p:txBody>
      </p:sp>
      <p:sp>
        <p:nvSpPr>
          <p:cNvPr id="176133" name="Rectangle 5"/>
          <p:cNvSpPr/>
          <p:nvPr>
            <p:custDataLst>
              <p:tags r:id="rId4"/>
            </p:custDataLst>
          </p:nvPr>
        </p:nvSpPr>
        <p:spPr>
          <a:xfrm>
            <a:off x="1293495" y="2585403"/>
            <a:ext cx="641985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(2)    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A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=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76134" name="Rectangle 6"/>
          <p:cNvSpPr/>
          <p:nvPr>
            <p:custDataLst>
              <p:tags r:id="rId5"/>
            </p:custDataLst>
          </p:nvPr>
        </p:nvSpPr>
        <p:spPr>
          <a:xfrm>
            <a:off x="1293495" y="3233103"/>
            <a:ext cx="31972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(3)    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AB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= 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.</a:t>
            </a:r>
          </a:p>
        </p:txBody>
      </p:sp>
      <p:sp>
        <p:nvSpPr>
          <p:cNvPr id="17613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24180" y="3796665"/>
            <a:ext cx="1382713" cy="5801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注：</a:t>
            </a:r>
          </a:p>
        </p:txBody>
      </p:sp>
      <p:sp>
        <p:nvSpPr>
          <p:cNvPr id="176136" name="Rectangle 8"/>
          <p:cNvSpPr/>
          <p:nvPr>
            <p:custDataLst>
              <p:tags r:id="rId7"/>
            </p:custDataLst>
          </p:nvPr>
        </p:nvSpPr>
        <p:spPr>
          <a:xfrm>
            <a:off x="424180" y="4475480"/>
            <a:ext cx="86125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等于这个数的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次幂乘以该方阵的行列式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这个数不</a:t>
            </a:r>
          </a:p>
        </p:txBody>
      </p:sp>
      <p:sp>
        <p:nvSpPr>
          <p:cNvPr id="176137" name="Rectangle 9"/>
          <p:cNvSpPr/>
          <p:nvPr>
            <p:custDataLst>
              <p:tags r:id="rId8"/>
            </p:custDataLst>
          </p:nvPr>
        </p:nvSpPr>
        <p:spPr>
          <a:xfrm>
            <a:off x="467043" y="5084763"/>
            <a:ext cx="807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能直接提出来，即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|A|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通常不等于 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|A| </a:t>
            </a:r>
          </a:p>
        </p:txBody>
      </p:sp>
      <p:sp>
        <p:nvSpPr>
          <p:cNvPr id="176138" name="Rectangle 10"/>
          <p:cNvSpPr/>
          <p:nvPr>
            <p:custDataLst>
              <p:tags r:id="rId9"/>
            </p:custDataLst>
          </p:nvPr>
        </p:nvSpPr>
        <p:spPr>
          <a:xfrm>
            <a:off x="1186180" y="5592763"/>
            <a:ext cx="7315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由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(3)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可知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对于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阶方阵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,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一般来说 </a:t>
            </a:r>
          </a:p>
        </p:txBody>
      </p:sp>
      <p:sp>
        <p:nvSpPr>
          <p:cNvPr id="176139" name="Rectangle 11"/>
          <p:cNvSpPr/>
          <p:nvPr>
            <p:custDataLst>
              <p:tags r:id="rId10"/>
            </p:custDataLst>
          </p:nvPr>
        </p:nvSpPr>
        <p:spPr>
          <a:xfrm>
            <a:off x="494030" y="6169025"/>
            <a:ext cx="5257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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BA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,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但总有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AB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= |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BA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 . </a:t>
            </a:r>
          </a:p>
        </p:txBody>
      </p:sp>
      <p:sp>
        <p:nvSpPr>
          <p:cNvPr id="176140" name="Rectangle 12"/>
          <p:cNvSpPr/>
          <p:nvPr>
            <p:custDataLst>
              <p:tags r:id="rId11"/>
            </p:custDataLst>
          </p:nvPr>
        </p:nvSpPr>
        <p:spPr>
          <a:xfrm>
            <a:off x="1257618" y="3879850"/>
            <a:ext cx="7375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(2)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说明一个数乘以方阵所得方阵的行列式等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/>
      <p:bldP spid="176131" grpId="0"/>
      <p:bldP spid="176132" grpId="0"/>
      <p:bldP spid="176133" grpId="0"/>
      <p:bldP spid="176134" grpId="0"/>
      <p:bldP spid="176135" grpId="0" bldLvl="0" animBg="1"/>
      <p:bldP spid="176136" grpId="0"/>
      <p:bldP spid="176137" grpId="0"/>
      <p:bldP spid="176138" grpId="0"/>
      <p:bldP spid="176139" grpId="0"/>
      <p:bldP spid="1761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方阵的行列式</a:t>
            </a:r>
          </a:p>
        </p:txBody>
      </p:sp>
      <p:sp>
        <p:nvSpPr>
          <p:cNvPr id="31746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043" y="947420"/>
            <a:ext cx="8077200" cy="953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性质(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)和性质(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)由行列式的性质容易验证．下面我们证明性质(</a:t>
            </a:r>
            <a:r>
              <a:rPr kumimoji="1" lang="en-US" altLang="zh-CN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3</a:t>
            </a:r>
            <a:r>
              <a:rPr kumimoji="1" lang="zh-CN" altLang="en-US" b="1" kern="1200" cap="none" spc="0" normalizeH="0" baseline="0" noProof="0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)．</a:t>
            </a:r>
          </a:p>
        </p:txBody>
      </p:sp>
      <p:sp>
        <p:nvSpPr>
          <p:cNvPr id="5" name="Rectangle 3"/>
          <p:cNvSpPr/>
          <p:nvPr>
            <p:custDataLst>
              <p:tags r:id="rId3"/>
            </p:custDataLst>
          </p:nvPr>
        </p:nvSpPr>
        <p:spPr>
          <a:xfrm>
            <a:off x="827723" y="1988503"/>
            <a:ext cx="71167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设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= (</a:t>
            </a:r>
            <a:r>
              <a:rPr lang="en-US" altLang="zh-CN" sz="2800" b="1" i="1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sz="2800" b="1" i="1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ij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), 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= (</a:t>
            </a:r>
            <a:r>
              <a:rPr lang="en-US" altLang="zh-CN" sz="2800" b="1" i="1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i="1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ij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) ,</a:t>
            </a:r>
            <a:r>
              <a:rPr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构造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2</a:t>
            </a:r>
            <a: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 </a:t>
            </a:r>
            <a:r>
              <a:rPr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阶行列式 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</p:txBody>
      </p:sp>
      <p:graphicFrame>
        <p:nvGraphicFramePr>
          <p:cNvPr id="2" name="对象 -2147482304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2001838" y="2636838"/>
          <a:ext cx="5257800" cy="271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10" imgW="65227200" imgH="33528000" progId="Equation.DSMT4">
                  <p:embed/>
                </p:oleObj>
              </mc:Choice>
              <mc:Fallback>
                <p:oleObj name="Equation" r:id="rId10" imgW="65227200" imgH="33528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01838" y="2636838"/>
                        <a:ext cx="5257800" cy="2716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/>
          <p:nvPr>
            <p:custDataLst>
              <p:tags r:id="rId5"/>
            </p:custDataLst>
          </p:nvPr>
        </p:nvSpPr>
        <p:spPr>
          <a:xfrm>
            <a:off x="827723" y="5588953"/>
            <a:ext cx="71167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由第一章例4的推广可知</a:t>
            </a:r>
            <a:r>
              <a:rPr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</a:p>
        </p:txBody>
      </p:sp>
      <p:graphicFrame>
        <p:nvGraphicFramePr>
          <p:cNvPr id="3" name="对象 -2147482303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076190" y="5589270"/>
          <a:ext cx="1545590" cy="58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12" imgW="15849600" imgH="6096000" progId="Equation.DSMT4">
                  <p:embed/>
                </p:oleObj>
              </mc:Choice>
              <mc:Fallback>
                <p:oleObj name="Equation" r:id="rId12" imgW="15849600" imgH="60960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76190" y="5589270"/>
                        <a:ext cx="1545590" cy="5854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/>
      <p:bldP spid="5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方阵的行列式</a:t>
            </a:r>
          </a:p>
        </p:txBody>
      </p:sp>
      <p:sp>
        <p:nvSpPr>
          <p:cNvPr id="5" name="Rectangle 3"/>
          <p:cNvSpPr/>
          <p:nvPr>
            <p:custDataLst>
              <p:tags r:id="rId2"/>
            </p:custDataLst>
          </p:nvPr>
        </p:nvSpPr>
        <p:spPr>
          <a:xfrm>
            <a:off x="323850" y="981075"/>
            <a:ext cx="8188325" cy="194950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而在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D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中，以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i="1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1j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乘以第1列，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i="1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2j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乘以第2列，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……</a:t>
            </a:r>
            <a:r>
              <a:rPr lang="en-US" altLang="zh-CN" sz="2800" b="1" i="1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sz="2800" b="1" i="1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nj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乘以第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列</a:t>
            </a:r>
            <a:r>
              <a:rPr 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后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，都加到第</a:t>
            </a:r>
            <a:r>
              <a:rPr lang="en-US" altLang="zh-CN" sz="28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en-US" altLang="zh-CN" sz="28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</a:rPr>
              <a:t>j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列上</a:t>
            </a:r>
            <a:r>
              <a:rPr 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j=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1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2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……n</a:t>
            </a:r>
            <a:r>
              <a:rPr 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，有</a:t>
            </a:r>
          </a:p>
        </p:txBody>
      </p:sp>
      <p:sp>
        <p:nvSpPr>
          <p:cNvPr id="7" name="Rectangle 3"/>
          <p:cNvSpPr/>
          <p:nvPr>
            <p:custDataLst>
              <p:tags r:id="rId3"/>
            </p:custDataLst>
          </p:nvPr>
        </p:nvSpPr>
        <p:spPr>
          <a:xfrm>
            <a:off x="539433" y="3715703"/>
            <a:ext cx="71167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其中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= (</a:t>
            </a:r>
            <a:r>
              <a:rPr lang="en-US" altLang="zh-CN" sz="2800" b="1" i="1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sz="2800" b="1" i="1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ij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)</a:t>
            </a:r>
            <a:r>
              <a:rPr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</a:p>
        </p:txBody>
      </p:sp>
      <p:graphicFrame>
        <p:nvGraphicFramePr>
          <p:cNvPr id="3" name="对象 -2147482303"/>
          <p:cNvGraphicFramePr>
            <a:graphicFrameLocks noChangeAspect="1"/>
          </p:cNvGraphicFramePr>
          <p:nvPr/>
        </p:nvGraphicFramePr>
        <p:xfrm>
          <a:off x="584200" y="4797425"/>
          <a:ext cx="5707063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Equation" r:id="rId9" imgW="58521600" imgH="10972800" progId="Equation.DSMT4">
                  <p:embed/>
                </p:oleObj>
              </mc:Choice>
              <mc:Fallback>
                <p:oleObj name="Equation" r:id="rId9" imgW="58521600" imgH="109728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4200" y="4797425"/>
                        <a:ext cx="5707063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295"/>
          <p:cNvGraphicFramePr>
            <a:graphicFrameLocks noChangeAspect="1"/>
          </p:cNvGraphicFramePr>
          <p:nvPr/>
        </p:nvGraphicFramePr>
        <p:xfrm>
          <a:off x="3217545" y="2348865"/>
          <a:ext cx="2258695" cy="1290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Equation" r:id="rId11" imgW="19202400" imgH="10972800" progId="Equation.DSMT4">
                  <p:embed/>
                </p:oleObj>
              </mc:Choice>
              <mc:Fallback>
                <p:oleObj name="Equation" r:id="rId11" imgW="19202400" imgH="109728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17545" y="2348865"/>
                        <a:ext cx="2258695" cy="1290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293"/>
          <p:cNvGraphicFramePr>
            <a:graphicFrameLocks noChangeAspect="1"/>
          </p:cNvGraphicFramePr>
          <p:nvPr/>
        </p:nvGraphicFramePr>
        <p:xfrm>
          <a:off x="2677795" y="3715703"/>
          <a:ext cx="4591685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r:id="rId13" imgW="1866900" imgH="241300" progId="Equation.DSMT4">
                  <p:embed/>
                </p:oleObj>
              </mc:Choice>
              <mc:Fallback>
                <p:oleObj r:id="rId13" imgW="1866900" imgH="2413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77795" y="3715703"/>
                        <a:ext cx="4591685" cy="594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/>
          <p:nvPr>
            <p:custDataLst>
              <p:tags r:id="rId4"/>
            </p:custDataLst>
          </p:nvPr>
        </p:nvSpPr>
        <p:spPr>
          <a:xfrm>
            <a:off x="573723" y="4256088"/>
            <a:ext cx="71167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即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C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= </a:t>
            </a:r>
            <a:r>
              <a:rPr lang="en-US" altLang="zh-CN" sz="28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AB</a:t>
            </a:r>
          </a:p>
        </p:txBody>
      </p:sp>
      <p:sp>
        <p:nvSpPr>
          <p:cNvPr id="14" name="Rectangle 3"/>
          <p:cNvSpPr/>
          <p:nvPr>
            <p:custDataLst>
              <p:tags r:id="rId5"/>
            </p:custDataLst>
          </p:nvPr>
        </p:nvSpPr>
        <p:spPr>
          <a:xfrm>
            <a:off x="2195830" y="4256405"/>
            <a:ext cx="6096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而</a:t>
            </a:r>
          </a:p>
        </p:txBody>
      </p:sp>
      <p:graphicFrame>
        <p:nvGraphicFramePr>
          <p:cNvPr id="15" name="对象 -2147482303"/>
          <p:cNvGraphicFramePr>
            <a:graphicFrameLocks noChangeAspect="1"/>
          </p:cNvGraphicFramePr>
          <p:nvPr/>
        </p:nvGraphicFramePr>
        <p:xfrm>
          <a:off x="3968750" y="5949950"/>
          <a:ext cx="48768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Equation" r:id="rId15" imgW="49987200" imgH="6096000" progId="Equation.DSMT4">
                  <p:embed/>
                </p:oleObj>
              </mc:Choice>
              <mc:Fallback>
                <p:oleObj name="Equation" r:id="rId15" imgW="49987200" imgH="60960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68750" y="5949950"/>
                        <a:ext cx="4876800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3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拓展问题</a:t>
            </a:r>
            <a:r>
              <a:rPr lang="zh-CN" sz="28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：矩阵的应用</a:t>
            </a: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8075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拓展思考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995" y="1628775"/>
            <a:ext cx="8114665" cy="240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你知道计算机是如何存储一张照片的吗？计算机是如何实现图像放缩、旋转、高亮、添加水印等处理的呢？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16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47fcc34-08aa-4d11-ab19-1f61cfe44d19"/>
  <p:tag name="COMMONDATA" val="eyJoZGlkIjoiZmRhY2I1Yzc3MDRmODQ3NWQxMWUzOTBiYTliNDAwZ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37</TotalTime>
  <Words>2613</Words>
  <Application>Microsoft Macintosh PowerPoint</Application>
  <PresentationFormat>On-screen Show (4:3)</PresentationFormat>
  <Paragraphs>303</Paragraphs>
  <Slides>47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68" baseType="lpstr">
      <vt:lpstr>等线</vt:lpstr>
      <vt:lpstr>楷体_GB2312</vt:lpstr>
      <vt:lpstr>微软雅黑</vt:lpstr>
      <vt:lpstr>宋体</vt:lpstr>
      <vt:lpstr>华文行楷</vt:lpstr>
      <vt:lpstr>华文中宋</vt:lpstr>
      <vt:lpstr>Arial</vt:lpstr>
      <vt:lpstr>Arial Black</vt:lpstr>
      <vt:lpstr>Calibri</vt:lpstr>
      <vt:lpstr>Cambria Math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Equation.3</vt:lpstr>
      <vt:lpstr>文档</vt:lpstr>
      <vt:lpstr>Equation.DSMT4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1128</cp:revision>
  <dcterms:created xsi:type="dcterms:W3CDTF">2012-06-17T01:12:00Z</dcterms:created>
  <dcterms:modified xsi:type="dcterms:W3CDTF">2026-10-19T03:33:08Z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FD406AF14D894C65BD7188147F789952_12</vt:lpwstr>
  </property>
  <property fmtid="{D5CDD505-2E9C-101B-9397-08002B2CF9AE}" pid="3" name="KSOProductBuildVer">
    <vt:lpwstr>2052-12.1.0.16388</vt:lpwstr>
  </property>
</Properties>
</file>