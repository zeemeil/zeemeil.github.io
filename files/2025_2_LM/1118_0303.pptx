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5166" r:id="rId1"/>
    <p:sldMasterId id="2147485255" r:id="rId2"/>
    <p:sldMasterId id="2147485458" r:id="rId3"/>
    <p:sldMasterId id="2147487332" r:id="rId4"/>
  </p:sldMasterIdLst>
  <p:notesMasterIdLst>
    <p:notesMasterId r:id="rId50"/>
  </p:notesMasterIdLst>
  <p:handoutMasterIdLst>
    <p:handoutMasterId r:id="rId51"/>
  </p:handoutMasterIdLst>
  <p:sldIdLst>
    <p:sldId id="1492" r:id="rId5"/>
    <p:sldId id="1129" r:id="rId6"/>
    <p:sldId id="1438" r:id="rId7"/>
    <p:sldId id="1358" r:id="rId8"/>
    <p:sldId id="1359" r:id="rId9"/>
    <p:sldId id="1452" r:id="rId10"/>
    <p:sldId id="1455" r:id="rId11"/>
    <p:sldId id="1456" r:id="rId12"/>
    <p:sldId id="1454" r:id="rId13"/>
    <p:sldId id="1457" r:id="rId14"/>
    <p:sldId id="1458" r:id="rId15"/>
    <p:sldId id="1459" r:id="rId16"/>
    <p:sldId id="1360" r:id="rId17"/>
    <p:sldId id="1460" r:id="rId18"/>
    <p:sldId id="1363" r:id="rId19"/>
    <p:sldId id="1461" r:id="rId20"/>
    <p:sldId id="1410" r:id="rId21"/>
    <p:sldId id="1462" r:id="rId22"/>
    <p:sldId id="1464" r:id="rId23"/>
    <p:sldId id="1466" r:id="rId24"/>
    <p:sldId id="1465" r:id="rId25"/>
    <p:sldId id="1468" r:id="rId26"/>
    <p:sldId id="1469" r:id="rId27"/>
    <p:sldId id="1471" r:id="rId28"/>
    <p:sldId id="1473" r:id="rId29"/>
    <p:sldId id="1472" r:id="rId30"/>
    <p:sldId id="1474" r:id="rId31"/>
    <p:sldId id="1475" r:id="rId32"/>
    <p:sldId id="1364" r:id="rId33"/>
    <p:sldId id="1477" r:id="rId34"/>
    <p:sldId id="1479" r:id="rId35"/>
    <p:sldId id="1480" r:id="rId36"/>
    <p:sldId id="1481" r:id="rId37"/>
    <p:sldId id="1482" r:id="rId38"/>
    <p:sldId id="1483" r:id="rId39"/>
    <p:sldId id="1376" r:id="rId40"/>
    <p:sldId id="1484" r:id="rId41"/>
    <p:sldId id="1485" r:id="rId42"/>
    <p:sldId id="1486" r:id="rId43"/>
    <p:sldId id="1487" r:id="rId44"/>
    <p:sldId id="1488" r:id="rId45"/>
    <p:sldId id="1489" r:id="rId46"/>
    <p:sldId id="1490" r:id="rId47"/>
    <p:sldId id="1491" r:id="rId48"/>
    <p:sldId id="1357" r:id="rId4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3333FF"/>
    <a:srgbClr val="6666FF"/>
    <a:srgbClr val="969696"/>
    <a:srgbClr val="2B2BFF"/>
    <a:srgbClr val="FFFFFF"/>
    <a:srgbClr val="C7E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 autoAdjust="0"/>
    <p:restoredTop sz="93807" autoAdjust="0"/>
  </p:normalViewPr>
  <p:slideViewPr>
    <p:cSldViewPr>
      <p:cViewPr varScale="1">
        <p:scale>
          <a:sx n="109" d="100"/>
          <a:sy n="109" d="100"/>
        </p:scale>
        <p:origin x="115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8298"/>
    </p:cViewPr>
  </p:sorterViewPr>
  <p:notesViewPr>
    <p:cSldViewPr>
      <p:cViewPr varScale="1">
        <p:scale>
          <a:sx n="56" d="100"/>
          <a:sy n="56" d="100"/>
        </p:scale>
        <p:origin x="285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EA380C-BE2C-4282-97A2-63FF308284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D8108A-6D14-45B9-AD48-86AFA29CEEA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329B3-F25B-48AB-B184-ECF14D006430}" type="datetimeFigureOut">
              <a:rPr lang="zh-CN" altLang="en-US" smtClean="0"/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14173B7-E60B-473E-80B6-27B9FC1A9E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7442B8-CFD7-4D5A-A40F-5330847ED2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3A003-A97D-492E-97B5-C17D5102C5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2367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8D1E8CF-2E05-42CF-946C-A234E5F000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7632EF-962B-4C32-944C-9D48ADC75C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D2B7DC5F-3EFA-4251-8C20-6E9EC7819C7B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05BBDC4-6710-4A89-977B-5A8CCDD9C1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17B5BEF2-2FAA-4DA0-A019-CDD72CD601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E9C5AE9-932A-4B24-8907-3288CEB58A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55E83-8E18-466C-948D-A1D8AB4AD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ECF8E6-7687-4417-B0A4-6F969A7F56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4FFA27-5CA2-4DFB-8D06-B9C664BB46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ADF04B9-6AB1-409F-90C3-976FF0BAFD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05FE01-3CC2-481E-842A-EC3BCF936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E5C615-27DC-4BF8-A59E-3AA49FB0D5E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28854753"/>
      </p:ext>
    </p:extLst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C83651-720B-4544-B1BD-C9AE72396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CEA02A-0E2E-41CB-9FBA-094B1830C8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CBE20F-77C4-4DBD-B25D-3C6A4FEDBC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EB0E9A-86DB-4D24-B690-7EB825DC079D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0984384"/>
      </p:ext>
    </p:extLst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834230-2B39-4DDE-A231-57D9210317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7AA53C-2A84-42AC-8ABE-E3BCD725DC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69738-E7EF-4239-9214-1338BEA229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230BC-C4BF-4D06-8DEA-E30815249296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8350978"/>
      </p:ext>
    </p:extLst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A1BC0-DA59-4AE7-996B-37C7C52327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721AC6-AA19-4ACC-9723-B9CDDDC201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AA4EE-D3DA-43A0-BE88-D590F25B53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8A078-8F53-4DD8-99BE-6937C29878CC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2712226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6C333DE-221B-451E-B3BA-71E82BEAC0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20BFB29-C645-4459-9FE3-FBD984899A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DC3FE80-E225-4E0E-A4D4-9ED9C5527B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4D90F-E331-47DC-92F1-E62695D6C2EE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10150248"/>
      </p:ext>
    </p:extLst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4C59EC-2D83-4644-9FF6-91C5F0ABE1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383F13-0C98-4BF3-8523-314ACE8E1F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F39952-6881-490F-B284-BB0102813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5CD7D-56B0-4C13-84D6-F0DB2E473BD9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0904448"/>
      </p:ext>
    </p:extLst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0C9107-412D-42F2-A220-A25A218FD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EC7EFD-A8E4-4F78-90B4-0E1A3F97F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CF8D3B-A421-4610-91BC-08C96EAA9A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F3216-45D4-4224-B7C6-5D94FF958E90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4945455"/>
      </p:ext>
    </p:extLst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130E1B-374D-48BA-A9A9-A9EB42C70E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D77BF4-B8D5-4759-A2CA-7E2D8DF1FF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BA1783-3E36-44DB-9B84-16EAF900E3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28436-CF71-46CC-B37F-786C39E55141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614326"/>
      </p:ext>
    </p:extLst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C1EB74-39EF-47DA-A763-FB37F9B131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D1B4E2-FAE7-4275-B658-CF563EF223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4AC064-1581-42FB-B0D3-948281D4C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01C669-4DB4-4AE4-93DC-BF8A4974A3A8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8808084"/>
      </p:ext>
    </p:extLst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1C77236-EEBB-4827-AD1E-537D08A338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E69FFFD-5F56-4F25-B1AB-DE72DBCB49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116A906-E789-439C-BD58-729E2D76B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24609-233C-4051-A6FF-16711CDE0657}" type="slidenum">
              <a:rPr lang="zh-CN" altLang="en-US"/>
              <a:pPr>
                <a:defRPr/>
              </a:pPr>
              <a:t>‹#›</a:t>
            </a:fld>
            <a:endParaRPr lang="en-US" sz="18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6638746"/>
      </p:ext>
    </p:extLst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907258-1C0A-4346-809F-F31A32E6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56CD3-B855-4099-A6DC-544CDEEBCED0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36BFAF-6BC0-49F0-BC8C-FB8009774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401784-8F1D-4904-B603-1F475985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B58C0-F69D-4AAE-A851-DF9D554566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860701"/>
      </p:ext>
    </p:extLst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0006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7CDAD0-9D64-4314-8793-8634F4D80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62A031-7B56-4E50-B06E-364E4CFB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A571B-27BA-4C0A-8D4F-2B2E4019B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63F919-ACE6-499C-B04E-6F37524E2A4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767839"/>
      </p:ext>
    </p:extLst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B3347-0CA6-4EE6-8E3C-7F647BA3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B6C7-F2DA-4B00-8CA8-5826F1BE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D50E1-33F5-4F04-83D7-58255901F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9925" y="65246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88AB1-6F8F-4880-A2F2-6438CF0D6A2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815764"/>
      </p:ext>
    </p:extLst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855C45-E57E-45D8-8789-B08077A0B8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AE40C-11D0-4D9D-B418-509A8A9A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1C6E2B-2607-4AFD-9E50-1545AA41B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53664-7945-4AD5-AF54-C8983D411A1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839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7F9A4D-341A-41CC-8F0F-E6924B9684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E33512-D5A8-47D0-B549-77A18A6ED8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B7CB67-BDC6-4137-BE93-338EAA114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6212E-F15C-4F9E-AD83-F17D9A8F846C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72816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490AF2-F810-4172-8A48-87F8D5EF73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1F90D61-50CB-4D86-9EAC-B76F8A364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FA323-8AFE-4021-A977-A60222BA28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D0075-AF19-4B1B-8011-58A6AB795AD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1802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9"/>
            <a:ext cx="4038600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4C019C-2D7F-4455-B3FB-C346074817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1D3FD4-1623-45FB-96F8-F9285B879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823D2-B9E7-4EED-9D1E-3AB8E17E3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44D41-A3C1-4F4A-A879-73119D3260B5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21926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12368DA-4B1A-424E-9857-B0A678FBC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5B212B3-7550-4762-8B5E-CB91D5A8BC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24B8099-34BA-4920-84A9-9BA6EE4ED8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F8A1-99AE-4343-9EF8-7AC2031B1C1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46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E56705-0B6D-45BC-8340-6A1E4EFD65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7C27C-6D02-42D6-BF81-983A2FCE65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602995-3DE2-4744-8539-2A7C1876E8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4240E5-FDED-47C5-BE2C-DF3B3D01D70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2001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5B1FBF-7FD0-4CE2-A043-A41CE23630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B4C19-C8A8-4CF8-9D44-5BAEBA2B52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925DFB-3070-475F-98EE-8E4F3A00EA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9BCF9-9D56-4431-ADCF-17A2E61D8B5B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54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D6855A6-453A-47B3-8A92-0F1063C79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4011F6-4D45-40E9-850B-FE8F767F9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23DB50-4002-46B4-810A-AA39BF83D1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3078C-7EAC-411A-B198-BA9F1B1734ED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68493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FA5EF-1425-4B28-9B7A-348002BF3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85E2916-713D-417C-8CEE-972575D27D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639DA-65DE-4219-8B66-C96E3E8929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9937-D75B-494B-97E0-CD8A7339E004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22887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777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1F1D24E-58F4-416D-B9FF-CD0720AB9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816E313-3B04-41D1-A907-070FE2F11D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27B489-A529-4323-A27E-40A3A99864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460E3-F074-47B4-96DD-BC52E33C0F01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5113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2B2289-983E-4EA7-8A84-119F4B9A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86A95-86B7-4F54-92AB-60B264BB6D59}" type="datetimeFigureOut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DA7B7F-14A2-4287-897C-E8179727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92ADFC2-E3A9-4650-B34E-E842FD3D3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415841-6B32-4D7D-ADE2-76473CE275C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05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13E466-4F93-4E3A-A6F6-928A730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E35D83A0-80DF-4DEC-9C63-42FBF4325AC9}" type="datetime1">
              <a:rPr lang="zh-CN" altLang="en-US"/>
              <a:pPr>
                <a:defRPr/>
              </a:pPr>
              <a:t>2023/8/25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379F3-1B1D-4F43-97B0-BF8DC6305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6F5286-0118-4D1C-85B9-22086D08D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F6EC3-AABE-42C7-BDC1-3B47FDB7D2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472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DAEE5-B474-4771-8A83-AE3B97F8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421E6C-CD00-4620-991D-FDD21011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>
            <a:lvl1pPr eaLnBrk="0" hangingPunct="0">
              <a:defRPr>
                <a:solidFill>
                  <a:prstClr val="black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845B2-E858-4F40-8455-88DAA9C56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39F2B-6D2D-42CF-BE86-44F3C34AB1F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1916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454776585"/>
      </p:ext>
    </p:extLst>
  </p:cSld>
  <p:clrMapOvr>
    <a:masterClrMapping/>
  </p:clrMapOvr>
  <p:transition spd="slow">
    <p:split orient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285728393"/>
      </p:ext>
    </p:extLst>
  </p:cSld>
  <p:clrMapOvr>
    <a:masterClrMapping/>
  </p:clrMapOvr>
  <p:transition spd="slow">
    <p:split orient="vert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63468895"/>
      </p:ext>
    </p:extLst>
  </p:cSld>
  <p:clrMapOvr>
    <a:masterClrMapping/>
  </p:clrMapOvr>
  <p:transition spd="slow"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836832075"/>
      </p:ext>
    </p:extLst>
  </p:cSld>
  <p:clrMapOvr>
    <a:masterClrMapping/>
  </p:clrMapOvr>
  <p:transition spd="slow"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09343174"/>
      </p:ext>
    </p:extLst>
  </p:cSld>
  <p:clrMapOvr>
    <a:masterClrMapping/>
  </p:clrMapOvr>
  <p:transition spd="slow"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9D38C6D0-0704-4DD7-A5D2-05D8B59DF5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0"/>
            <a:ext cx="630238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10390642"/>
      </p:ext>
    </p:extLst>
  </p:cSld>
  <p:clrMapOvr>
    <a:masterClrMapping/>
  </p:clrMapOvr>
  <p:transition spd="slow"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717509"/>
      </p:ext>
    </p:extLst>
  </p:cSld>
  <p:clrMapOvr>
    <a:masterClrMapping/>
  </p:clrMapOvr>
  <p:transition spd="slow"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18230320"/>
      </p:ext>
    </p:extLst>
  </p:cSld>
  <p:clrMapOvr>
    <a:masterClrMapping/>
  </p:clrMapOvr>
  <p:transition spd="slow"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4770882"/>
      </p:ext>
    </p:extLst>
  </p:cSld>
  <p:clrMapOvr>
    <a:masterClrMapping/>
  </p:clrMapOvr>
  <p:transition spd="slow">
    <p:split orient="vert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4065221748"/>
      </p:ext>
    </p:extLst>
  </p:cSld>
  <p:clrMapOvr>
    <a:masterClrMapping/>
  </p:clrMapOvr>
  <p:transition spd="slow">
    <p:split orient="vert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14940593"/>
      </p:ext>
    </p:extLst>
  </p:cSld>
  <p:clrMapOvr>
    <a:masterClrMapping/>
  </p:clrMapOvr>
  <p:transition spd="slow">
    <p:split orient="vert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5DCFD248-D6E9-42A7-9A08-4B322473B87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2293EF1F-B996-4BF3-8545-1F8942B746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8EF5DC4-DA6F-46DC-9D43-273DA325F56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B1A793CB-15AC-484F-9480-5EFAC00C87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3BF66AE4-90AD-4312-BBFB-E4BA8EC12A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E36EAE0C-5BF4-4600-902D-FBFA900763F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BD22F033-56C7-48BA-B9B5-90236C337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68BF0FAB-2F85-4929-AB2D-97A6311EFA5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7AED698-0AAA-4BB6-9480-E7C85850634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095121D7-4C0F-44D8-B004-AA4D7911F7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01E34350-5B3C-4612-8690-23E0637F8F4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0559055E-3F93-4230-B16D-24149A55D54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C2B656F5-0850-4ED6-8F46-E13E0871EDF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66BC7D0B-5FDB-4195-99C3-ADEC8ADF11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zh-CN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99D42E93-D1A7-4D68-B8E9-89C548966C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7922CF7F-89E3-442B-8672-5D396583FC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42A8E2A3-1787-483E-8FA7-FB0A6EF2DC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0FFE78-55F7-431F-BCD8-F3E0D0F5D7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728980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A66C85-B574-4B8B-AE29-7E83B531F4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030FC8-A8E8-4162-9EA0-532FE09A0A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EF225-F500-4420-A403-553EDAA46B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12FA7717-ADBA-4C62-B38A-CC9348FA096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678118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81287-8B2B-4245-9470-3CF957101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3EF4B9-8B57-4C03-A5F2-E2A17B23BB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10590-E611-40D8-BC78-27420DD68B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6E8CF0E3-2389-4D18-BF8D-B3A042044D2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16412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794E05-3896-4D04-A78C-E206AC6065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1DBE9-298F-478C-AD0B-532137C52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594E81-E1D8-45D8-9C37-5E31D1C2C2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7550F8A-6CB3-4E1C-A335-52B52D50778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953128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F3769CD0-67B4-4856-9B65-2233FAA50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75BFF0B-A76A-49AB-8E76-6E5D2EFECD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A2442-AFC7-4FFD-82F8-524F2229C1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9" name="日期占位符 8">
            <a:extLst>
              <a:ext uri="{FF2B5EF4-FFF2-40B4-BE49-F238E27FC236}">
                <a16:creationId xmlns:a16="http://schemas.microsoft.com/office/drawing/2014/main" id="{5A425DD8-22B0-46CB-B651-717BE4798C7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211648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8219D1-EEA4-4CD4-9938-0B050D9E6E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84AD52-D808-48B6-B359-7D6F15F8C8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A9A7B-6518-4705-B33A-BF06ABC4732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EB0461-4B86-42B0-AC4F-E5915068182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3129802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FF2B5EF4-FFF2-40B4-BE49-F238E27FC236}">
                <a16:creationId xmlns:a16="http://schemas.microsoft.com/office/drawing/2014/main" id="{F30C0146-A287-4A3C-ADEE-2427F18CC1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713" y="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17">
            <a:extLst>
              <a:ext uri="{FF2B5EF4-FFF2-40B4-BE49-F238E27FC236}">
                <a16:creationId xmlns:a16="http://schemas.microsoft.com/office/drawing/2014/main" id="{26716C4E-EB24-4F65-9CCF-3C8B064C45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413" y="0"/>
            <a:ext cx="763587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燕尾形 16">
            <a:hlinkClick r:id="" action="ppaction://hlinkshowjump?jump=previousslide" tooltip="上一页"/>
            <a:extLst>
              <a:ext uri="{FF2B5EF4-FFF2-40B4-BE49-F238E27FC236}">
                <a16:creationId xmlns:a16="http://schemas.microsoft.com/office/drawing/2014/main" id="{E868D851-0E7F-417F-A7BA-537E73D2A6F3}"/>
              </a:ext>
            </a:extLst>
          </p:cNvPr>
          <p:cNvSpPr/>
          <p:nvPr userDrawn="1"/>
        </p:nvSpPr>
        <p:spPr>
          <a:xfrm flipH="1">
            <a:off x="8346933" y="6584238"/>
            <a:ext cx="233362" cy="23495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燕尾形 18">
            <a:hlinkClick r:id="" action="ppaction://hlinkshowjump?jump=nextslide" tooltip="下一页"/>
            <a:extLst>
              <a:ext uri="{FF2B5EF4-FFF2-40B4-BE49-F238E27FC236}">
                <a16:creationId xmlns:a16="http://schemas.microsoft.com/office/drawing/2014/main" id="{12709413-AEBF-474E-85A5-9A05A52DCD51}"/>
              </a:ext>
            </a:extLst>
          </p:cNvPr>
          <p:cNvSpPr/>
          <p:nvPr userDrawn="1"/>
        </p:nvSpPr>
        <p:spPr>
          <a:xfrm>
            <a:off x="8829533" y="6596938"/>
            <a:ext cx="190500" cy="2286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页脚占位符 1">
            <a:extLst>
              <a:ext uri="{FF2B5EF4-FFF2-40B4-BE49-F238E27FC236}">
                <a16:creationId xmlns:a16="http://schemas.microsoft.com/office/drawing/2014/main" id="{3C341C7B-D148-4414-AA91-65A892CF25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D5F58521-311C-4635-AFA1-FD84A2FD29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1550D-240D-4904-938E-B973E916CC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8FE20C34-27D7-4001-9CA0-97FAF94660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407819"/>
      </p:ext>
    </p:extLst>
  </p:cSld>
  <p:clrMapOvr>
    <a:masterClrMapping/>
  </p:clrMapOvr>
  <p:transition spd="slow">
    <p:split orient="vert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3765A-DB92-4FEB-8586-5083F6941B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FDF5F-9F14-49F7-82C6-42794CEB7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EDC4BB-AB2F-46F7-AF26-133DAD60E8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3E2FBE0-19B5-43F0-A085-F9447004E6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1689859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410B37-7628-4026-857E-D516CCF2FE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77D3DD-3BAE-4A61-A547-EDCF67528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518AF-6C9F-4F47-B896-EB22B9855F7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4AD834-DC92-41E8-805C-D46D15F577F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070184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BBAE87-7E54-42AD-8D4E-64447FA738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049BAC-BDEE-41A8-B375-0C74582E8A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6D19-00A4-4745-9E70-FDB09DCE2D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CB1ABFD-F109-4E5E-9750-C313A90A2B6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31748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52F1A3-63B8-484C-A59C-FF6D582BD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2D1A0B-715F-4734-BBC6-DCDD9A1A98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8A8F0-77B5-4BCF-8040-6A35B75A60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229AB6B-AD64-4746-9E73-A20F5E2738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745400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37CA2716-81D1-4A33-8A7E-BA6EB9C611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0888" y="85725"/>
            <a:ext cx="631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13" r:id="rId1"/>
    <p:sldLayoutId id="2147487314" r:id="rId2"/>
    <p:sldLayoutId id="2147487315" r:id="rId3"/>
    <p:sldLayoutId id="2147487316" r:id="rId4"/>
    <p:sldLayoutId id="2147487317" r:id="rId5"/>
    <p:sldLayoutId id="2147487318" r:id="rId6"/>
    <p:sldLayoutId id="2147487319" r:id="rId7"/>
    <p:sldLayoutId id="2147487320" r:id="rId8"/>
    <p:sldLayoutId id="2147487321" r:id="rId9"/>
    <p:sldLayoutId id="2147487322" r:id="rId10"/>
    <p:sldLayoutId id="2147487323" r:id="rId11"/>
    <p:sldLayoutId id="2147487324" r:id="rId12"/>
    <p:sldLayoutId id="2147487325" r:id="rId13"/>
  </p:sldLayoutIdLst>
  <p:transition spd="slow">
    <p:split orient="vert"/>
  </p:transition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D8CAED-9733-4696-BE55-66C0F2E5FA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6D87927-EA0E-4567-A73F-EE5B25BEB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zh-CN">
                <a:sym typeface="Arial" panose="020B0604020202020204" pitchFamily="34" charset="0"/>
              </a:rPr>
              <a:t>第二级</a:t>
            </a:r>
          </a:p>
          <a:p>
            <a:pPr lvl="2"/>
            <a:r>
              <a:rPr lang="zh-CN" altLang="zh-CN">
                <a:sym typeface="Arial" panose="020B0604020202020204" pitchFamily="34" charset="0"/>
              </a:rPr>
              <a:t>第三级</a:t>
            </a:r>
          </a:p>
          <a:p>
            <a:pPr lvl="3"/>
            <a:r>
              <a:rPr lang="zh-CN" altLang="zh-CN">
                <a:sym typeface="Arial" panose="020B0604020202020204" pitchFamily="34" charset="0"/>
              </a:rPr>
              <a:t>第四级</a:t>
            </a:r>
          </a:p>
          <a:p>
            <a:pPr lvl="4"/>
            <a:r>
              <a:rPr lang="zh-CN" altLang="zh-CN">
                <a:sym typeface="Arial" panose="020B0604020202020204" pitchFamily="34" charset="0"/>
              </a:rPr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11A3E96-2188-405F-89D7-D3A22F3D4FA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632AC8B-0C35-44F7-97D8-F789CAAB875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buFont typeface="Arial" panose="020B0604020202020204" pitchFamily="34" charset="0"/>
              <a:buNone/>
              <a:defRPr sz="1400">
                <a:sym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7CA088-137C-4D05-816B-160A5F146A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9925" y="65246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600" b="1">
                <a:solidFill>
                  <a:srgbClr val="FFFF99"/>
                </a:solidFill>
                <a:latin typeface="+mj-ea"/>
                <a:ea typeface="+mj-ea"/>
                <a:sym typeface="黑体" panose="02010609060101010101" pitchFamily="49" charset="-122"/>
              </a:defRPr>
            </a:lvl1pPr>
          </a:lstStyle>
          <a:p>
            <a:pPr>
              <a:defRPr/>
            </a:pPr>
            <a:fld id="{2BA5B29F-AC96-412D-BF2C-3AFF6CC73BBE}" type="slidenum">
              <a:rPr lang="zh-CN" altLang="en-US"/>
              <a:pPr>
                <a:defRPr/>
              </a:pPr>
              <a:t>‹#›</a:t>
            </a:fld>
            <a:endParaRPr lang="en-US" sz="1800" b="0">
              <a:solidFill>
                <a:schemeClr val="tx1"/>
              </a:solidFill>
              <a:latin typeface="+mn-lt"/>
              <a:ea typeface="宋体" panose="02010600030101010101" pitchFamily="2" charset="-122"/>
            </a:endParaRPr>
          </a:p>
        </p:txBody>
      </p:sp>
      <p:pic>
        <p:nvPicPr>
          <p:cNvPr id="3079" name="Picture 2" descr="E:\党办校办\党办校办文件夹\学校资料\学校标志\校徽透明_蓝_完美版-2.png">
            <a:extLst>
              <a:ext uri="{FF2B5EF4-FFF2-40B4-BE49-F238E27FC236}">
                <a16:creationId xmlns:a16="http://schemas.microsoft.com/office/drawing/2014/main" id="{FEAC0F78-C0FC-4A92-AC28-83B0375BAE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475" y="187325"/>
            <a:ext cx="630238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326" r:id="rId1"/>
    <p:sldLayoutId id="2147487284" r:id="rId2"/>
    <p:sldLayoutId id="2147487285" r:id="rId3"/>
    <p:sldLayoutId id="2147487286" r:id="rId4"/>
    <p:sldLayoutId id="2147487287" r:id="rId5"/>
    <p:sldLayoutId id="2147487288" r:id="rId6"/>
    <p:sldLayoutId id="2147487289" r:id="rId7"/>
    <p:sldLayoutId id="2147487290" r:id="rId8"/>
    <p:sldLayoutId id="2147487291" r:id="rId9"/>
    <p:sldLayoutId id="2147487292" r:id="rId10"/>
    <p:sldLayoutId id="2147487327" r:id="rId11"/>
    <p:sldLayoutId id="2147487328" r:id="rId12"/>
    <p:sldLayoutId id="2147487329" r:id="rId13"/>
  </p:sldLayoutIdLst>
  <p:txStyles>
    <p:titleStyle>
      <a:lvl1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l" rtl="0" eaLnBrk="0" fontAlgn="base" hangingPunct="0">
        <a:spcBef>
          <a:spcPts val="1700"/>
        </a:spcBef>
        <a:spcAft>
          <a:spcPts val="1650"/>
        </a:spcAft>
        <a:defRPr sz="3200" b="1">
          <a:solidFill>
            <a:srgbClr val="0000FF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342900" indent="-342900" algn="just" defTabSz="0" rtl="0" eaLnBrk="0" fontAlgn="base" hangingPunct="0">
        <a:lnSpc>
          <a:spcPct val="105000"/>
        </a:lnSpc>
        <a:spcBef>
          <a:spcPts val="1300"/>
        </a:spcBef>
        <a:spcAft>
          <a:spcPts val="1300"/>
        </a:spcAft>
        <a:buClr>
          <a:srgbClr val="0000FF"/>
        </a:buClr>
        <a:buFont typeface="Wingdings" panose="05000000000000000000" pitchFamily="2" charset="2"/>
        <a:buChar char="u"/>
        <a:defRPr sz="2800" b="1">
          <a:solidFill>
            <a:srgbClr val="0C00AC"/>
          </a:solidFill>
          <a:latin typeface="+mn-lt"/>
          <a:ea typeface="+mn-ea"/>
          <a:cs typeface="楷体_GB2312" panose="02010609030101010101" charset="-122"/>
          <a:sym typeface="Arial" panose="020B0604020202020204" pitchFamily="34" charset="0"/>
        </a:defRPr>
      </a:lvl1pPr>
      <a:lvl2pPr marL="742950" indent="-285750" algn="just" defTabSz="0" rtl="0" eaLnBrk="0" fontAlgn="base" hangingPunct="0">
        <a:spcBef>
          <a:spcPts val="1300"/>
        </a:spcBef>
        <a:spcAft>
          <a:spcPts val="1300"/>
        </a:spcAft>
        <a:buClr>
          <a:srgbClr val="FF6600"/>
        </a:buClr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+mj-lt"/>
          <a:ea typeface="+mn-ea"/>
          <a:cs typeface="楷体_GB2312" panose="02010609030101010101" charset="-122"/>
          <a:sym typeface="Arial" panose="020B0604020202020204" pitchFamily="34" charset="0"/>
        </a:defRPr>
      </a:lvl2pPr>
      <a:lvl3pPr marL="1143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•"/>
        <a:defRPr sz="24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3pPr>
      <a:lvl4pPr marL="1600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–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4pPr>
      <a:lvl5pPr marL="20574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cs typeface="楷体_GB2312" panose="02010609030101010101" charset="-122"/>
          <a:sym typeface="Arial" panose="020B0604020202020204" pitchFamily="34" charset="0"/>
        </a:defRPr>
      </a:lvl5pPr>
      <a:lvl6pPr marL="25146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6pPr>
      <a:lvl7pPr marL="29718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7pPr>
      <a:lvl8pPr marL="34290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8pPr>
      <a:lvl9pPr marL="3886200" indent="-228600" algn="just" defTabSz="0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Font typeface="Wingdings" panose="05000000000000000000" pitchFamily="2" charset="2"/>
        <a:buChar char="»"/>
        <a:defRPr sz="2000" b="1">
          <a:solidFill>
            <a:schemeClr val="tx1"/>
          </a:solidFill>
          <a:latin typeface="+mn-lt"/>
          <a:ea typeface="宋体" panose="02010600030101010101" pitchFamily="2" charset="-122"/>
          <a:sym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9">
            <a:extLst>
              <a:ext uri="{FF2B5EF4-FFF2-40B4-BE49-F238E27FC236}">
                <a16:creationId xmlns:a16="http://schemas.microsoft.com/office/drawing/2014/main" id="{14ECB70A-15C1-43C3-82DD-C91F52213EA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1188" y="188913"/>
            <a:ext cx="3241675" cy="144462"/>
          </a:xfrm>
          <a:prstGeom prst="cloudCallout">
            <a:avLst>
              <a:gd name="adj1" fmla="val 49019"/>
              <a:gd name="adj2" fmla="val 604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7" name="AutoShape 27">
            <a:extLst>
              <a:ext uri="{FF2B5EF4-FFF2-40B4-BE49-F238E27FC236}">
                <a16:creationId xmlns:a16="http://schemas.microsoft.com/office/drawing/2014/main" id="{23932A2F-2686-4BEE-8DF6-1CAE4DA968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40200" y="115888"/>
            <a:ext cx="1223963" cy="142875"/>
          </a:xfrm>
          <a:prstGeom prst="cloudCallout">
            <a:avLst>
              <a:gd name="adj1" fmla="val 36639"/>
              <a:gd name="adj2" fmla="val 3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8" name="AutoShape 8">
            <a:extLst>
              <a:ext uri="{FF2B5EF4-FFF2-40B4-BE49-F238E27FC236}">
                <a16:creationId xmlns:a16="http://schemas.microsoft.com/office/drawing/2014/main" id="{7EAEED02-1A06-4CCC-B8A4-0F20CDF6531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8775" y="114300"/>
            <a:ext cx="2519363" cy="312738"/>
          </a:xfrm>
          <a:prstGeom prst="cloudCallout">
            <a:avLst>
              <a:gd name="adj1" fmla="val -7907"/>
              <a:gd name="adj2" fmla="val 279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9" name="AutoShape 10">
            <a:extLst>
              <a:ext uri="{FF2B5EF4-FFF2-40B4-BE49-F238E27FC236}">
                <a16:creationId xmlns:a16="http://schemas.microsoft.com/office/drawing/2014/main" id="{8589F783-3D42-4393-A6BE-B86E49ABF4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24300" y="0"/>
            <a:ext cx="3887788" cy="188913"/>
          </a:xfrm>
          <a:prstGeom prst="cloudCallout">
            <a:avLst>
              <a:gd name="adj1" fmla="val 17782"/>
              <a:gd name="adj2" fmla="val -34032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0" name="AutoShape 24">
            <a:extLst>
              <a:ext uri="{FF2B5EF4-FFF2-40B4-BE49-F238E27FC236}">
                <a16:creationId xmlns:a16="http://schemas.microsoft.com/office/drawing/2014/main" id="{6F1DC48B-481E-486F-94F2-23C1AE5DC0D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47813" y="115888"/>
            <a:ext cx="1655762" cy="144462"/>
          </a:xfrm>
          <a:prstGeom prst="cloudCallout">
            <a:avLst>
              <a:gd name="adj1" fmla="val 14046"/>
              <a:gd name="adj2" fmla="val -15935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1" name="AutoShape 26">
            <a:extLst>
              <a:ext uri="{FF2B5EF4-FFF2-40B4-BE49-F238E27FC236}">
                <a16:creationId xmlns:a16="http://schemas.microsoft.com/office/drawing/2014/main" id="{7E2F42E9-535D-4979-BEDB-04F4C08263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71438"/>
            <a:ext cx="1223963" cy="142876"/>
          </a:xfrm>
          <a:prstGeom prst="cloudCallout">
            <a:avLst>
              <a:gd name="adj1" fmla="val 36639"/>
              <a:gd name="adj2" fmla="val -15556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alpha val="32001"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0" lang="zh-CN" altLang="zh-CN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293" r:id="rId1"/>
    <p:sldLayoutId id="2147487294" r:id="rId2"/>
    <p:sldLayoutId id="2147487295" r:id="rId3"/>
    <p:sldLayoutId id="2147487296" r:id="rId4"/>
    <p:sldLayoutId id="2147487297" r:id="rId5"/>
    <p:sldLayoutId id="2147487330" r:id="rId6"/>
    <p:sldLayoutId id="2147487331" r:id="rId7"/>
    <p:sldLayoutId id="2147487298" r:id="rId8"/>
    <p:sldLayoutId id="2147487299" r:id="rId9"/>
    <p:sldLayoutId id="2147487300" r:id="rId10"/>
    <p:sldLayoutId id="2147487301" r:id="rId11"/>
  </p:sldLayoutIdLst>
  <p:transition spd="slow">
    <p:split orient="vert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FB02206-B27F-4E76-91B3-4EFD85BD43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0B8FE99-AF5C-4D4C-93CD-8759798309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8D3D8D6-D2D6-43CF-91A8-D9580B07DE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FC76477D-BF5D-43C9-B67A-DA3CAB6BDE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>
              <a:extLst>
                <a:ext uri="{FF2B5EF4-FFF2-40B4-BE49-F238E27FC236}">
                  <a16:creationId xmlns:a16="http://schemas.microsoft.com/office/drawing/2014/main" id="{BAB928D6-5BF9-45A2-87AC-671B31498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7" name="Rectangle 6">
              <a:extLst>
                <a:ext uri="{FF2B5EF4-FFF2-40B4-BE49-F238E27FC236}">
                  <a16:creationId xmlns:a16="http://schemas.microsoft.com/office/drawing/2014/main" id="{0DAE07E0-4410-415E-ADB7-B8F22AA3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58" name="Rectangle 7">
              <a:extLst>
                <a:ext uri="{FF2B5EF4-FFF2-40B4-BE49-F238E27FC236}">
                  <a16:creationId xmlns:a16="http://schemas.microsoft.com/office/drawing/2014/main" id="{F98F35F0-3851-4629-B9AC-91B836166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59" name="Rectangle 8">
              <a:extLst>
                <a:ext uri="{FF2B5EF4-FFF2-40B4-BE49-F238E27FC236}">
                  <a16:creationId xmlns:a16="http://schemas.microsoft.com/office/drawing/2014/main" id="{8ED0044A-21CE-45E6-9C31-02E7F31AF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0" name="Rectangle 9">
              <a:extLst>
                <a:ext uri="{FF2B5EF4-FFF2-40B4-BE49-F238E27FC236}">
                  <a16:creationId xmlns:a16="http://schemas.microsoft.com/office/drawing/2014/main" id="{97BFDF85-7F81-430A-A177-C2AF6AEFD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1" name="Rectangle 10">
              <a:extLst>
                <a:ext uri="{FF2B5EF4-FFF2-40B4-BE49-F238E27FC236}">
                  <a16:creationId xmlns:a16="http://schemas.microsoft.com/office/drawing/2014/main" id="{D23C108B-AEFE-4427-9022-F93C356E9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666699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2" name="Rectangle 11">
              <a:extLst>
                <a:ext uri="{FF2B5EF4-FFF2-40B4-BE49-F238E27FC236}">
                  <a16:creationId xmlns:a16="http://schemas.microsoft.com/office/drawing/2014/main" id="{C7B90104-A07F-46E6-9306-63B74F0F0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>
                <a:solidFill>
                  <a:srgbClr val="000000"/>
                </a:solidFill>
              </a:endParaRPr>
            </a:p>
          </p:txBody>
        </p:sp>
        <p:sp>
          <p:nvSpPr>
            <p:cNvPr id="2063" name="Rectangle 12">
              <a:extLst>
                <a:ext uri="{FF2B5EF4-FFF2-40B4-BE49-F238E27FC236}">
                  <a16:creationId xmlns:a16="http://schemas.microsoft.com/office/drawing/2014/main" id="{2B4E9ABA-0A63-420D-A603-037DC96FF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64" name="Rectangle 13">
              <a:extLst>
                <a:ext uri="{FF2B5EF4-FFF2-40B4-BE49-F238E27FC236}">
                  <a16:creationId xmlns:a16="http://schemas.microsoft.com/office/drawing/2014/main" id="{C2F95056-8353-4C51-9FDB-815AFD0F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zh-CN" sz="1800">
                <a:solidFill>
                  <a:srgbClr val="9999C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20A37B01-1D1B-477D-9302-81A19C62FC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685BA901-3641-49C6-B085-1EE89F61C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CBCD943A-D4CE-48C0-9D30-7E42EFF034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919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333" r:id="rId1"/>
    <p:sldLayoutId id="2147487334" r:id="rId2"/>
    <p:sldLayoutId id="2147487335" r:id="rId3"/>
    <p:sldLayoutId id="2147487336" r:id="rId4"/>
    <p:sldLayoutId id="2147487337" r:id="rId5"/>
    <p:sldLayoutId id="2147487338" r:id="rId6"/>
    <p:sldLayoutId id="2147487339" r:id="rId7"/>
    <p:sldLayoutId id="2147487340" r:id="rId8"/>
    <p:sldLayoutId id="2147487341" r:id="rId9"/>
    <p:sldLayoutId id="2147487342" r:id="rId10"/>
    <p:sldLayoutId id="2147487343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7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44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9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16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5" Type="http://schemas.openxmlformats.org/officeDocument/2006/relationships/image" Target="../media/image32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26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4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image" Target="../media/image38.wmf"/><Relationship Id="rId7" Type="http://schemas.openxmlformats.org/officeDocument/2006/relationships/image" Target="../media/image40.e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9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41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7" Type="http://schemas.openxmlformats.org/officeDocument/2006/relationships/image" Target="../media/image44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7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0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9.wmf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2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1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8.wmf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0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7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" Target="slide5.xml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0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788040"/>
      </p:ext>
    </p:extLst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>
            <a:extLst>
              <a:ext uri="{FF2B5EF4-FFF2-40B4-BE49-F238E27FC236}">
                <a16:creationId xmlns:a16="http://schemas.microsoft.com/office/drawing/2014/main" id="{B23C083C-4786-427B-8023-7BCA8B81A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08038"/>
            <a:ext cx="9144000" cy="0"/>
          </a:xfrm>
          <a:prstGeom prst="line">
            <a:avLst/>
          </a:prstGeom>
          <a:noFill/>
          <a:ln w="76200" cmpd="tri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1FA1D84-786D-49E5-B770-BEFA554F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528" y="122419"/>
            <a:ext cx="856895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第三章 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线性方程组与向量组的线性相关性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1B9A45-AB43-45A0-BDE4-C3E5C640E8E1}"/>
              </a:ext>
            </a:extLst>
          </p:cNvPr>
          <p:cNvSpPr/>
          <p:nvPr/>
        </p:nvSpPr>
        <p:spPr>
          <a:xfrm>
            <a:off x="1403648" y="1628800"/>
            <a:ext cx="5827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  <a:defRPr/>
            </a:pPr>
            <a:r>
              <a:rPr lang="en-US" altLang="zh-CN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§3  </a:t>
            </a:r>
            <a:r>
              <a:rPr lang="zh-CN" altLang="en-US" sz="4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3">
            <a:extLst>
              <a:ext uri="{FF2B5EF4-FFF2-40B4-BE49-F238E27FC236}">
                <a16:creationId xmlns:a16="http://schemas.microsoft.com/office/drawing/2014/main" id="{7568BA63-4688-4AC2-A6B8-AE7344731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80" y="1124744"/>
            <a:ext cx="7560840" cy="3893758"/>
          </a:xfrm>
          <a:prstGeom prst="rect">
            <a:avLst/>
          </a:prstGeom>
          <a:solidFill>
            <a:schemeClr val="bg1">
              <a:alpha val="56078"/>
            </a:schemeClr>
          </a:solidFill>
          <a:ln w="38100">
            <a:solidFill>
              <a:schemeClr val="bg1"/>
            </a:solidFill>
            <a:miter lim="800000"/>
            <a:headEnd/>
            <a:tailEnd/>
          </a:ln>
        </p:spPr>
        <p:txBody>
          <a:bodyPr wrap="square" anchor="ctr" anchorCtr="1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  <a:defRPr/>
            </a:pP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本节重点讨论如下问题：</a:t>
            </a:r>
            <a:endParaRPr lang="en-US" altLang="zh-CN" sz="2800" b="1" dirty="0">
              <a:solidFill>
                <a:srgbClr val="0000FF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什么是向量组的线性相关性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它有何几何意义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 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如何去判别向量组的线性相关性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向量组的线性相关性和齐次线性方程组的解有何关系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b="1" kern="1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向量组的线性相关性有哪些实际应用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69C6B4F-6DDD-0D59-4611-2C56CEB42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23920026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6ED1EF79-A7DA-43D6-9844-52236878D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393700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Gulim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57F6D9E5-9903-4D13-A782-3A0F8BD98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2EB1B99-16D3-4D11-81EC-CC8A15FDF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045" y="1027063"/>
            <a:ext cx="14968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定义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3.7</a:t>
            </a:r>
            <a:endParaRPr lang="zh-CN" altLang="en-US" b="1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A5ED110D-2C77-5BE3-DA08-83FE971BBF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13" y="3191921"/>
            <a:ext cx="5111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则称向量组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是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线性相关的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GB" altLang="zh-CN" b="1" dirty="0">
                <a:solidFill>
                  <a:srgbClr val="0000FF"/>
                </a:solidFill>
                <a:latin typeface="+mn-lt"/>
                <a:ea typeface="华文中宋" pitchFamily="2" charset="-122"/>
              </a:rPr>
              <a:t> </a:t>
            </a:r>
            <a:endParaRPr lang="en-US" altLang="zh-CN" b="1" dirty="0">
              <a:solidFill>
                <a:srgbClr val="0000FF"/>
              </a:solidFill>
              <a:latin typeface="+mn-lt"/>
              <a:ea typeface="华文中宋" pitchFamily="2" charset="-122"/>
            </a:endParaRPr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90E0AA56-8B7C-DD12-59C5-2330D8E4C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7" y="2492896"/>
            <a:ext cx="503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0,</a:t>
            </a:r>
          </a:p>
        </p:txBody>
      </p:sp>
      <p:sp>
        <p:nvSpPr>
          <p:cNvPr id="10" name="Rectangle 32">
            <a:extLst>
              <a:ext uri="{FF2B5EF4-FFF2-40B4-BE49-F238E27FC236}">
                <a16:creationId xmlns:a16="http://schemas.microsoft.com/office/drawing/2014/main" id="{D3511AEA-761C-545C-CFD2-94F86496A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13" y="1752059"/>
            <a:ext cx="5653534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不全为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常</a:t>
            </a:r>
            <a:r>
              <a:rPr lang="zh-CN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数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使</a:t>
            </a:r>
          </a:p>
        </p:txBody>
      </p:sp>
      <p:sp>
        <p:nvSpPr>
          <p:cNvPr id="11" name="Rectangle 35">
            <a:extLst>
              <a:ext uri="{FF2B5EF4-FFF2-40B4-BE49-F238E27FC236}">
                <a16:creationId xmlns:a16="http://schemas.microsoft.com/office/drawing/2014/main" id="{A95F0ECB-4100-B537-A33D-05F757F8E5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2463" y="3191921"/>
            <a:ext cx="360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否则称它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37">
            <a:extLst>
              <a:ext uri="{FF2B5EF4-FFF2-40B4-BE49-F238E27FC236}">
                <a16:creationId xmlns:a16="http://schemas.microsoft.com/office/drawing/2014/main" id="{89D4D41F-D3A9-0879-C214-6F561BB9E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095" y="1006148"/>
            <a:ext cx="215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如果存在</a:t>
            </a:r>
          </a:p>
        </p:txBody>
      </p:sp>
      <p:sp>
        <p:nvSpPr>
          <p:cNvPr id="25" name="Text Box 34">
            <a:extLst>
              <a:ext uri="{FF2B5EF4-FFF2-40B4-BE49-F238E27FC236}">
                <a16:creationId xmlns:a16="http://schemas.microsoft.com/office/drawing/2014/main" id="{C421EACC-BF4B-E999-CE9E-0EB051357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07" y="1006148"/>
            <a:ext cx="52562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给定向量组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250"/>
                            </p:stCondLst>
                            <p:childTnLst>
                              <p:par>
                                <p:cTn id="2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2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8" grpId="0" build="p" autoUpdateAnimBg="0" advAuto="1000"/>
      <p:bldP spid="9" grpId="0"/>
      <p:bldP spid="9" grpId="1"/>
      <p:bldP spid="10" grpId="0" build="p" autoUpdateAnimBg="0" advAuto="0"/>
      <p:bldP spid="11" grpId="0" build="p" autoUpdateAnimBg="0" advAuto="1000"/>
      <p:bldP spid="12" grpId="0" build="p" autoUpdateAnimBg="0"/>
      <p:bldP spid="2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14B67545-EDC4-FF80-16E7-DAD5F4F17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950" y="648770"/>
            <a:ext cx="73294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关于线性相关与线性无关定义的几点说明</a:t>
            </a:r>
          </a:p>
        </p:txBody>
      </p:sp>
      <p:sp>
        <p:nvSpPr>
          <p:cNvPr id="7" name="Text Box 1042">
            <a:extLst>
              <a:ext uri="{FF2B5EF4-FFF2-40B4-BE49-F238E27FC236}">
                <a16:creationId xmlns:a16="http://schemas.microsoft.com/office/drawing/2014/main" id="{59333973-C09C-CF56-7CC9-0664F9782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797" y="1381416"/>
            <a:ext cx="711336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如果向量组</a:t>
            </a:r>
            <a:r>
              <a:rPr lang="zh-CN" altLang="en-US" sz="12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n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lt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8" name="Rectangle 1044">
            <a:extLst>
              <a:ext uri="{FF2B5EF4-FFF2-40B4-BE49-F238E27FC236}">
                <a16:creationId xmlns:a16="http://schemas.microsoft.com/office/drawing/2014/main" id="{142B7FB0-CC4B-EEDA-D5DD-70A8D69D5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852" y="1390942"/>
            <a:ext cx="183611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1" name="Rectangle 1044">
            <a:extLst>
              <a:ext uri="{FF2B5EF4-FFF2-40B4-BE49-F238E27FC236}">
                <a16:creationId xmlns:a16="http://schemas.microsoft.com/office/drawing/2014/main" id="{3D8A30BA-B22F-D0DE-D91C-A2CDCF301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773" y="2084342"/>
            <a:ext cx="266429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 </a:t>
            </a:r>
            <a:r>
              <a:rPr lang="en-US" altLang="zh-CN" b="1" i="1" dirty="0" err="1">
                <a:solidFill>
                  <a:srgbClr val="0000FF"/>
                </a:solidFill>
                <a:ea typeface="宋体" charset="-122"/>
              </a:rPr>
              <a:t>k</a:t>
            </a:r>
            <a:r>
              <a:rPr lang="en-US" altLang="zh-CN" b="1" i="1" baseline="-25000" dirty="0" err="1">
                <a:solidFill>
                  <a:srgbClr val="0000FF"/>
                </a:solidFill>
                <a:ea typeface="宋体" charset="-122"/>
              </a:rPr>
              <a:t>n</a:t>
            </a:r>
            <a:r>
              <a:rPr lang="en-US" altLang="zh-CN" sz="2000" b="1" i="1" baseline="-25000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不唯一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8276D4-9392-EBCB-054A-7B65C00B3F95}"/>
              </a:ext>
            </a:extLst>
          </p:cNvPr>
          <p:cNvSpPr txBox="1"/>
          <p:nvPr/>
        </p:nvSpPr>
        <p:spPr>
          <a:xfrm>
            <a:off x="519555" y="2808172"/>
            <a:ext cx="192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事实上</a:t>
            </a:r>
            <a:r>
              <a:rPr lang="en-US" altLang="zh-CN" sz="2800" b="1" kern="100" dirty="0"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1042">
            <a:extLst>
              <a:ext uri="{FF2B5EF4-FFF2-40B4-BE49-F238E27FC236}">
                <a16:creationId xmlns:a16="http://schemas.microsoft.com/office/drawing/2014/main" id="{1249EA68-C45A-2BA0-BFA8-2D4F07FB3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5150" y="2807844"/>
            <a:ext cx="550864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</a:p>
        </p:txBody>
      </p:sp>
      <p:sp>
        <p:nvSpPr>
          <p:cNvPr id="24" name="Rectangle 1044">
            <a:extLst>
              <a:ext uri="{FF2B5EF4-FFF2-40B4-BE49-F238E27FC236}">
                <a16:creationId xmlns:a16="http://schemas.microsoft.com/office/drawing/2014/main" id="{BF906F35-AF17-1299-7CBE-394F14792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4421" y="2803081"/>
            <a:ext cx="157497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则存在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5" name="Rectangle 1044">
            <a:extLst>
              <a:ext uri="{FF2B5EF4-FFF2-40B4-BE49-F238E27FC236}">
                <a16:creationId xmlns:a16="http://schemas.microsoft.com/office/drawing/2014/main" id="{CCFF8234-5811-48F2-1AEF-818DACDCA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251" y="3523782"/>
            <a:ext cx="49073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不全为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0" name="Rectangle 1044">
            <a:extLst>
              <a:ext uri="{FF2B5EF4-FFF2-40B4-BE49-F238E27FC236}">
                <a16:creationId xmlns:a16="http://schemas.microsoft.com/office/drawing/2014/main" id="{8B0A6B3E-B6E8-47B4-17D1-293A257C2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641" y="3756490"/>
            <a:ext cx="142360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6A5E376-7A7B-926B-FED6-25DA39947E9E}"/>
              </a:ext>
            </a:extLst>
          </p:cNvPr>
          <p:cNvSpPr txBox="1"/>
          <p:nvPr/>
        </p:nvSpPr>
        <p:spPr>
          <a:xfrm>
            <a:off x="519255" y="4935365"/>
            <a:ext cx="4677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这意味着齐次线性方程组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C03BD9C-DA31-E07D-ADD0-D255799C999A}"/>
              </a:ext>
            </a:extLst>
          </p:cNvPr>
          <p:cNvSpPr txBox="1"/>
          <p:nvPr/>
        </p:nvSpPr>
        <p:spPr>
          <a:xfrm>
            <a:off x="506568" y="5668663"/>
            <a:ext cx="21715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有非零解</a:t>
            </a:r>
            <a:r>
              <a:rPr lang="en-US" altLang="zh-CN" sz="2800" b="1" kern="100" dirty="0"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Rectangle 1044">
            <a:extLst>
              <a:ext uri="{FF2B5EF4-FFF2-40B4-BE49-F238E27FC236}">
                <a16:creationId xmlns:a16="http://schemas.microsoft.com/office/drawing/2014/main" id="{F1A64A1A-0908-3A7B-6C84-6367EE87A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394" y="5668663"/>
            <a:ext cx="406316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不唯一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 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40" name="Object 10">
            <a:extLst>
              <a:ext uri="{FF2B5EF4-FFF2-40B4-BE49-F238E27FC236}">
                <a16:creationId xmlns:a16="http://schemas.microsoft.com/office/drawing/2014/main" id="{7222C487-BFEB-7D49-A3CC-EEC60E2D2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8206878"/>
              </p:ext>
            </p:extLst>
          </p:nvPr>
        </p:nvGraphicFramePr>
        <p:xfrm>
          <a:off x="2545556" y="4275602"/>
          <a:ext cx="40528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12920" imgH="431640" progId="Equation.DSMT4">
                  <p:embed/>
                </p:oleObj>
              </mc:Choice>
              <mc:Fallback>
                <p:oleObj name="Equation" r:id="rId2" imgW="4012920" imgH="431640" progId="Equation.DSMT4">
                  <p:embed/>
                  <p:pic>
                    <p:nvPicPr>
                      <p:cNvPr id="22" name="Object 10">
                        <a:extLst>
                          <a:ext uri="{FF2B5EF4-FFF2-40B4-BE49-F238E27FC236}">
                            <a16:creationId xmlns:a16="http://schemas.microsoft.com/office/drawing/2014/main" id="{376CE627-77B8-6A17-B0BD-C909E5F6BC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556" y="4275602"/>
                        <a:ext cx="40528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">
            <a:extLst>
              <a:ext uri="{FF2B5EF4-FFF2-40B4-BE49-F238E27FC236}">
                <a16:creationId xmlns:a16="http://schemas.microsoft.com/office/drawing/2014/main" id="{C8F34216-60EF-BB26-1445-760D092401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556621"/>
              </p:ext>
            </p:extLst>
          </p:nvPr>
        </p:nvGraphicFramePr>
        <p:xfrm>
          <a:off x="4715817" y="4968375"/>
          <a:ext cx="3975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36960" imgH="431640" progId="Equation.DSMT4">
                  <p:embed/>
                </p:oleObj>
              </mc:Choice>
              <mc:Fallback>
                <p:oleObj name="Equation" r:id="rId4" imgW="3936960" imgH="431640" progId="Equation.DSMT4">
                  <p:embed/>
                  <p:pic>
                    <p:nvPicPr>
                      <p:cNvPr id="40" name="Object 10">
                        <a:extLst>
                          <a:ext uri="{FF2B5EF4-FFF2-40B4-BE49-F238E27FC236}">
                            <a16:creationId xmlns:a16="http://schemas.microsoft.com/office/drawing/2014/main" id="{7222C487-BFEB-7D49-A3CC-EEC60E2D2A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5817" y="4968375"/>
                        <a:ext cx="39751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30">
            <a:extLst>
              <a:ext uri="{FF2B5EF4-FFF2-40B4-BE49-F238E27FC236}">
                <a16:creationId xmlns:a16="http://schemas.microsoft.com/office/drawing/2014/main" id="{5FDBC152-16E4-46A9-900E-C50170F38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7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75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5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75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7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build="p" autoUpdateAnimBg="0"/>
      <p:bldP spid="8" grpId="0" build="p" autoUpdateAnimBg="0" advAuto="0"/>
      <p:bldP spid="11" grpId="0" build="p" autoUpdateAnimBg="0" advAuto="0"/>
      <p:bldP spid="22" grpId="0"/>
      <p:bldP spid="23" grpId="0" build="p" autoUpdateAnimBg="0"/>
      <p:bldP spid="24" grpId="0" build="p" autoUpdateAnimBg="0" advAuto="0"/>
      <p:bldP spid="25" grpId="0" build="p" autoUpdateAnimBg="0" advAuto="0"/>
      <p:bldP spid="30" grpId="0" build="p" autoUpdateAnimBg="0" advAuto="0"/>
      <p:bldP spid="35" grpId="0"/>
      <p:bldP spid="38" grpId="0"/>
      <p:bldP spid="39" grpId="0" build="p" autoUpdateAnimBg="0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6">
            <a:extLst>
              <a:ext uri="{FF2B5EF4-FFF2-40B4-BE49-F238E27FC236}">
                <a16:creationId xmlns:a16="http://schemas.microsoft.com/office/drawing/2014/main" id="{705C8DFD-80BD-2467-9A9D-8C8FF4F82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189" y="2052806"/>
            <a:ext cx="252027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先证必要性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1040">
            <a:extLst>
              <a:ext uri="{FF2B5EF4-FFF2-40B4-BE49-F238E27FC236}">
                <a16:creationId xmlns:a16="http://schemas.microsoft.com/office/drawing/2014/main" id="{EDB7702B-32A0-3594-B40E-73C3B6FA3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06" y="692696"/>
            <a:ext cx="8353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2)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一个向量</a:t>
            </a:r>
            <a:r>
              <a:rPr lang="zh-CN" altLang="en-US" sz="1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构成的向量组线性相关的充要条件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1041">
            <a:extLst>
              <a:ext uri="{FF2B5EF4-FFF2-40B4-BE49-F238E27FC236}">
                <a16:creationId xmlns:a16="http://schemas.microsoft.com/office/drawing/2014/main" id="{335378F2-CF20-D5C9-1523-3D8E4C347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314" y="1366223"/>
            <a:ext cx="196298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cs typeface="Times New Roman" panose="02020603050405020304" pitchFamily="18" charset="0"/>
              </a:rPr>
              <a:t>= 0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9" name="Rectangle 1045">
            <a:extLst>
              <a:ext uri="{FF2B5EF4-FFF2-40B4-BE49-F238E27FC236}">
                <a16:creationId xmlns:a16="http://schemas.microsoft.com/office/drawing/2014/main" id="{F9CA359A-8159-BB41-2D02-E7AAA2BB7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85" y="2055980"/>
            <a:ext cx="137962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10" name="Rectangle 1047">
            <a:extLst>
              <a:ext uri="{FF2B5EF4-FFF2-40B4-BE49-F238E27FC236}">
                <a16:creationId xmlns:a16="http://schemas.microsoft.com/office/drawing/2014/main" id="{12D23F09-5572-EBA1-5C47-995D1722F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4428" y="2044097"/>
            <a:ext cx="4032445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若此向量组线性相关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2" name="Rectangle 1044">
            <a:extLst>
              <a:ext uri="{FF2B5EF4-FFF2-40B4-BE49-F238E27FC236}">
                <a16:creationId xmlns:a16="http://schemas.microsoft.com/office/drawing/2014/main" id="{5D0CCB00-3E79-91C1-3E1D-3BB089CE9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835" y="2038563"/>
            <a:ext cx="1835696" cy="52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则一定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3" name="Rectangle 1044">
            <a:extLst>
              <a:ext uri="{FF2B5EF4-FFF2-40B4-BE49-F238E27FC236}">
                <a16:creationId xmlns:a16="http://schemas.microsoft.com/office/drawing/2014/main" id="{C2EB832C-4FB4-FD2A-8D9A-BC3079D80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85" y="2729874"/>
            <a:ext cx="31205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存在非零常数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4" name="Rectangle 1044">
            <a:extLst>
              <a:ext uri="{FF2B5EF4-FFF2-40B4-BE49-F238E27FC236}">
                <a16:creationId xmlns:a16="http://schemas.microsoft.com/office/drawing/2014/main" id="{9CF1B90A-9F97-B49C-0403-FFCC5807D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403" y="2720371"/>
            <a:ext cx="2592288" cy="52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= 0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5" name="Rectangle 1044">
            <a:extLst>
              <a:ext uri="{FF2B5EF4-FFF2-40B4-BE49-F238E27FC236}">
                <a16:creationId xmlns:a16="http://schemas.microsoft.com/office/drawing/2014/main" id="{D896C885-6054-AD3A-268F-C07805223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873" y="2719151"/>
            <a:ext cx="29045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6" name="Rectangle 1041">
            <a:extLst>
              <a:ext uri="{FF2B5EF4-FFF2-40B4-BE49-F238E27FC236}">
                <a16:creationId xmlns:a16="http://schemas.microsoft.com/office/drawing/2014/main" id="{B7029412-9F8F-6375-384F-3212C91FA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208" y="4112684"/>
            <a:ext cx="252687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= 0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7" name="Rectangle 1041">
            <a:extLst>
              <a:ext uri="{FF2B5EF4-FFF2-40B4-BE49-F238E27FC236}">
                <a16:creationId xmlns:a16="http://schemas.microsoft.com/office/drawing/2014/main" id="{4D3ABC9C-501C-EDE5-0FC0-121D83768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988" y="3417418"/>
            <a:ext cx="340447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所以只可能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= 0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8" name="Rectangle 1036">
            <a:extLst>
              <a:ext uri="{FF2B5EF4-FFF2-40B4-BE49-F238E27FC236}">
                <a16:creationId xmlns:a16="http://schemas.microsoft.com/office/drawing/2014/main" id="{A9302475-60B7-626A-F7D5-FE4162F62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61" y="4109254"/>
            <a:ext cx="266429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再证充分性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9" name="Rectangle 1044">
            <a:extLst>
              <a:ext uri="{FF2B5EF4-FFF2-40B4-BE49-F238E27FC236}">
                <a16:creationId xmlns:a16="http://schemas.microsoft.com/office/drawing/2014/main" id="{D8AD4D45-D113-6A9C-4D61-64CEDB73A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9" y="4103997"/>
            <a:ext cx="37443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对于任一常数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0" name="Rectangle 1044">
            <a:extLst>
              <a:ext uri="{FF2B5EF4-FFF2-40B4-BE49-F238E27FC236}">
                <a16:creationId xmlns:a16="http://schemas.microsoft.com/office/drawing/2014/main" id="{E850CFC5-D682-0EE8-BA84-DC53D8A58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85" y="4785805"/>
            <a:ext cx="2893042" cy="52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显然有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= 0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E584A4-E309-7263-148A-B3FC9AB2FB47}"/>
              </a:ext>
            </a:extLst>
          </p:cNvPr>
          <p:cNvSpPr txBox="1"/>
          <p:nvPr/>
        </p:nvSpPr>
        <p:spPr>
          <a:xfrm>
            <a:off x="3156706" y="4789236"/>
            <a:ext cx="37649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向量组线性相关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D75F96B-6DF9-40DC-1563-6075D716535D}"/>
              </a:ext>
            </a:extLst>
          </p:cNvPr>
          <p:cNvSpPr txBox="1"/>
          <p:nvPr/>
        </p:nvSpPr>
        <p:spPr>
          <a:xfrm>
            <a:off x="888123" y="5476491"/>
            <a:ext cx="6408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z="20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一个非零向量</a:t>
            </a:r>
            <a:r>
              <a:rPr lang="zh-CN" altLang="en-US" sz="20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zh-CN" altLang="en-US" sz="2000" b="1" i="1" dirty="0">
                <a:solidFill>
                  <a:srgbClr val="0000FF"/>
                </a:solidFill>
                <a:sym typeface="Symbol" panose="05050102010706020507" pitchFamily="18" charset="2"/>
              </a:rPr>
              <a:t>  </a:t>
            </a:r>
            <a:r>
              <a:rPr lang="zh-CN" altLang="en-US" sz="2800" b="1" kern="100" dirty="0">
                <a:solidFill>
                  <a:srgbClr val="0000FF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sz="2800" b="1" kern="100" dirty="0">
                <a:solidFill>
                  <a:srgbClr val="0000FF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800" b="1" kern="100" dirty="0">
              <a:solidFill>
                <a:srgbClr val="0000FF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C90DD185-AD71-4778-8C62-A7B9D2DFA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67227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25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 advAuto="0"/>
      <p:bldP spid="5" grpId="0" build="p" autoUpdateAnimBg="0"/>
      <p:bldP spid="6" grpId="0" build="p" autoUpdateAnimBg="0"/>
      <p:bldP spid="9" grpId="0" build="p" autoUpdateAnimBg="0"/>
      <p:bldP spid="10" grpId="0" build="p" autoUpdateAnimBg="0" advAuto="0"/>
      <p:bldP spid="12" grpId="0" build="p" autoUpdateAnimBg="0" advAuto="0"/>
      <p:bldP spid="13" grpId="0" build="p" autoUpdateAnimBg="0" advAuto="0"/>
      <p:bldP spid="14" grpId="0" build="p" autoUpdateAnimBg="0" advAuto="0"/>
      <p:bldP spid="15" grpId="0" build="p" autoUpdateAnimBg="0" advAuto="0"/>
      <p:bldP spid="16" grpId="0" build="p" autoUpdateAnimBg="0"/>
      <p:bldP spid="17" grpId="0" build="p" autoUpdateAnimBg="0"/>
      <p:bldP spid="18" grpId="0" build="p" autoUpdateAnimBg="0" advAuto="0"/>
      <p:bldP spid="19" grpId="0" build="p" autoUpdateAnimBg="0" advAuto="0"/>
      <p:bldP spid="20" grpId="0" build="p" autoUpdateAnimBg="0" advAuto="0"/>
      <p:bldP spid="22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36">
            <a:extLst>
              <a:ext uri="{FF2B5EF4-FFF2-40B4-BE49-F238E27FC236}">
                <a16:creationId xmlns:a16="http://schemas.microsoft.com/office/drawing/2014/main" id="{705C8DFD-80BD-2467-9A9D-8C8FF4F82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1503284"/>
            <a:ext cx="76335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相关的充要条件是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的分量对应成比例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1038">
            <a:extLst>
              <a:ext uri="{FF2B5EF4-FFF2-40B4-BE49-F238E27FC236}">
                <a16:creationId xmlns:a16="http://schemas.microsoft.com/office/drawing/2014/main" id="{B16B444F-BD0C-52EF-E361-C2F8FAFD9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764704"/>
            <a:ext cx="67687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3)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对于由两个向量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构成的向量组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Rectangle 1038">
            <a:extLst>
              <a:ext uri="{FF2B5EF4-FFF2-40B4-BE49-F238E27FC236}">
                <a16:creationId xmlns:a16="http://schemas.microsoft.com/office/drawing/2014/main" id="{7A07557F-8323-FBA6-FF35-C705650EB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296" y="764704"/>
            <a:ext cx="1800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它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Rectangle 1038">
            <a:extLst>
              <a:ext uri="{FF2B5EF4-FFF2-40B4-BE49-F238E27FC236}">
                <a16:creationId xmlns:a16="http://schemas.microsoft.com/office/drawing/2014/main" id="{E01D0822-F71D-899C-87BD-B3E4712B7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737" y="5268719"/>
            <a:ext cx="42484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的分量成比例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2BA6C9-1F1C-6552-34D2-0CDFAF9DD4C2}"/>
              </a:ext>
            </a:extLst>
          </p:cNvPr>
          <p:cNvSpPr txBox="1"/>
          <p:nvPr/>
        </p:nvSpPr>
        <p:spPr>
          <a:xfrm>
            <a:off x="616497" y="2206482"/>
            <a:ext cx="19259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事实上</a:t>
            </a:r>
            <a:r>
              <a:rPr lang="en-US" altLang="zh-CN" sz="2800" b="1" kern="100" dirty="0">
                <a:solidFill>
                  <a:schemeClr val="tx1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042">
            <a:extLst>
              <a:ext uri="{FF2B5EF4-FFF2-40B4-BE49-F238E27FC236}">
                <a16:creationId xmlns:a16="http://schemas.microsoft.com/office/drawing/2014/main" id="{A346B98B-052C-9AD2-175E-FFB36C8FE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92" y="2206154"/>
            <a:ext cx="456945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endParaRPr lang="en-US" altLang="zh-CN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" name="Rectangle 1044">
            <a:extLst>
              <a:ext uri="{FF2B5EF4-FFF2-40B4-BE49-F238E27FC236}">
                <a16:creationId xmlns:a16="http://schemas.microsoft.com/office/drawing/2014/main" id="{58056775-9EAC-A69E-166A-26C452DC6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169" y="2850586"/>
            <a:ext cx="51759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存在不全为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0" name="Rectangle 1044">
            <a:extLst>
              <a:ext uri="{FF2B5EF4-FFF2-40B4-BE49-F238E27FC236}">
                <a16:creationId xmlns:a16="http://schemas.microsoft.com/office/drawing/2014/main" id="{B3547C2B-FE8F-252E-A1CF-119BA3732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380" y="3505952"/>
            <a:ext cx="2829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不妨设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anose="05050102010706020507" pitchFamily="18" charset="2"/>
              </a:rPr>
              <a:t>0)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1" name="Rectangle 1044">
            <a:extLst>
              <a:ext uri="{FF2B5EF4-FFF2-40B4-BE49-F238E27FC236}">
                <a16:creationId xmlns:a16="http://schemas.microsoft.com/office/drawing/2014/main" id="{006785E6-65A0-8886-B54F-DD1BC20BD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15" y="4350695"/>
            <a:ext cx="129614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10">
            <a:extLst>
              <a:ext uri="{FF2B5EF4-FFF2-40B4-BE49-F238E27FC236}">
                <a16:creationId xmlns:a16="http://schemas.microsoft.com/office/drawing/2014/main" id="{376CE627-77B8-6A17-B0BD-C909E5F6BC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68398"/>
              </p:ext>
            </p:extLst>
          </p:nvPr>
        </p:nvGraphicFramePr>
        <p:xfrm>
          <a:off x="2646366" y="3533144"/>
          <a:ext cx="23463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431640" progId="Equation.DSMT4">
                  <p:embed/>
                </p:oleObj>
              </mc:Choice>
              <mc:Fallback>
                <p:oleObj name="Equation" r:id="rId2" imgW="2323800" imgH="431640" progId="Equation.DSMT4">
                  <p:embed/>
                  <p:pic>
                    <p:nvPicPr>
                      <p:cNvPr id="22" name="Object 10">
                        <a:extLst>
                          <a:ext uri="{FF2B5EF4-FFF2-40B4-BE49-F238E27FC236}">
                            <a16:creationId xmlns:a16="http://schemas.microsoft.com/office/drawing/2014/main" id="{376CE627-77B8-6A17-B0BD-C909E5F6BC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6" y="3533144"/>
                        <a:ext cx="23463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>
            <a:extLst>
              <a:ext uri="{FF2B5EF4-FFF2-40B4-BE49-F238E27FC236}">
                <a16:creationId xmlns:a16="http://schemas.microsoft.com/office/drawing/2014/main" id="{67D2AA99-EC73-7C2D-AF8E-579826C4F3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448777"/>
              </p:ext>
            </p:extLst>
          </p:nvPr>
        </p:nvGraphicFramePr>
        <p:xfrm>
          <a:off x="1250485" y="4149682"/>
          <a:ext cx="1909762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92160" imgH="927000" progId="Equation.DSMT4">
                  <p:embed/>
                </p:oleObj>
              </mc:Choice>
              <mc:Fallback>
                <p:oleObj name="Equation" r:id="rId4" imgW="1892160" imgH="927000" progId="Equation.DSMT4">
                  <p:embed/>
                  <p:pic>
                    <p:nvPicPr>
                      <p:cNvPr id="23" name="Object 10">
                        <a:extLst>
                          <a:ext uri="{FF2B5EF4-FFF2-40B4-BE49-F238E27FC236}">
                            <a16:creationId xmlns:a16="http://schemas.microsoft.com/office/drawing/2014/main" id="{67D2AA99-EC73-7C2D-AF8E-579826C4F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485" y="4149682"/>
                        <a:ext cx="1909762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AE253364-CC4B-ED8F-147F-1BDE44BDB1DC}"/>
              </a:ext>
            </a:extLst>
          </p:cNvPr>
          <p:cNvSpPr txBox="1"/>
          <p:nvPr/>
        </p:nvSpPr>
        <p:spPr>
          <a:xfrm>
            <a:off x="5598369" y="2850586"/>
            <a:ext cx="13462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chemeClr val="tx1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  <a:endParaRPr lang="zh-CN" altLang="en-US" sz="2800" b="1" kern="100" dirty="0">
              <a:solidFill>
                <a:schemeClr val="tx1"/>
              </a:solidFill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5CF63519-C95A-4B44-8B2C-6C844E9DB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95993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7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7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 advAuto="0"/>
      <p:bldP spid="4" grpId="0" build="p" autoUpdateAnimBg="0"/>
      <p:bldP spid="12" grpId="0" build="p" autoUpdateAnimBg="0"/>
      <p:bldP spid="13" grpId="0" build="p" autoUpdateAnimBg="0"/>
      <p:bldP spid="13" grpId="1"/>
      <p:bldP spid="14" grpId="0"/>
      <p:bldP spid="15" grpId="0" build="p" autoUpdateAnimBg="0"/>
      <p:bldP spid="17" grpId="0" build="p" autoUpdateAnimBg="0" advAuto="0"/>
      <p:bldP spid="20" grpId="0" build="p" autoUpdateAnimBg="0" advAuto="0"/>
      <p:bldP spid="21" grpId="0" build="p" autoUpdateAnimBg="0" advAuto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2">
            <a:extLst>
              <a:ext uri="{FF2B5EF4-FFF2-40B4-BE49-F238E27FC236}">
                <a16:creationId xmlns:a16="http://schemas.microsoft.com/office/drawing/2014/main" id="{5828C822-4195-9654-38B3-FE034DADD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128" y="1581302"/>
            <a:ext cx="144016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A664C99A-A3C4-6FAB-6B26-3A975657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334" y="2891094"/>
            <a:ext cx="280761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 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Text Box 16">
            <a:extLst>
              <a:ext uri="{FF2B5EF4-FFF2-40B4-BE49-F238E27FC236}">
                <a16:creationId xmlns:a16="http://schemas.microsoft.com/office/drawing/2014/main" id="{59879358-FD27-C9FA-8A9E-B62B5E732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014" y="2891094"/>
            <a:ext cx="539749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所以向量组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  </a:t>
            </a:r>
          </a:p>
        </p:txBody>
      </p:sp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B1D6F895-580D-A1E3-ACFB-2B369AACCF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107869"/>
              </p:ext>
            </p:extLst>
          </p:nvPr>
        </p:nvGraphicFramePr>
        <p:xfrm>
          <a:off x="4427984" y="1052736"/>
          <a:ext cx="3287713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200" imgH="1562040" progId="Equation.DSMT4">
                  <p:embed/>
                </p:oleObj>
              </mc:Choice>
              <mc:Fallback>
                <p:oleObj name="Equation" r:id="rId2" imgW="3238200" imgH="1562040" progId="Equation.DSMT4">
                  <p:embed/>
                  <p:pic>
                    <p:nvPicPr>
                      <p:cNvPr id="94215" name="Object 7">
                        <a:extLst>
                          <a:ext uri="{FF2B5EF4-FFF2-40B4-BE49-F238E27FC236}">
                            <a16:creationId xmlns:a16="http://schemas.microsoft.com/office/drawing/2014/main" id="{06566962-C8E1-2500-C512-8EA97661B2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1052736"/>
                        <a:ext cx="3287713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2">
            <a:extLst>
              <a:ext uri="{FF2B5EF4-FFF2-40B4-BE49-F238E27FC236}">
                <a16:creationId xmlns:a16="http://schemas.microsoft.com/office/drawing/2014/main" id="{1A601855-10BD-AC5A-1FD8-91A464D87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1849" y="1565209"/>
            <a:ext cx="2686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zh-CN" altLang="en-US" b="1" dirty="0">
                <a:solidFill>
                  <a:schemeClr val="tx1"/>
                </a:solidFill>
              </a:rPr>
              <a:t>：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0C5AA313-B044-4994-A5B8-D4897D62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16885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build="p" autoUpdateAnimBg="0"/>
      <p:bldP spid="24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8318C936-944F-1917-489F-F26ED4CAC000}"/>
              </a:ext>
            </a:extLst>
          </p:cNvPr>
          <p:cNvSpPr txBox="1"/>
          <p:nvPr/>
        </p:nvSpPr>
        <p:spPr>
          <a:xfrm>
            <a:off x="976210" y="620688"/>
            <a:ext cx="4070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>
                <a:solidFill>
                  <a:srgbClr val="0000FF"/>
                </a:solidFill>
              </a:rPr>
              <a:t>线性相关的几何解释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8FA7E09E-F59C-23C1-C868-E3E5C8E00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6" y="1216454"/>
            <a:ext cx="862037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空间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中的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两个向量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的充要条件是 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</a:rPr>
              <a:t> 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1E36A5E3-6F88-7FAF-2E02-8B4A09559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6" y="1868353"/>
            <a:ext cx="410445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的分量成比例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54748A-E90F-90F2-E8F5-491964ABEAB3}"/>
              </a:ext>
            </a:extLst>
          </p:cNvPr>
          <p:cNvSpPr txBox="1"/>
          <p:nvPr/>
        </p:nvSpPr>
        <p:spPr>
          <a:xfrm>
            <a:off x="3894766" y="1868353"/>
            <a:ext cx="1509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91EE54-F321-671D-6FE5-764E03C290A1}"/>
              </a:ext>
            </a:extLst>
          </p:cNvPr>
          <p:cNvSpPr txBox="1"/>
          <p:nvPr/>
        </p:nvSpPr>
        <p:spPr>
          <a:xfrm>
            <a:off x="4902877" y="1862457"/>
            <a:ext cx="4232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如果将两个向量的起点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C2220C-7453-670B-AB30-CFAA54C77B7B}"/>
              </a:ext>
            </a:extLst>
          </p:cNvPr>
          <p:cNvSpPr txBox="1"/>
          <p:nvPr/>
        </p:nvSpPr>
        <p:spPr>
          <a:xfrm>
            <a:off x="495845" y="2535468"/>
            <a:ext cx="31108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均放置在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原点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8AA2AF87-E22F-C928-F0B8-B2FC158F8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125" y="2535468"/>
            <a:ext cx="4824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两向量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共线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见图</a:t>
            </a:r>
            <a:r>
              <a:rPr lang="zh-CN" altLang="en-US" sz="1600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3-4(a)).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EC8239C4-3616-028B-03AA-E5DCA7406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466" y="3197046"/>
            <a:ext cx="62086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量线性无关的情形如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图</a:t>
            </a:r>
            <a:r>
              <a:rPr lang="zh-CN" altLang="en-US" sz="2000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3-4(b) </a:t>
            </a:r>
            <a:r>
              <a:rPr lang="zh-CN" altLang="en-US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所示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76D7F35-8F60-BF8F-3DEE-393DF3EEAE38}"/>
              </a:ext>
            </a:extLst>
          </p:cNvPr>
          <p:cNvGrpSpPr/>
          <p:nvPr/>
        </p:nvGrpSpPr>
        <p:grpSpPr>
          <a:xfrm>
            <a:off x="1450464" y="3635402"/>
            <a:ext cx="6243071" cy="2601910"/>
            <a:chOff x="1603307" y="3915172"/>
            <a:chExt cx="6243071" cy="2601910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68D099D3-0452-0E92-9325-913F0316F4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/>
          </p:blipFill>
          <p:spPr>
            <a:xfrm>
              <a:off x="1603307" y="3915172"/>
              <a:ext cx="3051642" cy="2211492"/>
            </a:xfrm>
            <a:prstGeom prst="rect">
              <a:avLst/>
            </a:prstGeom>
          </p:spPr>
        </p:pic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213C581D-50D6-258B-BF58-FDB618416C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267"/>
            <a:stretch/>
          </p:blipFill>
          <p:spPr>
            <a:xfrm>
              <a:off x="4750034" y="3915172"/>
              <a:ext cx="3096344" cy="2211493"/>
            </a:xfrm>
            <a:prstGeom prst="rect">
              <a:avLst/>
            </a:prstGeom>
          </p:spPr>
        </p:pic>
        <p:sp>
          <p:nvSpPr>
            <p:cNvPr id="32" name="Text Box 12">
              <a:extLst>
                <a:ext uri="{FF2B5EF4-FFF2-40B4-BE49-F238E27FC236}">
                  <a16:creationId xmlns:a16="http://schemas.microsoft.com/office/drawing/2014/main" id="{2F5259F5-1BDD-9E80-50D8-34D863EAE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049" y="6055417"/>
              <a:ext cx="18845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1" kern="1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图</a:t>
              </a:r>
              <a:r>
                <a:rPr lang="zh-CN" altLang="en-US" sz="2000" b="1" kern="1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2400" b="1" kern="100" dirty="0">
                  <a:ea typeface="华文中宋" panose="02010600040101010101" pitchFamily="2" charset="-122"/>
                  <a:cs typeface="Times New Roman" panose="02020603050405020304" pitchFamily="18" charset="0"/>
                </a:rPr>
                <a:t>3-4(a)</a:t>
              </a:r>
              <a:endPara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  <p:sp>
          <p:nvSpPr>
            <p:cNvPr id="34" name="Text Box 12">
              <a:extLst>
                <a:ext uri="{FF2B5EF4-FFF2-40B4-BE49-F238E27FC236}">
                  <a16:creationId xmlns:a16="http://schemas.microsoft.com/office/drawing/2014/main" id="{F15F2811-F712-C78C-CFCD-1E9FC0A89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7127" y="6055417"/>
              <a:ext cx="18845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b="1" kern="1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图</a:t>
              </a:r>
              <a:r>
                <a:rPr lang="zh-CN" altLang="en-US" sz="2000" b="1" kern="1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en-US" altLang="zh-CN" sz="2400" b="1" kern="100" dirty="0">
                  <a:ea typeface="华文中宋" panose="02010600040101010101" pitchFamily="2" charset="-122"/>
                  <a:cs typeface="Times New Roman" panose="02020603050405020304" pitchFamily="18" charset="0"/>
                </a:rPr>
                <a:t>3-4(b)</a:t>
              </a:r>
              <a:endPara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 Box 12">
            <a:extLst>
              <a:ext uri="{FF2B5EF4-FFF2-40B4-BE49-F238E27FC236}">
                <a16:creationId xmlns:a16="http://schemas.microsoft.com/office/drawing/2014/main" id="{C25EDCAD-8771-E9E1-00F5-42336D32E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3157" y="2538671"/>
            <a:ext cx="15841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两个向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04DC1324-C795-4061-8AB8-CAD5BAF7B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9884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7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 autoUpdateAnimBg="0"/>
      <p:bldP spid="15" grpId="0" build="p" autoUpdateAnimBg="0"/>
      <p:bldP spid="18" grpId="0"/>
      <p:bldP spid="20" grpId="0"/>
      <p:bldP spid="21" grpId="0"/>
      <p:bldP spid="22" grpId="0" build="p" autoUpdateAnimBg="0"/>
      <p:bldP spid="23" grpId="0" build="p" autoUpdateAnimBg="0"/>
      <p:bldP spid="32" grpId="0" build="p" autoUpdateAnimBg="0"/>
      <p:bldP spid="34" grpId="0" build="p" autoUpdateAnimBg="0"/>
      <p:bldP spid="2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2">
            <a:extLst>
              <a:ext uri="{FF2B5EF4-FFF2-40B4-BE49-F238E27FC236}">
                <a16:creationId xmlns:a16="http://schemas.microsoft.com/office/drawing/2014/main" id="{8FA7E09E-F59C-23C1-C868-E3E5C8E00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337" y="1296343"/>
            <a:ext cx="64261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空间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R</a:t>
            </a:r>
            <a:r>
              <a:rPr lang="en-US" altLang="zh-CN" b="1" baseline="30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中的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三个向量线性相关</a:t>
            </a: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的充要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1E36A5E3-6F88-7FAF-2E02-8B4A09559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629" y="1992872"/>
            <a:ext cx="44804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条件是</a:t>
            </a:r>
            <a:r>
              <a:rPr lang="zh-CN" altLang="en-US" b="1" kern="1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这三个向量共面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E636F5-7866-1808-DAE1-6B2F480F2879}"/>
              </a:ext>
            </a:extLst>
          </p:cNvPr>
          <p:cNvSpPr txBox="1"/>
          <p:nvPr/>
        </p:nvSpPr>
        <p:spPr>
          <a:xfrm>
            <a:off x="899592" y="1296343"/>
            <a:ext cx="18001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 kern="100" dirty="0">
                <a:solidFill>
                  <a:srgbClr val="0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类似地</a:t>
            </a:r>
            <a:r>
              <a:rPr lang="en-US" altLang="zh-CN" sz="2800" b="1" kern="100" dirty="0">
                <a:solidFill>
                  <a:srgbClr val="000000"/>
                </a:solidFill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8D4633-D29B-18A5-AD39-6E27908139F1}"/>
              </a:ext>
            </a:extLst>
          </p:cNvPr>
          <p:cNvSpPr txBox="1"/>
          <p:nvPr/>
        </p:nvSpPr>
        <p:spPr>
          <a:xfrm>
            <a:off x="4484068" y="1992872"/>
            <a:ext cx="44804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三个向量线性无关的充要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45BC94C-973F-A73B-6CBD-99490AF994B3}"/>
              </a:ext>
            </a:extLst>
          </p:cNvPr>
          <p:cNvSpPr txBox="1"/>
          <p:nvPr/>
        </p:nvSpPr>
        <p:spPr>
          <a:xfrm>
            <a:off x="518475" y="2733962"/>
            <a:ext cx="49170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spcBef>
                <a:spcPct val="50000"/>
              </a:spcBef>
              <a:defRPr b="1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zh-CN" altLang="en-US" dirty="0"/>
              <a:t>条件是这三个向量不共面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1B34FBD2-CB9D-4154-888C-11967A7E8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38284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15" grpId="0" build="p" autoUpdateAnimBg="0"/>
      <p:bldP spid="3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53">
            <a:extLst>
              <a:ext uri="{FF2B5EF4-FFF2-40B4-BE49-F238E27FC236}">
                <a16:creationId xmlns:a16="http://schemas.microsoft.com/office/drawing/2014/main" id="{F4316C37-8125-9572-4E63-BEC12EB9A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4" y="1853900"/>
            <a:ext cx="2951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向量线性表示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</a:t>
            </a:r>
          </a:p>
        </p:txBody>
      </p:sp>
      <p:sp>
        <p:nvSpPr>
          <p:cNvPr id="4" name="Rectangle 51">
            <a:extLst>
              <a:ext uri="{FF2B5EF4-FFF2-40B4-BE49-F238E27FC236}">
                <a16:creationId xmlns:a16="http://schemas.microsoft.com/office/drawing/2014/main" id="{08C781B2-E2A2-C3BB-D5C0-FC8490F81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4" y="1241055"/>
            <a:ext cx="840810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条件是向量组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中至少有一个向量能由其余</a:t>
            </a:r>
            <a:r>
              <a:rPr lang="zh-CN" altLang="en-US" sz="1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rgbClr val="0000FF"/>
                </a:solidFill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</a:p>
        </p:txBody>
      </p:sp>
      <p:sp>
        <p:nvSpPr>
          <p:cNvPr id="6" name="Text Box 77">
            <a:extLst>
              <a:ext uri="{FF2B5EF4-FFF2-40B4-BE49-F238E27FC236}">
                <a16:creationId xmlns:a16="http://schemas.microsoft.com/office/drawing/2014/main" id="{38B19202-3850-0B65-E13D-7BEE1FC73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0688"/>
            <a:ext cx="7991546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(4)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ea typeface="宋体" charset="-122"/>
              </a:rPr>
              <a:t>n</a:t>
            </a:r>
            <a:r>
              <a:rPr lang="en-US" altLang="zh-CN" sz="2000" b="1" i="1" baseline="-25000" dirty="0">
                <a:solidFill>
                  <a:srgbClr val="0000FF"/>
                </a:solidFill>
                <a:ea typeface="宋体" charset="-122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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2)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zh-CN" altLang="en-US" b="1" dirty="0">
                <a:solidFill>
                  <a:srgbClr val="0000FF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的充要</a:t>
            </a:r>
            <a:endParaRPr lang="en-US" altLang="zh-CN" b="1" dirty="0">
              <a:solidFill>
                <a:srgbClr val="0000FF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9" name="Rectangle 1036">
            <a:extLst>
              <a:ext uri="{FF2B5EF4-FFF2-40B4-BE49-F238E27FC236}">
                <a16:creationId xmlns:a16="http://schemas.microsoft.com/office/drawing/2014/main" id="{A2D9E805-EBF2-77F1-91EA-9222E8BF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314" y="2476189"/>
            <a:ext cx="252027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先证必要性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1045">
            <a:extLst>
              <a:ext uri="{FF2B5EF4-FFF2-40B4-BE49-F238E27FC236}">
                <a16:creationId xmlns:a16="http://schemas.microsoft.com/office/drawing/2014/main" id="{E696E250-6213-8234-53C0-FDB2D294C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4" y="2479363"/>
            <a:ext cx="135959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12" name="Text Box 77">
            <a:extLst>
              <a:ext uri="{FF2B5EF4-FFF2-40B4-BE49-F238E27FC236}">
                <a16:creationId xmlns:a16="http://schemas.microsoft.com/office/drawing/2014/main" id="{6748806C-2872-B78F-EC98-924449A2E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0435" y="2473130"/>
            <a:ext cx="52663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若向量组</a:t>
            </a:r>
            <a:r>
              <a:rPr lang="zh-CN" altLang="en-US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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2)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3" name="Text Box 77">
            <a:extLst>
              <a:ext uri="{FF2B5EF4-FFF2-40B4-BE49-F238E27FC236}">
                <a16:creationId xmlns:a16="http://schemas.microsoft.com/office/drawing/2014/main" id="{E74FBD0D-E899-3273-4023-6C881E9A6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044" y="3113518"/>
            <a:ext cx="228598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6" name="Rectangle 1044">
            <a:extLst>
              <a:ext uri="{FF2B5EF4-FFF2-40B4-BE49-F238E27FC236}">
                <a16:creationId xmlns:a16="http://schemas.microsoft.com/office/drawing/2014/main" id="{8717DC63-50E2-97B2-92D5-6D5137B73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3842" y="3117274"/>
            <a:ext cx="60913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则存在不全为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16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的常数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6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6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16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16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8" name="Rectangle 1044">
            <a:extLst>
              <a:ext uri="{FF2B5EF4-FFF2-40B4-BE49-F238E27FC236}">
                <a16:creationId xmlns:a16="http://schemas.microsoft.com/office/drawing/2014/main" id="{F25CFD6E-40EB-DE6C-DD7D-9C6312EEF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7768" y="3313728"/>
            <a:ext cx="132299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19" name="Object 10">
            <a:extLst>
              <a:ext uri="{FF2B5EF4-FFF2-40B4-BE49-F238E27FC236}">
                <a16:creationId xmlns:a16="http://schemas.microsoft.com/office/drawing/2014/main" id="{93A04F0B-6B48-A345-C44A-E20458AE47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259361"/>
              </p:ext>
            </p:extLst>
          </p:nvPr>
        </p:nvGraphicFramePr>
        <p:xfrm>
          <a:off x="2542779" y="3754575"/>
          <a:ext cx="40528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12920" imgH="431640" progId="Equation.DSMT4">
                  <p:embed/>
                </p:oleObj>
              </mc:Choice>
              <mc:Fallback>
                <p:oleObj name="Equation" r:id="rId2" imgW="4012920" imgH="431640" progId="Equation.DSMT4">
                  <p:embed/>
                  <p:pic>
                    <p:nvPicPr>
                      <p:cNvPr id="40" name="Object 10">
                        <a:extLst>
                          <a:ext uri="{FF2B5EF4-FFF2-40B4-BE49-F238E27FC236}">
                            <a16:creationId xmlns:a16="http://schemas.microsoft.com/office/drawing/2014/main" id="{7222C487-BFEB-7D49-A3CC-EEC60E2D2A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779" y="3754575"/>
                        <a:ext cx="40528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6">
            <a:extLst>
              <a:ext uri="{FF2B5EF4-FFF2-40B4-BE49-F238E27FC236}">
                <a16:creationId xmlns:a16="http://schemas.microsoft.com/office/drawing/2014/main" id="{05F77176-EC31-A264-2FB4-ED531189B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4" y="4325856"/>
            <a:ext cx="459024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不全为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0, </a:t>
            </a:r>
          </a:p>
        </p:txBody>
      </p:sp>
      <p:sp>
        <p:nvSpPr>
          <p:cNvPr id="21" name="Rectangle 13">
            <a:extLst>
              <a:ext uri="{FF2B5EF4-FFF2-40B4-BE49-F238E27FC236}">
                <a16:creationId xmlns:a16="http://schemas.microsoft.com/office/drawing/2014/main" id="{6D272A5C-E96E-AC0A-B3BF-E16FACA4B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553" y="4328264"/>
            <a:ext cx="2808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不妨设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≠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0996C84C-EDE9-5851-13EC-6BC64CB22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440" y="4320549"/>
            <a:ext cx="1223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则有</a:t>
            </a:r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331FA8EB-B732-2F4B-B399-C2BC6772D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4" y="5797999"/>
            <a:ext cx="65344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所以向量</a:t>
            </a:r>
            <a:r>
              <a:rPr lang="zh-CN" altLang="en-US" sz="14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能由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26" name="Object 10">
            <a:extLst>
              <a:ext uri="{FF2B5EF4-FFF2-40B4-BE49-F238E27FC236}">
                <a16:creationId xmlns:a16="http://schemas.microsoft.com/office/drawing/2014/main" id="{5BA95191-625A-13B1-0E7D-C6D1FA5CD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548317"/>
              </p:ext>
            </p:extLst>
          </p:nvPr>
        </p:nvGraphicFramePr>
        <p:xfrm>
          <a:off x="1960984" y="4847376"/>
          <a:ext cx="5216477" cy="915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37160" imgH="927000" progId="Equation.DSMT4">
                  <p:embed/>
                </p:oleObj>
              </mc:Choice>
              <mc:Fallback>
                <p:oleObj name="Equation" r:id="rId4" imgW="5537160" imgH="927000" progId="Equation.DSMT4">
                  <p:embed/>
                  <p:pic>
                    <p:nvPicPr>
                      <p:cNvPr id="19" name="Object 10">
                        <a:extLst>
                          <a:ext uri="{FF2B5EF4-FFF2-40B4-BE49-F238E27FC236}">
                            <a16:creationId xmlns:a16="http://schemas.microsoft.com/office/drawing/2014/main" id="{93A04F0B-6B48-A345-C44A-E20458AE473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984" y="4847376"/>
                        <a:ext cx="5216477" cy="915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30">
            <a:extLst>
              <a:ext uri="{FF2B5EF4-FFF2-40B4-BE49-F238E27FC236}">
                <a16:creationId xmlns:a16="http://schemas.microsoft.com/office/drawing/2014/main" id="{28632CBB-AC16-4D15-9DD4-09C582E0F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91433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2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2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25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4" grpId="0" build="p" autoUpdateAnimBg="0" advAuto="0"/>
      <p:bldP spid="6" grpId="0"/>
      <p:bldP spid="9" grpId="0" build="p" autoUpdateAnimBg="0" advAuto="0"/>
      <p:bldP spid="10" grpId="0" build="p" autoUpdateAnimBg="0"/>
      <p:bldP spid="12" grpId="0"/>
      <p:bldP spid="13" grpId="0"/>
      <p:bldP spid="16" grpId="0" build="p" autoUpdateAnimBg="0" advAuto="0"/>
      <p:bldP spid="18" grpId="0" build="p" autoUpdateAnimBg="0" advAuto="0"/>
      <p:bldP spid="20" grpId="0"/>
      <p:bldP spid="21" grpId="0"/>
      <p:bldP spid="22" grpId="0" build="p" autoUpdateAnimBg="0" advAuto="0"/>
      <p:bldP spid="23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36">
            <a:extLst>
              <a:ext uri="{FF2B5EF4-FFF2-40B4-BE49-F238E27FC236}">
                <a16:creationId xmlns:a16="http://schemas.microsoft.com/office/drawing/2014/main" id="{A2D9E805-EBF2-77F1-91EA-9222E8BFB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705" y="954223"/>
            <a:ext cx="252027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再证充分性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9CFEC99-461B-7CE7-0A54-5D531CB8B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7490" y="954222"/>
            <a:ext cx="581651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如果向量组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中有一个向量能由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7503043-57DB-2F37-5734-F40F43290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682" y="1606741"/>
            <a:ext cx="428987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不妨设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zh-CN" altLang="en-US" sz="16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EA14827B-FAAA-1B2F-B674-C6FA94F88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1101" y="2405460"/>
            <a:ext cx="450724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即存在常数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F5677374-BB8F-A75F-FA5C-A287F049F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5" y="4559085"/>
            <a:ext cx="729388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</a:t>
            </a:r>
            <a:r>
              <a:rPr lang="zh-CN" altLang="en-US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chemeClr val="tx1"/>
                </a:solidFill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</a:t>
            </a:r>
            <a:r>
              <a:rPr lang="zh-CN" altLang="en-US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个数不全为零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22">
            <a:extLst>
              <a:ext uri="{FF2B5EF4-FFF2-40B4-BE49-F238E27FC236}">
                <a16:creationId xmlns:a16="http://schemas.microsoft.com/office/drawing/2014/main" id="{8FF59DD3-6E8F-B25F-AC77-9534C9FA6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613" y="5266209"/>
            <a:ext cx="446243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因此向量组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90EBA883-313D-C8C1-D8CE-A79083030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3120323"/>
            <a:ext cx="504055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1000" b="1" baseline="30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baseline="30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-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-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FF35E9F4-9CEE-2FB7-9E28-A09455D01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50" y="3840212"/>
            <a:ext cx="795496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   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1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-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itchFamily="18" charset="2"/>
                <a:ea typeface="宋体" charset="-122"/>
              </a:rPr>
              <a:t>-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en-US" altLang="zh-CN" b="1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1)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n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D9E3F96A-3955-3AF4-3416-9E3B03250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2319" y="2414436"/>
            <a:ext cx="1443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989A2664-8355-5CCF-03B8-909603FB9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722" y="1607396"/>
            <a:ext cx="49915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其余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n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个向量线性表示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2E28DE0B-3EB0-420E-C6E9-4F54C2DD4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63" y="2411542"/>
            <a:ext cx="279492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n</a:t>
            </a:r>
            <a:r>
              <a:rPr lang="en-US" altLang="zh-CN" b="1" baseline="-25000" dirty="0">
                <a:solidFill>
                  <a:schemeClr val="tx1"/>
                </a:solidFill>
                <a:latin typeface="Symbol" panose="05050102010706020507" pitchFamily="18" charset="2"/>
              </a:rPr>
              <a:t>-</a:t>
            </a:r>
            <a:r>
              <a:rPr lang="en-US" altLang="zh-CN" b="1" baseline="-25000" dirty="0">
                <a:solidFill>
                  <a:schemeClr val="tx1"/>
                </a:solidFill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09EAB504-C5C4-4725-824A-FC3318157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10" y="0"/>
            <a:ext cx="5912258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向量组线性相关性的定义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86087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750"/>
                            </p:stCondLst>
                            <p:childTnLst>
                              <p:par>
                                <p:cTn id="35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 advAuto="0"/>
      <p:bldP spid="7" grpId="0" build="p" autoUpdateAnimBg="0" advAuto="0"/>
      <p:bldP spid="8" grpId="0"/>
      <p:bldP spid="11" grpId="0"/>
      <p:bldP spid="14" grpId="0"/>
      <p:bldP spid="15" grpId="0" build="p" autoUpdateAnimBg="0" advAuto="0"/>
      <p:bldP spid="17" grpId="0"/>
      <p:bldP spid="17" grpId="1"/>
      <p:bldP spid="24" grpId="0"/>
      <p:bldP spid="24" grpId="1"/>
      <p:bldP spid="35" grpId="0"/>
      <p:bldP spid="36" grpId="0" build="p" autoUpdateAnimBg="0" advAuto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0">
            <a:extLst>
              <a:ext uri="{FF2B5EF4-FFF2-40B4-BE49-F238E27FC236}">
                <a16:creationId xmlns:a16="http://schemas.microsoft.com/office/drawing/2014/main" id="{DFB6EDCC-724E-4B30-9C0B-CA857846E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6" y="0"/>
            <a:ext cx="8374015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向量组线性相关性与齐次线性方程组的关系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B92B93AB-DBE0-7932-7471-0AA47BC0D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" y="3210446"/>
            <a:ext cx="21606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有非零解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C5988619-9E54-2F6E-68C1-721475BFB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048221"/>
            <a:ext cx="727285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线性相关的实质是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 Box 45">
            <a:extLst>
              <a:ext uri="{FF2B5EF4-FFF2-40B4-BE49-F238E27FC236}">
                <a16:creationId xmlns:a16="http://schemas.microsoft.com/office/drawing/2014/main" id="{33A6298F-4C7D-B6BD-FB3F-732846CA0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7739" y="3210445"/>
            <a:ext cx="648072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记向量组</a:t>
            </a:r>
            <a:r>
              <a:rPr lang="zh-CN" altLang="en-US" sz="18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构成的矩阵为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" name="Text Box 46">
            <a:extLst>
              <a:ext uri="{FF2B5EF4-FFF2-40B4-BE49-F238E27FC236}">
                <a16:creationId xmlns:a16="http://schemas.microsoft.com/office/drawing/2014/main" id="{5BC13306-F776-1693-29E4-CB8028FC1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518" y="3936133"/>
            <a:ext cx="3382963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),</a:t>
            </a:r>
          </a:p>
        </p:txBody>
      </p:sp>
      <p:sp>
        <p:nvSpPr>
          <p:cNvPr id="6" name="Rectangle 47">
            <a:extLst>
              <a:ext uri="{FF2B5EF4-FFF2-40B4-BE49-F238E27FC236}">
                <a16:creationId xmlns:a16="http://schemas.microsoft.com/office/drawing/2014/main" id="{C732E352-47E5-91FC-3D75-E0B886C35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7" y="1776933"/>
            <a:ext cx="32407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齐次线性方程组</a:t>
            </a:r>
          </a:p>
        </p:txBody>
      </p:sp>
      <p:sp>
        <p:nvSpPr>
          <p:cNvPr id="7" name="Text Box 51">
            <a:extLst>
              <a:ext uri="{FF2B5EF4-FFF2-40B4-BE49-F238E27FC236}">
                <a16:creationId xmlns:a16="http://schemas.microsoft.com/office/drawing/2014/main" id="{DC31CD90-1EDC-D2BD-714B-DAE3B3C62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08" y="4648721"/>
            <a:ext cx="54105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可得如下重要定理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06234B7-3AC6-83CE-30CA-007A90016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306" y="2492896"/>
            <a:ext cx="475138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1000" b="1" baseline="30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 advAuto="0"/>
      <p:bldP spid="4" grpId="0" build="p" autoUpdateAnimBg="0"/>
      <p:bldP spid="5" grpId="0" build="p" autoUpdateAnimBg="0"/>
      <p:bldP spid="6" grpId="0" build="p" autoUpdateAnimBg="0" advAuto="0"/>
      <p:bldP spid="7" grpId="0" build="p" autoUpdateAnimBg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30">
            <a:extLst>
              <a:ext uri="{FF2B5EF4-FFF2-40B4-BE49-F238E27FC236}">
                <a16:creationId xmlns:a16="http://schemas.microsoft.com/office/drawing/2014/main" id="{DFB6EDCC-724E-4B30-9C0B-CA857846E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37">
            <a:extLst>
              <a:ext uri="{FF2B5EF4-FFF2-40B4-BE49-F238E27FC236}">
                <a16:creationId xmlns:a16="http://schemas.microsoft.com/office/drawing/2014/main" id="{B92B93AB-DBE0-7932-7471-0AA47BC0D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707" y="5577636"/>
            <a:ext cx="21606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有非零解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" name="Rectangle 38">
            <a:extLst>
              <a:ext uri="{FF2B5EF4-FFF2-40B4-BE49-F238E27FC236}">
                <a16:creationId xmlns:a16="http://schemas.microsoft.com/office/drawing/2014/main" id="{C5988619-9E54-2F6E-68C1-721475BFB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765" y="3581586"/>
            <a:ext cx="550958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: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6" name="Rectangle 47">
            <a:extLst>
              <a:ext uri="{FF2B5EF4-FFF2-40B4-BE49-F238E27FC236}">
                <a16:creationId xmlns:a16="http://schemas.microsoft.com/office/drawing/2014/main" id="{C732E352-47E5-91FC-3D75-E0B886C35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15" y="4250078"/>
            <a:ext cx="398114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元齐次线性方程组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06234B7-3AC6-83CE-30CA-007A90016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306" y="4869160"/>
            <a:ext cx="475138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1000" b="1" baseline="30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2A48528D-6CD7-5646-D4F8-9F2C00216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15" y="708987"/>
            <a:ext cx="83518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10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宋体" charset="-122"/>
              </a:rPr>
              <a:t> 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n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线性相关的充要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F77266CC-0E5C-14DF-65FB-A9AD4E421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226" y="2145086"/>
            <a:ext cx="2808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8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77293D65-EA59-A9D8-19C6-676D7435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646" y="1427036"/>
            <a:ext cx="82918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条件是</a:t>
            </a:r>
            <a:r>
              <a:rPr lang="zh-CN" altLang="zh-CN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它所构成的矩阵</a:t>
            </a:r>
            <a:r>
              <a:rPr lang="zh-CN" altLang="zh-CN" sz="1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n</a:t>
            </a:r>
            <a:r>
              <a:rPr lang="en-US" altLang="zh-CN" sz="1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1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的秩小于</a:t>
            </a:r>
            <a:endParaRPr lang="en-US" altLang="zh-CN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6">
            <a:extLst>
              <a:ext uri="{FF2B5EF4-FFF2-40B4-BE49-F238E27FC236}">
                <a16:creationId xmlns:a16="http://schemas.microsoft.com/office/drawing/2014/main" id="{D44B5C42-36A6-83D8-2570-F6D59323B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65" y="2144589"/>
            <a:ext cx="396309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其所含向量的个数</a:t>
            </a:r>
            <a:r>
              <a:rPr lang="zh-CN" altLang="en-US" sz="16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E2BD04EC-5CA2-2C51-8738-BB7613C15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3003" y="2144589"/>
            <a:ext cx="230425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即</a:t>
            </a:r>
            <a:r>
              <a:rPr lang="zh-CN" altLang="en-US" sz="1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1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&lt;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;</a:t>
            </a:r>
          </a:p>
        </p:txBody>
      </p:sp>
      <p:sp>
        <p:nvSpPr>
          <p:cNvPr id="14" name="Text Box 19">
            <a:extLst>
              <a:ext uri="{FF2B5EF4-FFF2-40B4-BE49-F238E27FC236}">
                <a16:creationId xmlns:a16="http://schemas.microsoft.com/office/drawing/2014/main" id="{668DD6C1-18EB-45FC-2441-EBF8939A3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78" y="2870728"/>
            <a:ext cx="5044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无关的充要条件是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10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3" name="Rectangle 33">
            <a:extLst>
              <a:ext uri="{FF2B5EF4-FFF2-40B4-BE49-F238E27FC236}">
                <a16:creationId xmlns:a16="http://schemas.microsoft.com/office/drawing/2014/main" id="{29B2C6C9-D16B-696E-283C-547CFD2B9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105" y="3584978"/>
            <a:ext cx="12969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25" name="Text Box 16">
            <a:extLst>
              <a:ext uri="{FF2B5EF4-FFF2-40B4-BE49-F238E27FC236}">
                <a16:creationId xmlns:a16="http://schemas.microsoft.com/office/drawing/2014/main" id="{1C77EB66-54D4-25C5-F74E-D5AABDD30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208" y="3581587"/>
            <a:ext cx="176130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等价于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A7AF977A-F383-65E9-36D9-35EAC5D3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971" y="5580018"/>
            <a:ext cx="47513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可知结论成立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37973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3" grpId="0" build="p" autoUpdateAnimBg="0" advAuto="0"/>
      <p:bldP spid="6" grpId="0" build="p" autoUpdateAnimBg="0" advAuto="0"/>
      <p:bldP spid="8" grpId="0"/>
      <p:bldP spid="9" grpId="0"/>
      <p:bldP spid="10" grpId="0"/>
      <p:bldP spid="11" grpId="0"/>
      <p:bldP spid="12" grpId="0"/>
      <p:bldP spid="13" grpId="0"/>
      <p:bldP spid="14" grpId="0"/>
      <p:bldP spid="23" grpId="0"/>
      <p:bldP spid="25" grpId="0"/>
      <p:bldP spid="26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12">
            <a:extLst>
              <a:ext uri="{FF2B5EF4-FFF2-40B4-BE49-F238E27FC236}">
                <a16:creationId xmlns:a16="http://schemas.microsoft.com/office/drawing/2014/main" id="{4A1CA481-F507-33FF-D1F7-4B8EF6404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835" y="628943"/>
            <a:ext cx="830200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推论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个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维向量组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: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n </a:t>
            </a: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endParaRPr lang="zh-CN" altLang="en-US" b="1" dirty="0">
              <a:solidFill>
                <a:srgbClr val="C00000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31" name="Text Box 14">
            <a:extLst>
              <a:ext uri="{FF2B5EF4-FFF2-40B4-BE49-F238E27FC236}">
                <a16:creationId xmlns:a16="http://schemas.microsoft.com/office/drawing/2014/main" id="{FA385C9D-8FBE-251F-A457-82DF80E208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9" y="1339739"/>
            <a:ext cx="656458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的充要条件是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1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A</a:t>
            </a:r>
            <a:r>
              <a:rPr lang="en-US" altLang="zh-CN" sz="1050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)|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0;</a:t>
            </a:r>
            <a:endParaRPr lang="zh-CN" altLang="en-US" b="1" dirty="0">
              <a:solidFill>
                <a:srgbClr val="0000FF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Text Box 12">
            <a:extLst>
              <a:ext uri="{FF2B5EF4-FFF2-40B4-BE49-F238E27FC236}">
                <a16:creationId xmlns:a16="http://schemas.microsoft.com/office/drawing/2014/main" id="{54AB63B1-2CD4-9C26-2129-533E53BC1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3617" y="1335428"/>
            <a:ext cx="213622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4" name="Text Box 12">
            <a:extLst>
              <a:ext uri="{FF2B5EF4-FFF2-40B4-BE49-F238E27FC236}">
                <a16:creationId xmlns:a16="http://schemas.microsoft.com/office/drawing/2014/main" id="{655A5BB3-4273-E0F6-B926-FFA30438D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9" y="2058779"/>
            <a:ext cx="80047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线性无关的充要条件是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A</a:t>
            </a:r>
            <a:r>
              <a:rPr lang="en-US" altLang="zh-CN" sz="1000" b="1" i="1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)|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0.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5" name="Rectangle 38">
            <a:extLst>
              <a:ext uri="{FF2B5EF4-FFF2-40B4-BE49-F238E27FC236}">
                <a16:creationId xmlns:a16="http://schemas.microsoft.com/office/drawing/2014/main" id="{DD3CCF4E-3BF2-4BA3-2F26-B5E8A5FC3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483" y="2784537"/>
            <a:ext cx="316299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: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48FF2C03-FC32-4027-042B-8BC2A874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6306" y="4221088"/>
            <a:ext cx="475138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1000" b="1" baseline="30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48" name="Rectangle 33">
            <a:extLst>
              <a:ext uri="{FF2B5EF4-FFF2-40B4-BE49-F238E27FC236}">
                <a16:creationId xmlns:a16="http://schemas.microsoft.com/office/drawing/2014/main" id="{CA36A0E1-6A78-F955-9EEF-AE3777614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8" y="2783648"/>
            <a:ext cx="128020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49" name="Text Box 16">
            <a:extLst>
              <a:ext uri="{FF2B5EF4-FFF2-40B4-BE49-F238E27FC236}">
                <a16:creationId xmlns:a16="http://schemas.microsoft.com/office/drawing/2014/main" id="{76DFABA0-C096-C90D-FCEF-A07717864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3643" y="3508241"/>
            <a:ext cx="496478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等价于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元齐次线性方程组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50" name="Rectangle 37">
            <a:extLst>
              <a:ext uri="{FF2B5EF4-FFF2-40B4-BE49-F238E27FC236}">
                <a16:creationId xmlns:a16="http://schemas.microsoft.com/office/drawing/2014/main" id="{CEB0D571-718E-CCF2-5819-F7485D8BE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9" y="4949798"/>
            <a:ext cx="21606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有非零解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51" name="Rectangle 26">
            <a:extLst>
              <a:ext uri="{FF2B5EF4-FFF2-40B4-BE49-F238E27FC236}">
                <a16:creationId xmlns:a16="http://schemas.microsoft.com/office/drawing/2014/main" id="{416217C9-114A-7BE4-35E0-7FAD53DBC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680" y="4943048"/>
            <a:ext cx="43759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52" name="Text Box 45">
            <a:extLst>
              <a:ext uri="{FF2B5EF4-FFF2-40B4-BE49-F238E27FC236}">
                <a16:creationId xmlns:a16="http://schemas.microsoft.com/office/drawing/2014/main" id="{9BC25F6D-9AFE-E0BF-ED16-BA50BA6F6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4" y="2782483"/>
            <a:ext cx="47765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记矩阵</a:t>
            </a:r>
            <a:r>
              <a:rPr lang="zh-CN" altLang="en-US" sz="12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6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16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),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54" name="Rectangle 38">
            <a:extLst>
              <a:ext uri="{FF2B5EF4-FFF2-40B4-BE49-F238E27FC236}">
                <a16:creationId xmlns:a16="http://schemas.microsoft.com/office/drawing/2014/main" id="{5921E28F-E0C4-33DB-46B5-5D0410056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706" y="3503955"/>
            <a:ext cx="297719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55" name="Rectangle 38">
            <a:extLst>
              <a:ext uri="{FF2B5EF4-FFF2-40B4-BE49-F238E27FC236}">
                <a16:creationId xmlns:a16="http://schemas.microsoft.com/office/drawing/2014/main" id="{F6282A86-D6EB-8635-77C7-D55EB9696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69" y="5681714"/>
            <a:ext cx="119689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BDFB90E6-7418-4010-9511-FBB3CA89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872" y="5676952"/>
            <a:ext cx="427710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)|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30">
            <a:extLst>
              <a:ext uri="{FF2B5EF4-FFF2-40B4-BE49-F238E27FC236}">
                <a16:creationId xmlns:a16="http://schemas.microsoft.com/office/drawing/2014/main" id="{466992ED-8E67-4D9F-9A0B-CD41B348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75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75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9" grpId="0"/>
      <p:bldP spid="44" grpId="0"/>
      <p:bldP spid="45" grpId="0" build="p" autoUpdateAnimBg="0" advAuto="0"/>
      <p:bldP spid="47" grpId="0"/>
      <p:bldP spid="48" grpId="0"/>
      <p:bldP spid="49" grpId="0"/>
      <p:bldP spid="50" grpId="0" build="p" autoUpdateAnimBg="0" advAuto="0"/>
      <p:bldP spid="51" grpId="0" build="p" autoUpdateAnimBg="0"/>
      <p:bldP spid="52" grpId="0" build="p" autoUpdateAnimBg="0"/>
      <p:bldP spid="54" grpId="0" build="p" autoUpdateAnimBg="0" advAuto="0"/>
      <p:bldP spid="55" grpId="0" build="p" autoUpdateAnimBg="0" advAuto="0"/>
      <p:bldP spid="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38">
            <a:extLst>
              <a:ext uri="{FF2B5EF4-FFF2-40B4-BE49-F238E27FC236}">
                <a16:creationId xmlns:a16="http://schemas.microsoft.com/office/drawing/2014/main" id="{DD3CCF4E-3BF2-4BA3-2F26-B5E8A5FC3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99" y="902088"/>
            <a:ext cx="568499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: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zh-CN" altLang="en-US" sz="2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48FF2C03-FC32-4027-042B-8BC2A8745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745" y="2340777"/>
            <a:ext cx="4608512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1000" b="1" baseline="30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x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n</a:t>
            </a:r>
            <a:r>
              <a:rPr lang="en-US" altLang="zh-CN" sz="1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ea typeface="宋体" charset="-122"/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49" name="Text Box 16">
            <a:extLst>
              <a:ext uri="{FF2B5EF4-FFF2-40B4-BE49-F238E27FC236}">
                <a16:creationId xmlns:a16="http://schemas.microsoft.com/office/drawing/2014/main" id="{76DFABA0-C096-C90D-FCEF-A07717864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902088"/>
            <a:ext cx="26677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等价于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元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50" name="Rectangle 37">
            <a:extLst>
              <a:ext uri="{FF2B5EF4-FFF2-40B4-BE49-F238E27FC236}">
                <a16:creationId xmlns:a16="http://schemas.microsoft.com/office/drawing/2014/main" id="{CEB0D571-718E-CCF2-5819-F7485D8BE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6" y="3068670"/>
            <a:ext cx="21606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只有零解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51" name="Rectangle 26">
            <a:extLst>
              <a:ext uri="{FF2B5EF4-FFF2-40B4-BE49-F238E27FC236}">
                <a16:creationId xmlns:a16="http://schemas.microsoft.com/office/drawing/2014/main" id="{416217C9-114A-7BE4-35E0-7FAD53DBC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0175" y="3066617"/>
            <a:ext cx="45016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3.2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55" name="Rectangle 38">
            <a:extLst>
              <a:ext uri="{FF2B5EF4-FFF2-40B4-BE49-F238E27FC236}">
                <a16:creationId xmlns:a16="http://schemas.microsoft.com/office/drawing/2014/main" id="{F6282A86-D6EB-8635-77C7-D55EB9696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951" y="3769690"/>
            <a:ext cx="93034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</a:t>
            </a:r>
            <a:endParaRPr lang="en-US" altLang="zh-CN" b="1" dirty="0">
              <a:solidFill>
                <a:schemeClr val="tx1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BDFB90E6-7418-4010-9511-FBB3CA89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403" y="3793067"/>
            <a:ext cx="416919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sz="1000" b="1" i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1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1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0.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6151A8A7-8FDB-4BA8-56D4-40390CC023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660" y="1629981"/>
            <a:ext cx="342866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齐次线性方程组</a:t>
            </a:r>
            <a:endParaRPr lang="en-US" altLang="zh-CN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3BFE6265-D085-011B-705A-2B59BAD4B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98" y="4537514"/>
            <a:ext cx="46805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综上所述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推论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成立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80C79389-62BF-4FF7-9760-832FA2226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2154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 autoUpdateAnimBg="0" advAuto="0"/>
      <p:bldP spid="47" grpId="0"/>
      <p:bldP spid="49" grpId="0"/>
      <p:bldP spid="50" grpId="0" build="p" autoUpdateAnimBg="0" advAuto="0"/>
      <p:bldP spid="51" grpId="0" build="p" autoUpdateAnimBg="0"/>
      <p:bldP spid="55" grpId="0" build="p" autoUpdateAnimBg="0" advAuto="0"/>
      <p:bldP spid="56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>
            <a:extLst>
              <a:ext uri="{FF2B5EF4-FFF2-40B4-BE49-F238E27FC236}">
                <a16:creationId xmlns:a16="http://schemas.microsoft.com/office/drawing/2014/main" id="{C968D894-B34F-B6A4-1EDE-CED67935E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0688"/>
            <a:ext cx="367240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3.9</a:t>
            </a:r>
            <a:r>
              <a:rPr lang="en-US" altLang="zh-CN" b="1" dirty="0">
                <a:ea typeface="+mn-ea"/>
                <a:cs typeface="Times New Roman" pitchFamily="18" charset="0"/>
              </a:rPr>
              <a:t>  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维向量组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E3287D8E-EF46-E48A-CC86-9AAD5E36F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61" y="3250148"/>
            <a:ext cx="8604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称为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维单位向量组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试讨论此向量组的线性相关性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E7343F40-73A7-CB44-95CE-B0931A08C2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812519"/>
              </p:ext>
            </p:extLst>
          </p:nvPr>
        </p:nvGraphicFramePr>
        <p:xfrm>
          <a:off x="2373474" y="1163180"/>
          <a:ext cx="4443413" cy="205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533840" imgH="2070000" progId="Equation.DSMT4">
                  <p:embed/>
                </p:oleObj>
              </mc:Choice>
              <mc:Fallback>
                <p:oleObj name="Equation" r:id="rId2" imgW="4533840" imgH="2070000" progId="Equation.DSMT4">
                  <p:embed/>
                  <p:pic>
                    <p:nvPicPr>
                      <p:cNvPr id="15364" name="Object 7">
                        <a:extLst>
                          <a:ext uri="{FF2B5EF4-FFF2-40B4-BE49-F238E27FC236}">
                            <a16:creationId xmlns:a16="http://schemas.microsoft.com/office/drawing/2014/main" id="{7F1216F2-E5C2-58CD-1A1D-B0DFA321EF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474" y="1163180"/>
                        <a:ext cx="4443413" cy="205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">
            <a:extLst>
              <a:ext uri="{FF2B5EF4-FFF2-40B4-BE49-F238E27FC236}">
                <a16:creationId xmlns:a16="http://schemas.microsoft.com/office/drawing/2014/main" id="{04F18C14-590B-C515-832B-2F19A76FAB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3826411"/>
            <a:ext cx="86409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5AC7E305-6FB4-7AC7-C66E-473F52646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49" y="5064080"/>
            <a:ext cx="22320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单位矩阵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endParaRPr lang="en-US" altLang="zh-CN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7DDB1CFF-0B35-1445-0065-CFAC35023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281" y="5065018"/>
            <a:ext cx="315781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</a:t>
            </a:r>
            <a:r>
              <a:rPr lang="zh-CN" altLang="en-US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I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0,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00B1C6-5407-4DB5-D40A-E660EF196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5065018"/>
            <a:ext cx="362567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故由推论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3.1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9921470B-D3A2-5C18-286D-20A8F8AD9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49" y="5710798"/>
            <a:ext cx="36797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此向量组线性无关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1697512-6BC5-DB22-EC1A-BB20AC24EF14}"/>
              </a:ext>
            </a:extLst>
          </p:cNvPr>
          <p:cNvGrpSpPr/>
          <p:nvPr/>
        </p:nvGrpSpPr>
        <p:grpSpPr>
          <a:xfrm>
            <a:off x="518464" y="4407436"/>
            <a:ext cx="8422584" cy="529038"/>
            <a:chOff x="516876" y="4704549"/>
            <a:chExt cx="8422584" cy="529038"/>
          </a:xfrm>
        </p:grpSpPr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20A21AA7-EEE3-B381-F817-AD9D5A01C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876" y="4709712"/>
              <a:ext cx="6210647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b="1" i="1" dirty="0">
                  <a:solidFill>
                    <a:schemeClr val="tx1"/>
                  </a:solidFill>
                  <a:ea typeface="+mn-ea"/>
                  <a:cs typeface="Times New Roman" pitchFamily="18" charset="0"/>
                </a:rPr>
                <a:t>n</a:t>
              </a:r>
              <a:r>
                <a:rPr lang="en-US" altLang="zh-CN" sz="2000" b="1" i="1" dirty="0">
                  <a:solidFill>
                    <a:schemeClr val="tx1"/>
                  </a:solidFill>
                  <a:ea typeface="+mn-ea"/>
                  <a:cs typeface="Times New Roman" pitchFamily="18" charset="0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维单位向量组构成的矩阵</a:t>
              </a:r>
              <a:endPara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endParaRPr>
            </a:p>
          </p:txBody>
        </p:sp>
        <p:graphicFrame>
          <p:nvGraphicFramePr>
            <p:cNvPr id="26" name="Object 6">
              <a:extLst>
                <a:ext uri="{FF2B5EF4-FFF2-40B4-BE49-F238E27FC236}">
                  <a16:creationId xmlns:a16="http://schemas.microsoft.com/office/drawing/2014/main" id="{702DD8C7-9965-9715-CF21-AFB2A1034C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94440413"/>
                </p:ext>
              </p:extLst>
            </p:nvPr>
          </p:nvGraphicFramePr>
          <p:xfrm>
            <a:off x="4835004" y="4763286"/>
            <a:ext cx="25273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27200" imgH="431640" progId="Equation.DSMT4">
                    <p:embed/>
                  </p:oleObj>
                </mc:Choice>
                <mc:Fallback>
                  <p:oleObj name="Equation" r:id="rId4" imgW="2527200" imgH="431640" progId="Equation.DSMT4">
                    <p:embed/>
                    <p:pic>
                      <p:nvPicPr>
                        <p:cNvPr id="15373" name="Object 6">
                          <a:extLst>
                            <a:ext uri="{FF2B5EF4-FFF2-40B4-BE49-F238E27FC236}">
                              <a16:creationId xmlns:a16="http://schemas.microsoft.com/office/drawing/2014/main" id="{A4FF4401-8015-5237-7EEA-4358D70A4D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5004" y="4763286"/>
                          <a:ext cx="2527300" cy="431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9">
              <a:extLst>
                <a:ext uri="{FF2B5EF4-FFF2-40B4-BE49-F238E27FC236}">
                  <a16:creationId xmlns:a16="http://schemas.microsoft.com/office/drawing/2014/main" id="{BF08D307-1DCF-0FAE-9D5A-7C68CF552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2304" y="4704549"/>
              <a:ext cx="1577156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是</a:t>
              </a:r>
              <a:r>
                <a:rPr lang="zh-CN" altLang="en-US" sz="2000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 </a:t>
              </a:r>
              <a:r>
                <a:rPr lang="en-US" altLang="zh-CN" b="1" i="1" dirty="0">
                  <a:solidFill>
                    <a:schemeClr val="tx1"/>
                  </a:solidFill>
                  <a:ea typeface="+mn-ea"/>
                  <a:cs typeface="Times New Roman" pitchFamily="18" charset="0"/>
                </a:rPr>
                <a:t>n</a:t>
              </a:r>
              <a:r>
                <a:rPr lang="en-US" altLang="zh-CN" sz="2000" b="1" i="1" dirty="0">
                  <a:solidFill>
                    <a:schemeClr val="tx1"/>
                  </a:solidFill>
                  <a:ea typeface="+mn-ea"/>
                  <a:cs typeface="Times New Roman" pitchFamily="18" charset="0"/>
                </a:rPr>
                <a:t> </a:t>
              </a:r>
              <a:r>
                <a:rPr lang="zh-CN" altLang="en-US" b="1" dirty="0">
                  <a:solidFill>
                    <a:schemeClr val="tx1"/>
                  </a:solidFill>
                  <a:latin typeface="华文中宋" pitchFamily="2" charset="-122"/>
                  <a:ea typeface="华文中宋" pitchFamily="2" charset="-122"/>
                </a:rPr>
                <a:t>阶</a:t>
              </a:r>
              <a:endPara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endParaRPr>
            </a:p>
          </p:txBody>
        </p:sp>
      </p:grpSp>
      <p:sp>
        <p:nvSpPr>
          <p:cNvPr id="17" name="Rectangle 30">
            <a:extLst>
              <a:ext uri="{FF2B5EF4-FFF2-40B4-BE49-F238E27FC236}">
                <a16:creationId xmlns:a16="http://schemas.microsoft.com/office/drawing/2014/main" id="{3E7A5105-9320-4BE4-B182-C1DE3F263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24297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3" grpId="0"/>
      <p:bldP spid="14" grpId="0" build="p" autoUpdateAnimBg="0" advAuto="0"/>
      <p:bldP spid="15" grpId="0" build="p" autoUpdateAnimBg="0"/>
      <p:bldP spid="16" grpId="0" build="p" autoUpdateAnimBg="0" advAuto="0"/>
      <p:bldP spid="19" grpId="0"/>
      <p:bldP spid="27" grpId="0" build="p" autoUpdateAnimBg="0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>
            <a:extLst>
              <a:ext uri="{FF2B5EF4-FFF2-40B4-BE49-F238E27FC236}">
                <a16:creationId xmlns:a16="http://schemas.microsoft.com/office/drawing/2014/main" id="{5BBBD18A-3A2D-84B9-9C3C-6C813DD30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92696"/>
            <a:ext cx="5832648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3.10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问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zh-CN" altLang="en-US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取何值时</a:t>
            </a:r>
            <a:r>
              <a:rPr lang="en-US" altLang="zh-CN" b="1" dirty="0">
                <a:solidFill>
                  <a:schemeClr val="tx1"/>
                </a:solidFill>
                <a:ea typeface="华文中宋" pitchFamily="2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向量组</a:t>
            </a:r>
          </a:p>
        </p:txBody>
      </p:sp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74A7B288-2CD9-2920-2431-9D2354302C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673141"/>
              </p:ext>
            </p:extLst>
          </p:nvPr>
        </p:nvGraphicFramePr>
        <p:xfrm>
          <a:off x="782563" y="1364700"/>
          <a:ext cx="2463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63480" imgH="507960" progId="Equation.DSMT4">
                  <p:embed/>
                </p:oleObj>
              </mc:Choice>
              <mc:Fallback>
                <p:oleObj name="Equation" r:id="rId2" imgW="2463480" imgH="507960" progId="Equation.DSMT4">
                  <p:embed/>
                  <p:pic>
                    <p:nvPicPr>
                      <p:cNvPr id="16387" name="Object 2">
                        <a:extLst>
                          <a:ext uri="{FF2B5EF4-FFF2-40B4-BE49-F238E27FC236}">
                            <a16:creationId xmlns:a16="http://schemas.microsoft.com/office/drawing/2014/main" id="{6017F0DB-194D-8EA2-7F48-B1A60A060C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563" y="1364700"/>
                        <a:ext cx="2463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69F39648-6D7E-BD6D-7B1A-BC044251B7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864893"/>
              </p:ext>
            </p:extLst>
          </p:nvPr>
        </p:nvGraphicFramePr>
        <p:xfrm>
          <a:off x="3347963" y="1364700"/>
          <a:ext cx="2781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507960" progId="Equation.DSMT4">
                  <p:embed/>
                </p:oleObj>
              </mc:Choice>
              <mc:Fallback>
                <p:oleObj name="Equation" r:id="rId4" imgW="2781000" imgH="507960" progId="Equation.DSMT4">
                  <p:embed/>
                  <p:pic>
                    <p:nvPicPr>
                      <p:cNvPr id="16388" name="Object 3">
                        <a:extLst>
                          <a:ext uri="{FF2B5EF4-FFF2-40B4-BE49-F238E27FC236}">
                            <a16:creationId xmlns:a16="http://schemas.microsoft.com/office/drawing/2014/main" id="{E801B5A0-93A7-701A-BECC-2E06A11A98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963" y="1364700"/>
                        <a:ext cx="2781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32083A8C-AD55-39A8-649C-B998A1522D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905015"/>
              </p:ext>
            </p:extLst>
          </p:nvPr>
        </p:nvGraphicFramePr>
        <p:xfrm>
          <a:off x="3105150" y="3960125"/>
          <a:ext cx="29337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33700" imgH="1562100" progId="Equation.DSMT4">
                  <p:embed/>
                </p:oleObj>
              </mc:Choice>
              <mc:Fallback>
                <p:oleObj name="Equation" r:id="rId6" imgW="2933700" imgH="15621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51190C1-1BC3-F5FE-5E75-5C5BBF5C93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150" y="3960125"/>
                        <a:ext cx="2933700" cy="156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A544B2A9-44C6-1CD7-E289-38EEC60293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6262790"/>
              </p:ext>
            </p:extLst>
          </p:nvPr>
        </p:nvGraphicFramePr>
        <p:xfrm>
          <a:off x="1304826" y="4460188"/>
          <a:ext cx="1765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65080" imgH="507960" progId="Equation.DSMT4">
                  <p:embed/>
                </p:oleObj>
              </mc:Choice>
              <mc:Fallback>
                <p:oleObj name="Equation" r:id="rId8" imgW="1765080" imgH="507960" progId="Equation.DSMT4">
                  <p:embed/>
                  <p:pic>
                    <p:nvPicPr>
                      <p:cNvPr id="12" name="Object 7">
                        <a:extLst>
                          <a:ext uri="{FF2B5EF4-FFF2-40B4-BE49-F238E27FC236}">
                            <a16:creationId xmlns:a16="http://schemas.microsoft.com/office/drawing/2014/main" id="{80D92FA4-4E6A-4B2E-EF63-EE19AD846B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826" y="4460188"/>
                        <a:ext cx="1765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>
            <a:extLst>
              <a:ext uri="{FF2B5EF4-FFF2-40B4-BE49-F238E27FC236}">
                <a16:creationId xmlns:a16="http://schemas.microsoft.com/office/drawing/2014/main" id="{999A18AC-9D9B-A266-F40F-2C5527BBE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38" y="2010183"/>
            <a:ext cx="24591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E4AA6A87-21B7-22D3-9274-165301681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657883"/>
            <a:ext cx="86409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C7C1EADB-FFFC-9228-F29A-98CF3F2EC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241520"/>
              </p:ext>
            </p:extLst>
          </p:nvPr>
        </p:nvGraphicFramePr>
        <p:xfrm>
          <a:off x="6184826" y="1364700"/>
          <a:ext cx="2374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74560" imgH="507960" progId="Equation.DSMT4">
                  <p:embed/>
                </p:oleObj>
              </mc:Choice>
              <mc:Fallback>
                <p:oleObj name="Equation" r:id="rId10" imgW="2374560" imgH="507960" progId="Equation.DSMT4">
                  <p:embed/>
                  <p:pic>
                    <p:nvPicPr>
                      <p:cNvPr id="16393" name="Object 8">
                        <a:extLst>
                          <a:ext uri="{FF2B5EF4-FFF2-40B4-BE49-F238E27FC236}">
                            <a16:creationId xmlns:a16="http://schemas.microsoft.com/office/drawing/2014/main" id="{467BE60B-91B5-A991-3B38-FA1D08F16F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4826" y="1364700"/>
                        <a:ext cx="2374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4">
            <a:extLst>
              <a:ext uri="{FF2B5EF4-FFF2-40B4-BE49-F238E27FC236}">
                <a16:creationId xmlns:a16="http://schemas.microsoft.com/office/drawing/2014/main" id="{A5EB5230-E77E-A59C-7D8C-2937B7FBC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38" y="3305583"/>
            <a:ext cx="623021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线性相关的充要条件是</a:t>
            </a:r>
            <a:endParaRPr lang="en-US" altLang="zh-CN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  <a:sym typeface="Symbol" pitchFamily="18" charset="2"/>
            </a:endParaRPr>
          </a:p>
        </p:txBody>
      </p:sp>
      <p:graphicFrame>
        <p:nvGraphicFramePr>
          <p:cNvPr id="29" name="Object 18">
            <a:extLst>
              <a:ext uri="{FF2B5EF4-FFF2-40B4-BE49-F238E27FC236}">
                <a16:creationId xmlns:a16="http://schemas.microsoft.com/office/drawing/2014/main" id="{9E4B28E3-963F-0488-86FC-794E5D4982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868295"/>
              </p:ext>
            </p:extLst>
          </p:nvPr>
        </p:nvGraphicFramePr>
        <p:xfrm>
          <a:off x="6127750" y="4485588"/>
          <a:ext cx="1612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612900" imgH="495300" progId="Equation.DSMT4">
                  <p:embed/>
                </p:oleObj>
              </mc:Choice>
              <mc:Fallback>
                <p:oleObj name="Equation" r:id="rId12" imgW="1612900" imgH="495300" progId="Equation.DSMT4">
                  <p:embed/>
                  <p:pic>
                    <p:nvPicPr>
                      <p:cNvPr id="18" name="Object 18">
                        <a:extLst>
                          <a:ext uri="{FF2B5EF4-FFF2-40B4-BE49-F238E27FC236}">
                            <a16:creationId xmlns:a16="http://schemas.microsoft.com/office/drawing/2014/main" id="{70895868-7059-5910-6FE8-41357E75E5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0" y="4485588"/>
                        <a:ext cx="1612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0">
            <a:extLst>
              <a:ext uri="{FF2B5EF4-FFF2-40B4-BE49-F238E27FC236}">
                <a16:creationId xmlns:a16="http://schemas.microsoft.com/office/drawing/2014/main" id="{38A8068C-ECFD-95C7-7CE9-B6DF01F467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05450"/>
              </p:ext>
            </p:extLst>
          </p:nvPr>
        </p:nvGraphicFramePr>
        <p:xfrm>
          <a:off x="7839174" y="4574488"/>
          <a:ext cx="558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58558" imgH="393529" progId="Equation.DSMT4">
                  <p:embed/>
                </p:oleObj>
              </mc:Choice>
              <mc:Fallback>
                <p:oleObj name="Equation" r:id="rId14" imgW="558558" imgH="393529" progId="Equation.DSMT4">
                  <p:embed/>
                  <p:pic>
                    <p:nvPicPr>
                      <p:cNvPr id="22546" name="Object 10">
                        <a:extLst>
                          <a:ext uri="{FF2B5EF4-FFF2-40B4-BE49-F238E27FC236}">
                            <a16:creationId xmlns:a16="http://schemas.microsoft.com/office/drawing/2014/main" id="{81B7DBDD-0CF7-F034-FC41-C18895DCC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9174" y="4574488"/>
                        <a:ext cx="558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9">
            <a:extLst>
              <a:ext uri="{FF2B5EF4-FFF2-40B4-BE49-F238E27FC236}">
                <a16:creationId xmlns:a16="http://schemas.microsoft.com/office/drawing/2014/main" id="{D2A55B41-D53F-DEF2-CE81-562C2AEE6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57" y="5652892"/>
            <a:ext cx="46085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故当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</a:t>
            </a: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33" name="Text Box 14">
            <a:extLst>
              <a:ext uri="{FF2B5EF4-FFF2-40B4-BE49-F238E27FC236}">
                <a16:creationId xmlns:a16="http://schemas.microsoft.com/office/drawing/2014/main" id="{11C39045-3A7D-6602-A0E0-4053BBBD2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9145" y="5652892"/>
            <a:ext cx="46085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/>
              </a:rPr>
              <a:t>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F1DBF2A0-52BC-4542-91CB-D41FE1A4E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99575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2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75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24" grpId="0"/>
      <p:bldP spid="32" grpId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>
            <a:extLst>
              <a:ext uri="{FF2B5EF4-FFF2-40B4-BE49-F238E27FC236}">
                <a16:creationId xmlns:a16="http://schemas.microsoft.com/office/drawing/2014/main" id="{145CB840-8004-AB9C-2496-7E6535D04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959" y="4756205"/>
            <a:ext cx="467255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BBBD18A-3A2D-84B9-9C3C-6C813DD30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1" y="650489"/>
            <a:ext cx="3816424" cy="5238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3.11</a:t>
            </a:r>
            <a:r>
              <a:rPr lang="en-US" altLang="zh-CN" b="1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判断向量组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82645B7E-115B-523F-881D-5BC6788DA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04" y="2675598"/>
            <a:ext cx="383751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常数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 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27DF6EDB-2E67-15F0-7F6A-BB44BC24B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4035480"/>
            <a:ext cx="129614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  <a:endParaRPr lang="en-US" altLang="zh-CN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1BC92EBF-AE82-8516-7681-8E9BFA524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05" y="1978989"/>
            <a:ext cx="84460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的线性相关性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如果线性相关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求出不全为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的一组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8048095B-97BD-B2B2-16B3-D15DC8C6B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03" y="4756205"/>
            <a:ext cx="412554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/>
              </a:rPr>
              <a:t>)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6C53FC2E-3D8D-1315-AA9E-6CD8C7E05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04" y="5475343"/>
            <a:ext cx="5849161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行变换将其化为行阶梯形矩阵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5627F2B2-D9CA-1FC0-810B-080809AC00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66223"/>
              </p:ext>
            </p:extLst>
          </p:nvPr>
        </p:nvGraphicFramePr>
        <p:xfrm>
          <a:off x="709119" y="1277304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14600" imgH="507960" progId="Equation.DSMT4">
                  <p:embed/>
                </p:oleObj>
              </mc:Choice>
              <mc:Fallback>
                <p:oleObj name="Equation" r:id="rId2" imgW="2514600" imgH="50796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A544B2A9-44C6-1CD7-E289-38EEC6029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19" y="1277304"/>
                        <a:ext cx="2514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4390F6A6-9F9E-079B-24D4-258DF9AFE8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732553"/>
              </p:ext>
            </p:extLst>
          </p:nvPr>
        </p:nvGraphicFramePr>
        <p:xfrm>
          <a:off x="3339904" y="1270452"/>
          <a:ext cx="2349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49360" imgH="507960" progId="Equation.DSMT4">
                  <p:embed/>
                </p:oleObj>
              </mc:Choice>
              <mc:Fallback>
                <p:oleObj name="Equation" r:id="rId4" imgW="2349360" imgH="50796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A544B2A9-44C6-1CD7-E289-38EEC6029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9904" y="1270452"/>
                        <a:ext cx="2349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7">
            <a:extLst>
              <a:ext uri="{FF2B5EF4-FFF2-40B4-BE49-F238E27FC236}">
                <a16:creationId xmlns:a16="http://schemas.microsoft.com/office/drawing/2014/main" id="{54CDC68F-BB51-F325-BDA8-F57A1FBC9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072005"/>
              </p:ext>
            </p:extLst>
          </p:nvPr>
        </p:nvGraphicFramePr>
        <p:xfrm>
          <a:off x="5788789" y="1270452"/>
          <a:ext cx="2438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38280" imgH="507960" progId="Equation.DSMT4">
                  <p:embed/>
                </p:oleObj>
              </mc:Choice>
              <mc:Fallback>
                <p:oleObj name="Equation" r:id="rId6" imgW="2438280" imgH="50796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A544B2A9-44C6-1CD7-E289-38EEC60293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8789" y="1270452"/>
                        <a:ext cx="2438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5">
            <a:extLst>
              <a:ext uri="{FF2B5EF4-FFF2-40B4-BE49-F238E27FC236}">
                <a16:creationId xmlns:a16="http://schemas.microsoft.com/office/drawing/2014/main" id="{C646F212-FE9D-3656-DA03-28C7EAE88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59" y="3429000"/>
            <a:ext cx="4320481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0.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4D5F651A-BB93-4A90-9010-0CA702717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46520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7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5" grpId="0"/>
      <p:bldP spid="3" grpId="0"/>
      <p:bldP spid="13" grpId="0"/>
      <p:bldP spid="16" grpId="0"/>
      <p:bldP spid="18" grpId="0"/>
      <p:bldP spid="19" grpId="0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11">
            <a:extLst>
              <a:ext uri="{FF2B5EF4-FFF2-40B4-BE49-F238E27FC236}">
                <a16:creationId xmlns:a16="http://schemas.microsoft.com/office/drawing/2014/main" id="{65CC4B78-4879-B868-ECA4-20950AE44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414451"/>
              </p:ext>
            </p:extLst>
          </p:nvPr>
        </p:nvGraphicFramePr>
        <p:xfrm>
          <a:off x="1407095" y="836712"/>
          <a:ext cx="26162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120" imgH="2070000" progId="Equation.DSMT4">
                  <p:embed/>
                </p:oleObj>
              </mc:Choice>
              <mc:Fallback>
                <p:oleObj name="Equation" r:id="rId2" imgW="2616120" imgH="2070000" progId="Equation.DSMT4">
                  <p:embed/>
                  <p:pic>
                    <p:nvPicPr>
                      <p:cNvPr id="6" name="Object 11">
                        <a:extLst>
                          <a:ext uri="{FF2B5EF4-FFF2-40B4-BE49-F238E27FC236}">
                            <a16:creationId xmlns:a16="http://schemas.microsoft.com/office/drawing/2014/main" id="{65CC4B78-4879-B868-ECA4-20950AE44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095" y="836712"/>
                        <a:ext cx="26162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454131DC-E883-EF7E-46AA-B48424B709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1977932"/>
              </p:ext>
            </p:extLst>
          </p:nvPr>
        </p:nvGraphicFramePr>
        <p:xfrm>
          <a:off x="4888466" y="854547"/>
          <a:ext cx="20828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800" imgH="2070100" progId="Equation.DSMT4">
                  <p:embed/>
                </p:oleObj>
              </mc:Choice>
              <mc:Fallback>
                <p:oleObj name="Equation" r:id="rId4" imgW="2082800" imgH="2070100" progId="Equation.DSMT4">
                  <p:embed/>
                  <p:pic>
                    <p:nvPicPr>
                      <p:cNvPr id="11" name="Object 6">
                        <a:extLst>
                          <a:ext uri="{FF2B5EF4-FFF2-40B4-BE49-F238E27FC236}">
                            <a16:creationId xmlns:a16="http://schemas.microsoft.com/office/drawing/2014/main" id="{454131DC-E883-EF7E-46AA-B48424B709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8466" y="854547"/>
                        <a:ext cx="20828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3">
            <a:extLst>
              <a:ext uri="{FF2B5EF4-FFF2-40B4-BE49-F238E27FC236}">
                <a16:creationId xmlns:a16="http://schemas.microsoft.com/office/drawing/2014/main" id="{B9F2B01A-1C15-DB99-3B8C-90256A68E5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44196"/>
              </p:ext>
            </p:extLst>
          </p:nvPr>
        </p:nvGraphicFramePr>
        <p:xfrm>
          <a:off x="4051068" y="1358578"/>
          <a:ext cx="809625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09480" imgH="799920" progId="Equation.DSMT4">
                  <p:embed/>
                </p:oleObj>
              </mc:Choice>
              <mc:Fallback>
                <p:oleObj name="Equation" r:id="rId6" imgW="609480" imgH="79992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B9F2B01A-1C15-DB99-3B8C-90256A68E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068" y="1358578"/>
                        <a:ext cx="809625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3">
            <a:extLst>
              <a:ext uri="{FF2B5EF4-FFF2-40B4-BE49-F238E27FC236}">
                <a16:creationId xmlns:a16="http://schemas.microsoft.com/office/drawing/2014/main" id="{8241B98C-B0BF-D35A-6135-A64D1A9995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156035"/>
              </p:ext>
            </p:extLst>
          </p:nvPr>
        </p:nvGraphicFramePr>
        <p:xfrm>
          <a:off x="1075952" y="3663419"/>
          <a:ext cx="827088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863280" progId="Equation.DSMT4">
                  <p:embed/>
                </p:oleObj>
              </mc:Choice>
              <mc:Fallback>
                <p:oleObj name="Equation" r:id="rId8" imgW="622080" imgH="86328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B9F2B01A-1C15-DB99-3B8C-90256A68E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952" y="3663419"/>
                        <a:ext cx="827088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>
            <a:extLst>
              <a:ext uri="{FF2B5EF4-FFF2-40B4-BE49-F238E27FC236}">
                <a16:creationId xmlns:a16="http://schemas.microsoft.com/office/drawing/2014/main" id="{A5FF8F56-BE5D-DCAA-D7B7-1CDF315DE6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3950203"/>
              </p:ext>
            </p:extLst>
          </p:nvPr>
        </p:nvGraphicFramePr>
        <p:xfrm>
          <a:off x="1983159" y="3201614"/>
          <a:ext cx="18923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92300" imgH="2070100" progId="Equation.DSMT4">
                  <p:embed/>
                </p:oleObj>
              </mc:Choice>
              <mc:Fallback>
                <p:oleObj name="Equation" r:id="rId10" imgW="1892300" imgH="2070100" progId="Equation.DSMT4">
                  <p:embed/>
                  <p:pic>
                    <p:nvPicPr>
                      <p:cNvPr id="27" name="Object 11">
                        <a:extLst>
                          <a:ext uri="{FF2B5EF4-FFF2-40B4-BE49-F238E27FC236}">
                            <a16:creationId xmlns:a16="http://schemas.microsoft.com/office/drawing/2014/main" id="{3670E059-BBC2-1EA5-9462-2BA151F49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159" y="3201614"/>
                        <a:ext cx="18923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8">
            <a:extLst>
              <a:ext uri="{FF2B5EF4-FFF2-40B4-BE49-F238E27FC236}">
                <a16:creationId xmlns:a16="http://schemas.microsoft.com/office/drawing/2014/main" id="{F9FA6502-FE48-F022-D62C-0B085A2C3B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310474"/>
              </p:ext>
            </p:extLst>
          </p:nvPr>
        </p:nvGraphicFramePr>
        <p:xfrm>
          <a:off x="4860693" y="3201614"/>
          <a:ext cx="18923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92300" imgH="2070100" progId="Equation.DSMT4">
                  <p:embed/>
                </p:oleObj>
              </mc:Choice>
              <mc:Fallback>
                <p:oleObj name="Equation" r:id="rId12" imgW="1892300" imgH="2070100" progId="Equation.DSMT4">
                  <p:embed/>
                  <p:pic>
                    <p:nvPicPr>
                      <p:cNvPr id="34" name="Object 8">
                        <a:extLst>
                          <a:ext uri="{FF2B5EF4-FFF2-40B4-BE49-F238E27FC236}">
                            <a16:creationId xmlns:a16="http://schemas.microsoft.com/office/drawing/2014/main" id="{08F2B5CB-7668-4EE9-38F3-5D74E88D06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693" y="3201614"/>
                        <a:ext cx="1892300" cy="207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22">
            <a:extLst>
              <a:ext uri="{FF2B5EF4-FFF2-40B4-BE49-F238E27FC236}">
                <a16:creationId xmlns:a16="http://schemas.microsoft.com/office/drawing/2014/main" id="{0AFECD3D-A057-B560-925B-76BE1CD66B8C}"/>
              </a:ext>
            </a:extLst>
          </p:cNvPr>
          <p:cNvGrpSpPr>
            <a:grpSpLocks/>
          </p:cNvGrpSpPr>
          <p:nvPr/>
        </p:nvGrpSpPr>
        <p:grpSpPr bwMode="auto">
          <a:xfrm>
            <a:off x="5071165" y="3640101"/>
            <a:ext cx="1527969" cy="503237"/>
            <a:chOff x="1937159" y="5157192"/>
            <a:chExt cx="1986769" cy="504056"/>
          </a:xfrm>
        </p:grpSpPr>
        <p:cxnSp>
          <p:nvCxnSpPr>
            <p:cNvPr id="19" name="直接连接符 17">
              <a:extLst>
                <a:ext uri="{FF2B5EF4-FFF2-40B4-BE49-F238E27FC236}">
                  <a16:creationId xmlns:a16="http://schemas.microsoft.com/office/drawing/2014/main" id="{2FE38042-B11D-087E-1CB0-6722D16500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37159" y="5157192"/>
              <a:ext cx="546609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连接符 19">
              <a:extLst>
                <a:ext uri="{FF2B5EF4-FFF2-40B4-BE49-F238E27FC236}">
                  <a16:creationId xmlns:a16="http://schemas.microsoft.com/office/drawing/2014/main" id="{31D1F4AC-27F7-22D7-51D2-D704A28020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3768" y="5157192"/>
              <a:ext cx="0" cy="504056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直接连接符 21">
              <a:extLst>
                <a:ext uri="{FF2B5EF4-FFF2-40B4-BE49-F238E27FC236}">
                  <a16:creationId xmlns:a16="http://schemas.microsoft.com/office/drawing/2014/main" id="{A97BA2EE-F341-87C4-C1F7-9166CAEE3A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3768" y="5661248"/>
              <a:ext cx="1440160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8" name="Object 23">
            <a:extLst>
              <a:ext uri="{FF2B5EF4-FFF2-40B4-BE49-F238E27FC236}">
                <a16:creationId xmlns:a16="http://schemas.microsoft.com/office/drawing/2014/main" id="{74298A86-AD5D-336D-62A4-83BB1C8362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524527"/>
              </p:ext>
            </p:extLst>
          </p:nvPr>
        </p:nvGraphicFramePr>
        <p:xfrm>
          <a:off x="3916266" y="3682651"/>
          <a:ext cx="8255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2080" imgH="863280" progId="Equation.DSMT4">
                  <p:embed/>
                </p:oleObj>
              </mc:Choice>
              <mc:Fallback>
                <p:oleObj name="Equation" r:id="rId14" imgW="622080" imgH="863280" progId="Equation.DSMT4">
                  <p:embed/>
                  <p:pic>
                    <p:nvPicPr>
                      <p:cNvPr id="47" name="Object 23">
                        <a:extLst>
                          <a:ext uri="{FF2B5EF4-FFF2-40B4-BE49-F238E27FC236}">
                            <a16:creationId xmlns:a16="http://schemas.microsoft.com/office/drawing/2014/main" id="{693A6456-D954-1637-32E8-F5064C20AC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6266" y="3682651"/>
                        <a:ext cx="8255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4">
            <a:extLst>
              <a:ext uri="{FF2B5EF4-FFF2-40B4-BE49-F238E27FC236}">
                <a16:creationId xmlns:a16="http://schemas.microsoft.com/office/drawing/2014/main" id="{23D90243-5B5B-F616-2645-FDDF9B388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48" y="5425547"/>
            <a:ext cx="40354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由此可见</a:t>
            </a:r>
            <a:r>
              <a:rPr lang="zh-CN" altLang="en-US" sz="16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&lt;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3,</a:t>
            </a:r>
          </a:p>
        </p:txBody>
      </p:sp>
      <p:sp>
        <p:nvSpPr>
          <p:cNvPr id="33" name="Text Box 36">
            <a:extLst>
              <a:ext uri="{FF2B5EF4-FFF2-40B4-BE49-F238E27FC236}">
                <a16:creationId xmlns:a16="http://schemas.microsoft.com/office/drawing/2014/main" id="{B63B1294-0257-E50E-4AFA-C58D1FC2E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5408" y="5425547"/>
            <a:ext cx="49320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故向量组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8" name="Rectangle 30">
            <a:extLst>
              <a:ext uri="{FF2B5EF4-FFF2-40B4-BE49-F238E27FC236}">
                <a16:creationId xmlns:a16="http://schemas.microsoft.com/office/drawing/2014/main" id="{4727C574-3919-491F-BC9A-5F90B9F54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41604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5">
            <a:extLst>
              <a:ext uri="{FF2B5EF4-FFF2-40B4-BE49-F238E27FC236}">
                <a16:creationId xmlns:a16="http://schemas.microsoft.com/office/drawing/2014/main" id="{D3D1F0AA-92BE-66A3-9AB3-CFBC09732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538" y="692696"/>
            <a:ext cx="13668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使得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itchFamily="18" charset="2"/>
            </a:endParaRPr>
          </a:p>
        </p:txBody>
      </p:sp>
      <p:sp>
        <p:nvSpPr>
          <p:cNvPr id="56" name="Text Box 9">
            <a:extLst>
              <a:ext uri="{FF2B5EF4-FFF2-40B4-BE49-F238E27FC236}">
                <a16:creationId xmlns:a16="http://schemas.microsoft.com/office/drawing/2014/main" id="{C1EC7C1D-554F-644A-C0C7-3BB6424B2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648176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为了求出不全为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的一组数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57" name="Text Box 5">
            <a:extLst>
              <a:ext uri="{FF2B5EF4-FFF2-40B4-BE49-F238E27FC236}">
                <a16:creationId xmlns:a16="http://schemas.microsoft.com/office/drawing/2014/main" id="{0A3C7185-1FE1-AC4B-C9F4-DB6717177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339" y="1344391"/>
            <a:ext cx="40322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0.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59" name="Text Box 5">
            <a:extLst>
              <a:ext uri="{FF2B5EF4-FFF2-40B4-BE49-F238E27FC236}">
                <a16:creationId xmlns:a16="http://schemas.microsoft.com/office/drawing/2014/main" id="{DB2DA609-B0DA-3A66-50A0-0E7A6EBFC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111" y="2018703"/>
            <a:ext cx="822954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即求齐次线性方程组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的一组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60" name="Text Box 9">
            <a:extLst>
              <a:ext uri="{FF2B5EF4-FFF2-40B4-BE49-F238E27FC236}">
                <a16:creationId xmlns:a16="http://schemas.microsoft.com/office/drawing/2014/main" id="{87E5E905-507E-6A30-CFB6-9F3022349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29" y="3371277"/>
            <a:ext cx="22320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简形矩阵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61" name="Text Box 9">
            <a:extLst>
              <a:ext uri="{FF2B5EF4-FFF2-40B4-BE49-F238E27FC236}">
                <a16:creationId xmlns:a16="http://schemas.microsoft.com/office/drawing/2014/main" id="{3EAD903D-1F94-F8D4-B792-D8266F8E2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664" y="2685291"/>
            <a:ext cx="66278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继续对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A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施行初等行变换将其化成行最</a:t>
            </a:r>
          </a:p>
        </p:txBody>
      </p:sp>
      <p:sp>
        <p:nvSpPr>
          <p:cNvPr id="62" name="Text Box 5">
            <a:extLst>
              <a:ext uri="{FF2B5EF4-FFF2-40B4-BE49-F238E27FC236}">
                <a16:creationId xmlns:a16="http://schemas.microsoft.com/office/drawing/2014/main" id="{DB5A68DB-7817-F6E3-8C3A-9AF7FF91E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2048" y="4677083"/>
            <a:ext cx="719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graphicFrame>
        <p:nvGraphicFramePr>
          <p:cNvPr id="63" name="Object 5">
            <a:extLst>
              <a:ext uri="{FF2B5EF4-FFF2-40B4-BE49-F238E27FC236}">
                <a16:creationId xmlns:a16="http://schemas.microsoft.com/office/drawing/2014/main" id="{BE5B3571-A6C3-9E0F-1D55-71210167EE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170643"/>
              </p:ext>
            </p:extLst>
          </p:nvPr>
        </p:nvGraphicFramePr>
        <p:xfrm>
          <a:off x="2962979" y="3744559"/>
          <a:ext cx="2082800" cy="250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800" imgH="2501900" progId="Equation.DSMT4">
                  <p:embed/>
                </p:oleObj>
              </mc:Choice>
              <mc:Fallback>
                <p:oleObj name="Equation" r:id="rId2" imgW="2082800" imgH="2501900" progId="Equation.DSMT4">
                  <p:embed/>
                  <p:pic>
                    <p:nvPicPr>
                      <p:cNvPr id="113669" name="Object 5">
                        <a:extLst>
                          <a:ext uri="{FF2B5EF4-FFF2-40B4-BE49-F238E27FC236}">
                            <a16:creationId xmlns:a16="http://schemas.microsoft.com/office/drawing/2014/main" id="{4946A256-BC04-107C-5DA5-B275290EE4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979" y="3744559"/>
                        <a:ext cx="2082800" cy="250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">
            <a:extLst>
              <a:ext uri="{FF2B5EF4-FFF2-40B4-BE49-F238E27FC236}">
                <a16:creationId xmlns:a16="http://schemas.microsoft.com/office/drawing/2014/main" id="{A4F47772-FD25-487E-4A72-368CB0F23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412597"/>
              </p:ext>
            </p:extLst>
          </p:nvPr>
        </p:nvGraphicFramePr>
        <p:xfrm>
          <a:off x="5665353" y="3528659"/>
          <a:ext cx="2006600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6600" imgH="2933700" progId="Equation.DSMT4">
                  <p:embed/>
                </p:oleObj>
              </mc:Choice>
              <mc:Fallback>
                <p:oleObj name="Equation" r:id="rId4" imgW="2006600" imgH="2933700" progId="Equation.DSMT4">
                  <p:embed/>
                  <p:pic>
                    <p:nvPicPr>
                      <p:cNvPr id="113671" name="Object 7">
                        <a:extLst>
                          <a:ext uri="{FF2B5EF4-FFF2-40B4-BE49-F238E27FC236}">
                            <a16:creationId xmlns:a16="http://schemas.microsoft.com/office/drawing/2014/main" id="{0A3A6A5A-C174-DCBA-D16E-58C63585EF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353" y="3528659"/>
                        <a:ext cx="2006600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" name="组合 22">
            <a:extLst>
              <a:ext uri="{FF2B5EF4-FFF2-40B4-BE49-F238E27FC236}">
                <a16:creationId xmlns:a16="http://schemas.microsoft.com/office/drawing/2014/main" id="{B4948E3E-351A-780A-8842-86C0F7C6AE31}"/>
              </a:ext>
            </a:extLst>
          </p:cNvPr>
          <p:cNvGrpSpPr>
            <a:grpSpLocks/>
          </p:cNvGrpSpPr>
          <p:nvPr/>
        </p:nvGrpSpPr>
        <p:grpSpPr bwMode="auto">
          <a:xfrm>
            <a:off x="5744728" y="4389939"/>
            <a:ext cx="1727200" cy="1004033"/>
            <a:chOff x="2051720" y="4959054"/>
            <a:chExt cx="1872208" cy="702194"/>
          </a:xfrm>
        </p:grpSpPr>
        <p:cxnSp>
          <p:nvCxnSpPr>
            <p:cNvPr id="73" name="直接连接符 17">
              <a:extLst>
                <a:ext uri="{FF2B5EF4-FFF2-40B4-BE49-F238E27FC236}">
                  <a16:creationId xmlns:a16="http://schemas.microsoft.com/office/drawing/2014/main" id="{2EE17386-4276-DF3E-7B7C-C02829CC18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1720" y="4969903"/>
              <a:ext cx="432048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4" name="直接连接符 19">
              <a:extLst>
                <a:ext uri="{FF2B5EF4-FFF2-40B4-BE49-F238E27FC236}">
                  <a16:creationId xmlns:a16="http://schemas.microsoft.com/office/drawing/2014/main" id="{892F4F35-E828-9A28-D7A8-4792CCB4BFA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3768" y="4959054"/>
              <a:ext cx="0" cy="702194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直接连接符 21">
              <a:extLst>
                <a:ext uri="{FF2B5EF4-FFF2-40B4-BE49-F238E27FC236}">
                  <a16:creationId xmlns:a16="http://schemas.microsoft.com/office/drawing/2014/main" id="{6FB08B36-CF1B-ECBB-D120-11C88BD0F6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3768" y="5661248"/>
              <a:ext cx="1440160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0" name="Text Box 5">
            <a:extLst>
              <a:ext uri="{FF2B5EF4-FFF2-40B4-BE49-F238E27FC236}">
                <a16:creationId xmlns:a16="http://schemas.microsoft.com/office/drawing/2014/main" id="{1D913986-47C8-712F-EFB8-9BBF6BD1E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419" y="2694223"/>
            <a:ext cx="174278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非零解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graphicFrame>
        <p:nvGraphicFramePr>
          <p:cNvPr id="81" name="Object 23">
            <a:extLst>
              <a:ext uri="{FF2B5EF4-FFF2-40B4-BE49-F238E27FC236}">
                <a16:creationId xmlns:a16="http://schemas.microsoft.com/office/drawing/2014/main" id="{A6395210-E149-E786-7918-E421816251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967783"/>
              </p:ext>
            </p:extLst>
          </p:nvPr>
        </p:nvGraphicFramePr>
        <p:xfrm>
          <a:off x="1981044" y="4389938"/>
          <a:ext cx="927100" cy="116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98400" imgH="876240" progId="Equation.DSMT4">
                  <p:embed/>
                </p:oleObj>
              </mc:Choice>
              <mc:Fallback>
                <p:oleObj name="Equation" r:id="rId6" imgW="698400" imgH="876240" progId="Equation.DSMT4">
                  <p:embed/>
                  <p:pic>
                    <p:nvPicPr>
                      <p:cNvPr id="28" name="Object 23">
                        <a:extLst>
                          <a:ext uri="{FF2B5EF4-FFF2-40B4-BE49-F238E27FC236}">
                            <a16:creationId xmlns:a16="http://schemas.microsoft.com/office/drawing/2014/main" id="{74298A86-AD5D-336D-62A4-83BB1C8362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044" y="4389938"/>
                        <a:ext cx="927100" cy="116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23">
            <a:extLst>
              <a:ext uri="{FF2B5EF4-FFF2-40B4-BE49-F238E27FC236}">
                <a16:creationId xmlns:a16="http://schemas.microsoft.com/office/drawing/2014/main" id="{B9A4B790-6FCB-8143-DE09-B2167EC18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163882"/>
              </p:ext>
            </p:extLst>
          </p:nvPr>
        </p:nvGraphicFramePr>
        <p:xfrm>
          <a:off x="4938278" y="4464490"/>
          <a:ext cx="674687" cy="106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7960" imgH="799920" progId="Equation.DSMT4">
                  <p:embed/>
                </p:oleObj>
              </mc:Choice>
              <mc:Fallback>
                <p:oleObj name="Equation" r:id="rId8" imgW="507960" imgH="799920" progId="Equation.DSMT4">
                  <p:embed/>
                  <p:pic>
                    <p:nvPicPr>
                      <p:cNvPr id="12" name="Object 23">
                        <a:extLst>
                          <a:ext uri="{FF2B5EF4-FFF2-40B4-BE49-F238E27FC236}">
                            <a16:creationId xmlns:a16="http://schemas.microsoft.com/office/drawing/2014/main" id="{B9F2B01A-1C15-DB99-3B8C-90256A68E5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278" y="4464490"/>
                        <a:ext cx="674687" cy="106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0">
            <a:extLst>
              <a:ext uri="{FF2B5EF4-FFF2-40B4-BE49-F238E27FC236}">
                <a16:creationId xmlns:a16="http://schemas.microsoft.com/office/drawing/2014/main" id="{FAAFD17B-4EB3-44C1-B137-D23AC4FC4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73439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57" grpId="1"/>
      <p:bldP spid="59" grpId="0"/>
      <p:bldP spid="60" grpId="0"/>
      <p:bldP spid="61" grpId="0"/>
      <p:bldP spid="62" grpId="0"/>
      <p:bldP spid="8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7">
            <a:extLst>
              <a:ext uri="{FF2B5EF4-FFF2-40B4-BE49-F238E27FC236}">
                <a16:creationId xmlns:a16="http://schemas.microsoft.com/office/drawing/2014/main" id="{994D231F-BC4E-9E21-B4F6-C1C80E79B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4" y="896475"/>
            <a:ext cx="88780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由上述行最简形矩阵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得此方程组同解的线性方程组为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graphicFrame>
        <p:nvGraphicFramePr>
          <p:cNvPr id="3" name="Object 14">
            <a:extLst>
              <a:ext uri="{FF2B5EF4-FFF2-40B4-BE49-F238E27FC236}">
                <a16:creationId xmlns:a16="http://schemas.microsoft.com/office/drawing/2014/main" id="{0388F3D5-505D-7FF6-862F-0FA3E5F0E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635208"/>
              </p:ext>
            </p:extLst>
          </p:nvPr>
        </p:nvGraphicFramePr>
        <p:xfrm>
          <a:off x="3619500" y="1601228"/>
          <a:ext cx="1905000" cy="18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63280" imgH="838080" progId="Equation.DSMT4">
                  <p:embed/>
                </p:oleObj>
              </mc:Choice>
              <mc:Fallback>
                <p:oleObj name="Equation" r:id="rId2" imgW="863280" imgH="838080" progId="Equation.DSMT4">
                  <p:embed/>
                  <p:pic>
                    <p:nvPicPr>
                      <p:cNvPr id="20" name="Object 14">
                        <a:extLst>
                          <a:ext uri="{FF2B5EF4-FFF2-40B4-BE49-F238E27FC236}">
                            <a16:creationId xmlns:a16="http://schemas.microsoft.com/office/drawing/2014/main" id="{65C59DB2-9953-D0AC-F6C5-12A626F99A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1601228"/>
                        <a:ext cx="1905000" cy="18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9">
            <a:extLst>
              <a:ext uri="{FF2B5EF4-FFF2-40B4-BE49-F238E27FC236}">
                <a16:creationId xmlns:a16="http://schemas.microsoft.com/office/drawing/2014/main" id="{7DF4D6F0-4C0B-AD6F-28F7-ADBADF309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4" y="3717032"/>
            <a:ext cx="397031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其中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为自由未知量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A72C8E37-8008-4EC7-61D5-BF98C77E5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3717032"/>
            <a:ext cx="201622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令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99FCCAC7-DD7F-DBBE-E85C-EA55A9511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4" y="4493106"/>
            <a:ext cx="50403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可得方程组的一组非零解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225BD4C5-B602-F4BE-855B-64C6C116C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3968" y="4501590"/>
            <a:ext cx="439261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7,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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x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AE7AC2A-53E6-10A3-627C-A505BF307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64" y="5284561"/>
            <a:ext cx="700586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  <a:sym typeface="Symbol" pitchFamily="18" charset="2"/>
              </a:rPr>
              <a:t>故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cs typeface="Times New Roman" pitchFamily="18" charset="0"/>
                <a:sym typeface="Symbol" pitchFamily="18" charset="2"/>
              </a:rPr>
              <a:t>            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7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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cs typeface="Times New Roman" pitchFamily="18" charset="0"/>
                <a:sym typeface="Symbol" pitchFamily="18" charset="2"/>
              </a:rPr>
              <a:t>+ 3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 = 0.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itchFamily="18" charset="2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0E03C23B-1EF2-4B68-BC86-588B8CAAE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92714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4" grpId="0"/>
      <p:bldP spid="4" grpId="1"/>
      <p:bldP spid="5" grpId="0"/>
      <p:bldP spid="6" grpId="0"/>
      <p:bldP spid="7" grpId="0"/>
      <p:bldP spid="7" grpId="1"/>
      <p:bldP spid="8" grpId="0"/>
      <p:bldP spid="8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CBBF05A0-4E05-7240-0574-DFB008FDB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92696"/>
            <a:ext cx="6696744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3.12 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9FE85-5839-A503-9796-CBD9BC30A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311" y="2089590"/>
            <a:ext cx="609393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A0001-2514-34F4-FE6B-344E9C14B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680" y="1389031"/>
            <a:ext cx="58559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1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baseline="-25000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1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2C2A464-9C8D-CF01-6851-FB075C4D5D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2785925"/>
            <a:ext cx="367240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证法一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利用定义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81EDE0E3-1D09-AAEB-C0F1-ED0BCB4C1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99" y="2791015"/>
            <a:ext cx="165618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en-US" altLang="zh-CN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BC547FDC-DEEF-3F7B-B9FB-23C48ADCF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4190085"/>
            <a:ext cx="561662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3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0,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192A30-51D6-3633-8B23-6BACABF07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132" y="3493095"/>
            <a:ext cx="551787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设存在一组常数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使得</a:t>
            </a: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A4A8BF1F-14AF-E139-C098-9DC8A5A95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32" y="4886420"/>
            <a:ext cx="7704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charset="-122"/>
              </a:rPr>
              <a:t>  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0,</a:t>
            </a: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56390982-1188-63DF-3CC4-B6CA21626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581" y="5587392"/>
            <a:ext cx="7704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亦即</a:t>
            </a:r>
            <a:r>
              <a:rPr lang="zh-CN" altLang="en-US" b="1" dirty="0">
                <a:solidFill>
                  <a:schemeClr val="tx1"/>
                </a:solidFill>
                <a:ea typeface="宋体" charset="-122"/>
              </a:rPr>
              <a:t> 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0. </a:t>
            </a: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878C320F-62B2-4C84-AB68-A076D9193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49385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5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8" grpId="1"/>
      <p:bldP spid="9" grpId="0"/>
      <p:bldP spid="5" grpId="0" build="p" autoUpdateAnimBg="0"/>
      <p:bldP spid="6" grpId="0" build="p" autoUpdateAnimBg="0"/>
      <p:bldP spid="11" grpId="0" build="p" autoUpdateAnimBg="0"/>
      <p:bldP spid="12" grpId="0"/>
      <p:bldP spid="12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7">
            <a:extLst>
              <a:ext uri="{FF2B5EF4-FFF2-40B4-BE49-F238E27FC236}">
                <a16:creationId xmlns:a16="http://schemas.microsoft.com/office/drawing/2014/main" id="{BC1F22EE-248C-C5F3-5B39-7ABBED685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0688"/>
            <a:ext cx="45729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F50CA918-EFEB-96FA-6CB8-A1EF73D0D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9096" y="624795"/>
            <a:ext cx="151256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</a:p>
        </p:txBody>
      </p:sp>
      <p:sp>
        <p:nvSpPr>
          <p:cNvPr id="38" name="Text Box 5">
            <a:extLst>
              <a:ext uri="{FF2B5EF4-FFF2-40B4-BE49-F238E27FC236}">
                <a16:creationId xmlns:a16="http://schemas.microsoft.com/office/drawing/2014/main" id="{AC0AEB1D-CFB8-4272-B4D9-AF84B2864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951375"/>
            <a:ext cx="510899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因为此方程组的系数行列式</a:t>
            </a:r>
          </a:p>
        </p:txBody>
      </p:sp>
      <p:graphicFrame>
        <p:nvGraphicFramePr>
          <p:cNvPr id="39" name="Object 7">
            <a:extLst>
              <a:ext uri="{FF2B5EF4-FFF2-40B4-BE49-F238E27FC236}">
                <a16:creationId xmlns:a16="http://schemas.microsoft.com/office/drawing/2014/main" id="{AF60D3F4-CC3A-1015-4F3C-61ECA57C89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805075"/>
              </p:ext>
            </p:extLst>
          </p:nvPr>
        </p:nvGraphicFramePr>
        <p:xfrm>
          <a:off x="3550840" y="1205052"/>
          <a:ext cx="2035175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68480" imgH="1574640" progId="Equation.DSMT4">
                  <p:embed/>
                </p:oleObj>
              </mc:Choice>
              <mc:Fallback>
                <p:oleObj name="Equation" r:id="rId2" imgW="1968480" imgH="1574640" progId="Equation.DSMT4">
                  <p:embed/>
                  <p:pic>
                    <p:nvPicPr>
                      <p:cNvPr id="39" name="Object 7">
                        <a:extLst>
                          <a:ext uri="{FF2B5EF4-FFF2-40B4-BE49-F238E27FC236}">
                            <a16:creationId xmlns:a16="http://schemas.microsoft.com/office/drawing/2014/main" id="{AF60D3F4-CC3A-1015-4F3C-61ECA57C89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0840" y="1205052"/>
                        <a:ext cx="2035175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5">
            <a:extLst>
              <a:ext uri="{FF2B5EF4-FFF2-40B4-BE49-F238E27FC236}">
                <a16:creationId xmlns:a16="http://schemas.microsoft.com/office/drawing/2014/main" id="{817BE61A-0961-3426-27B4-C6908BA2AF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668825"/>
              </p:ext>
            </p:extLst>
          </p:nvPr>
        </p:nvGraphicFramePr>
        <p:xfrm>
          <a:off x="3668142" y="3559460"/>
          <a:ext cx="13335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57257" imgH="1495438" progId="Equation.DSMT4">
                  <p:embed/>
                </p:oleObj>
              </mc:Choice>
              <mc:Fallback>
                <p:oleObj name="Equation" r:id="rId4" imgW="1257257" imgH="1495438" progId="Equation.DSMT4">
                  <p:embed/>
                  <p:pic>
                    <p:nvPicPr>
                      <p:cNvPr id="40" name="Object 15">
                        <a:extLst>
                          <a:ext uri="{FF2B5EF4-FFF2-40B4-BE49-F238E27FC236}">
                            <a16:creationId xmlns:a16="http://schemas.microsoft.com/office/drawing/2014/main" id="{817BE61A-0961-3426-27B4-C6908BA2AF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142" y="3559460"/>
                        <a:ext cx="13335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6">
            <a:extLst>
              <a:ext uri="{FF2B5EF4-FFF2-40B4-BE49-F238E27FC236}">
                <a16:creationId xmlns:a16="http://schemas.microsoft.com/office/drawing/2014/main" id="{B03EB1A3-D7F7-CB8C-19EE-9AB95B3AA8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351541"/>
              </p:ext>
            </p:extLst>
          </p:nvPr>
        </p:nvGraphicFramePr>
        <p:xfrm>
          <a:off x="5039916" y="4135413"/>
          <a:ext cx="469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0398" imgH="314171" progId="Equation.DSMT4">
                  <p:embed/>
                </p:oleObj>
              </mc:Choice>
              <mc:Fallback>
                <p:oleObj name="Equation" r:id="rId6" imgW="390398" imgH="314171" progId="Equation.DSMT4">
                  <p:embed/>
                  <p:pic>
                    <p:nvPicPr>
                      <p:cNvPr id="41" name="Object 16">
                        <a:extLst>
                          <a:ext uri="{FF2B5EF4-FFF2-40B4-BE49-F238E27FC236}">
                            <a16:creationId xmlns:a16="http://schemas.microsoft.com/office/drawing/2014/main" id="{B03EB1A3-D7F7-CB8C-19EE-9AB95B3AA8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9916" y="4135413"/>
                        <a:ext cx="469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7">
            <a:extLst>
              <a:ext uri="{FF2B5EF4-FFF2-40B4-BE49-F238E27FC236}">
                <a16:creationId xmlns:a16="http://schemas.microsoft.com/office/drawing/2014/main" id="{2940842C-ECE5-993C-B0EC-667A395F06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537630"/>
              </p:ext>
            </p:extLst>
          </p:nvPr>
        </p:nvGraphicFramePr>
        <p:xfrm>
          <a:off x="5544567" y="4135722"/>
          <a:ext cx="596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24002" imgH="276289" progId="Equation.DSMT4">
                  <p:embed/>
                </p:oleObj>
              </mc:Choice>
              <mc:Fallback>
                <p:oleObj name="Equation" r:id="rId8" imgW="524002" imgH="276289" progId="Equation.DSMT4">
                  <p:embed/>
                  <p:pic>
                    <p:nvPicPr>
                      <p:cNvPr id="42" name="Object 17">
                        <a:extLst>
                          <a:ext uri="{FF2B5EF4-FFF2-40B4-BE49-F238E27FC236}">
                            <a16:creationId xmlns:a16="http://schemas.microsoft.com/office/drawing/2014/main" id="{2940842C-ECE5-993C-B0EC-667A395F0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567" y="4135722"/>
                        <a:ext cx="596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7">
            <a:extLst>
              <a:ext uri="{FF2B5EF4-FFF2-40B4-BE49-F238E27FC236}">
                <a16:creationId xmlns:a16="http://schemas.microsoft.com/office/drawing/2014/main" id="{AA5DA71C-8ACF-327B-DE13-4DA422831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312" y="5218852"/>
            <a:ext cx="712350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所以此方程组只有零解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0, 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8BA9F4C-5677-DB7C-5BF0-B5213A3BF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5828574"/>
            <a:ext cx="56880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D2DEF863-EA33-4238-9450-208027057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59898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7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75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/>
      <p:bldP spid="13" grpId="0" build="p" autoUpdateAnimBg="0"/>
      <p:bldP spid="38" grpId="0" build="p" autoUpdateAnimBg="0"/>
      <p:bldP spid="2" grpId="0" build="p" autoUpdateAnimBg="0"/>
      <p:bldP spid="3" grpId="0" build="p" autoUpdateAnimBg="0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Object 7">
            <a:extLst>
              <a:ext uri="{FF2B5EF4-FFF2-40B4-BE49-F238E27FC236}">
                <a16:creationId xmlns:a16="http://schemas.microsoft.com/office/drawing/2014/main" id="{AD20A9E5-0F29-FA8A-C047-65A92B0F0B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529330"/>
              </p:ext>
            </p:extLst>
          </p:nvPr>
        </p:nvGraphicFramePr>
        <p:xfrm>
          <a:off x="1878012" y="2182647"/>
          <a:ext cx="5387975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08560" imgH="1562040" progId="Equation.DSMT4">
                  <p:embed/>
                </p:oleObj>
              </mc:Choice>
              <mc:Fallback>
                <p:oleObj name="Equation" r:id="rId2" imgW="5308560" imgH="1562040" progId="Equation.DSMT4">
                  <p:embed/>
                  <p:pic>
                    <p:nvPicPr>
                      <p:cNvPr id="53" name="Object 7">
                        <a:extLst>
                          <a:ext uri="{FF2B5EF4-FFF2-40B4-BE49-F238E27FC236}">
                            <a16:creationId xmlns:a16="http://schemas.microsoft.com/office/drawing/2014/main" id="{AD20A9E5-0F29-FA8A-C047-65A92B0F0B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012" y="2182647"/>
                        <a:ext cx="5387975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4">
            <a:extLst>
              <a:ext uri="{FF2B5EF4-FFF2-40B4-BE49-F238E27FC236}">
                <a16:creationId xmlns:a16="http://schemas.microsoft.com/office/drawing/2014/main" id="{DAA2765A-AC94-75BD-851D-E648C9A7C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210" y="843795"/>
            <a:ext cx="569226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证法二  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利用矩阵的秩的性质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A8AC55D5-E312-A8D7-FCBA-74862280F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72" y="1519362"/>
            <a:ext cx="70739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把已知的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个向量等式写成一个矩阵等式</a:t>
            </a: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533C4BE7-96CE-95D5-75DF-6D28D73CB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318" y="3983783"/>
            <a:ext cx="2514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记作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AK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D1EF06C0-7BF9-9D0C-BFB5-B15FB1DB6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938" y="3977545"/>
            <a:ext cx="136903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其中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16E2A9E4-25C4-901E-99ED-E95181A56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2540"/>
              </p:ext>
            </p:extLst>
          </p:nvPr>
        </p:nvGraphicFramePr>
        <p:xfrm>
          <a:off x="5670071" y="4509133"/>
          <a:ext cx="2397125" cy="164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61960" imgH="1562040" progId="Equation.DSMT4">
                  <p:embed/>
                </p:oleObj>
              </mc:Choice>
              <mc:Fallback>
                <p:oleObj name="Equation" r:id="rId4" imgW="2361960" imgH="1562040" progId="Equation.DSMT4">
                  <p:embed/>
                  <p:pic>
                    <p:nvPicPr>
                      <p:cNvPr id="53" name="Object 7">
                        <a:extLst>
                          <a:ext uri="{FF2B5EF4-FFF2-40B4-BE49-F238E27FC236}">
                            <a16:creationId xmlns:a16="http://schemas.microsoft.com/office/drawing/2014/main" id="{AD20A9E5-0F29-FA8A-C047-65A92B0F0B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0071" y="4509133"/>
                        <a:ext cx="2397125" cy="164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4">
            <a:extLst>
              <a:ext uri="{FF2B5EF4-FFF2-40B4-BE49-F238E27FC236}">
                <a16:creationId xmlns:a16="http://schemas.microsoft.com/office/drawing/2014/main" id="{F0C2E4A3-5BEE-75E7-4AF6-F59742E1B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3009304"/>
              </p:ext>
            </p:extLst>
          </p:nvPr>
        </p:nvGraphicFramePr>
        <p:xfrm>
          <a:off x="1001496" y="5073674"/>
          <a:ext cx="465235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228600" progId="Equation.DSMT4">
                  <p:embed/>
                </p:oleObj>
              </mc:Choice>
              <mc:Fallback>
                <p:oleObj name="Equation" r:id="rId6" imgW="2044440" imgH="228600" progId="Equation.DSMT4">
                  <p:embed/>
                  <p:pic>
                    <p:nvPicPr>
                      <p:cNvPr id="3" name="Object 14">
                        <a:extLst>
                          <a:ext uri="{FF2B5EF4-FFF2-40B4-BE49-F238E27FC236}">
                            <a16:creationId xmlns:a16="http://schemas.microsoft.com/office/drawing/2014/main" id="{0388F3D5-505D-7FF6-862F-0FA3E5F0E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496" y="5073674"/>
                        <a:ext cx="4652353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0">
            <a:extLst>
              <a:ext uri="{FF2B5EF4-FFF2-40B4-BE49-F238E27FC236}">
                <a16:creationId xmlns:a16="http://schemas.microsoft.com/office/drawing/2014/main" id="{A6D9A8E1-0647-4E04-B5AE-731DA4AA0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470715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50"/>
                            </p:stCondLst>
                            <p:childTnLst>
                              <p:par>
                                <p:cTn id="14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2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 autoUpdateAnimBg="0"/>
      <p:bldP spid="4" grpId="0" build="p" autoUpdateAnimBg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9">
            <a:extLst>
              <a:ext uri="{FF2B5EF4-FFF2-40B4-BE49-F238E27FC236}">
                <a16:creationId xmlns:a16="http://schemas.microsoft.com/office/drawing/2014/main" id="{6425A8C1-3C5F-14A7-E2BA-8311BA1E6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104" y="2553125"/>
            <a:ext cx="3635896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3.10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B04D98F9-262C-A9F0-AE8B-C4D24339F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356" y="1095071"/>
            <a:ext cx="28955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|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|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zh-CN" sz="2000" b="1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sym typeface="Symbol" panose="05050102010706020507" pitchFamily="18" charset="2"/>
              </a:rPr>
              <a:t>0,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4BDA6887-A70C-CF4C-5886-D5CB942AC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769" y="1815796"/>
            <a:ext cx="359784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根据矩阵秩的性质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82BD27F5-D5A5-0C48-A38C-664FA09E9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1815796"/>
            <a:ext cx="300499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).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25A77868-D7D6-8FE3-7904-483B27CF4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8182" y="1095071"/>
            <a:ext cx="33845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所以矩阵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K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可逆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8659521C-273D-4001-2685-643696158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44" y="2553125"/>
            <a:ext cx="563023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又因为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的列向量组线性无关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CEF91128-88E5-1B0C-78DB-BD9517AE7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45" y="3272778"/>
            <a:ext cx="202983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chemeClr val="tx1"/>
                </a:solidFill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3,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255739ED-84EE-39BD-5609-1E6428A65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3272778"/>
            <a:ext cx="295232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3.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560EBD61-D850-64C9-5C4E-8B59AC750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268670"/>
            <a:ext cx="457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9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的列向量组线性无关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6F91CC28-979C-B3B8-504D-9BD616519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058804"/>
            <a:ext cx="5400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即向量组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750E21EB-5A2A-4ECD-B184-2A44DF59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752389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5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3" grpId="0" build="p" autoUpdateAnimBg="0"/>
      <p:bldP spid="4" grpId="0" build="p" autoUpdateAnimBg="0" advAuto="0"/>
      <p:bldP spid="5" grpId="0" build="p" autoUpdateAnimBg="0" advAuto="0"/>
      <p:bldP spid="6" grpId="0" build="p" autoUpdateAnimBg="0"/>
      <p:bldP spid="10" grpId="0" build="p" autoUpdateAnimBg="0"/>
      <p:bldP spid="11" grpId="0" build="p" autoUpdateAnimBg="0" advAuto="0"/>
      <p:bldP spid="14" grpId="0" build="p" autoUpdateAnimBg="0" advAuto="0"/>
      <p:bldP spid="15" grpId="0" build="p" autoUpdateAnimBg="0" advAuto="0"/>
      <p:bldP spid="16" grpId="0" build="p" autoUpdateAnimBg="0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51CC5866-9B65-7DAD-70A1-48D4046E6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913170"/>
            <a:ext cx="2335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方法评注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FD75DB44-E1AF-989B-31BB-1B5580A03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735134"/>
            <a:ext cx="839644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例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3.12</a:t>
            </a:r>
            <a:r>
              <a:rPr lang="en-US" altLang="zh-CN" sz="16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中给出了证明向量组线性相关性的两种常用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96CE61C5-059E-3AC0-CC28-3846C1982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1" y="2469116"/>
            <a:ext cx="78634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证法一和证法二是同一种方法的不同表述形式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9" name="矩形 4">
            <a:extLst>
              <a:ext uri="{FF2B5EF4-FFF2-40B4-BE49-F238E27FC236}">
                <a16:creationId xmlns:a16="http://schemas.microsoft.com/office/drawing/2014/main" id="{78B268B6-ACCF-138F-8B83-5A1B07FA7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82" y="2469116"/>
            <a:ext cx="1800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方法</a:t>
            </a:r>
            <a:r>
              <a:rPr lang="en-US" altLang="zh-CN" b="1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3D0BA1D3-EDCD-351A-E2F0-D20ED0958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83" y="3218980"/>
            <a:ext cx="87482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证法一利用了定义并结合了齐次线性方程组的解的相</a:t>
            </a:r>
            <a:endParaRPr lang="en-US" altLang="zh-CN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25" name="矩形 7">
            <a:extLst>
              <a:ext uri="{FF2B5EF4-FFF2-40B4-BE49-F238E27FC236}">
                <a16:creationId xmlns:a16="http://schemas.microsoft.com/office/drawing/2014/main" id="{7B7679D3-CF34-B162-22C5-2652A70FF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82" y="3962389"/>
            <a:ext cx="189329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关理论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6" name="矩形 8">
            <a:extLst>
              <a:ext uri="{FF2B5EF4-FFF2-40B4-BE49-F238E27FC236}">
                <a16:creationId xmlns:a16="http://schemas.microsoft.com/office/drawing/2014/main" id="{674B2D46-F964-3D06-41BE-B6A8721C5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680" y="3968844"/>
            <a:ext cx="74420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证法二利用了向量组的线性相关性的判别法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27" name="矩形 9">
            <a:extLst>
              <a:ext uri="{FF2B5EF4-FFF2-40B4-BE49-F238E27FC236}">
                <a16:creationId xmlns:a16="http://schemas.microsoft.com/office/drawing/2014/main" id="{49FCEBE3-1844-74DC-A5BC-E87535D35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71" y="4749174"/>
            <a:ext cx="580050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并结合了矩阵的秩的相关性质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6FC4032A-2928-4C41-A952-078A5D131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984438"/>
      </p:ext>
    </p:extLst>
  </p:cSld>
  <p:clrMapOvr>
    <a:masterClrMapping/>
  </p:clrMapOvr>
  <p:transition spd="slow">
    <p:split orient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01314026-A61B-3315-C2AF-142F76615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26" y="1053164"/>
            <a:ext cx="192901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思考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4A4A8263-4401-53B7-81AE-5285FEA41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053098"/>
            <a:ext cx="564540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若例</a:t>
            </a:r>
            <a:r>
              <a:rPr lang="zh-CN" altLang="en-US" sz="2000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3.12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中出现的项是偶数项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C112FAE5-4E2B-85BA-A69E-BF40DF77D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248" y="1051044"/>
            <a:ext cx="213797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问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向量组</a:t>
            </a:r>
            <a:endParaRPr lang="en-US" altLang="zh-CN" b="1" i="1" dirty="0">
              <a:solidFill>
                <a:srgbClr val="0000FF"/>
              </a:solidFill>
              <a:ea typeface="宋体" charset="-122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44D0C39C-A814-FB2B-8C7F-3F18E9B96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67" y="1804869"/>
            <a:ext cx="84543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baseline="-25000" dirty="0">
                <a:solidFill>
                  <a:srgbClr val="0000FF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…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宋体" charset="-122"/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sym typeface="Symbol" panose="05050102010706020507" pitchFamily="18" charset="2"/>
              </a:rPr>
              <a:t></a:t>
            </a:r>
            <a:r>
              <a:rPr lang="en-US" altLang="zh-CN" b="1" i="1" baseline="-25000" dirty="0">
                <a:solidFill>
                  <a:srgbClr val="0000FF"/>
                </a:solidFill>
                <a:ea typeface="宋体" charset="-122"/>
              </a:rPr>
              <a:t>n  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为偶数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线性相关还是线性无关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?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F033904E-0681-4DF2-AEE9-282E6F1F7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91"/>
            <a:ext cx="6426143" cy="4924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向量组线性相关性的判别法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74159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25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build="p" autoUpdateAnimBg="0" advAuto="0"/>
      <p:bldP spid="6" grpId="0" build="p" autoUpdateAnimBg="0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12">
            <a:extLst>
              <a:ext uri="{FF2B5EF4-FFF2-40B4-BE49-F238E27FC236}">
                <a16:creationId xmlns:a16="http://schemas.microsoft.com/office/drawing/2014/main" id="{B726EC41-B665-29B5-3246-52744DD94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166" y="2834581"/>
            <a:ext cx="485347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443CFFCD-85E9-D9DF-74D4-F92EB8B7A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889" y="2171154"/>
            <a:ext cx="485347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(1)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如果向量组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sz="2000" b="1" i="1" dirty="0">
                <a:solidFill>
                  <a:srgbClr val="0000FF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65BCAFFA-C778-4023-B96C-04D3B8A73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" y="-12526"/>
            <a:ext cx="833766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有关向量组的线性相关性的几个重要结论</a:t>
            </a:r>
            <a:endParaRPr lang="zh-CN" altLang="en-US" sz="26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F7203E7F-8748-89E2-4DD7-0C2EFFD87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872" y="822131"/>
            <a:ext cx="216024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3.11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4B7F80AA-147C-E805-59CE-81E17033D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8057" y="822131"/>
            <a:ext cx="6120680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: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r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是向量组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417556F-EEB8-7A93-197E-D853F510A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0304" y="2171154"/>
            <a:ext cx="428396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18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也线性相关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;</a:t>
            </a:r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0B366042-3126-CC70-1F14-E15124292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26" y="1506359"/>
            <a:ext cx="540059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rgbClr val="0000FF"/>
                </a:solidFill>
                <a:ea typeface="宋体" charset="-122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宋体" charset="-122"/>
              </a:rPr>
              <a:t>: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1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</a:rPr>
              <a:t>2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0000FF"/>
                </a:solidFill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</a:rPr>
              <a:t>m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的一个部分组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26" name="Rectangle 40">
            <a:extLst>
              <a:ext uri="{FF2B5EF4-FFF2-40B4-BE49-F238E27FC236}">
                <a16:creationId xmlns:a16="http://schemas.microsoft.com/office/drawing/2014/main" id="{40D21520-0FC6-EA79-4D70-EBCC9559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0304" y="2851359"/>
            <a:ext cx="432048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1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800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也线性无关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9A01EAB8-C882-BB22-6746-DE93F365E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872" y="3531564"/>
            <a:ext cx="122413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en-US" altLang="zh-CN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Rectangle 6">
            <a:extLst>
              <a:ext uri="{FF2B5EF4-FFF2-40B4-BE49-F238E27FC236}">
                <a16:creationId xmlns:a16="http://schemas.microsoft.com/office/drawing/2014/main" id="{47529533-1000-530F-3DC9-A5551C36E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89" y="4228547"/>
            <a:ext cx="705386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(1)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: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r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 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38" name="Text Box 7">
            <a:extLst>
              <a:ext uri="{FF2B5EF4-FFF2-40B4-BE49-F238E27FC236}">
                <a16:creationId xmlns:a16="http://schemas.microsoft.com/office/drawing/2014/main" id="{EECC9E04-CCF3-1FEB-818E-55753D6C6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4675" y="4231922"/>
            <a:ext cx="221338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所以存在</a:t>
            </a:r>
          </a:p>
        </p:txBody>
      </p:sp>
      <p:sp>
        <p:nvSpPr>
          <p:cNvPr id="39" name="Text Box 4">
            <a:extLst>
              <a:ext uri="{FF2B5EF4-FFF2-40B4-BE49-F238E27FC236}">
                <a16:creationId xmlns:a16="http://schemas.microsoft.com/office/drawing/2014/main" id="{10FCDED0-8B9F-7A9A-6C0C-289D232A5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951" y="5655601"/>
            <a:ext cx="431756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r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0,</a:t>
            </a:r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B89E1152-AE41-3038-8578-635FA42D7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890" y="4941876"/>
            <a:ext cx="5829729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不全为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的常数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sz="2000" b="1" i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使得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2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7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 autoUpdateAnimBg="0"/>
      <p:bldP spid="23" grpId="0" build="p" autoUpdateAnimBg="0"/>
      <p:bldP spid="2" grpId="0"/>
      <p:bldP spid="3" grpId="0"/>
      <p:bldP spid="5" grpId="0" build="p" autoUpdateAnimBg="0" advAuto="0"/>
      <p:bldP spid="8" grpId="0" build="p" autoUpdateAnimBg="0"/>
      <p:bldP spid="26" grpId="0" build="p" autoUpdateAnimBg="0" advAuto="0"/>
      <p:bldP spid="28" grpId="0"/>
      <p:bldP spid="30" grpId="0"/>
      <p:bldP spid="38" grpId="0" build="p" autoUpdateAnimBg="0"/>
      <p:bldP spid="39" grpId="0" build="p" autoUpdateAnimBg="0"/>
      <p:bldP spid="40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6D1895DB-A569-0CE0-D4D3-DF74F3623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926649"/>
            <a:ext cx="151216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从而</a:t>
            </a:r>
            <a:endParaRPr lang="zh-CN" altLang="en-US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Times New Roman" pitchFamily="18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1B374F1-4AA2-1755-D6D7-3E68A92C5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8" y="2467279"/>
            <a:ext cx="78681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  <a:ea typeface="宋体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宋体" charset="-122"/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  <a:ea typeface="宋体" charset="-122"/>
              </a:rPr>
              <a:t>r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0,…,</a:t>
            </a:r>
            <a:r>
              <a:rPr lang="en-US" altLang="zh-CN" sz="2000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个常数不全为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</a:rPr>
              <a:t>,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B94EF07-B43D-69EC-70A6-F0E844BB7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8" y="1694194"/>
            <a:ext cx="752744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1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k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</a:rPr>
              <a:t>2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 </a:t>
            </a:r>
            <a:r>
              <a:rPr lang="en-US" altLang="zh-CN" b="1" i="1" dirty="0" err="1">
                <a:solidFill>
                  <a:schemeClr val="tx1"/>
                </a:solidFill>
              </a:rPr>
              <a:t>k</a:t>
            </a:r>
            <a:r>
              <a:rPr lang="en-US" altLang="zh-CN" b="1" i="1" baseline="-25000" dirty="0" err="1">
                <a:solidFill>
                  <a:schemeClr val="tx1"/>
                </a:solidFill>
              </a:rPr>
              <a:t>r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r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+ 0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r</a:t>
            </a:r>
            <a:r>
              <a:rPr lang="en-US" altLang="zh-CN" b="1" baseline="-25000" dirty="0">
                <a:solidFill>
                  <a:schemeClr val="tx1"/>
                </a:solidFill>
              </a:rPr>
              <a:t>+1 </a:t>
            </a:r>
            <a:r>
              <a:rPr lang="en-US" altLang="zh-CN" b="1" dirty="0">
                <a:solidFill>
                  <a:schemeClr val="tx1"/>
                </a:solidFill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+ 0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0. </a:t>
            </a:r>
            <a:r>
              <a:rPr lang="en-US" altLang="zh-CN" b="1" i="1" baseline="-25000" dirty="0">
                <a:solidFill>
                  <a:schemeClr val="tx1"/>
                </a:solidFill>
              </a:rPr>
              <a:t> 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9" name="Rectangle 40">
            <a:extLst>
              <a:ext uri="{FF2B5EF4-FFF2-40B4-BE49-F238E27FC236}">
                <a16:creationId xmlns:a16="http://schemas.microsoft.com/office/drawing/2014/main" id="{EDDB5FDD-5614-9F6C-3EF6-9FEE5CF33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280" y="3240036"/>
            <a:ext cx="469982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1" name="Text Box 12">
            <a:extLst>
              <a:ext uri="{FF2B5EF4-FFF2-40B4-BE49-F238E27FC236}">
                <a16:creationId xmlns:a16="http://schemas.microsoft.com/office/drawing/2014/main" id="{18F15E74-6A10-0E42-D78B-8C2A8A536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8" y="3946672"/>
            <a:ext cx="557765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(2)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(2)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(1)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的逆否命题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3573FF7D-7411-7BFC-23F1-90BDDD28B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3946672"/>
            <a:ext cx="30963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(2)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也成立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84BEF937-79A4-4518-B654-99F8631B2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" y="-12526"/>
            <a:ext cx="833766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有关向量组的线性相关性的几个重要结论</a:t>
            </a:r>
            <a:endParaRPr lang="zh-CN" altLang="en-US" sz="26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4029888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 build="p" autoUpdateAnimBg="0"/>
      <p:bldP spid="7" grpId="0" build="p" autoUpdateAnimBg="0"/>
      <p:bldP spid="9" grpId="0" build="p" autoUpdateAnimBg="0" advAuto="0"/>
      <p:bldP spid="11" grpId="0" build="p" autoUpdateAnimBg="0"/>
      <p:bldP spid="12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>
            <a:extLst>
              <a:ext uri="{FF2B5EF4-FFF2-40B4-BE49-F238E27FC236}">
                <a16:creationId xmlns:a16="http://schemas.microsoft.com/office/drawing/2014/main" id="{30CA0707-B986-E591-987A-D43DC9093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92696"/>
            <a:ext cx="2232247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推论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3.2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F7B4D096-6C9D-A0D4-4DF4-2EE5C1120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792" y="692696"/>
            <a:ext cx="5184576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含零的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向量组一定线性相关</a:t>
            </a:r>
            <a:r>
              <a:rPr lang="en-US" altLang="zh-CN" b="1" dirty="0">
                <a:solidFill>
                  <a:srgbClr val="0000FF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ea typeface="华文中宋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E868DC79-56A5-B3BF-481F-AE930483A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476817"/>
            <a:ext cx="2222003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3.12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" name="Rectangle 27">
            <a:extLst>
              <a:ext uri="{FF2B5EF4-FFF2-40B4-BE49-F238E27FC236}">
                <a16:creationId xmlns:a16="http://schemas.microsoft.com/office/drawing/2014/main" id="{CED7B205-A126-2058-3666-95B4F5D10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6628" y="1487556"/>
            <a:ext cx="625644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6" name="Rectangle 28">
            <a:extLst>
              <a:ext uri="{FF2B5EF4-FFF2-40B4-BE49-F238E27FC236}">
                <a16:creationId xmlns:a16="http://schemas.microsoft.com/office/drawing/2014/main" id="{D57A8689-DAED-AD9F-1D84-C3081DCF3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3085496"/>
            <a:ext cx="4536504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可由向量组</a:t>
            </a:r>
            <a:r>
              <a:rPr lang="zh-CN" altLang="en-US" sz="16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6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3F58AB0C-572E-2DCB-53E8-DBAB18D2B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281484"/>
            <a:ext cx="66960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而向量组</a:t>
            </a:r>
            <a:r>
              <a:rPr lang="zh-CN" altLang="en-US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: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rgbClr val="0000FF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rgbClr val="0000FF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rgbClr val="0000FF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el-GR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β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endParaRPr lang="en-US" altLang="zh-CN" b="1" i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0B7F9FBB-C7F0-6009-3E95-20C9F3937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232" y="2281484"/>
            <a:ext cx="230284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则向量</a:t>
            </a:r>
            <a:r>
              <a:rPr lang="zh-CN" altLang="en-US" sz="2000" b="1" i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l-GR" altLang="zh-CN" b="1" i="1" dirty="0">
                <a:solidFill>
                  <a:srgbClr val="0000FF"/>
                </a:solidFill>
                <a:cs typeface="Times New Roman" pitchFamily="18" charset="0"/>
              </a:rPr>
              <a:t>β</a:t>
            </a:r>
            <a:endParaRPr lang="zh-CN" altLang="en-US" b="1" dirty="0">
              <a:solidFill>
                <a:srgbClr val="0000FF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CFF43031-C7BE-7720-3337-B45B3A6E8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017" y="3085496"/>
            <a:ext cx="3024336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且表示式唯一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242A25E0-DA00-43B0-D1FA-0DD0E944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883161"/>
            <a:ext cx="136815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en-US" altLang="zh-CN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736FFA4-D5B9-FD92-989A-480E014D7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680826"/>
            <a:ext cx="7993064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),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6607F3D-4F74-E92C-DB37-517922C8C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19" y="5399964"/>
            <a:ext cx="331095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故有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). </a:t>
            </a:r>
          </a:p>
        </p:txBody>
      </p:sp>
      <p:sp>
        <p:nvSpPr>
          <p:cNvPr id="15" name="Rectangle 28">
            <a:extLst>
              <a:ext uri="{FF2B5EF4-FFF2-40B4-BE49-F238E27FC236}">
                <a16:creationId xmlns:a16="http://schemas.microsoft.com/office/drawing/2014/main" id="{F042F467-AB80-D03D-2414-F0895696F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59" y="5399964"/>
            <a:ext cx="576064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由于矩阵</a:t>
            </a:r>
            <a:r>
              <a:rPr lang="zh-CN" altLang="en-US" sz="1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的子矩阵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1651835A-FC79-4C20-B725-2194DFAA1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" y="-12526"/>
            <a:ext cx="833766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有关向量组的线性相关性的几个重要结论</a:t>
            </a:r>
            <a:endParaRPr lang="zh-CN" altLang="en-US" sz="26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402460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75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 build="p" autoUpdateAnimBg="0"/>
      <p:bldP spid="6" grpId="0" build="p" autoUpdateAnimBg="0" advAuto="0"/>
      <p:bldP spid="7" grpId="0" build="p" autoUpdateAnimBg="0" advAuto="0"/>
      <p:bldP spid="8" grpId="0" build="p" autoUpdateAnimBg="0" advAuto="0"/>
      <p:bldP spid="9" grpId="0" build="p" autoUpdateAnimBg="0" advAuto="0"/>
      <p:bldP spid="10" grpId="0"/>
      <p:bldP spid="11" grpId="0" build="p" autoUpdateAnimBg="0"/>
      <p:bldP spid="12" grpId="0" build="p" autoUpdateAnimBg="0" advAuto="0"/>
      <p:bldP spid="15" grpId="0" build="p" autoUpdateAnimBg="0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7">
            <a:extLst>
              <a:ext uri="{FF2B5EF4-FFF2-40B4-BE49-F238E27FC236}">
                <a16:creationId xmlns:a16="http://schemas.microsoft.com/office/drawing/2014/main" id="{CED7B205-A126-2058-3666-95B4F5D10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692696"/>
            <a:ext cx="4464373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8" name="Rectangle 31">
            <a:extLst>
              <a:ext uri="{FF2B5EF4-FFF2-40B4-BE49-F238E27FC236}">
                <a16:creationId xmlns:a16="http://schemas.microsoft.com/office/drawing/2014/main" id="{0B7F9FBB-C7F0-6009-3E95-20C9F3937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36" y="2149506"/>
            <a:ext cx="484156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又因为向量组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B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itchFamily="18" charset="0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14" name="Rectangle 31">
            <a:extLst>
              <a:ext uri="{FF2B5EF4-FFF2-40B4-BE49-F238E27FC236}">
                <a16:creationId xmlns:a16="http://schemas.microsoft.com/office/drawing/2014/main" id="{6A4A5A59-0750-ED33-F5ED-FFEB4EC69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406643"/>
            <a:ext cx="576064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3.10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38C48A63-0913-A646-CB02-FAC6A0366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3565581"/>
            <a:ext cx="338437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根据定理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  <a:sym typeface="Symbol" pitchFamily="18" charset="2"/>
              </a:rPr>
              <a:t>3.1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618EC4AA-EF0C-DD73-EA46-A77DC011B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977" y="2888259"/>
            <a:ext cx="3096344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因此</a:t>
            </a:r>
            <a:r>
              <a:rPr lang="zh-CN" altLang="en-US" sz="1000" b="1" i="1" dirty="0">
                <a:solidFill>
                  <a:schemeClr val="tx1"/>
                </a:solidFill>
                <a:latin typeface="+mn-ea"/>
                <a:ea typeface="+mn-ea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</a:t>
            </a: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4BCC2826-CC0E-BA0D-CE6F-58827A5E7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3565581"/>
            <a:ext cx="410913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因为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, </a:t>
            </a: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EE4E4593-38CB-1DBB-AE5B-C752A2AC1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888259"/>
            <a:ext cx="40935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由于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sz="2000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1, </a:t>
            </a: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91D75A5C-8DD1-7B4B-239C-E9EBCB87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304" y="3561474"/>
            <a:ext cx="173824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方程组</a:t>
            </a:r>
            <a:endParaRPr lang="zh-CN" altLang="en-US" b="1" i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1E1BEC98-E31F-06FF-4525-96C069869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9644" y="4241221"/>
            <a:ext cx="25514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i="1" dirty="0">
                <a:solidFill>
                  <a:schemeClr val="tx1"/>
                </a:solidFill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endParaRPr lang="en-US" altLang="zh-CN" b="1" i="1" dirty="0">
              <a:solidFill>
                <a:schemeClr val="tx1"/>
              </a:solidFill>
            </a:endParaRPr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DDE2C67C-B6D1-18BA-1BB3-24076FBE9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048" y="2149505"/>
            <a:ext cx="352076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itchFamily="18" charset="2"/>
              </a:rPr>
              <a:t>所以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+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1. 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EB446D9D-7558-3AA1-CD61-74A15668A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894442"/>
            <a:ext cx="208823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有唯一解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30" name="Rectangle 5">
            <a:extLst>
              <a:ext uri="{FF2B5EF4-FFF2-40B4-BE49-F238E27FC236}">
                <a16:creationId xmlns:a16="http://schemas.microsoft.com/office/drawing/2014/main" id="{F45299DA-FFFB-963A-F77A-AB0BAAC75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7" y="5615167"/>
            <a:ext cx="3672409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且表示式是唯一的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1" name="Rectangle 21">
            <a:extLst>
              <a:ext uri="{FF2B5EF4-FFF2-40B4-BE49-F238E27FC236}">
                <a16:creationId xmlns:a16="http://schemas.microsoft.com/office/drawing/2014/main" id="{9133D9D9-8B3A-9C2E-1079-905F13AC6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578" y="4894442"/>
            <a:ext cx="58908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l-GR" altLang="zh-CN" b="1" i="1" dirty="0">
                <a:solidFill>
                  <a:schemeClr val="tx1"/>
                </a:solidFill>
                <a:cs typeface="Times New Roman" pitchFamily="18" charset="0"/>
              </a:rPr>
              <a:t>β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能由向量组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A</a:t>
            </a:r>
            <a:r>
              <a:rPr lang="en-US" altLang="zh-CN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589415DA-78E6-44A8-9C84-C9FD9E99E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" y="-12526"/>
            <a:ext cx="833766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有关向量组的线性相关性的几个重要结论</a:t>
            </a:r>
            <a:endParaRPr lang="zh-CN" altLang="en-US" sz="26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587546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750"/>
                            </p:stCondLst>
                            <p:childTnLst>
                              <p:par>
                                <p:cTn id="4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2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2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75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7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8" grpId="0" build="p" autoUpdateAnimBg="0" advAuto="0"/>
      <p:bldP spid="14" grpId="0" build="p" autoUpdateAnimBg="0" advAuto="0"/>
      <p:bldP spid="21" grpId="0" build="p" autoUpdateAnimBg="0" advAuto="0"/>
      <p:bldP spid="22" grpId="0" build="p" autoUpdateAnimBg="0" advAuto="0"/>
      <p:bldP spid="23" grpId="0" build="p" autoUpdateAnimBg="0"/>
      <p:bldP spid="25" grpId="0" build="p" autoUpdateAnimBg="0"/>
      <p:bldP spid="26" grpId="0" build="p" autoUpdateAnimBg="0" advAuto="0"/>
      <p:bldP spid="27" grpId="0" build="p" autoUpdateAnimBg="0"/>
      <p:bldP spid="27" grpId="1"/>
      <p:bldP spid="28" grpId="0" build="p" autoUpdateAnimBg="0" advAuto="0"/>
      <p:bldP spid="29" grpId="0" build="p" autoUpdateAnimBg="0" advAuto="0"/>
      <p:bldP spid="30" grpId="0" build="p" autoUpdateAnimBg="0" advAuto="0"/>
      <p:bldP spid="31" grpId="0" build="p" autoUpdateAnimBg="0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8">
            <a:extLst>
              <a:ext uri="{FF2B5EF4-FFF2-40B4-BE49-F238E27FC236}">
                <a16:creationId xmlns:a16="http://schemas.microsoft.com/office/drawing/2014/main" id="{E868DC79-56A5-B3BF-481F-AE930483A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692696"/>
            <a:ext cx="2080142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定理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3.13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242A25E0-DA00-43B0-D1FA-0DD0E944E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99" y="2178793"/>
            <a:ext cx="128805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endParaRPr lang="en-US" altLang="zh-CN" b="1" dirty="0">
              <a:solidFill>
                <a:srgbClr val="C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736FFA4-D5B9-FD92-989A-480E014D7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1621" y="2186493"/>
            <a:ext cx="70719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记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sz="8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&lt;</a:t>
            </a:r>
            <a:r>
              <a:rPr lang="en-US" altLang="zh-CN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1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sz="2000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构成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6607F3D-4F74-E92C-DB37-517922C8C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9973" y="2993243"/>
            <a:ext cx="23762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则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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 </a:t>
            </a:r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6BBEFBDB-0608-1414-5936-2D057A26A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251" y="706529"/>
            <a:ext cx="62481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00FF"/>
                </a:solidFill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&lt;</a:t>
            </a:r>
            <a:r>
              <a:rPr lang="en-US" altLang="zh-CN" sz="2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rgbClr val="0000FF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维向量组成的向量组</a:t>
            </a:r>
            <a:endParaRPr lang="en-US" altLang="zh-CN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2" name="Rectangle 43">
            <a:extLst>
              <a:ext uri="{FF2B5EF4-FFF2-40B4-BE49-F238E27FC236}">
                <a16:creationId xmlns:a16="http://schemas.microsoft.com/office/drawing/2014/main" id="{CB1D1387-080A-C3E8-2880-B1FD0AC51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42" y="1456556"/>
            <a:ext cx="30555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一定线性相关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endParaRPr lang="zh-CN" altLang="en-US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9252DDA-2A2C-9E7F-10B8-06CEF98EC366}"/>
              </a:ext>
            </a:extLst>
          </p:cNvPr>
          <p:cNvSpPr txBox="1"/>
          <p:nvPr/>
        </p:nvSpPr>
        <p:spPr>
          <a:xfrm>
            <a:off x="644242" y="2989135"/>
            <a:ext cx="4927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黑体" panose="02010609060101010101" pitchFamily="49" charset="-122"/>
              </a:rPr>
              <a:t>A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n</a:t>
            </a:r>
            <a:r>
              <a:rPr lang="en-US" altLang="zh-CN" b="1" baseline="-25000" dirty="0" err="1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b="1" i="1" baseline="-25000" dirty="0" err="1">
                <a:solidFill>
                  <a:schemeClr val="tx1"/>
                </a:solidFill>
                <a:ea typeface="黑体" panose="02010609060101010101" pitchFamily="49" charset="-122"/>
              </a:rPr>
              <a:t>m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=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),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ECD955C4-E770-9773-2A3C-583073E06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42" y="3713406"/>
            <a:ext cx="252426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23490AC6-87A1-4B42-011C-890D4B54B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6466" y="3706361"/>
            <a:ext cx="29075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R(</a:t>
            </a:r>
            <a:r>
              <a:rPr lang="en-US" altLang="zh-CN" b="1" i="1" dirty="0">
                <a:solidFill>
                  <a:schemeClr val="tx1"/>
                </a:solidFill>
                <a:ea typeface="宋体" charset="-12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&lt;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  <a:sym typeface="Symbol" pitchFamily="18" charset="2"/>
              </a:rPr>
              <a:t>. </a:t>
            </a:r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AF09E53B-AAAA-D638-C3B4-692228A4C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8006" y="3719072"/>
            <a:ext cx="345638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3.10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0" name="Rectangle 4">
            <a:extLst>
              <a:ext uri="{FF2B5EF4-FFF2-40B4-BE49-F238E27FC236}">
                <a16:creationId xmlns:a16="http://schemas.microsoft.com/office/drawing/2014/main" id="{50679CA6-288F-0906-DC8A-7489CCF41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242" y="4521714"/>
            <a:ext cx="658396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...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m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  <a:endParaRPr lang="en-US" altLang="zh-CN" b="1" dirty="0">
              <a:solidFill>
                <a:schemeClr val="tx1"/>
              </a:solidFill>
              <a:ea typeface="宋体" charset="-122"/>
              <a:sym typeface="Symbol" pitchFamily="18" charset="2"/>
            </a:endParaRPr>
          </a:p>
        </p:txBody>
      </p:sp>
      <p:sp>
        <p:nvSpPr>
          <p:cNvPr id="31" name="Rectangle 18">
            <a:extLst>
              <a:ext uri="{FF2B5EF4-FFF2-40B4-BE49-F238E27FC236}">
                <a16:creationId xmlns:a16="http://schemas.microsoft.com/office/drawing/2014/main" id="{530DFD07-323B-EA62-9EC3-0DA2432D5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5318645"/>
            <a:ext cx="1792109" cy="523220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推论</a:t>
            </a:r>
            <a:r>
              <a:rPr lang="zh-CN" altLang="en-US" sz="2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3.3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2" name="Rectangle 38">
            <a:extLst>
              <a:ext uri="{FF2B5EF4-FFF2-40B4-BE49-F238E27FC236}">
                <a16:creationId xmlns:a16="http://schemas.microsoft.com/office/drawing/2014/main" id="{91C09BFA-A649-539B-8E72-28FA5128D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251" y="5318409"/>
            <a:ext cx="53120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0000FF"/>
                </a:solidFill>
                <a:cs typeface="Times New Roman" pitchFamily="18" charset="0"/>
              </a:rPr>
              <a:t>n+</a:t>
            </a:r>
            <a:r>
              <a:rPr lang="en-US" altLang="zh-CN" b="1" dirty="0">
                <a:solidFill>
                  <a:srgbClr val="0000FF"/>
                </a:solidFill>
                <a:cs typeface="Times New Roman" pitchFamily="18" charset="0"/>
              </a:rPr>
              <a:t>1</a:t>
            </a:r>
            <a:r>
              <a:rPr lang="en-US" altLang="zh-CN" sz="2000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zh-CN" altLang="en-US" sz="1000" b="1" dirty="0">
                <a:solidFill>
                  <a:srgbClr val="0000FF"/>
                </a:solidFill>
                <a:latin typeface="+mn-ea"/>
                <a:ea typeface="+mn-ea"/>
              </a:rPr>
              <a:t> </a:t>
            </a:r>
            <a:r>
              <a:rPr lang="en-US" altLang="zh-CN" b="1" i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n</a:t>
            </a:r>
            <a:r>
              <a:rPr lang="en-US" altLang="zh-CN" sz="2000" b="1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维向量一定线性相关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  <a:endParaRPr lang="en-US" altLang="zh-CN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1" name="Rectangle 30">
            <a:extLst>
              <a:ext uri="{FF2B5EF4-FFF2-40B4-BE49-F238E27FC236}">
                <a16:creationId xmlns:a16="http://schemas.microsoft.com/office/drawing/2014/main" id="{AA20F4B0-4838-4541-9BF4-BDAAECBFC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" y="-12526"/>
            <a:ext cx="833766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有关向量组的线性相关性的几个重要结论</a:t>
            </a:r>
            <a:endParaRPr lang="zh-CN" altLang="en-US" sz="26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156058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2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75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7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 build="p" autoUpdateAnimBg="0"/>
      <p:bldP spid="12" grpId="0" build="p" autoUpdateAnimBg="0" advAuto="0"/>
      <p:bldP spid="14" grpId="0" build="p" autoUpdateAnimBg="0"/>
      <p:bldP spid="22" grpId="0" build="p" autoUpdateAnimBg="0"/>
      <p:bldP spid="26" grpId="0"/>
      <p:bldP spid="27" grpId="0" build="p" autoUpdateAnimBg="0"/>
      <p:bldP spid="28" grpId="0" build="p" autoUpdateAnimBg="0" advAuto="0"/>
      <p:bldP spid="29" grpId="0" build="p" autoUpdateAnimBg="0" advAuto="0"/>
      <p:bldP spid="30" grpId="0" build="p" autoUpdateAnimBg="0"/>
      <p:bldP spid="31" grpId="0"/>
      <p:bldP spid="32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B7400A7D-31D2-BF38-F010-D26951896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92696"/>
            <a:ext cx="1800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例</a:t>
            </a:r>
            <a:r>
              <a:rPr lang="zh-CN" altLang="en-US" sz="1000" b="1" dirty="0">
                <a:solidFill>
                  <a:srgbClr val="C00000"/>
                </a:solidFill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ea typeface="+mn-ea"/>
                <a:cs typeface="Times New Roman" pitchFamily="18" charset="0"/>
              </a:rPr>
              <a:t>3.13</a:t>
            </a:r>
            <a:r>
              <a:rPr lang="en-US" altLang="zh-CN" sz="1000" b="1" dirty="0">
                <a:ea typeface="宋体" charset="-122"/>
              </a:rPr>
              <a:t>  </a:t>
            </a:r>
            <a:endParaRPr lang="zh-CN" altLang="en-US" b="1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D4848D9D-E3BC-D832-8729-30C4C3A6B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692696"/>
            <a:ext cx="626469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设向量组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</a:t>
            </a:r>
            <a:endParaRPr lang="en-US" altLang="zh-CN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779B324-AB82-BC74-081C-B5DA8B5FE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1386966"/>
            <a:ext cx="460851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chemeClr val="tx1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C0A587D8-F99F-9C89-D468-812A3D955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107691"/>
            <a:ext cx="4968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(1)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;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11DF09A3-B44A-A438-B57B-99E2898DB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826828"/>
            <a:ext cx="558044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(2)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不能由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C0E1BE37-31A0-ACCC-7A56-A539667D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3555021"/>
            <a:ext cx="1224136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证明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69E2697E-4628-B88C-4A05-0B7B680E5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38" y="4275746"/>
            <a:ext cx="49688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(1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14C739D0-C4C3-C751-27CE-33DD04E39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50" y="4994884"/>
            <a:ext cx="3311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4" name="Text Box 14">
            <a:extLst>
              <a:ext uri="{FF2B5EF4-FFF2-40B4-BE49-F238E27FC236}">
                <a16:creationId xmlns:a16="http://schemas.microsoft.com/office/drawing/2014/main" id="{C256FD91-2D56-F5F2-1E8B-B85AFCF42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1925" y="5715609"/>
            <a:ext cx="4356459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5" name="Rectangle 17">
            <a:extLst>
              <a:ext uri="{FF2B5EF4-FFF2-40B4-BE49-F238E27FC236}">
                <a16:creationId xmlns:a16="http://schemas.microsoft.com/office/drawing/2014/main" id="{BF1A2AB2-EB75-6A2A-F80A-9FE7E3C75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325" y="4274159"/>
            <a:ext cx="39613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所以由定理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3.11</a:t>
            </a:r>
            <a:r>
              <a:rPr lang="en-US" altLang="zh-CN" sz="2000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</a:p>
        </p:txBody>
      </p:sp>
      <p:sp>
        <p:nvSpPr>
          <p:cNvPr id="31" name="Text Box 18">
            <a:extLst>
              <a:ext uri="{FF2B5EF4-FFF2-40B4-BE49-F238E27FC236}">
                <a16:creationId xmlns:a16="http://schemas.microsoft.com/office/drawing/2014/main" id="{624E2C0E-FC77-2549-FE3A-242ACDF69A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000" y="4994884"/>
            <a:ext cx="421333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线性相关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5B52BE44-017F-CCF8-2C5A-B6AD70DD2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50" y="5715609"/>
            <a:ext cx="33131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由定理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3.12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:</a:t>
            </a: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732D53C4-BD54-440A-ADAE-EDD4F1284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" y="-12526"/>
            <a:ext cx="833766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有关向量组的线性相关性的几个重要结论</a:t>
            </a:r>
            <a:endParaRPr lang="zh-CN" altLang="en-US" sz="26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346836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7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3" grpId="0"/>
      <p:bldP spid="21" grpId="0"/>
      <p:bldP spid="23" grpId="0"/>
      <p:bldP spid="24" grpId="0"/>
      <p:bldP spid="25" grpId="0"/>
      <p:bldP spid="31" grpId="0"/>
      <p:bldP spid="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A7E3007C-FA1D-1F40-D4AC-0124CC780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73" y="990748"/>
            <a:ext cx="212415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(2)</a:t>
            </a: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反证法</a:t>
            </a:r>
            <a:r>
              <a:rPr lang="en-US" altLang="zh-CN" b="1" dirty="0">
                <a:solidFill>
                  <a:srgbClr val="0000FF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5812B705-45DE-9F0C-D6FF-ACA863C14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824" y="989161"/>
            <a:ext cx="583454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假设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  <a:endParaRPr lang="zh-CN" altLang="en-US" b="1" dirty="0">
              <a:solidFill>
                <a:schemeClr val="tx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C69306E5-DA53-E430-134F-662F22CBD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607" y="1747998"/>
            <a:ext cx="63373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且由</a:t>
            </a:r>
            <a:r>
              <a:rPr lang="zh-CN" altLang="en-US" sz="1000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(1)</a:t>
            </a:r>
            <a:r>
              <a:rPr lang="en-US" altLang="zh-CN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可知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能由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6E4E06E-EDD1-E328-AFC6-FEE06E4DB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00" y="1747998"/>
            <a:ext cx="234237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</a:t>
            </a:r>
            <a:r>
              <a:rPr lang="zh-CN" altLang="en-US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</a:t>
            </a:r>
            <a:r>
              <a:rPr lang="en-US" altLang="zh-CN" sz="2000" b="1" baseline="-25000" dirty="0">
                <a:solidFill>
                  <a:schemeClr val="tx1"/>
                </a:solidFill>
                <a:ea typeface="宋体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</a:t>
            </a:r>
            <a:endParaRPr lang="zh-CN" altLang="en-US" b="1" dirty="0">
              <a:solidFill>
                <a:schemeClr val="tx1"/>
              </a:solidFill>
              <a:ea typeface="宋体" charset="-122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88E3CA72-F408-0DCE-1BAD-611A0105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888" y="2508423"/>
            <a:ext cx="5258484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这与</a:t>
            </a:r>
            <a:r>
              <a:rPr lang="zh-CN" altLang="en-US" sz="1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线性无关矛盾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224FA1DE-AAAC-674C-5874-C28FFE708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894" y="2508423"/>
            <a:ext cx="3506042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</a:t>
            </a:r>
            <a:r>
              <a:rPr lang="zh-CN" altLang="en-US" sz="1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,</a:t>
            </a: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48C02C1A-3406-8A8E-A13C-17A6A8473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973" y="3262819"/>
            <a:ext cx="5580446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故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4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不能由</a:t>
            </a:r>
            <a:r>
              <a:rPr lang="zh-CN" altLang="en-US" sz="2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i="1" dirty="0">
                <a:solidFill>
                  <a:schemeClr val="tx1"/>
                </a:solidFill>
                <a:sym typeface="Symbol" panose="05050102010706020507" pitchFamily="18" charset="2"/>
              </a:rPr>
              <a:t></a:t>
            </a:r>
            <a:r>
              <a:rPr lang="en-US" altLang="zh-CN" b="1" baseline="-25000" dirty="0">
                <a:solidFill>
                  <a:schemeClr val="tx1"/>
                </a:solidFill>
                <a:cs typeface="Times New Roman" pitchFamily="18" charset="0"/>
              </a:rPr>
              <a:t>3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+mn-ea"/>
                <a:cs typeface="Times New Roman" pitchFamily="18" charset="0"/>
              </a:rPr>
              <a:t>.</a:t>
            </a:r>
          </a:p>
        </p:txBody>
      </p:sp>
      <p:sp>
        <p:nvSpPr>
          <p:cNvPr id="14" name="Rectangle 30">
            <a:extLst>
              <a:ext uri="{FF2B5EF4-FFF2-40B4-BE49-F238E27FC236}">
                <a16:creationId xmlns:a16="http://schemas.microsoft.com/office/drawing/2014/main" id="{73935499-302D-45D5-BF98-E875673FE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8" y="-12526"/>
            <a:ext cx="8337661" cy="4932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1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600" b="1" dirty="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有关向量组的线性相关性的几个重要结论</a:t>
            </a:r>
            <a:endParaRPr lang="zh-CN" altLang="en-US" sz="2600" b="1" dirty="0">
              <a:solidFill>
                <a:schemeClr val="bg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47046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5" grpId="0"/>
      <p:bldP spid="10" grpId="0"/>
      <p:bldP spid="11" grpId="0"/>
      <p:bldP spid="21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6ED84202-61B3-4F99-9FF8-56DB3AE8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1390B2F0-D7F4-40AF-9026-40658791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0688"/>
            <a:ext cx="144016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应用</a:t>
            </a:r>
            <a:r>
              <a:rPr lang="en-US" altLang="zh-CN" b="1" dirty="0">
                <a:solidFill>
                  <a:srgbClr val="0000FF"/>
                </a:solidFill>
                <a:ea typeface="华文中宋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solidFill>
                <a:srgbClr val="0000FF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CA28E1-F35D-2CDA-16FB-1758D708103B}"/>
              </a:ext>
            </a:extLst>
          </p:cNvPr>
          <p:cNvSpPr txBox="1"/>
          <p:nvPr/>
        </p:nvSpPr>
        <p:spPr>
          <a:xfrm>
            <a:off x="307527" y="1166148"/>
            <a:ext cx="8528946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混凝土由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1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种主要的原料组成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水泥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水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沙</a:t>
            </a: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石和灰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不同的成分影响混凝土的不同特性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例如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水与水泥的比例影响混凝土的最终强度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沙与石的比例影响混凝土的易加工性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灰与水泥的比例影响混凝土的耐久性等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所以不同用途的混凝土需要不同的原料配比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假如一个混凝土生产企业的设备只能存储三种基本类型的混凝土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即超强型、通用型和长寿型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它们的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原料配比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如表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3-1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所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示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2800" b="1" kern="100" dirty="0">
              <a:effectLst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5331756-BCAC-DF15-1EDA-94F2B082A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621185"/>
            <a:ext cx="309634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华文中宋" pitchFamily="2" charset="-122"/>
                <a:ea typeface="华文中宋" pitchFamily="2" charset="-122"/>
              </a:rPr>
              <a:t>混凝土配料问题</a:t>
            </a:r>
          </a:p>
        </p:txBody>
      </p:sp>
    </p:spTree>
    <p:extLst>
      <p:ext uri="{BB962C8B-B14F-4D97-AF65-F5344CB8AC3E}">
        <p14:creationId xmlns:p14="http://schemas.microsoft.com/office/powerpoint/2010/main" val="43953956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0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19E7F2-3088-A9A5-1515-604C2D1070DB}"/>
              </a:ext>
            </a:extLst>
          </p:cNvPr>
          <p:cNvSpPr txBox="1"/>
          <p:nvPr/>
        </p:nvSpPr>
        <p:spPr>
          <a:xfrm>
            <a:off x="440680" y="4319628"/>
            <a:ext cx="8330541" cy="1954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于是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每一种基本类型混凝土就可以用一个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1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维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的列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向量来表示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企业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希望客户所订购的其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他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混凝土都</a:t>
            </a:r>
            <a:endParaRPr lang="en-US" altLang="zh-CN" sz="2800" b="1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由这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种基本类型按一定比例混合而成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endParaRPr lang="zh-CN" altLang="zh-CN" sz="2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1C2B26-57C4-33F1-27E6-CF60939ADBF4}"/>
              </a:ext>
            </a:extLst>
          </p:cNvPr>
          <p:cNvSpPr txBox="1"/>
          <p:nvPr/>
        </p:nvSpPr>
        <p:spPr>
          <a:xfrm>
            <a:off x="3358831" y="620688"/>
            <a:ext cx="2426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24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表</a:t>
            </a:r>
            <a:r>
              <a:rPr lang="en-US" altLang="zh-CN" sz="24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4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kern="100" dirty="0">
                <a:effectLst/>
                <a:latin typeface="Symbol" panose="05050102010706020507" pitchFamily="18" charset="2"/>
                <a:ea typeface="华文中宋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BD07FCE-C4AF-17E0-E865-DDBF8DADD4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928" y="1115480"/>
            <a:ext cx="5868144" cy="3281949"/>
          </a:xfrm>
          <a:prstGeom prst="rect">
            <a:avLst/>
          </a:prstGeom>
        </p:spPr>
      </p:pic>
      <p:sp>
        <p:nvSpPr>
          <p:cNvPr id="11" name="Rectangle 30">
            <a:extLst>
              <a:ext uri="{FF2B5EF4-FFF2-40B4-BE49-F238E27FC236}">
                <a16:creationId xmlns:a16="http://schemas.microsoft.com/office/drawing/2014/main" id="{B8899207-A797-4378-900D-3ED2EBFF8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06971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07ACC2-0DC2-6E8C-4A69-C4DFE852B5C4}"/>
              </a:ext>
            </a:extLst>
          </p:cNvPr>
          <p:cNvSpPr txBox="1"/>
          <p:nvPr/>
        </p:nvSpPr>
        <p:spPr>
          <a:xfrm>
            <a:off x="971600" y="806248"/>
            <a:ext cx="8043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(1)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假如某客户要求的混凝土的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原料配比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8B8450A-D59C-F23F-3949-96D929D8D692}"/>
              </a:ext>
            </a:extLst>
          </p:cNvPr>
          <p:cNvSpPr txBox="1"/>
          <p:nvPr/>
        </p:nvSpPr>
        <p:spPr>
          <a:xfrm>
            <a:off x="568752" y="1536301"/>
            <a:ext cx="2923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16:</a:t>
            </a:r>
            <a:r>
              <a:rPr lang="en-US" altLang="zh-CN" sz="1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10:</a:t>
            </a:r>
            <a:r>
              <a:rPr lang="en-US" altLang="zh-CN" sz="1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1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9:</a:t>
            </a:r>
            <a:r>
              <a:rPr lang="en-US" altLang="zh-CN" sz="1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4,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0C17945-71C0-C786-8575-C8C27DEC6EF4}"/>
              </a:ext>
            </a:extLst>
          </p:cNvPr>
          <p:cNvSpPr txBox="1"/>
          <p:nvPr/>
        </p:nvSpPr>
        <p:spPr>
          <a:xfrm>
            <a:off x="3038108" y="1536301"/>
            <a:ext cx="5973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试问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A,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B,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0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en-US" sz="12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6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基本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类型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的混</a:t>
            </a:r>
            <a:endParaRPr lang="zh-CN" altLang="en-US" b="1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0E47CB7-29AC-A325-9111-3972A3BF9D97}"/>
              </a:ext>
            </a:extLst>
          </p:cNvPr>
          <p:cNvSpPr txBox="1"/>
          <p:nvPr/>
        </p:nvSpPr>
        <p:spPr>
          <a:xfrm>
            <a:off x="568905" y="2251486"/>
            <a:ext cx="40751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凝土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应各占多少比例</a:t>
            </a:r>
            <a:r>
              <a:rPr lang="en-US" altLang="zh-CN" b="1" kern="100" dirty="0"/>
              <a:t>? 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D904672-062C-82E9-97FB-A3FF70B5DA58}"/>
              </a:ext>
            </a:extLst>
          </p:cNvPr>
          <p:cNvSpPr txBox="1"/>
          <p:nvPr/>
        </p:nvSpPr>
        <p:spPr>
          <a:xfrm>
            <a:off x="568752" y="2966671"/>
            <a:ext cx="7964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混凝土</a:t>
            </a:r>
            <a:r>
              <a:rPr lang="en-US" altLang="zh-CN" b="1" kern="100" dirty="0"/>
              <a:t>,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0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基本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类型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的混凝土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各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占多重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?</a:t>
            </a:r>
            <a:endParaRPr lang="zh-CN" altLang="en-US" b="1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4798D08-569F-29C3-15B9-73DC86231E8C}"/>
              </a:ext>
            </a:extLst>
          </p:cNvPr>
          <p:cNvSpPr txBox="1"/>
          <p:nvPr/>
        </p:nvSpPr>
        <p:spPr>
          <a:xfrm>
            <a:off x="971600" y="3734475"/>
            <a:ext cx="8031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客户要求的</a:t>
            </a:r>
            <a:r>
              <a:rPr lang="en-US" altLang="zh-CN" sz="16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原料配比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16: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12: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19: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9: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4,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E1BCB5A-E844-E08B-C952-166B6E85E9D8}"/>
              </a:ext>
            </a:extLst>
          </p:cNvPr>
          <p:cNvSpPr txBox="1"/>
          <p:nvPr/>
        </p:nvSpPr>
        <p:spPr>
          <a:xfrm>
            <a:off x="568752" y="4449660"/>
            <a:ext cx="84244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effectLst/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dirty="0"/>
              <a:t>则</a:t>
            </a:r>
            <a:r>
              <a:rPr lang="zh-CN" altLang="en-US" dirty="0"/>
              <a:t>此混凝土</a:t>
            </a:r>
            <a:r>
              <a:rPr lang="zh-CN" altLang="zh-CN" dirty="0"/>
              <a:t>能用</a:t>
            </a:r>
            <a:r>
              <a:rPr lang="en-US" altLang="zh-CN" sz="2000" dirty="0"/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dirty="0"/>
              <a:t> </a:t>
            </a:r>
            <a:r>
              <a:rPr lang="zh-CN" altLang="en-US" dirty="0"/>
              <a:t>这</a:t>
            </a:r>
            <a:r>
              <a:rPr lang="zh-CN" altLang="en-US" sz="2000" dirty="0"/>
              <a:t> </a:t>
            </a:r>
            <a:r>
              <a:rPr lang="en-US" altLang="zh-CN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基本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类型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的混凝土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EA4BF7F-447F-36CD-434A-1D1F262AA794}"/>
              </a:ext>
            </a:extLst>
          </p:cNvPr>
          <p:cNvSpPr txBox="1"/>
          <p:nvPr/>
        </p:nvSpPr>
        <p:spPr>
          <a:xfrm>
            <a:off x="568751" y="5238814"/>
            <a:ext cx="33551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effectLst/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zh-CN" dirty="0"/>
              <a:t>配成吗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zh-CN" altLang="zh-CN" dirty="0"/>
              <a:t>为什么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F0E8288-DF49-5342-8AFF-D75E25EF6D75}"/>
              </a:ext>
            </a:extLst>
          </p:cNvPr>
          <p:cNvSpPr txBox="1"/>
          <p:nvPr/>
        </p:nvSpPr>
        <p:spPr>
          <a:xfrm>
            <a:off x="4211961" y="2251486"/>
            <a:ext cx="47545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若该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客户总共需要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cs typeface="Times New Roman" panose="02020603050405020304" pitchFamily="18" charset="0"/>
              </a:rPr>
              <a:t>5000</a:t>
            </a:r>
            <a:r>
              <a:rPr lang="en-US" altLang="zh-CN" sz="1000" b="1" kern="100" dirty="0"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kg 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17" name="Rectangle 30">
            <a:extLst>
              <a:ext uri="{FF2B5EF4-FFF2-40B4-BE49-F238E27FC236}">
                <a16:creationId xmlns:a16="http://schemas.microsoft.com/office/drawing/2014/main" id="{7FDEB43B-0491-4E00-83C9-570B9F6DA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86180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3" grpId="0"/>
      <p:bldP spid="30" grpId="0"/>
      <p:bldP spid="33" grpId="0"/>
      <p:bldP spid="35" grpId="0"/>
      <p:bldP spid="38" grpId="0"/>
      <p:bldP spid="40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DFAF892F-E357-C643-244B-D5401930D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01" y="722203"/>
            <a:ext cx="962379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EB1B4E-071C-C847-F02D-3DBDB73CE123}"/>
              </a:ext>
            </a:extLst>
          </p:cNvPr>
          <p:cNvSpPr txBox="1"/>
          <p:nvPr/>
        </p:nvSpPr>
        <p:spPr>
          <a:xfrm>
            <a:off x="1472973" y="720725"/>
            <a:ext cx="28345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从数学上看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FB561E-8537-1E01-1DB4-22F104AC883C}"/>
              </a:ext>
            </a:extLst>
          </p:cNvPr>
          <p:cNvSpPr txBox="1"/>
          <p:nvPr/>
        </p:nvSpPr>
        <p:spPr>
          <a:xfrm>
            <a:off x="3633213" y="720179"/>
            <a:ext cx="5534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这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种基本类型的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混凝土相当于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350B7B-4237-20DA-C7C4-A67CFF4F30AA}"/>
              </a:ext>
            </a:extLst>
          </p:cNvPr>
          <p:cNvSpPr txBox="1"/>
          <p:nvPr/>
        </p:nvSpPr>
        <p:spPr>
          <a:xfrm>
            <a:off x="480791" y="1454445"/>
            <a:ext cx="58570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三个线性无关的向量</a:t>
            </a:r>
            <a:r>
              <a:rPr lang="en-US" altLang="zh-CN" sz="24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3698B3D-5BEC-99EE-836A-96D9F5560202}"/>
              </a:ext>
            </a:extLst>
          </p:cNvPr>
          <p:cNvSpPr txBox="1"/>
          <p:nvPr/>
        </p:nvSpPr>
        <p:spPr>
          <a:xfrm>
            <a:off x="5649437" y="1447683"/>
            <a:ext cx="34826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两种待配的混凝土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9E1E5CE-CBBF-8A92-90F1-6466FB489409}"/>
              </a:ext>
            </a:extLst>
          </p:cNvPr>
          <p:cNvSpPr txBox="1"/>
          <p:nvPr/>
        </p:nvSpPr>
        <p:spPr>
          <a:xfrm>
            <a:off x="480791" y="2141520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相当于通过向量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lang="en-US" altLang="zh-CN" sz="1000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线性表示两个向量</a:t>
            </a:r>
            <a:r>
              <a:rPr lang="zh-CN" altLang="en-US" sz="1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17663E-CDC2-0CF2-462E-8F7687D4DD96}"/>
              </a:ext>
            </a:extLst>
          </p:cNvPr>
          <p:cNvSpPr txBox="1"/>
          <p:nvPr/>
        </p:nvSpPr>
        <p:spPr>
          <a:xfrm>
            <a:off x="480791" y="2863010"/>
            <a:ext cx="2962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其数值分别为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42" name="Object 7">
            <a:extLst>
              <a:ext uri="{FF2B5EF4-FFF2-40B4-BE49-F238E27FC236}">
                <a16:creationId xmlns:a16="http://schemas.microsoft.com/office/drawing/2014/main" id="{4F5D6257-9210-285A-0205-A50418D4B7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386371"/>
              </p:ext>
            </p:extLst>
          </p:nvPr>
        </p:nvGraphicFramePr>
        <p:xfrm>
          <a:off x="561521" y="3645837"/>
          <a:ext cx="1532171" cy="2505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0960" imgH="2603160" progId="Equation.DSMT4">
                  <p:embed/>
                </p:oleObj>
              </mc:Choice>
              <mc:Fallback>
                <p:oleObj name="Equation" r:id="rId3" imgW="1650960" imgH="2603160" progId="Equation.DSMT4">
                  <p:embed/>
                  <p:pic>
                    <p:nvPicPr>
                      <p:cNvPr id="9" name="Object 7">
                        <a:extLst>
                          <a:ext uri="{FF2B5EF4-FFF2-40B4-BE49-F238E27FC236}">
                            <a16:creationId xmlns:a16="http://schemas.microsoft.com/office/drawing/2014/main" id="{9D5DDA4F-405E-28EB-2922-CCDA0F010C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521" y="3645837"/>
                        <a:ext cx="1532171" cy="2505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7">
            <a:extLst>
              <a:ext uri="{FF2B5EF4-FFF2-40B4-BE49-F238E27FC236}">
                <a16:creationId xmlns:a16="http://schemas.microsoft.com/office/drawing/2014/main" id="{752EABB1-BAC8-997B-7353-0EE05D10C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828444"/>
              </p:ext>
            </p:extLst>
          </p:nvPr>
        </p:nvGraphicFramePr>
        <p:xfrm>
          <a:off x="2231556" y="3645839"/>
          <a:ext cx="1508934" cy="2505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25400" imgH="2603160" progId="Equation.DSMT4">
                  <p:embed/>
                </p:oleObj>
              </mc:Choice>
              <mc:Fallback>
                <p:oleObj name="Equation" r:id="rId5" imgW="1625400" imgH="2603160" progId="Equation.DSMT4">
                  <p:embed/>
                  <p:pic>
                    <p:nvPicPr>
                      <p:cNvPr id="42" name="Object 7">
                        <a:extLst>
                          <a:ext uri="{FF2B5EF4-FFF2-40B4-BE49-F238E27FC236}">
                            <a16:creationId xmlns:a16="http://schemas.microsoft.com/office/drawing/2014/main" id="{4F5D6257-9210-285A-0205-A50418D4B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556" y="3645839"/>
                        <a:ext cx="1508934" cy="2505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7">
            <a:extLst>
              <a:ext uri="{FF2B5EF4-FFF2-40B4-BE49-F238E27FC236}">
                <a16:creationId xmlns:a16="http://schemas.microsoft.com/office/drawing/2014/main" id="{6088A2B0-7CDC-AB6D-AE5B-691E5D5B6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756236"/>
              </p:ext>
            </p:extLst>
          </p:nvPr>
        </p:nvGraphicFramePr>
        <p:xfrm>
          <a:off x="3860979" y="3644576"/>
          <a:ext cx="1497316" cy="2505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12800" imgH="2603160" progId="Equation.DSMT4">
                  <p:embed/>
                </p:oleObj>
              </mc:Choice>
              <mc:Fallback>
                <p:oleObj name="Equation" r:id="rId7" imgW="1612800" imgH="2603160" progId="Equation.DSMT4">
                  <p:embed/>
                  <p:pic>
                    <p:nvPicPr>
                      <p:cNvPr id="43" name="Object 7">
                        <a:extLst>
                          <a:ext uri="{FF2B5EF4-FFF2-40B4-BE49-F238E27FC236}">
                            <a16:creationId xmlns:a16="http://schemas.microsoft.com/office/drawing/2014/main" id="{752EABB1-BAC8-997B-7353-0EE05D10C4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979" y="3644576"/>
                        <a:ext cx="1497316" cy="2505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7">
            <a:extLst>
              <a:ext uri="{FF2B5EF4-FFF2-40B4-BE49-F238E27FC236}">
                <a16:creationId xmlns:a16="http://schemas.microsoft.com/office/drawing/2014/main" id="{863B5C93-2252-5E0B-158C-4159FBC5D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028369"/>
              </p:ext>
            </p:extLst>
          </p:nvPr>
        </p:nvGraphicFramePr>
        <p:xfrm>
          <a:off x="5467842" y="3632306"/>
          <a:ext cx="1531938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50960" imgH="2603160" progId="Equation.DSMT4">
                  <p:embed/>
                </p:oleObj>
              </mc:Choice>
              <mc:Fallback>
                <p:oleObj name="Equation" r:id="rId9" imgW="1650960" imgH="2603160" progId="Equation.DSMT4">
                  <p:embed/>
                  <p:pic>
                    <p:nvPicPr>
                      <p:cNvPr id="44" name="Object 7">
                        <a:extLst>
                          <a:ext uri="{FF2B5EF4-FFF2-40B4-BE49-F238E27FC236}">
                            <a16:creationId xmlns:a16="http://schemas.microsoft.com/office/drawing/2014/main" id="{6088A2B0-7CDC-AB6D-AE5B-691E5D5B6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842" y="3632306"/>
                        <a:ext cx="1531938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7">
            <a:extLst>
              <a:ext uri="{FF2B5EF4-FFF2-40B4-BE49-F238E27FC236}">
                <a16:creationId xmlns:a16="http://schemas.microsoft.com/office/drawing/2014/main" id="{3C61142F-7A51-93EB-A900-3DFC41CE9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243870"/>
              </p:ext>
            </p:extLst>
          </p:nvPr>
        </p:nvGraphicFramePr>
        <p:xfrm>
          <a:off x="7139480" y="3632306"/>
          <a:ext cx="1530350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50960" imgH="2603160" progId="Equation.DSMT4">
                  <p:embed/>
                </p:oleObj>
              </mc:Choice>
              <mc:Fallback>
                <p:oleObj name="Equation" r:id="rId11" imgW="1650960" imgH="2603160" progId="Equation.DSMT4">
                  <p:embed/>
                  <p:pic>
                    <p:nvPicPr>
                      <p:cNvPr id="45" name="Object 7">
                        <a:extLst>
                          <a:ext uri="{FF2B5EF4-FFF2-40B4-BE49-F238E27FC236}">
                            <a16:creationId xmlns:a16="http://schemas.microsoft.com/office/drawing/2014/main" id="{863B5C93-2252-5E0B-158C-4159FBC5DA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9480" y="3632306"/>
                        <a:ext cx="1530350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30">
            <a:extLst>
              <a:ext uri="{FF2B5EF4-FFF2-40B4-BE49-F238E27FC236}">
                <a16:creationId xmlns:a16="http://schemas.microsoft.com/office/drawing/2014/main" id="{DD3C8977-5391-4FD5-AA01-1268BB07D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476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6" grpId="0"/>
      <p:bldP spid="17" grpId="0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350B7B-4237-20DA-C7C4-A67CFF4F30AA}"/>
              </a:ext>
            </a:extLst>
          </p:cNvPr>
          <p:cNvSpPr txBox="1"/>
          <p:nvPr/>
        </p:nvSpPr>
        <p:spPr>
          <a:xfrm>
            <a:off x="551801" y="1752762"/>
            <a:ext cx="26520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E9A8140-BB79-2F48-5033-F78101C502B1}"/>
              </a:ext>
            </a:extLst>
          </p:cNvPr>
          <p:cNvSpPr txBox="1"/>
          <p:nvPr/>
        </p:nvSpPr>
        <p:spPr>
          <a:xfrm>
            <a:off x="950721" y="985882"/>
            <a:ext cx="8068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现在的问题归结为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2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cs typeface="Times New Roman" pitchFamily="18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能否由向量组</a:t>
            </a:r>
            <a:r>
              <a:rPr lang="en-US" altLang="zh-CN" sz="10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CBE0AB-5327-3780-EFA9-DC7CCDAD32F2}"/>
              </a:ext>
            </a:extLst>
          </p:cNvPr>
          <p:cNvSpPr txBox="1"/>
          <p:nvPr/>
        </p:nvSpPr>
        <p:spPr>
          <a:xfrm>
            <a:off x="2840444" y="1738334"/>
            <a:ext cx="17753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令矩阵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4" name="Object 7">
            <a:extLst>
              <a:ext uri="{FF2B5EF4-FFF2-40B4-BE49-F238E27FC236}">
                <a16:creationId xmlns:a16="http://schemas.microsoft.com/office/drawing/2014/main" id="{2A857560-F0A7-492A-8BC3-8DD6B11016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91668"/>
              </p:ext>
            </p:extLst>
          </p:nvPr>
        </p:nvGraphicFramePr>
        <p:xfrm>
          <a:off x="4234355" y="1830969"/>
          <a:ext cx="32877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43120" imgH="431640" progId="Equation.DSMT4">
                  <p:embed/>
                </p:oleObj>
              </mc:Choice>
              <mc:Fallback>
                <p:oleObj name="Equation" r:id="rId3" imgW="3543120" imgH="431640" progId="Equation.DSMT4">
                  <p:embed/>
                  <p:pic>
                    <p:nvPicPr>
                      <p:cNvPr id="46" name="Object 7">
                        <a:extLst>
                          <a:ext uri="{FF2B5EF4-FFF2-40B4-BE49-F238E27FC236}">
                            <a16:creationId xmlns:a16="http://schemas.microsoft.com/office/drawing/2014/main" id="{3C61142F-7A51-93EB-A900-3DFC41CE97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4355" y="1830969"/>
                        <a:ext cx="32877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36508C01-E381-5AE7-C296-AACAFADDB296}"/>
              </a:ext>
            </a:extLst>
          </p:cNvPr>
          <p:cNvSpPr txBox="1"/>
          <p:nvPr/>
        </p:nvSpPr>
        <p:spPr>
          <a:xfrm>
            <a:off x="518568" y="2503821"/>
            <a:ext cx="8589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对矩阵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施行初等行变换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将其化为行最简形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</a:t>
            </a:r>
            <a:r>
              <a:rPr lang="en-US" altLang="zh-CN" b="1" kern="100" dirty="0"/>
              <a:t>,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有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3" name="Object 7">
            <a:extLst>
              <a:ext uri="{FF2B5EF4-FFF2-40B4-BE49-F238E27FC236}">
                <a16:creationId xmlns:a16="http://schemas.microsoft.com/office/drawing/2014/main" id="{9855AC15-F5F0-F14D-CD3E-52D17A9BED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451650"/>
              </p:ext>
            </p:extLst>
          </p:nvPr>
        </p:nvGraphicFramePr>
        <p:xfrm>
          <a:off x="4427984" y="3367043"/>
          <a:ext cx="3476625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46160" imgH="2603160" progId="Equation.DSMT4">
                  <p:embed/>
                </p:oleObj>
              </mc:Choice>
              <mc:Fallback>
                <p:oleObj name="Equation" r:id="rId5" imgW="3746160" imgH="2603160" progId="Equation.DSMT4">
                  <p:embed/>
                  <p:pic>
                    <p:nvPicPr>
                      <p:cNvPr id="42" name="Object 7">
                        <a:extLst>
                          <a:ext uri="{FF2B5EF4-FFF2-40B4-BE49-F238E27FC236}">
                            <a16:creationId xmlns:a16="http://schemas.microsoft.com/office/drawing/2014/main" id="{4F5D6257-9210-285A-0205-A50418D4B7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367043"/>
                        <a:ext cx="3476625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D9B20DC9-D4F3-7FA8-9A6E-FFF9AD65BE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218505"/>
              </p:ext>
            </p:extLst>
          </p:nvPr>
        </p:nvGraphicFramePr>
        <p:xfrm>
          <a:off x="1135485" y="4410536"/>
          <a:ext cx="320516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454200" imgH="431640" progId="Equation.DSMT4">
                  <p:embed/>
                </p:oleObj>
              </mc:Choice>
              <mc:Fallback>
                <p:oleObj name="Equation" r:id="rId7" imgW="3454200" imgH="431640" progId="Equation.DSMT4">
                  <p:embed/>
                  <p:pic>
                    <p:nvPicPr>
                      <p:cNvPr id="14" name="Object 7">
                        <a:extLst>
                          <a:ext uri="{FF2B5EF4-FFF2-40B4-BE49-F238E27FC236}">
                            <a16:creationId xmlns:a16="http://schemas.microsoft.com/office/drawing/2014/main" id="{2A857560-F0A7-492A-8BC3-8DD6B11016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5485" y="4410536"/>
                        <a:ext cx="320516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>
            <a:extLst>
              <a:ext uri="{FF2B5EF4-FFF2-40B4-BE49-F238E27FC236}">
                <a16:creationId xmlns:a16="http://schemas.microsoft.com/office/drawing/2014/main" id="{3A4B8AF9-DB7F-46E7-81C5-FFC09A02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17345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13" grpId="0"/>
      <p:bldP spid="1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682C9B0-2C09-978E-274E-4D9C532EEF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001408"/>
              </p:ext>
            </p:extLst>
          </p:nvPr>
        </p:nvGraphicFramePr>
        <p:xfrm>
          <a:off x="1359709" y="1609631"/>
          <a:ext cx="319087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2720" imgH="838080" progId="Equation.DSMT4">
                  <p:embed/>
                </p:oleObj>
              </mc:Choice>
              <mc:Fallback>
                <p:oleObj name="Equation" r:id="rId3" imgW="342720" imgH="838080" progId="Equation.DSMT4">
                  <p:embed/>
                  <p:pic>
                    <p:nvPicPr>
                      <p:cNvPr id="24" name="Object 7">
                        <a:extLst>
                          <a:ext uri="{FF2B5EF4-FFF2-40B4-BE49-F238E27FC236}">
                            <a16:creationId xmlns:a16="http://schemas.microsoft.com/office/drawing/2014/main" id="{D9B20DC9-D4F3-7FA8-9A6E-FFF9AD65BE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709" y="1609631"/>
                        <a:ext cx="319087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EC2D1D58-6636-84BC-D16C-7270D628A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0758037"/>
              </p:ext>
            </p:extLst>
          </p:nvPr>
        </p:nvGraphicFramePr>
        <p:xfrm>
          <a:off x="1791757" y="732856"/>
          <a:ext cx="2816225" cy="250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35160" imgH="2603160" progId="Equation.DSMT4">
                  <p:embed/>
                </p:oleObj>
              </mc:Choice>
              <mc:Fallback>
                <p:oleObj name="Equation" r:id="rId5" imgW="3035160" imgH="2603160" progId="Equation.DSMT4">
                  <p:embed/>
                  <p:pic>
                    <p:nvPicPr>
                      <p:cNvPr id="23" name="Object 7">
                        <a:extLst>
                          <a:ext uri="{FF2B5EF4-FFF2-40B4-BE49-F238E27FC236}">
                            <a16:creationId xmlns:a16="http://schemas.microsoft.com/office/drawing/2014/main" id="{9855AC15-F5F0-F14D-CD3E-52D17A9BED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1757" y="732856"/>
                        <a:ext cx="2816225" cy="250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71DD8BDA-0235-257A-7CB8-67B4C3BA73EA}"/>
              </a:ext>
            </a:extLst>
          </p:cNvPr>
          <p:cNvSpPr txBox="1"/>
          <p:nvPr/>
        </p:nvSpPr>
        <p:spPr>
          <a:xfrm>
            <a:off x="971600" y="3427985"/>
            <a:ext cx="4818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 kern="10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zh-CN" dirty="0"/>
              <a:t>从行最简形矩阵</a:t>
            </a:r>
            <a:r>
              <a:rPr lang="zh-CN" altLang="en-US" dirty="0"/>
              <a:t>可以</a:t>
            </a:r>
            <a:r>
              <a:rPr lang="zh-CN" altLang="zh-CN" dirty="0"/>
              <a:t>看出</a:t>
            </a:r>
            <a:r>
              <a:rPr lang="en-US" altLang="zh-CN" dirty="0">
                <a:latin typeface="Times New Roman" panose="02020603050405020304" pitchFamily="18" charset="0"/>
              </a:rPr>
              <a:t>:</a:t>
            </a:r>
            <a:endParaRPr lang="zh-CN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D5D09FE5-F6CC-0696-E40C-CCC7B6EDB4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679991"/>
              </p:ext>
            </p:extLst>
          </p:nvPr>
        </p:nvGraphicFramePr>
        <p:xfrm>
          <a:off x="315451" y="4200756"/>
          <a:ext cx="2438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28720" imgH="431640" progId="Equation.DSMT4">
                  <p:embed/>
                </p:oleObj>
              </mc:Choice>
              <mc:Fallback>
                <p:oleObj name="Equation" r:id="rId7" imgW="2628720" imgH="431640" progId="Equation.DSMT4">
                  <p:embed/>
                  <p:pic>
                    <p:nvPicPr>
                      <p:cNvPr id="24" name="Object 7">
                        <a:extLst>
                          <a:ext uri="{FF2B5EF4-FFF2-40B4-BE49-F238E27FC236}">
                            <a16:creationId xmlns:a16="http://schemas.microsoft.com/office/drawing/2014/main" id="{D9B20DC9-D4F3-7FA8-9A6E-FFF9AD65BE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51" y="4200756"/>
                        <a:ext cx="2438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>
            <a:extLst>
              <a:ext uri="{FF2B5EF4-FFF2-40B4-BE49-F238E27FC236}">
                <a16:creationId xmlns:a16="http://schemas.microsoft.com/office/drawing/2014/main" id="{C8573EC2-BEDB-3E8F-BE0A-1A99ED8B30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920189"/>
              </p:ext>
            </p:extLst>
          </p:nvPr>
        </p:nvGraphicFramePr>
        <p:xfrm>
          <a:off x="2843808" y="4199678"/>
          <a:ext cx="2946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174840" imgH="431640" progId="Equation.DSMT4">
                  <p:embed/>
                </p:oleObj>
              </mc:Choice>
              <mc:Fallback>
                <p:oleObj name="Equation" r:id="rId9" imgW="3174840" imgH="431640" progId="Equation.DSMT4">
                  <p:embed/>
                  <p:pic>
                    <p:nvPicPr>
                      <p:cNvPr id="16" name="Object 7">
                        <a:extLst>
                          <a:ext uri="{FF2B5EF4-FFF2-40B4-BE49-F238E27FC236}">
                            <a16:creationId xmlns:a16="http://schemas.microsoft.com/office/drawing/2014/main" id="{D5D09FE5-F6CC-0696-E40C-CCC7B6EDB4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199678"/>
                        <a:ext cx="2946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0706E79F-2326-6B5B-B2DD-4FD0C076A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420391"/>
              </p:ext>
            </p:extLst>
          </p:nvPr>
        </p:nvGraphicFramePr>
        <p:xfrm>
          <a:off x="5894777" y="4199677"/>
          <a:ext cx="29575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87440" imgH="431640" progId="Equation.DSMT4">
                  <p:embed/>
                </p:oleObj>
              </mc:Choice>
              <mc:Fallback>
                <p:oleObj name="Equation" r:id="rId11" imgW="3187440" imgH="431640" progId="Equation.DSMT4">
                  <p:embed/>
                  <p:pic>
                    <p:nvPicPr>
                      <p:cNvPr id="16" name="Object 7">
                        <a:extLst>
                          <a:ext uri="{FF2B5EF4-FFF2-40B4-BE49-F238E27FC236}">
                            <a16:creationId xmlns:a16="http://schemas.microsoft.com/office/drawing/2014/main" id="{D5D09FE5-F6CC-0696-E40C-CCC7B6EDB4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777" y="4199677"/>
                        <a:ext cx="29575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5B0B0920-A671-B9AC-6120-77C9815C9DBA}"/>
              </a:ext>
            </a:extLst>
          </p:cNvPr>
          <p:cNvSpPr txBox="1"/>
          <p:nvPr/>
        </p:nvSpPr>
        <p:spPr>
          <a:xfrm>
            <a:off x="680345" y="4811777"/>
            <a:ext cx="1910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因为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7" name="Object 7">
            <a:extLst>
              <a:ext uri="{FF2B5EF4-FFF2-40B4-BE49-F238E27FC236}">
                <a16:creationId xmlns:a16="http://schemas.microsoft.com/office/drawing/2014/main" id="{23B5283F-9BCC-9A43-A64F-699A20E37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684826"/>
              </p:ext>
            </p:extLst>
          </p:nvPr>
        </p:nvGraphicFramePr>
        <p:xfrm>
          <a:off x="2146801" y="4906562"/>
          <a:ext cx="2438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28720" imgH="431640" progId="Equation.DSMT4">
                  <p:embed/>
                </p:oleObj>
              </mc:Choice>
              <mc:Fallback>
                <p:oleObj name="Equation" r:id="rId13" imgW="2628720" imgH="431640" progId="Equation.DSMT4">
                  <p:embed/>
                  <p:pic>
                    <p:nvPicPr>
                      <p:cNvPr id="16" name="Object 7">
                        <a:extLst>
                          <a:ext uri="{FF2B5EF4-FFF2-40B4-BE49-F238E27FC236}">
                            <a16:creationId xmlns:a16="http://schemas.microsoft.com/office/drawing/2014/main" id="{D5D09FE5-F6CC-0696-E40C-CCC7B6EDB4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801" y="4906562"/>
                        <a:ext cx="2438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0B668C53-B03A-9EDD-CAB0-BE52B5547ABE}"/>
              </a:ext>
            </a:extLst>
          </p:cNvPr>
          <p:cNvSpPr txBox="1"/>
          <p:nvPr/>
        </p:nvSpPr>
        <p:spPr>
          <a:xfrm>
            <a:off x="4788025" y="4852915"/>
            <a:ext cx="40642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所以由定理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3.10</a:t>
            </a:r>
            <a:r>
              <a:rPr lang="en-US" altLang="zh-CN" sz="20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可知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714382-2C12-9D5F-AE4D-4E8A46B12067}"/>
              </a:ext>
            </a:extLst>
          </p:cNvPr>
          <p:cNvSpPr txBox="1"/>
          <p:nvPr/>
        </p:nvSpPr>
        <p:spPr>
          <a:xfrm>
            <a:off x="680345" y="5559799"/>
            <a:ext cx="5109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组</a:t>
            </a:r>
            <a:r>
              <a:rPr lang="en-US" altLang="zh-CN" sz="16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lang="en-US" altLang="zh-CN" b="1" kern="100" baseline="-25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线性无关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E5111E7-7EA4-5E18-8211-BEE8F988F603}"/>
              </a:ext>
            </a:extLst>
          </p:cNvPr>
          <p:cNvGrpSpPr/>
          <p:nvPr/>
        </p:nvGrpSpPr>
        <p:grpSpPr>
          <a:xfrm>
            <a:off x="1805188" y="1208672"/>
            <a:ext cx="2684262" cy="1509714"/>
            <a:chOff x="1630844" y="3736383"/>
            <a:chExt cx="2684262" cy="1509714"/>
          </a:xfrm>
        </p:grpSpPr>
        <p:grpSp>
          <p:nvGrpSpPr>
            <p:cNvPr id="12" name="组合 22">
              <a:extLst>
                <a:ext uri="{FF2B5EF4-FFF2-40B4-BE49-F238E27FC236}">
                  <a16:creationId xmlns:a16="http://schemas.microsoft.com/office/drawing/2014/main" id="{BE7C7867-5753-0C25-4407-4591FB0AEB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0844" y="3736383"/>
              <a:ext cx="947389" cy="503238"/>
              <a:chOff x="2051720" y="5157192"/>
              <a:chExt cx="820939" cy="504056"/>
            </a:xfrm>
          </p:grpSpPr>
          <p:cxnSp>
            <p:nvCxnSpPr>
              <p:cNvPr id="19" name="直接连接符 17">
                <a:extLst>
                  <a:ext uri="{FF2B5EF4-FFF2-40B4-BE49-F238E27FC236}">
                    <a16:creationId xmlns:a16="http://schemas.microsoft.com/office/drawing/2014/main" id="{2FECD597-6358-7264-0C27-3EE47BAA88F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051720" y="5157192"/>
                <a:ext cx="432048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直接连接符 19">
                <a:extLst>
                  <a:ext uri="{FF2B5EF4-FFF2-40B4-BE49-F238E27FC236}">
                    <a16:creationId xmlns:a16="http://schemas.microsoft.com/office/drawing/2014/main" id="{815634FB-1208-86FB-425C-3534E805D34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157192"/>
                <a:ext cx="0" cy="504056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直接连接符 21">
                <a:extLst>
                  <a:ext uri="{FF2B5EF4-FFF2-40B4-BE49-F238E27FC236}">
                    <a16:creationId xmlns:a16="http://schemas.microsoft.com/office/drawing/2014/main" id="{EE33176A-7982-0228-44C1-6F6E3A929D8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483768" y="5661248"/>
                <a:ext cx="388891" cy="0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" name="直接连接符 19">
              <a:extLst>
                <a:ext uri="{FF2B5EF4-FFF2-40B4-BE49-F238E27FC236}">
                  <a16:creationId xmlns:a16="http://schemas.microsoft.com/office/drawing/2014/main" id="{01676008-0B66-F960-0D3C-F70F20E54E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50011" y="4239621"/>
              <a:ext cx="0" cy="50323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17">
              <a:extLst>
                <a:ext uri="{FF2B5EF4-FFF2-40B4-BE49-F238E27FC236}">
                  <a16:creationId xmlns:a16="http://schemas.microsoft.com/office/drawing/2014/main" id="{82055886-B97C-90C8-7619-7CE5E47A92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16509" y="5246097"/>
              <a:ext cx="498597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D678F46F-08A6-3424-0E61-098D48B05E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21592" y="4742859"/>
              <a:ext cx="0" cy="503238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EC49B112-2BD6-0DD7-4136-AC124CAC50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91798" y="4751261"/>
              <a:ext cx="1224711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" name="Rectangle 30">
            <a:extLst>
              <a:ext uri="{FF2B5EF4-FFF2-40B4-BE49-F238E27FC236}">
                <a16:creationId xmlns:a16="http://schemas.microsoft.com/office/drawing/2014/main" id="{24FF4314-6675-4194-B041-8AEF75793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52649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25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7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6" grpId="0"/>
      <p:bldP spid="32" grpId="0"/>
      <p:bldP spid="3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7">
            <a:extLst>
              <a:ext uri="{FF2B5EF4-FFF2-40B4-BE49-F238E27FC236}">
                <a16:creationId xmlns:a16="http://schemas.microsoft.com/office/drawing/2014/main" id="{C8573EC2-BEDB-3E8F-BE0A-1A99ED8B30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551694"/>
              </p:ext>
            </p:extLst>
          </p:nvPr>
        </p:nvGraphicFramePr>
        <p:xfrm>
          <a:off x="4878780" y="802449"/>
          <a:ext cx="2946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4840" imgH="431640" progId="Equation.DSMT4">
                  <p:embed/>
                </p:oleObj>
              </mc:Choice>
              <mc:Fallback>
                <p:oleObj name="Equation" r:id="rId3" imgW="3174840" imgH="431640" progId="Equation.DSMT4">
                  <p:embed/>
                  <p:pic>
                    <p:nvPicPr>
                      <p:cNvPr id="20" name="Object 7">
                        <a:extLst>
                          <a:ext uri="{FF2B5EF4-FFF2-40B4-BE49-F238E27FC236}">
                            <a16:creationId xmlns:a16="http://schemas.microsoft.com/office/drawing/2014/main" id="{C8573EC2-BEDB-3E8F-BE0A-1A99ED8B30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780" y="802449"/>
                        <a:ext cx="2946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5B0B0920-A671-B9AC-6120-77C9815C9DBA}"/>
              </a:ext>
            </a:extLst>
          </p:cNvPr>
          <p:cNvSpPr txBox="1"/>
          <p:nvPr/>
        </p:nvSpPr>
        <p:spPr>
          <a:xfrm>
            <a:off x="981055" y="720725"/>
            <a:ext cx="1910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又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因为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7" name="Object 7">
            <a:extLst>
              <a:ext uri="{FF2B5EF4-FFF2-40B4-BE49-F238E27FC236}">
                <a16:creationId xmlns:a16="http://schemas.microsoft.com/office/drawing/2014/main" id="{23B5283F-9BCC-9A43-A64F-699A20E37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627769"/>
              </p:ext>
            </p:extLst>
          </p:nvPr>
        </p:nvGraphicFramePr>
        <p:xfrm>
          <a:off x="2301557" y="802450"/>
          <a:ext cx="2438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28720" imgH="431640" progId="Equation.DSMT4">
                  <p:embed/>
                </p:oleObj>
              </mc:Choice>
              <mc:Fallback>
                <p:oleObj name="Equation" r:id="rId5" imgW="2628720" imgH="431640" progId="Equation.DSMT4">
                  <p:embed/>
                  <p:pic>
                    <p:nvPicPr>
                      <p:cNvPr id="27" name="Object 7">
                        <a:extLst>
                          <a:ext uri="{FF2B5EF4-FFF2-40B4-BE49-F238E27FC236}">
                            <a16:creationId xmlns:a16="http://schemas.microsoft.com/office/drawing/2014/main" id="{23B5283F-9BCC-9A43-A64F-699A20E372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557" y="802450"/>
                        <a:ext cx="2438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0B668C53-B03A-9EDD-CAB0-BE52B5547ABE}"/>
              </a:ext>
            </a:extLst>
          </p:cNvPr>
          <p:cNvSpPr txBox="1"/>
          <p:nvPr/>
        </p:nvSpPr>
        <p:spPr>
          <a:xfrm>
            <a:off x="475426" y="1419269"/>
            <a:ext cx="39713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所以由定理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3.6</a:t>
            </a:r>
            <a:r>
              <a:rPr lang="en-US" altLang="zh-CN" sz="20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可知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: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714382-2C12-9D5F-AE4D-4E8A46B12067}"/>
              </a:ext>
            </a:extLst>
          </p:cNvPr>
          <p:cNvSpPr txBox="1"/>
          <p:nvPr/>
        </p:nvSpPr>
        <p:spPr>
          <a:xfrm>
            <a:off x="466655" y="5015857"/>
            <a:ext cx="8372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zh-CN" altLang="en-US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en-US" sz="16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种基本类型的混凝土应按</a:t>
            </a:r>
            <a:r>
              <a:rPr lang="zh-CN" altLang="en-US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8%,</a:t>
            </a:r>
            <a:r>
              <a:rPr lang="en-US" altLang="zh-CN" sz="12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56%,</a:t>
            </a:r>
            <a:r>
              <a:rPr lang="en-US" altLang="zh-CN" sz="12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36%</a:t>
            </a:r>
            <a:r>
              <a:rPr lang="en-US" altLang="zh-CN" sz="2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8F7CA2-2919-3283-136B-BC8D0D9CE5DA}"/>
              </a:ext>
            </a:extLst>
          </p:cNvPr>
          <p:cNvSpPr txBox="1"/>
          <p:nvPr/>
        </p:nvSpPr>
        <p:spPr>
          <a:xfrm>
            <a:off x="475425" y="2153124"/>
            <a:ext cx="2675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C</a:t>
            </a:r>
            <a:r>
              <a:rPr lang="en-US" altLang="zh-CN" sz="2000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3C574E0-2396-5C00-8265-E8E3A4A4928E}"/>
              </a:ext>
            </a:extLst>
          </p:cNvPr>
          <p:cNvSpPr txBox="1"/>
          <p:nvPr/>
        </p:nvSpPr>
        <p:spPr>
          <a:xfrm>
            <a:off x="475425" y="2886979"/>
            <a:ext cx="21711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混合而成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9A92DF-DD99-AA1C-B08B-BBD7C915BDFA}"/>
              </a:ext>
            </a:extLst>
          </p:cNvPr>
          <p:cNvSpPr txBox="1"/>
          <p:nvPr/>
        </p:nvSpPr>
        <p:spPr>
          <a:xfrm>
            <a:off x="475425" y="3603022"/>
            <a:ext cx="1883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看出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A42FC55-87DE-90C8-F207-1E19BFAD5508}"/>
              </a:ext>
            </a:extLst>
          </p:cNvPr>
          <p:cNvSpPr txBox="1"/>
          <p:nvPr/>
        </p:nvSpPr>
        <p:spPr>
          <a:xfrm>
            <a:off x="475425" y="4304681"/>
            <a:ext cx="36382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对应于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 </a:t>
            </a:r>
            <a:r>
              <a:rPr lang="zh-CN" altLang="zh-CN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的列向量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8" name="Object 7">
            <a:extLst>
              <a:ext uri="{FF2B5EF4-FFF2-40B4-BE49-F238E27FC236}">
                <a16:creationId xmlns:a16="http://schemas.microsoft.com/office/drawing/2014/main" id="{81CD668A-A985-A116-5284-91570250D1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860513"/>
              </p:ext>
            </p:extLst>
          </p:nvPr>
        </p:nvGraphicFramePr>
        <p:xfrm>
          <a:off x="3745104" y="4314198"/>
          <a:ext cx="2474913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6880" imgH="495000" progId="Equation.DSMT4">
                  <p:embed/>
                </p:oleObj>
              </mc:Choice>
              <mc:Fallback>
                <p:oleObj name="Equation" r:id="rId7" imgW="2666880" imgH="495000" progId="Equation.DSMT4">
                  <p:embed/>
                  <p:pic>
                    <p:nvPicPr>
                      <p:cNvPr id="22" name="Object 7">
                        <a:extLst>
                          <a:ext uri="{FF2B5EF4-FFF2-40B4-BE49-F238E27FC236}">
                            <a16:creationId xmlns:a16="http://schemas.microsoft.com/office/drawing/2014/main" id="{0706E79F-2326-6B5B-B2DD-4FD0C076A9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5104" y="4314198"/>
                        <a:ext cx="2474913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25201A45-B086-28B1-3CA4-FE3E34833864}"/>
              </a:ext>
            </a:extLst>
          </p:cNvPr>
          <p:cNvSpPr txBox="1"/>
          <p:nvPr/>
        </p:nvSpPr>
        <p:spPr>
          <a:xfrm>
            <a:off x="6462957" y="4289104"/>
            <a:ext cx="2304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说明</a:t>
            </a:r>
            <a:r>
              <a:rPr lang="zh-CN" altLang="en-US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A,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B,</a:t>
            </a:r>
            <a:r>
              <a:rPr lang="en-US" altLang="zh-CN" sz="1000" b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63CA84B-2A77-00FC-331E-648558DE8F99}"/>
              </a:ext>
            </a:extLst>
          </p:cNvPr>
          <p:cNvSpPr txBox="1"/>
          <p:nvPr/>
        </p:nvSpPr>
        <p:spPr>
          <a:xfrm>
            <a:off x="475424" y="5775286"/>
            <a:ext cx="21711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比例</a:t>
            </a:r>
            <a:r>
              <a:rPr lang="zh-CN" altLang="en-US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调配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E0C391A-12E4-EB7A-74EA-72D2421EAD71}"/>
              </a:ext>
            </a:extLst>
          </p:cNvPr>
          <p:cNvSpPr txBox="1"/>
          <p:nvPr/>
        </p:nvSpPr>
        <p:spPr>
          <a:xfrm>
            <a:off x="4014684" y="1429009"/>
            <a:ext cx="4752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en-US" altLang="zh-CN" sz="2000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可由向量组</a:t>
            </a:r>
            <a:r>
              <a:rPr lang="en-US" altLang="zh-CN" sz="16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16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2CFFE7-3CF1-E036-9F32-190336109DC0}"/>
              </a:ext>
            </a:extLst>
          </p:cNvPr>
          <p:cNvSpPr txBox="1"/>
          <p:nvPr/>
        </p:nvSpPr>
        <p:spPr>
          <a:xfrm>
            <a:off x="2790548" y="2143383"/>
            <a:ext cx="5780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1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可由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种基本类型的混凝土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703801-547A-EA24-ABB6-0B819E7AC2F0}"/>
              </a:ext>
            </a:extLst>
          </p:cNvPr>
          <p:cNvSpPr txBox="1"/>
          <p:nvPr/>
        </p:nvSpPr>
        <p:spPr>
          <a:xfrm>
            <a:off x="2301557" y="2873202"/>
            <a:ext cx="64656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所需的混合比例也可从行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最简形矩阵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201F64E6-2BD7-47CB-B34F-D750459B9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22355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33" grpId="0"/>
      <p:bldP spid="12" grpId="0"/>
      <p:bldP spid="13" grpId="0"/>
      <p:bldP spid="17" grpId="0"/>
      <p:bldP spid="19" grpId="0"/>
      <p:bldP spid="29" grpId="0"/>
      <p:bldP spid="30" grpId="0"/>
      <p:bldP spid="8" grpId="0"/>
      <p:bldP spid="9" grpId="0"/>
      <p:bldP spid="1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">
            <a:hlinkClick r:id="rId2" action="ppaction://hlinksldjump"/>
            <a:extLst>
              <a:ext uri="{FF2B5EF4-FFF2-40B4-BE49-F238E27FC236}">
                <a16:creationId xmlns:a16="http://schemas.microsoft.com/office/drawing/2014/main" id="{2BDAA7FE-125C-4DFA-9E74-618E84ACB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8925"/>
            <a:ext cx="40322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7">
            <a:extLst>
              <a:ext uri="{FF2B5EF4-FFF2-40B4-BE49-F238E27FC236}">
                <a16:creationId xmlns:a16="http://schemas.microsoft.com/office/drawing/2014/main" id="{0706E79F-2326-6B5B-B2DD-4FD0C076A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314724"/>
              </p:ext>
            </p:extLst>
          </p:nvPr>
        </p:nvGraphicFramePr>
        <p:xfrm>
          <a:off x="4566136" y="2510802"/>
          <a:ext cx="29575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87440" imgH="431640" progId="Equation.DSMT4">
                  <p:embed/>
                </p:oleObj>
              </mc:Choice>
              <mc:Fallback>
                <p:oleObj name="Equation" r:id="rId3" imgW="3187440" imgH="431640" progId="Equation.DSMT4">
                  <p:embed/>
                  <p:pic>
                    <p:nvPicPr>
                      <p:cNvPr id="22" name="Object 7">
                        <a:extLst>
                          <a:ext uri="{FF2B5EF4-FFF2-40B4-BE49-F238E27FC236}">
                            <a16:creationId xmlns:a16="http://schemas.microsoft.com/office/drawing/2014/main" id="{0706E79F-2326-6B5B-B2DD-4FD0C076A9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6136" y="2510802"/>
                        <a:ext cx="29575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DF92ADBF-E0B6-B307-1CA8-4CBE891060C2}"/>
              </a:ext>
            </a:extLst>
          </p:cNvPr>
          <p:cNvSpPr txBox="1"/>
          <p:nvPr/>
        </p:nvSpPr>
        <p:spPr>
          <a:xfrm>
            <a:off x="1043608" y="1039029"/>
            <a:ext cx="48965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客户需要</a:t>
            </a:r>
            <a:r>
              <a:rPr lang="en-US" altLang="zh-CN" sz="1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cs typeface="Times New Roman" panose="02020603050405020304" pitchFamily="18" charset="0"/>
              </a:rPr>
              <a:t>5000</a:t>
            </a:r>
            <a:r>
              <a:rPr lang="en-US" altLang="zh-CN" sz="1000" b="1" kern="100" dirty="0"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kg</a:t>
            </a:r>
            <a:r>
              <a:rPr lang="en-US" altLang="zh-CN" sz="2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混凝土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, 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AE2CB8-AB0A-29EF-1675-2B9CB9EA54AB}"/>
              </a:ext>
            </a:extLst>
          </p:cNvPr>
          <p:cNvSpPr txBox="1"/>
          <p:nvPr/>
        </p:nvSpPr>
        <p:spPr>
          <a:xfrm>
            <a:off x="5220071" y="1040903"/>
            <a:ext cx="34563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10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000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基本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类型</a:t>
            </a:r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</a:t>
            </a: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3EDADFC-82DE-F11C-10E0-2E4A6C8DE562}"/>
              </a:ext>
            </a:extLst>
          </p:cNvPr>
          <p:cNvSpPr txBox="1"/>
          <p:nvPr/>
        </p:nvSpPr>
        <p:spPr>
          <a:xfrm>
            <a:off x="489931" y="2427728"/>
            <a:ext cx="1910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因为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15" name="Object 7">
            <a:extLst>
              <a:ext uri="{FF2B5EF4-FFF2-40B4-BE49-F238E27FC236}">
                <a16:creationId xmlns:a16="http://schemas.microsoft.com/office/drawing/2014/main" id="{DD33E781-DAA8-FF45-01CE-FCFCFB2341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856907"/>
              </p:ext>
            </p:extLst>
          </p:nvPr>
        </p:nvGraphicFramePr>
        <p:xfrm>
          <a:off x="1907957" y="2522513"/>
          <a:ext cx="24384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28720" imgH="431640" progId="Equation.DSMT4">
                  <p:embed/>
                </p:oleObj>
              </mc:Choice>
              <mc:Fallback>
                <p:oleObj name="Equation" r:id="rId5" imgW="2628720" imgH="431640" progId="Equation.DSMT4">
                  <p:embed/>
                  <p:pic>
                    <p:nvPicPr>
                      <p:cNvPr id="27" name="Object 7">
                        <a:extLst>
                          <a:ext uri="{FF2B5EF4-FFF2-40B4-BE49-F238E27FC236}">
                            <a16:creationId xmlns:a16="http://schemas.microsoft.com/office/drawing/2014/main" id="{23B5283F-9BCC-9A43-A64F-699A20E372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957" y="2522513"/>
                        <a:ext cx="24384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文本框 23">
            <a:extLst>
              <a:ext uri="{FF2B5EF4-FFF2-40B4-BE49-F238E27FC236}">
                <a16:creationId xmlns:a16="http://schemas.microsoft.com/office/drawing/2014/main" id="{735B927F-13CE-976E-4392-BC43BFD0AFBA}"/>
              </a:ext>
            </a:extLst>
          </p:cNvPr>
          <p:cNvSpPr txBox="1"/>
          <p:nvPr/>
        </p:nvSpPr>
        <p:spPr>
          <a:xfrm>
            <a:off x="508902" y="3167390"/>
            <a:ext cx="8095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所以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不能由向量组</a:t>
            </a:r>
            <a:r>
              <a:rPr lang="en-US" altLang="zh-CN" sz="2000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</a:t>
            </a:r>
            <a:r>
              <a:rPr lang="en-US" altLang="zh-CN" sz="2000" b="1" i="1" dirty="0">
                <a:solidFill>
                  <a:schemeClr val="tx1"/>
                </a:solidFill>
                <a:ea typeface="黑体" panose="02010609060101010101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V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C 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线性表示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,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688F37A-06D6-1FAD-498D-A4C53F8D933A}"/>
              </a:ext>
            </a:extLst>
          </p:cNvPr>
          <p:cNvSpPr txBox="1"/>
          <p:nvPr/>
        </p:nvSpPr>
        <p:spPr>
          <a:xfrm>
            <a:off x="489931" y="3924901"/>
            <a:ext cx="8186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即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不能由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种基本类型的混凝土混合而成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9B812C-0E77-744F-4729-84E59A747731}"/>
              </a:ext>
            </a:extLst>
          </p:cNvPr>
          <p:cNvSpPr txBox="1"/>
          <p:nvPr/>
        </p:nvSpPr>
        <p:spPr>
          <a:xfrm>
            <a:off x="489931" y="1680337"/>
            <a:ext cx="63863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混凝土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各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占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400kg,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2800kg,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1800kg.</a:t>
            </a:r>
            <a:endParaRPr lang="zh-CN" altLang="en-US" b="1" dirty="0">
              <a:cs typeface="Times New Roman" panose="02020603050405020304" pitchFamily="18" charset="0"/>
            </a:endParaRP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725079F8-0AD3-4CF4-A117-020F6F06E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66204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7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24" grpId="0"/>
      <p:bldP spid="25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>
            <a:extLst>
              <a:ext uri="{FF2B5EF4-FFF2-40B4-BE49-F238E27FC236}">
                <a16:creationId xmlns:a16="http://schemas.microsoft.com/office/drawing/2014/main" id="{3D4514FE-7109-1C12-9DBE-A7FEFC620335}"/>
              </a:ext>
            </a:extLst>
          </p:cNvPr>
          <p:cNvSpPr txBox="1"/>
          <p:nvPr/>
        </p:nvSpPr>
        <p:spPr>
          <a:xfrm>
            <a:off x="548082" y="2745084"/>
            <a:ext cx="28830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基本混凝土中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DE52088-8FBC-00D8-6842-1F9261520593}"/>
              </a:ext>
            </a:extLst>
          </p:cNvPr>
          <p:cNvSpPr txBox="1"/>
          <p:nvPr/>
        </p:nvSpPr>
        <p:spPr>
          <a:xfrm>
            <a:off x="536864" y="3495409"/>
            <a:ext cx="2494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混合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390D757-8DF3-04F9-D54C-33AC87FC7559}"/>
              </a:ext>
            </a:extLst>
          </p:cNvPr>
          <p:cNvSpPr txBox="1"/>
          <p:nvPr/>
        </p:nvSpPr>
        <p:spPr>
          <a:xfrm>
            <a:off x="1645454" y="3500209"/>
            <a:ext cx="532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合成的混凝土的含水量都是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1/6,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A3C17A-8DD1-D651-4EAD-BCA4C9D568C6}"/>
              </a:ext>
            </a:extLst>
          </p:cNvPr>
          <p:cNvSpPr txBox="1"/>
          <p:nvPr/>
        </p:nvSpPr>
        <p:spPr>
          <a:xfrm>
            <a:off x="3123207" y="2772206"/>
            <a:ext cx="2952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含水量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都是</a:t>
            </a:r>
            <a:r>
              <a:rPr lang="en-US" altLang="zh-CN" sz="2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1/6,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448C18-9E4F-A445-7911-32036B91A0B3}"/>
              </a:ext>
            </a:extLst>
          </p:cNvPr>
          <p:cNvSpPr txBox="1"/>
          <p:nvPr/>
        </p:nvSpPr>
        <p:spPr>
          <a:xfrm>
            <a:off x="811408" y="1337594"/>
            <a:ext cx="80431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混凝土由</a:t>
            </a:r>
            <a:r>
              <a:rPr lang="en-US" altLang="zh-CN" sz="1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1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种原料配成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0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如果要能配成任何比例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DACB93-AE4F-7E5F-AF08-2F1E0D6FB16A}"/>
              </a:ext>
            </a:extLst>
          </p:cNvPr>
          <p:cNvSpPr txBox="1"/>
          <p:nvPr/>
        </p:nvSpPr>
        <p:spPr>
          <a:xfrm>
            <a:off x="536864" y="2045643"/>
            <a:ext cx="6480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则至少要自由地改变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种原料的分量</a:t>
            </a:r>
            <a:r>
              <a:rPr lang="en-US" altLang="zh-CN" b="1" kern="100" dirty="0">
                <a:ea typeface="华文中宋" panose="02010600040101010101" pitchFamily="2" charset="-122"/>
                <a:cs typeface="Times New Roman" panose="02020603050405020304" pitchFamily="18" charset="0"/>
              </a:rPr>
              <a:t>.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2A09BE-DBC2-05B3-27A7-8EAE3093ABA7}"/>
              </a:ext>
            </a:extLst>
          </p:cNvPr>
          <p:cNvSpPr txBox="1"/>
          <p:nvPr/>
        </p:nvSpPr>
        <p:spPr>
          <a:xfrm>
            <a:off x="6579591" y="2040993"/>
            <a:ext cx="23469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在这</a:t>
            </a:r>
            <a:r>
              <a:rPr lang="en-US" altLang="zh-CN" sz="16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6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76CC012-CCDF-9E6C-97BD-5E3E45295D9C}"/>
              </a:ext>
            </a:extLst>
          </p:cNvPr>
          <p:cNvSpPr txBox="1"/>
          <p:nvPr/>
        </p:nvSpPr>
        <p:spPr>
          <a:xfrm>
            <a:off x="5859511" y="2770601"/>
            <a:ext cx="2995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因此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不论如何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B2A3D16-200B-0CB5-1B9E-916D90BF0FEE}"/>
              </a:ext>
            </a:extLst>
          </p:cNvPr>
          <p:cNvSpPr txBox="1"/>
          <p:nvPr/>
        </p:nvSpPr>
        <p:spPr>
          <a:xfrm>
            <a:off x="522981" y="4199650"/>
            <a:ext cx="5192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要求的混凝土含水量不是</a:t>
            </a:r>
            <a:r>
              <a:rPr lang="en-US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1/6,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1660B3F-4BB4-27B8-7F93-F153670490E4}"/>
              </a:ext>
            </a:extLst>
          </p:cNvPr>
          <p:cNvSpPr txBox="1"/>
          <p:nvPr/>
        </p:nvSpPr>
        <p:spPr>
          <a:xfrm>
            <a:off x="5479822" y="4206859"/>
            <a:ext cx="34467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则无法由</a:t>
            </a:r>
            <a:r>
              <a:rPr lang="zh-CN" altLang="en-US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100" dirty="0"/>
              <a:t>A,</a:t>
            </a:r>
            <a:r>
              <a:rPr lang="en-US" altLang="zh-CN" sz="2000" b="1" kern="100" dirty="0"/>
              <a:t> </a:t>
            </a:r>
            <a:r>
              <a:rPr lang="en-US" altLang="zh-CN" b="1" kern="100" dirty="0"/>
              <a:t>B,</a:t>
            </a:r>
            <a:r>
              <a:rPr lang="en-US" altLang="zh-CN" sz="2000" b="1" kern="100" dirty="0"/>
              <a:t> </a:t>
            </a:r>
            <a:r>
              <a:rPr lang="en-US" altLang="zh-CN" b="1" kern="100" dirty="0"/>
              <a:t>C</a:t>
            </a:r>
            <a:r>
              <a:rPr lang="en-US" altLang="zh-CN" sz="2000" b="1" kern="100" dirty="0"/>
              <a:t>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39F60A7-EFAA-EE01-34D6-BF4C76723C72}"/>
              </a:ext>
            </a:extLst>
          </p:cNvPr>
          <p:cNvSpPr txBox="1"/>
          <p:nvPr/>
        </p:nvSpPr>
        <p:spPr>
          <a:xfrm>
            <a:off x="5479822" y="4892074"/>
            <a:ext cx="33747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W</a:t>
            </a:r>
            <a:r>
              <a:rPr lang="en-US" altLang="zh-CN" b="1" baseline="-250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2 </a:t>
            </a:r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要求的成分就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59C4C01-9FB1-35EF-F2B2-E7180487A83B}"/>
              </a:ext>
            </a:extLst>
          </p:cNvPr>
          <p:cNvSpPr txBox="1"/>
          <p:nvPr/>
        </p:nvSpPr>
        <p:spPr>
          <a:xfrm>
            <a:off x="3712718" y="646831"/>
            <a:ext cx="17185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000" b="1" kern="100" dirty="0">
                <a:solidFill>
                  <a:srgbClr val="C0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说明</a:t>
            </a:r>
            <a:endParaRPr lang="zh-CN" altLang="en-US" sz="3000" b="1" dirty="0">
              <a:solidFill>
                <a:srgbClr val="C00000"/>
              </a:solidFill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A2A4D77-3851-F3C9-48ED-2C3DEFDB15BB}"/>
              </a:ext>
            </a:extLst>
          </p:cNvPr>
          <p:cNvSpPr txBox="1"/>
          <p:nvPr/>
        </p:nvSpPr>
        <p:spPr>
          <a:xfrm>
            <a:off x="511620" y="4899091"/>
            <a:ext cx="54786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en-US" sz="12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16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种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基本</a:t>
            </a:r>
            <a:r>
              <a:rPr lang="zh-CN" altLang="zh-CN" b="1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类型</a:t>
            </a:r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的混凝土配出</a:t>
            </a:r>
            <a:r>
              <a:rPr lang="en-US" altLang="zh-CN" sz="2800" b="1" kern="100" dirty="0">
                <a:effectLst/>
                <a:ea typeface="华文中宋" panose="02010600040101010101" pitchFamily="2" charset="-122"/>
                <a:cs typeface="Times New Roman" panose="02020603050405020304" pitchFamily="18" charset="0"/>
              </a:rPr>
              <a:t>,</a:t>
            </a:r>
            <a:endParaRPr lang="zh-CN" altLang="en-US" b="1" dirty="0"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9037074-2113-257B-E313-5A2B325A64D1}"/>
              </a:ext>
            </a:extLst>
          </p:cNvPr>
          <p:cNvSpPr txBox="1"/>
          <p:nvPr/>
        </p:nvSpPr>
        <p:spPr>
          <a:xfrm>
            <a:off x="511620" y="5649416"/>
            <a:ext cx="3145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属于这种情况</a:t>
            </a:r>
            <a:r>
              <a:rPr lang="en-US" altLang="zh-CN" b="1" dirty="0">
                <a:solidFill>
                  <a:schemeClr val="tx1"/>
                </a:solidFill>
                <a:ea typeface="宋体" charset="-122"/>
              </a:rPr>
              <a:t>.</a:t>
            </a:r>
            <a:endParaRPr lang="zh-CN" altLang="en-US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84D3682-D2C0-FCBE-E404-3323D6BD3402}"/>
              </a:ext>
            </a:extLst>
          </p:cNvPr>
          <p:cNvSpPr txBox="1"/>
          <p:nvPr/>
        </p:nvSpPr>
        <p:spPr>
          <a:xfrm>
            <a:off x="6974174" y="3488143"/>
            <a:ext cx="1589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sz="28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客户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3" name="Rectangle 30">
            <a:extLst>
              <a:ext uri="{FF2B5EF4-FFF2-40B4-BE49-F238E27FC236}">
                <a16:creationId xmlns:a16="http://schemas.microsoft.com/office/drawing/2014/main" id="{B6C560FA-3555-4EAE-9F40-5061A4E7B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-8243"/>
            <a:ext cx="8043170" cy="49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向量组的线性相关性的应用</a:t>
            </a:r>
            <a:endParaRPr kumimoji="1" lang="zh-CN" altLang="en-US" sz="2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876506"/>
      </p:ext>
    </p:extLst>
  </p:cSld>
  <p:clrMapOvr>
    <a:masterClrMapping/>
  </p:clrMapOvr>
  <p:transition spd="slow">
    <p:split orient="vert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9BF13833-45B6-4AAA-B73B-C5518CFEB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77" y="1268760"/>
            <a:ext cx="6965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基本问题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向量组的线性相关性的定义是什么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035" name="Line 12">
            <a:extLst>
              <a:ext uri="{FF2B5EF4-FFF2-40B4-BE49-F238E27FC236}">
                <a16:creationId xmlns:a16="http://schemas.microsoft.com/office/drawing/2014/main" id="{80982FA9-26BC-4A95-9851-2F2FC5A77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836613"/>
            <a:ext cx="9144000" cy="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4037" name="Text Box 2">
            <a:extLst>
              <a:ext uri="{FF2B5EF4-FFF2-40B4-BE49-F238E27FC236}">
                <a16:creationId xmlns:a16="http://schemas.microsoft.com/office/drawing/2014/main" id="{EA77B2B6-8A95-4258-8CFE-AE1C4CC4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523" y="34686"/>
            <a:ext cx="5407025" cy="63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向量组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的线性相关性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小结</a:t>
            </a:r>
          </a:p>
        </p:txBody>
      </p:sp>
      <p:sp>
        <p:nvSpPr>
          <p:cNvPr id="2" name="爆炸形: 8 pt  1">
            <a:extLst>
              <a:ext uri="{FF2B5EF4-FFF2-40B4-BE49-F238E27FC236}">
                <a16:creationId xmlns:a16="http://schemas.microsoft.com/office/drawing/2014/main" id="{53382267-904B-4FCD-A0F5-4D7098E0F9EF}"/>
              </a:ext>
            </a:extLst>
          </p:cNvPr>
          <p:cNvSpPr/>
          <p:nvPr/>
        </p:nvSpPr>
        <p:spPr bwMode="auto">
          <a:xfrm>
            <a:off x="669181" y="1420267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185E265-DE75-4DB9-8ED5-2F0295195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77" y="1860848"/>
            <a:ext cx="81380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重点问题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如何判别一个向量组是线性相关还是线性无关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爆炸形: 8 pt  27">
            <a:extLst>
              <a:ext uri="{FF2B5EF4-FFF2-40B4-BE49-F238E27FC236}">
                <a16:creationId xmlns:a16="http://schemas.microsoft.com/office/drawing/2014/main" id="{248C877F-9883-4098-8C1C-B2D41EE58B18}"/>
              </a:ext>
            </a:extLst>
          </p:cNvPr>
          <p:cNvSpPr/>
          <p:nvPr/>
        </p:nvSpPr>
        <p:spPr bwMode="auto">
          <a:xfrm>
            <a:off x="689542" y="199710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D45D5E3B-7792-41DB-B7B3-A7C01A97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1" y="2971786"/>
            <a:ext cx="79209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难点问题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向量组的线性相关性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有哪些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重要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相关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结论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爆炸形: 8 pt  33">
            <a:extLst>
              <a:ext uri="{FF2B5EF4-FFF2-40B4-BE49-F238E27FC236}">
                <a16:creationId xmlns:a16="http://schemas.microsoft.com/office/drawing/2014/main" id="{B23A7B6D-0423-4C9B-B3FA-23D5B0DAEF34}"/>
              </a:ext>
            </a:extLst>
          </p:cNvPr>
          <p:cNvSpPr/>
          <p:nvPr/>
        </p:nvSpPr>
        <p:spPr bwMode="auto">
          <a:xfrm>
            <a:off x="670630" y="3067199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7FAD9148-9271-4382-ACAF-806CF34C9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76" y="3556587"/>
            <a:ext cx="81533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实践问题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向量组的线性相关性有哪些现实生活中的应用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lang="en-US" altLang="zh-CN" sz="2400" b="1" dirty="0">
              <a:solidFill>
                <a:srgbClr val="0000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6" name="爆炸形: 8 pt  25">
            <a:extLst>
              <a:ext uri="{FF2B5EF4-FFF2-40B4-BE49-F238E27FC236}">
                <a16:creationId xmlns:a16="http://schemas.microsoft.com/office/drawing/2014/main" id="{082BB6DD-8C1D-41CE-AA78-9834A7F65212}"/>
              </a:ext>
            </a:extLst>
          </p:cNvPr>
          <p:cNvSpPr/>
          <p:nvPr/>
        </p:nvSpPr>
        <p:spPr bwMode="auto">
          <a:xfrm>
            <a:off x="673207" y="4256656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910E4721-4835-429B-A2A3-E5E18CA7B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804" y="4125566"/>
            <a:ext cx="81369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拓展问题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向量组的线性相关性与齐次线性方程组的解有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爆炸形: 8 pt  29">
            <a:extLst>
              <a:ext uri="{FF2B5EF4-FFF2-40B4-BE49-F238E27FC236}">
                <a16:creationId xmlns:a16="http://schemas.microsoft.com/office/drawing/2014/main" id="{FBB8E06C-C25A-473E-91F8-3070EDFE2E38}"/>
              </a:ext>
            </a:extLst>
          </p:cNvPr>
          <p:cNvSpPr/>
          <p:nvPr/>
        </p:nvSpPr>
        <p:spPr bwMode="auto">
          <a:xfrm>
            <a:off x="685304" y="3691662"/>
            <a:ext cx="213994" cy="259253"/>
          </a:xfrm>
          <a:prstGeom prst="irregularSeal1">
            <a:avLst/>
          </a:prstGeom>
          <a:solidFill>
            <a:srgbClr val="969696"/>
          </a:solidFill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triangle" w="med" len="med"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>
              <a:ln w="22225">
                <a:solidFill>
                  <a:srgbClr val="0000FF"/>
                </a:solidFill>
                <a:prstDash val="solid"/>
              </a:ln>
              <a:solidFill>
                <a:srgbClr val="B2B2B2">
                  <a:lumMod val="40000"/>
                  <a:lumOff val="60000"/>
                </a:srgbClr>
              </a:solidFill>
              <a:effectLst>
                <a:glow rad="228600">
                  <a:srgbClr val="B2B2B2">
                    <a:satMod val="175000"/>
                    <a:alpha val="40000"/>
                  </a:srgbClr>
                </a:glo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44059" name="Picture 11">
            <a:extLst>
              <a:ext uri="{FF2B5EF4-FFF2-40B4-BE49-F238E27FC236}">
                <a16:creationId xmlns:a16="http://schemas.microsoft.com/office/drawing/2014/main" id="{F6B0C0DB-4097-40EC-AC71-84AE9EC490A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863" y="-9525"/>
            <a:ext cx="1014413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CD994356-B386-4856-8731-892828B0A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534" y="2400073"/>
            <a:ext cx="33526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有哪些常用的方法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EEBF10F-4EBE-5BDC-8A22-79ADDDBD1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534" y="4722127"/>
            <a:ext cx="24164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  <a:defRPr/>
            </a:pPr>
            <a:r>
              <a:rPr lang="zh-CN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何内在联系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786036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2" grpId="0"/>
      <p:bldP spid="29" grpId="0"/>
      <p:bldP spid="24" grpId="0"/>
      <p:bldP spid="27" grpId="0"/>
      <p:bldP spid="18" grpId="0"/>
      <p:bldP spid="5" grpId="0"/>
    </p:bldLst>
  </p:timing>
</p:sld>
</file>

<file path=ppt/theme/theme1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FFFFF"/>
      </a:accent3>
      <a:accent4>
        <a:srgbClr val="000000"/>
      </a:accent4>
      <a:accent5>
        <a:srgbClr val="C0E5AF"/>
      </a:accent5>
      <a:accent6>
        <a:srgbClr val="D4126E"/>
      </a:accent6>
      <a:hlink>
        <a:srgbClr val="EB8803"/>
      </a:hlink>
      <a:folHlink>
        <a:srgbClr val="5F7791"/>
      </a:folHlink>
    </a:clrScheme>
    <a:fontScheme name="默认设计模板">
      <a:majorFont>
        <a:latin typeface="Times New Roman"/>
        <a:ea typeface="黑体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习题课模板">
  <a:themeElements>
    <a:clrScheme name="2_习题课模板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习题课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习题课模板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习题课模板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习题课模板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主题2</Template>
  <TotalTime>21871</TotalTime>
  <Words>3879</Words>
  <Application>Microsoft Office PowerPoint</Application>
  <PresentationFormat>全屏显示(4:3)</PresentationFormat>
  <Paragraphs>406</Paragraphs>
  <Slides>45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黑体</vt:lpstr>
      <vt:lpstr>华文中宋</vt:lpstr>
      <vt:lpstr>宋体</vt:lpstr>
      <vt:lpstr>Arial</vt:lpstr>
      <vt:lpstr>Arial Black</vt:lpstr>
      <vt:lpstr>Calibri</vt:lpstr>
      <vt:lpstr>Symbol</vt:lpstr>
      <vt:lpstr>Times New Roman</vt:lpstr>
      <vt:lpstr>Wingdings</vt:lpstr>
      <vt:lpstr>1_默认设计模板</vt:lpstr>
      <vt:lpstr>2_默认设计模板</vt:lpstr>
      <vt:lpstr>2_习题课模板</vt:lpstr>
      <vt:lpstr>2_Pixel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 lilian</dc:creator>
  <cp:lastModifiedBy>rong jiang</cp:lastModifiedBy>
  <cp:revision>1126</cp:revision>
  <dcterms:created xsi:type="dcterms:W3CDTF">2012-06-17T01:12:18Z</dcterms:created>
  <dcterms:modified xsi:type="dcterms:W3CDTF">2023-08-25T06:13:01Z</dcterms:modified>
</cp:coreProperties>
</file>