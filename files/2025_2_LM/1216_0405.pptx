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66" r:id="rId1"/>
    <p:sldMasterId id="2147485255" r:id="rId2"/>
    <p:sldMasterId id="2147485458" r:id="rId3"/>
    <p:sldMasterId id="2147487332" r:id="rId4"/>
  </p:sldMasterIdLst>
  <p:notesMasterIdLst>
    <p:notesMasterId r:id="rId43"/>
  </p:notesMasterIdLst>
  <p:handoutMasterIdLst>
    <p:handoutMasterId r:id="rId44"/>
  </p:handoutMasterIdLst>
  <p:sldIdLst>
    <p:sldId id="1456" r:id="rId5"/>
    <p:sldId id="1129" r:id="rId6"/>
    <p:sldId id="1457" r:id="rId7"/>
    <p:sldId id="1381" r:id="rId8"/>
    <p:sldId id="1380" r:id="rId9"/>
    <p:sldId id="1458" r:id="rId10"/>
    <p:sldId id="1391" r:id="rId11"/>
    <p:sldId id="1460" r:id="rId12"/>
    <p:sldId id="1393" r:id="rId13"/>
    <p:sldId id="1459" r:id="rId14"/>
    <p:sldId id="1394" r:id="rId15"/>
    <p:sldId id="1461" r:id="rId16"/>
    <p:sldId id="1401" r:id="rId17"/>
    <p:sldId id="1402" r:id="rId18"/>
    <p:sldId id="1455" r:id="rId19"/>
    <p:sldId id="1454" r:id="rId20"/>
    <p:sldId id="1403" r:id="rId21"/>
    <p:sldId id="1404" r:id="rId22"/>
    <p:sldId id="1406" r:id="rId23"/>
    <p:sldId id="1452" r:id="rId24"/>
    <p:sldId id="1462" r:id="rId25"/>
    <p:sldId id="1438" r:id="rId26"/>
    <p:sldId id="1439" r:id="rId27"/>
    <p:sldId id="1422" r:id="rId28"/>
    <p:sldId id="1423" r:id="rId29"/>
    <p:sldId id="1424" r:id="rId30"/>
    <p:sldId id="1425" r:id="rId31"/>
    <p:sldId id="1426" r:id="rId32"/>
    <p:sldId id="1358" r:id="rId33"/>
    <p:sldId id="1359" r:id="rId34"/>
    <p:sldId id="1360" r:id="rId35"/>
    <p:sldId id="1373" r:id="rId36"/>
    <p:sldId id="1362" r:id="rId37"/>
    <p:sldId id="1374" r:id="rId38"/>
    <p:sldId id="1375" r:id="rId39"/>
    <p:sldId id="1377" r:id="rId40"/>
    <p:sldId id="1378" r:id="rId41"/>
    <p:sldId id="1232" r:id="rId4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3333FF"/>
    <a:srgbClr val="6666FF"/>
    <a:srgbClr val="969696"/>
    <a:srgbClr val="2B2BFF"/>
    <a:srgbClr val="FFFFFF"/>
    <a:srgbClr val="C7E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24" autoAdjust="0"/>
    <p:restoredTop sz="93807" autoAdjust="0"/>
  </p:normalViewPr>
  <p:slideViewPr>
    <p:cSldViewPr>
      <p:cViewPr varScale="1">
        <p:scale>
          <a:sx n="73" d="100"/>
          <a:sy n="73" d="100"/>
        </p:scale>
        <p:origin x="147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98"/>
    </p:cViewPr>
  </p:sorterViewPr>
  <p:notesViewPr>
    <p:cSldViewPr>
      <p:cViewPr varScale="1">
        <p:scale>
          <a:sx n="56" d="100"/>
          <a:sy n="56" d="100"/>
        </p:scale>
        <p:origin x="285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7EA380C-BE2C-4282-97A2-63FF308284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D8108A-6D14-45B9-AD48-86AFA29CEE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329B3-F25B-48AB-B184-ECF14D006430}" type="datetimeFigureOut">
              <a:rPr lang="zh-CN" altLang="en-US" smtClean="0"/>
              <a:t>2023/8/26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4173B7-E60B-473E-80B6-27B9FC1A9E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7442B8-CFD7-4D5A-A40F-5330847ED2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C3A003-A97D-492E-97B5-C17D5102C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236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8D1E8CF-2E05-42CF-946C-A234E5F000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7632EF-962B-4C32-944C-9D48ADC75C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D2B7DC5F-3EFA-4251-8C20-6E9EC7819C7B}" type="datetimeFigureOut">
              <a:rPr lang="zh-CN" altLang="en-US"/>
              <a:pPr>
                <a:defRPr/>
              </a:pPr>
              <a:t>2023/8/26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05BBDC4-6710-4A89-977B-5A8CCDD9C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7B5BEF2-2FAA-4DA0-A019-CDD72CD60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9C5AE9-932A-4B24-8907-3288CEB58A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355E83-8E18-466C-948D-A1D8AB4AD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ECF8E6-7687-4417-B0A4-6F969A7F56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4FFA27-5CA2-4DFB-8D06-B9C664BB46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DF04B9-6AB1-409F-90C3-976FF0BAFD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05FE01-3CC2-481E-842A-EC3BCF9364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5C615-27DC-4BF8-A59E-3AA49FB0D5E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885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C83651-720B-4544-B1BD-C9AE72396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CEA02A-0E2E-41CB-9FBA-094B1830C8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CBE20F-77C4-4DBD-B25D-3C6A4FEDBC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0E9A-86DB-4D24-B690-7EB825DC079D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098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834230-2B39-4DDE-A231-57D9210317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7AA53C-2A84-42AC-8ABE-E3BCD725DC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D69738-E7EF-4239-9214-1338BEA229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230BC-C4BF-4D06-8DEA-E30815249296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835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CA1BC0-DA59-4AE7-996B-37C7C52327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721AC6-AA19-4ACC-9723-B9CDDDC201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AAA4EE-D3DA-43A0-BE88-D590F25B5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8A078-8F53-4DD8-99BE-6937C29878CC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271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6C333DE-221B-451E-B3BA-71E82BEAC0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20BFB29-C645-4459-9FE3-FBD984899A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DC3FE80-E225-4E0E-A4D4-9ED9C5527B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4D90F-E331-47DC-92F1-E62695D6C2EE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015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C59EC-2D83-4644-9FF6-91C5F0ABE1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383F13-0C98-4BF3-8523-314ACE8E1F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F39952-6881-490F-B284-BB01028130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5CD7D-56B0-4C13-84D6-F0DB2E473BD9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090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0C9107-412D-42F2-A220-A25A218FDA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EC7EFD-A8E4-4F78-90B4-0E1A3F97F6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CF8D3B-A421-4610-91BC-08C96EAA9A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F3216-45D4-4224-B7C6-5D94FF958E90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494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130E1B-374D-48BA-A9A9-A9EB42C70E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D77BF4-B8D5-4759-A2CA-7E2D8DF1FF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BA1783-3E36-44DB-9B84-16EAF900E3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28436-CF71-46CC-B37F-786C39E55141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6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C1EB74-39EF-47DA-A763-FB37F9B131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D1B4E2-FAE7-4275-B658-CF563EF22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4AC064-1581-42FB-B0D3-948281D4CB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1C669-4DB4-4AE4-93DC-BF8A4974A3A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880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C77236-EEBB-4827-AD1E-537D08A338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E69FFFD-5F56-4F25-B1AB-DE72DBCB49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116A906-E789-439C-BD58-729E2D76B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24609-233C-4051-A6FF-16711CDE0657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663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907258-1C0A-4346-809F-F31A32E6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56CD3-B855-4099-A6DC-544CDEEBCED0}" type="datetimeFigureOut">
              <a:rPr lang="zh-CN" altLang="en-US"/>
              <a:pPr>
                <a:defRPr/>
              </a:pPr>
              <a:t>2023/8/26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36BFAF-6BC0-49F0-BC8C-FB800977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401784-8F1D-4904-B603-1F475985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B58C0-F69D-4AAE-A851-DF9D554566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86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CDAD0-9D64-4314-8793-8634F4D8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2023/8/26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62A031-7B56-4E50-B06E-364E4CFB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9A571B-27BA-4C0A-8D4F-2B2E4019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3F919-ACE6-499C-B04E-6F37524E2A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76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B3347-0CA6-4EE6-8E3C-7F647BA3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8B6C7-F2DA-4B00-8CA8-5826F1BE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D50E1-33F5-4F04-83D7-58255901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88AB1-6F8F-4880-A2F2-6438CF0D6A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81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855C45-E57E-45D8-8789-B08077A0B8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2AE40C-11D0-4D9D-B418-509A8A9A64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1C6E2B-2607-4AFD-9E50-1545AA41B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3664-7945-4AD5-AF54-C8983D411A1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18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7F9A4D-341A-41CC-8F0F-E6924B9684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E33512-D5A8-47D0-B549-77A18A6ED8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B7CB67-BDC6-4137-BE93-338EAA114E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6212E-F15C-4F9E-AD83-F17D9A8F846C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728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490AF2-F810-4172-8A48-87F8D5EF73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F90D61-50CB-4D86-9EAC-B76F8A3642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FA323-8AFE-4021-A977-A60222BA28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0075-AF19-4B1B-8011-58A6AB795AD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18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4C019C-2D7F-4455-B3FB-C346074817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1D3FD4-1623-45FB-96F8-F9285B879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F823D2-B9E7-4EED-9D1E-3AB8E17E3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44D41-A3C1-4F4A-A879-73119D3260B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219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12368DA-4B1A-424E-9857-B0A678FBC6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5B212B3-7550-4762-8B5E-CB91D5A8BC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24B8099-34BA-4920-84A9-9BA6EE4ED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0F8A1-99AE-4343-9EF8-7AC2031B1C1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24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56705-0B6D-45BC-8340-6A1E4EFD65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E7C27C-6D02-42D6-BF81-983A2FCE65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02995-3DE2-4744-8539-2A7C1876E8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4240E5-FDED-47C5-BE2C-DF3B3D01D70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2001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B1FBF-7FD0-4CE2-A043-A41CE23630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B4C19-C8A8-4CF8-9D44-5BAEBA2B52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925DFB-3070-475F-98EE-8E4F3A00EA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9BCF9-9D56-4431-ADCF-17A2E61D8B5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5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6855A6-453A-47B3-8A92-0F1063C79A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4011F6-4D45-40E9-850B-FE8F767F9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23DB50-4002-46B4-810A-AA39BF83D1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3078C-7EAC-411A-B198-BA9F1B1734ED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684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BFA5EF-1425-4B28-9B7A-348002BF3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5E2916-713D-417C-8CEE-972575D27D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9639DA-65DE-4219-8B66-C96E3E8929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9937-D75B-494B-97E0-CD8A7339E004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228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1F1D24E-58F4-416D-B9FF-CD0720AB9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816E313-3B04-41D1-A907-070FE2F11D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27B489-A529-4323-A27E-40A3A99864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460E3-F074-47B4-96DD-BC52E33C0F0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1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2B2289-983E-4EA7-8A84-119F4B9A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86A95-86B7-4F54-92AB-60B264BB6D59}" type="datetimeFigureOut">
              <a:rPr lang="zh-CN" altLang="en-US"/>
              <a:pPr>
                <a:defRPr/>
              </a:pPr>
              <a:t>2023/8/26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DA7B7F-14A2-4287-897C-E8179727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2ADFC2-E3A9-4650-B34E-E842FD3D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15841-6B32-4D7D-ADE2-76473CE275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60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13E466-4F93-4E3A-A6F6-928A730F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2023/8/26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379F3-1B1D-4F43-97B0-BF8DC630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F5286-0118-4D1C-85B9-22086D08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F6EC3-AABE-42C7-BDC1-3B47FDB7D2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4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DAEE5-B474-4771-8A83-AE3B97F8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21E6C-CD00-4620-991D-FDD21011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845B2-E858-4F40-8455-88DAA9C5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39F2B-6D2D-42CF-BE86-44F3C34AB1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191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5477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8572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63468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3683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0934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9D38C6D0-0704-4DD7-A5D2-05D8B59DF5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0"/>
            <a:ext cx="63023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1039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17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18230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1477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6522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14940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DCFD248-D6E9-42A7-9A08-4B322473B87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293EF1F-B996-4BF3-8545-1F8942B7465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18EF5DC4-DA6F-46DC-9D43-273DA325F56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B1A793CB-15AC-484F-9480-5EFAC00C87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3BF66AE4-90AD-4312-BBFB-E4BA8EC12A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36EAE0C-5BF4-4600-902D-FBFA900763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BD22F033-56C7-48BA-B9B5-90236C337C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68BF0FAB-2F85-4929-AB2D-97A6311EFA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B7AED698-0AAA-4BB6-9480-E7C85850634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095121D7-4C0F-44D8-B004-AA4D7911F7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01E34350-5B3C-4612-8690-23E0637F8F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0559055E-3F93-4230-B16D-24149A55D5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C2B656F5-0850-4ED6-8F46-E13E0871EDF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66BC7D0B-5FDB-4195-99C3-ADEC8ADF11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99D42E93-D1A7-4D68-B8E9-89C548966C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7922CF7F-89E3-442B-8672-5D396583FC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42A8E2A3-1787-483E-8FA7-FB0A6EF2DC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FFE78-55F7-431F-BCD8-F3E0D0F5D7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728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A66C85-B574-4B8B-AE29-7E83B531F4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030FC8-A8E8-4162-9EA0-532FE09A0A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EF225-F500-4420-A403-553EDAA46B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12FA7717-ADBA-4C62-B38A-CC9348FA096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2678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81287-8B2B-4245-9470-3CF9571014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3EF4B9-8B57-4C03-A5F2-E2A17B23BB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10590-E611-40D8-BC78-27420DD68B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6E8CF0E3-2389-4D18-BF8D-B3A042044D2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016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94E05-3896-4D04-A78C-E206AC6065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1DBE9-298F-478C-AD0B-532137C528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94E81-E1D8-45D8-9C37-5E31D1C2C2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550F8A-6CB3-4E1C-A335-52B52D50778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95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F3769CD0-67B4-4856-9B65-2233FAA50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75BFF0B-A76A-49AB-8E76-6E5D2EFECD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2442-AFC7-4FFD-82F8-524F2229C1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5A425DD8-22B0-46CB-B651-717BE4798C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1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8219D1-EEA4-4CD4-9938-0B050D9E6E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4AD52-D808-48B6-B359-7D6F15F8C8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A9A7B-6518-4705-B33A-BF06ABC473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EB0461-4B86-42B0-AC4F-E5915068182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129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燕尾形 16">
            <a:hlinkClick r:id="" action="ppaction://hlinkshowjump?jump=previousslide" tooltip="上一页"/>
            <a:extLst>
              <a:ext uri="{FF2B5EF4-FFF2-40B4-BE49-F238E27FC236}">
                <a16:creationId xmlns:a16="http://schemas.microsoft.com/office/drawing/2014/main" id="{E868D851-0E7F-417F-A7BA-537E73D2A6F3}"/>
              </a:ext>
            </a:extLst>
          </p:cNvPr>
          <p:cNvSpPr/>
          <p:nvPr userDrawn="1"/>
        </p:nvSpPr>
        <p:spPr>
          <a:xfrm flipH="1">
            <a:off x="8346933" y="6584238"/>
            <a:ext cx="233362" cy="23495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燕尾形 18">
            <a:hlinkClick r:id="" action="ppaction://hlinkshowjump?jump=nextslide" tooltip="下一页"/>
            <a:extLst>
              <a:ext uri="{FF2B5EF4-FFF2-40B4-BE49-F238E27FC236}">
                <a16:creationId xmlns:a16="http://schemas.microsoft.com/office/drawing/2014/main" id="{12709413-AEBF-474E-85A5-9A05A52DCD51}"/>
              </a:ext>
            </a:extLst>
          </p:cNvPr>
          <p:cNvSpPr/>
          <p:nvPr userDrawn="1"/>
        </p:nvSpPr>
        <p:spPr>
          <a:xfrm>
            <a:off x="8829533" y="6596938"/>
            <a:ext cx="190500" cy="2286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页脚占位符 1">
            <a:extLst>
              <a:ext uri="{FF2B5EF4-FFF2-40B4-BE49-F238E27FC236}">
                <a16:creationId xmlns:a16="http://schemas.microsoft.com/office/drawing/2014/main" id="{3C341C7B-D148-4414-AA91-65A892CF2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D5F58521-311C-4635-AFA1-FD84A2FD2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1550D-240D-4904-938E-B973E916CC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8FE20C34-27D7-4001-9CA0-97FAF94660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dirty="0"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40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E3765A-DB92-4FEB-8586-5083F6941B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FDF5F-9F14-49F7-82C6-42794CEB7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DC4BB-AB2F-46F7-AF26-133DAD60E8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E2FBE0-19B5-43F0-A085-F9447004E6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68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410B37-7628-4026-857E-D516CCF2FE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77D3DD-3BAE-4A61-A547-EDCF67528B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518AF-6C9F-4F47-B896-EB22B9855F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4AD834-DC92-41E8-805C-D46D15F577F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4070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BBAE87-7E54-42AD-8D4E-64447FA738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049BAC-BDEE-41A8-B375-0C74582E8A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6D19-00A4-4745-9E70-FDB09DCE2D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CB1ABFD-F109-4E5E-9750-C313A90A2B6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52F1A3-63B8-484C-A59C-FF6D582BD6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2D1A0B-715F-4734-BBC6-DCDD9A1A98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8A8F0-77B5-4BCF-8040-6A35B75A60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C229AB6B-AD64-4746-9E73-A20F5E2738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45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37CA2716-81D1-4A33-8A7E-BA6EB9C611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85725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13" r:id="rId1"/>
    <p:sldLayoutId id="2147487314" r:id="rId2"/>
    <p:sldLayoutId id="2147487315" r:id="rId3"/>
    <p:sldLayoutId id="2147487316" r:id="rId4"/>
    <p:sldLayoutId id="2147487317" r:id="rId5"/>
    <p:sldLayoutId id="2147487318" r:id="rId6"/>
    <p:sldLayoutId id="2147487319" r:id="rId7"/>
    <p:sldLayoutId id="2147487320" r:id="rId8"/>
    <p:sldLayoutId id="2147487321" r:id="rId9"/>
    <p:sldLayoutId id="2147487322" r:id="rId10"/>
    <p:sldLayoutId id="2147487323" r:id="rId11"/>
    <p:sldLayoutId id="2147487324" r:id="rId12"/>
    <p:sldLayoutId id="2147487325" r:id="rId13"/>
  </p:sldLayoutIdLst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BD8CAED-9733-4696-BE55-66C0F2E5FA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6D87927-EA0E-4567-A73F-EE5B25BEB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11A3E96-2188-405F-89D7-D3A22F3D4FA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632AC8B-0C35-44F7-97D8-F789CAAB87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7CA088-137C-4D05-816B-160A5F146A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600" b="1">
                <a:solidFill>
                  <a:srgbClr val="FFFF99"/>
                </a:solidFill>
                <a:latin typeface="+mj-ea"/>
                <a:ea typeface="+mj-ea"/>
                <a:sym typeface="黑体" panose="02010609060101010101" pitchFamily="49" charset="-122"/>
              </a:defRPr>
            </a:lvl1pPr>
          </a:lstStyle>
          <a:p>
            <a:pPr>
              <a:defRPr/>
            </a:pPr>
            <a:fld id="{2BA5B29F-AC96-412D-BF2C-3AFF6CC73BB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3079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FEAC0F78-C0FC-4A92-AC28-83B0375BAE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475" y="187325"/>
            <a:ext cx="630238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26" r:id="rId1"/>
    <p:sldLayoutId id="2147487284" r:id="rId2"/>
    <p:sldLayoutId id="2147487285" r:id="rId3"/>
    <p:sldLayoutId id="2147487286" r:id="rId4"/>
    <p:sldLayoutId id="2147487287" r:id="rId5"/>
    <p:sldLayoutId id="2147487288" r:id="rId6"/>
    <p:sldLayoutId id="2147487289" r:id="rId7"/>
    <p:sldLayoutId id="2147487290" r:id="rId8"/>
    <p:sldLayoutId id="2147487291" r:id="rId9"/>
    <p:sldLayoutId id="2147487292" r:id="rId10"/>
    <p:sldLayoutId id="2147487327" r:id="rId11"/>
    <p:sldLayoutId id="2147487328" r:id="rId12"/>
    <p:sldLayoutId id="2147487329" r:id="rId13"/>
  </p:sldLayoutIdLst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>
            <a:extLst>
              <a:ext uri="{FF2B5EF4-FFF2-40B4-BE49-F238E27FC236}">
                <a16:creationId xmlns:a16="http://schemas.microsoft.com/office/drawing/2014/main" id="{14ECB70A-15C1-43C3-82DD-C91F52213E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188" y="188913"/>
            <a:ext cx="3241675" cy="144462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AutoShape 27">
            <a:extLst>
              <a:ext uri="{FF2B5EF4-FFF2-40B4-BE49-F238E27FC236}">
                <a16:creationId xmlns:a16="http://schemas.microsoft.com/office/drawing/2014/main" id="{23932A2F-2686-4BEE-8DF6-1CAE4DA968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8" name="AutoShape 8">
            <a:extLst>
              <a:ext uri="{FF2B5EF4-FFF2-40B4-BE49-F238E27FC236}">
                <a16:creationId xmlns:a16="http://schemas.microsoft.com/office/drawing/2014/main" id="{7EAEED02-1A06-4CCC-B8A4-0F20CDF653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AutoShape 10">
            <a:extLst>
              <a:ext uri="{FF2B5EF4-FFF2-40B4-BE49-F238E27FC236}">
                <a16:creationId xmlns:a16="http://schemas.microsoft.com/office/drawing/2014/main" id="{8589F783-3D42-4393-A6BE-B86E49ABF4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0" name="AutoShape 24">
            <a:extLst>
              <a:ext uri="{FF2B5EF4-FFF2-40B4-BE49-F238E27FC236}">
                <a16:creationId xmlns:a16="http://schemas.microsoft.com/office/drawing/2014/main" id="{6F1DC48B-481E-486F-94F2-23C1AE5DC0D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47813" y="115888"/>
            <a:ext cx="1655762" cy="144462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1" name="AutoShape 26">
            <a:extLst>
              <a:ext uri="{FF2B5EF4-FFF2-40B4-BE49-F238E27FC236}">
                <a16:creationId xmlns:a16="http://schemas.microsoft.com/office/drawing/2014/main" id="{7E2F42E9-535D-4979-BEDB-04F4C08263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71438"/>
            <a:ext cx="1223963" cy="142876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293" r:id="rId1"/>
    <p:sldLayoutId id="2147487294" r:id="rId2"/>
    <p:sldLayoutId id="2147487295" r:id="rId3"/>
    <p:sldLayoutId id="2147487296" r:id="rId4"/>
    <p:sldLayoutId id="2147487297" r:id="rId5"/>
    <p:sldLayoutId id="2147487330" r:id="rId6"/>
    <p:sldLayoutId id="2147487331" r:id="rId7"/>
    <p:sldLayoutId id="2147487298" r:id="rId8"/>
    <p:sldLayoutId id="2147487299" r:id="rId9"/>
    <p:sldLayoutId id="2147487300" r:id="rId10"/>
    <p:sldLayoutId id="2147487301" r:id="rId11"/>
  </p:sldLayoutIdLst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FB02206-B27F-4E76-91B3-4EFD85BD43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0B8FE99-AF5C-4D4C-93CD-8759798309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8D3D8D6-D2D6-43CF-91A8-D9580B07DE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FC76477D-BF5D-43C9-B67A-DA3CAB6BDED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>
              <a:extLst>
                <a:ext uri="{FF2B5EF4-FFF2-40B4-BE49-F238E27FC236}">
                  <a16:creationId xmlns:a16="http://schemas.microsoft.com/office/drawing/2014/main" id="{BAB928D6-5BF9-45A2-87AC-671B31498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7" name="Rectangle 6">
              <a:extLst>
                <a:ext uri="{FF2B5EF4-FFF2-40B4-BE49-F238E27FC236}">
                  <a16:creationId xmlns:a16="http://schemas.microsoft.com/office/drawing/2014/main" id="{0DAE07E0-4410-415E-ADB7-B8F22AA39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8" name="Rectangle 7">
              <a:extLst>
                <a:ext uri="{FF2B5EF4-FFF2-40B4-BE49-F238E27FC236}">
                  <a16:creationId xmlns:a16="http://schemas.microsoft.com/office/drawing/2014/main" id="{F98F35F0-3851-4629-B9AC-91B836166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9" name="Rectangle 8">
              <a:extLst>
                <a:ext uri="{FF2B5EF4-FFF2-40B4-BE49-F238E27FC236}">
                  <a16:creationId xmlns:a16="http://schemas.microsoft.com/office/drawing/2014/main" id="{8ED0044A-21CE-45E6-9C31-02E7F31AF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0" name="Rectangle 9">
              <a:extLst>
                <a:ext uri="{FF2B5EF4-FFF2-40B4-BE49-F238E27FC236}">
                  <a16:creationId xmlns:a16="http://schemas.microsoft.com/office/drawing/2014/main" id="{97BFDF85-7F81-430A-A177-C2AF6AEFD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1" name="Rectangle 10">
              <a:extLst>
                <a:ext uri="{FF2B5EF4-FFF2-40B4-BE49-F238E27FC236}">
                  <a16:creationId xmlns:a16="http://schemas.microsoft.com/office/drawing/2014/main" id="{D23C108B-AEFE-4427-9022-F93C356E9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2" name="Rectangle 11">
              <a:extLst>
                <a:ext uri="{FF2B5EF4-FFF2-40B4-BE49-F238E27FC236}">
                  <a16:creationId xmlns:a16="http://schemas.microsoft.com/office/drawing/2014/main" id="{C7B90104-A07F-46E6-9306-63B74F0F0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63" name="Rectangle 12">
              <a:extLst>
                <a:ext uri="{FF2B5EF4-FFF2-40B4-BE49-F238E27FC236}">
                  <a16:creationId xmlns:a16="http://schemas.microsoft.com/office/drawing/2014/main" id="{2B4E9ABA-0A63-420D-A603-037DC96FF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4" name="Rectangle 13">
              <a:extLst>
                <a:ext uri="{FF2B5EF4-FFF2-40B4-BE49-F238E27FC236}">
                  <a16:creationId xmlns:a16="http://schemas.microsoft.com/office/drawing/2014/main" id="{C2F95056-8353-4C51-9FDB-815AFD0FE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20A37B01-1D1B-477D-9302-81A19C62F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685BA901-3641-49C6-B085-1EE89F61C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CBCD943A-D4CE-48C0-9D30-7E42EFF034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19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333" r:id="rId1"/>
    <p:sldLayoutId id="2147487334" r:id="rId2"/>
    <p:sldLayoutId id="2147487335" r:id="rId3"/>
    <p:sldLayoutId id="2147487336" r:id="rId4"/>
    <p:sldLayoutId id="2147487337" r:id="rId5"/>
    <p:sldLayoutId id="2147487338" r:id="rId6"/>
    <p:sldLayoutId id="2147487339" r:id="rId7"/>
    <p:sldLayoutId id="2147487340" r:id="rId8"/>
    <p:sldLayoutId id="2147487341" r:id="rId9"/>
    <p:sldLayoutId id="2147487342" r:id="rId10"/>
    <p:sldLayoutId id="2147487343" r:id="rId11"/>
  </p:sldLayoutIdLst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7.wmf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2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xd5051.ppt" TargetMode="External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8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20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1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8.wmf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3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3.wmf"/><Relationship Id="rId2" Type="http://schemas.openxmlformats.org/officeDocument/2006/relationships/slide" Target="slide10.xml"/><Relationship Id="rId16" Type="http://schemas.openxmlformats.org/officeDocument/2006/relationships/image" Target="../media/image35.wmf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21.wmf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3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44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2.wmf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4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6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62.e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61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64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71.wmf"/><Relationship Id="rId3" Type="http://schemas.openxmlformats.org/officeDocument/2006/relationships/image" Target="../media/image66.wmf"/><Relationship Id="rId7" Type="http://schemas.openxmlformats.org/officeDocument/2006/relationships/image" Target="../media/image68.wmf"/><Relationship Id="rId12" Type="http://schemas.openxmlformats.org/officeDocument/2006/relationships/oleObject" Target="../embeddings/oleObject66.bin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70.wmf"/><Relationship Id="rId5" Type="http://schemas.openxmlformats.org/officeDocument/2006/relationships/image" Target="../media/image67.wmf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69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72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79.wmf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78.wmf"/><Relationship Id="rId4" Type="http://schemas.openxmlformats.org/officeDocument/2006/relationships/image" Target="../media/image75.wmf"/><Relationship Id="rId9" Type="http://schemas.openxmlformats.org/officeDocument/2006/relationships/oleObject" Target="../embeddings/oleObject73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78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85.emf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87.emf"/><Relationship Id="rId4" Type="http://schemas.openxmlformats.org/officeDocument/2006/relationships/image" Target="../media/image84.wmf"/><Relationship Id="rId9" Type="http://schemas.openxmlformats.org/officeDocument/2006/relationships/oleObject" Target="../embeddings/oleObject82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4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gi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62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>
            <a:extLst>
              <a:ext uri="{FF2B5EF4-FFF2-40B4-BE49-F238E27FC236}">
                <a16:creationId xmlns:a16="http://schemas.microsoft.com/office/drawing/2014/main" id="{8B2132EF-33CE-4DEE-A132-AEEC1C91E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0" y="0"/>
            <a:ext cx="604867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第四章  相似矩阵及二次型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563A81-045C-4BCD-A197-627300D4E2EB}"/>
              </a:ext>
            </a:extLst>
          </p:cNvPr>
          <p:cNvSpPr/>
          <p:nvPr/>
        </p:nvSpPr>
        <p:spPr>
          <a:xfrm>
            <a:off x="2267744" y="1484784"/>
            <a:ext cx="50321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50000"/>
              </a:spcBef>
              <a:defRPr/>
            </a:pPr>
            <a:r>
              <a:rPr lang="en-US" altLang="zh-CN" sz="36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§5    </a:t>
            </a:r>
            <a:r>
              <a:rPr lang="zh-CN" altLang="en-US" sz="36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二次型及其标准型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31FCA885-78B2-36A0-C377-A3CE974BE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484784"/>
            <a:ext cx="7200800" cy="2601097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      本节重点解决以下问题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:</a:t>
            </a: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什么是二次型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?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如何用矩阵表示二次型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?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合同矩阵的概念及其性质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化二次型为标准形有哪些常用的方法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?</a:t>
            </a:r>
          </a:p>
        </p:txBody>
      </p:sp>
      <p:sp>
        <p:nvSpPr>
          <p:cNvPr id="7" name="Rectangle 30">
            <a:extLst>
              <a:ext uri="{FF2B5EF4-FFF2-40B4-BE49-F238E27FC236}">
                <a16:creationId xmlns:a16="http://schemas.microsoft.com/office/drawing/2014/main" id="{4F8CCEB0-4631-5FD1-D5AD-863220B72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350922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-23661"/>
            <a:ext cx="13049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引言</a:t>
            </a: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8710CB78-4535-494E-8495-403AEF49D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4855" y="1339837"/>
            <a:ext cx="3095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在解析几何中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endParaRPr lang="zh-CN" altLang="en-US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29" name="Text Box 13">
            <a:extLst>
              <a:ext uri="{FF2B5EF4-FFF2-40B4-BE49-F238E27FC236}">
                <a16:creationId xmlns:a16="http://schemas.microsoft.com/office/drawing/2014/main" id="{A419734F-3A3E-4B16-B90C-C9B37C71B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397" y="4440893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把方程化为标准形</a:t>
            </a:r>
          </a:p>
        </p:txBody>
      </p:sp>
      <p:sp>
        <p:nvSpPr>
          <p:cNvPr id="30" name="Rectangle 33">
            <a:extLst>
              <a:ext uri="{FF2B5EF4-FFF2-40B4-BE49-F238E27FC236}">
                <a16:creationId xmlns:a16="http://schemas.microsoft.com/office/drawing/2014/main" id="{B83BAB18-96CD-48C4-A3D2-9CF175F83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97" y="2779396"/>
            <a:ext cx="26638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的几何性质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, </a:t>
            </a:r>
            <a:endParaRPr lang="zh-CN" altLang="en-US" b="1" dirty="0">
              <a:solidFill>
                <a:srgbClr val="000000"/>
              </a:solidFill>
              <a:ea typeface="宋体"/>
              <a:cs typeface="Times New Roman" pitchFamily="18" charset="0"/>
            </a:endParaRP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3A630F28-159D-44A9-806B-C49F719BC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518" y="2060070"/>
            <a:ext cx="32835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ax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+ </a:t>
            </a:r>
            <a:r>
              <a:rPr kumimoji="1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bxy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+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cy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= 1</a:t>
            </a:r>
          </a:p>
        </p:txBody>
      </p:sp>
      <p:sp>
        <p:nvSpPr>
          <p:cNvPr id="32" name="Rectangle 33">
            <a:extLst>
              <a:ext uri="{FF2B5EF4-FFF2-40B4-BE49-F238E27FC236}">
                <a16:creationId xmlns:a16="http://schemas.microsoft.com/office/drawing/2014/main" id="{5E5ED3B0-5887-49F1-B50D-D6F3E84DA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426" y="2779698"/>
            <a:ext cx="6335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我们可以选择适当的坐标旋转变换</a:t>
            </a:r>
          </a:p>
        </p:txBody>
      </p:sp>
      <p:graphicFrame>
        <p:nvGraphicFramePr>
          <p:cNvPr id="33" name="Object 7">
            <a:extLst>
              <a:ext uri="{FF2B5EF4-FFF2-40B4-BE49-F238E27FC236}">
                <a16:creationId xmlns:a16="http://schemas.microsoft.com/office/drawing/2014/main" id="{95ED6657-4E57-4EA5-9980-A60EA166B4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218694"/>
              </p:ext>
            </p:extLst>
          </p:nvPr>
        </p:nvGraphicFramePr>
        <p:xfrm>
          <a:off x="3076888" y="3421843"/>
          <a:ext cx="3035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35160" imgH="863280" progId="Equation.DSMT4">
                  <p:embed/>
                </p:oleObj>
              </mc:Choice>
              <mc:Fallback>
                <p:oleObj name="Equation" r:id="rId3" imgW="3035160" imgH="863280" progId="Equation.DSMT4">
                  <p:embed/>
                  <p:pic>
                    <p:nvPicPr>
                      <p:cNvPr id="33" name="Object 7">
                        <a:extLst>
                          <a:ext uri="{FF2B5EF4-FFF2-40B4-BE49-F238E27FC236}">
                            <a16:creationId xmlns:a16="http://schemas.microsoft.com/office/drawing/2014/main" id="{95ED6657-4E57-4EA5-9980-A60EA166B4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6888" y="3421843"/>
                        <a:ext cx="30353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">
            <a:extLst>
              <a:ext uri="{FF2B5EF4-FFF2-40B4-BE49-F238E27FC236}">
                <a16:creationId xmlns:a16="http://schemas.microsoft.com/office/drawing/2014/main" id="{19D013E8-47A2-46CC-AC43-D5526A13F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186201"/>
              </p:ext>
            </p:extLst>
          </p:nvPr>
        </p:nvGraphicFramePr>
        <p:xfrm>
          <a:off x="3682137" y="5198925"/>
          <a:ext cx="2171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71520" imgH="457200" progId="Equation.DSMT4">
                  <p:embed/>
                </p:oleObj>
              </mc:Choice>
              <mc:Fallback>
                <p:oleObj name="Equation" r:id="rId5" imgW="2171520" imgH="457200" progId="Equation.DSMT4">
                  <p:embed/>
                  <p:pic>
                    <p:nvPicPr>
                      <p:cNvPr id="34" name="Object 3">
                        <a:extLst>
                          <a:ext uri="{FF2B5EF4-FFF2-40B4-BE49-F238E27FC236}">
                            <a16:creationId xmlns:a16="http://schemas.microsoft.com/office/drawing/2014/main" id="{19D013E8-47A2-46CC-AC43-D5526A13F3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2137" y="5198925"/>
                        <a:ext cx="2171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11">
            <a:extLst>
              <a:ext uri="{FF2B5EF4-FFF2-40B4-BE49-F238E27FC236}">
                <a16:creationId xmlns:a16="http://schemas.microsoft.com/office/drawing/2014/main" id="{689D85DF-8ADB-4586-821B-9D531204D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2137" y="1340139"/>
            <a:ext cx="4392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为了便于研究二次曲线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41E241-0D36-3749-A715-98B14C575A5E}"/>
              </a:ext>
            </a:extLst>
          </p:cNvPr>
          <p:cNvSpPr txBox="1"/>
          <p:nvPr/>
        </p:nvSpPr>
        <p:spPr>
          <a:xfrm>
            <a:off x="7775337" y="2053677"/>
            <a:ext cx="946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(1)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657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 autoUpdateAnimBg="0"/>
      <p:bldP spid="29" grpId="0" build="p" autoUpdateAnimBg="0"/>
      <p:bldP spid="30" grpId="0" build="p" autoUpdateAnimBg="0" advAuto="0"/>
      <p:bldP spid="31" grpId="0" build="p" autoUpdateAnimBg="0" advAuto="0"/>
      <p:bldP spid="32" grpId="0" build="p" autoUpdateAnimBg="0" advAuto="0"/>
      <p:bldP spid="35" grpId="0" build="p" autoUpdateAnimBg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-37570"/>
            <a:ext cx="13049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引言</a:t>
            </a:r>
          </a:p>
        </p:txBody>
      </p:sp>
      <p:sp>
        <p:nvSpPr>
          <p:cNvPr id="57" name="Rectangle 29">
            <a:extLst>
              <a:ext uri="{FF2B5EF4-FFF2-40B4-BE49-F238E27FC236}">
                <a16:creationId xmlns:a16="http://schemas.microsoft.com/office/drawing/2014/main" id="{547964A7-EC86-482A-B0C7-130CA27B2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995626"/>
            <a:ext cx="55451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式的左边是一个二次多项式</a:t>
            </a:r>
            <a:r>
              <a:rPr lang="en-US" altLang="zh-CN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Rectangle 30">
            <a:extLst>
              <a:ext uri="{FF2B5EF4-FFF2-40B4-BE49-F238E27FC236}">
                <a16:creationId xmlns:a16="http://schemas.microsoft.com/office/drawing/2014/main" id="{894365CF-E35E-4249-B47D-35F5985A6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2" y="1714764"/>
            <a:ext cx="8569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化标准形的过程就是通过变量的线性变换化简一个</a:t>
            </a:r>
          </a:p>
        </p:txBody>
      </p:sp>
      <p:sp>
        <p:nvSpPr>
          <p:cNvPr id="59" name="Rectangle 31">
            <a:extLst>
              <a:ext uri="{FF2B5EF4-FFF2-40B4-BE49-F238E27FC236}">
                <a16:creationId xmlns:a16="http://schemas.microsoft.com/office/drawing/2014/main" id="{7B667A38-2479-4376-8DF8-E5AAD2809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" y="2435489"/>
            <a:ext cx="35290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二次齐次多项式 </a:t>
            </a:r>
            <a:r>
              <a:rPr lang="en-US" altLang="zh-CN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</a:p>
        </p:txBody>
      </p:sp>
      <p:sp>
        <p:nvSpPr>
          <p:cNvPr id="60" name="Rectangle 32">
            <a:extLst>
              <a:ext uri="{FF2B5EF4-FFF2-40B4-BE49-F238E27FC236}">
                <a16:creationId xmlns:a16="http://schemas.microsoft.com/office/drawing/2014/main" id="{BBE57C04-BD4E-4391-AE86-422862777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325" y="2435489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这样一个问题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endParaRPr lang="zh-CN" altLang="en-US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1" name="Rectangle 34">
            <a:extLst>
              <a:ext uri="{FF2B5EF4-FFF2-40B4-BE49-F238E27FC236}">
                <a16:creationId xmlns:a16="http://schemas.microsoft.com/office/drawing/2014/main" id="{21FAEFCF-1C76-4B55-B0D3-4BA34312D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875351"/>
            <a:ext cx="5616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现在我们把这类问题一般化</a:t>
            </a:r>
            <a:r>
              <a:rPr lang="en-US" altLang="zh-CN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2" name="Rectangle 29">
            <a:extLst>
              <a:ext uri="{FF2B5EF4-FFF2-40B4-BE49-F238E27FC236}">
                <a16:creationId xmlns:a16="http://schemas.microsoft.com/office/drawing/2014/main" id="{8161EBD7-5803-4D90-A08E-09E88C1D8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7" y="995626"/>
            <a:ext cx="36353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从代数学的观点看</a:t>
            </a:r>
            <a:r>
              <a:rPr lang="en-US" altLang="zh-CN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endParaRPr lang="zh-CN" altLang="en-US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3" name="Rectangle 31">
            <a:extLst>
              <a:ext uri="{FF2B5EF4-FFF2-40B4-BE49-F238E27FC236}">
                <a16:creationId xmlns:a16="http://schemas.microsoft.com/office/drawing/2014/main" id="{5E4F87C7-BCC4-40D6-B2CB-28B173785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700" y="2435489"/>
            <a:ext cx="4103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使它只含有</a:t>
            </a:r>
            <a:r>
              <a:rPr lang="zh-CN" altLang="en-US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平方项</a:t>
            </a:r>
            <a:r>
              <a:rPr lang="en-US" altLang="zh-CN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 </a:t>
            </a:r>
          </a:p>
        </p:txBody>
      </p:sp>
      <p:sp>
        <p:nvSpPr>
          <p:cNvPr id="64" name="Rectangle 32">
            <a:extLst>
              <a:ext uri="{FF2B5EF4-FFF2-40B4-BE49-F238E27FC236}">
                <a16:creationId xmlns:a16="http://schemas.microsoft.com/office/drawing/2014/main" id="{A89A3009-2477-47BA-846F-2D17E544D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2" y="3154626"/>
            <a:ext cx="7848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在许多理论问题或实际问题中常会遇到</a:t>
            </a:r>
            <a:r>
              <a:rPr lang="en-US" altLang="zh-CN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endParaRPr lang="zh-CN" altLang="en-US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5" name="Rectangle 34">
            <a:extLst>
              <a:ext uri="{FF2B5EF4-FFF2-40B4-BE49-F238E27FC236}">
                <a16:creationId xmlns:a16="http://schemas.microsoft.com/office/drawing/2014/main" id="{0A1FEEA5-2C49-4037-A637-629F81CB3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74" y="3875351"/>
            <a:ext cx="4032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讨论 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个变量的二次</a:t>
            </a:r>
          </a:p>
        </p:txBody>
      </p:sp>
      <p:sp>
        <p:nvSpPr>
          <p:cNvPr id="67" name="Rectangle 34">
            <a:extLst>
              <a:ext uri="{FF2B5EF4-FFF2-40B4-BE49-F238E27FC236}">
                <a16:creationId xmlns:a16="http://schemas.microsoft.com/office/drawing/2014/main" id="{E5235615-A75B-4720-A3E5-7943A412D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2" y="4596076"/>
            <a:ext cx="4608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齐次多项的化简问题</a:t>
            </a:r>
            <a:r>
              <a:rPr lang="en-US" altLang="zh-CN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endParaRPr lang="zh-CN" altLang="en-US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Rectangle 34">
            <a:extLst>
              <a:ext uri="{FF2B5EF4-FFF2-40B4-BE49-F238E27FC236}">
                <a16:creationId xmlns:a16="http://schemas.microsoft.com/office/drawing/2014/main" id="{B3D17548-61A6-A41F-45BD-4FE1555D4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9766" y="5290893"/>
            <a:ext cx="32835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ax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+ </a:t>
            </a:r>
            <a:r>
              <a:rPr kumimoji="1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bxy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+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cy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= 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13288CA-9B06-D39D-DCF3-D051865959A6}"/>
              </a:ext>
            </a:extLst>
          </p:cNvPr>
          <p:cNvSpPr txBox="1"/>
          <p:nvPr/>
        </p:nvSpPr>
        <p:spPr>
          <a:xfrm>
            <a:off x="7596336" y="5290893"/>
            <a:ext cx="946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(1)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670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build="p" autoUpdateAnimBg="0"/>
      <p:bldP spid="58" grpId="0" build="p" autoUpdateAnimBg="0" advAuto="0"/>
      <p:bldP spid="59" grpId="0" build="p" autoUpdateAnimBg="0" advAuto="0"/>
      <p:bldP spid="60" grpId="0" build="p" autoUpdateAnimBg="0"/>
      <p:bldP spid="61" grpId="0" build="p" autoUpdateAnimBg="0"/>
      <p:bldP spid="62" grpId="0" build="p" autoUpdateAnimBg="0"/>
      <p:bldP spid="63" grpId="0" build="p" autoUpdateAnimBg="0" advAuto="0"/>
      <p:bldP spid="64" grpId="0" build="p" autoUpdateAnimBg="0"/>
      <p:bldP spid="65" grpId="0" build="p" autoUpdateAnimBg="0"/>
      <p:bldP spid="67" grpId="0" build="p" autoUpdateAnimBg="0"/>
      <p:bldP spid="2" grpId="0" build="p" autoUpdateAnimBg="0" advAuto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441" y="0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二次型的概念</a:t>
            </a:r>
          </a:p>
        </p:txBody>
      </p:sp>
      <p:sp>
        <p:nvSpPr>
          <p:cNvPr id="16" name="Rectangle 31">
            <a:extLst>
              <a:ext uri="{FF2B5EF4-FFF2-40B4-BE49-F238E27FC236}">
                <a16:creationId xmlns:a16="http://schemas.microsoft.com/office/drawing/2014/main" id="{A6E8A593-15B8-446C-850C-023283C70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648" y="1219200"/>
            <a:ext cx="69500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定义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4.11</a:t>
            </a:r>
            <a:r>
              <a:rPr lang="zh-CN" altLang="en-US" b="1" dirty="0">
                <a:solidFill>
                  <a:srgbClr val="C00000"/>
                </a:solidFill>
                <a:latin typeface="宋体"/>
                <a:ea typeface="宋体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称</a:t>
            </a:r>
            <a:r>
              <a:rPr lang="zh-CN" altLang="en-US" b="1" dirty="0">
                <a:solidFill>
                  <a:srgbClr val="000000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charset="-122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个变量的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二次齐次式</a:t>
            </a:r>
          </a:p>
        </p:txBody>
      </p:sp>
      <p:grpSp>
        <p:nvGrpSpPr>
          <p:cNvPr id="17" name="组合 10">
            <a:extLst>
              <a:ext uri="{FF2B5EF4-FFF2-40B4-BE49-F238E27FC236}">
                <a16:creationId xmlns:a16="http://schemas.microsoft.com/office/drawing/2014/main" id="{0616BED4-736B-43C5-81BB-DC06BC7F102A}"/>
              </a:ext>
            </a:extLst>
          </p:cNvPr>
          <p:cNvGrpSpPr>
            <a:grpSpLocks/>
          </p:cNvGrpSpPr>
          <p:nvPr/>
        </p:nvGrpSpPr>
        <p:grpSpPr bwMode="auto">
          <a:xfrm>
            <a:off x="792461" y="1938337"/>
            <a:ext cx="7811987" cy="1239838"/>
            <a:chOff x="395288" y="2708275"/>
            <a:chExt cx="7811987" cy="1239838"/>
          </a:xfrm>
        </p:grpSpPr>
        <p:sp>
          <p:nvSpPr>
            <p:cNvPr id="18" name="Rectangle 31">
              <a:extLst>
                <a:ext uri="{FF2B5EF4-FFF2-40B4-BE49-F238E27FC236}">
                  <a16:creationId xmlns:a16="http://schemas.microsoft.com/office/drawing/2014/main" id="{95B78DA6-7B67-4F70-ACCE-B840D597B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88" y="2708275"/>
              <a:ext cx="74168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f 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 , 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 , ···, </a:t>
              </a:r>
              <a:r>
                <a:rPr kumimoji="1" lang="en-US" altLang="zh-CN" sz="2800" b="1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800" b="1" i="1" u="none" strike="noStrike" kern="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) = 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11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kumimoji="1" lang="en-US" altLang="zh-CN" sz="28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 + 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22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kumimoji="1" lang="en-US" altLang="zh-CN" sz="28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 +···+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kumimoji="1" lang="en-US" altLang="zh-CN" sz="28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nn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8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kumimoji="1" lang="en-US" altLang="zh-CN" sz="28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</a:p>
          </p:txBody>
        </p:sp>
        <p:sp>
          <p:nvSpPr>
            <p:cNvPr id="19" name="Rectangle 32">
              <a:extLst>
                <a:ext uri="{FF2B5EF4-FFF2-40B4-BE49-F238E27FC236}">
                  <a16:creationId xmlns:a16="http://schemas.microsoft.com/office/drawing/2014/main" id="{ACB86D66-9715-40C1-B45E-FA6AEDE78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13" y="3429000"/>
              <a:ext cx="709126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+ 2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12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 + 2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13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3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 + ··· + 2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kumimoji="1" lang="en-US" altLang="zh-CN" sz="28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-1,</a:t>
              </a:r>
              <a:r>
                <a:rPr kumimoji="1" lang="en-US" altLang="zh-CN" sz="28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n 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8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-1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8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   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(2)</a:t>
              </a:r>
            </a:p>
          </p:txBody>
        </p:sp>
      </p:grpSp>
      <p:sp>
        <p:nvSpPr>
          <p:cNvPr id="20" name="Rectangle 33">
            <a:extLst>
              <a:ext uri="{FF2B5EF4-FFF2-40B4-BE49-F238E27FC236}">
                <a16:creationId xmlns:a16="http://schemas.microsoft.com/office/drawing/2014/main" id="{FEBE7F1C-9738-4BD0-BA23-9057646F8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023" y="3379787"/>
            <a:ext cx="338455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为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二次型</a:t>
            </a:r>
            <a:r>
              <a:rPr lang="en-US" altLang="zh-CN" b="1" dirty="0">
                <a:solidFill>
                  <a:srgbClr val="C00000"/>
                </a:solidFill>
                <a:latin typeface="宋体"/>
                <a:ea typeface="宋体"/>
              </a:rPr>
              <a:t>.</a:t>
            </a:r>
          </a:p>
        </p:txBody>
      </p:sp>
      <p:sp>
        <p:nvSpPr>
          <p:cNvPr id="21" name="Rectangle 34">
            <a:extLst>
              <a:ext uri="{FF2B5EF4-FFF2-40B4-BE49-F238E27FC236}">
                <a16:creationId xmlns:a16="http://schemas.microsoft.com/office/drawing/2014/main" id="{6E4CB806-3D56-400B-94EC-E98CFF912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174" y="3381374"/>
            <a:ext cx="503902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若其中的系数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ij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都是实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复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数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C218F226-7DAC-480F-B6E9-70C0047D9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998" y="4098925"/>
            <a:ext cx="41767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(2)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式为实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(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复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二次型 </a:t>
            </a:r>
            <a:r>
              <a:rPr lang="en-US" altLang="zh-CN" b="1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.</a:t>
            </a:r>
            <a:endParaRPr lang="zh-CN" altLang="en-US" b="1" dirty="0">
              <a:solidFill>
                <a:srgbClr val="00000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4" name="Text Box 10">
            <a:extLst>
              <a:ext uri="{FF2B5EF4-FFF2-40B4-BE49-F238E27FC236}">
                <a16:creationId xmlns:a16="http://schemas.microsoft.com/office/drawing/2014/main" id="{A993325D-E6F3-4F6B-AE3E-C95347009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1473" y="4096543"/>
            <a:ext cx="4032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本书仅讨论</a:t>
            </a: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实二次型</a:t>
            </a:r>
            <a:r>
              <a:rPr lang="en-US" altLang="zh-CN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dirty="0">
              <a:solidFill>
                <a:srgbClr val="C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Text Box 10">
            <a:extLst>
              <a:ext uri="{FF2B5EF4-FFF2-40B4-BE49-F238E27FC236}">
                <a16:creationId xmlns:a16="http://schemas.microsoft.com/office/drawing/2014/main" id="{AC0B30A0-0DD6-434C-8110-22B66BC38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158" y="3381374"/>
            <a:ext cx="1439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则称</a:t>
            </a:r>
          </a:p>
        </p:txBody>
      </p:sp>
    </p:spTree>
    <p:extLst>
      <p:ext uri="{BB962C8B-B14F-4D97-AF65-F5344CB8AC3E}">
        <p14:creationId xmlns:p14="http://schemas.microsoft.com/office/powerpoint/2010/main" val="3856234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autoUpdateAnimBg="0"/>
      <p:bldP spid="20" grpId="0" build="p" autoUpdateAnimBg="0" advAuto="0"/>
      <p:bldP spid="21" grpId="0" build="p" autoUpdateAnimBg="0"/>
      <p:bldP spid="22" grpId="0" build="p" autoUpdateAnimBg="0" advAuto="0"/>
      <p:bldP spid="24" grpId="0" build="p" autoUpdateAnimBg="0" advAuto="0"/>
      <p:bldP spid="26" grpId="0" build="p" autoUpdateAnimBg="0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670" y="-6511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二次型的概念</a:t>
            </a: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061CF937-7C76-4312-B461-E745DDF68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823" y="1215231"/>
            <a:ext cx="41052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于是</a:t>
            </a:r>
            <a:r>
              <a:rPr lang="zh-CN" altLang="en-US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(2)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式可写成</a:t>
            </a:r>
          </a:p>
        </p:txBody>
      </p:sp>
      <p:sp>
        <p:nvSpPr>
          <p:cNvPr id="17" name="Rectangle 34">
            <a:extLst>
              <a:ext uri="{FF2B5EF4-FFF2-40B4-BE49-F238E27FC236}">
                <a16:creationId xmlns:a16="http://schemas.microsoft.com/office/drawing/2014/main" id="{D1355A6E-A603-4974-96F4-4AD6AE13E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185" y="566260"/>
            <a:ext cx="2447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取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ij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= a</a:t>
            </a:r>
            <a:r>
              <a:rPr kumimoji="1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ji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Rectangle 35">
            <a:extLst>
              <a:ext uri="{FF2B5EF4-FFF2-40B4-BE49-F238E27FC236}">
                <a16:creationId xmlns:a16="http://schemas.microsoft.com/office/drawing/2014/main" id="{35023167-BD2F-48AC-BA66-15FBDA6C7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552" y="565943"/>
            <a:ext cx="5256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则  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ij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i </a:t>
            </a:r>
            <a:r>
              <a:rPr kumimoji="1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j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= </a:t>
            </a:r>
            <a:r>
              <a:rPr kumimoji="1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ij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i </a:t>
            </a:r>
            <a:r>
              <a:rPr kumimoji="1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j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+ a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ji </a:t>
            </a:r>
            <a:r>
              <a:rPr kumimoji="1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j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id="{EC37C93A-AA82-4FC2-84BF-676823F9D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823" y="1934685"/>
            <a:ext cx="7924800" cy="181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kern="0" dirty="0">
                <a:solidFill>
                  <a:srgbClr val="000000"/>
                </a:solidFill>
              </a:rPr>
              <a:t>···, </a:t>
            </a:r>
            <a:r>
              <a:rPr kumimoji="1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) =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11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+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12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+ </a:t>
            </a:r>
            <a:r>
              <a:rPr lang="en-US" altLang="zh-CN" kern="0" dirty="0">
                <a:solidFill>
                  <a:srgbClr val="000000"/>
                </a:solidFill>
              </a:rPr>
              <a:t>···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+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+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21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+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22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</a:rPr>
              <a:t>+···+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+ </a:t>
            </a:r>
            <a:r>
              <a:rPr lang="en-US" altLang="zh-CN" kern="0" dirty="0">
                <a:solidFill>
                  <a:srgbClr val="000000"/>
                </a:solidFill>
              </a:rPr>
              <a:t>···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+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+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</a:rPr>
              <a:t>+···+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nn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kumimoji="1" lang="en-US" altLang="zh-CN" sz="2800" b="1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0" name="Object 10">
            <a:extLst>
              <a:ext uri="{FF2B5EF4-FFF2-40B4-BE49-F238E27FC236}">
                <a16:creationId xmlns:a16="http://schemas.microsoft.com/office/drawing/2014/main" id="{2213D234-6D98-450A-B7F3-8D38EAD4CD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498453"/>
              </p:ext>
            </p:extLst>
          </p:nvPr>
        </p:nvGraphicFramePr>
        <p:xfrm>
          <a:off x="820285" y="3877785"/>
          <a:ext cx="58166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16520" imgH="1701720" progId="Equation.DSMT4">
                  <p:embed/>
                </p:oleObj>
              </mc:Choice>
              <mc:Fallback>
                <p:oleObj name="Equation" r:id="rId3" imgW="5816520" imgH="1701720" progId="Equation.DSMT4">
                  <p:embed/>
                  <p:pic>
                    <p:nvPicPr>
                      <p:cNvPr id="6" name="Object 10">
                        <a:extLst>
                          <a:ext uri="{FF2B5EF4-FFF2-40B4-BE49-F238E27FC236}">
                            <a16:creationId xmlns:a16="http://schemas.microsoft.com/office/drawing/2014/main" id="{983D445A-8E57-4DD8-8CF6-47B5FB859A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285" y="3877785"/>
                        <a:ext cx="5816600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1">
            <a:extLst>
              <a:ext uri="{FF2B5EF4-FFF2-40B4-BE49-F238E27FC236}">
                <a16:creationId xmlns:a16="http://schemas.microsoft.com/office/drawing/2014/main" id="{2F0DD839-A19D-487E-B7A1-AABBF5731F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765449"/>
              </p:ext>
            </p:extLst>
          </p:nvPr>
        </p:nvGraphicFramePr>
        <p:xfrm>
          <a:off x="820285" y="5606573"/>
          <a:ext cx="22733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73040" imgH="990360" progId="Equation.DSMT4">
                  <p:embed/>
                </p:oleObj>
              </mc:Choice>
              <mc:Fallback>
                <p:oleObj name="Equation" r:id="rId5" imgW="2273040" imgH="990360" progId="Equation.DSMT4">
                  <p:embed/>
                  <p:pic>
                    <p:nvPicPr>
                      <p:cNvPr id="7" name="Object 11">
                        <a:extLst>
                          <a:ext uri="{FF2B5EF4-FFF2-40B4-BE49-F238E27FC236}">
                            <a16:creationId xmlns:a16="http://schemas.microsoft.com/office/drawing/2014/main" id="{DF8A3C43-7A52-4C6E-A575-15EC815BD1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285" y="5606573"/>
                        <a:ext cx="22733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592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autoUpdateAnimBg="0" advAuto="0"/>
      <p:bldP spid="17" grpId="0" build="p" autoUpdateAnimBg="0"/>
      <p:bldP spid="18" grpId="0" build="p" autoUpdateAnimBg="0" advAuto="0"/>
      <p:bldP spid="19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97" y="-21761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二次型的概念</a:t>
            </a: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94985A4F-F5BE-40BE-B93F-D58B42FDF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1885" y="677850"/>
            <a:ext cx="672402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若记</a:t>
            </a:r>
            <a:r>
              <a:rPr lang="zh-CN" altLang="en-US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ea typeface="宋体" charset="-122"/>
              </a:rPr>
              <a:t> = (</a:t>
            </a:r>
            <a:r>
              <a:rPr lang="en-US" altLang="zh-CN" b="1" i="1" dirty="0" err="1">
                <a:solidFill>
                  <a:srgbClr val="000000"/>
                </a:solidFill>
                <a:ea typeface="宋体" charset="-122"/>
              </a:rPr>
              <a:t>a</a:t>
            </a:r>
            <a:r>
              <a:rPr lang="en-US" altLang="zh-CN" b="1" i="1" baseline="-25000" dirty="0" err="1">
                <a:solidFill>
                  <a:srgbClr val="000000"/>
                </a:solidFill>
                <a:ea typeface="宋体" charset="-122"/>
              </a:rPr>
              <a:t>ij</a:t>
            </a:r>
            <a:r>
              <a:rPr lang="en-US" altLang="zh-CN" b="1" dirty="0">
                <a:solidFill>
                  <a:srgbClr val="000000"/>
                </a:solidFill>
                <a:ea typeface="宋体" charset="-122"/>
              </a:rPr>
              <a:t>)</a:t>
            </a:r>
            <a:r>
              <a:rPr lang="en-US" altLang="zh-CN" b="1" i="1" baseline="-25000" dirty="0" err="1">
                <a:solidFill>
                  <a:srgbClr val="000000"/>
                </a:solidFill>
                <a:ea typeface="宋体" charset="-122"/>
              </a:rPr>
              <a:t>n</a:t>
            </a:r>
            <a:r>
              <a:rPr lang="en-US" altLang="zh-CN" b="1" baseline="-25000" dirty="0" err="1">
                <a:solidFill>
                  <a:srgbClr val="000000"/>
                </a:solidFill>
                <a:ea typeface="宋体" charset="-122"/>
              </a:rPr>
              <a:t>×</a:t>
            </a:r>
            <a:r>
              <a:rPr lang="en-US" altLang="zh-CN" b="1" i="1" baseline="-25000" dirty="0" err="1">
                <a:solidFill>
                  <a:srgbClr val="000000"/>
                </a:solidFill>
                <a:ea typeface="宋体" charset="-122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ea typeface="宋体" charset="-122"/>
              </a:rPr>
              <a:t> ,  </a:t>
            </a:r>
            <a:r>
              <a:rPr lang="en-US" altLang="zh-CN" b="1" i="1" dirty="0">
                <a:solidFill>
                  <a:srgbClr val="000000"/>
                </a:solidFill>
                <a:ea typeface="宋体" charset="-12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ea typeface="宋体" charset="-122"/>
              </a:rPr>
              <a:t> = (</a:t>
            </a:r>
            <a:r>
              <a:rPr lang="en-US" altLang="zh-CN" b="1" i="1" dirty="0">
                <a:solidFill>
                  <a:srgbClr val="000000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rgbClr val="000000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ea typeface="宋体" charset="-122"/>
              </a:rPr>
              <a:t> , </a:t>
            </a:r>
            <a:r>
              <a:rPr lang="en-US" altLang="zh-CN" b="1" i="1" dirty="0">
                <a:solidFill>
                  <a:srgbClr val="000000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rgbClr val="000000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ea typeface="宋体" charset="-122"/>
              </a:rPr>
              <a:t> , … , </a:t>
            </a:r>
            <a:r>
              <a:rPr lang="en-US" altLang="zh-CN" b="1" i="1" dirty="0" err="1">
                <a:solidFill>
                  <a:srgbClr val="000000"/>
                </a:solidFill>
                <a:ea typeface="宋体" charset="-122"/>
              </a:rPr>
              <a:t>x</a:t>
            </a:r>
            <a:r>
              <a:rPr lang="en-US" altLang="zh-CN" b="1" i="1" baseline="-25000" dirty="0" err="1">
                <a:solidFill>
                  <a:srgbClr val="000000"/>
                </a:solidFill>
                <a:ea typeface="宋体" charset="-122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ea typeface="宋体" charset="-122"/>
              </a:rPr>
              <a:t>)</a:t>
            </a:r>
            <a:r>
              <a:rPr lang="en-US" altLang="zh-CN" b="1" baseline="30000" dirty="0">
                <a:solidFill>
                  <a:srgbClr val="000000"/>
                </a:solidFill>
                <a:ea typeface="宋体" charset="-122"/>
              </a:rPr>
              <a:t>T</a:t>
            </a:r>
            <a:r>
              <a:rPr lang="en-US" altLang="zh-CN" b="1" dirty="0">
                <a:solidFill>
                  <a:srgbClr val="000000"/>
                </a:solidFill>
                <a:ea typeface="宋体" charset="-122"/>
              </a:rPr>
              <a:t>, </a:t>
            </a:r>
            <a:endParaRPr lang="zh-CN" altLang="en-US" b="1" dirty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8" name="Rectangle 31">
            <a:extLst>
              <a:ext uri="{FF2B5EF4-FFF2-40B4-BE49-F238E27FC236}">
                <a16:creationId xmlns:a16="http://schemas.microsoft.com/office/drawing/2014/main" id="{C58F9BC4-87D2-40FA-BFD6-BAA08716E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1460250"/>
            <a:ext cx="6913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则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(2)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式所表示的二次型可以表示成</a:t>
            </a:r>
          </a:p>
        </p:txBody>
      </p:sp>
      <p:sp>
        <p:nvSpPr>
          <p:cNvPr id="19" name="Rectangle 32">
            <a:extLst>
              <a:ext uri="{FF2B5EF4-FFF2-40B4-BE49-F238E27FC236}">
                <a16:creationId xmlns:a16="http://schemas.microsoft.com/office/drawing/2014/main" id="{6A60431A-0FE5-495E-B383-F3EC57E17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440904"/>
            <a:ext cx="47529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其中</a:t>
            </a:r>
            <a:r>
              <a:rPr lang="zh-CN" altLang="en-US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A</a:t>
            </a:r>
            <a:r>
              <a:rPr lang="en-US" altLang="zh-CN" b="1" baseline="30000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T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= A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为实对称矩阵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endParaRPr lang="zh-CN" altLang="en-US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A96015E1-C55D-4A94-8FFB-02C88EB79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4161629"/>
            <a:ext cx="60753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称矩阵</a:t>
            </a:r>
            <a:r>
              <a:rPr lang="zh-CN" altLang="en-US" b="1" i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A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的秩 </a:t>
            </a:r>
            <a:r>
              <a:rPr lang="en-US" altLang="zh-CN" b="1" i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) 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为二次型的秩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. </a:t>
            </a:r>
          </a:p>
        </p:txBody>
      </p:sp>
      <p:sp>
        <p:nvSpPr>
          <p:cNvPr id="21" name="Rectangle 35">
            <a:extLst>
              <a:ext uri="{FF2B5EF4-FFF2-40B4-BE49-F238E27FC236}">
                <a16:creationId xmlns:a16="http://schemas.microsoft.com/office/drawing/2014/main" id="{16B7FAAF-F44F-4710-B7EF-F0852377F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0459" y="4161629"/>
            <a:ext cx="15795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显然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,</a:t>
            </a:r>
          </a:p>
        </p:txBody>
      </p:sp>
      <p:sp>
        <p:nvSpPr>
          <p:cNvPr id="22" name="Rectangle 36">
            <a:extLst>
              <a:ext uri="{FF2B5EF4-FFF2-40B4-BE49-F238E27FC236}">
                <a16:creationId xmlns:a16="http://schemas.microsoft.com/office/drawing/2014/main" id="{8C9F5185-17A5-444B-8BCE-473E1DBBD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701" y="4872036"/>
            <a:ext cx="76692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二次型与对称矩阵之间具有一一对应的关系</a:t>
            </a:r>
          </a:p>
        </p:txBody>
      </p:sp>
      <p:graphicFrame>
        <p:nvGraphicFramePr>
          <p:cNvPr id="24" name="Object 22">
            <a:extLst>
              <a:ext uri="{FF2B5EF4-FFF2-40B4-BE49-F238E27FC236}">
                <a16:creationId xmlns:a16="http://schemas.microsoft.com/office/drawing/2014/main" id="{4ACE0A33-6936-4655-AD0C-99B88D2AFF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723099"/>
              </p:ext>
            </p:extLst>
          </p:nvPr>
        </p:nvGraphicFramePr>
        <p:xfrm>
          <a:off x="1584157" y="2167185"/>
          <a:ext cx="56261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626080" imgH="990360" progId="Equation.DSMT4">
                  <p:embed/>
                </p:oleObj>
              </mc:Choice>
              <mc:Fallback>
                <p:oleObj name="Equation" r:id="rId3" imgW="5626080" imgH="990360" progId="Equation.DSMT4">
                  <p:embed/>
                  <p:pic>
                    <p:nvPicPr>
                      <p:cNvPr id="24" name="Object 22">
                        <a:extLst>
                          <a:ext uri="{FF2B5EF4-FFF2-40B4-BE49-F238E27FC236}">
                            <a16:creationId xmlns:a16="http://schemas.microsoft.com/office/drawing/2014/main" id="{4ACE0A33-6936-4655-AD0C-99B88D2AFF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157" y="2167185"/>
                        <a:ext cx="56261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32">
            <a:extLst>
              <a:ext uri="{FF2B5EF4-FFF2-40B4-BE49-F238E27FC236}">
                <a16:creationId xmlns:a16="http://schemas.microsoft.com/office/drawing/2014/main" id="{C8740F6E-CE7E-482F-BD36-A7AADF7CD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332" y="3440904"/>
            <a:ext cx="381642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称</a:t>
            </a:r>
            <a:r>
              <a:rPr lang="en-US" altLang="zh-CN" b="1" i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为二次型的矩阵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.</a:t>
            </a:r>
            <a:endParaRPr lang="zh-CN" altLang="en-US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2" name="Rectangle 31">
            <a:extLst>
              <a:ext uri="{FF2B5EF4-FFF2-40B4-BE49-F238E27FC236}">
                <a16:creationId xmlns:a16="http://schemas.microsoft.com/office/drawing/2014/main" id="{1D92522C-1FF0-1819-897B-62FC63D2D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474" y="708051"/>
            <a:ext cx="1653819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定义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4.11</a:t>
            </a:r>
            <a:endParaRPr lang="zh-CN" altLang="en-US" b="1" dirty="0">
              <a:solidFill>
                <a:srgbClr val="C00000"/>
              </a:solidFill>
              <a:latin typeface="华文中宋" pitchFamily="2" charset="-122"/>
              <a:ea typeface="华文中宋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925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utoUpdateAnimBg="0"/>
      <p:bldP spid="18" grpId="0" build="p" autoUpdateAnimBg="0" advAuto="0"/>
      <p:bldP spid="19" grpId="0" build="p" autoUpdateAnimBg="0"/>
      <p:bldP spid="20" grpId="0" build="p" autoUpdateAnimBg="0"/>
      <p:bldP spid="21" grpId="0" build="p" autoUpdateAnimBg="0"/>
      <p:bldP spid="22" grpId="0" build="p" autoUpdateAnimBg="0" advAuto="0"/>
      <p:bldP spid="25" grpId="0" build="p" autoUpdateAnimBg="0"/>
      <p:bldP spid="2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12" name="Rectangle 36">
            <a:extLst>
              <a:ext uri="{FF2B5EF4-FFF2-40B4-BE49-F238E27FC236}">
                <a16:creationId xmlns:a16="http://schemas.microsoft.com/office/drawing/2014/main" id="{8C5D0B94-23B5-4228-B4D8-A8574A7FF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656" y="993281"/>
            <a:ext cx="5668031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寻找二次型  </a:t>
            </a:r>
            <a:r>
              <a:rPr lang="en-US" altLang="zh-CN" b="1" i="1" dirty="0">
                <a:solidFill>
                  <a:srgbClr val="C00000"/>
                </a:solidFill>
                <a:ea typeface="黑体" pitchFamily="2" charset="-122"/>
              </a:rPr>
              <a:t>f 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的矩阵 </a:t>
            </a:r>
            <a:r>
              <a:rPr lang="en-US" altLang="zh-CN" b="1" i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A 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的方法</a:t>
            </a:r>
          </a:p>
        </p:txBody>
      </p:sp>
      <p:sp>
        <p:nvSpPr>
          <p:cNvPr id="13" name="Rectangle 36">
            <a:extLst>
              <a:ext uri="{FF2B5EF4-FFF2-40B4-BE49-F238E27FC236}">
                <a16:creationId xmlns:a16="http://schemas.microsoft.com/office/drawing/2014/main" id="{7BD4D628-F53E-45E7-885E-164DF7786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856" y="1712419"/>
            <a:ext cx="5832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</a:rPr>
              <a:t>(1)</a:t>
            </a:r>
            <a:r>
              <a:rPr lang="zh-CN" altLang="en-US" b="1" dirty="0">
                <a:solidFill>
                  <a:srgbClr val="0000FF"/>
                </a:solidFill>
                <a:ea typeface="宋体"/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i="1" baseline="-25000" dirty="0" err="1">
                <a:solidFill>
                  <a:srgbClr val="0000FF"/>
                </a:solidFill>
                <a:ea typeface="黑体" pitchFamily="2" charset="-122"/>
              </a:rPr>
              <a:t>ii</a:t>
            </a:r>
            <a:r>
              <a:rPr lang="zh-CN" altLang="en-US" b="1" dirty="0">
                <a:solidFill>
                  <a:srgbClr val="0000FF"/>
                </a:solidFill>
                <a:latin typeface="宋体"/>
                <a:ea typeface="宋体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是</a:t>
            </a:r>
            <a:r>
              <a:rPr lang="zh-CN" altLang="en-US" b="1" dirty="0">
                <a:solidFill>
                  <a:srgbClr val="0000FF"/>
                </a:solidFill>
                <a:latin typeface="宋体"/>
                <a:ea typeface="宋体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f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中平方项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x</a:t>
            </a:r>
            <a:r>
              <a:rPr lang="en-US" altLang="zh-CN" b="1" i="1" baseline="-25000" dirty="0">
                <a:solidFill>
                  <a:srgbClr val="0000FF"/>
                </a:solidFill>
                <a:ea typeface="黑体" pitchFamily="2" charset="-122"/>
              </a:rPr>
              <a:t>i</a:t>
            </a:r>
            <a:r>
              <a:rPr lang="en-US" altLang="zh-CN" b="1" baseline="30000" dirty="0">
                <a:solidFill>
                  <a:srgbClr val="0000FF"/>
                </a:solidFill>
                <a:ea typeface="黑体" pitchFamily="2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宋体"/>
                <a:ea typeface="宋体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的系数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</a:rPr>
              <a:t>;</a:t>
            </a:r>
            <a:r>
              <a:rPr lang="en-US" altLang="zh-CN" b="1" dirty="0">
                <a:solidFill>
                  <a:srgbClr val="0000FF"/>
                </a:solidFill>
                <a:latin typeface="宋体"/>
                <a:ea typeface="宋体"/>
              </a:rPr>
              <a:t> </a:t>
            </a:r>
            <a:endParaRPr lang="zh-CN" altLang="en-US" b="1" dirty="0">
              <a:solidFill>
                <a:srgbClr val="0000FF"/>
              </a:solidFill>
              <a:latin typeface="宋体"/>
              <a:ea typeface="宋体"/>
            </a:endParaRPr>
          </a:p>
        </p:txBody>
      </p:sp>
      <p:sp>
        <p:nvSpPr>
          <p:cNvPr id="14" name="Rectangle 36">
            <a:extLst>
              <a:ext uri="{FF2B5EF4-FFF2-40B4-BE49-F238E27FC236}">
                <a16:creationId xmlns:a16="http://schemas.microsoft.com/office/drawing/2014/main" id="{3467F712-AA34-4255-B0FE-A7913E7FD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856" y="2433144"/>
            <a:ext cx="7416576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(2)</a:t>
            </a:r>
            <a:r>
              <a:rPr lang="zh-CN" altLang="en-US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i="1" baseline="-25000" dirty="0" err="1">
                <a:solidFill>
                  <a:srgbClr val="0000FF"/>
                </a:solidFill>
                <a:ea typeface="黑体" pitchFamily="2" charset="-122"/>
              </a:rPr>
              <a:t>ij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 =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i="1" dirty="0" err="1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i="1" baseline="-25000" dirty="0" err="1">
                <a:solidFill>
                  <a:srgbClr val="0000FF"/>
                </a:solidFill>
                <a:ea typeface="黑体" pitchFamily="2" charset="-122"/>
              </a:rPr>
              <a:t>ji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是</a:t>
            </a:r>
            <a:r>
              <a:rPr lang="zh-CN" altLang="en-US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f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中交叉乘积项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x</a:t>
            </a:r>
            <a:r>
              <a:rPr lang="en-US" altLang="zh-CN" b="1" i="1" baseline="-25000" dirty="0">
                <a:solidFill>
                  <a:srgbClr val="0000FF"/>
                </a:solidFill>
                <a:ea typeface="黑体" pitchFamily="2" charset="-122"/>
              </a:rPr>
              <a:t>i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i="1" dirty="0" err="1">
                <a:solidFill>
                  <a:srgbClr val="0000FF"/>
                </a:solidFill>
                <a:ea typeface="黑体" pitchFamily="2" charset="-122"/>
              </a:rPr>
              <a:t>x</a:t>
            </a:r>
            <a:r>
              <a:rPr lang="en-US" altLang="zh-CN" b="1" i="1" baseline="-25000" dirty="0" err="1">
                <a:solidFill>
                  <a:srgbClr val="0000FF"/>
                </a:solidFill>
                <a:ea typeface="黑体" pitchFamily="2" charset="-122"/>
              </a:rPr>
              <a:t>j</a:t>
            </a:r>
            <a:r>
              <a:rPr lang="en-US" altLang="zh-CN" b="1" i="1" baseline="-25000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系数的一半</a:t>
            </a:r>
            <a:r>
              <a:rPr lang="en-US" altLang="zh-CN" b="1" dirty="0">
                <a:solidFill>
                  <a:srgbClr val="0000FF"/>
                </a:solidFill>
                <a:latin typeface="宋体"/>
                <a:ea typeface="宋体"/>
              </a:rPr>
              <a:t>.</a:t>
            </a:r>
            <a:endParaRPr lang="zh-CN" altLang="en-US" b="1" dirty="0">
              <a:solidFill>
                <a:srgbClr val="0000FF"/>
              </a:solidFill>
              <a:latin typeface="宋体"/>
              <a:ea typeface="宋体"/>
            </a:endParaRPr>
          </a:p>
        </p:txBody>
      </p:sp>
      <p:sp>
        <p:nvSpPr>
          <p:cNvPr id="15" name="Rectangle 30">
            <a:extLst>
              <a:ext uri="{FF2B5EF4-FFF2-40B4-BE49-F238E27FC236}">
                <a16:creationId xmlns:a16="http://schemas.microsoft.com/office/drawing/2014/main" id="{7171EE37-12AE-4BFD-8C19-04E2FA40D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97" y="-21761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二次型的概念</a:t>
            </a:r>
          </a:p>
        </p:txBody>
      </p:sp>
    </p:spTree>
    <p:extLst>
      <p:ext uri="{BB962C8B-B14F-4D97-AF65-F5344CB8AC3E}">
        <p14:creationId xmlns:p14="http://schemas.microsoft.com/office/powerpoint/2010/main" val="187400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6" name="Rectangle 30">
            <a:extLst>
              <a:ext uri="{FF2B5EF4-FFF2-40B4-BE49-F238E27FC236}">
                <a16:creationId xmlns:a16="http://schemas.microsoft.com/office/drawing/2014/main" id="{05449CDE-3CC7-48A4-8034-86B1A6A52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996" y="1108163"/>
            <a:ext cx="64500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定义</a:t>
            </a:r>
            <a:r>
              <a:rPr lang="en-US" altLang="zh-CN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4.</a:t>
            </a:r>
            <a:r>
              <a:rPr lang="en-US" altLang="zh-CN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  若二次型只含变量的平方项</a:t>
            </a:r>
            <a:r>
              <a:rPr lang="en-US" altLang="zh-CN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Rectangle 31">
            <a:extLst>
              <a:ext uri="{FF2B5EF4-FFF2-40B4-BE49-F238E27FC236}">
                <a16:creationId xmlns:a16="http://schemas.microsoft.com/office/drawing/2014/main" id="{116E0FB9-7CA8-497F-964E-20A70270C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5877" y="1108163"/>
            <a:ext cx="1456564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则称此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8" name="Text Box 38">
            <a:extLst>
              <a:ext uri="{FF2B5EF4-FFF2-40B4-BE49-F238E27FC236}">
                <a16:creationId xmlns:a16="http://schemas.microsoft.com/office/drawing/2014/main" id="{EF4CD039-C06D-4975-9C79-BE3FA9521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552" y="2519363"/>
            <a:ext cx="7057784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若标准形的系数只在 </a:t>
            </a:r>
            <a:r>
              <a:rPr lang="en-US" altLang="zh-CN" dirty="0">
                <a:ea typeface="华文中宋" panose="02010600040101010101" pitchFamily="2" charset="-122"/>
                <a:cs typeface="Times New Roman" panose="02020603050405020304" pitchFamily="18" charset="0"/>
              </a:rPr>
              <a:t>1, -1 , 0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三个数中取值</a:t>
            </a:r>
            <a:r>
              <a:rPr lang="en-US" altLang="zh-CN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endParaRPr lang="zh-CN" altLang="en-US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39">
            <a:extLst>
              <a:ext uri="{FF2B5EF4-FFF2-40B4-BE49-F238E27FC236}">
                <a16:creationId xmlns:a16="http://schemas.microsoft.com/office/drawing/2014/main" id="{385E71C2-AC1C-4CBF-B9C9-48123D9F0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4008" y="2519363"/>
            <a:ext cx="1295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则称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5485B43F-041C-4706-BEE6-7025B4C73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552" y="1800226"/>
            <a:ext cx="48974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二次型为</a:t>
            </a: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标准形</a:t>
            </a:r>
            <a:r>
              <a:rPr lang="en-US" altLang="zh-CN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或法式</a:t>
            </a:r>
            <a:r>
              <a:rPr lang="en-US" altLang="zh-CN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91048E72-2EBF-4117-B52F-040548EF1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477" y="3887788"/>
            <a:ext cx="1295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例如</a:t>
            </a:r>
          </a:p>
        </p:txBody>
      </p:sp>
      <p:sp>
        <p:nvSpPr>
          <p:cNvPr id="32" name="AutoShape 8">
            <a:extLst>
              <a:ext uri="{FF2B5EF4-FFF2-40B4-BE49-F238E27FC236}">
                <a16:creationId xmlns:a16="http://schemas.microsoft.com/office/drawing/2014/main" id="{A68D0E3B-6942-412C-8C88-8E7F50C2F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814" y="4679951"/>
            <a:ext cx="1828800" cy="838200"/>
          </a:xfrm>
          <a:prstGeom prst="wedgeEllipseCallout">
            <a:avLst>
              <a:gd name="adj1" fmla="val 118579"/>
              <a:gd name="adj2" fmla="val -90153"/>
            </a:avLst>
          </a:prstGeom>
          <a:solidFill>
            <a:schemeClr val="bg1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标准形</a:t>
            </a:r>
          </a:p>
        </p:txBody>
      </p:sp>
      <p:sp>
        <p:nvSpPr>
          <p:cNvPr id="33" name="AutoShape 9">
            <a:extLst>
              <a:ext uri="{FF2B5EF4-FFF2-40B4-BE49-F238E27FC236}">
                <a16:creationId xmlns:a16="http://schemas.microsoft.com/office/drawing/2014/main" id="{56882E9C-B1DF-4E19-9283-F176828D2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8730" y="5564188"/>
            <a:ext cx="2057400" cy="838200"/>
          </a:xfrm>
          <a:prstGeom prst="wedgeEllipseCallout">
            <a:avLst>
              <a:gd name="adj1" fmla="val -102005"/>
              <a:gd name="adj2" fmla="val -128032"/>
            </a:avLst>
          </a:prstGeom>
          <a:solidFill>
            <a:schemeClr val="bg1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规范形</a:t>
            </a:r>
          </a:p>
        </p:txBody>
      </p:sp>
      <p:graphicFrame>
        <p:nvGraphicFramePr>
          <p:cNvPr id="34" name="Object 6">
            <a:extLst>
              <a:ext uri="{FF2B5EF4-FFF2-40B4-BE49-F238E27FC236}">
                <a16:creationId xmlns:a16="http://schemas.microsoft.com/office/drawing/2014/main" id="{CE003B7F-DCD9-4EA1-8E7B-D7D80749B4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1880" y="3763963"/>
          <a:ext cx="2628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28720" imgH="482400" progId="Equation.DSMT4">
                  <p:embed/>
                </p:oleObj>
              </mc:Choice>
              <mc:Fallback>
                <p:oleObj name="Equation" r:id="rId3" imgW="2628720" imgH="482400" progId="Equation.DSMT4">
                  <p:embed/>
                  <p:pic>
                    <p:nvPicPr>
                      <p:cNvPr id="34" name="Object 6">
                        <a:extLst>
                          <a:ext uri="{FF2B5EF4-FFF2-40B4-BE49-F238E27FC236}">
                            <a16:creationId xmlns:a16="http://schemas.microsoft.com/office/drawing/2014/main" id="{CE003B7F-DCD9-4EA1-8E7B-D7D80749B4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3763963"/>
                        <a:ext cx="26289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7">
            <a:extLst>
              <a:ext uri="{FF2B5EF4-FFF2-40B4-BE49-F238E27FC236}">
                <a16:creationId xmlns:a16="http://schemas.microsoft.com/office/drawing/2014/main" id="{FB90141F-A0D2-472B-99BC-C67119D448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1880" y="4556126"/>
          <a:ext cx="2298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98600" imgH="482400" progId="Equation.DSMT4">
                  <p:embed/>
                </p:oleObj>
              </mc:Choice>
              <mc:Fallback>
                <p:oleObj name="Equation" r:id="rId5" imgW="2298600" imgH="482400" progId="Equation.DSMT4">
                  <p:embed/>
                  <p:pic>
                    <p:nvPicPr>
                      <p:cNvPr id="35" name="Object 17">
                        <a:extLst>
                          <a:ext uri="{FF2B5EF4-FFF2-40B4-BE49-F238E27FC236}">
                            <a16:creationId xmlns:a16="http://schemas.microsoft.com/office/drawing/2014/main" id="{FB90141F-A0D2-472B-99BC-C67119D448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4556126"/>
                        <a:ext cx="22987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4">
            <a:extLst>
              <a:ext uri="{FF2B5EF4-FFF2-40B4-BE49-F238E27FC236}">
                <a16:creationId xmlns:a16="http://schemas.microsoft.com/office/drawing/2014/main" id="{5F5D2315-F35A-4448-BFAF-CDD38DCB96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5627" y="1799432"/>
          <a:ext cx="3771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771720" imgH="482400" progId="Equation.DSMT4">
                  <p:embed/>
                </p:oleObj>
              </mc:Choice>
              <mc:Fallback>
                <p:oleObj name="Equation" r:id="rId7" imgW="3771720" imgH="482400" progId="Equation.DSMT4">
                  <p:embed/>
                  <p:pic>
                    <p:nvPicPr>
                      <p:cNvPr id="36" name="Object 14">
                        <a:extLst>
                          <a:ext uri="{FF2B5EF4-FFF2-40B4-BE49-F238E27FC236}">
                            <a16:creationId xmlns:a16="http://schemas.microsoft.com/office/drawing/2014/main" id="{5F5D2315-F35A-4448-BFAF-CDD38DCB96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5627" y="1799432"/>
                        <a:ext cx="37719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5">
            <a:extLst>
              <a:ext uri="{FF2B5EF4-FFF2-40B4-BE49-F238E27FC236}">
                <a16:creationId xmlns:a16="http://schemas.microsoft.com/office/drawing/2014/main" id="{A45D5F37-8D92-45FB-AB2F-CAABCE74D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390" y="1799432"/>
            <a:ext cx="1008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sp>
        <p:nvSpPr>
          <p:cNvPr id="38" name="Text Box 39">
            <a:extLst>
              <a:ext uri="{FF2B5EF4-FFF2-40B4-BE49-F238E27FC236}">
                <a16:creationId xmlns:a16="http://schemas.microsoft.com/office/drawing/2014/main" id="{7E9C3A3C-A80C-4D41-828C-B858084A4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552" y="3240088"/>
            <a:ext cx="2736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之为</a:t>
            </a: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规范形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96665182-EC0B-4A7F-960A-7412EED77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97" y="-21761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二次型的概念</a:t>
            </a:r>
          </a:p>
        </p:txBody>
      </p:sp>
    </p:spTree>
    <p:extLst>
      <p:ext uri="{BB962C8B-B14F-4D97-AF65-F5344CB8AC3E}">
        <p14:creationId xmlns:p14="http://schemas.microsoft.com/office/powerpoint/2010/main" val="2000057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 autoUpdateAnimBg="0"/>
      <p:bldP spid="27" grpId="0" build="p" autoUpdateAnimBg="0" advAuto="0"/>
      <p:bldP spid="28" grpId="0" build="p" autoUpdateAnimBg="0"/>
      <p:bldP spid="29" grpId="0" build="p" autoUpdateAnimBg="0" advAuto="0"/>
      <p:bldP spid="30" grpId="0" build="p" autoUpdateAnimBg="0" advAuto="0"/>
      <p:bldP spid="31" grpId="0"/>
      <p:bldP spid="32" grpId="0" animBg="1"/>
      <p:bldP spid="33" grpId="0" animBg="1"/>
      <p:bldP spid="37" grpId="0"/>
      <p:bldP spid="38" grpId="0" build="p" autoUpdateAnimBg="0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" name="Text Box 14">
            <a:extLst>
              <a:ext uri="{FF2B5EF4-FFF2-40B4-BE49-F238E27FC236}">
                <a16:creationId xmlns:a16="http://schemas.microsoft.com/office/drawing/2014/main" id="{2B1029B0-A4C1-4832-8FC7-0A47D9877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2213" y="5394346"/>
            <a:ext cx="20298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 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R(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f 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 =3.</a:t>
            </a:r>
            <a:endParaRPr lang="zh-CN" altLang="en-US" dirty="0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54FA88A8-050F-4909-AC07-BE223BC1B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3582" y="2671345"/>
            <a:ext cx="936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zh-CN" altLang="en-US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7" name="Object 6">
            <a:extLst>
              <a:ext uri="{FF2B5EF4-FFF2-40B4-BE49-F238E27FC236}">
                <a16:creationId xmlns:a16="http://schemas.microsoft.com/office/drawing/2014/main" id="{123EC474-B523-435F-BF94-5FFEA86ABA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4933" y="3255122"/>
          <a:ext cx="25527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52400" imgH="1244520" progId="Equation.DSMT4">
                  <p:embed/>
                </p:oleObj>
              </mc:Choice>
              <mc:Fallback>
                <p:oleObj name="Equation" r:id="rId3" imgW="2552400" imgH="1244520" progId="Equation.DSMT4">
                  <p:embed/>
                  <p:pic>
                    <p:nvPicPr>
                      <p:cNvPr id="27" name="Object 6">
                        <a:extLst>
                          <a:ext uri="{FF2B5EF4-FFF2-40B4-BE49-F238E27FC236}">
                            <a16:creationId xmlns:a16="http://schemas.microsoft.com/office/drawing/2014/main" id="{123EC474-B523-435F-BF94-5FFEA86ABA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933" y="3255122"/>
                        <a:ext cx="25527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7">
            <a:extLst>
              <a:ext uri="{FF2B5EF4-FFF2-40B4-BE49-F238E27FC236}">
                <a16:creationId xmlns:a16="http://schemas.microsoft.com/office/drawing/2014/main" id="{71CA199E-04B8-413F-9C43-977F2CF8FD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376" y="5508788"/>
          <a:ext cx="1346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46040" imgH="355320" progId="Equation.DSMT4">
                  <p:embed/>
                </p:oleObj>
              </mc:Choice>
              <mc:Fallback>
                <p:oleObj name="Equation" r:id="rId5" imgW="1346040" imgH="355320" progId="Equation.DSMT4">
                  <p:embed/>
                  <p:pic>
                    <p:nvPicPr>
                      <p:cNvPr id="28" name="Object 7">
                        <a:extLst>
                          <a:ext uri="{FF2B5EF4-FFF2-40B4-BE49-F238E27FC236}">
                            <a16:creationId xmlns:a16="http://schemas.microsoft.com/office/drawing/2014/main" id="{71CA199E-04B8-413F-9C43-977F2CF8FD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376" y="5508788"/>
                        <a:ext cx="1346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6">
            <a:extLst>
              <a:ext uri="{FF2B5EF4-FFF2-40B4-BE49-F238E27FC236}">
                <a16:creationId xmlns:a16="http://schemas.microsoft.com/office/drawing/2014/main" id="{E01EA034-D96A-45BB-ADA1-C6B1B5793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6818" y="2674765"/>
            <a:ext cx="662018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由二次型</a:t>
            </a:r>
            <a:r>
              <a:rPr lang="zh-CN" altLang="en-US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f </a:t>
            </a:r>
            <a:r>
              <a:rPr lang="zh-CN" altLang="en-US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的表示式可以写成其矩阵为</a:t>
            </a:r>
            <a:endParaRPr lang="zh-CN" altLang="en-US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342E95D-4616-4044-912F-DE2A7F206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730" y="4466633"/>
            <a:ext cx="1081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1" name="Text Box 14">
            <a:extLst>
              <a:ext uri="{FF2B5EF4-FFF2-40B4-BE49-F238E27FC236}">
                <a16:creationId xmlns:a16="http://schemas.microsoft.com/office/drawing/2014/main" id="{765E8789-3878-44C8-AB64-053CE6031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730" y="5405468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</a:t>
            </a:r>
          </a:p>
        </p:txBody>
      </p:sp>
      <p:graphicFrame>
        <p:nvGraphicFramePr>
          <p:cNvPr id="32" name="Object 8">
            <a:extLst>
              <a:ext uri="{FF2B5EF4-FFF2-40B4-BE49-F238E27FC236}">
                <a16:creationId xmlns:a16="http://schemas.microsoft.com/office/drawing/2014/main" id="{A191D755-B489-4454-9DC2-4B30D4BBD6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0029" y="4654982"/>
          <a:ext cx="1231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31560" imgH="457200" progId="Equation.DSMT4">
                  <p:embed/>
                </p:oleObj>
              </mc:Choice>
              <mc:Fallback>
                <p:oleObj name="Equation" r:id="rId7" imgW="1231560" imgH="457200" progId="Equation.DSMT4">
                  <p:embed/>
                  <p:pic>
                    <p:nvPicPr>
                      <p:cNvPr id="32" name="Object 8">
                        <a:extLst>
                          <a:ext uri="{FF2B5EF4-FFF2-40B4-BE49-F238E27FC236}">
                            <a16:creationId xmlns:a16="http://schemas.microsoft.com/office/drawing/2014/main" id="{A191D755-B489-4454-9DC2-4B30D4BBD6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029" y="4654982"/>
                        <a:ext cx="1231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0">
            <a:extLst>
              <a:ext uri="{FF2B5EF4-FFF2-40B4-BE49-F238E27FC236}">
                <a16:creationId xmlns:a16="http://schemas.microsoft.com/office/drawing/2014/main" id="{0E3307C5-EFE2-45B1-A9BE-44B8C7688F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026" y="4709783"/>
          <a:ext cx="54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45760" imgH="342720" progId="Equation.DSMT4">
                  <p:embed/>
                </p:oleObj>
              </mc:Choice>
              <mc:Fallback>
                <p:oleObj name="Equation" r:id="rId9" imgW="545760" imgH="342720" progId="Equation.DSMT4">
                  <p:embed/>
                  <p:pic>
                    <p:nvPicPr>
                      <p:cNvPr id="34" name="Object 10">
                        <a:extLst>
                          <a:ext uri="{FF2B5EF4-FFF2-40B4-BE49-F238E27FC236}">
                            <a16:creationId xmlns:a16="http://schemas.microsoft.com/office/drawing/2014/main" id="{0E3307C5-EFE2-45B1-A9BE-44B8C7688F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026" y="4709783"/>
                        <a:ext cx="546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10">
            <a:extLst>
              <a:ext uri="{FF2B5EF4-FFF2-40B4-BE49-F238E27FC236}">
                <a16:creationId xmlns:a16="http://schemas.microsoft.com/office/drawing/2014/main" id="{71F49A46-FE6A-4AF0-A80E-32D20EA7A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019" y="825500"/>
            <a:ext cx="37449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例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4.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宋体"/>
                <a:cs typeface="Times New Roman" pitchFamily="18" charset="0"/>
              </a:rPr>
              <a:t>18  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写出二次型    </a:t>
            </a:r>
          </a:p>
        </p:txBody>
      </p:sp>
      <p:graphicFrame>
        <p:nvGraphicFramePr>
          <p:cNvPr id="37" name="Object 5">
            <a:extLst>
              <a:ext uri="{FF2B5EF4-FFF2-40B4-BE49-F238E27FC236}">
                <a16:creationId xmlns:a16="http://schemas.microsoft.com/office/drawing/2014/main" id="{05138F28-23C4-4227-AFE0-28EA25429D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4105" y="1439250"/>
          <a:ext cx="4241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241520" imgH="482400" progId="Equation.DSMT4">
                  <p:embed/>
                </p:oleObj>
              </mc:Choice>
              <mc:Fallback>
                <p:oleObj name="Equation" r:id="rId11" imgW="4241520" imgH="482400" progId="Equation.DSMT4">
                  <p:embed/>
                  <p:pic>
                    <p:nvPicPr>
                      <p:cNvPr id="37" name="Object 5">
                        <a:extLst>
                          <a:ext uri="{FF2B5EF4-FFF2-40B4-BE49-F238E27FC236}">
                            <a16:creationId xmlns:a16="http://schemas.microsoft.com/office/drawing/2014/main" id="{05138F28-23C4-4227-AFE0-28EA25429D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105" y="1439250"/>
                        <a:ext cx="4241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2">
            <a:extLst>
              <a:ext uri="{FF2B5EF4-FFF2-40B4-BE49-F238E27FC236}">
                <a16:creationId xmlns:a16="http://schemas.microsoft.com/office/drawing/2014/main" id="{76D855C9-831A-44D2-B3D8-12E165B85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1264" y="1983399"/>
            <a:ext cx="3471862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并求出二次型的秩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</a:rPr>
              <a:t>.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8842BE-4A30-3735-F4F9-469BEE2AA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956" y="1982979"/>
            <a:ext cx="166152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的矩阵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1041B883-5AA8-4651-A092-F6B742F2F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97" y="-21761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二次型的概念</a:t>
            </a:r>
          </a:p>
        </p:txBody>
      </p:sp>
    </p:spTree>
    <p:extLst>
      <p:ext uri="{BB962C8B-B14F-4D97-AF65-F5344CB8AC3E}">
        <p14:creationId xmlns:p14="http://schemas.microsoft.com/office/powerpoint/2010/main" val="372676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 autoUpdateAnimBg="0"/>
      <p:bldP spid="25" grpId="0" build="p" autoUpdateAnimBg="0"/>
      <p:bldP spid="29" grpId="0" build="p" autoUpdateAnimBg="0"/>
      <p:bldP spid="30" grpId="0"/>
      <p:bldP spid="31" grpId="0" build="p" autoUpdateAnimBg="0"/>
      <p:bldP spid="38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638" y="0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合同矩阵及其性质</a:t>
            </a:r>
          </a:p>
        </p:txBody>
      </p:sp>
      <p:sp>
        <p:nvSpPr>
          <p:cNvPr id="14" name="Text Box 47">
            <a:extLst>
              <a:ext uri="{FF2B5EF4-FFF2-40B4-BE49-F238E27FC236}">
                <a16:creationId xmlns:a16="http://schemas.microsoft.com/office/drawing/2014/main" id="{F6C18236-5344-4914-947F-4DAE5192B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7" y="1231385"/>
            <a:ext cx="5184576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定义</a:t>
            </a:r>
            <a:r>
              <a:rPr lang="en-US" altLang="zh-CN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4.12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阶矩阵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Text Box 48">
            <a:extLst>
              <a:ext uri="{FF2B5EF4-FFF2-40B4-BE49-F238E27FC236}">
                <a16:creationId xmlns:a16="http://schemas.microsoft.com/office/drawing/2014/main" id="{1B36424E-FBA2-49FC-B14F-FDF6E0B24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2085207"/>
            <a:ext cx="28813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使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=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AC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6" name="Text Box 49">
            <a:extLst>
              <a:ext uri="{FF2B5EF4-FFF2-40B4-BE49-F238E27FC236}">
                <a16:creationId xmlns:a16="http://schemas.microsoft.com/office/drawing/2014/main" id="{D1964ED3-5860-4253-B3AA-5199F6D00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3013379"/>
            <a:ext cx="122413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性质</a:t>
            </a:r>
          </a:p>
        </p:txBody>
      </p:sp>
      <p:sp>
        <p:nvSpPr>
          <p:cNvPr id="17" name="Text Box 47">
            <a:extLst>
              <a:ext uri="{FF2B5EF4-FFF2-40B4-BE49-F238E27FC236}">
                <a16:creationId xmlns:a16="http://schemas.microsoft.com/office/drawing/2014/main" id="{2E50E508-6FA1-41C8-A78D-161FD8EA6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193" y="1231385"/>
            <a:ext cx="279459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若存在可逆</a:t>
            </a:r>
          </a:p>
        </p:txBody>
      </p:sp>
      <p:sp>
        <p:nvSpPr>
          <p:cNvPr id="18" name="Text Box 48">
            <a:extLst>
              <a:ext uri="{FF2B5EF4-FFF2-40B4-BE49-F238E27FC236}">
                <a16:creationId xmlns:a16="http://schemas.microsoft.com/office/drawing/2014/main" id="{68301CFF-02FE-483A-B2EF-D47E614A5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786" y="2086795"/>
            <a:ext cx="43195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则称矩阵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合同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" name="Text Box 47">
            <a:extLst>
              <a:ext uri="{FF2B5EF4-FFF2-40B4-BE49-F238E27FC236}">
                <a16:creationId xmlns:a16="http://schemas.microsoft.com/office/drawing/2014/main" id="{81825530-223E-1FD3-E63C-234D83117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469" y="2085207"/>
            <a:ext cx="1828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C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56F2E1-AF33-66E4-8428-709C9388921F}"/>
              </a:ext>
            </a:extLst>
          </p:cNvPr>
          <p:cNvSpPr txBox="1"/>
          <p:nvPr/>
        </p:nvSpPr>
        <p:spPr>
          <a:xfrm>
            <a:off x="1115616" y="3770277"/>
            <a:ext cx="70567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kern="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矩阵的合同关系具有反身性、对称性、传递</a:t>
            </a:r>
            <a:endParaRPr lang="zh-CN" altLang="en-US" b="1" kern="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058810-2ADB-161F-E80C-2D2D31B5E5A1}"/>
              </a:ext>
            </a:extLst>
          </p:cNvPr>
          <p:cNvSpPr txBox="1"/>
          <p:nvPr/>
        </p:nvSpPr>
        <p:spPr>
          <a:xfrm>
            <a:off x="702469" y="4551146"/>
            <a:ext cx="2520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kern="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性的性质</a:t>
            </a:r>
            <a:r>
              <a:rPr lang="en-US" altLang="zh-CN" b="1" kern="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703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utoUpdateAnimBg="0"/>
      <p:bldP spid="15" grpId="0" build="p" autoUpdateAnimBg="0" advAuto="0"/>
      <p:bldP spid="16" grpId="0" build="p" autoUpdateAnimBg="0"/>
      <p:bldP spid="17" grpId="0" build="p" autoUpdateAnimBg="0"/>
      <p:bldP spid="18" grpId="0" build="p" autoUpdateAnimBg="0" advAuto="0"/>
      <p:bldP spid="2" grpId="0" build="p" autoUpdateAnimBg="0"/>
      <p:bldP spid="4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04" y="-20603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二次型的标准形 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7E7492E-113A-4786-AE3F-C6312138BA60}"/>
              </a:ext>
            </a:extLst>
          </p:cNvPr>
          <p:cNvGrpSpPr>
            <a:grpSpLocks/>
          </p:cNvGrpSpPr>
          <p:nvPr/>
        </p:nvGrpSpPr>
        <p:grpSpPr bwMode="auto">
          <a:xfrm>
            <a:off x="518465" y="807013"/>
            <a:ext cx="8419832" cy="1239838"/>
            <a:chOff x="525731" y="4148137"/>
            <a:chExt cx="8419832" cy="1239838"/>
          </a:xfrm>
        </p:grpSpPr>
        <p:sp>
          <p:nvSpPr>
            <p:cNvPr id="32" name="Rectangle 50">
              <a:extLst>
                <a:ext uri="{FF2B5EF4-FFF2-40B4-BE49-F238E27FC236}">
                  <a16:creationId xmlns:a16="http://schemas.microsoft.com/office/drawing/2014/main" id="{4C3C9EB7-E1E4-4AD7-8183-DF5EF25AD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600" y="4149725"/>
              <a:ext cx="4824413" cy="52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ea typeface="华文中宋" panose="02010600040101010101" pitchFamily="2" charset="-122"/>
                  <a:cs typeface="Times New Roman" panose="02020603050405020304" pitchFamily="18" charset="0"/>
                </a:rPr>
                <a:t>定理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ea typeface="华文中宋" panose="02010600040101010101" pitchFamily="2" charset="-122"/>
                  <a:cs typeface="Times New Roman" panose="02020603050405020304" pitchFamily="18" charset="0"/>
                </a:rPr>
                <a:t>4.11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ea typeface="华文中宋" panose="020106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任给可逆矩阵 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华文中宋" panose="0201060004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华文中宋" panose="02010600040101010101" pitchFamily="2" charset="-122"/>
                  <a:cs typeface="Times New Roman" panose="02020603050405020304" pitchFamily="18" charset="0"/>
                </a:rPr>
                <a:t> ,</a:t>
              </a:r>
              <a:endPara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51">
              <a:extLst>
                <a:ext uri="{FF2B5EF4-FFF2-40B4-BE49-F238E27FC236}">
                  <a16:creationId xmlns:a16="http://schemas.microsoft.com/office/drawing/2014/main" id="{632456D0-95EF-4DA7-BCC3-CB050034E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4513" y="4149725"/>
              <a:ext cx="2051050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itchFamily="2" charset="-122"/>
                  <a:ea typeface="华文中宋" pitchFamily="2" charset="-122"/>
                </a:rPr>
                <a:t>若 </a:t>
              </a:r>
              <a:r>
                <a:rPr kumimoji="0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/>
                  <a:cs typeface="Times New Roman" pitchFamily="18" charset="0"/>
                </a:rPr>
                <a:t>A </a:t>
              </a: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itchFamily="2" charset="-122"/>
                  <a:ea typeface="华文中宋" pitchFamily="2" charset="-122"/>
                </a:rPr>
                <a:t>为</a:t>
              </a:r>
            </a:p>
          </p:txBody>
        </p:sp>
        <p:sp>
          <p:nvSpPr>
            <p:cNvPr id="34" name="Rectangle 52">
              <a:extLst>
                <a:ext uri="{FF2B5EF4-FFF2-40B4-BE49-F238E27FC236}">
                  <a16:creationId xmlns:a16="http://schemas.microsoft.com/office/drawing/2014/main" id="{9BD2E706-249E-4479-995D-6EF7A0943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725" y="4868863"/>
              <a:ext cx="30607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</a:rPr>
                <a:t>且 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R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(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B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) = 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R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(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A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) .</a:t>
              </a:r>
            </a:p>
          </p:txBody>
        </p:sp>
        <p:sp>
          <p:nvSpPr>
            <p:cNvPr id="35" name="Rectangle 51">
              <a:extLst>
                <a:ext uri="{FF2B5EF4-FFF2-40B4-BE49-F238E27FC236}">
                  <a16:creationId xmlns:a16="http://schemas.microsoft.com/office/drawing/2014/main" id="{11B62D01-FAE1-4427-8186-1B12E4931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31" y="4855335"/>
              <a:ext cx="2181327" cy="51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itchFamily="2" charset="-122"/>
                  <a:ea typeface="华文中宋" pitchFamily="2" charset="-122"/>
                </a:rPr>
                <a:t>对称矩阵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/>
                  <a:cs typeface="Times New Roman" pitchFamily="18" charset="0"/>
                </a:rPr>
                <a:t>,</a:t>
              </a: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/>
                <a:cs typeface="Times New Roman" pitchFamily="18" charset="0"/>
              </a:endParaRPr>
            </a:p>
          </p:txBody>
        </p:sp>
        <p:sp>
          <p:nvSpPr>
            <p:cNvPr id="36" name="Rectangle 50">
              <a:extLst>
                <a:ext uri="{FF2B5EF4-FFF2-40B4-BE49-F238E27FC236}">
                  <a16:creationId xmlns:a16="http://schemas.microsoft.com/office/drawing/2014/main" id="{873EDB1A-E300-4C40-AAE8-DBB7A6387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6769" y="4148137"/>
              <a:ext cx="3024187" cy="52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</a:rPr>
                <a:t>令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 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B = C</a:t>
              </a:r>
              <a:r>
                <a:rPr kumimoji="1" lang="en-US" altLang="zh-CN" b="1" i="0" u="none" strike="noStrike" kern="0" cap="none" spc="0" normalizeH="0" baseline="30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T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AC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 ,</a:t>
              </a:r>
              <a:endPara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Rectangle 51">
              <a:extLst>
                <a:ext uri="{FF2B5EF4-FFF2-40B4-BE49-F238E27FC236}">
                  <a16:creationId xmlns:a16="http://schemas.microsoft.com/office/drawing/2014/main" id="{FFF8C7A9-3E12-41B0-9BD7-E8FD4DDCB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794" y="4868863"/>
              <a:ext cx="4032250" cy="51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itchFamily="2" charset="-122"/>
                  <a:ea typeface="华文中宋" pitchFamily="2" charset="-122"/>
                </a:rPr>
                <a:t>则 </a:t>
              </a:r>
              <a:r>
                <a:rPr kumimoji="0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/>
                  <a:cs typeface="Times New Roman" pitchFamily="18" charset="0"/>
                </a:rPr>
                <a:t>B </a:t>
              </a: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itchFamily="2" charset="-122"/>
                  <a:ea typeface="华文中宋" pitchFamily="2" charset="-122"/>
                </a:rPr>
                <a:t>亦为对称矩阵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/>
                  <a:cs typeface="Times New Roman" pitchFamily="18" charset="0"/>
                </a:rPr>
                <a:t>,</a:t>
              </a: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/>
                <a:cs typeface="Times New Roman" pitchFamily="18" charset="0"/>
              </a:endParaRPr>
            </a:p>
          </p:txBody>
        </p:sp>
      </p:grpSp>
      <p:sp>
        <p:nvSpPr>
          <p:cNvPr id="38" name="Rectangle 10">
            <a:extLst>
              <a:ext uri="{FF2B5EF4-FFF2-40B4-BE49-F238E27FC236}">
                <a16:creationId xmlns:a16="http://schemas.microsoft.com/office/drawing/2014/main" id="{0DF3DBE6-CF97-488B-ABE8-4B21DE0DE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84" y="2248464"/>
            <a:ext cx="12573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sp>
        <p:nvSpPr>
          <p:cNvPr id="39" name="Text Box 4">
            <a:extLst>
              <a:ext uri="{FF2B5EF4-FFF2-40B4-BE49-F238E27FC236}">
                <a16:creationId xmlns:a16="http://schemas.microsoft.com/office/drawing/2014/main" id="{442D3FB0-0FEA-4ABF-BBD0-00FE7BBF8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465" y="4240896"/>
            <a:ext cx="332236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再证   </a:t>
            </a:r>
            <a:r>
              <a:rPr kumimoji="1" lang="en-US" altLang="zh-CN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</a:t>
            </a:r>
            <a:r>
              <a:rPr kumimoji="1" lang="en-US" altLang="zh-CN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 = </a:t>
            </a:r>
            <a:r>
              <a:rPr kumimoji="1" lang="en-US" altLang="zh-CN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</a:t>
            </a:r>
            <a:r>
              <a:rPr kumimoji="1" lang="en-US" altLang="zh-CN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).</a:t>
            </a:r>
          </a:p>
        </p:txBody>
      </p:sp>
      <p:sp>
        <p:nvSpPr>
          <p:cNvPr id="40" name="Rectangle 5">
            <a:extLst>
              <a:ext uri="{FF2B5EF4-FFF2-40B4-BE49-F238E27FC236}">
                <a16:creationId xmlns:a16="http://schemas.microsoft.com/office/drawing/2014/main" id="{3A44D786-81ED-4559-AB75-13D5B30BE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3572" y="2248464"/>
            <a:ext cx="381635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因为 </a:t>
            </a:r>
            <a:r>
              <a:rPr lang="en-US" altLang="zh-CN" b="1" i="1" dirty="0">
                <a:solidFill>
                  <a:srgbClr val="000000"/>
                </a:solidFill>
                <a:ea typeface="黑体" pitchFamily="2" charset="-122"/>
              </a:rPr>
              <a:t>A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为对称矩阵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 </a:t>
            </a:r>
            <a:endParaRPr lang="zh-CN" altLang="en-US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35307A6E-8EA2-49F6-B71C-F83292575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859" y="2967601"/>
            <a:ext cx="1281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en-US" altLang="zh-CN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T </a:t>
            </a:r>
            <a:r>
              <a:rPr kumimoji="1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</a:p>
        </p:txBody>
      </p:sp>
      <p:sp>
        <p:nvSpPr>
          <p:cNvPr id="42" name="Rectangle 7">
            <a:extLst>
              <a:ext uri="{FF2B5EF4-FFF2-40B4-BE49-F238E27FC236}">
                <a16:creationId xmlns:a16="http://schemas.microsoft.com/office/drawing/2014/main" id="{B8AE9AFC-2914-4975-8B03-130F1E0B3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3568137"/>
            <a:ext cx="3600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1" lang="en-US" altLang="zh-CN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B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为对称矩阵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.</a:t>
            </a:r>
          </a:p>
        </p:txBody>
      </p:sp>
      <p:sp>
        <p:nvSpPr>
          <p:cNvPr id="43" name="Rectangle 8">
            <a:extLst>
              <a:ext uri="{FF2B5EF4-FFF2-40B4-BE49-F238E27FC236}">
                <a16:creationId xmlns:a16="http://schemas.microsoft.com/office/drawing/2014/main" id="{9F6177D6-FE2F-48E3-9E48-C1A6FD6BE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0834" y="2967601"/>
            <a:ext cx="2020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= </a:t>
            </a:r>
            <a:r>
              <a:rPr kumimoji="1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kumimoji="1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kumimoji="1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endParaRPr kumimoji="1" lang="en-US" altLang="zh-CN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4" name="Rectangle 9">
            <a:extLst>
              <a:ext uri="{FF2B5EF4-FFF2-40B4-BE49-F238E27FC236}">
                <a16:creationId xmlns:a16="http://schemas.microsoft.com/office/drawing/2014/main" id="{202938BE-AAF3-4FD9-8289-4DAEBF301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5309" y="2967601"/>
            <a:ext cx="2016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= </a:t>
            </a:r>
            <a:r>
              <a:rPr kumimoji="1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kumimoji="1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AC</a:t>
            </a:r>
            <a:endParaRPr kumimoji="1" lang="en-US" altLang="zh-CN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5" name="Text Box 11">
            <a:extLst>
              <a:ext uri="{FF2B5EF4-FFF2-40B4-BE49-F238E27FC236}">
                <a16:creationId xmlns:a16="http://schemas.microsoft.com/office/drawing/2014/main" id="{F443BFAF-AD05-4DB9-9F6B-0BDFBE0F4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3499" y="4240897"/>
            <a:ext cx="3168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1" lang="en-US" altLang="zh-CN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 = C</a:t>
            </a:r>
            <a:r>
              <a:rPr kumimoji="1" lang="en-US" altLang="zh-CN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</a:t>
            </a:r>
            <a:r>
              <a:rPr kumimoji="1" lang="en-US" altLang="zh-CN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AC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 </a:t>
            </a:r>
            <a:endParaRPr kumimoji="1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hlinkClick r:id="rId3" action="ppaction://hlinkpres?slideindex=1&amp;slidetitle="/>
            </a:endParaRPr>
          </a:p>
        </p:txBody>
      </p:sp>
      <p:sp>
        <p:nvSpPr>
          <p:cNvPr id="46" name="Rectangle 13">
            <a:extLst>
              <a:ext uri="{FF2B5EF4-FFF2-40B4-BE49-F238E27FC236}">
                <a16:creationId xmlns:a16="http://schemas.microsoft.com/office/drawing/2014/main" id="{AA492FC3-D8B2-4A8C-A003-ED69A25C5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4402" y="5738101"/>
            <a:ext cx="3022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) =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).     </a:t>
            </a:r>
            <a:endParaRPr lang="en-US" altLang="zh-CN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itchFamily="2" charset="-122"/>
              <a:sym typeface="Symbol" pitchFamily="18" charset="2"/>
            </a:endParaRPr>
          </a:p>
        </p:txBody>
      </p:sp>
      <p:sp>
        <p:nvSpPr>
          <p:cNvPr id="48" name="Rectangle 5">
            <a:extLst>
              <a:ext uri="{FF2B5EF4-FFF2-40B4-BE49-F238E27FC236}">
                <a16:creationId xmlns:a16="http://schemas.microsoft.com/office/drawing/2014/main" id="{676D40EA-745A-4F85-A0B4-429FA5824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2072" y="2248464"/>
            <a:ext cx="2665412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即有 </a:t>
            </a:r>
            <a:r>
              <a:rPr lang="en-US" altLang="zh-CN" b="1" i="1" dirty="0">
                <a:solidFill>
                  <a:srgbClr val="000000"/>
                </a:solidFill>
                <a:ea typeface="黑体" pitchFamily="2" charset="-122"/>
              </a:rPr>
              <a:t>A</a:t>
            </a:r>
            <a:r>
              <a:rPr lang="en-US" altLang="zh-CN" b="1" baseline="30000" dirty="0">
                <a:solidFill>
                  <a:srgbClr val="000000"/>
                </a:solidFill>
                <a:ea typeface="黑体" pitchFamily="2" charset="-122"/>
              </a:rPr>
              <a:t>T</a:t>
            </a:r>
            <a:r>
              <a:rPr lang="en-US" altLang="zh-CN" b="1" i="1" dirty="0">
                <a:solidFill>
                  <a:srgbClr val="000000"/>
                </a:solidFill>
                <a:ea typeface="黑体" pitchFamily="2" charset="-122"/>
              </a:rPr>
              <a:t> = A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</a:rPr>
              <a:t>, </a:t>
            </a:r>
            <a:endParaRPr lang="zh-CN" altLang="en-US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49" name="Rectangle 5">
            <a:extLst>
              <a:ext uri="{FF2B5EF4-FFF2-40B4-BE49-F238E27FC236}">
                <a16:creationId xmlns:a16="http://schemas.microsoft.com/office/drawing/2014/main" id="{47F7972F-E096-4BE2-9163-F419D3442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1222" y="2248464"/>
            <a:ext cx="14049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于是</a:t>
            </a:r>
          </a:p>
        </p:txBody>
      </p:sp>
      <p:sp>
        <p:nvSpPr>
          <p:cNvPr id="50" name="Rectangle 9">
            <a:extLst>
              <a:ext uri="{FF2B5EF4-FFF2-40B4-BE49-F238E27FC236}">
                <a16:creationId xmlns:a16="http://schemas.microsoft.com/office/drawing/2014/main" id="{A27A6A15-9538-49CA-A956-51672483C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5322" y="2967601"/>
            <a:ext cx="1439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= B</a:t>
            </a:r>
            <a:r>
              <a:rPr kumimoji="1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51" name="Text Box 11">
            <a:extLst>
              <a:ext uri="{FF2B5EF4-FFF2-40B4-BE49-F238E27FC236}">
                <a16:creationId xmlns:a16="http://schemas.microsoft.com/office/drawing/2014/main" id="{F73632AF-1AAF-4C30-9FA9-EB7703309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3996" y="4908521"/>
            <a:ext cx="532765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所以由矩阵的秩的性质可知 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:</a:t>
            </a:r>
            <a:endParaRPr lang="en-US" altLang="zh-CN" b="1" dirty="0">
              <a:solidFill>
                <a:srgbClr val="000000"/>
              </a:solidFill>
              <a:ea typeface="黑体" pitchFamily="2" charset="-122"/>
              <a:cs typeface="Times New Roman" pitchFamily="18" charset="0"/>
              <a:hlinkClick r:id="rId3" action="ppaction://hlinkpres?slideindex=1&amp;slidetitle="/>
            </a:endParaRPr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546E2164-643B-4C4E-BB4B-E3E0E67C1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147" y="2967601"/>
            <a:ext cx="1944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kumimoji="1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AC</a:t>
            </a:r>
            <a:r>
              <a:rPr kumimoji="1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en-US" altLang="zh-CN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endParaRPr kumimoji="1" lang="en-US" altLang="zh-CN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3" name="Rectangle 50">
            <a:extLst>
              <a:ext uri="{FF2B5EF4-FFF2-40B4-BE49-F238E27FC236}">
                <a16:creationId xmlns:a16="http://schemas.microsoft.com/office/drawing/2014/main" id="{1A685607-09B7-442E-AF0A-06C423503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4913655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且矩阵 </a:t>
            </a:r>
            <a:r>
              <a:rPr kumimoji="1" lang="en-US" altLang="zh-CN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可逆 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57855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 build="p" autoUpdateAnimBg="0"/>
      <p:bldP spid="40" grpId="0" build="p" autoUpdateAnimBg="0"/>
      <p:bldP spid="41" grpId="0" build="p" autoUpdateAnimBg="0"/>
      <p:bldP spid="42" grpId="0" build="p" autoUpdateAnimBg="0" advAuto="0"/>
      <p:bldP spid="43" grpId="0" build="p" autoUpdateAnimBg="0"/>
      <p:bldP spid="44" grpId="0" build="p" autoUpdateAnimBg="0"/>
      <p:bldP spid="45" grpId="0" build="p" autoUpdateAnimBg="0"/>
      <p:bldP spid="46" grpId="0" build="p" autoUpdateAnimBg="0" advAuto="0"/>
      <p:bldP spid="48" grpId="0" build="p" autoUpdateAnimBg="0"/>
      <p:bldP spid="49" grpId="0" build="p" autoUpdateAnimBg="0"/>
      <p:bldP spid="50" grpId="0" build="p" autoUpdateAnimBg="0"/>
      <p:bldP spid="51" grpId="0" build="p" autoUpdateAnimBg="0"/>
      <p:bldP spid="52" grpId="0" build="p" autoUpdateAnimBg="0"/>
      <p:bldP spid="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023" y="-24594"/>
            <a:ext cx="307697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二次型结论注释</a:t>
            </a: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790D97FD-97E6-4FE6-BD06-3F869055A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1243794"/>
            <a:ext cx="6048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4.11</a:t>
            </a: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说明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经可逆变换 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 = Cy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后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endParaRPr lang="zh-CN" altLang="en-US" dirty="0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82D635B1-D5DD-4746-AE30-6DCD94236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534" y="2194706"/>
            <a:ext cx="71417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型的矩阵由 </a:t>
            </a:r>
            <a:r>
              <a:rPr lang="en-US" altLang="zh-CN" i="1" dirty="0"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zh-CN" altLang="en-US" dirty="0"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变为与 </a:t>
            </a:r>
            <a:r>
              <a:rPr lang="en-US" altLang="zh-CN" i="1" dirty="0"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合同的矩阵</a:t>
            </a:r>
            <a:r>
              <a:rPr lang="zh-CN" altLang="en-US" i="1" dirty="0"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30000" dirty="0"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i="1" dirty="0"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AC</a:t>
            </a:r>
            <a:r>
              <a:rPr lang="en-US" altLang="zh-CN" dirty="0"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</a:p>
        </p:txBody>
      </p:sp>
      <p:sp>
        <p:nvSpPr>
          <p:cNvPr id="27" name="Rectangle 9">
            <a:extLst>
              <a:ext uri="{FF2B5EF4-FFF2-40B4-BE49-F238E27FC236}">
                <a16:creationId xmlns:a16="http://schemas.microsoft.com/office/drawing/2014/main" id="{123EB492-D1D8-44CE-AF95-4BCF3276F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3779" y="1243794"/>
            <a:ext cx="1394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二次</a:t>
            </a: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26EE5C95-9388-CD3E-1BE0-8DB7E5FDB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534" y="2942519"/>
            <a:ext cx="35639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且二次型的秩不变</a:t>
            </a:r>
            <a:r>
              <a:rPr lang="en-US" altLang="zh-CN" dirty="0"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909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 autoUpdateAnimBg="0"/>
      <p:bldP spid="24" grpId="0" build="p" autoUpdateAnimBg="0" advAuto="0"/>
      <p:bldP spid="27" grpId="0" build="p" autoUpdateAnimBg="0"/>
      <p:bldP spid="2" grpId="0" build="p" autoUpdateAnimBg="0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886" y="-3870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二次型的标准形说明 </a:t>
            </a:r>
          </a:p>
        </p:txBody>
      </p:sp>
      <p:sp>
        <p:nvSpPr>
          <p:cNvPr id="25" name="Text Box 12">
            <a:extLst>
              <a:ext uri="{FF2B5EF4-FFF2-40B4-BE49-F238E27FC236}">
                <a16:creationId xmlns:a16="http://schemas.microsoft.com/office/drawing/2014/main" id="{BFB34B94-63A2-4935-A3D5-5204D8111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250" y="1962399"/>
            <a:ext cx="22472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这就是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要使</a:t>
            </a:r>
            <a:endParaRPr lang="zh-CN" altLang="en-US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B584488B-05B7-45FE-AD55-37C28484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1263200"/>
            <a:ext cx="691276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要使二次型经可逆变换 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 = Cy</a:t>
            </a: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变成标准形 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</a:p>
        </p:txBody>
      </p:sp>
      <p:graphicFrame>
        <p:nvGraphicFramePr>
          <p:cNvPr id="30" name="Object 7">
            <a:extLst>
              <a:ext uri="{FF2B5EF4-FFF2-40B4-BE49-F238E27FC236}">
                <a16:creationId xmlns:a16="http://schemas.microsoft.com/office/drawing/2014/main" id="{FEBCF0A7-0464-4609-A1FB-B19039860A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25499"/>
              </p:ext>
            </p:extLst>
          </p:nvPr>
        </p:nvGraphicFramePr>
        <p:xfrm>
          <a:off x="951575" y="2733384"/>
          <a:ext cx="5207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206680" imgH="482400" progId="Equation.DSMT4">
                  <p:embed/>
                </p:oleObj>
              </mc:Choice>
              <mc:Fallback>
                <p:oleObj name="Equation" r:id="rId3" imgW="5206680" imgH="482400" progId="Equation.DSMT4">
                  <p:embed/>
                  <p:pic>
                    <p:nvPicPr>
                      <p:cNvPr id="30" name="Object 7">
                        <a:extLst>
                          <a:ext uri="{FF2B5EF4-FFF2-40B4-BE49-F238E27FC236}">
                            <a16:creationId xmlns:a16="http://schemas.microsoft.com/office/drawing/2014/main" id="{FEBCF0A7-0464-4609-A1FB-B19039860A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575" y="2733384"/>
                        <a:ext cx="5207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5">
            <a:extLst>
              <a:ext uri="{FF2B5EF4-FFF2-40B4-BE49-F238E27FC236}">
                <a16:creationId xmlns:a16="http://schemas.microsoft.com/office/drawing/2014/main" id="{5C8788FE-0779-424B-AFB3-1DBC762715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063230"/>
              </p:ext>
            </p:extLst>
          </p:nvPr>
        </p:nvGraphicFramePr>
        <p:xfrm>
          <a:off x="2339752" y="3377658"/>
          <a:ext cx="54737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473440" imgH="1688760" progId="Equation.DSMT4">
                  <p:embed/>
                </p:oleObj>
              </mc:Choice>
              <mc:Fallback>
                <p:oleObj name="Equation" r:id="rId5" imgW="5473440" imgH="1688760" progId="Equation.DSMT4">
                  <p:embed/>
                  <p:pic>
                    <p:nvPicPr>
                      <p:cNvPr id="31" name="Object 5">
                        <a:extLst>
                          <a:ext uri="{FF2B5EF4-FFF2-40B4-BE49-F238E27FC236}">
                            <a16:creationId xmlns:a16="http://schemas.microsoft.com/office/drawing/2014/main" id="{5C8788FE-0779-424B-AFB3-1DBC762715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3377658"/>
                        <a:ext cx="5473700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43">
            <a:extLst>
              <a:ext uri="{FF2B5EF4-FFF2-40B4-BE49-F238E27FC236}">
                <a16:creationId xmlns:a16="http://schemas.microsoft.com/office/drawing/2014/main" id="{312D5BDC-316E-4AA4-80F9-C40C96A0C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575" y="5335244"/>
            <a:ext cx="5832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也就是要使 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30000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成为对角矩阵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6542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 autoUpdateAnimBg="0" advAuto="0"/>
      <p:bldP spid="26" grpId="0" build="p" autoUpdateAnimBg="0"/>
      <p:bldP spid="33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-19946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二次型的标准形 </a:t>
            </a:r>
          </a:p>
        </p:txBody>
      </p:sp>
      <p:sp>
        <p:nvSpPr>
          <p:cNvPr id="32" name="Text Box 42">
            <a:extLst>
              <a:ext uri="{FF2B5EF4-FFF2-40B4-BE49-F238E27FC236}">
                <a16:creationId xmlns:a16="http://schemas.microsoft.com/office/drawing/2014/main" id="{2FE21B4D-E509-434A-B0F1-D3CE8B86E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284" y="2317890"/>
            <a:ext cx="40322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使</a:t>
            </a:r>
            <a:r>
              <a:rPr lang="en-US" altLang="zh-CN" b="1" i="1" dirty="0">
                <a:solidFill>
                  <a:schemeClr val="tx1"/>
                </a:solidFill>
                <a:ea typeface="宋体"/>
                <a:cs typeface="Times New Roman" pitchFamily="18" charset="0"/>
              </a:rPr>
              <a:t>C</a:t>
            </a:r>
            <a:r>
              <a:rPr lang="en-US" altLang="zh-CN" b="1" baseline="30000" dirty="0">
                <a:solidFill>
                  <a:schemeClr val="tx1"/>
                </a:solidFill>
                <a:ea typeface="宋体"/>
                <a:cs typeface="Times New Roman" pitchFamily="18" charset="0"/>
              </a:rPr>
              <a:t>T</a:t>
            </a:r>
            <a:r>
              <a:rPr lang="en-US" altLang="zh-CN" b="1" i="1" dirty="0">
                <a:solidFill>
                  <a:schemeClr val="tx1"/>
                </a:solidFill>
                <a:ea typeface="宋体"/>
                <a:cs typeface="Times New Roman" pitchFamily="18" charset="0"/>
              </a:rPr>
              <a:t>AC</a:t>
            </a:r>
            <a:r>
              <a:rPr lang="en-US" altLang="zh-CN" b="1" dirty="0">
                <a:solidFill>
                  <a:schemeClr val="tx1"/>
                </a:solidFill>
                <a:ea typeface="宋体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为对角矩阵 </a:t>
            </a:r>
            <a:r>
              <a:rPr lang="en-US" altLang="zh-CN" b="1" dirty="0">
                <a:solidFill>
                  <a:schemeClr val="tx1"/>
                </a:solidFill>
                <a:latin typeface="宋体"/>
                <a:ea typeface="宋体"/>
              </a:rPr>
              <a:t>. </a:t>
            </a:r>
            <a:endParaRPr lang="en-US" altLang="zh-CN" b="1" dirty="0">
              <a:solidFill>
                <a:schemeClr val="tx1"/>
              </a:solidFill>
              <a:latin typeface="宋体"/>
              <a:ea typeface="宋体"/>
              <a:sym typeface="Symbol" pitchFamily="18" charset="2"/>
            </a:endParaRPr>
          </a:p>
        </p:txBody>
      </p:sp>
      <p:sp>
        <p:nvSpPr>
          <p:cNvPr id="34" name="Rectangle 44">
            <a:extLst>
              <a:ext uri="{FF2B5EF4-FFF2-40B4-BE49-F238E27FC236}">
                <a16:creationId xmlns:a16="http://schemas.microsoft.com/office/drawing/2014/main" id="{D6549279-78E1-45BD-9FEA-78827FB85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720" y="1517535"/>
            <a:ext cx="130507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问题</a:t>
            </a:r>
          </a:p>
        </p:txBody>
      </p:sp>
      <p:sp>
        <p:nvSpPr>
          <p:cNvPr id="36" name="Rectangle 46">
            <a:extLst>
              <a:ext uri="{FF2B5EF4-FFF2-40B4-BE49-F238E27FC236}">
                <a16:creationId xmlns:a16="http://schemas.microsoft.com/office/drawing/2014/main" id="{5D3EB35D-48AA-4CC9-8247-19EDB511F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1517534"/>
            <a:ext cx="3600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对于对称矩阵 </a:t>
            </a:r>
            <a:r>
              <a:rPr lang="en-US" altLang="zh-CN" b="1" i="1" dirty="0">
                <a:solidFill>
                  <a:schemeClr val="tx1"/>
                </a:solidFill>
                <a:ea typeface="宋体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/>
                <a:cs typeface="Times New Roman" pitchFamily="18" charset="0"/>
              </a:rPr>
              <a:t> , </a:t>
            </a:r>
          </a:p>
        </p:txBody>
      </p:sp>
      <p:sp>
        <p:nvSpPr>
          <p:cNvPr id="37" name="Rectangle 46">
            <a:extLst>
              <a:ext uri="{FF2B5EF4-FFF2-40B4-BE49-F238E27FC236}">
                <a16:creationId xmlns:a16="http://schemas.microsoft.com/office/drawing/2014/main" id="{F958A47D-46F6-456D-8A60-A24A29BE1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0508" y="1517534"/>
            <a:ext cx="35274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寻求可逆矩阵 </a:t>
            </a:r>
            <a:r>
              <a:rPr lang="en-US" altLang="zh-CN" b="1" i="1" dirty="0">
                <a:solidFill>
                  <a:schemeClr val="tx1"/>
                </a:solidFill>
                <a:ea typeface="宋体"/>
                <a:cs typeface="Times New Roman" pitchFamily="18" charset="0"/>
              </a:rPr>
              <a:t>C </a:t>
            </a:r>
            <a:r>
              <a:rPr lang="en-US" altLang="zh-CN" b="1" dirty="0">
                <a:solidFill>
                  <a:schemeClr val="tx1"/>
                </a:solidFill>
                <a:ea typeface="宋体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宋体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906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 autoUpdateAnimBg="0" advAuto="0"/>
      <p:bldP spid="34" grpId="0" build="p" autoUpdateAnimBg="0"/>
      <p:bldP spid="36" grpId="0" build="p" autoUpdateAnimBg="0"/>
      <p:bldP spid="37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449" y="-22621"/>
            <a:ext cx="696540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利用正交变换化二次型为标准形</a:t>
            </a:r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id="{25A35C87-6F77-4624-B79F-3D4ADB36B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250" y="1026395"/>
            <a:ext cx="41052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由第四节的定理</a:t>
            </a:r>
            <a:r>
              <a:rPr lang="en-US" altLang="zh-CN" b="1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4.10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可知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,</a:t>
            </a:r>
            <a:endParaRPr lang="zh-CN" altLang="en-US" b="1" dirty="0">
              <a:solidFill>
                <a:srgbClr val="000000"/>
              </a:solidFill>
              <a:ea typeface="宋体"/>
              <a:cs typeface="Times New Roman" pitchFamily="18" charset="0"/>
            </a:endParaRPr>
          </a:p>
        </p:txBody>
      </p:sp>
      <p:sp>
        <p:nvSpPr>
          <p:cNvPr id="20" name="Rectangle 33">
            <a:extLst>
              <a:ext uri="{FF2B5EF4-FFF2-40B4-BE49-F238E27FC236}">
                <a16:creationId xmlns:a16="http://schemas.microsoft.com/office/drawing/2014/main" id="{BE59CFC1-2214-4B66-B39F-6B3A505DD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449" y="1747120"/>
            <a:ext cx="3076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总有正交矩阵</a:t>
            </a:r>
            <a:r>
              <a:rPr lang="zh-CN" altLang="en-US" b="1" i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P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endParaRPr lang="en-US" altLang="zh-CN" b="1" dirty="0">
              <a:solidFill>
                <a:srgbClr val="000000"/>
              </a:solidFill>
              <a:latin typeface="宋体"/>
              <a:ea typeface="宋体"/>
              <a:sym typeface="Symbol" pitchFamily="18" charset="2"/>
            </a:endParaRPr>
          </a:p>
        </p:txBody>
      </p:sp>
      <p:sp>
        <p:nvSpPr>
          <p:cNvPr id="21" name="Rectangle 34">
            <a:extLst>
              <a:ext uri="{FF2B5EF4-FFF2-40B4-BE49-F238E27FC236}">
                <a16:creationId xmlns:a16="http://schemas.microsoft.com/office/drawing/2014/main" id="{9FE15E00-2D39-43F1-9A7C-45CD6D471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449" y="2467027"/>
            <a:ext cx="47529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把此结论应用于二次型</a:t>
            </a:r>
            <a:r>
              <a:rPr lang="en-US" altLang="zh-CN" b="1" dirty="0">
                <a:solidFill>
                  <a:srgbClr val="000000"/>
                </a:solidFill>
                <a:latin typeface="Times New Roman"/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endParaRPr lang="zh-CN" altLang="en-US" b="1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2" name="Rectangle 38">
            <a:extLst>
              <a:ext uri="{FF2B5EF4-FFF2-40B4-BE49-F238E27FC236}">
                <a16:creationId xmlns:a16="http://schemas.microsoft.com/office/drawing/2014/main" id="{2263B569-5546-4F5B-9127-66B254662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602" y="1026383"/>
            <a:ext cx="37449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任给实对称矩阵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endParaRPr lang="zh-CN" altLang="en-US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25" name="Rectangle 33">
            <a:extLst>
              <a:ext uri="{FF2B5EF4-FFF2-40B4-BE49-F238E27FC236}">
                <a16:creationId xmlns:a16="http://schemas.microsoft.com/office/drawing/2014/main" id="{6AB93420-9244-4D05-B19E-8F8A613C9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5431" y="1738171"/>
            <a:ext cx="280828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使</a:t>
            </a:r>
            <a:r>
              <a:rPr lang="zh-CN" altLang="en-US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P </a:t>
            </a:r>
            <a:r>
              <a:rPr lang="en-US" altLang="zh-CN" b="1" baseline="30000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-1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AP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=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 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  <a:sym typeface="Symbol" pitchFamily="18" charset="2"/>
              </a:rPr>
              <a:t> </a:t>
            </a:r>
          </a:p>
        </p:txBody>
      </p:sp>
      <p:sp>
        <p:nvSpPr>
          <p:cNvPr id="26" name="Rectangle 33">
            <a:extLst>
              <a:ext uri="{FF2B5EF4-FFF2-40B4-BE49-F238E27FC236}">
                <a16:creationId xmlns:a16="http://schemas.microsoft.com/office/drawing/2014/main" id="{F414F9FD-624B-431E-A8FD-FA696D449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4943" y="1738171"/>
            <a:ext cx="2879725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即</a:t>
            </a:r>
            <a:r>
              <a:rPr lang="zh-CN" altLang="en-US" b="1" dirty="0">
                <a:solidFill>
                  <a:srgbClr val="000000"/>
                </a:solidFill>
                <a:latin typeface="宋体"/>
                <a:ea typeface="宋体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P </a:t>
            </a:r>
            <a:r>
              <a:rPr lang="en-US" altLang="zh-CN" b="1" baseline="30000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T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AP = 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  <a:sym typeface="Symbol" pitchFamily="18" charset="2"/>
              </a:rPr>
              <a:t>.  </a:t>
            </a:r>
          </a:p>
        </p:txBody>
      </p:sp>
      <p:sp>
        <p:nvSpPr>
          <p:cNvPr id="27" name="Rectangle 32">
            <a:extLst>
              <a:ext uri="{FF2B5EF4-FFF2-40B4-BE49-F238E27FC236}">
                <a16:creationId xmlns:a16="http://schemas.microsoft.com/office/drawing/2014/main" id="{EB8D037F-2E58-4FBF-A116-F04F0556C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2464222"/>
            <a:ext cx="1439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即有</a:t>
            </a:r>
          </a:p>
        </p:txBody>
      </p:sp>
    </p:spTree>
    <p:extLst>
      <p:ext uri="{BB962C8B-B14F-4D97-AF65-F5344CB8AC3E}">
        <p14:creationId xmlns:p14="http://schemas.microsoft.com/office/powerpoint/2010/main" val="167136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 autoUpdateAnimBg="0"/>
      <p:bldP spid="20" grpId="0" build="p" autoUpdateAnimBg="0" advAuto="0"/>
      <p:bldP spid="21" grpId="0" build="p" autoUpdateAnimBg="0"/>
      <p:bldP spid="22" grpId="0" build="p" autoUpdateAnimBg="0" advAuto="0"/>
      <p:bldP spid="25" grpId="0" build="p" autoUpdateAnimBg="0" advAuto="0"/>
      <p:bldP spid="26" grpId="0" build="p" autoUpdateAnimBg="0" advAuto="0"/>
      <p:bldP spid="27" grpId="0" build="p" autoUpdateAnimBg="0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-1931"/>
            <a:ext cx="545323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二次型的标准形的结论 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BD2427C-B7BD-49A9-950A-76238E5C3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507" y="1048848"/>
            <a:ext cx="43211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定理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4.1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任给二次型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29EA83F9-3E0F-4DA8-91DB-BA9261E6C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270" y="3207848"/>
            <a:ext cx="4176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总有正交变换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 = Py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32585C32-753D-4BBE-AE52-F606D336E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270" y="4649298"/>
            <a:ext cx="8424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其中</a:t>
            </a:r>
            <a:r>
              <a:rPr kumimoji="1" lang="en-US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en-US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 </a:t>
            </a:r>
            <a:r>
              <a:rPr kumimoji="1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kumimoji="1" lang="en-US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en-US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 </a:t>
            </a:r>
            <a:r>
              <a:rPr kumimoji="1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···</a:t>
            </a:r>
            <a:r>
              <a:rPr kumimoji="1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kumimoji="1" lang="en-US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是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f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的矩阵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= (</a:t>
            </a:r>
            <a:r>
              <a:rPr kumimoji="1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kumimoji="1" lang="en-US" altLang="zh-CN" sz="28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ij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的特征值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A6538506-1C89-44AC-86A4-B09A866C6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7744" y="3928573"/>
            <a:ext cx="5256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=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y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+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y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+ ··· +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n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y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, </a:t>
            </a:r>
          </a:p>
        </p:txBody>
      </p:sp>
      <p:graphicFrame>
        <p:nvGraphicFramePr>
          <p:cNvPr id="17" name="Object 15">
            <a:extLst>
              <a:ext uri="{FF2B5EF4-FFF2-40B4-BE49-F238E27FC236}">
                <a16:creationId xmlns:a16="http://schemas.microsoft.com/office/drawing/2014/main" id="{0028E805-6B35-4BC9-9DAB-101540681B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952058"/>
              </p:ext>
            </p:extLst>
          </p:nvPr>
        </p:nvGraphicFramePr>
        <p:xfrm>
          <a:off x="2684082" y="1798419"/>
          <a:ext cx="47498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749480" imgH="1054080" progId="Equation.DSMT4">
                  <p:embed/>
                </p:oleObj>
              </mc:Choice>
              <mc:Fallback>
                <p:oleObj name="Equation" r:id="rId3" imgW="4749480" imgH="1054080" progId="Equation.DSMT4">
                  <p:embed/>
                  <p:pic>
                    <p:nvPicPr>
                      <p:cNvPr id="13" name="Object 15">
                        <a:extLst>
                          <a:ext uri="{FF2B5EF4-FFF2-40B4-BE49-F238E27FC236}">
                            <a16:creationId xmlns:a16="http://schemas.microsoft.com/office/drawing/2014/main" id="{C972C529-FADB-4805-ACB9-156E3D38AB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082" y="1798419"/>
                        <a:ext cx="47498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4">
            <a:extLst>
              <a:ext uri="{FF2B5EF4-FFF2-40B4-BE49-F238E27FC236}">
                <a16:creationId xmlns:a16="http://schemas.microsoft.com/office/drawing/2014/main" id="{9F1B32C4-B5D2-43AB-84AE-9EB8119AF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100" y="3207848"/>
            <a:ext cx="3600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使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化为标准形</a:t>
            </a:r>
          </a:p>
        </p:txBody>
      </p:sp>
    </p:spTree>
    <p:extLst>
      <p:ext uri="{BB962C8B-B14F-4D97-AF65-F5344CB8AC3E}">
        <p14:creationId xmlns:p14="http://schemas.microsoft.com/office/powerpoint/2010/main" val="3278470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35" name="Object 2">
            <a:extLst>
              <a:ext uri="{FF2B5EF4-FFF2-40B4-BE49-F238E27FC236}">
                <a16:creationId xmlns:a16="http://schemas.microsoft.com/office/drawing/2014/main" id="{8C951B99-D51E-4E7F-A4F6-68734E7188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816922"/>
              </p:ext>
            </p:extLst>
          </p:nvPr>
        </p:nvGraphicFramePr>
        <p:xfrm>
          <a:off x="3130399" y="1585913"/>
          <a:ext cx="3962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62160" imgH="482400" progId="Equation.DSMT4">
                  <p:embed/>
                </p:oleObj>
              </mc:Choice>
              <mc:Fallback>
                <p:oleObj name="Equation" r:id="rId3" imgW="3962160" imgH="482400" progId="Equation.DSMT4">
                  <p:embed/>
                  <p:pic>
                    <p:nvPicPr>
                      <p:cNvPr id="10" name="Object 2">
                        <a:extLst>
                          <a:ext uri="{FF2B5EF4-FFF2-40B4-BE49-F238E27FC236}">
                            <a16:creationId xmlns:a16="http://schemas.microsoft.com/office/drawing/2014/main" id="{135BB591-84B4-4014-BE2A-8C88147ED7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399" y="1585913"/>
                        <a:ext cx="3962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11">
            <a:extLst>
              <a:ext uri="{FF2B5EF4-FFF2-40B4-BE49-F238E27FC236}">
                <a16:creationId xmlns:a16="http://schemas.microsoft.com/office/drawing/2014/main" id="{B13D1AF5-9092-46D1-A80F-052328A8D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9416" y="825500"/>
            <a:ext cx="532859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4.1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9</a:t>
            </a:r>
            <a:r>
              <a:rPr lang="en-US" altLang="zh-CN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用正交变换将二次型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7" name="Text Box 11">
            <a:extLst>
              <a:ext uri="{FF2B5EF4-FFF2-40B4-BE49-F238E27FC236}">
                <a16:creationId xmlns:a16="http://schemas.microsoft.com/office/drawing/2014/main" id="{48BFBAE3-C8C5-4FAC-9E92-B7B61AFF6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4954" y="2265363"/>
            <a:ext cx="6175398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化为标准形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并求出所作的正交变换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.</a:t>
            </a:r>
          </a:p>
        </p:txBody>
      </p:sp>
      <p:graphicFrame>
        <p:nvGraphicFramePr>
          <p:cNvPr id="38" name="Object 8">
            <a:extLst>
              <a:ext uri="{FF2B5EF4-FFF2-40B4-BE49-F238E27FC236}">
                <a16:creationId xmlns:a16="http://schemas.microsoft.com/office/drawing/2014/main" id="{548DDA6F-5317-4BD9-9830-85C305F561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856069"/>
              </p:ext>
            </p:extLst>
          </p:nvPr>
        </p:nvGraphicFramePr>
        <p:xfrm>
          <a:off x="4293122" y="3689201"/>
          <a:ext cx="21844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84120" imgH="1244520" progId="Equation.DSMT4">
                  <p:embed/>
                </p:oleObj>
              </mc:Choice>
              <mc:Fallback>
                <p:oleObj name="Equation" r:id="rId5" imgW="2184120" imgH="1244520" progId="Equation.DSMT4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80D06E1C-8EF1-44E2-98F9-899261A806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3122" y="3689201"/>
                        <a:ext cx="21844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4">
            <a:extLst>
              <a:ext uri="{FF2B5EF4-FFF2-40B4-BE49-F238E27FC236}">
                <a16:creationId xmlns:a16="http://schemas.microsoft.com/office/drawing/2014/main" id="{C9FA23DD-17EC-4EE6-9901-0FA39AE8C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7694" y="2949787"/>
            <a:ext cx="45370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二次型</a:t>
            </a:r>
            <a:r>
              <a:rPr lang="zh-CN" altLang="en-US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的矩阵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A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为</a:t>
            </a:r>
          </a:p>
        </p:txBody>
      </p:sp>
      <p:sp>
        <p:nvSpPr>
          <p:cNvPr id="40" name="Text Box 6">
            <a:extLst>
              <a:ext uri="{FF2B5EF4-FFF2-40B4-BE49-F238E27FC236}">
                <a16:creationId xmlns:a16="http://schemas.microsoft.com/office/drawing/2014/main" id="{36EF7ADB-E8D9-4F3F-AADA-F3AF8DBA6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9417" y="4947794"/>
            <a:ext cx="360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的特征多项式为</a:t>
            </a:r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ADA1F454-C14D-4E40-9812-28349E8D3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7979" y="2984500"/>
            <a:ext cx="863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zh-CN" altLang="en-US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graphicFrame>
        <p:nvGraphicFramePr>
          <p:cNvPr id="2" name="Object 15">
            <a:extLst>
              <a:ext uri="{FF2B5EF4-FFF2-40B4-BE49-F238E27FC236}">
                <a16:creationId xmlns:a16="http://schemas.microsoft.com/office/drawing/2014/main" id="{CBFB3352-004B-8034-9776-A0DFC0A9D5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895649"/>
              </p:ext>
            </p:extLst>
          </p:nvPr>
        </p:nvGraphicFramePr>
        <p:xfrm>
          <a:off x="3653632" y="5755493"/>
          <a:ext cx="2108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08160" imgH="431640" progId="Equation.DSMT4">
                  <p:embed/>
                </p:oleObj>
              </mc:Choice>
              <mc:Fallback>
                <p:oleObj name="Equation" r:id="rId7" imgW="2108160" imgH="431640" progId="Equation.DSMT4">
                  <p:embed/>
                  <p:pic>
                    <p:nvPicPr>
                      <p:cNvPr id="27" name="Object 15">
                        <a:extLst>
                          <a:ext uri="{FF2B5EF4-FFF2-40B4-BE49-F238E27FC236}">
                            <a16:creationId xmlns:a16="http://schemas.microsoft.com/office/drawing/2014/main" id="{95A3AE79-BE79-4E24-B356-8AFFB98844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3632" y="5755493"/>
                        <a:ext cx="2108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2">
            <a:extLst>
              <a:ext uri="{FF2B5EF4-FFF2-40B4-BE49-F238E27FC236}">
                <a16:creationId xmlns:a16="http://schemas.microsoft.com/office/drawing/2014/main" id="{2ECF49D8-BAB5-6F03-549B-7A1A4C23E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7306" y="5633732"/>
            <a:ext cx="178556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kern="100" dirty="0"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二重</a:t>
            </a:r>
            <a:r>
              <a:rPr lang="en-US" altLang="zh-CN" kern="100" dirty="0">
                <a:ea typeface="宋体" panose="02010600030101010101" pitchFamily="2" charset="-122"/>
              </a:rPr>
              <a:t>). 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DC2E42E1-C618-AAB6-EF6F-A701A8EF5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1" y="-15127"/>
            <a:ext cx="714548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用正交变换化二次型为标准形</a:t>
            </a:r>
          </a:p>
        </p:txBody>
      </p:sp>
    </p:spTree>
    <p:extLst>
      <p:ext uri="{BB962C8B-B14F-4D97-AF65-F5344CB8AC3E}">
        <p14:creationId xmlns:p14="http://schemas.microsoft.com/office/powerpoint/2010/main" val="1416819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uild="p" autoUpdateAnimBg="0"/>
      <p:bldP spid="40" grpId="0" build="p" autoUpdateAnimBg="0"/>
      <p:bldP spid="41" grpId="0"/>
      <p:bldP spid="3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" name="Text Box 4">
            <a:extLst>
              <a:ext uri="{FF2B5EF4-FFF2-40B4-BE49-F238E27FC236}">
                <a16:creationId xmlns:a16="http://schemas.microsoft.com/office/drawing/2014/main" id="{29AB13CC-E988-4CC6-9E5D-E978D444D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766" y="848506"/>
            <a:ext cx="2520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当</a:t>
            </a:r>
            <a:r>
              <a:rPr kumimoji="1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 1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时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7" name="Text Box 4">
            <a:extLst>
              <a:ext uri="{FF2B5EF4-FFF2-40B4-BE49-F238E27FC236}">
                <a16:creationId xmlns:a16="http://schemas.microsoft.com/office/drawing/2014/main" id="{76CCCCBD-3F9C-4DB8-8F18-C77CD5F1E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429" y="848506"/>
            <a:ext cx="20605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解方程组</a:t>
            </a:r>
          </a:p>
        </p:txBody>
      </p:sp>
      <p:sp>
        <p:nvSpPr>
          <p:cNvPr id="48" name="Text Box 8">
            <a:extLst>
              <a:ext uri="{FF2B5EF4-FFF2-40B4-BE49-F238E27FC236}">
                <a16:creationId xmlns:a16="http://schemas.microsoft.com/office/drawing/2014/main" id="{7325D2F9-5831-4073-881F-84BA7BB34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3633" y="8255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</a:p>
        </p:txBody>
      </p:sp>
      <p:sp>
        <p:nvSpPr>
          <p:cNvPr id="51" name="Text Box 7">
            <a:extLst>
              <a:ext uri="{FF2B5EF4-FFF2-40B4-BE49-F238E27FC236}">
                <a16:creationId xmlns:a16="http://schemas.microsoft.com/office/drawing/2014/main" id="{755BC60D-0693-4BDF-8CBE-2AB20D102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885" y="4355294"/>
            <a:ext cx="3378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得基础解系为</a:t>
            </a:r>
          </a:p>
        </p:txBody>
      </p:sp>
      <p:graphicFrame>
        <p:nvGraphicFramePr>
          <p:cNvPr id="52" name="Object 5">
            <a:extLst>
              <a:ext uri="{FF2B5EF4-FFF2-40B4-BE49-F238E27FC236}">
                <a16:creationId xmlns:a16="http://schemas.microsoft.com/office/drawing/2014/main" id="{FF9820CF-1FD4-4ACD-B42C-D3469DA805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0549" y="3985915"/>
          <a:ext cx="15621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62040" imgH="1333440" progId="Equation.DSMT4">
                  <p:embed/>
                </p:oleObj>
              </mc:Choice>
              <mc:Fallback>
                <p:oleObj name="Equation" r:id="rId3" imgW="1562040" imgH="1333440" progId="Equation.DSMT4">
                  <p:embed/>
                  <p:pic>
                    <p:nvPicPr>
                      <p:cNvPr id="52" name="Object 5">
                        <a:extLst>
                          <a:ext uri="{FF2B5EF4-FFF2-40B4-BE49-F238E27FC236}">
                            <a16:creationId xmlns:a16="http://schemas.microsoft.com/office/drawing/2014/main" id="{FF9820CF-1FD4-4ACD-B42C-D3469DA805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549" y="3985915"/>
                        <a:ext cx="15621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6">
            <a:extLst>
              <a:ext uri="{FF2B5EF4-FFF2-40B4-BE49-F238E27FC236}">
                <a16:creationId xmlns:a16="http://schemas.microsoft.com/office/drawing/2014/main" id="{52FA3FC9-F770-40F8-AB85-DEC431FCBA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6629" y="966313"/>
          <a:ext cx="1841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41400" imgH="393480" progId="Equation.DSMT4">
                  <p:embed/>
                </p:oleObj>
              </mc:Choice>
              <mc:Fallback>
                <p:oleObj name="Equation" r:id="rId5" imgW="1841400" imgH="393480" progId="Equation.DSMT4">
                  <p:embed/>
                  <p:pic>
                    <p:nvPicPr>
                      <p:cNvPr id="59" name="Object 16">
                        <a:extLst>
                          <a:ext uri="{FF2B5EF4-FFF2-40B4-BE49-F238E27FC236}">
                            <a16:creationId xmlns:a16="http://schemas.microsoft.com/office/drawing/2014/main" id="{52FA3FC9-F770-40F8-AB85-DEC431FCBA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629" y="966313"/>
                        <a:ext cx="1841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 Box 7">
            <a:extLst>
              <a:ext uri="{FF2B5EF4-FFF2-40B4-BE49-F238E27FC236}">
                <a16:creationId xmlns:a16="http://schemas.microsoft.com/office/drawing/2014/main" id="{B6EF94F0-9EA8-4E21-95D0-5009760AC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073" y="4384572"/>
            <a:ext cx="22870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单位化得</a:t>
            </a:r>
          </a:p>
        </p:txBody>
      </p:sp>
      <p:graphicFrame>
        <p:nvGraphicFramePr>
          <p:cNvPr id="62" name="Object 5">
            <a:extLst>
              <a:ext uri="{FF2B5EF4-FFF2-40B4-BE49-F238E27FC236}">
                <a16:creationId xmlns:a16="http://schemas.microsoft.com/office/drawing/2014/main" id="{61942DA7-9E5D-41F6-A8EF-24C64A382D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8091" y="3293880"/>
          <a:ext cx="1943100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42920" imgH="2781000" progId="Equation.DSMT4">
                  <p:embed/>
                </p:oleObj>
              </mc:Choice>
              <mc:Fallback>
                <p:oleObj name="Equation" r:id="rId7" imgW="1942920" imgH="2781000" progId="Equation.DSMT4">
                  <p:embed/>
                  <p:pic>
                    <p:nvPicPr>
                      <p:cNvPr id="62" name="Object 5">
                        <a:extLst>
                          <a:ext uri="{FF2B5EF4-FFF2-40B4-BE49-F238E27FC236}">
                            <a16:creationId xmlns:a16="http://schemas.microsoft.com/office/drawing/2014/main" id="{61942DA7-9E5D-41F6-A8EF-24C64A382D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8091" y="3293880"/>
                        <a:ext cx="1943100" cy="278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6EF4076E-D08C-4A9B-9CBC-7FD4481142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1493" y="1828391"/>
          <a:ext cx="2678112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06360" imgH="698400" progId="Equation.DSMT4">
                  <p:embed/>
                </p:oleObj>
              </mc:Choice>
              <mc:Fallback>
                <p:oleObj name="Equation" r:id="rId9" imgW="1206360" imgH="698400" progId="Equation.DSMT4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6EF4076E-D08C-4A9B-9CBC-7FD4481142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1493" y="1828391"/>
                        <a:ext cx="2678112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80074088-7DDC-B6DA-5E63-C3FDAE471F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432699"/>
              </p:ext>
            </p:extLst>
          </p:nvPr>
        </p:nvGraphicFramePr>
        <p:xfrm>
          <a:off x="4557005" y="1786648"/>
          <a:ext cx="19177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63280" imgH="698400" progId="Equation.DSMT4">
                  <p:embed/>
                </p:oleObj>
              </mc:Choice>
              <mc:Fallback>
                <p:oleObj name="Equation" r:id="rId11" imgW="863280" imgH="698400" progId="Equation.DSMT4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6EF4076E-D08C-4A9B-9CBC-7FD4481142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7005" y="1786648"/>
                        <a:ext cx="1917700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0">
            <a:extLst>
              <a:ext uri="{FF2B5EF4-FFF2-40B4-BE49-F238E27FC236}">
                <a16:creationId xmlns:a16="http://schemas.microsoft.com/office/drawing/2014/main" id="{373954E6-FB56-F161-0433-BD381AE18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1" y="-15127"/>
            <a:ext cx="714548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用正交变换化二次型为标准形</a:t>
            </a:r>
          </a:p>
        </p:txBody>
      </p:sp>
    </p:spTree>
    <p:extLst>
      <p:ext uri="{BB962C8B-B14F-4D97-AF65-F5344CB8AC3E}">
        <p14:creationId xmlns:p14="http://schemas.microsoft.com/office/powerpoint/2010/main" val="113555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 autoUpdateAnimBg="0"/>
      <p:bldP spid="47" grpId="0" build="p" autoUpdateAnimBg="0"/>
      <p:bldP spid="48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" name="Text Box 4">
            <a:extLst>
              <a:ext uri="{FF2B5EF4-FFF2-40B4-BE49-F238E27FC236}">
                <a16:creationId xmlns:a16="http://schemas.microsoft.com/office/drawing/2014/main" id="{29AB13CC-E988-4CC6-9E5D-E978D444D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9719" y="992201"/>
            <a:ext cx="2520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当</a:t>
            </a:r>
            <a:r>
              <a:rPr kumimoji="1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  <a:sym typeface="Symbol" panose="05050102010706020507" pitchFamily="18" charset="2"/>
              </a:rPr>
              <a:t>= 3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时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, 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Text Box 4">
            <a:extLst>
              <a:ext uri="{FF2B5EF4-FFF2-40B4-BE49-F238E27FC236}">
                <a16:creationId xmlns:a16="http://schemas.microsoft.com/office/drawing/2014/main" id="{76CCCCBD-3F9C-4DB8-8F18-C77CD5F1E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428" y="992201"/>
            <a:ext cx="20605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解方程组</a:t>
            </a:r>
          </a:p>
        </p:txBody>
      </p:sp>
      <p:sp>
        <p:nvSpPr>
          <p:cNvPr id="51" name="Text Box 7">
            <a:extLst>
              <a:ext uri="{FF2B5EF4-FFF2-40B4-BE49-F238E27FC236}">
                <a16:creationId xmlns:a16="http://schemas.microsoft.com/office/drawing/2014/main" id="{755BC60D-0693-4BDF-8CBE-2AB20D102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4121553"/>
            <a:ext cx="3378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得基础解系为</a:t>
            </a:r>
          </a:p>
        </p:txBody>
      </p:sp>
      <p:graphicFrame>
        <p:nvGraphicFramePr>
          <p:cNvPr id="52" name="Object 5">
            <a:extLst>
              <a:ext uri="{FF2B5EF4-FFF2-40B4-BE49-F238E27FC236}">
                <a16:creationId xmlns:a16="http://schemas.microsoft.com/office/drawing/2014/main" id="{FF9820CF-1FD4-4ACD-B42C-D3469DA805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4281" y="3730656"/>
          <a:ext cx="13843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84200" imgH="1333440" progId="Equation.DSMT4">
                  <p:embed/>
                </p:oleObj>
              </mc:Choice>
              <mc:Fallback>
                <p:oleObj name="Equation" r:id="rId3" imgW="1384200" imgH="1333440" progId="Equation.DSMT4">
                  <p:embed/>
                  <p:pic>
                    <p:nvPicPr>
                      <p:cNvPr id="52" name="Object 5">
                        <a:extLst>
                          <a:ext uri="{FF2B5EF4-FFF2-40B4-BE49-F238E27FC236}">
                            <a16:creationId xmlns:a16="http://schemas.microsoft.com/office/drawing/2014/main" id="{FF9820CF-1FD4-4ACD-B42C-D3469DA805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4281" y="3730656"/>
                        <a:ext cx="13843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6">
            <a:extLst>
              <a:ext uri="{FF2B5EF4-FFF2-40B4-BE49-F238E27FC236}">
                <a16:creationId xmlns:a16="http://schemas.microsoft.com/office/drawing/2014/main" id="{52FA3FC9-F770-40F8-AB85-DEC431FCBA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4677" y="1099068"/>
          <a:ext cx="203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1840" imgH="393480" progId="Equation.DSMT4">
                  <p:embed/>
                </p:oleObj>
              </mc:Choice>
              <mc:Fallback>
                <p:oleObj name="Equation" r:id="rId5" imgW="2031840" imgH="393480" progId="Equation.DSMT4">
                  <p:embed/>
                  <p:pic>
                    <p:nvPicPr>
                      <p:cNvPr id="59" name="Object 16">
                        <a:extLst>
                          <a:ext uri="{FF2B5EF4-FFF2-40B4-BE49-F238E27FC236}">
                            <a16:creationId xmlns:a16="http://schemas.microsoft.com/office/drawing/2014/main" id="{52FA3FC9-F770-40F8-AB85-DEC431FCBA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4677" y="1099068"/>
                        <a:ext cx="2032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 Box 7">
            <a:extLst>
              <a:ext uri="{FF2B5EF4-FFF2-40B4-BE49-F238E27FC236}">
                <a16:creationId xmlns:a16="http://schemas.microsoft.com/office/drawing/2014/main" id="{B6EF94F0-9EA8-4E21-95D0-5009760AC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877" y="5424122"/>
            <a:ext cx="134158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显然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endParaRPr lang="zh-CN" altLang="en-US" dirty="0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2" name="Object 5">
            <a:extLst>
              <a:ext uri="{FF2B5EF4-FFF2-40B4-BE49-F238E27FC236}">
                <a16:creationId xmlns:a16="http://schemas.microsoft.com/office/drawing/2014/main" id="{61942DA7-9E5D-41F6-A8EF-24C64A382D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7003" y="3763421"/>
          <a:ext cx="13843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84200" imgH="1333440" progId="Equation.DSMT4">
                  <p:embed/>
                </p:oleObj>
              </mc:Choice>
              <mc:Fallback>
                <p:oleObj name="Equation" r:id="rId7" imgW="1384200" imgH="1333440" progId="Equation.DSMT4">
                  <p:embed/>
                  <p:pic>
                    <p:nvPicPr>
                      <p:cNvPr id="62" name="Object 5">
                        <a:extLst>
                          <a:ext uri="{FF2B5EF4-FFF2-40B4-BE49-F238E27FC236}">
                            <a16:creationId xmlns:a16="http://schemas.microsoft.com/office/drawing/2014/main" id="{61942DA7-9E5D-41F6-A8EF-24C64A382D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7003" y="3763421"/>
                        <a:ext cx="13843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>
            <a:extLst>
              <a:ext uri="{FF2B5EF4-FFF2-40B4-BE49-F238E27FC236}">
                <a16:creationId xmlns:a16="http://schemas.microsoft.com/office/drawing/2014/main" id="{CB2AD84C-0CC0-44F2-921D-270A14C551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4428" y="5469364"/>
          <a:ext cx="33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30120" imgH="431640" progId="Equation.DSMT4">
                  <p:embed/>
                </p:oleObj>
              </mc:Choice>
              <mc:Fallback>
                <p:oleObj name="Equation" r:id="rId9" imgW="330120" imgH="431640" progId="Equation.DSMT4">
                  <p:embed/>
                  <p:pic>
                    <p:nvPicPr>
                      <p:cNvPr id="18" name="Object 5">
                        <a:extLst>
                          <a:ext uri="{FF2B5EF4-FFF2-40B4-BE49-F238E27FC236}">
                            <a16:creationId xmlns:a16="http://schemas.microsoft.com/office/drawing/2014/main" id="{CB2AD84C-0CC0-44F2-921D-270A14C551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4428" y="5469364"/>
                        <a:ext cx="330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5">
            <a:extLst>
              <a:ext uri="{FF2B5EF4-FFF2-40B4-BE49-F238E27FC236}">
                <a16:creationId xmlns:a16="http://schemas.microsoft.com/office/drawing/2014/main" id="{5C05DB55-0BE8-4F05-A00B-A429B02746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1118" y="5505761"/>
          <a:ext cx="33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0120" imgH="431640" progId="Equation.DSMT4">
                  <p:embed/>
                </p:oleObj>
              </mc:Choice>
              <mc:Fallback>
                <p:oleObj name="Equation" r:id="rId11" imgW="330120" imgH="431640" progId="Equation.DSMT4">
                  <p:embed/>
                  <p:pic>
                    <p:nvPicPr>
                      <p:cNvPr id="19" name="Object 5">
                        <a:extLst>
                          <a:ext uri="{FF2B5EF4-FFF2-40B4-BE49-F238E27FC236}">
                            <a16:creationId xmlns:a16="http://schemas.microsoft.com/office/drawing/2014/main" id="{5C05DB55-0BE8-4F05-A00B-A429B02746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118" y="5505761"/>
                        <a:ext cx="330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7">
            <a:extLst>
              <a:ext uri="{FF2B5EF4-FFF2-40B4-BE49-F238E27FC236}">
                <a16:creationId xmlns:a16="http://schemas.microsoft.com/office/drawing/2014/main" id="{E40AE397-196E-4588-9587-CE2878EA3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4628" y="5415274"/>
            <a:ext cx="134158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与</a:t>
            </a:r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45EFD2C4-1FC8-44E3-98B0-7DF0BC344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7865" y="5455053"/>
            <a:ext cx="134158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正交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dirty="0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5B4E8D32-B17B-40C3-80D1-37E426388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6431" y="5429983"/>
            <a:ext cx="39149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故只需将它们单位化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得</a:t>
            </a: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ECFB151B-4A88-9C40-AD71-DA6A147648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10369" y="1800719"/>
          <a:ext cx="3211513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47560" imgH="698400" progId="Equation.DSMT4">
                  <p:embed/>
                </p:oleObj>
              </mc:Choice>
              <mc:Fallback>
                <p:oleObj name="Equation" r:id="rId13" imgW="1447560" imgH="698400" progId="Equation.DSMT4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ECFB151B-4A88-9C40-AD71-DA6A147648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0369" y="1800719"/>
                        <a:ext cx="3211513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8">
            <a:extLst>
              <a:ext uri="{FF2B5EF4-FFF2-40B4-BE49-F238E27FC236}">
                <a16:creationId xmlns:a16="http://schemas.microsoft.com/office/drawing/2014/main" id="{9B9CEEEE-0158-8C8A-1C41-596B12D07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9903" y="969195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F8D15D85-8BF7-F148-BB46-DC5F20BA7C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58168" y="1776051"/>
          <a:ext cx="2084388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39600" imgH="698400" progId="Equation.DSMT4">
                  <p:embed/>
                </p:oleObj>
              </mc:Choice>
              <mc:Fallback>
                <p:oleObj name="Equation" r:id="rId15" imgW="939600" imgH="698400" progId="Equation.DSMT4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F8D15D85-8BF7-F148-BB46-DC5F20BA7C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8168" y="1776051"/>
                        <a:ext cx="2084388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0">
            <a:extLst>
              <a:ext uri="{FF2B5EF4-FFF2-40B4-BE49-F238E27FC236}">
                <a16:creationId xmlns:a16="http://schemas.microsoft.com/office/drawing/2014/main" id="{3A8B514E-FEF9-CF00-6284-0283DD171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1" y="-15127"/>
            <a:ext cx="714548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用正交变换化二次型为标准形</a:t>
            </a:r>
          </a:p>
        </p:txBody>
      </p:sp>
    </p:spTree>
    <p:extLst>
      <p:ext uri="{BB962C8B-B14F-4D97-AF65-F5344CB8AC3E}">
        <p14:creationId xmlns:p14="http://schemas.microsoft.com/office/powerpoint/2010/main" val="266992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 autoUpdateAnimBg="0"/>
      <p:bldP spid="47" grpId="0" build="p" autoUpdateAnimBg="0"/>
      <p:bldP spid="4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44" name="Object 5">
            <a:extLst>
              <a:ext uri="{FF2B5EF4-FFF2-40B4-BE49-F238E27FC236}">
                <a16:creationId xmlns:a16="http://schemas.microsoft.com/office/drawing/2014/main" id="{FEC0B0CA-C7B6-4658-A69C-9862CAFA31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112499"/>
              </p:ext>
            </p:extLst>
          </p:nvPr>
        </p:nvGraphicFramePr>
        <p:xfrm>
          <a:off x="2331743" y="1321702"/>
          <a:ext cx="13970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1333440" progId="Equation.DSMT4">
                  <p:embed/>
                </p:oleObj>
              </mc:Choice>
              <mc:Fallback>
                <p:oleObj name="Equation" r:id="rId3" imgW="1396800" imgH="1333440" progId="Equation.DSMT4">
                  <p:embed/>
                  <p:pic>
                    <p:nvPicPr>
                      <p:cNvPr id="44" name="Object 5">
                        <a:extLst>
                          <a:ext uri="{FF2B5EF4-FFF2-40B4-BE49-F238E27FC236}">
                            <a16:creationId xmlns:a16="http://schemas.microsoft.com/office/drawing/2014/main" id="{FEC0B0CA-C7B6-4658-A69C-9862CAFA31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1743" y="1321702"/>
                        <a:ext cx="13970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5">
            <a:extLst>
              <a:ext uri="{FF2B5EF4-FFF2-40B4-BE49-F238E27FC236}">
                <a16:creationId xmlns:a16="http://schemas.microsoft.com/office/drawing/2014/main" id="{3738480C-8CF5-431F-BB4E-6E965681D8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331962"/>
              </p:ext>
            </p:extLst>
          </p:nvPr>
        </p:nvGraphicFramePr>
        <p:xfrm>
          <a:off x="4550056" y="584044"/>
          <a:ext cx="1727200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26920" imgH="2781000" progId="Equation.DSMT4">
                  <p:embed/>
                </p:oleObj>
              </mc:Choice>
              <mc:Fallback>
                <p:oleObj name="Equation" r:id="rId5" imgW="1726920" imgH="2781000" progId="Equation.DSMT4">
                  <p:embed/>
                  <p:pic>
                    <p:nvPicPr>
                      <p:cNvPr id="45" name="Object 5">
                        <a:extLst>
                          <a:ext uri="{FF2B5EF4-FFF2-40B4-BE49-F238E27FC236}">
                            <a16:creationId xmlns:a16="http://schemas.microsoft.com/office/drawing/2014/main" id="{3738480C-8CF5-431F-BB4E-6E965681D8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0056" y="584044"/>
                        <a:ext cx="1727200" cy="278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7">
            <a:extLst>
              <a:ext uri="{FF2B5EF4-FFF2-40B4-BE49-F238E27FC236}">
                <a16:creationId xmlns:a16="http://schemas.microsoft.com/office/drawing/2014/main" id="{8E178F84-D94E-4098-BFA1-B16062CEB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2850" y="3192611"/>
            <a:ext cx="3378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于是得正交矩阵 </a:t>
            </a:r>
          </a:p>
        </p:txBody>
      </p:sp>
      <p:graphicFrame>
        <p:nvGraphicFramePr>
          <p:cNvPr id="47" name="Object 5">
            <a:extLst>
              <a:ext uri="{FF2B5EF4-FFF2-40B4-BE49-F238E27FC236}">
                <a16:creationId xmlns:a16="http://schemas.microsoft.com/office/drawing/2014/main" id="{2389D8D9-49A0-42A7-8F72-3CA7B4176A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470874"/>
              </p:ext>
            </p:extLst>
          </p:nvPr>
        </p:nvGraphicFramePr>
        <p:xfrm>
          <a:off x="1633051" y="4864271"/>
          <a:ext cx="2159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58920" imgH="431640" progId="Equation.DSMT4">
                  <p:embed/>
                </p:oleObj>
              </mc:Choice>
              <mc:Fallback>
                <p:oleObj name="Equation" r:id="rId7" imgW="2158920" imgH="431640" progId="Equation.DSMT4">
                  <p:embed/>
                  <p:pic>
                    <p:nvPicPr>
                      <p:cNvPr id="47" name="Object 5">
                        <a:extLst>
                          <a:ext uri="{FF2B5EF4-FFF2-40B4-BE49-F238E27FC236}">
                            <a16:creationId xmlns:a16="http://schemas.microsoft.com/office/drawing/2014/main" id="{2389D8D9-49A0-42A7-8F72-3CA7B4176A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051" y="4864271"/>
                        <a:ext cx="2159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5">
            <a:extLst>
              <a:ext uri="{FF2B5EF4-FFF2-40B4-BE49-F238E27FC236}">
                <a16:creationId xmlns:a16="http://schemas.microsoft.com/office/drawing/2014/main" id="{093CAD8D-89FC-4CC5-9B80-0C4E8B67FD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797702"/>
              </p:ext>
            </p:extLst>
          </p:nvPr>
        </p:nvGraphicFramePr>
        <p:xfrm>
          <a:off x="3822251" y="3683000"/>
          <a:ext cx="2781300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81000" imgH="2781000" progId="Equation.DSMT4">
                  <p:embed/>
                </p:oleObj>
              </mc:Choice>
              <mc:Fallback>
                <p:oleObj name="Equation" r:id="rId9" imgW="2781000" imgH="2781000" progId="Equation.DSMT4">
                  <p:embed/>
                  <p:pic>
                    <p:nvPicPr>
                      <p:cNvPr id="48" name="Object 5">
                        <a:extLst>
                          <a:ext uri="{FF2B5EF4-FFF2-40B4-BE49-F238E27FC236}">
                            <a16:creationId xmlns:a16="http://schemas.microsoft.com/office/drawing/2014/main" id="{093CAD8D-89FC-4CC5-9B80-0C4E8B67FD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251" y="3683000"/>
                        <a:ext cx="2781300" cy="278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30">
            <a:extLst>
              <a:ext uri="{FF2B5EF4-FFF2-40B4-BE49-F238E27FC236}">
                <a16:creationId xmlns:a16="http://schemas.microsoft.com/office/drawing/2014/main" id="{0FF78B0A-98B2-0DB7-3EAF-8451F627E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1" y="-15127"/>
            <a:ext cx="714548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用正交变换化二次型为标准形</a:t>
            </a:r>
          </a:p>
        </p:txBody>
      </p:sp>
    </p:spTree>
    <p:extLst>
      <p:ext uri="{BB962C8B-B14F-4D97-AF65-F5344CB8AC3E}">
        <p14:creationId xmlns:p14="http://schemas.microsoft.com/office/powerpoint/2010/main" val="65149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38" name="Object 5">
            <a:extLst>
              <a:ext uri="{FF2B5EF4-FFF2-40B4-BE49-F238E27FC236}">
                <a16:creationId xmlns:a16="http://schemas.microsoft.com/office/drawing/2014/main" id="{96971C71-BACC-42F0-90ED-BC1E3F6AEE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2695355"/>
              </p:ext>
            </p:extLst>
          </p:nvPr>
        </p:nvGraphicFramePr>
        <p:xfrm>
          <a:off x="1554151" y="1264615"/>
          <a:ext cx="2400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00120" imgH="406080" progId="Equation.DSMT4">
                  <p:embed/>
                </p:oleObj>
              </mc:Choice>
              <mc:Fallback>
                <p:oleObj name="Equation" r:id="rId3" imgW="2400120" imgH="406080" progId="Equation.DSMT4">
                  <p:embed/>
                  <p:pic>
                    <p:nvPicPr>
                      <p:cNvPr id="38" name="Object 5">
                        <a:extLst>
                          <a:ext uri="{FF2B5EF4-FFF2-40B4-BE49-F238E27FC236}">
                            <a16:creationId xmlns:a16="http://schemas.microsoft.com/office/drawing/2014/main" id="{96971C71-BACC-42F0-90ED-BC1E3F6AEE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51" y="1264615"/>
                        <a:ext cx="2400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7">
            <a:extLst>
              <a:ext uri="{FF2B5EF4-FFF2-40B4-BE49-F238E27FC236}">
                <a16:creationId xmlns:a16="http://schemas.microsoft.com/office/drawing/2014/main" id="{39E722AB-4BB7-4535-AF71-BB4226EA61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232260"/>
              </p:ext>
            </p:extLst>
          </p:nvPr>
        </p:nvGraphicFramePr>
        <p:xfrm>
          <a:off x="3954451" y="886143"/>
          <a:ext cx="26035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03160" imgH="1333440" progId="Equation.DSMT4">
                  <p:embed/>
                </p:oleObj>
              </mc:Choice>
              <mc:Fallback>
                <p:oleObj name="Equation" r:id="rId5" imgW="2603160" imgH="1333440" progId="Equation.DSMT4">
                  <p:embed/>
                  <p:pic>
                    <p:nvPicPr>
                      <p:cNvPr id="39" name="Object 7">
                        <a:extLst>
                          <a:ext uri="{FF2B5EF4-FFF2-40B4-BE49-F238E27FC236}">
                            <a16:creationId xmlns:a16="http://schemas.microsoft.com/office/drawing/2014/main" id="{39E722AB-4BB7-4535-AF71-BB4226EA61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4451" y="886143"/>
                        <a:ext cx="26035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7">
            <a:extLst>
              <a:ext uri="{FF2B5EF4-FFF2-40B4-BE49-F238E27FC236}">
                <a16:creationId xmlns:a16="http://schemas.microsoft.com/office/drawing/2014/main" id="{C88E0B5E-0A97-4F7F-B774-47CEFC924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490" y="565368"/>
            <a:ext cx="13614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且有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4D355286-5343-6F20-E2D0-9CAAFFF17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963" y="2021185"/>
            <a:ext cx="360000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于是有正交变换为</a:t>
            </a:r>
          </a:p>
        </p:txBody>
      </p:sp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1A61D8C1-4A03-1D50-0005-4B473C7470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590726"/>
              </p:ext>
            </p:extLst>
          </p:nvPr>
        </p:nvGraphicFramePr>
        <p:xfrm>
          <a:off x="2754626" y="2402752"/>
          <a:ext cx="41656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165560" imgH="2590560" progId="Equation.DSMT4">
                  <p:embed/>
                </p:oleObj>
              </mc:Choice>
              <mc:Fallback>
                <p:oleObj name="Equation" r:id="rId7" imgW="4165560" imgH="2590560" progId="Equation.DSMT4">
                  <p:embed/>
                  <p:pic>
                    <p:nvPicPr>
                      <p:cNvPr id="22" name="Object 9">
                        <a:extLst>
                          <a:ext uri="{FF2B5EF4-FFF2-40B4-BE49-F238E27FC236}">
                            <a16:creationId xmlns:a16="http://schemas.microsoft.com/office/drawing/2014/main" id="{39F085AB-AFD8-479E-9BE2-927B51CF70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626" y="2402752"/>
                        <a:ext cx="4165600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>
            <a:extLst>
              <a:ext uri="{FF2B5EF4-FFF2-40B4-BE49-F238E27FC236}">
                <a16:creationId xmlns:a16="http://schemas.microsoft.com/office/drawing/2014/main" id="{5C1FC257-B0D6-6DE3-C34D-D9399D4F1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963" y="5113509"/>
            <a:ext cx="20878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把二次型 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6DEDA60-E223-F008-544A-4E3BD7765D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354797"/>
              </p:ext>
            </p:extLst>
          </p:nvPr>
        </p:nvGraphicFramePr>
        <p:xfrm>
          <a:off x="2754301" y="5827872"/>
          <a:ext cx="2857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57320" imgH="482400" progId="Equation.DSMT4">
                  <p:embed/>
                </p:oleObj>
              </mc:Choice>
              <mc:Fallback>
                <p:oleObj name="Equation" r:id="rId9" imgW="2857320" imgH="482400" progId="Equation.DSMT4">
                  <p:embed/>
                  <p:pic>
                    <p:nvPicPr>
                      <p:cNvPr id="20" name="Object 6">
                        <a:extLst>
                          <a:ext uri="{FF2B5EF4-FFF2-40B4-BE49-F238E27FC236}">
                            <a16:creationId xmlns:a16="http://schemas.microsoft.com/office/drawing/2014/main" id="{4A5B31E6-A68C-45FC-95FF-357C3C06F0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301" y="5827872"/>
                        <a:ext cx="2857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938552A8-8322-C50E-6AB2-9DA3DD4E281E}"/>
              </a:ext>
            </a:extLst>
          </p:cNvPr>
          <p:cNvSpPr txBox="1"/>
          <p:nvPr/>
        </p:nvSpPr>
        <p:spPr>
          <a:xfrm>
            <a:off x="6397167" y="5113509"/>
            <a:ext cx="22567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化为标准形</a:t>
            </a:r>
            <a:endParaRPr lang="zh-CN" altLang="en-US" dirty="0"/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C07DEE53-93DE-7E25-2EAB-A28433ECEC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170005"/>
              </p:ext>
            </p:extLst>
          </p:nvPr>
        </p:nvGraphicFramePr>
        <p:xfrm>
          <a:off x="2434767" y="5139291"/>
          <a:ext cx="3962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962160" imgH="482400" progId="Equation.DSMT4">
                  <p:embed/>
                </p:oleObj>
              </mc:Choice>
              <mc:Fallback>
                <p:oleObj name="Equation" r:id="rId11" imgW="3962160" imgH="482400" progId="Equation.DSMT4">
                  <p:embed/>
                  <p:pic>
                    <p:nvPicPr>
                      <p:cNvPr id="35" name="Object 2">
                        <a:extLst>
                          <a:ext uri="{FF2B5EF4-FFF2-40B4-BE49-F238E27FC236}">
                            <a16:creationId xmlns:a16="http://schemas.microsoft.com/office/drawing/2014/main" id="{8C951B99-D51E-4E7F-A4F6-68734E7188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4767" y="5139291"/>
                        <a:ext cx="3962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30">
            <a:extLst>
              <a:ext uri="{FF2B5EF4-FFF2-40B4-BE49-F238E27FC236}">
                <a16:creationId xmlns:a16="http://schemas.microsoft.com/office/drawing/2014/main" id="{2F6ADB27-01F6-6FAB-7DF9-01511F657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1" y="-15127"/>
            <a:ext cx="714548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用正交变换化二次型为标准形</a:t>
            </a:r>
          </a:p>
        </p:txBody>
      </p:sp>
    </p:spTree>
    <p:extLst>
      <p:ext uri="{BB962C8B-B14F-4D97-AF65-F5344CB8AC3E}">
        <p14:creationId xmlns:p14="http://schemas.microsoft.com/office/powerpoint/2010/main" val="138583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6" grpId="0" build="p" autoUpdateAnimBg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-12303"/>
            <a:ext cx="638934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二次型的几何应用</a:t>
            </a:r>
          </a:p>
        </p:txBody>
      </p:sp>
      <p:graphicFrame>
        <p:nvGraphicFramePr>
          <p:cNvPr id="35" name="Object 2">
            <a:extLst>
              <a:ext uri="{FF2B5EF4-FFF2-40B4-BE49-F238E27FC236}">
                <a16:creationId xmlns:a16="http://schemas.microsoft.com/office/drawing/2014/main" id="{8C951B99-D51E-4E7F-A4F6-68734E7188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166078"/>
              </p:ext>
            </p:extLst>
          </p:nvPr>
        </p:nvGraphicFramePr>
        <p:xfrm>
          <a:off x="5329567" y="920294"/>
          <a:ext cx="850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50680" imgH="419040" progId="Equation.DSMT4">
                  <p:embed/>
                </p:oleObj>
              </mc:Choice>
              <mc:Fallback>
                <p:oleObj name="Equation" r:id="rId3" imgW="850680" imgH="419040" progId="Equation.DSMT4">
                  <p:embed/>
                  <p:pic>
                    <p:nvPicPr>
                      <p:cNvPr id="35" name="Object 2">
                        <a:extLst>
                          <a:ext uri="{FF2B5EF4-FFF2-40B4-BE49-F238E27FC236}">
                            <a16:creationId xmlns:a16="http://schemas.microsoft.com/office/drawing/2014/main" id="{8C951B99-D51E-4E7F-A4F6-68734E7188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567" y="920294"/>
                        <a:ext cx="850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11">
            <a:extLst>
              <a:ext uri="{FF2B5EF4-FFF2-40B4-BE49-F238E27FC236}">
                <a16:creationId xmlns:a16="http://schemas.microsoft.com/office/drawing/2014/main" id="{B13D1AF5-9092-46D1-A80F-052328A8D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818357"/>
            <a:ext cx="4176464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4.20 </a:t>
            </a:r>
            <a:r>
              <a:rPr lang="zh-CN" altLang="en-US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已知在直角坐标系</a:t>
            </a:r>
            <a:endParaRPr lang="en-US" altLang="zh-CN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7" name="Text Box 11">
            <a:extLst>
              <a:ext uri="{FF2B5EF4-FFF2-40B4-BE49-F238E27FC236}">
                <a16:creationId xmlns:a16="http://schemas.microsoft.com/office/drawing/2014/main" id="{48BFBAE3-C8C5-4FAC-9E92-B7B61AFF6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0467" y="825500"/>
            <a:ext cx="2663849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中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二次曲线</a:t>
            </a:r>
            <a:endParaRPr lang="en-US" altLang="zh-CN" b="1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38" name="Object 8">
            <a:extLst>
              <a:ext uri="{FF2B5EF4-FFF2-40B4-BE49-F238E27FC236}">
                <a16:creationId xmlns:a16="http://schemas.microsoft.com/office/drawing/2014/main" id="{548DDA6F-5317-4BD9-9830-85C305F561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09181"/>
              </p:ext>
            </p:extLst>
          </p:nvPr>
        </p:nvGraphicFramePr>
        <p:xfrm>
          <a:off x="3290271" y="3013759"/>
          <a:ext cx="3136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36680" imgH="482400" progId="Equation.DSMT4">
                  <p:embed/>
                </p:oleObj>
              </mc:Choice>
              <mc:Fallback>
                <p:oleObj name="Equation" r:id="rId5" imgW="3136680" imgH="482400" progId="Equation.DSMT4">
                  <p:embed/>
                  <p:pic>
                    <p:nvPicPr>
                      <p:cNvPr id="38" name="Object 8">
                        <a:extLst>
                          <a:ext uri="{FF2B5EF4-FFF2-40B4-BE49-F238E27FC236}">
                            <a16:creationId xmlns:a16="http://schemas.microsoft.com/office/drawing/2014/main" id="{548DDA6F-5317-4BD9-9830-85C305F561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271" y="3013759"/>
                        <a:ext cx="31369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4">
            <a:extLst>
              <a:ext uri="{FF2B5EF4-FFF2-40B4-BE49-F238E27FC236}">
                <a16:creationId xmlns:a16="http://schemas.microsoft.com/office/drawing/2014/main" id="{C9FA23DD-17EC-4EE6-9901-0FA39AE8C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910" y="2185590"/>
            <a:ext cx="626449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先将曲线方程化为标准方程</a:t>
            </a:r>
            <a:r>
              <a:rPr lang="en-US" altLang="zh-CN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即用正交</a:t>
            </a:r>
          </a:p>
        </p:txBody>
      </p:sp>
      <p:sp>
        <p:nvSpPr>
          <p:cNvPr id="40" name="Text Box 6">
            <a:extLst>
              <a:ext uri="{FF2B5EF4-FFF2-40B4-BE49-F238E27FC236}">
                <a16:creationId xmlns:a16="http://schemas.microsoft.com/office/drawing/2014/main" id="{36EF7ADB-E8D9-4F3F-AADA-F3AF8DBA6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6017" y="2977247"/>
            <a:ext cx="144016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化为标</a:t>
            </a:r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ADA1F454-C14D-4E40-9812-28349E8D3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242" y="2214281"/>
            <a:ext cx="863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zh-CN" altLang="en-US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F6F9C652-5192-4D3E-8AF0-BAE7B02B6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46" y="1481931"/>
            <a:ext cx="165663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方程为</a:t>
            </a:r>
            <a:endParaRPr lang="en-US" altLang="zh-CN" b="1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15" name="Object 2">
            <a:extLst>
              <a:ext uri="{FF2B5EF4-FFF2-40B4-BE49-F238E27FC236}">
                <a16:creationId xmlns:a16="http://schemas.microsoft.com/office/drawing/2014/main" id="{E4563160-7823-4437-90A4-67C0BFF7FB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607325"/>
              </p:ext>
            </p:extLst>
          </p:nvPr>
        </p:nvGraphicFramePr>
        <p:xfrm>
          <a:off x="2103388" y="1521437"/>
          <a:ext cx="3136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36680" imgH="482400" progId="Equation.DSMT4">
                  <p:embed/>
                </p:oleObj>
              </mc:Choice>
              <mc:Fallback>
                <p:oleObj name="Equation" r:id="rId7" imgW="3136680" imgH="482400" progId="Equation.DSMT4">
                  <p:embed/>
                  <p:pic>
                    <p:nvPicPr>
                      <p:cNvPr id="35" name="Object 2">
                        <a:extLst>
                          <a:ext uri="{FF2B5EF4-FFF2-40B4-BE49-F238E27FC236}">
                            <a16:creationId xmlns:a16="http://schemas.microsoft.com/office/drawing/2014/main" id="{8C951B99-D51E-4E7F-A4F6-68734E7188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388" y="1521437"/>
                        <a:ext cx="31369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1">
            <a:extLst>
              <a:ext uri="{FF2B5EF4-FFF2-40B4-BE49-F238E27FC236}">
                <a16:creationId xmlns:a16="http://schemas.microsoft.com/office/drawing/2014/main" id="{C5F319E4-07D4-4434-BD5B-93990A68A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1800" y="1467738"/>
            <a:ext cx="2663849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试确定其形状</a:t>
            </a:r>
            <a:r>
              <a:rPr lang="en-US" altLang="zh-CN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.</a:t>
            </a: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A192C037-87E2-4DD2-8161-D66259FB0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46" y="2977247"/>
            <a:ext cx="27442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变换把二次型</a:t>
            </a:r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E35D52F0-233B-4EFE-A51D-7437E53A8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46" y="3712597"/>
            <a:ext cx="144016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准形</a:t>
            </a:r>
            <a:r>
              <a:rPr lang="en-US" altLang="zh-CN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.</a:t>
            </a:r>
            <a:endParaRPr lang="zh-CN" altLang="en-US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19" name="Object 8">
            <a:extLst>
              <a:ext uri="{FF2B5EF4-FFF2-40B4-BE49-F238E27FC236}">
                <a16:creationId xmlns:a16="http://schemas.microsoft.com/office/drawing/2014/main" id="{E71E0E94-6562-45F4-B170-B8A7DF56C1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095545"/>
              </p:ext>
            </p:extLst>
          </p:nvPr>
        </p:nvGraphicFramePr>
        <p:xfrm>
          <a:off x="4608757" y="3801308"/>
          <a:ext cx="27813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81000" imgH="1777680" progId="Equation.DSMT4">
                  <p:embed/>
                </p:oleObj>
              </mc:Choice>
              <mc:Fallback>
                <p:oleObj name="Equation" r:id="rId9" imgW="2781000" imgH="1777680" progId="Equation.DSMT4">
                  <p:embed/>
                  <p:pic>
                    <p:nvPicPr>
                      <p:cNvPr id="38" name="Object 8">
                        <a:extLst>
                          <a:ext uri="{FF2B5EF4-FFF2-40B4-BE49-F238E27FC236}">
                            <a16:creationId xmlns:a16="http://schemas.microsoft.com/office/drawing/2014/main" id="{548DDA6F-5317-4BD9-9830-85C305F561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757" y="3801308"/>
                        <a:ext cx="2781300" cy="177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4">
            <a:extLst>
              <a:ext uri="{FF2B5EF4-FFF2-40B4-BE49-F238E27FC236}">
                <a16:creationId xmlns:a16="http://schemas.microsoft.com/office/drawing/2014/main" id="{83CB38FC-941F-43BE-9470-9504D6959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430" y="4406354"/>
            <a:ext cx="34452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二次型 </a:t>
            </a:r>
            <a:r>
              <a:rPr lang="en-US" altLang="zh-CN" b="1" i="1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的矩阵为</a:t>
            </a:r>
          </a:p>
        </p:txBody>
      </p:sp>
    </p:spTree>
    <p:extLst>
      <p:ext uri="{BB962C8B-B14F-4D97-AF65-F5344CB8AC3E}">
        <p14:creationId xmlns:p14="http://schemas.microsoft.com/office/powerpoint/2010/main" val="325357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uild="p" autoUpdateAnimBg="0"/>
      <p:bldP spid="40" grpId="0" build="p" autoUpdateAnimBg="0"/>
      <p:bldP spid="41" grpId="0"/>
      <p:bldP spid="17" grpId="0" build="p" autoUpdateAnimBg="0"/>
      <p:bldP spid="18" grpId="0" build="p" autoUpdateAnimBg="0"/>
      <p:bldP spid="21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0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二次型的几何应用</a:t>
            </a:r>
          </a:p>
        </p:txBody>
      </p:sp>
      <p:graphicFrame>
        <p:nvGraphicFramePr>
          <p:cNvPr id="18" name="Object 5">
            <a:extLst>
              <a:ext uri="{FF2B5EF4-FFF2-40B4-BE49-F238E27FC236}">
                <a16:creationId xmlns:a16="http://schemas.microsoft.com/office/drawing/2014/main" id="{7E5646D8-2A58-4AC6-8E04-BC1FFE698C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196174"/>
              </p:ext>
            </p:extLst>
          </p:nvPr>
        </p:nvGraphicFramePr>
        <p:xfrm>
          <a:off x="1696159" y="2122939"/>
          <a:ext cx="1282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82680" imgH="393480" progId="Equation.DSMT4">
                  <p:embed/>
                </p:oleObj>
              </mc:Choice>
              <mc:Fallback>
                <p:oleObj name="Equation" r:id="rId3" imgW="1282680" imgH="393480" progId="Equation.DSMT4">
                  <p:embed/>
                  <p:pic>
                    <p:nvPicPr>
                      <p:cNvPr id="18" name="Object 5">
                        <a:extLst>
                          <a:ext uri="{FF2B5EF4-FFF2-40B4-BE49-F238E27FC236}">
                            <a16:creationId xmlns:a16="http://schemas.microsoft.com/office/drawing/2014/main" id="{7E5646D8-2A58-4AC6-8E04-BC1FFE698C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6159" y="2122939"/>
                        <a:ext cx="1282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2">
            <a:extLst>
              <a:ext uri="{FF2B5EF4-FFF2-40B4-BE49-F238E27FC236}">
                <a16:creationId xmlns:a16="http://schemas.microsoft.com/office/drawing/2014/main" id="{DC325C62-55AE-4A69-AAA3-80944E1A07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728010"/>
              </p:ext>
            </p:extLst>
          </p:nvPr>
        </p:nvGraphicFramePr>
        <p:xfrm>
          <a:off x="5382815" y="1900689"/>
          <a:ext cx="2133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33360" imgH="838080" progId="Equation.DSMT4">
                  <p:embed/>
                </p:oleObj>
              </mc:Choice>
              <mc:Fallback>
                <p:oleObj name="Equation" r:id="rId5" imgW="2133360" imgH="838080" progId="Equation.DSMT4">
                  <p:embed/>
                  <p:pic>
                    <p:nvPicPr>
                      <p:cNvPr id="19" name="Object 12">
                        <a:extLst>
                          <a:ext uri="{FF2B5EF4-FFF2-40B4-BE49-F238E27FC236}">
                            <a16:creationId xmlns:a16="http://schemas.microsoft.com/office/drawing/2014/main" id="{DC325C62-55AE-4A69-AAA3-80944E1A07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2815" y="1900689"/>
                        <a:ext cx="2133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3">
            <a:extLst>
              <a:ext uri="{FF2B5EF4-FFF2-40B4-BE49-F238E27FC236}">
                <a16:creationId xmlns:a16="http://schemas.microsoft.com/office/drawing/2014/main" id="{33298264-A239-411C-A1B0-3DF9829AD0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035698"/>
              </p:ext>
            </p:extLst>
          </p:nvPr>
        </p:nvGraphicFramePr>
        <p:xfrm>
          <a:off x="3050537" y="1358834"/>
          <a:ext cx="2260600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60440" imgH="1892160" progId="Equation.DSMT4">
                  <p:embed/>
                </p:oleObj>
              </mc:Choice>
              <mc:Fallback>
                <p:oleObj name="Equation" r:id="rId7" imgW="2260440" imgH="1892160" progId="Equation.DSMT4">
                  <p:embed/>
                  <p:pic>
                    <p:nvPicPr>
                      <p:cNvPr id="20" name="Object 13">
                        <a:extLst>
                          <a:ext uri="{FF2B5EF4-FFF2-40B4-BE49-F238E27FC236}">
                            <a16:creationId xmlns:a16="http://schemas.microsoft.com/office/drawing/2014/main" id="{33298264-A239-411C-A1B0-3DF9829AD0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0537" y="1358834"/>
                        <a:ext cx="2260600" cy="189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">
            <a:extLst>
              <a:ext uri="{FF2B5EF4-FFF2-40B4-BE49-F238E27FC236}">
                <a16:creationId xmlns:a16="http://schemas.microsoft.com/office/drawing/2014/main" id="{9F3FE4DD-5A57-42D6-B37F-FB3C01F841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117681"/>
              </p:ext>
            </p:extLst>
          </p:nvPr>
        </p:nvGraphicFramePr>
        <p:xfrm>
          <a:off x="5311137" y="3351146"/>
          <a:ext cx="2184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84120" imgH="838080" progId="Equation.DSMT4">
                  <p:embed/>
                </p:oleObj>
              </mc:Choice>
              <mc:Fallback>
                <p:oleObj name="Equation" r:id="rId9" imgW="2184120" imgH="838080" progId="Equation.DSMT4">
                  <p:embed/>
                  <p:pic>
                    <p:nvPicPr>
                      <p:cNvPr id="21" name="Object 14">
                        <a:extLst>
                          <a:ext uri="{FF2B5EF4-FFF2-40B4-BE49-F238E27FC236}">
                            <a16:creationId xmlns:a16="http://schemas.microsoft.com/office/drawing/2014/main" id="{9F3FE4DD-5A57-42D6-B37F-FB3C01F841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1137" y="3351146"/>
                        <a:ext cx="2184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">
            <a:extLst>
              <a:ext uri="{FF2B5EF4-FFF2-40B4-BE49-F238E27FC236}">
                <a16:creationId xmlns:a16="http://schemas.microsoft.com/office/drawing/2014/main" id="{13E67875-63FC-4A3A-B7A4-BC568B6D2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926" y="3510690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的三个特征值为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: </a:t>
            </a:r>
          </a:p>
        </p:txBody>
      </p:sp>
      <p:sp>
        <p:nvSpPr>
          <p:cNvPr id="25" name="Text Box 4">
            <a:extLst>
              <a:ext uri="{FF2B5EF4-FFF2-40B4-BE49-F238E27FC236}">
                <a16:creationId xmlns:a16="http://schemas.microsoft.com/office/drawing/2014/main" id="{A7D47DAB-09EC-4EED-9AD5-6DAE4E181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362" y="4229827"/>
            <a:ext cx="55974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可求得它们分别对应的特征向量为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9" name="Object 16">
            <a:extLst>
              <a:ext uri="{FF2B5EF4-FFF2-40B4-BE49-F238E27FC236}">
                <a16:creationId xmlns:a16="http://schemas.microsoft.com/office/drawing/2014/main" id="{7A07152C-1D09-4F4E-9081-E9070228AE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721809"/>
              </p:ext>
            </p:extLst>
          </p:nvPr>
        </p:nvGraphicFramePr>
        <p:xfrm>
          <a:off x="2989803" y="5075612"/>
          <a:ext cx="3505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504960" imgH="977760" progId="Equation.DSMT4">
                  <p:embed/>
                </p:oleObj>
              </mc:Choice>
              <mc:Fallback>
                <p:oleObj name="Equation" r:id="rId11" imgW="3504960" imgH="977760" progId="Equation.DSMT4">
                  <p:embed/>
                  <p:pic>
                    <p:nvPicPr>
                      <p:cNvPr id="29" name="Object 16">
                        <a:extLst>
                          <a:ext uri="{FF2B5EF4-FFF2-40B4-BE49-F238E27FC236}">
                            <a16:creationId xmlns:a16="http://schemas.microsoft.com/office/drawing/2014/main" id="{7A07152C-1D09-4F4E-9081-E9070228AE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803" y="5075612"/>
                        <a:ext cx="35052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6">
            <a:extLst>
              <a:ext uri="{FF2B5EF4-FFF2-40B4-BE49-F238E27FC236}">
                <a16:creationId xmlns:a16="http://schemas.microsoft.com/office/drawing/2014/main" id="{BDFFC35E-18F3-F54D-69DE-59B9A148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695980"/>
            <a:ext cx="35474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i="1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的特征多项式为</a:t>
            </a:r>
          </a:p>
        </p:txBody>
      </p:sp>
    </p:spTree>
    <p:extLst>
      <p:ext uri="{BB962C8B-B14F-4D97-AF65-F5344CB8AC3E}">
        <p14:creationId xmlns:p14="http://schemas.microsoft.com/office/powerpoint/2010/main" val="301798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 autoUpdateAnimBg="0"/>
      <p:bldP spid="25" grpId="0" build="p" autoUpdateAnimBg="0"/>
      <p:bldP spid="2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017" y="0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二次型的几何应用</a:t>
            </a:r>
          </a:p>
        </p:txBody>
      </p:sp>
      <p:sp>
        <p:nvSpPr>
          <p:cNvPr id="29" name="Text Box 7">
            <a:extLst>
              <a:ext uri="{FF2B5EF4-FFF2-40B4-BE49-F238E27FC236}">
                <a16:creationId xmlns:a16="http://schemas.microsoft.com/office/drawing/2014/main" id="{13A9E7A2-925E-4C62-BBBB-F0CBEA6F3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886143"/>
            <a:ext cx="57594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并将它们单位化得</a:t>
            </a:r>
          </a:p>
        </p:txBody>
      </p:sp>
      <p:graphicFrame>
        <p:nvGraphicFramePr>
          <p:cNvPr id="30" name="Object 5">
            <a:extLst>
              <a:ext uri="{FF2B5EF4-FFF2-40B4-BE49-F238E27FC236}">
                <a16:creationId xmlns:a16="http://schemas.microsoft.com/office/drawing/2014/main" id="{1B2312E0-D466-47D1-AA08-E02D37F4E9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45440"/>
              </p:ext>
            </p:extLst>
          </p:nvPr>
        </p:nvGraphicFramePr>
        <p:xfrm>
          <a:off x="3717471" y="1284138"/>
          <a:ext cx="3746500" cy="181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46160" imgH="1815840" progId="Equation.DSMT4">
                  <p:embed/>
                </p:oleObj>
              </mc:Choice>
              <mc:Fallback>
                <p:oleObj name="Equation" r:id="rId3" imgW="3746160" imgH="1815840" progId="Equation.DSMT4">
                  <p:embed/>
                  <p:pic>
                    <p:nvPicPr>
                      <p:cNvPr id="30" name="Object 5">
                        <a:extLst>
                          <a:ext uri="{FF2B5EF4-FFF2-40B4-BE49-F238E27FC236}">
                            <a16:creationId xmlns:a16="http://schemas.microsoft.com/office/drawing/2014/main" id="{1B2312E0-D466-47D1-AA08-E02D37F4E9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471" y="1284138"/>
                        <a:ext cx="3746500" cy="181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0">
            <a:extLst>
              <a:ext uri="{FF2B5EF4-FFF2-40B4-BE49-F238E27FC236}">
                <a16:creationId xmlns:a16="http://schemas.microsoft.com/office/drawing/2014/main" id="{6ED602E1-4E6E-4734-81C6-637FFCA4B2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543914"/>
              </p:ext>
            </p:extLst>
          </p:nvPr>
        </p:nvGraphicFramePr>
        <p:xfrm>
          <a:off x="3874931" y="5450898"/>
          <a:ext cx="2387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87520" imgH="838080" progId="Equation.DSMT4">
                  <p:embed/>
                </p:oleObj>
              </mc:Choice>
              <mc:Fallback>
                <p:oleObj name="Equation" r:id="rId5" imgW="2387520" imgH="838080" progId="Equation.DSMT4">
                  <p:embed/>
                  <p:pic>
                    <p:nvPicPr>
                      <p:cNvPr id="37" name="Object 10">
                        <a:extLst>
                          <a:ext uri="{FF2B5EF4-FFF2-40B4-BE49-F238E27FC236}">
                            <a16:creationId xmlns:a16="http://schemas.microsoft.com/office/drawing/2014/main" id="{6ED602E1-4E6E-4734-81C6-637FFCA4B2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4931" y="5450898"/>
                        <a:ext cx="2387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2">
            <a:extLst>
              <a:ext uri="{FF2B5EF4-FFF2-40B4-BE49-F238E27FC236}">
                <a16:creationId xmlns:a16="http://schemas.microsoft.com/office/drawing/2014/main" id="{D6D8A155-10EF-41A9-802D-B060D7C893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457053"/>
              </p:ext>
            </p:extLst>
          </p:nvPr>
        </p:nvGraphicFramePr>
        <p:xfrm>
          <a:off x="2914410" y="3329418"/>
          <a:ext cx="4203700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203360" imgH="1892160" progId="Equation.DSMT4">
                  <p:embed/>
                </p:oleObj>
              </mc:Choice>
              <mc:Fallback>
                <p:oleObj name="Equation" r:id="rId7" imgW="4203360" imgH="1892160" progId="Equation.DSMT4">
                  <p:embed/>
                  <p:pic>
                    <p:nvPicPr>
                      <p:cNvPr id="38" name="Object 12">
                        <a:extLst>
                          <a:ext uri="{FF2B5EF4-FFF2-40B4-BE49-F238E27FC236}">
                            <a16:creationId xmlns:a16="http://schemas.microsoft.com/office/drawing/2014/main" id="{D6D8A155-10EF-41A9-802D-B060D7C893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4410" y="3329418"/>
                        <a:ext cx="4203700" cy="189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10">
            <a:extLst>
              <a:ext uri="{FF2B5EF4-FFF2-40B4-BE49-F238E27FC236}">
                <a16:creationId xmlns:a16="http://schemas.microsoft.com/office/drawing/2014/main" id="{36CF11F0-743A-4363-82E4-CAD367DA5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0841" y="3958616"/>
            <a:ext cx="1357546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令</a:t>
            </a:r>
          </a:p>
        </p:txBody>
      </p:sp>
      <p:sp>
        <p:nvSpPr>
          <p:cNvPr id="28" name="Text Box 10">
            <a:extLst>
              <a:ext uri="{FF2B5EF4-FFF2-40B4-BE49-F238E27FC236}">
                <a16:creationId xmlns:a16="http://schemas.microsoft.com/office/drawing/2014/main" id="{60419C65-498B-4D13-BB64-98BF8DFE4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0423" y="5294332"/>
            <a:ext cx="1357546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</a:p>
        </p:txBody>
      </p:sp>
    </p:spTree>
    <p:extLst>
      <p:ext uri="{BB962C8B-B14F-4D97-AF65-F5344CB8AC3E}">
        <p14:creationId xmlns:p14="http://schemas.microsoft.com/office/powerpoint/2010/main" val="77582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build="p" autoUpdateAnimBg="0"/>
      <p:bldP spid="28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BBB5CC67-E5D9-43E0-974A-A31718CC7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916292"/>
            <a:ext cx="32400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故在新坐标系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6562FC3B-B68B-4FBF-BDE2-E0768BA4C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7518" y="916292"/>
            <a:ext cx="30314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中该曲线的方程为</a:t>
            </a:r>
          </a:p>
        </p:txBody>
      </p:sp>
      <p:sp>
        <p:nvSpPr>
          <p:cNvPr id="25" name="Text Box 6">
            <a:extLst>
              <a:ext uri="{FF2B5EF4-FFF2-40B4-BE49-F238E27FC236}">
                <a16:creationId xmlns:a16="http://schemas.microsoft.com/office/drawing/2014/main" id="{6F62B208-7D79-4584-9979-5D3262550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3993" y="1762729"/>
            <a:ext cx="48924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其为一个椭圆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其短、长半轴</a:t>
            </a:r>
          </a:p>
        </p:txBody>
      </p:sp>
      <p:graphicFrame>
        <p:nvGraphicFramePr>
          <p:cNvPr id="26" name="Object 8">
            <a:extLst>
              <a:ext uri="{FF2B5EF4-FFF2-40B4-BE49-F238E27FC236}">
                <a16:creationId xmlns:a16="http://schemas.microsoft.com/office/drawing/2014/main" id="{CDDFECC9-C7C1-4B03-84A6-0BFF828187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064982"/>
              </p:ext>
            </p:extLst>
          </p:nvPr>
        </p:nvGraphicFramePr>
        <p:xfrm>
          <a:off x="996613" y="1616075"/>
          <a:ext cx="2273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73040" imgH="838080" progId="Equation.DSMT4">
                  <p:embed/>
                </p:oleObj>
              </mc:Choice>
              <mc:Fallback>
                <p:oleObj name="Equation" r:id="rId3" imgW="2273040" imgH="838080" progId="Equation.DSMT4">
                  <p:embed/>
                  <p:pic>
                    <p:nvPicPr>
                      <p:cNvPr id="26" name="Object 8">
                        <a:extLst>
                          <a:ext uri="{FF2B5EF4-FFF2-40B4-BE49-F238E27FC236}">
                            <a16:creationId xmlns:a16="http://schemas.microsoft.com/office/drawing/2014/main" id="{CDDFECC9-C7C1-4B03-84A6-0BFF828187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613" y="1616075"/>
                        <a:ext cx="2273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7">
            <a:extLst>
              <a:ext uri="{FF2B5EF4-FFF2-40B4-BE49-F238E27FC236}">
                <a16:creationId xmlns:a16="http://schemas.microsoft.com/office/drawing/2014/main" id="{F19FD955-491B-49A1-8E15-3380A8AEC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4682555"/>
            <a:ext cx="78488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4.2(2)</a:t>
            </a: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所示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4.2(1)</a:t>
            </a: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是为标准化前的形状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 </a:t>
            </a:r>
            <a:endParaRPr lang="zh-CN" altLang="en-US" dirty="0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9" name="Object 10">
            <a:extLst>
              <a:ext uri="{FF2B5EF4-FFF2-40B4-BE49-F238E27FC236}">
                <a16:creationId xmlns:a16="http://schemas.microsoft.com/office/drawing/2014/main" id="{91FB63CA-43BA-4016-B44A-9E7FE06C3F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451869"/>
              </p:ext>
            </p:extLst>
          </p:nvPr>
        </p:nvGraphicFramePr>
        <p:xfrm>
          <a:off x="2851150" y="3203018"/>
          <a:ext cx="3441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41600" imgH="1066680" progId="Equation.DSMT4">
                  <p:embed/>
                </p:oleObj>
              </mc:Choice>
              <mc:Fallback>
                <p:oleObj name="Equation" r:id="rId5" imgW="3441600" imgH="1066680" progId="Equation.DSMT4">
                  <p:embed/>
                  <p:pic>
                    <p:nvPicPr>
                      <p:cNvPr id="29" name="Object 10">
                        <a:extLst>
                          <a:ext uri="{FF2B5EF4-FFF2-40B4-BE49-F238E27FC236}">
                            <a16:creationId xmlns:a16="http://schemas.microsoft.com/office/drawing/2014/main" id="{91FB63CA-43BA-4016-B44A-9E7FE06C3F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150" y="3203018"/>
                        <a:ext cx="34417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7">
            <a:extLst>
              <a:ext uri="{FF2B5EF4-FFF2-40B4-BE49-F238E27FC236}">
                <a16:creationId xmlns:a16="http://schemas.microsoft.com/office/drawing/2014/main" id="{816F983F-7ABE-4B54-9B42-11595B48F8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041738"/>
              </p:ext>
            </p:extLst>
          </p:nvPr>
        </p:nvGraphicFramePr>
        <p:xfrm>
          <a:off x="3373216" y="969885"/>
          <a:ext cx="876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76240" imgH="431640" progId="Equation.DSMT4">
                  <p:embed/>
                </p:oleObj>
              </mc:Choice>
              <mc:Fallback>
                <p:oleObj name="Equation" r:id="rId7" imgW="876240" imgH="431640" progId="Equation.DSMT4">
                  <p:embed/>
                  <p:pic>
                    <p:nvPicPr>
                      <p:cNvPr id="37" name="Object 17">
                        <a:extLst>
                          <a:ext uri="{FF2B5EF4-FFF2-40B4-BE49-F238E27FC236}">
                            <a16:creationId xmlns:a16="http://schemas.microsoft.com/office/drawing/2014/main" id="{816F983F-7ABE-4B54-9B42-11595B48F8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3216" y="969885"/>
                        <a:ext cx="876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6">
            <a:extLst>
              <a:ext uri="{FF2B5EF4-FFF2-40B4-BE49-F238E27FC236}">
                <a16:creationId xmlns:a16="http://schemas.microsoft.com/office/drawing/2014/main" id="{6BC3A992-FB05-4E8A-BACE-310BC93F3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993" y="2574718"/>
            <a:ext cx="19698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长分别为</a:t>
            </a:r>
          </a:p>
        </p:txBody>
      </p:sp>
      <p:sp>
        <p:nvSpPr>
          <p:cNvPr id="15" name="Rectangle 30">
            <a:extLst>
              <a:ext uri="{FF2B5EF4-FFF2-40B4-BE49-F238E27FC236}">
                <a16:creationId xmlns:a16="http://schemas.microsoft.com/office/drawing/2014/main" id="{422B9F7E-7778-462E-A1B1-7D8765229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017" y="0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二次型的几何应用</a:t>
            </a:r>
          </a:p>
        </p:txBody>
      </p:sp>
    </p:spTree>
    <p:extLst>
      <p:ext uri="{BB962C8B-B14F-4D97-AF65-F5344CB8AC3E}">
        <p14:creationId xmlns:p14="http://schemas.microsoft.com/office/powerpoint/2010/main" val="1964181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25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 autoUpdateAnimBg="0"/>
      <p:bldP spid="24" grpId="0" build="p" autoUpdateAnimBg="0"/>
      <p:bldP spid="25" grpId="0" build="p" autoUpdateAnimBg="0"/>
      <p:bldP spid="38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33FC4AFE-EDC8-4651-AD8E-EACB4E4C9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912" y="4093834"/>
            <a:ext cx="17281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000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4.2</a:t>
            </a:r>
            <a:endParaRPr lang="zh-CN" altLang="en-US" sz="20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3B859D-E478-44AC-B7F5-081C3D8E39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5" y="1392646"/>
            <a:ext cx="2574533" cy="20363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C8D3494-FAF5-4F30-9FD3-50E6478B50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298" y="1376199"/>
            <a:ext cx="2664021" cy="2310631"/>
          </a:xfrm>
          <a:prstGeom prst="rect">
            <a:avLst/>
          </a:prstGeom>
        </p:spPr>
      </p:pic>
      <p:sp>
        <p:nvSpPr>
          <p:cNvPr id="17" name="Text Box 10">
            <a:extLst>
              <a:ext uri="{FF2B5EF4-FFF2-40B4-BE49-F238E27FC236}">
                <a16:creationId xmlns:a16="http://schemas.microsoft.com/office/drawing/2014/main" id="{CD5D5D97-AB43-43A3-AD24-A0EB2EEC2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4146" y="3571546"/>
            <a:ext cx="17281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000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4.2(1)</a:t>
            </a:r>
            <a:endParaRPr lang="zh-CN" altLang="en-US" sz="20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254D4993-7C63-40AA-8527-7BF15583A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027" y="3652673"/>
            <a:ext cx="17281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000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4.2(2)</a:t>
            </a:r>
            <a:endParaRPr lang="zh-CN" altLang="en-US" sz="20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41A91B54-52C7-47B1-A7B0-D29A8075C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017" y="0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二次型的几何应用</a:t>
            </a:r>
          </a:p>
        </p:txBody>
      </p:sp>
    </p:spTree>
    <p:extLst>
      <p:ext uri="{BB962C8B-B14F-4D97-AF65-F5344CB8AC3E}">
        <p14:creationId xmlns:p14="http://schemas.microsoft.com/office/powerpoint/2010/main" val="2712261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utoUpdateAnimBg="0"/>
      <p:bldP spid="17" grpId="0" build="p" autoUpdateAnimBg="0"/>
      <p:bldP spid="18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1" name="Rectangle 3104">
            <a:extLst>
              <a:ext uri="{FF2B5EF4-FFF2-40B4-BE49-F238E27FC236}">
                <a16:creationId xmlns:a16="http://schemas.microsoft.com/office/drawing/2014/main" id="{61A5F35A-5BCB-4761-B53D-830AC937E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522" y="1700808"/>
            <a:ext cx="56165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ea typeface="华文中宋" pitchFamily="2" charset="-122"/>
                <a:cs typeface="Times New Roman" panose="02020603050405020304" pitchFamily="18" charset="0"/>
              </a:rPr>
              <a:t>用正交变换化二次型成标准形 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endParaRPr lang="zh-CN" altLang="en-US" b="1" dirty="0"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42" name="Rectangle 3105">
            <a:extLst>
              <a:ext uri="{FF2B5EF4-FFF2-40B4-BE49-F238E27FC236}">
                <a16:creationId xmlns:a16="http://schemas.microsoft.com/office/drawing/2014/main" id="{86E7DDF5-AC1C-42FC-91C9-02017102C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722" y="2419946"/>
            <a:ext cx="33115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形状不变</a:t>
            </a:r>
            <a:r>
              <a:rPr lang="zh-CN" altLang="en-US" b="1" dirty="0">
                <a:ea typeface="华文中宋" pitchFamily="2" charset="-122"/>
                <a:cs typeface="Times New Roman" panose="02020603050405020304" pitchFamily="18" charset="0"/>
              </a:rPr>
              <a:t>的优点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3" name="Rectangle 3106">
            <a:extLst>
              <a:ext uri="{FF2B5EF4-FFF2-40B4-BE49-F238E27FC236}">
                <a16:creationId xmlns:a16="http://schemas.microsoft.com/office/drawing/2014/main" id="{7B4ED335-5C12-422E-91A4-1B72BD696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009" y="2419946"/>
            <a:ext cx="379129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dirty="0">
                <a:ea typeface="华文中宋" pitchFamily="2" charset="-122"/>
                <a:cs typeface="Times New Roman" panose="02020603050405020304" pitchFamily="18" charset="0"/>
              </a:rPr>
              <a:t>不足之处是处理过程</a:t>
            </a:r>
            <a:r>
              <a:rPr lang="en-US" altLang="zh-CN" b="1" dirty="0">
                <a:ea typeface="华文中宋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" name="Rectangle 3107">
            <a:extLst>
              <a:ext uri="{FF2B5EF4-FFF2-40B4-BE49-F238E27FC236}">
                <a16:creationId xmlns:a16="http://schemas.microsoft.com/office/drawing/2014/main" id="{9E087174-A074-4557-8A8F-FB0D045FD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84" y="3140671"/>
            <a:ext cx="151457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ea typeface="华文中宋" pitchFamily="2" charset="-122"/>
                <a:cs typeface="Times New Roman" panose="02020603050405020304" pitchFamily="18" charset="0"/>
              </a:rPr>
              <a:t>杂一点</a:t>
            </a:r>
            <a:r>
              <a:rPr lang="en-US" altLang="zh-CN" b="1" dirty="0">
                <a:ea typeface="华文中宋" pitchFamily="2" charset="-122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5" name="Rectangle 3108">
            <a:extLst>
              <a:ext uri="{FF2B5EF4-FFF2-40B4-BE49-F238E27FC236}">
                <a16:creationId xmlns:a16="http://schemas.microsoft.com/office/drawing/2014/main" id="{A1F6B4EA-6BFE-4EDB-B023-1F50CB4BB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9196" y="3143321"/>
            <a:ext cx="629999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ea typeface="华文中宋" pitchFamily="2" charset="-122"/>
                <a:cs typeface="Times New Roman" panose="02020603050405020304" pitchFamily="18" charset="0"/>
              </a:rPr>
              <a:t>而用</a:t>
            </a:r>
            <a:r>
              <a:rPr lang="zh-CN" altLang="en-US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配方法</a:t>
            </a:r>
            <a:r>
              <a:rPr lang="zh-CN" altLang="en-US" b="1" dirty="0">
                <a:ea typeface="华文中宋" pitchFamily="2" charset="-122"/>
                <a:cs typeface="Times New Roman" panose="02020603050405020304" pitchFamily="18" charset="0"/>
              </a:rPr>
              <a:t>也可以化二次型为标准形</a:t>
            </a:r>
            <a:r>
              <a:rPr lang="en-US" altLang="zh-CN" b="1" dirty="0">
                <a:ea typeface="华文中宋" pitchFamily="2" charset="-122"/>
                <a:cs typeface="Times New Roman" panose="02020603050405020304" pitchFamily="18" charset="0"/>
              </a:rPr>
              <a:t>,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" name="Rectangle 3109">
            <a:extLst>
              <a:ext uri="{FF2B5EF4-FFF2-40B4-BE49-F238E27FC236}">
                <a16:creationId xmlns:a16="http://schemas.microsoft.com/office/drawing/2014/main" id="{1173A9CD-5B82-4383-AB5B-6CA0CD3ED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360" y="3152885"/>
            <a:ext cx="1127371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且</a:t>
            </a:r>
          </a:p>
        </p:txBody>
      </p:sp>
      <p:sp>
        <p:nvSpPr>
          <p:cNvPr id="47" name="Rectangle 3110">
            <a:extLst>
              <a:ext uri="{FF2B5EF4-FFF2-40B4-BE49-F238E27FC236}">
                <a16:creationId xmlns:a16="http://schemas.microsoft.com/office/drawing/2014/main" id="{64E40AA5-B4AD-477D-8425-A19599556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20" y="3814367"/>
            <a:ext cx="386818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具有简单直观的特点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48" name="Rectangle 3106">
            <a:extLst>
              <a:ext uri="{FF2B5EF4-FFF2-40B4-BE49-F238E27FC236}">
                <a16:creationId xmlns:a16="http://schemas.microsoft.com/office/drawing/2014/main" id="{CEFB0CA0-40E2-4B7D-AC3F-F6249AC3E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202" y="2419421"/>
            <a:ext cx="12969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相对复</a:t>
            </a:r>
          </a:p>
        </p:txBody>
      </p:sp>
      <p:sp>
        <p:nvSpPr>
          <p:cNvPr id="49" name="Rectangle 3104">
            <a:extLst>
              <a:ext uri="{FF2B5EF4-FFF2-40B4-BE49-F238E27FC236}">
                <a16:creationId xmlns:a16="http://schemas.microsoft.com/office/drawing/2014/main" id="{64CEB5BF-7591-4F09-99FD-E95D09745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809" y="1699221"/>
            <a:ext cx="3025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具有</a:t>
            </a:r>
            <a:r>
              <a:rPr lang="zh-CN" altLang="en-US" sz="2800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保持几何</a:t>
            </a:r>
          </a:p>
        </p:txBody>
      </p:sp>
      <p:sp>
        <p:nvSpPr>
          <p:cNvPr id="50" name="Rectangle 3110">
            <a:extLst>
              <a:ext uri="{FF2B5EF4-FFF2-40B4-BE49-F238E27FC236}">
                <a16:creationId xmlns:a16="http://schemas.microsoft.com/office/drawing/2014/main" id="{8D9142CA-BD19-438B-A919-372EEBAE8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809" y="3793643"/>
            <a:ext cx="4320381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dirty="0">
                <a:ea typeface="华文中宋" pitchFamily="2" charset="-122"/>
                <a:cs typeface="Times New Roman" panose="02020603050405020304" pitchFamily="18" charset="0"/>
              </a:rPr>
              <a:t>下面举例加以说明</a:t>
            </a:r>
            <a:r>
              <a:rPr lang="en-US" altLang="zh-CN" b="1" dirty="0">
                <a:ea typeface="华文中宋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700D8C-5AF5-423E-85CE-1E80C4A182CF}"/>
              </a:ext>
            </a:extLst>
          </p:cNvPr>
          <p:cNvSpPr/>
          <p:nvPr/>
        </p:nvSpPr>
        <p:spPr>
          <a:xfrm>
            <a:off x="450850" y="-17731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用配方法化二次型成标准形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 autoUpdateAnimBg="0"/>
      <p:bldP spid="42" grpId="0" build="p" autoUpdateAnimBg="0" advAuto="0"/>
      <p:bldP spid="43" grpId="0" build="p" autoUpdateAnimBg="0"/>
      <p:bldP spid="44" grpId="0" build="p" autoUpdateAnimBg="0" advAuto="0"/>
      <p:bldP spid="45" grpId="0" build="p" autoUpdateAnimBg="0" advAuto="0"/>
      <p:bldP spid="46" grpId="0" build="p" autoUpdateAnimBg="0"/>
      <p:bldP spid="47" grpId="0" build="p" autoUpdateAnimBg="0"/>
      <p:bldP spid="48" grpId="0" build="p" autoUpdateAnimBg="0"/>
      <p:bldP spid="49" grpId="0" build="p" autoUpdateAnimBg="0"/>
      <p:bldP spid="50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5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C7E394D2-155D-4FEB-AFDE-7BF47CE3D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46037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F033A190-C9A8-4FE5-AB6B-F69822BA4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6" y="12118"/>
            <a:ext cx="6297578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6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配方法化二次型为标准形的一般要求</a:t>
            </a: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54172CE2-BDAA-4412-830F-9FDFD186A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2209793"/>
            <a:ext cx="3889375" cy="519112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如果有</a:t>
            </a:r>
            <a:r>
              <a:rPr lang="zh-CN" altLang="en-US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x</a:t>
            </a:r>
            <a:r>
              <a:rPr lang="en-US" altLang="zh-CN" b="1" i="1" baseline="-25000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的平方项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: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FC17F9BF-16CC-4FF2-9FE0-43D831AE5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2930518"/>
            <a:ext cx="4176712" cy="519112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如果没有 </a:t>
            </a:r>
            <a:r>
              <a:rPr lang="en-US" altLang="zh-CN" b="1" i="1" dirty="0">
                <a:solidFill>
                  <a:srgbClr val="000000"/>
                </a:solidFill>
                <a:ea typeface="宋体" charset="-122"/>
                <a:cs typeface="Times New Roman" pitchFamily="18" charset="0"/>
              </a:rPr>
              <a:t>x</a:t>
            </a:r>
            <a:r>
              <a:rPr lang="en-US" altLang="zh-CN" b="1" i="1" baseline="-25000" dirty="0">
                <a:solidFill>
                  <a:srgbClr val="000000"/>
                </a:solidFill>
                <a:ea typeface="宋体" charset="-122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的平方项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:</a:t>
            </a:r>
            <a:endParaRPr lang="zh-CN" altLang="en-US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44" name="Rectangle 8">
            <a:extLst>
              <a:ext uri="{FF2B5EF4-FFF2-40B4-BE49-F238E27FC236}">
                <a16:creationId xmlns:a16="http://schemas.microsoft.com/office/drawing/2014/main" id="{E998EBC3-653B-48D8-B489-4B60672E5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3651243"/>
            <a:ext cx="1647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其中令 </a:t>
            </a:r>
          </a:p>
        </p:txBody>
      </p:sp>
      <p:sp>
        <p:nvSpPr>
          <p:cNvPr id="45" name="Rectangle 5">
            <a:extLst>
              <a:ext uri="{FF2B5EF4-FFF2-40B4-BE49-F238E27FC236}">
                <a16:creationId xmlns:a16="http://schemas.microsoft.com/office/drawing/2014/main" id="{810BF19F-36BD-4511-8D50-0B7DD5D43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7046" y="2228050"/>
            <a:ext cx="4446471" cy="519112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把含 </a:t>
            </a: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</a:rPr>
              <a:t>x</a:t>
            </a:r>
            <a:r>
              <a:rPr lang="en-US" altLang="zh-CN" b="1" i="1" baseline="-25000" dirty="0">
                <a:solidFill>
                  <a:srgbClr val="0000FF"/>
                </a:solidFill>
                <a:ea typeface="宋体"/>
                <a:cs typeface="Times New Roman" pitchFamily="18" charset="0"/>
              </a:rPr>
              <a:t>i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的所有项归并配方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</a:rPr>
              <a:t>;</a:t>
            </a:r>
          </a:p>
        </p:txBody>
      </p:sp>
      <p:grpSp>
        <p:nvGrpSpPr>
          <p:cNvPr id="46" name="组合 14">
            <a:extLst>
              <a:ext uri="{FF2B5EF4-FFF2-40B4-BE49-F238E27FC236}">
                <a16:creationId xmlns:a16="http://schemas.microsoft.com/office/drawing/2014/main" id="{46D90403-1955-46A9-BC23-5F9DFC31AC55}"/>
              </a:ext>
            </a:extLst>
          </p:cNvPr>
          <p:cNvGrpSpPr>
            <a:grpSpLocks/>
          </p:cNvGrpSpPr>
          <p:nvPr/>
        </p:nvGrpSpPr>
        <p:grpSpPr bwMode="auto">
          <a:xfrm>
            <a:off x="4501059" y="2930518"/>
            <a:ext cx="3446926" cy="519112"/>
            <a:chOff x="4068763" y="3429000"/>
            <a:chExt cx="3446926" cy="519113"/>
          </a:xfrm>
        </p:grpSpPr>
        <p:sp>
          <p:nvSpPr>
            <p:cNvPr id="47" name="Rectangle 6">
              <a:extLst>
                <a:ext uri="{FF2B5EF4-FFF2-40B4-BE49-F238E27FC236}">
                  <a16:creationId xmlns:a16="http://schemas.microsoft.com/office/drawing/2014/main" id="{65F14B3A-8263-4633-9AD4-942853103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3429000"/>
              <a:ext cx="3095625" cy="51911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itchFamily="2" charset="-122"/>
                  <a:ea typeface="华文中宋" pitchFamily="2" charset="-122"/>
                </a:rPr>
                <a:t>把</a:t>
              </a: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宋体"/>
                  <a:ea typeface="宋体"/>
                </a:rPr>
                <a:t> </a:t>
              </a:r>
              <a:r>
                <a:rPr kumimoji="0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/>
                  <a:cs typeface="Times New Roman" pitchFamily="18" charset="0"/>
                </a:rPr>
                <a:t>x</a:t>
              </a:r>
              <a:r>
                <a:rPr kumimoji="0" lang="en-US" altLang="zh-CN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/>
                  <a:cs typeface="Times New Roman" pitchFamily="18" charset="0"/>
                </a:rPr>
                <a:t>1</a:t>
              </a:r>
              <a:r>
                <a:rPr kumimoji="0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/>
                  <a:cs typeface="Times New Roman" pitchFamily="18" charset="0"/>
                </a:rPr>
                <a:t>x</a:t>
              </a:r>
              <a:r>
                <a:rPr kumimoji="0" lang="en-US" altLang="zh-CN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/>
                  <a:cs typeface="Times New Roman" pitchFamily="18" charset="0"/>
                </a:rPr>
                <a:t>i </a:t>
              </a: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itchFamily="2" charset="-122"/>
                  <a:ea typeface="华文中宋" pitchFamily="2" charset="-122"/>
                </a:rPr>
                <a:t>化为</a:t>
              </a:r>
            </a:p>
          </p:txBody>
        </p:sp>
        <p:graphicFrame>
          <p:nvGraphicFramePr>
            <p:cNvPr id="48" name="Object 15">
              <a:extLst>
                <a:ext uri="{FF2B5EF4-FFF2-40B4-BE49-F238E27FC236}">
                  <a16:creationId xmlns:a16="http://schemas.microsoft.com/office/drawing/2014/main" id="{8EDB193E-E66D-4012-B768-AC09A86C29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9900090"/>
                </p:ext>
              </p:extLst>
            </p:nvPr>
          </p:nvGraphicFramePr>
          <p:xfrm>
            <a:off x="6131389" y="3429000"/>
            <a:ext cx="13843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84200" imgH="482400" progId="Equation.DSMT4">
                    <p:embed/>
                  </p:oleObj>
                </mc:Choice>
                <mc:Fallback>
                  <p:oleObj name="Equation" r:id="rId3" imgW="1384200" imgH="482400" progId="Equation.DSMT4">
                    <p:embed/>
                    <p:pic>
                      <p:nvPicPr>
                        <p:cNvPr id="12" name="Object 15">
                          <a:extLst>
                            <a:ext uri="{FF2B5EF4-FFF2-40B4-BE49-F238E27FC236}">
                              <a16:creationId xmlns:a16="http://schemas.microsoft.com/office/drawing/2014/main" id="{719669F1-0657-403E-9A78-9D345B760A2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1389" y="3429000"/>
                          <a:ext cx="1384300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" name="组合 14">
            <a:extLst>
              <a:ext uri="{FF2B5EF4-FFF2-40B4-BE49-F238E27FC236}">
                <a16:creationId xmlns:a16="http://schemas.microsoft.com/office/drawing/2014/main" id="{CAB17207-1A97-435A-ABFB-8BC0A6DAD066}"/>
              </a:ext>
            </a:extLst>
          </p:cNvPr>
          <p:cNvGrpSpPr>
            <a:grpSpLocks/>
          </p:cNvGrpSpPr>
          <p:nvPr/>
        </p:nvGrpSpPr>
        <p:grpSpPr bwMode="auto">
          <a:xfrm>
            <a:off x="3780334" y="3722680"/>
            <a:ext cx="2209800" cy="1130300"/>
            <a:chOff x="3347864" y="4221163"/>
            <a:chExt cx="2209800" cy="1130597"/>
          </a:xfrm>
        </p:grpSpPr>
        <p:graphicFrame>
          <p:nvGraphicFramePr>
            <p:cNvPr id="51" name="Object 4">
              <a:extLst>
                <a:ext uri="{FF2B5EF4-FFF2-40B4-BE49-F238E27FC236}">
                  <a16:creationId xmlns:a16="http://schemas.microsoft.com/office/drawing/2014/main" id="{53EC3189-B8EF-4CE9-8E23-FD88BFCD70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19475" y="4221163"/>
            <a:ext cx="16891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688760" imgH="431640" progId="Equation.DSMT4">
                    <p:embed/>
                  </p:oleObj>
                </mc:Choice>
                <mc:Fallback>
                  <p:oleObj name="Equation" r:id="rId5" imgW="1688760" imgH="431640" progId="Equation.DSMT4">
                    <p:embed/>
                    <p:pic>
                      <p:nvPicPr>
                        <p:cNvPr id="9" name="Object 4">
                          <a:extLst>
                            <a:ext uri="{FF2B5EF4-FFF2-40B4-BE49-F238E27FC236}">
                              <a16:creationId xmlns:a16="http://schemas.microsoft.com/office/drawing/2014/main" id="{D2474FBC-E63F-4A11-898E-0D4CB0BFF5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475" y="4221163"/>
                          <a:ext cx="16891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Object 14">
              <a:extLst>
                <a:ext uri="{FF2B5EF4-FFF2-40B4-BE49-F238E27FC236}">
                  <a16:creationId xmlns:a16="http://schemas.microsoft.com/office/drawing/2014/main" id="{F4BB392B-9AFA-4CBD-929E-C58C67B199E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47864" y="4869160"/>
            <a:ext cx="22098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209680" imgH="482400" progId="Equation.DSMT4">
                    <p:embed/>
                  </p:oleObj>
                </mc:Choice>
                <mc:Fallback>
                  <p:oleObj name="Equation" r:id="rId7" imgW="2209680" imgH="482400" progId="Equation.DSMT4">
                    <p:embed/>
                    <p:pic>
                      <p:nvPicPr>
                        <p:cNvPr id="13" name="Object 14">
                          <a:extLst>
                            <a:ext uri="{FF2B5EF4-FFF2-40B4-BE49-F238E27FC236}">
                              <a16:creationId xmlns:a16="http://schemas.microsoft.com/office/drawing/2014/main" id="{C94EF3A7-9664-48E4-BD1C-3EF7FF1ED5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864" y="4869160"/>
                          <a:ext cx="2209800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Rectangle 4">
            <a:extLst>
              <a:ext uri="{FF2B5EF4-FFF2-40B4-BE49-F238E27FC236}">
                <a16:creationId xmlns:a16="http://schemas.microsoft.com/office/drawing/2014/main" id="{9CFCB80A-6026-478E-84E6-5CBE4E0F4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9994" y="1310468"/>
            <a:ext cx="5903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配方法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kern="0" dirty="0"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拉格朗日</a:t>
            </a:r>
            <a:r>
              <a:rPr lang="en-US" altLang="zh-CN" sz="2800" b="1" kern="0" dirty="0">
                <a:solidFill>
                  <a:srgbClr val="CC0000"/>
                </a:solidFill>
              </a:rPr>
              <a:t>(Lagrange)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5" grpId="0"/>
      <p:bldP spid="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26C61EEE-5F76-4D4C-B9B2-04E8A48CB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15" name="Rectangle 30">
            <a:extLst>
              <a:ext uri="{FF2B5EF4-FFF2-40B4-BE49-F238E27FC236}">
                <a16:creationId xmlns:a16="http://schemas.microsoft.com/office/drawing/2014/main" id="{5281E498-AAD0-47E6-AB4A-1A0EDC17D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7614"/>
            <a:ext cx="7991113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用配方法化二次型为标准形的方法</a:t>
            </a:r>
          </a:p>
        </p:txBody>
      </p:sp>
      <p:sp>
        <p:nvSpPr>
          <p:cNvPr id="37" name="Rectangle 2">
            <a:extLst>
              <a:ext uri="{FF2B5EF4-FFF2-40B4-BE49-F238E27FC236}">
                <a16:creationId xmlns:a16="http://schemas.microsoft.com/office/drawing/2014/main" id="{A46FC9B9-953A-46C6-B48B-7979E7C84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673" y="2826313"/>
            <a:ext cx="715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CC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解</a:t>
            </a: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C92A7428-7EA9-46CB-A35B-2B7E1218E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759018"/>
            <a:ext cx="4635550" cy="52228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C0000"/>
                </a:solidFill>
                <a:ea typeface="华文中宋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a typeface="宋体"/>
                <a:cs typeface="Times New Roman" panose="02020603050405020304" pitchFamily="18" charset="0"/>
              </a:rPr>
              <a:t>4.21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</a:rPr>
              <a:t>用配方法将二次型</a:t>
            </a: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937E53F3-FB4F-4F7B-820D-1DB0CA8FE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73" y="2105588"/>
            <a:ext cx="2475633" cy="52228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</a:rPr>
              <a:t>化为标准形</a:t>
            </a:r>
            <a:r>
              <a:rPr lang="en-US" altLang="zh-CN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40" name="Object 2">
            <a:extLst>
              <a:ext uri="{FF2B5EF4-FFF2-40B4-BE49-F238E27FC236}">
                <a16:creationId xmlns:a16="http://schemas.microsoft.com/office/drawing/2014/main" id="{2F9790D2-2DDE-47D7-9004-A416F2F696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610935"/>
              </p:ext>
            </p:extLst>
          </p:nvPr>
        </p:nvGraphicFramePr>
        <p:xfrm>
          <a:off x="2057824" y="1385889"/>
          <a:ext cx="54356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435280" imgH="482400" progId="Equation.DSMT4">
                  <p:embed/>
                </p:oleObj>
              </mc:Choice>
              <mc:Fallback>
                <p:oleObj name="Equation" r:id="rId3" imgW="5435280" imgH="482400" progId="Equation.DSMT4">
                  <p:embed/>
                  <p:pic>
                    <p:nvPicPr>
                      <p:cNvPr id="2050" name="Object 2">
                        <a:extLst>
                          <a:ext uri="{FF2B5EF4-FFF2-40B4-BE49-F238E27FC236}">
                            <a16:creationId xmlns:a16="http://schemas.microsoft.com/office/drawing/2014/main" id="{E1FF4C50-1A6E-4376-B917-5BE3C3D5D0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824" y="1385889"/>
                        <a:ext cx="5435600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3">
            <a:extLst>
              <a:ext uri="{FF2B5EF4-FFF2-40B4-BE49-F238E27FC236}">
                <a16:creationId xmlns:a16="http://schemas.microsoft.com/office/drawing/2014/main" id="{8351F9F0-41E2-4110-87D1-0BEF711BE5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109190"/>
              </p:ext>
            </p:extLst>
          </p:nvPr>
        </p:nvGraphicFramePr>
        <p:xfrm>
          <a:off x="1797474" y="4280803"/>
          <a:ext cx="5753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752800" imgH="787320" progId="Equation.DSMT4">
                  <p:embed/>
                </p:oleObj>
              </mc:Choice>
              <mc:Fallback>
                <p:oleObj name="Equation" r:id="rId5" imgW="5752800" imgH="787320" progId="Equation.DSMT4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1292DAC9-3832-4AE4-9861-47A3A69165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474" y="4280803"/>
                        <a:ext cx="57531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矩形 6">
            <a:extLst>
              <a:ext uri="{FF2B5EF4-FFF2-40B4-BE49-F238E27FC236}">
                <a16:creationId xmlns:a16="http://schemas.microsoft.com/office/drawing/2014/main" id="{E7567072-B3E3-4A9A-9E2E-0591D756B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621" y="2119531"/>
            <a:ext cx="5139581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并写出相应的可逆线性变换</a:t>
            </a:r>
            <a:r>
              <a:rPr lang="en-US" altLang="zh-CN" sz="2800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 </a:t>
            </a:r>
            <a:endParaRPr lang="zh-CN" altLang="en-US" sz="2800" dirty="0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1A09926-7D69-47E2-9E7E-5D61B642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73" y="5068203"/>
            <a:ext cx="16115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所以令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B542A30-8DD8-42FA-9451-E1BC3B78F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1049" y="2821551"/>
            <a:ext cx="7200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由于 </a:t>
            </a:r>
            <a:r>
              <a:rPr lang="en-US" altLang="zh-CN" sz="2800" b="1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f </a:t>
            </a:r>
            <a:r>
              <a:rPr lang="zh-CN" altLang="en-US" sz="2800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中含变量 </a:t>
            </a:r>
            <a:r>
              <a:rPr lang="en-US" altLang="zh-CN" sz="28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的平方项和交叉乘积项</a:t>
            </a:r>
            <a:r>
              <a:rPr lang="en-US" altLang="zh-CN" sz="2800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sz="2800" b="1" dirty="0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C89ADAC-0EC9-43A4-BB31-5832C97D8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73" y="3545451"/>
            <a:ext cx="53292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故把含变量 </a:t>
            </a:r>
            <a:r>
              <a:rPr lang="en-US" altLang="zh-CN" sz="28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的项归并起来 </a:t>
            </a:r>
            <a:r>
              <a:rPr lang="en-US" altLang="zh-CN" sz="2800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sz="2800" b="1" dirty="0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951AD6-70EF-4C28-93F4-C6E2718F4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1749" y="3545451"/>
            <a:ext cx="269121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对 </a:t>
            </a:r>
            <a:r>
              <a:rPr lang="en-US" altLang="zh-CN" sz="28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配方可得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3" grpId="0"/>
      <p:bldP spid="44" grpId="0"/>
      <p:bldP spid="45" grpId="0"/>
      <p:bldP spid="4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0">
            <a:extLst>
              <a:ext uri="{FF2B5EF4-FFF2-40B4-BE49-F238E27FC236}">
                <a16:creationId xmlns:a16="http://schemas.microsoft.com/office/drawing/2014/main" id="{5281E498-AAD0-47E6-AB4A-1A0EDC17D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166" y="19686"/>
            <a:ext cx="7912876" cy="4932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用配方法化二次型为标准形的方法</a:t>
            </a:r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B68ECC15-83A3-48E8-962E-62CA3438C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2595" y="1525902"/>
            <a:ext cx="6588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 </a:t>
            </a:r>
          </a:p>
        </p:txBody>
      </p:sp>
      <p:graphicFrame>
        <p:nvGraphicFramePr>
          <p:cNvPr id="32" name="Object 5">
            <a:extLst>
              <a:ext uri="{FF2B5EF4-FFF2-40B4-BE49-F238E27FC236}">
                <a16:creationId xmlns:a16="http://schemas.microsoft.com/office/drawing/2014/main" id="{78224C98-2E63-4653-AF49-BC14CE8032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347255"/>
              </p:ext>
            </p:extLst>
          </p:nvPr>
        </p:nvGraphicFramePr>
        <p:xfrm>
          <a:off x="1425575" y="989013"/>
          <a:ext cx="27178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640" imgH="1701720" progId="Equation.DSMT4">
                  <p:embed/>
                </p:oleObj>
              </mc:Choice>
              <mc:Fallback>
                <p:oleObj name="Equation" r:id="rId2" imgW="2717640" imgH="170172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A6C1CE7E-1AD0-40BE-BD10-F64E11F510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989013"/>
                        <a:ext cx="2717800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6">
            <a:extLst>
              <a:ext uri="{FF2B5EF4-FFF2-40B4-BE49-F238E27FC236}">
                <a16:creationId xmlns:a16="http://schemas.microsoft.com/office/drawing/2014/main" id="{E7DE6383-3224-4B51-82D5-82BBF6E465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8694711"/>
              </p:ext>
            </p:extLst>
          </p:nvPr>
        </p:nvGraphicFramePr>
        <p:xfrm>
          <a:off x="5013325" y="979488"/>
          <a:ext cx="25273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27200" imgH="1701720" progId="Equation.DSMT4">
                  <p:embed/>
                </p:oleObj>
              </mc:Choice>
              <mc:Fallback>
                <p:oleObj name="Equation" r:id="rId4" imgW="2527200" imgH="170172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C61B615D-DA31-4922-9000-F5B0FD6862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3325" y="979488"/>
                        <a:ext cx="2527300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14">
            <a:extLst>
              <a:ext uri="{FF2B5EF4-FFF2-40B4-BE49-F238E27FC236}">
                <a16:creationId xmlns:a16="http://schemas.microsoft.com/office/drawing/2014/main" id="{B4DE81BF-D800-4DE3-A597-B63AA0261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3919824"/>
            <a:ext cx="64679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所用可逆线性变换 </a:t>
            </a:r>
            <a:r>
              <a:rPr lang="en-US" altLang="zh-CN" sz="2800" b="1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Cy </a:t>
            </a:r>
            <a:r>
              <a:rPr lang="zh-CN" altLang="en-US" sz="2800" b="1" dirty="0">
                <a:solidFill>
                  <a:srgbClr val="000000"/>
                </a:solidFill>
                <a:ea typeface="华文中宋" panose="02010600040101010101" pitchFamily="2" charset="-122"/>
              </a:rPr>
              <a:t>的矩阵 </a:t>
            </a:r>
            <a:r>
              <a:rPr lang="en-US" altLang="zh-CN" sz="2800" b="1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C </a:t>
            </a:r>
            <a:r>
              <a:rPr lang="zh-CN" altLang="en-US" sz="2800" b="1" dirty="0">
                <a:solidFill>
                  <a:srgbClr val="000000"/>
                </a:solidFill>
                <a:ea typeface="华文中宋" panose="02010600040101010101" pitchFamily="2" charset="-122"/>
              </a:rPr>
              <a:t>为</a:t>
            </a:r>
            <a:r>
              <a:rPr lang="en-US" altLang="zh-CN" sz="2800" b="1" i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28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DDE45CDF-C28B-4940-8C5C-595F2EC0A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3202740"/>
            <a:ext cx="4752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 </a:t>
            </a:r>
            <a:r>
              <a:rPr lang="en-US" altLang="zh-CN" sz="2800" b="1" i="1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的标准形为</a:t>
            </a:r>
            <a:r>
              <a:rPr lang="en-US" altLang="zh-CN" sz="2800" b="1">
                <a:solidFill>
                  <a:srgbClr val="000000"/>
                </a:solidFill>
                <a:ea typeface="华文中宋" panose="02010600040101010101" pitchFamily="2" charset="-122"/>
              </a:rPr>
              <a:t>:</a:t>
            </a:r>
            <a:endParaRPr lang="zh-CN" altLang="en-US" sz="2800" b="1">
              <a:solidFill>
                <a:srgbClr val="000000"/>
              </a:solidFill>
              <a:ea typeface="华文中宋" panose="02010600040101010101" pitchFamily="2" charset="-122"/>
            </a:endParaRPr>
          </a:p>
        </p:txBody>
      </p:sp>
      <p:graphicFrame>
        <p:nvGraphicFramePr>
          <p:cNvPr id="47" name="Object 7">
            <a:extLst>
              <a:ext uri="{FF2B5EF4-FFF2-40B4-BE49-F238E27FC236}">
                <a16:creationId xmlns:a16="http://schemas.microsoft.com/office/drawing/2014/main" id="{C46D2FC3-2CF0-482B-A5A9-EC7E217E4B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6787089"/>
              </p:ext>
            </p:extLst>
          </p:nvPr>
        </p:nvGraphicFramePr>
        <p:xfrm>
          <a:off x="3838575" y="3280570"/>
          <a:ext cx="2032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1840" imgH="419040" progId="Equation.DSMT4">
                  <p:embed/>
                </p:oleObj>
              </mc:Choice>
              <mc:Fallback>
                <p:oleObj name="Equation" r:id="rId6" imgW="2031840" imgH="4190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76E67415-4534-4670-AAB0-49A502441B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575" y="3280570"/>
                        <a:ext cx="2032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1">
            <a:extLst>
              <a:ext uri="{FF2B5EF4-FFF2-40B4-BE49-F238E27FC236}">
                <a16:creationId xmlns:a16="http://schemas.microsoft.com/office/drawing/2014/main" id="{9544E19B-7E83-4C90-B47E-1424843207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014089"/>
              </p:ext>
            </p:extLst>
          </p:nvPr>
        </p:nvGraphicFramePr>
        <p:xfrm>
          <a:off x="5930900" y="3068364"/>
          <a:ext cx="2400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00120" imgH="787320" progId="Equation.DSMT4">
                  <p:embed/>
                </p:oleObj>
              </mc:Choice>
              <mc:Fallback>
                <p:oleObj name="Equation" r:id="rId8" imgW="2400120" imgH="787320" progId="Equation.DSMT4">
                  <p:embed/>
                  <p:pic>
                    <p:nvPicPr>
                      <p:cNvPr id="10" name="Object 11">
                        <a:extLst>
                          <a:ext uri="{FF2B5EF4-FFF2-40B4-BE49-F238E27FC236}">
                            <a16:creationId xmlns:a16="http://schemas.microsoft.com/office/drawing/2014/main" id="{9DDF58D6-69FE-4F5E-8FB8-3C7879AC8F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0900" y="3068364"/>
                        <a:ext cx="24003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3">
            <a:extLst>
              <a:ext uri="{FF2B5EF4-FFF2-40B4-BE49-F238E27FC236}">
                <a16:creationId xmlns:a16="http://schemas.microsoft.com/office/drawing/2014/main" id="{593CD258-84F3-418F-B128-F41FDB8D7F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496708"/>
              </p:ext>
            </p:extLst>
          </p:nvPr>
        </p:nvGraphicFramePr>
        <p:xfrm>
          <a:off x="2811648" y="4558794"/>
          <a:ext cx="24511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50880" imgH="1676160" progId="Equation.DSMT4">
                  <p:embed/>
                </p:oleObj>
              </mc:Choice>
              <mc:Fallback>
                <p:oleObj name="Equation" r:id="rId10" imgW="2450880" imgH="1676160" progId="Equation.DSMT4">
                  <p:embed/>
                  <p:pic>
                    <p:nvPicPr>
                      <p:cNvPr id="12" name="Object 13">
                        <a:extLst>
                          <a:ext uri="{FF2B5EF4-FFF2-40B4-BE49-F238E27FC236}">
                            <a16:creationId xmlns:a16="http://schemas.microsoft.com/office/drawing/2014/main" id="{D827BD01-F137-4536-821D-70E5AEAA88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1648" y="4558794"/>
                        <a:ext cx="24511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13">
            <a:extLst>
              <a:ext uri="{FF2B5EF4-FFF2-40B4-BE49-F238E27FC236}">
                <a16:creationId xmlns:a16="http://schemas.microsoft.com/office/drawing/2014/main" id="{7935308E-E8D5-4594-B400-46D2DC678F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191867"/>
              </p:ext>
            </p:extLst>
          </p:nvPr>
        </p:nvGraphicFramePr>
        <p:xfrm>
          <a:off x="5448486" y="5190619"/>
          <a:ext cx="1485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85720" imgH="355320" progId="Equation.DSMT4">
                  <p:embed/>
                </p:oleObj>
              </mc:Choice>
              <mc:Fallback>
                <p:oleObj name="Equation" r:id="rId12" imgW="1485720" imgH="355320" progId="Equation.DSMT4">
                  <p:embed/>
                  <p:pic>
                    <p:nvPicPr>
                      <p:cNvPr id="51" name="Object 13">
                        <a:extLst>
                          <a:ext uri="{FF2B5EF4-FFF2-40B4-BE49-F238E27FC236}">
                            <a16:creationId xmlns:a16="http://schemas.microsoft.com/office/drawing/2014/main" id="{593CD258-84F3-418F-B128-F41FDB8D7F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486" y="5190619"/>
                        <a:ext cx="14859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189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1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2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5" grpId="0"/>
      <p:bldP spid="3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F3B582CE-42C2-4073-A383-F19797099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96398106-21B3-4EC4-8E55-E10611BAF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05" y="-17453"/>
            <a:ext cx="8236496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用配方法化二次型为标准形的方法</a:t>
            </a:r>
          </a:p>
        </p:txBody>
      </p:sp>
      <p:sp>
        <p:nvSpPr>
          <p:cNvPr id="60" name="Text Box 10">
            <a:extLst>
              <a:ext uri="{FF2B5EF4-FFF2-40B4-BE49-F238E27FC236}">
                <a16:creationId xmlns:a16="http://schemas.microsoft.com/office/drawing/2014/main" id="{BAE69B37-3D21-40A9-8EF7-4CDFA2BFD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809" y="644782"/>
            <a:ext cx="47529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 </a:t>
            </a:r>
            <a:r>
              <a:rPr lang="en-US" altLang="zh-CN" sz="2800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4.22</a:t>
            </a:r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用配方法化二次型</a:t>
            </a:r>
          </a:p>
        </p:txBody>
      </p:sp>
      <p:sp>
        <p:nvSpPr>
          <p:cNvPr id="61" name="Text Box 12">
            <a:extLst>
              <a:ext uri="{FF2B5EF4-FFF2-40B4-BE49-F238E27FC236}">
                <a16:creationId xmlns:a16="http://schemas.microsoft.com/office/drawing/2014/main" id="{89B937C2-4E3A-4276-940F-1F5D0C95A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803" y="1914403"/>
            <a:ext cx="64087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成标准形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并求所用的变换矩阵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.</a:t>
            </a:r>
          </a:p>
        </p:txBody>
      </p:sp>
      <p:graphicFrame>
        <p:nvGraphicFramePr>
          <p:cNvPr id="62" name="Object 7">
            <a:extLst>
              <a:ext uri="{FF2B5EF4-FFF2-40B4-BE49-F238E27FC236}">
                <a16:creationId xmlns:a16="http://schemas.microsoft.com/office/drawing/2014/main" id="{10BFD454-164B-4327-961B-D2708C50B1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746933"/>
              </p:ext>
            </p:extLst>
          </p:nvPr>
        </p:nvGraphicFramePr>
        <p:xfrm>
          <a:off x="2076839" y="1313060"/>
          <a:ext cx="4978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978080" imgH="419040" progId="Equation.DSMT4">
                  <p:embed/>
                </p:oleObj>
              </mc:Choice>
              <mc:Fallback>
                <p:oleObj name="Equation" r:id="rId3" imgW="4978080" imgH="419040" progId="Equation.DSMT4">
                  <p:embed/>
                  <p:pic>
                    <p:nvPicPr>
                      <p:cNvPr id="12" name="Object 7">
                        <a:extLst>
                          <a:ext uri="{FF2B5EF4-FFF2-40B4-BE49-F238E27FC236}">
                            <a16:creationId xmlns:a16="http://schemas.microsoft.com/office/drawing/2014/main" id="{AC7F41D4-CA46-4348-8D61-D1C51EA642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839" y="1313060"/>
                        <a:ext cx="4978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Rectangle 4">
            <a:extLst>
              <a:ext uri="{FF2B5EF4-FFF2-40B4-BE49-F238E27FC236}">
                <a16:creationId xmlns:a16="http://schemas.microsoft.com/office/drawing/2014/main" id="{907639FF-95AE-4682-8E02-5E0A670C7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423" y="2499168"/>
            <a:ext cx="647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sp>
        <p:nvSpPr>
          <p:cNvPr id="80" name="Rectangle 32">
            <a:extLst>
              <a:ext uri="{FF2B5EF4-FFF2-40B4-BE49-F238E27FC236}">
                <a16:creationId xmlns:a16="http://schemas.microsoft.com/office/drawing/2014/main" id="{40066249-A820-4942-AD23-8A50B8701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4330" y="3211427"/>
            <a:ext cx="136815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故令</a:t>
            </a:r>
            <a:endParaRPr lang="en-US" altLang="zh-CN" sz="2800" b="1" dirty="0">
              <a:ea typeface="+mn-ea"/>
              <a:cs typeface="Times New Roman" pitchFamily="18" charset="0"/>
            </a:endParaRPr>
          </a:p>
        </p:txBody>
      </p:sp>
      <p:sp>
        <p:nvSpPr>
          <p:cNvPr id="82" name="Text Box 13">
            <a:extLst>
              <a:ext uri="{FF2B5EF4-FFF2-40B4-BE49-F238E27FC236}">
                <a16:creationId xmlns:a16="http://schemas.microsoft.com/office/drawing/2014/main" id="{44CB7656-054D-494B-9E26-00EAB4F5C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6839" y="2468749"/>
            <a:ext cx="58324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latin typeface="华文中宋" pitchFamily="2" charset="-122"/>
                <a:ea typeface="华文中宋" pitchFamily="2" charset="-122"/>
              </a:rPr>
              <a:t>由于二次型 </a:t>
            </a:r>
            <a:r>
              <a:rPr lang="en-US" altLang="zh-CN" sz="2800" b="1" i="1" dirty="0">
                <a:ea typeface="华文中宋" pitchFamily="2" charset="-122"/>
                <a:cs typeface="Times New Roman" panose="02020603050405020304" pitchFamily="18" charset="0"/>
              </a:rPr>
              <a:t>f 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中中不含平方项</a:t>
            </a:r>
            <a:r>
              <a:rPr lang="en-US" altLang="zh-CN" sz="2800" b="1" dirty="0">
                <a:ea typeface="+mn-ea"/>
                <a:cs typeface="Times New Roman" pitchFamily="18" charset="0"/>
              </a:rPr>
              <a:t>,</a:t>
            </a:r>
            <a:r>
              <a:rPr lang="en-US" altLang="zh-CN" sz="2800" b="1" dirty="0">
                <a:latin typeface="+mn-ea"/>
                <a:ea typeface="+mn-ea"/>
              </a:rPr>
              <a:t> 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83" name="Text Box 13">
            <a:extLst>
              <a:ext uri="{FF2B5EF4-FFF2-40B4-BE49-F238E27FC236}">
                <a16:creationId xmlns:a16="http://schemas.microsoft.com/office/drawing/2014/main" id="{254A7CA8-B8F0-4B03-ABC8-D697D9B1D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201" y="2465574"/>
            <a:ext cx="147772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而含有</a:t>
            </a:r>
          </a:p>
        </p:txBody>
      </p:sp>
      <p:sp>
        <p:nvSpPr>
          <p:cNvPr id="84" name="Rectangle 33">
            <a:extLst>
              <a:ext uri="{FF2B5EF4-FFF2-40B4-BE49-F238E27FC236}">
                <a16:creationId xmlns:a16="http://schemas.microsoft.com/office/drawing/2014/main" id="{ED0AC6D2-EC33-432C-BD48-2C0089CC2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9317" y="3215418"/>
            <a:ext cx="218304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i="1" dirty="0">
                <a:ea typeface="+mn-ea"/>
                <a:cs typeface="Times New Roman" pitchFamily="18" charset="0"/>
              </a:rPr>
              <a:t>x</a:t>
            </a:r>
            <a:r>
              <a:rPr lang="en-US" altLang="zh-CN" sz="2800" b="1" baseline="-25000" dirty="0">
                <a:ea typeface="+mn-ea"/>
                <a:cs typeface="Times New Roman" pitchFamily="18" charset="0"/>
              </a:rPr>
              <a:t>1</a:t>
            </a:r>
            <a:r>
              <a:rPr lang="en-US" altLang="zh-CN" sz="2800" b="1" i="1" dirty="0">
                <a:ea typeface="+mn-ea"/>
                <a:cs typeface="Times New Roman" pitchFamily="18" charset="0"/>
              </a:rPr>
              <a:t>x</a:t>
            </a:r>
            <a:r>
              <a:rPr lang="en-US" altLang="zh-CN" sz="2800" b="1" baseline="-25000" dirty="0">
                <a:ea typeface="+mn-ea"/>
                <a:cs typeface="Times New Roman" pitchFamily="18" charset="0"/>
              </a:rPr>
              <a:t>2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乘积项</a:t>
            </a:r>
            <a:r>
              <a:rPr lang="en-US" altLang="zh-CN" b="1" dirty="0">
                <a:latin typeface="华文中宋" pitchFamily="2" charset="-122"/>
                <a:ea typeface="华文中宋" pitchFamily="2" charset="-122"/>
              </a:rPr>
              <a:t>,</a:t>
            </a:r>
            <a:endParaRPr lang="zh-CN" altLang="en-US" b="1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89" name="Text Box 12">
            <a:extLst>
              <a:ext uri="{FF2B5EF4-FFF2-40B4-BE49-F238E27FC236}">
                <a16:creationId xmlns:a16="http://schemas.microsoft.com/office/drawing/2014/main" id="{9E8F9C10-7754-474A-92F2-A6E4DE345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809" y="5204621"/>
            <a:ext cx="426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则原二次型变为</a:t>
            </a:r>
          </a:p>
        </p:txBody>
      </p:sp>
      <p:graphicFrame>
        <p:nvGraphicFramePr>
          <p:cNvPr id="90" name="Object 7">
            <a:extLst>
              <a:ext uri="{FF2B5EF4-FFF2-40B4-BE49-F238E27FC236}">
                <a16:creationId xmlns:a16="http://schemas.microsoft.com/office/drawing/2014/main" id="{64E3446C-F289-444F-9C07-BA9B18A894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99398"/>
              </p:ext>
            </p:extLst>
          </p:nvPr>
        </p:nvGraphicFramePr>
        <p:xfrm>
          <a:off x="3698423" y="3819880"/>
          <a:ext cx="40005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00320" imgH="1295280" progId="Equation.DSMT4">
                  <p:embed/>
                </p:oleObj>
              </mc:Choice>
              <mc:Fallback>
                <p:oleObj name="Equation" r:id="rId5" imgW="4000320" imgH="1295280" progId="Equation.DSMT4">
                  <p:embed/>
                  <p:pic>
                    <p:nvPicPr>
                      <p:cNvPr id="5" name="Object 7">
                        <a:extLst>
                          <a:ext uri="{FF2B5EF4-FFF2-40B4-BE49-F238E27FC236}">
                            <a16:creationId xmlns:a16="http://schemas.microsoft.com/office/drawing/2014/main" id="{ED208BCB-7047-46E7-845D-7E079DED46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423" y="3819880"/>
                        <a:ext cx="40005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8">
            <a:extLst>
              <a:ext uri="{FF2B5EF4-FFF2-40B4-BE49-F238E27FC236}">
                <a16:creationId xmlns:a16="http://schemas.microsoft.com/office/drawing/2014/main" id="{D62243B4-69FA-4A0D-B79B-18FE2C2898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899694"/>
              </p:ext>
            </p:extLst>
          </p:nvPr>
        </p:nvGraphicFramePr>
        <p:xfrm>
          <a:off x="573902" y="5938311"/>
          <a:ext cx="8051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051760" imgH="419040" progId="Equation.DSMT4">
                  <p:embed/>
                </p:oleObj>
              </mc:Choice>
              <mc:Fallback>
                <p:oleObj name="Equation" r:id="rId7" imgW="8051760" imgH="419040" progId="Equation.DSMT4">
                  <p:embed/>
                  <p:pic>
                    <p:nvPicPr>
                      <p:cNvPr id="6" name="Object 8">
                        <a:extLst>
                          <a:ext uri="{FF2B5EF4-FFF2-40B4-BE49-F238E27FC236}">
                            <a16:creationId xmlns:a16="http://schemas.microsoft.com/office/drawing/2014/main" id="{7A807267-F2F5-44A4-968D-D49480C32B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902" y="5938311"/>
                        <a:ext cx="8051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80" grpId="0" build="p" autoUpdateAnimBg="0" advAuto="0"/>
      <p:bldP spid="82" grpId="0" build="p" autoUpdateAnimBg="0"/>
      <p:bldP spid="83" grpId="0" build="p" autoUpdateAnimBg="0"/>
      <p:bldP spid="84" grpId="0" build="p" autoUpdateAnimBg="0" advAuto="0"/>
      <p:bldP spid="89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F3B582CE-42C2-4073-A383-F19797099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96398106-21B3-4EC4-8E55-E10611BAF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101" y="0"/>
            <a:ext cx="7947755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用配方法化二次型为标准形的方法</a:t>
            </a:r>
          </a:p>
        </p:txBody>
      </p:sp>
      <p:graphicFrame>
        <p:nvGraphicFramePr>
          <p:cNvPr id="40" name="Object 8">
            <a:extLst>
              <a:ext uri="{FF2B5EF4-FFF2-40B4-BE49-F238E27FC236}">
                <a16:creationId xmlns:a16="http://schemas.microsoft.com/office/drawing/2014/main" id="{A82D814A-7757-4293-A6DA-BD9286CED3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124722"/>
              </p:ext>
            </p:extLst>
          </p:nvPr>
        </p:nvGraphicFramePr>
        <p:xfrm>
          <a:off x="2047808" y="994734"/>
          <a:ext cx="4051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51080" imgH="482400" progId="Equation.DSMT4">
                  <p:embed/>
                </p:oleObj>
              </mc:Choice>
              <mc:Fallback>
                <p:oleObj name="Equation" r:id="rId3" imgW="4051080" imgH="482400" progId="Equation.DSMT4">
                  <p:embed/>
                  <p:pic>
                    <p:nvPicPr>
                      <p:cNvPr id="91" name="Object 8">
                        <a:extLst>
                          <a:ext uri="{FF2B5EF4-FFF2-40B4-BE49-F238E27FC236}">
                            <a16:creationId xmlns:a16="http://schemas.microsoft.com/office/drawing/2014/main" id="{0ED8FD8A-7EA8-4D52-A289-74B64A92D5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08" y="994734"/>
                        <a:ext cx="40513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14">
            <a:extLst>
              <a:ext uri="{FF2B5EF4-FFF2-40B4-BE49-F238E27FC236}">
                <a16:creationId xmlns:a16="http://schemas.microsoft.com/office/drawing/2014/main" id="{BCAA8F1D-BEA1-466B-8379-EE8B0EA1F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822" y="1739350"/>
            <a:ext cx="65532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再用例</a:t>
            </a:r>
            <a:r>
              <a:rPr lang="en-US" altLang="zh-CN" b="1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的方法对此二次型进行配方</a:t>
            </a:r>
            <a:r>
              <a:rPr lang="en-US" altLang="zh-CN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得 </a:t>
            </a:r>
            <a:endParaRPr lang="en-US" altLang="zh-CN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graphicFrame>
        <p:nvGraphicFramePr>
          <p:cNvPr id="42" name="Object 7">
            <a:extLst>
              <a:ext uri="{FF2B5EF4-FFF2-40B4-BE49-F238E27FC236}">
                <a16:creationId xmlns:a16="http://schemas.microsoft.com/office/drawing/2014/main" id="{492D1D0C-10CC-4453-ABE3-576BD6466C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170441"/>
              </p:ext>
            </p:extLst>
          </p:nvPr>
        </p:nvGraphicFramePr>
        <p:xfrm>
          <a:off x="1187624" y="2605754"/>
          <a:ext cx="7124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124400" imgH="482400" progId="Equation.DSMT4">
                  <p:embed/>
                </p:oleObj>
              </mc:Choice>
              <mc:Fallback>
                <p:oleObj name="Equation" r:id="rId5" imgW="7124400" imgH="482400" progId="Equation.DSMT4">
                  <p:embed/>
                  <p:pic>
                    <p:nvPicPr>
                      <p:cNvPr id="21" name="Object 7">
                        <a:extLst>
                          <a:ext uri="{FF2B5EF4-FFF2-40B4-BE49-F238E27FC236}">
                            <a16:creationId xmlns:a16="http://schemas.microsoft.com/office/drawing/2014/main" id="{D2A8FFA5-D6C2-46A6-8879-F745D93B0E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2605754"/>
                        <a:ext cx="71247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1">
            <a:extLst>
              <a:ext uri="{FF2B5EF4-FFF2-40B4-BE49-F238E27FC236}">
                <a16:creationId xmlns:a16="http://schemas.microsoft.com/office/drawing/2014/main" id="{AAC8726A-CB47-4BB6-B026-201A12EAAA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5558369"/>
              </p:ext>
            </p:extLst>
          </p:nvPr>
        </p:nvGraphicFramePr>
        <p:xfrm>
          <a:off x="1602805" y="3345704"/>
          <a:ext cx="4470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70120" imgH="482400" progId="Equation.DSMT4">
                  <p:embed/>
                </p:oleObj>
              </mc:Choice>
              <mc:Fallback>
                <p:oleObj name="Equation" r:id="rId7" imgW="4470120" imgH="482400" progId="Equation.DSMT4">
                  <p:embed/>
                  <p:pic>
                    <p:nvPicPr>
                      <p:cNvPr id="23" name="Object 11">
                        <a:extLst>
                          <a:ext uri="{FF2B5EF4-FFF2-40B4-BE49-F238E27FC236}">
                            <a16:creationId xmlns:a16="http://schemas.microsoft.com/office/drawing/2014/main" id="{EDBF3F99-8BCB-410D-8805-6D5C6D2628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2805" y="3345704"/>
                        <a:ext cx="4470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12">
            <a:extLst>
              <a:ext uri="{FF2B5EF4-FFF2-40B4-BE49-F238E27FC236}">
                <a16:creationId xmlns:a16="http://schemas.microsoft.com/office/drawing/2014/main" id="{2B007099-62FC-4979-98F1-1AE656CC1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822" y="4596363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令</a:t>
            </a:r>
          </a:p>
        </p:txBody>
      </p:sp>
      <p:sp>
        <p:nvSpPr>
          <p:cNvPr id="45" name="Text Box 14">
            <a:extLst>
              <a:ext uri="{FF2B5EF4-FFF2-40B4-BE49-F238E27FC236}">
                <a16:creationId xmlns:a16="http://schemas.microsoft.com/office/drawing/2014/main" id="{5B99497C-B754-4A17-9557-36B9F6A51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458" y="4627694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graphicFrame>
        <p:nvGraphicFramePr>
          <p:cNvPr id="46" name="Object 12">
            <a:extLst>
              <a:ext uri="{FF2B5EF4-FFF2-40B4-BE49-F238E27FC236}">
                <a16:creationId xmlns:a16="http://schemas.microsoft.com/office/drawing/2014/main" id="{0F61E2B2-6650-4968-A54A-9E4F0A47CE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775591"/>
              </p:ext>
            </p:extLst>
          </p:nvPr>
        </p:nvGraphicFramePr>
        <p:xfrm>
          <a:off x="1853290" y="4221088"/>
          <a:ext cx="20828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82600" imgH="1307880" progId="Equation.DSMT4">
                  <p:embed/>
                </p:oleObj>
              </mc:Choice>
              <mc:Fallback>
                <p:oleObj name="Equation" r:id="rId9" imgW="2082600" imgH="1307880" progId="Equation.DSMT4">
                  <p:embed/>
                  <p:pic>
                    <p:nvPicPr>
                      <p:cNvPr id="35" name="Object 12">
                        <a:extLst>
                          <a:ext uri="{FF2B5EF4-FFF2-40B4-BE49-F238E27FC236}">
                            <a16:creationId xmlns:a16="http://schemas.microsoft.com/office/drawing/2014/main" id="{4316B4E8-1F70-43C2-BFD9-4455F4E2E4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3290" y="4221088"/>
                        <a:ext cx="2082800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14">
            <a:extLst>
              <a:ext uri="{FF2B5EF4-FFF2-40B4-BE49-F238E27FC236}">
                <a16:creationId xmlns:a16="http://schemas.microsoft.com/office/drawing/2014/main" id="{FBBA1B6C-7AC2-4D9A-8AA7-343116F203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719100"/>
              </p:ext>
            </p:extLst>
          </p:nvPr>
        </p:nvGraphicFramePr>
        <p:xfrm>
          <a:off x="4650199" y="4299717"/>
          <a:ext cx="29591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58840" imgH="1307880" progId="Equation.DSMT4">
                  <p:embed/>
                </p:oleObj>
              </mc:Choice>
              <mc:Fallback>
                <p:oleObj name="Equation" r:id="rId11" imgW="2958840" imgH="1307880" progId="Equation.DSMT4">
                  <p:embed/>
                  <p:pic>
                    <p:nvPicPr>
                      <p:cNvPr id="37" name="Object 14">
                        <a:extLst>
                          <a:ext uri="{FF2B5EF4-FFF2-40B4-BE49-F238E27FC236}">
                            <a16:creationId xmlns:a16="http://schemas.microsoft.com/office/drawing/2014/main" id="{7B5F7489-7AA7-4E6B-9463-D71E818654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0199" y="4299717"/>
                        <a:ext cx="2959100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711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 autoUpdateAnimBg="0"/>
      <p:bldP spid="44" grpId="0" build="p" autoUpdateAnimBg="0"/>
      <p:bldP spid="45" grpId="0" build="p" autoUpdateAnimBg="0" advAuto="100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F3B582CE-42C2-4073-A383-F19797099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96398106-21B3-4EC4-8E55-E10611BAF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743" y="15967"/>
            <a:ext cx="8019413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用配方法化二次型为标准形的方法</a:t>
            </a:r>
          </a:p>
        </p:txBody>
      </p:sp>
      <p:sp>
        <p:nvSpPr>
          <p:cNvPr id="43" name="Text Box 16">
            <a:extLst>
              <a:ext uri="{FF2B5EF4-FFF2-40B4-BE49-F238E27FC236}">
                <a16:creationId xmlns:a16="http://schemas.microsoft.com/office/drawing/2014/main" id="{58244F37-8FBE-4A46-B587-A5C6DCB63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782212"/>
            <a:ext cx="5256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则二次型化成标准形</a:t>
            </a:r>
          </a:p>
        </p:txBody>
      </p:sp>
      <p:graphicFrame>
        <p:nvGraphicFramePr>
          <p:cNvPr id="45" name="Object 15">
            <a:extLst>
              <a:ext uri="{FF2B5EF4-FFF2-40B4-BE49-F238E27FC236}">
                <a16:creationId xmlns:a16="http://schemas.microsoft.com/office/drawing/2014/main" id="{AD91033D-C8CA-4E7F-A1BD-5ED0ECE611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66182"/>
              </p:ext>
            </p:extLst>
          </p:nvPr>
        </p:nvGraphicFramePr>
        <p:xfrm>
          <a:off x="2556173" y="1502937"/>
          <a:ext cx="2082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82600" imgH="419040" progId="Equation.DSMT4">
                  <p:embed/>
                </p:oleObj>
              </mc:Choice>
              <mc:Fallback>
                <p:oleObj name="Equation" r:id="rId3" imgW="2082600" imgH="419040" progId="Equation.DSMT4">
                  <p:embed/>
                  <p:pic>
                    <p:nvPicPr>
                      <p:cNvPr id="38" name="Object 15">
                        <a:extLst>
                          <a:ext uri="{FF2B5EF4-FFF2-40B4-BE49-F238E27FC236}">
                            <a16:creationId xmlns:a16="http://schemas.microsoft.com/office/drawing/2014/main" id="{394C176E-8E00-42EB-8058-04D27AD365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6173" y="1502937"/>
                        <a:ext cx="2082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8">
            <a:extLst>
              <a:ext uri="{FF2B5EF4-FFF2-40B4-BE49-F238E27FC236}">
                <a16:creationId xmlns:a16="http://schemas.microsoft.com/office/drawing/2014/main" id="{BF049E04-C630-40FB-8D69-BB4B3C66C5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092178"/>
              </p:ext>
            </p:extLst>
          </p:nvPr>
        </p:nvGraphicFramePr>
        <p:xfrm>
          <a:off x="4716016" y="1450549"/>
          <a:ext cx="1892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92160" imgH="482400" progId="Equation.DSMT4">
                  <p:embed/>
                </p:oleObj>
              </mc:Choice>
              <mc:Fallback>
                <p:oleObj name="Equation" r:id="rId5" imgW="1892160" imgH="482400" progId="Equation.DSMT4">
                  <p:embed/>
                  <p:pic>
                    <p:nvPicPr>
                      <p:cNvPr id="39" name="Object 8">
                        <a:extLst>
                          <a:ext uri="{FF2B5EF4-FFF2-40B4-BE49-F238E27FC236}">
                            <a16:creationId xmlns:a16="http://schemas.microsoft.com/office/drawing/2014/main" id="{8F04EA28-C024-4D83-A11A-86FDEB00D6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1450549"/>
                        <a:ext cx="18923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Rectangle 14">
            <a:extLst>
              <a:ext uri="{FF2B5EF4-FFF2-40B4-BE49-F238E27FC236}">
                <a16:creationId xmlns:a16="http://schemas.microsoft.com/office/drawing/2014/main" id="{A0CB14F4-D04E-4F31-9A1C-876D23588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2019" y="2082374"/>
            <a:ext cx="64679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所用可逆线性变换 </a:t>
            </a:r>
            <a:r>
              <a:rPr lang="en-US" altLang="zh-CN" sz="2800" b="1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Cy </a:t>
            </a:r>
            <a:r>
              <a:rPr lang="zh-CN" altLang="en-US" sz="2800" b="1" dirty="0">
                <a:solidFill>
                  <a:srgbClr val="000000"/>
                </a:solidFill>
                <a:ea typeface="华文中宋" panose="02010600040101010101" pitchFamily="2" charset="-122"/>
              </a:rPr>
              <a:t>的矩阵 </a:t>
            </a:r>
            <a:r>
              <a:rPr lang="en-US" altLang="zh-CN" sz="2800" b="1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C </a:t>
            </a:r>
            <a:r>
              <a:rPr lang="zh-CN" altLang="en-US" sz="2800" b="1" dirty="0">
                <a:solidFill>
                  <a:srgbClr val="000000"/>
                </a:solidFill>
                <a:ea typeface="华文中宋" panose="02010600040101010101" pitchFamily="2" charset="-122"/>
              </a:rPr>
              <a:t>为</a:t>
            </a:r>
            <a:r>
              <a:rPr lang="en-US" altLang="zh-CN" sz="2800" b="1" i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28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48" name="Object 13">
            <a:extLst>
              <a:ext uri="{FF2B5EF4-FFF2-40B4-BE49-F238E27FC236}">
                <a16:creationId xmlns:a16="http://schemas.microsoft.com/office/drawing/2014/main" id="{AC362737-6D5D-4FAE-9C21-EB422E3CE3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316092"/>
              </p:ext>
            </p:extLst>
          </p:nvPr>
        </p:nvGraphicFramePr>
        <p:xfrm>
          <a:off x="1426592" y="2844692"/>
          <a:ext cx="61468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146640" imgH="1244520" progId="Equation.DSMT4">
                  <p:embed/>
                </p:oleObj>
              </mc:Choice>
              <mc:Fallback>
                <p:oleObj name="Equation" r:id="rId7" imgW="6146640" imgH="1244520" progId="Equation.DSMT4">
                  <p:embed/>
                  <p:pic>
                    <p:nvPicPr>
                      <p:cNvPr id="41" name="Object 13">
                        <a:extLst>
                          <a:ext uri="{FF2B5EF4-FFF2-40B4-BE49-F238E27FC236}">
                            <a16:creationId xmlns:a16="http://schemas.microsoft.com/office/drawing/2014/main" id="{19DEA3E8-4E46-4610-A7D2-EF028CE834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6592" y="2844692"/>
                        <a:ext cx="61468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3">
            <a:extLst>
              <a:ext uri="{FF2B5EF4-FFF2-40B4-BE49-F238E27FC236}">
                <a16:creationId xmlns:a16="http://schemas.microsoft.com/office/drawing/2014/main" id="{9C2831E4-A898-49A5-AD6C-9077B100F4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285839"/>
              </p:ext>
            </p:extLst>
          </p:nvPr>
        </p:nvGraphicFramePr>
        <p:xfrm>
          <a:off x="1482019" y="4330824"/>
          <a:ext cx="1511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11280" imgH="355320" progId="Equation.DSMT4">
                  <p:embed/>
                </p:oleObj>
              </mc:Choice>
              <mc:Fallback>
                <p:oleObj name="Equation" r:id="rId9" imgW="1511280" imgH="355320" progId="Equation.DSMT4">
                  <p:embed/>
                  <p:pic>
                    <p:nvPicPr>
                      <p:cNvPr id="42" name="Object 13">
                        <a:extLst>
                          <a:ext uri="{FF2B5EF4-FFF2-40B4-BE49-F238E27FC236}">
                            <a16:creationId xmlns:a16="http://schemas.microsoft.com/office/drawing/2014/main" id="{C6968FD8-1D9C-40A5-95B5-725973B4A6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019" y="4330824"/>
                        <a:ext cx="15113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855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uild="p" autoUpdateAnimBg="0"/>
      <p:bldP spid="4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F3B582CE-42C2-4073-A383-F19797099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Text Box 11">
            <a:extLst>
              <a:ext uri="{FF2B5EF4-FFF2-40B4-BE49-F238E27FC236}">
                <a16:creationId xmlns:a16="http://schemas.microsoft.com/office/drawing/2014/main" id="{5323DFF4-0247-4FF1-8DFC-85D83D209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010622"/>
            <a:ext cx="605728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IE" altLang="zh-CN" b="1" dirty="0">
                <a:solidFill>
                  <a:srgbClr val="0000FF"/>
                </a:solidFill>
                <a:ea typeface="华文中宋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一个二次型的标准形不是唯一的</a:t>
            </a:r>
            <a:r>
              <a:rPr lang="en-US" altLang="zh-CN" b="1" dirty="0">
                <a:solidFill>
                  <a:srgbClr val="0000FF"/>
                </a:solidFill>
                <a:latin typeface="Times New Roman"/>
                <a:ea typeface="华文中宋" pitchFamily="2" charset="-122"/>
                <a:cs typeface="Times New Roman" pitchFamily="18" charset="0"/>
              </a:rPr>
              <a:t>,</a:t>
            </a:r>
            <a:endParaRPr lang="zh-CN" altLang="en-US" b="1" dirty="0">
              <a:solidFill>
                <a:srgbClr val="0000FF"/>
              </a:solidFill>
              <a:latin typeface="Times New Roman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2" name="Text Box 11">
            <a:extLst>
              <a:ext uri="{FF2B5EF4-FFF2-40B4-BE49-F238E27FC236}">
                <a16:creationId xmlns:a16="http://schemas.microsoft.com/office/drawing/2014/main" id="{77E738DD-E6DB-4F5E-8937-9186D09C0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825" y="1010622"/>
            <a:ext cx="241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它与所作</a:t>
            </a:r>
          </a:p>
        </p:txBody>
      </p:sp>
      <p:sp>
        <p:nvSpPr>
          <p:cNvPr id="33" name="Text Box 11">
            <a:extLst>
              <a:ext uri="{FF2B5EF4-FFF2-40B4-BE49-F238E27FC236}">
                <a16:creationId xmlns:a16="http://schemas.microsoft.com/office/drawing/2014/main" id="{7C296E1C-8F20-40B9-B293-D0FFA85D4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028" y="1625786"/>
            <a:ext cx="30972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的线性变换有关</a:t>
            </a:r>
            <a:r>
              <a:rPr lang="en-US" altLang="zh-CN" b="1" dirty="0">
                <a:solidFill>
                  <a:srgbClr val="0000FF"/>
                </a:solidFill>
                <a:latin typeface="Times New Roman"/>
                <a:ea typeface="华文中宋" pitchFamily="2" charset="-122"/>
              </a:rPr>
              <a:t>.</a:t>
            </a:r>
            <a:endParaRPr lang="zh-CN" altLang="en-US" b="1" dirty="0">
              <a:solidFill>
                <a:srgbClr val="0000FF"/>
              </a:solidFill>
              <a:latin typeface="Times New Roman"/>
              <a:ea typeface="华文中宋" pitchFamily="2" charset="-122"/>
            </a:endParaRPr>
          </a:p>
        </p:txBody>
      </p:sp>
      <p:sp>
        <p:nvSpPr>
          <p:cNvPr id="34" name="Text Box 11">
            <a:extLst>
              <a:ext uri="{FF2B5EF4-FFF2-40B4-BE49-F238E27FC236}">
                <a16:creationId xmlns:a16="http://schemas.microsoft.com/office/drawing/2014/main" id="{394E4A6D-79F7-4FE3-8F1F-B435DCFEE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3203" y="1624198"/>
            <a:ext cx="48244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例如上例中再作线性变换</a:t>
            </a:r>
          </a:p>
        </p:txBody>
      </p:sp>
      <p:graphicFrame>
        <p:nvGraphicFramePr>
          <p:cNvPr id="35" name="Object 12">
            <a:extLst>
              <a:ext uri="{FF2B5EF4-FFF2-40B4-BE49-F238E27FC236}">
                <a16:creationId xmlns:a16="http://schemas.microsoft.com/office/drawing/2014/main" id="{3312DE8A-85F7-43F8-BF90-F19A05AE6E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490597"/>
              </p:ext>
            </p:extLst>
          </p:nvPr>
        </p:nvGraphicFramePr>
        <p:xfrm>
          <a:off x="4229441" y="2384287"/>
          <a:ext cx="14224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22360" imgH="1295280" progId="Equation.DSMT4">
                  <p:embed/>
                </p:oleObj>
              </mc:Choice>
              <mc:Fallback>
                <p:oleObj name="Equation" r:id="rId3" imgW="1422360" imgH="1295280" progId="Equation.DSMT4">
                  <p:embed/>
                  <p:pic>
                    <p:nvPicPr>
                      <p:cNvPr id="7" name="Object 12">
                        <a:extLst>
                          <a:ext uri="{FF2B5EF4-FFF2-40B4-BE49-F238E27FC236}">
                            <a16:creationId xmlns:a16="http://schemas.microsoft.com/office/drawing/2014/main" id="{A4D334DC-ED02-4124-B4CB-C13C9F7CC6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9441" y="2384287"/>
                        <a:ext cx="14224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11">
            <a:extLst>
              <a:ext uri="{FF2B5EF4-FFF2-40B4-BE49-F238E27FC236}">
                <a16:creationId xmlns:a16="http://schemas.microsoft.com/office/drawing/2014/main" id="{6009B4ED-16E2-421A-91D5-E513A1C63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1509" y="3544808"/>
            <a:ext cx="2447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可得标准形</a:t>
            </a:r>
          </a:p>
        </p:txBody>
      </p:sp>
      <p:graphicFrame>
        <p:nvGraphicFramePr>
          <p:cNvPr id="37" name="Object 15">
            <a:extLst>
              <a:ext uri="{FF2B5EF4-FFF2-40B4-BE49-F238E27FC236}">
                <a16:creationId xmlns:a16="http://schemas.microsoft.com/office/drawing/2014/main" id="{BD3691F8-3F7F-48C5-9CCE-13C3E9FCFC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902767"/>
              </p:ext>
            </p:extLst>
          </p:nvPr>
        </p:nvGraphicFramePr>
        <p:xfrm>
          <a:off x="2545021" y="4250437"/>
          <a:ext cx="2082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82600" imgH="419040" progId="Equation.DSMT4">
                  <p:embed/>
                </p:oleObj>
              </mc:Choice>
              <mc:Fallback>
                <p:oleObj name="Equation" r:id="rId5" imgW="2082600" imgH="419040" progId="Equation.DSMT4">
                  <p:embed/>
                  <p:pic>
                    <p:nvPicPr>
                      <p:cNvPr id="9" name="Object 15">
                        <a:extLst>
                          <a:ext uri="{FF2B5EF4-FFF2-40B4-BE49-F238E27FC236}">
                            <a16:creationId xmlns:a16="http://schemas.microsoft.com/office/drawing/2014/main" id="{75423FAC-96CA-4A4B-890D-53DF3BB356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5021" y="4250437"/>
                        <a:ext cx="2082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4">
            <a:extLst>
              <a:ext uri="{FF2B5EF4-FFF2-40B4-BE49-F238E27FC236}">
                <a16:creationId xmlns:a16="http://schemas.microsoft.com/office/drawing/2014/main" id="{CD50C057-1C07-46F6-8059-89DF7E0FA2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016150"/>
              </p:ext>
            </p:extLst>
          </p:nvPr>
        </p:nvGraphicFramePr>
        <p:xfrm>
          <a:off x="4777046" y="4250437"/>
          <a:ext cx="2400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00120" imgH="482400" progId="Equation.DSMT4">
                  <p:embed/>
                </p:oleObj>
              </mc:Choice>
              <mc:Fallback>
                <p:oleObj name="Equation" r:id="rId7" imgW="2400120" imgH="482400" progId="Equation.DSMT4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4EE74447-9592-4196-A970-D8F4D72F62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7046" y="4250437"/>
                        <a:ext cx="24003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6">
            <a:extLst>
              <a:ext uri="{FF2B5EF4-FFF2-40B4-BE49-F238E27FC236}">
                <a16:creationId xmlns:a16="http://schemas.microsoft.com/office/drawing/2014/main" id="{9489F5E9-F270-4A62-ACB2-9D9AD53CE1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5847321"/>
              </p:ext>
            </p:extLst>
          </p:nvPr>
        </p:nvGraphicFramePr>
        <p:xfrm>
          <a:off x="2996425" y="5467005"/>
          <a:ext cx="4648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647960" imgH="482400" progId="Equation.DSMT4">
                  <p:embed/>
                </p:oleObj>
              </mc:Choice>
              <mc:Fallback>
                <p:oleObj name="Equation" r:id="rId9" imgW="4647960" imgH="482400" progId="Equation.DSMT4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5EB361B4-349F-4983-8BE3-1044A66ABB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6425" y="5467005"/>
                        <a:ext cx="4648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11">
            <a:extLst>
              <a:ext uri="{FF2B5EF4-FFF2-40B4-BE49-F238E27FC236}">
                <a16:creationId xmlns:a16="http://schemas.microsoft.com/office/drawing/2014/main" id="{4FCF202B-FFCD-4808-A95E-EE81202A2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1509" y="4817659"/>
            <a:ext cx="63373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显然二次型的标准形不唯一</a:t>
            </a:r>
            <a:r>
              <a:rPr lang="en-US" altLang="zh-CN" b="1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.</a:t>
            </a:r>
            <a:endParaRPr lang="zh-CN" altLang="en-US" b="1" dirty="0">
              <a:solidFill>
                <a:srgbClr val="000000"/>
              </a:solidFill>
              <a:latin typeface="Times New Roman"/>
              <a:ea typeface="华文中宋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B85E463-9B9D-41B2-8015-0E6C7DB747A6}"/>
              </a:ext>
            </a:extLst>
          </p:cNvPr>
          <p:cNvSpPr txBox="1"/>
          <p:nvPr/>
        </p:nvSpPr>
        <p:spPr>
          <a:xfrm>
            <a:off x="547778" y="-20032"/>
            <a:ext cx="762476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用配方法化二次型为标准形的方法</a:t>
            </a:r>
            <a:r>
              <a:rPr lang="zh-CN" altLang="en-US" sz="24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评注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33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 autoUpdateAnimBg="0"/>
      <p:bldP spid="32" grpId="0" build="p" autoUpdateAnimBg="0"/>
      <p:bldP spid="33" grpId="0" build="p" autoUpdateAnimBg="0"/>
      <p:bldP spid="34" grpId="0" build="p" autoUpdateAnimBg="0"/>
      <p:bldP spid="36" grpId="0" build="p" autoUpdateAnimBg="0"/>
      <p:bldP spid="40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F3B582CE-42C2-4073-A383-F19797099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410723E2-F736-4B7E-9D98-97F2AC741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0077" y="1273794"/>
            <a:ext cx="712814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IE" altLang="zh-CN" b="1" dirty="0">
                <a:solidFill>
                  <a:srgbClr val="0000FF"/>
                </a:solidFill>
                <a:ea typeface="华文中宋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b="1" dirty="0">
                <a:solidFill>
                  <a:srgbClr val="0000FF"/>
                </a:solidFill>
                <a:ea typeface="华文中宋" pitchFamily="2" charset="-122"/>
                <a:cs typeface="Times New Roman" panose="02020603050405020304" pitchFamily="18" charset="0"/>
              </a:rPr>
              <a:t>有时要作多次线性变换才能将二次型化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FAAE4663-3B08-4875-8D8C-253C92D30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3325" y="2041684"/>
            <a:ext cx="586489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只要将后一次所作的线性变换依次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AA0F7AF8-2DAE-4C4A-9486-17DC04FA4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983" y="2822602"/>
            <a:ext cx="50405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地代入前一次所作的线性变换</a:t>
            </a:r>
            <a:r>
              <a:rPr lang="en-US" altLang="zh-CN" sz="28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11">
            <a:extLst>
              <a:ext uri="{FF2B5EF4-FFF2-40B4-BE49-F238E27FC236}">
                <a16:creationId xmlns:a16="http://schemas.microsoft.com/office/drawing/2014/main" id="{A3DAB5AE-CEAA-4854-99D7-4EB06B758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6136" y="2823776"/>
            <a:ext cx="2432881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最后得到的</a:t>
            </a:r>
          </a:p>
        </p:txBody>
      </p:sp>
      <p:sp>
        <p:nvSpPr>
          <p:cNvPr id="17" name="Text Box 11">
            <a:extLst>
              <a:ext uri="{FF2B5EF4-FFF2-40B4-BE49-F238E27FC236}">
                <a16:creationId xmlns:a16="http://schemas.microsoft.com/office/drawing/2014/main" id="{D2C72C79-E63A-40FC-A20F-7B955478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983" y="3624253"/>
            <a:ext cx="69847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线性变换代入后即可将二次型化为标准形 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rgbClr val="0000FF"/>
              </a:solidFill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872303A-74EA-45C7-BF95-08EABD3E6047}"/>
              </a:ext>
            </a:extLst>
          </p:cNvPr>
          <p:cNvSpPr txBox="1"/>
          <p:nvPr/>
        </p:nvSpPr>
        <p:spPr>
          <a:xfrm>
            <a:off x="585999" y="0"/>
            <a:ext cx="762476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用配方法化二次型为标准形的方法</a:t>
            </a:r>
            <a:r>
              <a:rPr lang="zh-CN" altLang="en-US" sz="24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评注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7A4E08-551B-DFDC-D8CD-6FA58E17525F}"/>
              </a:ext>
            </a:extLst>
          </p:cNvPr>
          <p:cNvSpPr txBox="1"/>
          <p:nvPr/>
        </p:nvSpPr>
        <p:spPr>
          <a:xfrm>
            <a:off x="899592" y="2041684"/>
            <a:ext cx="2160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a typeface="华文中宋" pitchFamily="2" charset="-122"/>
                <a:cs typeface="Times New Roman" panose="02020603050405020304" pitchFamily="18" charset="0"/>
              </a:rPr>
              <a:t>为标准形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anose="02020603050405020304" pitchFamily="18" charset="0"/>
              </a:rPr>
              <a:t>.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74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1B2BB0-CFAC-C6B5-2954-A5C1910A5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151" y="1167074"/>
            <a:ext cx="8184148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二次型的有关定义与性质、二次型与矩阵的</a:t>
            </a:r>
            <a:endParaRPr kumimoji="1" lang="zh-CN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Line 12">
            <a:extLst>
              <a:ext uri="{FF2B5EF4-FFF2-40B4-BE49-F238E27FC236}">
                <a16:creationId xmlns:a16="http://schemas.microsoft.com/office/drawing/2014/main" id="{7A011C18-3CE6-0BB6-B50C-EB00146277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36613"/>
            <a:ext cx="91440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481C7830-00C6-82E0-6651-13E08F4F7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836" y="107115"/>
            <a:ext cx="5407025" cy="598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二次型及其标准形小结</a:t>
            </a:r>
          </a:p>
        </p:txBody>
      </p:sp>
      <p:sp>
        <p:nvSpPr>
          <p:cNvPr id="6" name="爆炸形: 8 pt  5">
            <a:extLst>
              <a:ext uri="{FF2B5EF4-FFF2-40B4-BE49-F238E27FC236}">
                <a16:creationId xmlns:a16="http://schemas.microsoft.com/office/drawing/2014/main" id="{8C756209-4F1F-CA0A-564E-D1FEECF39E9F}"/>
              </a:ext>
            </a:extLst>
          </p:cNvPr>
          <p:cNvSpPr/>
          <p:nvPr/>
        </p:nvSpPr>
        <p:spPr bwMode="auto">
          <a:xfrm>
            <a:off x="485620" y="1283738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296B358-0077-D3BD-01D5-2687C0AF2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295" y="2554209"/>
            <a:ext cx="5996953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如何将二次型化为标准形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8" name="爆炸形: 8 pt  7">
            <a:extLst>
              <a:ext uri="{FF2B5EF4-FFF2-40B4-BE49-F238E27FC236}">
                <a16:creationId xmlns:a16="http://schemas.microsoft.com/office/drawing/2014/main" id="{B800B9C3-8E69-55F4-80B2-72C5265FC0F5}"/>
              </a:ext>
            </a:extLst>
          </p:cNvPr>
          <p:cNvSpPr/>
          <p:nvPr/>
        </p:nvSpPr>
        <p:spPr bwMode="auto">
          <a:xfrm>
            <a:off x="485512" y="2663109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EA0EA6B-66E0-345B-714F-8ADDB45AB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433" y="3204784"/>
            <a:ext cx="6737895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化二次型为标准形的常用方法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爆炸形: 8 pt  9">
            <a:extLst>
              <a:ext uri="{FF2B5EF4-FFF2-40B4-BE49-F238E27FC236}">
                <a16:creationId xmlns:a16="http://schemas.microsoft.com/office/drawing/2014/main" id="{D6AB4C51-5ABD-3E05-4E8D-EE5CD0303260}"/>
              </a:ext>
            </a:extLst>
          </p:cNvPr>
          <p:cNvSpPr/>
          <p:nvPr/>
        </p:nvSpPr>
        <p:spPr bwMode="auto">
          <a:xfrm>
            <a:off x="485512" y="332585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81C819B-B900-6D79-7B93-D425507DC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43" y="3895302"/>
            <a:ext cx="6493169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二次型的实际应用有哪些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爆炸形: 8 pt  12">
            <a:extLst>
              <a:ext uri="{FF2B5EF4-FFF2-40B4-BE49-F238E27FC236}">
                <a16:creationId xmlns:a16="http://schemas.microsoft.com/office/drawing/2014/main" id="{FF962C5A-3CCB-1813-CBF5-C3BDFCC481B3}"/>
              </a:ext>
            </a:extLst>
          </p:cNvPr>
          <p:cNvSpPr/>
          <p:nvPr/>
        </p:nvSpPr>
        <p:spPr bwMode="auto">
          <a:xfrm>
            <a:off x="518714" y="4025751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5489BB26-77EE-0C88-ED1C-3031A91AC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169" y="4617888"/>
            <a:ext cx="6961183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二次型与内积是否存在内在联系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爆炸形: 8 pt  14">
            <a:extLst>
              <a:ext uri="{FF2B5EF4-FFF2-40B4-BE49-F238E27FC236}">
                <a16:creationId xmlns:a16="http://schemas.microsoft.com/office/drawing/2014/main" id="{13D27452-F08D-2515-5A28-404CCC36E682}"/>
              </a:ext>
            </a:extLst>
          </p:cNvPr>
          <p:cNvSpPr/>
          <p:nvPr/>
        </p:nvSpPr>
        <p:spPr bwMode="auto">
          <a:xfrm>
            <a:off x="489666" y="4689737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" name="Picture 11">
            <a:extLst>
              <a:ext uri="{FF2B5EF4-FFF2-40B4-BE49-F238E27FC236}">
                <a16:creationId xmlns:a16="http://schemas.microsoft.com/office/drawing/2014/main" id="{06088BE6-11A1-9755-5AAE-C83000811BB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863" y="-9525"/>
            <a:ext cx="1014413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">
            <a:extLst>
              <a:ext uri="{FF2B5EF4-FFF2-40B4-BE49-F238E27FC236}">
                <a16:creationId xmlns:a16="http://schemas.microsoft.com/office/drawing/2014/main" id="{1342B310-6BCD-4D8F-3413-0EE809C6E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7744" y="1863691"/>
            <a:ext cx="1459211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关系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zh-CN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  <p:bldP spid="12" grpId="0"/>
      <p:bldP spid="14" grpId="0"/>
      <p:bldP spid="18" grpId="0"/>
    </p:bldLst>
  </p:timing>
</p:sld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16527</TotalTime>
  <Words>1690</Words>
  <Application>Microsoft Office PowerPoint</Application>
  <PresentationFormat>全屏显示(4:3)</PresentationFormat>
  <Paragraphs>262</Paragraphs>
  <Slides>38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1" baseType="lpstr">
      <vt:lpstr>黑体</vt:lpstr>
      <vt:lpstr>华文中宋</vt:lpstr>
      <vt:lpstr>宋体</vt:lpstr>
      <vt:lpstr>Arial</vt:lpstr>
      <vt:lpstr>Arial Black</vt:lpstr>
      <vt:lpstr>Calibri</vt:lpstr>
      <vt:lpstr>Times New Roman</vt:lpstr>
      <vt:lpstr>Wingdings</vt:lpstr>
      <vt:lpstr>1_默认设计模板</vt:lpstr>
      <vt:lpstr>2_默认设计模板</vt:lpstr>
      <vt:lpstr>2_习题课模板</vt:lpstr>
      <vt:lpstr>2_Pixel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chen lilian</cp:lastModifiedBy>
  <cp:revision>1067</cp:revision>
  <dcterms:created xsi:type="dcterms:W3CDTF">2012-06-17T01:12:18Z</dcterms:created>
  <dcterms:modified xsi:type="dcterms:W3CDTF">2023-08-26T09:18:48Z</dcterms:modified>
</cp:coreProperties>
</file>