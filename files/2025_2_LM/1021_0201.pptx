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2"/>
    <p:sldMasterId id="2147483676" r:id="rId3"/>
    <p:sldMasterId id="2147483688" r:id="rId4"/>
  </p:sldMasterIdLst>
  <p:notesMasterIdLst>
    <p:notesMasterId r:id="rId36"/>
  </p:notesMasterIdLst>
  <p:sldIdLst>
    <p:sldId id="1129" r:id="rId5"/>
    <p:sldId id="1428" r:id="rId6"/>
    <p:sldId id="1379" r:id="rId7"/>
    <p:sldId id="1380" r:id="rId8"/>
    <p:sldId id="1381" r:id="rId9"/>
    <p:sldId id="1397" r:id="rId10"/>
    <p:sldId id="1358" r:id="rId11"/>
    <p:sldId id="1385" r:id="rId12"/>
    <p:sldId id="1386" r:id="rId13"/>
    <p:sldId id="1451" r:id="rId14"/>
    <p:sldId id="1452" r:id="rId15"/>
    <p:sldId id="1414" r:id="rId16"/>
    <p:sldId id="1453" r:id="rId17"/>
    <p:sldId id="1387" r:id="rId18"/>
    <p:sldId id="1388" r:id="rId19"/>
    <p:sldId id="1391" r:id="rId20"/>
    <p:sldId id="1392" r:id="rId21"/>
    <p:sldId id="1454" r:id="rId22"/>
    <p:sldId id="1455" r:id="rId23"/>
    <p:sldId id="1456" r:id="rId24"/>
    <p:sldId id="1457" r:id="rId25"/>
    <p:sldId id="1458" r:id="rId26"/>
    <p:sldId id="1450" r:id="rId27"/>
    <p:sldId id="1393" r:id="rId28"/>
    <p:sldId id="1395" r:id="rId29"/>
    <p:sldId id="1394" r:id="rId30"/>
    <p:sldId id="1396" r:id="rId31"/>
    <p:sldId id="1400" r:id="rId32"/>
    <p:sldId id="1403" r:id="rId33"/>
    <p:sldId id="1405" r:id="rId34"/>
    <p:sldId id="1357" r:id="rId35"/>
  </p:sldIdLst>
  <p:sldSz cx="9144000" cy="6858000" type="screen4x3"/>
  <p:notesSz cx="6858000" cy="9144000"/>
  <p:custDataLst>
    <p:tags r:id="rId37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6" userDrawn="1">
          <p15:clr>
            <a:srgbClr val="A4A3A4"/>
          </p15:clr>
        </p15:guide>
        <p15:guide id="2" pos="291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0033CC"/>
    <a:srgbClr val="0000FF"/>
    <a:srgbClr val="3333FF"/>
    <a:srgbClr val="C7E6A4"/>
    <a:srgbClr val="FF0066"/>
    <a:srgbClr val="6666FF"/>
    <a:srgbClr val="969696"/>
    <a:srgbClr val="2B2B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6532" autoAdjust="0"/>
    <p:restoredTop sz="93807" autoAdjust="0"/>
  </p:normalViewPr>
  <p:slideViewPr>
    <p:cSldViewPr showGuides="1">
      <p:cViewPr varScale="1">
        <p:scale>
          <a:sx n="95" d="100"/>
          <a:sy n="95" d="100"/>
        </p:scale>
        <p:origin x="192" y="968"/>
      </p:cViewPr>
      <p:guideLst>
        <p:guide orient="horz" pos="2146"/>
        <p:guide pos="291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829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gs" Target="tags/tag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4" Type="http://schemas.openxmlformats.org/officeDocument/2006/relationships/image" Target="../media/image30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Relationship Id="rId4" Type="http://schemas.openxmlformats.org/officeDocument/2006/relationships/image" Target="../media/image34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D2B7DC5F-3EFA-4251-8C20-6E9EC7819C7B}" type="datetimeFigureOut">
              <a:rPr lang="zh-CN" altLang="en-US"/>
              <a:t>2026/10/13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5EECF8E6-7687-4417-B0A4-6F969A7F5643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E5C615-27DC-4BF8-A59E-3AA49FB0D5E8}" type="slidenum">
              <a:rPr lang="zh-CN" altLang="en-US"/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0006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EB0E9A-86DB-4D24-B690-7EB825DC079D}" type="slidenum">
              <a:rPr lang="zh-CN" altLang="en-US"/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6230BC-C4BF-4D06-8DEA-E30815249296}" type="slidenum">
              <a:rPr lang="zh-CN" altLang="en-US"/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25539"/>
            <a:ext cx="4038600" cy="50006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25539"/>
            <a:ext cx="4038600" cy="50006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A8A078-8F53-4DD8-99BE-6937C29878CC}" type="slidenum">
              <a:rPr lang="zh-CN" altLang="en-US"/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4D90F-E331-47DC-92F1-E62695D6C2EE}" type="slidenum">
              <a:rPr lang="zh-CN" altLang="en-US"/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B5CD7D-56B0-4C13-84D6-F0DB2E473BD9}" type="slidenum">
              <a:rPr lang="zh-CN" altLang="en-US"/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3F3216-45D4-4224-B7C6-5D94FF958E90}" type="slidenum">
              <a:rPr lang="zh-CN" altLang="en-US"/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25538"/>
            <a:ext cx="8229600" cy="50006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E28436-CF71-46CC-B37F-786C39E55141}" type="slidenum">
              <a:rPr lang="zh-CN" altLang="en-US"/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01C669-4DB4-4AE4-93DC-BF8A4974A3A8}" type="slidenum">
              <a:rPr lang="zh-CN" altLang="en-US"/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B24609-233C-4051-A6FF-16711CDE0657}" type="slidenum">
              <a:rPr lang="zh-CN" altLang="en-US"/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F56CD3-B855-4099-A6DC-544CDEEBCED0}" type="datetimeFigureOut">
              <a:rPr lang="zh-CN" altLang="en-US"/>
              <a:t>2026/10/13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CB58C0-F69D-4AAE-A851-DF9D5545662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0006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E35D83A0-80DF-4DEC-9C63-42FBF4325AC9}" type="datetime1">
              <a:rPr lang="zh-CN" altLang="en-US"/>
              <a:t>2026/10/13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63F919-ACE6-499C-B04E-6F37524E2A4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788AB1-6F8F-4880-A2F2-6438CF0D6A2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953664-7945-4AD5-AF54-C8983D411A1E}" type="slidenum">
              <a:rPr lang="zh-CN" altLang="en-US"/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76212E-F15C-4F9E-AD83-F17D9A8F846C}" type="slidenum">
              <a:rPr lang="zh-CN" altLang="en-US"/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2D0075-AF19-4B1B-8011-58A6AB795AD5}" type="slidenum">
              <a:rPr lang="zh-CN" altLang="en-US"/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25539"/>
            <a:ext cx="4038600" cy="50006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25539"/>
            <a:ext cx="4038600" cy="50006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444D41-A3C1-4F4A-A879-73119D3260B5}" type="slidenum">
              <a:rPr lang="zh-CN" altLang="en-US"/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10F8A1-99AE-4343-9EF8-7AC2031B1C11}" type="slidenum">
              <a:rPr lang="zh-CN" altLang="en-US"/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4240E5-FDED-47C5-BE2C-DF3B3D01D70B}" type="slidenum">
              <a:rPr lang="zh-CN" altLang="en-US"/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39BCF9-9D56-4431-ADCF-17A2E61D8B5B}" type="slidenum">
              <a:rPr lang="zh-CN" altLang="en-US"/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C3078C-7EAC-411A-B198-BA9F1B1734ED}" type="slidenum">
              <a:rPr lang="zh-CN" altLang="en-US"/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6B9937-D75B-494B-97E0-CD8A7339E004}" type="slidenum">
              <a:rPr lang="zh-CN" altLang="en-US"/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A460E3-F074-47B4-96DD-BC52E33C0F01}" type="slidenum">
              <a:rPr lang="zh-CN" altLang="en-US"/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086A95-86B7-4F54-92AB-60B264BB6D59}" type="datetimeFigureOut">
              <a:rPr lang="zh-CN" altLang="en-US"/>
              <a:t>2026/10/13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415841-6B32-4D7D-ADE2-76473CE275C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E35D83A0-80DF-4DEC-9C63-42FBF4325AC9}" type="datetime1">
              <a:rPr lang="zh-CN" altLang="en-US"/>
              <a:t>2026/10/13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3F6EC3-AABE-42C7-BDC1-3B47FDB7D27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B39F2B-6D2D-42CF-BE86-44F3C34AB1F5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E:\党办校办\党办校办文件夹\学校资料\学校标志\校徽透明_蓝_完美版-2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6775" y="0"/>
            <a:ext cx="630238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17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0413" y="0"/>
            <a:ext cx="763587" cy="74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26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7857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grpSp>
          <p:nvGrpSpPr>
            <p:cNvPr id="7" name="Group 5"/>
            <p:cNvGrpSpPr/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</p:grpSp>
      </p:grpSp>
      <p:sp>
        <p:nvSpPr>
          <p:cNvPr id="17427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7428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0FFE78-55F7-431F-BCD8-F3E0D0F5D7A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DEF225-F500-4420-A403-553EDAA46BDF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D10590-E611-40D8-BC78-27420DD68B89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594E81-E1D8-45D8-9C37-5E31D1C2C214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5A2442-AFC7-4FFD-82F8-524F2229C181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1A9A7B-6518-4705-B33A-BF06ABC47328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EDC4BB-AB2F-46F7-AF26-133DAD60E8EE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E518AF-6C9F-4F47-B896-EB22B9855F7A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6A6D19-00A4-4745-9E70-FDB09DCE2DCF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38A8F0-77B5-4BCF-8040-6A35B75A602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E:\党办校办\党办校办文件夹\学校资料\学校标志\校徽透明_蓝_完美版-2.png"/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0888" y="85725"/>
            <a:ext cx="6318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+mj-lt"/>
          <a:ea typeface="+mj-ea"/>
          <a:cs typeface="+mj-cs"/>
          <a:sym typeface="Times New Roman" panose="02020603050405020304" pitchFamily="18" charset="0"/>
        </a:defRPr>
      </a:lvl1pPr>
      <a:lvl2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2pPr>
      <a:lvl3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3pPr>
      <a:lvl4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4pPr>
      <a:lvl5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5pPr>
      <a:lvl6pPr marL="4572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6pPr>
      <a:lvl7pPr marL="9144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7pPr>
      <a:lvl8pPr marL="13716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8pPr>
      <a:lvl9pPr marL="18288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9pPr>
    </p:titleStyle>
    <p:bodyStyle>
      <a:lvl1pPr marL="342900" indent="-342900" algn="just" defTabSz="0" rtl="0" eaLnBrk="0" fontAlgn="base" hangingPunct="0">
        <a:lnSpc>
          <a:spcPct val="105000"/>
        </a:lnSpc>
        <a:spcBef>
          <a:spcPts val="1300"/>
        </a:spcBef>
        <a:spcAft>
          <a:spcPts val="1300"/>
        </a:spcAft>
        <a:buClr>
          <a:srgbClr val="0000FF"/>
        </a:buClr>
        <a:buFont typeface="Wingdings" panose="05000000000000000000" pitchFamily="2" charset="2"/>
        <a:buChar char="u"/>
        <a:defRPr sz="2800" b="1">
          <a:solidFill>
            <a:srgbClr val="0C00AC"/>
          </a:solidFill>
          <a:latin typeface="+mn-lt"/>
          <a:ea typeface="+mn-ea"/>
          <a:cs typeface="楷体_GB2312" panose="02010609030101010101" charset="-122"/>
          <a:sym typeface="Arial" panose="020B0604020202020204" pitchFamily="34" charset="0"/>
        </a:defRPr>
      </a:lvl1pPr>
      <a:lvl2pPr marL="742950" indent="-285750" algn="just" defTabSz="0" rtl="0" eaLnBrk="0" fontAlgn="base" hangingPunct="0">
        <a:spcBef>
          <a:spcPts val="1300"/>
        </a:spcBef>
        <a:spcAft>
          <a:spcPts val="1300"/>
        </a:spcAft>
        <a:buClr>
          <a:srgbClr val="FF6600"/>
        </a:buClr>
        <a:buFont typeface="Wingdings" panose="05000000000000000000" pitchFamily="2" charset="2"/>
        <a:buChar char="Ø"/>
        <a:defRPr sz="2800" b="1">
          <a:solidFill>
            <a:schemeClr val="tx1"/>
          </a:solidFill>
          <a:latin typeface="+mj-lt"/>
          <a:ea typeface="+mn-ea"/>
          <a:cs typeface="楷体_GB2312" panose="02010609030101010101" charset="-122"/>
          <a:sym typeface="Arial" panose="020B0604020202020204" pitchFamily="34" charset="0"/>
        </a:defRPr>
      </a:lvl2pPr>
      <a:lvl3pPr marL="1143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•"/>
        <a:defRPr sz="24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3pPr>
      <a:lvl4pPr marL="1600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–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4pPr>
      <a:lvl5pPr marL="20574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5pPr>
      <a:lvl6pPr marL="25146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6pPr>
      <a:lvl7pPr marL="29718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7pPr>
      <a:lvl8pPr marL="3429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8pPr>
      <a:lvl9pPr marL="3886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74638"/>
            <a:ext cx="8229600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zh-CN">
                <a:sym typeface="Times New Roman" panose="02020603050405020304" pitchFamily="18" charset="0"/>
              </a:rPr>
              <a:t>单击此处编辑母版标题样式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25538"/>
            <a:ext cx="8229600" cy="500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zh-CN">
                <a:sym typeface="Arial" panose="020B0604020202020204" pitchFamily="34" charset="0"/>
              </a:rPr>
              <a:t>单击此处编辑母版文本样式</a:t>
            </a:r>
          </a:p>
          <a:p>
            <a:pPr lvl="1"/>
            <a:r>
              <a:rPr lang="zh-CN" altLang="zh-CN">
                <a:sym typeface="Arial" panose="020B0604020202020204" pitchFamily="34" charset="0"/>
              </a:rPr>
              <a:t>第二级</a:t>
            </a:r>
          </a:p>
          <a:p>
            <a:pPr lvl="2"/>
            <a:r>
              <a:rPr lang="zh-CN" altLang="zh-CN">
                <a:sym typeface="Arial" panose="020B0604020202020204" pitchFamily="34" charset="0"/>
              </a:rPr>
              <a:t>第三级</a:t>
            </a:r>
          </a:p>
          <a:p>
            <a:pPr lvl="3"/>
            <a:r>
              <a:rPr lang="zh-CN" altLang="zh-CN">
                <a:sym typeface="Arial" panose="020B0604020202020204" pitchFamily="34" charset="0"/>
              </a:rPr>
              <a:t>第四级</a:t>
            </a:r>
          </a:p>
          <a:p>
            <a:pPr lvl="4"/>
            <a:r>
              <a:rPr lang="zh-CN" altLang="zh-CN">
                <a:sym typeface="Arial" panose="020B0604020202020204" pitchFamily="34" charset="0"/>
              </a:rPr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buFont typeface="Arial" panose="020B0604020202020204" pitchFamily="34" charset="0"/>
              <a:buNone/>
              <a:defRPr sz="1400"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ctr" eaLnBrk="0" hangingPunct="0">
              <a:buFont typeface="Arial" panose="020B0604020202020204" pitchFamily="34" charset="0"/>
              <a:buNone/>
              <a:defRPr sz="1400"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9925" y="65246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buFont typeface="Arial" panose="020B0604020202020204" pitchFamily="34" charset="0"/>
              <a:buNone/>
              <a:defRPr sz="1600" b="1">
                <a:solidFill>
                  <a:srgbClr val="FFFF99"/>
                </a:solidFill>
                <a:latin typeface="+mj-ea"/>
                <a:ea typeface="+mj-ea"/>
                <a:sym typeface="黑体" panose="02010609060101010101" pitchFamily="49" charset="-122"/>
              </a:defRPr>
            </a:lvl1pPr>
          </a:lstStyle>
          <a:p>
            <a:pPr>
              <a:defRPr/>
            </a:pPr>
            <a:fld id="{2BA5B29F-AC96-412D-BF2C-3AFF6CC73BBE}" type="slidenum">
              <a:rPr lang="zh-CN" altLang="en-US"/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  <p:pic>
        <p:nvPicPr>
          <p:cNvPr id="3079" name="Picture 2" descr="E:\党办校办\党办校办文件夹\学校资料\学校标志\校徽透明_蓝_完美版-2.png"/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5475" y="187325"/>
            <a:ext cx="630238" cy="83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txStyles>
    <p:titleStyle>
      <a:lvl1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+mj-lt"/>
          <a:ea typeface="+mj-ea"/>
          <a:cs typeface="+mj-cs"/>
          <a:sym typeface="Times New Roman" panose="02020603050405020304" pitchFamily="18" charset="0"/>
        </a:defRPr>
      </a:lvl1pPr>
      <a:lvl2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2pPr>
      <a:lvl3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3pPr>
      <a:lvl4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4pPr>
      <a:lvl5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5pPr>
      <a:lvl6pPr marL="4572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6pPr>
      <a:lvl7pPr marL="9144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7pPr>
      <a:lvl8pPr marL="13716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8pPr>
      <a:lvl9pPr marL="18288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9pPr>
    </p:titleStyle>
    <p:bodyStyle>
      <a:lvl1pPr marL="342900" indent="-342900" algn="just" defTabSz="0" rtl="0" eaLnBrk="0" fontAlgn="base" hangingPunct="0">
        <a:lnSpc>
          <a:spcPct val="105000"/>
        </a:lnSpc>
        <a:spcBef>
          <a:spcPts val="1300"/>
        </a:spcBef>
        <a:spcAft>
          <a:spcPts val="1300"/>
        </a:spcAft>
        <a:buClr>
          <a:srgbClr val="0000FF"/>
        </a:buClr>
        <a:buFont typeface="Wingdings" panose="05000000000000000000" pitchFamily="2" charset="2"/>
        <a:buChar char="u"/>
        <a:defRPr sz="2800" b="1">
          <a:solidFill>
            <a:srgbClr val="0C00AC"/>
          </a:solidFill>
          <a:latin typeface="+mn-lt"/>
          <a:ea typeface="+mn-ea"/>
          <a:cs typeface="楷体_GB2312" panose="02010609030101010101" charset="-122"/>
          <a:sym typeface="Arial" panose="020B0604020202020204" pitchFamily="34" charset="0"/>
        </a:defRPr>
      </a:lvl1pPr>
      <a:lvl2pPr marL="742950" indent="-285750" algn="just" defTabSz="0" rtl="0" eaLnBrk="0" fontAlgn="base" hangingPunct="0">
        <a:spcBef>
          <a:spcPts val="1300"/>
        </a:spcBef>
        <a:spcAft>
          <a:spcPts val="1300"/>
        </a:spcAft>
        <a:buClr>
          <a:srgbClr val="FF6600"/>
        </a:buClr>
        <a:buFont typeface="Wingdings" panose="05000000000000000000" pitchFamily="2" charset="2"/>
        <a:buChar char="Ø"/>
        <a:defRPr sz="2800" b="1">
          <a:solidFill>
            <a:schemeClr val="tx1"/>
          </a:solidFill>
          <a:latin typeface="+mj-lt"/>
          <a:ea typeface="+mn-ea"/>
          <a:cs typeface="楷体_GB2312" panose="02010609030101010101" charset="-122"/>
          <a:sym typeface="Arial" panose="020B0604020202020204" pitchFamily="34" charset="0"/>
        </a:defRPr>
      </a:lvl2pPr>
      <a:lvl3pPr marL="1143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•"/>
        <a:defRPr sz="24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3pPr>
      <a:lvl4pPr marL="1600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–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4pPr>
      <a:lvl5pPr marL="20574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5pPr>
      <a:lvl6pPr marL="25146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6pPr>
      <a:lvl7pPr marL="29718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7pPr>
      <a:lvl8pPr marL="3429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8pPr>
      <a:lvl9pPr marL="3886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29"/>
          <p:cNvSpPr>
            <a:spLocks noChangeArrowheads="1"/>
          </p:cNvSpPr>
          <p:nvPr userDrawn="1"/>
        </p:nvSpPr>
        <p:spPr bwMode="auto">
          <a:xfrm>
            <a:off x="611188" y="188913"/>
            <a:ext cx="3241675" cy="144462"/>
          </a:xfrm>
          <a:prstGeom prst="cloudCallout">
            <a:avLst>
              <a:gd name="adj1" fmla="val 49019"/>
              <a:gd name="adj2" fmla="val 6042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27" name="AutoShape 27"/>
          <p:cNvSpPr>
            <a:spLocks noChangeArrowheads="1"/>
          </p:cNvSpPr>
          <p:nvPr userDrawn="1"/>
        </p:nvSpPr>
        <p:spPr bwMode="auto">
          <a:xfrm>
            <a:off x="4140200" y="115888"/>
            <a:ext cx="1223963" cy="142875"/>
          </a:xfrm>
          <a:prstGeom prst="cloudCallout">
            <a:avLst>
              <a:gd name="adj1" fmla="val 36639"/>
              <a:gd name="adj2" fmla="val 35556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28" name="AutoShape 8"/>
          <p:cNvSpPr>
            <a:spLocks noChangeArrowheads="1"/>
          </p:cNvSpPr>
          <p:nvPr userDrawn="1"/>
        </p:nvSpPr>
        <p:spPr bwMode="auto">
          <a:xfrm>
            <a:off x="358775" y="114300"/>
            <a:ext cx="2519363" cy="312738"/>
          </a:xfrm>
          <a:prstGeom prst="cloudCallout">
            <a:avLst>
              <a:gd name="adj1" fmla="val -7907"/>
              <a:gd name="adj2" fmla="val 2792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29" name="AutoShape 10"/>
          <p:cNvSpPr>
            <a:spLocks noChangeArrowheads="1"/>
          </p:cNvSpPr>
          <p:nvPr userDrawn="1"/>
        </p:nvSpPr>
        <p:spPr bwMode="auto">
          <a:xfrm>
            <a:off x="3924300" y="0"/>
            <a:ext cx="3887788" cy="188913"/>
          </a:xfrm>
          <a:prstGeom prst="cloudCallout">
            <a:avLst>
              <a:gd name="adj1" fmla="val 17782"/>
              <a:gd name="adj2" fmla="val -34032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0" name="AutoShape 24"/>
          <p:cNvSpPr>
            <a:spLocks noChangeArrowheads="1"/>
          </p:cNvSpPr>
          <p:nvPr userDrawn="1"/>
        </p:nvSpPr>
        <p:spPr bwMode="auto">
          <a:xfrm>
            <a:off x="1547813" y="115888"/>
            <a:ext cx="1655762" cy="144462"/>
          </a:xfrm>
          <a:prstGeom prst="cloudCallout">
            <a:avLst>
              <a:gd name="adj1" fmla="val 14046"/>
              <a:gd name="adj2" fmla="val -15935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1" name="AutoShape 26"/>
          <p:cNvSpPr>
            <a:spLocks noChangeArrowheads="1"/>
          </p:cNvSpPr>
          <p:nvPr userDrawn="1"/>
        </p:nvSpPr>
        <p:spPr bwMode="auto">
          <a:xfrm>
            <a:off x="0" y="-71438"/>
            <a:ext cx="1223963" cy="142876"/>
          </a:xfrm>
          <a:prstGeom prst="cloudCallout">
            <a:avLst>
              <a:gd name="adj1" fmla="val 36639"/>
              <a:gd name="adj2" fmla="val -15556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solidFill>
                  <a:srgbClr val="000000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8D3D8D6-D2D6-43CF-91A8-D9580B07DE9B}" type="slidenum">
              <a:rPr lang="en-US" altLang="zh-CN"/>
              <a:t>‹#›</a:t>
            </a:fld>
            <a:endParaRPr lang="en-US" altLang="zh-CN"/>
          </a:p>
        </p:txBody>
      </p:sp>
      <p:grpSp>
        <p:nvGrpSpPr>
          <p:cNvPr id="1028" name="Group 4"/>
          <p:cNvGrpSpPr/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056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sp>
          <p:nvSpPr>
            <p:cNvPr id="2057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sp>
          <p:nvSpPr>
            <p:cNvPr id="2058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59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60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61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62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sp>
          <p:nvSpPr>
            <p:cNvPr id="2063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64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6400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3" Type="http://schemas.openxmlformats.org/officeDocument/2006/relationships/tags" Target="../tags/tag4.xml"/><Relationship Id="rId21" Type="http://schemas.openxmlformats.org/officeDocument/2006/relationships/tags" Target="../tags/tag22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tags" Target="../tags/tag21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24" Type="http://schemas.openxmlformats.org/officeDocument/2006/relationships/image" Target="../media/image6.png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23" Type="http://schemas.openxmlformats.org/officeDocument/2006/relationships/slide" Target="slide1.xml"/><Relationship Id="rId10" Type="http://schemas.openxmlformats.org/officeDocument/2006/relationships/tags" Target="../tags/tag11.xml"/><Relationship Id="rId19" Type="http://schemas.openxmlformats.org/officeDocument/2006/relationships/tags" Target="../tags/tag20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Relationship Id="rId22" Type="http://schemas.openxmlformats.org/officeDocument/2006/relationships/slideLayout" Target="../slideLayouts/slideLayout4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tags" Target="../tags/tag24.xml"/><Relationship Id="rId7" Type="http://schemas.openxmlformats.org/officeDocument/2006/relationships/image" Target="../media/image6.png"/><Relationship Id="rId2" Type="http://schemas.openxmlformats.org/officeDocument/2006/relationships/tags" Target="../tags/tag23.xml"/><Relationship Id="rId1" Type="http://schemas.openxmlformats.org/officeDocument/2006/relationships/vmlDrawing" Target="../drawings/vmlDrawing1.vml"/><Relationship Id="rId6" Type="http://schemas.openxmlformats.org/officeDocument/2006/relationships/slide" Target="slide1.xml"/><Relationship Id="rId5" Type="http://schemas.openxmlformats.org/officeDocument/2006/relationships/slideLayout" Target="../slideLayouts/slideLayout44.xml"/><Relationship Id="rId4" Type="http://schemas.openxmlformats.org/officeDocument/2006/relationships/tags" Target="../tags/tag25.xml"/><Relationship Id="rId9" Type="http://schemas.openxmlformats.org/officeDocument/2006/relationships/image" Target="../media/image7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13" Type="http://schemas.openxmlformats.org/officeDocument/2006/relationships/image" Target="../media/image9.wmf"/><Relationship Id="rId3" Type="http://schemas.openxmlformats.org/officeDocument/2006/relationships/tags" Target="../tags/tag27.xml"/><Relationship Id="rId7" Type="http://schemas.openxmlformats.org/officeDocument/2006/relationships/slideLayout" Target="../slideLayouts/slideLayout44.xml"/><Relationship Id="rId12" Type="http://schemas.openxmlformats.org/officeDocument/2006/relationships/oleObject" Target="../embeddings/oleObject3.bin"/><Relationship Id="rId2" Type="http://schemas.openxmlformats.org/officeDocument/2006/relationships/tags" Target="../tags/tag26.xml"/><Relationship Id="rId1" Type="http://schemas.openxmlformats.org/officeDocument/2006/relationships/vmlDrawing" Target="../drawings/vmlDrawing2.vml"/><Relationship Id="rId6" Type="http://schemas.openxmlformats.org/officeDocument/2006/relationships/tags" Target="../tags/tag30.xml"/><Relationship Id="rId11" Type="http://schemas.openxmlformats.org/officeDocument/2006/relationships/image" Target="../media/image8.wmf"/><Relationship Id="rId5" Type="http://schemas.openxmlformats.org/officeDocument/2006/relationships/tags" Target="../tags/tag29.xml"/><Relationship Id="rId10" Type="http://schemas.openxmlformats.org/officeDocument/2006/relationships/oleObject" Target="../embeddings/oleObject2.bin"/><Relationship Id="rId4" Type="http://schemas.openxmlformats.org/officeDocument/2006/relationships/tags" Target="../tags/tag28.xml"/><Relationship Id="rId9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4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5" Type="http://schemas.openxmlformats.org/officeDocument/2006/relationships/image" Target="../media/image6.png"/><Relationship Id="rId4" Type="http://schemas.openxmlformats.org/officeDocument/2006/relationships/slide" Target="slide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3" Type="http://schemas.openxmlformats.org/officeDocument/2006/relationships/tags" Target="../tags/tag34.xml"/><Relationship Id="rId7" Type="http://schemas.openxmlformats.org/officeDocument/2006/relationships/tags" Target="../tags/tag38.xml"/><Relationship Id="rId12" Type="http://schemas.openxmlformats.org/officeDocument/2006/relationships/image" Target="../media/image10.wmf"/><Relationship Id="rId2" Type="http://schemas.openxmlformats.org/officeDocument/2006/relationships/tags" Target="../tags/tag33.xml"/><Relationship Id="rId1" Type="http://schemas.openxmlformats.org/officeDocument/2006/relationships/vmlDrawing" Target="../drawings/vmlDrawing3.vml"/><Relationship Id="rId6" Type="http://schemas.openxmlformats.org/officeDocument/2006/relationships/tags" Target="../tags/tag37.xml"/><Relationship Id="rId11" Type="http://schemas.openxmlformats.org/officeDocument/2006/relationships/oleObject" Target="../embeddings/oleObject4.bin"/><Relationship Id="rId5" Type="http://schemas.openxmlformats.org/officeDocument/2006/relationships/tags" Target="../tags/tag36.xml"/><Relationship Id="rId10" Type="http://schemas.openxmlformats.org/officeDocument/2006/relationships/image" Target="../media/image6.png"/><Relationship Id="rId4" Type="http://schemas.openxmlformats.org/officeDocument/2006/relationships/tags" Target="../tags/tag35.xml"/><Relationship Id="rId9" Type="http://schemas.openxmlformats.org/officeDocument/2006/relationships/slide" Target="slid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image" Target="../media/image6.png"/><Relationship Id="rId5" Type="http://schemas.openxmlformats.org/officeDocument/2006/relationships/slide" Target="slide1.xml"/><Relationship Id="rId4" Type="http://schemas.openxmlformats.org/officeDocument/2006/relationships/slideLayout" Target="../slideLayouts/slideLayout4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43.xml"/><Relationship Id="rId7" Type="http://schemas.openxmlformats.org/officeDocument/2006/relationships/slide" Target="slide1.xml"/><Relationship Id="rId2" Type="http://schemas.openxmlformats.org/officeDocument/2006/relationships/tags" Target="../tags/tag42.xml"/><Relationship Id="rId1" Type="http://schemas.openxmlformats.org/officeDocument/2006/relationships/vmlDrawing" Target="../drawings/vmlDrawing4.vml"/><Relationship Id="rId6" Type="http://schemas.openxmlformats.org/officeDocument/2006/relationships/slideLayout" Target="../slideLayouts/slideLayout44.xml"/><Relationship Id="rId5" Type="http://schemas.openxmlformats.org/officeDocument/2006/relationships/tags" Target="../tags/tag45.xml"/><Relationship Id="rId10" Type="http://schemas.openxmlformats.org/officeDocument/2006/relationships/image" Target="../media/image11.wmf"/><Relationship Id="rId4" Type="http://schemas.openxmlformats.org/officeDocument/2006/relationships/tags" Target="../tags/tag44.xml"/><Relationship Id="rId9" Type="http://schemas.openxmlformats.org/officeDocument/2006/relationships/oleObject" Target="../embeddings/oleObject5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2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oleObject" Target="../embeddings/oleObject9.bin"/><Relationship Id="rId7" Type="http://schemas.openxmlformats.org/officeDocument/2006/relationships/image" Target="../media/image17.png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5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12.xml"/><Relationship Id="rId3" Type="http://schemas.openxmlformats.org/officeDocument/2006/relationships/tags" Target="../tags/tag48.xml"/><Relationship Id="rId7" Type="http://schemas.openxmlformats.org/officeDocument/2006/relationships/slideLayout" Target="../slideLayouts/slideLayout44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9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slide" Target="slide12.xml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1.bin"/><Relationship Id="rId10" Type="http://schemas.openxmlformats.org/officeDocument/2006/relationships/image" Target="../media/image21.wmf"/><Relationship Id="rId4" Type="http://schemas.openxmlformats.org/officeDocument/2006/relationships/image" Target="../media/image6.png"/><Relationship Id="rId9" Type="http://schemas.openxmlformats.org/officeDocument/2006/relationships/oleObject" Target="../embeddings/oleObject13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oleObject" Target="../embeddings/oleObject15.bin"/><Relationship Id="rId3" Type="http://schemas.openxmlformats.org/officeDocument/2006/relationships/tags" Target="../tags/tag53.xml"/><Relationship Id="rId7" Type="http://schemas.openxmlformats.org/officeDocument/2006/relationships/tags" Target="../tags/tag57.xml"/><Relationship Id="rId12" Type="http://schemas.openxmlformats.org/officeDocument/2006/relationships/image" Target="../media/image22.wmf"/><Relationship Id="rId2" Type="http://schemas.openxmlformats.org/officeDocument/2006/relationships/tags" Target="../tags/tag52.xml"/><Relationship Id="rId1" Type="http://schemas.openxmlformats.org/officeDocument/2006/relationships/vmlDrawing" Target="../drawings/vmlDrawing8.vml"/><Relationship Id="rId6" Type="http://schemas.openxmlformats.org/officeDocument/2006/relationships/tags" Target="../tags/tag56.xml"/><Relationship Id="rId11" Type="http://schemas.openxmlformats.org/officeDocument/2006/relationships/oleObject" Target="../embeddings/oleObject14.bin"/><Relationship Id="rId5" Type="http://schemas.openxmlformats.org/officeDocument/2006/relationships/tags" Target="../tags/tag55.xml"/><Relationship Id="rId10" Type="http://schemas.openxmlformats.org/officeDocument/2006/relationships/image" Target="../media/image6.png"/><Relationship Id="rId4" Type="http://schemas.openxmlformats.org/officeDocument/2006/relationships/tags" Target="../tags/tag54.xml"/><Relationship Id="rId9" Type="http://schemas.openxmlformats.org/officeDocument/2006/relationships/slide" Target="slide14.xml"/><Relationship Id="rId14" Type="http://schemas.openxmlformats.org/officeDocument/2006/relationships/image" Target="../media/image23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65.xml"/><Relationship Id="rId13" Type="http://schemas.openxmlformats.org/officeDocument/2006/relationships/tags" Target="../tags/tag70.xml"/><Relationship Id="rId18" Type="http://schemas.openxmlformats.org/officeDocument/2006/relationships/tags" Target="../tags/tag75.xml"/><Relationship Id="rId3" Type="http://schemas.openxmlformats.org/officeDocument/2006/relationships/tags" Target="../tags/tag60.xml"/><Relationship Id="rId21" Type="http://schemas.openxmlformats.org/officeDocument/2006/relationships/image" Target="../media/image6.png"/><Relationship Id="rId7" Type="http://schemas.openxmlformats.org/officeDocument/2006/relationships/tags" Target="../tags/tag64.xml"/><Relationship Id="rId12" Type="http://schemas.openxmlformats.org/officeDocument/2006/relationships/tags" Target="../tags/tag69.xml"/><Relationship Id="rId17" Type="http://schemas.openxmlformats.org/officeDocument/2006/relationships/tags" Target="../tags/tag74.xml"/><Relationship Id="rId2" Type="http://schemas.openxmlformats.org/officeDocument/2006/relationships/tags" Target="../tags/tag59.xml"/><Relationship Id="rId16" Type="http://schemas.openxmlformats.org/officeDocument/2006/relationships/tags" Target="../tags/tag73.xml"/><Relationship Id="rId20" Type="http://schemas.openxmlformats.org/officeDocument/2006/relationships/slide" Target="slide14.xml"/><Relationship Id="rId1" Type="http://schemas.openxmlformats.org/officeDocument/2006/relationships/tags" Target="../tags/tag58.xml"/><Relationship Id="rId6" Type="http://schemas.openxmlformats.org/officeDocument/2006/relationships/tags" Target="../tags/tag63.xml"/><Relationship Id="rId11" Type="http://schemas.openxmlformats.org/officeDocument/2006/relationships/tags" Target="../tags/tag68.xml"/><Relationship Id="rId5" Type="http://schemas.openxmlformats.org/officeDocument/2006/relationships/tags" Target="../tags/tag62.xml"/><Relationship Id="rId15" Type="http://schemas.openxmlformats.org/officeDocument/2006/relationships/tags" Target="../tags/tag72.xml"/><Relationship Id="rId10" Type="http://schemas.openxmlformats.org/officeDocument/2006/relationships/tags" Target="../tags/tag67.xml"/><Relationship Id="rId19" Type="http://schemas.openxmlformats.org/officeDocument/2006/relationships/slideLayout" Target="../slideLayouts/slideLayout44.xml"/><Relationship Id="rId4" Type="http://schemas.openxmlformats.org/officeDocument/2006/relationships/tags" Target="../tags/tag61.xml"/><Relationship Id="rId9" Type="http://schemas.openxmlformats.org/officeDocument/2006/relationships/tags" Target="../tags/tag66.xml"/><Relationship Id="rId14" Type="http://schemas.openxmlformats.org/officeDocument/2006/relationships/tags" Target="../tags/tag7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82.xml"/><Relationship Id="rId13" Type="http://schemas.openxmlformats.org/officeDocument/2006/relationships/slideLayout" Target="../slideLayouts/slideLayout44.xml"/><Relationship Id="rId3" Type="http://schemas.openxmlformats.org/officeDocument/2006/relationships/tags" Target="../tags/tag77.xml"/><Relationship Id="rId7" Type="http://schemas.openxmlformats.org/officeDocument/2006/relationships/tags" Target="../tags/tag81.xml"/><Relationship Id="rId12" Type="http://schemas.openxmlformats.org/officeDocument/2006/relationships/tags" Target="../tags/tag86.xml"/><Relationship Id="rId17" Type="http://schemas.openxmlformats.org/officeDocument/2006/relationships/image" Target="../media/image24.wmf"/><Relationship Id="rId2" Type="http://schemas.openxmlformats.org/officeDocument/2006/relationships/tags" Target="../tags/tag76.xml"/><Relationship Id="rId16" Type="http://schemas.openxmlformats.org/officeDocument/2006/relationships/oleObject" Target="../embeddings/oleObject16.bin"/><Relationship Id="rId1" Type="http://schemas.openxmlformats.org/officeDocument/2006/relationships/vmlDrawing" Target="../drawings/vmlDrawing9.vml"/><Relationship Id="rId6" Type="http://schemas.openxmlformats.org/officeDocument/2006/relationships/tags" Target="../tags/tag80.xml"/><Relationship Id="rId11" Type="http://schemas.openxmlformats.org/officeDocument/2006/relationships/tags" Target="../tags/tag85.xml"/><Relationship Id="rId5" Type="http://schemas.openxmlformats.org/officeDocument/2006/relationships/tags" Target="../tags/tag79.xml"/><Relationship Id="rId15" Type="http://schemas.openxmlformats.org/officeDocument/2006/relationships/image" Target="../media/image6.png"/><Relationship Id="rId10" Type="http://schemas.openxmlformats.org/officeDocument/2006/relationships/tags" Target="../tags/tag84.xml"/><Relationship Id="rId4" Type="http://schemas.openxmlformats.org/officeDocument/2006/relationships/tags" Target="../tags/tag78.xml"/><Relationship Id="rId9" Type="http://schemas.openxmlformats.org/officeDocument/2006/relationships/tags" Target="../tags/tag83.xml"/><Relationship Id="rId14" Type="http://schemas.openxmlformats.org/officeDocument/2006/relationships/slide" Target="slide14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94.xml"/><Relationship Id="rId13" Type="http://schemas.openxmlformats.org/officeDocument/2006/relationships/image" Target="../media/image6.png"/><Relationship Id="rId3" Type="http://schemas.openxmlformats.org/officeDocument/2006/relationships/tags" Target="../tags/tag89.xml"/><Relationship Id="rId7" Type="http://schemas.openxmlformats.org/officeDocument/2006/relationships/tags" Target="../tags/tag93.xml"/><Relationship Id="rId12" Type="http://schemas.openxmlformats.org/officeDocument/2006/relationships/slide" Target="slide14.xml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6" Type="http://schemas.openxmlformats.org/officeDocument/2006/relationships/tags" Target="../tags/tag92.xml"/><Relationship Id="rId11" Type="http://schemas.openxmlformats.org/officeDocument/2006/relationships/slideLayout" Target="../slideLayouts/slideLayout44.xml"/><Relationship Id="rId5" Type="http://schemas.openxmlformats.org/officeDocument/2006/relationships/tags" Target="../tags/tag91.xml"/><Relationship Id="rId10" Type="http://schemas.openxmlformats.org/officeDocument/2006/relationships/tags" Target="../tags/tag96.xml"/><Relationship Id="rId4" Type="http://schemas.openxmlformats.org/officeDocument/2006/relationships/tags" Target="../tags/tag90.xml"/><Relationship Id="rId9" Type="http://schemas.openxmlformats.org/officeDocument/2006/relationships/tags" Target="../tags/tag9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25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26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20.bin"/><Relationship Id="rId10" Type="http://schemas.openxmlformats.org/officeDocument/2006/relationships/image" Target="../media/image30.wmf"/><Relationship Id="rId4" Type="http://schemas.openxmlformats.org/officeDocument/2006/relationships/image" Target="../media/image27.wmf"/><Relationship Id="rId9" Type="http://schemas.openxmlformats.org/officeDocument/2006/relationships/oleObject" Target="../embeddings/oleObject22.bin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4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5" Type="http://schemas.openxmlformats.org/officeDocument/2006/relationships/image" Target="../media/image6.png"/><Relationship Id="rId4" Type="http://schemas.openxmlformats.org/officeDocument/2006/relationships/slide" Target="slide14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oleObject" Target="../embeddings/oleObject24.bin"/><Relationship Id="rId18" Type="http://schemas.openxmlformats.org/officeDocument/2006/relationships/image" Target="../media/image34.wmf"/><Relationship Id="rId3" Type="http://schemas.openxmlformats.org/officeDocument/2006/relationships/tags" Target="../tags/tag100.xml"/><Relationship Id="rId7" Type="http://schemas.openxmlformats.org/officeDocument/2006/relationships/tags" Target="../tags/tag104.xml"/><Relationship Id="rId12" Type="http://schemas.openxmlformats.org/officeDocument/2006/relationships/image" Target="../media/image31.wmf"/><Relationship Id="rId17" Type="http://schemas.openxmlformats.org/officeDocument/2006/relationships/oleObject" Target="../embeddings/oleObject26.bin"/><Relationship Id="rId2" Type="http://schemas.openxmlformats.org/officeDocument/2006/relationships/tags" Target="../tags/tag99.xml"/><Relationship Id="rId16" Type="http://schemas.openxmlformats.org/officeDocument/2006/relationships/image" Target="../media/image33.wmf"/><Relationship Id="rId1" Type="http://schemas.openxmlformats.org/officeDocument/2006/relationships/vmlDrawing" Target="../drawings/vmlDrawing13.vml"/><Relationship Id="rId6" Type="http://schemas.openxmlformats.org/officeDocument/2006/relationships/tags" Target="../tags/tag103.xml"/><Relationship Id="rId11" Type="http://schemas.openxmlformats.org/officeDocument/2006/relationships/oleObject" Target="../embeddings/oleObject23.bin"/><Relationship Id="rId5" Type="http://schemas.openxmlformats.org/officeDocument/2006/relationships/tags" Target="../tags/tag102.xml"/><Relationship Id="rId15" Type="http://schemas.openxmlformats.org/officeDocument/2006/relationships/oleObject" Target="../embeddings/oleObject25.bin"/><Relationship Id="rId10" Type="http://schemas.openxmlformats.org/officeDocument/2006/relationships/image" Target="../media/image6.png"/><Relationship Id="rId4" Type="http://schemas.openxmlformats.org/officeDocument/2006/relationships/tags" Target="../tags/tag101.xml"/><Relationship Id="rId9" Type="http://schemas.openxmlformats.org/officeDocument/2006/relationships/slide" Target="slide14.xml"/><Relationship Id="rId14" Type="http://schemas.openxmlformats.org/officeDocument/2006/relationships/image" Target="../media/image32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106.xml"/><Relationship Id="rId7" Type="http://schemas.openxmlformats.org/officeDocument/2006/relationships/slide" Target="slide14.xml"/><Relationship Id="rId12" Type="http://schemas.openxmlformats.org/officeDocument/2006/relationships/image" Target="../media/image36.wmf"/><Relationship Id="rId2" Type="http://schemas.openxmlformats.org/officeDocument/2006/relationships/tags" Target="../tags/tag105.xml"/><Relationship Id="rId1" Type="http://schemas.openxmlformats.org/officeDocument/2006/relationships/vmlDrawing" Target="../drawings/vmlDrawing14.vml"/><Relationship Id="rId6" Type="http://schemas.openxmlformats.org/officeDocument/2006/relationships/slideLayout" Target="../slideLayouts/slideLayout44.xml"/><Relationship Id="rId11" Type="http://schemas.openxmlformats.org/officeDocument/2006/relationships/oleObject" Target="../embeddings/oleObject28.bin"/><Relationship Id="rId5" Type="http://schemas.openxmlformats.org/officeDocument/2006/relationships/tags" Target="../tags/tag108.xml"/><Relationship Id="rId10" Type="http://schemas.openxmlformats.org/officeDocument/2006/relationships/image" Target="../media/image35.wmf"/><Relationship Id="rId4" Type="http://schemas.openxmlformats.org/officeDocument/2006/relationships/tags" Target="../tags/tag107.xml"/><Relationship Id="rId9" Type="http://schemas.openxmlformats.org/officeDocument/2006/relationships/oleObject" Target="../embeddings/oleObject27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13" Type="http://schemas.openxmlformats.org/officeDocument/2006/relationships/image" Target="../media/image37.wmf"/><Relationship Id="rId3" Type="http://schemas.openxmlformats.org/officeDocument/2006/relationships/tags" Target="../tags/tag110.xml"/><Relationship Id="rId7" Type="http://schemas.openxmlformats.org/officeDocument/2006/relationships/slideLayout" Target="../slideLayouts/slideLayout44.xml"/><Relationship Id="rId12" Type="http://schemas.openxmlformats.org/officeDocument/2006/relationships/oleObject" Target="../embeddings/oleObject29.bin"/><Relationship Id="rId2" Type="http://schemas.openxmlformats.org/officeDocument/2006/relationships/tags" Target="../tags/tag109.xml"/><Relationship Id="rId1" Type="http://schemas.openxmlformats.org/officeDocument/2006/relationships/vmlDrawing" Target="../drawings/vmlDrawing15.vml"/><Relationship Id="rId6" Type="http://schemas.openxmlformats.org/officeDocument/2006/relationships/tags" Target="../tags/tag113.xml"/><Relationship Id="rId11" Type="http://schemas.openxmlformats.org/officeDocument/2006/relationships/image" Target="../media/image39.png"/><Relationship Id="rId5" Type="http://schemas.openxmlformats.org/officeDocument/2006/relationships/tags" Target="../tags/tag112.xml"/><Relationship Id="rId10" Type="http://schemas.openxmlformats.org/officeDocument/2006/relationships/image" Target="../media/image38.png"/><Relationship Id="rId4" Type="http://schemas.openxmlformats.org/officeDocument/2006/relationships/tags" Target="../tags/tag111.xml"/><Relationship Id="rId9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4.xml"/><Relationship Id="rId2" Type="http://schemas.openxmlformats.org/officeDocument/2006/relationships/tags" Target="../tags/tag115.xml"/><Relationship Id="rId1" Type="http://schemas.openxmlformats.org/officeDocument/2006/relationships/tags" Target="../tags/tag114.xml"/><Relationship Id="rId5" Type="http://schemas.openxmlformats.org/officeDocument/2006/relationships/image" Target="../media/image6.png"/><Relationship Id="rId4" Type="http://schemas.openxmlformats.org/officeDocument/2006/relationships/slide" Target="slide14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123.xml"/><Relationship Id="rId3" Type="http://schemas.openxmlformats.org/officeDocument/2006/relationships/tags" Target="../tags/tag118.xml"/><Relationship Id="rId7" Type="http://schemas.openxmlformats.org/officeDocument/2006/relationships/tags" Target="../tags/tag122.xml"/><Relationship Id="rId2" Type="http://schemas.openxmlformats.org/officeDocument/2006/relationships/tags" Target="../tags/tag117.xml"/><Relationship Id="rId1" Type="http://schemas.openxmlformats.org/officeDocument/2006/relationships/tags" Target="../tags/tag116.xml"/><Relationship Id="rId6" Type="http://schemas.openxmlformats.org/officeDocument/2006/relationships/tags" Target="../tags/tag121.xml"/><Relationship Id="rId11" Type="http://schemas.openxmlformats.org/officeDocument/2006/relationships/image" Target="../media/image6.png"/><Relationship Id="rId5" Type="http://schemas.openxmlformats.org/officeDocument/2006/relationships/tags" Target="../tags/tag120.xml"/><Relationship Id="rId10" Type="http://schemas.openxmlformats.org/officeDocument/2006/relationships/slide" Target="slide14.xml"/><Relationship Id="rId4" Type="http://schemas.openxmlformats.org/officeDocument/2006/relationships/tags" Target="../tags/tag119.xml"/><Relationship Id="rId9" Type="http://schemas.openxmlformats.org/officeDocument/2006/relationships/slideLayout" Target="../slideLayouts/slideLayout4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tags" Target="../tags/tag126.xml"/><Relationship Id="rId7" Type="http://schemas.openxmlformats.org/officeDocument/2006/relationships/image" Target="../media/image40.png"/><Relationship Id="rId2" Type="http://schemas.openxmlformats.org/officeDocument/2006/relationships/tags" Target="../tags/tag125.xml"/><Relationship Id="rId1" Type="http://schemas.openxmlformats.org/officeDocument/2006/relationships/tags" Target="../tags/tag124.xml"/><Relationship Id="rId6" Type="http://schemas.openxmlformats.org/officeDocument/2006/relationships/image" Target="../media/image6.png"/><Relationship Id="rId5" Type="http://schemas.openxmlformats.org/officeDocument/2006/relationships/slide" Target="slide14.xml"/><Relationship Id="rId4" Type="http://schemas.openxmlformats.org/officeDocument/2006/relationships/slideLayout" Target="../slideLayouts/slideLayout4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" Target="slide14.xml"/><Relationship Id="rId1" Type="http://schemas.openxmlformats.org/officeDocument/2006/relationships/slideLayout" Target="../slideLayouts/slideLayout4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GIF"/><Relationship Id="rId1" Type="http://schemas.openxmlformats.org/officeDocument/2006/relationships/slideLayout" Target="../slideLayouts/slideLayout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Line 2"/>
          <p:cNvSpPr>
            <a:spLocks noChangeShapeType="1"/>
          </p:cNvSpPr>
          <p:nvPr/>
        </p:nvSpPr>
        <p:spPr bwMode="auto">
          <a:xfrm>
            <a:off x="0" y="808038"/>
            <a:ext cx="9144000" cy="0"/>
          </a:xfrm>
          <a:prstGeom prst="line">
            <a:avLst/>
          </a:prstGeom>
          <a:noFill/>
          <a:ln w="76200" cmpd="tri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011" name="Rectangle 3"/>
          <p:cNvSpPr>
            <a:spLocks noChangeArrowheads="1"/>
          </p:cNvSpPr>
          <p:nvPr/>
        </p:nvSpPr>
        <p:spPr bwMode="auto">
          <a:xfrm>
            <a:off x="2267585" y="44768"/>
            <a:ext cx="5108575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第二章  矩阵及其运算</a:t>
            </a:r>
          </a:p>
        </p:txBody>
      </p:sp>
      <p:sp>
        <p:nvSpPr>
          <p:cNvPr id="14" name="Text Box 4103">
            <a:hlinkClick r:id="rId3" action="ppaction://hlinksldjump" highlightClick="1"/>
            <a:hlinkHover r:id="" action="ppaction://macro?name=Macro1" highlightClick="1"/>
          </p:cNvPr>
          <p:cNvSpPr txBox="1">
            <a:spLocks noChangeArrowheads="1"/>
          </p:cNvSpPr>
          <p:nvPr/>
        </p:nvSpPr>
        <p:spPr bwMode="auto">
          <a:xfrm>
            <a:off x="2639695" y="2132965"/>
            <a:ext cx="3864610" cy="64516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§2.1 </a:t>
            </a: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矩阵的概念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6450" y="0"/>
            <a:ext cx="1008112" cy="771926"/>
          </a:xfrm>
          <a:prstGeom prst="rect">
            <a:avLst/>
          </a:prstGeom>
        </p:spPr>
      </p:pic>
    </p:spTree>
  </p:cSld>
  <p:clrMapOvr>
    <a:masterClrMapping/>
  </p:clrMapOvr>
  <p:transition spd="slow">
    <p:sndAc>
      <p:stSnd>
        <p:snd r:embed="rId2" name="chim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前言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Text Box 3"/>
          <p:cNvSpPr>
            <a:spLocks noChangeArrowheads="1"/>
          </p:cNvSpPr>
          <p:nvPr/>
        </p:nvSpPr>
        <p:spPr bwMode="auto">
          <a:xfrm>
            <a:off x="611505" y="1196975"/>
            <a:ext cx="7835265" cy="3322955"/>
          </a:xfrm>
          <a:prstGeom prst="rect">
            <a:avLst/>
          </a:prstGeom>
          <a:solidFill>
            <a:schemeClr val="bg1">
              <a:alpha val="56078"/>
            </a:schemeClr>
          </a:solidFill>
          <a:ln w="38100">
            <a:solidFill>
              <a:schemeClr val="bg1"/>
            </a:solidFill>
            <a:miter lim="800000"/>
          </a:ln>
        </p:spPr>
        <p:txBody>
          <a:bodyPr wrap="square" anchor="ctr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algn="l" defTabSz="914400" rtl="0" eaLnBrk="1" fontAlgn="base" latinLnBrk="0" hangingPunct="1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800" b="1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矩阵是线性代数非常重要的工具. 它在线性代数与数学的许多分支中都有重要应用, 许多实际问题可以用矩阵表达并用有关理论解决.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n-cs"/>
              <a:sym typeface="楷体_GB2312" panose="02010609030101010101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800" b="1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sym typeface="Arial" panose="020B0604020202020204" pitchFamily="34" charset="0"/>
              </a:rPr>
              <a:t>本章首先引入矩阵的概念，讨论矩阵的运算、矩阵的变换以及矩阵的某些内在特征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  <a:sym typeface="楷体_GB2312" panose="02010609030101010101" charset="-122"/>
              </a:rPr>
              <a:t>.</a:t>
            </a: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3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通过实例得到矩阵的概念</a:t>
            </a:r>
          </a:p>
        </p:txBody>
      </p:sp>
      <p:sp>
        <p:nvSpPr>
          <p:cNvPr id="70658" name="Text Box 2"/>
          <p:cNvSpPr txBox="1"/>
          <p:nvPr>
            <p:custDataLst>
              <p:tags r:id="rId1"/>
            </p:custDataLst>
          </p:nvPr>
        </p:nvSpPr>
        <p:spPr>
          <a:xfrm>
            <a:off x="611188" y="698500"/>
            <a:ext cx="8001000" cy="1254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0" lvl="0" algn="l" defTabSz="914400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       </a:t>
            </a:r>
            <a:r>
              <a:rPr lang="zh-CN" altLang="en-US" sz="28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设某企业第一季度各月份, </a:t>
            </a:r>
            <a:r>
              <a:rPr lang="zh-CN" altLang="en-US" sz="28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生产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Ⅰ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、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Ⅱ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、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Ⅲ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、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  </a:t>
            </a:r>
            <a:endParaRPr lang="zh-CN" altLang="en-US" sz="2800" b="1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763588" y="3406775"/>
            <a:ext cx="7696200" cy="2365375"/>
            <a:chOff x="624" y="2208"/>
            <a:chExt cx="4848" cy="1490"/>
          </a:xfrm>
        </p:grpSpPr>
        <p:sp>
          <p:nvSpPr>
            <p:cNvPr id="45063" name="Line 4"/>
            <p:cNvSpPr/>
            <p:nvPr>
              <p:custDataLst>
                <p:tags r:id="rId5"/>
              </p:custDataLst>
            </p:nvPr>
          </p:nvSpPr>
          <p:spPr>
            <a:xfrm>
              <a:off x="720" y="2208"/>
              <a:ext cx="475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64" name="Line 5"/>
            <p:cNvSpPr/>
            <p:nvPr>
              <p:custDataLst>
                <p:tags r:id="rId6"/>
              </p:custDataLst>
            </p:nvPr>
          </p:nvSpPr>
          <p:spPr>
            <a:xfrm>
              <a:off x="720" y="2736"/>
              <a:ext cx="475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65" name="Line 6"/>
            <p:cNvSpPr/>
            <p:nvPr>
              <p:custDataLst>
                <p:tags r:id="rId7"/>
              </p:custDataLst>
            </p:nvPr>
          </p:nvSpPr>
          <p:spPr>
            <a:xfrm>
              <a:off x="672" y="3696"/>
              <a:ext cx="475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66" name="Line 7"/>
            <p:cNvSpPr/>
            <p:nvPr>
              <p:custDataLst>
                <p:tags r:id="rId8"/>
              </p:custDataLst>
            </p:nvPr>
          </p:nvSpPr>
          <p:spPr>
            <a:xfrm>
              <a:off x="1584" y="2208"/>
              <a:ext cx="0" cy="14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67" name="Line 8"/>
            <p:cNvSpPr/>
            <p:nvPr>
              <p:custDataLst>
                <p:tags r:id="rId9"/>
              </p:custDataLst>
            </p:nvPr>
          </p:nvSpPr>
          <p:spPr>
            <a:xfrm>
              <a:off x="720" y="2208"/>
              <a:ext cx="864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68" name="Text Box 9"/>
            <p:cNvSpPr txBox="1"/>
            <p:nvPr>
              <p:custDataLst>
                <p:tags r:id="rId10"/>
              </p:custDataLst>
            </p:nvPr>
          </p:nvSpPr>
          <p:spPr>
            <a:xfrm>
              <a:off x="1008" y="2208"/>
              <a:ext cx="62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产 品</a:t>
              </a:r>
            </a:p>
          </p:txBody>
        </p:sp>
        <p:sp>
          <p:nvSpPr>
            <p:cNvPr id="45069" name="Text Box 10"/>
            <p:cNvSpPr txBox="1"/>
            <p:nvPr>
              <p:custDataLst>
                <p:tags r:id="rId11"/>
              </p:custDataLst>
            </p:nvPr>
          </p:nvSpPr>
          <p:spPr>
            <a:xfrm>
              <a:off x="624" y="2448"/>
              <a:ext cx="576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月份</a:t>
              </a:r>
            </a:p>
          </p:txBody>
        </p:sp>
        <p:sp>
          <p:nvSpPr>
            <p:cNvPr id="45070" name="Text Box 11"/>
            <p:cNvSpPr txBox="1"/>
            <p:nvPr>
              <p:custDataLst>
                <p:tags r:id="rId12"/>
              </p:custDataLst>
            </p:nvPr>
          </p:nvSpPr>
          <p:spPr>
            <a:xfrm>
              <a:off x="1776" y="2304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Ⅰ</a:t>
              </a:r>
            </a:p>
          </p:txBody>
        </p:sp>
        <p:sp>
          <p:nvSpPr>
            <p:cNvPr id="45071" name="Text Box 12"/>
            <p:cNvSpPr txBox="1"/>
            <p:nvPr>
              <p:custDataLst>
                <p:tags r:id="rId13"/>
              </p:custDataLst>
            </p:nvPr>
          </p:nvSpPr>
          <p:spPr>
            <a:xfrm>
              <a:off x="2592" y="2304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Ⅱ</a:t>
              </a:r>
            </a:p>
          </p:txBody>
        </p:sp>
        <p:sp>
          <p:nvSpPr>
            <p:cNvPr id="45072" name="Text Box 13"/>
            <p:cNvSpPr txBox="1"/>
            <p:nvPr>
              <p:custDataLst>
                <p:tags r:id="rId14"/>
              </p:custDataLst>
            </p:nvPr>
          </p:nvSpPr>
          <p:spPr>
            <a:xfrm>
              <a:off x="3504" y="2304"/>
              <a:ext cx="33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Ⅲ</a:t>
              </a:r>
            </a:p>
          </p:txBody>
        </p:sp>
        <p:sp>
          <p:nvSpPr>
            <p:cNvPr id="45073" name="Text Box 14"/>
            <p:cNvSpPr txBox="1"/>
            <p:nvPr>
              <p:custDataLst>
                <p:tags r:id="rId15"/>
              </p:custDataLst>
            </p:nvPr>
          </p:nvSpPr>
          <p:spPr>
            <a:xfrm>
              <a:off x="4464" y="2304"/>
              <a:ext cx="33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Ⅳ</a:t>
              </a:r>
            </a:p>
          </p:txBody>
        </p:sp>
        <p:sp>
          <p:nvSpPr>
            <p:cNvPr id="45074" name="Text Box 15"/>
            <p:cNvSpPr txBox="1"/>
            <p:nvPr>
              <p:custDataLst>
                <p:tags r:id="rId16"/>
              </p:custDataLst>
            </p:nvPr>
          </p:nvSpPr>
          <p:spPr>
            <a:xfrm>
              <a:off x="960" y="2736"/>
              <a:ext cx="288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45075" name="Text Box 16"/>
            <p:cNvSpPr txBox="1"/>
            <p:nvPr>
              <p:custDataLst>
                <p:tags r:id="rId17"/>
              </p:custDataLst>
            </p:nvPr>
          </p:nvSpPr>
          <p:spPr>
            <a:xfrm>
              <a:off x="960" y="3072"/>
              <a:ext cx="384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2</a:t>
              </a:r>
            </a:p>
          </p:txBody>
        </p:sp>
        <p:sp>
          <p:nvSpPr>
            <p:cNvPr id="3" name="Text Box 17"/>
            <p:cNvSpPr txBox="1"/>
            <p:nvPr>
              <p:custDataLst>
                <p:tags r:id="rId18"/>
              </p:custDataLst>
            </p:nvPr>
          </p:nvSpPr>
          <p:spPr>
            <a:xfrm>
              <a:off x="960" y="3408"/>
              <a:ext cx="384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3</a:t>
              </a:r>
            </a:p>
          </p:txBody>
        </p:sp>
        <p:sp>
          <p:nvSpPr>
            <p:cNvPr id="45077" name="Text Box 18"/>
            <p:cNvSpPr txBox="1"/>
            <p:nvPr>
              <p:custDataLst>
                <p:tags r:id="rId19"/>
              </p:custDataLst>
            </p:nvPr>
          </p:nvSpPr>
          <p:spPr>
            <a:xfrm>
              <a:off x="1632" y="2734"/>
              <a:ext cx="3573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 240          180           320          400</a:t>
              </a:r>
            </a:p>
          </p:txBody>
        </p:sp>
        <p:sp>
          <p:nvSpPr>
            <p:cNvPr id="45078" name="Text Box 19"/>
            <p:cNvSpPr txBox="1"/>
            <p:nvPr>
              <p:custDataLst>
                <p:tags r:id="rId20"/>
              </p:custDataLst>
            </p:nvPr>
          </p:nvSpPr>
          <p:spPr>
            <a:xfrm>
              <a:off x="1632" y="3072"/>
              <a:ext cx="3655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 200          170           360          420</a:t>
              </a:r>
            </a:p>
          </p:txBody>
        </p:sp>
        <p:sp>
          <p:nvSpPr>
            <p:cNvPr id="45079" name="Text Box 20"/>
            <p:cNvSpPr txBox="1"/>
            <p:nvPr>
              <p:custDataLst>
                <p:tags r:id="rId21"/>
              </p:custDataLst>
            </p:nvPr>
          </p:nvSpPr>
          <p:spPr>
            <a:xfrm>
              <a:off x="1707" y="3356"/>
              <a:ext cx="353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260          160           300          400</a:t>
              </a:r>
            </a:p>
          </p:txBody>
        </p:sp>
      </p:grpSp>
      <p:sp>
        <p:nvSpPr>
          <p:cNvPr id="70677" name="Rectangle 21"/>
          <p:cNvSpPr/>
          <p:nvPr>
            <p:custDataLst>
              <p:tags r:id="rId2"/>
            </p:custDataLst>
          </p:nvPr>
        </p:nvSpPr>
        <p:spPr>
          <a:xfrm>
            <a:off x="643255" y="2720975"/>
            <a:ext cx="507047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如下表所示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:</a:t>
            </a:r>
          </a:p>
        </p:txBody>
      </p:sp>
      <p:sp>
        <p:nvSpPr>
          <p:cNvPr id="70678" name="Rectangle 22"/>
          <p:cNvSpPr/>
          <p:nvPr>
            <p:custDataLst>
              <p:tags r:id="rId3"/>
            </p:custDataLst>
          </p:nvPr>
        </p:nvSpPr>
        <p:spPr>
          <a:xfrm>
            <a:off x="643255" y="2049780"/>
            <a:ext cx="827532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Ⅳ  4 种产品.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已知每个工厂的年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产量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(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单位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: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个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) </a:t>
            </a:r>
            <a:endParaRPr lang="zh-CN" altLang="en-US" sz="2800" b="1" dirty="0"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</a:endParaRPr>
          </a:p>
        </p:txBody>
      </p:sp>
      <p:sp>
        <p:nvSpPr>
          <p:cNvPr id="4" name="矩形 3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18160" y="836930"/>
            <a:ext cx="1845310" cy="607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引例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2.1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06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06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06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8" grpId="0" build="p"/>
      <p:bldP spid="70677" grpId="0" build="p" advAuto="1000"/>
      <p:bldP spid="70678" grpId="0" build="p" advAuto="100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通过实例得到矩阵的概念</a:t>
            </a:r>
          </a:p>
        </p:txBody>
      </p:sp>
      <p:sp>
        <p:nvSpPr>
          <p:cNvPr id="70658" name="Text Box 2"/>
          <p:cNvSpPr txBox="1"/>
          <p:nvPr>
            <p:custDataLst>
              <p:tags r:id="rId2"/>
            </p:custDataLst>
          </p:nvPr>
        </p:nvSpPr>
        <p:spPr>
          <a:xfrm>
            <a:off x="571183" y="836930"/>
            <a:ext cx="8001000" cy="22879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0" lvl="0" algn="l" defTabSz="914400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       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如果将该数表中的数据,按原次序排列,并加上括号,表明它是一个整体,这种矩形的数表就表示为矩阵.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  </a:t>
            </a:r>
            <a:endParaRPr lang="zh-CN" altLang="en-US" sz="2800" b="1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" name="矩形 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18160" y="836930"/>
            <a:ext cx="2120900" cy="607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引例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2.1</a:t>
            </a:r>
          </a:p>
        </p:txBody>
      </p:sp>
      <p:graphicFrame>
        <p:nvGraphicFramePr>
          <p:cNvPr id="114699" name="Object 11"/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2339975" y="3213100"/>
          <a:ext cx="4611370" cy="1828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772" name="Equation" r:id="rId8" imgW="1536700" imgH="609600" progId="Equation.DSMT4">
                  <p:embed/>
                </p:oleObj>
              </mc:Choice>
              <mc:Fallback>
                <p:oleObj name="Equation" r:id="rId8" imgW="1536700" imgH="6096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3213100"/>
                        <a:ext cx="4611370" cy="18281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06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4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8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通过实例得到矩阵的概念</a:t>
            </a:r>
          </a:p>
        </p:txBody>
      </p:sp>
      <p:sp>
        <p:nvSpPr>
          <p:cNvPr id="70658" name="Text Box 2"/>
          <p:cNvSpPr txBox="1"/>
          <p:nvPr>
            <p:custDataLst>
              <p:tags r:id="rId2"/>
            </p:custDataLst>
          </p:nvPr>
        </p:nvSpPr>
        <p:spPr>
          <a:xfrm>
            <a:off x="571183" y="836930"/>
            <a:ext cx="8001000" cy="1254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0" lvl="0" algn="l" defTabSz="914400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       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对线性方程组</a:t>
            </a:r>
          </a:p>
        </p:txBody>
      </p:sp>
      <p:sp>
        <p:nvSpPr>
          <p:cNvPr id="4" name="矩形 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18160" y="836930"/>
            <a:ext cx="1669415" cy="607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引例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2.2</a:t>
            </a:r>
          </a:p>
        </p:txBody>
      </p:sp>
      <p:graphicFrame>
        <p:nvGraphicFramePr>
          <p:cNvPr id="2" name="对象 -2147482623"/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4268788" y="1341120"/>
          <a:ext cx="4757420" cy="2160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01" r:id="rId10" imgW="2082800" imgH="939800" progId="Equation.DSMT4">
                  <p:embed/>
                </p:oleObj>
              </mc:Choice>
              <mc:Fallback>
                <p:oleObj r:id="rId10" imgW="2082800" imgH="939800" progId="Equation.DSMT4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268788" y="1341120"/>
                        <a:ext cx="4757420" cy="21609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2"/>
          <p:cNvSpPr txBox="1"/>
          <p:nvPr>
            <p:custDataLst>
              <p:tags r:id="rId5"/>
            </p:custDataLst>
          </p:nvPr>
        </p:nvSpPr>
        <p:spPr>
          <a:xfrm>
            <a:off x="682943" y="5229225"/>
            <a:ext cx="8001000" cy="60769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algn="l" defTabSz="914400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zh-CN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此方程组由如下数表确定：</a:t>
            </a:r>
          </a:p>
        </p:txBody>
      </p:sp>
      <p:graphicFrame>
        <p:nvGraphicFramePr>
          <p:cNvPr id="6" name="对象 -2147482610"/>
          <p:cNvGraphicFramePr>
            <a:graphicFrameLocks noChangeAspect="1"/>
          </p:cNvGraphicFramePr>
          <p:nvPr>
            <p:custDataLst>
              <p:tags r:id="rId6"/>
            </p:custDataLst>
          </p:nvPr>
        </p:nvGraphicFramePr>
        <p:xfrm>
          <a:off x="5003800" y="4508818"/>
          <a:ext cx="3376295" cy="1966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02" r:id="rId12" imgW="1548765" imgH="901700" progId="Equation.DSMT4">
                  <p:embed/>
                </p:oleObj>
              </mc:Choice>
              <mc:Fallback>
                <p:oleObj r:id="rId12" imgW="1548765" imgH="901700" progId="Equation.DSMT4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003800" y="4508818"/>
                        <a:ext cx="3376295" cy="196659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06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8" grpId="0" build="p"/>
      <p:bldP spid="5" grpId="0" build="p"/>
      <p:bldP spid="5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通过实例得到矩阵的概念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1547495" y="1628775"/>
            <a:ext cx="5607050" cy="1253490"/>
            <a:chOff x="2437" y="2565"/>
            <a:chExt cx="8830" cy="1974"/>
          </a:xfrm>
        </p:grpSpPr>
        <p:sp>
          <p:nvSpPr>
            <p:cNvPr id="70658" name="Text Box 2"/>
            <p:cNvSpPr txBox="1"/>
            <p:nvPr>
              <p:custDataLst>
                <p:tags r:id="rId1"/>
              </p:custDataLst>
            </p:nvPr>
          </p:nvSpPr>
          <p:spPr>
            <a:xfrm>
              <a:off x="2437" y="2565"/>
              <a:ext cx="8831" cy="19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  <a:p>
              <a:pPr marL="0" lvl="0" algn="l" defTabSz="91440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                         </a:t>
              </a:r>
              <a:r>
                <a:rPr lang="zh-CN" sz="2800" b="1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什么是矩阵呢？</a:t>
              </a:r>
            </a:p>
          </p:txBody>
        </p:sp>
        <p:sp>
          <p:nvSpPr>
            <p:cNvPr id="4" name="矩形 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4053" y="3583"/>
              <a:ext cx="1930" cy="9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rPr>
                <a:t>思考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9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重点问题</a:t>
            </a:r>
            <a:r>
              <a:rPr lang="en-US" altLang="zh-CN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:  </a:t>
            </a: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矩阵的概念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" name="矩形 32"/>
          <p:cNvSpPr>
            <a:spLocks noChangeArrowheads="1"/>
          </p:cNvSpPr>
          <p:nvPr/>
        </p:nvSpPr>
        <p:spPr bwMode="auto">
          <a:xfrm>
            <a:off x="640080" y="949325"/>
            <a:ext cx="1696085" cy="607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定义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2.1</a:t>
            </a:r>
          </a:p>
        </p:txBody>
      </p:sp>
      <p:sp>
        <p:nvSpPr>
          <p:cNvPr id="15362" name="Text Box 2"/>
          <p:cNvSpPr txBox="1"/>
          <p:nvPr>
            <p:custDataLst>
              <p:tags r:id="rId2"/>
            </p:custDataLst>
          </p:nvPr>
        </p:nvSpPr>
        <p:spPr>
          <a:xfrm>
            <a:off x="1906270" y="1017905"/>
            <a:ext cx="723773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由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m 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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n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个数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a</a:t>
            </a:r>
            <a:r>
              <a:rPr lang="en-US" altLang="zh-CN" sz="2800" b="1" i="1" baseline="-250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ij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(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i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= 1, 2, … ,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;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j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=1,2,… ,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) </a:t>
            </a:r>
            <a:r>
              <a:rPr lang="en-US" altLang="zh-CN" sz="2800" b="1" dirty="0">
                <a:solidFill>
                  <a:srgbClr val="0066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</a:p>
        </p:txBody>
      </p:sp>
      <p:graphicFrame>
        <p:nvGraphicFramePr>
          <p:cNvPr id="15371" name="Object 5"/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2260918" y="2080895"/>
          <a:ext cx="5334635" cy="21456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17" r:id="rId11" imgW="2336800" imgH="939800" progId="Equation.3">
                  <p:embed/>
                </p:oleObj>
              </mc:Choice>
              <mc:Fallback>
                <p:oleObj r:id="rId11" imgW="2336800" imgH="9398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260918" y="2080895"/>
                        <a:ext cx="5334635" cy="21456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6" name="Text Box 6"/>
          <p:cNvSpPr txBox="1"/>
          <p:nvPr>
            <p:custDataLst>
              <p:tags r:id="rId4"/>
            </p:custDataLst>
          </p:nvPr>
        </p:nvSpPr>
        <p:spPr>
          <a:xfrm>
            <a:off x="611505" y="4330700"/>
            <a:ext cx="3665538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叫做一个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m 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 </a:t>
            </a:r>
            <a:r>
              <a:rPr lang="en-US" altLang="zh-CN" b="1" i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n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矩阵</a:t>
            </a:r>
            <a:endParaRPr lang="zh-CN" altLang="en-US" sz="2800" b="1" dirty="0">
              <a:solidFill>
                <a:srgbClr val="C00000"/>
              </a:solidFill>
              <a:latin typeface="华文中宋" panose="02010600040101010101" pitchFamily="2" charset="-122"/>
              <a:ea typeface="华文中宋" panose="020106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5368" name="Rectangle 8"/>
          <p:cNvSpPr/>
          <p:nvPr>
            <p:custDataLst>
              <p:tags r:id="rId5"/>
            </p:custDataLst>
          </p:nvPr>
        </p:nvSpPr>
        <p:spPr>
          <a:xfrm>
            <a:off x="640080" y="5018405"/>
            <a:ext cx="7721600" cy="1014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元素</a:t>
            </a:r>
            <a:r>
              <a:rPr lang="en-US" altLang="zh-CN" sz="2800" b="1" dirty="0">
                <a:solidFill>
                  <a:srgbClr val="0066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a</a:t>
            </a:r>
            <a:r>
              <a:rPr lang="en-US" altLang="zh-CN" sz="2800" b="1" i="1" baseline="-250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ij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叫做矩阵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的第</a:t>
            </a:r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i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行第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j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列元素简称矩阵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的（</a:t>
            </a:r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i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，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j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）元.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15369" name="Rectangle 9"/>
          <p:cNvSpPr/>
          <p:nvPr>
            <p:custDataLst>
              <p:tags r:id="rId6"/>
            </p:custDataLst>
          </p:nvPr>
        </p:nvSpPr>
        <p:spPr>
          <a:xfrm>
            <a:off x="640080" y="1558925"/>
            <a:ext cx="54864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排成的</a:t>
            </a:r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行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列的数表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3" name="Text Box 10"/>
          <p:cNvSpPr txBox="1"/>
          <p:nvPr>
            <p:custDataLst>
              <p:tags r:id="rId7"/>
            </p:custDataLst>
          </p:nvPr>
        </p:nvSpPr>
        <p:spPr>
          <a:xfrm>
            <a:off x="3995738" y="4330383"/>
            <a:ext cx="446405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，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这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m 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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个数叫做矩阵的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3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5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53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53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 build="p"/>
      <p:bldP spid="15366" grpId="0" build="p"/>
      <p:bldP spid="15368" grpId="0" build="p" advAuto="1000"/>
      <p:bldP spid="15369" grpId="0" build="p" advAuto="100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重</a:t>
            </a:r>
            <a:r>
              <a:rPr lang="en-US" altLang="zh-CN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难</a:t>
            </a:r>
            <a:r>
              <a:rPr lang="en-US" altLang="zh-CN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点问题</a:t>
            </a:r>
            <a:r>
              <a:rPr lang="zh-CN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：几种特殊矩阵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" name="矩形 32"/>
          <p:cNvSpPr>
            <a:spLocks noChangeArrowheads="1"/>
          </p:cNvSpPr>
          <p:nvPr/>
        </p:nvSpPr>
        <p:spPr bwMode="auto">
          <a:xfrm>
            <a:off x="640080" y="949325"/>
            <a:ext cx="2836545" cy="607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定义</a:t>
            </a:r>
            <a:r>
              <a:rPr lang="zh-CN" altLang="en-US" sz="2800" b="1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（零矩阵）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105478" name="Text Box 6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17843" y="1680845"/>
            <a:ext cx="800100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algn="l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800" b="1" kern="1200" cap="none" spc="0" normalizeH="0" baseline="0" noProof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       </a:t>
            </a:r>
            <a:r>
              <a:rPr kumimoji="1" lang="zh-CN" altLang="en-US" sz="2800" b="1" kern="1200" cap="none" spc="0" normalizeH="0" baseline="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若一个矩阵的所有元素都为零，则称这个矩</a:t>
            </a:r>
          </a:p>
        </p:txBody>
      </p:sp>
      <p:sp>
        <p:nvSpPr>
          <p:cNvPr id="105479" name="Rectangle 7"/>
          <p:cNvSpPr/>
          <p:nvPr>
            <p:custDataLst>
              <p:tags r:id="rId2"/>
            </p:custDataLst>
          </p:nvPr>
        </p:nvSpPr>
        <p:spPr>
          <a:xfrm>
            <a:off x="635953" y="2996248"/>
            <a:ext cx="5791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引起混淆的情况下，也可记为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Ｏ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．</a:t>
            </a:r>
          </a:p>
        </p:txBody>
      </p:sp>
      <p:sp>
        <p:nvSpPr>
          <p:cNvPr id="105480" name="Rectangle 8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28015" y="2324735"/>
            <a:ext cx="7780338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阵为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零矩阵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， </a:t>
            </a: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m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rPr>
              <a:t> </a:t>
            </a: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rPr>
              <a:t>n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zh-CN" altLang="en-US" sz="2800" b="1" i="0" u="none" strike="noStrike" kern="1200" cap="none" spc="0" normalizeH="0" baseline="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  <a:sym typeface="Symbol" panose="05050102010706020507" pitchFamily="18" charset="2"/>
              </a:rPr>
              <a:t>零矩阵记为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zh-CN" altLang="en-US" sz="28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rPr>
              <a:t>Ｏ</a:t>
            </a:r>
            <a:r>
              <a:rPr kumimoji="1" lang="en-US" altLang="zh-CN" sz="2800" b="1" i="1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m 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rPr>
              <a:t> </a:t>
            </a:r>
            <a:r>
              <a:rPr kumimoji="1" lang="en-US" altLang="zh-CN" sz="2800" b="1" i="1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rPr>
              <a:t>n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rPr>
              <a:t>，</a:t>
            </a:r>
            <a:r>
              <a:rPr kumimoji="1" lang="zh-CN" altLang="en-US" sz="2800" b="1" i="0" u="none" strike="noStrike" kern="1200" cap="none" spc="0" normalizeH="0" baseline="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  <a:sym typeface="Symbol" panose="05050102010706020507" pitchFamily="18" charset="2"/>
              </a:rPr>
              <a:t>在不会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  <a:sym typeface="Symbol" panose="05050102010706020507" pitchFamily="18" charset="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54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54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54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8" grpId="0" build="p"/>
      <p:bldP spid="105479" grpId="0" build="p" advAuto="1000"/>
      <p:bldP spid="105480" grpId="0" uiExpand="1" build="p" advAuto="100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重</a:t>
            </a:r>
            <a:r>
              <a:rPr lang="en-US" altLang="zh-CN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难</a:t>
            </a:r>
            <a:r>
              <a:rPr lang="en-US" altLang="zh-CN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点问题</a:t>
            </a:r>
            <a:r>
              <a:rPr lang="zh-CN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：几种特殊矩阵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" name="矩形 32" descr="7b0a20202020227461726765744964223a202270726f636573734f6e6c696e6542756c6c6574220a7d0a"/>
          <p:cNvSpPr>
            <a:spLocks noChangeArrowheads="1"/>
          </p:cNvSpPr>
          <p:nvPr/>
        </p:nvSpPr>
        <p:spPr bwMode="auto">
          <a:xfrm>
            <a:off x="640080" y="949325"/>
            <a:ext cx="2836545" cy="607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定义</a:t>
            </a:r>
            <a:r>
              <a:rPr lang="zh-CN" altLang="en-US" sz="2800" b="1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（行矩阵）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9237" name="Text Box 21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3260" y="1828800"/>
            <a:ext cx="8001000" cy="1168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800" b="1" kern="1200" cap="none" spc="0" normalizeH="0" baseline="0" noProof="0"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       </a:t>
            </a:r>
            <a:r>
              <a:rPr kumimoji="1" lang="zh-CN" altLang="en-US" sz="2800" b="1" kern="1200" cap="none" spc="0" normalizeH="0" baseline="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只有一行的矩阵称为</a:t>
            </a:r>
            <a:r>
              <a:rPr kumimoji="1" lang="zh-CN" altLang="en-US" sz="2800" b="1" kern="1200" cap="none" spc="0" normalizeH="0" baseline="0" noProof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行矩阵</a:t>
            </a:r>
            <a:r>
              <a:rPr kumimoji="1" lang="zh-CN" altLang="en-US" sz="2800" b="1" kern="1200" cap="none" spc="0" normalizeH="0" baseline="0" noProof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</a:t>
            </a:r>
            <a:r>
              <a:rPr kumimoji="1" lang="en-US" altLang="zh-CN" sz="2800" b="1" kern="1200" cap="none" spc="0" normalizeH="0" baseline="0" noProof="0"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(</a:t>
            </a:r>
            <a:r>
              <a:rPr kumimoji="1" lang="zh-CN" altLang="en-US" sz="2800" b="1" kern="1200" cap="none" spc="0" normalizeH="0" baseline="0" dirty="0"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也称为</a:t>
            </a:r>
            <a:r>
              <a:rPr kumimoji="1" lang="zh-CN" altLang="en-US" sz="2800" b="1" kern="1200" cap="none" spc="0" normalizeH="0" baseline="0" noProof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行向量</a:t>
            </a:r>
            <a:r>
              <a:rPr kumimoji="1" lang="en-US" altLang="zh-CN" sz="2800" b="1" kern="1200" cap="none" spc="0" normalizeH="0" baseline="0" noProof="0"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).</a:t>
            </a:r>
            <a:endParaRPr kumimoji="1" lang="en-US" altLang="zh-CN" sz="2800" b="1" kern="1200" cap="none" spc="0" normalizeH="0" baseline="0" noProof="0"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如</a:t>
            </a:r>
            <a:r>
              <a:rPr kumimoji="1" lang="zh-CN" altLang="en-US" sz="2800" b="1" kern="1200" cap="none" spc="0" normalizeH="0" baseline="0" noProof="0"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                 </a:t>
            </a:r>
            <a:r>
              <a:rPr kumimoji="1" lang="en-US" altLang="zh-CN" sz="2800" b="1" i="1" kern="1200" cap="none" spc="0" normalizeH="0" baseline="0" noProof="0"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A</a:t>
            </a:r>
            <a:r>
              <a:rPr kumimoji="1" lang="en-US" altLang="zh-CN" sz="2800" b="1" kern="1200" cap="none" spc="0" normalizeH="0" baseline="0" noProof="0"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= ( </a:t>
            </a:r>
            <a:r>
              <a:rPr kumimoji="1" lang="en-US" altLang="zh-CN" sz="2800" b="1" i="1" kern="1200" cap="none" spc="0" normalizeH="0" baseline="0" noProof="0"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a</a:t>
            </a:r>
            <a:r>
              <a:rPr kumimoji="1" lang="en-US" altLang="zh-CN" sz="2800" b="1" kern="1200" cap="none" spc="0" normalizeH="0" baseline="-25000" noProof="0"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11  </a:t>
            </a:r>
            <a:r>
              <a:rPr kumimoji="1" lang="en-US" altLang="zh-CN" sz="2800" b="1" i="1" kern="1200" cap="none" spc="0" normalizeH="0" baseline="0" noProof="0"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a</a:t>
            </a:r>
            <a:r>
              <a:rPr kumimoji="1" lang="en-US" altLang="zh-CN" sz="2800" b="1" kern="1200" cap="none" spc="0" normalizeH="0" baseline="-25000" noProof="0"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12</a:t>
            </a:r>
            <a:r>
              <a:rPr kumimoji="1" lang="en-US" altLang="zh-CN" sz="2800" b="1" kern="1200" cap="none" spc="0" normalizeH="0" baseline="0" noProof="0"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 …  </a:t>
            </a:r>
            <a:r>
              <a:rPr kumimoji="1" lang="en-US" altLang="zh-CN" sz="2800" b="1" i="1" kern="1200" cap="none" spc="0" normalizeH="0" baseline="0" noProof="0"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a</a:t>
            </a:r>
            <a:r>
              <a:rPr kumimoji="1" lang="en-US" altLang="zh-CN" sz="2800" b="1" kern="1200" cap="none" spc="0" normalizeH="0" baseline="-25000" noProof="0"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1</a:t>
            </a:r>
            <a:r>
              <a:rPr kumimoji="1" lang="en-US" altLang="zh-CN" sz="2800" b="1" i="1" kern="1200" cap="none" spc="0" normalizeH="0" baseline="-25000" noProof="0"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n</a:t>
            </a:r>
            <a:r>
              <a:rPr kumimoji="1" lang="en-US" altLang="zh-CN" sz="2800" b="1" kern="1200" cap="none" spc="0" normalizeH="0" baseline="0" noProof="0"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).</a:t>
            </a:r>
          </a:p>
        </p:txBody>
      </p:sp>
      <p:sp>
        <p:nvSpPr>
          <p:cNvPr id="3" name="矩形 2" descr="7b0a20202020227461726765744964223a202270726f636573734f6e6c696e6542756c6c6574220a7d0a"/>
          <p:cNvSpPr>
            <a:spLocks noChangeArrowheads="1"/>
          </p:cNvSpPr>
          <p:nvPr/>
        </p:nvSpPr>
        <p:spPr bwMode="auto">
          <a:xfrm>
            <a:off x="568325" y="3068955"/>
            <a:ext cx="2836545" cy="607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定义</a:t>
            </a:r>
            <a:r>
              <a:rPr lang="zh-CN" altLang="en-US" sz="2800" b="1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（列矩阵）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</p:txBody>
      </p:sp>
      <p:graphicFrame>
        <p:nvGraphicFramePr>
          <p:cNvPr id="9238" name="Object 22"/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3260725" y="4235450"/>
          <a:ext cx="1973263" cy="222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841" name="Equation" r:id="rId9" imgW="17373600" imgH="22555200" progId="Equation.DSMT4">
                  <p:embed/>
                </p:oleObj>
              </mc:Choice>
              <mc:Fallback>
                <p:oleObj name="Equation" r:id="rId9" imgW="17373600" imgH="22555200" progId="Equation.DSMT4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260725" y="4235450"/>
                        <a:ext cx="1973263" cy="22240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9" name="Rectangle 23"/>
          <p:cNvSpPr/>
          <p:nvPr>
            <p:custDataLst>
              <p:tags r:id="rId4"/>
            </p:custDataLst>
          </p:nvPr>
        </p:nvSpPr>
        <p:spPr>
          <a:xfrm>
            <a:off x="618808" y="4295140"/>
            <a:ext cx="53911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如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9240" name="Rectangle 24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115695" y="3717290"/>
            <a:ext cx="7299325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只有一列的矩阵称为</a:t>
            </a:r>
            <a:r>
              <a:rPr kumimoji="1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列矩阵</a:t>
            </a:r>
            <a:r>
              <a:rPr kumimoji="1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</a:t>
            </a:r>
            <a:r>
              <a:rPr kumimoji="1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(</a:t>
            </a:r>
            <a:r>
              <a:rPr kumimoji="1" lang="zh-CN" altLang="en-US" sz="2800" b="1" i="0" u="none" strike="noStrike" kern="1200" cap="none" spc="0" normalizeH="0" baseline="0" dirty="0"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也称为</a:t>
            </a:r>
            <a:r>
              <a:rPr kumimoji="1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列向量</a:t>
            </a:r>
            <a:r>
              <a:rPr kumimoji="1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)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.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2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2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2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37" grpId="0" uiExpand="1" build="p"/>
      <p:bldP spid="9239" grpId="0" build="p"/>
      <p:bldP spid="9240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30">
            <a:extLst>
              <a:ext uri="{FF2B5EF4-FFF2-40B4-BE49-F238E27FC236}">
                <a16:creationId xmlns:a16="http://schemas.microsoft.com/office/drawing/2014/main" id="{221E5061-0DD0-2647-AF8B-6F9BCE9441CA}"/>
              </a:ext>
            </a:extLst>
          </p:cNvPr>
          <p:cNvSpPr txBox="1"/>
          <p:nvPr/>
        </p:nvSpPr>
        <p:spPr>
          <a:xfrm>
            <a:off x="251535" y="922026"/>
            <a:ext cx="5386090" cy="5645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t" anchorCtr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2800">
                <a:ea typeface="黑体" panose="02010609060101010101" pitchFamily="49" charset="-122"/>
              </a:defRPr>
            </a:lvl1pPr>
          </a:lstStyle>
          <a:p>
            <a:r>
              <a:rPr lang="en-US" altLang="zh-CN" dirty="0">
                <a:ea typeface="+mn-ea"/>
                <a:cs typeface="+mn-ea"/>
                <a:sym typeface="+mn-lt"/>
              </a:rPr>
              <a:t>            </a:t>
            </a:r>
            <a:r>
              <a:rPr lang="zh-CN" altLang="zh-CN" dirty="0">
                <a:ea typeface="+mn-ea"/>
                <a:cs typeface="+mn-ea"/>
                <a:sym typeface="+mn-lt"/>
              </a:rPr>
              <a:t>写出与下列变换对应的矩阵</a:t>
            </a:r>
          </a:p>
        </p:txBody>
      </p:sp>
      <p:sp>
        <p:nvSpPr>
          <p:cNvPr id="9" name="文本框 27">
            <a:extLst>
              <a:ext uri="{FF2B5EF4-FFF2-40B4-BE49-F238E27FC236}">
                <a16:creationId xmlns:a16="http://schemas.microsoft.com/office/drawing/2014/main" id="{5EA2A64F-387A-3249-853C-82BBDA25BD7F}"/>
              </a:ext>
            </a:extLst>
          </p:cNvPr>
          <p:cNvSpPr txBox="1"/>
          <p:nvPr/>
        </p:nvSpPr>
        <p:spPr>
          <a:xfrm>
            <a:off x="222850" y="920270"/>
            <a:ext cx="993862" cy="56451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800" dirty="0">
                <a:solidFill>
                  <a:prstClr val="black"/>
                </a:solidFill>
                <a:cs typeface="+mn-ea"/>
                <a:sym typeface="+mn-lt"/>
              </a:rPr>
              <a:t>📚</a:t>
            </a:r>
            <a:r>
              <a:rPr lang="zh-CN" altLang="en-US" sz="2800" dirty="0">
                <a:solidFill>
                  <a:prstClr val="black"/>
                </a:solidFill>
                <a:highlight>
                  <a:srgbClr val="FFC000"/>
                </a:highlight>
                <a:cs typeface="+mn-ea"/>
                <a:sym typeface="+mn-lt"/>
              </a:rPr>
              <a:t>例</a:t>
            </a:r>
            <a:r>
              <a:rPr lang="en-US" altLang="zh-CN" sz="2800" dirty="0">
                <a:solidFill>
                  <a:prstClr val="black"/>
                </a:solidFill>
                <a:highlight>
                  <a:srgbClr val="FFC000"/>
                </a:highlight>
                <a:cs typeface="+mn-ea"/>
                <a:sym typeface="+mn-lt"/>
              </a:rPr>
              <a:t>1</a:t>
            </a:r>
            <a:endParaRPr lang="zh-CN" altLang="en-US" sz="2800" dirty="0">
              <a:solidFill>
                <a:prstClr val="black"/>
              </a:solidFill>
              <a:highlight>
                <a:srgbClr val="FFC000"/>
              </a:highlight>
              <a:cs typeface="+mn-ea"/>
              <a:sym typeface="+mn-lt"/>
            </a:endParaRPr>
          </a:p>
        </p:txBody>
      </p:sp>
      <p:grpSp>
        <p:nvGrpSpPr>
          <p:cNvPr id="10" name="组合 5">
            <a:extLst>
              <a:ext uri="{FF2B5EF4-FFF2-40B4-BE49-F238E27FC236}">
                <a16:creationId xmlns:a16="http://schemas.microsoft.com/office/drawing/2014/main" id="{B7B467D1-B13A-B441-A2F8-7F51777E9640}"/>
              </a:ext>
            </a:extLst>
          </p:cNvPr>
          <p:cNvGrpSpPr/>
          <p:nvPr/>
        </p:nvGrpSpPr>
        <p:grpSpPr>
          <a:xfrm>
            <a:off x="-1530981" y="4104794"/>
            <a:ext cx="12193200" cy="706281"/>
            <a:chOff x="-1524600" y="3212976"/>
            <a:chExt cx="12193200" cy="706281"/>
          </a:xfrm>
        </p:grpSpPr>
        <p:cxnSp>
          <p:nvCxnSpPr>
            <p:cNvPr id="11" name="直接连接符 51">
              <a:extLst>
                <a:ext uri="{FF2B5EF4-FFF2-40B4-BE49-F238E27FC236}">
                  <a16:creationId xmlns:a16="http://schemas.microsoft.com/office/drawing/2014/main" id="{F736E8CA-A486-3C4C-95EF-C973816AEB18}"/>
                </a:ext>
              </a:extLst>
            </p:cNvPr>
            <p:cNvCxnSpPr>
              <a:cxnSpLocks/>
            </p:cNvCxnSpPr>
            <p:nvPr/>
          </p:nvCxnSpPr>
          <p:spPr>
            <a:xfrm>
              <a:off x="-1524600" y="3212976"/>
              <a:ext cx="12193200" cy="0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46">
              <a:extLst>
                <a:ext uri="{FF2B5EF4-FFF2-40B4-BE49-F238E27FC236}">
                  <a16:creationId xmlns:a16="http://schemas.microsoft.com/office/drawing/2014/main" id="{D02A7EFF-1A7B-9349-BF36-43D02B9390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916" y="3354743"/>
              <a:ext cx="359073" cy="5645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t" anchorCtr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kumimoji="1" lang="zh-CN" altLang="en-US" sz="2800" dirty="0">
                  <a:solidFill>
                    <a:prstClr val="black"/>
                  </a:solidFill>
                  <a:highlight>
                    <a:srgbClr val="FFC000"/>
                  </a:highlight>
                  <a:cs typeface="+mn-ea"/>
                  <a:sym typeface="+mn-lt"/>
                </a:rPr>
                <a:t>解</a:t>
              </a:r>
              <a:endParaRPr kumimoji="1" lang="en-US" altLang="zh-CN" sz="2800" dirty="0">
                <a:solidFill>
                  <a:srgbClr val="FFC000"/>
                </a:solidFill>
                <a:highlight>
                  <a:srgbClr val="FFC000"/>
                </a:highlight>
                <a:cs typeface="+mn-ea"/>
                <a:sym typeface="+mn-lt"/>
              </a:endParaRPr>
            </a:p>
          </p:txBody>
        </p:sp>
      </p:grpSp>
      <p:graphicFrame>
        <p:nvGraphicFramePr>
          <p:cNvPr id="13" name="Object 6">
            <a:extLst>
              <a:ext uri="{FF2B5EF4-FFF2-40B4-BE49-F238E27FC236}">
                <a16:creationId xmlns:a16="http://schemas.microsoft.com/office/drawing/2014/main" id="{8DD8EAE6-11D1-9A47-9CE6-C81B264B03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3013154"/>
              </p:ext>
            </p:extLst>
          </p:nvPr>
        </p:nvGraphicFramePr>
        <p:xfrm>
          <a:off x="222850" y="1742669"/>
          <a:ext cx="4787640" cy="20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995" name="Equation" r:id="rId3" imgW="4787640" imgH="2082600" progId="Equation.DSMT4">
                  <p:embed/>
                </p:oleObj>
              </mc:Choice>
              <mc:Fallback>
                <p:oleObj name="Equation" r:id="rId3" imgW="4787640" imgH="2082600" progId="Equation.DSMT4">
                  <p:embed/>
                  <p:pic>
                    <p:nvPicPr>
                      <p:cNvPr id="20" name="Object 6">
                        <a:extLst>
                          <a:ext uri="{FF2B5EF4-FFF2-40B4-BE49-F238E27FC236}">
                            <a16:creationId xmlns:a16="http://schemas.microsoft.com/office/drawing/2014/main" id="{37860408-5C49-4560-AA10-F2D1320329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850" y="1742669"/>
                        <a:ext cx="4787640" cy="20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6">
            <a:extLst>
              <a:ext uri="{FF2B5EF4-FFF2-40B4-BE49-F238E27FC236}">
                <a16:creationId xmlns:a16="http://schemas.microsoft.com/office/drawing/2014/main" id="{CF66E76B-9A36-2941-AF66-F49AAD5B6E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3683673"/>
              </p:ext>
            </p:extLst>
          </p:nvPr>
        </p:nvGraphicFramePr>
        <p:xfrm>
          <a:off x="610608" y="4443810"/>
          <a:ext cx="3619440" cy="20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996" name="Equation" r:id="rId5" imgW="3619440" imgH="2082600" progId="Equation.DSMT4">
                  <p:embed/>
                </p:oleObj>
              </mc:Choice>
              <mc:Fallback>
                <p:oleObj name="Equation" r:id="rId5" imgW="3619440" imgH="2082600" progId="Equation.DSMT4">
                  <p:embed/>
                  <p:pic>
                    <p:nvPicPr>
                      <p:cNvPr id="21" name="Object 6">
                        <a:extLst>
                          <a:ext uri="{FF2B5EF4-FFF2-40B4-BE49-F238E27FC236}">
                            <a16:creationId xmlns:a16="http://schemas.microsoft.com/office/drawing/2014/main" id="{F936550D-D569-4A14-A6E6-9323BD7202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608" y="4443810"/>
                        <a:ext cx="3619440" cy="20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6">
            <a:extLst>
              <a:ext uri="{FF2B5EF4-FFF2-40B4-BE49-F238E27FC236}">
                <a16:creationId xmlns:a16="http://schemas.microsoft.com/office/drawing/2014/main" id="{8A0F70A5-3E07-2F4A-A9A6-EE349F6617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0818031"/>
              </p:ext>
            </p:extLst>
          </p:nvPr>
        </p:nvGraphicFramePr>
        <p:xfrm>
          <a:off x="4798433" y="4443810"/>
          <a:ext cx="3111480" cy="20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997" name="Equation" r:id="rId7" imgW="3111480" imgH="2082600" progId="Equation.DSMT4">
                  <p:embed/>
                </p:oleObj>
              </mc:Choice>
              <mc:Fallback>
                <p:oleObj name="Equation" r:id="rId7" imgW="3111480" imgH="2082600" progId="Equation.DSMT4">
                  <p:embed/>
                  <p:pic>
                    <p:nvPicPr>
                      <p:cNvPr id="22" name="Object 6">
                        <a:extLst>
                          <a:ext uri="{FF2B5EF4-FFF2-40B4-BE49-F238E27FC236}">
                            <a16:creationId xmlns:a16="http://schemas.microsoft.com/office/drawing/2014/main" id="{34AA1E82-DAF4-4AA6-B518-E84A442AF8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8433" y="4443810"/>
                        <a:ext cx="3111480" cy="20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0763613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0">
            <a:extLst>
              <a:ext uri="{FF2B5EF4-FFF2-40B4-BE49-F238E27FC236}">
                <a16:creationId xmlns:a16="http://schemas.microsoft.com/office/drawing/2014/main" id="{F9A8006B-47D6-2840-8780-D878C667C131}"/>
              </a:ext>
            </a:extLst>
          </p:cNvPr>
          <p:cNvSpPr txBox="1"/>
          <p:nvPr/>
        </p:nvSpPr>
        <p:spPr>
          <a:xfrm>
            <a:off x="251535" y="922026"/>
            <a:ext cx="3321422" cy="5645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t" anchorCtr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2800">
                <a:ea typeface="黑体" panose="02010609060101010101" pitchFamily="49" charset="-122"/>
              </a:defRPr>
            </a:lvl1pPr>
          </a:lstStyle>
          <a:p>
            <a:pPr lvl="0"/>
            <a:r>
              <a:rPr lang="en-US" altLang="zh-CN" dirty="0">
                <a:solidFill>
                  <a:prstClr val="black"/>
                </a:solidFill>
                <a:ea typeface="+mn-ea"/>
                <a:cs typeface="+mn-ea"/>
                <a:sym typeface="+mn-lt"/>
              </a:rPr>
              <a:t>            </a:t>
            </a:r>
            <a:r>
              <a:rPr lang="zh-CN" altLang="zh-CN" b="1" dirty="0">
                <a:ea typeface="+mn-ea"/>
                <a:cs typeface="+mn-ea"/>
                <a:sym typeface="+mn-lt"/>
              </a:rPr>
              <a:t> </a:t>
            </a:r>
            <a:r>
              <a:rPr lang="zh-CN" altLang="zh-CN" dirty="0">
                <a:ea typeface="+mn-ea"/>
                <a:cs typeface="+mn-ea"/>
                <a:sym typeface="+mn-lt"/>
              </a:rPr>
              <a:t>港口间的航线</a:t>
            </a:r>
            <a:endParaRPr lang="zh-CN" altLang="zh-CN" dirty="0">
              <a:solidFill>
                <a:prstClr val="black"/>
              </a:solidFill>
              <a:ea typeface="+mn-ea"/>
              <a:cs typeface="+mn-ea"/>
              <a:sym typeface="+mn-lt"/>
            </a:endParaRPr>
          </a:p>
        </p:txBody>
      </p:sp>
      <p:sp>
        <p:nvSpPr>
          <p:cNvPr id="3" name="文本框 27">
            <a:extLst>
              <a:ext uri="{FF2B5EF4-FFF2-40B4-BE49-F238E27FC236}">
                <a16:creationId xmlns:a16="http://schemas.microsoft.com/office/drawing/2014/main" id="{48FE2772-50DE-7C47-A869-015866A2874B}"/>
              </a:ext>
            </a:extLst>
          </p:cNvPr>
          <p:cNvSpPr txBox="1"/>
          <p:nvPr/>
        </p:nvSpPr>
        <p:spPr>
          <a:xfrm>
            <a:off x="222850" y="920270"/>
            <a:ext cx="993862" cy="56451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800" dirty="0">
                <a:solidFill>
                  <a:prstClr val="black"/>
                </a:solidFill>
                <a:cs typeface="+mn-ea"/>
                <a:sym typeface="+mn-lt"/>
              </a:rPr>
              <a:t>📚</a:t>
            </a:r>
            <a:r>
              <a:rPr lang="zh-CN" altLang="en-US" sz="2800" dirty="0">
                <a:solidFill>
                  <a:prstClr val="black"/>
                </a:solidFill>
                <a:highlight>
                  <a:srgbClr val="FFC000"/>
                </a:highlight>
                <a:cs typeface="+mn-ea"/>
                <a:sym typeface="+mn-lt"/>
              </a:rPr>
              <a:t>例</a:t>
            </a:r>
            <a:r>
              <a:rPr lang="en-US" altLang="zh-CN" sz="2800" dirty="0">
                <a:solidFill>
                  <a:prstClr val="black"/>
                </a:solidFill>
                <a:highlight>
                  <a:srgbClr val="FFC000"/>
                </a:highlight>
                <a:cs typeface="+mn-ea"/>
                <a:sym typeface="+mn-lt"/>
              </a:rPr>
              <a:t>1</a:t>
            </a:r>
            <a:endParaRPr lang="zh-CN" altLang="en-US" sz="2800" dirty="0">
              <a:solidFill>
                <a:prstClr val="black"/>
              </a:solidFill>
              <a:highlight>
                <a:srgbClr val="FFC000"/>
              </a:highlight>
              <a:cs typeface="+mn-ea"/>
              <a:sym typeface="+mn-lt"/>
            </a:endParaRPr>
          </a:p>
        </p:txBody>
      </p:sp>
      <p:sp>
        <p:nvSpPr>
          <p:cNvPr id="5" name="文本框 14">
            <a:extLst>
              <a:ext uri="{FF2B5EF4-FFF2-40B4-BE49-F238E27FC236}">
                <a16:creationId xmlns:a16="http://schemas.microsoft.com/office/drawing/2014/main" id="{B8FD5771-6B82-5A43-8DA2-A0461C0A8326}"/>
              </a:ext>
            </a:extLst>
          </p:cNvPr>
          <p:cNvSpPr txBox="1"/>
          <p:nvPr/>
        </p:nvSpPr>
        <p:spPr>
          <a:xfrm>
            <a:off x="190616" y="1709855"/>
            <a:ext cx="49285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cs typeface="+mn-ea"/>
                <a:sym typeface="+mn-lt"/>
              </a:rPr>
              <a:t>图</a:t>
            </a:r>
            <a:r>
              <a:rPr lang="en-US" altLang="zh-CN" sz="2800" dirty="0">
                <a:cs typeface="+mn-ea"/>
                <a:sym typeface="+mn-lt"/>
              </a:rPr>
              <a:t>2.1</a:t>
            </a:r>
            <a:r>
              <a:rPr lang="zh-CN" altLang="en-US" sz="2800" dirty="0">
                <a:cs typeface="+mn-ea"/>
                <a:sym typeface="+mn-lt"/>
              </a:rPr>
              <a:t>是</a:t>
            </a:r>
            <a:r>
              <a:rPr lang="en-US" altLang="zh-CN" sz="2800" dirty="0">
                <a:cs typeface="+mn-ea"/>
                <a:sym typeface="+mn-lt"/>
              </a:rPr>
              <a:t>4</a:t>
            </a:r>
            <a:r>
              <a:rPr lang="zh-CN" altLang="en-US" sz="2800" dirty="0">
                <a:cs typeface="+mn-ea"/>
                <a:sym typeface="+mn-lt"/>
              </a:rPr>
              <a:t>个港口间的单向航线，</a:t>
            </a:r>
          </a:p>
        </p:txBody>
      </p:sp>
      <p:graphicFrame>
        <p:nvGraphicFramePr>
          <p:cNvPr id="6" name="对象 10">
            <a:extLst>
              <a:ext uri="{FF2B5EF4-FFF2-40B4-BE49-F238E27FC236}">
                <a16:creationId xmlns:a16="http://schemas.microsoft.com/office/drawing/2014/main" id="{30BD620E-813C-7E42-B65F-4CFA6F76AE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564037"/>
              </p:ext>
            </p:extLst>
          </p:nvPr>
        </p:nvGraphicFramePr>
        <p:xfrm>
          <a:off x="250825" y="2433985"/>
          <a:ext cx="64008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13" name="Equation" r:id="rId3" imgW="6400800" imgH="1041120" progId="Equation.DSMT4">
                  <p:embed/>
                </p:oleObj>
              </mc:Choice>
              <mc:Fallback>
                <p:oleObj name="Equation" r:id="rId3" imgW="6400800" imgH="104112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5B18E360-500F-4F85-9EC7-4E121D779F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2433985"/>
                        <a:ext cx="6400800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26">
            <a:extLst>
              <a:ext uri="{FF2B5EF4-FFF2-40B4-BE49-F238E27FC236}">
                <a16:creationId xmlns:a16="http://schemas.microsoft.com/office/drawing/2014/main" id="{13BE7F58-FE44-B24C-A684-7530472310BC}"/>
              </a:ext>
            </a:extLst>
          </p:cNvPr>
          <p:cNvSpPr txBox="1"/>
          <p:nvPr/>
        </p:nvSpPr>
        <p:spPr>
          <a:xfrm>
            <a:off x="134714" y="3577593"/>
            <a:ext cx="76291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cs typeface="+mn-ea"/>
                <a:sym typeface="+mn-lt"/>
              </a:rPr>
              <a:t>则</a:t>
            </a:r>
            <a:r>
              <a:rPr lang="en-US" altLang="zh-CN" sz="2800" dirty="0">
                <a:cs typeface="+mn-ea"/>
                <a:sym typeface="+mn-lt"/>
              </a:rPr>
              <a:t>4</a:t>
            </a:r>
            <a:r>
              <a:rPr lang="zh-CN" altLang="en-US" sz="2800" dirty="0">
                <a:cs typeface="+mn-ea"/>
                <a:sym typeface="+mn-lt"/>
              </a:rPr>
              <a:t>个港口间的航线情况可用下列矩阵表示：</a:t>
            </a:r>
          </a:p>
        </p:txBody>
      </p:sp>
      <p:graphicFrame>
        <p:nvGraphicFramePr>
          <p:cNvPr id="8" name="对象 17">
            <a:extLst>
              <a:ext uri="{FF2B5EF4-FFF2-40B4-BE49-F238E27FC236}">
                <a16:creationId xmlns:a16="http://schemas.microsoft.com/office/drawing/2014/main" id="{FD745CD1-60AD-5547-8200-0BC4ED87A1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9357752"/>
              </p:ext>
            </p:extLst>
          </p:nvPr>
        </p:nvGraphicFramePr>
        <p:xfrm>
          <a:off x="250825" y="4307601"/>
          <a:ext cx="2628900" cy="208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14" name="Equation" r:id="rId5" imgW="2628900" imgH="2082800" progId="Equation.DSMT4">
                  <p:embed/>
                </p:oleObj>
              </mc:Choice>
              <mc:Fallback>
                <p:oleObj name="Equation" r:id="rId5" imgW="2628900" imgH="208280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0832EF24-4F72-4C78-800E-32BBF98C49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4307601"/>
                        <a:ext cx="2628900" cy="208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33">
            <a:extLst>
              <a:ext uri="{FF2B5EF4-FFF2-40B4-BE49-F238E27FC236}">
                <a16:creationId xmlns:a16="http://schemas.microsoft.com/office/drawing/2014/main" id="{4E5044E1-D008-A442-BC1E-7A23F5E8945E}"/>
              </a:ext>
            </a:extLst>
          </p:cNvPr>
          <p:cNvSpPr txBox="1"/>
          <p:nvPr/>
        </p:nvSpPr>
        <p:spPr>
          <a:xfrm>
            <a:off x="4466977" y="5847179"/>
            <a:ext cx="4369296" cy="6568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1000"/>
              </a:spcAft>
            </a:pPr>
            <a:r>
              <a:rPr lang="zh-CN" altLang="zh-CN" sz="2800" dirty="0">
                <a:cs typeface="+mn-ea"/>
                <a:sym typeface="+mn-lt"/>
              </a:rPr>
              <a:t>图</a:t>
            </a:r>
            <a:r>
              <a:rPr lang="en-US" altLang="zh-CN" sz="2800" dirty="0">
                <a:cs typeface="+mn-ea"/>
                <a:sym typeface="+mn-lt"/>
              </a:rPr>
              <a:t>2.1  </a:t>
            </a:r>
            <a:r>
              <a:rPr lang="zh-CN" altLang="zh-CN" sz="2800" dirty="0">
                <a:cs typeface="+mn-ea"/>
                <a:sym typeface="+mn-lt"/>
              </a:rPr>
              <a:t>港口间单向航线图</a:t>
            </a:r>
            <a:endParaRPr lang="zh-CN" altLang="zh-CN" sz="1100" dirty="0">
              <a:cs typeface="+mn-ea"/>
              <a:sym typeface="+mn-lt"/>
            </a:endParaRPr>
          </a:p>
        </p:txBody>
      </p:sp>
      <p:sp>
        <p:nvSpPr>
          <p:cNvPr id="10" name="文本框 38">
            <a:extLst>
              <a:ext uri="{FF2B5EF4-FFF2-40B4-BE49-F238E27FC236}">
                <a16:creationId xmlns:a16="http://schemas.microsoft.com/office/drawing/2014/main" id="{BDD8AAA6-A452-6F4C-90B9-8E4C786BC1CB}"/>
              </a:ext>
            </a:extLst>
          </p:cNvPr>
          <p:cNvSpPr txBox="1"/>
          <p:nvPr/>
        </p:nvSpPr>
        <p:spPr>
          <a:xfrm>
            <a:off x="5025530" y="1703977"/>
            <a:ext cx="14046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prstClr val="black"/>
                </a:solidFill>
                <a:cs typeface="+mn-ea"/>
                <a:sym typeface="+mn-lt"/>
              </a:rPr>
              <a:t>如果记</a:t>
            </a:r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11" name="图形 12">
            <a:extLst>
              <a:ext uri="{FF2B5EF4-FFF2-40B4-BE49-F238E27FC236}">
                <a16:creationId xmlns:a16="http://schemas.microsoft.com/office/drawing/2014/main" id="{76835B9D-5DF0-514E-A6D8-4CC58EF27B9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49695" y="4307601"/>
            <a:ext cx="1603860" cy="162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3816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7" grpId="0"/>
      <p:bldP spid="9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8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重</a:t>
            </a:r>
            <a:r>
              <a:rPr lang="en-US" altLang="zh-CN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难</a:t>
            </a:r>
            <a:r>
              <a:rPr lang="en-US" altLang="zh-CN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点问题</a:t>
            </a:r>
            <a:r>
              <a:rPr lang="zh-CN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：几种特殊矩阵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6502" name="Text Box 6"/>
          <p:cNvSpPr txBox="1"/>
          <p:nvPr>
            <p:custDataLst>
              <p:tags r:id="rId1"/>
            </p:custDataLst>
          </p:nvPr>
        </p:nvSpPr>
        <p:spPr>
          <a:xfrm>
            <a:off x="517843" y="1052513"/>
            <a:ext cx="8001000" cy="17221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定义（</a:t>
            </a:r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同型矩阵</a:t>
            </a:r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）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  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      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若两个矩阵的行数和列数分别相等，则称这两个矩阵为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同型矩阵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  <a:endParaRPr lang="zh-CN" altLang="en-US" sz="2800" b="1" dirty="0">
              <a:solidFill>
                <a:srgbClr val="0066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106503" name="Text Box 7"/>
          <p:cNvSpPr txBox="1"/>
          <p:nvPr>
            <p:custDataLst>
              <p:tags r:id="rId2"/>
            </p:custDataLst>
          </p:nvPr>
        </p:nvSpPr>
        <p:spPr>
          <a:xfrm>
            <a:off x="517843" y="3068638"/>
            <a:ext cx="8001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定义（矩阵相等）</a:t>
            </a:r>
            <a:endParaRPr lang="zh-CN" altLang="en-US" sz="2800" b="1" dirty="0">
              <a:solidFill>
                <a:srgbClr val="0066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11275" name="Rectangle 11"/>
          <p:cNvSpPr/>
          <p:nvPr>
            <p:custDataLst>
              <p:tags r:id="rId3"/>
            </p:custDataLst>
          </p:nvPr>
        </p:nvSpPr>
        <p:spPr>
          <a:xfrm>
            <a:off x="683895" y="5733415"/>
            <a:ext cx="6918325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则称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矩阵 </a:t>
            </a:r>
            <a:r>
              <a:rPr lang="en-US" altLang="zh-CN" b="1" i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 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和矩阵 </a:t>
            </a:r>
            <a:r>
              <a:rPr lang="en-US" altLang="zh-CN" b="1" i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相等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记为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A = B</a:t>
            </a:r>
            <a:r>
              <a:rPr lang="en-US" altLang="zh-CN" sz="2800" b="1" dirty="0">
                <a:solidFill>
                  <a:srgbClr val="0066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.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</a:p>
        </p:txBody>
      </p:sp>
      <p:sp>
        <p:nvSpPr>
          <p:cNvPr id="11276" name="Rectangle 12"/>
          <p:cNvSpPr/>
          <p:nvPr>
            <p:custDataLst>
              <p:tags r:id="rId4"/>
            </p:custDataLst>
          </p:nvPr>
        </p:nvSpPr>
        <p:spPr>
          <a:xfrm>
            <a:off x="1779588" y="5046028"/>
            <a:ext cx="6456362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en-US" altLang="zh-CN" sz="2800" b="1" i="1" baseline="-25000" dirty="0">
                <a:latin typeface="Times New Roman" panose="02020603050405020304" pitchFamily="18" charset="0"/>
                <a:ea typeface="黑体" panose="02010609060101010101" pitchFamily="49" charset="-122"/>
              </a:rPr>
              <a:t>ij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 = b</a:t>
            </a:r>
            <a:r>
              <a:rPr lang="en-US" altLang="zh-CN" sz="2800" b="1" i="1" baseline="-25000" dirty="0">
                <a:latin typeface="Times New Roman" panose="02020603050405020304" pitchFamily="18" charset="0"/>
                <a:ea typeface="黑体" panose="02010609060101010101" pitchFamily="49" charset="-122"/>
              </a:rPr>
              <a:t>ij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,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 i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= 1,2, … ,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m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,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j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= 1, 2, … ,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,</a:t>
            </a:r>
          </a:p>
        </p:txBody>
      </p:sp>
      <p:sp>
        <p:nvSpPr>
          <p:cNvPr id="11277" name="Rectangle 13"/>
          <p:cNvSpPr/>
          <p:nvPr>
            <p:custDataLst>
              <p:tags r:id="rId5"/>
            </p:custDataLst>
          </p:nvPr>
        </p:nvSpPr>
        <p:spPr>
          <a:xfrm>
            <a:off x="539750" y="4422140"/>
            <a:ext cx="62484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如果对应元素相等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,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即</a:t>
            </a:r>
          </a:p>
        </p:txBody>
      </p:sp>
      <p:sp>
        <p:nvSpPr>
          <p:cNvPr id="11278" name="Rectangle 14"/>
          <p:cNvSpPr/>
          <p:nvPr>
            <p:custDataLst>
              <p:tags r:id="rId6"/>
            </p:custDataLst>
          </p:nvPr>
        </p:nvSpPr>
        <p:spPr>
          <a:xfrm>
            <a:off x="1259840" y="3717290"/>
            <a:ext cx="7056576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两个同型矩阵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= (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en-US" altLang="zh-CN" sz="2800" b="1" i="1" baseline="-25000" dirty="0">
                <a:latin typeface="Times New Roman" panose="02020603050405020304" pitchFamily="18" charset="0"/>
                <a:ea typeface="黑体" panose="02010609060101010101" pitchFamily="49" charset="-122"/>
              </a:rPr>
              <a:t>ij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)</a:t>
            </a:r>
            <a:r>
              <a:rPr lang="en-US" altLang="zh-CN" sz="2800" b="1" i="1" baseline="-25000" dirty="0">
                <a:latin typeface="Times New Roman" panose="02020603050405020304" pitchFamily="18" charset="0"/>
                <a:ea typeface="黑体" panose="02010609060101010101" pitchFamily="49" charset="-122"/>
              </a:rPr>
              <a:t>m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黑体" panose="02010609060101010101" pitchFamily="49" charset="-122"/>
              </a:rPr>
              <a:t>×</a:t>
            </a:r>
            <a:r>
              <a:rPr lang="en-US" altLang="zh-CN" sz="2800" b="1" i="1" baseline="-25000" dirty="0"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与</a:t>
            </a:r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 = (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 b</a:t>
            </a:r>
            <a:r>
              <a:rPr lang="en-US" altLang="zh-CN" sz="2800" b="1" i="1" baseline="-250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ij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 )</a:t>
            </a:r>
            <a:r>
              <a:rPr lang="en-US" altLang="zh-CN" sz="2800" b="1" i="1" baseline="-250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m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×</a:t>
            </a:r>
            <a:r>
              <a:rPr lang="en-US" altLang="zh-CN" sz="2800" b="1" i="1" baseline="-250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 , </a:t>
            </a:r>
            <a:endParaRPr lang="zh-CN" altLang="zh-CN" sz="28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65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65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65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2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2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02" grpId="0" uiExpand="1" build="p"/>
      <p:bldP spid="106503" grpId="0" uiExpand="1" build="p"/>
      <p:bldP spid="11275" grpId="0" build="p" advAuto="1000"/>
      <p:bldP spid="11276" grpId="0" build="p" advAuto="1000"/>
      <p:bldP spid="11277" grpId="0" build="p" advAuto="1000"/>
      <p:bldP spid="11278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重</a:t>
            </a:r>
            <a:r>
              <a:rPr lang="en-US" altLang="zh-CN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难</a:t>
            </a:r>
            <a:r>
              <a:rPr lang="en-US" altLang="zh-CN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点问题</a:t>
            </a:r>
            <a:r>
              <a:rPr lang="zh-CN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：几种特殊矩阵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0" name="Object 6">
            <a:extLst>
              <a:ext uri="{FF2B5EF4-FFF2-40B4-BE49-F238E27FC236}">
                <a16:creationId xmlns:a16="http://schemas.microsoft.com/office/drawing/2014/main" id="{65C210DC-29C5-444A-B60D-29B0596DE7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24093"/>
              </p:ext>
            </p:extLst>
          </p:nvPr>
        </p:nvGraphicFramePr>
        <p:xfrm>
          <a:off x="-173911" y="3363635"/>
          <a:ext cx="2950164" cy="2103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040" name="Equation" r:id="rId5" imgW="1282680" imgH="914400" progId="Equation.DSMT4">
                  <p:embed/>
                </p:oleObj>
              </mc:Choice>
              <mc:Fallback>
                <p:oleObj name="Equation" r:id="rId5" imgW="1282680" imgH="914400" progId="Equation.DSMT4">
                  <p:embed/>
                  <p:pic>
                    <p:nvPicPr>
                      <p:cNvPr id="21" name="Object 6">
                        <a:extLst>
                          <a:ext uri="{FF2B5EF4-FFF2-40B4-BE49-F238E27FC236}">
                            <a16:creationId xmlns:a16="http://schemas.microsoft.com/office/drawing/2014/main" id="{694AF65A-9F69-4F48-B348-85949D313E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73911" y="3363635"/>
                        <a:ext cx="2950164" cy="21031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6">
            <a:extLst>
              <a:ext uri="{FF2B5EF4-FFF2-40B4-BE49-F238E27FC236}">
                <a16:creationId xmlns:a16="http://schemas.microsoft.com/office/drawing/2014/main" id="{313D948E-2D73-AB43-BE9E-88B93D7D86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9989097"/>
              </p:ext>
            </p:extLst>
          </p:nvPr>
        </p:nvGraphicFramePr>
        <p:xfrm>
          <a:off x="2871880" y="3338726"/>
          <a:ext cx="3008124" cy="2161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041" name="Equation" r:id="rId7" imgW="1307880" imgH="939600" progId="Equation.DSMT4">
                  <p:embed/>
                </p:oleObj>
              </mc:Choice>
              <mc:Fallback>
                <p:oleObj name="Equation" r:id="rId7" imgW="1307880" imgH="939600" progId="Equation.DSMT4">
                  <p:embed/>
                  <p:pic>
                    <p:nvPicPr>
                      <p:cNvPr id="23" name="Object 6">
                        <a:extLst>
                          <a:ext uri="{FF2B5EF4-FFF2-40B4-BE49-F238E27FC236}">
                            <a16:creationId xmlns:a16="http://schemas.microsoft.com/office/drawing/2014/main" id="{7B5298FF-8CE9-40E6-A8F5-AA3DBA2619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1880" y="3338726"/>
                        <a:ext cx="3008124" cy="21610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文本框 50">
            <a:extLst>
              <a:ext uri="{FF2B5EF4-FFF2-40B4-BE49-F238E27FC236}">
                <a16:creationId xmlns:a16="http://schemas.microsoft.com/office/drawing/2014/main" id="{7F468ABD-7CE8-7A42-83AB-2FD6831A7443}"/>
              </a:ext>
            </a:extLst>
          </p:cNvPr>
          <p:cNvSpPr txBox="1"/>
          <p:nvPr/>
        </p:nvSpPr>
        <p:spPr>
          <a:xfrm>
            <a:off x="173793" y="2122899"/>
            <a:ext cx="2080698" cy="564514"/>
          </a:xfrm>
          <a:prstGeom prst="rect">
            <a:avLst/>
          </a:prstGeom>
          <a:noFill/>
        </p:spPr>
        <p:txBody>
          <a:bodyPr wrap="none" lIns="0" tIns="0" rIns="0" bIns="0" rtlCol="0" anchor="t" anchorCtr="1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800" dirty="0">
                <a:solidFill>
                  <a:prstClr val="black"/>
                </a:solidFill>
                <a:cs typeface="+mn-ea"/>
                <a:sym typeface="+mn-lt"/>
              </a:rPr>
              <a:t>📝</a:t>
            </a:r>
            <a:r>
              <a:rPr lang="zh-CN" altLang="en-US" sz="2800" dirty="0">
                <a:solidFill>
                  <a:prstClr val="black"/>
                </a:solidFill>
                <a:highlight>
                  <a:srgbClr val="FFC000"/>
                </a:highlight>
                <a:cs typeface="+mn-ea"/>
                <a:sym typeface="+mn-lt"/>
              </a:rPr>
              <a:t> </a:t>
            </a:r>
            <a:r>
              <a:rPr lang="en-US" altLang="zh-CN" sz="2800" dirty="0">
                <a:solidFill>
                  <a:prstClr val="black"/>
                </a:solidFill>
                <a:highlight>
                  <a:srgbClr val="FFC000"/>
                </a:highlight>
                <a:cs typeface="+mn-ea"/>
                <a:sym typeface="+mn-lt"/>
              </a:rPr>
              <a:t>(1)</a:t>
            </a:r>
            <a:r>
              <a:rPr lang="zh-CN" altLang="en-US" sz="2800" dirty="0">
                <a:solidFill>
                  <a:prstClr val="black"/>
                </a:solidFill>
                <a:highlight>
                  <a:srgbClr val="FFC000"/>
                </a:highlight>
                <a:cs typeface="+mn-ea"/>
                <a:sym typeface="+mn-lt"/>
              </a:rPr>
              <a:t>零矩阵</a:t>
            </a:r>
            <a:endParaRPr lang="zh-CN" altLang="en-US" sz="2800" dirty="0">
              <a:solidFill>
                <a:prstClr val="black"/>
              </a:solidFill>
              <a:cs typeface="+mn-ea"/>
              <a:sym typeface="+mn-lt"/>
            </a:endParaRPr>
          </a:p>
        </p:txBody>
      </p:sp>
      <p:sp>
        <p:nvSpPr>
          <p:cNvPr id="24" name="文本框 24">
            <a:extLst>
              <a:ext uri="{FF2B5EF4-FFF2-40B4-BE49-F238E27FC236}">
                <a16:creationId xmlns:a16="http://schemas.microsoft.com/office/drawing/2014/main" id="{71999E2D-AF2F-8F4C-871A-6419D60FD766}"/>
              </a:ext>
            </a:extLst>
          </p:cNvPr>
          <p:cNvSpPr txBox="1"/>
          <p:nvPr/>
        </p:nvSpPr>
        <p:spPr>
          <a:xfrm>
            <a:off x="3145330" y="2122899"/>
            <a:ext cx="2439770" cy="564514"/>
          </a:xfrm>
          <a:prstGeom prst="rect">
            <a:avLst/>
          </a:prstGeom>
          <a:noFill/>
        </p:spPr>
        <p:txBody>
          <a:bodyPr wrap="none" lIns="0" tIns="0" rIns="0" bIns="0" rtlCol="0" anchor="t" anchorCtr="1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800" dirty="0">
                <a:solidFill>
                  <a:prstClr val="black"/>
                </a:solidFill>
                <a:cs typeface="+mn-ea"/>
                <a:sym typeface="+mn-lt"/>
              </a:rPr>
              <a:t>📝</a:t>
            </a:r>
            <a:r>
              <a:rPr lang="zh-CN" altLang="en-US" sz="2800" dirty="0">
                <a:solidFill>
                  <a:prstClr val="black"/>
                </a:solidFill>
                <a:highlight>
                  <a:srgbClr val="FFC000"/>
                </a:highlight>
                <a:cs typeface="+mn-ea"/>
                <a:sym typeface="+mn-lt"/>
              </a:rPr>
              <a:t> </a:t>
            </a:r>
            <a:r>
              <a:rPr lang="en-US" altLang="zh-CN" sz="2800" dirty="0">
                <a:solidFill>
                  <a:prstClr val="black"/>
                </a:solidFill>
                <a:highlight>
                  <a:srgbClr val="FFC000"/>
                </a:highlight>
                <a:cs typeface="+mn-ea"/>
                <a:sym typeface="+mn-lt"/>
              </a:rPr>
              <a:t>(2)</a:t>
            </a:r>
            <a:r>
              <a:rPr lang="zh-CN" altLang="en-US" sz="2800" dirty="0">
                <a:solidFill>
                  <a:prstClr val="black"/>
                </a:solidFill>
                <a:highlight>
                  <a:srgbClr val="FFC000"/>
                </a:highlight>
                <a:cs typeface="+mn-ea"/>
                <a:sym typeface="+mn-lt"/>
              </a:rPr>
              <a:t>对角矩阵</a:t>
            </a:r>
            <a:endParaRPr lang="zh-CN" altLang="en-US" sz="2800" dirty="0">
              <a:solidFill>
                <a:prstClr val="black"/>
              </a:solidFill>
              <a:cs typeface="+mn-ea"/>
              <a:sym typeface="+mn-lt"/>
            </a:endParaRPr>
          </a:p>
        </p:txBody>
      </p:sp>
      <p:graphicFrame>
        <p:nvGraphicFramePr>
          <p:cNvPr id="25" name="Object 6">
            <a:extLst>
              <a:ext uri="{FF2B5EF4-FFF2-40B4-BE49-F238E27FC236}">
                <a16:creationId xmlns:a16="http://schemas.microsoft.com/office/drawing/2014/main" id="{DA1F704B-C79C-954F-818F-4826A7A20C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6354295"/>
              </p:ext>
            </p:extLst>
          </p:nvPr>
        </p:nvGraphicFramePr>
        <p:xfrm>
          <a:off x="6372239" y="3363635"/>
          <a:ext cx="2599092" cy="2103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042" name="Equation" r:id="rId9" imgW="1130040" imgH="914400" progId="Equation.DSMT4">
                  <p:embed/>
                </p:oleObj>
              </mc:Choice>
              <mc:Fallback>
                <p:oleObj name="Equation" r:id="rId9" imgW="1130040" imgH="914400" progId="Equation.DSMT4">
                  <p:embed/>
                  <p:pic>
                    <p:nvPicPr>
                      <p:cNvPr id="26" name="Object 6">
                        <a:extLst>
                          <a:ext uri="{FF2B5EF4-FFF2-40B4-BE49-F238E27FC236}">
                            <a16:creationId xmlns:a16="http://schemas.microsoft.com/office/drawing/2014/main" id="{47D659ED-95AE-47F1-AB30-62E73C5500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39" y="3363635"/>
                        <a:ext cx="2599092" cy="21031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文本框 51">
            <a:extLst>
              <a:ext uri="{FF2B5EF4-FFF2-40B4-BE49-F238E27FC236}">
                <a16:creationId xmlns:a16="http://schemas.microsoft.com/office/drawing/2014/main" id="{667DEEE9-D083-5143-BBCD-88544022F7F6}"/>
              </a:ext>
            </a:extLst>
          </p:cNvPr>
          <p:cNvSpPr txBox="1"/>
          <p:nvPr/>
        </p:nvSpPr>
        <p:spPr>
          <a:xfrm>
            <a:off x="6372239" y="2122899"/>
            <a:ext cx="2439770" cy="564514"/>
          </a:xfrm>
          <a:prstGeom prst="rect">
            <a:avLst/>
          </a:prstGeom>
          <a:noFill/>
        </p:spPr>
        <p:txBody>
          <a:bodyPr wrap="none" lIns="0" tIns="0" rIns="0" bIns="0" rtlCol="0" anchor="t" anchorCtr="1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800" dirty="0">
                <a:solidFill>
                  <a:prstClr val="black"/>
                </a:solidFill>
                <a:cs typeface="+mn-ea"/>
                <a:sym typeface="+mn-lt"/>
              </a:rPr>
              <a:t>📝</a:t>
            </a:r>
            <a:r>
              <a:rPr lang="zh-CN" altLang="en-US" sz="2800" dirty="0">
                <a:solidFill>
                  <a:prstClr val="black"/>
                </a:solidFill>
                <a:highlight>
                  <a:srgbClr val="FFC000"/>
                </a:highlight>
                <a:cs typeface="+mn-ea"/>
                <a:sym typeface="+mn-lt"/>
              </a:rPr>
              <a:t> </a:t>
            </a:r>
            <a:r>
              <a:rPr lang="en-US" altLang="zh-CN" sz="2800" dirty="0">
                <a:solidFill>
                  <a:prstClr val="black"/>
                </a:solidFill>
                <a:highlight>
                  <a:srgbClr val="FFC000"/>
                </a:highlight>
                <a:cs typeface="+mn-ea"/>
                <a:sym typeface="+mn-lt"/>
              </a:rPr>
              <a:t>(3)</a:t>
            </a:r>
            <a:r>
              <a:rPr lang="zh-CN" altLang="en-US" sz="2800" dirty="0">
                <a:solidFill>
                  <a:prstClr val="black"/>
                </a:solidFill>
                <a:highlight>
                  <a:srgbClr val="FFC000"/>
                </a:highlight>
                <a:cs typeface="+mn-ea"/>
                <a:sym typeface="+mn-lt"/>
              </a:rPr>
              <a:t>数量矩阵</a:t>
            </a:r>
            <a:endParaRPr lang="zh-CN" altLang="en-US" sz="2800" dirty="0">
              <a:solidFill>
                <a:prstClr val="black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62625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4" grpId="0"/>
      <p:bldP spid="2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9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重</a:t>
            </a:r>
            <a:r>
              <a:rPr lang="en-US" altLang="zh-CN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难</a:t>
            </a:r>
            <a:r>
              <a:rPr lang="en-US" altLang="zh-CN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点问题</a:t>
            </a:r>
            <a:r>
              <a:rPr lang="zh-CN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：几种特殊矩阵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6503" name="Text Box 7"/>
          <p:cNvSpPr txBox="1"/>
          <p:nvPr>
            <p:custDataLst>
              <p:tags r:id="rId2"/>
            </p:custDataLst>
          </p:nvPr>
        </p:nvSpPr>
        <p:spPr>
          <a:xfrm>
            <a:off x="611188" y="3788728"/>
            <a:ext cx="8001000" cy="17532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定义（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ea typeface="华文细黑" panose="02010600040101010101" pitchFamily="2" charset="-122"/>
                <a:sym typeface="+mn-ea"/>
              </a:rPr>
              <a:t>n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 </a:t>
            </a:r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阶方阵）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 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若矩阵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的行数和列数均为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华文细黑" panose="02010600040101010101" pitchFamily="2" charset="-122"/>
                <a:sym typeface="+mn-ea"/>
              </a:rPr>
              <a:t>n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则称矩阵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为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rgbClr val="C00000"/>
                </a:solidFill>
                <a:latin typeface="Times New Roman" panose="02020603050405020304" pitchFamily="18" charset="0"/>
                <a:ea typeface="华文细黑" panose="02010600040101010101" pitchFamily="2" charset="-122"/>
                <a:sym typeface="+mn-ea"/>
              </a:rPr>
              <a:t>n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阶矩阵或 </a:t>
            </a:r>
            <a:r>
              <a:rPr lang="en-US" altLang="zh-CN" b="1" i="1" dirty="0">
                <a:solidFill>
                  <a:srgbClr val="C00000"/>
                </a:solidFill>
                <a:latin typeface="Times New Roman" panose="02020603050405020304" pitchFamily="18" charset="0"/>
                <a:ea typeface="华文细黑" panose="02010600040101010101" pitchFamily="2" charset="-122"/>
                <a:sym typeface="+mn-ea"/>
              </a:rPr>
              <a:t>n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阶方阵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  <a:endParaRPr lang="zh-CN" altLang="en-US" sz="2800" b="1" dirty="0">
              <a:solidFill>
                <a:srgbClr val="0066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grpSp>
        <p:nvGrpSpPr>
          <p:cNvPr id="2" name="Group 15"/>
          <p:cNvGrpSpPr/>
          <p:nvPr/>
        </p:nvGrpSpPr>
        <p:grpSpPr>
          <a:xfrm>
            <a:off x="762000" y="1724025"/>
            <a:ext cx="3328988" cy="1524000"/>
            <a:chOff x="768" y="2808"/>
            <a:chExt cx="2097" cy="960"/>
          </a:xfrm>
        </p:grpSpPr>
        <p:graphicFrame>
          <p:nvGraphicFramePr>
            <p:cNvPr id="20490" name="Object 16"/>
            <p:cNvGraphicFramePr>
              <a:graphicFrameLocks noChangeAspect="1"/>
            </p:cNvGraphicFramePr>
            <p:nvPr>
              <p:custDataLst>
                <p:tags r:id="rId5"/>
              </p:custDataLst>
            </p:nvPr>
          </p:nvGraphicFramePr>
          <p:xfrm>
            <a:off x="768" y="2808"/>
            <a:ext cx="720" cy="9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1873" r:id="rId11" imgW="685800" imgH="711200" progId="Equation.3">
                    <p:embed/>
                  </p:oleObj>
                </mc:Choice>
                <mc:Fallback>
                  <p:oleObj r:id="rId11" imgW="685800" imgH="711200" progId="Equation.3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768" y="2808"/>
                          <a:ext cx="720" cy="96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1" name="Object 17"/>
            <p:cNvGraphicFramePr>
              <a:graphicFrameLocks noChangeAspect="1"/>
            </p:cNvGraphicFramePr>
            <p:nvPr>
              <p:custDataLst>
                <p:tags r:id="rId6"/>
              </p:custDataLst>
            </p:nvPr>
          </p:nvGraphicFramePr>
          <p:xfrm>
            <a:off x="2204" y="2808"/>
            <a:ext cx="661" cy="9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1874" r:id="rId13" imgW="533400" imgH="711200" progId="Equation.3">
                    <p:embed/>
                  </p:oleObj>
                </mc:Choice>
                <mc:Fallback>
                  <p:oleObj r:id="rId13" imgW="533400" imgH="711200" progId="Equation.3">
                    <p:embed/>
                    <p:pic>
                      <p:nvPicPr>
                        <p:cNvPr id="0" name="图片 3078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204" y="2808"/>
                          <a:ext cx="661" cy="96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492" name="Text Box 18"/>
            <p:cNvSpPr txBox="1"/>
            <p:nvPr>
              <p:custDataLst>
                <p:tags r:id="rId7"/>
              </p:custDataLst>
            </p:nvPr>
          </p:nvSpPr>
          <p:spPr>
            <a:xfrm>
              <a:off x="1646" y="3072"/>
              <a:ext cx="396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algn="l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与</a:t>
              </a:r>
            </a:p>
          </p:txBody>
        </p:sp>
      </p:grpSp>
      <p:sp>
        <p:nvSpPr>
          <p:cNvPr id="11283" name="Text Box 19" descr="40%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572000" y="1838325"/>
            <a:ext cx="3733800" cy="11684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pattFill prst="pct40">
                  <a:fgClr>
                    <a:srgbClr val="FF99CC"/>
                  </a:fgClr>
                  <a:bgClr>
                    <a:srgbClr val="FFFFFF"/>
                  </a:bgClr>
                </a:pattFill>
              </a14:hiddenFill>
            </a:ext>
          </a:extLst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当</a:t>
            </a:r>
            <a:r>
              <a:rPr kumimoji="1" lang="zh-CN" altLang="en-US" sz="2800" b="1" kern="1200" cap="none" spc="0" normalizeH="0" baseline="0" noProof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</a:t>
            </a:r>
            <a:r>
              <a:rPr kumimoji="1" lang="en-US" altLang="zh-CN" sz="2800" b="1" i="1" kern="1200" cap="none" spc="0" normalizeH="0" baseline="0" noProof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a</a:t>
            </a:r>
            <a:r>
              <a:rPr kumimoji="1" lang="en-US" altLang="zh-CN" sz="2800" b="1" kern="1200" cap="none" spc="0" normalizeH="0" baseline="0" noProof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=3, </a:t>
            </a:r>
            <a:r>
              <a:rPr kumimoji="1" lang="en-US" altLang="zh-CN" sz="2800" b="1" i="1" kern="1200" cap="none" spc="0" normalizeH="0" baseline="0" noProof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b</a:t>
            </a:r>
            <a:r>
              <a:rPr kumimoji="1" lang="en-US" altLang="zh-CN" sz="2800" b="1" kern="1200" cap="none" spc="0" normalizeH="0" baseline="0" noProof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=-1, </a:t>
            </a:r>
            <a:r>
              <a:rPr kumimoji="1" lang="en-US" altLang="zh-CN" sz="2800" b="1" i="1" kern="1200" cap="none" spc="0" normalizeH="0" baseline="0" noProof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c</a:t>
            </a:r>
            <a:r>
              <a:rPr kumimoji="1" lang="en-US" altLang="zh-CN" sz="2800" b="1" kern="1200" cap="none" spc="0" normalizeH="0" baseline="0" noProof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=4, </a:t>
            </a:r>
            <a:r>
              <a:rPr kumimoji="1" lang="en-US" altLang="zh-CN" sz="2800" b="1" i="1" kern="1200" cap="none" spc="0" normalizeH="0" baseline="0" noProof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d</a:t>
            </a:r>
            <a:r>
              <a:rPr kumimoji="1" lang="en-US" altLang="zh-CN" sz="2800" b="1" kern="1200" cap="none" spc="0" normalizeH="0" baseline="0" noProof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=2,</a:t>
            </a:r>
          </a:p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800" b="1" i="1" kern="1200" cap="none" spc="0" normalizeH="0" baseline="0" noProof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e</a:t>
            </a:r>
            <a:r>
              <a:rPr kumimoji="1" lang="en-US" altLang="zh-CN" sz="2800" b="1" kern="1200" cap="none" spc="0" normalizeH="0" baseline="0" noProof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=-5, </a:t>
            </a:r>
            <a:r>
              <a:rPr kumimoji="1" lang="en-US" altLang="zh-CN" sz="2800" b="1" i="1" kern="1200" cap="none" spc="0" normalizeH="0" baseline="0" noProof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f</a:t>
            </a:r>
            <a:r>
              <a:rPr kumimoji="1" lang="en-US" altLang="zh-CN" sz="2800" b="1" kern="1200" cap="none" spc="0" normalizeH="0" baseline="0" noProof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=6 </a:t>
            </a:r>
            <a:r>
              <a:rPr kumimoji="1" lang="zh-CN" altLang="en-US" sz="2800" b="1" kern="1200" cap="none" spc="0" normalizeH="0" baseline="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时, 它们相等.</a:t>
            </a:r>
            <a:endParaRPr kumimoji="1" lang="en-US" altLang="zh-CN" sz="2800" b="1" kern="1200" cap="none" spc="0" normalizeH="0" baseline="0" noProof="0">
              <a:solidFill>
                <a:schemeClr val="tx1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1284" name="Rectangle 20"/>
          <p:cNvSpPr/>
          <p:nvPr>
            <p:custDataLst>
              <p:tags r:id="rId4"/>
            </p:custDataLst>
          </p:nvPr>
        </p:nvSpPr>
        <p:spPr>
          <a:xfrm>
            <a:off x="654050" y="1074738"/>
            <a:ext cx="11303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例如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1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65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65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03" grpId="0" uiExpand="1" build="p"/>
      <p:bldP spid="11283" grpId="0" bldLvl="0" animBg="1"/>
      <p:bldP spid="11284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0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重</a:t>
            </a:r>
            <a:r>
              <a:rPr lang="en-US" altLang="zh-CN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难</a:t>
            </a:r>
            <a:r>
              <a:rPr lang="en-US" altLang="zh-CN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点问题</a:t>
            </a:r>
            <a:r>
              <a:rPr lang="zh-CN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：几种特殊矩阵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2" name="Group 2"/>
          <p:cNvGrpSpPr/>
          <p:nvPr/>
        </p:nvGrpSpPr>
        <p:grpSpPr>
          <a:xfrm>
            <a:off x="5183505" y="2997200"/>
            <a:ext cx="3335338" cy="1624013"/>
            <a:chOff x="1473" y="1270"/>
            <a:chExt cx="2101" cy="1023"/>
          </a:xfrm>
        </p:grpSpPr>
        <p:grpSp>
          <p:nvGrpSpPr>
            <p:cNvPr id="25618" name="Group 3"/>
            <p:cNvGrpSpPr/>
            <p:nvPr/>
          </p:nvGrpSpPr>
          <p:grpSpPr>
            <a:xfrm>
              <a:off x="1776" y="1270"/>
              <a:ext cx="1536" cy="1023"/>
              <a:chOff x="624" y="960"/>
              <a:chExt cx="1536" cy="1023"/>
            </a:xfrm>
          </p:grpSpPr>
          <p:sp>
            <p:nvSpPr>
              <p:cNvPr id="25621" name="AutoShape 4"/>
              <p:cNvSpPr/>
              <p:nvPr>
                <p:custDataLst>
                  <p:tags r:id="rId14"/>
                </p:custDataLst>
              </p:nvPr>
            </p:nvSpPr>
            <p:spPr>
              <a:xfrm>
                <a:off x="624" y="968"/>
                <a:ext cx="1536" cy="1006"/>
              </a:xfrm>
              <a:prstGeom prst="bracketPair">
                <a:avLst>
                  <a:gd name="adj" fmla="val 3542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lIns="0" tIns="0" rIns="0" bIns="0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/>
              </a:p>
            </p:txBody>
          </p:sp>
          <p:sp>
            <p:nvSpPr>
              <p:cNvPr id="25622" name="Text Box 5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720" y="960"/>
                <a:ext cx="274" cy="102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3600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i="1" dirty="0">
                    <a:latin typeface="Times New Roman" panose="02020603050405020304" pitchFamily="18" charset="0"/>
                  </a:rPr>
                  <a:t>b</a:t>
                </a:r>
                <a:r>
                  <a:rPr lang="en-US" altLang="zh-CN" sz="2600" b="1" baseline="-30000" dirty="0">
                    <a:latin typeface="Times New Roman" panose="02020603050405020304" pitchFamily="18" charset="0"/>
                  </a:rPr>
                  <a:t>11</a:t>
                </a:r>
              </a:p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i="1" dirty="0">
                    <a:latin typeface="Times New Roman" panose="02020603050405020304" pitchFamily="18" charset="0"/>
                  </a:rPr>
                  <a:t>b</a:t>
                </a:r>
                <a:r>
                  <a:rPr lang="en-US" altLang="zh-CN" sz="2600" b="1" baseline="-30000" dirty="0">
                    <a:latin typeface="Times New Roman" panose="02020603050405020304" pitchFamily="18" charset="0"/>
                  </a:rPr>
                  <a:t>21 </a:t>
                </a:r>
              </a:p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</a:t>
                </a:r>
              </a:p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i="1" dirty="0">
                    <a:latin typeface="Times New Roman" panose="02020603050405020304" pitchFamily="18" charset="0"/>
                  </a:rPr>
                  <a:t>b</a:t>
                </a:r>
                <a:r>
                  <a:rPr lang="en-US" altLang="zh-CN" sz="2600" b="1" i="1" baseline="-30000" dirty="0">
                    <a:latin typeface="Times New Roman" panose="02020603050405020304" pitchFamily="18" charset="0"/>
                  </a:rPr>
                  <a:t>n</a:t>
                </a:r>
                <a:r>
                  <a:rPr lang="en-US" altLang="zh-CN" sz="2600" b="1" baseline="-30000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25623" name="Text Box 6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1104" y="960"/>
                <a:ext cx="240" cy="102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3600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600" b="1" i="1" dirty="0">
                  <a:latin typeface="Times New Roman" panose="02020603050405020304" pitchFamily="18" charset="0"/>
                </a:endParaRPr>
              </a:p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i="1" dirty="0">
                    <a:latin typeface="Times New Roman" panose="02020603050405020304" pitchFamily="18" charset="0"/>
                  </a:rPr>
                  <a:t>b</a:t>
                </a:r>
                <a:r>
                  <a:rPr lang="en-US" altLang="zh-CN" sz="2600" b="1" baseline="-30000" dirty="0">
                    <a:latin typeface="Times New Roman" panose="02020603050405020304" pitchFamily="18" charset="0"/>
                  </a:rPr>
                  <a:t>22</a:t>
                </a:r>
              </a:p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</a:t>
                </a:r>
                <a:endParaRPr lang="en-US" altLang="zh-CN" sz="2600" b="1" dirty="0">
                  <a:latin typeface="Times New Roman" panose="02020603050405020304" pitchFamily="18" charset="0"/>
                </a:endParaRPr>
              </a:p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i="1" dirty="0">
                    <a:latin typeface="Times New Roman" panose="02020603050405020304" pitchFamily="18" charset="0"/>
                  </a:rPr>
                  <a:t>b</a:t>
                </a:r>
                <a:r>
                  <a:rPr lang="en-US" altLang="zh-CN" sz="2600" b="1" i="1" baseline="-30000" dirty="0">
                    <a:latin typeface="Times New Roman" panose="02020603050405020304" pitchFamily="18" charset="0"/>
                  </a:rPr>
                  <a:t>n</a:t>
                </a:r>
                <a:r>
                  <a:rPr lang="en-US" altLang="zh-CN" sz="2600" b="1" baseline="-30000" dirty="0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25624" name="Rectangle 7"/>
              <p:cNvSpPr/>
              <p:nvPr>
                <p:custDataLst>
                  <p:tags r:id="rId17"/>
                </p:custDataLst>
              </p:nvPr>
            </p:nvSpPr>
            <p:spPr>
              <a:xfrm>
                <a:off x="1489" y="960"/>
                <a:ext cx="208" cy="102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3600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</a:t>
                </a:r>
              </a:p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</a:t>
                </a:r>
              </a:p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</a:t>
                </a:r>
              </a:p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 </a:t>
                </a:r>
              </a:p>
            </p:txBody>
          </p:sp>
          <p:sp>
            <p:nvSpPr>
              <p:cNvPr id="25625" name="Text Box 8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1842" y="960"/>
                <a:ext cx="240" cy="102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3600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600" b="1" i="1" dirty="0">
                  <a:latin typeface="Times New Roman" panose="02020603050405020304" pitchFamily="18" charset="0"/>
                </a:endParaRPr>
              </a:p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600" b="1" baseline="-30000" dirty="0">
                  <a:latin typeface="Times New Roman" panose="02020603050405020304" pitchFamily="18" charset="0"/>
                </a:endParaRPr>
              </a:p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</a:t>
                </a:r>
                <a:endParaRPr lang="en-US" altLang="zh-CN" sz="2600" b="1" dirty="0">
                  <a:latin typeface="Times New Roman" panose="02020603050405020304" pitchFamily="18" charset="0"/>
                </a:endParaRPr>
              </a:p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i="1" dirty="0">
                    <a:latin typeface="Times New Roman" panose="02020603050405020304" pitchFamily="18" charset="0"/>
                  </a:rPr>
                  <a:t>b</a:t>
                </a:r>
                <a:r>
                  <a:rPr lang="en-US" altLang="zh-CN" sz="2600" b="1" i="1" baseline="-30000" dirty="0">
                    <a:latin typeface="Times New Roman" panose="02020603050405020304" pitchFamily="18" charset="0"/>
                  </a:rPr>
                  <a:t>nn</a:t>
                </a:r>
                <a:endParaRPr lang="en-US" altLang="zh-CN" sz="2600" b="1" i="1" baseline="-250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5619" name="Rectangle 9"/>
            <p:cNvSpPr/>
            <p:nvPr>
              <p:custDataLst>
                <p:tags r:id="rId12"/>
              </p:custDataLst>
            </p:nvPr>
          </p:nvSpPr>
          <p:spPr>
            <a:xfrm>
              <a:off x="1473" y="1609"/>
              <a:ext cx="253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</a:rPr>
                <a:t>B</a:t>
              </a:r>
              <a:r>
                <a:rPr lang="en-US" altLang="zh-CN" sz="2600" b="1" dirty="0">
                  <a:latin typeface="Symbol" panose="05050102010706020507" pitchFamily="18" charset="2"/>
                </a:rPr>
                <a:t>=</a:t>
              </a:r>
            </a:p>
          </p:txBody>
        </p:sp>
        <p:sp>
          <p:nvSpPr>
            <p:cNvPr id="25620" name="Text Box 10"/>
            <p:cNvSpPr txBox="1"/>
            <p:nvPr>
              <p:custDataLst>
                <p:tags r:id="rId13"/>
              </p:custDataLst>
            </p:nvPr>
          </p:nvSpPr>
          <p:spPr>
            <a:xfrm>
              <a:off x="3366" y="1609"/>
              <a:ext cx="208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600" b="1" dirty="0">
                  <a:latin typeface="Times New Roman" panose="02020603050405020304" pitchFamily="18" charset="0"/>
                  <a:ea typeface="华文细黑" panose="02010600040101010101" pitchFamily="2" charset="-122"/>
                </a:rPr>
                <a:t>。</a:t>
              </a:r>
            </a:p>
          </p:txBody>
        </p:sp>
      </p:grpSp>
      <p:grpSp>
        <p:nvGrpSpPr>
          <p:cNvPr id="4" name="Group 11"/>
          <p:cNvGrpSpPr/>
          <p:nvPr/>
        </p:nvGrpSpPr>
        <p:grpSpPr>
          <a:xfrm>
            <a:off x="789305" y="3068955"/>
            <a:ext cx="3335338" cy="1668463"/>
            <a:chOff x="1829" y="2903"/>
            <a:chExt cx="2101" cy="1051"/>
          </a:xfrm>
        </p:grpSpPr>
        <p:sp>
          <p:nvSpPr>
            <p:cNvPr id="25611" name="AutoShape 12"/>
            <p:cNvSpPr/>
            <p:nvPr>
              <p:custDataLst>
                <p:tags r:id="rId5"/>
              </p:custDataLst>
            </p:nvPr>
          </p:nvSpPr>
          <p:spPr>
            <a:xfrm>
              <a:off x="2132" y="2927"/>
              <a:ext cx="1536" cy="1006"/>
            </a:xfrm>
            <a:prstGeom prst="bracketPair">
              <a:avLst>
                <a:gd name="adj" fmla="val 3542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/>
            </a:p>
          </p:txBody>
        </p:sp>
        <p:sp>
          <p:nvSpPr>
            <p:cNvPr id="25612" name="Rectangle 13"/>
            <p:cNvSpPr/>
            <p:nvPr>
              <p:custDataLst>
                <p:tags r:id="rId6"/>
              </p:custDataLst>
            </p:nvPr>
          </p:nvSpPr>
          <p:spPr>
            <a:xfrm>
              <a:off x="1829" y="3258"/>
              <a:ext cx="26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600" b="1" dirty="0">
                  <a:latin typeface="Symbol" panose="05050102010706020507" pitchFamily="18" charset="2"/>
                </a:rPr>
                <a:t>=</a:t>
              </a:r>
            </a:p>
          </p:txBody>
        </p:sp>
        <p:sp>
          <p:nvSpPr>
            <p:cNvPr id="25613" name="Text Box 14"/>
            <p:cNvSpPr txBox="1"/>
            <p:nvPr>
              <p:custDataLst>
                <p:tags r:id="rId7"/>
              </p:custDataLst>
            </p:nvPr>
          </p:nvSpPr>
          <p:spPr>
            <a:xfrm>
              <a:off x="3722" y="3258"/>
              <a:ext cx="208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600" b="1" dirty="0">
                  <a:latin typeface="Times New Roman" panose="02020603050405020304" pitchFamily="18" charset="0"/>
                  <a:ea typeface="华文细黑" panose="02010600040101010101" pitchFamily="2" charset="-122"/>
                </a:rPr>
                <a:t>。</a:t>
              </a:r>
            </a:p>
          </p:txBody>
        </p:sp>
        <p:sp>
          <p:nvSpPr>
            <p:cNvPr id="25614" name="Rectangle 15"/>
            <p:cNvSpPr/>
            <p:nvPr>
              <p:custDataLst>
                <p:tags r:id="rId8"/>
              </p:custDataLst>
            </p:nvPr>
          </p:nvSpPr>
          <p:spPr>
            <a:xfrm>
              <a:off x="2228" y="2903"/>
              <a:ext cx="1302" cy="2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36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600" b="1" baseline="-30000" dirty="0">
                  <a:latin typeface="Times New Roman" panose="02020603050405020304" pitchFamily="18" charset="0"/>
                </a:rPr>
                <a:t>11    </a:t>
              </a:r>
              <a:r>
                <a:rPr lang="en-US" altLang="zh-CN" sz="2600" b="1" i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600" b="1" baseline="-30000" dirty="0">
                  <a:latin typeface="Times New Roman" panose="02020603050405020304" pitchFamily="18" charset="0"/>
                </a:rPr>
                <a:t>12     </a:t>
              </a:r>
              <a:r>
                <a:rPr lang="en-US" altLang="zh-CN" sz="26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   </a:t>
              </a:r>
              <a:r>
                <a:rPr lang="en-US" altLang="zh-CN" sz="2600" b="1" i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600" b="1" baseline="-30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600" b="1" i="1" baseline="-30000" dirty="0"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25615" name="Rectangle 16"/>
            <p:cNvSpPr/>
            <p:nvPr>
              <p:custDataLst>
                <p:tags r:id="rId9"/>
              </p:custDataLst>
            </p:nvPr>
          </p:nvSpPr>
          <p:spPr>
            <a:xfrm>
              <a:off x="2228" y="3146"/>
              <a:ext cx="1302" cy="2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36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</a:rPr>
                <a:t> 0    </a:t>
              </a:r>
              <a:r>
                <a:rPr lang="en-US" altLang="zh-CN" sz="2600" b="1" i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600" b="1" baseline="-30000" dirty="0">
                  <a:latin typeface="Times New Roman" panose="02020603050405020304" pitchFamily="18" charset="0"/>
                </a:rPr>
                <a:t>22     </a:t>
              </a:r>
              <a:r>
                <a:rPr lang="en-US" altLang="zh-CN" sz="26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   </a:t>
              </a:r>
              <a:r>
                <a:rPr lang="en-US" altLang="zh-CN" sz="2600" b="1" i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600" b="1" baseline="-30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600" b="1" i="1" baseline="-30000" dirty="0"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25616" name="Rectangle 17"/>
            <p:cNvSpPr/>
            <p:nvPr>
              <p:custDataLst>
                <p:tags r:id="rId10"/>
              </p:custDataLst>
            </p:nvPr>
          </p:nvSpPr>
          <p:spPr>
            <a:xfrm>
              <a:off x="2228" y="3389"/>
              <a:ext cx="1248" cy="3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36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            </a:t>
              </a:r>
            </a:p>
          </p:txBody>
        </p:sp>
        <p:sp>
          <p:nvSpPr>
            <p:cNvPr id="25617" name="Rectangle 18"/>
            <p:cNvSpPr/>
            <p:nvPr>
              <p:custDataLst>
                <p:tags r:id="rId11"/>
              </p:custDataLst>
            </p:nvPr>
          </p:nvSpPr>
          <p:spPr>
            <a:xfrm>
              <a:off x="2228" y="3681"/>
              <a:ext cx="1320" cy="2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36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</a:rPr>
                <a:t> 0     0     </a:t>
              </a:r>
              <a:r>
                <a:rPr lang="en-US" altLang="zh-CN" sz="26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   </a:t>
              </a:r>
              <a:r>
                <a:rPr lang="en-US" altLang="zh-CN" sz="2600" b="1" i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600" b="1" i="1" baseline="-30000" dirty="0">
                  <a:latin typeface="Times New Roman" panose="02020603050405020304" pitchFamily="18" charset="0"/>
                </a:rPr>
                <a:t>nn</a:t>
              </a:r>
            </a:p>
          </p:txBody>
        </p:sp>
      </p:grpSp>
      <p:sp>
        <p:nvSpPr>
          <p:cNvPr id="178196" name="Text Box 20"/>
          <p:cNvSpPr txBox="1"/>
          <p:nvPr>
            <p:custDataLst>
              <p:tags r:id="rId1"/>
            </p:custDataLst>
          </p:nvPr>
        </p:nvSpPr>
        <p:spPr>
          <a:xfrm>
            <a:off x="222885" y="1687830"/>
            <a:ext cx="4148455" cy="103314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       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如下形式的 </a:t>
            </a:r>
            <a:r>
              <a:rPr lang="en-US" altLang="zh-CN" sz="2800" b="1" i="1" dirty="0">
                <a:latin typeface="Times New Roman" panose="02020603050405020304" pitchFamily="18" charset="0"/>
                <a:ea typeface="华文细黑" panose="02010600040101010101" pitchFamily="2" charset="-122"/>
                <a:sym typeface="+mn-ea"/>
              </a:rPr>
              <a:t>n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阶矩阵称为</a:t>
            </a:r>
            <a:r>
              <a:rPr lang="zh-CN" altLang="en-US" sz="26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上三角形矩阵</a:t>
            </a:r>
            <a:r>
              <a:rPr lang="zh-CN" altLang="en-US" sz="2600" b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：</a:t>
            </a:r>
          </a:p>
        </p:txBody>
      </p:sp>
      <p:sp>
        <p:nvSpPr>
          <p:cNvPr id="178198" name="Text Box 22"/>
          <p:cNvSpPr txBox="1"/>
          <p:nvPr>
            <p:custDataLst>
              <p:tags r:id="rId2"/>
            </p:custDataLst>
          </p:nvPr>
        </p:nvSpPr>
        <p:spPr>
          <a:xfrm>
            <a:off x="4566285" y="1629093"/>
            <a:ext cx="4343400" cy="103314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       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如下形式的 </a:t>
            </a:r>
            <a:r>
              <a:rPr lang="en-US" altLang="zh-CN" sz="2800" b="1" i="1" dirty="0">
                <a:latin typeface="Times New Roman" panose="02020603050405020304" pitchFamily="18" charset="0"/>
                <a:ea typeface="华文细黑" panose="02010600040101010101" pitchFamily="2" charset="-122"/>
                <a:sym typeface="+mn-ea"/>
              </a:rPr>
              <a:t>n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阶矩阵称为 </a:t>
            </a:r>
            <a:r>
              <a:rPr lang="zh-CN" altLang="en-US" sz="26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下三角形矩阵</a:t>
            </a:r>
            <a:r>
              <a:rPr lang="zh-CN" altLang="en-US" sz="2600" b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：</a:t>
            </a:r>
          </a:p>
        </p:txBody>
      </p:sp>
      <p:sp>
        <p:nvSpPr>
          <p:cNvPr id="178199" name="Line 23"/>
          <p:cNvSpPr/>
          <p:nvPr>
            <p:custDataLst>
              <p:tags r:id="rId3"/>
            </p:custDataLst>
          </p:nvPr>
        </p:nvSpPr>
        <p:spPr>
          <a:xfrm>
            <a:off x="4531360" y="1409065"/>
            <a:ext cx="0" cy="3205163"/>
          </a:xfrm>
          <a:prstGeom prst="line">
            <a:avLst/>
          </a:prstGeom>
          <a:ln w="38100" cap="flat" cmpd="dbl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6502" name="Text Box 6"/>
          <p:cNvSpPr txBox="1"/>
          <p:nvPr>
            <p:custDataLst>
              <p:tags r:id="rId4"/>
            </p:custDataLst>
          </p:nvPr>
        </p:nvSpPr>
        <p:spPr>
          <a:xfrm>
            <a:off x="517843" y="1052513"/>
            <a:ext cx="80010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定义（</a:t>
            </a:r>
            <a:r>
              <a:rPr lang="zh-CN" altLang="en-US" sz="28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三角形矩阵</a:t>
            </a:r>
            <a:r>
              <a:rPr lang="zh-CN" altLang="en-US" sz="2800" b="1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）</a:t>
            </a:r>
            <a:r>
              <a:rPr lang="zh-CN" altLang="en-US" b="1" dirty="0">
                <a:solidFill>
                  <a:schemeClr val="tx2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   </a:t>
            </a:r>
            <a:endParaRPr lang="zh-CN" altLang="en-US" sz="2800" b="1" dirty="0">
              <a:solidFill>
                <a:srgbClr val="006600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65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7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81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196" grpId="0" build="p"/>
      <p:bldP spid="178198" grpId="0" uiExpand="1" build="p"/>
      <p:bldP spid="106502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14" action="ppaction://hlinksldjump"/>
          </p:cNvPr>
          <p:cNvSpPr>
            <a:spLocks noChangeArrowheads="1"/>
          </p:cNvSpPr>
          <p:nvPr/>
        </p:nvSpPr>
        <p:spPr bwMode="auto">
          <a:xfrm>
            <a:off x="450850" y="752475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重</a:t>
            </a:r>
            <a:r>
              <a:rPr lang="en-US" altLang="zh-CN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难</a:t>
            </a:r>
            <a:r>
              <a:rPr lang="en-US" altLang="zh-CN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点问题</a:t>
            </a:r>
            <a:r>
              <a:rPr lang="zh-CN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：几种特殊矩阵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6502" name="Text Box 6"/>
          <p:cNvSpPr txBox="1"/>
          <p:nvPr>
            <p:custDataLst>
              <p:tags r:id="rId2"/>
            </p:custDataLst>
          </p:nvPr>
        </p:nvSpPr>
        <p:spPr>
          <a:xfrm>
            <a:off x="517843" y="952183"/>
            <a:ext cx="80010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定义（</a:t>
            </a:r>
            <a:r>
              <a:rPr lang="zh-CN" altLang="en-US" sz="2800" b="1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对角矩阵</a:t>
            </a:r>
            <a:r>
              <a:rPr lang="zh-CN" altLang="en-US" sz="2800" b="1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）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  </a:t>
            </a:r>
            <a:endParaRPr lang="zh-CN" altLang="en-US" sz="2800" b="1" dirty="0">
              <a:solidFill>
                <a:srgbClr val="0066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grpSp>
        <p:nvGrpSpPr>
          <p:cNvPr id="13" name="Group 3"/>
          <p:cNvGrpSpPr/>
          <p:nvPr/>
        </p:nvGrpSpPr>
        <p:grpSpPr>
          <a:xfrm>
            <a:off x="2718118" y="2348865"/>
            <a:ext cx="3652837" cy="1744663"/>
            <a:chOff x="1443" y="1520"/>
            <a:chExt cx="2301" cy="1099"/>
          </a:xfrm>
        </p:grpSpPr>
        <p:grpSp>
          <p:nvGrpSpPr>
            <p:cNvPr id="18443" name="Group 4"/>
            <p:cNvGrpSpPr/>
            <p:nvPr/>
          </p:nvGrpSpPr>
          <p:grpSpPr>
            <a:xfrm>
              <a:off x="1824" y="1520"/>
              <a:ext cx="1536" cy="1099"/>
              <a:chOff x="624" y="944"/>
              <a:chExt cx="1536" cy="1099"/>
            </a:xfrm>
          </p:grpSpPr>
          <p:sp>
            <p:nvSpPr>
              <p:cNvPr id="18445" name="AutoShape 5"/>
              <p:cNvSpPr/>
              <p:nvPr>
                <p:custDataLst>
                  <p:tags r:id="rId8"/>
                </p:custDataLst>
              </p:nvPr>
            </p:nvSpPr>
            <p:spPr>
              <a:xfrm>
                <a:off x="624" y="968"/>
                <a:ext cx="1536" cy="1006"/>
              </a:xfrm>
              <a:prstGeom prst="bracketPair">
                <a:avLst>
                  <a:gd name="adj" fmla="val 3542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lIns="0" tIns="0" rIns="0" bIns="0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/>
              </a:p>
            </p:txBody>
          </p:sp>
          <p:sp>
            <p:nvSpPr>
              <p:cNvPr id="18446" name="Text Box 6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715" y="944"/>
                <a:ext cx="251" cy="10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3600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b="1" i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800" b="1" baseline="-30000" dirty="0">
                    <a:latin typeface="Times New Roman" panose="02020603050405020304" pitchFamily="18" charset="0"/>
                  </a:rPr>
                  <a:t>11</a:t>
                </a:r>
              </a:p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b="1" dirty="0">
                    <a:latin typeface="Times New Roman" panose="02020603050405020304" pitchFamily="18" charset="0"/>
                  </a:rPr>
                  <a:t>0</a:t>
                </a:r>
                <a:r>
                  <a:rPr lang="en-US" altLang="zh-CN" sz="2800" b="1" baseline="-30000" dirty="0">
                    <a:latin typeface="Times New Roman" panose="02020603050405020304" pitchFamily="18" charset="0"/>
                  </a:rPr>
                  <a:t> </a:t>
                </a:r>
              </a:p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</a:t>
                </a:r>
              </a:p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8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447" name="Text Box 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1099" y="944"/>
                <a:ext cx="251" cy="10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3600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800" b="1" i="1" dirty="0">
                  <a:latin typeface="Times New Roman" panose="02020603050405020304" pitchFamily="18" charset="0"/>
                </a:endParaRPr>
              </a:p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b="1" i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800" b="1" baseline="-30000" dirty="0">
                    <a:latin typeface="Times New Roman" panose="02020603050405020304" pitchFamily="18" charset="0"/>
                  </a:rPr>
                  <a:t>22</a:t>
                </a:r>
              </a:p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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8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448" name="Rectangle 8"/>
              <p:cNvSpPr/>
              <p:nvPr>
                <p:custDataLst>
                  <p:tags r:id="rId11"/>
                </p:custDataLst>
              </p:nvPr>
            </p:nvSpPr>
            <p:spPr>
              <a:xfrm>
                <a:off x="1481" y="944"/>
                <a:ext cx="224" cy="10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3600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</a:t>
                </a:r>
              </a:p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</a:t>
                </a:r>
              </a:p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</a:t>
                </a:r>
              </a:p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 </a:t>
                </a:r>
              </a:p>
            </p:txBody>
          </p:sp>
          <p:sp>
            <p:nvSpPr>
              <p:cNvPr id="18449" name="Text Box 9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1837" y="944"/>
                <a:ext cx="251" cy="10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3600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800" b="1" i="1" dirty="0">
                  <a:latin typeface="Times New Roman" panose="02020603050405020304" pitchFamily="18" charset="0"/>
                </a:endParaRPr>
              </a:p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800" b="1" baseline="-30000" dirty="0">
                  <a:latin typeface="Times New Roman" panose="02020603050405020304" pitchFamily="18" charset="0"/>
                </a:endParaRPr>
              </a:p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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b="1" i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800" b="1" i="1" baseline="-30000" dirty="0">
                    <a:latin typeface="Times New Roman" panose="02020603050405020304" pitchFamily="18" charset="0"/>
                  </a:rPr>
                  <a:t>nn</a:t>
                </a:r>
                <a:endParaRPr lang="en-US" altLang="zh-CN" sz="2800" b="1" i="1" baseline="-250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8444" name="Rectangle 10"/>
            <p:cNvSpPr/>
            <p:nvPr>
              <p:custDataLst>
                <p:tags r:id="rId7"/>
              </p:custDataLst>
            </p:nvPr>
          </p:nvSpPr>
          <p:spPr>
            <a:xfrm>
              <a:off x="1443" y="1841"/>
              <a:ext cx="2301" cy="3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i="1" dirty="0">
                  <a:latin typeface="Times New Roman" panose="02020603050405020304" pitchFamily="18" charset="0"/>
                  <a:ea typeface="华文细黑" panose="02010600040101010101" pitchFamily="2" charset="-122"/>
                </a:rPr>
                <a:t>A</a:t>
              </a:r>
              <a:r>
                <a:rPr lang="en-US" altLang="zh-CN" sz="2800" b="1" dirty="0">
                  <a:latin typeface="Symbol" panose="05050102010706020507" pitchFamily="18" charset="2"/>
                  <a:ea typeface="华文细黑" panose="02010600040101010101" pitchFamily="2" charset="-122"/>
                </a:rPr>
                <a:t>=                                </a:t>
              </a:r>
              <a:r>
                <a:rPr lang="zh-CN" altLang="en-US" sz="2800" b="1" dirty="0">
                  <a:latin typeface="Symbol" panose="05050102010706020507" pitchFamily="18" charset="2"/>
                  <a:ea typeface="华文细黑" panose="02010600040101010101" pitchFamily="2" charset="-122"/>
                </a:rPr>
                <a:t>。</a:t>
              </a:r>
            </a:p>
          </p:txBody>
        </p:sp>
      </p:grpSp>
      <p:sp>
        <p:nvSpPr>
          <p:cNvPr id="169996" name="Rectangle 12"/>
          <p:cNvSpPr/>
          <p:nvPr>
            <p:custDataLst>
              <p:tags r:id="rId3"/>
            </p:custDataLst>
          </p:nvPr>
        </p:nvSpPr>
        <p:spPr>
          <a:xfrm>
            <a:off x="395288" y="1579245"/>
            <a:ext cx="6430010" cy="51625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       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如下形式的</a:t>
            </a:r>
            <a:r>
              <a:rPr lang="zh-CN" altLang="en-US" sz="2800" b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阶矩阵称为对角矩阵：</a:t>
            </a:r>
            <a:endParaRPr lang="zh-CN" altLang="en-US" sz="2800" b="1" dirty="0">
              <a:latin typeface="Times New Roman" panose="02020603050405020304" pitchFamily="18" charset="0"/>
              <a:ea typeface="华文细黑" panose="02010600040101010101" pitchFamily="2" charset="-122"/>
            </a:endParaRPr>
          </a:p>
        </p:txBody>
      </p:sp>
      <p:sp>
        <p:nvSpPr>
          <p:cNvPr id="169997" name="Text Box 13"/>
          <p:cNvSpPr txBox="1"/>
          <p:nvPr>
            <p:custDataLst>
              <p:tags r:id="rId4"/>
            </p:custDataLst>
          </p:nvPr>
        </p:nvSpPr>
        <p:spPr>
          <a:xfrm>
            <a:off x="323691" y="4174490"/>
            <a:ext cx="7630160" cy="51625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  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对角矩阵可简单地记为</a:t>
            </a:r>
            <a:r>
              <a:rPr lang="en-US" altLang="zh-CN" sz="2800" b="1" i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A</a:t>
            </a:r>
            <a:r>
              <a:rPr lang="en-US" altLang="zh-CN" sz="2800" b="1" dirty="0">
                <a:latin typeface="Symbol" panose="05050102010706020507" pitchFamily="18" charset="2"/>
                <a:ea typeface="华文细黑" panose="02010600040101010101" pitchFamily="2" charset="-122"/>
              </a:rPr>
              <a:t>=</a:t>
            </a:r>
            <a:r>
              <a:rPr lang="en-US" altLang="zh-CN" sz="2800" b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diag(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baseline="-30000" dirty="0">
                <a:latin typeface="Times New Roman" panose="02020603050405020304" pitchFamily="18" charset="0"/>
              </a:rPr>
              <a:t>11</a:t>
            </a:r>
            <a:r>
              <a:rPr lang="en-US" altLang="zh-CN" sz="2800" b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baseline="-30000" dirty="0">
                <a:latin typeface="Times New Roman" panose="02020603050405020304" pitchFamily="18" charset="0"/>
              </a:rPr>
              <a:t>22</a:t>
            </a:r>
            <a:r>
              <a:rPr lang="en-US" altLang="zh-CN" sz="2800" b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, </a:t>
            </a:r>
            <a:r>
              <a:rPr lang="en-US" altLang="zh-CN" sz="2800" b="1" dirty="0">
                <a:latin typeface="Times New Roman" panose="02020603050405020304" pitchFamily="18" charset="0"/>
                <a:ea typeface="华文细黑" panose="02010600040101010101" pitchFamily="2" charset="-122"/>
                <a:sym typeface="Symbol" panose="05050102010706020507" pitchFamily="18" charset="2"/>
              </a:rPr>
              <a:t> </a:t>
            </a:r>
            <a:r>
              <a:rPr lang="en-US" altLang="zh-CN" sz="2800" b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i="1" baseline="-30000" dirty="0">
                <a:latin typeface="Times New Roman" panose="02020603050405020304" pitchFamily="18" charset="0"/>
              </a:rPr>
              <a:t>nn</a:t>
            </a:r>
            <a:r>
              <a:rPr lang="en-US" altLang="zh-CN" sz="2800" b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。</a:t>
            </a:r>
          </a:p>
        </p:txBody>
      </p:sp>
      <p:graphicFrame>
        <p:nvGraphicFramePr>
          <p:cNvPr id="170000" name="Object 16"/>
          <p:cNvGraphicFramePr>
            <a:graphicFrameLocks noChangeAspect="1"/>
          </p:cNvGraphicFramePr>
          <p:nvPr>
            <p:custDataLst>
              <p:tags r:id="rId5"/>
            </p:custDataLst>
          </p:nvPr>
        </p:nvGraphicFramePr>
        <p:xfrm>
          <a:off x="2489519" y="4856951"/>
          <a:ext cx="4386738" cy="17937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89" r:id="rId16" imgW="1765300" imgH="711200" progId="Equation.3">
                  <p:embed/>
                </p:oleObj>
              </mc:Choice>
              <mc:Fallback>
                <p:oleObj r:id="rId16" imgW="1765300" imgH="7112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489519" y="4856951"/>
                        <a:ext cx="4386738" cy="1793721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0001" name="Rectangle 17"/>
          <p:cNvSpPr/>
          <p:nvPr>
            <p:custDataLst>
              <p:tags r:id="rId6"/>
            </p:custDataLst>
          </p:nvPr>
        </p:nvSpPr>
        <p:spPr>
          <a:xfrm>
            <a:off x="1331913" y="5418773"/>
            <a:ext cx="1054100" cy="60769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algn="just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例如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65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99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99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00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0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02" grpId="0" uiExpand="1" build="p"/>
      <p:bldP spid="169996" grpId="0" build="p"/>
      <p:bldP spid="169997" grpId="0" build="p"/>
      <p:bldP spid="170001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12" action="ppaction://hlinksldjump"/>
          </p:cNvPr>
          <p:cNvSpPr>
            <a:spLocks noChangeArrowheads="1"/>
          </p:cNvSpPr>
          <p:nvPr/>
        </p:nvSpPr>
        <p:spPr bwMode="auto">
          <a:xfrm>
            <a:off x="450850" y="752475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重</a:t>
            </a:r>
            <a:r>
              <a:rPr lang="en-US" altLang="zh-CN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难</a:t>
            </a:r>
            <a:r>
              <a:rPr lang="en-US" altLang="zh-CN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点问题</a:t>
            </a:r>
            <a:r>
              <a:rPr lang="zh-CN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：几种特殊矩阵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6502" name="Text Box 6"/>
          <p:cNvSpPr txBox="1"/>
          <p:nvPr>
            <p:custDataLst>
              <p:tags r:id="rId1"/>
            </p:custDataLst>
          </p:nvPr>
        </p:nvSpPr>
        <p:spPr>
          <a:xfrm>
            <a:off x="517843" y="909003"/>
            <a:ext cx="80010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定义（</a:t>
            </a:r>
            <a:r>
              <a:rPr lang="zh-CN" altLang="en-US" sz="2800" b="1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数量矩阵</a:t>
            </a:r>
            <a:r>
              <a:rPr lang="zh-CN" altLang="en-US" sz="2800" b="1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）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  </a:t>
            </a:r>
            <a:endParaRPr lang="zh-CN" altLang="en-US" sz="2800" b="1" dirty="0">
              <a:solidFill>
                <a:srgbClr val="0066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grpSp>
        <p:nvGrpSpPr>
          <p:cNvPr id="23556" name="Group 4"/>
          <p:cNvGrpSpPr/>
          <p:nvPr/>
        </p:nvGrpSpPr>
        <p:grpSpPr>
          <a:xfrm>
            <a:off x="2724150" y="2349500"/>
            <a:ext cx="3001963" cy="1624013"/>
            <a:chOff x="1151" y="1152"/>
            <a:chExt cx="2050" cy="1023"/>
          </a:xfrm>
        </p:grpSpPr>
        <p:grpSp>
          <p:nvGrpSpPr>
            <p:cNvPr id="23561" name="Group 5"/>
            <p:cNvGrpSpPr/>
            <p:nvPr/>
          </p:nvGrpSpPr>
          <p:grpSpPr>
            <a:xfrm>
              <a:off x="1439" y="1152"/>
              <a:ext cx="1441" cy="1023"/>
              <a:chOff x="3551" y="960"/>
              <a:chExt cx="1441" cy="1023"/>
            </a:xfrm>
          </p:grpSpPr>
          <p:sp>
            <p:nvSpPr>
              <p:cNvPr id="23564" name="AutoShape 6"/>
              <p:cNvSpPr/>
              <p:nvPr>
                <p:custDataLst>
                  <p:tags r:id="rId6"/>
                </p:custDataLst>
              </p:nvPr>
            </p:nvSpPr>
            <p:spPr>
              <a:xfrm>
                <a:off x="3551" y="968"/>
                <a:ext cx="1441" cy="1006"/>
              </a:xfrm>
              <a:prstGeom prst="bracketPair">
                <a:avLst>
                  <a:gd name="adj" fmla="val 3542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lIns="0" tIns="0" rIns="0" bIns="0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 dirty="0"/>
              </a:p>
            </p:txBody>
          </p:sp>
          <p:sp>
            <p:nvSpPr>
              <p:cNvPr id="23565" name="Text Box 7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3648" y="960"/>
                <a:ext cx="169" cy="102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3600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i="1" dirty="0">
                    <a:latin typeface="Times New Roman" panose="02020603050405020304" pitchFamily="18" charset="0"/>
                  </a:rPr>
                  <a:t>a</a:t>
                </a:r>
                <a:endParaRPr lang="en-US" altLang="zh-CN" sz="2600" b="1" baseline="-30000" dirty="0">
                  <a:latin typeface="Times New Roman" panose="02020603050405020304" pitchFamily="18" charset="0"/>
                </a:endParaRPr>
              </a:p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</a:rPr>
                  <a:t>0</a:t>
                </a:r>
                <a:r>
                  <a:rPr lang="en-US" altLang="zh-CN" sz="2600" b="1" baseline="-30000" dirty="0">
                    <a:latin typeface="Times New Roman" panose="02020603050405020304" pitchFamily="18" charset="0"/>
                  </a:rPr>
                  <a:t> </a:t>
                </a:r>
              </a:p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</a:t>
                </a:r>
              </a:p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6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566" name="Text Box 8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4032" y="960"/>
                <a:ext cx="169" cy="102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3600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600" b="1" i="1" dirty="0">
                  <a:latin typeface="Times New Roman" panose="02020603050405020304" pitchFamily="18" charset="0"/>
                </a:endParaRPr>
              </a:p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i="1" dirty="0">
                    <a:latin typeface="Times New Roman" panose="02020603050405020304" pitchFamily="18" charset="0"/>
                  </a:rPr>
                  <a:t>a</a:t>
                </a:r>
                <a:endParaRPr lang="en-US" altLang="zh-CN" sz="2600" b="1" baseline="-30000" dirty="0">
                  <a:latin typeface="Times New Roman" panose="02020603050405020304" pitchFamily="18" charset="0"/>
                </a:endParaRPr>
              </a:p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</a:t>
                </a:r>
                <a:endParaRPr lang="en-US" altLang="zh-CN" sz="2600" b="1" dirty="0">
                  <a:latin typeface="Times New Roman" panose="02020603050405020304" pitchFamily="18" charset="0"/>
                </a:endParaRPr>
              </a:p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6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567" name="Rectangle 9"/>
              <p:cNvSpPr/>
              <p:nvPr>
                <p:custDataLst>
                  <p:tags r:id="rId9"/>
                </p:custDataLst>
              </p:nvPr>
            </p:nvSpPr>
            <p:spPr>
              <a:xfrm>
                <a:off x="4416" y="960"/>
                <a:ext cx="226" cy="102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3600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</a:t>
                </a:r>
              </a:p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</a:t>
                </a:r>
              </a:p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</a:t>
                </a:r>
              </a:p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 </a:t>
                </a:r>
              </a:p>
            </p:txBody>
          </p:sp>
          <p:sp>
            <p:nvSpPr>
              <p:cNvPr id="23568" name="Text Box 10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4769" y="960"/>
                <a:ext cx="169" cy="102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3600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600" b="1" i="1" dirty="0">
                  <a:latin typeface="Times New Roman" panose="02020603050405020304" pitchFamily="18" charset="0"/>
                </a:endParaRPr>
              </a:p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600" b="1" baseline="-30000" dirty="0">
                  <a:latin typeface="Times New Roman" panose="02020603050405020304" pitchFamily="18" charset="0"/>
                </a:endParaRPr>
              </a:p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</a:t>
                </a:r>
                <a:endParaRPr lang="en-US" altLang="zh-CN" sz="2600" b="1" dirty="0">
                  <a:latin typeface="Times New Roman" panose="02020603050405020304" pitchFamily="18" charset="0"/>
                </a:endParaRPr>
              </a:p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600" b="1" i="1" dirty="0">
                    <a:latin typeface="Times New Roman" panose="02020603050405020304" pitchFamily="18" charset="0"/>
                  </a:rPr>
                  <a:t>a</a:t>
                </a:r>
                <a:endParaRPr lang="en-US" altLang="zh-CN" sz="2600" b="1" i="1" baseline="-250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3562" name="Rectangle 11"/>
            <p:cNvSpPr/>
            <p:nvPr>
              <p:custDataLst>
                <p:tags r:id="rId4"/>
              </p:custDataLst>
            </p:nvPr>
          </p:nvSpPr>
          <p:spPr>
            <a:xfrm>
              <a:off x="1151" y="1480"/>
              <a:ext cx="28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ea typeface="华文细黑" panose="02010600040101010101" pitchFamily="2" charset="-122"/>
                </a:rPr>
                <a:t>A</a:t>
              </a:r>
              <a:r>
                <a:rPr lang="en-US" altLang="zh-CN" sz="2600" b="1" dirty="0">
                  <a:latin typeface="Symbol" panose="05050102010706020507" pitchFamily="18" charset="2"/>
                  <a:ea typeface="华文细黑" panose="02010600040101010101" pitchFamily="2" charset="-122"/>
                </a:rPr>
                <a:t>=</a:t>
              </a:r>
            </a:p>
          </p:txBody>
        </p:sp>
        <p:sp>
          <p:nvSpPr>
            <p:cNvPr id="23563" name="Text Box 12"/>
            <p:cNvSpPr txBox="1"/>
            <p:nvPr>
              <p:custDataLst>
                <p:tags r:id="rId5"/>
              </p:custDataLst>
            </p:nvPr>
          </p:nvSpPr>
          <p:spPr>
            <a:xfrm>
              <a:off x="2976" y="1480"/>
              <a:ext cx="225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600" b="1" dirty="0">
                  <a:latin typeface="Times New Roman" panose="02020603050405020304" pitchFamily="18" charset="0"/>
                  <a:ea typeface="华文细黑" panose="02010600040101010101" pitchFamily="2" charset="-122"/>
                </a:rPr>
                <a:t>。</a:t>
              </a:r>
            </a:p>
          </p:txBody>
        </p:sp>
      </p:grpSp>
      <p:sp>
        <p:nvSpPr>
          <p:cNvPr id="23557" name="Rectangle 13"/>
          <p:cNvSpPr/>
          <p:nvPr>
            <p:custDataLst>
              <p:tags r:id="rId2"/>
            </p:custDataLst>
          </p:nvPr>
        </p:nvSpPr>
        <p:spPr>
          <a:xfrm>
            <a:off x="721360" y="1583373"/>
            <a:ext cx="6352540" cy="51625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algn="just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       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如下形式的</a:t>
            </a:r>
            <a:r>
              <a:rPr lang="zh-CN" altLang="en-US" sz="2600" b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 </a:t>
            </a:r>
            <a:r>
              <a:rPr lang="en-US" altLang="zh-CN" sz="2600" b="1" i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n</a:t>
            </a:r>
            <a:r>
              <a:rPr lang="en-US" altLang="zh-CN" sz="2600" b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阶矩阵称为数量矩阵：</a:t>
            </a:r>
          </a:p>
        </p:txBody>
      </p:sp>
      <p:sp>
        <p:nvSpPr>
          <p:cNvPr id="174082" name="Text Box 2"/>
          <p:cNvSpPr txBox="1"/>
          <p:nvPr>
            <p:custDataLst>
              <p:tags r:id="rId3"/>
            </p:custDataLst>
          </p:nvPr>
        </p:nvSpPr>
        <p:spPr>
          <a:xfrm>
            <a:off x="175260" y="4221480"/>
            <a:ext cx="8686800" cy="51625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       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数量矩阵是特殊的对角矩阵：</a:t>
            </a:r>
            <a:r>
              <a:rPr lang="en-US" altLang="zh-CN" sz="2600" b="1" i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a</a:t>
            </a:r>
            <a:r>
              <a:rPr lang="en-US" altLang="zh-CN" sz="2600" b="1" baseline="-30000" dirty="0">
                <a:latin typeface="Times New Roman" panose="02020603050405020304" pitchFamily="18" charset="0"/>
                <a:ea typeface="华文细黑" panose="02010600040101010101" pitchFamily="2" charset="-122"/>
              </a:rPr>
              <a:t>11</a:t>
            </a:r>
            <a:r>
              <a:rPr lang="en-US" altLang="zh-CN" sz="2600" b="1" dirty="0">
                <a:latin typeface="Symbol" panose="05050102010706020507" pitchFamily="18" charset="2"/>
                <a:ea typeface="华文细黑" panose="02010600040101010101" pitchFamily="2" charset="-122"/>
              </a:rPr>
              <a:t>=</a:t>
            </a:r>
            <a:r>
              <a:rPr lang="en-US" altLang="zh-CN" sz="2600" b="1" i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a</a:t>
            </a:r>
            <a:r>
              <a:rPr lang="en-US" altLang="zh-CN" sz="2600" b="1" baseline="-30000" dirty="0">
                <a:latin typeface="Times New Roman" panose="02020603050405020304" pitchFamily="18" charset="0"/>
                <a:ea typeface="华文细黑" panose="02010600040101010101" pitchFamily="2" charset="-122"/>
              </a:rPr>
              <a:t>22</a:t>
            </a:r>
            <a:r>
              <a:rPr lang="en-US" altLang="zh-CN" sz="2600" b="1" dirty="0">
                <a:latin typeface="Symbol" panose="05050102010706020507" pitchFamily="18" charset="2"/>
                <a:ea typeface="华文细黑" panose="02010600040101010101" pitchFamily="2" charset="-122"/>
              </a:rPr>
              <a:t>=</a:t>
            </a:r>
            <a:r>
              <a:rPr lang="en-US" altLang="zh-CN" sz="2600" b="1" dirty="0">
                <a:latin typeface="Times New Roman" panose="02020603050405020304" pitchFamily="18" charset="0"/>
                <a:ea typeface="华文细黑" panose="02010600040101010101" pitchFamily="2" charset="-122"/>
                <a:sym typeface="Symbol" panose="05050102010706020507" pitchFamily="18" charset="2"/>
              </a:rPr>
              <a:t></a:t>
            </a:r>
            <a:r>
              <a:rPr lang="en-US" altLang="zh-CN" sz="2600" b="1" dirty="0">
                <a:latin typeface="Symbol" panose="05050102010706020507" pitchFamily="18" charset="2"/>
                <a:ea typeface="华文细黑" panose="02010600040101010101" pitchFamily="2" charset="-122"/>
              </a:rPr>
              <a:t>=</a:t>
            </a:r>
            <a:r>
              <a:rPr lang="en-US" altLang="zh-CN" sz="2600" b="1" i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a</a:t>
            </a:r>
            <a:r>
              <a:rPr lang="en-US" altLang="zh-CN" sz="2600" b="1" i="1" baseline="-30000" dirty="0">
                <a:latin typeface="Times New Roman" panose="02020603050405020304" pitchFamily="18" charset="0"/>
                <a:ea typeface="华文细黑" panose="02010600040101010101" pitchFamily="2" charset="-122"/>
              </a:rPr>
              <a:t>nn</a:t>
            </a:r>
            <a:r>
              <a:rPr lang="en-US" altLang="zh-CN" sz="2600" b="1" dirty="0">
                <a:latin typeface="Symbol" panose="05050102010706020507" pitchFamily="18" charset="2"/>
                <a:ea typeface="华文细黑" panose="02010600040101010101" pitchFamily="2" charset="-122"/>
              </a:rPr>
              <a:t>=</a:t>
            </a:r>
            <a:r>
              <a:rPr lang="en-US" altLang="zh-CN" sz="2600" b="1" i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a</a:t>
            </a:r>
            <a:r>
              <a:rPr lang="zh-CN" altLang="en-US" sz="2600" b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65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5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40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02" grpId="0" uiExpand="1" build="p"/>
      <p:bldP spid="23557" grpId="0" uiExpand="1" build="p"/>
      <p:bldP spid="174082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6">
            <a:extLst>
              <a:ext uri="{FF2B5EF4-FFF2-40B4-BE49-F238E27FC236}">
                <a16:creationId xmlns:a16="http://schemas.microsoft.com/office/drawing/2014/main" id="{07178A8C-BCFC-E04E-BDEF-061A1B24CB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5455970"/>
              </p:ext>
            </p:extLst>
          </p:nvPr>
        </p:nvGraphicFramePr>
        <p:xfrm>
          <a:off x="1975921" y="3406071"/>
          <a:ext cx="4877748" cy="2103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53" name="Equation" r:id="rId3" imgW="2120760" imgH="914400" progId="Equation.DSMT4">
                  <p:embed/>
                </p:oleObj>
              </mc:Choice>
              <mc:Fallback>
                <p:oleObj name="Equation" r:id="rId3" imgW="2120760" imgH="914400" progId="Equation.DSMT4">
                  <p:embed/>
                  <p:pic>
                    <p:nvPicPr>
                      <p:cNvPr id="31" name="Object 6">
                        <a:extLst>
                          <a:ext uri="{FF2B5EF4-FFF2-40B4-BE49-F238E27FC236}">
                            <a16:creationId xmlns:a16="http://schemas.microsoft.com/office/drawing/2014/main" id="{2FF6C054-0018-48B7-B3E1-1DAEF20917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5921" y="3406071"/>
                        <a:ext cx="4877748" cy="21031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椭圆形标注 2">
            <a:extLst>
              <a:ext uri="{FF2B5EF4-FFF2-40B4-BE49-F238E27FC236}">
                <a16:creationId xmlns:a16="http://schemas.microsoft.com/office/drawing/2014/main" id="{839046F8-1424-E842-B28F-71B6F8E21B61}"/>
              </a:ext>
            </a:extLst>
          </p:cNvPr>
          <p:cNvSpPr/>
          <p:nvPr/>
        </p:nvSpPr>
        <p:spPr>
          <a:xfrm>
            <a:off x="258194" y="5509192"/>
            <a:ext cx="1555918" cy="1081191"/>
          </a:xfrm>
          <a:prstGeom prst="wedgeEllipseCallout">
            <a:avLst>
              <a:gd name="adj1" fmla="val 51365"/>
              <a:gd name="adj2" fmla="val -64217"/>
            </a:avLst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黑体"/>
                <a:cs typeface="+mn-ea"/>
                <a:sym typeface="+mn-lt"/>
              </a:rPr>
              <a:t>上梯形阵</a:t>
            </a:r>
          </a:p>
        </p:txBody>
      </p:sp>
      <p:sp>
        <p:nvSpPr>
          <p:cNvPr id="11" name="椭圆形标注 15">
            <a:extLst>
              <a:ext uri="{FF2B5EF4-FFF2-40B4-BE49-F238E27FC236}">
                <a16:creationId xmlns:a16="http://schemas.microsoft.com/office/drawing/2014/main" id="{8A37E80A-9532-A34F-837B-881A6E613557}"/>
              </a:ext>
            </a:extLst>
          </p:cNvPr>
          <p:cNvSpPr/>
          <p:nvPr/>
        </p:nvSpPr>
        <p:spPr>
          <a:xfrm>
            <a:off x="6853669" y="5352359"/>
            <a:ext cx="1916448" cy="1130866"/>
          </a:xfrm>
          <a:prstGeom prst="wedgeEllipseCallout">
            <a:avLst>
              <a:gd name="adj1" fmla="val -70777"/>
              <a:gd name="adj2" fmla="val -55878"/>
            </a:avLst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黑体"/>
                <a:cs typeface="+mn-ea"/>
                <a:sym typeface="+mn-lt"/>
              </a:rPr>
              <a:t>行最简形矩阵</a:t>
            </a:r>
          </a:p>
        </p:txBody>
      </p:sp>
      <p:sp>
        <p:nvSpPr>
          <p:cNvPr id="12" name="文本框 44">
            <a:extLst>
              <a:ext uri="{FF2B5EF4-FFF2-40B4-BE49-F238E27FC236}">
                <a16:creationId xmlns:a16="http://schemas.microsoft.com/office/drawing/2014/main" id="{EEF572D8-012A-284F-A6EC-CC472CC9227A}"/>
              </a:ext>
            </a:extLst>
          </p:cNvPr>
          <p:cNvSpPr txBox="1"/>
          <p:nvPr/>
        </p:nvSpPr>
        <p:spPr>
          <a:xfrm>
            <a:off x="168342" y="1179479"/>
            <a:ext cx="8724587" cy="1949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zh-CN" altLang="en-US" dirty="0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                        设</a:t>
            </a:r>
            <a:r>
              <a:rPr kumimoji="0" lang="en-US" altLang="zh-CN" i="1" dirty="0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A</a:t>
            </a:r>
            <a:r>
              <a:rPr kumimoji="0" lang="en-US" altLang="zh-CN" dirty="0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=(</a:t>
            </a:r>
            <a:r>
              <a:rPr kumimoji="0" lang="en-US" altLang="zh-CN" i="1" dirty="0" err="1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a</a:t>
            </a:r>
            <a:r>
              <a:rPr kumimoji="0" lang="en-US" altLang="zh-CN" i="1" baseline="-25000" dirty="0" err="1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ij</a:t>
            </a:r>
            <a:r>
              <a:rPr kumimoji="0" lang="en-US" altLang="zh-CN" baseline="-25000" dirty="0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 </a:t>
            </a:r>
            <a:r>
              <a:rPr kumimoji="0" lang="en-US" altLang="zh-CN" dirty="0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)</a:t>
            </a:r>
            <a:r>
              <a:rPr kumimoji="0" lang="en-US" altLang="zh-CN" i="1" baseline="-25000" dirty="0" err="1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m</a:t>
            </a:r>
            <a:r>
              <a:rPr kumimoji="0" lang="en-US" altLang="zh-CN" baseline="-25000" dirty="0" err="1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×</a:t>
            </a:r>
            <a:r>
              <a:rPr kumimoji="0" lang="en-US" altLang="zh-CN" i="1" baseline="-25000" dirty="0" err="1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n</a:t>
            </a:r>
            <a:r>
              <a:rPr kumimoji="0" lang="zh-CN" altLang="en-US" dirty="0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，若当</a:t>
            </a:r>
            <a:r>
              <a:rPr kumimoji="0" lang="en-US" altLang="zh-CN" i="1" dirty="0" err="1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i</a:t>
            </a:r>
            <a:r>
              <a:rPr kumimoji="0" lang="en-US" altLang="zh-CN" dirty="0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&gt;</a:t>
            </a:r>
            <a:r>
              <a:rPr kumimoji="0" lang="en-US" altLang="zh-CN" i="1" dirty="0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j</a:t>
            </a:r>
            <a:r>
              <a:rPr kumimoji="0" lang="zh-CN" altLang="en-US" dirty="0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时，恒有</a:t>
            </a:r>
            <a:r>
              <a:rPr kumimoji="0" lang="en-US" altLang="zh-CN" i="1" dirty="0" err="1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a</a:t>
            </a:r>
            <a:r>
              <a:rPr kumimoji="0" lang="en-US" altLang="zh-CN" i="1" baseline="-25000" dirty="0" err="1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ij</a:t>
            </a:r>
            <a:r>
              <a:rPr kumimoji="0" lang="en-US" altLang="zh-CN" dirty="0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=0</a:t>
            </a:r>
            <a:r>
              <a:rPr kumimoji="0" lang="zh-CN" altLang="en-US" dirty="0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，且各行第一个非零元素前面零元素的个数随行数增大而增多，则称该矩阵为上梯形矩阵</a:t>
            </a:r>
            <a:r>
              <a:rPr kumimoji="0" lang="en-US" altLang="zh-CN" dirty="0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.</a:t>
            </a:r>
            <a:endParaRPr kumimoji="0" lang="zh-CN" altLang="en-US" dirty="0">
              <a:solidFill>
                <a:prstClr val="black"/>
              </a:solidFill>
              <a:latin typeface="Times New Roman"/>
              <a:ea typeface="黑体"/>
              <a:cs typeface="+mn-ea"/>
              <a:sym typeface="+mn-lt"/>
            </a:endParaRPr>
          </a:p>
        </p:txBody>
      </p:sp>
      <p:sp>
        <p:nvSpPr>
          <p:cNvPr id="13" name="文本框 45">
            <a:extLst>
              <a:ext uri="{FF2B5EF4-FFF2-40B4-BE49-F238E27FC236}">
                <a16:creationId xmlns:a16="http://schemas.microsoft.com/office/drawing/2014/main" id="{4A112548-37BE-234A-A9D0-F50B2A3CB851}"/>
              </a:ext>
            </a:extLst>
          </p:cNvPr>
          <p:cNvSpPr txBox="1"/>
          <p:nvPr/>
        </p:nvSpPr>
        <p:spPr>
          <a:xfrm>
            <a:off x="168341" y="1219424"/>
            <a:ext cx="1526059" cy="578235"/>
          </a:xfrm>
          <a:prstGeom prst="rect">
            <a:avLst/>
          </a:prstGeom>
          <a:noFill/>
        </p:spPr>
        <p:txBody>
          <a:bodyPr wrap="none" lIns="0" tIns="0" rIns="0" bIns="0" rtlCol="0" anchor="t" anchorCtr="1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dirty="0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📝</a:t>
            </a:r>
            <a:r>
              <a:rPr kumimoji="0" lang="zh-CN" altLang="en-US" dirty="0">
                <a:solidFill>
                  <a:prstClr val="black"/>
                </a:solidFill>
                <a:highlight>
                  <a:srgbClr val="FFC000"/>
                </a:highlight>
                <a:latin typeface="Times New Roman"/>
                <a:ea typeface="黑体"/>
                <a:cs typeface="+mn-ea"/>
                <a:sym typeface="+mn-lt"/>
              </a:rPr>
              <a:t> 梯形阵</a:t>
            </a:r>
            <a:endParaRPr kumimoji="0" lang="zh-CN" altLang="en-US" dirty="0">
              <a:solidFill>
                <a:prstClr val="black"/>
              </a:solidFill>
              <a:latin typeface="Times New Roman"/>
              <a:ea typeface="黑体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3439715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>
            <a:extLst>
              <a:ext uri="{FF2B5EF4-FFF2-40B4-BE49-F238E27FC236}">
                <a16:creationId xmlns:a16="http://schemas.microsoft.com/office/drawing/2014/main" id="{8359B20B-607A-7748-BE6B-E786F3B45E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1111954"/>
              </p:ext>
            </p:extLst>
          </p:nvPr>
        </p:nvGraphicFramePr>
        <p:xfrm>
          <a:off x="221334" y="3638323"/>
          <a:ext cx="5227992" cy="2103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075" name="Equation" r:id="rId3" imgW="2273040" imgH="914400" progId="Equation.DSMT4">
                  <p:embed/>
                </p:oleObj>
              </mc:Choice>
              <mc:Fallback>
                <p:oleObj name="Equation" r:id="rId3" imgW="2273040" imgH="914400" progId="Equation.DSMT4">
                  <p:embed/>
                  <p:pic>
                    <p:nvPicPr>
                      <p:cNvPr id="32" name="Object 6">
                        <a:extLst>
                          <a:ext uri="{FF2B5EF4-FFF2-40B4-BE49-F238E27FC236}">
                            <a16:creationId xmlns:a16="http://schemas.microsoft.com/office/drawing/2014/main" id="{313E7D35-B080-4315-9206-575A35A4F5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334" y="3638323"/>
                        <a:ext cx="5227992" cy="21031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椭圆形标注 12">
            <a:extLst>
              <a:ext uri="{FF2B5EF4-FFF2-40B4-BE49-F238E27FC236}">
                <a16:creationId xmlns:a16="http://schemas.microsoft.com/office/drawing/2014/main" id="{951C347C-102C-C748-B189-910840463690}"/>
              </a:ext>
            </a:extLst>
          </p:cNvPr>
          <p:cNvSpPr/>
          <p:nvPr/>
        </p:nvSpPr>
        <p:spPr>
          <a:xfrm>
            <a:off x="6498640" y="5150160"/>
            <a:ext cx="1606103" cy="1182566"/>
          </a:xfrm>
          <a:prstGeom prst="wedgeEllipseCallout">
            <a:avLst>
              <a:gd name="adj1" fmla="val -82422"/>
              <a:gd name="adj2" fmla="val -58854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zh-CN" altLang="en-US" sz="2800" dirty="0">
                <a:solidFill>
                  <a:schemeClr val="tx1"/>
                </a:solidFill>
                <a:cs typeface="+mn-ea"/>
                <a:sym typeface="+mn-lt"/>
              </a:rPr>
              <a:t>下梯形阵</a:t>
            </a:r>
          </a:p>
        </p:txBody>
      </p:sp>
      <p:sp>
        <p:nvSpPr>
          <p:cNvPr id="4" name="文本框 21">
            <a:extLst>
              <a:ext uri="{FF2B5EF4-FFF2-40B4-BE49-F238E27FC236}">
                <a16:creationId xmlns:a16="http://schemas.microsoft.com/office/drawing/2014/main" id="{6B8DF68B-EA8D-EB42-902A-BC1139988F8F}"/>
              </a:ext>
            </a:extLst>
          </p:cNvPr>
          <p:cNvSpPr txBox="1"/>
          <p:nvPr/>
        </p:nvSpPr>
        <p:spPr>
          <a:xfrm>
            <a:off x="150751" y="1379286"/>
            <a:ext cx="8714155" cy="1949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cs typeface="+mn-ea"/>
                <a:sym typeface="+mn-lt"/>
              </a:rPr>
              <a:t>若当</a:t>
            </a:r>
            <a:r>
              <a:rPr lang="en-US" altLang="zh-CN" sz="2800" i="1" dirty="0" err="1">
                <a:cs typeface="+mn-ea"/>
                <a:sym typeface="+mn-lt"/>
              </a:rPr>
              <a:t>i</a:t>
            </a:r>
            <a:r>
              <a:rPr lang="en-US" altLang="zh-CN" sz="2800" dirty="0">
                <a:cs typeface="+mn-ea"/>
                <a:sym typeface="+mn-lt"/>
              </a:rPr>
              <a:t>&lt;</a:t>
            </a:r>
            <a:r>
              <a:rPr lang="en-US" altLang="zh-CN" sz="2800" i="1" dirty="0">
                <a:cs typeface="+mn-ea"/>
                <a:sym typeface="+mn-lt"/>
              </a:rPr>
              <a:t>j</a:t>
            </a:r>
            <a:r>
              <a:rPr lang="en-US" altLang="zh-CN" sz="2800" dirty="0">
                <a:cs typeface="+mn-ea"/>
                <a:sym typeface="+mn-lt"/>
              </a:rPr>
              <a:t> </a:t>
            </a:r>
            <a:r>
              <a:rPr lang="zh-CN" altLang="en-US" sz="2800" dirty="0">
                <a:cs typeface="+mn-ea"/>
                <a:sym typeface="+mn-lt"/>
              </a:rPr>
              <a:t>时，恒有</a:t>
            </a:r>
            <a:r>
              <a:rPr lang="en-US" altLang="zh-CN" sz="2800" i="1" dirty="0" err="1">
                <a:cs typeface="+mn-ea"/>
                <a:sym typeface="+mn-lt"/>
              </a:rPr>
              <a:t>a</a:t>
            </a:r>
            <a:r>
              <a:rPr lang="en-US" altLang="zh-CN" sz="2800" i="1" baseline="-25000" dirty="0" err="1">
                <a:cs typeface="+mn-ea"/>
                <a:sym typeface="+mn-lt"/>
              </a:rPr>
              <a:t>ij</a:t>
            </a:r>
            <a:r>
              <a:rPr lang="en-US" altLang="zh-CN" sz="2800" dirty="0">
                <a:cs typeface="+mn-ea"/>
                <a:sym typeface="+mn-lt"/>
              </a:rPr>
              <a:t>=0</a:t>
            </a:r>
            <a:r>
              <a:rPr lang="zh-CN" altLang="en-US" sz="2800" dirty="0">
                <a:cs typeface="+mn-ea"/>
                <a:sym typeface="+mn-lt"/>
              </a:rPr>
              <a:t>，且各行最后一个非零元素后面零元素的个数随行数增大而减少，则称该矩阵为下梯形矩阵</a:t>
            </a:r>
            <a:r>
              <a:rPr lang="en-US" altLang="zh-CN" sz="2800" dirty="0">
                <a:cs typeface="+mn-ea"/>
                <a:sym typeface="+mn-lt"/>
              </a:rPr>
              <a:t>.</a:t>
            </a:r>
            <a:endParaRPr lang="zh-CN" altLang="en-US" sz="2800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569267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6">
            <a:extLst>
              <a:ext uri="{FF2B5EF4-FFF2-40B4-BE49-F238E27FC236}">
                <a16:creationId xmlns:a16="http://schemas.microsoft.com/office/drawing/2014/main" id="{D41B6C58-74A7-F341-82F8-772265C4FB40}"/>
              </a:ext>
            </a:extLst>
          </p:cNvPr>
          <p:cNvSpPr txBox="1"/>
          <p:nvPr/>
        </p:nvSpPr>
        <p:spPr>
          <a:xfrm>
            <a:off x="91223" y="1157592"/>
            <a:ext cx="8853891" cy="1680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800" dirty="0">
                <a:cs typeface="+mn-ea"/>
                <a:sym typeface="+mn-lt"/>
              </a:rPr>
              <a:t>        把矩阵</a:t>
            </a:r>
            <a:r>
              <a:rPr lang="zh-CN" altLang="en-US" sz="2800" i="1" dirty="0">
                <a:cs typeface="+mn-ea"/>
                <a:sym typeface="+mn-lt"/>
              </a:rPr>
              <a:t> </a:t>
            </a:r>
            <a:r>
              <a:rPr lang="en-US" altLang="zh-CN" sz="2800" i="1" dirty="0">
                <a:cs typeface="+mn-ea"/>
                <a:sym typeface="+mn-lt"/>
              </a:rPr>
              <a:t>A </a:t>
            </a:r>
            <a:r>
              <a:rPr lang="zh-CN" altLang="en-US" sz="2800" dirty="0">
                <a:cs typeface="+mn-ea"/>
                <a:sym typeface="+mn-lt"/>
              </a:rPr>
              <a:t>的行换成同序数的列得到的一个新矩阵，称为</a:t>
            </a:r>
            <a:r>
              <a:rPr lang="en-US" altLang="zh-CN" sz="2800" i="1" dirty="0">
                <a:cs typeface="+mn-ea"/>
                <a:sym typeface="+mn-lt"/>
              </a:rPr>
              <a:t>A </a:t>
            </a:r>
            <a:r>
              <a:rPr lang="zh-CN" altLang="en-US" sz="2800" dirty="0">
                <a:cs typeface="+mn-ea"/>
                <a:sym typeface="+mn-lt"/>
              </a:rPr>
              <a:t>的转置，记为</a:t>
            </a:r>
            <a:r>
              <a:rPr lang="en-US" altLang="zh-CN" sz="2800" i="1" dirty="0">
                <a:cs typeface="+mn-ea"/>
                <a:sym typeface="+mn-lt"/>
              </a:rPr>
              <a:t>A</a:t>
            </a:r>
            <a:r>
              <a:rPr lang="en-US" altLang="zh-CN" sz="2800" i="1" baseline="30000" dirty="0">
                <a:cs typeface="+mn-ea"/>
                <a:sym typeface="+mn-lt"/>
              </a:rPr>
              <a:t>T </a:t>
            </a:r>
            <a:r>
              <a:rPr lang="en-US" altLang="zh-CN" sz="2800" dirty="0">
                <a:cs typeface="+mn-ea"/>
                <a:sym typeface="+mn-lt"/>
              </a:rPr>
              <a:t> </a:t>
            </a:r>
            <a:r>
              <a:rPr lang="zh-CN" altLang="en-US" sz="2800" dirty="0">
                <a:cs typeface="+mn-ea"/>
                <a:sym typeface="+mn-lt"/>
              </a:rPr>
              <a:t>或</a:t>
            </a:r>
            <a:r>
              <a:rPr lang="en-US" altLang="zh-CN" sz="2800" i="1" dirty="0">
                <a:cs typeface="+mn-ea"/>
                <a:sym typeface="+mn-lt"/>
              </a:rPr>
              <a:t>A</a:t>
            </a:r>
            <a:r>
              <a:rPr lang="en-US" altLang="zh-CN" sz="2800" dirty="0">
                <a:cs typeface="+mn-ea"/>
                <a:sym typeface="+mn-lt"/>
              </a:rPr>
              <a:t>'.</a:t>
            </a:r>
            <a:endParaRPr lang="zh-CN" altLang="en-US" sz="2800" dirty="0">
              <a:cs typeface="+mn-ea"/>
              <a:sym typeface="+mn-lt"/>
            </a:endParaRPr>
          </a:p>
        </p:txBody>
      </p:sp>
      <p:graphicFrame>
        <p:nvGraphicFramePr>
          <p:cNvPr id="3" name="Object 6">
            <a:extLst>
              <a:ext uri="{FF2B5EF4-FFF2-40B4-BE49-F238E27FC236}">
                <a16:creationId xmlns:a16="http://schemas.microsoft.com/office/drawing/2014/main" id="{36F84275-1936-9744-A00B-C8550ABF89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8106985"/>
              </p:ext>
            </p:extLst>
          </p:nvPr>
        </p:nvGraphicFramePr>
        <p:xfrm>
          <a:off x="102240" y="4155202"/>
          <a:ext cx="61277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105" name="Equation" r:id="rId3" imgW="266400" imgH="164880" progId="Equation.DSMT4">
                  <p:embed/>
                </p:oleObj>
              </mc:Choice>
              <mc:Fallback>
                <p:oleObj name="Equation" r:id="rId3" imgW="266400" imgH="164880" progId="Equation.DSMT4">
                  <p:embed/>
                  <p:pic>
                    <p:nvPicPr>
                      <p:cNvPr id="42" name="Object 6">
                        <a:extLst>
                          <a:ext uri="{FF2B5EF4-FFF2-40B4-BE49-F238E27FC236}">
                            <a16:creationId xmlns:a16="http://schemas.microsoft.com/office/drawing/2014/main" id="{0ED48822-7074-4C1C-9E8C-12912CFBDB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240" y="4155202"/>
                        <a:ext cx="612775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12">
            <a:extLst>
              <a:ext uri="{FF2B5EF4-FFF2-40B4-BE49-F238E27FC236}">
                <a16:creationId xmlns:a16="http://schemas.microsoft.com/office/drawing/2014/main" id="{F4CA2517-E40D-7F4B-AE12-EB52EE7F13BE}"/>
              </a:ext>
            </a:extLst>
          </p:cNvPr>
          <p:cNvSpPr txBox="1"/>
          <p:nvPr/>
        </p:nvSpPr>
        <p:spPr>
          <a:xfrm>
            <a:off x="91222" y="1331956"/>
            <a:ext cx="448841" cy="583108"/>
          </a:xfrm>
          <a:prstGeom prst="rect">
            <a:avLst/>
          </a:prstGeom>
          <a:noFill/>
        </p:spPr>
        <p:txBody>
          <a:bodyPr wrap="none" lIns="0" tIns="0" rIns="0" bIns="0" rtlCol="0" anchor="t" anchorCtr="1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800" dirty="0">
                <a:solidFill>
                  <a:prstClr val="black"/>
                </a:solidFill>
                <a:cs typeface="+mn-ea"/>
                <a:sym typeface="+mn-lt"/>
              </a:rPr>
              <a:t>📝</a:t>
            </a:r>
            <a:r>
              <a:rPr lang="zh-CN" altLang="en-US" sz="2800" dirty="0">
                <a:solidFill>
                  <a:prstClr val="black"/>
                </a:solidFill>
                <a:highlight>
                  <a:srgbClr val="FFC000"/>
                </a:highlight>
                <a:cs typeface="+mn-ea"/>
                <a:sym typeface="+mn-lt"/>
              </a:rPr>
              <a:t> </a:t>
            </a:r>
            <a:endParaRPr lang="zh-CN" altLang="en-US" sz="2800" dirty="0">
              <a:solidFill>
                <a:prstClr val="black"/>
              </a:solidFill>
              <a:cs typeface="+mn-ea"/>
              <a:sym typeface="+mn-lt"/>
            </a:endParaRPr>
          </a:p>
        </p:txBody>
      </p:sp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459FDD5D-F5BA-C243-941D-E1458C64AA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5609008"/>
              </p:ext>
            </p:extLst>
          </p:nvPr>
        </p:nvGraphicFramePr>
        <p:xfrm>
          <a:off x="5324588" y="3167558"/>
          <a:ext cx="3768725" cy="2686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106" name="Equation" r:id="rId5" imgW="1638000" imgH="1168200" progId="Equation.DSMT4">
                  <p:embed/>
                </p:oleObj>
              </mc:Choice>
              <mc:Fallback>
                <p:oleObj name="Equation" r:id="rId5" imgW="1638000" imgH="1168200" progId="Equation.DSMT4">
                  <p:embed/>
                  <p:pic>
                    <p:nvPicPr>
                      <p:cNvPr id="18" name="Object 6">
                        <a:extLst>
                          <a:ext uri="{FF2B5EF4-FFF2-40B4-BE49-F238E27FC236}">
                            <a16:creationId xmlns:a16="http://schemas.microsoft.com/office/drawing/2014/main" id="{0CB86EFC-3B80-4416-B988-468BD8DCE2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4588" y="3167558"/>
                        <a:ext cx="3768725" cy="2686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0DFFB194-8059-2747-819C-140D9B5A83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2273372"/>
              </p:ext>
            </p:extLst>
          </p:nvPr>
        </p:nvGraphicFramePr>
        <p:xfrm>
          <a:off x="654697" y="3167558"/>
          <a:ext cx="4002088" cy="2686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107" name="Equation" r:id="rId7" imgW="1739880" imgH="1168200" progId="Equation.DSMT4">
                  <p:embed/>
                </p:oleObj>
              </mc:Choice>
              <mc:Fallback>
                <p:oleObj name="Equation" r:id="rId7" imgW="1739880" imgH="1168200" progId="Equation.DSMT4">
                  <p:embed/>
                  <p:pic>
                    <p:nvPicPr>
                      <p:cNvPr id="19" name="Object 6">
                        <a:extLst>
                          <a:ext uri="{FF2B5EF4-FFF2-40B4-BE49-F238E27FC236}">
                            <a16:creationId xmlns:a16="http://schemas.microsoft.com/office/drawing/2014/main" id="{55AC5C0F-CD11-48AC-BDB9-0C8320D8E3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697" y="3167558"/>
                        <a:ext cx="4002088" cy="2686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C9A364E2-6F0C-EF4E-8CCF-C9431D6BC9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7419085"/>
              </p:ext>
            </p:extLst>
          </p:nvPr>
        </p:nvGraphicFramePr>
        <p:xfrm>
          <a:off x="4612719" y="4098052"/>
          <a:ext cx="788987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108" name="Equation" r:id="rId9" imgW="342720" imgH="190440" progId="Equation.DSMT4">
                  <p:embed/>
                </p:oleObj>
              </mc:Choice>
              <mc:Fallback>
                <p:oleObj name="Equation" r:id="rId9" imgW="342720" imgH="190440" progId="Equation.DSMT4">
                  <p:embed/>
                  <p:pic>
                    <p:nvPicPr>
                      <p:cNvPr id="20" name="Object 6">
                        <a:extLst>
                          <a:ext uri="{FF2B5EF4-FFF2-40B4-BE49-F238E27FC236}">
                            <a16:creationId xmlns:a16="http://schemas.microsoft.com/office/drawing/2014/main" id="{41C203CC-C77B-4F38-B38B-A7C3B399BA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2719" y="4098052"/>
                        <a:ext cx="788987" cy="438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1449911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文本框 81">
            <a:extLst>
              <a:ext uri="{FF2B5EF4-FFF2-40B4-BE49-F238E27FC236}">
                <a16:creationId xmlns:a16="http://schemas.microsoft.com/office/drawing/2014/main" id="{8E122FD9-8FF8-3145-AABC-2F489DBCA865}"/>
              </a:ext>
            </a:extLst>
          </p:cNvPr>
          <p:cNvSpPr txBox="1"/>
          <p:nvPr/>
        </p:nvSpPr>
        <p:spPr>
          <a:xfrm>
            <a:off x="179189" y="3210076"/>
            <a:ext cx="8737200" cy="1303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zh-CN" altLang="en-US" dirty="0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             设</a:t>
            </a:r>
            <a:r>
              <a:rPr kumimoji="0" lang="en-US" altLang="zh-CN" i="1" dirty="0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A</a:t>
            </a:r>
            <a:r>
              <a:rPr kumimoji="0" lang="zh-CN" altLang="en-US" dirty="0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为</a:t>
            </a:r>
            <a:r>
              <a:rPr kumimoji="0" lang="en-US" altLang="zh-CN" i="1" dirty="0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n</a:t>
            </a:r>
            <a:r>
              <a:rPr kumimoji="0" lang="en-US" altLang="zh-CN" dirty="0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 </a:t>
            </a:r>
            <a:r>
              <a:rPr kumimoji="0" lang="zh-CN" altLang="en-US" dirty="0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阶方阵，如果满足</a:t>
            </a:r>
            <a:r>
              <a:rPr kumimoji="0" lang="en-US" altLang="zh-CN" i="1" dirty="0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A</a:t>
            </a:r>
            <a:r>
              <a:rPr kumimoji="0" lang="en-US" altLang="zh-CN" baseline="30000" dirty="0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T</a:t>
            </a:r>
            <a:r>
              <a:rPr kumimoji="0" lang="en-US" altLang="zh-CN" dirty="0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=-</a:t>
            </a:r>
            <a:r>
              <a:rPr kumimoji="0" lang="en-US" altLang="zh-CN" i="1" dirty="0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A</a:t>
            </a:r>
            <a:r>
              <a:rPr kumimoji="0" lang="zh-CN" altLang="en-US" dirty="0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，即</a:t>
            </a:r>
            <a:r>
              <a:rPr kumimoji="0" lang="en-US" altLang="zh-CN" i="1" dirty="0" err="1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a</a:t>
            </a:r>
            <a:r>
              <a:rPr kumimoji="0" lang="en-US" altLang="zh-CN" i="1" baseline="-25000" dirty="0" err="1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ij</a:t>
            </a:r>
            <a:r>
              <a:rPr kumimoji="0" lang="en-US" altLang="zh-CN" dirty="0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=-</a:t>
            </a:r>
            <a:r>
              <a:rPr kumimoji="0" lang="en-US" altLang="zh-CN" i="1" dirty="0" err="1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a</a:t>
            </a:r>
            <a:r>
              <a:rPr kumimoji="0" lang="en-US" altLang="zh-CN" i="1" baseline="-25000" dirty="0" err="1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ji</a:t>
            </a:r>
            <a:r>
              <a:rPr kumimoji="0" lang="en-US" altLang="zh-CN" dirty="0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 (</a:t>
            </a:r>
            <a:r>
              <a:rPr kumimoji="0" lang="en-US" altLang="zh-CN" i="1" dirty="0" err="1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i</a:t>
            </a:r>
            <a:r>
              <a:rPr kumimoji="0" lang="en-US" altLang="zh-CN" dirty="0" err="1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≠</a:t>
            </a:r>
            <a:r>
              <a:rPr kumimoji="0" lang="en-US" altLang="zh-CN" i="1" dirty="0" err="1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j</a:t>
            </a:r>
            <a:r>
              <a:rPr kumimoji="0" lang="en-US" altLang="zh-CN" dirty="0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) </a:t>
            </a:r>
            <a:r>
              <a:rPr kumimoji="0" lang="zh-CN" altLang="en-US" dirty="0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，</a:t>
            </a:r>
            <a:r>
              <a:rPr kumimoji="0" lang="en-US" altLang="zh-CN" i="1" dirty="0" err="1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a</a:t>
            </a:r>
            <a:r>
              <a:rPr kumimoji="0" lang="en-US" altLang="zh-CN" i="1" baseline="-25000" dirty="0" err="1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ii</a:t>
            </a:r>
            <a:r>
              <a:rPr kumimoji="0" lang="en-US" altLang="zh-CN" dirty="0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=0 </a:t>
            </a:r>
            <a:r>
              <a:rPr kumimoji="0" lang="zh-CN" altLang="en-US" dirty="0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，</a:t>
            </a:r>
            <a:r>
              <a:rPr kumimoji="0" lang="en-US" altLang="zh-CN" dirty="0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(</a:t>
            </a:r>
            <a:r>
              <a:rPr kumimoji="0" lang="en-US" altLang="zh-CN" i="1" dirty="0" err="1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i</a:t>
            </a:r>
            <a:r>
              <a:rPr kumimoji="0" lang="en-US" altLang="zh-CN" dirty="0" err="1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,</a:t>
            </a:r>
            <a:r>
              <a:rPr kumimoji="0" lang="en-US" altLang="zh-CN" i="1" dirty="0" err="1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j</a:t>
            </a:r>
            <a:r>
              <a:rPr kumimoji="0" lang="en-US" altLang="zh-CN" dirty="0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=1,2,⋯,</a:t>
            </a:r>
            <a:r>
              <a:rPr kumimoji="0" lang="en-US" altLang="zh-CN" i="1" dirty="0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n</a:t>
            </a:r>
            <a:r>
              <a:rPr kumimoji="0" lang="en-US" altLang="zh-CN" dirty="0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) </a:t>
            </a:r>
            <a:r>
              <a:rPr kumimoji="0" lang="zh-CN" altLang="en-US" dirty="0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，则</a:t>
            </a:r>
            <a:r>
              <a:rPr kumimoji="0" lang="en-US" altLang="zh-CN" i="1" dirty="0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A</a:t>
            </a:r>
            <a:r>
              <a:rPr kumimoji="0" lang="zh-CN" altLang="en-US" dirty="0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为反对称矩阵</a:t>
            </a:r>
            <a:r>
              <a:rPr kumimoji="0" lang="en-US" altLang="zh-CN" dirty="0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.</a:t>
            </a:r>
            <a:endParaRPr kumimoji="0" lang="zh-CN" altLang="en-US" dirty="0">
              <a:solidFill>
                <a:prstClr val="black"/>
              </a:solidFill>
              <a:latin typeface="Times New Roman"/>
              <a:ea typeface="黑体"/>
              <a:cs typeface="+mn-ea"/>
              <a:sym typeface="+mn-lt"/>
            </a:endParaRPr>
          </a:p>
        </p:txBody>
      </p:sp>
      <p:grpSp>
        <p:nvGrpSpPr>
          <p:cNvPr id="45" name="组合 67">
            <a:extLst>
              <a:ext uri="{FF2B5EF4-FFF2-40B4-BE49-F238E27FC236}">
                <a16:creationId xmlns:a16="http://schemas.microsoft.com/office/drawing/2014/main" id="{2E1BF3D6-B48A-6748-90B1-54343DC85317}"/>
              </a:ext>
            </a:extLst>
          </p:cNvPr>
          <p:cNvGrpSpPr/>
          <p:nvPr/>
        </p:nvGrpSpPr>
        <p:grpSpPr>
          <a:xfrm>
            <a:off x="213128" y="2439183"/>
            <a:ext cx="7167271" cy="587885"/>
            <a:chOff x="1703526" y="6082955"/>
            <a:chExt cx="7034302" cy="587885"/>
          </a:xfrm>
        </p:grpSpPr>
        <p:grpSp>
          <p:nvGrpSpPr>
            <p:cNvPr id="46" name="组合 68">
              <a:extLst>
                <a:ext uri="{FF2B5EF4-FFF2-40B4-BE49-F238E27FC236}">
                  <a16:creationId xmlns:a16="http://schemas.microsoft.com/office/drawing/2014/main" id="{82AAB657-6038-D14C-970E-42BB1396EE78}"/>
                </a:ext>
              </a:extLst>
            </p:cNvPr>
            <p:cNvGrpSpPr/>
            <p:nvPr/>
          </p:nvGrpSpPr>
          <p:grpSpPr>
            <a:xfrm>
              <a:off x="1703526" y="6104848"/>
              <a:ext cx="7034302" cy="565992"/>
              <a:chOff x="179512" y="3503318"/>
              <a:chExt cx="7161245" cy="565992"/>
            </a:xfrm>
          </p:grpSpPr>
          <p:sp>
            <p:nvSpPr>
              <p:cNvPr id="48" name="矩形 70">
                <a:extLst>
                  <a:ext uri="{FF2B5EF4-FFF2-40B4-BE49-F238E27FC236}">
                    <a16:creationId xmlns:a16="http://schemas.microsoft.com/office/drawing/2014/main" id="{11AFF4A3-AAB9-6C42-9E32-BC9C8EA60B38}"/>
                  </a:ext>
                </a:extLst>
              </p:cNvPr>
              <p:cNvSpPr/>
              <p:nvPr/>
            </p:nvSpPr>
            <p:spPr>
              <a:xfrm>
                <a:off x="773857" y="3590510"/>
                <a:ext cx="6566900" cy="478800"/>
              </a:xfrm>
              <a:prstGeom prst="rect">
                <a:avLst/>
              </a:prstGeom>
              <a:solidFill>
                <a:srgbClr val="FFC000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zh-CN" altLang="en-US" sz="1800" kern="0">
                  <a:solidFill>
                    <a:prstClr val="white"/>
                  </a:solidFill>
                  <a:latin typeface="Times New Roman"/>
                  <a:ea typeface="黑体"/>
                  <a:cs typeface="+mn-ea"/>
                  <a:sym typeface="+mn-lt"/>
                </a:endParaRPr>
              </a:p>
            </p:txBody>
          </p:sp>
          <p:sp>
            <p:nvSpPr>
              <p:cNvPr id="49" name="文本框 71">
                <a:extLst>
                  <a:ext uri="{FF2B5EF4-FFF2-40B4-BE49-F238E27FC236}">
                    <a16:creationId xmlns:a16="http://schemas.microsoft.com/office/drawing/2014/main" id="{18A56B81-F06A-8F49-B77F-9CF659CF485B}"/>
                  </a:ext>
                </a:extLst>
              </p:cNvPr>
              <p:cNvSpPr txBox="1"/>
              <p:nvPr/>
            </p:nvSpPr>
            <p:spPr>
              <a:xfrm>
                <a:off x="179512" y="3503318"/>
                <a:ext cx="1325128" cy="5645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 anchorCtr="0">
                <a:spAutoFit/>
              </a:bodyPr>
              <a:lstStyle/>
              <a:p>
                <a:pPr eaLnBrk="1" fontAlgn="auto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zh-CN" altLang="en-US" kern="0" dirty="0">
                    <a:solidFill>
                      <a:prstClr val="black"/>
                    </a:solidFill>
                    <a:latin typeface="Times New Roman"/>
                    <a:ea typeface="黑体"/>
                    <a:cs typeface="+mn-ea"/>
                    <a:sym typeface="+mn-lt"/>
                  </a:rPr>
                  <a:t>📢 </a:t>
                </a:r>
                <a:r>
                  <a:rPr kumimoji="0" lang="zh-CN" altLang="en-US" kern="0" dirty="0">
                    <a:solidFill>
                      <a:prstClr val="black"/>
                    </a:solidFill>
                    <a:highlight>
                      <a:srgbClr val="FFC000"/>
                    </a:highlight>
                    <a:latin typeface="Times New Roman"/>
                    <a:ea typeface="黑体"/>
                    <a:cs typeface="+mn-ea"/>
                    <a:sym typeface="+mn-lt"/>
                  </a:rPr>
                  <a:t>特点</a:t>
                </a:r>
                <a:endParaRPr lang="en-US" altLang="zh-CN" kern="0" dirty="0">
                  <a:solidFill>
                    <a:prstClr val="black"/>
                  </a:solidFill>
                  <a:highlight>
                    <a:srgbClr val="FFC000"/>
                  </a:highlight>
                  <a:latin typeface="Times New Roman"/>
                  <a:ea typeface="黑体"/>
                  <a:cs typeface="+mn-ea"/>
                  <a:sym typeface="+mn-lt"/>
                </a:endParaRPr>
              </a:p>
            </p:txBody>
          </p:sp>
        </p:grp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248D54FE-CA3E-EE44-B90E-37669B9597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1511" y="6082955"/>
              <a:ext cx="5374269" cy="5645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t" anchorCtr="0">
              <a:spAutoFit/>
            </a:bodyPr>
            <a:lstStyle/>
            <a:p>
              <a:pPr eaLnBrk="1" fontAlgn="auto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kern="0" dirty="0">
                  <a:solidFill>
                    <a:prstClr val="black"/>
                  </a:solidFill>
                  <a:latin typeface="Times New Roman"/>
                  <a:ea typeface="黑体"/>
                  <a:cs typeface="+mn-ea"/>
                  <a:sym typeface="+mn-lt"/>
                </a:rPr>
                <a:t>元素以主对角线为对称轴对应相等</a:t>
              </a:r>
              <a:r>
                <a:rPr lang="en-US" altLang="zh-CN" kern="0" dirty="0">
                  <a:solidFill>
                    <a:prstClr val="black"/>
                  </a:solidFill>
                  <a:latin typeface="Times New Roman"/>
                  <a:ea typeface="黑体"/>
                  <a:cs typeface="+mn-ea"/>
                  <a:sym typeface="+mn-lt"/>
                </a:rPr>
                <a:t>.</a:t>
              </a:r>
            </a:p>
          </p:txBody>
        </p:sp>
      </p:grpSp>
      <p:sp>
        <p:nvSpPr>
          <p:cNvPr id="50" name="文本框 74">
            <a:extLst>
              <a:ext uri="{FF2B5EF4-FFF2-40B4-BE49-F238E27FC236}">
                <a16:creationId xmlns:a16="http://schemas.microsoft.com/office/drawing/2014/main" id="{37FA72EC-FE0B-0945-BB05-B1ED8DBA1C23}"/>
              </a:ext>
            </a:extLst>
          </p:cNvPr>
          <p:cNvSpPr txBox="1"/>
          <p:nvPr/>
        </p:nvSpPr>
        <p:spPr>
          <a:xfrm>
            <a:off x="179189" y="1023680"/>
            <a:ext cx="1003480" cy="568297"/>
          </a:xfrm>
          <a:prstGeom prst="rect">
            <a:avLst/>
          </a:prstGeom>
          <a:noFill/>
        </p:spPr>
        <p:txBody>
          <a:bodyPr wrap="none" lIns="0" tIns="0" rIns="0" bIns="0" rtlCol="0" anchor="t" anchorCtr="1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dirty="0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📝</a:t>
            </a:r>
            <a:r>
              <a:rPr kumimoji="0" lang="zh-CN" altLang="en-US" dirty="0">
                <a:solidFill>
                  <a:prstClr val="black"/>
                </a:solidFill>
                <a:highlight>
                  <a:srgbClr val="FFC000"/>
                </a:highlight>
                <a:latin typeface="Times New Roman"/>
                <a:ea typeface="黑体"/>
                <a:cs typeface="+mn-ea"/>
                <a:sym typeface="+mn-lt"/>
              </a:rPr>
              <a:t> </a:t>
            </a:r>
            <a:r>
              <a:rPr kumimoji="0" lang="en-US" altLang="zh-CN" dirty="0">
                <a:solidFill>
                  <a:prstClr val="black"/>
                </a:solidFill>
                <a:highlight>
                  <a:srgbClr val="FFC000"/>
                </a:highlight>
                <a:latin typeface="Times New Roman"/>
                <a:ea typeface="黑体"/>
                <a:cs typeface="+mn-ea"/>
                <a:sym typeface="+mn-lt"/>
              </a:rPr>
              <a:t>(8)</a:t>
            </a:r>
            <a:endParaRPr kumimoji="0" lang="zh-CN" altLang="en-US" dirty="0">
              <a:solidFill>
                <a:prstClr val="black"/>
              </a:solidFill>
              <a:latin typeface="Times New Roman"/>
              <a:ea typeface="黑体"/>
              <a:cs typeface="+mn-ea"/>
              <a:sym typeface="+mn-lt"/>
            </a:endParaRPr>
          </a:p>
        </p:txBody>
      </p:sp>
      <p:sp>
        <p:nvSpPr>
          <p:cNvPr id="51" name="文本框 77">
            <a:extLst>
              <a:ext uri="{FF2B5EF4-FFF2-40B4-BE49-F238E27FC236}">
                <a16:creationId xmlns:a16="http://schemas.microsoft.com/office/drawing/2014/main" id="{4BC2CCF7-E3FD-1D4C-A7E2-B5963E52C94C}"/>
              </a:ext>
            </a:extLst>
          </p:cNvPr>
          <p:cNvSpPr txBox="1"/>
          <p:nvPr/>
        </p:nvSpPr>
        <p:spPr>
          <a:xfrm>
            <a:off x="142875" y="1003635"/>
            <a:ext cx="8737200" cy="1303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zh-CN" altLang="en-US" dirty="0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             设</a:t>
            </a:r>
            <a:r>
              <a:rPr kumimoji="0" lang="en-US" altLang="zh-CN" i="1" dirty="0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A</a:t>
            </a:r>
            <a:r>
              <a:rPr kumimoji="0" lang="zh-CN" altLang="en-US" dirty="0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为 </a:t>
            </a:r>
            <a:r>
              <a:rPr kumimoji="0" lang="en-US" altLang="zh-CN" i="1" dirty="0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n</a:t>
            </a:r>
            <a:r>
              <a:rPr kumimoji="0" lang="en-US" altLang="zh-CN" dirty="0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 </a:t>
            </a:r>
            <a:r>
              <a:rPr kumimoji="0" lang="zh-CN" altLang="en-US" dirty="0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阶方阵，如果满足</a:t>
            </a:r>
            <a:r>
              <a:rPr kumimoji="0" lang="en-US" altLang="zh-CN" i="1" dirty="0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A</a:t>
            </a:r>
            <a:r>
              <a:rPr kumimoji="0" lang="en-US" altLang="zh-CN" baseline="30000" dirty="0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T</a:t>
            </a:r>
            <a:r>
              <a:rPr kumimoji="0" lang="en-US" altLang="zh-CN" dirty="0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=</a:t>
            </a:r>
            <a:r>
              <a:rPr kumimoji="0" lang="en-US" altLang="zh-CN" i="1" dirty="0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A</a:t>
            </a:r>
            <a:r>
              <a:rPr kumimoji="0" lang="zh-CN" altLang="en-US" dirty="0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，即</a:t>
            </a:r>
            <a:r>
              <a:rPr kumimoji="0" lang="en-US" altLang="zh-CN" i="1" dirty="0" err="1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a</a:t>
            </a:r>
            <a:r>
              <a:rPr kumimoji="0" lang="en-US" altLang="zh-CN" i="1" baseline="-25000" dirty="0" err="1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ij</a:t>
            </a:r>
            <a:r>
              <a:rPr kumimoji="0" lang="en-US" altLang="zh-CN" dirty="0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=</a:t>
            </a:r>
            <a:r>
              <a:rPr kumimoji="0" lang="en-US" altLang="zh-CN" i="1" dirty="0" err="1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a</a:t>
            </a:r>
            <a:r>
              <a:rPr kumimoji="0" lang="en-US" altLang="zh-CN" i="1" baseline="-25000" dirty="0" err="1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ji</a:t>
            </a:r>
            <a:r>
              <a:rPr kumimoji="0" lang="en-US" altLang="zh-CN" dirty="0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 (</a:t>
            </a:r>
            <a:r>
              <a:rPr kumimoji="0" lang="en-US" altLang="zh-CN" i="1" dirty="0" err="1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i</a:t>
            </a:r>
            <a:r>
              <a:rPr kumimoji="0" lang="en-US" altLang="zh-CN" dirty="0" err="1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,</a:t>
            </a:r>
            <a:r>
              <a:rPr kumimoji="0" lang="en-US" altLang="zh-CN" i="1" dirty="0" err="1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j</a:t>
            </a:r>
            <a:r>
              <a:rPr kumimoji="0" lang="en-US" altLang="zh-CN" dirty="0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=1,2,⋯,</a:t>
            </a:r>
            <a:r>
              <a:rPr kumimoji="0" lang="en-US" altLang="zh-CN" i="1" dirty="0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n</a:t>
            </a:r>
            <a:r>
              <a:rPr kumimoji="0" lang="en-US" altLang="zh-CN" dirty="0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) </a:t>
            </a:r>
            <a:r>
              <a:rPr kumimoji="0" lang="zh-CN" altLang="en-US" dirty="0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，则</a:t>
            </a:r>
            <a:r>
              <a:rPr kumimoji="0" lang="en-US" altLang="zh-CN" i="1" dirty="0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A</a:t>
            </a:r>
            <a:r>
              <a:rPr kumimoji="0" lang="en-US" altLang="zh-CN" dirty="0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 </a:t>
            </a:r>
            <a:r>
              <a:rPr kumimoji="0" lang="zh-CN" altLang="en-US" dirty="0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为对称矩阵</a:t>
            </a:r>
            <a:r>
              <a:rPr kumimoji="0" lang="en-US" altLang="zh-CN" dirty="0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.</a:t>
            </a:r>
            <a:endParaRPr kumimoji="0" lang="zh-CN" altLang="en-US" dirty="0">
              <a:solidFill>
                <a:prstClr val="black"/>
              </a:solidFill>
              <a:latin typeface="Times New Roman"/>
              <a:ea typeface="黑体"/>
              <a:cs typeface="+mn-ea"/>
              <a:sym typeface="+mn-lt"/>
            </a:endParaRPr>
          </a:p>
        </p:txBody>
      </p:sp>
      <p:sp>
        <p:nvSpPr>
          <p:cNvPr id="52" name="文本框 78">
            <a:extLst>
              <a:ext uri="{FF2B5EF4-FFF2-40B4-BE49-F238E27FC236}">
                <a16:creationId xmlns:a16="http://schemas.microsoft.com/office/drawing/2014/main" id="{3F41A2DB-B7E4-9E4C-B63A-59E2AC645AFC}"/>
              </a:ext>
            </a:extLst>
          </p:cNvPr>
          <p:cNvSpPr txBox="1"/>
          <p:nvPr/>
        </p:nvSpPr>
        <p:spPr>
          <a:xfrm>
            <a:off x="213127" y="3231261"/>
            <a:ext cx="1003480" cy="568297"/>
          </a:xfrm>
          <a:prstGeom prst="rect">
            <a:avLst/>
          </a:prstGeom>
          <a:noFill/>
        </p:spPr>
        <p:txBody>
          <a:bodyPr wrap="none" lIns="0" tIns="0" rIns="0" bIns="0" rtlCol="0" anchor="t" anchorCtr="1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dirty="0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📝</a:t>
            </a:r>
            <a:r>
              <a:rPr kumimoji="0" lang="zh-CN" altLang="en-US" dirty="0">
                <a:solidFill>
                  <a:prstClr val="black"/>
                </a:solidFill>
                <a:highlight>
                  <a:srgbClr val="FFC000"/>
                </a:highlight>
                <a:latin typeface="Times New Roman"/>
                <a:ea typeface="黑体"/>
                <a:cs typeface="+mn-ea"/>
                <a:sym typeface="+mn-lt"/>
              </a:rPr>
              <a:t> </a:t>
            </a:r>
            <a:r>
              <a:rPr kumimoji="0" lang="en-US" altLang="zh-CN" dirty="0">
                <a:solidFill>
                  <a:prstClr val="black"/>
                </a:solidFill>
                <a:highlight>
                  <a:srgbClr val="FFC000"/>
                </a:highlight>
                <a:latin typeface="Times New Roman"/>
                <a:ea typeface="黑体"/>
                <a:cs typeface="+mn-ea"/>
                <a:sym typeface="+mn-lt"/>
              </a:rPr>
              <a:t>(9)</a:t>
            </a:r>
            <a:endParaRPr kumimoji="0" lang="zh-CN" altLang="en-US" dirty="0">
              <a:solidFill>
                <a:prstClr val="black"/>
              </a:solidFill>
              <a:latin typeface="Times New Roman"/>
              <a:ea typeface="黑体"/>
              <a:cs typeface="+mn-ea"/>
              <a:sym typeface="+mn-lt"/>
            </a:endParaRPr>
          </a:p>
        </p:txBody>
      </p:sp>
      <p:grpSp>
        <p:nvGrpSpPr>
          <p:cNvPr id="53" name="组合 82">
            <a:extLst>
              <a:ext uri="{FF2B5EF4-FFF2-40B4-BE49-F238E27FC236}">
                <a16:creationId xmlns:a16="http://schemas.microsoft.com/office/drawing/2014/main" id="{6E46968C-CC87-E14E-ABD4-8417BD74ECCD}"/>
              </a:ext>
            </a:extLst>
          </p:cNvPr>
          <p:cNvGrpSpPr/>
          <p:nvPr/>
        </p:nvGrpSpPr>
        <p:grpSpPr>
          <a:xfrm>
            <a:off x="235754" y="4667868"/>
            <a:ext cx="7875315" cy="1997371"/>
            <a:chOff x="1725733" y="6132817"/>
            <a:chExt cx="7729209" cy="1997371"/>
          </a:xfrm>
        </p:grpSpPr>
        <p:grpSp>
          <p:nvGrpSpPr>
            <p:cNvPr id="54" name="组合 83">
              <a:extLst>
                <a:ext uri="{FF2B5EF4-FFF2-40B4-BE49-F238E27FC236}">
                  <a16:creationId xmlns:a16="http://schemas.microsoft.com/office/drawing/2014/main" id="{7C5826AD-7A02-754B-A1C4-D738353C0B83}"/>
                </a:ext>
              </a:extLst>
            </p:cNvPr>
            <p:cNvGrpSpPr/>
            <p:nvPr/>
          </p:nvGrpSpPr>
          <p:grpSpPr>
            <a:xfrm>
              <a:off x="1725733" y="6132817"/>
              <a:ext cx="7729208" cy="1997371"/>
              <a:chOff x="202120" y="3531287"/>
              <a:chExt cx="7868691" cy="1997371"/>
            </a:xfrm>
          </p:grpSpPr>
          <p:sp>
            <p:nvSpPr>
              <p:cNvPr id="56" name="矩形 85">
                <a:extLst>
                  <a:ext uri="{FF2B5EF4-FFF2-40B4-BE49-F238E27FC236}">
                    <a16:creationId xmlns:a16="http://schemas.microsoft.com/office/drawing/2014/main" id="{CC0A33CC-A5D8-ED44-8EEC-34C735E6DB61}"/>
                  </a:ext>
                </a:extLst>
              </p:cNvPr>
              <p:cNvSpPr/>
              <p:nvPr/>
            </p:nvSpPr>
            <p:spPr>
              <a:xfrm>
                <a:off x="202120" y="4225482"/>
                <a:ext cx="7868691" cy="1303176"/>
              </a:xfrm>
              <a:prstGeom prst="rect">
                <a:avLst/>
              </a:prstGeom>
              <a:solidFill>
                <a:srgbClr val="FFC000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zh-CN" altLang="en-US" sz="1800" kern="0">
                  <a:solidFill>
                    <a:prstClr val="white"/>
                  </a:solidFill>
                  <a:latin typeface="Times New Roman"/>
                  <a:ea typeface="黑体"/>
                  <a:cs typeface="+mn-ea"/>
                  <a:sym typeface="+mn-lt"/>
                </a:endParaRPr>
              </a:p>
            </p:txBody>
          </p:sp>
          <p:sp>
            <p:nvSpPr>
              <p:cNvPr id="57" name="文本框 86">
                <a:extLst>
                  <a:ext uri="{FF2B5EF4-FFF2-40B4-BE49-F238E27FC236}">
                    <a16:creationId xmlns:a16="http://schemas.microsoft.com/office/drawing/2014/main" id="{11D3B94E-5457-6E42-9BCC-2FCD54284D5E}"/>
                  </a:ext>
                </a:extLst>
              </p:cNvPr>
              <p:cNvSpPr txBox="1"/>
              <p:nvPr/>
            </p:nvSpPr>
            <p:spPr>
              <a:xfrm>
                <a:off x="202120" y="3531287"/>
                <a:ext cx="1325128" cy="5645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 anchorCtr="0">
                <a:spAutoFit/>
              </a:bodyPr>
              <a:lstStyle/>
              <a:p>
                <a:pPr eaLnBrk="1" fontAlgn="auto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zh-CN" altLang="en-US" kern="0" dirty="0">
                    <a:solidFill>
                      <a:prstClr val="black"/>
                    </a:solidFill>
                    <a:latin typeface="Times New Roman"/>
                    <a:ea typeface="黑体"/>
                    <a:cs typeface="+mn-ea"/>
                    <a:sym typeface="+mn-lt"/>
                  </a:rPr>
                  <a:t>📢 </a:t>
                </a:r>
                <a:r>
                  <a:rPr kumimoji="0" lang="zh-CN" altLang="en-US" kern="0" dirty="0">
                    <a:solidFill>
                      <a:prstClr val="black"/>
                    </a:solidFill>
                    <a:highlight>
                      <a:srgbClr val="FFC000"/>
                    </a:highlight>
                    <a:latin typeface="Times New Roman"/>
                    <a:ea typeface="黑体"/>
                    <a:cs typeface="+mn-ea"/>
                    <a:sym typeface="+mn-lt"/>
                  </a:rPr>
                  <a:t>特点</a:t>
                </a:r>
                <a:endParaRPr lang="en-US" altLang="zh-CN" kern="0" dirty="0">
                  <a:solidFill>
                    <a:prstClr val="black"/>
                  </a:solidFill>
                  <a:highlight>
                    <a:srgbClr val="FFC000"/>
                  </a:highlight>
                  <a:latin typeface="Times New Roman"/>
                  <a:ea typeface="黑体"/>
                  <a:cs typeface="+mn-ea"/>
                  <a:sym typeface="+mn-lt"/>
                </a:endParaRPr>
              </a:p>
            </p:txBody>
          </p:sp>
        </p:grpSp>
        <p:sp>
          <p:nvSpPr>
            <p:cNvPr id="55" name="Rectangle 46">
              <a:extLst>
                <a:ext uri="{FF2B5EF4-FFF2-40B4-BE49-F238E27FC236}">
                  <a16:creationId xmlns:a16="http://schemas.microsoft.com/office/drawing/2014/main" id="{49398686-7BEC-8E47-9E63-EDD96BE34B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4520" y="6851946"/>
              <a:ext cx="7670422" cy="12108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t" anchorCtr="0">
              <a:spAutoFit/>
            </a:bodyPr>
            <a:lstStyle/>
            <a:p>
              <a:pPr eaLnBrk="1" fontAlgn="auto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kern="0" dirty="0">
                  <a:solidFill>
                    <a:prstClr val="black"/>
                  </a:solidFill>
                  <a:latin typeface="Times New Roman"/>
                  <a:ea typeface="黑体"/>
                  <a:cs typeface="+mn-ea"/>
                  <a:sym typeface="+mn-lt"/>
                </a:rPr>
                <a:t>主对角线元素为</a:t>
              </a:r>
              <a:r>
                <a:rPr lang="en-US" altLang="zh-CN" kern="0" dirty="0">
                  <a:solidFill>
                    <a:prstClr val="black"/>
                  </a:solidFill>
                  <a:latin typeface="Times New Roman"/>
                  <a:ea typeface="黑体"/>
                  <a:cs typeface="+mn-ea"/>
                  <a:sym typeface="+mn-lt"/>
                </a:rPr>
                <a:t>0</a:t>
              </a:r>
              <a:r>
                <a:rPr lang="zh-CN" altLang="en-US" kern="0" dirty="0">
                  <a:solidFill>
                    <a:prstClr val="black"/>
                  </a:solidFill>
                  <a:latin typeface="Times New Roman"/>
                  <a:ea typeface="黑体"/>
                  <a:cs typeface="+mn-ea"/>
                  <a:sym typeface="+mn-lt"/>
                </a:rPr>
                <a:t>，其它元素以主对角线为对称轴互为相反数</a:t>
              </a:r>
              <a:r>
                <a:rPr lang="en-US" altLang="zh-CN" kern="0" dirty="0">
                  <a:solidFill>
                    <a:prstClr val="black"/>
                  </a:solidFill>
                  <a:latin typeface="Times New Roman"/>
                  <a:ea typeface="黑体"/>
                  <a:cs typeface="+mn-ea"/>
                  <a:sym typeface="+mn-lt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0731792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50" grpId="0"/>
      <p:bldP spid="51" grpId="0"/>
      <p:bldP spid="5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8">
            <a:extLst>
              <a:ext uri="{FF2B5EF4-FFF2-40B4-BE49-F238E27FC236}">
                <a16:creationId xmlns:a16="http://schemas.microsoft.com/office/drawing/2014/main" id="{066BD8C6-685F-D84B-9FB3-0668ADC62688}"/>
              </a:ext>
            </a:extLst>
          </p:cNvPr>
          <p:cNvSpPr txBox="1"/>
          <p:nvPr/>
        </p:nvSpPr>
        <p:spPr>
          <a:xfrm>
            <a:off x="142875" y="2084019"/>
            <a:ext cx="8729376" cy="2541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800" dirty="0">
                <a:cs typeface="+mn-ea"/>
                <a:sym typeface="+mn-lt"/>
              </a:rPr>
              <a:t>             将矩阵用若干纵横直线分成若干个小块，每一个小块称为矩阵的子块</a:t>
            </a:r>
            <a:r>
              <a:rPr lang="en-US" altLang="zh-CN" sz="2800" dirty="0">
                <a:cs typeface="+mn-ea"/>
                <a:sym typeface="+mn-lt"/>
              </a:rPr>
              <a:t>(</a:t>
            </a:r>
            <a:r>
              <a:rPr lang="zh-CN" altLang="en-US" sz="2800" dirty="0">
                <a:cs typeface="+mn-ea"/>
                <a:sym typeface="+mn-lt"/>
              </a:rPr>
              <a:t>或子阵</a:t>
            </a:r>
            <a:r>
              <a:rPr lang="en-US" altLang="zh-CN" sz="2800" dirty="0">
                <a:cs typeface="+mn-ea"/>
                <a:sym typeface="+mn-lt"/>
              </a:rPr>
              <a:t>).</a:t>
            </a:r>
            <a:r>
              <a:rPr lang="zh-CN" altLang="en-US" sz="2800" dirty="0">
                <a:cs typeface="+mn-ea"/>
                <a:sym typeface="+mn-lt"/>
              </a:rPr>
              <a:t>以子块为元素形成的矩阵称为分块矩阵</a:t>
            </a:r>
            <a:r>
              <a:rPr lang="en-US" altLang="zh-CN" sz="2800" dirty="0">
                <a:cs typeface="+mn-ea"/>
                <a:sym typeface="+mn-lt"/>
              </a:rPr>
              <a:t>.</a:t>
            </a:r>
            <a:endParaRPr lang="zh-CN" altLang="en-US" sz="2800" dirty="0">
              <a:cs typeface="+mn-ea"/>
              <a:sym typeface="+mn-lt"/>
            </a:endParaRPr>
          </a:p>
        </p:txBody>
      </p:sp>
      <p:sp>
        <p:nvSpPr>
          <p:cNvPr id="3" name="文本框 78">
            <a:extLst>
              <a:ext uri="{FF2B5EF4-FFF2-40B4-BE49-F238E27FC236}">
                <a16:creationId xmlns:a16="http://schemas.microsoft.com/office/drawing/2014/main" id="{B2BEA830-B99D-604E-A5C3-A78730A8251C}"/>
              </a:ext>
            </a:extLst>
          </p:cNvPr>
          <p:cNvSpPr txBox="1"/>
          <p:nvPr/>
        </p:nvSpPr>
        <p:spPr>
          <a:xfrm>
            <a:off x="252487" y="2348880"/>
            <a:ext cx="359073" cy="583108"/>
          </a:xfrm>
          <a:prstGeom prst="rect">
            <a:avLst/>
          </a:prstGeom>
          <a:noFill/>
        </p:spPr>
        <p:txBody>
          <a:bodyPr wrap="none" lIns="0" tIns="0" rIns="0" bIns="0" rtlCol="0" anchor="t" anchorCtr="1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dirty="0">
                <a:solidFill>
                  <a:prstClr val="black"/>
                </a:solidFill>
                <a:latin typeface="Times New Roman"/>
                <a:ea typeface="黑体"/>
                <a:cs typeface="+mn-ea"/>
                <a:sym typeface="+mn-lt"/>
              </a:rPr>
              <a:t>📝</a:t>
            </a:r>
          </a:p>
        </p:txBody>
      </p:sp>
    </p:spTree>
    <p:extLst>
      <p:ext uri="{BB962C8B-B14F-4D97-AF65-F5344CB8AC3E}">
        <p14:creationId xmlns:p14="http://schemas.microsoft.com/office/powerpoint/2010/main" val="339487824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450850" y="752475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重</a:t>
            </a:r>
            <a:r>
              <a:rPr lang="en-US" altLang="zh-CN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难</a:t>
            </a:r>
            <a:r>
              <a:rPr lang="en-US" altLang="zh-CN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点问题</a:t>
            </a:r>
            <a:r>
              <a:rPr lang="zh-CN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：几种特殊矩阵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6502" name="Text Box 6"/>
          <p:cNvSpPr txBox="1"/>
          <p:nvPr>
            <p:custDataLst>
              <p:tags r:id="rId1"/>
            </p:custDataLst>
          </p:nvPr>
        </p:nvSpPr>
        <p:spPr>
          <a:xfrm>
            <a:off x="517843" y="909003"/>
            <a:ext cx="80010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定义（</a:t>
            </a:r>
            <a:r>
              <a:rPr lang="zh-CN" altLang="en-US" sz="2800" b="1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单位矩阵</a:t>
            </a:r>
            <a:r>
              <a:rPr lang="zh-CN" altLang="en-US" sz="2800" b="1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）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  </a:t>
            </a:r>
            <a:endParaRPr lang="zh-CN" altLang="en-US" sz="2800" b="1" dirty="0">
              <a:solidFill>
                <a:srgbClr val="0066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23557" name="Rectangle 13"/>
          <p:cNvSpPr/>
          <p:nvPr>
            <p:custDataLst>
              <p:tags r:id="rId2"/>
            </p:custDataLst>
          </p:nvPr>
        </p:nvSpPr>
        <p:spPr>
          <a:xfrm>
            <a:off x="309880" y="1478598"/>
            <a:ext cx="8555990" cy="51625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algn="just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如下形式的</a:t>
            </a:r>
            <a:r>
              <a:rPr lang="zh-CN" altLang="en-US" sz="2800" b="1" dirty="0">
                <a:latin typeface="Times New Roman" panose="02020603050405020304" pitchFamily="18" charset="0"/>
                <a:ea typeface="华文细黑" panose="02010600040101010101" pitchFamily="2" charset="-122"/>
                <a:sym typeface="+mn-ea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华文细黑" panose="02010600040101010101" pitchFamily="2" charset="-122"/>
                <a:sym typeface="+mn-ea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  <a:ea typeface="华文细黑" panose="02010600040101010101" pitchFamily="2" charset="-122"/>
                <a:sym typeface="+mn-ea"/>
              </a:rPr>
              <a:t>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阶矩阵称为单位矩阵，记为</a:t>
            </a:r>
            <a:r>
              <a:rPr lang="zh-CN" altLang="en-US" sz="2800" b="1" dirty="0">
                <a:latin typeface="Times New Roman" panose="02020603050405020304" pitchFamily="18" charset="0"/>
                <a:ea typeface="华文细黑" panose="02010600040101010101" pitchFamily="2" charset="-122"/>
                <a:sym typeface="+mn-ea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华文细黑" panose="02010600040101010101" pitchFamily="2" charset="-122"/>
                <a:sym typeface="+mn-ea"/>
              </a:rPr>
              <a:t>I</a:t>
            </a:r>
            <a:r>
              <a:rPr lang="en-US" altLang="zh-CN" sz="2800" b="1" baseline="-30000" dirty="0">
                <a:latin typeface="Times New Roman" panose="02020603050405020304" pitchFamily="18" charset="0"/>
                <a:ea typeface="华文细黑" panose="02010600040101010101" pitchFamily="2" charset="-122"/>
                <a:sym typeface="+mn-ea"/>
              </a:rPr>
              <a:t>n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或</a:t>
            </a:r>
            <a:r>
              <a:rPr lang="zh-CN" altLang="en-US" sz="2800" b="1" dirty="0">
                <a:latin typeface="Times New Roman" panose="02020603050405020304" pitchFamily="18" charset="0"/>
                <a:ea typeface="华文细黑" panose="02010600040101010101" pitchFamily="2" charset="-122"/>
                <a:sym typeface="+mn-ea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华文细黑" panose="02010600040101010101" pitchFamily="2" charset="-122"/>
                <a:sym typeface="+mn-ea"/>
              </a:rPr>
              <a:t>I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或</a:t>
            </a:r>
            <a:r>
              <a:rPr lang="zh-CN" altLang="en-US" sz="2800" b="1" dirty="0">
                <a:latin typeface="Times New Roman" panose="02020603050405020304" pitchFamily="18" charset="0"/>
                <a:ea typeface="华文细黑" panose="02010600040101010101" pitchFamily="2" charset="-122"/>
                <a:sym typeface="+mn-ea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华文细黑" panose="02010600040101010101" pitchFamily="2" charset="-122"/>
                <a:sym typeface="+mn-ea"/>
              </a:rPr>
              <a:t>E </a:t>
            </a:r>
            <a:r>
              <a:rPr lang="zh-CN" altLang="en-US" sz="2800" b="1" dirty="0">
                <a:latin typeface="Times New Roman" panose="02020603050405020304" pitchFamily="18" charset="0"/>
                <a:ea typeface="华文细黑" panose="02010600040101010101" pitchFamily="2" charset="-122"/>
                <a:sym typeface="+mn-ea"/>
              </a:rPr>
              <a:t>：</a:t>
            </a:r>
            <a:endParaRPr lang="zh-CN" altLang="en-US" sz="28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2892426" y="2397443"/>
            <a:ext cx="3195638" cy="1624012"/>
            <a:chOff x="1898" y="1143"/>
            <a:chExt cx="2013" cy="1023"/>
          </a:xfrm>
        </p:grpSpPr>
        <p:grpSp>
          <p:nvGrpSpPr>
            <p:cNvPr id="32772" name="Group 5"/>
            <p:cNvGrpSpPr/>
            <p:nvPr/>
          </p:nvGrpSpPr>
          <p:grpSpPr>
            <a:xfrm>
              <a:off x="2159" y="1143"/>
              <a:ext cx="1441" cy="1023"/>
              <a:chOff x="3551" y="960"/>
              <a:chExt cx="1441" cy="1023"/>
            </a:xfrm>
          </p:grpSpPr>
          <p:sp>
            <p:nvSpPr>
              <p:cNvPr id="32773" name="AutoShape 6"/>
              <p:cNvSpPr/>
              <p:nvPr/>
            </p:nvSpPr>
            <p:spPr>
              <a:xfrm>
                <a:off x="3551" y="968"/>
                <a:ext cx="1441" cy="1006"/>
              </a:xfrm>
              <a:prstGeom prst="bracketPair">
                <a:avLst>
                  <a:gd name="adj" fmla="val 3542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 anchor="ctr" anchorCtr="0">
                <a:spAutoFit/>
              </a:bodyPr>
              <a:lstStyle/>
              <a:p>
                <a:pPr>
                  <a:buClrTx/>
                  <a:buFontTx/>
                </a:pPr>
                <a:endParaRPr lang="zh-CN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2774" name="Text Box 7"/>
              <p:cNvSpPr txBox="1"/>
              <p:nvPr/>
            </p:nvSpPr>
            <p:spPr>
              <a:xfrm>
                <a:off x="3647" y="960"/>
                <a:ext cx="156" cy="102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36000" anchor="t" anchorCtr="0">
                <a:spAutoFit/>
              </a:bodyPr>
              <a:lstStyle/>
              <a:p>
                <a:pPr>
                  <a:buClrTx/>
                  <a:buFontTx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</a:p>
              <a:p>
                <a:pPr>
                  <a:buClrTx/>
                  <a:buFontTx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r>
                  <a:rPr lang="en-US" altLang="zh-CN" sz="2600" b="1" baseline="-30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</a:p>
              <a:p>
                <a:pPr>
                  <a:buClrTx/>
                  <a:buFontTx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</a:t>
                </a:r>
              </a:p>
              <a:p>
                <a:pPr>
                  <a:buClrTx/>
                  <a:buFontTx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endParaRPr lang="en-US" altLang="zh-CN" sz="2600" b="1" baseline="-25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2775" name="Text Box 8"/>
              <p:cNvSpPr txBox="1"/>
              <p:nvPr/>
            </p:nvSpPr>
            <p:spPr>
              <a:xfrm>
                <a:off x="4031" y="960"/>
                <a:ext cx="156" cy="102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36000" anchor="t" anchorCtr="0">
                <a:spAutoFit/>
              </a:bodyPr>
              <a:lstStyle/>
              <a:p>
                <a:pPr>
                  <a:buClrTx/>
                  <a:buFontTx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endParaRPr lang="en-US" altLang="zh-CN" sz="2600" b="1" i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buClrTx/>
                  <a:buFontTx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</a:p>
              <a:p>
                <a:pPr>
                  <a:buClrTx/>
                  <a:buFontTx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</a:t>
                </a:r>
                <a:endParaRPr lang="en-US" altLang="zh-CN" sz="26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buClrTx/>
                  <a:buFontTx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endParaRPr lang="en-US" altLang="zh-CN" sz="2600" b="1" baseline="-25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2776" name="Rectangle 9"/>
              <p:cNvSpPr/>
              <p:nvPr/>
            </p:nvSpPr>
            <p:spPr>
              <a:xfrm>
                <a:off x="4416" y="960"/>
                <a:ext cx="208" cy="102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36000" anchor="t" anchorCtr="0">
                <a:spAutoFit/>
              </a:bodyPr>
              <a:lstStyle/>
              <a:p>
                <a:pPr>
                  <a:buClrTx/>
                  <a:buFontTx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</a:t>
                </a:r>
              </a:p>
              <a:p>
                <a:pPr>
                  <a:buClrTx/>
                  <a:buFontTx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</a:t>
                </a:r>
              </a:p>
              <a:p>
                <a:pPr>
                  <a:buClrTx/>
                  <a:buFontTx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</a:t>
                </a:r>
              </a:p>
              <a:p>
                <a:pPr>
                  <a:buClrTx/>
                  <a:buFontTx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 </a:t>
                </a:r>
              </a:p>
            </p:txBody>
          </p:sp>
          <p:sp>
            <p:nvSpPr>
              <p:cNvPr id="32777" name="Text Box 10"/>
              <p:cNvSpPr txBox="1"/>
              <p:nvPr/>
            </p:nvSpPr>
            <p:spPr>
              <a:xfrm>
                <a:off x="4769" y="960"/>
                <a:ext cx="156" cy="102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36000" anchor="t" anchorCtr="0">
                <a:spAutoFit/>
              </a:bodyPr>
              <a:lstStyle/>
              <a:p>
                <a:pPr>
                  <a:buClrTx/>
                  <a:buFontTx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endParaRPr lang="en-US" altLang="zh-CN" sz="2600" b="1" i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buClrTx/>
                  <a:buFontTx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buClrTx/>
                  <a:buFontTx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</a:t>
                </a:r>
                <a:endParaRPr lang="en-US" altLang="zh-CN" sz="26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buClrTx/>
                  <a:buFontTx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</a:p>
            </p:txBody>
          </p:sp>
        </p:grpSp>
        <p:sp>
          <p:nvSpPr>
            <p:cNvPr id="32778" name="Rectangle 11"/>
            <p:cNvSpPr/>
            <p:nvPr/>
          </p:nvSpPr>
          <p:spPr>
            <a:xfrm>
              <a:off x="1898" y="1485"/>
              <a:ext cx="195" cy="3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just">
                <a:lnSpc>
                  <a:spcPct val="120000"/>
                </a:lnSpc>
                <a:spcBef>
                  <a:spcPct val="50000"/>
                </a:spcBef>
                <a:buClrTx/>
                <a:buFontTx/>
              </a:pPr>
              <a:r>
                <a:rPr lang="en-US" altLang="zh-CN" sz="2600" b="1" i="1" dirty="0">
                  <a:latin typeface="Times New Roman" panose="02020603050405020304" pitchFamily="18" charset="0"/>
                  <a:ea typeface="华文细黑" panose="02010600040101010101" pitchFamily="2" charset="-122"/>
                </a:rPr>
                <a:t>I</a:t>
              </a:r>
              <a:r>
                <a:rPr lang="en-US" altLang="zh-CN" sz="2600" b="1" dirty="0">
                  <a:latin typeface="Symbol" panose="05050102010706020507" pitchFamily="18" charset="2"/>
                  <a:ea typeface="华文细黑" panose="02010600040101010101" pitchFamily="2" charset="-122"/>
                </a:rPr>
                <a:t>=</a:t>
              </a:r>
            </a:p>
          </p:txBody>
        </p:sp>
        <p:sp>
          <p:nvSpPr>
            <p:cNvPr id="32779" name="Text Box 12"/>
            <p:cNvSpPr txBox="1"/>
            <p:nvPr/>
          </p:nvSpPr>
          <p:spPr>
            <a:xfrm>
              <a:off x="3703" y="1485"/>
              <a:ext cx="208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just">
                <a:lnSpc>
                  <a:spcPct val="120000"/>
                </a:lnSpc>
                <a:spcBef>
                  <a:spcPct val="50000"/>
                </a:spcBef>
                <a:buClrTx/>
                <a:buFontTx/>
              </a:pPr>
              <a:r>
                <a:rPr lang="zh-CN" altLang="en-US" sz="2600" b="1" dirty="0">
                  <a:latin typeface="Times New Roman" panose="02020603050405020304" pitchFamily="18" charset="0"/>
                  <a:ea typeface="华文细黑" panose="02010600040101010101" pitchFamily="2" charset="-122"/>
                </a:rPr>
                <a:t>。</a:t>
              </a:r>
            </a:p>
          </p:txBody>
        </p:sp>
      </p:grpSp>
      <p:sp>
        <p:nvSpPr>
          <p:cNvPr id="177166" name="Text Box 14"/>
          <p:cNvSpPr txBox="1"/>
          <p:nvPr/>
        </p:nvSpPr>
        <p:spPr>
          <a:xfrm>
            <a:off x="-36195" y="4362450"/>
            <a:ext cx="8686800" cy="51625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  <a:buClrTx/>
              <a:buFontTx/>
            </a:pPr>
            <a:r>
              <a:rPr lang="en-US" altLang="zh-CN" sz="2600" b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        </a:t>
            </a: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单位矩阵是特殊的数量矩阵：</a:t>
            </a:r>
            <a:r>
              <a:rPr lang="en-US" altLang="zh-CN" sz="2600" b="1" i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a</a:t>
            </a:r>
            <a:r>
              <a:rPr lang="en-US" altLang="zh-CN" sz="2600" b="1" baseline="-30000" dirty="0">
                <a:latin typeface="Times New Roman" panose="02020603050405020304" pitchFamily="18" charset="0"/>
                <a:ea typeface="华文细黑" panose="02010600040101010101" pitchFamily="2" charset="-122"/>
              </a:rPr>
              <a:t>11</a:t>
            </a:r>
            <a:r>
              <a:rPr lang="en-US" altLang="zh-CN" sz="2600" b="1" dirty="0">
                <a:latin typeface="Symbol" panose="05050102010706020507" pitchFamily="18" charset="2"/>
                <a:ea typeface="华文细黑" panose="02010600040101010101" pitchFamily="2" charset="-122"/>
              </a:rPr>
              <a:t>=</a:t>
            </a:r>
            <a:r>
              <a:rPr lang="en-US" altLang="zh-CN" sz="2600" b="1" i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a</a:t>
            </a:r>
            <a:r>
              <a:rPr lang="en-US" altLang="zh-CN" sz="2600" b="1" baseline="-30000" dirty="0">
                <a:latin typeface="Times New Roman" panose="02020603050405020304" pitchFamily="18" charset="0"/>
                <a:ea typeface="华文细黑" panose="02010600040101010101" pitchFamily="2" charset="-122"/>
              </a:rPr>
              <a:t>22</a:t>
            </a:r>
            <a:r>
              <a:rPr lang="en-US" altLang="zh-CN" sz="2600" b="1" dirty="0">
                <a:latin typeface="Symbol" panose="05050102010706020507" pitchFamily="18" charset="2"/>
                <a:ea typeface="华文细黑" panose="02010600040101010101" pitchFamily="2" charset="-122"/>
              </a:rPr>
              <a:t>=</a:t>
            </a:r>
            <a:r>
              <a:rPr lang="en-US" altLang="zh-CN" sz="2600" b="1" dirty="0">
                <a:latin typeface="Times New Roman" panose="02020603050405020304" pitchFamily="18" charset="0"/>
                <a:ea typeface="华文细黑" panose="02010600040101010101" pitchFamily="2" charset="-122"/>
                <a:sym typeface="Symbol" panose="05050102010706020507" pitchFamily="18" charset="2"/>
              </a:rPr>
              <a:t></a:t>
            </a:r>
            <a:r>
              <a:rPr lang="en-US" altLang="zh-CN" sz="2600" b="1" dirty="0">
                <a:latin typeface="Symbol" panose="05050102010706020507" pitchFamily="18" charset="2"/>
                <a:ea typeface="华文细黑" panose="02010600040101010101" pitchFamily="2" charset="-122"/>
              </a:rPr>
              <a:t>=</a:t>
            </a:r>
            <a:r>
              <a:rPr lang="en-US" altLang="zh-CN" sz="2600" b="1" i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a</a:t>
            </a:r>
            <a:r>
              <a:rPr lang="en-US" altLang="zh-CN" sz="2600" b="1" i="1" baseline="-30000" dirty="0">
                <a:latin typeface="Times New Roman" panose="02020603050405020304" pitchFamily="18" charset="0"/>
                <a:ea typeface="华文细黑" panose="02010600040101010101" pitchFamily="2" charset="-122"/>
              </a:rPr>
              <a:t>nn</a:t>
            </a:r>
            <a:r>
              <a:rPr lang="en-US" altLang="zh-CN" sz="2600" b="1" dirty="0">
                <a:latin typeface="Symbol" panose="05050102010706020507" pitchFamily="18" charset="2"/>
                <a:ea typeface="华文细黑" panose="02010600040101010101" pitchFamily="2" charset="-122"/>
              </a:rPr>
              <a:t>=</a:t>
            </a:r>
            <a:r>
              <a:rPr lang="en-US" altLang="zh-CN" sz="2600" b="1" i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a</a:t>
            </a:r>
            <a:r>
              <a:rPr lang="en-US" altLang="zh-CN" sz="2600" b="1" dirty="0">
                <a:latin typeface="Symbol" panose="05050102010706020507" pitchFamily="18" charset="2"/>
                <a:ea typeface="华文细黑" panose="02010600040101010101" pitchFamily="2" charset="-122"/>
              </a:rPr>
              <a:t>=</a:t>
            </a:r>
            <a:r>
              <a:rPr lang="en-US" altLang="zh-CN" sz="2600" b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1</a:t>
            </a:r>
            <a:r>
              <a:rPr lang="zh-CN" altLang="en-US" sz="2600" b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65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5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71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02" grpId="0" uiExpand="1" build="p"/>
      <p:bldP spid="23557" grpId="0" uiExpand="1" build="p"/>
      <p:bldP spid="177166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9" action="ppaction://hlinksldjump"/>
          </p:cNvPr>
          <p:cNvSpPr>
            <a:spLocks noChangeArrowheads="1"/>
          </p:cNvSpPr>
          <p:nvPr/>
        </p:nvSpPr>
        <p:spPr bwMode="auto">
          <a:xfrm>
            <a:off x="450850" y="752475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实践拓展问题</a:t>
            </a:r>
            <a:r>
              <a:rPr lang="zh-CN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：矩阵在实际问题中的运用</a:t>
            </a:r>
          </a:p>
        </p:txBody>
      </p:sp>
      <p:sp>
        <p:nvSpPr>
          <p:cNvPr id="106502" name="Text Box 6"/>
          <p:cNvSpPr txBox="1"/>
          <p:nvPr>
            <p:custDataLst>
              <p:tags r:id="rId2"/>
            </p:custDataLst>
          </p:nvPr>
        </p:nvSpPr>
        <p:spPr>
          <a:xfrm>
            <a:off x="517843" y="909003"/>
            <a:ext cx="80010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例</a:t>
            </a:r>
            <a:r>
              <a:rPr lang="en-US" altLang="zh-CN" sz="2800" b="1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2.1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  </a:t>
            </a:r>
            <a:endParaRPr lang="zh-CN" altLang="en-US" sz="2800" b="1" dirty="0">
              <a:solidFill>
                <a:srgbClr val="0066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177155" name="Text Box 3"/>
          <p:cNvSpPr txBox="1"/>
          <p:nvPr>
            <p:custDataLst>
              <p:tags r:id="rId3"/>
            </p:custDataLst>
          </p:nvPr>
        </p:nvSpPr>
        <p:spPr>
          <a:xfrm>
            <a:off x="1115695" y="965200"/>
            <a:ext cx="4170045" cy="479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        </a:t>
            </a:r>
            <a:r>
              <a:rPr lang="zh-CN" altLang="en-US" sz="2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对于非齐次线性方程组</a:t>
            </a:r>
            <a:endParaRPr sz="2600" b="1" dirty="0">
              <a:latin typeface="Times New Roman" panose="02020603050405020304" pitchFamily="18" charset="0"/>
              <a:ea typeface="华文细黑" panose="02010600040101010101" pitchFamily="2" charset="-122"/>
            </a:endParaRPr>
          </a:p>
        </p:txBody>
      </p:sp>
      <p:sp>
        <p:nvSpPr>
          <p:cNvPr id="177166" name="Text Box 14"/>
          <p:cNvSpPr txBox="1"/>
          <p:nvPr>
            <p:custDataLst>
              <p:tags r:id="rId4"/>
            </p:custDataLst>
          </p:nvPr>
        </p:nvSpPr>
        <p:spPr>
          <a:xfrm>
            <a:off x="-180975" y="6123940"/>
            <a:ext cx="9097010" cy="479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      </a:t>
            </a:r>
            <a:r>
              <a:rPr lang="zh-CN" altLang="en-US" sz="26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其中</a:t>
            </a: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A</a:t>
            </a:r>
            <a:r>
              <a:rPr lang="en-US" altLang="zh-CN" sz="26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600" b="1" dirty="0"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称为</a:t>
            </a:r>
            <a:r>
              <a:rPr lang="zh-CN" altLang="en-US" sz="26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系数矩阵</a:t>
            </a:r>
            <a:r>
              <a:rPr lang="zh-CN" altLang="en-US" sz="2600" b="1" dirty="0">
                <a:latin typeface="Times New Roman" panose="02020603050405020304" pitchFamily="18" charset="0"/>
                <a:ea typeface="华文细黑" panose="0201060004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2600" b="1" i="1" dirty="0">
                <a:latin typeface="Times New Roman" panose="02020603050405020304" pitchFamily="18" charset="0"/>
                <a:ea typeface="华文细黑" panose="02010600040101010101" pitchFamily="2" charset="-122"/>
                <a:sym typeface="+mn-ea"/>
              </a:rPr>
              <a:t>x</a:t>
            </a:r>
            <a:r>
              <a:rPr lang="zh-CN" altLang="en-US" sz="2600" b="1" dirty="0"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称为</a:t>
            </a:r>
            <a:r>
              <a:rPr lang="zh-CN" altLang="en-US" sz="26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未知数矩阵</a:t>
            </a:r>
            <a:r>
              <a:rPr lang="zh-CN" altLang="en-US" sz="2600" b="1" dirty="0">
                <a:latin typeface="Times New Roman" panose="02020603050405020304" pitchFamily="18" charset="0"/>
                <a:ea typeface="华文细黑" panose="0201060004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2600" b="1" i="1" dirty="0">
                <a:latin typeface="Times New Roman" panose="02020603050405020304" pitchFamily="18" charset="0"/>
                <a:ea typeface="华文细黑" panose="02010600040101010101" pitchFamily="2" charset="-122"/>
                <a:sym typeface="+mn-ea"/>
              </a:rPr>
              <a:t>b</a:t>
            </a:r>
            <a:r>
              <a:rPr lang="zh-CN" altLang="en-US" sz="2600" b="1" dirty="0"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称为</a:t>
            </a:r>
            <a:r>
              <a:rPr lang="zh-CN" altLang="en-US" sz="26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常数项矩阵</a:t>
            </a:r>
            <a:endParaRPr lang="zh-CN" altLang="en-US" sz="2600" b="1" dirty="0">
              <a:solidFill>
                <a:srgbClr val="C00000"/>
              </a:solidFill>
              <a:latin typeface="Times New Roman" panose="02020603050405020304" pitchFamily="18" charset="0"/>
              <a:ea typeface="华文细黑" panose="0201060004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2" name="对象 -2147482565"/>
          <p:cNvGraphicFramePr>
            <a:graphicFrameLocks noChangeAspect="1"/>
          </p:cNvGraphicFramePr>
          <p:nvPr>
            <p:custDataLst>
              <p:tags r:id="rId5"/>
            </p:custDataLst>
          </p:nvPr>
        </p:nvGraphicFramePr>
        <p:xfrm>
          <a:off x="1885950" y="1606550"/>
          <a:ext cx="5390515" cy="2447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37" r:id="rId11" imgW="2070100" imgH="939800" progId="Equation.DSMT4">
                  <p:embed/>
                </p:oleObj>
              </mc:Choice>
              <mc:Fallback>
                <p:oleObj r:id="rId11" imgW="2070100" imgH="9398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885950" y="1606550"/>
                        <a:ext cx="5390515" cy="2447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57225" y="4144010"/>
          <a:ext cx="3618865" cy="2014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38" r:id="rId13" imgW="1688465" imgH="939800" progId="Equation.DSMT4">
                  <p:embed/>
                </p:oleObj>
              </mc:Choice>
              <mc:Fallback>
                <p:oleObj r:id="rId13" imgW="1688465" imgH="9398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57225" y="4144010"/>
                        <a:ext cx="3618865" cy="20148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6"/>
            </p:custDataLst>
          </p:nvPr>
        </p:nvGraphicFramePr>
        <p:xfrm>
          <a:off x="4427855" y="4149090"/>
          <a:ext cx="1388745" cy="2014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39" r:id="rId15" imgW="647700" imgH="939800" progId="Equation.DSMT4">
                  <p:embed/>
                </p:oleObj>
              </mc:Choice>
              <mc:Fallback>
                <p:oleObj r:id="rId15" imgW="647700" imgH="9398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427855" y="4149090"/>
                        <a:ext cx="1388745" cy="20148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7"/>
            </p:custDataLst>
          </p:nvPr>
        </p:nvGraphicFramePr>
        <p:xfrm>
          <a:off x="6227763" y="4109085"/>
          <a:ext cx="1280160" cy="2014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40" r:id="rId17" imgW="596900" imgH="939800" progId="Equation.DSMT4">
                  <p:embed/>
                </p:oleObj>
              </mc:Choice>
              <mc:Fallback>
                <p:oleObj r:id="rId17" imgW="596900" imgH="9398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227763" y="4109085"/>
                        <a:ext cx="1280160" cy="20148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7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16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450850" y="752475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实践拓展问题</a:t>
            </a:r>
            <a:r>
              <a:rPr lang="zh-CN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：矩阵在实际问题中的运用</a:t>
            </a:r>
          </a:p>
        </p:txBody>
      </p:sp>
      <p:sp>
        <p:nvSpPr>
          <p:cNvPr id="106502" name="Text Box 6"/>
          <p:cNvSpPr txBox="1"/>
          <p:nvPr>
            <p:custDataLst>
              <p:tags r:id="rId2"/>
            </p:custDataLst>
          </p:nvPr>
        </p:nvSpPr>
        <p:spPr>
          <a:xfrm>
            <a:off x="517843" y="909003"/>
            <a:ext cx="80010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例</a:t>
            </a:r>
            <a:r>
              <a:rPr lang="en-US" altLang="zh-CN" sz="2800" b="1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2.1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  </a:t>
            </a:r>
            <a:endParaRPr lang="zh-CN" altLang="en-US" sz="2800" b="1" dirty="0">
              <a:solidFill>
                <a:srgbClr val="0066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177155" name="Text Box 3"/>
          <p:cNvSpPr txBox="1"/>
          <p:nvPr>
            <p:custDataLst>
              <p:tags r:id="rId3"/>
            </p:custDataLst>
          </p:nvPr>
        </p:nvSpPr>
        <p:spPr>
          <a:xfrm>
            <a:off x="1115695" y="965200"/>
            <a:ext cx="4170045" cy="479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algn="l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        </a:t>
            </a:r>
            <a:r>
              <a:rPr lang="zh-CN" altLang="en-US" sz="2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对于非齐次线性方程组</a:t>
            </a:r>
          </a:p>
        </p:txBody>
      </p:sp>
      <p:graphicFrame>
        <p:nvGraphicFramePr>
          <p:cNvPr id="2" name="对象 -2147482565"/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1885950" y="1606550"/>
          <a:ext cx="5391150" cy="2447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45" name="Equation" r:id="rId9" imgW="49682400" imgH="22555200" progId="Equation.DSMT4">
                  <p:embed/>
                </p:oleObj>
              </mc:Choice>
              <mc:Fallback>
                <p:oleObj name="Equation" r:id="rId9" imgW="49682400" imgH="225552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885950" y="1606550"/>
                        <a:ext cx="5391150" cy="2447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-2147482561"/>
          <p:cNvGraphicFramePr>
            <a:graphicFrameLocks noChangeAspect="1"/>
          </p:cNvGraphicFramePr>
          <p:nvPr/>
        </p:nvGraphicFramePr>
        <p:xfrm>
          <a:off x="2359025" y="4054475"/>
          <a:ext cx="4462463" cy="197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46" name="Equation" r:id="rId11" imgW="50596800" imgH="22555200" progId="Equation.DSMT4">
                  <p:embed/>
                </p:oleObj>
              </mc:Choice>
              <mc:Fallback>
                <p:oleObj name="Equation" r:id="rId11" imgW="50596800" imgH="22555200" progId="Equation.DSMT4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359025" y="4054475"/>
                        <a:ext cx="4462463" cy="19700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4"/>
          <p:cNvSpPr txBox="1"/>
          <p:nvPr>
            <p:custDataLst>
              <p:tags r:id="rId5"/>
            </p:custDataLst>
          </p:nvPr>
        </p:nvSpPr>
        <p:spPr>
          <a:xfrm>
            <a:off x="323850" y="6165215"/>
            <a:ext cx="3626485" cy="51625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      </a:t>
            </a:r>
            <a:r>
              <a:rPr lang="zh-CN" altLang="en-US" sz="2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矩阵</a:t>
            </a: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B</a:t>
            </a:r>
            <a:r>
              <a:rPr lang="en-US" altLang="zh-CN" sz="26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600" b="1" dirty="0"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称为</a:t>
            </a:r>
            <a:r>
              <a:rPr lang="zh-CN" altLang="en-US" sz="2800" b="1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增广矩阵</a:t>
            </a:r>
            <a:endParaRPr lang="zh-CN" altLang="en-US" sz="2600" b="1" dirty="0">
              <a:solidFill>
                <a:srgbClr val="C00000"/>
              </a:solidFill>
              <a:latin typeface="Times New Roman" panose="02020603050405020304" pitchFamily="18" charset="0"/>
              <a:ea typeface="华文细黑" panose="0201060004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8" action="ppaction://hlinksldjump"/>
          </p:cNvPr>
          <p:cNvSpPr>
            <a:spLocks noChangeArrowheads="1"/>
          </p:cNvSpPr>
          <p:nvPr/>
        </p:nvSpPr>
        <p:spPr bwMode="auto">
          <a:xfrm>
            <a:off x="450850" y="752475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实践拓展问题</a:t>
            </a:r>
            <a:r>
              <a:rPr lang="zh-CN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：矩阵在实际问题中的运用</a:t>
            </a:r>
          </a:p>
        </p:txBody>
      </p:sp>
      <p:sp>
        <p:nvSpPr>
          <p:cNvPr id="106502" name="Text Box 6"/>
          <p:cNvSpPr txBox="1"/>
          <p:nvPr>
            <p:custDataLst>
              <p:tags r:id="rId2"/>
            </p:custDataLst>
          </p:nvPr>
        </p:nvSpPr>
        <p:spPr>
          <a:xfrm>
            <a:off x="517843" y="980758"/>
            <a:ext cx="8001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例</a:t>
            </a:r>
            <a:r>
              <a:rPr lang="en-US" altLang="zh-CN" sz="2800" b="1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2.</a:t>
            </a:r>
            <a:r>
              <a:rPr lang="en-US" sz="2800" b="1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  </a:t>
            </a:r>
            <a:endParaRPr lang="zh-CN" altLang="en-US" sz="2800" b="1" dirty="0">
              <a:solidFill>
                <a:srgbClr val="0066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177155" name="Text Box 3"/>
          <p:cNvSpPr txBox="1"/>
          <p:nvPr>
            <p:custDataLst>
              <p:tags r:id="rId3"/>
            </p:custDataLst>
          </p:nvPr>
        </p:nvSpPr>
        <p:spPr>
          <a:xfrm>
            <a:off x="1475740" y="981075"/>
            <a:ext cx="5723255" cy="479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algn="l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   </a:t>
            </a:r>
            <a:r>
              <a:rPr lang="zh-CN" altLang="en-US" sz="2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四个城市间的单向航线如图所示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419475" y="1484630"/>
            <a:ext cx="2750820" cy="2070100"/>
          </a:xfrm>
          <a:prstGeom prst="rect">
            <a:avLst/>
          </a:prstGeom>
        </p:spPr>
      </p:pic>
      <p:sp>
        <p:nvSpPr>
          <p:cNvPr id="107" name="文本框 106"/>
          <p:cNvSpPr txBox="1"/>
          <p:nvPr/>
        </p:nvSpPr>
        <p:spPr>
          <a:xfrm>
            <a:off x="450850" y="3834130"/>
            <a:ext cx="8446135" cy="5708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</a:pPr>
            <a:r>
              <a:rPr lang="zh-CN" altLang="en-US" sz="2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若令</a:t>
            </a:r>
            <a:r>
              <a:rPr lang="en-US" sz="2600" b="1" dirty="0">
                <a:solidFill>
                  <a:schemeClr val="tx1"/>
                </a:solidFill>
                <a:ea typeface="华文细黑" panose="02010600040101010101" pitchFamily="2" charset="-122"/>
              </a:rPr>
              <a:t>                                                        </a:t>
            </a:r>
            <a:r>
              <a:rPr lang="zh-CN" altLang="en-US" sz="2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则图可用矩阵表示为</a:t>
            </a:r>
            <a:r>
              <a:rPr lang="en-US" sz="2600" b="1" dirty="0">
                <a:solidFill>
                  <a:schemeClr val="tx1"/>
                </a:solidFill>
                <a:ea typeface="华文细黑" panose="02010600040101010101" pitchFamily="2" charset="-122"/>
              </a:rPr>
              <a:t> </a:t>
            </a:r>
          </a:p>
        </p:txBody>
      </p:sp>
      <p:pic>
        <p:nvPicPr>
          <p:cNvPr id="4" name="图片 3"/>
          <p:cNvPicPr/>
          <p:nvPr>
            <p:custDataLst>
              <p:tags r:id="rId5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259205" y="3601720"/>
            <a:ext cx="4565650" cy="1067435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2" name="对象 -2147482555"/>
          <p:cNvGraphicFramePr>
            <a:graphicFrameLocks noChangeAspect="1"/>
          </p:cNvGraphicFramePr>
          <p:nvPr>
            <p:custDataLst>
              <p:tags r:id="rId6"/>
            </p:custDataLst>
          </p:nvPr>
        </p:nvGraphicFramePr>
        <p:xfrm>
          <a:off x="2843530" y="4761865"/>
          <a:ext cx="3265170" cy="18808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961" name="Equation" r:id="rId12" imgW="38100000" imgH="21945600" progId="Equation.DSMT4">
                  <p:embed/>
                </p:oleObj>
              </mc:Choice>
              <mc:Fallback>
                <p:oleObj name="Equation" r:id="rId12" imgW="38100000" imgH="21945600" progId="Equation.DSMT4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843530" y="4761865"/>
                        <a:ext cx="3265170" cy="18808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65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7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02" grpId="0" uiExpand="1" build="p"/>
      <p:bldP spid="177155" grpId="0" build="p"/>
      <p:bldP spid="10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450850" y="752475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实践拓展问题</a:t>
            </a:r>
            <a:r>
              <a:rPr lang="zh-CN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：矩阵在实际问题中的运用</a:t>
            </a:r>
          </a:p>
        </p:txBody>
      </p:sp>
      <p:sp>
        <p:nvSpPr>
          <p:cNvPr id="106502" name="Text Box 6"/>
          <p:cNvSpPr txBox="1"/>
          <p:nvPr>
            <p:custDataLst>
              <p:tags r:id="rId1"/>
            </p:custDataLst>
          </p:nvPr>
        </p:nvSpPr>
        <p:spPr>
          <a:xfrm>
            <a:off x="517843" y="980758"/>
            <a:ext cx="8001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例</a:t>
            </a:r>
            <a:r>
              <a:rPr lang="en-US" altLang="zh-CN" sz="2800" b="1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2.</a:t>
            </a:r>
            <a:r>
              <a:rPr lang="en-US" sz="2800" b="1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  </a:t>
            </a:r>
            <a:endParaRPr lang="zh-CN" altLang="en-US" sz="2800" b="1" dirty="0">
              <a:solidFill>
                <a:srgbClr val="0066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6" name="Text Box 10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67995" y="1503045"/>
            <a:ext cx="8267700" cy="3322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50000"/>
              </a:spcBef>
              <a:buClrTx/>
              <a:buSzTx/>
              <a:buNone/>
            </a:pP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    甲、乙、丙、丁、戊五人各从图书馆借来一本小说，他们约定读完后互相交换，这五本书的厚度以及他们五人的阅读速度差不多，因此，五人总是同时交换书，经四次交换后，他们五人读完了这五本书。现给出以下已知条件：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65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02" grpId="0" uiExpand="1" build="p"/>
      <p:bldP spid="6" grpId="0" build="p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10" action="ppaction://hlinksldjump"/>
          </p:cNvPr>
          <p:cNvSpPr>
            <a:spLocks noChangeArrowheads="1"/>
          </p:cNvSpPr>
          <p:nvPr/>
        </p:nvSpPr>
        <p:spPr bwMode="auto">
          <a:xfrm>
            <a:off x="450850" y="752475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实践拓展问题</a:t>
            </a:r>
            <a:r>
              <a:rPr lang="zh-CN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：矩阵在实际问题中的运用</a:t>
            </a:r>
          </a:p>
        </p:txBody>
      </p:sp>
      <p:sp>
        <p:nvSpPr>
          <p:cNvPr id="106502" name="Text Box 6"/>
          <p:cNvSpPr txBox="1"/>
          <p:nvPr>
            <p:custDataLst>
              <p:tags r:id="rId1"/>
            </p:custDataLst>
          </p:nvPr>
        </p:nvSpPr>
        <p:spPr>
          <a:xfrm>
            <a:off x="517843" y="980758"/>
            <a:ext cx="8001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例</a:t>
            </a:r>
            <a:r>
              <a:rPr lang="en-US" altLang="zh-CN" sz="2800" b="1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2.</a:t>
            </a:r>
            <a:r>
              <a:rPr lang="en-US" sz="2800" b="1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  </a:t>
            </a:r>
            <a:endParaRPr lang="zh-CN" altLang="en-US" sz="2800" b="1" dirty="0">
              <a:solidFill>
                <a:srgbClr val="0066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725170" y="1772920"/>
            <a:ext cx="8269605" cy="47815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（</a:t>
            </a:r>
            <a:r>
              <a:rPr lang="en-US" altLang="zh-CN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1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）甲最后读的书是乙读的第二本书；</a:t>
            </a:r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725170" y="3235960"/>
            <a:ext cx="8269605" cy="4794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（</a:t>
            </a:r>
            <a:r>
              <a:rPr lang="en-US" altLang="zh-CN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3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）丙读的第二本书甲在一开始就读了；</a:t>
            </a: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725170" y="3954780"/>
            <a:ext cx="8269605" cy="4794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（</a:t>
            </a:r>
            <a:r>
              <a:rPr lang="en-US" altLang="zh-CN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4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）丁最后读的书是丙读的第三本书；</a:t>
            </a:r>
          </a:p>
        </p:txBody>
      </p:sp>
      <p:sp>
        <p:nvSpPr>
          <p:cNvPr id="13" name="文本框 12"/>
          <p:cNvSpPr txBox="1"/>
          <p:nvPr>
            <p:custDataLst>
              <p:tags r:id="rId5"/>
            </p:custDataLst>
          </p:nvPr>
        </p:nvSpPr>
        <p:spPr>
          <a:xfrm>
            <a:off x="725170" y="2491740"/>
            <a:ext cx="8269605" cy="4794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（</a:t>
            </a:r>
            <a:r>
              <a:rPr lang="en-US" altLang="zh-CN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2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）丙最后读的书是乙读的第四本书；</a:t>
            </a:r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725170" y="4673600"/>
            <a:ext cx="8269605" cy="4794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（</a:t>
            </a:r>
            <a:r>
              <a:rPr lang="en-US" altLang="zh-CN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5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）乙读的第四本书是戊读的第三本书；</a:t>
            </a:r>
          </a:p>
        </p:txBody>
      </p:sp>
      <p:sp>
        <p:nvSpPr>
          <p:cNvPr id="15" name="文本框 14"/>
          <p:cNvSpPr txBox="1"/>
          <p:nvPr>
            <p:custDataLst>
              <p:tags r:id="rId7"/>
            </p:custDataLst>
          </p:nvPr>
        </p:nvSpPr>
        <p:spPr>
          <a:xfrm>
            <a:off x="683260" y="5417185"/>
            <a:ext cx="8269605" cy="47815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（</a:t>
            </a:r>
            <a:r>
              <a:rPr lang="en-US" altLang="zh-CN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6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）丁第三次读的书是丙一开始读的那本书。</a:t>
            </a:r>
          </a:p>
        </p:txBody>
      </p:sp>
      <p:sp>
        <p:nvSpPr>
          <p:cNvPr id="16" name="Text Box 10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691640" y="825500"/>
            <a:ext cx="5049520" cy="675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50000"/>
              </a:spcBef>
              <a:buClrTx/>
              <a:buSzTx/>
              <a:buNone/>
            </a:pP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现给出以下已知条件：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 build="p"/>
      <p:bldP spid="4" grpId="0" build="p"/>
      <p:bldP spid="13" grpId="0" build="p"/>
      <p:bldP spid="14" grpId="0" build="p"/>
      <p:bldP spid="15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450850" y="752475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实践拓展问题</a:t>
            </a:r>
            <a:r>
              <a:rPr lang="zh-CN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：矩阵在实际问题中的运用</a:t>
            </a:r>
          </a:p>
        </p:txBody>
      </p:sp>
      <p:sp>
        <p:nvSpPr>
          <p:cNvPr id="106502" name="Text Box 6"/>
          <p:cNvSpPr txBox="1"/>
          <p:nvPr>
            <p:custDataLst>
              <p:tags r:id="rId1"/>
            </p:custDataLst>
          </p:nvPr>
        </p:nvSpPr>
        <p:spPr>
          <a:xfrm>
            <a:off x="517843" y="980758"/>
            <a:ext cx="8001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例</a:t>
            </a:r>
            <a:r>
              <a:rPr lang="en-US" altLang="zh-CN" sz="2800" b="1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2.</a:t>
            </a:r>
            <a:r>
              <a:rPr lang="en-US" sz="2800" b="1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  </a:t>
            </a:r>
            <a:endParaRPr lang="zh-CN" altLang="en-US" sz="2800" b="1" dirty="0">
              <a:solidFill>
                <a:srgbClr val="0066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2" name="Rectangle 10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59840" y="1917065"/>
            <a:ext cx="633285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问题：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丁第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次读的书是谁最后读的书？</a:t>
            </a:r>
          </a:p>
        </p:txBody>
      </p:sp>
      <p:pic>
        <p:nvPicPr>
          <p:cNvPr id="3" name="图片 2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2451" y="2942946"/>
            <a:ext cx="2299097" cy="22990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65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02" grpId="0" uiExpand="1" build="p"/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450850" y="752475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实践拓展问题</a:t>
            </a:r>
            <a:r>
              <a:rPr lang="zh-CN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：矩阵在实际问题中的运用</a:t>
            </a:r>
          </a:p>
        </p:txBody>
      </p:sp>
      <p:graphicFrame>
        <p:nvGraphicFramePr>
          <p:cNvPr id="2" name="表格 2"/>
          <p:cNvGraphicFramePr>
            <a:graphicFrameLocks noGrp="1"/>
          </p:cNvGraphicFramePr>
          <p:nvPr/>
        </p:nvGraphicFramePr>
        <p:xfrm>
          <a:off x="782478" y="829470"/>
          <a:ext cx="7579044" cy="42719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31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31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31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31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31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31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11993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戊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9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/>
                        <a:t>1</a:t>
                      </a:r>
                      <a:endParaRPr lang="zh-CN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9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/>
                        <a:t>2</a:t>
                      </a:r>
                      <a:endParaRPr lang="zh-CN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9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/>
                        <a:t>3</a:t>
                      </a:r>
                      <a:endParaRPr lang="zh-CN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9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/>
                        <a:t>4</a:t>
                      </a:r>
                      <a:endParaRPr lang="zh-CN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19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/>
                        <a:t>5</a:t>
                      </a:r>
                      <a:endParaRPr lang="zh-CN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512253" y="5543043"/>
            <a:ext cx="84847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lang="en-US" altLang="zh-CN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	甲最后读的书是乙读的第二本书；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21753" y="5550302"/>
            <a:ext cx="84847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lang="en-US" altLang="zh-CN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	丙读的第二本书甲在一开始就读了；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31253" y="5550302"/>
            <a:ext cx="84847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lang="en-US" altLang="zh-CN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4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	丁最后读的书是丙读的第三本书；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12253" y="5543043"/>
            <a:ext cx="84847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lang="en-US" altLang="zh-CN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	丙最后读的书是乙读的第四本书；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21753" y="5525043"/>
            <a:ext cx="84847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lang="en-US" altLang="zh-CN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5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	乙读的第四本书是戊读的第三本书；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02753" y="5532302"/>
            <a:ext cx="84847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lang="en-US" altLang="zh-CN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6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	丁第</a:t>
            </a:r>
            <a:r>
              <a:rPr lang="en-US" altLang="zh-CN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次读的书是丙一开始读的那本书。</a:t>
            </a:r>
          </a:p>
        </p:txBody>
      </p:sp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1894992" y="4581128"/>
            <a:ext cx="9820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</a:rPr>
              <a:t>A</a:t>
            </a:r>
            <a:endParaRPr kumimoji="1"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3335152" y="4581128"/>
            <a:ext cx="9820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</a:rPr>
              <a:t>B</a:t>
            </a:r>
            <a:endParaRPr kumimoji="1"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4775312" y="4581128"/>
            <a:ext cx="9820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</a:rPr>
              <a:t>C</a:t>
            </a:r>
            <a:endParaRPr kumimoji="1"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6228792" y="4581128"/>
            <a:ext cx="9820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</a:rPr>
              <a:t>D</a:t>
            </a:r>
            <a:endParaRPr kumimoji="1"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7609664" y="4589067"/>
            <a:ext cx="9820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</a:rPr>
              <a:t>E</a:t>
            </a:r>
            <a:endParaRPr kumimoji="1"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14" name="Text Box 10"/>
          <p:cNvSpPr txBox="1">
            <a:spLocks noChangeArrowheads="1"/>
          </p:cNvSpPr>
          <p:nvPr/>
        </p:nvSpPr>
        <p:spPr bwMode="auto">
          <a:xfrm>
            <a:off x="3335152" y="2366432"/>
            <a:ext cx="9820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</a:rPr>
              <a:t>A</a:t>
            </a:r>
            <a:endParaRPr kumimoji="1"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15" name="Text Box 10"/>
          <p:cNvSpPr txBox="1">
            <a:spLocks noChangeArrowheads="1"/>
          </p:cNvSpPr>
          <p:nvPr/>
        </p:nvSpPr>
        <p:spPr bwMode="auto">
          <a:xfrm>
            <a:off x="3335152" y="3805150"/>
            <a:ext cx="9820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</a:rPr>
              <a:t>C</a:t>
            </a:r>
            <a:endParaRPr kumimoji="1"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16" name="Text Box 10"/>
          <p:cNvSpPr txBox="1">
            <a:spLocks noChangeArrowheads="1"/>
          </p:cNvSpPr>
          <p:nvPr/>
        </p:nvSpPr>
        <p:spPr bwMode="auto">
          <a:xfrm>
            <a:off x="7631765" y="3214860"/>
            <a:ext cx="9820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</a:rPr>
              <a:t>C</a:t>
            </a:r>
            <a:endParaRPr kumimoji="1"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17" name="Text Box 10"/>
          <p:cNvSpPr txBox="1">
            <a:spLocks noChangeArrowheads="1"/>
          </p:cNvSpPr>
          <p:nvPr/>
        </p:nvSpPr>
        <p:spPr bwMode="auto">
          <a:xfrm>
            <a:off x="4775312" y="3214860"/>
            <a:ext cx="9820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</a:rPr>
              <a:t>D</a:t>
            </a:r>
            <a:endParaRPr kumimoji="1"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18" name="Text Box 10"/>
          <p:cNvSpPr txBox="1">
            <a:spLocks noChangeArrowheads="1"/>
          </p:cNvSpPr>
          <p:nvPr/>
        </p:nvSpPr>
        <p:spPr bwMode="auto">
          <a:xfrm>
            <a:off x="1835696" y="1647331"/>
            <a:ext cx="9820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</a:rPr>
              <a:t>x</a:t>
            </a:r>
            <a:endParaRPr kumimoji="1"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19" name="Text Box 10"/>
          <p:cNvSpPr txBox="1">
            <a:spLocks noChangeArrowheads="1"/>
          </p:cNvSpPr>
          <p:nvPr/>
        </p:nvSpPr>
        <p:spPr bwMode="auto">
          <a:xfrm>
            <a:off x="4847320" y="2276872"/>
            <a:ext cx="9820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x</a:t>
            </a:r>
            <a:endParaRPr kumimoji="1"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20" name="Text Box 10"/>
          <p:cNvSpPr txBox="1">
            <a:spLocks noChangeArrowheads="1"/>
          </p:cNvSpPr>
          <p:nvPr/>
        </p:nvSpPr>
        <p:spPr bwMode="auto">
          <a:xfrm>
            <a:off x="6203538" y="3204219"/>
            <a:ext cx="9820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</a:rPr>
              <a:t>y</a:t>
            </a:r>
            <a:endParaRPr kumimoji="1"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21" name="Text Box 10"/>
          <p:cNvSpPr txBox="1">
            <a:spLocks noChangeArrowheads="1"/>
          </p:cNvSpPr>
          <p:nvPr/>
        </p:nvSpPr>
        <p:spPr bwMode="auto">
          <a:xfrm>
            <a:off x="4716016" y="1673757"/>
            <a:ext cx="9820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</a:rPr>
              <a:t>y</a:t>
            </a:r>
            <a:endParaRPr kumimoji="1"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22" name="Rectangle 10"/>
          <p:cNvSpPr>
            <a:spLocks noChangeArrowheads="1"/>
          </p:cNvSpPr>
          <p:nvPr/>
        </p:nvSpPr>
        <p:spPr bwMode="auto">
          <a:xfrm>
            <a:off x="736127" y="5543104"/>
            <a:ext cx="77941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问题：</a:t>
            </a:r>
            <a:r>
              <a:rPr kumimoji="1"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丁第</a:t>
            </a:r>
            <a:r>
              <a:rPr kumimoji="1"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kumimoji="1"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次读的书是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最后</a:t>
            </a:r>
            <a:r>
              <a:rPr kumimoji="1"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读的书？</a:t>
            </a:r>
          </a:p>
        </p:txBody>
      </p:sp>
      <p:sp>
        <p:nvSpPr>
          <p:cNvPr id="24" name="Text Box 10"/>
          <p:cNvSpPr txBox="1">
            <a:spLocks noChangeArrowheads="1"/>
          </p:cNvSpPr>
          <p:nvPr/>
        </p:nvSpPr>
        <p:spPr bwMode="auto">
          <a:xfrm>
            <a:off x="6203538" y="2313097"/>
            <a:ext cx="9820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None/>
            </a:pPr>
            <a:r>
              <a:rPr kumimoji="1"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?</a:t>
            </a:r>
            <a:endParaRPr kumimoji="1" lang="zh-CN" altLang="en-US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" name="Text Box 10"/>
          <p:cNvSpPr txBox="1">
            <a:spLocks noChangeArrowheads="1"/>
          </p:cNvSpPr>
          <p:nvPr/>
        </p:nvSpPr>
        <p:spPr bwMode="auto">
          <a:xfrm>
            <a:off x="3422484" y="3214860"/>
            <a:ext cx="9820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</a:rPr>
              <a:t>E</a:t>
            </a:r>
            <a:endParaRPr kumimoji="1"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26" name="Text Box 10"/>
          <p:cNvSpPr txBox="1">
            <a:spLocks noChangeArrowheads="1"/>
          </p:cNvSpPr>
          <p:nvPr/>
        </p:nvSpPr>
        <p:spPr bwMode="auto">
          <a:xfrm>
            <a:off x="3363560" y="1720595"/>
            <a:ext cx="9820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</a:rPr>
              <a:t>D</a:t>
            </a:r>
            <a:endParaRPr kumimoji="1"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27" name="Text Box 10"/>
          <p:cNvSpPr txBox="1">
            <a:spLocks noChangeArrowheads="1"/>
          </p:cNvSpPr>
          <p:nvPr/>
        </p:nvSpPr>
        <p:spPr bwMode="auto">
          <a:xfrm>
            <a:off x="1918859" y="3204219"/>
            <a:ext cx="9820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</a:rPr>
              <a:t>B</a:t>
            </a:r>
            <a:endParaRPr kumimoji="1"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28" name="Text Box 10"/>
          <p:cNvSpPr txBox="1">
            <a:spLocks noChangeArrowheads="1"/>
          </p:cNvSpPr>
          <p:nvPr/>
        </p:nvSpPr>
        <p:spPr bwMode="auto">
          <a:xfrm>
            <a:off x="6243656" y="3204219"/>
            <a:ext cx="9820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</a:rPr>
              <a:t>A</a:t>
            </a:r>
            <a:endParaRPr kumimoji="1"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29" name="Text Box 10"/>
          <p:cNvSpPr txBox="1">
            <a:spLocks noChangeArrowheads="1"/>
          </p:cNvSpPr>
          <p:nvPr/>
        </p:nvSpPr>
        <p:spPr bwMode="auto">
          <a:xfrm>
            <a:off x="4716016" y="1720595"/>
            <a:ext cx="9820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</a:rPr>
              <a:t>A</a:t>
            </a:r>
            <a:endParaRPr kumimoji="1"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30" name="Text Box 10"/>
          <p:cNvSpPr txBox="1">
            <a:spLocks noChangeArrowheads="1"/>
          </p:cNvSpPr>
          <p:nvPr/>
        </p:nvSpPr>
        <p:spPr bwMode="auto">
          <a:xfrm>
            <a:off x="1835696" y="1719453"/>
            <a:ext cx="9820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</a:rPr>
              <a:t>E</a:t>
            </a:r>
            <a:endParaRPr kumimoji="1"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31" name="Text Box 10"/>
          <p:cNvSpPr txBox="1">
            <a:spLocks noChangeArrowheads="1"/>
          </p:cNvSpPr>
          <p:nvPr/>
        </p:nvSpPr>
        <p:spPr bwMode="auto">
          <a:xfrm>
            <a:off x="4824337" y="2290950"/>
            <a:ext cx="9820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</a:rPr>
              <a:t>E</a:t>
            </a:r>
            <a:endParaRPr kumimoji="1"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32" name="Text Box 10"/>
          <p:cNvSpPr txBox="1">
            <a:spLocks noChangeArrowheads="1"/>
          </p:cNvSpPr>
          <p:nvPr/>
        </p:nvSpPr>
        <p:spPr bwMode="auto">
          <a:xfrm>
            <a:off x="4824337" y="3737305"/>
            <a:ext cx="9820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</a:rPr>
              <a:t>B</a:t>
            </a:r>
            <a:endParaRPr kumimoji="1"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33" name="Text Box 10"/>
          <p:cNvSpPr txBox="1">
            <a:spLocks noChangeArrowheads="1"/>
          </p:cNvSpPr>
          <p:nvPr/>
        </p:nvSpPr>
        <p:spPr bwMode="auto">
          <a:xfrm>
            <a:off x="1947062" y="3757617"/>
            <a:ext cx="9820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</a:rPr>
              <a:t>D</a:t>
            </a:r>
            <a:endParaRPr kumimoji="1"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34" name="Text Box 10"/>
          <p:cNvSpPr txBox="1">
            <a:spLocks noChangeArrowheads="1"/>
          </p:cNvSpPr>
          <p:nvPr/>
        </p:nvSpPr>
        <p:spPr bwMode="auto">
          <a:xfrm>
            <a:off x="1919370" y="2320561"/>
            <a:ext cx="9820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</a:rPr>
              <a:t>C</a:t>
            </a:r>
            <a:endParaRPr kumimoji="1"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35" name="Text Box 10"/>
          <p:cNvSpPr txBox="1">
            <a:spLocks noChangeArrowheads="1"/>
          </p:cNvSpPr>
          <p:nvPr/>
        </p:nvSpPr>
        <p:spPr bwMode="auto">
          <a:xfrm>
            <a:off x="6180555" y="2300084"/>
            <a:ext cx="9820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None/>
            </a:pPr>
            <a:r>
              <a:rPr kumimoji="1"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endParaRPr kumimoji="1" lang="zh-CN" altLang="en-US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" name="Text Box 10"/>
          <p:cNvSpPr txBox="1">
            <a:spLocks noChangeArrowheads="1"/>
          </p:cNvSpPr>
          <p:nvPr/>
        </p:nvSpPr>
        <p:spPr bwMode="auto">
          <a:xfrm>
            <a:off x="7709962" y="2321007"/>
            <a:ext cx="9820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</a:rPr>
              <a:t>D</a:t>
            </a:r>
            <a:endParaRPr kumimoji="1"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37" name="Text Box 10"/>
          <p:cNvSpPr txBox="1">
            <a:spLocks noChangeArrowheads="1"/>
          </p:cNvSpPr>
          <p:nvPr/>
        </p:nvSpPr>
        <p:spPr bwMode="auto">
          <a:xfrm>
            <a:off x="7548254" y="1647331"/>
            <a:ext cx="9820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</a:rPr>
              <a:t>B</a:t>
            </a:r>
            <a:endParaRPr kumimoji="1"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38" name="Text Box 10"/>
          <p:cNvSpPr txBox="1">
            <a:spLocks noChangeArrowheads="1"/>
          </p:cNvSpPr>
          <p:nvPr/>
        </p:nvSpPr>
        <p:spPr bwMode="auto">
          <a:xfrm>
            <a:off x="7709962" y="3786258"/>
            <a:ext cx="9820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</a:rPr>
              <a:t>A</a:t>
            </a:r>
            <a:endParaRPr kumimoji="1"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39" name="Text Box 10"/>
          <p:cNvSpPr txBox="1">
            <a:spLocks noChangeArrowheads="1"/>
          </p:cNvSpPr>
          <p:nvPr/>
        </p:nvSpPr>
        <p:spPr bwMode="auto">
          <a:xfrm>
            <a:off x="6212427" y="3717032"/>
            <a:ext cx="9820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</a:rPr>
              <a:t>E</a:t>
            </a:r>
            <a:endParaRPr kumimoji="1"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40" name="Text Box 10"/>
          <p:cNvSpPr txBox="1">
            <a:spLocks noChangeArrowheads="1"/>
          </p:cNvSpPr>
          <p:nvPr/>
        </p:nvSpPr>
        <p:spPr bwMode="auto">
          <a:xfrm>
            <a:off x="6169496" y="1753652"/>
            <a:ext cx="9820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</a:rPr>
              <a:t>C</a:t>
            </a:r>
            <a:endParaRPr kumimoji="1" lang="zh-CN" altLang="en-US" sz="2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1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4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0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3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allAtOnce"/>
      <p:bldP spid="4" grpId="0" build="p"/>
      <p:bldP spid="4" grpId="1" build="allAtOnce"/>
      <p:bldP spid="5" grpId="0" build="p"/>
      <p:bldP spid="5" grpId="1" build="allAtOnce"/>
      <p:bldP spid="6" grpId="0" build="p"/>
      <p:bldP spid="6" grpId="1" build="allAtOnce"/>
      <p:bldP spid="7" grpId="0" build="p"/>
      <p:bldP spid="7" grpId="1" build="allAtOnce"/>
      <p:bldP spid="8" grpId="0" build="p"/>
      <p:bldP spid="8" grpId="1" build="allAtOnce"/>
      <p:bldP spid="9" grpId="0" build="p" autoUpdateAnimBg="0"/>
      <p:bldP spid="10" grpId="0" build="p" autoUpdateAnimBg="0"/>
      <p:bldP spid="11" grpId="0" build="p" autoUpdateAnimBg="0"/>
      <p:bldP spid="12" grpId="0" build="p" autoUpdateAnimBg="0"/>
      <p:bldP spid="13" grpId="0" build="p" autoUpdateAnimBg="0"/>
      <p:bldP spid="14" grpId="0" build="p" autoUpdateAnimBg="0"/>
      <p:bldP spid="15" grpId="0" build="p" autoUpdateAnimBg="0"/>
      <p:bldP spid="16" grpId="0" build="p" autoUpdateAnimBg="0"/>
      <p:bldP spid="17" grpId="0" build="p" autoUpdateAnimBg="0"/>
      <p:bldP spid="18" grpId="0" build="p" autoUpdateAnimBg="0"/>
      <p:bldP spid="18" grpId="1" build="allAtOnce"/>
      <p:bldP spid="19" grpId="0" build="p" autoUpdateAnimBg="0"/>
      <p:bldP spid="19" grpId="1" build="allAtOnce"/>
      <p:bldP spid="20" grpId="0" build="p" autoUpdateAnimBg="0"/>
      <p:bldP spid="20" grpId="1" build="allAtOnce"/>
      <p:bldP spid="21" grpId="0" build="p" autoUpdateAnimBg="0"/>
      <p:bldP spid="21" grpId="1" build="allAtOnce"/>
      <p:bldP spid="22" grpId="0"/>
      <p:bldP spid="24" grpId="0" build="p" autoUpdateAnimBg="0"/>
      <p:bldP spid="24" grpId="1" build="allAtOnce"/>
      <p:bldP spid="25" grpId="0" build="p" autoUpdateAnimBg="0"/>
      <p:bldP spid="26" grpId="0" build="p" autoUpdateAnimBg="0"/>
      <p:bldP spid="27" grpId="0" build="p" autoUpdateAnimBg="0"/>
      <p:bldP spid="28" grpId="0" build="p" autoUpdateAnimBg="0"/>
      <p:bldP spid="29" grpId="0" build="p" autoUpdateAnimBg="0"/>
      <p:bldP spid="30" grpId="0" build="p" autoUpdateAnimBg="0"/>
      <p:bldP spid="31" grpId="0" build="p" autoUpdateAnimBg="0"/>
      <p:bldP spid="32" grpId="0" build="p" autoUpdateAnimBg="0"/>
      <p:bldP spid="33" grpId="0" build="p" autoUpdateAnimBg="0"/>
      <p:bldP spid="34" grpId="0" build="p" autoUpdateAnimBg="0"/>
      <p:bldP spid="35" grpId="0" build="p" autoUpdateAnimBg="0"/>
      <p:bldP spid="36" grpId="0" build="p" autoUpdateAnimBg="0"/>
      <p:bldP spid="37" grpId="0" build="p" autoUpdateAnimBg="0"/>
      <p:bldP spid="38" grpId="0" build="p" autoUpdateAnimBg="0"/>
      <p:bldP spid="39" grpId="0" build="p" autoUpdateAnimBg="0"/>
      <p:bldP spid="40" grpId="0" build="p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930465" y="1628041"/>
            <a:ext cx="7586663" cy="475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 </a:t>
            </a: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通过实例抽象出矩阵是一个数表</a:t>
            </a:r>
          </a:p>
        </p:txBody>
      </p:sp>
      <p:sp>
        <p:nvSpPr>
          <p:cNvPr id="44035" name="Line 12"/>
          <p:cNvSpPr>
            <a:spLocks noChangeShapeType="1"/>
          </p:cNvSpPr>
          <p:nvPr/>
        </p:nvSpPr>
        <p:spPr bwMode="auto">
          <a:xfrm>
            <a:off x="0" y="836613"/>
            <a:ext cx="9144000" cy="0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037" name="Text Box 2"/>
          <p:cNvSpPr txBox="1">
            <a:spLocks noChangeArrowheads="1"/>
          </p:cNvSpPr>
          <p:nvPr/>
        </p:nvSpPr>
        <p:spPr bwMode="auto">
          <a:xfrm>
            <a:off x="1835785" y="185120"/>
            <a:ext cx="540702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0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矩阵的概念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小结</a:t>
            </a:r>
          </a:p>
        </p:txBody>
      </p:sp>
      <p:sp>
        <p:nvSpPr>
          <p:cNvPr id="2" name="爆炸形: 8 pt  1"/>
          <p:cNvSpPr/>
          <p:nvPr/>
        </p:nvSpPr>
        <p:spPr bwMode="auto">
          <a:xfrm>
            <a:off x="684070" y="1781345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997141" y="2345591"/>
            <a:ext cx="7303839" cy="475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sz="25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理解矩阵的概念</a:t>
            </a:r>
          </a:p>
        </p:txBody>
      </p:sp>
      <p:sp>
        <p:nvSpPr>
          <p:cNvPr id="28" name="爆炸形: 8 pt  27"/>
          <p:cNvSpPr/>
          <p:nvPr/>
        </p:nvSpPr>
        <p:spPr bwMode="auto">
          <a:xfrm>
            <a:off x="676632" y="2484678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Rectangle 1"/>
          <p:cNvSpPr>
            <a:spLocks noChangeArrowheads="1"/>
          </p:cNvSpPr>
          <p:nvPr/>
        </p:nvSpPr>
        <p:spPr bwMode="auto">
          <a:xfrm>
            <a:off x="997141" y="2966304"/>
            <a:ext cx="7586662" cy="475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sz="2500" b="1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理解矩阵的概念及掌握单位矩阵、对角矩</a:t>
            </a:r>
            <a:endParaRPr kumimoji="1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4" name="爆炸形: 8 pt  33"/>
          <p:cNvSpPr/>
          <p:nvPr/>
        </p:nvSpPr>
        <p:spPr bwMode="auto">
          <a:xfrm>
            <a:off x="696219" y="3087375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1"/>
          <p:cNvSpPr>
            <a:spLocks noChangeArrowheads="1"/>
          </p:cNvSpPr>
          <p:nvPr/>
        </p:nvSpPr>
        <p:spPr bwMode="auto">
          <a:xfrm>
            <a:off x="2440179" y="3428266"/>
            <a:ext cx="2989262" cy="47561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500" b="1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阵等特殊矩阵.</a:t>
            </a:r>
            <a:endParaRPr kumimoji="1" lang="en-US" altLang="zh-CN" sz="2500" b="1" i="0" u="none" strike="noStrike" kern="1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" name="Rectangle 1"/>
          <p:cNvSpPr>
            <a:spLocks noChangeArrowheads="1"/>
          </p:cNvSpPr>
          <p:nvPr/>
        </p:nvSpPr>
        <p:spPr bwMode="auto">
          <a:xfrm>
            <a:off x="957454" y="3956904"/>
            <a:ext cx="7487542" cy="475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sz="25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实际问题的矩阵表示.</a:t>
            </a:r>
          </a:p>
        </p:txBody>
      </p:sp>
      <p:sp>
        <p:nvSpPr>
          <p:cNvPr id="26" name="爆炸形: 8 pt  25"/>
          <p:cNvSpPr/>
          <p:nvPr/>
        </p:nvSpPr>
        <p:spPr bwMode="auto">
          <a:xfrm>
            <a:off x="734618" y="4057562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Rectangle 1"/>
          <p:cNvSpPr>
            <a:spLocks noChangeArrowheads="1"/>
          </p:cNvSpPr>
          <p:nvPr/>
        </p:nvSpPr>
        <p:spPr bwMode="auto">
          <a:xfrm>
            <a:off x="951104" y="4600794"/>
            <a:ext cx="7745412" cy="475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拓展问题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sz="25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矩阵的</a:t>
            </a:r>
            <a:r>
              <a:rPr kumimoji="1" 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应用</a:t>
            </a:r>
          </a:p>
        </p:txBody>
      </p:sp>
      <p:sp>
        <p:nvSpPr>
          <p:cNvPr id="30" name="爆炸形: 8 pt  29"/>
          <p:cNvSpPr/>
          <p:nvPr/>
        </p:nvSpPr>
        <p:spPr bwMode="auto">
          <a:xfrm>
            <a:off x="661601" y="4816153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44059" name="Picture 11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42863" y="-9525"/>
            <a:ext cx="1014413" cy="83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2" grpId="0"/>
      <p:bldP spid="29" grpId="0"/>
      <p:bldP spid="19" grpId="0"/>
      <p:bldP spid="24" grpId="0"/>
      <p:bldP spid="2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f47fcc34-08aa-4d11-ab19-1f61cfe44d19"/>
  <p:tag name="COMMONDATA" val="eyJoZGlkIjoiZmRhY2I1Yzc3MDRmODQ3NWQxMWUzOTBiYTliNDAwZTc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439,&quot;width&quot;:7428.450393700788}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FFFFF"/>
      </a:accent3>
      <a:accent4>
        <a:srgbClr val="000000"/>
      </a:accent4>
      <a:accent5>
        <a:srgbClr val="C0E5AF"/>
      </a:accent5>
      <a:accent6>
        <a:srgbClr val="D4126E"/>
      </a:accent6>
      <a:hlink>
        <a:srgbClr val="EB8803"/>
      </a:hlink>
      <a:folHlink>
        <a:srgbClr val="5F7791"/>
      </a:folHlink>
    </a:clrScheme>
    <a:fontScheme name="默认设计模板">
      <a:majorFont>
        <a:latin typeface="Times New Roman"/>
        <a:ea typeface="黑体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默认设计模板">
  <a:themeElements>
    <a:clrScheme name="">
      <a:dk1>
        <a:srgbClr val="000000"/>
      </a:dk1>
      <a:lt1>
        <a:srgbClr val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FFFFF"/>
      </a:accent3>
      <a:accent4>
        <a:srgbClr val="000000"/>
      </a:accent4>
      <a:accent5>
        <a:srgbClr val="C0E5AF"/>
      </a:accent5>
      <a:accent6>
        <a:srgbClr val="D4126E"/>
      </a:accent6>
      <a:hlink>
        <a:srgbClr val="EB8803"/>
      </a:hlink>
      <a:folHlink>
        <a:srgbClr val="5F7791"/>
      </a:folHlink>
    </a:clrScheme>
    <a:fontScheme name="默认设计模板">
      <a:majorFont>
        <a:latin typeface="Times New Roman"/>
        <a:ea typeface="黑体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习题课模板">
  <a:themeElements>
    <a:clrScheme name="2_习题课模板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2_习题课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习题课模板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习题课模板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主题2</Template>
  <TotalTime>10</TotalTime>
  <Words>1722</Words>
  <Application>Microsoft Macintosh PowerPoint</Application>
  <PresentationFormat>On-screen Show (4:3)</PresentationFormat>
  <Paragraphs>277</Paragraphs>
  <Slides>31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31</vt:i4>
      </vt:variant>
    </vt:vector>
  </HeadingPairs>
  <TitlesOfParts>
    <vt:vector size="46" baseType="lpstr">
      <vt:lpstr>黑体</vt:lpstr>
      <vt:lpstr>华文中宋</vt:lpstr>
      <vt:lpstr>Arial</vt:lpstr>
      <vt:lpstr>Arial Black</vt:lpstr>
      <vt:lpstr>Calibri</vt:lpstr>
      <vt:lpstr>Symbol</vt:lpstr>
      <vt:lpstr>Times New Roman</vt:lpstr>
      <vt:lpstr>Wingdings</vt:lpstr>
      <vt:lpstr>1_默认设计模板</vt:lpstr>
      <vt:lpstr>2_默认设计模板</vt:lpstr>
      <vt:lpstr>2_习题课模板</vt:lpstr>
      <vt:lpstr>2_Pixel</vt:lpstr>
      <vt:lpstr>Equation</vt:lpstr>
      <vt:lpstr>Equation.DSMT4</vt:lpstr>
      <vt:lpstr>Equation.3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chen lilian</dc:creator>
  <cp:lastModifiedBy>Microsoft Office User</cp:lastModifiedBy>
  <cp:revision>1076</cp:revision>
  <dcterms:created xsi:type="dcterms:W3CDTF">2012-06-17T01:12:00Z</dcterms:created>
  <dcterms:modified xsi:type="dcterms:W3CDTF">2026-10-13T05:11:25Z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FD406AF14D894C65BD7188147F789952_12</vt:lpwstr>
  </property>
  <property fmtid="{D5CDD505-2E9C-101B-9397-08002B2CF9AE}" pid="3" name="KSOProductBuildVer">
    <vt:lpwstr>2052-12.1.0.16388</vt:lpwstr>
  </property>
</Properties>
</file>