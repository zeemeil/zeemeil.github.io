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66" r:id="rId1"/>
    <p:sldMasterId id="2147485255" r:id="rId2"/>
    <p:sldMasterId id="2147485458" r:id="rId3"/>
    <p:sldMasterId id="2147487332" r:id="rId4"/>
  </p:sldMasterIdLst>
  <p:notesMasterIdLst>
    <p:notesMasterId r:id="rId28"/>
  </p:notesMasterIdLst>
  <p:handoutMasterIdLst>
    <p:handoutMasterId r:id="rId29"/>
  </p:handoutMasterIdLst>
  <p:sldIdLst>
    <p:sldId id="1463" r:id="rId5"/>
    <p:sldId id="1129" r:id="rId6"/>
    <p:sldId id="1464" r:id="rId7"/>
    <p:sldId id="1458" r:id="rId8"/>
    <p:sldId id="1459" r:id="rId9"/>
    <p:sldId id="1460" r:id="rId10"/>
    <p:sldId id="1392" r:id="rId11"/>
    <p:sldId id="1428" r:id="rId12"/>
    <p:sldId id="1461" r:id="rId13"/>
    <p:sldId id="1462" r:id="rId14"/>
    <p:sldId id="1434" r:id="rId15"/>
    <p:sldId id="1435" r:id="rId16"/>
    <p:sldId id="1437" r:id="rId17"/>
    <p:sldId id="1452" r:id="rId18"/>
    <p:sldId id="1453" r:id="rId19"/>
    <p:sldId id="1438" r:id="rId20"/>
    <p:sldId id="1439" r:id="rId21"/>
    <p:sldId id="1394" r:id="rId22"/>
    <p:sldId id="1454" r:id="rId23"/>
    <p:sldId id="1455" r:id="rId24"/>
    <p:sldId id="1456" r:id="rId25"/>
    <p:sldId id="1440" r:id="rId26"/>
    <p:sldId id="1232" r:id="rId2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3333FF"/>
    <a:srgbClr val="6666FF"/>
    <a:srgbClr val="969696"/>
    <a:srgbClr val="2B2BFF"/>
    <a:srgbClr val="FFFFFF"/>
    <a:srgbClr val="C7E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24" autoAdjust="0"/>
    <p:restoredTop sz="93807" autoAdjust="0"/>
  </p:normalViewPr>
  <p:slideViewPr>
    <p:cSldViewPr>
      <p:cViewPr varScale="1">
        <p:scale>
          <a:sx n="73" d="100"/>
          <a:sy n="73" d="100"/>
        </p:scale>
        <p:origin x="14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notesViewPr>
    <p:cSldViewPr>
      <p:cViewPr varScale="1">
        <p:scale>
          <a:sx n="56" d="100"/>
          <a:sy n="56" d="100"/>
        </p:scale>
        <p:origin x="285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7EA380C-BE2C-4282-97A2-63FF308284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D8108A-6D14-45B9-AD48-86AFA29CEE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329B3-F25B-48AB-B184-ECF14D006430}" type="datetimeFigureOut">
              <a:rPr lang="zh-CN" altLang="en-US" smtClean="0"/>
              <a:t>2024/3/3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4173B7-E60B-473E-80B6-27B9FC1A9E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7442B8-CFD7-4D5A-A40F-5330847ED2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3A003-A97D-492E-97B5-C17D5102C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236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D1E8CF-2E05-42CF-946C-A234E5F000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632EF-962B-4C32-944C-9D48ADC75C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pPr>
                <a:defRPr/>
              </a:pPr>
              <a:t>2024/3/3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05BBDC4-6710-4A89-977B-5A8CCDD9C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7B5BEF2-2FAA-4DA0-A019-CDD72CD60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9C5AE9-932A-4B24-8907-3288CEB58A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55E83-8E18-466C-948D-A1D8AB4AD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4FFA27-5CA2-4DFB-8D06-B9C664BB4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F04B9-6AB1-409F-90C3-976FF0BAF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05FE01-3CC2-481E-842A-EC3BCF936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854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C83651-720B-4544-B1BD-C9AE72396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CEA02A-0E2E-41CB-9FBA-094B1830C8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CBE20F-77C4-4DBD-B25D-3C6A4FEDB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098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834230-2B39-4DDE-A231-57D921031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7AA53C-2A84-42AC-8ABE-E3BCD725D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69738-E7EF-4239-9214-1338BEA229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835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CA1BC0-DA59-4AE7-996B-37C7C5232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721AC6-AA19-4ACC-9723-B9CDDDC20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AA4EE-D3DA-43A0-BE88-D590F25B5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271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6C333DE-221B-451E-B3BA-71E82BEAC0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0BFB29-C645-4459-9FE3-FBD984899A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C3FE80-E225-4E0E-A4D4-9ED9C5527B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0150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C59EC-2D83-4644-9FF6-91C5F0ABE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83F13-0C98-4BF3-8523-314ACE8E1F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F39952-6881-490F-B284-BB0102813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0904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C9107-412D-42F2-A220-A25A218FDA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C7EFD-A8E4-4F78-90B4-0E1A3F97F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CF8D3B-A421-4610-91BC-08C96EAA9A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4945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130E1B-374D-48BA-A9A9-A9EB42C70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D77BF4-B8D5-4759-A2CA-7E2D8DF1FF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BA1783-3E36-44DB-9B84-16EAF900E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614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C1EB74-39EF-47DA-A763-FB37F9B131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D1B4E2-FAE7-4275-B658-CF563EF22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4AC064-1581-42FB-B0D3-948281D4C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8808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C77236-EEBB-4827-AD1E-537D08A338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69FFFD-5F56-4F25-B1AB-DE72DBCB4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16A906-E789-439C-BD58-729E2D76B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638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907258-1C0A-4346-809F-F31A32E6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pPr>
                <a:defRPr/>
              </a:pPr>
              <a:t>2024/3/3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36BFAF-6BC0-49F0-BC8C-FB800977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401784-8F1D-4904-B603-1F475985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60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CDAD0-9D64-4314-8793-8634F4D8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2024/3/3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62A031-7B56-4E50-B06E-364E4CFB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A571B-27BA-4C0A-8D4F-2B2E4019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767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B3347-0CA6-4EE6-8E3C-7F647BA3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B6C7-F2DA-4B00-8CA8-5826F1BE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D50E1-33F5-4F04-83D7-58255901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15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855C45-E57E-45D8-8789-B08077A0B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2AE40C-11D0-4D9D-B418-509A8A9A6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1C6E2B-2607-4AFD-9E50-1545AA41B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839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7F9A4D-341A-41CC-8F0F-E6924B9684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E33512-D5A8-47D0-B549-77A18A6ED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B7CB67-BDC6-4137-BE93-338EAA114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7281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490AF2-F810-4172-8A48-87F8D5EF7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F90D61-50CB-4D86-9EAC-B76F8A364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FA323-8AFE-4021-A977-A60222BA2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180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C019C-2D7F-4455-B3FB-C34607481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D3FD4-1623-45FB-96F8-F9285B879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823D2-B9E7-4EED-9D1E-3AB8E17E3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19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12368DA-4B1A-424E-9857-B0A678FBC6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B212B3-7550-4762-8B5E-CB91D5A8BC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4B8099-34BA-4920-84A9-9BA6EE4ED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246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56705-0B6D-45BC-8340-6A1E4EFD6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7C27C-6D02-42D6-BF81-983A2FCE65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02995-3DE2-4744-8539-2A7C1876E8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20010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B1FBF-7FD0-4CE2-A043-A41CE23630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B4C19-C8A8-4CF8-9D44-5BAEBA2B52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25DFB-3070-475F-98EE-8E4F3A00E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54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6855A6-453A-47B3-8A92-0F1063C79A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4011F6-4D45-40E9-850B-FE8F767F9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23DB50-4002-46B4-810A-AA39BF83D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849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BFA5EF-1425-4B28-9B7A-348002BF3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5E2916-713D-417C-8CEE-972575D27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9639DA-65DE-4219-8B66-C96E3E892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2887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F1D24E-58F4-416D-B9FF-CD0720AB9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16E313-3B04-41D1-A907-070FE2F11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27B489-A529-4323-A27E-40A3A99864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113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2B2289-983E-4EA7-8A84-119F4B9A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pPr>
                <a:defRPr/>
              </a:pPr>
              <a:t>2024/3/3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DA7B7F-14A2-4287-897C-E8179727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2ADFC2-E3A9-4650-B34E-E842FD3D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605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3E466-4F93-4E3A-A6F6-928A730F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2024/3/3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379F3-1B1D-4F43-97B0-BF8DC630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F5286-0118-4D1C-85B9-22086D08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472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DAEE5-B474-4771-8A83-AE3B97F8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21E6C-CD00-4620-991D-FDD21011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845B2-E858-4F40-8455-88DAA9C5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916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547765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85728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34688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368320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093431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9D38C6D0-0704-4DD7-A5D2-05D8B59DF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103906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175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182303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47708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652217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149405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DCFD248-D6E9-42A7-9A08-4B322473B87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293EF1F-B996-4BF3-8545-1F8942B7465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8EF5DC4-DA6F-46DC-9D43-273DA325F56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B1A793CB-15AC-484F-9480-5EFAC00C87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3BF66AE4-90AD-4312-BBFB-E4BA8EC12A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36EAE0C-5BF4-4600-902D-FBFA900763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BD22F033-56C7-48BA-B9B5-90236C337C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68BF0FAB-2F85-4929-AB2D-97A6311EFA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7AED698-0AAA-4BB6-9480-E7C8585063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095121D7-4C0F-44D8-B004-AA4D7911F7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01E34350-5B3C-4612-8690-23E0637F8F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0559055E-3F93-4230-B16D-24149A55D5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C2B656F5-0850-4ED6-8F46-E13E0871ED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66BC7D0B-5FDB-4195-99C3-ADEC8ADF11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99D42E93-D1A7-4D68-B8E9-89C548966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7922CF7F-89E3-442B-8672-5D396583FC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2A8E2A3-1787-483E-8FA7-FB0A6EF2D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28980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A66C85-B574-4B8B-AE29-7E83B531F4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030FC8-A8E8-4162-9EA0-532FE09A0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12FA7717-ADBA-4C62-B38A-CC9348FA09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678118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81287-8B2B-4245-9470-3CF9571014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3EF4B9-8B57-4C03-A5F2-E2A17B23BB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E8CF0E3-2389-4D18-BF8D-B3A042044D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016412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94E05-3896-4D04-A78C-E206AC6065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1DBE9-298F-478C-AD0B-532137C52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550F8A-6CB3-4E1C-A335-52B52D5077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53128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F3769CD0-67B4-4856-9B65-2233FAA50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75BFF0B-A76A-49AB-8E76-6E5D2EFEC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5A425DD8-22B0-46CB-B651-717BE4798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11648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8219D1-EEA4-4CD4-9938-0B050D9E6E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4AD52-D808-48B6-B359-7D6F15F8C8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B0461-4B86-42B0-AC4F-E5915068182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129802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30C0146-A287-4A3C-ADEE-2427F18CC1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713" y="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7">
            <a:extLst>
              <a:ext uri="{FF2B5EF4-FFF2-40B4-BE49-F238E27FC236}">
                <a16:creationId xmlns:a16="http://schemas.microsoft.com/office/drawing/2014/main" id="{26716C4E-EB24-4F65-9CCF-3C8B064C45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燕尾形 16">
            <a:hlinkClick r:id="" action="ppaction://hlinkshowjump?jump=previousslide" tooltip="上一页"/>
            <a:extLst>
              <a:ext uri="{FF2B5EF4-FFF2-40B4-BE49-F238E27FC236}">
                <a16:creationId xmlns:a16="http://schemas.microsoft.com/office/drawing/2014/main" id="{E868D851-0E7F-417F-A7BA-537E73D2A6F3}"/>
              </a:ext>
            </a:extLst>
          </p:cNvPr>
          <p:cNvSpPr/>
          <p:nvPr userDrawn="1"/>
        </p:nvSpPr>
        <p:spPr>
          <a:xfrm flipH="1">
            <a:off x="8346933" y="6584238"/>
            <a:ext cx="233362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18">
            <a:hlinkClick r:id="" action="ppaction://hlinkshowjump?jump=nextslide" tooltip="下一页"/>
            <a:extLst>
              <a:ext uri="{FF2B5EF4-FFF2-40B4-BE49-F238E27FC236}">
                <a16:creationId xmlns:a16="http://schemas.microsoft.com/office/drawing/2014/main" id="{12709413-AEBF-474E-85A5-9A05A52DCD51}"/>
              </a:ext>
            </a:extLst>
          </p:cNvPr>
          <p:cNvSpPr/>
          <p:nvPr userDrawn="1"/>
        </p:nvSpPr>
        <p:spPr>
          <a:xfrm>
            <a:off x="8829533" y="6596938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页脚占位符 1">
            <a:extLst>
              <a:ext uri="{FF2B5EF4-FFF2-40B4-BE49-F238E27FC236}">
                <a16:creationId xmlns:a16="http://schemas.microsoft.com/office/drawing/2014/main" id="{3C341C7B-D148-4414-AA91-65A892CF2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D5F58521-311C-4635-AFA1-FD84A2FD2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1550D-240D-4904-938E-B973E916C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8FE20C34-27D7-4001-9CA0-97FAF94660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407819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3765A-DB92-4FEB-8586-5083F6941B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FDF5F-9F14-49F7-82C6-42794CEB7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E2FBE0-19B5-43F0-A085-F9447004E6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689859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410B37-7628-4026-857E-D516CCF2FE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7D3DD-3BAE-4A61-A547-EDCF67528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4AD834-DC92-41E8-805C-D46D15F577F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070184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BBAE87-7E54-42AD-8D4E-64447FA738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049BAC-BDEE-41A8-B375-0C74582E8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CB1ABFD-F109-4E5E-9750-C313A90A2B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1748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2F1A3-63B8-484C-A59C-FF6D582BD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D1A0B-715F-4734-BBC6-DCDD9A1A9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229AB6B-AD64-4746-9E73-A20F5E2738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45400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37CA2716-81D1-4A33-8A7E-BA6EB9C611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13" r:id="rId1"/>
    <p:sldLayoutId id="2147487314" r:id="rId2"/>
    <p:sldLayoutId id="2147487315" r:id="rId3"/>
    <p:sldLayoutId id="2147487316" r:id="rId4"/>
    <p:sldLayoutId id="2147487317" r:id="rId5"/>
    <p:sldLayoutId id="2147487318" r:id="rId6"/>
    <p:sldLayoutId id="2147487319" r:id="rId7"/>
    <p:sldLayoutId id="2147487320" r:id="rId8"/>
    <p:sldLayoutId id="2147487321" r:id="rId9"/>
    <p:sldLayoutId id="2147487322" r:id="rId10"/>
    <p:sldLayoutId id="2147487323" r:id="rId11"/>
    <p:sldLayoutId id="2147487324" r:id="rId12"/>
    <p:sldLayoutId id="2147487325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D8CAED-9733-4696-BE55-66C0F2E5FA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6D87927-EA0E-4567-A73F-EE5B25BEB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1A3E96-2188-405F-89D7-D3A22F3D4F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32AC8B-0C35-44F7-97D8-F789CAAB87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7CA088-137C-4D05-816B-160A5F146A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FEAC0F78-C0FC-4A92-AC28-83B0375BA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26" r:id="rId1"/>
    <p:sldLayoutId id="2147487284" r:id="rId2"/>
    <p:sldLayoutId id="2147487285" r:id="rId3"/>
    <p:sldLayoutId id="2147487286" r:id="rId4"/>
    <p:sldLayoutId id="2147487287" r:id="rId5"/>
    <p:sldLayoutId id="2147487288" r:id="rId6"/>
    <p:sldLayoutId id="2147487289" r:id="rId7"/>
    <p:sldLayoutId id="2147487290" r:id="rId8"/>
    <p:sldLayoutId id="2147487291" r:id="rId9"/>
    <p:sldLayoutId id="2147487292" r:id="rId10"/>
    <p:sldLayoutId id="2147487327" r:id="rId11"/>
    <p:sldLayoutId id="2147487328" r:id="rId12"/>
    <p:sldLayoutId id="2147487329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>
            <a:extLst>
              <a:ext uri="{FF2B5EF4-FFF2-40B4-BE49-F238E27FC236}">
                <a16:creationId xmlns:a16="http://schemas.microsoft.com/office/drawing/2014/main" id="{14ECB70A-15C1-43C3-82DD-C91F52213E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>
            <a:extLst>
              <a:ext uri="{FF2B5EF4-FFF2-40B4-BE49-F238E27FC236}">
                <a16:creationId xmlns:a16="http://schemas.microsoft.com/office/drawing/2014/main" id="{23932A2F-2686-4BEE-8DF6-1CAE4DA968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>
            <a:extLst>
              <a:ext uri="{FF2B5EF4-FFF2-40B4-BE49-F238E27FC236}">
                <a16:creationId xmlns:a16="http://schemas.microsoft.com/office/drawing/2014/main" id="{7EAEED02-1A06-4CCC-B8A4-0F20CDF653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>
            <a:extLst>
              <a:ext uri="{FF2B5EF4-FFF2-40B4-BE49-F238E27FC236}">
                <a16:creationId xmlns:a16="http://schemas.microsoft.com/office/drawing/2014/main" id="{8589F783-3D42-4393-A6BE-B86E49ABF4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>
            <a:extLst>
              <a:ext uri="{FF2B5EF4-FFF2-40B4-BE49-F238E27FC236}">
                <a16:creationId xmlns:a16="http://schemas.microsoft.com/office/drawing/2014/main" id="{6F1DC48B-481E-486F-94F2-23C1AE5DC0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>
            <a:extLst>
              <a:ext uri="{FF2B5EF4-FFF2-40B4-BE49-F238E27FC236}">
                <a16:creationId xmlns:a16="http://schemas.microsoft.com/office/drawing/2014/main" id="{7E2F42E9-535D-4979-BEDB-04F4C08263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93" r:id="rId1"/>
    <p:sldLayoutId id="2147487294" r:id="rId2"/>
    <p:sldLayoutId id="2147487295" r:id="rId3"/>
    <p:sldLayoutId id="2147487296" r:id="rId4"/>
    <p:sldLayoutId id="2147487297" r:id="rId5"/>
    <p:sldLayoutId id="2147487330" r:id="rId6"/>
    <p:sldLayoutId id="2147487331" r:id="rId7"/>
    <p:sldLayoutId id="2147487298" r:id="rId8"/>
    <p:sldLayoutId id="2147487299" r:id="rId9"/>
    <p:sldLayoutId id="2147487300" r:id="rId10"/>
    <p:sldLayoutId id="214748730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FB02206-B27F-4E76-91B3-4EFD85BD4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0B8FE99-AF5C-4D4C-93CD-8759798309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C76477D-BF5D-43C9-B67A-DA3CAB6BDED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>
              <a:extLst>
                <a:ext uri="{FF2B5EF4-FFF2-40B4-BE49-F238E27FC236}">
                  <a16:creationId xmlns:a16="http://schemas.microsoft.com/office/drawing/2014/main" id="{BAB928D6-5BF9-45A2-87AC-671B31498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>
              <a:extLst>
                <a:ext uri="{FF2B5EF4-FFF2-40B4-BE49-F238E27FC236}">
                  <a16:creationId xmlns:a16="http://schemas.microsoft.com/office/drawing/2014/main" id="{0DAE07E0-4410-415E-ADB7-B8F22AA3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>
              <a:extLst>
                <a:ext uri="{FF2B5EF4-FFF2-40B4-BE49-F238E27FC236}">
                  <a16:creationId xmlns:a16="http://schemas.microsoft.com/office/drawing/2014/main" id="{F98F35F0-3851-4629-B9AC-91B836166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>
              <a:extLst>
                <a:ext uri="{FF2B5EF4-FFF2-40B4-BE49-F238E27FC236}">
                  <a16:creationId xmlns:a16="http://schemas.microsoft.com/office/drawing/2014/main" id="{8ED0044A-21CE-45E6-9C31-02E7F31A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>
              <a:extLst>
                <a:ext uri="{FF2B5EF4-FFF2-40B4-BE49-F238E27FC236}">
                  <a16:creationId xmlns:a16="http://schemas.microsoft.com/office/drawing/2014/main" id="{97BFDF85-7F81-430A-A177-C2AF6AEFD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>
              <a:extLst>
                <a:ext uri="{FF2B5EF4-FFF2-40B4-BE49-F238E27FC236}">
                  <a16:creationId xmlns:a16="http://schemas.microsoft.com/office/drawing/2014/main" id="{D23C108B-AEFE-4427-9022-F93C356E9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>
              <a:extLst>
                <a:ext uri="{FF2B5EF4-FFF2-40B4-BE49-F238E27FC236}">
                  <a16:creationId xmlns:a16="http://schemas.microsoft.com/office/drawing/2014/main" id="{C7B90104-A07F-46E6-9306-63B74F0F0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>
              <a:extLst>
                <a:ext uri="{FF2B5EF4-FFF2-40B4-BE49-F238E27FC236}">
                  <a16:creationId xmlns:a16="http://schemas.microsoft.com/office/drawing/2014/main" id="{2B4E9ABA-0A63-420D-A603-037DC96FF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>
              <a:extLst>
                <a:ext uri="{FF2B5EF4-FFF2-40B4-BE49-F238E27FC236}">
                  <a16:creationId xmlns:a16="http://schemas.microsoft.com/office/drawing/2014/main" id="{C2F95056-8353-4C51-9FDB-815AFD0FE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20A37B01-1D1B-477D-9302-81A19C62F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685BA901-3641-49C6-B085-1EE89F61C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CBCD943A-D4CE-48C0-9D30-7E42EFF034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1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333" r:id="rId1"/>
    <p:sldLayoutId id="2147487334" r:id="rId2"/>
    <p:sldLayoutId id="2147487335" r:id="rId3"/>
    <p:sldLayoutId id="2147487336" r:id="rId4"/>
    <p:sldLayoutId id="2147487337" r:id="rId5"/>
    <p:sldLayoutId id="2147487338" r:id="rId6"/>
    <p:sldLayoutId id="2147487339" r:id="rId7"/>
    <p:sldLayoutId id="2147487340" r:id="rId8"/>
    <p:sldLayoutId id="2147487341" r:id="rId9"/>
    <p:sldLayoutId id="2147487342" r:id="rId10"/>
    <p:sldLayoutId id="2147487343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wmf"/><Relationship Id="rId2" Type="http://schemas.openxmlformats.org/officeDocument/2006/relationships/slide" Target="slide6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6.wmf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18.png"/><Relationship Id="rId4" Type="http://schemas.openxmlformats.org/officeDocument/2006/relationships/image" Target="../media/image17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7.wmf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2.wmf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7.wmf"/><Relationship Id="rId2" Type="http://schemas.openxmlformats.org/officeDocument/2006/relationships/slide" Target="slide5.xml"/><Relationship Id="rId16" Type="http://schemas.openxmlformats.org/officeDocument/2006/relationships/image" Target="../media/image39.wmf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4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50.wmf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58.wmf"/><Relationship Id="rId3" Type="http://schemas.openxmlformats.org/officeDocument/2006/relationships/oleObject" Target="../embeddings/oleObject44.bin"/><Relationship Id="rId21" Type="http://schemas.openxmlformats.org/officeDocument/2006/relationships/oleObject" Target="../embeddings/oleObject53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51.bin"/><Relationship Id="rId2" Type="http://schemas.openxmlformats.org/officeDocument/2006/relationships/slide" Target="slide5.xml"/><Relationship Id="rId16" Type="http://schemas.openxmlformats.org/officeDocument/2006/relationships/image" Target="../media/image57.wmf"/><Relationship Id="rId20" Type="http://schemas.openxmlformats.org/officeDocument/2006/relationships/image" Target="../media/image59.wmf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54.wmf"/><Relationship Id="rId19" Type="http://schemas.openxmlformats.org/officeDocument/2006/relationships/oleObject" Target="../embeddings/oleObject52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6.wmf"/><Relationship Id="rId22" Type="http://schemas.openxmlformats.org/officeDocument/2006/relationships/image" Target="../media/image60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68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61.bin"/><Relationship Id="rId2" Type="http://schemas.openxmlformats.org/officeDocument/2006/relationships/slide" Target="slide5.xml"/><Relationship Id="rId16" Type="http://schemas.openxmlformats.org/officeDocument/2006/relationships/image" Target="../media/image67.wmf"/><Relationship Id="rId20" Type="http://schemas.openxmlformats.org/officeDocument/2006/relationships/image" Target="../media/image69.wmf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10" Type="http://schemas.openxmlformats.org/officeDocument/2006/relationships/image" Target="../media/image64.wmf"/><Relationship Id="rId19" Type="http://schemas.openxmlformats.org/officeDocument/2006/relationships/oleObject" Target="../embeddings/oleObject62.bin"/><Relationship Id="rId4" Type="http://schemas.openxmlformats.org/officeDocument/2006/relationships/image" Target="../media/image61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6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70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gi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72.wmf"/><Relationship Id="rId4" Type="http://schemas.openxmlformats.org/officeDocument/2006/relationships/oleObject" Target="../embeddings/oleObject6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616945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>
            <a:extLst>
              <a:ext uri="{FF2B5EF4-FFF2-40B4-BE49-F238E27FC236}">
                <a16:creationId xmlns:a16="http://schemas.microsoft.com/office/drawing/2014/main" id="{8B2132EF-33CE-4DEE-A132-AEEC1C91E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88640"/>
            <a:ext cx="604867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2600" b="1" kern="0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第四章  相似矩阵及二次型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B2AE1A-0D09-4279-B022-C228594AE590}"/>
              </a:ext>
            </a:extLst>
          </p:cNvPr>
          <p:cNvSpPr/>
          <p:nvPr/>
        </p:nvSpPr>
        <p:spPr>
          <a:xfrm>
            <a:off x="1907704" y="1700808"/>
            <a:ext cx="50321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  <a:defRPr/>
            </a:pPr>
            <a:r>
              <a:rPr lang="en-US" altLang="zh-CN" sz="36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§4    </a:t>
            </a:r>
            <a:r>
              <a:rPr lang="zh-CN" altLang="en-US" sz="36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对称矩阵的对角化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>
        <p:sndAc>
          <p:stSnd>
            <p:snd r:embed="rId2" name="chimes.wav"/>
          </p:stSnd>
        </p:sndAc>
      </p:transition>
    </mc:Choice>
    <mc:Fallback xmlns="">
      <p:transition spd="slow">
        <p:sndAc>
          <p:stSnd>
            <p:snd r:embed="rId7" name="chimes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9F32A796-2F41-C4B2-0685-926B979E7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124744"/>
            <a:ext cx="7200800" cy="2601097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      本节重点解决以下问题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: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实对称矩阵的有哪些性质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?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如何将一个实对称矩阵对角化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?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实对称矩阵对角化具体的步骤是什么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?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  <a:sym typeface="楷体_GB2312" pitchFamily="49" charset="-122"/>
            </a:endParaRPr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7FCAA34C-E20E-1F1A-A9FD-788338CAD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159805843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975" y="-35486"/>
            <a:ext cx="13049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Times New Roman" panose="02020603050405020304" pitchFamily="18" charset="0"/>
              </a:rPr>
              <a:t>引言</a:t>
            </a:r>
          </a:p>
        </p:txBody>
      </p:sp>
      <p:sp>
        <p:nvSpPr>
          <p:cNvPr id="21" name="Rectangle 31">
            <a:extLst>
              <a:ext uri="{FF2B5EF4-FFF2-40B4-BE49-F238E27FC236}">
                <a16:creationId xmlns:a16="http://schemas.microsoft.com/office/drawing/2014/main" id="{52CE1224-A811-4AC0-A0D0-F04DB820B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975" y="1124744"/>
            <a:ext cx="75612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上一节我们讨论了矩阵能对角化的充要条件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32">
            <a:extLst>
              <a:ext uri="{FF2B5EF4-FFF2-40B4-BE49-F238E27FC236}">
                <a16:creationId xmlns:a16="http://schemas.microsoft.com/office/drawing/2014/main" id="{8CCB4781-DE39-4FC6-B70C-249F985E8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832" y="1926154"/>
            <a:ext cx="1001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即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4" name="Rectangle 33">
            <a:extLst>
              <a:ext uri="{FF2B5EF4-FFF2-40B4-BE49-F238E27FC236}">
                <a16:creationId xmlns:a16="http://schemas.microsoft.com/office/drawing/2014/main" id="{14C13D69-5383-4DAD-AD7C-00E1D13DB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407" y="1940971"/>
            <a:ext cx="703303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Times New Roman" pitchFamily="18" charset="0"/>
              </a:rPr>
              <a:t>n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阶矩阵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Times New Roman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可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对角化的充要条件是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Times New Roman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有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Times New Roman" pitchFamily="18" charset="0"/>
              </a:rPr>
              <a:t>n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个</a:t>
            </a:r>
          </a:p>
        </p:txBody>
      </p:sp>
      <p:sp>
        <p:nvSpPr>
          <p:cNvPr id="25" name="Rectangle 34">
            <a:extLst>
              <a:ext uri="{FF2B5EF4-FFF2-40B4-BE49-F238E27FC236}">
                <a16:creationId xmlns:a16="http://schemas.microsoft.com/office/drawing/2014/main" id="{46849939-DB47-4976-89FA-F85BF73DA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832" y="2757198"/>
            <a:ext cx="42026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线性无关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的特征向量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2" name="Rectangle 34">
            <a:extLst>
              <a:ext uri="{FF2B5EF4-FFF2-40B4-BE49-F238E27FC236}">
                <a16:creationId xmlns:a16="http://schemas.microsoft.com/office/drawing/2014/main" id="{50D8E994-75F5-C298-180E-C78E817CA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3021" y="2757198"/>
            <a:ext cx="44742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且知并非所有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阶矩阵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665A34F6-192F-7095-3324-E8DC028D1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832" y="3577532"/>
            <a:ext cx="27550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都可以对角化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404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utoUpdateAnimBg="0"/>
      <p:bldP spid="22" grpId="0" build="p" autoUpdateAnimBg="0" advAuto="0"/>
      <p:bldP spid="24" grpId="0" build="p" autoUpdateAnimBg="0"/>
      <p:bldP spid="25" grpId="0" build="p" autoUpdateAnimBg="0" advAuto="0"/>
      <p:bldP spid="2" grpId="0" build="p" autoUpdateAnimBg="0" advAuto="0"/>
      <p:bldP spid="3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05FF9B8-D193-2810-1A96-C014FDBDBB49}"/>
              </a:ext>
            </a:extLst>
          </p:cNvPr>
          <p:cNvSpPr txBox="1"/>
          <p:nvPr/>
        </p:nvSpPr>
        <p:spPr>
          <a:xfrm>
            <a:off x="1331640" y="0"/>
            <a:ext cx="209493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问题的提出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06030418-0642-C128-15DC-DCAFB3A9B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1124744"/>
            <a:ext cx="6600318" cy="565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问题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什么样的矩阵一定可以对角化呢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2062">
            <a:extLst>
              <a:ext uri="{FF2B5EF4-FFF2-40B4-BE49-F238E27FC236}">
                <a16:creationId xmlns:a16="http://schemas.microsoft.com/office/drawing/2014/main" id="{F65BBF57-55FA-B687-6C3B-1B2FA68E9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821" y="2333750"/>
            <a:ext cx="65831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下面我们来讨论一种特殊但又非常重要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1" name="Rectangle 2062">
            <a:extLst>
              <a:ext uri="{FF2B5EF4-FFF2-40B4-BE49-F238E27FC236}">
                <a16:creationId xmlns:a16="http://schemas.microsoft.com/office/drawing/2014/main" id="{E2294B23-A59C-5DE0-B8BD-85A85BED6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580" y="3080596"/>
            <a:ext cx="586258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的情形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----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华文中宋" pitchFamily="2" charset="-122"/>
                <a:cs typeface="Times New Roman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为实对称矩阵的情形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498773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10" grpId="0" build="p" autoUpdateAnimBg="0" advAuto="0"/>
      <p:bldP spid="11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609" y="481157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59" y="-18020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实对称矩阵的性质</a:t>
            </a:r>
          </a:p>
        </p:txBody>
      </p:sp>
      <p:sp>
        <p:nvSpPr>
          <p:cNvPr id="50" name="Text Box 10">
            <a:extLst>
              <a:ext uri="{FF2B5EF4-FFF2-40B4-BE49-F238E27FC236}">
                <a16:creationId xmlns:a16="http://schemas.microsoft.com/office/drawing/2014/main" id="{6F7A0B84-B91C-4716-A4E2-69FB3475C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459" y="711662"/>
            <a:ext cx="7239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定理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4.7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实对称矩阵的特征值为实数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  <a:sym typeface="Symbol" pitchFamily="18" charset="2"/>
              </a:rPr>
              <a:t>.</a:t>
            </a:r>
          </a:p>
        </p:txBody>
      </p:sp>
      <p:sp>
        <p:nvSpPr>
          <p:cNvPr id="51" name="Rectangle 7">
            <a:extLst>
              <a:ext uri="{FF2B5EF4-FFF2-40B4-BE49-F238E27FC236}">
                <a16:creationId xmlns:a16="http://schemas.microsoft.com/office/drawing/2014/main" id="{BB5BB432-1D2D-4EFE-A478-19F19C71A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2284" y="1325990"/>
            <a:ext cx="12239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证明</a:t>
            </a:r>
          </a:p>
        </p:txBody>
      </p:sp>
      <p:sp>
        <p:nvSpPr>
          <p:cNvPr id="52" name="Text Box 5">
            <a:extLst>
              <a:ext uri="{FF2B5EF4-FFF2-40B4-BE49-F238E27FC236}">
                <a16:creationId xmlns:a16="http://schemas.microsoft.com/office/drawing/2014/main" id="{79489862-6F0A-4AF8-AA54-4315008A7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1561" y="1327463"/>
            <a:ext cx="60507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设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为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阶实对称矩阵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的特征值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3" name="Text Box 14">
            <a:extLst>
              <a:ext uri="{FF2B5EF4-FFF2-40B4-BE49-F238E27FC236}">
                <a16:creationId xmlns:a16="http://schemas.microsoft.com/office/drawing/2014/main" id="{6E947C9B-B26B-444E-854A-1B4C331F0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0635" y="3023915"/>
            <a:ext cx="286818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接着对其两</a:t>
            </a:r>
          </a:p>
        </p:txBody>
      </p:sp>
      <p:sp>
        <p:nvSpPr>
          <p:cNvPr id="55" name="Rectangle 18">
            <a:extLst>
              <a:ext uri="{FF2B5EF4-FFF2-40B4-BE49-F238E27FC236}">
                <a16:creationId xmlns:a16="http://schemas.microsoft.com/office/drawing/2014/main" id="{C0C57BFE-0B8D-4B9F-9D44-20F8DFFF1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632" y="1939637"/>
            <a:ext cx="44439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  0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为对应的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特征向量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6" name="Rectangle 18">
            <a:extLst>
              <a:ext uri="{FF2B5EF4-FFF2-40B4-BE49-F238E27FC236}">
                <a16:creationId xmlns:a16="http://schemas.microsoft.com/office/drawing/2014/main" id="{256A8ACD-C8B7-4BC2-B5C7-8F73B4A0E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1285" y="2442855"/>
            <a:ext cx="183879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p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 = 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p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 .</a:t>
            </a:r>
          </a:p>
        </p:txBody>
      </p:sp>
      <p:sp>
        <p:nvSpPr>
          <p:cNvPr id="65" name="Rectangle 18">
            <a:extLst>
              <a:ext uri="{FF2B5EF4-FFF2-40B4-BE49-F238E27FC236}">
                <a16:creationId xmlns:a16="http://schemas.microsoft.com/office/drawing/2014/main" id="{B1BDE9C7-C9EE-4CF7-9C8A-5CD915413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477" y="1945428"/>
            <a:ext cx="888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eaLnBrk="1" hangingPunct="1"/>
            <a:r>
              <a:rPr lang="zh-CN" altLang="en-US" kern="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即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67" name="Object 14">
            <a:extLst>
              <a:ext uri="{FF2B5EF4-FFF2-40B4-BE49-F238E27FC236}">
                <a16:creationId xmlns:a16="http://schemas.microsoft.com/office/drawing/2014/main" id="{D10062B2-82C2-4FA0-BB61-BDED7E6609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245054"/>
              </p:ext>
            </p:extLst>
          </p:nvPr>
        </p:nvGraphicFramePr>
        <p:xfrm>
          <a:off x="4242620" y="3066601"/>
          <a:ext cx="1511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11280" imgH="457200" progId="Equation.DSMT4">
                  <p:embed/>
                </p:oleObj>
              </mc:Choice>
              <mc:Fallback>
                <p:oleObj name="Equation" r:id="rId3" imgW="1511280" imgH="457200" progId="Equation.DSMT4">
                  <p:embed/>
                  <p:pic>
                    <p:nvPicPr>
                      <p:cNvPr id="67" name="Object 14">
                        <a:extLst>
                          <a:ext uri="{FF2B5EF4-FFF2-40B4-BE49-F238E27FC236}">
                            <a16:creationId xmlns:a16="http://schemas.microsoft.com/office/drawing/2014/main" id="{D10062B2-82C2-4FA0-BB61-BDED7E6609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620" y="3066601"/>
                        <a:ext cx="1511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6">
            <a:extLst>
              <a:ext uri="{FF2B5EF4-FFF2-40B4-BE49-F238E27FC236}">
                <a16:creationId xmlns:a16="http://schemas.microsoft.com/office/drawing/2014/main" id="{CCF0C2C8-EB32-EE31-343E-9DDA77DF8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632" y="3013911"/>
            <a:ext cx="29967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对其两边取共轭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16">
            <a:extLst>
              <a:ext uri="{FF2B5EF4-FFF2-40B4-BE49-F238E27FC236}">
                <a16:creationId xmlns:a16="http://schemas.microsoft.com/office/drawing/2014/main" id="{AA702DB4-F956-BAB1-9E70-3530A769C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062" y="3033918"/>
            <a:ext cx="8815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71A29106-F7BA-8CDC-3C54-5D9B512559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8036"/>
              </p:ext>
            </p:extLst>
          </p:nvPr>
        </p:nvGraphicFramePr>
        <p:xfrm>
          <a:off x="1541009" y="4240463"/>
          <a:ext cx="6057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57720" imgH="469800" progId="Equation.DSMT4">
                  <p:embed/>
                </p:oleObj>
              </mc:Choice>
              <mc:Fallback>
                <p:oleObj name="Equation" r:id="rId5" imgW="6057720" imgH="469800" progId="Equation.DSMT4">
                  <p:embed/>
                  <p:pic>
                    <p:nvPicPr>
                      <p:cNvPr id="63" name="Object 11">
                        <a:extLst>
                          <a:ext uri="{FF2B5EF4-FFF2-40B4-BE49-F238E27FC236}">
                            <a16:creationId xmlns:a16="http://schemas.microsoft.com/office/drawing/2014/main" id="{FFABF546-5CD3-453C-BAF7-121AF1FF93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009" y="4240463"/>
                        <a:ext cx="6057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4">
            <a:extLst>
              <a:ext uri="{FF2B5EF4-FFF2-40B4-BE49-F238E27FC236}">
                <a16:creationId xmlns:a16="http://schemas.microsoft.com/office/drawing/2014/main" id="{1E5B3830-9CD3-C3A7-CC2E-8FD6C898C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632" y="3634069"/>
            <a:ext cx="25465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边进行转置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DEF099AE-16DC-F842-2F96-0A7BF0188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7812" y="3634069"/>
            <a:ext cx="8815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2F163072-0888-D4E6-6C50-4850AA1C5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554" y="4840614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从而得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graphicFrame>
        <p:nvGraphicFramePr>
          <p:cNvPr id="23" name="Object 12">
            <a:extLst>
              <a:ext uri="{FF2B5EF4-FFF2-40B4-BE49-F238E27FC236}">
                <a16:creationId xmlns:a16="http://schemas.microsoft.com/office/drawing/2014/main" id="{F58EB641-182A-9E08-E86B-CA435A3E93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192426"/>
              </p:ext>
            </p:extLst>
          </p:nvPr>
        </p:nvGraphicFramePr>
        <p:xfrm>
          <a:off x="3379154" y="5060369"/>
          <a:ext cx="2247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47840" imgH="469800" progId="Equation.DSMT4">
                  <p:embed/>
                </p:oleObj>
              </mc:Choice>
              <mc:Fallback>
                <p:oleObj name="Equation" r:id="rId7" imgW="2247840" imgH="469800" progId="Equation.DSMT4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4E39359B-CEE2-D9B0-9DDD-EB4B4D4029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9154" y="5060369"/>
                        <a:ext cx="2247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9">
            <a:extLst>
              <a:ext uri="{FF2B5EF4-FFF2-40B4-BE49-F238E27FC236}">
                <a16:creationId xmlns:a16="http://schemas.microsoft.com/office/drawing/2014/main" id="{6C88A4B8-6417-FC05-967D-F177690171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702222"/>
              </p:ext>
            </p:extLst>
          </p:nvPr>
        </p:nvGraphicFramePr>
        <p:xfrm>
          <a:off x="3611206" y="5732416"/>
          <a:ext cx="1282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82680" imgH="469800" progId="Equation.DSMT4">
                  <p:embed/>
                </p:oleObj>
              </mc:Choice>
              <mc:Fallback>
                <p:oleObj name="Equation" r:id="rId9" imgW="1282680" imgH="469800" progId="Equation.DSMT4">
                  <p:embed/>
                  <p:pic>
                    <p:nvPicPr>
                      <p:cNvPr id="13" name="Object 19">
                        <a:extLst>
                          <a:ext uri="{FF2B5EF4-FFF2-40B4-BE49-F238E27FC236}">
                            <a16:creationId xmlns:a16="http://schemas.microsoft.com/office/drawing/2014/main" id="{7EA4BA3F-003D-F286-3022-11B63782A1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206" y="5732416"/>
                        <a:ext cx="1282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8">
            <a:extLst>
              <a:ext uri="{FF2B5EF4-FFF2-40B4-BE49-F238E27FC236}">
                <a16:creationId xmlns:a16="http://schemas.microsoft.com/office/drawing/2014/main" id="{6038DF98-41CE-903E-77AF-7547D1090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784" y="5679096"/>
            <a:ext cx="2247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由于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  0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3CD44ADB-28AB-DA5E-0389-792148A60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006" y="5675106"/>
            <a:ext cx="9786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所以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27056E6B-E0FF-7158-D496-CBEC0DA1D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4106" y="5669872"/>
            <a:ext cx="9786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故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28" name="Object 12">
            <a:extLst>
              <a:ext uri="{FF2B5EF4-FFF2-40B4-BE49-F238E27FC236}">
                <a16:creationId xmlns:a16="http://schemas.microsoft.com/office/drawing/2014/main" id="{6B7ED083-84CF-748C-5E05-88E9351FF8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980437"/>
              </p:ext>
            </p:extLst>
          </p:nvPr>
        </p:nvGraphicFramePr>
        <p:xfrm>
          <a:off x="5544134" y="5732416"/>
          <a:ext cx="927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27000" imgH="457200" progId="Equation.DSMT4">
                  <p:embed/>
                </p:oleObj>
              </mc:Choice>
              <mc:Fallback>
                <p:oleObj name="Equation" r:id="rId11" imgW="927000" imgH="457200" progId="Equation.DSMT4">
                  <p:embed/>
                  <p:pic>
                    <p:nvPicPr>
                      <p:cNvPr id="17" name="Object 12">
                        <a:extLst>
                          <a:ext uri="{FF2B5EF4-FFF2-40B4-BE49-F238E27FC236}">
                            <a16:creationId xmlns:a16="http://schemas.microsoft.com/office/drawing/2014/main" id="{E2578476-1E31-8A55-5B8F-52F7BB1E3D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4134" y="5732416"/>
                        <a:ext cx="927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5">
            <a:extLst>
              <a:ext uri="{FF2B5EF4-FFF2-40B4-BE49-F238E27FC236}">
                <a16:creationId xmlns:a16="http://schemas.microsoft.com/office/drawing/2014/main" id="{747CB560-73FE-A07A-F5AE-952F0E787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2155" y="5675106"/>
            <a:ext cx="2566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lvl="0" eaLnBrk="1" hangingPunct="1">
              <a:spcBef>
                <a:spcPct val="50000"/>
              </a:spcBef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即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为实数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.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8688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uild="p" autoUpdateAnimBg="0"/>
      <p:bldP spid="51" grpId="0"/>
      <p:bldP spid="52" grpId="0" build="p" autoUpdateAnimBg="0"/>
      <p:bldP spid="53" grpId="0" build="p" autoUpdateAnimBg="0"/>
      <p:bldP spid="55" grpId="0" build="p" autoUpdateAnimBg="0" advAuto="0"/>
      <p:bldP spid="56" grpId="0" build="p" autoUpdateAnimBg="0" advAuto="0"/>
      <p:bldP spid="65" grpId="0" build="p" autoUpdateAnimBg="0" advAuto="0"/>
      <p:bldP spid="2" grpId="0" build="p" autoUpdateAnimBg="0"/>
      <p:bldP spid="3" grpId="0" build="p" autoUpdateAnimBg="0"/>
      <p:bldP spid="20" grpId="0" build="p" autoUpdateAnimBg="0"/>
      <p:bldP spid="21" grpId="0" build="p" autoUpdateAnimBg="0"/>
      <p:bldP spid="22" grpId="0" build="p" autoUpdateAnimBg="0"/>
      <p:bldP spid="25" grpId="0" build="p" autoUpdateAnimBg="0" advAuto="0"/>
      <p:bldP spid="26" grpId="0" build="p" autoUpdateAnimBg="0" advAuto="0"/>
      <p:bldP spid="27" grpId="0" build="p" autoUpdateAnimBg="0" advAuto="0"/>
      <p:bldP spid="2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-8573"/>
            <a:ext cx="696540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不同特征值下对应的特征向量关系</a:t>
            </a:r>
          </a:p>
        </p:txBody>
      </p:sp>
      <p:sp>
        <p:nvSpPr>
          <p:cNvPr id="56" name="Rectangle 2063">
            <a:extLst>
              <a:ext uri="{FF2B5EF4-FFF2-40B4-BE49-F238E27FC236}">
                <a16:creationId xmlns:a16="http://schemas.microsoft.com/office/drawing/2014/main" id="{F37962D1-71C9-4FD3-985A-764C2CE32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71" y="620688"/>
            <a:ext cx="7993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</a:t>
            </a:r>
            <a:r>
              <a:rPr lang="en-US" altLang="zh-CN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4.8 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zh-CN" altLang="en-US" i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baseline="-25000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 , </a:t>
            </a:r>
            <a:r>
              <a:rPr lang="en-US" altLang="zh-CN" i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baseline="-25000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2 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是实对称矩阵 </a:t>
            </a:r>
            <a:r>
              <a:rPr lang="en-US" altLang="zh-CN" i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的两个特征值</a:t>
            </a:r>
            <a:r>
              <a:rPr lang="en-US" altLang="zh-CN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endParaRPr lang="zh-CN" altLang="en-US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7" name="Rectangle 2064">
            <a:extLst>
              <a:ext uri="{FF2B5EF4-FFF2-40B4-BE49-F238E27FC236}">
                <a16:creationId xmlns:a16="http://schemas.microsoft.com/office/drawing/2014/main" id="{F425EC60-664A-42C8-9FF6-857159846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830" y="1257277"/>
            <a:ext cx="47529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b="1" baseline="-25000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 , 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b="1" baseline="-25000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2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是对应的特征向量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,</a:t>
            </a:r>
          </a:p>
        </p:txBody>
      </p:sp>
      <p:sp>
        <p:nvSpPr>
          <p:cNvPr id="58" name="Rectangle 2065">
            <a:extLst>
              <a:ext uri="{FF2B5EF4-FFF2-40B4-BE49-F238E27FC236}">
                <a16:creationId xmlns:a16="http://schemas.microsoft.com/office/drawing/2014/main" id="{B6C7E219-558D-4907-9CA4-0BED4278E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2977" y="1279502"/>
            <a:ext cx="45354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若</a:t>
            </a:r>
            <a:r>
              <a:rPr lang="zh-CN" altLang="en-US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  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则</a:t>
            </a:r>
            <a:r>
              <a:rPr lang="zh-CN" altLang="en-US" b="1" dirty="0">
                <a:solidFill>
                  <a:srgbClr val="0000FF"/>
                </a:solidFill>
                <a:latin typeface="宋体"/>
                <a:ea typeface="宋体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b="1" baseline="-25000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,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b="1" baseline="-25000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2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正交</a:t>
            </a:r>
            <a:r>
              <a:rPr lang="en-US" altLang="zh-CN" b="1" dirty="0">
                <a:solidFill>
                  <a:srgbClr val="0000FF"/>
                </a:solidFill>
                <a:latin typeface="宋体"/>
                <a:ea typeface="黑体" pitchFamily="2" charset="-122"/>
                <a:sym typeface="Symbol" pitchFamily="18" charset="2"/>
              </a:rPr>
              <a:t>.</a:t>
            </a:r>
          </a:p>
        </p:txBody>
      </p:sp>
      <p:sp>
        <p:nvSpPr>
          <p:cNvPr id="59" name="Rectangle 5">
            <a:extLst>
              <a:ext uri="{FF2B5EF4-FFF2-40B4-BE49-F238E27FC236}">
                <a16:creationId xmlns:a16="http://schemas.microsoft.com/office/drawing/2014/main" id="{2CD0139C-0F5E-455F-86C0-1485B1ABB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71" y="1965777"/>
            <a:ext cx="12954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证明 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E4DFD49-4CC3-4F85-8139-09E9662F2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877" y="1972920"/>
            <a:ext cx="21097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由已知有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F352BCE-4B8C-468F-B5D7-A74D62C6EE02}"/>
              </a:ext>
            </a:extLst>
          </p:cNvPr>
          <p:cNvSpPr/>
          <p:nvPr/>
        </p:nvSpPr>
        <p:spPr>
          <a:xfrm>
            <a:off x="225178" y="2610937"/>
            <a:ext cx="3382962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又因为矩阵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A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对称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rgbClr val="000000"/>
              </a:solidFill>
              <a:ea typeface="宋体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8836261-48EB-486B-B615-A53507C97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202" y="3217997"/>
            <a:ext cx="1657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T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=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03C996A-0E07-4233-9DBA-FB3F2FA6D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830" y="3793623"/>
            <a:ext cx="1244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于是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7D5C75C-2C27-4CBE-B108-DC6B43FFA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628" y="4153192"/>
            <a:ext cx="20875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T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=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9DE590A-6422-44D3-9B63-1E4BF3D3B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07" y="4776173"/>
            <a:ext cx="14388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从而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C32BB0C-4A5A-434A-B04A-927E5AB1B444}"/>
              </a:ext>
            </a:extLst>
          </p:cNvPr>
          <p:cNvSpPr/>
          <p:nvPr/>
        </p:nvSpPr>
        <p:spPr>
          <a:xfrm>
            <a:off x="3840248" y="4776173"/>
            <a:ext cx="2376487" cy="52228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因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rgbClr val="000000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rgbClr val="000000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 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rgbClr val="000000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  <a:sym typeface="Symbol" pitchFamily="18" charset="2"/>
              </a:rPr>
              <a:t>, 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D938495-0CAF-4D11-A3A8-3FD8308E6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1595" y="2610868"/>
            <a:ext cx="143748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所以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906AE4A-9E71-4C00-B02E-A8AD71D59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114" y="3217997"/>
            <a:ext cx="1547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T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52646E4-C1FF-492E-9CD1-18BBEDDC0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5589" y="3217997"/>
            <a:ext cx="1728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 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Ap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T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0A83CFE3-1E3E-4372-A8B4-C4E22B1D7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3864" y="3217997"/>
            <a:ext cx="1728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T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T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5A7A32B-1CB1-4DCC-BB1A-345E5EB02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314" y="3217997"/>
            <a:ext cx="1871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T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,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D1F3495-E9F8-43A7-99AD-FD1542DC4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78" y="4153192"/>
            <a:ext cx="18002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T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Ap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DDA5BD7-BA54-43EA-ABDA-C3DAF8E0D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353" y="4153192"/>
            <a:ext cx="2520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T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)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4A49472-A53F-4803-B5F9-C34A28FC5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603" y="4153192"/>
            <a:ext cx="23764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T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,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6A50250-39CC-4375-AE59-719C46715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2617" y="4762563"/>
            <a:ext cx="9001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故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5BAF04C-CA1F-43BF-947E-E2F72D659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51" y="5400086"/>
            <a:ext cx="33115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即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与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正交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.     </a:t>
            </a:r>
          </a:p>
        </p:txBody>
      </p:sp>
      <p:graphicFrame>
        <p:nvGraphicFramePr>
          <p:cNvPr id="78" name="Object 2">
            <a:extLst>
              <a:ext uri="{FF2B5EF4-FFF2-40B4-BE49-F238E27FC236}">
                <a16:creationId xmlns:a16="http://schemas.microsoft.com/office/drawing/2014/main" id="{B28E855D-D6DF-4109-9126-6FCD1432E9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507752"/>
              </p:ext>
            </p:extLst>
          </p:nvPr>
        </p:nvGraphicFramePr>
        <p:xfrm>
          <a:off x="3359817" y="2056264"/>
          <a:ext cx="171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4320" imgH="431640" progId="Equation.DSMT4">
                  <p:embed/>
                </p:oleObj>
              </mc:Choice>
              <mc:Fallback>
                <p:oleObj name="Equation" r:id="rId3" imgW="1714320" imgH="431640" progId="Equation.DSMT4">
                  <p:embed/>
                  <p:pic>
                    <p:nvPicPr>
                      <p:cNvPr id="24" name="Object 2">
                        <a:extLst>
                          <a:ext uri="{FF2B5EF4-FFF2-40B4-BE49-F238E27FC236}">
                            <a16:creationId xmlns:a16="http://schemas.microsoft.com/office/drawing/2014/main" id="{329525E9-F9A6-427F-B6A8-F2B88CBB5B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817" y="2056264"/>
                        <a:ext cx="1714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3">
            <a:extLst>
              <a:ext uri="{FF2B5EF4-FFF2-40B4-BE49-F238E27FC236}">
                <a16:creationId xmlns:a16="http://schemas.microsoft.com/office/drawing/2014/main" id="{A600AF9A-1195-4C6C-9D5E-2434471E16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6244356"/>
              </p:ext>
            </p:extLst>
          </p:nvPr>
        </p:nvGraphicFramePr>
        <p:xfrm>
          <a:off x="5123409" y="2073252"/>
          <a:ext cx="1790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640" imgH="431640" progId="Equation.DSMT4">
                  <p:embed/>
                </p:oleObj>
              </mc:Choice>
              <mc:Fallback>
                <p:oleObj name="Equation" r:id="rId5" imgW="1790640" imgH="431640" progId="Equation.DSMT4">
                  <p:embed/>
                  <p:pic>
                    <p:nvPicPr>
                      <p:cNvPr id="25" name="Object 3">
                        <a:extLst>
                          <a:ext uri="{FF2B5EF4-FFF2-40B4-BE49-F238E27FC236}">
                            <a16:creationId xmlns:a16="http://schemas.microsoft.com/office/drawing/2014/main" id="{0390E230-A199-4B3B-B208-3788E3E3CD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3409" y="2073252"/>
                        <a:ext cx="1790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4">
            <a:extLst>
              <a:ext uri="{FF2B5EF4-FFF2-40B4-BE49-F238E27FC236}">
                <a16:creationId xmlns:a16="http://schemas.microsoft.com/office/drawing/2014/main" id="{59755CDA-30DD-423C-A8C1-860E21A8C9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604347"/>
              </p:ext>
            </p:extLst>
          </p:nvPr>
        </p:nvGraphicFramePr>
        <p:xfrm>
          <a:off x="6983729" y="2085792"/>
          <a:ext cx="1320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20480" imgH="431640" progId="Equation.DSMT4">
                  <p:embed/>
                </p:oleObj>
              </mc:Choice>
              <mc:Fallback>
                <p:oleObj name="Equation" r:id="rId7" imgW="1320480" imgH="431640" progId="Equation.DSMT4">
                  <p:embed/>
                  <p:pic>
                    <p:nvPicPr>
                      <p:cNvPr id="26" name="Object 4">
                        <a:extLst>
                          <a:ext uri="{FF2B5EF4-FFF2-40B4-BE49-F238E27FC236}">
                            <a16:creationId xmlns:a16="http://schemas.microsoft.com/office/drawing/2014/main" id="{73825E90-8EF3-41A7-BC42-D10F5FDE93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729" y="2085792"/>
                        <a:ext cx="1320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5">
            <a:extLst>
              <a:ext uri="{FF2B5EF4-FFF2-40B4-BE49-F238E27FC236}">
                <a16:creationId xmlns:a16="http://schemas.microsoft.com/office/drawing/2014/main" id="{9486D6EA-CB52-4896-8259-5158D7E350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81065"/>
              </p:ext>
            </p:extLst>
          </p:nvPr>
        </p:nvGraphicFramePr>
        <p:xfrm>
          <a:off x="1105446" y="4758573"/>
          <a:ext cx="2705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05040" imgH="507960" progId="Equation.DSMT4">
                  <p:embed/>
                </p:oleObj>
              </mc:Choice>
              <mc:Fallback>
                <p:oleObj name="Equation" r:id="rId9" imgW="2705040" imgH="507960" progId="Equation.DSMT4">
                  <p:embed/>
                  <p:pic>
                    <p:nvPicPr>
                      <p:cNvPr id="27" name="Object 5">
                        <a:extLst>
                          <a:ext uri="{FF2B5EF4-FFF2-40B4-BE49-F238E27FC236}">
                            <a16:creationId xmlns:a16="http://schemas.microsoft.com/office/drawing/2014/main" id="{7CAD7A97-7EBB-4EAA-BDF4-A11BA34CAA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446" y="4758573"/>
                        <a:ext cx="2705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7">
            <a:extLst>
              <a:ext uri="{FF2B5EF4-FFF2-40B4-BE49-F238E27FC236}">
                <a16:creationId xmlns:a16="http://schemas.microsoft.com/office/drawing/2014/main" id="{268DDA4A-CA40-432B-ADF5-BEBA61AF95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35743"/>
              </p:ext>
            </p:extLst>
          </p:nvPr>
        </p:nvGraphicFramePr>
        <p:xfrm>
          <a:off x="6143954" y="4762563"/>
          <a:ext cx="1447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47560" imgH="507960" progId="Equation.DSMT4">
                  <p:embed/>
                </p:oleObj>
              </mc:Choice>
              <mc:Fallback>
                <p:oleObj name="Equation" r:id="rId11" imgW="1447560" imgH="507960" progId="Equation.DSMT4">
                  <p:embed/>
                  <p:pic>
                    <p:nvPicPr>
                      <p:cNvPr id="29" name="Object 7">
                        <a:extLst>
                          <a:ext uri="{FF2B5EF4-FFF2-40B4-BE49-F238E27FC236}">
                            <a16:creationId xmlns:a16="http://schemas.microsoft.com/office/drawing/2014/main" id="{D5A98122-7060-42C0-B3C7-18987D1543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954" y="4762563"/>
                        <a:ext cx="1447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74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 autoUpdateAnimBg="0"/>
      <p:bldP spid="57" grpId="0" build="p" autoUpdateAnimBg="0" advAuto="0"/>
      <p:bldP spid="58" grpId="0" build="p" autoUpdateAnimBg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277" y="-8160"/>
            <a:ext cx="630773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实对称矩阵的相似矩阵结构</a:t>
            </a:r>
          </a:p>
        </p:txBody>
      </p:sp>
      <p:sp>
        <p:nvSpPr>
          <p:cNvPr id="21" name="Rectangle 2076">
            <a:extLst>
              <a:ext uri="{FF2B5EF4-FFF2-40B4-BE49-F238E27FC236}">
                <a16:creationId xmlns:a16="http://schemas.microsoft.com/office/drawing/2014/main" id="{2B751203-7C65-49BB-9968-DADDF9FE6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764704"/>
            <a:ext cx="8604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4.9</a:t>
            </a:r>
            <a:r>
              <a:rPr lang="en-US" altLang="zh-CN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阶实对称矩阵</a:t>
            </a:r>
            <a:r>
              <a:rPr lang="en-US" altLang="zh-CN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存在</a:t>
            </a:r>
            <a:r>
              <a:rPr lang="zh-CN" altLang="en-US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正交矩阵</a:t>
            </a:r>
            <a:r>
              <a:rPr lang="en-US" altLang="zh-CN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">
            <a:extLst>
              <a:ext uri="{FF2B5EF4-FFF2-40B4-BE49-F238E27FC236}">
                <a16:creationId xmlns:a16="http://schemas.microsoft.com/office/drawing/2014/main" id="{EB6B025A-7B11-47BE-AF0D-A4683FA032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558076"/>
              </p:ext>
            </p:extLst>
          </p:nvPr>
        </p:nvGraphicFramePr>
        <p:xfrm>
          <a:off x="2797175" y="1480667"/>
          <a:ext cx="3009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09600" imgH="406080" progId="Equation.DSMT4">
                  <p:embed/>
                </p:oleObj>
              </mc:Choice>
              <mc:Fallback>
                <p:oleObj name="Equation" r:id="rId3" imgW="3009600" imgH="406080" progId="Equation.DSMT4">
                  <p:embed/>
                  <p:pic>
                    <p:nvPicPr>
                      <p:cNvPr id="5122" name="Object 2">
                        <a:extLst>
                          <a:ext uri="{FF2B5EF4-FFF2-40B4-BE49-F238E27FC236}">
                            <a16:creationId xmlns:a16="http://schemas.microsoft.com/office/drawing/2014/main" id="{2ED45062-9F45-4937-ACC0-CF5C8CE7C3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1480667"/>
                        <a:ext cx="3009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1">
            <a:extLst>
              <a:ext uri="{FF2B5EF4-FFF2-40B4-BE49-F238E27FC236}">
                <a16:creationId xmlns:a16="http://schemas.microsoft.com/office/drawing/2014/main" id="{D2825295-F661-4AA2-9742-699A9CA87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" y="2204567"/>
            <a:ext cx="8640763" cy="52228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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是以</a:t>
            </a: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个特征值为对角元素的对角矩阵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C0FD73-045B-D3C8-9C01-15CBD9BB1E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79" y="2956362"/>
            <a:ext cx="1006558" cy="426229"/>
          </a:xfrm>
          <a:prstGeom prst="rect">
            <a:avLst/>
          </a:prstGeom>
        </p:spPr>
      </p:pic>
      <p:sp>
        <p:nvSpPr>
          <p:cNvPr id="20" name="Text Box 2071">
            <a:extLst>
              <a:ext uri="{FF2B5EF4-FFF2-40B4-BE49-F238E27FC236}">
                <a16:creationId xmlns:a16="http://schemas.microsoft.com/office/drawing/2014/main" id="{6ED29BE5-759C-4F1B-8E09-474246648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74" y="2952853"/>
            <a:ext cx="20162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证明略</a:t>
            </a:r>
            <a:endParaRPr lang="en-US" altLang="zh-CN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49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2" y="-15920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矩阵 </a:t>
            </a:r>
            <a:r>
              <a: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/>
                <a:cs typeface="Times New Roman" pitchFamily="18" charset="0"/>
                <a:sym typeface="Symbol" pitchFamily="18" charset="2"/>
              </a:rPr>
              <a:t> - </a:t>
            </a:r>
            <a:r>
              <a: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/>
                <a:cs typeface="Times New Roman" pitchFamily="18" charset="0"/>
                <a:sym typeface="Symbol" pitchFamily="18" charset="2"/>
              </a:rPr>
              <a:t> I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600" b="1" dirty="0">
                <a:solidFill>
                  <a:schemeClr val="bg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的秩</a:t>
            </a:r>
            <a:endParaRPr lang="zh-CN" altLang="en-US" sz="2600" b="1" dirty="0">
              <a:solidFill>
                <a:schemeClr val="bg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41">
            <a:extLst>
              <a:ext uri="{FF2B5EF4-FFF2-40B4-BE49-F238E27FC236}">
                <a16:creationId xmlns:a16="http://schemas.microsoft.com/office/drawing/2014/main" id="{E94020B4-0926-4366-9A80-77DD88109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01" y="2477263"/>
            <a:ext cx="84072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从而对应的特征值</a:t>
            </a:r>
            <a:r>
              <a:rPr lang="zh-CN" altLang="en-US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 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恰有 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k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个线性无关的特征向量</a:t>
            </a:r>
            <a:r>
              <a:rPr lang="en-US" altLang="zh-CN" b="1" dirty="0">
                <a:solidFill>
                  <a:srgbClr val="0000FF"/>
                </a:solidFill>
                <a:latin typeface="宋体"/>
                <a:ea typeface="黑体" pitchFamily="2" charset="-122"/>
                <a:sym typeface="Symbol" pitchFamily="18" charset="2"/>
              </a:rPr>
              <a:t>.</a:t>
            </a:r>
          </a:p>
        </p:txBody>
      </p:sp>
      <p:sp>
        <p:nvSpPr>
          <p:cNvPr id="18" name="Rectangle 42">
            <a:extLst>
              <a:ext uri="{FF2B5EF4-FFF2-40B4-BE49-F238E27FC236}">
                <a16:creationId xmlns:a16="http://schemas.microsoft.com/office/drawing/2014/main" id="{E2BD2D68-EBA4-4765-B6A6-18C9D081E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489" y="620688"/>
            <a:ext cx="8243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推论 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en-US" altLang="zh-CN" i="1" dirty="0">
                <a:solidFill>
                  <a:srgbClr val="0000FF"/>
                </a:solidFill>
                <a:ea typeface="华文中宋" panose="02010600040101010101" pitchFamily="2" charset="-122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en-US" altLang="zh-CN" i="1" dirty="0">
                <a:solidFill>
                  <a:srgbClr val="0000FF"/>
                </a:solidFill>
                <a:ea typeface="华文中宋" panose="02010600040101010101" pitchFamily="2" charset="-122"/>
              </a:rPr>
              <a:t>n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阶实对称矩阵</a:t>
            </a:r>
            <a:r>
              <a:rPr lang="en-US" altLang="zh-CN" dirty="0">
                <a:solidFill>
                  <a:srgbClr val="0000FF"/>
                </a:solidFill>
                <a:ea typeface="华文中宋" panose="02010600040101010101" pitchFamily="2" charset="-122"/>
              </a:rPr>
              <a:t>, </a:t>
            </a:r>
            <a:r>
              <a:rPr lang="en-US" altLang="zh-CN" i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i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的特征方程的</a:t>
            </a:r>
          </a:p>
        </p:txBody>
      </p:sp>
      <p:sp>
        <p:nvSpPr>
          <p:cNvPr id="19" name="Rectangle 43">
            <a:extLst>
              <a:ext uri="{FF2B5EF4-FFF2-40B4-BE49-F238E27FC236}">
                <a16:creationId xmlns:a16="http://schemas.microsoft.com/office/drawing/2014/main" id="{D3DBD9DE-E799-4D5E-B91F-2A461F919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01" y="1233676"/>
            <a:ext cx="6324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k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重根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宋体"/>
                <a:ea typeface="宋体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则矩阵 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 - 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 I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的秩</a:t>
            </a:r>
            <a:r>
              <a:rPr lang="zh-CN" altLang="en-US" b="1" dirty="0">
                <a:solidFill>
                  <a:srgbClr val="0000FF"/>
                </a:solidFill>
                <a:latin typeface="宋体"/>
                <a:ea typeface="宋体"/>
                <a:sym typeface="Symbol" pitchFamily="18" charset="2"/>
              </a:rPr>
              <a:t> </a:t>
            </a:r>
          </a:p>
        </p:txBody>
      </p:sp>
      <p:sp>
        <p:nvSpPr>
          <p:cNvPr id="20" name="Rectangle 44">
            <a:extLst>
              <a:ext uri="{FF2B5EF4-FFF2-40B4-BE49-F238E27FC236}">
                <a16:creationId xmlns:a16="http://schemas.microsoft.com/office/drawing/2014/main" id="{30E10822-52A1-4672-8422-03977A62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097" y="1869552"/>
            <a:ext cx="39989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( 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 - 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 I 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) = 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n 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 k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 ,</a:t>
            </a: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478B8611-E3D9-41E3-AD49-23ED6D224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825" y="3139752"/>
            <a:ext cx="1295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证明</a:t>
            </a:r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86D7C0EA-4F1C-497D-852A-71F210D52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3762" y="3139752"/>
            <a:ext cx="3097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由定理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4.9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</a:rPr>
              <a:t>:</a:t>
            </a:r>
            <a:endParaRPr lang="zh-CN" altLang="en-US" dirty="0">
              <a:solidFill>
                <a:srgbClr val="000000"/>
              </a:solidFill>
              <a:ea typeface="华文中宋" panose="02010600040101010101" pitchFamily="2" charset="-122"/>
            </a:endParaRPr>
          </a:p>
        </p:txBody>
      </p:sp>
      <p:sp>
        <p:nvSpPr>
          <p:cNvPr id="24" name="Text Box 8">
            <a:extLst>
              <a:ext uri="{FF2B5EF4-FFF2-40B4-BE49-F238E27FC236}">
                <a16:creationId xmlns:a16="http://schemas.microsoft.com/office/drawing/2014/main" id="{2F914DC2-BFF4-40E7-B3AA-F5E000F0D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3860477"/>
            <a:ext cx="85693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实对称矩阵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与对角矩阵</a:t>
            </a:r>
            <a:r>
              <a:rPr kumimoji="1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=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diag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,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···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相似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CB96E4EC-DC1D-4C97-A9C4-954ACF105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4579615"/>
            <a:ext cx="8569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从而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-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 I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kumimoji="1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-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 I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=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diag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-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,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···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n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-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相似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6" name="Text Box 12">
            <a:extLst>
              <a:ext uri="{FF2B5EF4-FFF2-40B4-BE49-F238E27FC236}">
                <a16:creationId xmlns:a16="http://schemas.microsoft.com/office/drawing/2014/main" id="{14AC5588-D62D-4AD0-8450-9FDCADC04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5300340"/>
            <a:ext cx="489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当</a:t>
            </a:r>
            <a:r>
              <a:rPr kumimoji="1" lang="zh-CN" altLang="en-US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是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重特征值时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kumimoji="1" lang="zh-CN" altLang="en-US" sz="2800" b="1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7" name="Text Box 13">
            <a:extLst>
              <a:ext uri="{FF2B5EF4-FFF2-40B4-BE49-F238E27FC236}">
                <a16:creationId xmlns:a16="http://schemas.microsoft.com/office/drawing/2014/main" id="{4A96D659-F690-45EC-A68E-803B73570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2903" y="5300340"/>
            <a:ext cx="4679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,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···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,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这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n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个特征值</a:t>
            </a:r>
          </a:p>
        </p:txBody>
      </p:sp>
    </p:spTree>
    <p:extLst>
      <p:ext uri="{BB962C8B-B14F-4D97-AF65-F5344CB8AC3E}">
        <p14:creationId xmlns:p14="http://schemas.microsoft.com/office/powerpoint/2010/main" val="150641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build="p" autoUpdateAnimBg="0"/>
      <p:bldP spid="24" grpId="0" build="p" autoUpdateAnimBg="0" advAuto="0"/>
      <p:bldP spid="25" grpId="0" build="p" autoUpdateAnimBg="0" advAuto="0"/>
      <p:bldP spid="26" grpId="0" build="p" autoUpdateAnimBg="0"/>
      <p:bldP spid="27" grpId="0" build="p" autoUpdateAnimBg="0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876" y="455198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2" y="-11484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矩阵 </a:t>
            </a:r>
            <a:r>
              <a: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/>
                <a:cs typeface="Times New Roman" pitchFamily="18" charset="0"/>
                <a:sym typeface="Symbol" pitchFamily="18" charset="2"/>
              </a:rPr>
              <a:t> - </a:t>
            </a:r>
            <a:r>
              <a:rPr lang="en-US" altLang="zh-CN" sz="2600" b="1" i="1" dirty="0">
                <a:solidFill>
                  <a:schemeClr val="bg1"/>
                </a:solidFill>
                <a:latin typeface="Times New Roman" panose="02020603050405020304" pitchFamily="18" charset="0"/>
                <a:ea typeface="宋体"/>
                <a:cs typeface="Times New Roman" pitchFamily="18" charset="0"/>
                <a:sym typeface="Symbol" pitchFamily="18" charset="2"/>
              </a:rPr>
              <a:t> I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宋体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600" b="1" dirty="0">
                <a:solidFill>
                  <a:schemeClr val="bg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的秩</a:t>
            </a:r>
            <a:endParaRPr lang="zh-CN" altLang="en-US" sz="2600" b="1" dirty="0">
              <a:solidFill>
                <a:schemeClr val="bg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5BB5D40D-4327-48EC-B4E8-75B6F2567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26" y="765840"/>
            <a:ext cx="3168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中有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k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个等于</a:t>
            </a:r>
            <a:r>
              <a:rPr kumimoji="1" lang="zh-CN" altLang="en-US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31F89465-1B82-4423-851D-00B0FF792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61" y="1464862"/>
            <a:ext cx="5761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i="1" dirty="0">
                <a:solidFill>
                  <a:srgbClr val="000000"/>
                </a:solidFill>
                <a:latin typeface="Times New Roman"/>
                <a:ea typeface="华文中宋" pitchFamily="2" charset="-122"/>
                <a:cs typeface="Times New Roman" pitchFamily="18" charset="0"/>
                <a:sym typeface="Symbol" pitchFamily="18" charset="2"/>
              </a:rPr>
              <a:t></a:t>
            </a:r>
            <a:r>
              <a:rPr lang="zh-CN" altLang="en-US" b="1" dirty="0">
                <a:solidFill>
                  <a:srgbClr val="000000"/>
                </a:solidFill>
                <a:latin typeface="Times New Roman"/>
                <a:ea typeface="华文中宋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/>
                <a:ea typeface="华文中宋" pitchFamily="2" charset="-122"/>
                <a:cs typeface="Times New Roman" pitchFamily="18" charset="0"/>
                <a:sym typeface="Symbol" pitchFamily="18" charset="2"/>
              </a:rPr>
              <a:t>- </a:t>
            </a:r>
            <a:r>
              <a:rPr lang="en-US" altLang="zh-CN" b="1" i="1" kern="0" dirty="0">
                <a:solidFill>
                  <a:srgbClr val="00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 I</a:t>
            </a:r>
            <a:r>
              <a:rPr lang="en-US" altLang="zh-CN" b="1" i="1" dirty="0">
                <a:solidFill>
                  <a:srgbClr val="000000"/>
                </a:solidFill>
                <a:latin typeface="Times New Roman"/>
                <a:ea typeface="华文中宋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的对角元恰有 </a:t>
            </a:r>
            <a:r>
              <a:rPr lang="en-US" altLang="zh-CN" b="1" i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k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个等于</a:t>
            </a:r>
            <a:r>
              <a:rPr lang="en-US" altLang="zh-CN" b="1" dirty="0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0,</a:t>
            </a:r>
            <a:endParaRPr lang="zh-CN" altLang="en-US" b="1" dirty="0">
              <a:solidFill>
                <a:srgbClr val="00000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93147DC8-BC0C-47A4-B9A4-10C6D38B5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904" y="780783"/>
            <a:ext cx="333186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–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个不等于</a:t>
            </a:r>
            <a:r>
              <a:rPr kumimoji="1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746B4B48-CAF9-4645-AF24-804DB4FBF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3578" y="1443737"/>
            <a:ext cx="135818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对角阵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69B09DBD-B989-4719-AB12-1CF833532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26" y="2177826"/>
            <a:ext cx="7207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057B1B36-E874-4244-8E89-82B757804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950" y="3012063"/>
            <a:ext cx="1223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而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49352CB7-DC2E-469F-A421-2FC9E31F1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421" y="4185616"/>
            <a:ext cx="1223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Text Box 18">
            <a:extLst>
              <a:ext uri="{FF2B5EF4-FFF2-40B4-BE49-F238E27FC236}">
                <a16:creationId xmlns:a16="http://schemas.microsoft.com/office/drawing/2014/main" id="{947FF49D-9DD6-B7C5-61FF-9C1BCF55F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421" y="4769801"/>
            <a:ext cx="3243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-</a:t>
            </a:r>
            <a:r>
              <a:rPr lang="en-US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 I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) =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–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k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F380C6CE-1550-1499-4C40-32A542CA7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759" y="3496361"/>
            <a:ext cx="370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-</a:t>
            </a:r>
            <a:r>
              <a:rPr lang="en-US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  I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) =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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-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 I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) , </a:t>
            </a: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D0B1903D-EC03-CD3F-6A09-4B05ACDAD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4210" y="2586239"/>
            <a:ext cx="309598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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- </a:t>
            </a:r>
            <a:r>
              <a:rPr lang="en-US" altLang="zh-CN" i="1" kern="0" dirty="0">
                <a:solidFill>
                  <a:srgbClr val="000000"/>
                </a:solidFill>
                <a:sym typeface="Symbol" panose="05050102010706020507" pitchFamily="18" charset="2"/>
              </a:rPr>
              <a:t> I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)=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–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007D4A-FA53-D3B4-A640-0B13CC7C5DC1}"/>
              </a:ext>
            </a:extLst>
          </p:cNvPr>
          <p:cNvSpPr txBox="1"/>
          <p:nvPr/>
        </p:nvSpPr>
        <p:spPr>
          <a:xfrm>
            <a:off x="6689177" y="754194"/>
            <a:ext cx="14219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从而</a:t>
            </a:r>
          </a:p>
        </p:txBody>
      </p:sp>
    </p:spTree>
    <p:extLst>
      <p:ext uri="{BB962C8B-B14F-4D97-AF65-F5344CB8AC3E}">
        <p14:creationId xmlns:p14="http://schemas.microsoft.com/office/powerpoint/2010/main" val="190682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utoUpdateAnimBg="0" advAuto="0"/>
      <p:bldP spid="16" grpId="0" build="p" autoUpdateAnimBg="0" advAuto="0"/>
      <p:bldP spid="17" grpId="0" build="p" autoUpdateAnimBg="0" advAuto="0"/>
      <p:bldP spid="18" grpId="0" build="p" autoUpdateAnimBg="0" advAuto="0"/>
      <p:bldP spid="19" grpId="0" build="p" autoUpdateAnimBg="0" advAuto="0"/>
      <p:bldP spid="20" grpId="0" build="p" autoUpdateAnimBg="0"/>
      <p:bldP spid="21" grpId="0" build="p" autoUpdateAnimBg="0" advAuto="0"/>
      <p:bldP spid="2" grpId="0" build="p" autoUpdateAnimBg="0" advAuto="0"/>
      <p:bldP spid="3" grpId="0" build="p" autoUpdateAnimBg="0"/>
      <p:bldP spid="4" grpId="0" build="p" autoUpdateAnimBg="0" advAuto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04" y="-16146"/>
            <a:ext cx="72091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lang="en-US" altLang="zh-CN" sz="2600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阶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实对称矩阵对角化的步骤</a:t>
            </a: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356F7FE0-0C85-45A1-9D9E-70C9A370E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3786" y="2131913"/>
            <a:ext cx="396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 +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 + ···+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 n</a:t>
            </a:r>
            <a:r>
              <a:rPr lang="en-US" altLang="zh-CN" b="1" i="1" baseline="-25000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s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 =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 n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.       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567C6B5C-189E-48CF-8F00-6851D4D22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823" y="692051"/>
            <a:ext cx="63373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Step1 </a:t>
            </a:r>
            <a:r>
              <a:rPr lang="zh-CN" altLang="en-US" b="1" dirty="0">
                <a:solidFill>
                  <a:srgbClr val="C00000"/>
                </a:solidFill>
                <a:ea typeface="宋体"/>
                <a:cs typeface="Times New Roman" pitchFamily="18" charset="0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求出矩阵 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A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的所有特征值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</a:rPr>
              <a:t>,</a:t>
            </a:r>
            <a:endParaRPr lang="en-US" altLang="zh-CN" b="1" i="1" dirty="0">
              <a:solidFill>
                <a:srgbClr val="0000FF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86E2C141-F6F4-43F7-8586-8B69EDD66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561" y="1412776"/>
            <a:ext cx="51133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不同的特征值 </a:t>
            </a:r>
            <a:r>
              <a:rPr lang="zh-CN" altLang="en-US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,</a:t>
            </a:r>
            <a:r>
              <a:rPr lang="zh-CN" altLang="en-US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, ···,</a:t>
            </a:r>
            <a:r>
              <a:rPr lang="zh-CN" altLang="en-US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b="1" i="1" baseline="-25000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s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 ,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  <a:sym typeface="Symbol" pitchFamily="18" charset="2"/>
            </a:endParaRPr>
          </a:p>
        </p:txBody>
      </p:sp>
      <p:sp>
        <p:nvSpPr>
          <p:cNvPr id="27" name="Rectangle 8">
            <a:extLst>
              <a:ext uri="{FF2B5EF4-FFF2-40B4-BE49-F238E27FC236}">
                <a16:creationId xmlns:a16="http://schemas.microsoft.com/office/drawing/2014/main" id="{E345A9B4-C97F-429C-A356-2F2AE2CD5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561" y="2131913"/>
            <a:ext cx="2447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···, 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n</a:t>
            </a:r>
            <a:r>
              <a:rPr lang="en-US" altLang="zh-CN" b="1" i="1" baseline="-25000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s</a:t>
            </a:r>
            <a:r>
              <a:rPr lang="en-US" altLang="zh-CN" b="1" baseline="30000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 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9B539B44-08DF-470C-97FB-BD3DDAD7E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6398" y="692051"/>
            <a:ext cx="23415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设</a:t>
            </a: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A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有 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s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个</a:t>
            </a:r>
            <a:endParaRPr lang="en-US" altLang="zh-CN" b="1" i="1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09C751C6-0684-42B0-8A77-CD3F83B72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1711" y="1412776"/>
            <a:ext cx="4500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它们的重数分别为 </a:t>
            </a:r>
            <a:r>
              <a:rPr lang="en-US" altLang="zh-CN" i="1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aseline="-25000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aseline="-25000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E3B67FCE-D01D-4B2E-8115-ACA0A698B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0548" y="2131913"/>
            <a:ext cx="86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则</a:t>
            </a: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14CECD67-4D3D-4509-AC80-414C51992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823" y="2852638"/>
            <a:ext cx="52562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  <a:sym typeface="Symbol" pitchFamily="18" charset="2"/>
              </a:rPr>
              <a:t>Step2  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对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A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的每个特征值 </a:t>
            </a:r>
            <a:r>
              <a:rPr lang="zh-CN" altLang="en-US" b="1" i="1" dirty="0">
                <a:solidFill>
                  <a:srgbClr val="0000FF"/>
                </a:solidFill>
                <a:latin typeface="宋体"/>
                <a:ea typeface="宋体"/>
                <a:sym typeface="Symbol" pitchFamily="18" charset="2"/>
              </a:rPr>
              <a:t></a:t>
            </a:r>
            <a:r>
              <a:rPr lang="en-US" altLang="zh-CN" b="1" i="1" baseline="-25000" dirty="0" err="1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,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093E4256-B47C-49BB-8D6B-B0D7C3C23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86" y="3573363"/>
            <a:ext cx="2447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基础解系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, </a:t>
            </a:r>
            <a:endParaRPr lang="zh-CN" altLang="en-US" b="1" dirty="0">
              <a:solidFill>
                <a:srgbClr val="0000FF"/>
              </a:solidFill>
              <a:ea typeface="宋体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21B2AC79-B434-4EA1-9900-14693976C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6811" y="3573363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设为</a:t>
            </a:r>
          </a:p>
        </p:txBody>
      </p:sp>
      <p:graphicFrame>
        <p:nvGraphicFramePr>
          <p:cNvPr id="34" name="Object 6">
            <a:extLst>
              <a:ext uri="{FF2B5EF4-FFF2-40B4-BE49-F238E27FC236}">
                <a16:creationId xmlns:a16="http://schemas.microsoft.com/office/drawing/2014/main" id="{2D67970A-C6DB-4815-AEEF-DADB905313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125903"/>
              </p:ext>
            </p:extLst>
          </p:nvPr>
        </p:nvGraphicFramePr>
        <p:xfrm>
          <a:off x="3368826" y="3645290"/>
          <a:ext cx="2120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20760" imgH="495000" progId="Equation.DSMT4">
                  <p:embed/>
                </p:oleObj>
              </mc:Choice>
              <mc:Fallback>
                <p:oleObj name="Equation" r:id="rId3" imgW="2120760" imgH="495000" progId="Equation.DSMT4">
                  <p:embed/>
                  <p:pic>
                    <p:nvPicPr>
                      <p:cNvPr id="13" name="Object 6">
                        <a:extLst>
                          <a:ext uri="{FF2B5EF4-FFF2-40B4-BE49-F238E27FC236}">
                            <a16:creationId xmlns:a16="http://schemas.microsoft.com/office/drawing/2014/main" id="{76A52D51-A1C1-49A1-94C9-6685592964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826" y="3645290"/>
                        <a:ext cx="2120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7">
            <a:extLst>
              <a:ext uri="{FF2B5EF4-FFF2-40B4-BE49-F238E27FC236}">
                <a16:creationId xmlns:a16="http://schemas.microsoft.com/office/drawing/2014/main" id="{E3828939-0E03-4626-9A1A-2AA4177870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854178"/>
              </p:ext>
            </p:extLst>
          </p:nvPr>
        </p:nvGraphicFramePr>
        <p:xfrm>
          <a:off x="5609773" y="4292501"/>
          <a:ext cx="2514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14600" imgH="495000" progId="Equation.DSMT4">
                  <p:embed/>
                </p:oleObj>
              </mc:Choice>
              <mc:Fallback>
                <p:oleObj name="Equation" r:id="rId5" imgW="2514600" imgH="495000" progId="Equation.DSMT4">
                  <p:embed/>
                  <p:pic>
                    <p:nvPicPr>
                      <p:cNvPr id="14" name="Object 7">
                        <a:extLst>
                          <a:ext uri="{FF2B5EF4-FFF2-40B4-BE49-F238E27FC236}">
                            <a16:creationId xmlns:a16="http://schemas.microsoft.com/office/drawing/2014/main" id="{78F9277D-FAE4-47B7-B7E2-28C5525F19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9773" y="4292501"/>
                        <a:ext cx="2514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5">
            <a:extLst>
              <a:ext uri="{FF2B5EF4-FFF2-40B4-BE49-F238E27FC236}">
                <a16:creationId xmlns:a16="http://schemas.microsoft.com/office/drawing/2014/main" id="{2202627C-0D76-4D52-A0AB-E4BEFC763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726" y="3587841"/>
            <a:ext cx="2952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= 1, 2, </a:t>
            </a:r>
            <a:r>
              <a:rPr lang="en-US" altLang="zh-CN" dirty="0">
                <a:solidFill>
                  <a:srgbClr val="000000"/>
                </a:solidFill>
                <a:ea typeface="宋体"/>
                <a:cs typeface="Times New Roman" pitchFamily="18" charset="0"/>
                <a:sym typeface="Symbol" pitchFamily="18" charset="2"/>
              </a:rPr>
              <a:t>···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), </a:t>
            </a:r>
          </a:p>
        </p:txBody>
      </p:sp>
      <p:sp>
        <p:nvSpPr>
          <p:cNvPr id="37" name="Text Box 10">
            <a:extLst>
              <a:ext uri="{FF2B5EF4-FFF2-40B4-BE49-F238E27FC236}">
                <a16:creationId xmlns:a16="http://schemas.microsoft.com/office/drawing/2014/main" id="{24F53D37-2E5A-4EF8-874D-C2C51AF6B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586" y="4292501"/>
            <a:ext cx="5040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并把它们</a:t>
            </a:r>
            <a:r>
              <a:rPr lang="zh-CN" altLang="en-US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正交化、单位化</a:t>
            </a:r>
            <a:r>
              <a:rPr lang="en-US" altLang="zh-CN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Text Box 10">
            <a:extLst>
              <a:ext uri="{FF2B5EF4-FFF2-40B4-BE49-F238E27FC236}">
                <a16:creationId xmlns:a16="http://schemas.microsoft.com/office/drawing/2014/main" id="{F35538E3-5700-452F-9842-E19FBC461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173" y="4292501"/>
            <a:ext cx="1223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记作</a:t>
            </a:r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6199B6FB-5C10-4B4A-A27F-919B69234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8336" y="2852638"/>
            <a:ext cx="34194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求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 - 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b="1" i="1" baseline="-25000" dirty="0" err="1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zh-CN" b="1" i="1" dirty="0" err="1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E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)</a:t>
            </a:r>
            <a:r>
              <a:rPr lang="en-US" altLang="zh-CN" b="1" i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b="1" dirty="0">
                <a:solidFill>
                  <a:srgbClr val="0000FF"/>
                </a:solidFill>
                <a:ea typeface="宋体"/>
                <a:cs typeface="Times New Roman" pitchFamily="18" charset="0"/>
                <a:sym typeface="Symbol" pitchFamily="18" charset="2"/>
              </a:rPr>
              <a:t>=0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  <a:sym typeface="Symbol" pitchFamily="18" charset="2"/>
              </a:rPr>
              <a:t>的</a:t>
            </a:r>
            <a:endParaRPr lang="en-US" altLang="zh-CN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  <a:cs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01180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 autoUpdateAnimBg="0" advAuto="0"/>
      <p:bldP spid="25" grpId="0" build="p" autoUpdateAnimBg="0"/>
      <p:bldP spid="26" grpId="0" build="p" autoUpdateAnimBg="0" advAuto="0"/>
      <p:bldP spid="27" grpId="0" build="p" autoUpdateAnimBg="0" advAuto="0"/>
      <p:bldP spid="28" grpId="0" build="p" autoUpdateAnimBg="0"/>
      <p:bldP spid="29" grpId="0" build="p" autoUpdateAnimBg="0" advAuto="0"/>
      <p:bldP spid="30" grpId="0" build="p" autoUpdateAnimBg="0" advAuto="0"/>
      <p:bldP spid="31" grpId="0" build="p" autoUpdateAnimBg="0"/>
      <p:bldP spid="32" grpId="0" build="p" autoUpdateAnimBg="0" advAuto="0"/>
      <p:bldP spid="33" grpId="0" build="p" autoUpdateAnimBg="0" advAuto="0"/>
      <p:bldP spid="36" grpId="0" build="p" autoUpdateAnimBg="0" advAuto="0"/>
      <p:bldP spid="37" grpId="0" build="p" autoUpdateAnimBg="0"/>
      <p:bldP spid="38" grpId="0" build="p" autoUpdateAnimBg="0"/>
      <p:bldP spid="3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471" y="50605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943898C7-6A1D-43DB-8C4B-266C68884C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775186"/>
              </p:ext>
            </p:extLst>
          </p:nvPr>
        </p:nvGraphicFramePr>
        <p:xfrm>
          <a:off x="1547664" y="3067306"/>
          <a:ext cx="2743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82400" progId="Equation.DSMT4">
                  <p:embed/>
                </p:oleObj>
              </mc:Choice>
              <mc:Fallback>
                <p:oleObj name="Equation" r:id="rId3" imgW="2743200" imgH="48240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B17872E2-C6D8-42C6-BE7C-BAF14585E1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3067306"/>
                        <a:ext cx="2743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31">
            <a:extLst>
              <a:ext uri="{FF2B5EF4-FFF2-40B4-BE49-F238E27FC236}">
                <a16:creationId xmlns:a16="http://schemas.microsoft.com/office/drawing/2014/main" id="{5B1B88D5-B980-48DE-917C-6B6A28561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120" y="4740806"/>
            <a:ext cx="70697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</a:t>
            </a:r>
            <a:endParaRPr lang="en-US" altLang="zh-CN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31">
            <a:extLst>
              <a:ext uri="{FF2B5EF4-FFF2-40B4-BE49-F238E27FC236}">
                <a16:creationId xmlns:a16="http://schemas.microsoft.com/office/drawing/2014/main" id="{D56F5320-EAC1-43A2-BFE0-BB7854D34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4745667"/>
            <a:ext cx="5724525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n-US" altLang="zh-CN" b="1" i="1" dirty="0" err="1">
                <a:solidFill>
                  <a:schemeClr val="tx1"/>
                </a:solidFill>
                <a:latin typeface="Symbol" pitchFamily="18" charset="2"/>
                <a:ea typeface="黑体" pitchFamily="2" charset="-122"/>
              </a:rPr>
              <a:t>l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与</a:t>
            </a:r>
            <a:r>
              <a:rPr lang="zh-CN" altLang="en-US" b="1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p</a:t>
            </a:r>
            <a:r>
              <a:rPr lang="en-US" altLang="zh-CN" b="1" i="1" baseline="-25000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的位置次序一定要相同</a:t>
            </a:r>
            <a:r>
              <a:rPr lang="en-US" altLang="zh-CN" b="1" dirty="0">
                <a:solidFill>
                  <a:schemeClr val="tx1"/>
                </a:solidFill>
                <a:latin typeface="宋体"/>
                <a:ea typeface="宋体"/>
              </a:rPr>
              <a:t>.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810EDE26-97BB-4535-B0A4-7FA6DF31F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412" y="769341"/>
            <a:ext cx="7243593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C00000"/>
                </a:solidFill>
                <a:ea typeface="宋体"/>
                <a:cs typeface="Times New Roman" pitchFamily="18" charset="0"/>
                <a:sym typeface="Symbol" pitchFamily="18" charset="2"/>
              </a:rPr>
              <a:t>Step3 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构造矩阵 </a:t>
            </a:r>
            <a:r>
              <a:rPr lang="en-US" altLang="zh-CN" b="1" i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  <a:sym typeface="Symbol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即将上述正交单位化的</a:t>
            </a:r>
            <a:endParaRPr lang="zh-CN" altLang="en-US" b="1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4026AB46-E730-49FB-A4BC-FE9C5444F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165" y="1419264"/>
            <a:ext cx="610758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特征向量作为矩阵 </a:t>
            </a:r>
            <a:r>
              <a:rPr lang="en-US" altLang="zh-CN" b="1" i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  <a:sym typeface="Symbol" pitchFamily="18" charset="2"/>
              </a:rPr>
              <a:t>Q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的列</a:t>
            </a:r>
            <a:r>
              <a:rPr lang="en-US" altLang="zh-CN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使得</a:t>
            </a:r>
            <a:endParaRPr lang="zh-CN" altLang="en-US" b="1" dirty="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25" name="Object 6">
            <a:extLst>
              <a:ext uri="{FF2B5EF4-FFF2-40B4-BE49-F238E27FC236}">
                <a16:creationId xmlns:a16="http://schemas.microsoft.com/office/drawing/2014/main" id="{754CC22A-AB83-426A-A772-BC0A192651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399135"/>
              </p:ext>
            </p:extLst>
          </p:nvPr>
        </p:nvGraphicFramePr>
        <p:xfrm>
          <a:off x="4379764" y="2330795"/>
          <a:ext cx="34671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66800" imgH="2095200" progId="Equation.DSMT4">
                  <p:embed/>
                </p:oleObj>
              </mc:Choice>
              <mc:Fallback>
                <p:oleObj name="Equation" r:id="rId5" imgW="3466800" imgH="2095200" progId="Equation.DSMT4">
                  <p:embed/>
                  <p:pic>
                    <p:nvPicPr>
                      <p:cNvPr id="16" name="Object 6">
                        <a:extLst>
                          <a:ext uri="{FF2B5EF4-FFF2-40B4-BE49-F238E27FC236}">
                            <a16:creationId xmlns:a16="http://schemas.microsoft.com/office/drawing/2014/main" id="{943898C7-6A1D-43DB-8C4B-266C68884C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9764" y="2330795"/>
                        <a:ext cx="34671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0">
            <a:extLst>
              <a:ext uri="{FF2B5EF4-FFF2-40B4-BE49-F238E27FC236}">
                <a16:creationId xmlns:a16="http://schemas.microsoft.com/office/drawing/2014/main" id="{E5B8D70D-D238-08E6-3AC2-4CBD9008A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-27596"/>
            <a:ext cx="72091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lang="en-US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lang="en-US" altLang="zh-CN" sz="2600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阶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实对称矩阵对角化的步骤</a:t>
            </a:r>
          </a:p>
        </p:txBody>
      </p:sp>
    </p:spTree>
    <p:extLst>
      <p:ext uri="{BB962C8B-B14F-4D97-AF65-F5344CB8AC3E}">
        <p14:creationId xmlns:p14="http://schemas.microsoft.com/office/powerpoint/2010/main" val="84500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2" grpId="0" build="p" autoUpdateAnimBg="0"/>
      <p:bldP spid="24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482" y="332656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482" y="-18608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化对角阵之例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9CB89FCF-9526-486B-A010-DC15295DE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9977" y="976263"/>
            <a:ext cx="21730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4.16  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211F4814-5A60-4D94-8024-F2380071B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6690" y="943230"/>
            <a:ext cx="29321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求正交矩阵</a:t>
            </a:r>
            <a:r>
              <a:rPr lang="zh-CN" altLang="en-US" b="1" i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</a:rPr>
              <a:t> , </a:t>
            </a:r>
            <a:r>
              <a:rPr lang="zh-CN" altLang="en-US" b="1" dirty="0">
                <a:solidFill>
                  <a:srgbClr val="000000"/>
                </a:solidFill>
                <a:ea typeface="黑体" pitchFamily="2" charset="-122"/>
              </a:rPr>
              <a:t> </a:t>
            </a:r>
            <a:endParaRPr lang="en-US" altLang="zh-CN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graphicFrame>
        <p:nvGraphicFramePr>
          <p:cNvPr id="19" name="Object 7">
            <a:extLst>
              <a:ext uri="{FF2B5EF4-FFF2-40B4-BE49-F238E27FC236}">
                <a16:creationId xmlns:a16="http://schemas.microsoft.com/office/drawing/2014/main" id="{AE602966-A102-4DB1-A154-29AF4B688C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493650"/>
              </p:ext>
            </p:extLst>
          </p:nvPr>
        </p:nvGraphicFramePr>
        <p:xfrm>
          <a:off x="2987190" y="614366"/>
          <a:ext cx="23495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49360" imgH="1333440" progId="Equation.DSMT4">
                  <p:embed/>
                </p:oleObj>
              </mc:Choice>
              <mc:Fallback>
                <p:oleObj name="Equation" r:id="rId3" imgW="2349360" imgH="1333440" progId="Equation.DSMT4">
                  <p:embed/>
                  <p:pic>
                    <p:nvPicPr>
                      <p:cNvPr id="5" name="Object 7">
                        <a:extLst>
                          <a:ext uri="{FF2B5EF4-FFF2-40B4-BE49-F238E27FC236}">
                            <a16:creationId xmlns:a16="http://schemas.microsoft.com/office/drawing/2014/main" id="{5FDA03C6-482A-4F57-8531-F19928D91E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190" y="614366"/>
                        <a:ext cx="23495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8">
            <a:extLst>
              <a:ext uri="{FF2B5EF4-FFF2-40B4-BE49-F238E27FC236}">
                <a16:creationId xmlns:a16="http://schemas.microsoft.com/office/drawing/2014/main" id="{18BCAE9F-B3F1-4C4B-8764-9FEAAF004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752" y="2776488"/>
            <a:ext cx="3765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rgbClr val="000000"/>
                </a:solidFill>
                <a:ea typeface="宋体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的特征多项式为</a:t>
            </a: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5DC732CD-FBE9-455D-8254-CB8A2A3A8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77" y="2776488"/>
            <a:ext cx="647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83B70E52-C3D7-4C81-A3D8-33AA400B60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225834"/>
              </p:ext>
            </p:extLst>
          </p:nvPr>
        </p:nvGraphicFramePr>
        <p:xfrm>
          <a:off x="5452677" y="3805175"/>
          <a:ext cx="2616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16120" imgH="495000" progId="Equation.DSMT4">
                  <p:embed/>
                </p:oleObj>
              </mc:Choice>
              <mc:Fallback>
                <p:oleObj name="Equation" r:id="rId5" imgW="2616120" imgH="495000" progId="Equation.DSMT4">
                  <p:embed/>
                  <p:pic>
                    <p:nvPicPr>
                      <p:cNvPr id="8" name="Object 11">
                        <a:extLst>
                          <a:ext uri="{FF2B5EF4-FFF2-40B4-BE49-F238E27FC236}">
                            <a16:creationId xmlns:a16="http://schemas.microsoft.com/office/drawing/2014/main" id="{04F276E9-83A6-4E19-881A-96F15CF7BB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2677" y="3805175"/>
                        <a:ext cx="2616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>
            <a:extLst>
              <a:ext uri="{FF2B5EF4-FFF2-40B4-BE49-F238E27FC236}">
                <a16:creationId xmlns:a16="http://schemas.microsoft.com/office/drawing/2014/main" id="{628E24E6-FFAB-4AA6-8612-B880C64BE1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192741"/>
              </p:ext>
            </p:extLst>
          </p:nvPr>
        </p:nvGraphicFramePr>
        <p:xfrm>
          <a:off x="891020" y="3900438"/>
          <a:ext cx="1130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30040" imgH="495000" progId="Equation.DSMT4">
                  <p:embed/>
                </p:oleObj>
              </mc:Choice>
              <mc:Fallback>
                <p:oleObj name="Equation" r:id="rId7" imgW="1130040" imgH="495000" progId="Equation.DSMT4">
                  <p:embed/>
                  <p:pic>
                    <p:nvPicPr>
                      <p:cNvPr id="9" name="Object 12">
                        <a:extLst>
                          <a:ext uri="{FF2B5EF4-FFF2-40B4-BE49-F238E27FC236}">
                            <a16:creationId xmlns:a16="http://schemas.microsoft.com/office/drawing/2014/main" id="{8BD4762B-10F3-4A08-9B80-80D8A84432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020" y="3900438"/>
                        <a:ext cx="11303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3">
            <a:extLst>
              <a:ext uri="{FF2B5EF4-FFF2-40B4-BE49-F238E27FC236}">
                <a16:creationId xmlns:a16="http://schemas.microsoft.com/office/drawing/2014/main" id="{D9428547-CCC0-4514-B5E1-6E166ECBAB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093921"/>
              </p:ext>
            </p:extLst>
          </p:nvPr>
        </p:nvGraphicFramePr>
        <p:xfrm>
          <a:off x="2138524" y="3424688"/>
          <a:ext cx="33020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01920" imgH="1333440" progId="Equation.DSMT4">
                  <p:embed/>
                </p:oleObj>
              </mc:Choice>
              <mc:Fallback>
                <p:oleObj name="Equation" r:id="rId9" imgW="3301920" imgH="1333440" progId="Equation.DSMT4">
                  <p:embed/>
                  <p:pic>
                    <p:nvPicPr>
                      <p:cNvPr id="10" name="Object 13">
                        <a:extLst>
                          <a:ext uri="{FF2B5EF4-FFF2-40B4-BE49-F238E27FC236}">
                            <a16:creationId xmlns:a16="http://schemas.microsoft.com/office/drawing/2014/main" id="{8AA5BE3D-EBE8-42EB-9DBB-A17B81A4F8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524" y="3424688"/>
                        <a:ext cx="33020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">
            <a:extLst>
              <a:ext uri="{FF2B5EF4-FFF2-40B4-BE49-F238E27FC236}">
                <a16:creationId xmlns:a16="http://schemas.microsoft.com/office/drawing/2014/main" id="{A8DD358C-AE6D-468C-8625-6FB90B38C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152" y="4937076"/>
            <a:ext cx="46815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的三个特征值为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graphicFrame>
        <p:nvGraphicFramePr>
          <p:cNvPr id="27" name="Object 15">
            <a:extLst>
              <a:ext uri="{FF2B5EF4-FFF2-40B4-BE49-F238E27FC236}">
                <a16:creationId xmlns:a16="http://schemas.microsoft.com/office/drawing/2014/main" id="{95A3AE79-BE79-4E24-B356-8AFFB98844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994407"/>
              </p:ext>
            </p:extLst>
          </p:nvPr>
        </p:nvGraphicFramePr>
        <p:xfrm>
          <a:off x="4698614" y="5024375"/>
          <a:ext cx="2108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08160" imgH="431640" progId="Equation.DSMT4">
                  <p:embed/>
                </p:oleObj>
              </mc:Choice>
              <mc:Fallback>
                <p:oleObj name="Equation" r:id="rId11" imgW="2108160" imgH="431640" progId="Equation.DSMT4">
                  <p:embed/>
                  <p:pic>
                    <p:nvPicPr>
                      <p:cNvPr id="12" name="Object 15">
                        <a:extLst>
                          <a:ext uri="{FF2B5EF4-FFF2-40B4-BE49-F238E27FC236}">
                            <a16:creationId xmlns:a16="http://schemas.microsoft.com/office/drawing/2014/main" id="{ABB02FD0-9764-468B-953F-3D70F45110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8614" y="5024375"/>
                        <a:ext cx="2108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2">
            <a:extLst>
              <a:ext uri="{FF2B5EF4-FFF2-40B4-BE49-F238E27FC236}">
                <a16:creationId xmlns:a16="http://schemas.microsoft.com/office/drawing/2014/main" id="{9D5FAA07-BC36-4E74-A1B9-E091A5A49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31" y="2017663"/>
            <a:ext cx="384283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使</a:t>
            </a:r>
            <a:r>
              <a:rPr lang="zh-CN" altLang="en-US" b="1" dirty="0">
                <a:solidFill>
                  <a:srgbClr val="000000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</a:rPr>
              <a:t>P </a:t>
            </a:r>
            <a:r>
              <a:rPr lang="en-US" altLang="zh-CN" b="1" baseline="30000" dirty="0">
                <a:solidFill>
                  <a:srgbClr val="000000"/>
                </a:solidFill>
                <a:ea typeface="黑体" pitchFamily="2" charset="-122"/>
              </a:rPr>
              <a:t>-1</a:t>
            </a:r>
            <a:r>
              <a:rPr lang="en-US" altLang="zh-CN" b="1" i="1" dirty="0">
                <a:solidFill>
                  <a:srgbClr val="000000"/>
                </a:solidFill>
                <a:ea typeface="黑体" pitchFamily="2" charset="-122"/>
              </a:rPr>
              <a:t>AP</a:t>
            </a:r>
            <a:r>
              <a:rPr lang="en-US" altLang="zh-CN" b="1" dirty="0">
                <a:solidFill>
                  <a:srgbClr val="000000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为对角矩阵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</a:p>
        </p:txBody>
      </p:sp>
      <p:sp>
        <p:nvSpPr>
          <p:cNvPr id="29" name="Text Box 2">
            <a:extLst>
              <a:ext uri="{FF2B5EF4-FFF2-40B4-BE49-F238E27FC236}">
                <a16:creationId xmlns:a16="http://schemas.microsoft.com/office/drawing/2014/main" id="{B672661C-94CB-4E69-B7CA-D0473DC77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2288" y="4902614"/>
            <a:ext cx="178556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kern="100" dirty="0"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二重</a:t>
            </a:r>
            <a:r>
              <a:rPr lang="en-US" altLang="zh-CN" kern="100" dirty="0">
                <a:ea typeface="宋体" panose="02010600030101010101" pitchFamily="2" charset="-122"/>
              </a:rPr>
              <a:t>). 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263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 build="p" autoUpdateAnimBg="0"/>
      <p:bldP spid="21" grpId="0"/>
      <p:bldP spid="26" grpId="0" build="p" autoUpdateAnimBg="0"/>
      <p:bldP spid="28" grpId="0"/>
      <p:bldP spid="29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202" y="-29521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化对角阵之例</a:t>
            </a:r>
          </a:p>
        </p:txBody>
      </p:sp>
      <p:sp>
        <p:nvSpPr>
          <p:cNvPr id="45" name="Text Box 4">
            <a:extLst>
              <a:ext uri="{FF2B5EF4-FFF2-40B4-BE49-F238E27FC236}">
                <a16:creationId xmlns:a16="http://schemas.microsoft.com/office/drawing/2014/main" id="{29AB13CC-E988-4CC6-9E5D-E978D444D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425" y="643694"/>
            <a:ext cx="2520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当</a:t>
            </a:r>
            <a:r>
              <a:rPr kumimoji="1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 1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7" name="Text Box 4">
            <a:extLst>
              <a:ext uri="{FF2B5EF4-FFF2-40B4-BE49-F238E27FC236}">
                <a16:creationId xmlns:a16="http://schemas.microsoft.com/office/drawing/2014/main" id="{76CCCCBD-3F9C-4DB8-8F18-C77CD5F1E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2088" y="643694"/>
            <a:ext cx="20605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解方程组</a:t>
            </a:r>
          </a:p>
        </p:txBody>
      </p:sp>
      <p:sp>
        <p:nvSpPr>
          <p:cNvPr id="48" name="Text Box 8">
            <a:extLst>
              <a:ext uri="{FF2B5EF4-FFF2-40B4-BE49-F238E27FC236}">
                <a16:creationId xmlns:a16="http://schemas.microsoft.com/office/drawing/2014/main" id="{7325D2F9-5831-4073-881F-84BA7BB34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9292" y="620688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</a:p>
        </p:txBody>
      </p:sp>
      <p:sp>
        <p:nvSpPr>
          <p:cNvPr id="51" name="Text Box 7">
            <a:extLst>
              <a:ext uri="{FF2B5EF4-FFF2-40B4-BE49-F238E27FC236}">
                <a16:creationId xmlns:a16="http://schemas.microsoft.com/office/drawing/2014/main" id="{755BC60D-0693-4BDF-8CBE-2AB20D102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4150482"/>
            <a:ext cx="3378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得基础解系为</a:t>
            </a:r>
          </a:p>
        </p:txBody>
      </p:sp>
      <p:graphicFrame>
        <p:nvGraphicFramePr>
          <p:cNvPr id="52" name="Object 5">
            <a:extLst>
              <a:ext uri="{FF2B5EF4-FFF2-40B4-BE49-F238E27FC236}">
                <a16:creationId xmlns:a16="http://schemas.microsoft.com/office/drawing/2014/main" id="{FF9820CF-1FD4-4ACD-B42C-D3469DA805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820659"/>
              </p:ext>
            </p:extLst>
          </p:nvPr>
        </p:nvGraphicFramePr>
        <p:xfrm>
          <a:off x="2756208" y="3781103"/>
          <a:ext cx="15621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62040" imgH="1333440" progId="Equation.DSMT4">
                  <p:embed/>
                </p:oleObj>
              </mc:Choice>
              <mc:Fallback>
                <p:oleObj name="Equation" r:id="rId3" imgW="1562040" imgH="1333440" progId="Equation.DSMT4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069483E5-6DE3-4997-BACE-B1E4D031A3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6208" y="3781103"/>
                        <a:ext cx="15621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6">
            <a:extLst>
              <a:ext uri="{FF2B5EF4-FFF2-40B4-BE49-F238E27FC236}">
                <a16:creationId xmlns:a16="http://schemas.microsoft.com/office/drawing/2014/main" id="{52FA3FC9-F770-40F8-AB85-DEC431FCB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655907"/>
              </p:ext>
            </p:extLst>
          </p:nvPr>
        </p:nvGraphicFramePr>
        <p:xfrm>
          <a:off x="4252288" y="761501"/>
          <a:ext cx="1841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1400" imgH="393480" progId="Equation.DSMT4">
                  <p:embed/>
                </p:oleObj>
              </mc:Choice>
              <mc:Fallback>
                <p:oleObj name="Equation" r:id="rId5" imgW="1841400" imgH="393480" progId="Equation.DSMT4">
                  <p:embed/>
                  <p:pic>
                    <p:nvPicPr>
                      <p:cNvPr id="16" name="Object 16">
                        <a:extLst>
                          <a:ext uri="{FF2B5EF4-FFF2-40B4-BE49-F238E27FC236}">
                            <a16:creationId xmlns:a16="http://schemas.microsoft.com/office/drawing/2014/main" id="{7839AEFF-75CF-425B-A6C1-4B06D7B680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288" y="761501"/>
                        <a:ext cx="1841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7">
            <a:extLst>
              <a:ext uri="{FF2B5EF4-FFF2-40B4-BE49-F238E27FC236}">
                <a16:creationId xmlns:a16="http://schemas.microsoft.com/office/drawing/2014/main" id="{B6EF94F0-9EA8-4E21-95D0-5009760AC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732" y="4179760"/>
            <a:ext cx="22870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单位化得</a:t>
            </a:r>
          </a:p>
        </p:txBody>
      </p:sp>
      <p:graphicFrame>
        <p:nvGraphicFramePr>
          <p:cNvPr id="62" name="Object 5">
            <a:extLst>
              <a:ext uri="{FF2B5EF4-FFF2-40B4-BE49-F238E27FC236}">
                <a16:creationId xmlns:a16="http://schemas.microsoft.com/office/drawing/2014/main" id="{61942DA7-9E5D-41F6-A8EF-24C64A382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412964"/>
              </p:ext>
            </p:extLst>
          </p:nvPr>
        </p:nvGraphicFramePr>
        <p:xfrm>
          <a:off x="6013750" y="3089068"/>
          <a:ext cx="1943100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2920" imgH="2781000" progId="Equation.DSMT4">
                  <p:embed/>
                </p:oleObj>
              </mc:Choice>
              <mc:Fallback>
                <p:oleObj name="Equation" r:id="rId7" imgW="1942920" imgH="2781000" progId="Equation.DSMT4">
                  <p:embed/>
                  <p:pic>
                    <p:nvPicPr>
                      <p:cNvPr id="52" name="Object 5">
                        <a:extLst>
                          <a:ext uri="{FF2B5EF4-FFF2-40B4-BE49-F238E27FC236}">
                            <a16:creationId xmlns:a16="http://schemas.microsoft.com/office/drawing/2014/main" id="{FF9820CF-1FD4-4ACD-B42C-D3469DA80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750" y="3089068"/>
                        <a:ext cx="1943100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6EF4076E-D08C-4A9B-9CBC-7FD4481142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049193"/>
              </p:ext>
            </p:extLst>
          </p:nvPr>
        </p:nvGraphicFramePr>
        <p:xfrm>
          <a:off x="1417152" y="1623579"/>
          <a:ext cx="2678112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06360" imgH="698400" progId="Equation.DSMT4">
                  <p:embed/>
                </p:oleObj>
              </mc:Choice>
              <mc:Fallback>
                <p:oleObj name="Equation" r:id="rId9" imgW="1206360" imgH="698400" progId="Equation.DSMT4">
                  <p:embed/>
                  <p:pic>
                    <p:nvPicPr>
                      <p:cNvPr id="216068" name="Object 4">
                        <a:extLst>
                          <a:ext uri="{FF2B5EF4-FFF2-40B4-BE49-F238E27FC236}">
                            <a16:creationId xmlns:a16="http://schemas.microsoft.com/office/drawing/2014/main" id="{E869B500-C7C7-4275-BB4D-787C66039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152" y="1623579"/>
                        <a:ext cx="2678112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12E4067D-45D9-3A65-8D46-5260528A04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651165"/>
              </p:ext>
            </p:extLst>
          </p:nvPr>
        </p:nvGraphicFramePr>
        <p:xfrm>
          <a:off x="4096050" y="1623579"/>
          <a:ext cx="19177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63280" imgH="698400" progId="Equation.DSMT4">
                  <p:embed/>
                </p:oleObj>
              </mc:Choice>
              <mc:Fallback>
                <p:oleObj name="Equation" r:id="rId11" imgW="863280" imgH="69840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6EF4076E-D08C-4A9B-9CBC-7FD4481142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6050" y="1623579"/>
                        <a:ext cx="1917700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555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 autoUpdateAnimBg="0"/>
      <p:bldP spid="47" grpId="0" build="p" autoUpdateAnimBg="0"/>
      <p:bldP spid="48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8" y="459227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" name="Text Box 4">
            <a:extLst>
              <a:ext uri="{FF2B5EF4-FFF2-40B4-BE49-F238E27FC236}">
                <a16:creationId xmlns:a16="http://schemas.microsoft.com/office/drawing/2014/main" id="{29AB13CC-E988-4CC6-9E5D-E978D444D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683" y="741636"/>
            <a:ext cx="2520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kumimoji="1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  <a:sym typeface="Symbol" panose="05050102010706020507" pitchFamily="18" charset="2"/>
              </a:rPr>
              <a:t>= 3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,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Text Box 4">
            <a:extLst>
              <a:ext uri="{FF2B5EF4-FFF2-40B4-BE49-F238E27FC236}">
                <a16:creationId xmlns:a16="http://schemas.microsoft.com/office/drawing/2014/main" id="{76CCCCBD-3F9C-4DB8-8F18-C77CD5F1E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2392" y="741636"/>
            <a:ext cx="20605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解方程组</a:t>
            </a:r>
          </a:p>
        </p:txBody>
      </p:sp>
      <p:sp>
        <p:nvSpPr>
          <p:cNvPr id="51" name="Text Box 7">
            <a:extLst>
              <a:ext uri="{FF2B5EF4-FFF2-40B4-BE49-F238E27FC236}">
                <a16:creationId xmlns:a16="http://schemas.microsoft.com/office/drawing/2014/main" id="{755BC60D-0693-4BDF-8CBE-2AB20D102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564" y="3870988"/>
            <a:ext cx="3378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得基础解系为</a:t>
            </a:r>
          </a:p>
        </p:txBody>
      </p:sp>
      <p:graphicFrame>
        <p:nvGraphicFramePr>
          <p:cNvPr id="52" name="Object 5">
            <a:extLst>
              <a:ext uri="{FF2B5EF4-FFF2-40B4-BE49-F238E27FC236}">
                <a16:creationId xmlns:a16="http://schemas.microsoft.com/office/drawing/2014/main" id="{FF9820CF-1FD4-4ACD-B42C-D3469DA805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483727"/>
              </p:ext>
            </p:extLst>
          </p:nvPr>
        </p:nvGraphicFramePr>
        <p:xfrm>
          <a:off x="3470245" y="3480091"/>
          <a:ext cx="13843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200" imgH="1333440" progId="Equation.DSMT4">
                  <p:embed/>
                </p:oleObj>
              </mc:Choice>
              <mc:Fallback>
                <p:oleObj name="Equation" r:id="rId3" imgW="1384200" imgH="1333440" progId="Equation.DSMT4">
                  <p:embed/>
                  <p:pic>
                    <p:nvPicPr>
                      <p:cNvPr id="52" name="Object 5">
                        <a:extLst>
                          <a:ext uri="{FF2B5EF4-FFF2-40B4-BE49-F238E27FC236}">
                            <a16:creationId xmlns:a16="http://schemas.microsoft.com/office/drawing/2014/main" id="{FF9820CF-1FD4-4ACD-B42C-D3469DA80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0245" y="3480091"/>
                        <a:ext cx="13843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6">
            <a:extLst>
              <a:ext uri="{FF2B5EF4-FFF2-40B4-BE49-F238E27FC236}">
                <a16:creationId xmlns:a16="http://schemas.microsoft.com/office/drawing/2014/main" id="{52FA3FC9-F770-40F8-AB85-DEC431FCB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83206"/>
              </p:ext>
            </p:extLst>
          </p:nvPr>
        </p:nvGraphicFramePr>
        <p:xfrm>
          <a:off x="4650641" y="848503"/>
          <a:ext cx="203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840" imgH="393480" progId="Equation.DSMT4">
                  <p:embed/>
                </p:oleObj>
              </mc:Choice>
              <mc:Fallback>
                <p:oleObj name="Equation" r:id="rId5" imgW="2031840" imgH="393480" progId="Equation.DSMT4">
                  <p:embed/>
                  <p:pic>
                    <p:nvPicPr>
                      <p:cNvPr id="59" name="Object 16">
                        <a:extLst>
                          <a:ext uri="{FF2B5EF4-FFF2-40B4-BE49-F238E27FC236}">
                            <a16:creationId xmlns:a16="http://schemas.microsoft.com/office/drawing/2014/main" id="{52FA3FC9-F770-40F8-AB85-DEC431FCB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0641" y="848503"/>
                        <a:ext cx="203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7">
            <a:extLst>
              <a:ext uri="{FF2B5EF4-FFF2-40B4-BE49-F238E27FC236}">
                <a16:creationId xmlns:a16="http://schemas.microsoft.com/office/drawing/2014/main" id="{B6EF94F0-9EA8-4E21-95D0-5009760AC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841" y="5173557"/>
            <a:ext cx="134158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显然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2" name="Object 5">
            <a:extLst>
              <a:ext uri="{FF2B5EF4-FFF2-40B4-BE49-F238E27FC236}">
                <a16:creationId xmlns:a16="http://schemas.microsoft.com/office/drawing/2014/main" id="{61942DA7-9E5D-41F6-A8EF-24C64A382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389676"/>
              </p:ext>
            </p:extLst>
          </p:nvPr>
        </p:nvGraphicFramePr>
        <p:xfrm>
          <a:off x="5122967" y="3512856"/>
          <a:ext cx="13843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84200" imgH="1333440" progId="Equation.DSMT4">
                  <p:embed/>
                </p:oleObj>
              </mc:Choice>
              <mc:Fallback>
                <p:oleObj name="Equation" r:id="rId7" imgW="1384200" imgH="1333440" progId="Equation.DSMT4">
                  <p:embed/>
                  <p:pic>
                    <p:nvPicPr>
                      <p:cNvPr id="62" name="Object 5">
                        <a:extLst>
                          <a:ext uri="{FF2B5EF4-FFF2-40B4-BE49-F238E27FC236}">
                            <a16:creationId xmlns:a16="http://schemas.microsoft.com/office/drawing/2014/main" id="{61942DA7-9E5D-41F6-A8EF-24C64A382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967" y="3512856"/>
                        <a:ext cx="13843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CB2AD84C-0CC0-44F2-921D-270A14C551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385613"/>
              </p:ext>
            </p:extLst>
          </p:nvPr>
        </p:nvGraphicFramePr>
        <p:xfrm>
          <a:off x="1980392" y="5218799"/>
          <a:ext cx="33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0120" imgH="431640" progId="Equation.DSMT4">
                  <p:embed/>
                </p:oleObj>
              </mc:Choice>
              <mc:Fallback>
                <p:oleObj name="Equation" r:id="rId9" imgW="330120" imgH="431640" progId="Equation.DSMT4">
                  <p:embed/>
                  <p:pic>
                    <p:nvPicPr>
                      <p:cNvPr id="52" name="Object 5">
                        <a:extLst>
                          <a:ext uri="{FF2B5EF4-FFF2-40B4-BE49-F238E27FC236}">
                            <a16:creationId xmlns:a16="http://schemas.microsoft.com/office/drawing/2014/main" id="{FF9820CF-1FD4-4ACD-B42C-D3469DA80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392" y="5218799"/>
                        <a:ext cx="330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">
            <a:extLst>
              <a:ext uri="{FF2B5EF4-FFF2-40B4-BE49-F238E27FC236}">
                <a16:creationId xmlns:a16="http://schemas.microsoft.com/office/drawing/2014/main" id="{5C05DB55-0BE8-4F05-A00B-A429B02746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740893"/>
              </p:ext>
            </p:extLst>
          </p:nvPr>
        </p:nvGraphicFramePr>
        <p:xfrm>
          <a:off x="2877082" y="5255196"/>
          <a:ext cx="33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0120" imgH="431640" progId="Equation.DSMT4">
                  <p:embed/>
                </p:oleObj>
              </mc:Choice>
              <mc:Fallback>
                <p:oleObj name="Equation" r:id="rId11" imgW="330120" imgH="431640" progId="Equation.DSMT4">
                  <p:embed/>
                  <p:pic>
                    <p:nvPicPr>
                      <p:cNvPr id="62" name="Object 5">
                        <a:extLst>
                          <a:ext uri="{FF2B5EF4-FFF2-40B4-BE49-F238E27FC236}">
                            <a16:creationId xmlns:a16="http://schemas.microsoft.com/office/drawing/2014/main" id="{61942DA7-9E5D-41F6-A8EF-24C64A382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7082" y="5255196"/>
                        <a:ext cx="330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7">
            <a:extLst>
              <a:ext uri="{FF2B5EF4-FFF2-40B4-BE49-F238E27FC236}">
                <a16:creationId xmlns:a16="http://schemas.microsoft.com/office/drawing/2014/main" id="{E40AE397-196E-4588-9587-CE2878EA3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0592" y="5164709"/>
            <a:ext cx="134158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与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45EFD2C4-1FC8-44E3-98B0-7DF0BC344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29" y="5204488"/>
            <a:ext cx="134158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正交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5B4E8D32-B17B-40C3-80D1-37E426388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2395" y="5179418"/>
            <a:ext cx="39149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故只需将它们单位化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ECFB151B-4A88-9C40-AD71-DA6A147648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118774"/>
              </p:ext>
            </p:extLst>
          </p:nvPr>
        </p:nvGraphicFramePr>
        <p:xfrm>
          <a:off x="1486333" y="1550154"/>
          <a:ext cx="3211513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47560" imgH="698400" progId="Equation.DSMT4">
                  <p:embed/>
                </p:oleObj>
              </mc:Choice>
              <mc:Fallback>
                <p:oleObj name="Equation" r:id="rId13" imgW="1447560" imgH="69840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6EF4076E-D08C-4A9B-9CBC-7FD4481142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6333" y="1550154"/>
                        <a:ext cx="3211513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8">
            <a:extLst>
              <a:ext uri="{FF2B5EF4-FFF2-40B4-BE49-F238E27FC236}">
                <a16:creationId xmlns:a16="http://schemas.microsoft.com/office/drawing/2014/main" id="{9B9CEEEE-0158-8C8A-1C41-596B12D07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867" y="71863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</a:p>
        </p:txBody>
      </p:sp>
      <p:sp>
        <p:nvSpPr>
          <p:cNvPr id="24" name="Rectangle 30">
            <a:extLst>
              <a:ext uri="{FF2B5EF4-FFF2-40B4-BE49-F238E27FC236}">
                <a16:creationId xmlns:a16="http://schemas.microsoft.com/office/drawing/2014/main" id="{A33E8C46-B6FA-4FFA-9792-88C899DCF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964" y="-15771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化对角阵之例</a:t>
            </a: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F8D15D85-8BF7-F148-BB46-DC5F20BA7C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215815"/>
              </p:ext>
            </p:extLst>
          </p:nvPr>
        </p:nvGraphicFramePr>
        <p:xfrm>
          <a:off x="4734132" y="1525486"/>
          <a:ext cx="2084388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39600" imgH="698400" progId="Equation.DSMT4">
                  <p:embed/>
                </p:oleObj>
              </mc:Choice>
              <mc:Fallback>
                <p:oleObj name="Equation" r:id="rId15" imgW="939600" imgH="69840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ECFB151B-4A88-9C40-AD71-DA6A147648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4132" y="1525486"/>
                        <a:ext cx="2084388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566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 autoUpdateAnimBg="0"/>
      <p:bldP spid="47" grpId="0" build="p" autoUpdateAnimBg="0"/>
      <p:bldP spid="4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0500" y="25750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44" name="Object 5">
            <a:extLst>
              <a:ext uri="{FF2B5EF4-FFF2-40B4-BE49-F238E27FC236}">
                <a16:creationId xmlns:a16="http://schemas.microsoft.com/office/drawing/2014/main" id="{FEC0B0CA-C7B6-4658-A69C-9862CAFA31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683561"/>
              </p:ext>
            </p:extLst>
          </p:nvPr>
        </p:nvGraphicFramePr>
        <p:xfrm>
          <a:off x="2204549" y="1296947"/>
          <a:ext cx="13970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1333440" progId="Equation.DSMT4">
                  <p:embed/>
                </p:oleObj>
              </mc:Choice>
              <mc:Fallback>
                <p:oleObj name="Equation" r:id="rId3" imgW="1396800" imgH="1333440" progId="Equation.DSMT4">
                  <p:embed/>
                  <p:pic>
                    <p:nvPicPr>
                      <p:cNvPr id="52" name="Object 5">
                        <a:extLst>
                          <a:ext uri="{FF2B5EF4-FFF2-40B4-BE49-F238E27FC236}">
                            <a16:creationId xmlns:a16="http://schemas.microsoft.com/office/drawing/2014/main" id="{FF9820CF-1FD4-4ACD-B42C-D3469DA80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4549" y="1296947"/>
                        <a:ext cx="13970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5">
            <a:extLst>
              <a:ext uri="{FF2B5EF4-FFF2-40B4-BE49-F238E27FC236}">
                <a16:creationId xmlns:a16="http://schemas.microsoft.com/office/drawing/2014/main" id="{3738480C-8CF5-431F-BB4E-6E965681D8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048721"/>
              </p:ext>
            </p:extLst>
          </p:nvPr>
        </p:nvGraphicFramePr>
        <p:xfrm>
          <a:off x="4422862" y="559289"/>
          <a:ext cx="1727200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26920" imgH="2781000" progId="Equation.DSMT4">
                  <p:embed/>
                </p:oleObj>
              </mc:Choice>
              <mc:Fallback>
                <p:oleObj name="Equation" r:id="rId5" imgW="1726920" imgH="2781000" progId="Equation.DSMT4">
                  <p:embed/>
                  <p:pic>
                    <p:nvPicPr>
                      <p:cNvPr id="62" name="Object 5">
                        <a:extLst>
                          <a:ext uri="{FF2B5EF4-FFF2-40B4-BE49-F238E27FC236}">
                            <a16:creationId xmlns:a16="http://schemas.microsoft.com/office/drawing/2014/main" id="{61942DA7-9E5D-41F6-A8EF-24C64A382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862" y="559289"/>
                        <a:ext cx="1727200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7">
            <a:extLst>
              <a:ext uri="{FF2B5EF4-FFF2-40B4-BE49-F238E27FC236}">
                <a16:creationId xmlns:a16="http://schemas.microsoft.com/office/drawing/2014/main" id="{8E178F84-D94E-4098-BFA1-B16062CEB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3167856"/>
            <a:ext cx="3378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于是得正交矩阵 </a:t>
            </a:r>
          </a:p>
        </p:txBody>
      </p:sp>
      <p:graphicFrame>
        <p:nvGraphicFramePr>
          <p:cNvPr id="47" name="Object 5">
            <a:extLst>
              <a:ext uri="{FF2B5EF4-FFF2-40B4-BE49-F238E27FC236}">
                <a16:creationId xmlns:a16="http://schemas.microsoft.com/office/drawing/2014/main" id="{2389D8D9-49A0-42A7-8F72-3CA7B4176A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781071"/>
              </p:ext>
            </p:extLst>
          </p:nvPr>
        </p:nvGraphicFramePr>
        <p:xfrm>
          <a:off x="1569219" y="4735473"/>
          <a:ext cx="2159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58920" imgH="431640" progId="Equation.DSMT4">
                  <p:embed/>
                </p:oleObj>
              </mc:Choice>
              <mc:Fallback>
                <p:oleObj name="Equation" r:id="rId7" imgW="2158920" imgH="431640" progId="Equation.DSMT4">
                  <p:embed/>
                  <p:pic>
                    <p:nvPicPr>
                      <p:cNvPr id="45" name="Object 5">
                        <a:extLst>
                          <a:ext uri="{FF2B5EF4-FFF2-40B4-BE49-F238E27FC236}">
                            <a16:creationId xmlns:a16="http://schemas.microsoft.com/office/drawing/2014/main" id="{3738480C-8CF5-431F-BB4E-6E965681D8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219" y="4735473"/>
                        <a:ext cx="2159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5">
            <a:extLst>
              <a:ext uri="{FF2B5EF4-FFF2-40B4-BE49-F238E27FC236}">
                <a16:creationId xmlns:a16="http://schemas.microsoft.com/office/drawing/2014/main" id="{093CAD8D-89FC-4CC5-9B80-0C4E8B67FD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210648"/>
              </p:ext>
            </p:extLst>
          </p:nvPr>
        </p:nvGraphicFramePr>
        <p:xfrm>
          <a:off x="3751568" y="3600716"/>
          <a:ext cx="2781300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81000" imgH="2781000" progId="Equation.DSMT4">
                  <p:embed/>
                </p:oleObj>
              </mc:Choice>
              <mc:Fallback>
                <p:oleObj name="Equation" r:id="rId9" imgW="2781000" imgH="2781000" progId="Equation.DSMT4">
                  <p:embed/>
                  <p:pic>
                    <p:nvPicPr>
                      <p:cNvPr id="47" name="Object 5">
                        <a:extLst>
                          <a:ext uri="{FF2B5EF4-FFF2-40B4-BE49-F238E27FC236}">
                            <a16:creationId xmlns:a16="http://schemas.microsoft.com/office/drawing/2014/main" id="{2389D8D9-49A0-42A7-8F72-3CA7B4176A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568" y="3600716"/>
                        <a:ext cx="2781300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0">
            <a:extLst>
              <a:ext uri="{FF2B5EF4-FFF2-40B4-BE49-F238E27FC236}">
                <a16:creationId xmlns:a16="http://schemas.microsoft.com/office/drawing/2014/main" id="{0B7361EE-A499-4820-8E8D-EDE5ADE3B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972" y="-26177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化对角阵之例</a:t>
            </a:r>
          </a:p>
        </p:txBody>
      </p:sp>
    </p:spTree>
    <p:extLst>
      <p:ext uri="{BB962C8B-B14F-4D97-AF65-F5344CB8AC3E}">
        <p14:creationId xmlns:p14="http://schemas.microsoft.com/office/powerpoint/2010/main" val="65149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193" y="473998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8" name="Object 5">
            <a:extLst>
              <a:ext uri="{FF2B5EF4-FFF2-40B4-BE49-F238E27FC236}">
                <a16:creationId xmlns:a16="http://schemas.microsoft.com/office/drawing/2014/main" id="{96971C71-BACC-42F0-90ED-BC1E3F6AEE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489786"/>
              </p:ext>
            </p:extLst>
          </p:nvPr>
        </p:nvGraphicFramePr>
        <p:xfrm>
          <a:off x="1475656" y="2539571"/>
          <a:ext cx="2451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50880" imgH="482400" progId="Equation.DSMT4">
                  <p:embed/>
                </p:oleObj>
              </mc:Choice>
              <mc:Fallback>
                <p:oleObj name="Equation" r:id="rId3" imgW="2450880" imgH="482400" progId="Equation.DSMT4">
                  <p:embed/>
                  <p:pic>
                    <p:nvPicPr>
                      <p:cNvPr id="18" name="Object 5">
                        <a:extLst>
                          <a:ext uri="{FF2B5EF4-FFF2-40B4-BE49-F238E27FC236}">
                            <a16:creationId xmlns:a16="http://schemas.microsoft.com/office/drawing/2014/main" id="{6F6E39EA-FE1F-436C-9FA9-7C3C609185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539571"/>
                        <a:ext cx="2451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7">
            <a:extLst>
              <a:ext uri="{FF2B5EF4-FFF2-40B4-BE49-F238E27FC236}">
                <a16:creationId xmlns:a16="http://schemas.microsoft.com/office/drawing/2014/main" id="{39E722AB-4BB7-4535-AF71-BB4226EA61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774737"/>
              </p:ext>
            </p:extLst>
          </p:nvPr>
        </p:nvGraphicFramePr>
        <p:xfrm>
          <a:off x="4020744" y="2114121"/>
          <a:ext cx="26035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03160" imgH="1333440" progId="Equation.DSMT4">
                  <p:embed/>
                </p:oleObj>
              </mc:Choice>
              <mc:Fallback>
                <p:oleObj name="Equation" r:id="rId5" imgW="2603160" imgH="1333440" progId="Equation.DSMT4">
                  <p:embed/>
                  <p:pic>
                    <p:nvPicPr>
                      <p:cNvPr id="22" name="Object 7">
                        <a:extLst>
                          <a:ext uri="{FF2B5EF4-FFF2-40B4-BE49-F238E27FC236}">
                            <a16:creationId xmlns:a16="http://schemas.microsoft.com/office/drawing/2014/main" id="{CB460721-D2D3-428A-A261-6B9DC5E14B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0744" y="2114121"/>
                        <a:ext cx="26035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7">
            <a:extLst>
              <a:ext uri="{FF2B5EF4-FFF2-40B4-BE49-F238E27FC236}">
                <a16:creationId xmlns:a16="http://schemas.microsoft.com/office/drawing/2014/main" id="{C88E0B5E-0A97-4F7F-B774-47CEFC924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5542" y="1248934"/>
            <a:ext cx="3378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且有</a:t>
            </a: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E08AB477-8959-42B1-B10F-57C5BEF53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-8965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化对角阵之例</a:t>
            </a:r>
          </a:p>
        </p:txBody>
      </p:sp>
    </p:spTree>
    <p:extLst>
      <p:ext uri="{BB962C8B-B14F-4D97-AF65-F5344CB8AC3E}">
        <p14:creationId xmlns:p14="http://schemas.microsoft.com/office/powerpoint/2010/main" val="138583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898" y="464084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438" y="-12660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含参数的相似问题</a:t>
            </a:r>
          </a:p>
        </p:txBody>
      </p:sp>
      <p:sp>
        <p:nvSpPr>
          <p:cNvPr id="36" name="Text Box 10">
            <a:extLst>
              <a:ext uri="{FF2B5EF4-FFF2-40B4-BE49-F238E27FC236}">
                <a16:creationId xmlns:a16="http://schemas.microsoft.com/office/drawing/2014/main" id="{71F49A46-FE6A-4AF0-A80E-32D20EA7A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235" y="928817"/>
            <a:ext cx="30257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例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4.17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设矩阵</a:t>
            </a:r>
          </a:p>
        </p:txBody>
      </p:sp>
      <p:graphicFrame>
        <p:nvGraphicFramePr>
          <p:cNvPr id="37" name="Object 5">
            <a:extLst>
              <a:ext uri="{FF2B5EF4-FFF2-40B4-BE49-F238E27FC236}">
                <a16:creationId xmlns:a16="http://schemas.microsoft.com/office/drawing/2014/main" id="{05138F28-23C4-4227-AFE0-28EA25429D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1751823"/>
              </p:ext>
            </p:extLst>
          </p:nvPr>
        </p:nvGraphicFramePr>
        <p:xfrm>
          <a:off x="3413928" y="619064"/>
          <a:ext cx="2628900" cy="1244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28720" imgH="1244520" progId="Equation.DSMT4">
                  <p:embed/>
                </p:oleObj>
              </mc:Choice>
              <mc:Fallback>
                <p:oleObj name="Equation" r:id="rId3" imgW="2628720" imgH="1244520" progId="Equation.DSMT4">
                  <p:embed/>
                  <p:pic>
                    <p:nvPicPr>
                      <p:cNvPr id="37" name="Object 5">
                        <a:extLst>
                          <a:ext uri="{FF2B5EF4-FFF2-40B4-BE49-F238E27FC236}">
                            <a16:creationId xmlns:a16="http://schemas.microsoft.com/office/drawing/2014/main" id="{05138F28-23C4-4227-AFE0-28EA25429D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928" y="619064"/>
                        <a:ext cx="2628900" cy="1244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2">
            <a:extLst>
              <a:ext uri="{FF2B5EF4-FFF2-40B4-BE49-F238E27FC236}">
                <a16:creationId xmlns:a16="http://schemas.microsoft.com/office/drawing/2014/main" id="{76D855C9-831A-44D2-B3D8-12E165B85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0220" y="935590"/>
            <a:ext cx="115212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</a:rPr>
              <a:t>与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/>
              <a:ea typeface="宋体"/>
            </a:endParaRPr>
          </a:p>
        </p:txBody>
      </p:sp>
      <p:graphicFrame>
        <p:nvGraphicFramePr>
          <p:cNvPr id="40" name="Object 7">
            <a:extLst>
              <a:ext uri="{FF2B5EF4-FFF2-40B4-BE49-F238E27FC236}">
                <a16:creationId xmlns:a16="http://schemas.microsoft.com/office/drawing/2014/main" id="{DB67EA85-1A6B-432F-BBE4-29603DF7DC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30900"/>
              </p:ext>
            </p:extLst>
          </p:nvPr>
        </p:nvGraphicFramePr>
        <p:xfrm>
          <a:off x="874529" y="1770162"/>
          <a:ext cx="24511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50880" imgH="1333440" progId="Equation.DSMT4">
                  <p:embed/>
                </p:oleObj>
              </mc:Choice>
              <mc:Fallback>
                <p:oleObj name="Equation" r:id="rId5" imgW="2450880" imgH="1333440" progId="Equation.DSMT4">
                  <p:embed/>
                  <p:pic>
                    <p:nvPicPr>
                      <p:cNvPr id="40" name="Object 7">
                        <a:extLst>
                          <a:ext uri="{FF2B5EF4-FFF2-40B4-BE49-F238E27FC236}">
                            <a16:creationId xmlns:a16="http://schemas.microsoft.com/office/drawing/2014/main" id="{DB67EA85-1A6B-432F-BBE4-29603DF7DC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529" y="1770162"/>
                        <a:ext cx="24511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>
            <a:extLst>
              <a:ext uri="{FF2B5EF4-FFF2-40B4-BE49-F238E27FC236}">
                <a16:creationId xmlns:a16="http://schemas.microsoft.com/office/drawing/2014/main" id="{BEDC28E4-3F89-4BD5-9735-1C9F17DFC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115" y="2107598"/>
            <a:ext cx="1603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相似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8439A44-AC12-4411-A8B4-942DC8454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406" y="2109079"/>
            <a:ext cx="4321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x, y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并求一个正交阵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EA1E3B0-C691-44D6-9A9A-51BCDF791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92" y="3119654"/>
            <a:ext cx="778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</a:t>
            </a:r>
          </a:p>
        </p:txBody>
      </p:sp>
      <p:graphicFrame>
        <p:nvGraphicFramePr>
          <p:cNvPr id="44" name="Object 6">
            <a:extLst>
              <a:ext uri="{FF2B5EF4-FFF2-40B4-BE49-F238E27FC236}">
                <a16:creationId xmlns:a16="http://schemas.microsoft.com/office/drawing/2014/main" id="{81189E8B-DD43-46E2-BB3B-82007B46DA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575142"/>
              </p:ext>
            </p:extLst>
          </p:nvPr>
        </p:nvGraphicFramePr>
        <p:xfrm>
          <a:off x="1526688" y="3218880"/>
          <a:ext cx="1765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65080" imgH="457200" progId="Equation.DSMT4">
                  <p:embed/>
                </p:oleObj>
              </mc:Choice>
              <mc:Fallback>
                <p:oleObj name="Equation" r:id="rId7" imgW="1765080" imgH="457200" progId="Equation.DSMT4">
                  <p:embed/>
                  <p:pic>
                    <p:nvPicPr>
                      <p:cNvPr id="44" name="Object 6">
                        <a:extLst>
                          <a:ext uri="{FF2B5EF4-FFF2-40B4-BE49-F238E27FC236}">
                            <a16:creationId xmlns:a16="http://schemas.microsoft.com/office/drawing/2014/main" id="{81189E8B-DD43-46E2-BB3B-82007B46DA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6688" y="3218880"/>
                        <a:ext cx="1765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4">
            <a:extLst>
              <a:ext uri="{FF2B5EF4-FFF2-40B4-BE49-F238E27FC236}">
                <a16:creationId xmlns:a16="http://schemas.microsoft.com/office/drawing/2014/main" id="{EB1BBA3F-4E35-28A5-927E-DBD19E8A3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342" y="4746272"/>
            <a:ext cx="1512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故它们</a:t>
            </a: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4D11B0B2-2EED-DD8B-508B-DFE68E4FD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907" y="3893568"/>
            <a:ext cx="936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62FD60BC-2F8E-6193-BA05-D67A1EAB3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323516"/>
              </p:ext>
            </p:extLst>
          </p:nvPr>
        </p:nvGraphicFramePr>
        <p:xfrm>
          <a:off x="874529" y="4788249"/>
          <a:ext cx="2959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58840" imgH="419040" progId="Equation.DSMT4">
                  <p:embed/>
                </p:oleObj>
              </mc:Choice>
              <mc:Fallback>
                <p:oleObj name="Equation" r:id="rId9" imgW="2958840" imgH="419040" progId="Equation.DSMT4">
                  <p:embed/>
                  <p:pic>
                    <p:nvPicPr>
                      <p:cNvPr id="27" name="Object 6">
                        <a:extLst>
                          <a:ext uri="{FF2B5EF4-FFF2-40B4-BE49-F238E27FC236}">
                            <a16:creationId xmlns:a16="http://schemas.microsoft.com/office/drawing/2014/main" id="{123EC474-B523-435F-BF94-5FFEA86ABA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529" y="4788249"/>
                        <a:ext cx="2959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6">
            <a:extLst>
              <a:ext uri="{FF2B5EF4-FFF2-40B4-BE49-F238E27FC236}">
                <a16:creationId xmlns:a16="http://schemas.microsoft.com/office/drawing/2014/main" id="{82B314E5-5C6B-84A5-4D0F-14144C28C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125" y="3894384"/>
            <a:ext cx="553919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由于相似矩阵有相同的特征值</a:t>
            </a:r>
            <a:r>
              <a:rPr lang="en-US" altLang="zh-CN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21FBAF-90A5-BF71-B254-76E18D4AE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995" y="3910397"/>
            <a:ext cx="1081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CBF56C82-33F2-8831-D25D-21312D158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592" y="5424895"/>
            <a:ext cx="35987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也是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的特征值</a:t>
            </a:r>
            <a:r>
              <a:rPr lang="en-US" altLang="zh-CN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.</a:t>
            </a:r>
            <a:endParaRPr lang="zh-CN" altLang="en-US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41DE3A-0214-4789-7078-C5D9CA67F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3275" y="4741439"/>
            <a:ext cx="83510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215D7833-7FD2-3520-D54C-F1E6754915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955735"/>
              </p:ext>
            </p:extLst>
          </p:nvPr>
        </p:nvGraphicFramePr>
        <p:xfrm>
          <a:off x="4456367" y="4884313"/>
          <a:ext cx="355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55320" imgH="355320" progId="Equation.DSMT4">
                  <p:embed/>
                </p:oleObj>
              </mc:Choice>
              <mc:Fallback>
                <p:oleObj name="Equation" r:id="rId11" imgW="355320" imgH="355320" progId="Equation.DSMT4">
                  <p:embed/>
                  <p:pic>
                    <p:nvPicPr>
                      <p:cNvPr id="45" name="Object 6">
                        <a:extLst>
                          <a:ext uri="{FF2B5EF4-FFF2-40B4-BE49-F238E27FC236}">
                            <a16:creationId xmlns:a16="http://schemas.microsoft.com/office/drawing/2014/main" id="{90C4193D-8658-401C-AE41-E8E8995F79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367" y="4884313"/>
                        <a:ext cx="355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6">
            <a:extLst>
              <a:ext uri="{FF2B5EF4-FFF2-40B4-BE49-F238E27FC236}">
                <a16:creationId xmlns:a16="http://schemas.microsoft.com/office/drawing/2014/main" id="{A61575E6-66F6-973C-0A12-403B8006B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024" y="4733034"/>
            <a:ext cx="20590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的特征值</a:t>
            </a:r>
            <a:r>
              <a:rPr lang="en-US" altLang="zh-CN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61666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2" grpId="0" build="p" autoUpdateAnimBg="0"/>
      <p:bldP spid="3" grpId="0" build="p" autoUpdateAnimBg="0"/>
      <p:bldP spid="5" grpId="0" build="p" autoUpdateAnimBg="0"/>
      <p:bldP spid="6" grpId="0"/>
      <p:bldP spid="7" grpId="0" build="p" autoUpdateAnimBg="0"/>
      <p:bldP spid="8" grpId="0"/>
      <p:bldP spid="10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-28750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含参数的相似问题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9CB89FCF-9526-486B-A010-DC15295DE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9955" y="677159"/>
            <a:ext cx="18716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因为</a:t>
            </a: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211F4814-5A60-4D94-8024-F2380071B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0298" y="677335"/>
            <a:ext cx="29321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是 </a:t>
            </a:r>
            <a:r>
              <a:rPr lang="en-US" altLang="zh-CN" b="1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b="1" dirty="0">
                <a:solidFill>
                  <a:srgbClr val="000000"/>
                </a:solidFill>
                <a:ea typeface="华文中宋" pitchFamily="2" charset="-122"/>
                <a:cs typeface="Times New Roman" panose="02020603050405020304" pitchFamily="18" charset="0"/>
              </a:rPr>
              <a:t>的特征值</a:t>
            </a:r>
            <a:r>
              <a:rPr lang="en-US" altLang="zh-CN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b="1" dirty="0">
              <a:solidFill>
                <a:srgbClr val="0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7">
            <a:extLst>
              <a:ext uri="{FF2B5EF4-FFF2-40B4-BE49-F238E27FC236}">
                <a16:creationId xmlns:a16="http://schemas.microsoft.com/office/drawing/2014/main" id="{AE602966-A102-4DB1-A154-29AF4B688C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085871"/>
              </p:ext>
            </p:extLst>
          </p:nvPr>
        </p:nvGraphicFramePr>
        <p:xfrm>
          <a:off x="1995786" y="722039"/>
          <a:ext cx="1130300" cy="468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431640" progId="Equation.DSMT4">
                  <p:embed/>
                </p:oleObj>
              </mc:Choice>
              <mc:Fallback>
                <p:oleObj name="Equation" r:id="rId3" imgW="1130040" imgH="431640" progId="Equation.DSMT4">
                  <p:embed/>
                  <p:pic>
                    <p:nvPicPr>
                      <p:cNvPr id="19" name="Object 7">
                        <a:extLst>
                          <a:ext uri="{FF2B5EF4-FFF2-40B4-BE49-F238E27FC236}">
                            <a16:creationId xmlns:a16="http://schemas.microsoft.com/office/drawing/2014/main" id="{AE602966-A102-4DB1-A154-29AF4B688C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786" y="722039"/>
                        <a:ext cx="1130300" cy="468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83B70E52-C3D7-4C81-A3D8-33AA400B60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876069"/>
              </p:ext>
            </p:extLst>
          </p:nvPr>
        </p:nvGraphicFramePr>
        <p:xfrm>
          <a:off x="1787090" y="2937783"/>
          <a:ext cx="876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76240" imgH="317160" progId="Equation.DSMT4">
                  <p:embed/>
                </p:oleObj>
              </mc:Choice>
              <mc:Fallback>
                <p:oleObj name="Equation" r:id="rId5" imgW="876240" imgH="317160" progId="Equation.DSMT4">
                  <p:embed/>
                  <p:pic>
                    <p:nvPicPr>
                      <p:cNvPr id="22" name="Object 11">
                        <a:extLst>
                          <a:ext uri="{FF2B5EF4-FFF2-40B4-BE49-F238E27FC236}">
                            <a16:creationId xmlns:a16="http://schemas.microsoft.com/office/drawing/2014/main" id="{83B70E52-C3D7-4C81-A3D8-33AA400B60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090" y="2937783"/>
                        <a:ext cx="876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>
            <a:extLst>
              <a:ext uri="{FF2B5EF4-FFF2-40B4-BE49-F238E27FC236}">
                <a16:creationId xmlns:a16="http://schemas.microsoft.com/office/drawing/2014/main" id="{628E24E6-FFAB-4AA6-8612-B880C64BE1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561366"/>
              </p:ext>
            </p:extLst>
          </p:nvPr>
        </p:nvGraphicFramePr>
        <p:xfrm>
          <a:off x="1148815" y="1901775"/>
          <a:ext cx="1117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17440" imgH="495000" progId="Equation.DSMT4">
                  <p:embed/>
                </p:oleObj>
              </mc:Choice>
              <mc:Fallback>
                <p:oleObj name="Equation" r:id="rId7" imgW="1117440" imgH="495000" progId="Equation.DSMT4">
                  <p:embed/>
                  <p:pic>
                    <p:nvPicPr>
                      <p:cNvPr id="24" name="Object 12">
                        <a:extLst>
                          <a:ext uri="{FF2B5EF4-FFF2-40B4-BE49-F238E27FC236}">
                            <a16:creationId xmlns:a16="http://schemas.microsoft.com/office/drawing/2014/main" id="{628E24E6-FFAB-4AA6-8612-B880C64BE1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8815" y="1901775"/>
                        <a:ext cx="1117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3">
            <a:extLst>
              <a:ext uri="{FF2B5EF4-FFF2-40B4-BE49-F238E27FC236}">
                <a16:creationId xmlns:a16="http://schemas.microsoft.com/office/drawing/2014/main" id="{D9428547-CCC0-4514-B5E1-6E166ECBAB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225481"/>
              </p:ext>
            </p:extLst>
          </p:nvPr>
        </p:nvGraphicFramePr>
        <p:xfrm>
          <a:off x="2473342" y="1461774"/>
          <a:ext cx="47244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724280" imgH="1333440" progId="Equation.DSMT4">
                  <p:embed/>
                </p:oleObj>
              </mc:Choice>
              <mc:Fallback>
                <p:oleObj name="Equation" r:id="rId9" imgW="4724280" imgH="1333440" progId="Equation.DSMT4">
                  <p:embed/>
                  <p:pic>
                    <p:nvPicPr>
                      <p:cNvPr id="25" name="Object 13">
                        <a:extLst>
                          <a:ext uri="{FF2B5EF4-FFF2-40B4-BE49-F238E27FC236}">
                            <a16:creationId xmlns:a16="http://schemas.microsoft.com/office/drawing/2014/main" id="{D9428547-CCC0-4514-B5E1-6E166ECBAB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342" y="1461774"/>
                        <a:ext cx="47244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">
            <a:extLst>
              <a:ext uri="{FF2B5EF4-FFF2-40B4-BE49-F238E27FC236}">
                <a16:creationId xmlns:a16="http://schemas.microsoft.com/office/drawing/2014/main" id="{A8DD358C-AE6D-468C-8625-6FB90B38C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838" y="3422488"/>
            <a:ext cx="66103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又相似矩阵的行列式的值相同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7" name="Object 15">
            <a:extLst>
              <a:ext uri="{FF2B5EF4-FFF2-40B4-BE49-F238E27FC236}">
                <a16:creationId xmlns:a16="http://schemas.microsoft.com/office/drawing/2014/main" id="{95A3AE79-BE79-4E24-B356-8AFFB98844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983175"/>
              </p:ext>
            </p:extLst>
          </p:nvPr>
        </p:nvGraphicFramePr>
        <p:xfrm>
          <a:off x="888827" y="4531108"/>
          <a:ext cx="698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98400" imgH="495000" progId="Equation.DSMT4">
                  <p:embed/>
                </p:oleObj>
              </mc:Choice>
              <mc:Fallback>
                <p:oleObj name="Equation" r:id="rId11" imgW="698400" imgH="495000" progId="Equation.DSMT4">
                  <p:embed/>
                  <p:pic>
                    <p:nvPicPr>
                      <p:cNvPr id="27" name="Object 15">
                        <a:extLst>
                          <a:ext uri="{FF2B5EF4-FFF2-40B4-BE49-F238E27FC236}">
                            <a16:creationId xmlns:a16="http://schemas.microsoft.com/office/drawing/2014/main" id="{95A3AE79-BE79-4E24-B356-8AFFB98844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827" y="4531108"/>
                        <a:ext cx="6985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2">
            <a:extLst>
              <a:ext uri="{FF2B5EF4-FFF2-40B4-BE49-F238E27FC236}">
                <a16:creationId xmlns:a16="http://schemas.microsoft.com/office/drawing/2014/main" id="{9D5FAA07-BC36-4E74-A1B9-E091A5A49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36" y="2816175"/>
            <a:ext cx="151810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解得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</a:p>
        </p:txBody>
      </p:sp>
      <p:graphicFrame>
        <p:nvGraphicFramePr>
          <p:cNvPr id="30" name="Object 15">
            <a:extLst>
              <a:ext uri="{FF2B5EF4-FFF2-40B4-BE49-F238E27FC236}">
                <a16:creationId xmlns:a16="http://schemas.microsoft.com/office/drawing/2014/main" id="{AB3BCACE-6945-43F3-B0E6-0FA01AF73C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017897"/>
              </p:ext>
            </p:extLst>
          </p:nvPr>
        </p:nvGraphicFramePr>
        <p:xfrm>
          <a:off x="1580655" y="4112913"/>
          <a:ext cx="31369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36680" imgH="1333440" progId="Equation.DSMT4">
                  <p:embed/>
                </p:oleObj>
              </mc:Choice>
              <mc:Fallback>
                <p:oleObj name="Equation" r:id="rId13" imgW="3136680" imgH="1333440" progId="Equation.DSMT4">
                  <p:embed/>
                  <p:pic>
                    <p:nvPicPr>
                      <p:cNvPr id="27" name="Object 15">
                        <a:extLst>
                          <a:ext uri="{FF2B5EF4-FFF2-40B4-BE49-F238E27FC236}">
                            <a16:creationId xmlns:a16="http://schemas.microsoft.com/office/drawing/2014/main" id="{95A3AE79-BE79-4E24-B356-8AFFB98844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0655" y="4112913"/>
                        <a:ext cx="31369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5">
            <a:extLst>
              <a:ext uri="{FF2B5EF4-FFF2-40B4-BE49-F238E27FC236}">
                <a16:creationId xmlns:a16="http://schemas.microsoft.com/office/drawing/2014/main" id="{2C3D36AC-91B9-4D37-ABCB-038B3B8AC5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452707"/>
              </p:ext>
            </p:extLst>
          </p:nvPr>
        </p:nvGraphicFramePr>
        <p:xfrm>
          <a:off x="4881269" y="4564995"/>
          <a:ext cx="787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87320" imgH="495000" progId="Equation.DSMT4">
                  <p:embed/>
                </p:oleObj>
              </mc:Choice>
              <mc:Fallback>
                <p:oleObj name="Equation" r:id="rId15" imgW="787320" imgH="495000" progId="Equation.DSMT4">
                  <p:embed/>
                  <p:pic>
                    <p:nvPicPr>
                      <p:cNvPr id="27" name="Object 15">
                        <a:extLst>
                          <a:ext uri="{FF2B5EF4-FFF2-40B4-BE49-F238E27FC236}">
                            <a16:creationId xmlns:a16="http://schemas.microsoft.com/office/drawing/2014/main" id="{95A3AE79-BE79-4E24-B356-8AFFB98844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269" y="4564995"/>
                        <a:ext cx="787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5">
            <a:extLst>
              <a:ext uri="{FF2B5EF4-FFF2-40B4-BE49-F238E27FC236}">
                <a16:creationId xmlns:a16="http://schemas.microsoft.com/office/drawing/2014/main" id="{B08EFFFB-7400-4B57-914C-0FDF51AED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081021"/>
              </p:ext>
            </p:extLst>
          </p:nvPr>
        </p:nvGraphicFramePr>
        <p:xfrm>
          <a:off x="5745264" y="4146415"/>
          <a:ext cx="28067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806560" imgH="1333440" progId="Equation.DSMT4">
                  <p:embed/>
                </p:oleObj>
              </mc:Choice>
              <mc:Fallback>
                <p:oleObj name="Equation" r:id="rId17" imgW="2806560" imgH="1333440" progId="Equation.DSMT4">
                  <p:embed/>
                  <p:pic>
                    <p:nvPicPr>
                      <p:cNvPr id="30" name="Object 15">
                        <a:extLst>
                          <a:ext uri="{FF2B5EF4-FFF2-40B4-BE49-F238E27FC236}">
                            <a16:creationId xmlns:a16="http://schemas.microsoft.com/office/drawing/2014/main" id="{AB3BCACE-6945-43F3-B0E6-0FA01AF73C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264" y="4146415"/>
                        <a:ext cx="28067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2">
            <a:extLst>
              <a:ext uri="{FF2B5EF4-FFF2-40B4-BE49-F238E27FC236}">
                <a16:creationId xmlns:a16="http://schemas.microsoft.com/office/drawing/2014/main" id="{16DC6A71-F327-491A-A5F6-AD3D97C6F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399" y="5621272"/>
            <a:ext cx="13087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4" name="Object 11">
            <a:extLst>
              <a:ext uri="{FF2B5EF4-FFF2-40B4-BE49-F238E27FC236}">
                <a16:creationId xmlns:a16="http://schemas.microsoft.com/office/drawing/2014/main" id="{81B03C2E-692A-4721-810E-709EADE4E8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118530"/>
              </p:ext>
            </p:extLst>
          </p:nvPr>
        </p:nvGraphicFramePr>
        <p:xfrm>
          <a:off x="1995787" y="5724682"/>
          <a:ext cx="191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17360" imgH="393480" progId="Equation.DSMT4">
                  <p:embed/>
                </p:oleObj>
              </mc:Choice>
              <mc:Fallback>
                <p:oleObj name="Equation" r:id="rId19" imgW="1917360" imgH="393480" progId="Equation.DSMT4">
                  <p:embed/>
                  <p:pic>
                    <p:nvPicPr>
                      <p:cNvPr id="22" name="Object 11">
                        <a:extLst>
                          <a:ext uri="{FF2B5EF4-FFF2-40B4-BE49-F238E27FC236}">
                            <a16:creationId xmlns:a16="http://schemas.microsoft.com/office/drawing/2014/main" id="{83B70E52-C3D7-4C81-A3D8-33AA400B60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787" y="5724682"/>
                        <a:ext cx="1917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1">
            <a:extLst>
              <a:ext uri="{FF2B5EF4-FFF2-40B4-BE49-F238E27FC236}">
                <a16:creationId xmlns:a16="http://schemas.microsoft.com/office/drawing/2014/main" id="{CDD6BD22-F5FE-4830-8331-F7E62E39B6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448849"/>
              </p:ext>
            </p:extLst>
          </p:nvPr>
        </p:nvGraphicFramePr>
        <p:xfrm>
          <a:off x="3957937" y="5714452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07880" imgH="380880" progId="Equation.DSMT4">
                  <p:embed/>
                </p:oleObj>
              </mc:Choice>
              <mc:Fallback>
                <p:oleObj name="Equation" r:id="rId21" imgW="1307880" imgH="380880" progId="Equation.DSMT4">
                  <p:embed/>
                  <p:pic>
                    <p:nvPicPr>
                      <p:cNvPr id="34" name="Object 11">
                        <a:extLst>
                          <a:ext uri="{FF2B5EF4-FFF2-40B4-BE49-F238E27FC236}">
                            <a16:creationId xmlns:a16="http://schemas.microsoft.com/office/drawing/2014/main" id="{81B03C2E-692A-4721-810E-709EADE4E8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937" y="5714452"/>
                        <a:ext cx="1308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07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6" grpId="0" build="p" autoUpdateAnimBg="0"/>
      <p:bldP spid="28" grpId="0"/>
      <p:bldP spid="33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" name="Text Box 4">
            <a:extLst>
              <a:ext uri="{FF2B5EF4-FFF2-40B4-BE49-F238E27FC236}">
                <a16:creationId xmlns:a16="http://schemas.microsoft.com/office/drawing/2014/main" id="{29AB13CC-E988-4CC6-9E5D-E978D444D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624999"/>
            <a:ext cx="2520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对于</a:t>
            </a:r>
            <a:r>
              <a:rPr kumimoji="1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 5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7" name="Text Box 4">
            <a:extLst>
              <a:ext uri="{FF2B5EF4-FFF2-40B4-BE49-F238E27FC236}">
                <a16:creationId xmlns:a16="http://schemas.microsoft.com/office/drawing/2014/main" id="{76CCCCBD-3F9C-4DB8-8F18-C77CD5F1E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319" y="624999"/>
            <a:ext cx="20605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解方程组</a:t>
            </a:r>
          </a:p>
        </p:txBody>
      </p:sp>
      <p:graphicFrame>
        <p:nvGraphicFramePr>
          <p:cNvPr id="59" name="Object 16">
            <a:extLst>
              <a:ext uri="{FF2B5EF4-FFF2-40B4-BE49-F238E27FC236}">
                <a16:creationId xmlns:a16="http://schemas.microsoft.com/office/drawing/2014/main" id="{52FA3FC9-F770-40F8-AB85-DEC431FCB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703983"/>
              </p:ext>
            </p:extLst>
          </p:nvPr>
        </p:nvGraphicFramePr>
        <p:xfrm>
          <a:off x="5050928" y="718795"/>
          <a:ext cx="2019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240" imgH="393480" progId="Equation.DSMT4">
                  <p:embed/>
                </p:oleObj>
              </mc:Choice>
              <mc:Fallback>
                <p:oleObj name="Equation" r:id="rId3" imgW="2019240" imgH="393480" progId="Equation.DSMT4">
                  <p:embed/>
                  <p:pic>
                    <p:nvPicPr>
                      <p:cNvPr id="59" name="Object 16">
                        <a:extLst>
                          <a:ext uri="{FF2B5EF4-FFF2-40B4-BE49-F238E27FC236}">
                            <a16:creationId xmlns:a16="http://schemas.microsoft.com/office/drawing/2014/main" id="{52FA3FC9-F770-40F8-AB85-DEC431FCB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0928" y="718795"/>
                        <a:ext cx="2019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7">
            <a:extLst>
              <a:ext uri="{FF2B5EF4-FFF2-40B4-BE49-F238E27FC236}">
                <a16:creationId xmlns:a16="http://schemas.microsoft.com/office/drawing/2014/main" id="{CB74E750-C1A2-4C5C-8739-B18F6F255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130" y="1303766"/>
            <a:ext cx="51169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得两个线性无关的特征向量</a:t>
            </a:r>
          </a:p>
        </p:txBody>
      </p:sp>
      <p:graphicFrame>
        <p:nvGraphicFramePr>
          <p:cNvPr id="19" name="Object 5">
            <a:extLst>
              <a:ext uri="{FF2B5EF4-FFF2-40B4-BE49-F238E27FC236}">
                <a16:creationId xmlns:a16="http://schemas.microsoft.com/office/drawing/2014/main" id="{FA8ADC1C-A9EF-4D41-BDEC-07C11C8226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359167"/>
              </p:ext>
            </p:extLst>
          </p:nvPr>
        </p:nvGraphicFramePr>
        <p:xfrm>
          <a:off x="5944225" y="1303766"/>
          <a:ext cx="1511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280" imgH="495000" progId="Equation.DSMT4">
                  <p:embed/>
                </p:oleObj>
              </mc:Choice>
              <mc:Fallback>
                <p:oleObj name="Equation" r:id="rId5" imgW="1511280" imgH="495000" progId="Equation.DSMT4">
                  <p:embed/>
                  <p:pic>
                    <p:nvPicPr>
                      <p:cNvPr id="52" name="Object 5">
                        <a:extLst>
                          <a:ext uri="{FF2B5EF4-FFF2-40B4-BE49-F238E27FC236}">
                            <a16:creationId xmlns:a16="http://schemas.microsoft.com/office/drawing/2014/main" id="{FF9820CF-1FD4-4ACD-B42C-D3469DA80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4225" y="1303766"/>
                        <a:ext cx="15113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5CE231FA-A1E5-4940-8FA1-7F095D3BB1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959318"/>
              </p:ext>
            </p:extLst>
          </p:nvPr>
        </p:nvGraphicFramePr>
        <p:xfrm>
          <a:off x="1619944" y="1976816"/>
          <a:ext cx="1524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3880" imgH="495000" progId="Equation.DSMT4">
                  <p:embed/>
                </p:oleObj>
              </mc:Choice>
              <mc:Fallback>
                <p:oleObj name="Equation" r:id="rId7" imgW="1523880" imgH="495000" progId="Equation.DSMT4">
                  <p:embed/>
                  <p:pic>
                    <p:nvPicPr>
                      <p:cNvPr id="62" name="Object 5">
                        <a:extLst>
                          <a:ext uri="{FF2B5EF4-FFF2-40B4-BE49-F238E27FC236}">
                            <a16:creationId xmlns:a16="http://schemas.microsoft.com/office/drawing/2014/main" id="{61942DA7-9E5D-41F6-A8EF-24C64A382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944" y="1976816"/>
                        <a:ext cx="15240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7">
            <a:extLst>
              <a:ext uri="{FF2B5EF4-FFF2-40B4-BE49-F238E27FC236}">
                <a16:creationId xmlns:a16="http://schemas.microsoft.com/office/drawing/2014/main" id="{B34BAA3E-1EF2-4375-87C8-AD7A281D1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4800" y="1947575"/>
            <a:ext cx="47710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将它们正交化、单位化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得</a:t>
            </a:r>
          </a:p>
        </p:txBody>
      </p:sp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E59B2705-E7C1-3C66-93D1-6CF8BBC329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922410"/>
              </p:ext>
            </p:extLst>
          </p:nvPr>
        </p:nvGraphicFramePr>
        <p:xfrm>
          <a:off x="2140503" y="2693851"/>
          <a:ext cx="2768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68400" imgH="888840" progId="Equation.DSMT4">
                  <p:embed/>
                </p:oleObj>
              </mc:Choice>
              <mc:Fallback>
                <p:oleObj name="Equation" r:id="rId9" imgW="2768400" imgH="888840" progId="Equation.DSMT4">
                  <p:embed/>
                  <p:pic>
                    <p:nvPicPr>
                      <p:cNvPr id="52" name="Object 5">
                        <a:extLst>
                          <a:ext uri="{FF2B5EF4-FFF2-40B4-BE49-F238E27FC236}">
                            <a16:creationId xmlns:a16="http://schemas.microsoft.com/office/drawing/2014/main" id="{FF9820CF-1FD4-4ACD-B42C-D3469DA80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503" y="2693851"/>
                        <a:ext cx="2768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9DCFEEE4-89A7-0C96-15FD-2832246273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780666"/>
              </p:ext>
            </p:extLst>
          </p:nvPr>
        </p:nvGraphicFramePr>
        <p:xfrm>
          <a:off x="5075531" y="2620626"/>
          <a:ext cx="2959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58840" imgH="888840" progId="Equation.DSMT4">
                  <p:embed/>
                </p:oleObj>
              </mc:Choice>
              <mc:Fallback>
                <p:oleObj name="Equation" r:id="rId11" imgW="2958840" imgH="888840" progId="Equation.DSMT4">
                  <p:embed/>
                  <p:pic>
                    <p:nvPicPr>
                      <p:cNvPr id="62" name="Object 5">
                        <a:extLst>
                          <a:ext uri="{FF2B5EF4-FFF2-40B4-BE49-F238E27FC236}">
                            <a16:creationId xmlns:a16="http://schemas.microsoft.com/office/drawing/2014/main" id="{61942DA7-9E5D-41F6-A8EF-24C64A382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531" y="2620626"/>
                        <a:ext cx="2959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505E68B7-6541-7B3C-09E1-96CCB52B1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3776242"/>
            <a:ext cx="25209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对于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3333A32-CB18-9B77-08EF-8178EB1B8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9378" y="3762220"/>
            <a:ext cx="20605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解方程组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4456A5E-5AC8-048E-9EE5-2CE9CB22B1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625872"/>
              </p:ext>
            </p:extLst>
          </p:nvPr>
        </p:nvGraphicFramePr>
        <p:xfrm>
          <a:off x="3355000" y="5211852"/>
          <a:ext cx="2565400" cy="900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65360" imgH="838080" progId="Equation.DSMT4">
                  <p:embed/>
                </p:oleObj>
              </mc:Choice>
              <mc:Fallback>
                <p:oleObj name="Equation" r:id="rId13" imgW="2565360" imgH="838080" progId="Equation.DSMT4">
                  <p:embed/>
                  <p:pic>
                    <p:nvPicPr>
                      <p:cNvPr id="30" name="Object 5">
                        <a:extLst>
                          <a:ext uri="{FF2B5EF4-FFF2-40B4-BE49-F238E27FC236}">
                            <a16:creationId xmlns:a16="http://schemas.microsoft.com/office/drawing/2014/main" id="{CE1B9563-3DBD-4A83-989C-931FD1C17E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000" y="5211852"/>
                        <a:ext cx="2565400" cy="9003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>
            <a:extLst>
              <a:ext uri="{FF2B5EF4-FFF2-40B4-BE49-F238E27FC236}">
                <a16:creationId xmlns:a16="http://schemas.microsoft.com/office/drawing/2014/main" id="{8CA89509-0D96-ED03-6630-F304A7BFBA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007103"/>
              </p:ext>
            </p:extLst>
          </p:nvPr>
        </p:nvGraphicFramePr>
        <p:xfrm>
          <a:off x="5386595" y="3826129"/>
          <a:ext cx="2108200" cy="422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08160" imgH="393480" progId="Equation.DSMT4">
                  <p:embed/>
                </p:oleObj>
              </mc:Choice>
              <mc:Fallback>
                <p:oleObj name="Equation" r:id="rId15" imgW="2108160" imgH="393480" progId="Equation.DSMT4">
                  <p:embed/>
                  <p:pic>
                    <p:nvPicPr>
                      <p:cNvPr id="31" name="Object 16">
                        <a:extLst>
                          <a:ext uri="{FF2B5EF4-FFF2-40B4-BE49-F238E27FC236}">
                            <a16:creationId xmlns:a16="http://schemas.microsoft.com/office/drawing/2014/main" id="{07D59E2F-5288-4F3F-9FDC-830CBE5E08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595" y="3826129"/>
                        <a:ext cx="2108200" cy="422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>
            <a:extLst>
              <a:ext uri="{FF2B5EF4-FFF2-40B4-BE49-F238E27FC236}">
                <a16:creationId xmlns:a16="http://schemas.microsoft.com/office/drawing/2014/main" id="{DCCC8DF0-91C0-DDB3-6065-74DD3884A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606" y="4376350"/>
            <a:ext cx="51169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得两个线性无关的特征向量</a:t>
            </a: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6B38FDE3-7C5F-92AA-B014-0A2E82688A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994285"/>
              </p:ext>
            </p:extLst>
          </p:nvPr>
        </p:nvGraphicFramePr>
        <p:xfrm>
          <a:off x="5888807" y="4336823"/>
          <a:ext cx="1333500" cy="532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33440" imgH="495000" progId="Equation.DSMT4">
                  <p:embed/>
                </p:oleObj>
              </mc:Choice>
              <mc:Fallback>
                <p:oleObj name="Equation" r:id="rId17" imgW="1333440" imgH="495000" progId="Equation.DSMT4">
                  <p:embed/>
                  <p:pic>
                    <p:nvPicPr>
                      <p:cNvPr id="34" name="Object 5">
                        <a:extLst>
                          <a:ext uri="{FF2B5EF4-FFF2-40B4-BE49-F238E27FC236}">
                            <a16:creationId xmlns:a16="http://schemas.microsoft.com/office/drawing/2014/main" id="{57991FFE-C1FD-47E8-96B5-3751AE45D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8807" y="4336823"/>
                        <a:ext cx="1333500" cy="532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>
            <a:extLst>
              <a:ext uri="{FF2B5EF4-FFF2-40B4-BE49-F238E27FC236}">
                <a16:creationId xmlns:a16="http://schemas.microsoft.com/office/drawing/2014/main" id="{965D4B8C-FA56-1DA2-3F82-AB03CF5CD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2250" y="5024913"/>
            <a:ext cx="22773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单位化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得</a:t>
            </a:r>
          </a:p>
        </p:txBody>
      </p:sp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CBF4ACFE-7FE0-65A3-20CE-6CE1348107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720777"/>
              </p:ext>
            </p:extLst>
          </p:nvPr>
        </p:nvGraphicFramePr>
        <p:xfrm>
          <a:off x="2296249" y="3801272"/>
          <a:ext cx="1219200" cy="463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18960" imgH="431640" progId="Equation.DSMT4">
                  <p:embed/>
                </p:oleObj>
              </mc:Choice>
              <mc:Fallback>
                <p:oleObj name="Equation" r:id="rId19" imgW="1218960" imgH="431640" progId="Equation.DSMT4">
                  <p:embed/>
                  <p:pic>
                    <p:nvPicPr>
                      <p:cNvPr id="37" name="Object 5">
                        <a:extLst>
                          <a:ext uri="{FF2B5EF4-FFF2-40B4-BE49-F238E27FC236}">
                            <a16:creationId xmlns:a16="http://schemas.microsoft.com/office/drawing/2014/main" id="{46ACE616-1DD0-4308-8A3D-20D7F26A28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249" y="3801272"/>
                        <a:ext cx="1219200" cy="463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30">
            <a:extLst>
              <a:ext uri="{FF2B5EF4-FFF2-40B4-BE49-F238E27FC236}">
                <a16:creationId xmlns:a16="http://schemas.microsoft.com/office/drawing/2014/main" id="{918C7261-6B7E-4AFF-989B-FB8D0D27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4988" y="-28750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含参数的相似问题</a:t>
            </a:r>
          </a:p>
        </p:txBody>
      </p:sp>
    </p:spTree>
    <p:extLst>
      <p:ext uri="{BB962C8B-B14F-4D97-AF65-F5344CB8AC3E}">
        <p14:creationId xmlns:p14="http://schemas.microsoft.com/office/powerpoint/2010/main" val="262702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 autoUpdateAnimBg="0"/>
      <p:bldP spid="47" grpId="0" build="p" autoUpdateAnimBg="0"/>
      <p:bldP spid="4" grpId="0" build="p" autoUpdateAnimBg="0"/>
      <p:bldP spid="5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2024" y="437932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7" name="Text Box 4">
            <a:extLst>
              <a:ext uri="{FF2B5EF4-FFF2-40B4-BE49-F238E27FC236}">
                <a16:creationId xmlns:a16="http://schemas.microsoft.com/office/drawing/2014/main" id="{76CCCCBD-3F9C-4DB8-8F18-C77CD5F1E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726" y="785585"/>
            <a:ext cx="30812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于是有正交矩阵</a:t>
            </a:r>
          </a:p>
        </p:txBody>
      </p:sp>
      <p:graphicFrame>
        <p:nvGraphicFramePr>
          <p:cNvPr id="59" name="Object 16">
            <a:extLst>
              <a:ext uri="{FF2B5EF4-FFF2-40B4-BE49-F238E27FC236}">
                <a16:creationId xmlns:a16="http://schemas.microsoft.com/office/drawing/2014/main" id="{52FA3FC9-F770-40F8-AB85-DEC431FCB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868118"/>
              </p:ext>
            </p:extLst>
          </p:nvPr>
        </p:nvGraphicFramePr>
        <p:xfrm>
          <a:off x="3506950" y="1680881"/>
          <a:ext cx="3733800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33560" imgH="2781000" progId="Equation.DSMT4">
                  <p:embed/>
                </p:oleObj>
              </mc:Choice>
              <mc:Fallback>
                <p:oleObj name="Equation" r:id="rId3" imgW="3733560" imgH="2781000" progId="Equation.DSMT4">
                  <p:embed/>
                  <p:pic>
                    <p:nvPicPr>
                      <p:cNvPr id="59" name="Object 16">
                        <a:extLst>
                          <a:ext uri="{FF2B5EF4-FFF2-40B4-BE49-F238E27FC236}">
                            <a16:creationId xmlns:a16="http://schemas.microsoft.com/office/drawing/2014/main" id="{52FA3FC9-F770-40F8-AB85-DEC431FCB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950" y="1680881"/>
                        <a:ext cx="3733800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7">
            <a:extLst>
              <a:ext uri="{FF2B5EF4-FFF2-40B4-BE49-F238E27FC236}">
                <a16:creationId xmlns:a16="http://schemas.microsoft.com/office/drawing/2014/main" id="{E40AE397-196E-4588-9587-CE2878EA3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4742" y="4463113"/>
            <a:ext cx="997624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</a:t>
            </a:r>
          </a:p>
        </p:txBody>
      </p:sp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934AE9DB-1288-4562-B39A-9F4B7245B5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214021"/>
              </p:ext>
            </p:extLst>
          </p:nvPr>
        </p:nvGraphicFramePr>
        <p:xfrm>
          <a:off x="2282814" y="4495656"/>
          <a:ext cx="1765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65080" imgH="457200" progId="Equation.DSMT4">
                  <p:embed/>
                </p:oleObj>
              </mc:Choice>
              <mc:Fallback>
                <p:oleObj name="Equation" r:id="rId5" imgW="1765080" imgH="457200" progId="Equation.DSMT4">
                  <p:embed/>
                  <p:pic>
                    <p:nvPicPr>
                      <p:cNvPr id="44" name="Object 6">
                        <a:extLst>
                          <a:ext uri="{FF2B5EF4-FFF2-40B4-BE49-F238E27FC236}">
                            <a16:creationId xmlns:a16="http://schemas.microsoft.com/office/drawing/2014/main" id="{81189E8B-DD43-46E2-BB3B-82007B46DA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14" y="4495656"/>
                        <a:ext cx="1765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0">
            <a:extLst>
              <a:ext uri="{FF2B5EF4-FFF2-40B4-BE49-F238E27FC236}">
                <a16:creationId xmlns:a16="http://schemas.microsoft.com/office/drawing/2014/main" id="{164F5B79-907D-4625-8206-EF202F6A1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-28750"/>
            <a:ext cx="509319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含参数的相似问题</a:t>
            </a:r>
          </a:p>
        </p:txBody>
      </p:sp>
    </p:spTree>
    <p:extLst>
      <p:ext uri="{BB962C8B-B14F-4D97-AF65-F5344CB8AC3E}">
        <p14:creationId xmlns:p14="http://schemas.microsoft.com/office/powerpoint/2010/main" val="272510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060" name="Rectangle 30">
            <a:extLst>
              <a:ext uri="{FF2B5EF4-FFF2-40B4-BE49-F238E27FC236}">
                <a16:creationId xmlns:a16="http://schemas.microsoft.com/office/drawing/2014/main" id="{72C5B6C1-1136-4086-B50D-8BBFBB5B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681" y="-22253"/>
            <a:ext cx="201447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306F2A-B8C2-8DB2-4E6A-61BF42202FC5}"/>
              </a:ext>
            </a:extLst>
          </p:cNvPr>
          <p:cNvSpPr txBox="1"/>
          <p:nvPr/>
        </p:nvSpPr>
        <p:spPr>
          <a:xfrm>
            <a:off x="2555776" y="1241453"/>
            <a:ext cx="54611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在复数域里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什么样的矩阵可以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CC2CEF-B8E2-35AE-B581-6F4EC820BE96}"/>
              </a:ext>
            </a:extLst>
          </p:cNvPr>
          <p:cNvSpPr txBox="1"/>
          <p:nvPr/>
        </p:nvSpPr>
        <p:spPr>
          <a:xfrm>
            <a:off x="1565919" y="1241453"/>
            <a:ext cx="989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C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思考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9BEC59-9698-7344-B437-5A870C003C2B}"/>
              </a:ext>
            </a:extLst>
          </p:cNvPr>
          <p:cNvSpPr txBox="1"/>
          <p:nvPr/>
        </p:nvSpPr>
        <p:spPr>
          <a:xfrm>
            <a:off x="1143953" y="2099812"/>
            <a:ext cx="25524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对角化呢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750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98B4527F-516E-70F3-075F-1DC8CCB2B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3" y="1124744"/>
            <a:ext cx="8244408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实对称矩阵的性质是什么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什么是可对角化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7B34F915-5D52-382E-9D21-21B10CB2B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69835"/>
            <a:ext cx="5407025" cy="598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对称矩阵的对角化小结</a:t>
            </a:r>
          </a:p>
        </p:txBody>
      </p:sp>
      <p:sp>
        <p:nvSpPr>
          <p:cNvPr id="11" name="爆炸形: 8 pt  10">
            <a:extLst>
              <a:ext uri="{FF2B5EF4-FFF2-40B4-BE49-F238E27FC236}">
                <a16:creationId xmlns:a16="http://schemas.microsoft.com/office/drawing/2014/main" id="{6050979B-6C26-7FB0-242D-0C906CE3C616}"/>
              </a:ext>
            </a:extLst>
          </p:cNvPr>
          <p:cNvSpPr/>
          <p:nvPr/>
        </p:nvSpPr>
        <p:spPr bwMode="auto">
          <a:xfrm>
            <a:off x="634062" y="124140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28AD0947-ECE5-1B86-E925-AF0ADF86E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545" y="1748748"/>
            <a:ext cx="566367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可对角化的判断与计算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爆炸形: 8 pt  12">
            <a:extLst>
              <a:ext uri="{FF2B5EF4-FFF2-40B4-BE49-F238E27FC236}">
                <a16:creationId xmlns:a16="http://schemas.microsoft.com/office/drawing/2014/main" id="{545AE4F5-0B27-6592-9B37-795E10FCCC81}"/>
              </a:ext>
            </a:extLst>
          </p:cNvPr>
          <p:cNvSpPr/>
          <p:nvPr/>
        </p:nvSpPr>
        <p:spPr bwMode="auto">
          <a:xfrm>
            <a:off x="602762" y="185764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B7A2B6F-FD4A-A7D3-9736-D4AEB9A31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683" y="2399323"/>
            <a:ext cx="828203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如何利用实对称矩阵的性质求实对称矩阵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爆炸形: 8 pt  14">
            <a:extLst>
              <a:ext uri="{FF2B5EF4-FFF2-40B4-BE49-F238E27FC236}">
                <a16:creationId xmlns:a16="http://schemas.microsoft.com/office/drawing/2014/main" id="{7AE5CEBC-6EE3-BF7B-172F-CBF789699B9C}"/>
              </a:ext>
            </a:extLst>
          </p:cNvPr>
          <p:cNvSpPr/>
          <p:nvPr/>
        </p:nvSpPr>
        <p:spPr bwMode="auto">
          <a:xfrm>
            <a:off x="602762" y="2520394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FBA6BE27-CC3A-7DF9-E957-3C387E2B0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259" y="3072522"/>
            <a:ext cx="7047373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将实对称矩阵 </a:t>
            </a:r>
            <a:r>
              <a:rPr lang="en-US" altLang="zh-CN" sz="25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化为对角矩阵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爆炸形: 8 pt  17">
            <a:extLst>
              <a:ext uri="{FF2B5EF4-FFF2-40B4-BE49-F238E27FC236}">
                <a16:creationId xmlns:a16="http://schemas.microsoft.com/office/drawing/2014/main" id="{33DF4F7D-924E-2AA5-7948-9E0A38DAD70A}"/>
              </a:ext>
            </a:extLst>
          </p:cNvPr>
          <p:cNvSpPr/>
          <p:nvPr/>
        </p:nvSpPr>
        <p:spPr bwMode="auto">
          <a:xfrm>
            <a:off x="633574" y="3183140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6CCE98B2-2DBF-2586-8E98-435599168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419" y="5024769"/>
            <a:ext cx="809998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已知在实数域中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实对称矩阵可以对角化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则在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爆炸形: 8 pt  19">
            <a:extLst>
              <a:ext uri="{FF2B5EF4-FFF2-40B4-BE49-F238E27FC236}">
                <a16:creationId xmlns:a16="http://schemas.microsoft.com/office/drawing/2014/main" id="{9FEC37D3-F735-C53A-BCCB-7FDBCBADC812}"/>
              </a:ext>
            </a:extLst>
          </p:cNvPr>
          <p:cNvSpPr/>
          <p:nvPr/>
        </p:nvSpPr>
        <p:spPr bwMode="auto">
          <a:xfrm>
            <a:off x="633574" y="5133669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11">
            <a:extLst>
              <a:ext uri="{FF2B5EF4-FFF2-40B4-BE49-F238E27FC236}">
                <a16:creationId xmlns:a16="http://schemas.microsoft.com/office/drawing/2014/main" id="{6CFA6676-C226-61B6-8C43-29BFA281265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1">
            <a:extLst>
              <a:ext uri="{FF2B5EF4-FFF2-40B4-BE49-F238E27FC236}">
                <a16:creationId xmlns:a16="http://schemas.microsoft.com/office/drawing/2014/main" id="{2AF9BB81-BD33-CCEF-0309-E9AD861A4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718" y="5682832"/>
            <a:ext cx="6102714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复数域中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什么样的矩阵可以对角化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50FCDE1F-AC69-9617-2DC5-B93EF1F1A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936" y="4361320"/>
            <a:ext cx="459656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的过程中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如何求矩阵 </a:t>
            </a:r>
            <a:r>
              <a:rPr lang="en-US" altLang="zh-CN" sz="25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Object 10">
            <a:extLst>
              <a:ext uri="{FF2B5EF4-FFF2-40B4-BE49-F238E27FC236}">
                <a16:creationId xmlns:a16="http://schemas.microsoft.com/office/drawing/2014/main" id="{AF92D120-F087-EA13-8200-D99C16619F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814171"/>
              </p:ext>
            </p:extLst>
          </p:nvPr>
        </p:nvGraphicFramePr>
        <p:xfrm>
          <a:off x="2406650" y="3698875"/>
          <a:ext cx="55308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03640" imgH="482400" progId="Equation.DSMT4">
                  <p:embed/>
                </p:oleObj>
              </mc:Choice>
              <mc:Fallback>
                <p:oleObj name="Equation" r:id="rId4" imgW="5003640" imgH="482400" progId="Equation.DSMT4">
                  <p:embed/>
                  <p:pic>
                    <p:nvPicPr>
                      <p:cNvPr id="2" name="Object 10">
                        <a:extLst>
                          <a:ext uri="{FF2B5EF4-FFF2-40B4-BE49-F238E27FC236}">
                            <a16:creationId xmlns:a16="http://schemas.microsoft.com/office/drawing/2014/main" id="{50CE9416-8404-8673-7C7C-8B3CC42CEC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3698875"/>
                        <a:ext cx="553085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2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4" grpId="0"/>
      <p:bldP spid="17" grpId="0"/>
      <p:bldP spid="19" grpId="0"/>
      <p:bldP spid="22" grpId="0"/>
      <p:bldP spid="23" grpId="0"/>
    </p:bldLst>
  </p:timing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17275</TotalTime>
  <Words>1068</Words>
  <Application>Microsoft Office PowerPoint</Application>
  <PresentationFormat>全屏显示(4:3)</PresentationFormat>
  <Paragraphs>173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等线</vt:lpstr>
      <vt:lpstr>黑体</vt:lpstr>
      <vt:lpstr>华文中宋</vt:lpstr>
      <vt:lpstr>宋体</vt:lpstr>
      <vt:lpstr>Arial</vt:lpstr>
      <vt:lpstr>Arial Black</vt:lpstr>
      <vt:lpstr>Calibri</vt:lpstr>
      <vt:lpstr>Symbol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lilian chen</cp:lastModifiedBy>
  <cp:revision>1076</cp:revision>
  <dcterms:created xsi:type="dcterms:W3CDTF">2012-06-17T01:12:18Z</dcterms:created>
  <dcterms:modified xsi:type="dcterms:W3CDTF">2024-03-03T09:10:01Z</dcterms:modified>
</cp:coreProperties>
</file>