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7332" r:id="rId1"/>
  </p:sldMasterIdLst>
  <p:notesMasterIdLst>
    <p:notesMasterId r:id="rId65"/>
  </p:notesMasterIdLst>
  <p:handoutMasterIdLst>
    <p:handoutMasterId r:id="rId66"/>
  </p:handoutMasterIdLst>
  <p:sldIdLst>
    <p:sldId id="1417" r:id="rId2"/>
    <p:sldId id="1129" r:id="rId3"/>
    <p:sldId id="1416" r:id="rId4"/>
    <p:sldId id="1358" r:id="rId5"/>
    <p:sldId id="1359" r:id="rId6"/>
    <p:sldId id="1360" r:id="rId7"/>
    <p:sldId id="1361" r:id="rId8"/>
    <p:sldId id="1362" r:id="rId9"/>
    <p:sldId id="1418" r:id="rId10"/>
    <p:sldId id="1419" r:id="rId11"/>
    <p:sldId id="1420" r:id="rId12"/>
    <p:sldId id="1364" r:id="rId13"/>
    <p:sldId id="1365" r:id="rId14"/>
    <p:sldId id="1366" r:id="rId15"/>
    <p:sldId id="1367" r:id="rId16"/>
    <p:sldId id="1421" r:id="rId17"/>
    <p:sldId id="1368" r:id="rId18"/>
    <p:sldId id="1422" r:id="rId19"/>
    <p:sldId id="1369" r:id="rId20"/>
    <p:sldId id="1423" r:id="rId21"/>
    <p:sldId id="1370" r:id="rId22"/>
    <p:sldId id="1371" r:id="rId23"/>
    <p:sldId id="1372" r:id="rId24"/>
    <p:sldId id="1424" r:id="rId25"/>
    <p:sldId id="1373" r:id="rId26"/>
    <p:sldId id="1374" r:id="rId27"/>
    <p:sldId id="1375" r:id="rId28"/>
    <p:sldId id="1376" r:id="rId29"/>
    <p:sldId id="1377" r:id="rId30"/>
    <p:sldId id="1378" r:id="rId31"/>
    <p:sldId id="1379" r:id="rId32"/>
    <p:sldId id="1380" r:id="rId33"/>
    <p:sldId id="1381" r:id="rId34"/>
    <p:sldId id="1382" r:id="rId35"/>
    <p:sldId id="1383" r:id="rId36"/>
    <p:sldId id="1384" r:id="rId37"/>
    <p:sldId id="1385" r:id="rId38"/>
    <p:sldId id="1386" r:id="rId39"/>
    <p:sldId id="1425" r:id="rId40"/>
    <p:sldId id="1388" r:id="rId41"/>
    <p:sldId id="1426" r:id="rId42"/>
    <p:sldId id="1389" r:id="rId43"/>
    <p:sldId id="1415" r:id="rId44"/>
    <p:sldId id="1391" r:id="rId45"/>
    <p:sldId id="1392" r:id="rId46"/>
    <p:sldId id="1427" r:id="rId47"/>
    <p:sldId id="1394" r:id="rId48"/>
    <p:sldId id="1395" r:id="rId49"/>
    <p:sldId id="1396" r:id="rId50"/>
    <p:sldId id="1397" r:id="rId51"/>
    <p:sldId id="1398" r:id="rId52"/>
    <p:sldId id="1399" r:id="rId53"/>
    <p:sldId id="1400" r:id="rId54"/>
    <p:sldId id="1401" r:id="rId55"/>
    <p:sldId id="1402" r:id="rId56"/>
    <p:sldId id="1404" r:id="rId57"/>
    <p:sldId id="1403" r:id="rId58"/>
    <p:sldId id="1407" r:id="rId59"/>
    <p:sldId id="1406" r:id="rId60"/>
    <p:sldId id="1405" r:id="rId61"/>
    <p:sldId id="1408" r:id="rId62"/>
    <p:sldId id="1410" r:id="rId63"/>
    <p:sldId id="1357" r:id="rId6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AE090"/>
    <a:srgbClr val="607DFA"/>
    <a:srgbClr val="B0DC80"/>
    <a:srgbClr val="C7E6A4"/>
    <a:srgbClr val="FF0066"/>
    <a:srgbClr val="3333FF"/>
    <a:srgbClr val="6666FF"/>
    <a:srgbClr val="969696"/>
    <a:srgbClr val="2B2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32" autoAdjust="0"/>
    <p:restoredTop sz="93807" autoAdjust="0"/>
  </p:normalViewPr>
  <p:slideViewPr>
    <p:cSldViewPr>
      <p:cViewPr varScale="1">
        <p:scale>
          <a:sx n="109" d="100"/>
          <a:sy n="109" d="100"/>
        </p:scale>
        <p:origin x="163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7">
            <a:extLst>
              <a:ext uri="{FF2B5EF4-FFF2-40B4-BE49-F238E27FC236}">
                <a16:creationId xmlns:a16="http://schemas.microsoft.com/office/drawing/2014/main" id="{11AD45CE-45A4-DB3B-E1A1-DB7EB716B2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9" r:id="rId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6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1.wmf"/><Relationship Id="rId2" Type="http://schemas.openxmlformats.org/officeDocument/2006/relationships/slide" Target="slide5.xml"/><Relationship Id="rId16" Type="http://schemas.openxmlformats.org/officeDocument/2006/relationships/image" Target="../media/image53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6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7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77.wmf"/><Relationship Id="rId4" Type="http://schemas.openxmlformats.org/officeDocument/2006/relationships/oleObject" Target="../embeddings/oleObject7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79.wmf"/><Relationship Id="rId7" Type="http://schemas.openxmlformats.org/officeDocument/2006/relationships/image" Target="../media/image81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80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84.bin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8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wmf"/><Relationship Id="rId4" Type="http://schemas.openxmlformats.org/officeDocument/2006/relationships/oleObject" Target="../embeddings/oleObject87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image" Target="../media/image93.wmf"/><Relationship Id="rId7" Type="http://schemas.openxmlformats.org/officeDocument/2006/relationships/image" Target="../media/image94.w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89.bin"/><Relationship Id="rId5" Type="http://schemas.openxmlformats.org/officeDocument/2006/relationships/image" Target="../media/image92.w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95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00.wmf"/><Relationship Id="rId5" Type="http://schemas.openxmlformats.org/officeDocument/2006/relationships/image" Target="../media/image97.wmf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92.bin"/><Relationship Id="rId9" Type="http://schemas.openxmlformats.org/officeDocument/2006/relationships/image" Target="../media/image99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7" Type="http://schemas.openxmlformats.org/officeDocument/2006/relationships/image" Target="../media/image103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98.bin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97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90.wmf"/><Relationship Id="rId5" Type="http://schemas.openxmlformats.org/officeDocument/2006/relationships/image" Target="../media/image105.wmf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7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11.wmf"/><Relationship Id="rId5" Type="http://schemas.openxmlformats.org/officeDocument/2006/relationships/image" Target="../media/image109.w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9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112.wmf"/><Relationship Id="rId7" Type="http://schemas.openxmlformats.org/officeDocument/2006/relationships/image" Target="../media/image113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9.bin"/><Relationship Id="rId5" Type="http://schemas.openxmlformats.org/officeDocument/2006/relationships/image" Target="../media/image96.wmf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1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1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8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image" Target="../media/image121.wmf"/><Relationship Id="rId7" Type="http://schemas.openxmlformats.org/officeDocument/2006/relationships/image" Target="../media/image123.wmf"/><Relationship Id="rId2" Type="http://schemas.openxmlformats.org/officeDocument/2006/relationships/oleObject" Target="../embeddings/oleObject11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25.wmf"/><Relationship Id="rId5" Type="http://schemas.openxmlformats.org/officeDocument/2006/relationships/image" Target="../media/image122.wmf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24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7" Type="http://schemas.openxmlformats.org/officeDocument/2006/relationships/image" Target="../media/image128.w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127.wmf"/><Relationship Id="rId4" Type="http://schemas.openxmlformats.org/officeDocument/2006/relationships/oleObject" Target="../embeddings/oleObject123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oleObject" Target="../embeddings/oleObject125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0.wmf"/><Relationship Id="rId4" Type="http://schemas.openxmlformats.org/officeDocument/2006/relationships/oleObject" Target="../embeddings/oleObject126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7" Type="http://schemas.openxmlformats.org/officeDocument/2006/relationships/image" Target="../media/image133.wmf"/><Relationship Id="rId2" Type="http://schemas.openxmlformats.org/officeDocument/2006/relationships/oleObject" Target="../embeddings/oleObject12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29.bin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128.bin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40.wmf"/><Relationship Id="rId3" Type="http://schemas.openxmlformats.org/officeDocument/2006/relationships/image" Target="../media/image135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35.bin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38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3" Type="http://schemas.openxmlformats.org/officeDocument/2006/relationships/image" Target="../media/image141.wmf"/><Relationship Id="rId7" Type="http://schemas.openxmlformats.org/officeDocument/2006/relationships/image" Target="../media/image143.wmf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8.bin"/><Relationship Id="rId5" Type="http://schemas.openxmlformats.org/officeDocument/2006/relationships/image" Target="../media/image142.wmf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44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3" Type="http://schemas.openxmlformats.org/officeDocument/2006/relationships/image" Target="../media/image145.wmf"/><Relationship Id="rId7" Type="http://schemas.openxmlformats.org/officeDocument/2006/relationships/image" Target="../media/image147.w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49.wmf"/><Relationship Id="rId5" Type="http://schemas.openxmlformats.org/officeDocument/2006/relationships/image" Target="../media/image146.w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8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904316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>
            <a:extLst>
              <a:ext uri="{FF2B5EF4-FFF2-40B4-BE49-F238E27FC236}">
                <a16:creationId xmlns:a16="http://schemas.microsoft.com/office/drawing/2014/main" id="{010C426A-CE21-AD92-BF05-4F9FC4887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38761-B241-604B-D45C-DD96DCE5F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528" y="59401"/>
            <a:ext cx="87582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第三章 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线性方程组与向量组的线性相关性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956347-05E4-4BE7-AD03-79BA406C78BC}"/>
              </a:ext>
            </a:extLst>
          </p:cNvPr>
          <p:cNvSpPr/>
          <p:nvPr/>
        </p:nvSpPr>
        <p:spPr>
          <a:xfrm>
            <a:off x="1865263" y="1484784"/>
            <a:ext cx="44550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§1   </a:t>
            </a: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线性方程组的解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>
            <a:extLst>
              <a:ext uri="{FF2B5EF4-FFF2-40B4-BE49-F238E27FC236}">
                <a16:creationId xmlns:a16="http://schemas.microsoft.com/office/drawing/2014/main" id="{7568BA63-4688-4AC2-A6B8-AE734473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124744"/>
            <a:ext cx="7200800" cy="3893758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      本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节重点解决以下问题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楷体_GB2312" pitchFamily="49" charset="-122"/>
              </a:rPr>
              <a:t>:</a:t>
            </a: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对于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n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元线性方程组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,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如何判断线性方程组是否有解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若有解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线性方程组的解的个数有多少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如何求线性方程组的解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线性方程组有哪些重要的实际应用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  <a:sym typeface="楷体_GB2312" pitchFamily="49" charset="-122"/>
              </a:rPr>
              <a:t>?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4AB1C3C7-B434-29FD-AC82-EEF837F30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326284592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0"/>
            <a:ext cx="653732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元线性方程组的基本概念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D9574A2B-6169-4F88-9288-264C602FF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267" y="803016"/>
            <a:ext cx="43729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对于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EB9516B-2E72-4D29-8E6F-77ABB642D69B}"/>
              </a:ext>
            </a:extLst>
          </p:cNvPr>
          <p:cNvSpPr txBox="1"/>
          <p:nvPr/>
        </p:nvSpPr>
        <p:spPr>
          <a:xfrm>
            <a:off x="809267" y="3688873"/>
            <a:ext cx="7067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记</a:t>
            </a:r>
          </a:p>
        </p:txBody>
      </p:sp>
      <p:graphicFrame>
        <p:nvGraphicFramePr>
          <p:cNvPr id="39" name="Object 11">
            <a:extLst>
              <a:ext uri="{FF2B5EF4-FFF2-40B4-BE49-F238E27FC236}">
                <a16:creationId xmlns:a16="http://schemas.microsoft.com/office/drawing/2014/main" id="{2A3462BB-093F-4F00-A219-07669C41EF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720624"/>
              </p:ext>
            </p:extLst>
          </p:nvPr>
        </p:nvGraphicFramePr>
        <p:xfrm>
          <a:off x="1404930" y="4350406"/>
          <a:ext cx="35575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680" imgH="799920" progId="Equation.DSMT4">
                  <p:embed/>
                </p:oleObj>
              </mc:Choice>
              <mc:Fallback>
                <p:oleObj name="Equation" r:id="rId3" imgW="1777680" imgH="79992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56689402-BF48-4BF1-9DB8-AE42556BC9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0" y="4350406"/>
                        <a:ext cx="355758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1">
            <a:extLst>
              <a:ext uri="{FF2B5EF4-FFF2-40B4-BE49-F238E27FC236}">
                <a16:creationId xmlns:a16="http://schemas.microsoft.com/office/drawing/2014/main" id="{B48875B2-D350-4289-9135-72AE64A7F1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708308"/>
              </p:ext>
            </p:extLst>
          </p:nvPr>
        </p:nvGraphicFramePr>
        <p:xfrm>
          <a:off x="4978763" y="4350406"/>
          <a:ext cx="13477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72840" imgH="799920" progId="Equation.DSMT4">
                  <p:embed/>
                </p:oleObj>
              </mc:Choice>
              <mc:Fallback>
                <p:oleObj name="Equation" r:id="rId5" imgW="672840" imgH="799920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9BBF3FC-1C39-42AD-BF13-C3C2FDF224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763" y="4350406"/>
                        <a:ext cx="134778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1">
            <a:extLst>
              <a:ext uri="{FF2B5EF4-FFF2-40B4-BE49-F238E27FC236}">
                <a16:creationId xmlns:a16="http://schemas.microsoft.com/office/drawing/2014/main" id="{2F6938A9-EC8E-47D6-B35F-76D9E3BB2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045108"/>
              </p:ext>
            </p:extLst>
          </p:nvPr>
        </p:nvGraphicFramePr>
        <p:xfrm>
          <a:off x="6342796" y="4350406"/>
          <a:ext cx="1270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799920" progId="Equation.DSMT4">
                  <p:embed/>
                </p:oleObj>
              </mc:Choice>
              <mc:Fallback>
                <p:oleObj name="Equation" r:id="rId7" imgW="634680" imgH="799920" progId="Equation.DSMT4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82894757-C436-4DBB-9564-184EC8E68F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796" y="4350406"/>
                        <a:ext cx="12700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B45F18FA-A59B-0D79-9BAF-5A6FEDFD54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813695"/>
              </p:ext>
            </p:extLst>
          </p:nvPr>
        </p:nvGraphicFramePr>
        <p:xfrm>
          <a:off x="1676400" y="1556058"/>
          <a:ext cx="5791200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90960" imgH="1993680" progId="Equation.DSMT4">
                  <p:embed/>
                </p:oleObj>
              </mc:Choice>
              <mc:Fallback>
                <p:oleObj name="Equation" r:id="rId9" imgW="5790960" imgH="1993680" progId="Equation.DSMT4">
                  <p:embed/>
                  <p:pic>
                    <p:nvPicPr>
                      <p:cNvPr id="36" name="Object 14">
                        <a:extLst>
                          <a:ext uri="{FF2B5EF4-FFF2-40B4-BE49-F238E27FC236}">
                            <a16:creationId xmlns:a16="http://schemas.microsoft.com/office/drawing/2014/main" id="{53804F5B-D50F-4588-ACD0-15C73A904C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56058"/>
                        <a:ext cx="5791200" cy="199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0">
            <a:extLst>
              <a:ext uri="{FF2B5EF4-FFF2-40B4-BE49-F238E27FC236}">
                <a16:creationId xmlns:a16="http://schemas.microsoft.com/office/drawing/2014/main" id="{06D6B6D8-A269-47CD-B703-3AB26CF6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71" y="0"/>
            <a:ext cx="6426143" cy="4932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元线性方程组的基本概念</a:t>
            </a:r>
          </a:p>
        </p:txBody>
      </p:sp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F24AC82C-621B-4B24-8C0C-52ACF64B2A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117847"/>
              </p:ext>
            </p:extLst>
          </p:nvPr>
        </p:nvGraphicFramePr>
        <p:xfrm>
          <a:off x="2476500" y="919163"/>
          <a:ext cx="4191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799920" progId="Equation.DSMT4">
                  <p:embed/>
                </p:oleObj>
              </mc:Choice>
              <mc:Fallback>
                <p:oleObj name="Equation" r:id="rId2" imgW="2095200" imgH="79992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DDFCD1BB-1517-475A-988F-D4058DDA5D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919163"/>
                        <a:ext cx="41910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78D62FA0-B53D-4718-99F2-CF284319EE1F}"/>
              </a:ext>
            </a:extLst>
          </p:cNvPr>
          <p:cNvSpPr txBox="1"/>
          <p:nvPr/>
        </p:nvSpPr>
        <p:spPr>
          <a:xfrm>
            <a:off x="971600" y="2736503"/>
            <a:ext cx="7704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系数矩阵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未知数向量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常数项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474E8DE-A126-48D8-9BBC-8240E9F272B7}"/>
              </a:ext>
            </a:extLst>
          </p:cNvPr>
          <p:cNvSpPr txBox="1"/>
          <p:nvPr/>
        </p:nvSpPr>
        <p:spPr>
          <a:xfrm>
            <a:off x="971601" y="3429000"/>
            <a:ext cx="3960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增广矩阵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6F9DBAB-7B2C-4969-90C4-28B14D77F93A}"/>
              </a:ext>
            </a:extLst>
          </p:cNvPr>
          <p:cNvSpPr txBox="1"/>
          <p:nvPr/>
        </p:nvSpPr>
        <p:spPr>
          <a:xfrm>
            <a:off x="971600" y="4149944"/>
            <a:ext cx="6120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利用矩阵的乘法此方程组可记作</a:t>
            </a:r>
          </a:p>
        </p:txBody>
      </p:sp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ED800838-7E13-2921-56D5-01216B996E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470278"/>
              </p:ext>
            </p:extLst>
          </p:nvPr>
        </p:nvGraphicFramePr>
        <p:xfrm>
          <a:off x="3541018" y="4977683"/>
          <a:ext cx="340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03440" imgH="355320" progId="Equation.DSMT4">
                  <p:embed/>
                </p:oleObj>
              </mc:Choice>
              <mc:Fallback>
                <p:oleObj name="Equation" r:id="rId4" imgW="3403440" imgH="355320" progId="Equation.DSMT4">
                  <p:embed/>
                  <p:pic>
                    <p:nvPicPr>
                      <p:cNvPr id="36" name="Object 14">
                        <a:extLst>
                          <a:ext uri="{FF2B5EF4-FFF2-40B4-BE49-F238E27FC236}">
                            <a16:creationId xmlns:a16="http://schemas.microsoft.com/office/drawing/2014/main" id="{53804F5B-D50F-4588-ACD0-15C73A904C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018" y="4977683"/>
                        <a:ext cx="3403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>
            <a:extLst>
              <a:ext uri="{FF2B5EF4-FFF2-40B4-BE49-F238E27FC236}">
                <a16:creationId xmlns:a16="http://schemas.microsoft.com/office/drawing/2014/main" id="{7F49A083-B660-439B-9F98-85CF6B068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836712"/>
            <a:ext cx="80892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组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</a:t>
            </a:r>
            <a:r>
              <a:rPr kumimoji="0" lang="zh-CN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的解称为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线性</a:t>
            </a:r>
            <a:r>
              <a:rPr kumimoji="0" lang="zh-CN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方程组</a:t>
            </a:r>
            <a:r>
              <a:rPr kumimoji="0"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kumimoji="0" lang="zh-CN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kumimoji="0"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解向量</a:t>
            </a:r>
            <a:r>
              <a:rPr kumimoji="0"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441B03FF-27D0-4F12-8427-C71029CC0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149" y="1559880"/>
            <a:ext cx="3470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线性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方程组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3.1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与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7D587444-E2DA-4C11-AF1A-D6A86F2DF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10" y="1559880"/>
            <a:ext cx="54965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解与解向量的名称不加以区别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9FED57-03A9-495E-B5C7-6BCAF004F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79" y="3020983"/>
            <a:ext cx="1867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16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</a:t>
            </a:r>
            <a:endParaRPr lang="zh-CN" altLang="en-US" b="1" dirty="0">
              <a:solidFill>
                <a:srgbClr val="C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FCEF91-71C7-4F31-85DF-39CCF362CB4F}"/>
              </a:ext>
            </a:extLst>
          </p:cNvPr>
          <p:cNvSpPr txBox="1"/>
          <p:nvPr/>
        </p:nvSpPr>
        <p:spPr>
          <a:xfrm>
            <a:off x="2062246" y="3020983"/>
            <a:ext cx="689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若线性方程组</a:t>
            </a:r>
            <a:r>
              <a:rPr lang="zh-CN" altLang="en-US" sz="1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kumimoji="0" lang="zh-CN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</a:t>
            </a:r>
            <a:r>
              <a:rPr kumimoji="0" lang="zh-CN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有解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则称它是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相容的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242E2D2-BF05-41D1-A293-D9E2B995AD07}"/>
              </a:ext>
            </a:extLst>
          </p:cNvPr>
          <p:cNvSpPr txBox="1"/>
          <p:nvPr/>
        </p:nvSpPr>
        <p:spPr>
          <a:xfrm>
            <a:off x="2180810" y="3744151"/>
            <a:ext cx="7128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就称线性方程组</a:t>
            </a:r>
            <a:r>
              <a:rPr lang="zh-CN" altLang="en-US" sz="1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kumimoji="0" lang="zh-CN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</a:t>
            </a:r>
            <a:r>
              <a:rPr kumimoji="0" lang="zh-CN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不相容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矛盾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88939CC-A94F-44ED-A61A-3A0F388C6007}"/>
              </a:ext>
            </a:extLst>
          </p:cNvPr>
          <p:cNvSpPr txBox="1"/>
          <p:nvPr/>
        </p:nvSpPr>
        <p:spPr>
          <a:xfrm>
            <a:off x="2083922" y="4507908"/>
            <a:ext cx="69768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如果两个含有相同变量的方程组的解集相</a:t>
            </a:r>
            <a:endParaRPr lang="en-US" altLang="zh-CN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3016A95-790E-42F8-AB7A-3874AF497E3E}"/>
              </a:ext>
            </a:extLst>
          </p:cNvPr>
          <p:cNvSpPr txBox="1"/>
          <p:nvPr/>
        </p:nvSpPr>
        <p:spPr>
          <a:xfrm>
            <a:off x="1179168" y="5271665"/>
            <a:ext cx="53285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则称这两个方程组是</a:t>
            </a:r>
            <a:r>
              <a:rPr lang="zh-CN" altLang="en-US" dirty="0">
                <a:solidFill>
                  <a:srgbClr val="0000FF"/>
                </a:solidFill>
              </a:rPr>
              <a:t>等价的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DC5F87-9B5C-59F1-BDB5-6158C97B5B29}"/>
              </a:ext>
            </a:extLst>
          </p:cNvPr>
          <p:cNvSpPr txBox="1"/>
          <p:nvPr/>
        </p:nvSpPr>
        <p:spPr>
          <a:xfrm>
            <a:off x="423510" y="3744151"/>
            <a:ext cx="1973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如果无解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12B132-44C7-3386-AEAA-A4497FACF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36" y="4494999"/>
            <a:ext cx="1867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16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</a:t>
            </a:r>
            <a:endParaRPr lang="zh-CN" altLang="en-US" b="1" dirty="0">
              <a:solidFill>
                <a:srgbClr val="C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D7DC89-3EA2-650D-128B-8C6873F551BF}"/>
              </a:ext>
            </a:extLst>
          </p:cNvPr>
          <p:cNvSpPr txBox="1"/>
          <p:nvPr/>
        </p:nvSpPr>
        <p:spPr>
          <a:xfrm>
            <a:off x="421277" y="5271665"/>
            <a:ext cx="8298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marR="0" lvl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同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347AFFE-6521-1E8B-DA95-58A198DC8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510" y="2288932"/>
            <a:ext cx="46295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0" lang="zh-CN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组</a:t>
            </a:r>
            <a:r>
              <a:rPr kumimoji="0"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3.2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也不加区别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FE55109C-95C1-487E-BD1A-6FB819F3D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071" y="0"/>
            <a:ext cx="6426143" cy="4932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元线性方程组的基本概念</a:t>
            </a:r>
          </a:p>
        </p:txBody>
      </p:sp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30">
            <a:extLst>
              <a:ext uri="{FF2B5EF4-FFF2-40B4-BE49-F238E27FC236}">
                <a16:creationId xmlns:a16="http://schemas.microsoft.com/office/drawing/2014/main" id="{412B54ED-8DE4-4867-9CC9-BAA0C8670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0" y="-14623"/>
            <a:ext cx="772136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元线性方程组的几种常见表现形式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32AB0FC-9FCE-4066-9EAA-A6427AEBFE39}"/>
              </a:ext>
            </a:extLst>
          </p:cNvPr>
          <p:cNvSpPr txBox="1"/>
          <p:nvPr/>
        </p:nvSpPr>
        <p:spPr>
          <a:xfrm>
            <a:off x="986617" y="69269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元线性方程组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417C8B3-7477-414E-B6DF-661F705A35F6}"/>
              </a:ext>
            </a:extLst>
          </p:cNvPr>
          <p:cNvSpPr txBox="1"/>
          <p:nvPr/>
        </p:nvSpPr>
        <p:spPr>
          <a:xfrm>
            <a:off x="401207" y="3444807"/>
            <a:ext cx="87484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按分块矩阵的记法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(3.3)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的增广矩阵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可记作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799F2AB-A2F3-43AB-9718-E75AF6DA560D}"/>
              </a:ext>
            </a:extLst>
          </p:cNvPr>
          <p:cNvSpPr txBox="1"/>
          <p:nvPr/>
        </p:nvSpPr>
        <p:spPr>
          <a:xfrm>
            <a:off x="2484546" y="4171816"/>
            <a:ext cx="837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</a:p>
        </p:txBody>
      </p:sp>
      <p:sp>
        <p:nvSpPr>
          <p:cNvPr id="54" name="Rectangle 1">
            <a:extLst>
              <a:ext uri="{FF2B5EF4-FFF2-40B4-BE49-F238E27FC236}">
                <a16:creationId xmlns:a16="http://schemas.microsoft.com/office/drawing/2014/main" id="{A7F73569-0EA5-4DC3-B262-62238235B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514" y="5531532"/>
            <a:ext cx="19439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列矩阵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47965AAD-9441-C957-9F81-72C56FAF3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641143"/>
              </p:ext>
            </p:extLst>
          </p:nvPr>
        </p:nvGraphicFramePr>
        <p:xfrm>
          <a:off x="3025441" y="4255708"/>
          <a:ext cx="4775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75040" imgH="419040" progId="Equation.DSMT4">
                  <p:embed/>
                </p:oleObj>
              </mc:Choice>
              <mc:Fallback>
                <p:oleObj name="Equation" r:id="rId2" imgW="4775040" imgH="419040" progId="Equation.DSMT4">
                  <p:embed/>
                  <p:pic>
                    <p:nvPicPr>
                      <p:cNvPr id="36" name="Object 14">
                        <a:extLst>
                          <a:ext uri="{FF2B5EF4-FFF2-40B4-BE49-F238E27FC236}">
                            <a16:creationId xmlns:a16="http://schemas.microsoft.com/office/drawing/2014/main" id="{53804F5B-D50F-4588-ACD0-15C73A904C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441" y="4255708"/>
                        <a:ext cx="4775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31ED02BA-DC8C-25A5-3973-3FAC5F81A024}"/>
              </a:ext>
            </a:extLst>
          </p:cNvPr>
          <p:cNvGrpSpPr/>
          <p:nvPr/>
        </p:nvGrpSpPr>
        <p:grpSpPr>
          <a:xfrm>
            <a:off x="473513" y="4896484"/>
            <a:ext cx="8676158" cy="523220"/>
            <a:chOff x="980945" y="5243091"/>
            <a:chExt cx="8676158" cy="523220"/>
          </a:xfrm>
        </p:grpSpPr>
        <p:sp>
          <p:nvSpPr>
            <p:cNvPr id="52" name="Rectangle 1">
              <a:extLst>
                <a:ext uri="{FF2B5EF4-FFF2-40B4-BE49-F238E27FC236}">
                  <a16:creationId xmlns:a16="http://schemas.microsoft.com/office/drawing/2014/main" id="{8ED21361-8CA6-4BAA-AA6D-A3F9A065E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945" y="5243091"/>
              <a:ext cx="86761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/>
              <a:r>
                <a:rPr kumimoji="0" lang="zh-CN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其中</a:t>
              </a:r>
              <a:r>
                <a:rPr kumimoji="0" lang="en-US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   </a:t>
              </a:r>
              <a:r>
                <a:rPr kumimoji="0" lang="zh-CN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             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 </a:t>
              </a:r>
              <a:r>
                <a:rPr kumimoji="0" lang="zh-CN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是将系数矩阵</a:t>
              </a:r>
              <a:r>
                <a:rPr kumimoji="0" lang="zh-CN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ea typeface="华文中宋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按列</a:t>
              </a:r>
              <a:r>
                <a:rPr kumimoji="0" lang="zh-CN" altLang="zh-CN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分块得</a:t>
              </a:r>
              <a:r>
                <a:rPr kumimoji="0" lang="zh-CN" altLang="zh-CN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到的</a:t>
              </a:r>
              <a:r>
                <a:rPr kumimoji="0" lang="en-US" altLang="zh-CN" sz="10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b="1" i="1" dirty="0">
                  <a:solidFill>
                    <a:schemeClr val="tx1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en-US" altLang="zh-CN" sz="1000" b="1" i="1" dirty="0">
                  <a:solidFill>
                    <a:schemeClr val="tx1"/>
                  </a:solidFill>
                  <a:ea typeface="华文中宋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zh-CN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cs typeface="Times New Roman" panose="02020603050405020304" pitchFamily="18" charset="0"/>
                </a:rPr>
                <a:t>个</a:t>
              </a:r>
              <a:endPara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3" name="Object 14">
              <a:extLst>
                <a:ext uri="{FF2B5EF4-FFF2-40B4-BE49-F238E27FC236}">
                  <a16:creationId xmlns:a16="http://schemas.microsoft.com/office/drawing/2014/main" id="{B55FF38C-4576-F6AF-231E-D6B4F90601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1849056"/>
                </p:ext>
              </p:extLst>
            </p:nvPr>
          </p:nvGraphicFramePr>
          <p:xfrm>
            <a:off x="1853542" y="5316222"/>
            <a:ext cx="17145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14320" imgH="419040" progId="Equation.DSMT4">
                    <p:embed/>
                  </p:oleObj>
                </mc:Choice>
                <mc:Fallback>
                  <p:oleObj name="Equation" r:id="rId4" imgW="1714320" imgH="419040" progId="Equation.DSMT4">
                    <p:embed/>
                    <p:pic>
                      <p:nvPicPr>
                        <p:cNvPr id="2" name="Object 14">
                          <a:extLst>
                            <a:ext uri="{FF2B5EF4-FFF2-40B4-BE49-F238E27FC236}">
                              <a16:creationId xmlns:a16="http://schemas.microsoft.com/office/drawing/2014/main" id="{47965AAD-9441-C957-9F81-72C56FAF31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3542" y="5316222"/>
                          <a:ext cx="17145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CF51981E-9C81-2262-1882-5080CFE28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940815"/>
              </p:ext>
            </p:extLst>
          </p:nvPr>
        </p:nvGraphicFramePr>
        <p:xfrm>
          <a:off x="1802721" y="1272280"/>
          <a:ext cx="5549900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49760" imgH="1993680" progId="Equation.DSMT4">
                  <p:embed/>
                </p:oleObj>
              </mc:Choice>
              <mc:Fallback>
                <p:oleObj name="Equation" r:id="rId6" imgW="5549760" imgH="1993680" progId="Equation.DSMT4">
                  <p:embed/>
                  <p:pic>
                    <p:nvPicPr>
                      <p:cNvPr id="3" name="Object 14">
                        <a:extLst>
                          <a:ext uri="{FF2B5EF4-FFF2-40B4-BE49-F238E27FC236}">
                            <a16:creationId xmlns:a16="http://schemas.microsoft.com/office/drawing/2014/main" id="{B55FF38C-4576-F6AF-231E-D6B4F90601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721" y="1272280"/>
                        <a:ext cx="5549900" cy="199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6872EA79-D50E-B504-EC0A-BF84E85001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168888"/>
              </p:ext>
            </p:extLst>
          </p:nvPr>
        </p:nvGraphicFramePr>
        <p:xfrm>
          <a:off x="1112946" y="4287458"/>
          <a:ext cx="1371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355320" progId="Equation.DSMT4">
                  <p:embed/>
                </p:oleObj>
              </mc:Choice>
              <mc:Fallback>
                <p:oleObj name="Equation" r:id="rId8" imgW="1371600" imgH="355320" progId="Equation.DSMT4">
                  <p:embed/>
                  <p:pic>
                    <p:nvPicPr>
                      <p:cNvPr id="3" name="Object 14">
                        <a:extLst>
                          <a:ext uri="{FF2B5EF4-FFF2-40B4-BE49-F238E27FC236}">
                            <a16:creationId xmlns:a16="http://schemas.microsoft.com/office/drawing/2014/main" id="{B55FF38C-4576-F6AF-231E-D6B4F90601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946" y="4287458"/>
                        <a:ext cx="1371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7" grpId="0"/>
      <p:bldP spid="50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2">
            <a:extLst>
              <a:ext uri="{FF2B5EF4-FFF2-40B4-BE49-F238E27FC236}">
                <a16:creationId xmlns:a16="http://schemas.microsoft.com/office/drawing/2014/main" id="{8F2A3886-72A1-418C-8585-F86401E69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545" y="696534"/>
            <a:ext cx="5940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如果把系数矩阵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按行分成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m</a:t>
            </a:r>
            <a:r>
              <a:rPr lang="en-US" altLang="zh-CN" sz="2000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块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6BB7543B-6DBB-4C16-ACD1-8762E530E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156" y="1978522"/>
            <a:ext cx="28146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(3.3)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可记作</a:t>
            </a:r>
          </a:p>
        </p:txBody>
      </p:sp>
      <p:sp>
        <p:nvSpPr>
          <p:cNvPr id="29" name="Text Box 5">
            <a:extLst>
              <a:ext uri="{FF2B5EF4-FFF2-40B4-BE49-F238E27FC236}">
                <a16:creationId xmlns:a16="http://schemas.microsoft.com/office/drawing/2014/main" id="{390EB0E4-C7AB-4DDD-AE41-519E34A44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2817" y="2062762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</a:p>
        </p:txBody>
      </p:sp>
      <p:sp>
        <p:nvSpPr>
          <p:cNvPr id="30" name="Text Box 7">
            <a:extLst>
              <a:ext uri="{FF2B5EF4-FFF2-40B4-BE49-F238E27FC236}">
                <a16:creationId xmlns:a16="http://schemas.microsoft.com/office/drawing/2014/main" id="{F795E1D0-106D-4CC8-8C58-AE7A780D9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2" y="4184083"/>
            <a:ext cx="25653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m</a:t>
            </a:r>
            <a:r>
              <a:rPr lang="en-US" altLang="zh-CN" sz="2000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个行矩阵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1" name="Text Box 8">
            <a:extLst>
              <a:ext uri="{FF2B5EF4-FFF2-40B4-BE49-F238E27FC236}">
                <a16:creationId xmlns:a16="http://schemas.microsoft.com/office/drawing/2014/main" id="{DAE7B49C-8C57-4B6A-865D-AFA9A913C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602" y="4869160"/>
            <a:ext cx="73402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    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2,…,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en-US" altLang="zh-CN" b="1" i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F234988C-5C39-47CF-8332-E7604C933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2" y="5576879"/>
            <a:ext cx="115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记作</a:t>
            </a:r>
          </a:p>
        </p:txBody>
      </p:sp>
      <p:sp>
        <p:nvSpPr>
          <p:cNvPr id="33" name="Text Box 11">
            <a:extLst>
              <a:ext uri="{FF2B5EF4-FFF2-40B4-BE49-F238E27FC236}">
                <a16:creationId xmlns:a16="http://schemas.microsoft.com/office/drawing/2014/main" id="{5EAEF34E-9F90-489C-97EF-CAACB8C6C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4245" y="696534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则线性方程组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4" name="Object 12">
            <a:extLst>
              <a:ext uri="{FF2B5EF4-FFF2-40B4-BE49-F238E27FC236}">
                <a16:creationId xmlns:a16="http://schemas.microsoft.com/office/drawing/2014/main" id="{E3C82DEB-866B-4E0A-A88F-A07D3D745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375760"/>
              </p:ext>
            </p:extLst>
          </p:nvPr>
        </p:nvGraphicFramePr>
        <p:xfrm>
          <a:off x="2560884" y="1362067"/>
          <a:ext cx="20955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1879560" progId="Equation.DSMT4">
                  <p:embed/>
                </p:oleObj>
              </mc:Choice>
              <mc:Fallback>
                <p:oleObj name="Equation" r:id="rId2" imgW="2095200" imgH="1879560" progId="Equation.DSMT4">
                  <p:embed/>
                  <p:pic>
                    <p:nvPicPr>
                      <p:cNvPr id="45" name="Object 12">
                        <a:extLst>
                          <a:ext uri="{FF2B5EF4-FFF2-40B4-BE49-F238E27FC236}">
                            <a16:creationId xmlns:a16="http://schemas.microsoft.com/office/drawing/2014/main" id="{270E26E9-34F5-4E0D-9BCE-BA7D726097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884" y="1362067"/>
                        <a:ext cx="20955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3">
            <a:extLst>
              <a:ext uri="{FF2B5EF4-FFF2-40B4-BE49-F238E27FC236}">
                <a16:creationId xmlns:a16="http://schemas.microsoft.com/office/drawing/2014/main" id="{F346010C-93DA-4BB3-B47C-830B88A20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904133"/>
              </p:ext>
            </p:extLst>
          </p:nvPr>
        </p:nvGraphicFramePr>
        <p:xfrm>
          <a:off x="5274054" y="1400605"/>
          <a:ext cx="30607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60360" imgH="1879560" progId="Equation.DSMT4">
                  <p:embed/>
                </p:oleObj>
              </mc:Choice>
              <mc:Fallback>
                <p:oleObj name="Equation" r:id="rId4" imgW="3060360" imgH="1879560" progId="Equation.DSMT4">
                  <p:embed/>
                  <p:pic>
                    <p:nvPicPr>
                      <p:cNvPr id="46" name="Object 13">
                        <a:extLst>
                          <a:ext uri="{FF2B5EF4-FFF2-40B4-BE49-F238E27FC236}">
                            <a16:creationId xmlns:a16="http://schemas.microsoft.com/office/drawing/2014/main" id="{2575459C-137C-4DB1-9CD9-D1EA183831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4054" y="1400605"/>
                        <a:ext cx="30607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4">
            <a:extLst>
              <a:ext uri="{FF2B5EF4-FFF2-40B4-BE49-F238E27FC236}">
                <a16:creationId xmlns:a16="http://schemas.microsoft.com/office/drawing/2014/main" id="{53804F5B-D50F-4588-ACD0-15C73A904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006519"/>
              </p:ext>
            </p:extLst>
          </p:nvPr>
        </p:nvGraphicFramePr>
        <p:xfrm>
          <a:off x="2645022" y="5599104"/>
          <a:ext cx="3860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60640" imgH="482400" progId="Equation.DSMT4">
                  <p:embed/>
                </p:oleObj>
              </mc:Choice>
              <mc:Fallback>
                <p:oleObj name="Equation" r:id="rId6" imgW="3860640" imgH="482400" progId="Equation.DSMT4">
                  <p:embed/>
                  <p:pic>
                    <p:nvPicPr>
                      <p:cNvPr id="47" name="Object 14">
                        <a:extLst>
                          <a:ext uri="{FF2B5EF4-FFF2-40B4-BE49-F238E27FC236}">
                            <a16:creationId xmlns:a16="http://schemas.microsoft.com/office/drawing/2014/main" id="{2351CC1C-9CFF-47CF-A0FC-9B136F9FCD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5022" y="5599104"/>
                        <a:ext cx="3860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CD916BC9-0C22-48D4-51F1-EE995335F6AB}"/>
              </a:ext>
            </a:extLst>
          </p:cNvPr>
          <p:cNvGrpSpPr/>
          <p:nvPr/>
        </p:nvGrpSpPr>
        <p:grpSpPr>
          <a:xfrm>
            <a:off x="400545" y="3450228"/>
            <a:ext cx="8748464" cy="523220"/>
            <a:chOff x="395536" y="3658199"/>
            <a:chExt cx="8748464" cy="523220"/>
          </a:xfrm>
        </p:grpSpPr>
        <p:sp>
          <p:nvSpPr>
            <p:cNvPr id="3" name="Text Box 9">
              <a:extLst>
                <a:ext uri="{FF2B5EF4-FFF2-40B4-BE49-F238E27FC236}">
                  <a16:creationId xmlns:a16="http://schemas.microsoft.com/office/drawing/2014/main" id="{42E3E741-D738-50F1-49C9-C6D1C0FC0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3660253"/>
              <a:ext cx="115252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其中</a:t>
              </a:r>
            </a:p>
          </p:txBody>
        </p:sp>
        <p:graphicFrame>
          <p:nvGraphicFramePr>
            <p:cNvPr id="4" name="Object 14">
              <a:extLst>
                <a:ext uri="{FF2B5EF4-FFF2-40B4-BE49-F238E27FC236}">
                  <a16:creationId xmlns:a16="http://schemas.microsoft.com/office/drawing/2014/main" id="{8C301756-D3AA-90A6-CD2F-F0D45E0F20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2000970"/>
                </p:ext>
              </p:extLst>
            </p:nvPr>
          </p:nvGraphicFramePr>
          <p:xfrm>
            <a:off x="1270248" y="3696765"/>
            <a:ext cx="2095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95200" imgH="482400" progId="Equation.DSMT4">
                    <p:embed/>
                  </p:oleObj>
                </mc:Choice>
                <mc:Fallback>
                  <p:oleObj name="Equation" r:id="rId8" imgW="2095200" imgH="482400" progId="Equation.DSMT4">
                    <p:embed/>
                    <p:pic>
                      <p:nvPicPr>
                        <p:cNvPr id="36" name="Object 14">
                          <a:extLst>
                            <a:ext uri="{FF2B5EF4-FFF2-40B4-BE49-F238E27FC236}">
                              <a16:creationId xmlns:a16="http://schemas.microsoft.com/office/drawing/2014/main" id="{53804F5B-D50F-4588-ACD0-15C73A904C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0248" y="3696765"/>
                          <a:ext cx="20955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2">
              <a:extLst>
                <a:ext uri="{FF2B5EF4-FFF2-40B4-BE49-F238E27FC236}">
                  <a16:creationId xmlns:a16="http://schemas.microsoft.com/office/drawing/2014/main" id="{F2E7F67B-9AC0-96D4-AC53-CEFC5F61F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881" y="3658199"/>
              <a:ext cx="5652119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是将系数矩阵</a:t>
              </a:r>
              <a:r>
                <a:rPr lang="zh-CN" altLang="en-US" sz="2000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en-US" altLang="zh-CN" b="1" i="1" dirty="0">
                  <a:solidFill>
                    <a:schemeClr val="tx1"/>
                  </a:solidFill>
                  <a:ea typeface="黑体" pitchFamily="2" charset="-122"/>
                  <a:cs typeface="Times New Roman" pitchFamily="18" charset="0"/>
                </a:rPr>
                <a:t>A</a:t>
              </a:r>
              <a:r>
                <a:rPr lang="en-US" altLang="zh-CN" sz="2000" b="1" i="1" dirty="0">
                  <a:solidFill>
                    <a:schemeClr val="tx1"/>
                  </a:solidFill>
                  <a:ea typeface="黑体" pitchFamily="2" charset="-122"/>
                  <a:cs typeface="Times New Roman" pitchFamily="18" charset="0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按行分块得到的</a:t>
              </a:r>
              <a:endPara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 Box 7">
            <a:extLst>
              <a:ext uri="{FF2B5EF4-FFF2-40B4-BE49-F238E27FC236}">
                <a16:creationId xmlns:a16="http://schemas.microsoft.com/office/drawing/2014/main" id="{94E0B89F-E36C-BE9D-F004-604874FAE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0826" y="4184083"/>
            <a:ext cx="388843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这就相当于把方程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BE1D855B-762A-42E8-A5B9-439BCD630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0" y="-14623"/>
            <a:ext cx="772136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元线性方程组的几种常见表现形式</a:t>
            </a: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7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25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 autoUpdateAnimBg="0"/>
      <p:bldP spid="28" grpId="0" build="p" autoUpdateAnimBg="0" advAuto="0"/>
      <p:bldP spid="29" grpId="0" build="p" autoUpdateAnimBg="0" advAuto="0"/>
      <p:bldP spid="30" grpId="0" build="p" autoUpdateAnimBg="0"/>
      <p:bldP spid="31" grpId="0" build="p" autoUpdateAnimBg="0" advAuto="0"/>
      <p:bldP spid="32" grpId="0" build="p" autoUpdateAnimBg="0"/>
      <p:bldP spid="33" grpId="0" build="p" autoUpdateAnimBg="0"/>
      <p:bldP spid="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2">
            <a:extLst>
              <a:ext uri="{FF2B5EF4-FFF2-40B4-BE49-F238E27FC236}">
                <a16:creationId xmlns:a16="http://schemas.microsoft.com/office/drawing/2014/main" id="{EC12E086-EE0E-48A8-B875-28A9B6676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45" y="1049417"/>
            <a:ext cx="62960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如果把系数矩阵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按列分成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块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4" name="Text Box 3">
            <a:extLst>
              <a:ext uri="{FF2B5EF4-FFF2-40B4-BE49-F238E27FC236}">
                <a16:creationId xmlns:a16="http://schemas.microsoft.com/office/drawing/2014/main" id="{B779DD17-935F-46BC-860B-875250D4E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65" y="1717200"/>
            <a:ext cx="4826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相应地按行分成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块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A8B1AD8E-B2C6-4FC0-8901-84A22A74F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65" y="4315012"/>
            <a:ext cx="8001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           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.               (3.6)</a:t>
            </a:r>
            <a:endParaRPr lang="zh-CN" altLang="en-US" b="1" baseline="-25000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5B27EADD-05BC-4AC4-8E8E-5783FDA39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841" y="5085184"/>
            <a:ext cx="677040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这相当于把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</a:rPr>
              <a:t>(3.3)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表示成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8" name="Text Box 10">
            <a:extLst>
              <a:ext uri="{FF2B5EF4-FFF2-40B4-BE49-F238E27FC236}">
                <a16:creationId xmlns:a16="http://schemas.microsoft.com/office/drawing/2014/main" id="{A8C13A70-2043-4CC2-9650-095FBE2C1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370" y="1054180"/>
            <a:ext cx="2344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则与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相乘</a:t>
            </a: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99A5B516-1340-4060-B0BC-B7F463C1A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1717200"/>
            <a:ext cx="257085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从而记作</a:t>
            </a:r>
          </a:p>
        </p:txBody>
      </p:sp>
      <p:graphicFrame>
        <p:nvGraphicFramePr>
          <p:cNvPr id="31" name="Object 13">
            <a:extLst>
              <a:ext uri="{FF2B5EF4-FFF2-40B4-BE49-F238E27FC236}">
                <a16:creationId xmlns:a16="http://schemas.microsoft.com/office/drawing/2014/main" id="{CB8ACFA6-3053-4E39-9EBA-FF4C4E0541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162621"/>
              </p:ext>
            </p:extLst>
          </p:nvPr>
        </p:nvGraphicFramePr>
        <p:xfrm>
          <a:off x="2627784" y="2431112"/>
          <a:ext cx="32893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88960" imgH="1688760" progId="Equation.DSMT4">
                  <p:embed/>
                </p:oleObj>
              </mc:Choice>
              <mc:Fallback>
                <p:oleObj name="Equation" r:id="rId2" imgW="3288960" imgH="1688760" progId="Equation.DSMT4">
                  <p:embed/>
                  <p:pic>
                    <p:nvPicPr>
                      <p:cNvPr id="31" name="Object 13">
                        <a:extLst>
                          <a:ext uri="{FF2B5EF4-FFF2-40B4-BE49-F238E27FC236}">
                            <a16:creationId xmlns:a16="http://schemas.microsoft.com/office/drawing/2014/main" id="{CB8ACFA6-3053-4E39-9EBA-FF4C4E054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431112"/>
                        <a:ext cx="32893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0">
            <a:extLst>
              <a:ext uri="{FF2B5EF4-FFF2-40B4-BE49-F238E27FC236}">
                <a16:creationId xmlns:a16="http://schemas.microsoft.com/office/drawing/2014/main" id="{A14A9BB7-F9BB-4C79-9115-20D6F7F29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0" y="-14623"/>
            <a:ext cx="772136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元线性方程组的几种常见表现形式</a:t>
            </a:r>
          </a:p>
        </p:txBody>
      </p:sp>
    </p:spTree>
    <p:extLst>
      <p:ext uri="{BB962C8B-B14F-4D97-AF65-F5344CB8AC3E}">
        <p14:creationId xmlns:p14="http://schemas.microsoft.com/office/powerpoint/2010/main" val="37349027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250"/>
                            </p:stCondLst>
                            <p:childTnLst>
                              <p:par>
                                <p:cTn id="21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 autoUpdateAnimBg="0"/>
      <p:bldP spid="24" grpId="0" build="p" autoUpdateAnimBg="0" advAuto="0"/>
      <p:bldP spid="25" grpId="0" build="p" autoUpdateAnimBg="0"/>
      <p:bldP spid="26" grpId="0" build="p" autoUpdateAnimBg="0"/>
      <p:bldP spid="28" grpId="0" build="p" autoUpdateAnimBg="0"/>
      <p:bldP spid="29" grpId="0" build="p" autoUpdateAnimBg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02E8894D-3E60-8193-DAAC-BE24510FF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029798"/>
              </p:ext>
            </p:extLst>
          </p:nvPr>
        </p:nvGraphicFramePr>
        <p:xfrm>
          <a:off x="1543050" y="958907"/>
          <a:ext cx="60579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57720" imgH="1701720" progId="Equation.DSMT4">
                  <p:embed/>
                </p:oleObj>
              </mc:Choice>
              <mc:Fallback>
                <p:oleObj name="Equation" r:id="rId2" imgW="6057720" imgH="1701720" progId="Equation.DSMT4">
                  <p:embed/>
                  <p:pic>
                    <p:nvPicPr>
                      <p:cNvPr id="36" name="Object 14">
                        <a:extLst>
                          <a:ext uri="{FF2B5EF4-FFF2-40B4-BE49-F238E27FC236}">
                            <a16:creationId xmlns:a16="http://schemas.microsoft.com/office/drawing/2014/main" id="{53804F5B-D50F-4588-ACD0-15C73A904C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958907"/>
                        <a:ext cx="60579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E2D3C934-BEED-AB2C-A061-45705F1D8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130064"/>
              </p:ext>
            </p:extLst>
          </p:nvPr>
        </p:nvGraphicFramePr>
        <p:xfrm>
          <a:off x="903164" y="4248088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342720" progId="Equation.DSMT4">
                  <p:embed/>
                </p:oleObj>
              </mc:Choice>
              <mc:Fallback>
                <p:oleObj name="Equation" r:id="rId4" imgW="1054080" imgH="342720" progId="Equation.DSMT4">
                  <p:embed/>
                  <p:pic>
                    <p:nvPicPr>
                      <p:cNvPr id="36" name="Object 14">
                        <a:extLst>
                          <a:ext uri="{FF2B5EF4-FFF2-40B4-BE49-F238E27FC236}">
                            <a16:creationId xmlns:a16="http://schemas.microsoft.com/office/drawing/2014/main" id="{53804F5B-D50F-4588-ACD0-15C73A904C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164" y="4248088"/>
                        <a:ext cx="1054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40CD474F-056B-5294-74E8-189DBBA7D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945" y="2804136"/>
            <a:ext cx="163383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总之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DC91A3B1-4191-EEBD-B93C-E79EB9FCD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548611"/>
            <a:ext cx="388843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都表示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6F20A80A-9F56-78AA-0EDD-ED45DF741E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690278"/>
              </p:ext>
            </p:extLst>
          </p:nvPr>
        </p:nvGraphicFramePr>
        <p:xfrm>
          <a:off x="2154778" y="3426797"/>
          <a:ext cx="22098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09680" imgH="1879560" progId="Equation.DSMT4">
                  <p:embed/>
                </p:oleObj>
              </mc:Choice>
              <mc:Fallback>
                <p:oleObj name="Equation" r:id="rId6" imgW="2209680" imgH="1879560" progId="Equation.DSMT4">
                  <p:embed/>
                  <p:pic>
                    <p:nvPicPr>
                      <p:cNvPr id="34" name="Object 12">
                        <a:extLst>
                          <a:ext uri="{FF2B5EF4-FFF2-40B4-BE49-F238E27FC236}">
                            <a16:creationId xmlns:a16="http://schemas.microsoft.com/office/drawing/2014/main" id="{E3C82DEB-866B-4E0A-A88F-A07D3D745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778" y="3426797"/>
                        <a:ext cx="22098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5">
            <a:extLst>
              <a:ext uri="{FF2B5EF4-FFF2-40B4-BE49-F238E27FC236}">
                <a16:creationId xmlns:a16="http://schemas.microsoft.com/office/drawing/2014/main" id="{BC2DC5FF-6EB7-A90C-EDF4-782AEAB30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4104659"/>
            <a:ext cx="453650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endParaRPr lang="zh-CN" altLang="en-US" b="1" baseline="-25000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382FF552-D260-4279-A1C5-404AE2C3C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0" y="-14623"/>
            <a:ext cx="772136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元线性方程组的几种常见表现形式</a:t>
            </a:r>
          </a:p>
        </p:txBody>
      </p:sp>
    </p:spTree>
    <p:extLst>
      <p:ext uri="{BB962C8B-B14F-4D97-AF65-F5344CB8AC3E}">
        <p14:creationId xmlns:p14="http://schemas.microsoft.com/office/powerpoint/2010/main" val="3708159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 build="p" autoUpdateAnimBg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4">
            <a:extLst>
              <a:ext uri="{FF2B5EF4-FFF2-40B4-BE49-F238E27FC236}">
                <a16:creationId xmlns:a16="http://schemas.microsoft.com/office/drawing/2014/main" id="{02E8894D-3E60-8193-DAAC-BE24510FF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332781"/>
              </p:ext>
            </p:extLst>
          </p:nvPr>
        </p:nvGraphicFramePr>
        <p:xfrm>
          <a:off x="2235200" y="1141551"/>
          <a:ext cx="4673600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73520" imgH="1993680" progId="Equation.DSMT4">
                  <p:embed/>
                </p:oleObj>
              </mc:Choice>
              <mc:Fallback>
                <p:oleObj name="Equation" r:id="rId2" imgW="4673520" imgH="1993680" progId="Equation.DSMT4">
                  <p:embed/>
                  <p:pic>
                    <p:nvPicPr>
                      <p:cNvPr id="2" name="Object 14">
                        <a:extLst>
                          <a:ext uri="{FF2B5EF4-FFF2-40B4-BE49-F238E27FC236}">
                            <a16:creationId xmlns:a16="http://schemas.microsoft.com/office/drawing/2014/main" id="{02E8894D-3E60-8193-DAAC-BE24510FF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141551"/>
                        <a:ext cx="4673600" cy="199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>
            <a:extLst>
              <a:ext uri="{FF2B5EF4-FFF2-40B4-BE49-F238E27FC236}">
                <a16:creationId xmlns:a16="http://schemas.microsoft.com/office/drawing/2014/main" id="{DC91A3B1-4191-EEBD-B93C-E79EB9FCD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605068"/>
            <a:ext cx="33123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它们不加以区别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63AA0413-5017-4C68-8D74-007D93F9F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10" y="-14623"/>
            <a:ext cx="7721369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元线性方程组的几种常见表现形式</a:t>
            </a:r>
          </a:p>
        </p:txBody>
      </p:sp>
    </p:spTree>
    <p:extLst>
      <p:ext uri="{BB962C8B-B14F-4D97-AF65-F5344CB8AC3E}">
        <p14:creationId xmlns:p14="http://schemas.microsoft.com/office/powerpoint/2010/main" val="112000166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17D124CD-E666-4DC0-A95E-C752EE69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65BCAFFA-C778-4023-B96C-04D3B8A7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49" y="-18539"/>
            <a:ext cx="6472436" cy="4932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  <p:sp>
        <p:nvSpPr>
          <p:cNvPr id="22" name="Text Box 11">
            <a:extLst>
              <a:ext uri="{FF2B5EF4-FFF2-40B4-BE49-F238E27FC236}">
                <a16:creationId xmlns:a16="http://schemas.microsoft.com/office/drawing/2014/main" id="{0935537B-40E7-4E3A-9F07-423B114F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744" y="1999466"/>
            <a:ext cx="403224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条件是</a:t>
            </a:r>
            <a:r>
              <a:rPr lang="zh-CN" altLang="zh-CN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);</a:t>
            </a:r>
          </a:p>
        </p:txBody>
      </p:sp>
      <p:sp>
        <p:nvSpPr>
          <p:cNvPr id="23" name="Rectangle 31">
            <a:extLst>
              <a:ext uri="{FF2B5EF4-FFF2-40B4-BE49-F238E27FC236}">
                <a16:creationId xmlns:a16="http://schemas.microsoft.com/office/drawing/2014/main" id="{027F9567-B103-4BEC-93F8-5DB65233D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267833"/>
            <a:ext cx="1800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</a:t>
            </a:r>
            <a:endParaRPr lang="en-US" altLang="zh-CN" b="1" dirty="0">
              <a:solidFill>
                <a:srgbClr val="0000FF"/>
              </a:solidFill>
              <a:ea typeface="黑体" pitchFamily="2" charset="-122"/>
            </a:endParaRPr>
          </a:p>
        </p:txBody>
      </p:sp>
      <p:sp>
        <p:nvSpPr>
          <p:cNvPr id="24" name="Text Box 37">
            <a:extLst>
              <a:ext uri="{FF2B5EF4-FFF2-40B4-BE49-F238E27FC236}">
                <a16:creationId xmlns:a16="http://schemas.microsoft.com/office/drawing/2014/main" id="{C1683295-E3A0-4ADF-9D13-D855402ED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1996691"/>
            <a:ext cx="44186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有唯一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解的充要条件是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b="1" dirty="0">
              <a:solidFill>
                <a:srgbClr val="0000FF"/>
              </a:solidFill>
              <a:ea typeface="黑体" pitchFamily="2" charset="-122"/>
            </a:endParaRPr>
          </a:p>
        </p:txBody>
      </p:sp>
      <p:sp>
        <p:nvSpPr>
          <p:cNvPr id="26" name="Text Box 39">
            <a:extLst>
              <a:ext uri="{FF2B5EF4-FFF2-40B4-BE49-F238E27FC236}">
                <a16:creationId xmlns:a16="http://schemas.microsoft.com/office/drawing/2014/main" id="{51DCE901-F8A4-4DDC-B1CF-2DC8A4002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5287" y="2715041"/>
            <a:ext cx="47909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有无穷多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解的充要条件是</a:t>
            </a:r>
            <a:endParaRPr lang="en-US" altLang="zh-CN" b="1" dirty="0">
              <a:solidFill>
                <a:srgbClr val="0000FF"/>
              </a:solidFill>
              <a:ea typeface="黑体" pitchFamily="2" charset="-122"/>
            </a:endParaRPr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024F0762-C9B0-46B6-90B8-207B05CC6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8313" y="1267833"/>
            <a:ext cx="6154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元线性方程组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无</a:t>
            </a:r>
            <a:r>
              <a:rPr lang="zh-CN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解的充要</a:t>
            </a:r>
            <a:endParaRPr lang="en-US" altLang="zh-CN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2" name="Text Box 37">
            <a:extLst>
              <a:ext uri="{FF2B5EF4-FFF2-40B4-BE49-F238E27FC236}">
                <a16:creationId xmlns:a16="http://schemas.microsoft.com/office/drawing/2014/main" id="{A76D5FCF-A3AA-6021-B092-5DBC42E6A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744" y="2724894"/>
            <a:ext cx="34045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;</a:t>
            </a:r>
          </a:p>
        </p:txBody>
      </p:sp>
      <p:sp>
        <p:nvSpPr>
          <p:cNvPr id="3" name="Text Box 39">
            <a:extLst>
              <a:ext uri="{FF2B5EF4-FFF2-40B4-BE49-F238E27FC236}">
                <a16:creationId xmlns:a16="http://schemas.microsoft.com/office/drawing/2014/main" id="{5A9B13AC-7F57-7484-367E-83ACCF9D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744" y="3439089"/>
            <a:ext cx="35485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.</a:t>
            </a:r>
          </a:p>
        </p:txBody>
      </p:sp>
      <p:sp>
        <p:nvSpPr>
          <p:cNvPr id="4" name="Rectangle 39">
            <a:extLst>
              <a:ext uri="{FF2B5EF4-FFF2-40B4-BE49-F238E27FC236}">
                <a16:creationId xmlns:a16="http://schemas.microsoft.com/office/drawing/2014/main" id="{B0EE8534-B6F0-FE3B-0CB8-F99D60663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4163137"/>
            <a:ext cx="12239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CB7A5D7-6FA7-3027-EEDF-83376E768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858" y="4163137"/>
            <a:ext cx="4464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只需证明条件的充分性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28A5FE1A-FAB2-66F6-F625-D2C7CC48F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400" y="4886252"/>
            <a:ext cx="68609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的必要性可由相应条件的充分性推得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6F2A9FAC-1AE3-F91D-01F7-3BABDE60F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59" y="4159962"/>
            <a:ext cx="253409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因为各条件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5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utoUpdateAnimBg="0"/>
      <p:bldP spid="23" grpId="0" build="p" autoUpdateAnimBg="0"/>
      <p:bldP spid="24" grpId="0" build="p" autoUpdateAnimBg="0"/>
      <p:bldP spid="26" grpId="0" build="p" autoUpdateAnimBg="0"/>
      <p:bldP spid="28" grpId="0" build="p" autoUpdateAnimBg="0"/>
      <p:bldP spid="2" grpId="0" build="p" autoUpdateAnimBg="0"/>
      <p:bldP spid="3" grpId="0" build="p" autoUpdateAnimBg="0"/>
      <p:bldP spid="4" grpId="0"/>
      <p:bldP spid="5" grpId="0" build="p" autoUpdateAnimBg="0"/>
      <p:bldP spid="6" grpId="0" build="p" autoUpdateAnimBg="0" advAuto="0"/>
      <p:bldP spid="7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0">
            <a:extLst>
              <a:ext uri="{FF2B5EF4-FFF2-40B4-BE49-F238E27FC236}">
                <a16:creationId xmlns:a16="http://schemas.microsoft.com/office/drawing/2014/main" id="{6D7B60AC-0461-4CAE-88AD-D2C2B37C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47434DE1-72AC-4EA6-A25F-B1BD38746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390" y="803747"/>
            <a:ext cx="2465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C9B4B094-2AFB-4B0F-B005-977F663C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7696" y="803748"/>
            <a:ext cx="562007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为叙述方便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不妨设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</a:t>
            </a:r>
            <a:endParaRPr lang="en-US" altLang="zh-CN" b="1" dirty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A081B3B1-1451-485B-98E8-DA045F869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879" y="1540310"/>
            <a:ext cx="294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行最简形为</a:t>
            </a:r>
          </a:p>
        </p:txBody>
      </p:sp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1709FF7C-8A11-41F4-9262-825DE4D49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623614"/>
              </p:ext>
            </p:extLst>
          </p:nvPr>
        </p:nvGraphicFramePr>
        <p:xfrm>
          <a:off x="2116931" y="2276872"/>
          <a:ext cx="4910137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300" imgH="1828800" progId="Equation.DSMT4">
                  <p:embed/>
                </p:oleObj>
              </mc:Choice>
              <mc:Fallback>
                <p:oleObj name="Equation" r:id="rId2" imgW="2654300" imgH="182880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94A34C84-84EA-4586-A3E7-5110F84428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931" y="2276872"/>
                        <a:ext cx="4910137" cy="338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utoUpdateAnimBg="0"/>
      <p:bldP spid="22" grpId="0" build="p" autoUpdateAnimBg="0"/>
      <p:bldP spid="23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5AC67658-85D0-4938-9DEC-6823FB6CE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AAB842B4-DE6A-4189-8B99-4680E33FF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125" y="620688"/>
            <a:ext cx="387002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(1)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),</a:t>
            </a:r>
            <a:endParaRPr lang="zh-CN" altLang="en-US" b="1" dirty="0">
              <a:solidFill>
                <a:srgbClr val="0000FF"/>
              </a:solidFill>
              <a:latin typeface="+mn-lt"/>
              <a:ea typeface="黑体" pitchFamily="2" charset="-122"/>
            </a:endParaRPr>
          </a:p>
        </p:txBody>
      </p:sp>
      <p:graphicFrame>
        <p:nvGraphicFramePr>
          <p:cNvPr id="21" name="Object 9">
            <a:extLst>
              <a:ext uri="{FF2B5EF4-FFF2-40B4-BE49-F238E27FC236}">
                <a16:creationId xmlns:a16="http://schemas.microsoft.com/office/drawing/2014/main" id="{5AA7DFEF-53FA-4E8C-95A3-2E6530937C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091208"/>
              </p:ext>
            </p:extLst>
          </p:nvPr>
        </p:nvGraphicFramePr>
        <p:xfrm>
          <a:off x="1906729" y="1264866"/>
          <a:ext cx="5276850" cy="376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78100" imgH="1841500" progId="Equation.DSMT4">
                  <p:embed/>
                </p:oleObj>
              </mc:Choice>
              <mc:Fallback>
                <p:oleObj name="Equation" r:id="rId3" imgW="2578100" imgH="1841500" progId="Equation.DSMT4">
                  <p:embed/>
                  <p:pic>
                    <p:nvPicPr>
                      <p:cNvPr id="26" name="Object 9">
                        <a:extLst>
                          <a:ext uri="{FF2B5EF4-FFF2-40B4-BE49-F238E27FC236}">
                            <a16:creationId xmlns:a16="http://schemas.microsoft.com/office/drawing/2014/main" id="{EB99383D-8ED0-4A72-8676-73A8D64B76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729" y="1264866"/>
                        <a:ext cx="5276850" cy="376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13">
            <a:extLst>
              <a:ext uri="{FF2B5EF4-FFF2-40B4-BE49-F238E27FC236}">
                <a16:creationId xmlns:a16="http://schemas.microsoft.com/office/drawing/2014/main" id="{605A51C0-E67A-4A4E-B99E-629069B23393}"/>
              </a:ext>
            </a:extLst>
          </p:cNvPr>
          <p:cNvGrpSpPr>
            <a:grpSpLocks/>
          </p:cNvGrpSpPr>
          <p:nvPr/>
        </p:nvGrpSpPr>
        <p:grpSpPr bwMode="auto">
          <a:xfrm>
            <a:off x="966948" y="5102612"/>
            <a:ext cx="6910388" cy="533400"/>
            <a:chOff x="685800" y="4967288"/>
            <a:chExt cx="6910388" cy="533400"/>
          </a:xfrm>
        </p:grpSpPr>
        <p:graphicFrame>
          <p:nvGraphicFramePr>
            <p:cNvPr id="23" name="Object 7">
              <a:extLst>
                <a:ext uri="{FF2B5EF4-FFF2-40B4-BE49-F238E27FC236}">
                  <a16:creationId xmlns:a16="http://schemas.microsoft.com/office/drawing/2014/main" id="{789112B1-9D9F-4A10-B635-45E7A96E65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9713" y="4981576"/>
            <a:ext cx="392112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190440" progId="Equation.DSMT4">
                    <p:embed/>
                  </p:oleObj>
                </mc:Choice>
                <mc:Fallback>
                  <p:oleObj name="Equation" r:id="rId5" imgW="164880" imgH="190440" progId="Equation.DSMT4">
                    <p:embed/>
                    <p:pic>
                      <p:nvPicPr>
                        <p:cNvPr id="28" name="Object 7">
                          <a:extLst>
                            <a:ext uri="{FF2B5EF4-FFF2-40B4-BE49-F238E27FC236}">
                              <a16:creationId xmlns:a16="http://schemas.microsoft.com/office/drawing/2014/main" id="{CC54D4F6-DDD8-405E-8D28-BEBB1EFB8A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713" y="4981576"/>
                          <a:ext cx="392112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8">
              <a:extLst>
                <a:ext uri="{FF2B5EF4-FFF2-40B4-BE49-F238E27FC236}">
                  <a16:creationId xmlns:a16="http://schemas.microsoft.com/office/drawing/2014/main" id="{E87433C7-C029-49EC-983A-3379A2AF7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967288"/>
              <a:ext cx="1149896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于是</a:t>
              </a:r>
            </a:p>
          </p:txBody>
        </p:sp>
        <p:sp>
          <p:nvSpPr>
            <p:cNvPr id="25" name="Rectangle 10">
              <a:extLst>
                <a:ext uri="{FF2B5EF4-FFF2-40B4-BE49-F238E27FC236}">
                  <a16:creationId xmlns:a16="http://schemas.microsoft.com/office/drawing/2014/main" id="{C8DFB7F5-F2B2-41B4-8CB4-119C1A48C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2763" y="4981575"/>
              <a:ext cx="581342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的第</a:t>
              </a:r>
              <a:r>
                <a:rPr lang="zh-CN" altLang="en-US" sz="2000" b="1">
                  <a:solidFill>
                    <a:schemeClr val="tx1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b="1" i="1">
                  <a:solidFill>
                    <a:schemeClr val="tx1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sz="2000" b="1">
                  <a:solidFill>
                    <a:schemeClr val="tx1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b="1">
                  <a:solidFill>
                    <a:schemeClr val="tx1"/>
                  </a:solidFill>
                  <a:ea typeface="黑体" panose="02010609060101010101" pitchFamily="49" charset="-122"/>
                </a:rPr>
                <a:t>+</a:t>
              </a:r>
              <a:r>
                <a:rPr lang="en-US" altLang="zh-CN" sz="2000" b="1">
                  <a:solidFill>
                    <a:schemeClr val="tx1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b="1">
                  <a:solidFill>
                    <a:schemeClr val="tx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 b="1">
                  <a:solidFill>
                    <a:schemeClr val="tx1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行对应矛盾方程</a:t>
              </a:r>
              <a:r>
                <a:rPr lang="zh-CN" altLang="en-US" sz="2000" b="1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b="1">
                  <a:solidFill>
                    <a:schemeClr val="tx1"/>
                  </a:solidFill>
                  <a:ea typeface="黑体" panose="02010609060101010101" pitchFamily="49" charset="-122"/>
                </a:rPr>
                <a:t>0</a:t>
              </a:r>
              <a:r>
                <a:rPr lang="en-US" altLang="zh-CN" sz="2000" b="1">
                  <a:solidFill>
                    <a:schemeClr val="tx1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b="1">
                  <a:solidFill>
                    <a:schemeClr val="tx1"/>
                  </a:solidFill>
                  <a:ea typeface="黑体" panose="02010609060101010101" pitchFamily="49" charset="-122"/>
                </a:rPr>
                <a:t>=</a:t>
              </a:r>
              <a:r>
                <a:rPr lang="en-US" altLang="zh-CN" sz="2000" b="1">
                  <a:solidFill>
                    <a:schemeClr val="tx1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b="1">
                  <a:solidFill>
                    <a:schemeClr val="tx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b="1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lang="zh-CN" altLang="en-US" b="1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Rectangle 10">
            <a:extLst>
              <a:ext uri="{FF2B5EF4-FFF2-40B4-BE49-F238E27FC236}">
                <a16:creationId xmlns:a16="http://schemas.microsoft.com/office/drawing/2014/main" id="{FF135DE9-98F8-4A5D-8D49-2290AFE74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66" y="5801760"/>
            <a:ext cx="480712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故线性方程组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无解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27" name="Group 16">
            <a:extLst>
              <a:ext uri="{FF2B5EF4-FFF2-40B4-BE49-F238E27FC236}">
                <a16:creationId xmlns:a16="http://schemas.microsoft.com/office/drawing/2014/main" id="{AC28972A-F6C3-4ECF-B6F2-CA95B13CABCF}"/>
              </a:ext>
            </a:extLst>
          </p:cNvPr>
          <p:cNvGrpSpPr>
            <a:grpSpLocks/>
          </p:cNvGrpSpPr>
          <p:nvPr/>
        </p:nvGrpSpPr>
        <p:grpSpPr bwMode="auto">
          <a:xfrm>
            <a:off x="4570920" y="607988"/>
            <a:ext cx="3578225" cy="531813"/>
            <a:chOff x="2789" y="292"/>
            <a:chExt cx="2254" cy="335"/>
          </a:xfrm>
        </p:grpSpPr>
        <p:grpSp>
          <p:nvGrpSpPr>
            <p:cNvPr id="28" name="组合 11">
              <a:extLst>
                <a:ext uri="{FF2B5EF4-FFF2-40B4-BE49-F238E27FC236}">
                  <a16:creationId xmlns:a16="http://schemas.microsoft.com/office/drawing/2014/main" id="{79615DA6-1F01-43D7-A224-D79F25CD31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9" y="292"/>
              <a:ext cx="1924" cy="332"/>
              <a:chOff x="4949825" y="463550"/>
              <a:chExt cx="3053741" cy="527049"/>
            </a:xfrm>
          </p:grpSpPr>
          <p:graphicFrame>
            <p:nvGraphicFramePr>
              <p:cNvPr id="30" name="Object 5">
                <a:extLst>
                  <a:ext uri="{FF2B5EF4-FFF2-40B4-BE49-F238E27FC236}">
                    <a16:creationId xmlns:a16="http://schemas.microsoft.com/office/drawing/2014/main" id="{397D3D45-01E7-407D-B250-25E45FBD80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49825" y="463550"/>
              <a:ext cx="392113" cy="452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64880" imgH="190440" progId="Equation.DSMT4">
                      <p:embed/>
                    </p:oleObj>
                  </mc:Choice>
                  <mc:Fallback>
                    <p:oleObj name="Equation" r:id="rId7" imgW="164880" imgH="190440" progId="Equation.DSMT4">
                      <p:embed/>
                      <p:pic>
                        <p:nvPicPr>
                          <p:cNvPr id="36" name="Object 5">
                            <a:extLst>
                              <a:ext uri="{FF2B5EF4-FFF2-40B4-BE49-F238E27FC236}">
                                <a16:creationId xmlns:a16="http://schemas.microsoft.com/office/drawing/2014/main" id="{8265D75A-51B2-4B8D-813C-6CDA8520976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9825" y="463550"/>
                            <a:ext cx="392113" cy="4524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Text Box 6">
                <a:extLst>
                  <a:ext uri="{FF2B5EF4-FFF2-40B4-BE49-F238E27FC236}">
                    <a16:creationId xmlns:a16="http://schemas.microsoft.com/office/drawing/2014/main" id="{324D3D1E-0EC8-47DB-BA86-27E86E08C0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7800" y="471488"/>
                <a:ext cx="2745766" cy="519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</a:t>
                </a:r>
                <a:r>
                  <a:rPr lang="zh-CN" altLang="en-US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 i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d</a:t>
                </a:r>
                <a:r>
                  <a:rPr lang="en-US" altLang="zh-CN" b="1" i="1" baseline="-25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r</a:t>
                </a:r>
                <a:r>
                  <a:rPr lang="en-US" altLang="zh-CN" b="1" baseline="-2500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+1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=</a:t>
                </a:r>
                <a:r>
                  <a:rPr lang="en-US" altLang="zh-CN" sz="2000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en-US" altLang="zh-CN" b="1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endParaRPr lang="zh-CN" altLang="en-US" b="1" dirty="0">
                  <a:solidFill>
                    <a:schemeClr val="tx1"/>
                  </a:solidFill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Text Box 4">
              <a:extLst>
                <a:ext uri="{FF2B5EF4-FFF2-40B4-BE49-F238E27FC236}">
                  <a16:creationId xmlns:a16="http://schemas.microsoft.com/office/drawing/2014/main" id="{7E02AFCF-13D5-4510-96F4-D19E9F5CD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300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则</a:t>
              </a:r>
            </a:p>
          </p:txBody>
        </p:sp>
      </p:grpSp>
      <p:sp>
        <p:nvSpPr>
          <p:cNvPr id="32" name="Rectangle 10">
            <a:extLst>
              <a:ext uri="{FF2B5EF4-FFF2-40B4-BE49-F238E27FC236}">
                <a16:creationId xmlns:a16="http://schemas.microsoft.com/office/drawing/2014/main" id="{2F5BA059-E66C-435F-9F1E-C82FCFE4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5307" y="607988"/>
            <a:ext cx="719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4BEEA337-9F05-45A4-88EF-E5BA5A0A4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 autoUpdateAnimBg="0"/>
      <p:bldP spid="26" grpId="0" build="p" autoUpdateAnimBg="0" advAuto="0"/>
      <p:bldP spid="32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4">
            <a:extLst>
              <a:ext uri="{FF2B5EF4-FFF2-40B4-BE49-F238E27FC236}">
                <a16:creationId xmlns:a16="http://schemas.microsoft.com/office/drawing/2014/main" id="{C883C49F-9702-4129-8ACB-506796AD3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764704"/>
            <a:ext cx="4721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(2)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FA693949-6A26-493C-9800-395B6D1EE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77" y="1509424"/>
            <a:ext cx="3036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+1</a:t>
            </a:r>
            <a:r>
              <a:rPr lang="en-US" altLang="zh-CN" sz="2000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不出现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74230FD5-C634-4C47-ABC8-6C5B5A8A13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840450"/>
              </p:ext>
            </p:extLst>
          </p:nvPr>
        </p:nvGraphicFramePr>
        <p:xfrm>
          <a:off x="4651425" y="2796849"/>
          <a:ext cx="3414712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700" imgH="939800" progId="Equation.DSMT4">
                  <p:embed/>
                </p:oleObj>
              </mc:Choice>
              <mc:Fallback>
                <p:oleObj name="Equation" r:id="rId2" imgW="1536700" imgH="93980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D6D55C27-3738-4E96-96A5-DB6D45D556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425" y="2796849"/>
                        <a:ext cx="3414712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9">
            <a:extLst>
              <a:ext uri="{FF2B5EF4-FFF2-40B4-BE49-F238E27FC236}">
                <a16:creationId xmlns:a16="http://schemas.microsoft.com/office/drawing/2014/main" id="{AD7E234D-CC29-40CC-AB82-0F3914CADF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989372"/>
              </p:ext>
            </p:extLst>
          </p:nvPr>
        </p:nvGraphicFramePr>
        <p:xfrm>
          <a:off x="1081466" y="2234467"/>
          <a:ext cx="3036888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00" imgH="1600200" progId="Equation.DSMT4">
                  <p:embed/>
                </p:oleObj>
              </mc:Choice>
              <mc:Fallback>
                <p:oleObj name="Equation" r:id="rId4" imgW="1536700" imgH="1600200" progId="Equation.DSMT4">
                  <p:embed/>
                  <p:pic>
                    <p:nvPicPr>
                      <p:cNvPr id="9" name="Object 9">
                        <a:extLst>
                          <a:ext uri="{FF2B5EF4-FFF2-40B4-BE49-F238E27FC236}">
                            <a16:creationId xmlns:a16="http://schemas.microsoft.com/office/drawing/2014/main" id="{13BD9A2C-A365-46B4-8309-7E0C9BD961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466" y="2234467"/>
                        <a:ext cx="3036888" cy="316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5">
            <a:extLst>
              <a:ext uri="{FF2B5EF4-FFF2-40B4-BE49-F238E27FC236}">
                <a16:creationId xmlns:a16="http://schemas.microsoft.com/office/drawing/2014/main" id="{55934404-7B05-4186-8A98-EEF0BFF77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088" y="3527498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</a:p>
        </p:txBody>
      </p:sp>
      <p:sp>
        <p:nvSpPr>
          <p:cNvPr id="34" name="Text Box 7">
            <a:extLst>
              <a:ext uri="{FF2B5EF4-FFF2-40B4-BE49-F238E27FC236}">
                <a16:creationId xmlns:a16="http://schemas.microsoft.com/office/drawing/2014/main" id="{1A7DECC8-74A9-4786-A5B4-48DED1B15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6464" y="1509423"/>
            <a:ext cx="3036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且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itchFamily="2" charset="-122"/>
              </a:rPr>
              <a:t>ij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都不出现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pSp>
        <p:nvGrpSpPr>
          <p:cNvPr id="35" name="Group 20">
            <a:extLst>
              <a:ext uri="{FF2B5EF4-FFF2-40B4-BE49-F238E27FC236}">
                <a16:creationId xmlns:a16="http://schemas.microsoft.com/office/drawing/2014/main" id="{05055004-702F-430F-89C9-FF8FEC78D695}"/>
              </a:ext>
            </a:extLst>
          </p:cNvPr>
          <p:cNvGrpSpPr>
            <a:grpSpLocks/>
          </p:cNvGrpSpPr>
          <p:nvPr/>
        </p:nvGrpSpPr>
        <p:grpSpPr bwMode="auto">
          <a:xfrm>
            <a:off x="5567828" y="764703"/>
            <a:ext cx="3271838" cy="519112"/>
            <a:chOff x="3424" y="210"/>
            <a:chExt cx="2061" cy="327"/>
          </a:xfrm>
        </p:grpSpPr>
        <p:grpSp>
          <p:nvGrpSpPr>
            <p:cNvPr id="36" name="组合 14">
              <a:extLst>
                <a:ext uri="{FF2B5EF4-FFF2-40B4-BE49-F238E27FC236}">
                  <a16:creationId xmlns:a16="http://schemas.microsoft.com/office/drawing/2014/main" id="{763F0880-3213-4F5B-BB79-09EF14370B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2" y="210"/>
              <a:ext cx="1753" cy="327"/>
              <a:chOff x="5926136" y="333226"/>
              <a:chExt cx="2783141" cy="520149"/>
            </a:xfrm>
          </p:grpSpPr>
          <p:graphicFrame>
            <p:nvGraphicFramePr>
              <p:cNvPr id="38" name="Object 5">
                <a:extLst>
                  <a:ext uri="{FF2B5EF4-FFF2-40B4-BE49-F238E27FC236}">
                    <a16:creationId xmlns:a16="http://schemas.microsoft.com/office/drawing/2014/main" id="{62E4E8DF-7202-4957-A01A-D447CAF05FF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26136" y="347542"/>
              <a:ext cx="392149" cy="4517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64880" imgH="190440" progId="Equation.DSMT4">
                      <p:embed/>
                    </p:oleObj>
                  </mc:Choice>
                  <mc:Fallback>
                    <p:oleObj name="Equation" r:id="rId6" imgW="164880" imgH="190440" progId="Equation.DSMT4">
                      <p:embed/>
                      <p:pic>
                        <p:nvPicPr>
                          <p:cNvPr id="21" name="Object 5">
                            <a:extLst>
                              <a:ext uri="{FF2B5EF4-FFF2-40B4-BE49-F238E27FC236}">
                                <a16:creationId xmlns:a16="http://schemas.microsoft.com/office/drawing/2014/main" id="{55DB425E-91F4-4F93-A26B-8ED5FEE50EC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26136" y="347542"/>
                            <a:ext cx="392149" cy="4517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Text Box 6">
                <a:extLst>
                  <a:ext uri="{FF2B5EF4-FFF2-40B4-BE49-F238E27FC236}">
                    <a16:creationId xmlns:a16="http://schemas.microsoft.com/office/drawing/2014/main" id="{D9C6B815-4914-4435-AB37-81506B4B06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8166" y="333226"/>
                <a:ext cx="2481111" cy="5201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</a:t>
                </a:r>
                <a:r>
                  <a:rPr lang="zh-CN" altLang="en-US" sz="2000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 i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d</a:t>
                </a:r>
                <a:r>
                  <a:rPr lang="en-US" altLang="zh-CN" b="1" i="1" baseline="-25000">
                    <a:solidFill>
                      <a:schemeClr val="tx1"/>
                    </a:solidFill>
                    <a:ea typeface="黑体" panose="02010609060101010101" pitchFamily="49" charset="-122"/>
                  </a:rPr>
                  <a:t>r</a:t>
                </a:r>
                <a:r>
                  <a:rPr lang="en-US" altLang="zh-CN" b="1" baseline="-25000">
                    <a:solidFill>
                      <a:schemeClr val="tx1"/>
                    </a:solidFill>
                    <a:ea typeface="黑体" panose="02010609060101010101" pitchFamily="49" charset="-122"/>
                  </a:rPr>
                  <a:t>+1</a:t>
                </a:r>
                <a:r>
                  <a:rPr lang="en-US" altLang="zh-CN" sz="2000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=</a:t>
                </a:r>
                <a:r>
                  <a:rPr lang="en-US" altLang="zh-CN" sz="2000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sp>
          <p:nvSpPr>
            <p:cNvPr id="37" name="Rectangle 10">
              <a:extLst>
                <a:ext uri="{FF2B5EF4-FFF2-40B4-BE49-F238E27FC236}">
                  <a16:creationId xmlns:a16="http://schemas.microsoft.com/office/drawing/2014/main" id="{6BF6AF75-AAD3-4816-A49F-E2B6721ED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210"/>
              <a:ext cx="4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即</a:t>
              </a:r>
            </a:p>
          </p:txBody>
        </p:sp>
      </p:grpSp>
      <p:sp>
        <p:nvSpPr>
          <p:cNvPr id="40" name="Text Box 7">
            <a:extLst>
              <a:ext uri="{FF2B5EF4-FFF2-40B4-BE49-F238E27FC236}">
                <a16:creationId xmlns:a16="http://schemas.microsoft.com/office/drawing/2014/main" id="{9CC86415-417A-4275-BCE5-FDE968731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519" y="1509423"/>
            <a:ext cx="93629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AD1ABDE5-2599-4595-ADB2-DE593D6C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 autoUpdateAnimBg="0"/>
      <p:bldP spid="24" grpId="0" build="p" autoUpdateAnimBg="0" advAuto="0"/>
      <p:bldP spid="33" grpId="0" build="p" autoUpdateAnimBg="0" advAuto="0"/>
      <p:bldP spid="34" grpId="0" build="p" autoUpdateAnimBg="0" advAuto="0"/>
      <p:bldP spid="40" grpId="0" build="p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15">
            <a:extLst>
              <a:ext uri="{FF2B5EF4-FFF2-40B4-BE49-F238E27FC236}">
                <a16:creationId xmlns:a16="http://schemas.microsoft.com/office/drawing/2014/main" id="{16CA3196-5F98-4605-A9C7-4352287660FC}"/>
              </a:ext>
            </a:extLst>
          </p:cNvPr>
          <p:cNvGrpSpPr>
            <a:grpSpLocks/>
          </p:cNvGrpSpPr>
          <p:nvPr/>
        </p:nvGrpSpPr>
        <p:grpSpPr bwMode="auto">
          <a:xfrm>
            <a:off x="971600" y="1586313"/>
            <a:ext cx="3527425" cy="530225"/>
            <a:chOff x="457200" y="5237163"/>
            <a:chExt cx="3528070" cy="530225"/>
          </a:xfrm>
        </p:grpSpPr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2D58FA7E-B0D3-4CAD-BA78-912D0D1DC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5237163"/>
              <a:ext cx="107979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于是</a:t>
              </a:r>
            </a:p>
          </p:txBody>
        </p:sp>
        <p:graphicFrame>
          <p:nvGraphicFramePr>
            <p:cNvPr id="29" name="Object 11">
              <a:extLst>
                <a:ext uri="{FF2B5EF4-FFF2-40B4-BE49-F238E27FC236}">
                  <a16:creationId xmlns:a16="http://schemas.microsoft.com/office/drawing/2014/main" id="{48BEF65B-670E-4965-A552-C3A8E07D58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1264" y="5248276"/>
            <a:ext cx="392184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0" imgH="190440" progId="Equation.DSMT4">
                    <p:embed/>
                  </p:oleObj>
                </mc:Choice>
                <mc:Fallback>
                  <p:oleObj name="Equation" r:id="rId2" imgW="164880" imgH="190440" progId="Equation.DSMT4">
                    <p:embed/>
                    <p:pic>
                      <p:nvPicPr>
                        <p:cNvPr id="29" name="Object 11">
                          <a:extLst>
                            <a:ext uri="{FF2B5EF4-FFF2-40B4-BE49-F238E27FC236}">
                              <a16:creationId xmlns:a16="http://schemas.microsoft.com/office/drawing/2014/main" id="{48BEF65B-670E-4965-A552-C3A8E07D58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1264" y="5248276"/>
                          <a:ext cx="392184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12">
              <a:extLst>
                <a:ext uri="{FF2B5EF4-FFF2-40B4-BE49-F238E27FC236}">
                  <a16:creationId xmlns:a16="http://schemas.microsoft.com/office/drawing/2014/main" id="{A0588D20-9009-4CBD-BE92-0BA994A83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5248276"/>
              <a:ext cx="238507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对应方程组</a:t>
              </a:r>
            </a:p>
          </p:txBody>
        </p:sp>
      </p:grpSp>
      <p:graphicFrame>
        <p:nvGraphicFramePr>
          <p:cNvPr id="31" name="Object 13">
            <a:extLst>
              <a:ext uri="{FF2B5EF4-FFF2-40B4-BE49-F238E27FC236}">
                <a16:creationId xmlns:a16="http://schemas.microsoft.com/office/drawing/2014/main" id="{856F41B5-CF14-41A7-9CB3-2008763F2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19581"/>
              </p:ext>
            </p:extLst>
          </p:nvPr>
        </p:nvGraphicFramePr>
        <p:xfrm>
          <a:off x="4280271" y="941542"/>
          <a:ext cx="1312862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939392" progId="Equation.DSMT4">
                  <p:embed/>
                </p:oleObj>
              </mc:Choice>
              <mc:Fallback>
                <p:oleObj name="Equation" r:id="rId4" imgW="634725" imgH="939392" progId="Equation.DSMT4">
                  <p:embed/>
                  <p:pic>
                    <p:nvPicPr>
                      <p:cNvPr id="31" name="Object 13">
                        <a:extLst>
                          <a:ext uri="{FF2B5EF4-FFF2-40B4-BE49-F238E27FC236}">
                            <a16:creationId xmlns:a16="http://schemas.microsoft.com/office/drawing/2014/main" id="{856F41B5-CF14-41A7-9CB3-2008763F22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0271" y="941542"/>
                        <a:ext cx="1312862" cy="194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4">
            <a:extLst>
              <a:ext uri="{FF2B5EF4-FFF2-40B4-BE49-F238E27FC236}">
                <a16:creationId xmlns:a16="http://schemas.microsoft.com/office/drawing/2014/main" id="{413C7C8B-48CD-4C44-A716-FDDA9D506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068960"/>
            <a:ext cx="58604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故线性方程组</a:t>
            </a:r>
            <a:r>
              <a:rPr lang="zh-CN" altLang="en-US" sz="1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sz="1000" b="1" i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有唯一解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8EE25E74-3808-4518-8F69-A2C1F2B1E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  <p:extLst>
      <p:ext uri="{BB962C8B-B14F-4D97-AF65-F5344CB8AC3E}">
        <p14:creationId xmlns:p14="http://schemas.microsoft.com/office/powerpoint/2010/main" val="15261917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4">
            <a:extLst>
              <a:ext uri="{FF2B5EF4-FFF2-40B4-BE49-F238E27FC236}">
                <a16:creationId xmlns:a16="http://schemas.microsoft.com/office/drawing/2014/main" id="{21D7B695-BA63-409B-8B22-1B8AFE176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638" y="644044"/>
            <a:ext cx="500667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(3)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41FDEC1B-A9F8-43F2-8EAF-F98D550D1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08" y="1275405"/>
            <a:ext cx="282958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sz="24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+1</a:t>
            </a:r>
            <a:r>
              <a:rPr lang="en-US" altLang="zh-CN" sz="2000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不出现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8">
            <a:extLst>
              <a:ext uri="{FF2B5EF4-FFF2-40B4-BE49-F238E27FC236}">
                <a16:creationId xmlns:a16="http://schemas.microsoft.com/office/drawing/2014/main" id="{E528D404-BCE5-4DF4-8481-1A7D58F30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670004"/>
              </p:ext>
            </p:extLst>
          </p:nvPr>
        </p:nvGraphicFramePr>
        <p:xfrm>
          <a:off x="1575594" y="1844824"/>
          <a:ext cx="5992812" cy="381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1841400" progId="Equation.DSMT4">
                  <p:embed/>
                </p:oleObj>
              </mc:Choice>
              <mc:Fallback>
                <p:oleObj name="Equation" r:id="rId2" imgW="2895480" imgH="184140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6E5C0AA1-C3B4-4AE3-818C-D6BD8506FF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594" y="1844824"/>
                        <a:ext cx="5992812" cy="381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7">
            <a:extLst>
              <a:ext uri="{FF2B5EF4-FFF2-40B4-BE49-F238E27FC236}">
                <a16:creationId xmlns:a16="http://schemas.microsoft.com/office/drawing/2014/main" id="{FDD8E821-A29E-4869-B291-1925070F1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3" y="1394184"/>
            <a:ext cx="104817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7F694AC0-B2B4-498C-A8C1-FEA93388A888}"/>
              </a:ext>
            </a:extLst>
          </p:cNvPr>
          <p:cNvGrpSpPr>
            <a:grpSpLocks/>
          </p:cNvGrpSpPr>
          <p:nvPr/>
        </p:nvGrpSpPr>
        <p:grpSpPr bwMode="auto">
          <a:xfrm>
            <a:off x="5568156" y="644044"/>
            <a:ext cx="3314700" cy="519113"/>
            <a:chOff x="3334" y="300"/>
            <a:chExt cx="2088" cy="327"/>
          </a:xfrm>
        </p:grpSpPr>
        <p:grpSp>
          <p:nvGrpSpPr>
            <p:cNvPr id="30" name="组合 10">
              <a:extLst>
                <a:ext uri="{FF2B5EF4-FFF2-40B4-BE49-F238E27FC236}">
                  <a16:creationId xmlns:a16="http://schemas.microsoft.com/office/drawing/2014/main" id="{B9D0FD26-CFAA-4282-8771-EAF5378D4A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" y="300"/>
              <a:ext cx="1779" cy="327"/>
              <a:chOff x="5781680" y="475655"/>
              <a:chExt cx="2823438" cy="519113"/>
            </a:xfrm>
          </p:grpSpPr>
          <p:graphicFrame>
            <p:nvGraphicFramePr>
              <p:cNvPr id="32" name="Object 5">
                <a:extLst>
                  <a:ext uri="{FF2B5EF4-FFF2-40B4-BE49-F238E27FC236}">
                    <a16:creationId xmlns:a16="http://schemas.microsoft.com/office/drawing/2014/main" id="{D73B3E89-93F1-4718-884E-60AF381F61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781680" y="489943"/>
              <a:ext cx="392012" cy="452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880" imgH="190440" progId="Equation.DSMT4">
                      <p:embed/>
                    </p:oleObj>
                  </mc:Choice>
                  <mc:Fallback>
                    <p:oleObj name="Equation" r:id="rId4" imgW="164880" imgH="190440" progId="Equation.DSMT4">
                      <p:embed/>
                      <p:pic>
                        <p:nvPicPr>
                          <p:cNvPr id="17" name="Object 5">
                            <a:extLst>
                              <a:ext uri="{FF2B5EF4-FFF2-40B4-BE49-F238E27FC236}">
                                <a16:creationId xmlns:a16="http://schemas.microsoft.com/office/drawing/2014/main" id="{F79335C2-AC45-4B81-9920-66A2A60C041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81680" y="489943"/>
                            <a:ext cx="392012" cy="4524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" name="Text Box 6">
                <a:extLst>
                  <a:ext uri="{FF2B5EF4-FFF2-40B4-BE49-F238E27FC236}">
                    <a16:creationId xmlns:a16="http://schemas.microsoft.com/office/drawing/2014/main" id="{B290FA2D-C4BE-4129-A951-21684DF329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4168" y="475655"/>
                <a:ext cx="252095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中的</a:t>
                </a:r>
                <a:r>
                  <a:rPr lang="zh-CN" altLang="en-US" sz="2000" b="1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en-US" altLang="zh-CN" b="1" i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d</a:t>
                </a:r>
                <a:r>
                  <a:rPr lang="en-US" altLang="zh-CN" b="1" i="1" baseline="-25000">
                    <a:solidFill>
                      <a:schemeClr val="tx1"/>
                    </a:solidFill>
                    <a:ea typeface="黑体" panose="02010609060101010101" pitchFamily="49" charset="-122"/>
                  </a:rPr>
                  <a:t>r</a:t>
                </a:r>
                <a:r>
                  <a:rPr lang="en-US" altLang="zh-CN" b="1" baseline="-25000">
                    <a:solidFill>
                      <a:schemeClr val="tx1"/>
                    </a:solidFill>
                    <a:ea typeface="黑体" panose="02010609060101010101" pitchFamily="49" charset="-122"/>
                  </a:rPr>
                  <a:t>+1</a:t>
                </a:r>
                <a:r>
                  <a:rPr lang="en-US" altLang="zh-CN" sz="2000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=</a:t>
                </a:r>
                <a:r>
                  <a:rPr lang="en-US" altLang="zh-CN" sz="2000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en-US" altLang="zh-CN" b="1">
                    <a:solidFill>
                      <a:schemeClr val="tx1"/>
                    </a:solidFill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id="{12429FF7-54EB-44BC-B594-2DC1B7574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00"/>
              <a:ext cx="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则</a:t>
              </a:r>
            </a:p>
          </p:txBody>
        </p:sp>
      </p:grpSp>
      <p:sp>
        <p:nvSpPr>
          <p:cNvPr id="2" name="Text Box 7">
            <a:extLst>
              <a:ext uri="{FF2B5EF4-FFF2-40B4-BE49-F238E27FC236}">
                <a16:creationId xmlns:a16="http://schemas.microsoft.com/office/drawing/2014/main" id="{7257BFD0-FD5E-CBF9-AB96-ECE611114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08" y="5564348"/>
            <a:ext cx="104817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58F65845-B558-4687-A2BD-010743988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autoUpdateAnimBg="0"/>
      <p:bldP spid="22" grpId="0" build="p" autoUpdateAnimBg="0" advAuto="0"/>
      <p:bldP spid="28" grpId="0" build="p" autoUpdateAnimBg="0" advAuto="0"/>
      <p:bldP spid="2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8">
            <a:extLst>
              <a:ext uri="{FF2B5EF4-FFF2-40B4-BE49-F238E27FC236}">
                <a16:creationId xmlns:a16="http://schemas.microsoft.com/office/drawing/2014/main" id="{E528D404-BCE5-4DF4-8481-1A7D58F30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04293"/>
              </p:ext>
            </p:extLst>
          </p:nvPr>
        </p:nvGraphicFramePr>
        <p:xfrm>
          <a:off x="1575593" y="908720"/>
          <a:ext cx="5992813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952200" progId="Equation.DSMT4">
                  <p:embed/>
                </p:oleObj>
              </mc:Choice>
              <mc:Fallback>
                <p:oleObj name="Equation" r:id="rId2" imgW="2895480" imgH="952200" progId="Equation.DSMT4">
                  <p:embed/>
                  <p:pic>
                    <p:nvPicPr>
                      <p:cNvPr id="23" name="Object 8">
                        <a:extLst>
                          <a:ext uri="{FF2B5EF4-FFF2-40B4-BE49-F238E27FC236}">
                            <a16:creationId xmlns:a16="http://schemas.microsoft.com/office/drawing/2014/main" id="{E528D404-BCE5-4DF4-8481-1A7D58F303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5593" y="908720"/>
                        <a:ext cx="5992813" cy="197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9">
            <a:extLst>
              <a:ext uri="{FF2B5EF4-FFF2-40B4-BE49-F238E27FC236}">
                <a16:creationId xmlns:a16="http://schemas.microsoft.com/office/drawing/2014/main" id="{BF94C2AD-DF2C-4C7C-87FC-08182923D83B}"/>
              </a:ext>
            </a:extLst>
          </p:cNvPr>
          <p:cNvGrpSpPr>
            <a:grpSpLocks/>
          </p:cNvGrpSpPr>
          <p:nvPr/>
        </p:nvGrpSpPr>
        <p:grpSpPr bwMode="auto">
          <a:xfrm>
            <a:off x="683568" y="3125385"/>
            <a:ext cx="3661733" cy="521170"/>
            <a:chOff x="539750" y="5589587"/>
            <a:chExt cx="3661733" cy="521171"/>
          </a:xfrm>
        </p:grpSpPr>
        <p:sp>
          <p:nvSpPr>
            <p:cNvPr id="25" name="Text Box 9">
              <a:extLst>
                <a:ext uri="{FF2B5EF4-FFF2-40B4-BE49-F238E27FC236}">
                  <a16:creationId xmlns:a16="http://schemas.microsoft.com/office/drawing/2014/main" id="{853C93D3-DA53-434B-9317-495B52A90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750" y="5589587"/>
              <a:ext cx="113982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于是</a:t>
              </a:r>
            </a:p>
          </p:txBody>
        </p:sp>
        <p:graphicFrame>
          <p:nvGraphicFramePr>
            <p:cNvPr id="26" name="Object 10">
              <a:extLst>
                <a:ext uri="{FF2B5EF4-FFF2-40B4-BE49-F238E27FC236}">
                  <a16:creationId xmlns:a16="http://schemas.microsoft.com/office/drawing/2014/main" id="{13E35653-4406-4F83-A8BB-2BAD791FE5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4625" y="5589588"/>
            <a:ext cx="392112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190440" progId="Equation.DSMT4">
                    <p:embed/>
                  </p:oleObj>
                </mc:Choice>
                <mc:Fallback>
                  <p:oleObj name="Equation" r:id="rId4" imgW="164880" imgH="190440" progId="Equation.DSMT4">
                    <p:embed/>
                    <p:pic>
                      <p:nvPicPr>
                        <p:cNvPr id="26" name="Object 10">
                          <a:extLst>
                            <a:ext uri="{FF2B5EF4-FFF2-40B4-BE49-F238E27FC236}">
                              <a16:creationId xmlns:a16="http://schemas.microsoft.com/office/drawing/2014/main" id="{13E35653-4406-4F83-A8BB-2BAD791FE53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4625" y="5589588"/>
                          <a:ext cx="392112" cy="452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11">
              <a:extLst>
                <a:ext uri="{FF2B5EF4-FFF2-40B4-BE49-F238E27FC236}">
                  <a16:creationId xmlns:a16="http://schemas.microsoft.com/office/drawing/2014/main" id="{FE0B3D07-62B7-4AE1-96A6-21F8B7D5E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1820" y="5591645"/>
              <a:ext cx="237966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对应方程组</a:t>
              </a:r>
            </a:p>
          </p:txBody>
        </p:sp>
      </p:grpSp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8BD2DDDD-60F7-BFED-9152-A3DA9DB80F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172467"/>
              </p:ext>
            </p:extLst>
          </p:nvPr>
        </p:nvGraphicFramePr>
        <p:xfrm>
          <a:off x="1917700" y="3893603"/>
          <a:ext cx="5308600" cy="166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08560" imgH="1663560" progId="Equation.DSMT4">
                  <p:embed/>
                </p:oleObj>
              </mc:Choice>
              <mc:Fallback>
                <p:oleObj name="Equation" r:id="rId6" imgW="5308560" imgH="1663560" progId="Equation.DSMT4">
                  <p:embed/>
                  <p:pic>
                    <p:nvPicPr>
                      <p:cNvPr id="24" name="Object 3">
                        <a:extLst>
                          <a:ext uri="{FF2B5EF4-FFF2-40B4-BE49-F238E27FC236}">
                            <a16:creationId xmlns:a16="http://schemas.microsoft.com/office/drawing/2014/main" id="{9508C5B9-002F-494D-A0A3-1A81C6819E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3893603"/>
                        <a:ext cx="5308600" cy="166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0">
            <a:extLst>
              <a:ext uri="{FF2B5EF4-FFF2-40B4-BE49-F238E27FC236}">
                <a16:creationId xmlns:a16="http://schemas.microsoft.com/office/drawing/2014/main" id="{068344C7-2BA3-4464-BE5D-CC3D11407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  <p:extLst>
      <p:ext uri="{BB962C8B-B14F-4D97-AF65-F5344CB8AC3E}">
        <p14:creationId xmlns:p14="http://schemas.microsoft.com/office/powerpoint/2010/main" val="281953190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5">
            <a:extLst>
              <a:ext uri="{FF2B5EF4-FFF2-40B4-BE49-F238E27FC236}">
                <a16:creationId xmlns:a16="http://schemas.microsoft.com/office/drawing/2014/main" id="{1835D41D-6192-4FE3-A766-52AC4927C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28453"/>
            <a:ext cx="77768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令自由未知量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+1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+2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 =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– 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r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271259E2-05A9-4ED5-A6E8-EAB98735D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232" y="1693650"/>
            <a:ext cx="8060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即得线性方程组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的含有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个参数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BA4EAD1E-D180-52EE-F9CD-EAD510D1D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160" y="2458847"/>
            <a:ext cx="30137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– 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.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8E7A1971-D259-CB52-70B9-A3AD17115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0" y="2458847"/>
            <a:ext cx="45365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由于参数可以任意取值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82BA96BB-E1F0-2005-FB88-9479CCBE1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231" y="3227053"/>
            <a:ext cx="611601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有无穷多组解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54CCB580-DA0A-26AF-E93A-04A4C791F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426" y="3969920"/>
            <a:ext cx="77730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的含有参数的解称为线性方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E4E0D3B9-8224-38B7-1E11-06E914612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09" y="4708025"/>
            <a:ext cx="386799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BAC06A78-A6E6-85E3-CF97-519975520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615" y="4708024"/>
            <a:ext cx="461984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的通解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为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0B90ED19-7697-C260-0839-8EE9D4AD5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296" y="2460242"/>
            <a:ext cx="122492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4FE8E7A0-A145-49AC-A92B-4B730607F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 autoUpdateAnimBg="0"/>
      <p:bldP spid="21" grpId="0" build="p" autoUpdateAnimBg="0" advAuto="0"/>
      <p:bldP spid="4" grpId="0" build="p" autoUpdateAnimBg="0" advAuto="0"/>
      <p:bldP spid="5" grpId="0" build="p" autoUpdateAnimBg="0" advAuto="0"/>
      <p:bldP spid="6" grpId="0"/>
      <p:bldP spid="7" grpId="0" build="p" autoUpdateAnimBg="0"/>
      <p:bldP spid="8" grpId="0" build="p" autoUpdateAnimBg="0"/>
      <p:bldP spid="9" grpId="0" build="p" autoUpdateAnimBg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50F0CCBE-B541-4D3E-97FA-BC9E370263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763556"/>
              </p:ext>
            </p:extLst>
          </p:nvPr>
        </p:nvGraphicFramePr>
        <p:xfrm>
          <a:off x="2050256" y="1196752"/>
          <a:ext cx="5043487" cy="323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9800" imgH="1625400" progId="Equation.DSMT4">
                  <p:embed/>
                </p:oleObj>
              </mc:Choice>
              <mc:Fallback>
                <p:oleObj name="Equation" r:id="rId2" imgW="2539800" imgH="1625400" progId="Equation.DSMT4">
                  <p:embed/>
                  <p:pic>
                    <p:nvPicPr>
                      <p:cNvPr id="22" name="Object 7">
                        <a:extLst>
                          <a:ext uri="{FF2B5EF4-FFF2-40B4-BE49-F238E27FC236}">
                            <a16:creationId xmlns:a16="http://schemas.microsoft.com/office/drawing/2014/main" id="{50F0CCBE-B541-4D3E-97FA-BC9E370263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256" y="1196752"/>
                        <a:ext cx="5043487" cy="323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0">
            <a:extLst>
              <a:ext uri="{FF2B5EF4-FFF2-40B4-BE49-F238E27FC236}">
                <a16:creationId xmlns:a16="http://schemas.microsoft.com/office/drawing/2014/main" id="{6B2D05C8-52D4-4ADA-BF15-CAE210E8D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  <p:extLst>
      <p:ext uri="{BB962C8B-B14F-4D97-AF65-F5344CB8AC3E}">
        <p14:creationId xmlns:p14="http://schemas.microsoft.com/office/powerpoint/2010/main" val="272215646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3">
            <a:extLst>
              <a:ext uri="{FF2B5EF4-FFF2-40B4-BE49-F238E27FC236}">
                <a16:creationId xmlns:a16="http://schemas.microsoft.com/office/drawing/2014/main" id="{1C5A60F4-DA23-4FF3-9A93-5695DCDB2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55896"/>
              </p:ext>
            </p:extLst>
          </p:nvPr>
        </p:nvGraphicFramePr>
        <p:xfrm>
          <a:off x="1020763" y="1797993"/>
          <a:ext cx="1130300" cy="307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3073320" progId="Equation.DSMT4">
                  <p:embed/>
                </p:oleObj>
              </mc:Choice>
              <mc:Fallback>
                <p:oleObj name="Equation" r:id="rId2" imgW="1130040" imgH="3073320" progId="Equation.DSMT4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B18BD151-6C49-45EA-9AA8-571C2DBC98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1797993"/>
                        <a:ext cx="1130300" cy="307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541B9284-0FB0-4F69-911F-E9EA4C0876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402676"/>
              </p:ext>
            </p:extLst>
          </p:nvPr>
        </p:nvGraphicFramePr>
        <p:xfrm>
          <a:off x="2195736" y="1772816"/>
          <a:ext cx="6197600" cy="312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97400" imgH="3124080" progId="Equation.DSMT4">
                  <p:embed/>
                </p:oleObj>
              </mc:Choice>
              <mc:Fallback>
                <p:oleObj name="Equation" r:id="rId4" imgW="6197400" imgH="312408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51D757B6-40CF-4168-A301-06B20DC640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772816"/>
                        <a:ext cx="6197600" cy="312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4">
            <a:extLst>
              <a:ext uri="{FF2B5EF4-FFF2-40B4-BE49-F238E27FC236}">
                <a16:creationId xmlns:a16="http://schemas.microsoft.com/office/drawing/2014/main" id="{204B8F84-DB04-37CA-40BD-210DE9DCF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32829"/>
            <a:ext cx="331236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其列向量形式为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99A3B24A-D7C9-4C69-83CE-B5F7485E9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9">
            <a:extLst>
              <a:ext uri="{FF2B5EF4-FFF2-40B4-BE49-F238E27FC236}">
                <a16:creationId xmlns:a16="http://schemas.microsoft.com/office/drawing/2014/main" id="{EAC79F71-5FEC-E033-1F14-0984EEBD9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94" y="4162406"/>
            <a:ext cx="39318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sz="1600" b="1" dirty="0">
                <a:solidFill>
                  <a:srgbClr val="0000FF"/>
                </a:solidFill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,</a:t>
            </a:r>
          </a:p>
        </p:txBody>
      </p:sp>
      <p:sp>
        <p:nvSpPr>
          <p:cNvPr id="26" name="Text Box 3">
            <a:extLst>
              <a:ext uri="{FF2B5EF4-FFF2-40B4-BE49-F238E27FC236}">
                <a16:creationId xmlns:a16="http://schemas.microsoft.com/office/drawing/2014/main" id="{BA11D792-3A9A-47FA-9B06-80327E280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1124396"/>
            <a:ext cx="453650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3.1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还可叙述如下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: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56D8D8B1-EC8A-7F2A-0987-E15CCE89E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12" y="2721354"/>
            <a:ext cx="62162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解的充要条件是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sz="16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).</a:t>
            </a: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B4943862-1911-EDDB-350A-0B1CD3DBC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2628" y="4162406"/>
            <a:ext cx="3337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则有无穷多组</a:t>
            </a:r>
            <a:r>
              <a:rPr lang="zh-CN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rgbClr val="0000FF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C7C01FEC-BC90-9AAC-E952-E10FDBABF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958622"/>
            <a:ext cx="84604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14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16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无</a:t>
            </a:r>
            <a:r>
              <a:rPr lang="zh-CN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解的充要条件是</a:t>
            </a:r>
            <a:r>
              <a:rPr lang="zh-CN" altLang="zh-CN" sz="16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1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&lt;</a:t>
            </a:r>
            <a:r>
              <a:rPr lang="en-US" altLang="zh-CN" sz="1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sz="1600" b="1" dirty="0">
                <a:solidFill>
                  <a:srgbClr val="0000FF"/>
                </a:solidFill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),</a:t>
            </a:r>
          </a:p>
        </p:txBody>
      </p:sp>
      <p:sp>
        <p:nvSpPr>
          <p:cNvPr id="6" name="Text Box 37">
            <a:extLst>
              <a:ext uri="{FF2B5EF4-FFF2-40B4-BE49-F238E27FC236}">
                <a16:creationId xmlns:a16="http://schemas.microsoft.com/office/drawing/2014/main" id="{9A0AD195-9CBE-D8A5-074F-DDEEBE45F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094" y="3437467"/>
            <a:ext cx="41327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sz="1600" b="1" dirty="0">
                <a:solidFill>
                  <a:srgbClr val="0000FF"/>
                </a:solidFill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,</a:t>
            </a:r>
          </a:p>
        </p:txBody>
      </p:sp>
      <p:sp>
        <p:nvSpPr>
          <p:cNvPr id="8" name="Text Box 39">
            <a:extLst>
              <a:ext uri="{FF2B5EF4-FFF2-40B4-BE49-F238E27FC236}">
                <a16:creationId xmlns:a16="http://schemas.microsoft.com/office/drawing/2014/main" id="{93729118-3E5C-80C0-22E5-40ACDA926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826" y="3441880"/>
            <a:ext cx="25922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则有唯一解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  <a:endParaRPr lang="en-US" altLang="zh-CN" b="1" dirty="0">
              <a:solidFill>
                <a:srgbClr val="0000FF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F9175082-5720-4BB8-A02C-5EC29F043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线性方程组的解的判别法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26" grpId="0" build="p" autoUpdateAnimBg="0"/>
      <p:bldP spid="3" grpId="0" build="p" autoUpdateAnimBg="0"/>
      <p:bldP spid="4" grpId="0" build="p" autoUpdateAnimBg="0"/>
      <p:bldP spid="5" grpId="0" build="p" autoUpdateAnimBg="0"/>
      <p:bldP spid="6" grpId="0" build="p" autoUpdateAnimBg="0"/>
      <p:bldP spid="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D2296BD9-456E-4A0B-8141-3DBD2418B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828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FD6AB1ED-23C1-253C-B08E-2C3D246A7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573" y="1312635"/>
            <a:ext cx="324036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元线性方程组</a:t>
            </a: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FDA90B6B-0D5E-9682-AFF1-9FB07283E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394454"/>
              </p:ext>
            </p:extLst>
          </p:nvPr>
        </p:nvGraphicFramePr>
        <p:xfrm>
          <a:off x="2312972" y="1979295"/>
          <a:ext cx="46736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73520" imgH="1701720" progId="Equation.DSMT4">
                  <p:embed/>
                </p:oleObj>
              </mc:Choice>
              <mc:Fallback>
                <p:oleObj name="Equation" r:id="rId2" imgW="4673520" imgH="1701720" progId="Equation.DSMT4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91A000A5-2544-C7C6-D061-5816B58D32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2972" y="1979295"/>
                        <a:ext cx="46736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5BD7115-3264-CDB3-1EE9-EDF7C8A90D9F}"/>
              </a:ext>
            </a:extLst>
          </p:cNvPr>
          <p:cNvSpPr txBox="1"/>
          <p:nvPr/>
        </p:nvSpPr>
        <p:spPr>
          <a:xfrm>
            <a:off x="2286000" y="692696"/>
            <a:ext cx="45720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1pPr>
          </a:lstStyle>
          <a:p>
            <a:pPr algn="ctr"/>
            <a:r>
              <a:rPr lang="zh-CN" altLang="en-US" sz="3000" dirty="0">
                <a:solidFill>
                  <a:srgbClr val="C00000"/>
                </a:solidFill>
              </a:rPr>
              <a:t>线性方程组的分类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6518AA5-B597-ABE6-4DC4-5E7589F47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926" y="3823651"/>
            <a:ext cx="10801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A62AE19-17DF-6017-792E-7EA8A24FB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016" y="3823651"/>
            <a:ext cx="52301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若常数项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0, 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F1A0F171-E853-97FF-8A99-839BA85C3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926" y="4540437"/>
            <a:ext cx="47562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; 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FC031AC4-2536-40B2-224C-683D4784C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3149" y="3823651"/>
            <a:ext cx="279821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则线性方程组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31992732-96E8-47B4-2FEC-8AEDB194A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624" y="4544226"/>
            <a:ext cx="40866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若常数项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AB95D33E-1157-6C6B-B250-D9A053C06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926" y="5253434"/>
            <a:ext cx="21394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不全为</a:t>
            </a:r>
            <a:r>
              <a:rPr lang="en-US" altLang="zh-CN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0, 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F6977E68-B09E-EEBC-FBC8-4E7A27E2E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709" y="5257223"/>
            <a:ext cx="70567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则线性方程组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非齐次线性方程组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6" grpId="0" build="p" autoUpdateAnimBg="0"/>
      <p:bldP spid="7" grpId="0" build="p" autoUpdateAnimBg="0"/>
      <p:bldP spid="8" grpId="0" build="p" autoUpdateAnimBg="0"/>
      <p:bldP spid="9" grpId="0" build="p" autoUpdateAnimBg="0"/>
      <p:bldP spid="10" grpId="0" build="p" autoUpdateAnimBg="0"/>
      <p:bldP spid="11" grpId="0" build="p" autoUpdateAnimBg="0"/>
      <p:bldP spid="12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0">
            <a:extLst>
              <a:ext uri="{FF2B5EF4-FFF2-40B4-BE49-F238E27FC236}">
                <a16:creationId xmlns:a16="http://schemas.microsoft.com/office/drawing/2014/main" id="{D2296BD9-456E-4A0B-8141-3DBD2418B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965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A6D6CA88-E38E-A73F-47B6-BC98CA577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67" y="1322962"/>
            <a:ext cx="1439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Step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41F392DB-91F7-DA21-5E12-ADBBD80EF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306" y="3499921"/>
            <a:ext cx="1439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Step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D58AEA95-78CD-7872-A831-17325B85A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315" y="3495814"/>
            <a:ext cx="55566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则方程组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有唯一解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即零解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851A2D14-0F3E-1681-2504-8AB92EC67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074" y="2026537"/>
            <a:ext cx="44489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b="1" i="1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69DE53CE-8753-5683-95B9-05C5A6F05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176" y="1317456"/>
            <a:ext cx="237626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对它的系数</a:t>
            </a:r>
            <a:endParaRPr lang="en-US" altLang="zh-CN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5FB94B7F-FE72-C571-ABAE-CABDCD66A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069" y="1320696"/>
            <a:ext cx="471711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对于齐次线性方程组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FC0F7C7C-F475-3AEC-83E2-86B888CF7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393" y="3499921"/>
            <a:ext cx="230366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14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78CF93D7-282F-51F2-8190-2498B03E8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692696"/>
            <a:ext cx="674884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(1)</a:t>
            </a:r>
            <a:r>
              <a:rPr lang="en-US" altLang="zh-CN" sz="2000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元齐次线性方程组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的解法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E189ED14-24A0-06DD-0F3D-2A835770F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7992" y="2018859"/>
            <a:ext cx="45365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把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化为行最简形矩阵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en-US" altLang="zh-CN" sz="2000" b="1" i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200B8184-2FFB-A5C6-4542-D8519B07D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306" y="2751576"/>
            <a:ext cx="73220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根据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的行最简形矩阵可求出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).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FE629D07-7532-6C90-D2B6-3BBC52FF3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982" y="4205763"/>
            <a:ext cx="1439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Step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3ED10221-9392-88AB-7739-C0D979BEB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393" y="4205763"/>
            <a:ext cx="312880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14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2CAE71DB-A786-89BA-F941-DD9C4AFBB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4161" y="4205763"/>
            <a:ext cx="50638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则方程组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Ax=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有无穷多组解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C6BBB435-7B98-9978-ACF5-E94C65653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67" y="5634925"/>
            <a:ext cx="471772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未知量取作非自由未知量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DB92A393-CB5C-45D6-5FDA-9FBAAE52F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67" y="4905778"/>
            <a:ext cx="828005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把行最简形矩阵中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个非零行的首非零元所对应的</a:t>
            </a:r>
          </a:p>
        </p:txBody>
      </p:sp>
      <p:sp>
        <p:nvSpPr>
          <p:cNvPr id="38" name="Text Box 9">
            <a:extLst>
              <a:ext uri="{FF2B5EF4-FFF2-40B4-BE49-F238E27FC236}">
                <a16:creationId xmlns:a16="http://schemas.microsoft.com/office/drawing/2014/main" id="{DBA6D8D9-8AB8-BEA6-0991-BA4748173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197" y="5634925"/>
            <a:ext cx="431473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其余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个未知量取作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34135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build="p" autoUpdateAnimBg="0"/>
      <p:bldP spid="8" grpId="0"/>
      <p:bldP spid="9" grpId="0"/>
      <p:bldP spid="10" grpId="0" build="p" autoUpdateAnimBg="0"/>
      <p:bldP spid="11" grpId="0" build="p" autoUpdateAnimBg="0"/>
      <p:bldP spid="12" grpId="0"/>
      <p:bldP spid="13" grpId="0"/>
      <p:bldP spid="14" grpId="0" build="p" autoUpdateAnimBg="0"/>
      <p:bldP spid="15" grpId="0" build="p" autoUpdateAnimBg="0"/>
      <p:bldP spid="16" grpId="0" build="p" autoUpdateAnimBg="0"/>
      <p:bldP spid="17" grpId="0" build="p" autoUpdateAnimBg="0"/>
      <p:bldP spid="18" grpId="0" build="p" autoUpdateAnimBg="0" advAuto="0"/>
      <p:bldP spid="19" grpId="0" build="p" autoUpdateAnimBg="0"/>
      <p:bldP spid="38" grpId="0" build="p" autoUpdateAnimBg="0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>
            <a:extLst>
              <a:ext uri="{FF2B5EF4-FFF2-40B4-BE49-F238E27FC236}">
                <a16:creationId xmlns:a16="http://schemas.microsoft.com/office/drawing/2014/main" id="{8054065B-6EDA-4F63-8A61-82DDA056B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648" y="1077997"/>
            <a:ext cx="282123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FAAE77AE-C7B5-4AFF-ADEB-263C4239F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260" y="1077997"/>
            <a:ext cx="59892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并令自由未知量分别等于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-2500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500C616-55E9-4C55-8813-65D2A0DBF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877" y="1791291"/>
            <a:ext cx="136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– 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r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D06ADE7A-8205-4D67-9032-B2B7D7AA5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1786529"/>
            <a:ext cx="708529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即可写出方程组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的含有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个参数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B854B996-AED0-4F4B-8648-01E030399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877" y="2521023"/>
            <a:ext cx="188090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FE5CDE1F-96CF-463E-A972-DA3E090FE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965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</a:t>
            </a:r>
          </a:p>
        </p:txBody>
      </p:sp>
    </p:spTree>
    <p:extLst>
      <p:ext uri="{BB962C8B-B14F-4D97-AF65-F5344CB8AC3E}">
        <p14:creationId xmlns:p14="http://schemas.microsoft.com/office/powerpoint/2010/main" val="88985702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7" grpId="0" build="p" autoUpdateAnimBg="0" advAuto="0"/>
      <p:bldP spid="8" grpId="0" build="p" autoUpdateAnimBg="0" advAuto="0"/>
      <p:bldP spid="10" grpId="0" build="p" autoUpdateAnimBg="0" advAuto="0"/>
      <p:bldP spid="11" grpId="0" build="p" autoUpdateAnimBg="0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>
            <a:extLst>
              <a:ext uri="{FF2B5EF4-FFF2-40B4-BE49-F238E27FC236}">
                <a16:creationId xmlns:a16="http://schemas.microsoft.com/office/drawing/2014/main" id="{9A4D452B-BD95-4B6B-A06B-F7E7CB933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205" y="860242"/>
            <a:ext cx="7416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(2) </a:t>
            </a:r>
            <a:r>
              <a:rPr lang="en-US" altLang="zh-CN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元非齐次线性方程组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的解法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A4703F88-C1E9-4FBA-AF9B-C46E3B13E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965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</a:t>
            </a:r>
          </a:p>
        </p:txBody>
      </p:sp>
      <p:sp>
        <p:nvSpPr>
          <p:cNvPr id="2" name="Text Box 10">
            <a:extLst>
              <a:ext uri="{FF2B5EF4-FFF2-40B4-BE49-F238E27FC236}">
                <a16:creationId xmlns:a16="http://schemas.microsoft.com/office/drawing/2014/main" id="{B181A631-4D59-A9CB-39C1-0C38FD1B6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39" y="1583182"/>
            <a:ext cx="1439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Step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EE0586F3-8DB1-E94E-2ED1-4261688AF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59" y="4416381"/>
            <a:ext cx="1439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Step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BF57BEEE-CA4E-9BDF-7625-D54BDAE70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54" y="3020354"/>
            <a:ext cx="83405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的行阶梯形矩阵可同时看出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).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19CA2BC1-A5F9-C70E-EFD7-13193DC12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54" y="3712450"/>
            <a:ext cx="316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),</a:t>
            </a: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C0088EE0-50B2-C917-2AF9-58F219339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009" y="4416381"/>
            <a:ext cx="493236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则进一步把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化为行最简形</a:t>
            </a: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27C88E44-0258-D34C-5ED0-240559CB6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660" y="3712450"/>
            <a:ext cx="39446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Text Box 15">
            <a:extLst>
              <a:ext uri="{FF2B5EF4-FFF2-40B4-BE49-F238E27FC236}">
                <a16:creationId xmlns:a16="http://schemas.microsoft.com/office/drawing/2014/main" id="{995B03FA-3F77-3388-9C90-5A8FFD85F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3780" y="2305483"/>
            <a:ext cx="44107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把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化为行阶梯形矩阵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en-US" altLang="zh-CN" b="1" i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3" name="Text Box 13">
            <a:extLst>
              <a:ext uri="{FF2B5EF4-FFF2-40B4-BE49-F238E27FC236}">
                <a16:creationId xmlns:a16="http://schemas.microsoft.com/office/drawing/2014/main" id="{8ED1A74F-FC5B-ED27-1C71-08CEE6655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59" y="5137106"/>
            <a:ext cx="156716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b="1" i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7B0F46E7-FAC6-9545-EF6B-E0C6D07B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224" y="1587933"/>
            <a:ext cx="25375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对它的增广</a:t>
            </a:r>
            <a:endParaRPr lang="en-US" altLang="zh-CN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F5C8F2D6-1377-82E5-0181-FED6FC37D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55" y="2308658"/>
            <a:ext cx="44107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264EFA3E-73C4-275D-977C-0DB6626B0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879" y="1587933"/>
            <a:ext cx="527738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对于非齐次线性方程组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7" name="Text Box 12">
            <a:extLst>
              <a:ext uri="{FF2B5EF4-FFF2-40B4-BE49-F238E27FC236}">
                <a16:creationId xmlns:a16="http://schemas.microsoft.com/office/drawing/2014/main" id="{6D69AB7A-AFDF-4680-CFF0-8C1B7E7DA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646" y="4416381"/>
            <a:ext cx="287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141074689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7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build="p" autoUpdateAnimBg="0"/>
      <p:bldP spid="3" grpId="0" build="p" autoUpdateAnimBg="0"/>
      <p:bldP spid="4" grpId="0" build="p" autoUpdateAnimBg="0" advAuto="0"/>
      <p:bldP spid="5" grpId="0" build="p" autoUpdateAnimBg="0" advAuto="0"/>
      <p:bldP spid="14" grpId="0" build="p" autoUpdateAnimBg="0"/>
      <p:bldP spid="21" grpId="0" build="p" autoUpdateAnimBg="0" advAuto="0"/>
      <p:bldP spid="22" grpId="0"/>
      <p:bldP spid="23" grpId="0"/>
      <p:bldP spid="24" grpId="0"/>
      <p:bldP spid="25" grpId="0"/>
      <p:bldP spid="26" grpId="0" build="p" autoUpdateAnimBg="0"/>
      <p:bldP spid="27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5">
            <a:extLst>
              <a:ext uri="{FF2B5EF4-FFF2-40B4-BE49-F238E27FC236}">
                <a16:creationId xmlns:a16="http://schemas.microsoft.com/office/drawing/2014/main" id="{E4BE9A5E-A0E5-4468-A6CA-5FC40C565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238" y="1067779"/>
            <a:ext cx="403225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)=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AAF6D527-32E4-4C16-8995-9F4867F70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14" y="1067779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Step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7F19C6C9-AB1A-47F3-971C-4D5A5E648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14" y="3348133"/>
            <a:ext cx="484722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知量取作非自由未知量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1BEAD531-3FB4-4664-BC8F-3ABD2F9B9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14" y="2589543"/>
            <a:ext cx="86196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把行最简形矩阵中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个非零行的首非零元所对应的未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063DF389-E9C5-48F6-A4E7-1D92F95C1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819" y="3344283"/>
            <a:ext cx="484722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其余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–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1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个未知量取作自由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F726AE31-3803-477F-A312-53E8EC06C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4110591"/>
            <a:ext cx="70551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并令自由未知量分别等于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– 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AB4558F0-683C-48F9-A1D4-F2C3748A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64" y="4865073"/>
            <a:ext cx="852485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即可写出方程组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含有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个参数的通解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1186881D-35B9-A9D0-6381-45EFA805D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15" y="1826369"/>
            <a:ext cx="450832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(b)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1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&lt;</a:t>
            </a:r>
            <a:r>
              <a:rPr lang="en-US" altLang="zh-CN" sz="1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24D1F5BC-1DF4-D441-13A6-5D52B2666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1057766"/>
            <a:ext cx="424038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则方程组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Ax=b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有唯一解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01C320A8-5BAC-CADF-B269-CD0701B71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1" y="1833204"/>
            <a:ext cx="496046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则方程组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Ax=b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有无穷多组解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E4D312CE-0735-D50E-56B1-75C32B5AB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14" y="4110591"/>
            <a:ext cx="217775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FCA97D8A-29BC-4A87-AA59-50CE5F9B1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965"/>
            <a:ext cx="6472436" cy="49244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(</a:t>
            </a:r>
            <a:r>
              <a:rPr lang="zh-CN" altLang="en-US" sz="2600" b="1" kern="0" dirty="0">
                <a:solidFill>
                  <a:schemeClr val="bg1"/>
                </a:solidFill>
                <a:ea typeface="华文中宋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</a:t>
            </a:r>
          </a:p>
        </p:txBody>
      </p:sp>
    </p:spTree>
    <p:extLst>
      <p:ext uri="{BB962C8B-B14F-4D97-AF65-F5344CB8AC3E}">
        <p14:creationId xmlns:p14="http://schemas.microsoft.com/office/powerpoint/2010/main" val="25168739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8" grpId="0" build="p" autoUpdateAnimBg="0"/>
      <p:bldP spid="9" grpId="0" build="p" autoUpdateAnimBg="0" advAuto="0"/>
      <p:bldP spid="10" grpId="0" build="p" autoUpdateAnimBg="0"/>
      <p:bldP spid="11" grpId="0" build="p" autoUpdateAnimBg="0" advAuto="0"/>
      <p:bldP spid="12" grpId="0" build="p" autoUpdateAnimBg="0" advAuto="0"/>
      <p:bldP spid="13" grpId="0" build="p" autoUpdateAnimBg="0" advAuto="0"/>
      <p:bldP spid="16" grpId="0" build="p" autoUpdateAnimBg="0"/>
      <p:bldP spid="17" grpId="0" build="p" autoUpdateAnimBg="0"/>
      <p:bldP spid="18" grpId="0" build="p" autoUpdateAnimBg="0"/>
      <p:bldP spid="20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D84202-61B3-4F99-9FF8-56DB3AE8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7398199" cy="49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0F8B0F91-ED12-4B3E-B685-0DBF8BB7C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509" y="927199"/>
            <a:ext cx="160526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" name="Rectangle 43">
            <a:extLst>
              <a:ext uri="{FF2B5EF4-FFF2-40B4-BE49-F238E27FC236}">
                <a16:creationId xmlns:a16="http://schemas.microsoft.com/office/drawing/2014/main" id="{27C81B17-02BE-43B2-9B47-2D4322D28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509" y="3065028"/>
            <a:ext cx="102920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0" name="Text Box 44">
            <a:extLst>
              <a:ext uri="{FF2B5EF4-FFF2-40B4-BE49-F238E27FC236}">
                <a16:creationId xmlns:a16="http://schemas.microsoft.com/office/drawing/2014/main" id="{90510D62-1360-45F0-BC60-E11D33A77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509" y="3748288"/>
            <a:ext cx="592574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5BFCE887-B3B7-472A-A329-6BD1A447FE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797327"/>
              </p:ext>
            </p:extLst>
          </p:nvPr>
        </p:nvGraphicFramePr>
        <p:xfrm>
          <a:off x="2851150" y="1603133"/>
          <a:ext cx="34417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41600" imgH="1498320" progId="Equation.DSMT4">
                  <p:embed/>
                </p:oleObj>
              </mc:Choice>
              <mc:Fallback>
                <p:oleObj name="Equation" r:id="rId3" imgW="3441600" imgH="1498320" progId="Equation.DSMT4">
                  <p:embed/>
                  <p:pic>
                    <p:nvPicPr>
                      <p:cNvPr id="22" name="Object 8">
                        <a:extLst>
                          <a:ext uri="{FF2B5EF4-FFF2-40B4-BE49-F238E27FC236}">
                            <a16:creationId xmlns:a16="http://schemas.microsoft.com/office/drawing/2014/main" id="{38FF9D43-DD90-4CDB-91A4-25F5D25819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1603133"/>
                        <a:ext cx="34417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9FEC1CD7-53B5-4906-A3D6-9A4B66B062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853807"/>
              </p:ext>
            </p:extLst>
          </p:nvPr>
        </p:nvGraphicFramePr>
        <p:xfrm>
          <a:off x="1115616" y="4494330"/>
          <a:ext cx="3251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51160" imgH="1244520" progId="Equation.DSMT4">
                  <p:embed/>
                </p:oleObj>
              </mc:Choice>
              <mc:Fallback>
                <p:oleObj name="Equation" r:id="rId5" imgW="3251160" imgH="1244520" progId="Equation.DSMT4">
                  <p:embed/>
                  <p:pic>
                    <p:nvPicPr>
                      <p:cNvPr id="38" name="Object 16">
                        <a:extLst>
                          <a:ext uri="{FF2B5EF4-FFF2-40B4-BE49-F238E27FC236}">
                            <a16:creationId xmlns:a16="http://schemas.microsoft.com/office/drawing/2014/main" id="{07F8DAFC-9B52-492B-A31A-76E9D3168C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494330"/>
                        <a:ext cx="32512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>
            <a:extLst>
              <a:ext uri="{FF2B5EF4-FFF2-40B4-BE49-F238E27FC236}">
                <a16:creationId xmlns:a16="http://schemas.microsoft.com/office/drawing/2014/main" id="{FAE46458-DA01-434E-9A2D-4DCE92B93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165482"/>
              </p:ext>
            </p:extLst>
          </p:nvPr>
        </p:nvGraphicFramePr>
        <p:xfrm>
          <a:off x="5337175" y="4494213"/>
          <a:ext cx="2324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23800" imgH="1244520" progId="Equation.DSMT4">
                  <p:embed/>
                </p:oleObj>
              </mc:Choice>
              <mc:Fallback>
                <p:oleObj name="Equation" r:id="rId7" imgW="2323800" imgH="1244520" progId="Equation.DSMT4">
                  <p:embed/>
                  <p:pic>
                    <p:nvPicPr>
                      <p:cNvPr id="39" name="Object 17">
                        <a:extLst>
                          <a:ext uri="{FF2B5EF4-FFF2-40B4-BE49-F238E27FC236}">
                            <a16:creationId xmlns:a16="http://schemas.microsoft.com/office/drawing/2014/main" id="{05FFB8F9-1211-4B3A-910D-F9550E63BF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4494213"/>
                        <a:ext cx="23241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6C55D318-95B9-F0E1-B6E8-8B29EBE8E4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404001"/>
              </p:ext>
            </p:extLst>
          </p:nvPr>
        </p:nvGraphicFramePr>
        <p:xfrm>
          <a:off x="4424393" y="4543469"/>
          <a:ext cx="842884" cy="1146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680" imgH="863280" progId="Equation.DSMT4">
                  <p:embed/>
                </p:oleObj>
              </mc:Choice>
              <mc:Fallback>
                <p:oleObj name="Equation" r:id="rId9" imgW="634680" imgH="863280" progId="Equation.DSMT4">
                  <p:embed/>
                  <p:pic>
                    <p:nvPicPr>
                      <p:cNvPr id="8" name="Object 23">
                        <a:extLst>
                          <a:ext uri="{FF2B5EF4-FFF2-40B4-BE49-F238E27FC236}">
                            <a16:creationId xmlns:a16="http://schemas.microsoft.com/office/drawing/2014/main" id="{42ECAFE2-FDC8-47EF-88E5-46486944AD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93" y="4543469"/>
                        <a:ext cx="842884" cy="1146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1">
            <a:extLst>
              <a:ext uri="{FF2B5EF4-FFF2-40B4-BE49-F238E27FC236}">
                <a16:creationId xmlns:a16="http://schemas.microsoft.com/office/drawing/2014/main" id="{CF3908CE-D39B-045E-6445-336A037EA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7" y="915292"/>
            <a:ext cx="439248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求解齐次线性方程组</a:t>
            </a:r>
          </a:p>
        </p:txBody>
      </p:sp>
    </p:spTree>
    <p:extLst>
      <p:ext uri="{BB962C8B-B14F-4D97-AF65-F5344CB8AC3E}">
        <p14:creationId xmlns:p14="http://schemas.microsoft.com/office/powerpoint/2010/main" val="439539564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 autoUpdateAnimBg="0"/>
      <p:bldP spid="10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988DCDD1-7AC3-4420-815B-D5979A7B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D7B1BCD-5AAE-4E6D-8B10-F51899EB7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03" y="-19205"/>
            <a:ext cx="8235342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graphicFrame>
        <p:nvGraphicFramePr>
          <p:cNvPr id="8" name="Object 18">
            <a:extLst>
              <a:ext uri="{FF2B5EF4-FFF2-40B4-BE49-F238E27FC236}">
                <a16:creationId xmlns:a16="http://schemas.microsoft.com/office/drawing/2014/main" id="{272D852F-59FA-4AE8-8896-A10C0C929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145366"/>
              </p:ext>
            </p:extLst>
          </p:nvPr>
        </p:nvGraphicFramePr>
        <p:xfrm>
          <a:off x="1825825" y="810010"/>
          <a:ext cx="2324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3800" imgH="1244520" progId="Equation.DSMT4">
                  <p:embed/>
                </p:oleObj>
              </mc:Choice>
              <mc:Fallback>
                <p:oleObj name="Equation" r:id="rId3" imgW="2323800" imgH="1244520" progId="Equation.DSMT4">
                  <p:embed/>
                  <p:pic>
                    <p:nvPicPr>
                      <p:cNvPr id="24" name="Object 18">
                        <a:extLst>
                          <a:ext uri="{FF2B5EF4-FFF2-40B4-BE49-F238E27FC236}">
                            <a16:creationId xmlns:a16="http://schemas.microsoft.com/office/drawing/2014/main" id="{C9788388-0238-4C07-963C-5B9A0017D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825" y="810010"/>
                        <a:ext cx="23241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>
            <a:extLst>
              <a:ext uri="{FF2B5EF4-FFF2-40B4-BE49-F238E27FC236}">
                <a16:creationId xmlns:a16="http://schemas.microsoft.com/office/drawing/2014/main" id="{14FC6A6E-CC95-488B-8A5A-63D1D3A87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046963"/>
              </p:ext>
            </p:extLst>
          </p:nvPr>
        </p:nvGraphicFramePr>
        <p:xfrm>
          <a:off x="5288116" y="808144"/>
          <a:ext cx="25019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1640" imgH="1244520" progId="Equation.DSMT4">
                  <p:embed/>
                </p:oleObj>
              </mc:Choice>
              <mc:Fallback>
                <p:oleObj name="Equation" r:id="rId5" imgW="2501640" imgH="1244520" progId="Equation.DSMT4">
                  <p:embed/>
                  <p:pic>
                    <p:nvPicPr>
                      <p:cNvPr id="36" name="Object 16">
                        <a:extLst>
                          <a:ext uri="{FF2B5EF4-FFF2-40B4-BE49-F238E27FC236}">
                            <a16:creationId xmlns:a16="http://schemas.microsoft.com/office/drawing/2014/main" id="{7E1A4E41-461C-48E9-B160-143EE3C77C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8116" y="808144"/>
                        <a:ext cx="25019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8">
            <a:extLst>
              <a:ext uri="{FF2B5EF4-FFF2-40B4-BE49-F238E27FC236}">
                <a16:creationId xmlns:a16="http://schemas.microsoft.com/office/drawing/2014/main" id="{9F007AAC-D795-468D-9647-AE2B6F12D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3745652"/>
            <a:ext cx="5402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即得与原方程组同解的方程组</a:t>
            </a: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4D4BCE66-125C-4F98-A187-C7A67144CC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550775"/>
              </p:ext>
            </p:extLst>
          </p:nvPr>
        </p:nvGraphicFramePr>
        <p:xfrm>
          <a:off x="3672732" y="4470629"/>
          <a:ext cx="17907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90640" imgH="1295280" progId="Equation.DSMT4">
                  <p:embed/>
                </p:oleObj>
              </mc:Choice>
              <mc:Fallback>
                <p:oleObj name="Equation" r:id="rId7" imgW="1790640" imgH="1295280" progId="Equation.DSMT4">
                  <p:embed/>
                  <p:pic>
                    <p:nvPicPr>
                      <p:cNvPr id="42" name="Object 5">
                        <a:extLst>
                          <a:ext uri="{FF2B5EF4-FFF2-40B4-BE49-F238E27FC236}">
                            <a16:creationId xmlns:a16="http://schemas.microsoft.com/office/drawing/2014/main" id="{3CF28E60-7099-4516-BF91-9228CDA60C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732" y="4470629"/>
                        <a:ext cx="17907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>
            <a:extLst>
              <a:ext uri="{FF2B5EF4-FFF2-40B4-BE49-F238E27FC236}">
                <a16:creationId xmlns:a16="http://schemas.microsoft.com/office/drawing/2014/main" id="{1CE72E2B-8399-4EB0-ACF6-233CBA5BC6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970507"/>
              </p:ext>
            </p:extLst>
          </p:nvPr>
        </p:nvGraphicFramePr>
        <p:xfrm>
          <a:off x="1825825" y="2265962"/>
          <a:ext cx="2235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34880" imgH="1244520" progId="Equation.DSMT4">
                  <p:embed/>
                </p:oleObj>
              </mc:Choice>
              <mc:Fallback>
                <p:oleObj name="Equation" r:id="rId9" imgW="2234880" imgH="1244520" progId="Equation.DSMT4">
                  <p:embed/>
                  <p:pic>
                    <p:nvPicPr>
                      <p:cNvPr id="52" name="Object 18">
                        <a:extLst>
                          <a:ext uri="{FF2B5EF4-FFF2-40B4-BE49-F238E27FC236}">
                            <a16:creationId xmlns:a16="http://schemas.microsoft.com/office/drawing/2014/main" id="{C366FF3D-CA63-478B-A141-FB4C5768C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825" y="2265962"/>
                        <a:ext cx="22352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>
            <a:extLst>
              <a:ext uri="{FF2B5EF4-FFF2-40B4-BE49-F238E27FC236}">
                <a16:creationId xmlns:a16="http://schemas.microsoft.com/office/drawing/2014/main" id="{821CA7BD-39A5-AE45-2DDA-E3D926BA8F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688760"/>
              </p:ext>
            </p:extLst>
          </p:nvPr>
        </p:nvGraphicFramePr>
        <p:xfrm>
          <a:off x="1102570" y="849680"/>
          <a:ext cx="674687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07960" imgH="876240" progId="Equation.DSMT4">
                  <p:embed/>
                </p:oleObj>
              </mc:Choice>
              <mc:Fallback>
                <p:oleObj name="Equation" r:id="rId11" imgW="507960" imgH="876240" progId="Equation.DSMT4">
                  <p:embed/>
                  <p:pic>
                    <p:nvPicPr>
                      <p:cNvPr id="19" name="Object 23">
                        <a:extLst>
                          <a:ext uri="{FF2B5EF4-FFF2-40B4-BE49-F238E27FC236}">
                            <a16:creationId xmlns:a16="http://schemas.microsoft.com/office/drawing/2014/main" id="{6C55D318-95B9-F0E1-B6E8-8B29EBE8E4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570" y="849680"/>
                        <a:ext cx="674687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3">
            <a:extLst>
              <a:ext uri="{FF2B5EF4-FFF2-40B4-BE49-F238E27FC236}">
                <a16:creationId xmlns:a16="http://schemas.microsoft.com/office/drawing/2014/main" id="{3FC0513C-441A-3647-AF23-35B26BDB1B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2067255"/>
              </p:ext>
            </p:extLst>
          </p:nvPr>
        </p:nvGraphicFramePr>
        <p:xfrm>
          <a:off x="4198195" y="852855"/>
          <a:ext cx="995362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49160" imgH="876240" progId="Equation.DSMT4">
                  <p:embed/>
                </p:oleObj>
              </mc:Choice>
              <mc:Fallback>
                <p:oleObj name="Equation" r:id="rId13" imgW="749160" imgH="87624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821CA7BD-39A5-AE45-2DDA-E3D926BA8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195" y="852855"/>
                        <a:ext cx="995362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3">
            <a:extLst>
              <a:ext uri="{FF2B5EF4-FFF2-40B4-BE49-F238E27FC236}">
                <a16:creationId xmlns:a16="http://schemas.microsoft.com/office/drawing/2014/main" id="{FF5BFF6C-3223-CCAD-E339-15CA85920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0280"/>
              </p:ext>
            </p:extLst>
          </p:nvPr>
        </p:nvGraphicFramePr>
        <p:xfrm>
          <a:off x="1086284" y="2313432"/>
          <a:ext cx="690563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20560" imgH="863280" progId="Equation.DSMT4">
                  <p:embed/>
                </p:oleObj>
              </mc:Choice>
              <mc:Fallback>
                <p:oleObj name="Equation" r:id="rId15" imgW="520560" imgH="86328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821CA7BD-39A5-AE45-2DDA-E3D926BA8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284" y="2313432"/>
                        <a:ext cx="690563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19">
            <a:extLst>
              <a:ext uri="{FF2B5EF4-FFF2-40B4-BE49-F238E27FC236}">
                <a16:creationId xmlns:a16="http://schemas.microsoft.com/office/drawing/2014/main" id="{1A19CAA0-8ACA-E300-03E0-FF37DFA3D6CF}"/>
              </a:ext>
            </a:extLst>
          </p:cNvPr>
          <p:cNvGrpSpPr>
            <a:grpSpLocks/>
          </p:cNvGrpSpPr>
          <p:nvPr/>
        </p:nvGrpSpPr>
        <p:grpSpPr bwMode="auto">
          <a:xfrm>
            <a:off x="1968428" y="2678708"/>
            <a:ext cx="1834315" cy="831853"/>
            <a:chOff x="2020486" y="4797152"/>
            <a:chExt cx="2624281" cy="1378258"/>
          </a:xfrm>
        </p:grpSpPr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851D696D-4D6F-4CF2-EC0D-03C4DCCB3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768" y="4797152"/>
              <a:ext cx="0" cy="7402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13">
              <a:extLst>
                <a:ext uri="{FF2B5EF4-FFF2-40B4-BE49-F238E27FC236}">
                  <a16:creationId xmlns:a16="http://schemas.microsoft.com/office/drawing/2014/main" id="{C10F37A8-A24B-8ADA-79C0-D930E206D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0486" y="4797152"/>
              <a:ext cx="46328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76B80AF1-5D46-6CA6-4FB9-66D34520F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1202" y="5471536"/>
              <a:ext cx="71941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6">
              <a:extLst>
                <a:ext uri="{FF2B5EF4-FFF2-40B4-BE49-F238E27FC236}">
                  <a16:creationId xmlns:a16="http://schemas.microsoft.com/office/drawing/2014/main" id="{6930A458-5D26-013D-DA85-804742AE6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0621" y="5453539"/>
              <a:ext cx="0" cy="7218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7">
              <a:extLst>
                <a:ext uri="{FF2B5EF4-FFF2-40B4-BE49-F238E27FC236}">
                  <a16:creationId xmlns:a16="http://schemas.microsoft.com/office/drawing/2014/main" id="{FC3A5BDA-AD93-74E1-61B9-9B2B140DF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0621" y="6095188"/>
              <a:ext cx="1414146" cy="680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4729233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>
            <a:extLst>
              <a:ext uri="{FF2B5EF4-FFF2-40B4-BE49-F238E27FC236}">
                <a16:creationId xmlns:a16="http://schemas.microsoft.com/office/drawing/2014/main" id="{D20BADE5-60B1-4F15-8EFA-0666BB890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454" y="0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1B1E6BA-4942-449A-8BDA-DCF042277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201622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由此可得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480C5D9E-F8CF-4D4F-AF42-0F25E09D4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80" y="2530958"/>
            <a:ext cx="4105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取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4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E08A1F41-66D2-4987-8AE6-BF5C1DEC1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092" y="3260612"/>
            <a:ext cx="4032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则方程组的通解为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C1DF0791-0868-40C5-AB50-AC71B8D83E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34879"/>
              </p:ext>
            </p:extLst>
          </p:nvPr>
        </p:nvGraphicFramePr>
        <p:xfrm>
          <a:off x="3994562" y="1021754"/>
          <a:ext cx="16637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1295280" progId="Equation.DSMT4">
                  <p:embed/>
                </p:oleObj>
              </mc:Choice>
              <mc:Fallback>
                <p:oleObj name="Equation" r:id="rId2" imgW="1663560" imgH="129528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FAF6098F-F963-42B6-A5CD-F10BA5BDF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562" y="1021754"/>
                        <a:ext cx="16637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13978AB6-29EB-458F-9B50-1B6F6EE97E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1214"/>
              </p:ext>
            </p:extLst>
          </p:nvPr>
        </p:nvGraphicFramePr>
        <p:xfrm>
          <a:off x="3904233" y="3990919"/>
          <a:ext cx="2451100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50880" imgH="2006280" progId="Equation.DSMT4">
                  <p:embed/>
                </p:oleObj>
              </mc:Choice>
              <mc:Fallback>
                <p:oleObj name="Equation" r:id="rId4" imgW="2450880" imgH="2006280" progId="Equation.DSMT4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8F1D41EB-F583-43ED-A82D-C1C1EB17D3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4233" y="3990919"/>
                        <a:ext cx="2451100" cy="20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0D5EF48B-449C-4646-B237-4B44D682CF83}"/>
              </a:ext>
            </a:extLst>
          </p:cNvPr>
          <p:cNvGrpSpPr/>
          <p:nvPr/>
        </p:nvGrpSpPr>
        <p:grpSpPr>
          <a:xfrm>
            <a:off x="4285014" y="2501939"/>
            <a:ext cx="3095298" cy="523875"/>
            <a:chOff x="688568" y="2733883"/>
            <a:chExt cx="3095298" cy="523875"/>
          </a:xfrm>
        </p:grpSpPr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F3C6197C-2DA2-4CD4-8E13-E50A5A3DB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568" y="2733883"/>
              <a:ext cx="3095298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令</a:t>
              </a:r>
              <a:r>
                <a:rPr lang="zh-CN" altLang="en-US" sz="2000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en-US" altLang="zh-CN" b="1" i="1" dirty="0">
                  <a:solidFill>
                    <a:schemeClr val="tx1"/>
                  </a:solidFill>
                  <a:ea typeface="宋体" charset="-122"/>
                  <a:cs typeface="Times New Roman" pitchFamily="18" charset="0"/>
                </a:rPr>
                <a:t>x</a:t>
              </a:r>
              <a:r>
                <a:rPr lang="en-US" altLang="zh-CN" b="1" baseline="-25000" dirty="0">
                  <a:solidFill>
                    <a:schemeClr val="tx1"/>
                  </a:solidFill>
                  <a:ea typeface="宋体" charset="-122"/>
                  <a:cs typeface="Times New Roman" pitchFamily="18" charset="0"/>
                </a:rPr>
                <a:t>4</a:t>
              </a:r>
              <a:r>
                <a:rPr lang="en-US" altLang="zh-CN" sz="2000" b="1" baseline="-25000" dirty="0">
                  <a:solidFill>
                    <a:schemeClr val="tx1"/>
                  </a:solidFill>
                  <a:ea typeface="宋体" charset="-122"/>
                  <a:cs typeface="Times New Roman" pitchFamily="18" charset="0"/>
                </a:rPr>
                <a:t> </a:t>
              </a:r>
              <a:r>
                <a:rPr lang="en-US" altLang="zh-CN" b="1" dirty="0">
                  <a:solidFill>
                    <a:schemeClr val="tx1"/>
                  </a:solidFill>
                  <a:ea typeface="+mn-ea"/>
                  <a:cs typeface="Times New Roman" pitchFamily="18" charset="0"/>
                </a:rPr>
                <a:t>=</a:t>
              </a:r>
              <a:r>
                <a:rPr lang="en-US" altLang="zh-CN" sz="2000" b="1" i="1" dirty="0">
                  <a:solidFill>
                    <a:schemeClr val="tx1"/>
                  </a:solidFill>
                  <a:ea typeface="宋体" charset="-122"/>
                  <a:cs typeface="Times New Roman" pitchFamily="18" charset="0"/>
                </a:rPr>
                <a:t> </a:t>
              </a:r>
              <a:r>
                <a:rPr lang="en-US" altLang="zh-CN" b="1" i="1" dirty="0">
                  <a:solidFill>
                    <a:schemeClr val="tx1"/>
                  </a:solidFill>
                  <a:ea typeface="宋体" charset="-122"/>
                  <a:cs typeface="Times New Roman" pitchFamily="18" charset="0"/>
                </a:rPr>
                <a:t>c     </a:t>
              </a:r>
              <a:r>
                <a:rPr lang="en-US" altLang="zh-CN" b="1" dirty="0">
                  <a:solidFill>
                    <a:schemeClr val="tx1"/>
                  </a:solidFill>
                  <a:ea typeface="宋体" charset="-122"/>
                  <a:cs typeface="Times New Roman" pitchFamily="18" charset="0"/>
                </a:rPr>
                <a:t>        </a:t>
              </a:r>
              <a:r>
                <a:rPr lang="en-US" altLang="zh-CN" b="1" dirty="0">
                  <a:solidFill>
                    <a:schemeClr val="tx1"/>
                  </a:solidFill>
                  <a:ea typeface="华文中宋" pitchFamily="2" charset="-122"/>
                </a:rPr>
                <a:t>, </a:t>
              </a:r>
              <a:endParaRPr lang="en-US" altLang="zh-CN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5" name="Object 13">
              <a:extLst>
                <a:ext uri="{FF2B5EF4-FFF2-40B4-BE49-F238E27FC236}">
                  <a16:creationId xmlns:a16="http://schemas.microsoft.com/office/drawing/2014/main" id="{96CBF269-8112-4DCF-A833-9AFE6E1BD9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0425224"/>
                </p:ext>
              </p:extLst>
            </p:nvPr>
          </p:nvGraphicFramePr>
          <p:xfrm>
            <a:off x="2117537" y="2878251"/>
            <a:ext cx="9906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90360" imgH="355320" progId="Equation.DSMT4">
                    <p:embed/>
                  </p:oleObj>
                </mc:Choice>
                <mc:Fallback>
                  <p:oleObj name="Equation" r:id="rId6" imgW="990360" imgH="355320" progId="Equation.DSMT4">
                    <p:embed/>
                    <p:pic>
                      <p:nvPicPr>
                        <p:cNvPr id="15" name="Object 13">
                          <a:extLst>
                            <a:ext uri="{FF2B5EF4-FFF2-40B4-BE49-F238E27FC236}">
                              <a16:creationId xmlns:a16="http://schemas.microsoft.com/office/drawing/2014/main" id="{6BE012E8-82BF-4FAE-B6EE-D21312C701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7537" y="2878251"/>
                          <a:ext cx="9906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82785534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>
            <a:extLst>
              <a:ext uri="{FF2B5EF4-FFF2-40B4-BE49-F238E27FC236}">
                <a16:creationId xmlns:a16="http://schemas.microsoft.com/office/drawing/2014/main" id="{0EB7475E-7634-4A2D-811D-8F3D04345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85" y="0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58355809-EF88-4628-A013-0F7C330D7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044063"/>
            <a:ext cx="5535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方程组的通解的列向量形式为</a:t>
            </a: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AA765214-89A6-4558-AC17-C496BA22E6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823245"/>
              </p:ext>
            </p:extLst>
          </p:nvPr>
        </p:nvGraphicFramePr>
        <p:xfrm>
          <a:off x="2631335" y="1844133"/>
          <a:ext cx="9779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900" imgH="1701800" progId="Equation.DSMT4">
                  <p:embed/>
                </p:oleObj>
              </mc:Choice>
              <mc:Fallback>
                <p:oleObj name="Equation" r:id="rId2" imgW="977900" imgH="1701800" progId="Equation.DSMT4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9846294A-C089-4EC5-9015-BEAB7AB35D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1335" y="1844133"/>
                        <a:ext cx="9779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152F873A-C163-43FC-BBCF-4501FFDEA7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62133"/>
              </p:ext>
            </p:extLst>
          </p:nvPr>
        </p:nvGraphicFramePr>
        <p:xfrm>
          <a:off x="3609235" y="1882233"/>
          <a:ext cx="7493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1625400" progId="Equation.DSMT4">
                  <p:embed/>
                </p:oleObj>
              </mc:Choice>
              <mc:Fallback>
                <p:oleObj name="Equation" r:id="rId4" imgW="749160" imgH="1625400" progId="Equation.DSMT4">
                  <p:embed/>
                  <p:pic>
                    <p:nvPicPr>
                      <p:cNvPr id="10" name="Object 10">
                        <a:extLst>
                          <a:ext uri="{FF2B5EF4-FFF2-40B4-BE49-F238E27FC236}">
                            <a16:creationId xmlns:a16="http://schemas.microsoft.com/office/drawing/2014/main" id="{348D1A91-5FFF-4C0E-8F0B-98EEAD9B1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235" y="1882233"/>
                        <a:ext cx="7493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E84B6FB3-E31D-475C-A431-1EC832944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581053"/>
              </p:ext>
            </p:extLst>
          </p:nvPr>
        </p:nvGraphicFramePr>
        <p:xfrm>
          <a:off x="4384183" y="1886360"/>
          <a:ext cx="12065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360" imgH="1625400" progId="Equation.DSMT4">
                  <p:embed/>
                </p:oleObj>
              </mc:Choice>
              <mc:Fallback>
                <p:oleObj name="Equation" r:id="rId6" imgW="1206360" imgH="1625400" progId="Equation.DSMT4">
                  <p:embed/>
                  <p:pic>
                    <p:nvPicPr>
                      <p:cNvPr id="11" name="Object 11">
                        <a:extLst>
                          <a:ext uri="{FF2B5EF4-FFF2-40B4-BE49-F238E27FC236}">
                            <a16:creationId xmlns:a16="http://schemas.microsoft.com/office/drawing/2014/main" id="{ADD6852D-D2B2-4066-80D3-71ECE003BE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183" y="1886360"/>
                        <a:ext cx="12065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9C5F73FB-0D0E-4140-8811-3E518BBE2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454951"/>
              </p:ext>
            </p:extLst>
          </p:nvPr>
        </p:nvGraphicFramePr>
        <p:xfrm>
          <a:off x="5622925" y="2535238"/>
          <a:ext cx="1066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355320" progId="Equation.DSMT4">
                  <p:embed/>
                </p:oleObj>
              </mc:Choice>
              <mc:Fallback>
                <p:oleObj name="Equation" r:id="rId8" imgW="1066680" imgH="355320" progId="Equation.DSMT4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E79A138E-31EA-40A3-86F7-75741C9C10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2925" y="2535238"/>
                        <a:ext cx="1066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0534462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51FCC0F4-CADB-4EAC-9C44-6A85AE76B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903C0DF-9181-4D1A-BDF5-F9408ED60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10475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B3B58326-2396-4105-AA7B-752975BE8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3212" y="911787"/>
            <a:ext cx="451902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求解非齐次线性方程组</a:t>
            </a:r>
          </a:p>
        </p:txBody>
      </p:sp>
      <p:sp>
        <p:nvSpPr>
          <p:cNvPr id="8" name="Text Box 44">
            <a:extLst>
              <a:ext uri="{FF2B5EF4-FFF2-40B4-BE49-F238E27FC236}">
                <a16:creationId xmlns:a16="http://schemas.microsoft.com/office/drawing/2014/main" id="{B6CF98F5-C2C1-4BD0-9F22-CEA491E5B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64" y="3874507"/>
            <a:ext cx="606770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对增广矩阵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54BCB80-8715-4A4D-BC19-5225775D24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592088"/>
              </p:ext>
            </p:extLst>
          </p:nvPr>
        </p:nvGraphicFramePr>
        <p:xfrm>
          <a:off x="2875855" y="1542019"/>
          <a:ext cx="33909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90840" imgH="1498320" progId="Equation.DSMT4">
                  <p:embed/>
                </p:oleObj>
              </mc:Choice>
              <mc:Fallback>
                <p:oleObj name="Equation" r:id="rId3" imgW="3390840" imgH="1498320" progId="Equation.DSMT4">
                  <p:embed/>
                  <p:pic>
                    <p:nvPicPr>
                      <p:cNvPr id="13" name="Object 8">
                        <a:extLst>
                          <a:ext uri="{FF2B5EF4-FFF2-40B4-BE49-F238E27FC236}">
                            <a16:creationId xmlns:a16="http://schemas.microsoft.com/office/drawing/2014/main" id="{6CDDE33D-DF34-42D9-81C3-AAFBDACF64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855" y="1542019"/>
                        <a:ext cx="33909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3">
            <a:extLst>
              <a:ext uri="{FF2B5EF4-FFF2-40B4-BE49-F238E27FC236}">
                <a16:creationId xmlns:a16="http://schemas.microsoft.com/office/drawing/2014/main" id="{3E5B917D-A003-4FFB-9072-19DA4641F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146976"/>
            <a:ext cx="7921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2FA19559-02DF-4F0C-9D25-F80D37F21D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15315"/>
              </p:ext>
            </p:extLst>
          </p:nvPr>
        </p:nvGraphicFramePr>
        <p:xfrm>
          <a:off x="949346" y="4598862"/>
          <a:ext cx="3505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04960" imgH="1244520" progId="Equation.DSMT4">
                  <p:embed/>
                </p:oleObj>
              </mc:Choice>
              <mc:Fallback>
                <p:oleObj name="Equation" r:id="rId5" imgW="3504960" imgH="1244520" progId="Equation.DSMT4">
                  <p:embed/>
                  <p:pic>
                    <p:nvPicPr>
                      <p:cNvPr id="15" name="Object 3">
                        <a:extLst>
                          <a:ext uri="{FF2B5EF4-FFF2-40B4-BE49-F238E27FC236}">
                            <a16:creationId xmlns:a16="http://schemas.microsoft.com/office/drawing/2014/main" id="{CF67752B-F976-4EB3-B0FD-08EE2962D0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46" y="4598862"/>
                        <a:ext cx="35052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8E19AE11-D542-4F56-A241-A7989E12BC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909065"/>
              </p:ext>
            </p:extLst>
          </p:nvPr>
        </p:nvGraphicFramePr>
        <p:xfrm>
          <a:off x="5210154" y="4598863"/>
          <a:ext cx="29845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84400" imgH="1244520" progId="Equation.DSMT4">
                  <p:embed/>
                </p:oleObj>
              </mc:Choice>
              <mc:Fallback>
                <p:oleObj name="Equation" r:id="rId7" imgW="2984400" imgH="1244520" progId="Equation.DSMT4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38B6461F-7ECE-4B48-807F-FE46CD8913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54" y="4598863"/>
                        <a:ext cx="29845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">
            <a:extLst>
              <a:ext uri="{FF2B5EF4-FFF2-40B4-BE49-F238E27FC236}">
                <a16:creationId xmlns:a16="http://schemas.microsoft.com/office/drawing/2014/main" id="{70B7CF49-905F-D2A5-6A1D-B1B9A62BC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149433"/>
              </p:ext>
            </p:extLst>
          </p:nvPr>
        </p:nvGraphicFramePr>
        <p:xfrm>
          <a:off x="4487708" y="4648074"/>
          <a:ext cx="658812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5000" imgH="863280" progId="Equation.DSMT4">
                  <p:embed/>
                </p:oleObj>
              </mc:Choice>
              <mc:Fallback>
                <p:oleObj name="Equation" r:id="rId9" imgW="495000" imgH="86328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821CA7BD-39A5-AE45-2DDA-E3D926BA8F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708" y="4648074"/>
                        <a:ext cx="658812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1">
            <a:extLst>
              <a:ext uri="{FF2B5EF4-FFF2-40B4-BE49-F238E27FC236}">
                <a16:creationId xmlns:a16="http://schemas.microsoft.com/office/drawing/2014/main" id="{AF768015-94C8-132B-EA29-63A5E54E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509" y="927199"/>
            <a:ext cx="160526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10072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build="p" autoUpdateAnimBg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84773ACF-A3E4-4192-BAF9-7C1C3730C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71A2D631-1536-4483-9F06-01D32A579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80" y="-8919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3233BD13-FB4E-43EB-B0E0-FACCD1AE91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724164"/>
              </p:ext>
            </p:extLst>
          </p:nvPr>
        </p:nvGraphicFramePr>
        <p:xfrm>
          <a:off x="2337580" y="971971"/>
          <a:ext cx="30988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98520" imgH="1244520" progId="Equation.DSMT4">
                  <p:embed/>
                </p:oleObj>
              </mc:Choice>
              <mc:Fallback>
                <p:oleObj name="Equation" r:id="rId3" imgW="3098520" imgH="124452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54471FD0-DFF4-4F5D-A4F8-B00EAACC8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7580" y="971971"/>
                        <a:ext cx="30988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9">
            <a:extLst>
              <a:ext uri="{FF2B5EF4-FFF2-40B4-BE49-F238E27FC236}">
                <a16:creationId xmlns:a16="http://schemas.microsoft.com/office/drawing/2014/main" id="{B0726DC0-9811-45EA-A8D2-7AC90FCCF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6" y="2428896"/>
            <a:ext cx="4392488" cy="523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可见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 2,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 3.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353597A4-18EB-4439-B217-F4FA42A59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388" y="3124090"/>
            <a:ext cx="35100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所以方程组无解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041D3825-BF4D-D73E-73E2-BBC0E5BAA0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352131"/>
              </p:ext>
            </p:extLst>
          </p:nvPr>
        </p:nvGraphicFramePr>
        <p:xfrm>
          <a:off x="1382340" y="1063252"/>
          <a:ext cx="8445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34680" imgH="799920" progId="Equation.DSMT4">
                  <p:embed/>
                </p:oleObj>
              </mc:Choice>
              <mc:Fallback>
                <p:oleObj name="Equation" r:id="rId5" imgW="634680" imgH="79992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70B7CF49-905F-D2A5-6A1D-B1B9A62BC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340" y="1063252"/>
                        <a:ext cx="8445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19">
            <a:extLst>
              <a:ext uri="{FF2B5EF4-FFF2-40B4-BE49-F238E27FC236}">
                <a16:creationId xmlns:a16="http://schemas.microsoft.com/office/drawing/2014/main" id="{DE05FB6D-A012-2430-A5C3-A41301E5E9BF}"/>
              </a:ext>
            </a:extLst>
          </p:cNvPr>
          <p:cNvGrpSpPr>
            <a:grpSpLocks/>
          </p:cNvGrpSpPr>
          <p:nvPr/>
        </p:nvGrpSpPr>
        <p:grpSpPr bwMode="auto">
          <a:xfrm>
            <a:off x="2455196" y="1376770"/>
            <a:ext cx="2863567" cy="845705"/>
            <a:chOff x="176074" y="4774201"/>
            <a:chExt cx="4096790" cy="1401209"/>
          </a:xfrm>
        </p:grpSpPr>
        <p:sp>
          <p:nvSpPr>
            <p:cNvPr id="9" name="Line 14">
              <a:extLst>
                <a:ext uri="{FF2B5EF4-FFF2-40B4-BE49-F238E27FC236}">
                  <a16:creationId xmlns:a16="http://schemas.microsoft.com/office/drawing/2014/main" id="{65356208-27BA-4C9D-10B8-88C3B2BCC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768" y="4797152"/>
              <a:ext cx="0" cy="7402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3">
              <a:extLst>
                <a:ext uri="{FF2B5EF4-FFF2-40B4-BE49-F238E27FC236}">
                  <a16:creationId xmlns:a16="http://schemas.microsoft.com/office/drawing/2014/main" id="{38499902-2B65-DE48-E730-556C76504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074" y="4774201"/>
              <a:ext cx="2307693" cy="2295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8B81C7D4-DDA5-D133-06DA-0D716B55D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1202" y="5471536"/>
              <a:ext cx="71941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F92478B2-3581-95D8-ED9C-8963CAFD5E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0621" y="5453539"/>
              <a:ext cx="0" cy="7218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F78F416A-8960-7CC4-D6AC-5D842D0D3C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0621" y="6152511"/>
              <a:ext cx="104224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Text Box 19">
            <a:extLst>
              <a:ext uri="{FF2B5EF4-FFF2-40B4-BE49-F238E27FC236}">
                <a16:creationId xmlns:a16="http://schemas.microsoft.com/office/drawing/2014/main" id="{A0608FCF-806F-5FD6-9D7B-F2A75E7BB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26" y="3124090"/>
            <a:ext cx="3510026" cy="523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&lt;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648644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DD1F599A-128B-4721-A030-961CF74CA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0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A875557B-9569-42A6-88D4-C913AA3BA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1064" y="695839"/>
            <a:ext cx="486920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求解非齐次线性方程组</a:t>
            </a:r>
          </a:p>
        </p:txBody>
      </p:sp>
      <p:sp>
        <p:nvSpPr>
          <p:cNvPr id="7" name="Text Box 45">
            <a:extLst>
              <a:ext uri="{FF2B5EF4-FFF2-40B4-BE49-F238E27FC236}">
                <a16:creationId xmlns:a16="http://schemas.microsoft.com/office/drawing/2014/main" id="{C5F27C92-99D2-4934-B6DE-CEFE3FA5D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799" y="3068960"/>
            <a:ext cx="6229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对增广矩阵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</a:t>
            </a: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3A166A2F-DAA6-41D6-989F-8FCC8C8E1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74" y="3068960"/>
            <a:ext cx="792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21A43567-9DEA-44CC-BB4E-4C58DE6FC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39189"/>
              </p:ext>
            </p:extLst>
          </p:nvPr>
        </p:nvGraphicFramePr>
        <p:xfrm>
          <a:off x="2533650" y="1318786"/>
          <a:ext cx="40767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76640" imgH="1498320" progId="Equation.DSMT4">
                  <p:embed/>
                </p:oleObj>
              </mc:Choice>
              <mc:Fallback>
                <p:oleObj name="Equation" r:id="rId2" imgW="4076640" imgH="1498320" progId="Equation.DSMT4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0453399B-A9BE-4236-82D6-F0B9EA2A5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1318786"/>
                        <a:ext cx="40767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>
            <a:extLst>
              <a:ext uri="{FF2B5EF4-FFF2-40B4-BE49-F238E27FC236}">
                <a16:creationId xmlns:a16="http://schemas.microsoft.com/office/drawing/2014/main" id="{3ABCBF8D-510E-486E-BE20-CCB407FBC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593708"/>
              </p:ext>
            </p:extLst>
          </p:nvPr>
        </p:nvGraphicFramePr>
        <p:xfrm>
          <a:off x="2138538" y="3746821"/>
          <a:ext cx="34036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03440" imgH="1244520" progId="Equation.DSMT4">
                  <p:embed/>
                </p:oleObj>
              </mc:Choice>
              <mc:Fallback>
                <p:oleObj name="Equation" r:id="rId4" imgW="3403440" imgH="1244520" progId="Equation.DSMT4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0630BB8B-EEEA-48BC-B84A-3191A667F5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538" y="3746821"/>
                        <a:ext cx="34036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>
            <a:extLst>
              <a:ext uri="{FF2B5EF4-FFF2-40B4-BE49-F238E27FC236}">
                <a16:creationId xmlns:a16="http://schemas.microsoft.com/office/drawing/2014/main" id="{BBD74D68-7B6D-4717-8E11-B43E04E928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748851"/>
              </p:ext>
            </p:extLst>
          </p:nvPr>
        </p:nvGraphicFramePr>
        <p:xfrm>
          <a:off x="2716388" y="5115246"/>
          <a:ext cx="2870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9920" imgH="1244520" progId="Equation.DSMT4">
                  <p:embed/>
                </p:oleObj>
              </mc:Choice>
              <mc:Fallback>
                <p:oleObj name="Equation" r:id="rId6" imgW="2869920" imgH="124452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3AFB39FB-60F1-4237-B19A-0FFFC6E77F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388" y="5115246"/>
                        <a:ext cx="28702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>
            <a:extLst>
              <a:ext uri="{FF2B5EF4-FFF2-40B4-BE49-F238E27FC236}">
                <a16:creationId xmlns:a16="http://schemas.microsoft.com/office/drawing/2014/main" id="{BD27240B-F346-BE0E-98AB-CF43297BB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787708"/>
              </p:ext>
            </p:extLst>
          </p:nvPr>
        </p:nvGraphicFramePr>
        <p:xfrm>
          <a:off x="2057576" y="5164458"/>
          <a:ext cx="658812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00" imgH="863280" progId="Equation.DSMT4">
                  <p:embed/>
                </p:oleObj>
              </mc:Choice>
              <mc:Fallback>
                <p:oleObj name="Equation" r:id="rId8" imgW="495000" imgH="86328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70B7CF49-905F-D2A5-6A1D-B1B9A62BC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576" y="5164458"/>
                        <a:ext cx="658812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>
            <a:extLst>
              <a:ext uri="{FF2B5EF4-FFF2-40B4-BE49-F238E27FC236}">
                <a16:creationId xmlns:a16="http://schemas.microsoft.com/office/drawing/2014/main" id="{8A65E4E6-5FE7-6FC6-9341-42688C19C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383" y="710773"/>
            <a:ext cx="160526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3642785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build="p" autoUpdateAnimBg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CB885072-F09E-404D-8802-EF38F027A9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625417"/>
              </p:ext>
            </p:extLst>
          </p:nvPr>
        </p:nvGraphicFramePr>
        <p:xfrm>
          <a:off x="2507321" y="2251740"/>
          <a:ext cx="3175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4840" imgH="1244520" progId="Equation.DSMT4">
                  <p:embed/>
                </p:oleObj>
              </mc:Choice>
              <mc:Fallback>
                <p:oleObj name="Equation" r:id="rId2" imgW="3174840" imgH="1244520" progId="Equation.DSMT4">
                  <p:embed/>
                  <p:pic>
                    <p:nvPicPr>
                      <p:cNvPr id="19" name="Object 24">
                        <a:extLst>
                          <a:ext uri="{FF2B5EF4-FFF2-40B4-BE49-F238E27FC236}">
                            <a16:creationId xmlns:a16="http://schemas.microsoft.com/office/drawing/2014/main" id="{5BDEE911-334F-44D7-9D88-9AC58F57D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7321" y="2251740"/>
                        <a:ext cx="31750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0">
            <a:extLst>
              <a:ext uri="{FF2B5EF4-FFF2-40B4-BE49-F238E27FC236}">
                <a16:creationId xmlns:a16="http://schemas.microsoft.com/office/drawing/2014/main" id="{79ACC45D-8418-468F-B9D8-D2534ECD7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76" y="-22500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6E35F5-88D9-467F-A20A-A9C884B89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-449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9B99934-4887-4720-9AFF-F957CEE51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-465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5AB7688D-C4E7-440F-9A39-79F17A449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-465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D6CCA66-DAF9-45E7-87B4-FED0B4145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-465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C33C0149-25B4-469B-940C-CEE6A7934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843497"/>
              </p:ext>
            </p:extLst>
          </p:nvPr>
        </p:nvGraphicFramePr>
        <p:xfrm>
          <a:off x="2507321" y="847493"/>
          <a:ext cx="30607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60360" imgH="1244520" progId="Equation.DSMT4">
                  <p:embed/>
                </p:oleObj>
              </mc:Choice>
              <mc:Fallback>
                <p:oleObj name="Equation" r:id="rId4" imgW="3060360" imgH="1244520" progId="Equation.DSMT4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12701218-1FEE-416F-B353-CB50DC654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7321" y="847493"/>
                        <a:ext cx="30607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>
            <a:extLst>
              <a:ext uri="{FF2B5EF4-FFF2-40B4-BE49-F238E27FC236}">
                <a16:creationId xmlns:a16="http://schemas.microsoft.com/office/drawing/2014/main" id="{13FB99B4-A852-4055-BD59-3044F5BB0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25" y="3693797"/>
            <a:ext cx="4392488" cy="523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显然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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 3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5,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7E9C3FEB-3B11-422C-A20E-8F161B01F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4273" y="3693978"/>
            <a:ext cx="44994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故此方程组有无穷多组解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42EAC7F2-4B43-417C-9EC4-F0AC08EC7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71" y="4360054"/>
            <a:ext cx="40324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由上述行最简形矩阵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Object 23">
            <a:extLst>
              <a:ext uri="{FF2B5EF4-FFF2-40B4-BE49-F238E27FC236}">
                <a16:creationId xmlns:a16="http://schemas.microsoft.com/office/drawing/2014/main" id="{8DCC3DDD-394A-691E-5F58-80D7D332F3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727107"/>
              </p:ext>
            </p:extLst>
          </p:nvPr>
        </p:nvGraphicFramePr>
        <p:xfrm>
          <a:off x="1717813" y="896705"/>
          <a:ext cx="67468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863280" progId="Equation.DSMT4">
                  <p:embed/>
                </p:oleObj>
              </mc:Choice>
              <mc:Fallback>
                <p:oleObj name="Equation" r:id="rId6" imgW="507960" imgH="86328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70B7CF49-905F-D2A5-6A1D-B1B9A62BC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813" y="896705"/>
                        <a:ext cx="674687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222EA62A-6050-ADF8-90E0-F51630B0C2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533475"/>
              </p:ext>
            </p:extLst>
          </p:nvPr>
        </p:nvGraphicFramePr>
        <p:xfrm>
          <a:off x="1717754" y="2343021"/>
          <a:ext cx="674687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799920" progId="Equation.DSMT4">
                  <p:embed/>
                </p:oleObj>
              </mc:Choice>
              <mc:Fallback>
                <p:oleObj name="Equation" r:id="rId8" imgW="507960" imgH="79992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70B7CF49-905F-D2A5-6A1D-B1B9A62BC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754" y="2343021"/>
                        <a:ext cx="674687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19">
            <a:extLst>
              <a:ext uri="{FF2B5EF4-FFF2-40B4-BE49-F238E27FC236}">
                <a16:creationId xmlns:a16="http://schemas.microsoft.com/office/drawing/2014/main" id="{554F1CCF-3207-B86E-5FC9-68EDD7F7141F}"/>
              </a:ext>
            </a:extLst>
          </p:cNvPr>
          <p:cNvGrpSpPr>
            <a:grpSpLocks/>
          </p:cNvGrpSpPr>
          <p:nvPr/>
        </p:nvGrpSpPr>
        <p:grpSpPr bwMode="auto">
          <a:xfrm>
            <a:off x="2612543" y="2638604"/>
            <a:ext cx="2735164" cy="829742"/>
            <a:chOff x="509922" y="4764243"/>
            <a:chExt cx="3913090" cy="1374761"/>
          </a:xfrm>
        </p:grpSpPr>
        <p:sp>
          <p:nvSpPr>
            <p:cNvPr id="26" name="Line 14">
              <a:extLst>
                <a:ext uri="{FF2B5EF4-FFF2-40B4-BE49-F238E27FC236}">
                  <a16:creationId xmlns:a16="http://schemas.microsoft.com/office/drawing/2014/main" id="{57313EF3-6C07-12BF-05B5-DE6381258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6882" y="4764243"/>
              <a:ext cx="1421" cy="7543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3">
              <a:extLst>
                <a:ext uri="{FF2B5EF4-FFF2-40B4-BE49-F238E27FC236}">
                  <a16:creationId xmlns:a16="http://schemas.microsoft.com/office/drawing/2014/main" id="{5B370309-4163-9DD2-B5FE-E12979E5CD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922" y="4764243"/>
              <a:ext cx="196766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B4C48EBB-F62C-670A-079B-9189002D6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1202" y="5471536"/>
              <a:ext cx="71941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872319D6-718D-87FF-0AA6-770A6D559A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8989" y="5471536"/>
              <a:ext cx="0" cy="65013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6B6A79A4-AAB4-524C-2BA4-CACD42DB2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989" y="6139004"/>
              <a:ext cx="119402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Text Box 19">
            <a:extLst>
              <a:ext uri="{FF2B5EF4-FFF2-40B4-BE49-F238E27FC236}">
                <a16:creationId xmlns:a16="http://schemas.microsoft.com/office/drawing/2014/main" id="{E4932DCB-E133-27E6-29D8-CCABD779B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7943" y="4360054"/>
            <a:ext cx="5157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可得该方程组的同解方程组为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14AAC7A9-284D-EC29-19FD-26346DF22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802544"/>
              </p:ext>
            </p:extLst>
          </p:nvPr>
        </p:nvGraphicFramePr>
        <p:xfrm>
          <a:off x="2837521" y="5014590"/>
          <a:ext cx="2400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00120" imgH="1295280" progId="Equation.DSMT4">
                  <p:embed/>
                </p:oleObj>
              </mc:Choice>
              <mc:Fallback>
                <p:oleObj name="Equation" r:id="rId10" imgW="2400120" imgH="1295280" progId="Equation.DSMT4">
                  <p:embed/>
                  <p:pic>
                    <p:nvPicPr>
                      <p:cNvPr id="6" name="Object 16">
                        <a:extLst>
                          <a:ext uri="{FF2B5EF4-FFF2-40B4-BE49-F238E27FC236}">
                            <a16:creationId xmlns:a16="http://schemas.microsoft.com/office/drawing/2014/main" id="{789E76F5-083B-467A-BF7B-81C680407B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521" y="5014590"/>
                        <a:ext cx="24003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8067831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01AF3F81-C5E8-44A6-8553-3C1C7BB23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032" y="0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789E76F5-083B-467A-BF7B-81C680407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403571"/>
              </p:ext>
            </p:extLst>
          </p:nvPr>
        </p:nvGraphicFramePr>
        <p:xfrm>
          <a:off x="3249295" y="963105"/>
          <a:ext cx="26035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3160" imgH="2133360" progId="Equation.DSMT4">
                  <p:embed/>
                </p:oleObj>
              </mc:Choice>
              <mc:Fallback>
                <p:oleObj name="Equation" r:id="rId2" imgW="2603160" imgH="2133360" progId="Equation.DSMT4">
                  <p:embed/>
                  <p:pic>
                    <p:nvPicPr>
                      <p:cNvPr id="13" name="Object 16">
                        <a:extLst>
                          <a:ext uri="{FF2B5EF4-FFF2-40B4-BE49-F238E27FC236}">
                            <a16:creationId xmlns:a16="http://schemas.microsoft.com/office/drawing/2014/main" id="{FE04A60E-4013-495B-A356-B6BD20389E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295" y="963105"/>
                        <a:ext cx="26035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>
            <a:extLst>
              <a:ext uri="{FF2B5EF4-FFF2-40B4-BE49-F238E27FC236}">
                <a16:creationId xmlns:a16="http://schemas.microsoft.com/office/drawing/2014/main" id="{36431A25-3BE5-4420-B52E-6D93D85B7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33" y="3947796"/>
            <a:ext cx="34559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则方程组通解为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2001D880-7AB0-497A-92AB-BA7127938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19" y="3249805"/>
            <a:ext cx="4319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取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39D1B148-6A95-4060-A5C3-BC4975F09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26" y="3254469"/>
            <a:ext cx="3384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令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B62B168-38B3-4392-B35F-1A1AFC05C1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424579"/>
              </p:ext>
            </p:extLst>
          </p:nvPr>
        </p:nvGraphicFramePr>
        <p:xfrm>
          <a:off x="3458225" y="4072667"/>
          <a:ext cx="24765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76440" imgH="2133360" progId="Equation.DSMT4">
                  <p:embed/>
                </p:oleObj>
              </mc:Choice>
              <mc:Fallback>
                <p:oleObj name="Equation" r:id="rId4" imgW="2476440" imgH="2133360" progId="Equation.DSMT4">
                  <p:embed/>
                  <p:pic>
                    <p:nvPicPr>
                      <p:cNvPr id="18" name="Object 9">
                        <a:extLst>
                          <a:ext uri="{FF2B5EF4-FFF2-40B4-BE49-F238E27FC236}">
                            <a16:creationId xmlns:a16="http://schemas.microsoft.com/office/drawing/2014/main" id="{BCAA17D9-5E40-4DEA-9A05-ADC5905345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8225" y="4072667"/>
                        <a:ext cx="24765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BFABD704-6094-46BF-A94E-AED0D834ED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458668"/>
              </p:ext>
            </p:extLst>
          </p:nvPr>
        </p:nvGraphicFramePr>
        <p:xfrm>
          <a:off x="7024226" y="3330768"/>
          <a:ext cx="160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419040" progId="Equation.DSMT4">
                  <p:embed/>
                </p:oleObj>
              </mc:Choice>
              <mc:Fallback>
                <p:oleObj name="Equation" r:id="rId6" imgW="1600200" imgH="419040" progId="Equation.DSMT4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C9FB51E3-4C90-4F2B-873C-94DDCA451E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4226" y="3330768"/>
                        <a:ext cx="160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4">
            <a:extLst>
              <a:ext uri="{FF2B5EF4-FFF2-40B4-BE49-F238E27FC236}">
                <a16:creationId xmlns:a16="http://schemas.microsoft.com/office/drawing/2014/main" id="{027006C1-6FC9-EA37-9164-D07731DE6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228390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由此可得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405644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F4430957-85CB-49F0-9CC8-8F9B7FE37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2927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407C9178-2895-44FA-9566-AAEC7608DC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954971"/>
              </p:ext>
            </p:extLst>
          </p:nvPr>
        </p:nvGraphicFramePr>
        <p:xfrm>
          <a:off x="3516994" y="1757750"/>
          <a:ext cx="37084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08360" imgH="2031840" progId="Equation.DSMT4">
                  <p:embed/>
                </p:oleObj>
              </mc:Choice>
              <mc:Fallback>
                <p:oleObj name="Equation" r:id="rId2" imgW="3708360" imgH="2031840" progId="Equation.DSMT4">
                  <p:embed/>
                  <p:pic>
                    <p:nvPicPr>
                      <p:cNvPr id="6" name="Object 10">
                        <a:extLst>
                          <a:ext uri="{FF2B5EF4-FFF2-40B4-BE49-F238E27FC236}">
                            <a16:creationId xmlns:a16="http://schemas.microsoft.com/office/drawing/2014/main" id="{C695DD17-45B3-4B23-B94E-D0687F45DB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994" y="1757750"/>
                        <a:ext cx="3708400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0D64DF88-2632-4D61-BE1D-8CE8137916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274171"/>
              </p:ext>
            </p:extLst>
          </p:nvPr>
        </p:nvGraphicFramePr>
        <p:xfrm>
          <a:off x="526103" y="1700600"/>
          <a:ext cx="9779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2133360" progId="Equation.DSMT4">
                  <p:embed/>
                </p:oleObj>
              </mc:Choice>
              <mc:Fallback>
                <p:oleObj name="Equation" r:id="rId4" imgW="977760" imgH="213336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CFF0D121-9ACD-41AA-BB55-CEE1367B87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103" y="1700600"/>
                        <a:ext cx="9779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8E2F48BF-CEF8-4640-B90E-0FFD622859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633472"/>
              </p:ext>
            </p:extLst>
          </p:nvPr>
        </p:nvGraphicFramePr>
        <p:xfrm>
          <a:off x="1581428" y="1721684"/>
          <a:ext cx="18923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92160" imgH="2082600" progId="Equation.DSMT4">
                  <p:embed/>
                </p:oleObj>
              </mc:Choice>
              <mc:Fallback>
                <p:oleObj name="Equation" r:id="rId6" imgW="1892160" imgH="208260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8E4E25EA-62E9-4646-B2E5-EEDF3203BF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428" y="1721684"/>
                        <a:ext cx="1892300" cy="208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C674AE65-F712-41F3-9A28-D5E96EC4FE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461395"/>
              </p:ext>
            </p:extLst>
          </p:nvPr>
        </p:nvGraphicFramePr>
        <p:xfrm>
          <a:off x="7298179" y="2564904"/>
          <a:ext cx="151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280" imgH="419040" progId="Equation.DSMT4">
                  <p:embed/>
                </p:oleObj>
              </mc:Choice>
              <mc:Fallback>
                <p:oleObj name="Equation" r:id="rId8" imgW="1511280" imgH="419040" progId="Equation.DSMT4">
                  <p:embed/>
                  <p:pic>
                    <p:nvPicPr>
                      <p:cNvPr id="9" name="Object 11">
                        <a:extLst>
                          <a:ext uri="{FF2B5EF4-FFF2-40B4-BE49-F238E27FC236}">
                            <a16:creationId xmlns:a16="http://schemas.microsoft.com/office/drawing/2014/main" id="{7D85CA48-11FE-4E8E-9004-21C7B44E0F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8179" y="2564904"/>
                        <a:ext cx="1511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4">
            <a:extLst>
              <a:ext uri="{FF2B5EF4-FFF2-40B4-BE49-F238E27FC236}">
                <a16:creationId xmlns:a16="http://schemas.microsoft.com/office/drawing/2014/main" id="{6E470B07-104E-4313-B70C-E1E44BBFC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524" y="869950"/>
            <a:ext cx="52325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方程组的通解的向量形式为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0455126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9D95B965-8CEA-416A-B3DE-77DA460FF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-29244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6617D681-9287-42CF-B182-A080D636C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802348"/>
            <a:ext cx="391563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设有线性方程组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9B6D04F-3C97-42EF-97D8-321C4C0F8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68" y="3335998"/>
            <a:ext cx="453638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问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取何值时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此方程组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18347CD-7F60-43E3-8BC8-933E8A0E5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68" y="5415181"/>
            <a:ext cx="8080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(3)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有无穷多组解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?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并在有无穷多组解时求其通解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B59C2036-0C7F-4F86-9A0F-71E16E7A16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723787"/>
              </p:ext>
            </p:extLst>
          </p:nvPr>
        </p:nvGraphicFramePr>
        <p:xfrm>
          <a:off x="3168650" y="1475820"/>
          <a:ext cx="28067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1638000" progId="Equation.DSMT4">
                  <p:embed/>
                </p:oleObj>
              </mc:Choice>
              <mc:Fallback>
                <p:oleObj name="Equation" r:id="rId2" imgW="2806560" imgH="1638000" progId="Equation.DSMT4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39184DC4-75C6-4753-9F79-1850A55AFF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1475820"/>
                        <a:ext cx="2806700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1">
            <a:extLst>
              <a:ext uri="{FF2B5EF4-FFF2-40B4-BE49-F238E27FC236}">
                <a16:creationId xmlns:a16="http://schemas.microsoft.com/office/drawing/2014/main" id="{6CD11EC3-17E6-E647-7B16-1528A28C2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128" y="788153"/>
            <a:ext cx="160526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4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24B539D1-F2BE-DBCD-4312-45A92BF66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68" y="4019628"/>
            <a:ext cx="302774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(1)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有唯一解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?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0643F05A-02F0-7918-275F-4BB2F2478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168" y="4708786"/>
            <a:ext cx="228247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(2)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无解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05522602"/>
      </p:ext>
    </p:extLst>
  </p:cSld>
  <p:clrMapOvr>
    <a:masterClrMapping/>
  </p:clrMapOvr>
  <p:transition spd="slow">
    <p:wedg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9D95B965-8CEA-416A-B3DE-77DA460FF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-32411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10" name="Rectangle 43">
            <a:extLst>
              <a:ext uri="{FF2B5EF4-FFF2-40B4-BE49-F238E27FC236}">
                <a16:creationId xmlns:a16="http://schemas.microsoft.com/office/drawing/2014/main" id="{9188F79A-B203-4803-88B6-8349D1BAF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692696"/>
            <a:ext cx="7921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1671E19F-562E-4AA7-9A25-7B36EFAA1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754" y="692696"/>
            <a:ext cx="187218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解法一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FE9013F9-0DA7-42A9-8E5D-B9D51E1E7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0873" y="699004"/>
            <a:ext cx="5803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对增广矩阵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有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9391ED3B-AF0B-89E4-483B-E65ABEA2FB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73175"/>
              </p:ext>
            </p:extLst>
          </p:nvPr>
        </p:nvGraphicFramePr>
        <p:xfrm>
          <a:off x="1134063" y="1407999"/>
          <a:ext cx="28448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720" imgH="1358640" progId="Equation.DSMT4">
                  <p:embed/>
                </p:oleObj>
              </mc:Choice>
              <mc:Fallback>
                <p:oleObj name="Equation" r:id="rId2" imgW="2844720" imgH="1358640" progId="Equation.DSMT4">
                  <p:embed/>
                  <p:pic>
                    <p:nvPicPr>
                      <p:cNvPr id="6" name="Object 12">
                        <a:extLst>
                          <a:ext uri="{FF2B5EF4-FFF2-40B4-BE49-F238E27FC236}">
                            <a16:creationId xmlns:a16="http://schemas.microsoft.com/office/drawing/2014/main" id="{663B7B1D-9F37-49C3-9225-8A528A6507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4063" y="1407999"/>
                        <a:ext cx="28448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>
            <a:extLst>
              <a:ext uri="{FF2B5EF4-FFF2-40B4-BE49-F238E27FC236}">
                <a16:creationId xmlns:a16="http://schemas.microsoft.com/office/drawing/2014/main" id="{B95AE791-86AF-AD28-71F8-1D15E5480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935473"/>
              </p:ext>
            </p:extLst>
          </p:nvPr>
        </p:nvGraphicFramePr>
        <p:xfrm>
          <a:off x="4950537" y="1408037"/>
          <a:ext cx="2260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60440" imgH="1371600" progId="Equation.DSMT4">
                  <p:embed/>
                </p:oleObj>
              </mc:Choice>
              <mc:Fallback>
                <p:oleObj name="Equation" r:id="rId4" imgW="2260440" imgH="137160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3091A54F-4D81-4E52-8891-1BDF24995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0537" y="1408037"/>
                        <a:ext cx="22606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DF257D3D-4B3D-DC89-42A8-95129B959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871128"/>
              </p:ext>
            </p:extLst>
          </p:nvPr>
        </p:nvGraphicFramePr>
        <p:xfrm>
          <a:off x="1684339" y="2949200"/>
          <a:ext cx="37592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59120" imgH="1511280" progId="Equation.DSMT4">
                  <p:embed/>
                </p:oleObj>
              </mc:Choice>
              <mc:Fallback>
                <p:oleObj name="Equation" r:id="rId6" imgW="3759120" imgH="151128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5DC48FF1-2CBE-4475-8C18-73F9B523BB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39" y="2949200"/>
                        <a:ext cx="37592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B69D2CDA-2AA5-BBB8-AD80-502B0580A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98544"/>
              </p:ext>
            </p:extLst>
          </p:nvPr>
        </p:nvGraphicFramePr>
        <p:xfrm>
          <a:off x="794134" y="3131762"/>
          <a:ext cx="84296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34680" imgH="863280" progId="Equation.DSMT4">
                  <p:embed/>
                </p:oleObj>
              </mc:Choice>
              <mc:Fallback>
                <p:oleObj name="Equation" r:id="rId8" imgW="634680" imgH="863280" progId="Equation.DSMT4">
                  <p:embed/>
                  <p:pic>
                    <p:nvPicPr>
                      <p:cNvPr id="20" name="Object 23">
                        <a:extLst>
                          <a:ext uri="{FF2B5EF4-FFF2-40B4-BE49-F238E27FC236}">
                            <a16:creationId xmlns:a16="http://schemas.microsoft.com/office/drawing/2014/main" id="{29FB8149-E0BE-26AE-8494-EE0787FFB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134" y="3131762"/>
                        <a:ext cx="842963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3">
            <a:extLst>
              <a:ext uri="{FF2B5EF4-FFF2-40B4-BE49-F238E27FC236}">
                <a16:creationId xmlns:a16="http://schemas.microsoft.com/office/drawing/2014/main" id="{13E76B9E-F1B9-F944-0881-9E5BFBC2AF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796494"/>
              </p:ext>
            </p:extLst>
          </p:nvPr>
        </p:nvGraphicFramePr>
        <p:xfrm>
          <a:off x="4059887" y="1593800"/>
          <a:ext cx="80962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09480" imgH="799920" progId="Equation.DSMT4">
                  <p:embed/>
                </p:oleObj>
              </mc:Choice>
              <mc:Fallback>
                <p:oleObj name="Equation" r:id="rId10" imgW="609480" imgH="799920" progId="Equation.DSMT4">
                  <p:embed/>
                  <p:pic>
                    <p:nvPicPr>
                      <p:cNvPr id="21" name="Object 23">
                        <a:extLst>
                          <a:ext uri="{FF2B5EF4-FFF2-40B4-BE49-F238E27FC236}">
                            <a16:creationId xmlns:a16="http://schemas.microsoft.com/office/drawing/2014/main" id="{6F3AE1A7-B318-C7E9-EA7E-C850D1C2E4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9887" y="1593800"/>
                        <a:ext cx="809625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6D8C3335-7262-F225-EA97-AF6F12A9B1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10"/>
              </p:ext>
            </p:extLst>
          </p:nvPr>
        </p:nvGraphicFramePr>
        <p:xfrm>
          <a:off x="1691754" y="4630063"/>
          <a:ext cx="58039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03560" imgH="1511280" progId="Equation.DSMT4">
                  <p:embed/>
                </p:oleObj>
              </mc:Choice>
              <mc:Fallback>
                <p:oleObj name="Equation" r:id="rId12" imgW="5803560" imgH="1511280" progId="Equation.DSMT4">
                  <p:embed/>
                  <p:pic>
                    <p:nvPicPr>
                      <p:cNvPr id="12" name="Object 20">
                        <a:extLst>
                          <a:ext uri="{FF2B5EF4-FFF2-40B4-BE49-F238E27FC236}">
                            <a16:creationId xmlns:a16="http://schemas.microsoft.com/office/drawing/2014/main" id="{7D9206FF-F16F-4652-838B-6EFBB12FB7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754" y="4630063"/>
                        <a:ext cx="58039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>
            <a:extLst>
              <a:ext uri="{FF2B5EF4-FFF2-40B4-BE49-F238E27FC236}">
                <a16:creationId xmlns:a16="http://schemas.microsoft.com/office/drawing/2014/main" id="{09874986-AD08-7AD0-0AB5-C6B4C0415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509657"/>
              </p:ext>
            </p:extLst>
          </p:nvPr>
        </p:nvGraphicFramePr>
        <p:xfrm>
          <a:off x="946535" y="4854694"/>
          <a:ext cx="69056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20560" imgH="799920" progId="Equation.DSMT4">
                  <p:embed/>
                </p:oleObj>
              </mc:Choice>
              <mc:Fallback>
                <p:oleObj name="Equation" r:id="rId14" imgW="520560" imgH="799920" progId="Equation.DSMT4">
                  <p:embed/>
                  <p:pic>
                    <p:nvPicPr>
                      <p:cNvPr id="22" name="Object 23">
                        <a:extLst>
                          <a:ext uri="{FF2B5EF4-FFF2-40B4-BE49-F238E27FC236}">
                            <a16:creationId xmlns:a16="http://schemas.microsoft.com/office/drawing/2014/main" id="{C19A03E9-7719-562D-7D5F-FF5079E25A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535" y="4854694"/>
                        <a:ext cx="690562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644195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  <p:bldP spid="11" grpId="0"/>
      <p:bldP spid="12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DDCECDA8-511A-4C30-B4CC-6666EC4E0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64" y="-3028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967B12EF-D675-456C-B601-EA509BC70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260" y="692696"/>
            <a:ext cx="225759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由此可得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072F2ABD-A408-470C-8215-153A85D21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260" y="1306562"/>
            <a:ext cx="435597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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且</a:t>
            </a:r>
            <a:r>
              <a:rPr lang="zh-CN" altLang="en-US" sz="2000" b="1" dirty="0">
                <a:solidFill>
                  <a:srgbClr val="0000FF"/>
                </a:solidFill>
                <a:latin typeface="+mn-lt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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Symbol" pitchFamily="18" charset="2"/>
                <a:ea typeface="黑体" pitchFamily="2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时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AB2F4154-B9CC-4584-BAF4-270DF2CC3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110" y="2015181"/>
            <a:ext cx="435597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所以该方程组有唯一解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8B06051C-641E-4F05-9C57-0AE253E1E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260" y="2735906"/>
            <a:ext cx="31670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Symbol" pitchFamily="18" charset="2"/>
                <a:ea typeface="黑体" pitchFamily="2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时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6BD744-AFFF-4B95-A4C4-4FC7C4E5F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09" y="5709656"/>
            <a:ext cx="407029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所以该方程组无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F8D3539B-A708-4E66-AFDA-979D8011D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20" y="2015181"/>
            <a:ext cx="443656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因为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EE4DD42E-E0ED-4089-A7C9-301E66E05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920" y="5020689"/>
            <a:ext cx="41541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2, 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3,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1BB0389-BB4F-8140-0EC2-BB9EC9739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973872"/>
              </p:ext>
            </p:extLst>
          </p:nvPr>
        </p:nvGraphicFramePr>
        <p:xfrm>
          <a:off x="3750336" y="3499667"/>
          <a:ext cx="26289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720" imgH="1244520" progId="Equation.DSMT4">
                  <p:embed/>
                </p:oleObj>
              </mc:Choice>
              <mc:Fallback>
                <p:oleObj name="Equation" r:id="rId2" imgW="2628720" imgH="1244520" progId="Equation.DSMT4">
                  <p:embed/>
                  <p:pic>
                    <p:nvPicPr>
                      <p:cNvPr id="9" name="Object 16">
                        <a:extLst>
                          <a:ext uri="{FF2B5EF4-FFF2-40B4-BE49-F238E27FC236}">
                            <a16:creationId xmlns:a16="http://schemas.microsoft.com/office/drawing/2014/main" id="{356B635A-361D-4B78-A7E1-C8CAE06F90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0336" y="3499667"/>
                        <a:ext cx="26289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48F18250-3FD3-8588-78AB-F4E8A3356FC4}"/>
              </a:ext>
            </a:extLst>
          </p:cNvPr>
          <p:cNvGrpSpPr/>
          <p:nvPr/>
        </p:nvGrpSpPr>
        <p:grpSpPr>
          <a:xfrm>
            <a:off x="2755651" y="3641609"/>
            <a:ext cx="912474" cy="1028700"/>
            <a:chOff x="1785340" y="980372"/>
            <a:chExt cx="912474" cy="1028700"/>
          </a:xfrm>
        </p:grpSpPr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9D68E2F1-7B2D-5C69-B1A1-E02BDFF43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340" y="1205771"/>
              <a:ext cx="359973" cy="584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 dirty="0">
                  <a:solidFill>
                    <a:schemeClr val="tx1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graphicFrame>
          <p:nvGraphicFramePr>
            <p:cNvPr id="20" name="Object 23">
              <a:extLst>
                <a:ext uri="{FF2B5EF4-FFF2-40B4-BE49-F238E27FC236}">
                  <a16:creationId xmlns:a16="http://schemas.microsoft.com/office/drawing/2014/main" id="{D1C50170-68F8-05AF-C5F4-DE408BE4C0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4732231"/>
                </p:ext>
              </p:extLst>
            </p:nvPr>
          </p:nvGraphicFramePr>
          <p:xfrm>
            <a:off x="2275539" y="980372"/>
            <a:ext cx="422275" cy="1028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17160" imgH="774360" progId="Equation.DSMT4">
                    <p:embed/>
                  </p:oleObj>
                </mc:Choice>
                <mc:Fallback>
                  <p:oleObj name="Equation" r:id="rId4" imgW="317160" imgH="774360" progId="Equation.DSMT4">
                    <p:embed/>
                    <p:pic>
                      <p:nvPicPr>
                        <p:cNvPr id="21" name="Object 23">
                          <a:extLst>
                            <a:ext uri="{FF2B5EF4-FFF2-40B4-BE49-F238E27FC236}">
                              <a16:creationId xmlns:a16="http://schemas.microsoft.com/office/drawing/2014/main" id="{88476015-2BF0-CF55-C24A-3ED9365603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539" y="980372"/>
                          <a:ext cx="422275" cy="1028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15">
            <a:extLst>
              <a:ext uri="{FF2B5EF4-FFF2-40B4-BE49-F238E27FC236}">
                <a16:creationId xmlns:a16="http://schemas.microsoft.com/office/drawing/2014/main" id="{A5DB86FC-C2F5-67CA-A390-E7D63850A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616" y="5020689"/>
            <a:ext cx="28080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2" name="组合 19">
            <a:extLst>
              <a:ext uri="{FF2B5EF4-FFF2-40B4-BE49-F238E27FC236}">
                <a16:creationId xmlns:a16="http://schemas.microsoft.com/office/drawing/2014/main" id="{D95CDBB4-7E6A-3180-2C42-F4BF81A3A11C}"/>
              </a:ext>
            </a:extLst>
          </p:cNvPr>
          <p:cNvGrpSpPr>
            <a:grpSpLocks/>
          </p:cNvGrpSpPr>
          <p:nvPr/>
        </p:nvGrpSpPr>
        <p:grpSpPr bwMode="auto">
          <a:xfrm>
            <a:off x="3798351" y="3914525"/>
            <a:ext cx="2383378" cy="829742"/>
            <a:chOff x="525011" y="4764243"/>
            <a:chExt cx="3409804" cy="1374761"/>
          </a:xfrm>
        </p:grpSpPr>
        <p:sp>
          <p:nvSpPr>
            <p:cNvPr id="23" name="Line 14">
              <a:extLst>
                <a:ext uri="{FF2B5EF4-FFF2-40B4-BE49-F238E27FC236}">
                  <a16:creationId xmlns:a16="http://schemas.microsoft.com/office/drawing/2014/main" id="{9C245105-8614-5F4A-49A0-06FDD41AB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519" y="4764243"/>
              <a:ext cx="1421" cy="7543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7DC8B567-05C2-43D6-18B3-22833EEB3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4430" y="5471536"/>
              <a:ext cx="196766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5">
              <a:extLst>
                <a:ext uri="{FF2B5EF4-FFF2-40B4-BE49-F238E27FC236}">
                  <a16:creationId xmlns:a16="http://schemas.microsoft.com/office/drawing/2014/main" id="{C3F1FCD2-DFDA-88F3-823C-DC2C927D0D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011" y="4764243"/>
              <a:ext cx="71941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A14D61DD-32F5-F516-E252-29B51A687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8989" y="5471536"/>
              <a:ext cx="0" cy="65013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D7D61DE1-EC2C-3769-DE31-69C9328DC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8989" y="6121667"/>
              <a:ext cx="705826" cy="1733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073601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/>
      <p:bldP spid="8" grpId="0" build="p" autoUpdateAnimBg="0" advAuto="0"/>
      <p:bldP spid="9" grpId="0" build="p" autoUpdateAnimBg="0"/>
      <p:bldP spid="10" grpId="0" build="p" autoUpdateAnimBg="0" advAuto="0"/>
      <p:bldP spid="13" grpId="0"/>
      <p:bldP spid="14" grpId="0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DDCECDA8-511A-4C30-B4CC-6666EC4E0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607" y="-1832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2B06BB01-F00E-450F-9C6F-12CC1E012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28083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(3)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1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时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23AF072A-26B3-4BA5-91EB-C9A5A68E7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236" y="2795417"/>
            <a:ext cx="41399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所以该方程组有无穷多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98EC066E-7E5B-45A2-B6E0-5DCD9D7C6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816" y="2795417"/>
            <a:ext cx="5220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1&lt;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3,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D583FE61-E483-C6FB-0CE5-1BCD6DB893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655569"/>
              </p:ext>
            </p:extLst>
          </p:nvPr>
        </p:nvGraphicFramePr>
        <p:xfrm>
          <a:off x="3528432" y="1381313"/>
          <a:ext cx="20574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1244520" progId="Equation.DSMT4">
                  <p:embed/>
                </p:oleObj>
              </mc:Choice>
              <mc:Fallback>
                <p:oleObj name="Equation" r:id="rId2" imgW="2057400" imgH="1244520" progId="Equation.DSMT4">
                  <p:embed/>
                  <p:pic>
                    <p:nvPicPr>
                      <p:cNvPr id="9" name="Object 16">
                        <a:extLst>
                          <a:ext uri="{FF2B5EF4-FFF2-40B4-BE49-F238E27FC236}">
                            <a16:creationId xmlns:a16="http://schemas.microsoft.com/office/drawing/2014/main" id="{356B635A-361D-4B78-A7E1-C8CAE06F90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8432" y="1381313"/>
                        <a:ext cx="20574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49F58B6E-46CD-CE60-6FE8-9418EABB7B29}"/>
              </a:ext>
            </a:extLst>
          </p:cNvPr>
          <p:cNvGrpSpPr/>
          <p:nvPr/>
        </p:nvGrpSpPr>
        <p:grpSpPr>
          <a:xfrm>
            <a:off x="2485732" y="1554441"/>
            <a:ext cx="912474" cy="1028700"/>
            <a:chOff x="1785340" y="980372"/>
            <a:chExt cx="912474" cy="1028700"/>
          </a:xfrm>
        </p:grpSpPr>
        <p:sp>
          <p:nvSpPr>
            <p:cNvPr id="19" name="Text Box 4">
              <a:extLst>
                <a:ext uri="{FF2B5EF4-FFF2-40B4-BE49-F238E27FC236}">
                  <a16:creationId xmlns:a16="http://schemas.microsoft.com/office/drawing/2014/main" id="{51E7C349-C178-EAC8-4362-23E73A8AD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340" y="1205771"/>
              <a:ext cx="359973" cy="584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 dirty="0">
                  <a:solidFill>
                    <a:schemeClr val="tx1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graphicFrame>
          <p:nvGraphicFramePr>
            <p:cNvPr id="20" name="Object 23">
              <a:extLst>
                <a:ext uri="{FF2B5EF4-FFF2-40B4-BE49-F238E27FC236}">
                  <a16:creationId xmlns:a16="http://schemas.microsoft.com/office/drawing/2014/main" id="{608E92E0-0B94-30F8-B0AE-A90E6ADF3A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6177159"/>
                </p:ext>
              </p:extLst>
            </p:nvPr>
          </p:nvGraphicFramePr>
          <p:xfrm>
            <a:off x="2275539" y="980372"/>
            <a:ext cx="422275" cy="1028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17160" imgH="774360" progId="Equation.DSMT4">
                    <p:embed/>
                  </p:oleObj>
                </mc:Choice>
                <mc:Fallback>
                  <p:oleObj name="Equation" r:id="rId4" imgW="317160" imgH="774360" progId="Equation.DSMT4">
                    <p:embed/>
                    <p:pic>
                      <p:nvPicPr>
                        <p:cNvPr id="21" name="Object 23">
                          <a:extLst>
                            <a:ext uri="{FF2B5EF4-FFF2-40B4-BE49-F238E27FC236}">
                              <a16:creationId xmlns:a16="http://schemas.microsoft.com/office/drawing/2014/main" id="{88476015-2BF0-CF55-C24A-3ED9365603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539" y="980372"/>
                          <a:ext cx="422275" cy="1028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11">
            <a:extLst>
              <a:ext uri="{FF2B5EF4-FFF2-40B4-BE49-F238E27FC236}">
                <a16:creationId xmlns:a16="http://schemas.microsoft.com/office/drawing/2014/main" id="{326D13BF-96FF-F1F5-063E-4EFD8B9F8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84" y="3508307"/>
            <a:ext cx="13892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B149AF-645E-A82D-3B03-48E5F0C1DA8E}"/>
              </a:ext>
            </a:extLst>
          </p:cNvPr>
          <p:cNvSpPr txBox="1"/>
          <p:nvPr/>
        </p:nvSpPr>
        <p:spPr>
          <a:xfrm>
            <a:off x="452444" y="4174083"/>
            <a:ext cx="3894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由上述行最简形矩阵</a:t>
            </a:r>
            <a:r>
              <a:rPr lang="en-US" altLang="zh-CN" sz="2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5DEE0E-8C84-D894-A9EC-01C816A53F0E}"/>
              </a:ext>
            </a:extLst>
          </p:cNvPr>
          <p:cNvSpPr txBox="1"/>
          <p:nvPr/>
        </p:nvSpPr>
        <p:spPr>
          <a:xfrm>
            <a:off x="4002850" y="4174083"/>
            <a:ext cx="5172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可得该方程组的同</a:t>
            </a:r>
            <a:r>
              <a:rPr lang="zh-CN" altLang="en-US" b="1" kern="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解方程组为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" name="Object 18">
            <a:extLst>
              <a:ext uri="{FF2B5EF4-FFF2-40B4-BE49-F238E27FC236}">
                <a16:creationId xmlns:a16="http://schemas.microsoft.com/office/drawing/2014/main" id="{EBD66D84-40A0-DDE5-A33F-0CDB225A6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02935"/>
              </p:ext>
            </p:extLst>
          </p:nvPr>
        </p:nvGraphicFramePr>
        <p:xfrm>
          <a:off x="3435102" y="4876401"/>
          <a:ext cx="2222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22280" imgH="419040" progId="Equation.DSMT4">
                  <p:embed/>
                </p:oleObj>
              </mc:Choice>
              <mc:Fallback>
                <p:oleObj name="Equation" r:id="rId6" imgW="2222280" imgH="419040" progId="Equation.DSMT4">
                  <p:embed/>
                  <p:pic>
                    <p:nvPicPr>
                      <p:cNvPr id="10" name="Object 18">
                        <a:extLst>
                          <a:ext uri="{FF2B5EF4-FFF2-40B4-BE49-F238E27FC236}">
                            <a16:creationId xmlns:a16="http://schemas.microsoft.com/office/drawing/2014/main" id="{EA3CE0A2-2572-42A7-A7B5-D0AFA62530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102" y="4876401"/>
                        <a:ext cx="2222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2">
            <a:extLst>
              <a:ext uri="{FF2B5EF4-FFF2-40B4-BE49-F238E27FC236}">
                <a16:creationId xmlns:a16="http://schemas.microsoft.com/office/drawing/2014/main" id="{B5B28F93-6A7D-7425-9686-13FF7606C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85" y="5524890"/>
            <a:ext cx="124521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28" name="Object 18">
            <a:extLst>
              <a:ext uri="{FF2B5EF4-FFF2-40B4-BE49-F238E27FC236}">
                <a16:creationId xmlns:a16="http://schemas.microsoft.com/office/drawing/2014/main" id="{CA11532A-C42E-72E8-774B-71B48A4DF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57933"/>
              </p:ext>
            </p:extLst>
          </p:nvPr>
        </p:nvGraphicFramePr>
        <p:xfrm>
          <a:off x="3428988" y="5602390"/>
          <a:ext cx="219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419040" progId="Equation.DSMT4">
                  <p:embed/>
                </p:oleObj>
              </mc:Choice>
              <mc:Fallback>
                <p:oleObj name="Equation" r:id="rId8" imgW="2197080" imgH="419040" progId="Equation.DSMT4">
                  <p:embed/>
                  <p:pic>
                    <p:nvPicPr>
                      <p:cNvPr id="16" name="Object 18">
                        <a:extLst>
                          <a:ext uri="{FF2B5EF4-FFF2-40B4-BE49-F238E27FC236}">
                            <a16:creationId xmlns:a16="http://schemas.microsoft.com/office/drawing/2014/main" id="{370D553E-EDFA-45F4-A966-83BFBD042D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88" y="5602390"/>
                        <a:ext cx="2197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208508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2" grpId="0" build="p" autoUpdateAnimBg="0" advAuto="0"/>
      <p:bldP spid="15" grpId="0"/>
      <p:bldP spid="21" grpId="0" build="p" autoUpdateAnimBg="0" advAuto="0"/>
      <p:bldP spid="23" grpId="0"/>
      <p:bldP spid="25" grpId="0"/>
      <p:bldP spid="2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59C9389D-5025-447C-9132-8AF4CF91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-22201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9330AD53-8DD6-4241-A488-49415BA86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01" y="1531850"/>
            <a:ext cx="410445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则该方程组的通解为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8EE032F5-3542-4776-AE8A-A83EE5F3D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489" y="808871"/>
            <a:ext cx="4319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取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9C7FF7C6-3EFC-4DD1-8DDB-B3E62EAF4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0162" y="813634"/>
            <a:ext cx="3384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令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C3F78ADB-4AE3-4261-9458-DCDF221A03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825257"/>
              </p:ext>
            </p:extLst>
          </p:nvPr>
        </p:nvGraphicFramePr>
        <p:xfrm>
          <a:off x="7330193" y="900639"/>
          <a:ext cx="151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419040" progId="Equation.DSMT4">
                  <p:embed/>
                </p:oleObj>
              </mc:Choice>
              <mc:Fallback>
                <p:oleObj name="Equation" r:id="rId2" imgW="1511280" imgH="419040" progId="Equation.DSMT4">
                  <p:embed/>
                  <p:pic>
                    <p:nvPicPr>
                      <p:cNvPr id="34" name="Object 11">
                        <a:extLst>
                          <a:ext uri="{FF2B5EF4-FFF2-40B4-BE49-F238E27FC236}">
                            <a16:creationId xmlns:a16="http://schemas.microsoft.com/office/drawing/2014/main" id="{E1009AC1-8FE8-4E6A-8958-9A267A3EED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0193" y="900639"/>
                        <a:ext cx="1511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89B5566F-FB53-8CD4-8EE5-3206AC40DE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863711"/>
              </p:ext>
            </p:extLst>
          </p:nvPr>
        </p:nvGraphicFramePr>
        <p:xfrm>
          <a:off x="1388505" y="4559707"/>
          <a:ext cx="9779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900" imgH="1295400" progId="Equation.DSMT4">
                  <p:embed/>
                </p:oleObj>
              </mc:Choice>
              <mc:Fallback>
                <p:oleObj name="Equation" r:id="rId4" imgW="977900" imgH="1295400" progId="Equation.DSMT4">
                  <p:embed/>
                  <p:pic>
                    <p:nvPicPr>
                      <p:cNvPr id="6" name="Object 15">
                        <a:extLst>
                          <a:ext uri="{FF2B5EF4-FFF2-40B4-BE49-F238E27FC236}">
                            <a16:creationId xmlns:a16="http://schemas.microsoft.com/office/drawing/2014/main" id="{DABAA038-974B-4215-A039-8ABA02ADF1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8505" y="4559707"/>
                        <a:ext cx="9779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>
            <a:extLst>
              <a:ext uri="{FF2B5EF4-FFF2-40B4-BE49-F238E27FC236}">
                <a16:creationId xmlns:a16="http://schemas.microsoft.com/office/drawing/2014/main" id="{9721C006-18B2-4827-20A6-33C1F8E25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459526"/>
              </p:ext>
            </p:extLst>
          </p:nvPr>
        </p:nvGraphicFramePr>
        <p:xfrm>
          <a:off x="2387949" y="4570026"/>
          <a:ext cx="1892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92160" imgH="1295280" progId="Equation.DSMT4">
                  <p:embed/>
                </p:oleObj>
              </mc:Choice>
              <mc:Fallback>
                <p:oleObj name="Equation" r:id="rId6" imgW="1892160" imgH="1295280" progId="Equation.DSMT4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1A1B0BA8-F34E-416B-A5C3-2027F6956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949" y="4570026"/>
                        <a:ext cx="18923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BFA92522-CC22-405F-6D61-00A880D689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773529"/>
              </p:ext>
            </p:extLst>
          </p:nvPr>
        </p:nvGraphicFramePr>
        <p:xfrm>
          <a:off x="4310634" y="4573141"/>
          <a:ext cx="35306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30520" imgH="1244520" progId="Equation.DSMT4">
                  <p:embed/>
                </p:oleObj>
              </mc:Choice>
              <mc:Fallback>
                <p:oleObj name="Equation" r:id="rId8" imgW="3530520" imgH="124452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4FFD0A78-D0E1-46AD-9196-143D4CE701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634" y="4573141"/>
                        <a:ext cx="35306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79AB2E97-708E-A3CF-98C7-204996C06F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747601"/>
              </p:ext>
            </p:extLst>
          </p:nvPr>
        </p:nvGraphicFramePr>
        <p:xfrm>
          <a:off x="3327400" y="2259591"/>
          <a:ext cx="24892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89040" imgH="1295280" progId="Equation.DSMT4">
                  <p:embed/>
                </p:oleObj>
              </mc:Choice>
              <mc:Fallback>
                <p:oleObj name="Equation" r:id="rId10" imgW="2489040" imgH="1295280" progId="Equation.DSMT4">
                  <p:embed/>
                  <p:pic>
                    <p:nvPicPr>
                      <p:cNvPr id="29" name="Object 11">
                        <a:extLst>
                          <a:ext uri="{FF2B5EF4-FFF2-40B4-BE49-F238E27FC236}">
                            <a16:creationId xmlns:a16="http://schemas.microsoft.com/office/drawing/2014/main" id="{10A41359-1445-D57F-211E-FB1852B3D8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2259591"/>
                        <a:ext cx="24892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4">
            <a:extLst>
              <a:ext uri="{FF2B5EF4-FFF2-40B4-BE49-F238E27FC236}">
                <a16:creationId xmlns:a16="http://schemas.microsoft.com/office/drawing/2014/main" id="{1E8694C1-35A9-0E69-DC6F-88605FBDA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01" y="3802456"/>
            <a:ext cx="55924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方程组的通解的列向量形式为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762235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18" grpId="0"/>
      <p:bldP spid="3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FB7A31CC-616C-4BB8-93D5-23B81E2ED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-21828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6B77ED1-450D-4C31-AF2B-107A90101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08" y="888360"/>
            <a:ext cx="2016224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解法二</a:t>
            </a:r>
            <a:endParaRPr lang="zh-CN" altLang="en-US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BB1241F3-8656-44EC-9785-E75A223BE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884796"/>
            <a:ext cx="465882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为方阵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9">
            <a:extLst>
              <a:ext uri="{FF2B5EF4-FFF2-40B4-BE49-F238E27FC236}">
                <a16:creationId xmlns:a16="http://schemas.microsoft.com/office/drawing/2014/main" id="{11AC32A9-FBDC-4767-8E19-C31A5864E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68" y="885823"/>
            <a:ext cx="282154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所以方程组</a:t>
            </a:r>
          </a:p>
        </p:txBody>
      </p:sp>
      <p:graphicFrame>
        <p:nvGraphicFramePr>
          <p:cNvPr id="13" name="Object 25">
            <a:extLst>
              <a:ext uri="{FF2B5EF4-FFF2-40B4-BE49-F238E27FC236}">
                <a16:creationId xmlns:a16="http://schemas.microsoft.com/office/drawing/2014/main" id="{EF4BE9D2-17FD-4D3F-9998-E72E6E2072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437537"/>
              </p:ext>
            </p:extLst>
          </p:nvPr>
        </p:nvGraphicFramePr>
        <p:xfrm>
          <a:off x="2228895" y="3455139"/>
          <a:ext cx="622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300" imgH="457200" progId="Equation.DSMT4">
                  <p:embed/>
                </p:oleObj>
              </mc:Choice>
              <mc:Fallback>
                <p:oleObj name="Equation" r:id="rId2" imgW="622300" imgH="457200" progId="Equation.DSMT4">
                  <p:embed/>
                  <p:pic>
                    <p:nvPicPr>
                      <p:cNvPr id="13" name="Object 25">
                        <a:extLst>
                          <a:ext uri="{FF2B5EF4-FFF2-40B4-BE49-F238E27FC236}">
                            <a16:creationId xmlns:a16="http://schemas.microsoft.com/office/drawing/2014/main" id="{EF4BE9D2-17FD-4D3F-9998-E72E6E2072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95" y="3455139"/>
                        <a:ext cx="622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0CDBE96B-7298-41A3-A67F-EECC43C880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889068"/>
              </p:ext>
            </p:extLst>
          </p:nvPr>
        </p:nvGraphicFramePr>
        <p:xfrm>
          <a:off x="2911297" y="3069377"/>
          <a:ext cx="13589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1244520" progId="Equation.DSMT4">
                  <p:embed/>
                </p:oleObj>
              </mc:Choice>
              <mc:Fallback>
                <p:oleObj name="Equation" r:id="rId4" imgW="1358640" imgH="1244520" progId="Equation.DSMT4">
                  <p:embed/>
                  <p:pic>
                    <p:nvPicPr>
                      <p:cNvPr id="14" name="Object 10">
                        <a:extLst>
                          <a:ext uri="{FF2B5EF4-FFF2-40B4-BE49-F238E27FC236}">
                            <a16:creationId xmlns:a16="http://schemas.microsoft.com/office/drawing/2014/main" id="{0CDBE96B-7298-41A3-A67F-EECC43C88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297" y="3069377"/>
                        <a:ext cx="13589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2">
            <a:extLst>
              <a:ext uri="{FF2B5EF4-FFF2-40B4-BE49-F238E27FC236}">
                <a16:creationId xmlns:a16="http://schemas.microsoft.com/office/drawing/2014/main" id="{43448BB1-22A2-43CC-BF0C-788B354F8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58270"/>
              </p:ext>
            </p:extLst>
          </p:nvPr>
        </p:nvGraphicFramePr>
        <p:xfrm>
          <a:off x="4325938" y="3454400"/>
          <a:ext cx="231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457200" progId="Equation.DSMT4">
                  <p:embed/>
                </p:oleObj>
              </mc:Choice>
              <mc:Fallback>
                <p:oleObj name="Equation" r:id="rId6" imgW="2311200" imgH="457200" progId="Equation.DSMT4">
                  <p:embed/>
                  <p:pic>
                    <p:nvPicPr>
                      <p:cNvPr id="15" name="Object 32">
                        <a:extLst>
                          <a:ext uri="{FF2B5EF4-FFF2-40B4-BE49-F238E27FC236}">
                            <a16:creationId xmlns:a16="http://schemas.microsoft.com/office/drawing/2014/main" id="{43448BB1-22A2-43CC-BF0C-788B354F8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5938" y="3454400"/>
                        <a:ext cx="2311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9">
            <a:extLst>
              <a:ext uri="{FF2B5EF4-FFF2-40B4-BE49-F238E27FC236}">
                <a16:creationId xmlns:a16="http://schemas.microsoft.com/office/drawing/2014/main" id="{A0200861-DE4F-9869-1BD9-F15A0604C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6" y="1638453"/>
            <a:ext cx="82388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有唯一解的充要条件是系数矩阵的行列式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0.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52D668D9-126C-C14F-EC6D-08F9C930F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6" y="2351065"/>
            <a:ext cx="41344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而系数矩阵的行列式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6C102FCA-0676-9B21-C7CC-0C1EEDA87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08" y="4525692"/>
            <a:ext cx="435597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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且</a:t>
            </a:r>
            <a:r>
              <a:rPr lang="zh-CN" altLang="en-US" sz="2000" b="1" dirty="0">
                <a:solidFill>
                  <a:srgbClr val="0000FF"/>
                </a:solidFill>
                <a:latin typeface="+mn-lt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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Symbol" pitchFamily="18" charset="2"/>
                <a:ea typeface="黑体" pitchFamily="2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时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4A5D2AE9-1C07-3363-8A1A-6DA768106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5280144"/>
            <a:ext cx="403244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该方程组有唯一解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14">
            <a:extLst>
              <a:ext uri="{FF2B5EF4-FFF2-40B4-BE49-F238E27FC236}">
                <a16:creationId xmlns:a16="http://schemas.microsoft.com/office/drawing/2014/main" id="{AD7B23C0-451B-BCBD-363B-B527EB3B2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246" y="4525692"/>
            <a:ext cx="1738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F6C11124-5A4B-CD17-A85D-7277652A1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6" y="5276036"/>
            <a:ext cx="35583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由克拉默法则可知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537731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 autoUpdateAnimBg="0"/>
      <p:bldP spid="12" grpId="0" build="p" autoUpdateAnimBg="0"/>
      <p:bldP spid="17" grpId="0" build="p" autoUpdateAnimBg="0"/>
      <p:bldP spid="18" grpId="0" build="p" autoUpdateAnimBg="0"/>
      <p:bldP spid="19" grpId="0" build="p" autoUpdateAnimBg="0"/>
      <p:bldP spid="20" grpId="0" build="p" autoUpdateAnimBg="0" advAuto="0"/>
      <p:bldP spid="21" grpId="0"/>
      <p:bldP spid="22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21119FEF-03EA-46A5-BEA4-AC117C90B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31" y="-8071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C802816F-9D10-4538-AFEF-6604FECA4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808621"/>
            <a:ext cx="3167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Symbol" pitchFamily="18" charset="2"/>
                <a:ea typeface="黑体" pitchFamily="2" charset="-122"/>
                <a:cs typeface="Times New Roman" pitchFamily="18" charset="0"/>
                <a:sym typeface="Symbol" pitchFamily="18" charset="2"/>
              </a:rPr>
              <a:t>-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B8363EBE-EAED-4ADC-AF44-9117E8AAB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510021"/>
            <a:ext cx="384384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所以该方程组无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64B345C5-4B52-4876-AEDD-DF056CC3C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725045"/>
            <a:ext cx="394756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itchFamily="2" charset="-122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3" name="Object 22">
            <a:extLst>
              <a:ext uri="{FF2B5EF4-FFF2-40B4-BE49-F238E27FC236}">
                <a16:creationId xmlns:a16="http://schemas.microsoft.com/office/drawing/2014/main" id="{0D010FC6-F6CC-468A-874A-4EE446DDF8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701543"/>
              </p:ext>
            </p:extLst>
          </p:nvPr>
        </p:nvGraphicFramePr>
        <p:xfrm>
          <a:off x="1248006" y="1658493"/>
          <a:ext cx="32893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88960" imgH="1244520" progId="Equation.DSMT4">
                  <p:embed/>
                </p:oleObj>
              </mc:Choice>
              <mc:Fallback>
                <p:oleObj name="Equation" r:id="rId2" imgW="3288960" imgH="1244520" progId="Equation.DSMT4">
                  <p:embed/>
                  <p:pic>
                    <p:nvPicPr>
                      <p:cNvPr id="16" name="Object 22">
                        <a:extLst>
                          <a:ext uri="{FF2B5EF4-FFF2-40B4-BE49-F238E27FC236}">
                            <a16:creationId xmlns:a16="http://schemas.microsoft.com/office/drawing/2014/main" id="{3C737577-77FE-45F4-B87F-43A053EF00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8006" y="1658493"/>
                        <a:ext cx="32893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F45D2EB1-CA66-4011-818F-58845C114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715377"/>
              </p:ext>
            </p:extLst>
          </p:nvPr>
        </p:nvGraphicFramePr>
        <p:xfrm>
          <a:off x="5628744" y="1658493"/>
          <a:ext cx="25146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4600" imgH="1244520" progId="Equation.DSMT4">
                  <p:embed/>
                </p:oleObj>
              </mc:Choice>
              <mc:Fallback>
                <p:oleObj name="Equation" r:id="rId4" imgW="2514600" imgH="124452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09024C63-77E2-4F25-BB1D-33B8F3B631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8744" y="1658493"/>
                        <a:ext cx="25146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25C834B3-AB5F-449F-9913-8E7FE1965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239930"/>
              </p:ext>
            </p:extLst>
          </p:nvPr>
        </p:nvGraphicFramePr>
        <p:xfrm>
          <a:off x="1898509" y="3195289"/>
          <a:ext cx="26289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28720" imgH="1244520" progId="Equation.DSMT4">
                  <p:embed/>
                </p:oleObj>
              </mc:Choice>
              <mc:Fallback>
                <p:oleObj name="Equation" r:id="rId6" imgW="2628720" imgH="1244520" progId="Equation.DSMT4">
                  <p:embed/>
                  <p:pic>
                    <p:nvPicPr>
                      <p:cNvPr id="35" name="Object 23">
                        <a:extLst>
                          <a:ext uri="{FF2B5EF4-FFF2-40B4-BE49-F238E27FC236}">
                            <a16:creationId xmlns:a16="http://schemas.microsoft.com/office/drawing/2014/main" id="{B1EA356E-CC45-4D7C-8D52-9DD8E6765B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509" y="3195289"/>
                        <a:ext cx="26289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3">
            <a:extLst>
              <a:ext uri="{FF2B5EF4-FFF2-40B4-BE49-F238E27FC236}">
                <a16:creationId xmlns:a16="http://schemas.microsoft.com/office/drawing/2014/main" id="{AA829677-81A9-21A5-1DC1-BE17D1078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751133"/>
              </p:ext>
            </p:extLst>
          </p:nvPr>
        </p:nvGraphicFramePr>
        <p:xfrm>
          <a:off x="4669481" y="1521174"/>
          <a:ext cx="827088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1143000" progId="Equation.DSMT4">
                  <p:embed/>
                </p:oleObj>
              </mc:Choice>
              <mc:Fallback>
                <p:oleObj name="Equation" r:id="rId8" imgW="622080" imgH="1143000" progId="Equation.DSMT4">
                  <p:embed/>
                  <p:pic>
                    <p:nvPicPr>
                      <p:cNvPr id="21" name="Object 23">
                        <a:extLst>
                          <a:ext uri="{FF2B5EF4-FFF2-40B4-BE49-F238E27FC236}">
                            <a16:creationId xmlns:a16="http://schemas.microsoft.com/office/drawing/2014/main" id="{D1EF7745-32D6-386A-AA0B-57C30FB92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481" y="1521174"/>
                        <a:ext cx="827088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3">
            <a:extLst>
              <a:ext uri="{FF2B5EF4-FFF2-40B4-BE49-F238E27FC236}">
                <a16:creationId xmlns:a16="http://schemas.microsoft.com/office/drawing/2014/main" id="{8BBFC1FA-16A4-8153-655C-24B11A987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874295"/>
              </p:ext>
            </p:extLst>
          </p:nvPr>
        </p:nvGraphicFramePr>
        <p:xfrm>
          <a:off x="1172021" y="3286570"/>
          <a:ext cx="69056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0560" imgH="799920" progId="Equation.DSMT4">
                  <p:embed/>
                </p:oleObj>
              </mc:Choice>
              <mc:Fallback>
                <p:oleObj name="Equation" r:id="rId10" imgW="520560" imgH="799920" progId="Equation.DSMT4">
                  <p:embed/>
                  <p:pic>
                    <p:nvPicPr>
                      <p:cNvPr id="22" name="Object 23">
                        <a:extLst>
                          <a:ext uri="{FF2B5EF4-FFF2-40B4-BE49-F238E27FC236}">
                            <a16:creationId xmlns:a16="http://schemas.microsoft.com/office/drawing/2014/main" id="{C19A03E9-7719-562D-7D5F-FF5079E25A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021" y="3286570"/>
                        <a:ext cx="690562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9">
            <a:extLst>
              <a:ext uri="{FF2B5EF4-FFF2-40B4-BE49-F238E27FC236}">
                <a16:creationId xmlns:a16="http://schemas.microsoft.com/office/drawing/2014/main" id="{C21E439B-F612-FD07-9894-09452B86A533}"/>
              </a:ext>
            </a:extLst>
          </p:cNvPr>
          <p:cNvGrpSpPr>
            <a:grpSpLocks/>
          </p:cNvGrpSpPr>
          <p:nvPr/>
        </p:nvGrpSpPr>
        <p:grpSpPr bwMode="auto">
          <a:xfrm>
            <a:off x="1986984" y="3585145"/>
            <a:ext cx="2287162" cy="788469"/>
            <a:chOff x="1757464" y="4764243"/>
            <a:chExt cx="3859571" cy="1343554"/>
          </a:xfrm>
        </p:grpSpPr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5105889E-DF3F-2A2A-7CE0-C5D8132EE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6882" y="4764243"/>
              <a:ext cx="1421" cy="7543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C31AC4EF-1008-0FEF-8073-D3BA8B738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5344" y="5478713"/>
              <a:ext cx="2339946" cy="18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43FE3685-CCF7-F91C-0E1E-370174D71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464" y="4775854"/>
              <a:ext cx="71941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F89B3AD1-82A2-D23C-6EA8-B36F985196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5289" y="5457665"/>
              <a:ext cx="0" cy="6501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6BEF5D26-DDDF-668E-2CB4-F25E6CFCC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5288" y="6107797"/>
              <a:ext cx="82174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Text Box 8">
            <a:extLst>
              <a:ext uri="{FF2B5EF4-FFF2-40B4-BE49-F238E27FC236}">
                <a16:creationId xmlns:a16="http://schemas.microsoft.com/office/drawing/2014/main" id="{2A398097-9B17-FB61-85ED-7E66FA9FB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5" y="815132"/>
            <a:ext cx="572412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对增广矩阵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有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2" name="Text Box 15">
            <a:extLst>
              <a:ext uri="{FF2B5EF4-FFF2-40B4-BE49-F238E27FC236}">
                <a16:creationId xmlns:a16="http://schemas.microsoft.com/office/drawing/2014/main" id="{5604EB10-7B15-8B84-6DEA-356FCDC8D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1136" y="4725045"/>
            <a:ext cx="26048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9308898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  <p:bldP spid="11" grpId="0"/>
      <p:bldP spid="12" grpId="0" build="p" autoUpdateAnimBg="0"/>
      <p:bldP spid="21" grpId="0" build="p" autoUpdateAnimBg="0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8">
            <a:extLst>
              <a:ext uri="{FF2B5EF4-FFF2-40B4-BE49-F238E27FC236}">
                <a16:creationId xmlns:a16="http://schemas.microsoft.com/office/drawing/2014/main" id="{B65C938E-7447-4C11-906C-C82F6CDC9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832029"/>
            <a:ext cx="309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(3)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时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黑体" pitchFamily="2" charset="-122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id="{8CF12A15-559F-4A39-9FED-6791CD6A8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450974"/>
              </p:ext>
            </p:extLst>
          </p:nvPr>
        </p:nvGraphicFramePr>
        <p:xfrm>
          <a:off x="1713181" y="1574806"/>
          <a:ext cx="24130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1244520" progId="Equation.DSMT4">
                  <p:embed/>
                </p:oleObj>
              </mc:Choice>
              <mc:Fallback>
                <p:oleObj name="Equation" r:id="rId2" imgW="2412720" imgH="1244520" progId="Equation.DSMT4">
                  <p:embed/>
                  <p:pic>
                    <p:nvPicPr>
                      <p:cNvPr id="9" name="Object 12">
                        <a:extLst>
                          <a:ext uri="{FF2B5EF4-FFF2-40B4-BE49-F238E27FC236}">
                            <a16:creationId xmlns:a16="http://schemas.microsoft.com/office/drawing/2014/main" id="{FE1B0D8D-667D-47E6-B32D-466368F48D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181" y="1574806"/>
                        <a:ext cx="24130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>
            <a:extLst>
              <a:ext uri="{FF2B5EF4-FFF2-40B4-BE49-F238E27FC236}">
                <a16:creationId xmlns:a16="http://schemas.microsoft.com/office/drawing/2014/main" id="{A5986595-F7C3-46BE-BEA1-4823A48E20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93628"/>
              </p:ext>
            </p:extLst>
          </p:nvPr>
        </p:nvGraphicFramePr>
        <p:xfrm>
          <a:off x="5054516" y="1574806"/>
          <a:ext cx="20574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1244520" progId="Equation.DSMT4">
                  <p:embed/>
                </p:oleObj>
              </mc:Choice>
              <mc:Fallback>
                <p:oleObj name="Equation" r:id="rId4" imgW="2057400" imgH="1244520" progId="Equation.DSMT4">
                  <p:embed/>
                  <p:pic>
                    <p:nvPicPr>
                      <p:cNvPr id="21" name="Object 22">
                        <a:extLst>
                          <a:ext uri="{FF2B5EF4-FFF2-40B4-BE49-F238E27FC236}">
                            <a16:creationId xmlns:a16="http://schemas.microsoft.com/office/drawing/2014/main" id="{ABB69C46-C8DE-415F-A359-C08480871C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516" y="1574806"/>
                        <a:ext cx="20574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9">
            <a:extLst>
              <a:ext uri="{FF2B5EF4-FFF2-40B4-BE49-F238E27FC236}">
                <a16:creationId xmlns:a16="http://schemas.microsoft.com/office/drawing/2014/main" id="{B47A0EBB-709A-4270-A777-1A63BCB53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6184" y="3038692"/>
            <a:ext cx="4279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故方程组有无穷多组解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 Box 21">
            <a:extLst>
              <a:ext uri="{FF2B5EF4-FFF2-40B4-BE49-F238E27FC236}">
                <a16:creationId xmlns:a16="http://schemas.microsoft.com/office/drawing/2014/main" id="{ED593F3C-76BD-4C5E-ACDA-80EA1068F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20" y="3038692"/>
            <a:ext cx="46568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因为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1&lt;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sz="1600" b="1" i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=</a:t>
            </a:r>
            <a:r>
              <a:rPr lang="en-US" altLang="zh-CN" sz="1600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8" name="Object 23">
            <a:extLst>
              <a:ext uri="{FF2B5EF4-FFF2-40B4-BE49-F238E27FC236}">
                <a16:creationId xmlns:a16="http://schemas.microsoft.com/office/drawing/2014/main" id="{6A723227-1B83-215E-9152-4FCF11AA9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768570"/>
              </p:ext>
            </p:extLst>
          </p:nvPr>
        </p:nvGraphicFramePr>
        <p:xfrm>
          <a:off x="4260942" y="1623318"/>
          <a:ext cx="65881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00" imgH="863280" progId="Equation.DSMT4">
                  <p:embed/>
                </p:oleObj>
              </mc:Choice>
              <mc:Fallback>
                <p:oleObj name="Equation" r:id="rId6" imgW="495000" imgH="863280" progId="Equation.DSMT4">
                  <p:embed/>
                  <p:pic>
                    <p:nvPicPr>
                      <p:cNvPr id="20" name="Object 23">
                        <a:extLst>
                          <a:ext uri="{FF2B5EF4-FFF2-40B4-BE49-F238E27FC236}">
                            <a16:creationId xmlns:a16="http://schemas.microsoft.com/office/drawing/2014/main" id="{29FB8149-E0BE-26AE-8494-EE0787FFB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942" y="1623318"/>
                        <a:ext cx="658813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60BF150A-BEC5-75F0-15CB-AE8BC70F4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1840" y="823969"/>
            <a:ext cx="567037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对增广矩阵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6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有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67DB31-A7DA-8EEC-9F7E-6B5C2D82C806}"/>
              </a:ext>
            </a:extLst>
          </p:cNvPr>
          <p:cNvSpPr txBox="1"/>
          <p:nvPr/>
        </p:nvSpPr>
        <p:spPr>
          <a:xfrm>
            <a:off x="397600" y="3785219"/>
            <a:ext cx="38941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由上述行最简形矩阵</a:t>
            </a:r>
            <a:r>
              <a:rPr lang="en-US" altLang="zh-CN" sz="2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A6B6736-9F58-6C25-2116-1D28008818B4}"/>
              </a:ext>
            </a:extLst>
          </p:cNvPr>
          <p:cNvSpPr txBox="1"/>
          <p:nvPr/>
        </p:nvSpPr>
        <p:spPr>
          <a:xfrm>
            <a:off x="3925992" y="3785219"/>
            <a:ext cx="5220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可得该方程组的同</a:t>
            </a:r>
            <a:r>
              <a:rPr lang="zh-CN" altLang="en-US" b="1" kern="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解方程组为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52CB48D2-401D-3512-1438-7ED3AC974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043863"/>
              </p:ext>
            </p:extLst>
          </p:nvPr>
        </p:nvGraphicFramePr>
        <p:xfrm>
          <a:off x="3460750" y="4525185"/>
          <a:ext cx="2222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22280" imgH="419040" progId="Equation.DSMT4">
                  <p:embed/>
                </p:oleObj>
              </mc:Choice>
              <mc:Fallback>
                <p:oleObj name="Equation" r:id="rId8" imgW="2222280" imgH="419040" progId="Equation.DSMT4">
                  <p:embed/>
                  <p:pic>
                    <p:nvPicPr>
                      <p:cNvPr id="26" name="Object 18">
                        <a:extLst>
                          <a:ext uri="{FF2B5EF4-FFF2-40B4-BE49-F238E27FC236}">
                            <a16:creationId xmlns:a16="http://schemas.microsoft.com/office/drawing/2014/main" id="{EBD66D84-40A0-DDE5-A33F-0CDB225A61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4525185"/>
                        <a:ext cx="2222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2">
            <a:extLst>
              <a:ext uri="{FF2B5EF4-FFF2-40B4-BE49-F238E27FC236}">
                <a16:creationId xmlns:a16="http://schemas.microsoft.com/office/drawing/2014/main" id="{66BA4916-F352-30DA-514D-6F43A4FFE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677" y="5193463"/>
            <a:ext cx="134301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21" name="Object 18">
            <a:extLst>
              <a:ext uri="{FF2B5EF4-FFF2-40B4-BE49-F238E27FC236}">
                <a16:creationId xmlns:a16="http://schemas.microsoft.com/office/drawing/2014/main" id="{33FE0ADB-1A19-E1BB-155C-54A15CE220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780034"/>
              </p:ext>
            </p:extLst>
          </p:nvPr>
        </p:nvGraphicFramePr>
        <p:xfrm>
          <a:off x="3492500" y="5270500"/>
          <a:ext cx="219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97080" imgH="419040" progId="Equation.DSMT4">
                  <p:embed/>
                </p:oleObj>
              </mc:Choice>
              <mc:Fallback>
                <p:oleObj name="Equation" r:id="rId10" imgW="2197080" imgH="419040" progId="Equation.DSMT4">
                  <p:embed/>
                  <p:pic>
                    <p:nvPicPr>
                      <p:cNvPr id="28" name="Object 18">
                        <a:extLst>
                          <a:ext uri="{FF2B5EF4-FFF2-40B4-BE49-F238E27FC236}">
                            <a16:creationId xmlns:a16="http://schemas.microsoft.com/office/drawing/2014/main" id="{CA11532A-C42E-72E8-774B-71B48A4DFD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270500"/>
                        <a:ext cx="2197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30">
            <a:extLst>
              <a:ext uri="{FF2B5EF4-FFF2-40B4-BE49-F238E27FC236}">
                <a16:creationId xmlns:a16="http://schemas.microsoft.com/office/drawing/2014/main" id="{A1EAEE55-771D-42BC-BFF9-E4500EB49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31" y="-8071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</p:spTree>
    <p:extLst>
      <p:ext uri="{BB962C8B-B14F-4D97-AF65-F5344CB8AC3E}">
        <p14:creationId xmlns:p14="http://schemas.microsoft.com/office/powerpoint/2010/main" val="212908139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250"/>
                            </p:stCondLst>
                            <p:childTnLst>
                              <p:par>
                                <p:cTn id="4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13" grpId="0" build="p" autoUpdateAnimBg="0" advAuto="0"/>
      <p:bldP spid="14" grpId="0" build="p" autoUpdateAnimBg="0"/>
      <p:bldP spid="8" grpId="0" build="p" autoUpdateAnimBg="0"/>
      <p:bldP spid="9" grpId="0"/>
      <p:bldP spid="11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4">
            <a:extLst>
              <a:ext uri="{FF2B5EF4-FFF2-40B4-BE49-F238E27FC236}">
                <a16:creationId xmlns:a16="http://schemas.microsoft.com/office/drawing/2014/main" id="{08FA2B6F-7370-1F5D-BB72-3C92A1931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75" y="3906568"/>
            <a:ext cx="52815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方程组的通解的列向量形式为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AC4D86B4-1A60-490F-9084-73327CA643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387107"/>
              </p:ext>
            </p:extLst>
          </p:nvPr>
        </p:nvGraphicFramePr>
        <p:xfrm>
          <a:off x="1396871" y="4658045"/>
          <a:ext cx="2908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080" imgH="1295280" progId="Equation.DSMT4">
                  <p:embed/>
                </p:oleObj>
              </mc:Choice>
              <mc:Fallback>
                <p:oleObj name="Equation" r:id="rId2" imgW="2908080" imgH="1295280" progId="Equation.DSMT4">
                  <p:embed/>
                  <p:pic>
                    <p:nvPicPr>
                      <p:cNvPr id="16" name="Object 12">
                        <a:extLst>
                          <a:ext uri="{FF2B5EF4-FFF2-40B4-BE49-F238E27FC236}">
                            <a16:creationId xmlns:a16="http://schemas.microsoft.com/office/drawing/2014/main" id="{AC4D86B4-1A60-490F-9084-73327CA64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871" y="4658045"/>
                        <a:ext cx="29083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4">
            <a:extLst>
              <a:ext uri="{FF2B5EF4-FFF2-40B4-BE49-F238E27FC236}">
                <a16:creationId xmlns:a16="http://schemas.microsoft.com/office/drawing/2014/main" id="{55DE69DC-B5F9-894A-5960-D265E7A99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98" y="1618614"/>
            <a:ext cx="410445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则该方程组的通解为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0716DE28-7B98-FA9B-67EF-5932A8993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186" y="895635"/>
            <a:ext cx="4319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取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433D6C5F-1ADB-ED4E-D0DB-A8BCD7C41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859" y="900398"/>
            <a:ext cx="3384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令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8C33486D-E2ED-3740-CE79-15E344D7A9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105674"/>
              </p:ext>
            </p:extLst>
          </p:nvPr>
        </p:nvGraphicFramePr>
        <p:xfrm>
          <a:off x="7199890" y="987403"/>
          <a:ext cx="151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419040" progId="Equation.DSMT4">
                  <p:embed/>
                </p:oleObj>
              </mc:Choice>
              <mc:Fallback>
                <p:oleObj name="Equation" r:id="rId4" imgW="1511280" imgH="419040" progId="Equation.DSMT4">
                  <p:embed/>
                  <p:pic>
                    <p:nvPicPr>
                      <p:cNvPr id="25" name="Object 11">
                        <a:extLst>
                          <a:ext uri="{FF2B5EF4-FFF2-40B4-BE49-F238E27FC236}">
                            <a16:creationId xmlns:a16="http://schemas.microsoft.com/office/drawing/2014/main" id="{BB584209-C6E9-F925-6541-3EEBC8AAC8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9890" y="987403"/>
                        <a:ext cx="1511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B24E6907-095B-DAE7-1B4F-A9E4B3A7E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761087"/>
              </p:ext>
            </p:extLst>
          </p:nvPr>
        </p:nvGraphicFramePr>
        <p:xfrm>
          <a:off x="3308350" y="2363788"/>
          <a:ext cx="2527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27200" imgH="1295280" progId="Equation.DSMT4">
                  <p:embed/>
                </p:oleObj>
              </mc:Choice>
              <mc:Fallback>
                <p:oleObj name="Equation" r:id="rId6" imgW="2527200" imgH="1295280" progId="Equation.DSMT4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79AB2E97-708E-A3CF-98C7-204996C06F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2363788"/>
                        <a:ext cx="25273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2">
            <a:extLst>
              <a:ext uri="{FF2B5EF4-FFF2-40B4-BE49-F238E27FC236}">
                <a16:creationId xmlns:a16="http://schemas.microsoft.com/office/drawing/2014/main" id="{1F0DD463-DB93-1C6C-DF3E-DC156FDDDC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419851"/>
              </p:ext>
            </p:extLst>
          </p:nvPr>
        </p:nvGraphicFramePr>
        <p:xfrm>
          <a:off x="4386834" y="4683445"/>
          <a:ext cx="35306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30520" imgH="1244520" progId="Equation.DSMT4">
                  <p:embed/>
                </p:oleObj>
              </mc:Choice>
              <mc:Fallback>
                <p:oleObj name="Equation" r:id="rId8" imgW="3530520" imgH="1244520" progId="Equation.DSMT4">
                  <p:embed/>
                  <p:pic>
                    <p:nvPicPr>
                      <p:cNvPr id="16" name="Object 12">
                        <a:extLst>
                          <a:ext uri="{FF2B5EF4-FFF2-40B4-BE49-F238E27FC236}">
                            <a16:creationId xmlns:a16="http://schemas.microsoft.com/office/drawing/2014/main" id="{AC4D86B4-1A60-490F-9084-73327CA643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834" y="4683445"/>
                        <a:ext cx="35306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>
            <a:extLst>
              <a:ext uri="{FF2B5EF4-FFF2-40B4-BE49-F238E27FC236}">
                <a16:creationId xmlns:a16="http://schemas.microsoft.com/office/drawing/2014/main" id="{78A9B8B0-4068-4F7A-8427-6642EC9A9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31" y="-8071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</p:spTree>
    <p:extLst>
      <p:ext uri="{BB962C8B-B14F-4D97-AF65-F5344CB8AC3E}">
        <p14:creationId xmlns:p14="http://schemas.microsoft.com/office/powerpoint/2010/main" val="351512512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  <p:bldP spid="10" grpId="0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7">
            <a:extLst>
              <a:ext uri="{FF2B5EF4-FFF2-40B4-BE49-F238E27FC236}">
                <a16:creationId xmlns:a16="http://schemas.microsoft.com/office/drawing/2014/main" id="{6C576AD7-54C9-4E6A-9CDD-77CF2A9AA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179" y="1112840"/>
            <a:ext cx="86355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3.4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中的两种解法是求解这类问题常用的两种方法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90EF9C4-FDF6-4982-B435-A535E5146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03" y="1723824"/>
            <a:ext cx="863557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比较起来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解法二较简单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但解法二只适用于系数矩阵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4ABE016F-23AD-4F6C-BF7F-1710DD374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582" y="2338244"/>
            <a:ext cx="2858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为方阵的情形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3A51F3A6-8386-4DB1-9109-28E9318B1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4397" y="2343666"/>
            <a:ext cx="616919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若系数矩阵不是方阵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则只能用解法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0F1A73BF-90DC-41D6-A998-8B4A82809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16" y="2947611"/>
            <a:ext cx="444100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即初等行变换的方法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98B38965-DB28-4291-8D5F-C7DB360E9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860" y="2944085"/>
            <a:ext cx="45992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需要注意的是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在对含参数</a:t>
            </a:r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429F5A30-3F63-42CF-B3E0-0E2E8E060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15" y="3592136"/>
            <a:ext cx="863557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的矩阵作初等行变换时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如在例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3.4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中对矩阵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施行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A0AA0863-EE2E-4017-BC89-8AE282F5E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489" y="4247353"/>
            <a:ext cx="86199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初等行变换时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由于</a:t>
            </a:r>
            <a:r>
              <a:rPr lang="zh-CN" altLang="en-US" b="1" i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ea typeface="华文中宋" pitchFamily="2" charset="-122"/>
                <a:cs typeface="Times New Roman" pitchFamily="18" charset="0"/>
              </a:rPr>
              <a:t>-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 + 2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等因式可以等于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0,</a:t>
            </a:r>
            <a:r>
              <a:rPr lang="en-US" altLang="zh-CN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BA44D516-E43F-4FD5-9EFF-F164F7479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33" y="4974483"/>
            <a:ext cx="307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故不宜做诸如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246459C6-691F-43CA-9589-32680A0DF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354" y="4992404"/>
            <a:ext cx="27234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这样的变换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91E5BC74-E6BD-4B05-A2EE-0B1F00AB4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904" y="5719534"/>
            <a:ext cx="71966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如果确需作这样的变换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则需要单独讨论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5CBEEF03-CE78-4552-B0A7-CE75966014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874021"/>
              </p:ext>
            </p:extLst>
          </p:nvPr>
        </p:nvGraphicFramePr>
        <p:xfrm>
          <a:off x="2856344" y="4805482"/>
          <a:ext cx="3073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320" imgH="799920" progId="Equation.DSMT4">
                  <p:embed/>
                </p:oleObj>
              </mc:Choice>
              <mc:Fallback>
                <p:oleObj name="Equation" r:id="rId2" imgW="3073320" imgH="799920" progId="Equation.DSMT4">
                  <p:embed/>
                  <p:pic>
                    <p:nvPicPr>
                      <p:cNvPr id="19" name="Object 19">
                        <a:extLst>
                          <a:ext uri="{FF2B5EF4-FFF2-40B4-BE49-F238E27FC236}">
                            <a16:creationId xmlns:a16="http://schemas.microsoft.com/office/drawing/2014/main" id="{5DD2AFC9-4318-48BD-8059-B72F1DC05F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6344" y="4805482"/>
                        <a:ext cx="3073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7">
            <a:extLst>
              <a:ext uri="{FF2B5EF4-FFF2-40B4-BE49-F238E27FC236}">
                <a16:creationId xmlns:a16="http://schemas.microsoft.com/office/drawing/2014/main" id="{0F7F7FFF-8DD3-48BB-99C6-523CAEA88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818" y="548680"/>
            <a:ext cx="1368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评注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D8F20102-8CB0-4823-8F4B-3FE10FD4F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31" y="-8071"/>
            <a:ext cx="73981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---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线性方程组的解法实例</a:t>
            </a:r>
          </a:p>
        </p:txBody>
      </p:sp>
    </p:spTree>
    <p:extLst>
      <p:ext uri="{BB962C8B-B14F-4D97-AF65-F5344CB8AC3E}">
        <p14:creationId xmlns:p14="http://schemas.microsoft.com/office/powerpoint/2010/main" val="33370523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4">
            <a:extLst>
              <a:ext uri="{FF2B5EF4-FFF2-40B4-BE49-F238E27FC236}">
                <a16:creationId xmlns:a16="http://schemas.microsoft.com/office/drawing/2014/main" id="{86EE7C4C-9FA3-4791-A319-DD503FB59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3516909"/>
            <a:ext cx="43924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有非零解的充要条件是</a:t>
            </a:r>
            <a:endParaRPr lang="en-US" altLang="zh-CN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9269B68-020C-457A-987A-82F1CDAB8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24DDE580-1A32-473D-B175-404F07419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5" y="-8094"/>
            <a:ext cx="6886260" cy="49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关于线性方程组的两个基本定理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4E4A303C-C093-48E7-9BC3-8B69E6C19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071369"/>
            <a:ext cx="43924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若在定理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中取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0,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CC62AADD-7383-431F-8E19-1E90FE89C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440" y="1778588"/>
            <a:ext cx="581276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方程组理论的一个重要定理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D637B3B5-8E9B-4441-ACB6-7C656361E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16" y="2831688"/>
            <a:ext cx="174899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2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38FCD737-7203-47D3-A26E-03DBE0B58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58" y="3525928"/>
            <a:ext cx="43005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的充要条件是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9BF2E493-7C9E-44C8-8250-8C0F62FBC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7" y="4231175"/>
            <a:ext cx="55446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且其通解中有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r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个任意常数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716AE528-B370-4ECA-B55F-E3F517557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392" y="2826925"/>
            <a:ext cx="63960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元齐次线性方程组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只有零解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A8985BD2-D688-6914-4284-8BAB41BA2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656" y="1075477"/>
            <a:ext cx="38758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则可得关于齐次线性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09BE4F31-6724-24D4-FEBA-017CE5E3D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58" y="4231175"/>
            <a:ext cx="25861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r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129878431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  <p:bldP spid="9" grpId="0"/>
      <p:bldP spid="10" grpId="0" build="p" autoUpdateAnimBg="0" advAuto="0"/>
      <p:bldP spid="11" grpId="0" build="p" autoUpdateAnimBg="0"/>
      <p:bldP spid="12" grpId="0" build="p" autoUpdateAnimBg="0"/>
      <p:bldP spid="13" grpId="0" build="p" autoUpdateAnimBg="0" advAuto="0"/>
      <p:bldP spid="14" grpId="0" build="p" autoUpdateAnimBg="0"/>
      <p:bldP spid="8" grpId="0" build="p" autoUpdateAnimBg="0" advAuto="0"/>
      <p:bldP spid="17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C0C9A0BD-D1E1-4351-9D6E-E9F63D034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002180"/>
            <a:ext cx="18209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cs typeface="Times New Roman" pitchFamily="18" charset="0"/>
              </a:rPr>
              <a:t>3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9080EEE9-41DA-4404-827B-B54420B81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954" y="3419405"/>
            <a:ext cx="40910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且非齐次线性方程组</a:t>
            </a:r>
            <a:endParaRPr lang="en-US" altLang="zh-CN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6EF89329-4678-4DDA-B6E0-7822773CF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1995434"/>
            <a:ext cx="62957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元非齐次线性方程组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有解的</a:t>
            </a:r>
            <a:endParaRPr lang="zh-CN" altLang="en-US" b="1" i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29F2F6CE-3CA0-494C-975F-5F722CFBC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72" y="2718337"/>
            <a:ext cx="84256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充要条件是系数矩阵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sz="16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的秩等于增广矩阵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16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16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C8430F-2AB0-5D75-4077-CD125A0F663E}"/>
              </a:ext>
            </a:extLst>
          </p:cNvPr>
          <p:cNvSpPr txBox="1"/>
          <p:nvPr/>
        </p:nvSpPr>
        <p:spPr>
          <a:xfrm>
            <a:off x="971600" y="692696"/>
            <a:ext cx="79519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rgbClr val="0000FF"/>
                </a:solidFill>
                <a:ea typeface="黑体" panose="02010609060101010101" pitchFamily="49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3.1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亦可得非齐次线性方程组理论的一个</a:t>
            </a:r>
            <a:endParaRPr lang="en-US" altLang="zh-CN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96FC21-F26F-B3C4-5C61-3FB5165FC3B0}"/>
              </a:ext>
            </a:extLst>
          </p:cNvPr>
          <p:cNvSpPr txBox="1"/>
          <p:nvPr/>
        </p:nvSpPr>
        <p:spPr>
          <a:xfrm>
            <a:off x="514098" y="1361397"/>
            <a:ext cx="31313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最基本的定理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3BEE08FA-B8C7-4C29-B37A-DD2C792F5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684" y="3417162"/>
            <a:ext cx="136333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29B94CB3-22AB-3690-C2C0-174370843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12" y="4169442"/>
            <a:ext cx="82787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Ax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 =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有唯一解的充要条件是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 = 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 =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DE53F496-FCD4-5EBA-B8D5-71B9C0704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610" y="3417162"/>
            <a:ext cx="33843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 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),</a:t>
            </a:r>
          </a:p>
        </p:txBody>
      </p:sp>
      <p:sp>
        <p:nvSpPr>
          <p:cNvPr id="21" name="Text Box 14">
            <a:extLst>
              <a:ext uri="{FF2B5EF4-FFF2-40B4-BE49-F238E27FC236}">
                <a16:creationId xmlns:a16="http://schemas.microsoft.com/office/drawing/2014/main" id="{7836D532-2703-9B7B-7ADD-5B0264882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72" y="4885046"/>
            <a:ext cx="82795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有无穷多组解的充要条件是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 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r</a:t>
            </a:r>
            <a:r>
              <a:rPr lang="en-US" altLang="zh-CN" sz="20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22" name="Text Box 8">
            <a:extLst>
              <a:ext uri="{FF2B5EF4-FFF2-40B4-BE49-F238E27FC236}">
                <a16:creationId xmlns:a16="http://schemas.microsoft.com/office/drawing/2014/main" id="{8F2C05D0-35DD-D052-1B1B-D8D4A5346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72" y="5600650"/>
            <a:ext cx="64905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且其通解中含有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latin typeface="Symbol" panose="05050102010706020507" pitchFamily="18" charset="2"/>
                <a:ea typeface="黑体" panose="02010609060101010101" pitchFamily="49" charset="-122"/>
              </a:rPr>
              <a:t>-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r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个自由未知量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9EE569C5-ADD6-44D8-B932-24232B65C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5" y="-8094"/>
            <a:ext cx="6886260" cy="49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关于线性方程组的两个基本定理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41643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2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75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 build="p" autoUpdateAnimBg="0"/>
      <p:bldP spid="10" grpId="0" build="p" autoUpdateAnimBg="0"/>
      <p:bldP spid="13" grpId="0" build="p" autoUpdateAnimBg="0"/>
      <p:bldP spid="15" grpId="0"/>
      <p:bldP spid="16" grpId="0"/>
      <p:bldP spid="18" grpId="0" build="p" autoUpdateAnimBg="0"/>
      <p:bldP spid="19" grpId="0" build="p" autoUpdateAnimBg="0"/>
      <p:bldP spid="20" grpId="0" build="p" autoUpdateAnimBg="0"/>
      <p:bldP spid="21" grpId="0" build="p" autoUpdateAnimBg="0"/>
      <p:bldP spid="22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>
            <a:extLst>
              <a:ext uri="{FF2B5EF4-FFF2-40B4-BE49-F238E27FC236}">
                <a16:creationId xmlns:a16="http://schemas.microsoft.com/office/drawing/2014/main" id="{0CD58999-8328-44DB-AA23-8163D4E69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87163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关于矩阵方程的解的两个重要结论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01E44195-D2DA-429F-B507-14422957E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81" y="985236"/>
            <a:ext cx="467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为了后续内容论述的需要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521E23F-B51A-47C5-BB37-866E04974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3" y="1704374"/>
            <a:ext cx="223224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矩阵方程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8D74C654-2835-48A2-A5E5-051F19332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985236"/>
            <a:ext cx="406794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下面把定理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推广到</a:t>
            </a:r>
          </a:p>
        </p:txBody>
      </p:sp>
    </p:spTree>
    <p:extLst>
      <p:ext uri="{BB962C8B-B14F-4D97-AF65-F5344CB8AC3E}">
        <p14:creationId xmlns:p14="http://schemas.microsoft.com/office/powerpoint/2010/main" val="1390230948"/>
      </p:ext>
    </p:extLst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 build="p" autoUpdateAnimBg="0" advAuto="0"/>
      <p:bldP spid="10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>
            <a:extLst>
              <a:ext uri="{FF2B5EF4-FFF2-40B4-BE49-F238E27FC236}">
                <a16:creationId xmlns:a16="http://schemas.microsoft.com/office/drawing/2014/main" id="{0232152B-4B1D-481F-9230-4CF10D83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"/>
            <a:ext cx="7428873" cy="49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关于矩阵方程的解的两个重要结论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4AED162-4049-485C-B456-71188E062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535" y="935626"/>
            <a:ext cx="193628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cs typeface="Times New Roman" pitchFamily="18" charset="0"/>
              </a:rPr>
              <a:t>4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040241C-6E18-44C6-8488-6425219AF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722" y="1647953"/>
            <a:ext cx="2959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).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AE37D1BF-CB89-4DD8-BD5D-F0520BB4F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7427" y="935626"/>
            <a:ext cx="627277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矩阵方程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有解的充要条件是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1AC300E4-C6D2-46FF-91D9-DC6BFE31A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534" y="2387475"/>
            <a:ext cx="1216201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CA7E07E9-E153-4A98-97F4-A446E1EF1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2390650"/>
            <a:ext cx="627277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矩阵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518878A8-78FC-4BC0-9A3A-2BF2A1F21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00" y="3094346"/>
            <a:ext cx="3600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为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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2A056308-9DA3-4E6A-94F1-9CE877A0A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3094346"/>
            <a:ext cx="3878281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把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按列分块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A2FF076F-105B-4543-AEAA-0CA7850A4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8868" y="3815268"/>
            <a:ext cx="6926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l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l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),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4B258BAF-B70F-4FE9-A867-453E52083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41" y="4534208"/>
            <a:ext cx="730348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则矩阵方程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等价于</a:t>
            </a:r>
            <a:r>
              <a:rPr lang="zh-CN" altLang="en-US" sz="10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个向量方程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1C3CC1C4-5234-4D4E-A158-085086A1D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5267329"/>
            <a:ext cx="446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Ax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i    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2,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l</a:t>
            </a:r>
            <a:r>
              <a:rPr lang="en-US" altLang="zh-CN" sz="1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).</a:t>
            </a: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E95AA6A6-A1BC-99A5-E2C2-D67018607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085" y="3083946"/>
            <a:ext cx="122413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记作</a:t>
            </a:r>
          </a:p>
        </p:txBody>
      </p:sp>
    </p:spTree>
    <p:extLst>
      <p:ext uri="{BB962C8B-B14F-4D97-AF65-F5344CB8AC3E}">
        <p14:creationId xmlns:p14="http://schemas.microsoft.com/office/powerpoint/2010/main" val="226332733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7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 build="p" autoUpdateAnimBg="0" advAuto="0"/>
      <p:bldP spid="10" grpId="0" build="p" autoUpdateAnimBg="0"/>
      <p:bldP spid="11" grpId="0"/>
      <p:bldP spid="12" grpId="0" build="p" autoUpdateAnimBg="0"/>
      <p:bldP spid="13" grpId="0" build="p" autoUpdateAnimBg="0"/>
      <p:bldP spid="14" grpId="0" build="p" autoUpdateAnimBg="0"/>
      <p:bldP spid="15" grpId="0" build="p" autoUpdateAnimBg="0"/>
      <p:bldP spid="16" grpId="0" build="p" autoUpdateAnimBg="0"/>
      <p:bldP spid="17" grpId="0" build="p" autoUpdateAnimBg="0" advAuto="0"/>
      <p:bldP spid="2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>
            <a:extLst>
              <a:ext uri="{FF2B5EF4-FFF2-40B4-BE49-F238E27FC236}">
                <a16:creationId xmlns:a16="http://schemas.microsoft.com/office/drawing/2014/main" id="{96936B70-36B0-46D8-8BE7-3F6543DC7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9" y="-9328"/>
            <a:ext cx="7187164" cy="49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关于矩阵方程的解的两个重要结论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7EE4F71-AEDC-4C6C-97CB-E9E1B76B6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698" y="692696"/>
            <a:ext cx="24200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先证充分性</a:t>
            </a:r>
            <a:r>
              <a:rPr lang="en-US" altLang="zh-CN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kern="100" dirty="0">
              <a:solidFill>
                <a:srgbClr val="0000FF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95439280-4C84-4CEF-AA4C-1DE02F348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23" y="1357335"/>
            <a:ext cx="31683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DCF2817-B4F8-4E57-9467-EE3975C6E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942" y="1373492"/>
            <a:ext cx="11521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由于</a:t>
            </a:r>
          </a:p>
        </p:txBody>
      </p:sp>
      <p:graphicFrame>
        <p:nvGraphicFramePr>
          <p:cNvPr id="11" name="Object 23">
            <a:extLst>
              <a:ext uri="{FF2B5EF4-FFF2-40B4-BE49-F238E27FC236}">
                <a16:creationId xmlns:a16="http://schemas.microsoft.com/office/drawing/2014/main" id="{CC4A72B9-405A-4ADA-A97F-A6AD058BF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746976"/>
              </p:ext>
            </p:extLst>
          </p:nvPr>
        </p:nvGraphicFramePr>
        <p:xfrm>
          <a:off x="4492893" y="1460910"/>
          <a:ext cx="3708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08360" imgH="419040" progId="Equation.DSMT4">
                  <p:embed/>
                </p:oleObj>
              </mc:Choice>
              <mc:Fallback>
                <p:oleObj name="Equation" r:id="rId2" imgW="3708360" imgH="419040" progId="Equation.DSMT4">
                  <p:embed/>
                  <p:pic>
                    <p:nvPicPr>
                      <p:cNvPr id="11" name="Object 23">
                        <a:extLst>
                          <a:ext uri="{FF2B5EF4-FFF2-40B4-BE49-F238E27FC236}">
                            <a16:creationId xmlns:a16="http://schemas.microsoft.com/office/drawing/2014/main" id="{DF09AAFA-C84B-4587-9959-3E8D6CCB57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893" y="1460910"/>
                        <a:ext cx="3708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0">
            <a:extLst>
              <a:ext uri="{FF2B5EF4-FFF2-40B4-BE49-F238E27FC236}">
                <a16:creationId xmlns:a16="http://schemas.microsoft.com/office/drawing/2014/main" id="{E4BCDCFF-8688-4F10-8B12-04BC6B064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01" y="2083754"/>
            <a:ext cx="1368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故有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264450F9-E86F-41DD-805E-5735522BCE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326614"/>
              </p:ext>
            </p:extLst>
          </p:nvPr>
        </p:nvGraphicFramePr>
        <p:xfrm>
          <a:off x="1315975" y="2172192"/>
          <a:ext cx="2286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19040" progId="Equation.DSMT4">
                  <p:embed/>
                </p:oleObj>
              </mc:Choice>
              <mc:Fallback>
                <p:oleObj name="Equation" r:id="rId4" imgW="2286000" imgH="419040" progId="Equation.DSMT4">
                  <p:embed/>
                  <p:pic>
                    <p:nvPicPr>
                      <p:cNvPr id="13" name="Object 23">
                        <a:extLst>
                          <a:ext uri="{FF2B5EF4-FFF2-40B4-BE49-F238E27FC236}">
                            <a16:creationId xmlns:a16="http://schemas.microsoft.com/office/drawing/2014/main" id="{97E72743-2E2D-4398-B2EC-DA01D29EF4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975" y="2172192"/>
                        <a:ext cx="2286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>
            <a:extLst>
              <a:ext uri="{FF2B5EF4-FFF2-40B4-BE49-F238E27FC236}">
                <a16:creationId xmlns:a16="http://schemas.microsoft.com/office/drawing/2014/main" id="{EDC219D1-D5A1-4C8C-9993-23ECEC9EE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799" y="2078639"/>
            <a:ext cx="53640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根据定理</a:t>
            </a:r>
            <a:r>
              <a:rPr lang="zh-CN" altLang="en-US" sz="14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3.3</a:t>
            </a:r>
            <a:r>
              <a:rPr lang="en-US" altLang="zh-CN" sz="16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可知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l</a:t>
            </a:r>
            <a:r>
              <a:rPr lang="en-US" altLang="zh-CN" sz="16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个向量方程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87F768D9-0CA7-481D-84CF-8DAAD27E1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9089" y="2818396"/>
            <a:ext cx="403102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Ax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i     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2,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l</a:t>
            </a:r>
            <a:r>
              <a:rPr lang="en-US" altLang="zh-CN" sz="1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4CD33547-215F-48D6-A41A-0A1CBF3B9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02" y="3539739"/>
            <a:ext cx="21087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都有解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210DDF15-E23C-4DE8-98FF-BAE9F99D7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699" y="4242815"/>
            <a:ext cx="24200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再证必要</a:t>
            </a:r>
            <a:r>
              <a:rPr lang="zh-CN" altLang="en-US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性</a:t>
            </a:r>
            <a:r>
              <a:rPr lang="en-US" altLang="zh-CN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lang="zh-CN" altLang="en-US" b="1" kern="100" dirty="0">
              <a:solidFill>
                <a:srgbClr val="0000FF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D2A373E3-82C5-4EB4-8B47-D6EAD6CC7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24" y="4945891"/>
            <a:ext cx="475339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因为矩阵方程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有解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21D921BE-E9E8-49A4-9393-E4EE523D9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9059" y="4945890"/>
            <a:ext cx="35712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从而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l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个向量方程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82689C8A-4283-4A55-9A34-A05FC8816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71" y="5605209"/>
            <a:ext cx="5000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Ax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i 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1,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2,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l</a:t>
            </a:r>
            <a:r>
              <a:rPr lang="en-US" altLang="zh-CN" sz="1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都有解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490200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25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 autoUpdateAnimBg="0"/>
      <p:bldP spid="10" grpId="0"/>
      <p:bldP spid="12" grpId="0" build="p" autoUpdateAnimBg="0" advAuto="0"/>
      <p:bldP spid="14" grpId="0" build="p" autoUpdateAnimBg="0"/>
      <p:bldP spid="16" grpId="0"/>
      <p:bldP spid="17" grpId="0"/>
      <p:bldP spid="19" grpId="0"/>
      <p:bldP spid="20" grpId="0" build="p" autoUpdateAnimBg="0"/>
      <p:bldP spid="21" grpId="0" build="p" autoUpdateAnimBg="0"/>
      <p:bldP spid="22" grpId="0" build="p" autoUpdateAnimBg="0" advAuto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0767FBA-7719-45AE-BAE4-06E5A3D9C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2C1066C7-8B5F-480A-81A0-47D22374D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986" y="1539457"/>
            <a:ext cx="255760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将</a:t>
            </a:r>
            <a:r>
              <a:rPr lang="zh-CN" altLang="en-US" sz="14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i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化为</a:t>
            </a:r>
            <a:r>
              <a:rPr lang="zh-CN" altLang="en-US" sz="14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0,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802BF59E-3016-4FDD-8319-2AE59E7A0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916" y="848509"/>
            <a:ext cx="60486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对增广矩阵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i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施行初等列变换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23">
            <a:extLst>
              <a:ext uri="{FF2B5EF4-FFF2-40B4-BE49-F238E27FC236}">
                <a16:creationId xmlns:a16="http://schemas.microsoft.com/office/drawing/2014/main" id="{47C3DC57-14D8-4693-AF5A-80E6158C6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861760"/>
              </p:ext>
            </p:extLst>
          </p:nvPr>
        </p:nvGraphicFramePr>
        <p:xfrm>
          <a:off x="1096202" y="1587802"/>
          <a:ext cx="3873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73240" imgH="419040" progId="Equation.DSMT4">
                  <p:embed/>
                </p:oleObj>
              </mc:Choice>
              <mc:Fallback>
                <p:oleObj name="Equation" r:id="rId3" imgW="3873240" imgH="41904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17F27D53-2E79-4C17-AE4D-EB2AB5D41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202" y="1587802"/>
                        <a:ext cx="3873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2">
            <a:extLst>
              <a:ext uri="{FF2B5EF4-FFF2-40B4-BE49-F238E27FC236}">
                <a16:creationId xmlns:a16="http://schemas.microsoft.com/office/drawing/2014/main" id="{D06C9099-C844-455F-A978-32EFF2475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973" y="2347033"/>
            <a:ext cx="86876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即</a:t>
            </a:r>
          </a:p>
        </p:txBody>
      </p:sp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B3EE9EBC-70E4-46E5-A0A3-18D4B14AC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312266"/>
              </p:ext>
            </p:extLst>
          </p:nvPr>
        </p:nvGraphicFramePr>
        <p:xfrm>
          <a:off x="3556000" y="2177195"/>
          <a:ext cx="2032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647640" progId="Equation.DSMT4">
                  <p:embed/>
                </p:oleObj>
              </mc:Choice>
              <mc:Fallback>
                <p:oleObj name="Equation" r:id="rId5" imgW="2031840" imgH="647640" progId="Equation.DSMT4">
                  <p:embed/>
                  <p:pic>
                    <p:nvPicPr>
                      <p:cNvPr id="18" name="Object 23">
                        <a:extLst>
                          <a:ext uri="{FF2B5EF4-FFF2-40B4-BE49-F238E27FC236}">
                            <a16:creationId xmlns:a16="http://schemas.microsoft.com/office/drawing/2014/main" id="{ACCF41A1-9396-4611-A3FF-A651CDBF02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2177195"/>
                        <a:ext cx="20320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057B1816-1B9D-46C7-9E35-F868AEF09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925799"/>
              </p:ext>
            </p:extLst>
          </p:nvPr>
        </p:nvGraphicFramePr>
        <p:xfrm>
          <a:off x="3517900" y="3746844"/>
          <a:ext cx="2108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08160" imgH="622080" progId="Equation.DSMT4">
                  <p:embed/>
                </p:oleObj>
              </mc:Choice>
              <mc:Fallback>
                <p:oleObj name="Equation" r:id="rId7" imgW="2108160" imgH="622080" progId="Equation.DSMT4">
                  <p:embed/>
                  <p:pic>
                    <p:nvPicPr>
                      <p:cNvPr id="22" name="Object 23">
                        <a:extLst>
                          <a:ext uri="{FF2B5EF4-FFF2-40B4-BE49-F238E27FC236}">
                            <a16:creationId xmlns:a16="http://schemas.microsoft.com/office/drawing/2014/main" id="{626A72D7-BEF7-42D0-BC3A-5D0EFDA207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3746844"/>
                        <a:ext cx="21082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>
            <a:extLst>
              <a:ext uri="{FF2B5EF4-FFF2-40B4-BE49-F238E27FC236}">
                <a16:creationId xmlns:a16="http://schemas.microsoft.com/office/drawing/2014/main" id="{728917DB-6B72-4659-AC70-F9F71C3A8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98" y="3073434"/>
            <a:ext cx="6985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1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可经初等列变换化为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O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), 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3BCFB945-4C91-4D24-9180-376093AD9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98" y="3846070"/>
            <a:ext cx="101252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即</a:t>
            </a: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EFF329E-7858-4FFE-9734-AB9B4ADB7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98" y="4611518"/>
            <a:ext cx="101252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故有</a:t>
            </a: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D5AB5376-0137-4DCD-B446-DFD2D93F0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4622523"/>
            <a:ext cx="3024336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).</a:t>
            </a:r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DCBAF2B3-BA52-479A-AA58-AE85EE23C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48" y="1808"/>
            <a:ext cx="715816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关于矩阵方程的解的两个重要结论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86708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/>
      <p:bldP spid="9" grpId="0" build="p" autoUpdateAnimBg="0"/>
      <p:bldP spid="11" grpId="0"/>
      <p:bldP spid="16" grpId="0" build="p" autoUpdateAnimBg="0"/>
      <p:bldP spid="17" grpId="0" build="p" autoUpdateAnimBg="0"/>
      <p:bldP spid="18" grpId="0" build="p" autoUpdateAnimBg="0" advAuto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18">
            <a:extLst>
              <a:ext uri="{FF2B5EF4-FFF2-40B4-BE49-F238E27FC236}">
                <a16:creationId xmlns:a16="http://schemas.microsoft.com/office/drawing/2014/main" id="{1B6E6481-80CA-4BEE-9359-3DA1DBD52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370" y="4506949"/>
            <a:ext cx="3543251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由前面的证明可知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370F67F6-3027-48FC-882B-D54032F2D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1" y="-2154"/>
            <a:ext cx="715816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关于矩阵方程的解的两个重要结论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6AD8DBEF-4790-4776-87A1-1FB97E2A1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983" y="1996463"/>
            <a:ext cx="2592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AB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68C9FE3E-7DB0-40CF-B76A-B77C1040D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05" y="2628131"/>
            <a:ext cx="445001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于是根据定理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4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可得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916BAF9E-5B0F-4D9D-8FD4-00B29C444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767" y="2628131"/>
            <a:ext cx="303666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).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675DFBE0-606E-4E26-9E7C-7CD84D31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51" y="3258368"/>
            <a:ext cx="423398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又因为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≤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6562A0A1-720F-44EC-B913-67C344CF9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008" y="1996463"/>
            <a:ext cx="583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可知矩阵方程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有解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.</a:t>
            </a:r>
            <a:endParaRPr lang="en-US" altLang="zh-CN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E36755E5-AFE3-4ADC-9D69-BECB5E41A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605" y="3258368"/>
            <a:ext cx="367201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所以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≤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).</a:t>
            </a:r>
          </a:p>
        </p:txBody>
      </p:sp>
      <p:sp>
        <p:nvSpPr>
          <p:cNvPr id="15" name="Rectangle 39">
            <a:extLst>
              <a:ext uri="{FF2B5EF4-FFF2-40B4-BE49-F238E27FC236}">
                <a16:creationId xmlns:a16="http://schemas.microsoft.com/office/drawing/2014/main" id="{B8C748D3-5C38-462C-BCAA-C653CBD7C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312125"/>
            <a:ext cx="12239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4D76B659-AA2E-469E-857F-979E1D1F0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51" y="4515936"/>
            <a:ext cx="329788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1000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T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T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b="1" baseline="30000" dirty="0">
                <a:solidFill>
                  <a:schemeClr val="tx1"/>
                </a:solidFill>
                <a:ea typeface="黑体" panose="02010609060101010101" pitchFamily="49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20CBC29A-2C81-4BF4-AD4F-BF1D0F717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253" y="4519111"/>
            <a:ext cx="269736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C</a:t>
            </a:r>
            <a:r>
              <a:rPr lang="en-US" altLang="zh-CN" b="1" baseline="30000" dirty="0">
                <a:solidFill>
                  <a:schemeClr val="tx1"/>
                </a:solidFill>
                <a:ea typeface="黑体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≤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b="1" baseline="30000" dirty="0">
                <a:solidFill>
                  <a:schemeClr val="tx1"/>
                </a:solidFill>
                <a:ea typeface="黑体" pitchFamily="2" charset="-122"/>
              </a:rPr>
              <a:t>T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53E0CAF4-550B-422A-9F86-EDBA7FE32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12" y="5197708"/>
            <a:ext cx="338390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所以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≤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).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E27E9912-3F8A-479C-A7B5-D016EA6B6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05" y="5842712"/>
            <a:ext cx="6610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综上可得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 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≤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min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{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),</a:t>
            </a:r>
            <a:r>
              <a:rPr lang="en-US" altLang="zh-CN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  <a:sym typeface="Symbol" pitchFamily="18" charset="2"/>
              </a:rPr>
              <a:t>}.</a:t>
            </a:r>
            <a:endParaRPr lang="en-US" altLang="zh-CN" b="1" dirty="0">
              <a:solidFill>
                <a:schemeClr val="tx1"/>
              </a:solidFill>
              <a:ea typeface="黑体" pitchFamily="2" charset="-122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C5DE118C-8D53-436E-927D-54E5F0118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3935" y="685069"/>
            <a:ext cx="627130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设</a:t>
            </a:r>
            <a:r>
              <a:rPr lang="zh-CN" altLang="en-US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AB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latin typeface="+mn-lt"/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则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cs typeface="Times New Roman" panose="02020603050405020304" pitchFamily="18" charset="0"/>
              </a:rPr>
              <a:t>≤</a:t>
            </a:r>
            <a:r>
              <a:rPr lang="zh-CN" altLang="en-US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min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{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),</a:t>
            </a:r>
            <a:r>
              <a:rPr lang="en-US" altLang="zh-CN" sz="2000" b="1" dirty="0">
                <a:solidFill>
                  <a:srgbClr val="0000FF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</a:rPr>
              <a:t>)</a:t>
            </a:r>
            <a:r>
              <a:rPr lang="en-US" altLang="zh-CN" b="1" dirty="0">
                <a:solidFill>
                  <a:srgbClr val="0000FF"/>
                </a:solidFill>
                <a:ea typeface="黑体" pitchFamily="2" charset="-122"/>
                <a:sym typeface="Symbol" pitchFamily="18" charset="2"/>
              </a:rPr>
              <a:t>}.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559FA176-3A22-43A0-1588-8C68D3C1D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171434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5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08EA74DB-0368-8647-CBD6-EB9172BB4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506" y="1299145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先证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≤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).</a:t>
            </a:r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BCCFFD69-44FD-AFEE-1963-57D2A2B75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51" y="3891124"/>
            <a:ext cx="354325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再证</a:t>
            </a:r>
            <a:r>
              <a:rPr lang="zh-CN" altLang="en-US" sz="2000" b="1" dirty="0">
                <a:solidFill>
                  <a:schemeClr val="tx1"/>
                </a:solidFill>
                <a:ea typeface="黑体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≤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黑体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黑体" pitchFamily="2" charset="-122"/>
              </a:rPr>
              <a:t>).</a:t>
            </a:r>
          </a:p>
        </p:txBody>
      </p:sp>
      <p:sp>
        <p:nvSpPr>
          <p:cNvPr id="26" name="Text Box 18">
            <a:extLst>
              <a:ext uri="{FF2B5EF4-FFF2-40B4-BE49-F238E27FC236}">
                <a16:creationId xmlns:a16="http://schemas.microsoft.com/office/drawing/2014/main" id="{668082A6-CC97-C3C1-5CF4-ADF2123E2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05" y="5207954"/>
            <a:ext cx="53662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而矩阵与其转置矩阵的秩相等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282047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utoUpdateAnimBg="0"/>
      <p:bldP spid="9" grpId="0" build="p" autoUpdateAnimBg="0"/>
      <p:bldP spid="10" grpId="0"/>
      <p:bldP spid="11" grpId="0"/>
      <p:bldP spid="12" grpId="0" build="p" autoUpdateAnimBg="0" advAuto="0"/>
      <p:bldP spid="13" grpId="0" build="p" autoUpdateAnimBg="0"/>
      <p:bldP spid="14" grpId="0" build="p" autoUpdateAnimBg="0" advAuto="0"/>
      <p:bldP spid="15" grpId="0"/>
      <p:bldP spid="16" grpId="0" build="p" autoUpdateAnimBg="0"/>
      <p:bldP spid="17" grpId="0" build="p" autoUpdateAnimBg="0"/>
      <p:bldP spid="18" grpId="0"/>
      <p:bldP spid="20" grpId="0"/>
      <p:bldP spid="23" grpId="0"/>
      <p:bldP spid="2" grpId="0" build="p" autoUpdateAnimBg="0"/>
      <p:bldP spid="24" grpId="0" build="p" autoUpdateAnimBg="0" advAuto="0"/>
      <p:bldP spid="25" grpId="0" build="p" autoUpdateAnimBg="0" advAuto="0"/>
      <p:bldP spid="26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F5914147-0258-417B-90C5-B158D7B2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00" y="0"/>
            <a:ext cx="68862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线性方程组解法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的应用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D9C919-1A5A-465C-9D92-33EAF484D5AF}"/>
              </a:ext>
            </a:extLst>
          </p:cNvPr>
          <p:cNvSpPr txBox="1"/>
          <p:nvPr/>
        </p:nvSpPr>
        <p:spPr>
          <a:xfrm>
            <a:off x="971600" y="692696"/>
            <a:ext cx="7992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线性方程组在许多领域中有着极其广泛的应用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D21F1C-4009-4101-9519-144B257B4EC2}"/>
              </a:ext>
            </a:extLst>
          </p:cNvPr>
          <p:cNvSpPr txBox="1"/>
          <p:nvPr/>
        </p:nvSpPr>
        <p:spPr>
          <a:xfrm>
            <a:off x="578166" y="2130581"/>
            <a:ext cx="50667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应用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1: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配平化学方程式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485605-2612-4AA6-BB63-7AD93BAFAA04}"/>
              </a:ext>
            </a:extLst>
          </p:cNvPr>
          <p:cNvSpPr txBox="1"/>
          <p:nvPr/>
        </p:nvSpPr>
        <p:spPr>
          <a:xfrm>
            <a:off x="578166" y="1405448"/>
            <a:ext cx="6444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下面介绍线性方程组的几种实际应用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2BD41B-8BAB-4764-83FB-CDEE69E2183A}"/>
              </a:ext>
            </a:extLst>
          </p:cNvPr>
          <p:cNvSpPr txBox="1"/>
          <p:nvPr/>
        </p:nvSpPr>
        <p:spPr>
          <a:xfrm>
            <a:off x="562852" y="2866184"/>
            <a:ext cx="8257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在光合作用中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植物利用太阳提供的辐射能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将二氧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ADC8D51-837A-449C-9D51-4FD4372C6467}"/>
              </a:ext>
            </a:extLst>
          </p:cNvPr>
          <p:cNvGrpSpPr/>
          <p:nvPr/>
        </p:nvGrpSpPr>
        <p:grpSpPr>
          <a:xfrm>
            <a:off x="562852" y="3578936"/>
            <a:ext cx="8140995" cy="523220"/>
            <a:chOff x="581723" y="3690780"/>
            <a:chExt cx="8140995" cy="52322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C724607-15DE-4CBC-B025-E9F585EF47AA}"/>
                </a:ext>
              </a:extLst>
            </p:cNvPr>
            <p:cNvSpPr txBox="1"/>
            <p:nvPr/>
          </p:nvSpPr>
          <p:spPr>
            <a:xfrm>
              <a:off x="581723" y="3690780"/>
              <a:ext cx="81409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化碳        </a:t>
              </a:r>
              <a:r>
                <a:rPr lang="zh-CN" altLang="en-US" sz="20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和水         转化为葡萄糖              </a:t>
              </a:r>
              <a:r>
                <a:rPr lang="zh-CN" altLang="en-US" sz="16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和</a:t>
              </a:r>
            </a:p>
          </p:txBody>
        </p:sp>
        <p:graphicFrame>
          <p:nvGraphicFramePr>
            <p:cNvPr id="13" name="Object 23">
              <a:extLst>
                <a:ext uri="{FF2B5EF4-FFF2-40B4-BE49-F238E27FC236}">
                  <a16:creationId xmlns:a16="http://schemas.microsoft.com/office/drawing/2014/main" id="{38E5E040-D54C-4F81-8803-0DA3D6F852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1452541"/>
                </p:ext>
              </p:extLst>
            </p:nvPr>
          </p:nvGraphicFramePr>
          <p:xfrm>
            <a:off x="1420813" y="3794125"/>
            <a:ext cx="901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01440" imgH="419040" progId="Equation.DSMT4">
                    <p:embed/>
                  </p:oleObj>
                </mc:Choice>
                <mc:Fallback>
                  <p:oleObj name="Equation" r:id="rId2" imgW="901440" imgH="419040" progId="Equation.DSMT4">
                    <p:embed/>
                    <p:pic>
                      <p:nvPicPr>
                        <p:cNvPr id="14" name="Object 23">
                          <a:extLst>
                            <a:ext uri="{FF2B5EF4-FFF2-40B4-BE49-F238E27FC236}">
                              <a16:creationId xmlns:a16="http://schemas.microsoft.com/office/drawing/2014/main" id="{66D987BC-442D-4E53-BFAB-DB3A2073DC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813" y="3794125"/>
                          <a:ext cx="9017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3">
              <a:extLst>
                <a:ext uri="{FF2B5EF4-FFF2-40B4-BE49-F238E27FC236}">
                  <a16:creationId xmlns:a16="http://schemas.microsoft.com/office/drawing/2014/main" id="{C6AFE772-D439-4D3F-80BF-1841F5653A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7988859"/>
                </p:ext>
              </p:extLst>
            </p:nvPr>
          </p:nvGraphicFramePr>
          <p:xfrm>
            <a:off x="3167063" y="3789363"/>
            <a:ext cx="9144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14400" imgH="419040" progId="Equation.DSMT4">
                    <p:embed/>
                  </p:oleObj>
                </mc:Choice>
                <mc:Fallback>
                  <p:oleObj name="Equation" r:id="rId4" imgW="914400" imgH="419040" progId="Equation.DSMT4">
                    <p:embed/>
                    <p:pic>
                      <p:nvPicPr>
                        <p:cNvPr id="14" name="Object 23">
                          <a:extLst>
                            <a:ext uri="{FF2B5EF4-FFF2-40B4-BE49-F238E27FC236}">
                              <a16:creationId xmlns:a16="http://schemas.microsoft.com/office/drawing/2014/main" id="{66D987BC-442D-4E53-BFAB-DB3A2073DC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7063" y="3789363"/>
                          <a:ext cx="9144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3">
              <a:extLst>
                <a:ext uri="{FF2B5EF4-FFF2-40B4-BE49-F238E27FC236}">
                  <a16:creationId xmlns:a16="http://schemas.microsoft.com/office/drawing/2014/main" id="{991EF519-88A6-4B5B-8DE5-B2E6D06111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2156731"/>
                </p:ext>
              </p:extLst>
            </p:nvPr>
          </p:nvGraphicFramePr>
          <p:xfrm>
            <a:off x="6329363" y="3775075"/>
            <a:ext cx="1524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3880" imgH="419040" progId="Equation.DSMT4">
                    <p:embed/>
                  </p:oleObj>
                </mc:Choice>
                <mc:Fallback>
                  <p:oleObj name="Equation" r:id="rId6" imgW="1523880" imgH="419040" progId="Equation.DSMT4">
                    <p:embed/>
                    <p:pic>
                      <p:nvPicPr>
                        <p:cNvPr id="14" name="Object 23">
                          <a:extLst>
                            <a:ext uri="{FF2B5EF4-FFF2-40B4-BE49-F238E27FC236}">
                              <a16:creationId xmlns:a16="http://schemas.microsoft.com/office/drawing/2014/main" id="{66D987BC-442D-4E53-BFAB-DB3A2073DC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9363" y="3775075"/>
                          <a:ext cx="15240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37BF589-83D3-4736-9B0D-8C4499B628D6}"/>
              </a:ext>
            </a:extLst>
          </p:cNvPr>
          <p:cNvGrpSpPr/>
          <p:nvPr/>
        </p:nvGrpSpPr>
        <p:grpSpPr>
          <a:xfrm>
            <a:off x="562852" y="4303880"/>
            <a:ext cx="2208948" cy="523220"/>
            <a:chOff x="581723" y="4415724"/>
            <a:chExt cx="2208948" cy="52322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02A71FD-194A-4070-BF33-A4BB73CEA486}"/>
                </a:ext>
              </a:extLst>
            </p:cNvPr>
            <p:cNvSpPr txBox="1"/>
            <p:nvPr/>
          </p:nvSpPr>
          <p:spPr>
            <a:xfrm>
              <a:off x="581723" y="4415724"/>
              <a:ext cx="220894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氧气       </a:t>
              </a:r>
              <a:r>
                <a:rPr lang="en-US" altLang="zh-CN" b="1" dirty="0">
                  <a:ea typeface="华文中宋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16" name="Object 23">
              <a:extLst>
                <a:ext uri="{FF2B5EF4-FFF2-40B4-BE49-F238E27FC236}">
                  <a16:creationId xmlns:a16="http://schemas.microsoft.com/office/drawing/2014/main" id="{2469C89B-230C-4F9B-BD26-5C6A5DA115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5439899"/>
                </p:ext>
              </p:extLst>
            </p:nvPr>
          </p:nvGraphicFramePr>
          <p:xfrm>
            <a:off x="1516063" y="4479925"/>
            <a:ext cx="6731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72840" imgH="419040" progId="Equation.DSMT4">
                    <p:embed/>
                  </p:oleObj>
                </mc:Choice>
                <mc:Fallback>
                  <p:oleObj name="Equation" r:id="rId8" imgW="672840" imgH="419040" progId="Equation.DSMT4">
                    <p:embed/>
                    <p:pic>
                      <p:nvPicPr>
                        <p:cNvPr id="14" name="Object 23">
                          <a:extLst>
                            <a:ext uri="{FF2B5EF4-FFF2-40B4-BE49-F238E27FC236}">
                              <a16:creationId xmlns:a16="http://schemas.microsoft.com/office/drawing/2014/main" id="{66D987BC-442D-4E53-BFAB-DB3A2073DC5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6063" y="4479925"/>
                          <a:ext cx="6731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43BB77A2-899C-4D9B-8FE0-2A5A5EB97E62}"/>
              </a:ext>
            </a:extLst>
          </p:cNvPr>
          <p:cNvSpPr txBox="1"/>
          <p:nvPr/>
        </p:nvSpPr>
        <p:spPr>
          <a:xfrm>
            <a:off x="2393758" y="4304069"/>
            <a:ext cx="4914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该化学反应的方程式为式为</a:t>
            </a:r>
          </a:p>
        </p:txBody>
      </p:sp>
      <p:graphicFrame>
        <p:nvGraphicFramePr>
          <p:cNvPr id="21" name="Object 23">
            <a:extLst>
              <a:ext uri="{FF2B5EF4-FFF2-40B4-BE49-F238E27FC236}">
                <a16:creationId xmlns:a16="http://schemas.microsoft.com/office/drawing/2014/main" id="{4E937766-C8D4-4136-B593-819A78079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957810"/>
              </p:ext>
            </p:extLst>
          </p:nvPr>
        </p:nvGraphicFramePr>
        <p:xfrm>
          <a:off x="1892479" y="5095156"/>
          <a:ext cx="532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21160" imgH="419040" progId="Equation.DSMT4">
                  <p:embed/>
                </p:oleObj>
              </mc:Choice>
              <mc:Fallback>
                <p:oleObj name="Equation" r:id="rId10" imgW="5321160" imgH="419040" progId="Equation.DSMT4">
                  <p:embed/>
                  <p:pic>
                    <p:nvPicPr>
                      <p:cNvPr id="15" name="Object 23">
                        <a:extLst>
                          <a:ext uri="{FF2B5EF4-FFF2-40B4-BE49-F238E27FC236}">
                            <a16:creationId xmlns:a16="http://schemas.microsoft.com/office/drawing/2014/main" id="{991EF519-88A6-4B5B-8DE5-B2E6D0611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479" y="5095156"/>
                        <a:ext cx="5321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6F3ECF3E-0D5B-4487-9ADA-FE63447E7EBB}"/>
              </a:ext>
            </a:extLst>
          </p:cNvPr>
          <p:cNvSpPr txBox="1"/>
          <p:nvPr/>
        </p:nvSpPr>
        <p:spPr>
          <a:xfrm>
            <a:off x="578166" y="5740668"/>
            <a:ext cx="4585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如何平衡这个化学方程式</a:t>
            </a:r>
            <a:r>
              <a:rPr lang="en-US" altLang="zh-CN" sz="2800" b="1" kern="100" dirty="0">
                <a:solidFill>
                  <a:srgbClr val="000000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46531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20" grpId="0"/>
      <p:bldP spid="2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F5914147-0258-417B-90C5-B158D7B2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74" y="-27913"/>
            <a:ext cx="68862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线性方程组解法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的应用</a:t>
            </a: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EFEC2E3F-32DF-4423-9133-694276A92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20688"/>
            <a:ext cx="7921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632604-EBE5-4FDA-9679-FF905CA26F65}"/>
              </a:ext>
            </a:extLst>
          </p:cNvPr>
          <p:cNvSpPr txBox="1"/>
          <p:nvPr/>
        </p:nvSpPr>
        <p:spPr>
          <a:xfrm>
            <a:off x="721902" y="1228905"/>
            <a:ext cx="7064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由于</a:t>
            </a:r>
            <a:r>
              <a:rPr lang="zh-CN" altLang="en-US" sz="1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个二氧化碳分子含有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6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个碳原子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5D6C0D-2BD0-431E-87AF-90BB44BF1914}"/>
              </a:ext>
            </a:extLst>
          </p:cNvPr>
          <p:cNvSpPr txBox="1"/>
          <p:nvPr/>
        </p:nvSpPr>
        <p:spPr>
          <a:xfrm>
            <a:off x="713880" y="1818041"/>
            <a:ext cx="4918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葡萄糖分子含有</a:t>
            </a:r>
            <a:r>
              <a:rPr lang="zh-CN" altLang="en-US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个碳原子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23">
            <a:extLst>
              <a:ext uri="{FF2B5EF4-FFF2-40B4-BE49-F238E27FC236}">
                <a16:creationId xmlns:a16="http://schemas.microsoft.com/office/drawing/2014/main" id="{1DC4B84D-C065-4028-93CC-91015A86DF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987990"/>
              </p:ext>
            </p:extLst>
          </p:nvPr>
        </p:nvGraphicFramePr>
        <p:xfrm>
          <a:off x="3910766" y="2583347"/>
          <a:ext cx="127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419040" progId="Equation.DSMT4">
                  <p:embed/>
                </p:oleObj>
              </mc:Choice>
              <mc:Fallback>
                <p:oleObj name="Equation" r:id="rId2" imgW="1269720" imgH="41904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2469C89B-230C-4F9B-BD26-5C6A5DA11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766" y="2583347"/>
                        <a:ext cx="1270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3">
            <a:extLst>
              <a:ext uri="{FF2B5EF4-FFF2-40B4-BE49-F238E27FC236}">
                <a16:creationId xmlns:a16="http://schemas.microsoft.com/office/drawing/2014/main" id="{752A0408-8EC4-4A5C-90A7-E22DCA3D5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678269"/>
              </p:ext>
            </p:extLst>
          </p:nvPr>
        </p:nvGraphicFramePr>
        <p:xfrm>
          <a:off x="3078916" y="3818095"/>
          <a:ext cx="293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640" imgH="419040" progId="Equation.DSMT4">
                  <p:embed/>
                </p:oleObj>
              </mc:Choice>
              <mc:Fallback>
                <p:oleObj name="Equation" r:id="rId4" imgW="2933640" imgH="41904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2469C89B-230C-4F9B-BD26-5C6A5DA11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916" y="3818095"/>
                        <a:ext cx="2933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">
            <a:extLst>
              <a:ext uri="{FF2B5EF4-FFF2-40B4-BE49-F238E27FC236}">
                <a16:creationId xmlns:a16="http://schemas.microsoft.com/office/drawing/2014/main" id="{7802204F-D6BC-4D02-9C54-F9EDAD6CDA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964373"/>
              </p:ext>
            </p:extLst>
          </p:nvPr>
        </p:nvGraphicFramePr>
        <p:xfrm>
          <a:off x="4185726" y="4487489"/>
          <a:ext cx="162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419040" progId="Equation.DSMT4">
                  <p:embed/>
                </p:oleObj>
              </mc:Choice>
              <mc:Fallback>
                <p:oleObj name="Equation" r:id="rId6" imgW="1625400" imgH="41904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2469C89B-230C-4F9B-BD26-5C6A5DA11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5726" y="4487489"/>
                        <a:ext cx="162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EF8AA9F4-D3A5-4636-9730-3B6679E8031A}"/>
              </a:ext>
            </a:extLst>
          </p:cNvPr>
          <p:cNvSpPr txBox="1"/>
          <p:nvPr/>
        </p:nvSpPr>
        <p:spPr>
          <a:xfrm>
            <a:off x="713880" y="2473093"/>
            <a:ext cx="16246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需满足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279996-95E9-489C-AE8A-BFCE2CB317E3}"/>
              </a:ext>
            </a:extLst>
          </p:cNvPr>
          <p:cNvSpPr txBox="1"/>
          <p:nvPr/>
        </p:nvSpPr>
        <p:spPr>
          <a:xfrm>
            <a:off x="5371937" y="1809081"/>
            <a:ext cx="32487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因此为平衡方程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EDBB72-1975-41E2-B1B1-05961F5256E6}"/>
              </a:ext>
            </a:extLst>
          </p:cNvPr>
          <p:cNvSpPr txBox="1"/>
          <p:nvPr/>
        </p:nvSpPr>
        <p:spPr>
          <a:xfrm>
            <a:off x="971599" y="3124666"/>
            <a:ext cx="18459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类似地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467FCA-1E30-4D91-9E1D-DF3760C16622}"/>
              </a:ext>
            </a:extLst>
          </p:cNvPr>
          <p:cNvSpPr txBox="1"/>
          <p:nvPr/>
        </p:nvSpPr>
        <p:spPr>
          <a:xfrm>
            <a:off x="2529543" y="3124666"/>
            <a:ext cx="3738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要平衡氧原子需满足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8F805DA-326D-4699-918C-29817A99CD43}"/>
              </a:ext>
            </a:extLst>
          </p:cNvPr>
          <p:cNvSpPr txBox="1"/>
          <p:nvPr/>
        </p:nvSpPr>
        <p:spPr>
          <a:xfrm>
            <a:off x="721902" y="4394685"/>
            <a:ext cx="37388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要平衡氢原子需满足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887AAF9-9D07-421C-A762-254BCB78E506}"/>
              </a:ext>
            </a:extLst>
          </p:cNvPr>
          <p:cNvSpPr txBox="1"/>
          <p:nvPr/>
        </p:nvSpPr>
        <p:spPr>
          <a:xfrm>
            <a:off x="971600" y="5061023"/>
            <a:ext cx="55183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将所有未知量移到等式的左端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2845E1D-F007-420F-B613-D02B4C098CD4}"/>
              </a:ext>
            </a:extLst>
          </p:cNvPr>
          <p:cNvSpPr txBox="1"/>
          <p:nvPr/>
        </p:nvSpPr>
        <p:spPr>
          <a:xfrm>
            <a:off x="691188" y="5716076"/>
            <a:ext cx="3219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齐次线性方程组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0687051-868F-4CDF-A01A-7586BEF48C41}"/>
              </a:ext>
            </a:extLst>
          </p:cNvPr>
          <p:cNvSpPr txBox="1"/>
          <p:nvPr/>
        </p:nvSpPr>
        <p:spPr>
          <a:xfrm>
            <a:off x="5913918" y="5061023"/>
            <a:ext cx="2706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即可得到一个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DE3A7D-DA13-1AEC-1444-0EB751816CD2}"/>
              </a:ext>
            </a:extLst>
          </p:cNvPr>
          <p:cNvSpPr txBox="1"/>
          <p:nvPr/>
        </p:nvSpPr>
        <p:spPr>
          <a:xfrm>
            <a:off x="7066046" y="1235703"/>
            <a:ext cx="1554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6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712942540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5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11" grpId="0"/>
      <p:bldP spid="12" grpId="0"/>
      <p:bldP spid="19" grpId="0"/>
      <p:bldP spid="20" grpId="0"/>
      <p:bldP spid="22" grpId="0"/>
      <p:bldP spid="23" grpId="0"/>
      <p:bldP spid="25" grpId="0"/>
      <p:bldP spid="27" grpId="0"/>
      <p:bldP spid="28" grpId="0"/>
      <p:bldP spid="29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2369A786-C944-4699-9391-9DEDFE15F3B2}"/>
              </a:ext>
            </a:extLst>
          </p:cNvPr>
          <p:cNvSpPr txBox="1"/>
          <p:nvPr/>
        </p:nvSpPr>
        <p:spPr>
          <a:xfrm>
            <a:off x="374636" y="3326972"/>
            <a:ext cx="5509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一组非负整数解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16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16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en-US" altLang="zh-CN" sz="16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5914147-0258-417B-90C5-B158D7B2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8862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线性方程组解法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的应用</a:t>
            </a:r>
          </a:p>
        </p:txBody>
      </p:sp>
      <p:graphicFrame>
        <p:nvGraphicFramePr>
          <p:cNvPr id="6" name="Object 23">
            <a:extLst>
              <a:ext uri="{FF2B5EF4-FFF2-40B4-BE49-F238E27FC236}">
                <a16:creationId xmlns:a16="http://schemas.microsoft.com/office/drawing/2014/main" id="{C26A3751-CC9C-4313-B982-051C485F6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057767"/>
              </p:ext>
            </p:extLst>
          </p:nvPr>
        </p:nvGraphicFramePr>
        <p:xfrm>
          <a:off x="2787650" y="910650"/>
          <a:ext cx="35687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8680" imgH="1498320" progId="Equation.DSMT4">
                  <p:embed/>
                </p:oleObj>
              </mc:Choice>
              <mc:Fallback>
                <p:oleObj name="Equation" r:id="rId2" imgW="3568680" imgH="1498320" progId="Equation.DSMT4">
                  <p:embed/>
                  <p:pic>
                    <p:nvPicPr>
                      <p:cNvPr id="16" name="Object 23">
                        <a:extLst>
                          <a:ext uri="{FF2B5EF4-FFF2-40B4-BE49-F238E27FC236}">
                            <a16:creationId xmlns:a16="http://schemas.microsoft.com/office/drawing/2014/main" id="{2469C89B-230C-4F9B-BD26-5C6A5DA115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50" y="910650"/>
                        <a:ext cx="35687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4E55A8B8-01F2-4B9D-989B-27982EEA4419}"/>
              </a:ext>
            </a:extLst>
          </p:cNvPr>
          <p:cNvSpPr txBox="1"/>
          <p:nvPr/>
        </p:nvSpPr>
        <p:spPr>
          <a:xfrm>
            <a:off x="5190246" y="3330444"/>
            <a:ext cx="39411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取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4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作为自由未知量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7891514B-B452-49A7-BD0F-3C3AA725DC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844997"/>
              </p:ext>
            </p:extLst>
          </p:nvPr>
        </p:nvGraphicFramePr>
        <p:xfrm>
          <a:off x="3275836" y="5484914"/>
          <a:ext cx="2628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720" imgH="419040" progId="Equation.DSMT4">
                  <p:embed/>
                </p:oleObj>
              </mc:Choice>
              <mc:Fallback>
                <p:oleObj name="Equation" r:id="rId4" imgW="2628720" imgH="419040" progId="Equation.DSMT4">
                  <p:embed/>
                  <p:pic>
                    <p:nvPicPr>
                      <p:cNvPr id="6" name="Object 23">
                        <a:extLst>
                          <a:ext uri="{FF2B5EF4-FFF2-40B4-BE49-F238E27FC236}">
                            <a16:creationId xmlns:a16="http://schemas.microsoft.com/office/drawing/2014/main" id="{C26A3751-CC9C-4313-B982-051C485F6A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36" y="5484914"/>
                        <a:ext cx="2628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61D3825C-FC4F-4366-8DF0-4F1D24ACA465}"/>
              </a:ext>
            </a:extLst>
          </p:cNvPr>
          <p:cNvSpPr txBox="1"/>
          <p:nvPr/>
        </p:nvSpPr>
        <p:spPr>
          <a:xfrm>
            <a:off x="606741" y="2607784"/>
            <a:ext cx="40137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为了平衡化学方程式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DC5E14-DB31-4042-9B11-770C106D9E9F}"/>
              </a:ext>
            </a:extLst>
          </p:cNvPr>
          <p:cNvSpPr txBox="1"/>
          <p:nvPr/>
        </p:nvSpPr>
        <p:spPr>
          <a:xfrm>
            <a:off x="387202" y="4046160"/>
            <a:ext cx="7660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由前面介绍的求齐次线性方程组的通解的方法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09C224-B6F5-47CC-BAB8-CB3E43C40597}"/>
              </a:ext>
            </a:extLst>
          </p:cNvPr>
          <p:cNvSpPr txBox="1"/>
          <p:nvPr/>
        </p:nvSpPr>
        <p:spPr>
          <a:xfrm>
            <a:off x="405498" y="4761876"/>
            <a:ext cx="4432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求出此方程组的通解为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199141-97F0-7C2A-888E-92732B3E9B75}"/>
              </a:ext>
            </a:extLst>
          </p:cNvPr>
          <p:cNvSpPr txBox="1"/>
          <p:nvPr/>
        </p:nvSpPr>
        <p:spPr>
          <a:xfrm>
            <a:off x="4156342" y="2606501"/>
            <a:ext cx="4808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需找到此齐次线性方程组的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66A77A-1B4E-179B-F517-AC2633CDE77F}"/>
              </a:ext>
            </a:extLst>
          </p:cNvPr>
          <p:cNvSpPr txBox="1"/>
          <p:nvPr/>
        </p:nvSpPr>
        <p:spPr>
          <a:xfrm>
            <a:off x="7853274" y="4054387"/>
            <a:ext cx="1278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则可</a:t>
            </a:r>
          </a:p>
        </p:txBody>
      </p:sp>
    </p:spTree>
    <p:extLst>
      <p:ext uri="{BB962C8B-B14F-4D97-AF65-F5344CB8AC3E}">
        <p14:creationId xmlns:p14="http://schemas.microsoft.com/office/powerpoint/2010/main" val="1839446304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7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1" grpId="0"/>
      <p:bldP spid="15" grpId="0"/>
      <p:bldP spid="18" grpId="0"/>
      <p:bldP spid="8" grpId="0"/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F5914147-0258-417B-90C5-B158D7B2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115"/>
            <a:ext cx="68862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线性方程组解法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的应用 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0674BB7-1F93-4796-9A27-2B06B6A20DC8}"/>
              </a:ext>
            </a:extLst>
          </p:cNvPr>
          <p:cNvGrpSpPr/>
          <p:nvPr/>
        </p:nvGrpSpPr>
        <p:grpSpPr>
          <a:xfrm>
            <a:off x="3354043" y="921668"/>
            <a:ext cx="2853420" cy="523220"/>
            <a:chOff x="3353113" y="1284210"/>
            <a:chExt cx="2853420" cy="523220"/>
          </a:xfrm>
        </p:grpSpPr>
        <p:graphicFrame>
          <p:nvGraphicFramePr>
            <p:cNvPr id="6" name="Object 23">
              <a:extLst>
                <a:ext uri="{FF2B5EF4-FFF2-40B4-BE49-F238E27FC236}">
                  <a16:creationId xmlns:a16="http://schemas.microsoft.com/office/drawing/2014/main" id="{D9E6C88B-9B60-49D1-A310-151A550D25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8962700"/>
                </p:ext>
              </p:extLst>
            </p:nvPr>
          </p:nvGraphicFramePr>
          <p:xfrm>
            <a:off x="3920533" y="1350351"/>
            <a:ext cx="22860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6000" imgH="419040" progId="Equation.DSMT4">
                    <p:embed/>
                  </p:oleObj>
                </mc:Choice>
                <mc:Fallback>
                  <p:oleObj name="Equation" r:id="rId2" imgW="2286000" imgH="419040" progId="Equation.DSMT4">
                    <p:embed/>
                    <p:pic>
                      <p:nvPicPr>
                        <p:cNvPr id="16" name="Object 23">
                          <a:extLst>
                            <a:ext uri="{FF2B5EF4-FFF2-40B4-BE49-F238E27FC236}">
                              <a16:creationId xmlns:a16="http://schemas.microsoft.com/office/drawing/2014/main" id="{2469C89B-230C-4F9B-BD26-5C6A5DA115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0533" y="1350351"/>
                          <a:ext cx="22860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2320623-4CF3-4D70-B3A3-FFBAA8D83C09}"/>
                </a:ext>
              </a:extLst>
            </p:cNvPr>
            <p:cNvSpPr txBox="1"/>
            <p:nvPr/>
          </p:nvSpPr>
          <p:spPr>
            <a:xfrm>
              <a:off x="3353113" y="1284210"/>
              <a:ext cx="72010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则</a:t>
              </a:r>
            </a:p>
          </p:txBody>
        </p:sp>
      </p:grpSp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1219D82F-C1F1-43BD-A818-C45000A18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550530"/>
              </p:ext>
            </p:extLst>
          </p:nvPr>
        </p:nvGraphicFramePr>
        <p:xfrm>
          <a:off x="2241550" y="2403475"/>
          <a:ext cx="4660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60560" imgH="419040" progId="Equation.DSMT4">
                  <p:embed/>
                </p:oleObj>
              </mc:Choice>
              <mc:Fallback>
                <p:oleObj name="Equation" r:id="rId4" imgW="4660560" imgH="419040" progId="Equation.DSMT4">
                  <p:embed/>
                  <p:pic>
                    <p:nvPicPr>
                      <p:cNvPr id="6" name="Object 23">
                        <a:extLst>
                          <a:ext uri="{FF2B5EF4-FFF2-40B4-BE49-F238E27FC236}">
                            <a16:creationId xmlns:a16="http://schemas.microsoft.com/office/drawing/2014/main" id="{D9E6C88B-9B60-49D1-A310-151A550D25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2403475"/>
                        <a:ext cx="4660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263661E6-C6DC-48F8-9754-CE7E9D90F572}"/>
              </a:ext>
            </a:extLst>
          </p:cNvPr>
          <p:cNvGrpSpPr/>
          <p:nvPr/>
        </p:nvGrpSpPr>
        <p:grpSpPr>
          <a:xfrm>
            <a:off x="1108377" y="921668"/>
            <a:ext cx="1896402" cy="523220"/>
            <a:chOff x="971600" y="1284210"/>
            <a:chExt cx="1896402" cy="52322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4989D56-BAB3-48A4-92A8-9E8C71305A31}"/>
                </a:ext>
              </a:extLst>
            </p:cNvPr>
            <p:cNvSpPr txBox="1"/>
            <p:nvPr/>
          </p:nvSpPr>
          <p:spPr>
            <a:xfrm>
              <a:off x="971600" y="1284210"/>
              <a:ext cx="127154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若令</a:t>
              </a:r>
            </a:p>
          </p:txBody>
        </p:sp>
        <p:graphicFrame>
          <p:nvGraphicFramePr>
            <p:cNvPr id="12" name="Object 23">
              <a:extLst>
                <a:ext uri="{FF2B5EF4-FFF2-40B4-BE49-F238E27FC236}">
                  <a16:creationId xmlns:a16="http://schemas.microsoft.com/office/drawing/2014/main" id="{1B2D7F31-80E0-45E9-B129-FF3AEF63AD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1521898"/>
                </p:ext>
              </p:extLst>
            </p:nvPr>
          </p:nvGraphicFramePr>
          <p:xfrm>
            <a:off x="1940902" y="1358383"/>
            <a:ext cx="9271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27000" imgH="419040" progId="Equation.DSMT4">
                    <p:embed/>
                  </p:oleObj>
                </mc:Choice>
                <mc:Fallback>
                  <p:oleObj name="Equation" r:id="rId6" imgW="927000" imgH="419040" progId="Equation.DSMT4">
                    <p:embed/>
                    <p:pic>
                      <p:nvPicPr>
                        <p:cNvPr id="9" name="Object 23">
                          <a:extLst>
                            <a:ext uri="{FF2B5EF4-FFF2-40B4-BE49-F238E27FC236}">
                              <a16:creationId xmlns:a16="http://schemas.microsoft.com/office/drawing/2014/main" id="{7891514B-B452-49A7-BD0F-3C3AA725DC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0902" y="1358383"/>
                          <a:ext cx="9271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118DC7B4-EB61-4863-8782-573E0BA79C2B}"/>
              </a:ext>
            </a:extLst>
          </p:cNvPr>
          <p:cNvSpPr txBox="1"/>
          <p:nvPr/>
        </p:nvSpPr>
        <p:spPr>
          <a:xfrm>
            <a:off x="971600" y="1622202"/>
            <a:ext cx="432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化学方程式的形式为</a:t>
            </a:r>
          </a:p>
        </p:txBody>
      </p:sp>
    </p:spTree>
    <p:extLst>
      <p:ext uri="{BB962C8B-B14F-4D97-AF65-F5344CB8AC3E}">
        <p14:creationId xmlns:p14="http://schemas.microsoft.com/office/powerpoint/2010/main" val="2059925862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F5914147-0258-417B-90C5-B158D7B2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0"/>
            <a:ext cx="68862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线性方程组解法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的应用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734E36-62E4-4A80-BFD3-C95A6B0E5347}"/>
              </a:ext>
            </a:extLst>
          </p:cNvPr>
          <p:cNvSpPr txBox="1"/>
          <p:nvPr/>
        </p:nvSpPr>
        <p:spPr>
          <a:xfrm>
            <a:off x="971600" y="585724"/>
            <a:ext cx="3528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应用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2: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交通流量</a:t>
            </a:r>
            <a:endParaRPr lang="zh-CN" altLang="en-US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FB9BBE-A54B-41CD-80CF-C455894122CE}"/>
              </a:ext>
            </a:extLst>
          </p:cNvPr>
          <p:cNvSpPr txBox="1"/>
          <p:nvPr/>
        </p:nvSpPr>
        <p:spPr>
          <a:xfrm>
            <a:off x="899592" y="1193583"/>
            <a:ext cx="79809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如图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3-1</a:t>
            </a:r>
            <a:r>
              <a:rPr lang="en-US" altLang="zh-CN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所示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某城市市区的交叉路口由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条单向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6B1943-8EE1-4ACF-B3ED-0E3F63465FBD}"/>
              </a:ext>
            </a:extLst>
          </p:cNvPr>
          <p:cNvSpPr txBox="1"/>
          <p:nvPr/>
        </p:nvSpPr>
        <p:spPr>
          <a:xfrm>
            <a:off x="492910" y="1915039"/>
            <a:ext cx="8579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车道组成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1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图中给出了在交通高峰时段每小时进入和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EBBF52-6356-4A60-9388-7FE328572073}"/>
              </a:ext>
            </a:extLst>
          </p:cNvPr>
          <p:cNvSpPr txBox="1"/>
          <p:nvPr/>
        </p:nvSpPr>
        <p:spPr>
          <a:xfrm>
            <a:off x="492910" y="2636495"/>
            <a:ext cx="8579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离开各路口的车辆数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计算在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1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个交叉路口间车辆的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DA5BAE-8CB1-4855-8457-BFF1969E6C3A}"/>
              </a:ext>
            </a:extLst>
          </p:cNvPr>
          <p:cNvSpPr txBox="1"/>
          <p:nvPr/>
        </p:nvSpPr>
        <p:spPr>
          <a:xfrm>
            <a:off x="492910" y="3370171"/>
            <a:ext cx="1545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数量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768ADF5-8317-46F1-8212-C0871B8A9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845" y="3328993"/>
            <a:ext cx="2550307" cy="255030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16AAD2B-2470-982E-73A1-3B11D1F458E5}"/>
              </a:ext>
            </a:extLst>
          </p:cNvPr>
          <p:cNvSpPr txBox="1"/>
          <p:nvPr/>
        </p:nvSpPr>
        <p:spPr>
          <a:xfrm>
            <a:off x="3799217" y="6007264"/>
            <a:ext cx="1545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图 </a:t>
            </a:r>
            <a:r>
              <a:rPr lang="en-US" altLang="zh-CN" sz="2000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3-1</a:t>
            </a:r>
            <a:endParaRPr lang="zh-CN" altLang="en-US" sz="2000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41744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  <p:bldP spid="13" grpId="0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F5914147-0258-417B-90C5-B158D7B2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20871"/>
            <a:ext cx="68862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线性方程组解法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的应用</a:t>
            </a: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B1073A3A-4545-4BED-AB7F-1463ACC27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20688"/>
            <a:ext cx="934484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3E0C72-76A8-4143-81E8-EC177E118FBD}"/>
              </a:ext>
            </a:extLst>
          </p:cNvPr>
          <p:cNvSpPr txBox="1"/>
          <p:nvPr/>
        </p:nvSpPr>
        <p:spPr>
          <a:xfrm>
            <a:off x="578216" y="1255986"/>
            <a:ext cx="8184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在每一个路口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进入的车辆数与离开的车辆数必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F46444-D4C4-4F4D-AFD5-A8D55CD9BB43}"/>
              </a:ext>
            </a:extLst>
          </p:cNvPr>
          <p:cNvSpPr txBox="1"/>
          <p:nvPr/>
        </p:nvSpPr>
        <p:spPr>
          <a:xfrm>
            <a:off x="576546" y="1956638"/>
            <a:ext cx="1329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相等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D60504-C4BF-4915-A564-8066FA02D0B3}"/>
              </a:ext>
            </a:extLst>
          </p:cNvPr>
          <p:cNvSpPr txBox="1"/>
          <p:nvPr/>
        </p:nvSpPr>
        <p:spPr>
          <a:xfrm>
            <a:off x="1619672" y="1956638"/>
            <a:ext cx="3430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在路口</a:t>
            </a:r>
            <a:r>
              <a:rPr lang="zh-CN" altLang="en-US" sz="1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23">
            <a:extLst>
              <a:ext uri="{FF2B5EF4-FFF2-40B4-BE49-F238E27FC236}">
                <a16:creationId xmlns:a16="http://schemas.microsoft.com/office/drawing/2014/main" id="{A02B3CE8-58CA-468F-BB90-7486688529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949042"/>
              </p:ext>
            </p:extLst>
          </p:nvPr>
        </p:nvGraphicFramePr>
        <p:xfrm>
          <a:off x="6902028" y="2041408"/>
          <a:ext cx="1244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419040" progId="Equation.DSMT4">
                  <p:embed/>
                </p:oleObj>
              </mc:Choice>
              <mc:Fallback>
                <p:oleObj name="Equation" r:id="rId2" imgW="1244520" imgH="419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1B2D7F31-80E0-45E9-B129-FF3AEF63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2028" y="2041408"/>
                        <a:ext cx="1244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B35BE488-564F-4C42-BDB8-D583AEF3C522}"/>
              </a:ext>
            </a:extLst>
          </p:cNvPr>
          <p:cNvSpPr txBox="1"/>
          <p:nvPr/>
        </p:nvSpPr>
        <p:spPr>
          <a:xfrm>
            <a:off x="4217537" y="1956638"/>
            <a:ext cx="337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进入的车辆数为</a:t>
            </a:r>
          </a:p>
        </p:txBody>
      </p:sp>
      <p:graphicFrame>
        <p:nvGraphicFramePr>
          <p:cNvPr id="17" name="Object 23">
            <a:extLst>
              <a:ext uri="{FF2B5EF4-FFF2-40B4-BE49-F238E27FC236}">
                <a16:creationId xmlns:a16="http://schemas.microsoft.com/office/drawing/2014/main" id="{AABC1E55-A649-4A34-AFE4-32D7E2716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301318"/>
              </p:ext>
            </p:extLst>
          </p:nvPr>
        </p:nvGraphicFramePr>
        <p:xfrm>
          <a:off x="3986953" y="2704804"/>
          <a:ext cx="125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419040" progId="Equation.DSMT4">
                  <p:embed/>
                </p:oleObj>
              </mc:Choice>
              <mc:Fallback>
                <p:oleObj name="Equation" r:id="rId4" imgW="1257120" imgH="419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0FE5D73D-5D1D-49E9-9E5C-31432ADDC8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953" y="2704804"/>
                        <a:ext cx="1257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604B8842-BE89-434A-8A28-4AB9CEE47DEE}"/>
              </a:ext>
            </a:extLst>
          </p:cNvPr>
          <p:cNvSpPr txBox="1"/>
          <p:nvPr/>
        </p:nvSpPr>
        <p:spPr>
          <a:xfrm>
            <a:off x="615610" y="2626980"/>
            <a:ext cx="36019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离开路口的车辆数为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68EAA8-4021-4812-8039-35231F70E28F}"/>
              </a:ext>
            </a:extLst>
          </p:cNvPr>
          <p:cNvSpPr txBox="1"/>
          <p:nvPr/>
        </p:nvSpPr>
        <p:spPr>
          <a:xfrm>
            <a:off x="5377937" y="2626980"/>
            <a:ext cx="1329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42E32C95-716C-47CF-9E3D-2DA54322C7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932789"/>
              </p:ext>
            </p:extLst>
          </p:nvPr>
        </p:nvGraphicFramePr>
        <p:xfrm>
          <a:off x="3249580" y="4203483"/>
          <a:ext cx="2654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4280" imgH="419040" progId="Equation.DSMT4">
                  <p:embed/>
                </p:oleObj>
              </mc:Choice>
              <mc:Fallback>
                <p:oleObj name="Equation" r:id="rId6" imgW="2654280" imgH="419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0FE5D73D-5D1D-49E9-9E5C-31432ADDC8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580" y="4203483"/>
                        <a:ext cx="2654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F8FDCB75-4DFD-4FCE-944C-5FF3DCBFDCF4}"/>
              </a:ext>
            </a:extLst>
          </p:cNvPr>
          <p:cNvSpPr txBox="1"/>
          <p:nvPr/>
        </p:nvSpPr>
        <p:spPr>
          <a:xfrm>
            <a:off x="576546" y="4131338"/>
            <a:ext cx="2555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在路口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必有</a:t>
            </a:r>
          </a:p>
        </p:txBody>
      </p:sp>
      <p:graphicFrame>
        <p:nvGraphicFramePr>
          <p:cNvPr id="25" name="Object 23">
            <a:extLst>
              <a:ext uri="{FF2B5EF4-FFF2-40B4-BE49-F238E27FC236}">
                <a16:creationId xmlns:a16="http://schemas.microsoft.com/office/drawing/2014/main" id="{FB158E60-1FEB-45FF-B86B-6A5B694BE3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184383"/>
              </p:ext>
            </p:extLst>
          </p:nvPr>
        </p:nvGraphicFramePr>
        <p:xfrm>
          <a:off x="3249580" y="3505561"/>
          <a:ext cx="264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41320" imgH="419040" progId="Equation.DSMT4">
                  <p:embed/>
                </p:oleObj>
              </mc:Choice>
              <mc:Fallback>
                <p:oleObj name="Equation" r:id="rId8" imgW="2641320" imgH="419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0FE5D73D-5D1D-49E9-9E5C-31432ADDC8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580" y="3505561"/>
                        <a:ext cx="2641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90875E7A-4FCC-414D-84C9-3E905D13BFC8}"/>
              </a:ext>
            </a:extLst>
          </p:cNvPr>
          <p:cNvSpPr txBox="1"/>
          <p:nvPr/>
        </p:nvSpPr>
        <p:spPr>
          <a:xfrm>
            <a:off x="576546" y="3401441"/>
            <a:ext cx="2555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在路口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必有</a:t>
            </a:r>
          </a:p>
        </p:txBody>
      </p:sp>
      <p:graphicFrame>
        <p:nvGraphicFramePr>
          <p:cNvPr id="27" name="Object 23">
            <a:extLst>
              <a:ext uri="{FF2B5EF4-FFF2-40B4-BE49-F238E27FC236}">
                <a16:creationId xmlns:a16="http://schemas.microsoft.com/office/drawing/2014/main" id="{6D5EC517-D6F0-4746-8445-930CE2CA0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767702"/>
              </p:ext>
            </p:extLst>
          </p:nvPr>
        </p:nvGraphicFramePr>
        <p:xfrm>
          <a:off x="3249580" y="4916387"/>
          <a:ext cx="2667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6880" imgH="419040" progId="Equation.DSMT4">
                  <p:embed/>
                </p:oleObj>
              </mc:Choice>
              <mc:Fallback>
                <p:oleObj name="Equation" r:id="rId10" imgW="2666880" imgH="419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0FE5D73D-5D1D-49E9-9E5C-31432ADDC8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580" y="4916387"/>
                        <a:ext cx="2667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36069B40-98FD-4977-863C-AB3E5CD343B8}"/>
              </a:ext>
            </a:extLst>
          </p:cNvPr>
          <p:cNvSpPr txBox="1"/>
          <p:nvPr/>
        </p:nvSpPr>
        <p:spPr>
          <a:xfrm>
            <a:off x="576546" y="4844242"/>
            <a:ext cx="2555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在路口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必有</a:t>
            </a:r>
          </a:p>
        </p:txBody>
      </p:sp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7095EB89-5EF5-4701-B35F-48AA54599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936705"/>
              </p:ext>
            </p:extLst>
          </p:nvPr>
        </p:nvGraphicFramePr>
        <p:xfrm>
          <a:off x="3240343" y="5623172"/>
          <a:ext cx="264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41320" imgH="419040" progId="Equation.DSMT4">
                  <p:embed/>
                </p:oleObj>
              </mc:Choice>
              <mc:Fallback>
                <p:oleObj name="Equation" r:id="rId12" imgW="2641320" imgH="419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0FE5D73D-5D1D-49E9-9E5C-31432ADDC8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343" y="5623172"/>
                        <a:ext cx="2641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5DB21857-265D-4541-A5C9-8192A89F844D}"/>
              </a:ext>
            </a:extLst>
          </p:cNvPr>
          <p:cNvSpPr txBox="1"/>
          <p:nvPr/>
        </p:nvSpPr>
        <p:spPr>
          <a:xfrm>
            <a:off x="576546" y="5557146"/>
            <a:ext cx="2555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在路口</a:t>
            </a:r>
            <a:r>
              <a:rPr lang="zh-CN" altLang="en-US" sz="16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必有</a:t>
            </a:r>
          </a:p>
        </p:txBody>
      </p:sp>
    </p:spTree>
    <p:extLst>
      <p:ext uri="{BB962C8B-B14F-4D97-AF65-F5344CB8AC3E}">
        <p14:creationId xmlns:p14="http://schemas.microsoft.com/office/powerpoint/2010/main" val="314192464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7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2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25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2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25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8" grpId="0"/>
      <p:bldP spid="9" grpId="0"/>
      <p:bldP spid="10" grpId="0"/>
      <p:bldP spid="14" grpId="0"/>
      <p:bldP spid="20" grpId="0"/>
      <p:bldP spid="21" grpId="0"/>
      <p:bldP spid="24" grpId="0"/>
      <p:bldP spid="26" grpId="0"/>
      <p:bldP spid="28" grpId="0"/>
      <p:bldP spid="3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0">
            <a:extLst>
              <a:ext uri="{FF2B5EF4-FFF2-40B4-BE49-F238E27FC236}">
                <a16:creationId xmlns:a16="http://schemas.microsoft.com/office/drawing/2014/main" id="{F5914147-0258-417B-90C5-B158D7B2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16671"/>
            <a:ext cx="68862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线性方程组解法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的应用 </a:t>
            </a:r>
          </a:p>
        </p:txBody>
      </p:sp>
      <p:graphicFrame>
        <p:nvGraphicFramePr>
          <p:cNvPr id="6" name="Object 23">
            <a:extLst>
              <a:ext uri="{FF2B5EF4-FFF2-40B4-BE49-F238E27FC236}">
                <a16:creationId xmlns:a16="http://schemas.microsoft.com/office/drawing/2014/main" id="{A7183197-98DD-4BB2-85BB-35A40406C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231754"/>
              </p:ext>
            </p:extLst>
          </p:nvPr>
        </p:nvGraphicFramePr>
        <p:xfrm>
          <a:off x="5699319" y="4623126"/>
          <a:ext cx="29337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640" imgH="1625400" progId="Equation.DSMT4">
                  <p:embed/>
                </p:oleObj>
              </mc:Choice>
              <mc:Fallback>
                <p:oleObj name="Equation" r:id="rId2" imgW="2933640" imgH="162540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1B2D7F31-80E0-45E9-B129-FF3AEF63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319" y="4623126"/>
                        <a:ext cx="29337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3">
            <a:extLst>
              <a:ext uri="{FF2B5EF4-FFF2-40B4-BE49-F238E27FC236}">
                <a16:creationId xmlns:a16="http://schemas.microsoft.com/office/drawing/2014/main" id="{AB5CD422-1BC7-4841-A70E-EB6E57790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535126"/>
              </p:ext>
            </p:extLst>
          </p:nvPr>
        </p:nvGraphicFramePr>
        <p:xfrm>
          <a:off x="611560" y="4623126"/>
          <a:ext cx="4229101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28920" imgH="1625400" progId="Equation.DSMT4">
                  <p:embed/>
                </p:oleObj>
              </mc:Choice>
              <mc:Fallback>
                <p:oleObj name="Equation" r:id="rId4" imgW="4228920" imgH="162540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1B2D7F31-80E0-45E9-B129-FF3AEF63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623126"/>
                        <a:ext cx="4229101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3">
            <a:extLst>
              <a:ext uri="{FF2B5EF4-FFF2-40B4-BE49-F238E27FC236}">
                <a16:creationId xmlns:a16="http://schemas.microsoft.com/office/drawing/2014/main" id="{42ECAFE2-FDC8-47EF-88E5-46486944A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294472"/>
              </p:ext>
            </p:extLst>
          </p:nvPr>
        </p:nvGraphicFramePr>
        <p:xfrm>
          <a:off x="5010324" y="4743620"/>
          <a:ext cx="5207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20560" imgH="1396800" progId="Equation.DSMT4">
                  <p:embed/>
                </p:oleObj>
              </mc:Choice>
              <mc:Fallback>
                <p:oleObj name="Equation" r:id="rId6" imgW="520560" imgH="139680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1B2D7F31-80E0-45E9-B129-FF3AEF63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324" y="4743620"/>
                        <a:ext cx="5207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>
            <a:extLst>
              <a:ext uri="{FF2B5EF4-FFF2-40B4-BE49-F238E27FC236}">
                <a16:creationId xmlns:a16="http://schemas.microsoft.com/office/drawing/2014/main" id="{5295E396-5B2F-437B-B166-A005A2E0E8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685713"/>
              </p:ext>
            </p:extLst>
          </p:nvPr>
        </p:nvGraphicFramePr>
        <p:xfrm>
          <a:off x="3327400" y="1508870"/>
          <a:ext cx="24892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040" imgH="1701720" progId="Equation.DSMT4">
                  <p:embed/>
                </p:oleObj>
              </mc:Choice>
              <mc:Fallback>
                <p:oleObj name="Equation" r:id="rId8" imgW="2489040" imgH="170172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1B2D7F31-80E0-45E9-B129-FF3AEF63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1508870"/>
                        <a:ext cx="24892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6016390-E301-499F-B240-27EB242A48F5}"/>
              </a:ext>
            </a:extLst>
          </p:cNvPr>
          <p:cNvSpPr txBox="1"/>
          <p:nvPr/>
        </p:nvSpPr>
        <p:spPr>
          <a:xfrm>
            <a:off x="738987" y="692696"/>
            <a:ext cx="8405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将所有未知量移到等式左端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即可得到一个非齐次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61B3B-A85E-4D93-B31E-81240DDE8DA4}"/>
              </a:ext>
            </a:extLst>
          </p:cNvPr>
          <p:cNvSpPr txBox="1"/>
          <p:nvPr/>
        </p:nvSpPr>
        <p:spPr>
          <a:xfrm>
            <a:off x="493726" y="1402136"/>
            <a:ext cx="2350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A487A5-0752-4501-A2A4-F1E5FA2CEB33}"/>
              </a:ext>
            </a:extLst>
          </p:cNvPr>
          <p:cNvSpPr txBox="1"/>
          <p:nvPr/>
        </p:nvSpPr>
        <p:spPr>
          <a:xfrm>
            <a:off x="487467" y="3414522"/>
            <a:ext cx="8405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对增广矩阵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施行初等行变换将其化为行最简形矩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027B06-EE4F-45BE-9538-842AE9383E77}"/>
              </a:ext>
            </a:extLst>
          </p:cNvPr>
          <p:cNvSpPr txBox="1"/>
          <p:nvPr/>
        </p:nvSpPr>
        <p:spPr>
          <a:xfrm>
            <a:off x="487466" y="4018824"/>
            <a:ext cx="1564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阵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</a:p>
        </p:txBody>
      </p:sp>
      <p:grpSp>
        <p:nvGrpSpPr>
          <p:cNvPr id="13" name="组合 19">
            <a:extLst>
              <a:ext uri="{FF2B5EF4-FFF2-40B4-BE49-F238E27FC236}">
                <a16:creationId xmlns:a16="http://schemas.microsoft.com/office/drawing/2014/main" id="{6EAF0FB6-805F-54E0-2EC3-4A2E2F7F9101}"/>
              </a:ext>
            </a:extLst>
          </p:cNvPr>
          <p:cNvGrpSpPr>
            <a:grpSpLocks/>
          </p:cNvGrpSpPr>
          <p:nvPr/>
        </p:nvGrpSpPr>
        <p:grpSpPr bwMode="auto">
          <a:xfrm>
            <a:off x="5755481" y="4997181"/>
            <a:ext cx="2736292" cy="838575"/>
            <a:chOff x="1757464" y="4764243"/>
            <a:chExt cx="4617474" cy="1428935"/>
          </a:xfrm>
        </p:grpSpPr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28D0115F-B7AA-057C-2433-AC73EF7A2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6882" y="4764243"/>
              <a:ext cx="1421" cy="7543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35A9450F-7DF7-C7B7-5DBD-44E9BF34D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5344" y="5478711"/>
              <a:ext cx="904071" cy="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08AAC933-A43E-9292-3121-1B82003A2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464" y="4775854"/>
              <a:ext cx="71941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93353C6F-105F-8A6D-3FA2-07D0630B6B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7785" y="5518532"/>
              <a:ext cx="0" cy="6501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60F2A991-C65F-3C38-F3A8-158CB8EEC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413" y="6156888"/>
              <a:ext cx="3015525" cy="3629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662772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734F2D36-6CAC-4C8B-B229-D1DA423BE0D3}"/>
              </a:ext>
            </a:extLst>
          </p:cNvPr>
          <p:cNvSpPr txBox="1"/>
          <p:nvPr/>
        </p:nvSpPr>
        <p:spPr>
          <a:xfrm>
            <a:off x="562686" y="4357265"/>
            <a:ext cx="5496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则相应的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en-US" altLang="zh-CN" sz="2000" b="1" i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5914147-0258-417B-90C5-B158D7B2D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-10409"/>
            <a:ext cx="688625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kern="100" dirty="0">
                <a:solidFill>
                  <a:schemeClr val="bg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线性方程组解法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的应用</a:t>
            </a:r>
          </a:p>
        </p:txBody>
      </p:sp>
      <p:graphicFrame>
        <p:nvGraphicFramePr>
          <p:cNvPr id="6" name="Object 23">
            <a:extLst>
              <a:ext uri="{FF2B5EF4-FFF2-40B4-BE49-F238E27FC236}">
                <a16:creationId xmlns:a16="http://schemas.microsoft.com/office/drawing/2014/main" id="{A08B64DD-0F93-48E1-925D-69595C33F5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499127"/>
              </p:ext>
            </p:extLst>
          </p:nvPr>
        </p:nvGraphicFramePr>
        <p:xfrm>
          <a:off x="364412" y="5133264"/>
          <a:ext cx="274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419040" progId="Equation.DSMT4">
                  <p:embed/>
                </p:oleObj>
              </mc:Choice>
              <mc:Fallback>
                <p:oleObj name="Equation" r:id="rId2" imgW="2743200" imgH="419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1B2D7F31-80E0-45E9-B129-FF3AEF63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12" y="5133264"/>
                        <a:ext cx="2743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3">
            <a:extLst>
              <a:ext uri="{FF2B5EF4-FFF2-40B4-BE49-F238E27FC236}">
                <a16:creationId xmlns:a16="http://schemas.microsoft.com/office/drawing/2014/main" id="{4C214438-ED5C-4448-B324-A06216B1C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168745"/>
              </p:ext>
            </p:extLst>
          </p:nvPr>
        </p:nvGraphicFramePr>
        <p:xfrm>
          <a:off x="1428748" y="884738"/>
          <a:ext cx="2908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08080" imgH="355320" progId="Equation.DSMT4">
                  <p:embed/>
                </p:oleObj>
              </mc:Choice>
              <mc:Fallback>
                <p:oleObj name="Equation" r:id="rId4" imgW="2908080" imgH="35532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1B2D7F31-80E0-45E9-B129-FF3AEF63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48" y="884738"/>
                        <a:ext cx="2908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3">
            <a:extLst>
              <a:ext uri="{FF2B5EF4-FFF2-40B4-BE49-F238E27FC236}">
                <a16:creationId xmlns:a16="http://schemas.microsoft.com/office/drawing/2014/main" id="{656065AF-7A74-4C72-9C38-18C6F6825B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576477"/>
              </p:ext>
            </p:extLst>
          </p:nvPr>
        </p:nvGraphicFramePr>
        <p:xfrm>
          <a:off x="6860776" y="3708307"/>
          <a:ext cx="1282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419040" progId="Equation.DSMT4">
                  <p:embed/>
                </p:oleObj>
              </mc:Choice>
              <mc:Fallback>
                <p:oleObj name="Equation" r:id="rId6" imgW="1282680" imgH="41904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1B2D7F31-80E0-45E9-B129-FF3AEF63AD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0776" y="3708307"/>
                        <a:ext cx="1282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177F3C1-48F1-49D3-9519-87979BD418F6}"/>
              </a:ext>
            </a:extLst>
          </p:cNvPr>
          <p:cNvSpPr txBox="1"/>
          <p:nvPr/>
        </p:nvSpPr>
        <p:spPr>
          <a:xfrm>
            <a:off x="562686" y="764704"/>
            <a:ext cx="1077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DF96CD-8862-410B-8A15-36AA9954E8CB}"/>
              </a:ext>
            </a:extLst>
          </p:cNvPr>
          <p:cNvSpPr txBox="1"/>
          <p:nvPr/>
        </p:nvSpPr>
        <p:spPr>
          <a:xfrm>
            <a:off x="4546730" y="76470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故该方程组有无穷多组解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C443E2-F920-4E94-A087-432E8A7B4800}"/>
              </a:ext>
            </a:extLst>
          </p:cNvPr>
          <p:cNvSpPr txBox="1"/>
          <p:nvPr/>
        </p:nvSpPr>
        <p:spPr>
          <a:xfrm>
            <a:off x="582933" y="1485648"/>
            <a:ext cx="8535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交通示意图中并没有给出足够的信息来唯一地确定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DE29CEE-8D36-4ADD-8BC8-36390E133A9C}"/>
              </a:ext>
            </a:extLst>
          </p:cNvPr>
          <p:cNvSpPr txBox="1"/>
          <p:nvPr/>
        </p:nvSpPr>
        <p:spPr>
          <a:xfrm>
            <a:off x="579480" y="2179583"/>
            <a:ext cx="34631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3</a:t>
            </a:r>
            <a:r>
              <a:rPr lang="en-US" altLang="zh-CN" b="1" i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和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B12E3B1-2D67-47DC-9855-C09C3FE40F3D}"/>
              </a:ext>
            </a:extLst>
          </p:cNvPr>
          <p:cNvSpPr txBox="1"/>
          <p:nvPr/>
        </p:nvSpPr>
        <p:spPr>
          <a:xfrm>
            <a:off x="3724773" y="2193392"/>
            <a:ext cx="52144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如果知道在某两个路口间的车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6216F66-7904-4A77-856D-3BE01E5ADB6D}"/>
              </a:ext>
            </a:extLst>
          </p:cNvPr>
          <p:cNvSpPr txBox="1"/>
          <p:nvPr/>
        </p:nvSpPr>
        <p:spPr>
          <a:xfrm>
            <a:off x="579480" y="2920130"/>
            <a:ext cx="2023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辆数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7133B0-7194-402A-9D4C-6985C6514DD4}"/>
              </a:ext>
            </a:extLst>
          </p:cNvPr>
          <p:cNvSpPr txBox="1"/>
          <p:nvPr/>
        </p:nvSpPr>
        <p:spPr>
          <a:xfrm>
            <a:off x="1738418" y="2921855"/>
            <a:ext cx="5904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则其他路口间的车辆数即可求得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2103BE-F888-47C7-944F-ED94A4A71019}"/>
              </a:ext>
            </a:extLst>
          </p:cNvPr>
          <p:cNvSpPr txBox="1"/>
          <p:nvPr/>
        </p:nvSpPr>
        <p:spPr>
          <a:xfrm>
            <a:off x="7215318" y="2913072"/>
            <a:ext cx="1579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 b="1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2C458F-7061-46E6-8E9D-03CCB3BE3307}"/>
              </a:ext>
            </a:extLst>
          </p:cNvPr>
          <p:cNvSpPr txBox="1"/>
          <p:nvPr/>
        </p:nvSpPr>
        <p:spPr>
          <a:xfrm>
            <a:off x="573760" y="3639080"/>
            <a:ext cx="6875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假设在路口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i="1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之间的平均车辆数为</a:t>
            </a:r>
          </a:p>
        </p:txBody>
      </p:sp>
      <p:graphicFrame>
        <p:nvGraphicFramePr>
          <p:cNvPr id="27" name="Object 23">
            <a:extLst>
              <a:ext uri="{FF2B5EF4-FFF2-40B4-BE49-F238E27FC236}">
                <a16:creationId xmlns:a16="http://schemas.microsoft.com/office/drawing/2014/main" id="{970A4722-1005-4876-91D0-6AC93DFBC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307339"/>
              </p:ext>
            </p:extLst>
          </p:nvPr>
        </p:nvGraphicFramePr>
        <p:xfrm>
          <a:off x="3174656" y="5133264"/>
          <a:ext cx="2755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55800" imgH="419040" progId="Equation.DSMT4">
                  <p:embed/>
                </p:oleObj>
              </mc:Choice>
              <mc:Fallback>
                <p:oleObj name="Equation" r:id="rId8" imgW="2755800" imgH="419040" progId="Equation.DSMT4">
                  <p:embed/>
                  <p:pic>
                    <p:nvPicPr>
                      <p:cNvPr id="6" name="Object 23">
                        <a:extLst>
                          <a:ext uri="{FF2B5EF4-FFF2-40B4-BE49-F238E27FC236}">
                            <a16:creationId xmlns:a16="http://schemas.microsoft.com/office/drawing/2014/main" id="{A08B64DD-0F93-48E1-925D-69595C33F5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656" y="5133264"/>
                        <a:ext cx="2755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3">
            <a:extLst>
              <a:ext uri="{FF2B5EF4-FFF2-40B4-BE49-F238E27FC236}">
                <a16:creationId xmlns:a16="http://schemas.microsoft.com/office/drawing/2014/main" id="{D1FA66F5-6F48-4BBB-B9FF-33D1E8F7CA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700378"/>
              </p:ext>
            </p:extLst>
          </p:nvPr>
        </p:nvGraphicFramePr>
        <p:xfrm>
          <a:off x="6064645" y="5125205"/>
          <a:ext cx="2768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68400" imgH="419040" progId="Equation.DSMT4">
                  <p:embed/>
                </p:oleObj>
              </mc:Choice>
              <mc:Fallback>
                <p:oleObj name="Equation" r:id="rId10" imgW="2768400" imgH="419040" progId="Equation.DSMT4">
                  <p:embed/>
                  <p:pic>
                    <p:nvPicPr>
                      <p:cNvPr id="6" name="Object 23">
                        <a:extLst>
                          <a:ext uri="{FF2B5EF4-FFF2-40B4-BE49-F238E27FC236}">
                            <a16:creationId xmlns:a16="http://schemas.microsoft.com/office/drawing/2014/main" id="{A08B64DD-0F93-48E1-925D-69595C33F5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645" y="5125205"/>
                        <a:ext cx="2768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874539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2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0" grpId="0"/>
      <p:bldP spid="13" grpId="0"/>
      <p:bldP spid="15" grpId="0"/>
      <p:bldP spid="16" grpId="0"/>
      <p:bldP spid="19" grpId="0"/>
      <p:bldP spid="20" grpId="0"/>
      <p:bldP spid="21" grpId="0"/>
      <p:bldP spid="23" grpId="0"/>
      <p:bldP spid="2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43" y="1340768"/>
            <a:ext cx="7298506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线性方程组的常见表示方法有哪几种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5" name="Line 12">
            <a:extLst>
              <a:ext uri="{FF2B5EF4-FFF2-40B4-BE49-F238E27FC236}">
                <a16:creationId xmlns:a16="http://schemas.microsoft.com/office/drawing/2014/main" id="{80982FA9-26BC-4A95-9851-2F2FC5A77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74692"/>
            <a:ext cx="5407025" cy="598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线性方程组的解小结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516812" y="145743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295" y="1964772"/>
            <a:ext cx="8071861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线性方程组的判别法和解法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矩阵方程的解法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485512" y="207367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433" y="2615347"/>
            <a:ext cx="828203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线性方程组的判别法及含有参数的线性方程组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485512" y="2736418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8CB3E57B-55C7-4632-8419-C4CDE68B0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0468" y="3246788"/>
            <a:ext cx="17867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的解法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;</a:t>
            </a:r>
            <a:endParaRPr kumimoji="1" lang="en-US" altLang="zh-CN" sz="2500" b="1" i="0" u="none" strike="noStrike" kern="1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343" y="3895302"/>
            <a:ext cx="818414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利用线性方程组的解法解决一些实际问题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518714" y="4025751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69" y="4617888"/>
            <a:ext cx="809998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线性方程组的新解法和第一章介绍的克拉默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489666" y="468973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EF6CDA1F-681D-4762-AE88-78B8E9F6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0468" y="5275951"/>
            <a:ext cx="3010796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法则有何异同</a:t>
            </a:r>
            <a:r>
              <a:rPr lang="en-US" altLang="zh-CN" sz="25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19" grpId="0"/>
      <p:bldP spid="24" grpId="0"/>
      <p:bldP spid="27" grpId="0"/>
      <p:bldP spid="21" grpId="0"/>
    </p:bldLst>
  </p:timing>
</p:sld>
</file>

<file path=ppt/theme/theme1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18950</TotalTime>
  <Words>3599</Words>
  <Application>Microsoft Office PowerPoint</Application>
  <PresentationFormat>全屏显示(4:3)</PresentationFormat>
  <Paragraphs>454</Paragraphs>
  <Slides>63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3" baseType="lpstr">
      <vt:lpstr>黑体</vt:lpstr>
      <vt:lpstr>华文中宋</vt:lpstr>
      <vt:lpstr>宋体</vt:lpstr>
      <vt:lpstr>Arial</vt:lpstr>
      <vt:lpstr>Calibri</vt:lpstr>
      <vt:lpstr>Symbol</vt:lpstr>
      <vt:lpstr>Times New Roman</vt:lpstr>
      <vt:lpstr>Wingdings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rong jiang</cp:lastModifiedBy>
  <cp:revision>1105</cp:revision>
  <dcterms:created xsi:type="dcterms:W3CDTF">2012-06-17T01:12:18Z</dcterms:created>
  <dcterms:modified xsi:type="dcterms:W3CDTF">2023-08-25T05:54:30Z</dcterms:modified>
</cp:coreProperties>
</file>