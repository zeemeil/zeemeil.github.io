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6" r:id="rId4"/>
    <p:sldMasterId id="2147483700" r:id="rId5"/>
    <p:sldMasterId id="2147483712" r:id="rId6"/>
    <p:sldMasterId id="2147483724" r:id="rId7"/>
  </p:sldMasterIdLst>
  <p:notesMasterIdLst>
    <p:notesMasterId r:id="rId44"/>
  </p:notesMasterIdLst>
  <p:sldIdLst>
    <p:sldId id="1376" r:id="rId8"/>
    <p:sldId id="1129" r:id="rId9"/>
    <p:sldId id="340" r:id="rId10"/>
    <p:sldId id="1377" r:id="rId11"/>
    <p:sldId id="1130" r:id="rId12"/>
    <p:sldId id="1378" r:id="rId13"/>
    <p:sldId id="1364" r:id="rId14"/>
    <p:sldId id="1365" r:id="rId15"/>
    <p:sldId id="1379" r:id="rId16"/>
    <p:sldId id="1103" r:id="rId17"/>
    <p:sldId id="1381" r:id="rId18"/>
    <p:sldId id="263" r:id="rId19"/>
    <p:sldId id="1370" r:id="rId20"/>
    <p:sldId id="1372" r:id="rId21"/>
    <p:sldId id="1375" r:id="rId22"/>
    <p:sldId id="323" r:id="rId23"/>
    <p:sldId id="324" r:id="rId24"/>
    <p:sldId id="325" r:id="rId25"/>
    <p:sldId id="1170" r:id="rId26"/>
    <p:sldId id="257" r:id="rId27"/>
    <p:sldId id="1172" r:id="rId28"/>
    <p:sldId id="1163" r:id="rId29"/>
    <p:sldId id="1380" r:id="rId30"/>
    <p:sldId id="1160" r:id="rId31"/>
    <p:sldId id="1162" r:id="rId32"/>
    <p:sldId id="1137" r:id="rId33"/>
    <p:sldId id="1176" r:id="rId34"/>
    <p:sldId id="1171" r:id="rId35"/>
    <p:sldId id="1164" r:id="rId36"/>
    <p:sldId id="1167" r:id="rId37"/>
    <p:sldId id="1368" r:id="rId38"/>
    <p:sldId id="1149" r:id="rId39"/>
    <p:sldId id="1173" r:id="rId40"/>
    <p:sldId id="1174" r:id="rId41"/>
    <p:sldId id="1150" r:id="rId42"/>
    <p:sldId id="317" r:id="rId43"/>
  </p:sldIdLst>
  <p:sldSz cx="9144000" cy="6858000" type="screen4x3"/>
  <p:notesSz cx="6858000" cy="9144000"/>
  <p:custDataLst>
    <p:tags r:id="rId4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6666FF"/>
    <a:srgbClr val="969696"/>
    <a:srgbClr val="2B2BFF"/>
    <a:srgbClr val="3333FF"/>
    <a:srgbClr val="C7E6A4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/>
    <p:restoredTop sz="94353"/>
  </p:normalViewPr>
  <p:slideViewPr>
    <p:cSldViewPr showGuides="1">
      <p:cViewPr varScale="1">
        <p:scale>
          <a:sx n="73" d="100"/>
          <a:sy n="73" d="100"/>
        </p:scale>
        <p:origin x="7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93ABDA-0CC3-4AD4-AA29-0B709C7AA16C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17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0413" y="0"/>
            <a:ext cx="763587" cy="74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页脚占位符 1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0" rtl="0" eaLnBrk="0" fontAlgn="base" latinLnBrk="0" hangingPunct="0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Clr>
                <a:srgbClr val="0000FF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C00AC"/>
              </a:solidFill>
              <a:effectLst/>
              <a:uLnTx/>
              <a:uFillTx/>
              <a:latin typeface="+mn-lt"/>
              <a:ea typeface="+mn-ea"/>
              <a:cs typeface="楷体_GB2312" pitchFamily="49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67071D-6619-400A-8103-87D02CA6F9F9}" type="datetimeFigureOut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35D83A0-80DF-4DEC-9C63-42FBF4325AC9}" type="datetime1"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2024/3/3</a:t>
            </a:fld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0" rtl="0" eaLnBrk="0" fontAlgn="base" latinLnBrk="0" hangingPunct="0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Clr>
                <a:srgbClr val="0000FF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C00AC"/>
              </a:solidFill>
              <a:effectLst/>
              <a:uLnTx/>
              <a:uFillTx/>
              <a:latin typeface="+mn-lt"/>
              <a:ea typeface="+mn-ea"/>
              <a:cs typeface="楷体_GB2312" pitchFamily="49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053FCD-0437-4B35-BC2F-ECA0612D7ABE}" type="datetimeFigureOut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2024/3/3</a:t>
            </a:fld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35D83A0-80DF-4DEC-9C63-42FBF4325AC9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2024/3/3</a:t>
            </a:fld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‹#›</a:t>
            </a:fld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8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6775" y="0"/>
            <a:ext cx="630238" cy="631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72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0413" y="0"/>
            <a:ext cx="763587" cy="746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789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1713" y="0"/>
            <a:ext cx="509587" cy="509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5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0413" y="0"/>
            <a:ext cx="763587" cy="74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燕尾形 16">
            <a:hlinkClick r:id="" action="ppaction://hlinkshowjump?jump=previousslide" tooltip="上一页"/>
          </p:cNvPr>
          <p:cNvSpPr/>
          <p:nvPr/>
        </p:nvSpPr>
        <p:spPr>
          <a:xfrm flipH="1">
            <a:off x="8347075" y="6584950"/>
            <a:ext cx="233363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燕尾形 18">
            <a:hlinkClick r:id="" action="ppaction://hlinkshowjump?jump=nextslide" tooltip="下一页"/>
          </p:cNvPr>
          <p:cNvSpPr/>
          <p:nvPr/>
        </p:nvSpPr>
        <p:spPr>
          <a:xfrm>
            <a:off x="8829675" y="6597650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  <a:t>‹#›</a:t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5538975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3763346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7496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8545248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807028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3676806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986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263548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211203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1617642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4613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4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ru-RU" dirty="0"/>
              <a:t>单击此处编辑母版标题样式</a:t>
            </a:r>
          </a:p>
        </p:txBody>
      </p:sp>
      <p:sp>
        <p:nvSpPr>
          <p:cNvPr id="2051" name="Rectangle 15"/>
          <p:cNvSpPr>
            <a:spLocks noGrp="1"/>
          </p:cNvSpPr>
          <p:nvPr>
            <p:ph type="body" idx="1"/>
          </p:nvPr>
        </p:nvSpPr>
        <p:spPr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ru-RU" dirty="0"/>
              <a:t>单击此处编辑母版文本样式</a:t>
            </a:r>
          </a:p>
          <a:p>
            <a:pPr lvl="1"/>
            <a:r>
              <a:rPr lang="zh-CN" altLang="ru-RU" dirty="0"/>
              <a:t>第二级</a:t>
            </a:r>
          </a:p>
          <a:p>
            <a:pPr lvl="2"/>
            <a:r>
              <a:rPr lang="zh-CN" altLang="ru-RU" dirty="0"/>
              <a:t>第三级</a:t>
            </a:r>
          </a:p>
          <a:p>
            <a:pPr lvl="3"/>
            <a:r>
              <a:rPr lang="zh-CN" altLang="ru-RU" dirty="0"/>
              <a:t>第四级</a:t>
            </a:r>
          </a:p>
          <a:p>
            <a:pPr lvl="4"/>
            <a:r>
              <a:rPr lang="zh-CN" altLang="ru-RU" dirty="0"/>
              <a:t>第五级</a:t>
            </a:r>
          </a:p>
        </p:txBody>
      </p:sp>
      <p:sp>
        <p:nvSpPr>
          <p:cNvPr id="5015" name="Rectangle 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buFont typeface="Arial" panose="020B0604020202020204" pitchFamily="34" charset="0"/>
              <a:buNone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6" name="Rectangle 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  <a:cs typeface="Arial" panose="020B0604020202020204" pitchFamily="34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017" name="Rectangle 16"/>
          <p:cNvSpPr>
            <a:spLocks noGrp="1" noChangeArrowheads="1"/>
          </p:cNvSpPr>
          <p:nvPr>
            <p:ph type="dt" sz="half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SzPct val="100000"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SzPct val="100000"/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370888" y="85725"/>
            <a:ext cx="631825" cy="6413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sldNum="0" hdr="0" ftr="0" dt="0"/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itchFamily="49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itchFamily="49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 b="1">
                <a:solidFill>
                  <a:srgbClr val="FFFF9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zh-CN" altLang="en-US" dirty="0">
                <a:sym typeface="黑体" panose="02010609060101010101" pitchFamily="49" charset="-122"/>
              </a:rPr>
              <a:t>‹#›</a:t>
            </a:fld>
            <a:endParaRPr lang="zh-CN" altLang="en-US" dirty="0">
              <a:sym typeface="黑体" panose="02010609060101010101" pitchFamily="49" charset="-122"/>
            </a:endParaRPr>
          </a:p>
        </p:txBody>
      </p:sp>
      <p:pic>
        <p:nvPicPr>
          <p:cNvPr id="4103" name="Picture 2" descr="E:\党办校办\党办校办文件夹\学校资料\学校标志\校徽透明_蓝_完美版-2.pn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245475" y="187325"/>
            <a:ext cx="630238" cy="8397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sldNum="0" hdr="0" ftr="0" dt="0"/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itchFamily="49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itchFamily="49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itchFamily="49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/>
        </p:nvSpPr>
        <p:spPr bwMode="auto">
          <a:xfrm>
            <a:off x="611188" y="188913"/>
            <a:ext cx="3241675" cy="144463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AutoShape 27"/>
          <p:cNvSpPr>
            <a:spLocks noChangeArrowheads="1"/>
          </p:cNvSpPr>
          <p:nvPr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8"/>
          <p:cNvSpPr>
            <a:spLocks noChangeArrowheads="1"/>
          </p:cNvSpPr>
          <p:nvPr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utoShape 10"/>
          <p:cNvSpPr>
            <a:spLocks noChangeArrowheads="1"/>
          </p:cNvSpPr>
          <p:nvPr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AutoShape 24"/>
          <p:cNvSpPr>
            <a:spLocks noChangeArrowheads="1"/>
          </p:cNvSpPr>
          <p:nvPr/>
        </p:nvSpPr>
        <p:spPr bwMode="auto">
          <a:xfrm>
            <a:off x="1547813" y="115888"/>
            <a:ext cx="1655763" cy="144463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AutoShape 26"/>
          <p:cNvSpPr>
            <a:spLocks noChangeArrowheads="1"/>
          </p:cNvSpPr>
          <p:nvPr/>
        </p:nvSpPr>
        <p:spPr bwMode="auto">
          <a:xfrm>
            <a:off x="0" y="-71437"/>
            <a:ext cx="1223963" cy="142875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614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4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5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ransition spd="slow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786F7682-06EB-82AB-3EC8-9B2D12A0C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A21D4939-32B4-AF77-4D6E-6CF1E68D82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40C10607-57BA-9C2A-E811-34AE0A35F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FB7D1E5-69B8-FD0B-79E5-B9C293BF1A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55AF6246-6659-6B52-4FF6-A186519BD4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6C46DCAE-877E-B6FE-653F-9FBBF67D38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kumimoji="0" lang="zh-CN" altLang="zh-CN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258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55.xml"/><Relationship Id="rId1" Type="http://schemas.openxmlformats.org/officeDocument/2006/relationships/tags" Target="../tags/tag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55.xml"/><Relationship Id="rId1" Type="http://schemas.openxmlformats.org/officeDocument/2006/relationships/tags" Target="../tags/tag3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55.xml"/><Relationship Id="rId1" Type="http://schemas.openxmlformats.org/officeDocument/2006/relationships/tags" Target="../tags/tag4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1.emf"/><Relationship Id="rId7" Type="http://schemas.openxmlformats.org/officeDocument/2006/relationships/oleObject" Target="../embeddings/oleObject38.bin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52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45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55.bin"/><Relationship Id="rId3" Type="http://schemas.openxmlformats.org/officeDocument/2006/relationships/image" Target="../media/image53.wmf"/><Relationship Id="rId21" Type="http://schemas.openxmlformats.org/officeDocument/2006/relationships/image" Target="../media/image62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60.w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61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53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67.bin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55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1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74.wmf"/><Relationship Id="rId4" Type="http://schemas.openxmlformats.org/officeDocument/2006/relationships/oleObject" Target="../embeddings/oleObject69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55.xml"/><Relationship Id="rId1" Type="http://schemas.openxmlformats.org/officeDocument/2006/relationships/tags" Target="../tags/tag5.x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/>
          <p:nvPr/>
        </p:nvSpPr>
        <p:spPr>
          <a:xfrm>
            <a:off x="611560" y="188640"/>
            <a:ext cx="9144000" cy="492443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第四章  相似矩阵与二次型</a:t>
            </a:r>
          </a:p>
        </p:txBody>
      </p:sp>
      <p:sp>
        <p:nvSpPr>
          <p:cNvPr id="2" name="Rectangle 4"/>
          <p:cNvSpPr/>
          <p:nvPr/>
        </p:nvSpPr>
        <p:spPr>
          <a:xfrm>
            <a:off x="1439862" y="1628800"/>
            <a:ext cx="6264275" cy="6477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itchFamily="2" charset="-122"/>
              </a:rPr>
              <a:t>§2  </a:t>
            </a:r>
            <a:r>
              <a:rPr lang="zh-CN" altLang="en-US" sz="36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itchFamily="2" charset="-122"/>
              </a:rPr>
              <a:t>方阵的特征值与特征向量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0"/>
          <p:cNvSpPr/>
          <p:nvPr/>
        </p:nvSpPr>
        <p:spPr>
          <a:xfrm>
            <a:off x="447675" y="3810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rgbClr val="000000"/>
              </a:solidFill>
              <a:ea typeface="Gulim" pitchFamily="34" charset="-127"/>
            </a:endParaRPr>
          </a:p>
        </p:txBody>
      </p:sp>
      <p:sp>
        <p:nvSpPr>
          <p:cNvPr id="52229" name="Rectangle 30"/>
          <p:cNvSpPr/>
          <p:nvPr/>
        </p:nvSpPr>
        <p:spPr>
          <a:xfrm>
            <a:off x="2267744" y="0"/>
            <a:ext cx="9652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前言</a:t>
            </a:r>
          </a:p>
        </p:txBody>
      </p:sp>
      <p:sp>
        <p:nvSpPr>
          <p:cNvPr id="2" name="Text Box 3"/>
          <p:cNvSpPr/>
          <p:nvPr/>
        </p:nvSpPr>
        <p:spPr>
          <a:xfrm>
            <a:off x="107504" y="812800"/>
            <a:ext cx="7559675" cy="3248025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       本节重点解决以下问题</a:t>
            </a:r>
            <a:r>
              <a:rPr lang="en-US" altLang="zh-CN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: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什么是特征值和特征向量</a:t>
            </a:r>
            <a:r>
              <a:rPr lang="en-US" altLang="zh-CN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特征值和特征向量有哪些性质</a:t>
            </a:r>
            <a:r>
              <a:rPr lang="en-US" altLang="zh-CN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如何求方阵的特征值与特征向量</a:t>
            </a:r>
            <a:r>
              <a:rPr lang="en-US" altLang="zh-CN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?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特征值和特征向量有哪些实际应用</a:t>
            </a:r>
            <a:r>
              <a:rPr lang="en-US" altLang="zh-CN" sz="2800" dirty="0">
                <a:solidFill>
                  <a:srgbClr val="0000FF"/>
                </a:solidFill>
                <a:ea typeface="华文中宋" pitchFamily="2" charset="-122"/>
                <a:sym typeface="楷体_GB2312" pitchFamily="49" charset="-122"/>
              </a:rPr>
              <a:t>?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490663" y="1232570"/>
            <a:ext cx="6473825" cy="1139825"/>
            <a:chOff x="1601495" y="2058768"/>
            <a:chExt cx="7785649" cy="850826"/>
          </a:xfrm>
        </p:grpSpPr>
        <p:sp>
          <p:nvSpPr>
            <p:cNvPr id="7" name="文本框 6"/>
            <p:cNvSpPr txBox="1"/>
            <p:nvPr/>
          </p:nvSpPr>
          <p:spPr>
            <a:xfrm>
              <a:off x="1601495" y="2058768"/>
              <a:ext cx="7392357" cy="52258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algn="just" defTabSz="9144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1" kern="1200" cap="none" spc="0" normalizeH="0" baseline="0" noProof="0" dirty="0">
                  <a:solidFill>
                    <a:schemeClr val="tx1"/>
                  </a:solidFill>
                  <a:latin typeface="+mn-lt"/>
                  <a:ea typeface="华文中宋" pitchFamily="2" charset="-122"/>
                  <a:cs typeface="Times New Roman" panose="02020603050405020304" pitchFamily="18" charset="0"/>
                </a:rPr>
                <a:t>特征方程</a:t>
              </a:r>
              <a:r>
                <a:rPr kumimoji="1" lang="en-US" altLang="zh-CN" b="1" kern="1200" cap="none" spc="0" normalizeH="0" baseline="0" noProof="0" dirty="0">
                  <a:solidFill>
                    <a:schemeClr val="tx1"/>
                  </a:solidFill>
                  <a:latin typeface="+mn-lt"/>
                  <a:ea typeface="华文中宋" pitchFamily="2" charset="-122"/>
                  <a:cs typeface="Times New Roman" panose="02020603050405020304" pitchFamily="18" charset="0"/>
                </a:rPr>
                <a:t>(characteristic equations)</a:t>
              </a:r>
              <a:r>
                <a:rPr kumimoji="1" lang="zh-CN" altLang="en-US" b="1" kern="1200" cap="none" spc="0" normalizeH="0" baseline="0" noProof="0" dirty="0">
                  <a:solidFill>
                    <a:schemeClr val="tx1"/>
                  </a:solidFill>
                  <a:latin typeface="+mn-lt"/>
                  <a:ea typeface="华文中宋" pitchFamily="2" charset="-122"/>
                  <a:cs typeface="Times New Roman" panose="02020603050405020304" pitchFamily="18" charset="0"/>
                </a:rPr>
                <a:t>的</a:t>
              </a:r>
              <a:endPara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01495" y="2518546"/>
              <a:ext cx="7785649" cy="39104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algn="just" defTabSz="9144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1" kern="1200" cap="none" spc="0" normalizeH="0" baseline="0" noProof="0" dirty="0">
                  <a:solidFill>
                    <a:schemeClr val="tx1"/>
                  </a:solidFill>
                  <a:latin typeface="+mn-lt"/>
                  <a:ea typeface="华文中宋" pitchFamily="2" charset="-122"/>
                  <a:cs typeface="Times New Roman" panose="02020603050405020304" pitchFamily="18" charset="0"/>
                </a:rPr>
                <a:t>概念可</a:t>
              </a:r>
              <a:r>
                <a:rPr kumimoji="1" lang="zh-CN" altLang="en-US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以追溯到数学家</a:t>
              </a:r>
              <a:r>
                <a:rPr kumimoji="1" lang="zh-CN" altLang="en-US" b="1" kern="100" cap="none" spc="0" normalizeH="0" baseline="0" noProof="0" dirty="0">
                  <a:solidFill>
                    <a:srgbClr val="C00000"/>
                  </a:solidFill>
                  <a:latin typeface="+mn-lt"/>
                  <a:ea typeface="华文中宋" pitchFamily="2" charset="-122"/>
                  <a:cs typeface="+mn-cs"/>
                </a:rPr>
                <a:t>欧拉</a:t>
              </a:r>
              <a:r>
                <a:rPr kumimoji="1" lang="en-US" altLang="zh-CN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(</a:t>
              </a:r>
              <a:r>
                <a:rPr kumimoji="1" lang="en-IE" altLang="zh-CN" b="1" kern="100" cap="none" spc="0" normalizeH="0" baseline="0" noProof="0" dirty="0" err="1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leonhard</a:t>
              </a:r>
              <a:endParaRPr kumimoji="1" lang="zh-CN" altLang="en-US" b="1" kern="100" cap="none" spc="0" normalizeH="0" baseline="0" noProof="0" dirty="0">
                <a:latin typeface="+mn-lt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 bwMode="auto">
          <a:xfrm>
            <a:off x="2579563" y="3148682"/>
            <a:ext cx="58626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的人则是由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1821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年数学家</a:t>
            </a:r>
            <a:endParaRPr kumimoji="1" lang="zh-CN" altLang="en-US" b="1" kern="1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965075" y="4312320"/>
            <a:ext cx="53721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矩阵有特征值及任意阶实对称矩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 bwMode="auto">
          <a:xfrm>
            <a:off x="1004763" y="3696370"/>
            <a:ext cx="21336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柯西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提出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9942" name="Picture 14" descr="莱昂哈德·欧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38" y="716632"/>
            <a:ext cx="2133600" cy="246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 bwMode="auto">
          <a:xfrm>
            <a:off x="2490663" y="2510507"/>
            <a:ext cx="350361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IE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 Euler,1707—1783).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44" name="文本框 18"/>
          <p:cNvSpPr txBox="1"/>
          <p:nvPr/>
        </p:nvSpPr>
        <p:spPr>
          <a:xfrm>
            <a:off x="480888" y="3142332"/>
            <a:ext cx="146526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ea typeface="华文中宋" pitchFamily="2" charset="-122"/>
              </a:rPr>
              <a:t>数学家欧拉</a:t>
            </a:r>
            <a:endParaRPr lang="zh-CN" altLang="en-US" sz="1800" dirty="0">
              <a:solidFill>
                <a:schemeClr val="tx2"/>
              </a:solidFill>
              <a:ea typeface="华文中宋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 bwMode="auto">
          <a:xfrm>
            <a:off x="5640263" y="2497807"/>
            <a:ext cx="30734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而确定这个术语</a:t>
            </a:r>
            <a:endParaRPr kumimoji="1" lang="zh-CN" altLang="en-US" b="1" kern="1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9946" name="Picture 16" descr="柯西画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513" y="3277270"/>
            <a:ext cx="1549400" cy="188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7" name="文本框 26"/>
          <p:cNvSpPr txBox="1"/>
          <p:nvPr/>
        </p:nvSpPr>
        <p:spPr>
          <a:xfrm>
            <a:off x="6907088" y="5148932"/>
            <a:ext cx="14636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ea typeface="华文中宋" pitchFamily="2" charset="-122"/>
              </a:rPr>
              <a:t>数学家柯西</a:t>
            </a:r>
            <a:endParaRPr lang="zh-CN" altLang="en-US" sz="1800" dirty="0">
              <a:solidFill>
                <a:schemeClr val="tx2"/>
              </a:solidFill>
              <a:ea typeface="华文中宋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 bwMode="auto">
          <a:xfrm>
            <a:off x="949200" y="4948907"/>
            <a:ext cx="438785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阵都有实特征值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. 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53262" name="Rectangle 20"/>
          <p:cNvSpPr/>
          <p:nvPr/>
        </p:nvSpPr>
        <p:spPr>
          <a:xfrm>
            <a:off x="447675" y="3810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rgbClr val="000000"/>
              </a:solidFill>
              <a:ea typeface="Gulim" pitchFamily="34" charset="-127"/>
            </a:endParaRPr>
          </a:p>
        </p:txBody>
      </p:sp>
      <p:sp>
        <p:nvSpPr>
          <p:cNvPr id="53264" name="Rectangle 30"/>
          <p:cNvSpPr/>
          <p:nvPr/>
        </p:nvSpPr>
        <p:spPr>
          <a:xfrm>
            <a:off x="2305152" y="-20638"/>
            <a:ext cx="9652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前言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797050" y="3697957"/>
            <a:ext cx="381317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</a:rPr>
              <a:t>他证明了阶数超过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</a:rPr>
              <a:t>的</a:t>
            </a:r>
            <a:endParaRPr lang="zh-CN" altLang="en-US" sz="2800" b="0" dirty="0">
              <a:solidFill>
                <a:schemeClr val="tx2"/>
              </a:solidFill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8" dur="20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17" grpId="0"/>
      <p:bldP spid="39944" grpId="0"/>
      <p:bldP spid="20" grpId="0"/>
      <p:bldP spid="39947" grpId="0"/>
      <p:bldP spid="28" grpId="0"/>
      <p:bldP spid="28" grpId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793106" y="837481"/>
            <a:ext cx="6934200" cy="1119187"/>
            <a:chOff x="1048309" y="598042"/>
            <a:chExt cx="8585665" cy="1118590"/>
          </a:xfrm>
        </p:grpSpPr>
        <p:sp>
          <p:nvSpPr>
            <p:cNvPr id="3" name="文本框 2"/>
            <p:cNvSpPr txBox="1"/>
            <p:nvPr/>
          </p:nvSpPr>
          <p:spPr>
            <a:xfrm>
              <a:off x="1461081" y="598042"/>
              <a:ext cx="8172893" cy="52359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algn="just" defTabSz="9144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有关特征值和特征向量的问题</a:t>
              </a:r>
              <a:r>
                <a:rPr kumimoji="1" lang="en-US" altLang="zh-CN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,</a:t>
              </a:r>
              <a:r>
                <a:rPr kumimoji="1" lang="zh-CN" altLang="en-US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在实际</a:t>
              </a:r>
              <a:endParaRPr kumimoji="1" lang="zh-CN" altLang="en-US" b="1" kern="100" cap="none" spc="0" normalizeH="0" baseline="0" noProof="0" dirty="0">
                <a:latin typeface="+mn-lt"/>
                <a:ea typeface="华文中宋" pitchFamily="2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48309" y="1193036"/>
              <a:ext cx="8402865" cy="52359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algn="just" defTabSz="9144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应用、理论研究中</a:t>
              </a:r>
              <a:r>
                <a:rPr kumimoji="1" lang="en-US" altLang="zh-CN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,</a:t>
              </a:r>
              <a:r>
                <a:rPr kumimoji="1" lang="zh-CN" altLang="en-US" b="1" kern="100" cap="none" spc="0" normalizeH="0" baseline="0" noProof="0" dirty="0">
                  <a:solidFill>
                    <a:srgbClr val="000000"/>
                  </a:solidFill>
                  <a:latin typeface="+mn-lt"/>
                  <a:ea typeface="华文中宋" pitchFamily="2" charset="-122"/>
                  <a:cs typeface="+mn-cs"/>
                </a:rPr>
                <a:t>如经济管理的许多</a:t>
              </a:r>
              <a:r>
                <a:rPr kumimoji="1" lang="zh-CN" altLang="en-US" b="1" kern="100" cap="none" spc="0" normalizeH="0" baseline="0" noProof="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itchFamily="2" charset="-122"/>
                  <a:cs typeface="+mn-cs"/>
                </a:rPr>
                <a:t>定量</a:t>
              </a:r>
              <a:endParaRPr kumimoji="1" lang="zh-CN" altLang="en-US" b="1" kern="100" cap="none" spc="0" normalizeH="0" baseline="0" noProof="0" dirty="0">
                <a:latin typeface="+mn-lt"/>
                <a:ea typeface="华文中宋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83568" y="2121768"/>
            <a:ext cx="74882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分析模型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,</a:t>
            </a: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工程技术的有关振动和稳定性等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83568" y="2875831"/>
            <a:ext cx="409416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问题经常会遇到</a:t>
            </a:r>
            <a:r>
              <a:rPr kumimoji="1" lang="en-US" altLang="zh-CN" b="1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kumimoji="1" lang="zh-CN" altLang="en-US" b="1" kern="100" cap="none" spc="0" normalizeH="0" baseline="0" noProof="0" dirty="0"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31231" y="3566393"/>
            <a:ext cx="30892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有一句话说得好：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61356" y="4417293"/>
            <a:ext cx="74898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just" defTabSz="91440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“只要有振动就有特征值</a:t>
            </a:r>
            <a:r>
              <a:rPr kumimoji="1" lang="en-US" altLang="zh-CN" b="1" kern="1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,</a:t>
            </a:r>
            <a:r>
              <a:rPr kumimoji="1" lang="zh-CN" altLang="en-US" b="1" kern="1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即振动的自然频率”</a:t>
            </a:r>
            <a:endParaRPr kumimoji="1" lang="zh-CN" altLang="en-US" b="1" kern="100" cap="none" spc="0" normalizeH="0" baseline="0" noProof="0" dirty="0">
              <a:solidFill>
                <a:srgbClr val="C00000"/>
              </a:solidFill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54279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rgbClr val="000000"/>
              </a:solidFill>
              <a:ea typeface="Gulim" pitchFamily="34" charset="-127"/>
            </a:endParaRPr>
          </a:p>
        </p:txBody>
      </p:sp>
      <p:sp>
        <p:nvSpPr>
          <p:cNvPr id="54281" name="Rectangle 30"/>
          <p:cNvSpPr/>
          <p:nvPr/>
        </p:nvSpPr>
        <p:spPr>
          <a:xfrm>
            <a:off x="1835696" y="-6349"/>
            <a:ext cx="37353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前言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2" grpId="0"/>
      <p:bldP spid="33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solidFill>
                <a:srgbClr val="000000"/>
              </a:solidFill>
              <a:ea typeface="Gulim" pitchFamily="34" charset="-127"/>
            </a:endParaRPr>
          </a:p>
        </p:txBody>
      </p:sp>
      <p:sp>
        <p:nvSpPr>
          <p:cNvPr id="55300" name="Rectangle 30"/>
          <p:cNvSpPr/>
          <p:nvPr/>
        </p:nvSpPr>
        <p:spPr>
          <a:xfrm>
            <a:off x="857250" y="9945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特征值、特征向量的定义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 flipV="1">
            <a:off x="2681536" y="721271"/>
            <a:ext cx="16716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 flipV="1">
            <a:off x="4568825" y="661988"/>
            <a:ext cx="508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 flipV="1">
            <a:off x="2238624" y="2408783"/>
            <a:ext cx="34607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1"/>
          <p:cNvSpPr>
            <a:spLocks noChangeArrowheads="1"/>
          </p:cNvSpPr>
          <p:nvPr/>
        </p:nvSpPr>
        <p:spPr bwMode="auto">
          <a:xfrm>
            <a:off x="776536" y="692696"/>
            <a:ext cx="665321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4.8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设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阶矩阵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如果数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和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95536" y="1319758"/>
            <a:ext cx="4572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维非零列向量 </a:t>
            </a:r>
            <a:r>
              <a:rPr lang="en-US" altLang="zh-CN" sz="2800" i="1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使关系式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827586" y="1862683"/>
            <a:ext cx="47164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i="1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Ax =  x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                           (1)</a:t>
            </a:r>
            <a:endParaRPr lang="zh-CN" altLang="en-US" sz="2800" dirty="0">
              <a:solidFill>
                <a:srgbClr val="000000"/>
              </a:solidFill>
              <a:ea typeface="华文中宋" pitchFamily="2" charset="-122"/>
              <a:sym typeface="Symbol" panose="05050102010706020507" pitchFamily="18" charset="2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395536" y="2443708"/>
            <a:ext cx="9937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成立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,</a:t>
            </a:r>
            <a:endParaRPr lang="zh-CN" altLang="en-US" sz="2800" dirty="0">
              <a:solidFill>
                <a:srgbClr val="000000"/>
              </a:solidFill>
              <a:ea typeface="华文中宋" pitchFamily="2" charset="-122"/>
              <a:sym typeface="Symbol" panose="05050102010706020507" pitchFamily="18" charset="2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1341686" y="2423071"/>
            <a:ext cx="62753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那么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这样的数 </a:t>
            </a:r>
            <a:r>
              <a:rPr lang="zh-CN" altLang="en-US" sz="2800" i="1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称为方阵 </a:t>
            </a:r>
            <a:r>
              <a:rPr lang="en-US" altLang="zh-CN" sz="2800" i="1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特征值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,</a:t>
            </a:r>
            <a:endParaRPr lang="zh-CN" altLang="en-US" sz="2800" dirty="0">
              <a:solidFill>
                <a:srgbClr val="000000"/>
              </a:solidFill>
              <a:ea typeface="华文中宋" pitchFamily="2" charset="-122"/>
              <a:sym typeface="Symbol" panose="05050102010706020507" pitchFamily="18" charset="2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395536" y="3132683"/>
            <a:ext cx="73501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非零向量 </a:t>
            </a:r>
            <a:r>
              <a:rPr lang="en-US" altLang="zh-CN" sz="2800" i="1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称为 </a:t>
            </a:r>
            <a:r>
              <a:rPr lang="en-US" altLang="zh-CN" sz="2800" i="1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的对应于特征值 </a:t>
            </a:r>
            <a:r>
              <a:rPr lang="zh-CN" altLang="en-US" sz="2800" i="1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的</a:t>
            </a:r>
            <a:r>
              <a:rPr lang="zh-CN" altLang="en-US" sz="2800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特征</a:t>
            </a:r>
            <a:endParaRPr lang="en-US" altLang="zh-CN" sz="2800" dirty="0">
              <a:solidFill>
                <a:srgbClr val="000000"/>
              </a:solidFill>
              <a:ea typeface="华文中宋" pitchFamily="2" charset="-122"/>
              <a:sym typeface="Symbol" panose="05050102010706020507" pitchFamily="18" charset="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95536" y="4475708"/>
            <a:ext cx="68770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注</a:t>
            </a:r>
            <a:r>
              <a:rPr lang="zh-CN" altLang="en-US" sz="2800" i="1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(i) 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特征值问题是对方阵而言的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38" name="Rectangle 36"/>
          <p:cNvSpPr/>
          <p:nvPr/>
        </p:nvSpPr>
        <p:spPr>
          <a:xfrm>
            <a:off x="430461" y="5117058"/>
            <a:ext cx="69850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(ii) 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特征值可以为零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但特征向量         </a:t>
            </a:r>
            <a:endParaRPr lang="en-US" altLang="zh-CN" sz="2800" dirty="0">
              <a:solidFill>
                <a:srgbClr val="000000"/>
              </a:solidFill>
              <a:ea typeface="华文中宋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953846"/>
              </p:ext>
            </p:extLst>
          </p:nvPr>
        </p:nvGraphicFramePr>
        <p:xfrm>
          <a:off x="5419974" y="5242471"/>
          <a:ext cx="8096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19100" imgH="177800" progId="Equation.DSMT4">
                  <p:embed/>
                </p:oleObj>
              </mc:Choice>
              <mc:Fallback>
                <p:oleObj r:id="rId2" imgW="419100" imgH="177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19974" y="5242471"/>
                        <a:ext cx="809625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6"/>
          <p:cNvSpPr/>
          <p:nvPr/>
        </p:nvSpPr>
        <p:spPr>
          <a:xfrm>
            <a:off x="430461" y="3812133"/>
            <a:ext cx="20288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ea typeface="华文中宋" pitchFamily="2" charset="-122"/>
                <a:sym typeface="Symbol" panose="05050102010706020507" pitchFamily="18" charset="2"/>
              </a:rPr>
              <a:t>向量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ea typeface="华文中宋" pitchFamily="2" charset="-122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32" grpId="0" build="p" advAuto="1000"/>
      <p:bldP spid="33" grpId="0" build="p" advAuto="1000"/>
      <p:bldP spid="34" grpId="0" build="p" advAuto="1000"/>
      <p:bldP spid="35" grpId="0" build="p"/>
      <p:bldP spid="36" grpId="0" build="p" advAuto="1000"/>
      <p:bldP spid="37" grpId="0" build="p" advAuto="1000"/>
      <p:bldP spid="38" grpId="0" build="p" advAuto="1000"/>
      <p:bldP spid="40" grpId="0" build="p" advAuto="100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6324" name="Rectangle 30"/>
          <p:cNvSpPr/>
          <p:nvPr/>
        </p:nvSpPr>
        <p:spPr>
          <a:xfrm>
            <a:off x="770866" y="9526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特征值、特征向量之例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 flipV="1">
            <a:off x="4576354" y="542926"/>
            <a:ext cx="508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 flipV="1">
            <a:off x="2631033" y="2574925"/>
            <a:ext cx="346075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56331" name="Rectangle 3"/>
          <p:cNvSpPr txBox="1"/>
          <p:nvPr/>
        </p:nvSpPr>
        <p:spPr>
          <a:xfrm>
            <a:off x="1092337" y="1149351"/>
            <a:ext cx="1546225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例如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3"/>
          <p:cNvSpPr txBox="1"/>
          <p:nvPr/>
        </p:nvSpPr>
        <p:spPr>
          <a:xfrm>
            <a:off x="6691858" y="2366692"/>
            <a:ext cx="952500" cy="53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9521" y="2195513"/>
            <a:ext cx="1941512" cy="693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6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 </a:t>
            </a:r>
            <a:r>
              <a:rPr lang="zh-CN" altLang="en-US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2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为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29608" y="2365375"/>
            <a:ext cx="19050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的特征值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Rectangle 3"/>
          <p:cNvSpPr txBox="1"/>
          <p:nvPr/>
        </p:nvSpPr>
        <p:spPr>
          <a:xfrm>
            <a:off x="686346" y="3495675"/>
            <a:ext cx="4751387" cy="53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对应于</a:t>
            </a:r>
            <a:r>
              <a:rPr lang="zh-CN" altLang="en-US" sz="2800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= 2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的特征向量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633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293457"/>
              </p:ext>
            </p:extLst>
          </p:nvPr>
        </p:nvGraphicFramePr>
        <p:xfrm>
          <a:off x="2194062" y="922338"/>
          <a:ext cx="36576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11300" imgH="469900" progId="Equation.DSMT4">
                  <p:embed/>
                </p:oleObj>
              </mc:Choice>
              <mc:Fallback>
                <p:oleObj r:id="rId2" imgW="1511300" imgH="4699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4062" y="922338"/>
                        <a:ext cx="3657600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420558"/>
              </p:ext>
            </p:extLst>
          </p:nvPr>
        </p:nvGraphicFramePr>
        <p:xfrm>
          <a:off x="2461171" y="2171700"/>
          <a:ext cx="1598612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60400" imgH="469900" progId="Equation.DSMT4">
                  <p:embed/>
                </p:oleObj>
              </mc:Choice>
              <mc:Fallback>
                <p:oleObj r:id="rId4" imgW="660400" imgH="4699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1171" y="2171700"/>
                        <a:ext cx="1598612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722744"/>
              </p:ext>
            </p:extLst>
          </p:nvPr>
        </p:nvGraphicFramePr>
        <p:xfrm>
          <a:off x="5831433" y="2155555"/>
          <a:ext cx="86042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55600" imgH="469900" progId="Equation.DSMT4">
                  <p:embed/>
                </p:oleObj>
              </mc:Choice>
              <mc:Fallback>
                <p:oleObj r:id="rId6" imgW="355600" imgH="4699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31433" y="2155555"/>
                        <a:ext cx="860425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7348" name="Rectangle 30"/>
          <p:cNvSpPr/>
          <p:nvPr/>
        </p:nvSpPr>
        <p:spPr>
          <a:xfrm>
            <a:off x="755576" y="0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rgbClr val="00007D"/>
              </a:buClr>
              <a:buNone/>
            </a:pP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itchFamily="2" charset="-122"/>
              </a:rPr>
              <a:t>特征值、特征向量的定义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 flipV="1">
            <a:off x="4183435" y="681658"/>
            <a:ext cx="5080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 flipV="1">
            <a:off x="3496048" y="676895"/>
            <a:ext cx="1671638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 flipV="1">
            <a:off x="4704135" y="654670"/>
            <a:ext cx="50800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4" name="Rectangle 3"/>
          <p:cNvSpPr txBox="1"/>
          <p:nvPr/>
        </p:nvSpPr>
        <p:spPr>
          <a:xfrm>
            <a:off x="997323" y="841375"/>
            <a:ext cx="7559675" cy="3009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defTabSz="0">
              <a:lnSpc>
                <a:spcPct val="110000"/>
              </a:lnSpc>
              <a:buClr>
                <a:srgbClr val="00007D"/>
              </a:buClr>
              <a:buNone/>
            </a:pP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lnSpc>
                <a:spcPct val="110000"/>
              </a:lnSpc>
              <a:buClr>
                <a:srgbClr val="00007D"/>
              </a:buClr>
              <a:buNone/>
            </a:pP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	              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</a:p>
          <a:p>
            <a:pPr marL="342900" lvl="0" indent="-342900" defTabSz="0">
              <a:lnSpc>
                <a:spcPct val="130000"/>
              </a:lnSpc>
              <a:buClr>
                <a:srgbClr val="00007D"/>
              </a:buClr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	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非零向量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满足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−</a:t>
            </a:r>
            <a:r>
              <a:rPr lang="el-GR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x =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0  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零向量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lvl="0" indent="-342900" defTabSz="0">
              <a:lnSpc>
                <a:spcPct val="13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	齐次线性方程组有非零解</a:t>
            </a:r>
          </a:p>
          <a:p>
            <a:pPr marL="342900" lvl="0" indent="-342900" defTabSz="0">
              <a:lnSpc>
                <a:spcPct val="130000"/>
              </a:lnSpc>
              <a:buClr>
                <a:srgbClr val="00007D"/>
              </a:buClr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	系数行列式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|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−</a:t>
            </a:r>
            <a:r>
              <a:rPr lang="el-GR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|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= 0</a:t>
            </a:r>
          </a:p>
        </p:txBody>
      </p:sp>
      <p:sp>
        <p:nvSpPr>
          <p:cNvPr id="16" name="AutoShape 8"/>
          <p:cNvSpPr>
            <a:spLocks noChangeArrowheads="1"/>
          </p:cNvSpPr>
          <p:nvPr/>
        </p:nvSpPr>
        <p:spPr bwMode="auto">
          <a:xfrm>
            <a:off x="757610" y="2754933"/>
            <a:ext cx="431800" cy="431800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757610" y="3370883"/>
            <a:ext cx="431800" cy="431800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9" name="AutoShape 10"/>
          <p:cNvSpPr>
            <a:spLocks noChangeArrowheads="1"/>
          </p:cNvSpPr>
          <p:nvPr/>
        </p:nvSpPr>
        <p:spPr bwMode="auto">
          <a:xfrm>
            <a:off x="783010" y="2077070"/>
            <a:ext cx="431800" cy="431800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chemeClr val="bg1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611560" y="3985245"/>
            <a:ext cx="27511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从而立刻得</a:t>
            </a:r>
            <a:endParaRPr kumimoji="1" lang="en-US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763960" y="799133"/>
            <a:ext cx="73374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由</a:t>
            </a:r>
            <a:r>
              <a:rPr kumimoji="1" lang="en-IE" altLang="zh-CN" sz="28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阶矩阵</a:t>
            </a:r>
            <a:r>
              <a:rPr kumimoji="1" lang="en-US" altLang="zh-CN" sz="28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的特征值、特征向量的定义知</a:t>
            </a:r>
            <a:endParaRPr kumimoji="1" lang="en-US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>
                                      <p:cBhvr>
                                        <p:cTn id="3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 bldLvl="0" animBg="1"/>
      <p:bldP spid="19" grpId="0" bldLvl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5300" name="Rectangle 30"/>
          <p:cNvSpPr>
            <a:spLocks noChangeArrowheads="1"/>
          </p:cNvSpPr>
          <p:nvPr/>
        </p:nvSpPr>
        <p:spPr bwMode="auto">
          <a:xfrm>
            <a:off x="827584" y="-17929"/>
            <a:ext cx="638175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特征多项式、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特征方程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的定义</a:t>
            </a:r>
          </a:p>
        </p:txBody>
      </p:sp>
      <p:sp>
        <p:nvSpPr>
          <p:cNvPr id="56328" name="文本框 14"/>
          <p:cNvSpPr txBox="1"/>
          <p:nvPr/>
        </p:nvSpPr>
        <p:spPr>
          <a:xfrm>
            <a:off x="323528" y="4367758"/>
            <a:ext cx="67897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方程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A</a:t>
            </a:r>
            <a:r>
              <a:rPr lang="zh-CN" altLang="en-US" sz="2800" b="1" i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－</a:t>
            </a:r>
            <a:r>
              <a:rPr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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|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=0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 称为矩阵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特征方程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4166" y="3558133"/>
            <a:ext cx="77851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式中 </a:t>
            </a:r>
            <a:r>
              <a:rPr kumimoji="1" lang="zh-CN" altLang="en-US" b="1" i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kumimoji="1" lang="zh-CN" altLang="en-US" b="1" i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b="1" i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次多项式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称为矩阵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A 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</a:t>
            </a:r>
            <a:r>
              <a:rPr kumimoji="0" lang="zh-CN" altLang="en-US" b="1" kern="0" cap="none" spc="0" normalizeH="0" baseline="0" noProof="0" dirty="0">
                <a:solidFill>
                  <a:srgbClr val="C00000"/>
                </a:solidFill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特征多项式 </a:t>
            </a:r>
            <a:r>
              <a:rPr kumimoji="0" lang="en-US" altLang="zh-CN" b="1" kern="0" cap="none" spc="0" normalizeH="0" baseline="0" noProof="0" dirty="0">
                <a:solidFill>
                  <a:srgbClr val="C00000"/>
                </a:solidFill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  <a:endParaRPr kumimoji="0" lang="zh-CN" altLang="en-US" b="1" kern="0" cap="none" spc="0" normalizeH="0" baseline="0" noProof="0" dirty="0">
              <a:solidFill>
                <a:srgbClr val="C00000"/>
              </a:solidFill>
              <a:latin typeface="Times New Roman" panose="02020603050405020304"/>
              <a:ea typeface="华文中宋" pitchFamily="2" charset="-122"/>
              <a:cs typeface="+mn-cs"/>
            </a:endParaRPr>
          </a:p>
        </p:txBody>
      </p:sp>
      <p:graphicFrame>
        <p:nvGraphicFramePr>
          <p:cNvPr id="24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846998"/>
              </p:ext>
            </p:extLst>
          </p:nvPr>
        </p:nvGraphicFramePr>
        <p:xfrm>
          <a:off x="993453" y="1856333"/>
          <a:ext cx="11779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94765" imgH="546100" progId="Equation.DSMT4">
                  <p:embed/>
                </p:oleObj>
              </mc:Choice>
              <mc:Fallback>
                <p:oleObj r:id="rId2" imgW="1294765" imgH="5461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3453" y="1856333"/>
                        <a:ext cx="1177925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658703"/>
              </p:ext>
            </p:extLst>
          </p:nvPr>
        </p:nvGraphicFramePr>
        <p:xfrm>
          <a:off x="2260278" y="1045121"/>
          <a:ext cx="4826000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08600" imgH="2374900" progId="Equation.DSMT4">
                  <p:embed/>
                </p:oleObj>
              </mc:Choice>
              <mc:Fallback>
                <p:oleObj r:id="rId4" imgW="5308600" imgH="23749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0278" y="1045121"/>
                        <a:ext cx="4826000" cy="2147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3"/>
          <p:cNvSpPr/>
          <p:nvPr/>
        </p:nvSpPr>
        <p:spPr>
          <a:xfrm>
            <a:off x="323528" y="5178971"/>
            <a:ext cx="612775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显然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的特征值就是特征方程的解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</a:p>
        </p:txBody>
      </p:sp>
      <p:sp>
        <p:nvSpPr>
          <p:cNvPr id="2" name="Rectangle 31"/>
          <p:cNvSpPr>
            <a:spLocks noChangeArrowheads="1"/>
          </p:cNvSpPr>
          <p:nvPr/>
        </p:nvSpPr>
        <p:spPr bwMode="auto">
          <a:xfrm>
            <a:off x="758503" y="692696"/>
            <a:ext cx="24257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定义</a:t>
            </a:r>
            <a:r>
              <a:rPr kumimoji="1" lang="en-IE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4.9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8" grpId="0"/>
      <p:bldP spid="23" grpId="0"/>
      <p:bldP spid="27" grpId="0" build="p"/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876300" y="742827"/>
            <a:ext cx="698500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1)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若</a:t>
            </a:r>
            <a:r>
              <a:rPr kumimoji="1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IE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是方阵 </a:t>
            </a:r>
            <a:r>
              <a:rPr kumimoji="1" lang="pt-B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的属于特征值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0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的特征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682750" y="1612777"/>
            <a:ext cx="62833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则 </a:t>
            </a:r>
            <a:r>
              <a:rPr kumimoji="1" lang="en-IE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一定是非零向量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且对于任意非零</a:t>
            </a: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1736725" y="2360490"/>
            <a:ext cx="62833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k</a:t>
            </a:r>
            <a:r>
              <a:rPr kumimoji="1" lang="en-IE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也是 </a:t>
            </a:r>
            <a:r>
              <a:rPr kumimoji="1" lang="pt-B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属于特征值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0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的特征向量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5500" y="1611190"/>
            <a:ext cx="1512888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5500" y="2365252"/>
            <a:ext cx="137001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常数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9406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07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9409" name="Rectangle 30"/>
          <p:cNvSpPr/>
          <p:nvPr/>
        </p:nvSpPr>
        <p:spPr>
          <a:xfrm>
            <a:off x="734368" y="-8061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24" grpId="0" build="p" advAuto="1000"/>
      <p:bldP spid="40" grpId="0" build="p" advAuto="1000"/>
      <p:bldP spid="7" grpId="0" build="p"/>
      <p:bldP spid="8" grpId="0" build="p" advAuto="100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6FC7-5A8D-46A9-E14E-C9D2D3AC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6" name="Rectangle 4">
            <a:extLst>
              <a:ext uri="{FF2B5EF4-FFF2-40B4-BE49-F238E27FC236}">
                <a16:creationId xmlns:a16="http://schemas.microsoft.com/office/drawing/2014/main" id="{4E42B10F-F0A1-8DE6-7C1E-73C8925E4E97}"/>
              </a:ext>
            </a:extLst>
          </p:cNvPr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07" name="Rectangle 20">
            <a:extLst>
              <a:ext uri="{FF2B5EF4-FFF2-40B4-BE49-F238E27FC236}">
                <a16:creationId xmlns:a16="http://schemas.microsoft.com/office/drawing/2014/main" id="{E5EBC9C8-F89D-537C-7F29-585FCFE05EDF}"/>
              </a:ext>
            </a:extLst>
          </p:cNvPr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59409" name="Rectangle 30">
            <a:extLst>
              <a:ext uri="{FF2B5EF4-FFF2-40B4-BE49-F238E27FC236}">
                <a16:creationId xmlns:a16="http://schemas.microsoft.com/office/drawing/2014/main" id="{9B8F314B-7908-C6EB-209B-52C44AA14D83}"/>
              </a:ext>
            </a:extLst>
          </p:cNvPr>
          <p:cNvSpPr/>
          <p:nvPr/>
        </p:nvSpPr>
        <p:spPr>
          <a:xfrm>
            <a:off x="734368" y="-8061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830498" y="1546780"/>
            <a:ext cx="467360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与其有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相同的特征值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115616" y="864213"/>
            <a:ext cx="44386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IE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2)    </a:t>
            </a:r>
            <a:r>
              <a:rPr kumimoji="1" lang="en-IE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n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阶方阵</a:t>
            </a:r>
            <a:r>
              <a:rPr kumimoji="1" lang="pt-B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的转置矩阵</a:t>
            </a: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300192"/>
              </p:ext>
            </p:extLst>
          </p:nvPr>
        </p:nvGraphicFramePr>
        <p:xfrm>
          <a:off x="7538641" y="903900"/>
          <a:ext cx="476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3200" imgH="190500" progId="Equation.DSMT4">
                  <p:embed/>
                </p:oleObj>
              </mc:Choice>
              <mc:Fallback>
                <p:oleObj r:id="rId2" imgW="203200" imgH="190500" progId="Equation.DSMT4">
                  <p:embed/>
                  <p:pic>
                    <p:nvPicPr>
                      <p:cNvPr id="21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38641" y="903900"/>
                        <a:ext cx="4762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646341" y="903900"/>
            <a:ext cx="19954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、伴随矩阵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A207AB1-56FD-8D42-EF7E-46BE195AC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219" y="2263193"/>
            <a:ext cx="102870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kumimoji="0" lang="en-US" altLang="zh-CN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9">
            <a:extLst>
              <a:ext uri="{FF2B5EF4-FFF2-40B4-BE49-F238E27FC236}">
                <a16:creationId xmlns:a16="http://schemas.microsoft.com/office/drawing/2014/main" id="{79186832-D090-74F3-B2F4-CF033C274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919" y="2245731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0"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因为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43060026-87B3-74E1-57CE-2BE539CCE3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441233"/>
              </p:ext>
            </p:extLst>
          </p:nvPr>
        </p:nvGraphicFramePr>
        <p:xfrm>
          <a:off x="2616994" y="2785481"/>
          <a:ext cx="408463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700" imgH="279400" progId="Equation.DSMT4">
                  <p:embed/>
                </p:oleObj>
              </mc:Choice>
              <mc:Fallback>
                <p:oleObj name="Equation" r:id="rId4" imgW="2044700" imgH="279400" progId="Equation.DSMT4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726DB94D-80A5-BFAE-9513-05F54929A4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994" y="2785481"/>
                        <a:ext cx="4084637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2BC15892-666E-9C7F-1A54-9E85C7C391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771613"/>
              </p:ext>
            </p:extLst>
          </p:nvPr>
        </p:nvGraphicFramePr>
        <p:xfrm>
          <a:off x="2593181" y="3493506"/>
          <a:ext cx="39576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330200" progId="Equation.DSMT4">
                  <p:embed/>
                </p:oleObj>
              </mc:Choice>
              <mc:Fallback>
                <p:oleObj name="Equation" r:id="rId6" imgW="1981200" imgH="3302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0317A0D3-D28F-CACF-E175-9957520E93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181" y="3493506"/>
                        <a:ext cx="3957638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212AE50A-DFD9-39FA-4292-41F609FCB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854" y="4938133"/>
            <a:ext cx="407697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pt-BR" altLang="zh-CN" b="1" i="1" dirty="0">
                <a:ea typeface="华文中宋" panose="02010600040101010101" pitchFamily="2" charset="-122"/>
                <a:sym typeface="Symbol" panose="05050102010706020507" pitchFamily="18" charset="2"/>
              </a:rPr>
              <a:t>A 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有</a:t>
            </a:r>
            <a:r>
              <a:rPr lang="zh-CN" altLang="en-US" b="1" dirty="0">
                <a:latin typeface="+mn-lt"/>
                <a:ea typeface="华文中宋" panose="02010600040101010101" pitchFamily="2" charset="-122"/>
                <a:sym typeface="Symbol" panose="05050102010706020507" pitchFamily="18" charset="2"/>
              </a:rPr>
              <a:t>相同的特征多项式</a:t>
            </a:r>
            <a:r>
              <a:rPr lang="en-US" altLang="zh-CN" b="1" dirty="0">
                <a:latin typeface="+mn-lt"/>
                <a:ea typeface="华文中宋" panose="02010600040101010101" pitchFamily="2" charset="-122"/>
                <a:sym typeface="Symbol" panose="05050102010706020507" pitchFamily="18" charset="2"/>
              </a:rPr>
              <a:t>,</a:t>
            </a:r>
            <a:endParaRPr lang="zh-CN" altLang="en-US" b="1" dirty="0">
              <a:latin typeface="+mn-lt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3AC3C93-FE9F-4DD8-951F-241FFF49DE68}"/>
              </a:ext>
            </a:extLst>
          </p:cNvPr>
          <p:cNvGrpSpPr>
            <a:grpSpLocks/>
          </p:cNvGrpSpPr>
          <p:nvPr/>
        </p:nvGrpSpPr>
        <p:grpSpPr bwMode="auto">
          <a:xfrm>
            <a:off x="1115616" y="4303131"/>
            <a:ext cx="6985000" cy="523220"/>
            <a:chOff x="1331913" y="2929383"/>
            <a:chExt cx="6985000" cy="522884"/>
          </a:xfrm>
        </p:grpSpPr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E88B2ECD-B299-91AB-D399-2CB4DE773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913" y="2929383"/>
              <a:ext cx="6985000" cy="5228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dirty="0">
                  <a:latin typeface="+mn-lt"/>
                  <a:ea typeface="华文中宋" panose="02010600040101010101" pitchFamily="2" charset="-122"/>
                </a:rPr>
                <a:t>所以方阵 </a:t>
              </a:r>
              <a:r>
                <a:rPr lang="pt-BR" altLang="zh-CN" b="1" i="1" dirty="0">
                  <a:latin typeface="+mn-lt"/>
                  <a:ea typeface="华文中宋" panose="02010600040101010101" pitchFamily="2" charset="-122"/>
                  <a:sym typeface="Symbol" panose="05050102010706020507" pitchFamily="18" charset="2"/>
                </a:rPr>
                <a:t>A </a:t>
              </a:r>
              <a:r>
                <a:rPr lang="zh-CN" altLang="en-US" b="1" dirty="0">
                  <a:latin typeface="+mn-lt"/>
                  <a:ea typeface="华文中宋" panose="02010600040101010101" pitchFamily="2" charset="-122"/>
                  <a:sym typeface="Symbol" panose="05050102010706020507" pitchFamily="18" charset="2"/>
                </a:rPr>
                <a:t>的转置矩阵    、伴随矩阵     与</a:t>
              </a:r>
            </a:p>
          </p:txBody>
        </p:sp>
        <p:graphicFrame>
          <p:nvGraphicFramePr>
            <p:cNvPr id="18" name="对象 24">
              <a:extLst>
                <a:ext uri="{FF2B5EF4-FFF2-40B4-BE49-F238E27FC236}">
                  <a16:creationId xmlns:a16="http://schemas.microsoft.com/office/drawing/2014/main" id="{7DAD77B2-5BCC-43F3-4248-E64C78A649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5899632"/>
                </p:ext>
              </p:extLst>
            </p:nvPr>
          </p:nvGraphicFramePr>
          <p:xfrm>
            <a:off x="4987590" y="2969046"/>
            <a:ext cx="416534" cy="416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713" imgH="190335" progId="Equation.DSMT4">
                    <p:embed/>
                  </p:oleObj>
                </mc:Choice>
                <mc:Fallback>
                  <p:oleObj name="Equation" r:id="rId8" imgW="215713" imgH="190335" progId="Equation.DSMT4">
                    <p:embed/>
                    <p:pic>
                      <p:nvPicPr>
                        <p:cNvPr id="3084" name="对象 24">
                          <a:extLst>
                            <a:ext uri="{FF2B5EF4-FFF2-40B4-BE49-F238E27FC236}">
                              <a16:creationId xmlns:a16="http://schemas.microsoft.com/office/drawing/2014/main" id="{887F1F8E-9E88-AD67-081F-B422884739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7590" y="2969046"/>
                          <a:ext cx="416534" cy="416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25">
              <a:extLst>
                <a:ext uri="{FF2B5EF4-FFF2-40B4-BE49-F238E27FC236}">
                  <a16:creationId xmlns:a16="http://schemas.microsoft.com/office/drawing/2014/main" id="{6C55C3E1-8195-A8F4-B5EE-062670BF36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2294455"/>
                </p:ext>
              </p:extLst>
            </p:nvPr>
          </p:nvGraphicFramePr>
          <p:xfrm>
            <a:off x="7181975" y="2930115"/>
            <a:ext cx="416534" cy="441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3112" imgH="190417" progId="Equation.DSMT4">
                    <p:embed/>
                  </p:oleObj>
                </mc:Choice>
                <mc:Fallback>
                  <p:oleObj name="Equation" r:id="rId10" imgW="203112" imgH="190417" progId="Equation.DSMT4">
                    <p:embed/>
                    <p:pic>
                      <p:nvPicPr>
                        <p:cNvPr id="3085" name="对象 25">
                          <a:extLst>
                            <a:ext uri="{FF2B5EF4-FFF2-40B4-BE49-F238E27FC236}">
                              <a16:creationId xmlns:a16="http://schemas.microsoft.com/office/drawing/2014/main" id="{9701467E-964E-AADA-C75B-E60E130104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1975" y="2930115"/>
                          <a:ext cx="416534" cy="441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Rectangle 5">
            <a:extLst>
              <a:ext uri="{FF2B5EF4-FFF2-40B4-BE49-F238E27FC236}">
                <a16:creationId xmlns:a16="http://schemas.microsoft.com/office/drawing/2014/main" id="{92D56877-381C-253A-26A0-9B7FD48A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853" y="5573135"/>
            <a:ext cx="153265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+mn-lt"/>
                <a:ea typeface="华文中宋" panose="02010600040101010101" pitchFamily="2" charset="-122"/>
                <a:sym typeface="Symbol" panose="05050102010706020507" pitchFamily="18" charset="2"/>
              </a:rPr>
              <a:t>特征值</a:t>
            </a:r>
            <a:r>
              <a:rPr lang="en-US" altLang="zh-CN" b="1" dirty="0">
                <a:latin typeface="+mn-lt"/>
                <a:ea typeface="华文中宋" panose="02010600040101010101" pitchFamily="2" charset="-122"/>
                <a:sym typeface="Symbol" panose="05050102010706020507" pitchFamily="18" charset="2"/>
              </a:rPr>
              <a:t>.</a:t>
            </a:r>
            <a:endParaRPr lang="zh-CN" altLang="en-US" b="1" dirty="0">
              <a:latin typeface="+mn-lt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8" name="对象 24">
            <a:extLst>
              <a:ext uri="{FF2B5EF4-FFF2-40B4-BE49-F238E27FC236}">
                <a16:creationId xmlns:a16="http://schemas.microsoft.com/office/drawing/2014/main" id="{569C0FF3-7876-1275-2A17-E26B33379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517139"/>
              </p:ext>
            </p:extLst>
          </p:nvPr>
        </p:nvGraphicFramePr>
        <p:xfrm>
          <a:off x="5302591" y="931598"/>
          <a:ext cx="416534" cy="416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713" imgH="190335" progId="Equation.DSMT4">
                  <p:embed/>
                </p:oleObj>
              </mc:Choice>
              <mc:Fallback>
                <p:oleObj name="Equation" r:id="rId8" imgW="215713" imgH="190335" progId="Equation.DSMT4">
                  <p:embed/>
                  <p:pic>
                    <p:nvPicPr>
                      <p:cNvPr id="18" name="对象 24">
                        <a:extLst>
                          <a:ext uri="{FF2B5EF4-FFF2-40B4-BE49-F238E27FC236}">
                            <a16:creationId xmlns:a16="http://schemas.microsoft.com/office/drawing/2014/main" id="{7DAD77B2-5BCC-43F3-4248-E64C78A64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591" y="931598"/>
                        <a:ext cx="416534" cy="416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C9C53746-3C8F-6FBB-0F6D-36DEF39BE6CE}"/>
              </a:ext>
            </a:extLst>
          </p:cNvPr>
          <p:cNvSpPr txBox="1"/>
          <p:nvPr/>
        </p:nvSpPr>
        <p:spPr>
          <a:xfrm>
            <a:off x="4820475" y="4938133"/>
            <a:ext cx="3212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lt"/>
                <a:ea typeface="华文中宋" panose="02010600040101010101" pitchFamily="2" charset="-122"/>
                <a:sym typeface="Symbol" panose="05050102010706020507" pitchFamily="18" charset="2"/>
              </a:rPr>
              <a:t>则它们具有相同的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000142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dvAuto="1000"/>
      <p:bldP spid="3" grpId="0"/>
      <p:bldP spid="6" grpId="0"/>
      <p:bldP spid="9" grpId="0"/>
      <p:bldP spid="10" grpId="0"/>
      <p:bldP spid="13" grpId="0" build="p" autoUpdateAnimBg="0" advAuto="0"/>
      <p:bldP spid="22" grpId="0" build="p" autoUpdateAnimBg="0" advAuto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909637" y="794466"/>
            <a:ext cx="63881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Step 1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计算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的特征多项式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|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−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|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895350" y="1553291"/>
            <a:ext cx="691038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Step 2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求特征方程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|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−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|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= 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的所有根：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2855912" y="2158128"/>
            <a:ext cx="26987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, ···,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.</a:t>
            </a: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938212" y="2762966"/>
            <a:ext cx="722788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Step 3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对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的每个特征值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1, 2,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···,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),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919162" y="3523378"/>
            <a:ext cx="71183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求解齐次线性方程组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-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)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该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方程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923925" y="4282203"/>
            <a:ext cx="71183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组的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全部解即为矩阵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的对应于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的全部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特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+mn-cs"/>
            </a:endParaRPr>
          </a:p>
        </p:txBody>
      </p:sp>
      <p:sp>
        <p:nvSpPr>
          <p:cNvPr id="60424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0426" name="Rectangle 30"/>
          <p:cNvSpPr/>
          <p:nvPr/>
        </p:nvSpPr>
        <p:spPr>
          <a:xfrm>
            <a:off x="827584" y="0"/>
            <a:ext cx="6021388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重点问题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求特征值和特征向量的步骤</a:t>
            </a:r>
          </a:p>
        </p:txBody>
      </p:sp>
      <p:sp>
        <p:nvSpPr>
          <p:cNvPr id="7" name="Rectangle 36"/>
          <p:cNvSpPr/>
          <p:nvPr/>
        </p:nvSpPr>
        <p:spPr>
          <a:xfrm>
            <a:off x="923925" y="5044203"/>
            <a:ext cx="15811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征向量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35" grpId="0" build="p" advAuto="1000"/>
      <p:bldP spid="36" grpId="0" build="p" advAuto="1000"/>
      <p:bldP spid="37" grpId="0" build="p"/>
      <p:bldP spid="38" grpId="0" build="p" advAuto="1000"/>
      <p:bldP spid="39" grpId="0" build="p" advAuto="1000"/>
      <p:bldP spid="7" grpId="0" build="p" advAuto="100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ChangeArrowheads="1"/>
          </p:cNvSpPr>
          <p:nvPr/>
        </p:nvSpPr>
        <p:spPr bwMode="auto">
          <a:xfrm>
            <a:off x="535807" y="997569"/>
            <a:ext cx="7796213" cy="4794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4.7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求矩阵                  的特征值和特征向量．</a:t>
            </a:r>
          </a:p>
        </p:txBody>
      </p:sp>
      <p:sp>
        <p:nvSpPr>
          <p:cNvPr id="61443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960437" y="43657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  <p:graphicFrame>
        <p:nvGraphicFramePr>
          <p:cNvPr id="614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732697"/>
              </p:ext>
            </p:extLst>
          </p:nvPr>
        </p:nvGraphicFramePr>
        <p:xfrm>
          <a:off x="2845619" y="783257"/>
          <a:ext cx="15224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61365" imgH="469900" progId="Equation.DSMT4">
                  <p:embed/>
                </p:oleObj>
              </mc:Choice>
              <mc:Fallback>
                <p:oleObj r:id="rId2" imgW="761365" imgH="4699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45619" y="783257"/>
                        <a:ext cx="1522413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67544" y="1983407"/>
            <a:ext cx="47021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解</a:t>
            </a:r>
            <a:r>
              <a:rPr kumimoji="1" lang="zh-CN" altLang="en-US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</a:rPr>
              <a:t>   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因为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的特征多项式为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727149"/>
              </p:ext>
            </p:extLst>
          </p:nvPr>
        </p:nvGraphicFramePr>
        <p:xfrm>
          <a:off x="1772469" y="2856532"/>
          <a:ext cx="545465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730500" imgH="469900" progId="Equation.DSMT4">
                  <p:embed/>
                </p:oleObj>
              </mc:Choice>
              <mc:Fallback>
                <p:oleObj r:id="rId4" imgW="2730500" imgH="4699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2469" y="2856532"/>
                        <a:ext cx="5454650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35807" y="3986832"/>
            <a:ext cx="61420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所以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的特征值为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1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= 1,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 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2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= 5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049337" y="0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310321"/>
              </p:ext>
            </p:extLst>
          </p:nvPr>
        </p:nvGraphicFramePr>
        <p:xfrm>
          <a:off x="2474144" y="2623666"/>
          <a:ext cx="32480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25600" imgH="469900" progId="Equation.DSMT4">
                  <p:embed/>
                </p:oleObj>
              </mc:Choice>
              <mc:Fallback>
                <p:oleObj r:id="rId2" imgW="1625600" imgH="4699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4144" y="2623666"/>
                        <a:ext cx="3248025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83419" y="1780703"/>
            <a:ext cx="3911600" cy="479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解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续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  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当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1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= 1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时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80669" y="1769591"/>
            <a:ext cx="4141788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解方程组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−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I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)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x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= 0,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67544" y="4850928"/>
            <a:ext cx="5380038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的全部特征向量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1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≠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0)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．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67544" y="3925416"/>
            <a:ext cx="2181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得基础解系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7544" y="2799878"/>
            <a:ext cx="669925" cy="479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由</a:t>
            </a:r>
            <a:endParaRPr kumimoji="1" lang="en-US" altLang="zh-CN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987032" y="3979391"/>
            <a:ext cx="42068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所以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属于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特征值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1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= 1 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799056"/>
              </p:ext>
            </p:extLst>
          </p:nvPr>
        </p:nvGraphicFramePr>
        <p:xfrm>
          <a:off x="2304282" y="3739678"/>
          <a:ext cx="144621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23900" imgH="469900" progId="Equation.DSMT4">
                  <p:embed/>
                </p:oleObj>
              </mc:Choice>
              <mc:Fallback>
                <p:oleObj r:id="rId4" imgW="723900" imgH="4699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4282" y="3739678"/>
                        <a:ext cx="1446212" cy="938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85007" y="863128"/>
            <a:ext cx="7796213" cy="4794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4.7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求矩阵                  的特征值和特征向量．</a:t>
            </a:r>
          </a:p>
        </p:txBody>
      </p:sp>
      <p:graphicFrame>
        <p:nvGraphicFramePr>
          <p:cNvPr id="6247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257471"/>
              </p:ext>
            </p:extLst>
          </p:nvPr>
        </p:nvGraphicFramePr>
        <p:xfrm>
          <a:off x="2794819" y="648816"/>
          <a:ext cx="15224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1365" imgH="469900" progId="Equation.DSMT4">
                  <p:embed/>
                </p:oleObj>
              </mc:Choice>
              <mc:Fallback>
                <p:oleObj r:id="rId6" imgW="761365" imgH="4699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94819" y="648816"/>
                        <a:ext cx="1522413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1" grpId="1"/>
      <p:bldP spid="12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049337" y="-5228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897820"/>
              </p:ext>
            </p:extLst>
          </p:nvPr>
        </p:nvGraphicFramePr>
        <p:xfrm>
          <a:off x="2215952" y="2667546"/>
          <a:ext cx="39084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55800" imgH="469900" progId="Equation.DSMT4">
                  <p:embed/>
                </p:oleObj>
              </mc:Choice>
              <mc:Fallback>
                <p:oleObj r:id="rId2" imgW="1955800" imgH="4699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15952" y="2667546"/>
                        <a:ext cx="3908425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55427" y="1824583"/>
            <a:ext cx="3911600" cy="479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解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续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  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当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2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= 5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时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52677" y="1813471"/>
            <a:ext cx="4141788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解方程组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−5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I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)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x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= 0,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39552" y="4894808"/>
            <a:ext cx="5380038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的全部特征向量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2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2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≠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0)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．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39552" y="3969296"/>
            <a:ext cx="2181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得基础解系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39552" y="2843758"/>
            <a:ext cx="669925" cy="479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由</a:t>
            </a:r>
            <a:endParaRPr kumimoji="1" lang="en-US" altLang="zh-CN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59040" y="4023271"/>
            <a:ext cx="42068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所以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属于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特征值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2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= </a:t>
            </a:r>
            <a:r>
              <a:rPr kumimoji="1" lang="en-US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5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800355"/>
              </p:ext>
            </p:extLst>
          </p:nvPr>
        </p:nvGraphicFramePr>
        <p:xfrm>
          <a:off x="2465190" y="3783558"/>
          <a:ext cx="126841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35000" imgH="469900" progId="Equation.DSMT4">
                  <p:embed/>
                </p:oleObj>
              </mc:Choice>
              <mc:Fallback>
                <p:oleObj r:id="rId4" imgW="635000" imgH="4699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5190" y="3783558"/>
                        <a:ext cx="1268412" cy="938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57015" y="907008"/>
            <a:ext cx="7796213" cy="4794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4.7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求矩阵                  的特征值和特征向量．</a:t>
            </a:r>
          </a:p>
        </p:txBody>
      </p:sp>
      <p:graphicFrame>
        <p:nvGraphicFramePr>
          <p:cNvPr id="6350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10721"/>
              </p:ext>
            </p:extLst>
          </p:nvPr>
        </p:nvGraphicFramePr>
        <p:xfrm>
          <a:off x="2866827" y="692696"/>
          <a:ext cx="15224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1365" imgH="469900" progId="Equation.DSMT4">
                  <p:embed/>
                </p:oleObj>
              </mc:Choice>
              <mc:Fallback>
                <p:oleObj r:id="rId6" imgW="761365" imgH="4699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66827" y="692696"/>
                        <a:ext cx="1522413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1" grpId="1"/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611831" y="1073943"/>
            <a:ext cx="7848600" cy="46593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4.8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求矩阵                       的特征值和特征向量．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解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所以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的特征值为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= </a:t>
            </a:r>
            <a:r>
              <a:rPr kumimoji="1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−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1,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 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=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3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= 1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．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303984"/>
              </p:ext>
            </p:extLst>
          </p:nvPr>
        </p:nvGraphicFramePr>
        <p:xfrm>
          <a:off x="2761306" y="664368"/>
          <a:ext cx="1952625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77900" imgH="698500" progId="Equation.DSMT4">
                  <p:embed/>
                </p:oleObj>
              </mc:Choice>
              <mc:Fallback>
                <p:oleObj r:id="rId2" imgW="977900" imgH="6985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61306" y="664368"/>
                        <a:ext cx="1952625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809014"/>
              </p:ext>
            </p:extLst>
          </p:nvPr>
        </p:nvGraphicFramePr>
        <p:xfrm>
          <a:off x="2096144" y="2691605"/>
          <a:ext cx="5683250" cy="18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44800" imgH="939800" progId="Equation.DSMT4">
                  <p:embed/>
                </p:oleObj>
              </mc:Choice>
              <mc:Fallback>
                <p:oleObj r:id="rId4" imgW="2844800" imgH="9398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6144" y="2691605"/>
                        <a:ext cx="5683250" cy="187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1" name="Line 11"/>
          <p:cNvSpPr>
            <a:spLocks noChangeShapeType="1"/>
          </p:cNvSpPr>
          <p:nvPr/>
        </p:nvSpPr>
        <p:spPr bwMode="auto">
          <a:xfrm>
            <a:off x="3383606" y="3352005"/>
            <a:ext cx="2052638" cy="12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5052" name="Line 12"/>
          <p:cNvSpPr>
            <a:spLocks noChangeShapeType="1"/>
          </p:cNvSpPr>
          <p:nvPr/>
        </p:nvSpPr>
        <p:spPr bwMode="auto">
          <a:xfrm>
            <a:off x="4391669" y="2632868"/>
            <a:ext cx="0" cy="14398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5053" name="Rectangle 13"/>
          <p:cNvSpPr>
            <a:spLocks noChangeArrowheads="1"/>
          </p:cNvSpPr>
          <p:nvPr/>
        </p:nvSpPr>
        <p:spPr bwMode="auto">
          <a:xfrm>
            <a:off x="5436244" y="2717005"/>
            <a:ext cx="3024188" cy="1152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5054" name="Rectangle 14"/>
          <p:cNvSpPr>
            <a:spLocks noChangeArrowheads="1"/>
          </p:cNvSpPr>
          <p:nvPr/>
        </p:nvSpPr>
        <p:spPr bwMode="auto">
          <a:xfrm>
            <a:off x="2434281" y="4115593"/>
            <a:ext cx="255587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5055" name="Rectangle 15"/>
          <p:cNvSpPr>
            <a:spLocks noChangeArrowheads="1"/>
          </p:cNvSpPr>
          <p:nvPr/>
        </p:nvSpPr>
        <p:spPr bwMode="auto">
          <a:xfrm>
            <a:off x="4953644" y="4085430"/>
            <a:ext cx="255587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64522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049337" y="3829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21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500"/>
                                        <p:tgtEl>
                                          <p:spTgt spid="215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5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215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215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3" grpId="0" animBg="1"/>
      <p:bldP spid="215054" grpId="0" animBg="1"/>
      <p:bldP spid="21505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ChangeArrowheads="1"/>
          </p:cNvSpPr>
          <p:nvPr/>
        </p:nvSpPr>
        <p:spPr bwMode="auto">
          <a:xfrm>
            <a:off x="699443" y="1010643"/>
            <a:ext cx="8008938" cy="4794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4.8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求矩阵                       的特征值和特征向量．</a:t>
            </a:r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33817"/>
              </p:ext>
            </p:extLst>
          </p:nvPr>
        </p:nvGraphicFramePr>
        <p:xfrm>
          <a:off x="2843808" y="548680"/>
          <a:ext cx="1952625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77900" imgH="698500" progId="Equation.DSMT4">
                  <p:embed/>
                </p:oleObj>
              </mc:Choice>
              <mc:Fallback>
                <p:oleObj r:id="rId2" imgW="977900" imgH="6985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43808" y="548680"/>
                        <a:ext cx="1952625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202058"/>
              </p:ext>
            </p:extLst>
          </p:nvPr>
        </p:nvGraphicFramePr>
        <p:xfrm>
          <a:off x="2259956" y="2653705"/>
          <a:ext cx="4110037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57400" imgH="698500" progId="Equation.DSMT4">
                  <p:embed/>
                </p:oleObj>
              </mc:Choice>
              <mc:Fallback>
                <p:oleObj r:id="rId4" imgW="2057400" imgH="6985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59956" y="2653705"/>
                        <a:ext cx="4110037" cy="1395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1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936625" y="10179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99443" y="2037755"/>
            <a:ext cx="3911600" cy="479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解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续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)</a:t>
            </a:r>
            <a:r>
              <a:rPr kumimoji="1" lang="en-US" altLang="zh-CN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  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当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1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= </a:t>
            </a:r>
            <a:r>
              <a:rPr kumimoji="1" lang="en-US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−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1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时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66556" y="2002830"/>
            <a:ext cx="4143375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解方程组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+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I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)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x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= 0,</a:t>
            </a:r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897798"/>
              </p:ext>
            </p:extLst>
          </p:nvPr>
        </p:nvGraphicFramePr>
        <p:xfrm>
          <a:off x="2655243" y="4080868"/>
          <a:ext cx="1444625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23900" imgH="698500" progId="Equation.DSMT4">
                  <p:embed/>
                </p:oleObj>
              </mc:Choice>
              <mc:Fallback>
                <p:oleObj r:id="rId6" imgW="723900" imgH="6985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55243" y="4080868"/>
                        <a:ext cx="1444625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83568" y="5385793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的全部特征向量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1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≠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0)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．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3568" y="4461868"/>
            <a:ext cx="218122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得基础解系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83568" y="3055343"/>
            <a:ext cx="668338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由</a:t>
            </a:r>
            <a:endParaRPr kumimoji="1" lang="en-US" altLang="zh-CN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03056" y="4515843"/>
            <a:ext cx="420687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所以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属于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特征值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1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= </a:t>
            </a:r>
            <a:r>
              <a:rPr kumimoji="1" lang="en-US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−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1 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7" grpId="1"/>
      <p:bldP spid="18" grpId="0"/>
      <p:bldP spid="19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523866"/>
              </p:ext>
            </p:extLst>
          </p:nvPr>
        </p:nvGraphicFramePr>
        <p:xfrm>
          <a:off x="2139628" y="2467397"/>
          <a:ext cx="4491037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47900" imgH="698500" progId="Equation.DSMT4">
                  <p:embed/>
                </p:oleObj>
              </mc:Choice>
              <mc:Fallback>
                <p:oleObj r:id="rId3" imgW="2247900" imgH="6985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9628" y="2467397"/>
                        <a:ext cx="4491037" cy="1395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393378" y="1780010"/>
            <a:ext cx="43735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解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续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)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当 </a:t>
            </a:r>
            <a:r>
              <a:rPr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 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= </a:t>
            </a:r>
            <a:r>
              <a:rPr lang="zh-CN" alt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 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3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= 1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时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015758"/>
              </p:ext>
            </p:extLst>
          </p:nvPr>
        </p:nvGraphicFramePr>
        <p:xfrm>
          <a:off x="2358703" y="3840585"/>
          <a:ext cx="2535237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70000" imgH="698500" progId="Equation.DSMT4">
                  <p:embed/>
                </p:oleObj>
              </mc:Choice>
              <mc:Fallback>
                <p:oleObj r:id="rId5" imgW="1270000" imgH="6985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8703" y="3840585"/>
                        <a:ext cx="2535237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4384353" y="1811760"/>
            <a:ext cx="4143375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解方程组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−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I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)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x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= 0,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93378" y="2927772"/>
            <a:ext cx="668338" cy="481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由</a:t>
            </a:r>
            <a:endParaRPr kumimoji="1" lang="en-US" altLang="zh-CN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3378" y="4246985"/>
            <a:ext cx="2624138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得基础解系</a:t>
            </a:r>
            <a:r>
              <a:rPr kumimoji="1" lang="zh-CN" altLang="en-US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23528" y="5804322"/>
            <a:ext cx="37290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其中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k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2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k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3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不全为零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．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960615" y="4275560"/>
            <a:ext cx="25352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故属于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特征值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3378" y="5218535"/>
            <a:ext cx="72564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cs typeface="+mn-cs"/>
              </a:rPr>
              <a:t>2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cs typeface="+mn-cs"/>
              </a:rPr>
              <a:t> = </a:t>
            </a:r>
            <a:r>
              <a:rPr kumimoji="1" lang="zh-CN" altLang="en-US" b="1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cs typeface="+mn-cs"/>
              </a:rPr>
              <a:t>3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cs typeface="+mn-cs"/>
              </a:rPr>
              <a:t> = 1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cs typeface="+mn-cs"/>
              </a:rPr>
              <a:t>的全部特征向量为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k</a:t>
            </a:r>
            <a:r>
              <a:rPr kumimoji="1" lang="en-US" altLang="zh-CN" b="1" kern="1200" cap="none" spc="0" normalizeH="0" baseline="-25000" noProof="0" dirty="0">
                <a:latin typeface="+mn-lt"/>
                <a:ea typeface="华文中宋" pitchFamily="2" charset="-122"/>
                <a:cs typeface="+mn-cs"/>
              </a:rPr>
              <a:t>2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p</a:t>
            </a:r>
            <a:r>
              <a:rPr kumimoji="1" lang="en-US" altLang="zh-CN" b="1" kern="1200" cap="none" spc="0" normalizeH="0" baseline="-25000" noProof="0" dirty="0">
                <a:latin typeface="+mn-lt"/>
                <a:ea typeface="华文中宋" pitchFamily="2" charset="-122"/>
                <a:cs typeface="+mn-cs"/>
              </a:rPr>
              <a:t>2 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+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k</a:t>
            </a:r>
            <a:r>
              <a:rPr kumimoji="1" lang="en-US" altLang="zh-CN" b="1" kern="1200" cap="none" spc="0" normalizeH="0" baseline="-25000" noProof="0" dirty="0">
                <a:latin typeface="+mn-lt"/>
                <a:ea typeface="华文中宋" pitchFamily="2" charset="-122"/>
                <a:cs typeface="+mn-cs"/>
              </a:rPr>
              <a:t>3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3  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中宋" pitchFamily="2" charset="-122"/>
                <a:cs typeface="+mn-cs"/>
              </a:rPr>
              <a:t> 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02915" y="938635"/>
            <a:ext cx="8008938" cy="4794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4.8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求矩阵                       的特征值和特征向量．</a:t>
            </a:r>
          </a:p>
        </p:txBody>
      </p:sp>
      <p:graphicFrame>
        <p:nvGraphicFramePr>
          <p:cNvPr id="675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566884"/>
              </p:ext>
            </p:extLst>
          </p:nvPr>
        </p:nvGraphicFramePr>
        <p:xfrm>
          <a:off x="2666678" y="476672"/>
          <a:ext cx="1952625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77900" imgH="698500" progId="Equation.DSMT4">
                  <p:embed/>
                </p:oleObj>
              </mc:Choice>
              <mc:Fallback>
                <p:oleObj r:id="rId7" imgW="977900" imgH="6985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6678" y="476672"/>
                        <a:ext cx="1952625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29185" y="-9030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1" grpId="0"/>
      <p:bldP spid="24" grpId="0"/>
      <p:bldP spid="25" grpId="0"/>
      <p:bldP spid="2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674811" y="1052736"/>
            <a:ext cx="2808288" cy="523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例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4.9</a:t>
            </a:r>
            <a:r>
              <a:rPr kumimoji="1" lang="zh-CN" altLang="en-US" b="1" kern="1200" cap="none" spc="0" normalizeH="0" baseline="0" noProof="0" dirty="0">
                <a:solidFill>
                  <a:srgbClr val="3333CC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kern="1200" cap="none" spc="0" normalizeH="0" baseline="0" noProof="0" dirty="0">
                <a:solidFill>
                  <a:srgbClr val="3333CC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 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设矩阵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842762"/>
              </p:ext>
            </p:extLst>
          </p:nvPr>
        </p:nvGraphicFramePr>
        <p:xfrm>
          <a:off x="3948111" y="651098"/>
          <a:ext cx="258445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95400" imgH="698500" progId="Equation.DSMT4">
                  <p:embed/>
                </p:oleObj>
              </mc:Choice>
              <mc:Fallback>
                <p:oleObj r:id="rId3" imgW="1295400" imgH="6985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48111" y="651098"/>
                        <a:ext cx="2584450" cy="1392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1196349" y="2144921"/>
            <a:ext cx="4648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求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的特征值与特征向量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.</a:t>
            </a: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1168398" y="2878361"/>
            <a:ext cx="15382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     </a:t>
            </a:r>
            <a:r>
              <a:rPr kumimoji="1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解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2393948" y="2932336"/>
            <a:ext cx="30273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的特征多项式为</a:t>
            </a:r>
          </a:p>
        </p:txBody>
      </p:sp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24793"/>
              </p:ext>
            </p:extLst>
          </p:nvPr>
        </p:nvGraphicFramePr>
        <p:xfrm>
          <a:off x="2089148" y="3751486"/>
          <a:ext cx="4233863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120900" imgH="698500" progId="Equation.DSMT4">
                  <p:embed/>
                </p:oleObj>
              </mc:Choice>
              <mc:Fallback>
                <p:oleObj r:id="rId5" imgW="2120900" imgH="6985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9148" y="3751486"/>
                        <a:ext cx="4233863" cy="1393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313994"/>
              </p:ext>
            </p:extLst>
          </p:nvPr>
        </p:nvGraphicFramePr>
        <p:xfrm>
          <a:off x="6323011" y="4221386"/>
          <a:ext cx="15446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74065" imgH="228600" progId="Equation.DSMT4">
                  <p:embed/>
                </p:oleObj>
              </mc:Choice>
              <mc:Fallback>
                <p:oleObj r:id="rId7" imgW="774065" imgH="2286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23011" y="4221386"/>
                        <a:ext cx="1544637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1196349" y="5095713"/>
            <a:ext cx="38877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所以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1" lang="en-US" altLang="zh-CN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的特征值为</a:t>
            </a:r>
          </a:p>
        </p:txBody>
      </p:sp>
      <p:graphicFrame>
        <p:nvGraphicFramePr>
          <p:cNvPr id="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134904"/>
              </p:ext>
            </p:extLst>
          </p:nvPr>
        </p:nvGraphicFramePr>
        <p:xfrm>
          <a:off x="4249736" y="5212780"/>
          <a:ext cx="22828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43000" imgH="228600" progId="Equation.DSMT4">
                  <p:embed/>
                </p:oleObj>
              </mc:Choice>
              <mc:Fallback>
                <p:oleObj r:id="rId9" imgW="1143000" imgH="2286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49736" y="5212780"/>
                        <a:ext cx="2282825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60437" y="17650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build="p"/>
      <p:bldP spid="2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5196285" y="763587"/>
            <a:ext cx="838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由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130923"/>
              </p:ext>
            </p:extLst>
          </p:nvPr>
        </p:nvGraphicFramePr>
        <p:xfrm>
          <a:off x="3415110" y="885825"/>
          <a:ext cx="177323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8365" imgH="203200" progId="Equation.DSMT4">
                  <p:embed/>
                </p:oleObj>
              </mc:Choice>
              <mc:Fallback>
                <p:oleObj r:id="rId3" imgW="888365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5110" y="885825"/>
                        <a:ext cx="1773237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075135" y="825500"/>
            <a:ext cx="28575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此时解方程组</a:t>
            </a:r>
          </a:p>
        </p:txBody>
      </p:sp>
      <p:sp>
        <p:nvSpPr>
          <p:cNvPr id="69637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895321"/>
              </p:ext>
            </p:extLst>
          </p:nvPr>
        </p:nvGraphicFramePr>
        <p:xfrm>
          <a:off x="1572022" y="1520825"/>
          <a:ext cx="4618038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311400" imgH="698500" progId="Equation.DSMT4">
                  <p:embed/>
                </p:oleObj>
              </mc:Choice>
              <mc:Fallback>
                <p:oleObj r:id="rId5" imgW="2311400" imgH="6985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2022" y="1520825"/>
                        <a:ext cx="4618038" cy="1395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280172" y="4737100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的全部特征向量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为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k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≠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0)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．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075135" y="3413125"/>
            <a:ext cx="247173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得基础解系为</a:t>
            </a: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049045"/>
              </p:ext>
            </p:extLst>
          </p:nvPr>
        </p:nvGraphicFramePr>
        <p:xfrm>
          <a:off x="3356372" y="3033712"/>
          <a:ext cx="1544638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74065" imgH="698500" progId="Equation.DSMT4">
                  <p:embed/>
                </p:oleObj>
              </mc:Choice>
              <mc:Fallback>
                <p:oleObj r:id="rId7" imgW="774065" imgH="6985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6372" y="3033712"/>
                        <a:ext cx="1544638" cy="1390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901010" y="3468687"/>
            <a:ext cx="2852738" cy="522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latin typeface="+mn-lt"/>
                <a:ea typeface="华文中宋" pitchFamily="2" charset="-122"/>
                <a:cs typeface="+mn-cs"/>
              </a:rPr>
              <a:t>所以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属于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特征值</a:t>
            </a:r>
            <a:endParaRPr kumimoji="1" lang="zh-CN" altLang="en-US" b="1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767416"/>
              </p:ext>
            </p:extLst>
          </p:nvPr>
        </p:nvGraphicFramePr>
        <p:xfrm>
          <a:off x="1075135" y="4803775"/>
          <a:ext cx="220503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04900" imgH="228600" progId="Equation.DSMT4">
                  <p:embed/>
                </p:oleObj>
              </mc:Choice>
              <mc:Fallback>
                <p:oleObj r:id="rId9" imgW="1104900" imgH="228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5135" y="4803775"/>
                        <a:ext cx="2205037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85031" y="1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应用问题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 build="p"/>
      <p:bldP spid="19" grpId="0" build="p" advAuto="1000"/>
      <p:bldP spid="5" grpId="0"/>
      <p:bldP spid="5" grpId="1"/>
      <p:bldP spid="8" grpId="0" build="p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961827" y="2445296"/>
            <a:ext cx="38862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(2)   </a:t>
            </a:r>
            <a:r>
              <a:rPr kumimoji="1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kern="1200" cap="none" spc="0" normalizeH="0" baseline="-2500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··· </a:t>
            </a:r>
            <a:r>
              <a:rPr kumimoji="1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b="1" i="1" kern="1200" cap="none" spc="0" normalizeH="0" baseline="-2500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| </a:t>
            </a:r>
            <a:r>
              <a:rPr kumimoji="1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 </a:t>
            </a: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|.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907852" y="692696"/>
            <a:ext cx="47307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3)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539552" y="1307059"/>
            <a:ext cx="764698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特征值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k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重特征值算作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k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个特征值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 ,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926902" y="1884909"/>
            <a:ext cx="67437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(1) 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+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···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=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+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+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···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+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;</a:t>
            </a:r>
          </a:p>
        </p:txBody>
      </p:sp>
      <p:graphicFrame>
        <p:nvGraphicFramePr>
          <p:cNvPr id="26" name="Object 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093307"/>
              </p:ext>
            </p:extLst>
          </p:nvPr>
        </p:nvGraphicFramePr>
        <p:xfrm>
          <a:off x="1044377" y="3156496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80890" imgH="3435985" progId="PowerPoint.Show.8">
                  <p:embed/>
                </p:oleObj>
              </mc:Choice>
              <mc:Fallback>
                <p:oleObj r:id="rId2" imgW="4580890" imgH="3435985" progId="PowerPoint.Show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rcRect l="15834" t="8888" r="75000" b="84445"/>
                      <a:stretch>
                        <a:fillRect/>
                      </a:stretch>
                    </p:blipFill>
                    <p:spPr>
                      <a:xfrm>
                        <a:off x="1044377" y="3156496"/>
                        <a:ext cx="8382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452" y="3216821"/>
            <a:ext cx="504825" cy="361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椭圆形标注 14347"/>
          <p:cNvSpPr>
            <a:spLocks noChangeArrowheads="1"/>
          </p:cNvSpPr>
          <p:nvPr/>
        </p:nvSpPr>
        <p:spPr bwMode="auto">
          <a:xfrm>
            <a:off x="6759377" y="2408784"/>
            <a:ext cx="700088" cy="727075"/>
          </a:xfrm>
          <a:prstGeom prst="wedgeEllipseCallout">
            <a:avLst>
              <a:gd name="adj1" fmla="val -108367"/>
              <a:gd name="adj2" fmla="val -49841"/>
            </a:avLst>
          </a:prstGeom>
          <a:solidFill>
            <a:srgbClr val="FFF7FF"/>
          </a:solidFill>
          <a:ln w="9525">
            <a:solidFill>
              <a:srgbClr val="0000FF"/>
            </a:solidFill>
            <a:miter lim="800000"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迹 </a:t>
            </a: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2329356" y="3660570"/>
            <a:ext cx="4570072" cy="647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的特征值全为非零数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2329356" y="4369315"/>
            <a:ext cx="5218144" cy="7207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至少有一个特征值等于零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3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944935"/>
              </p:ext>
            </p:extLst>
          </p:nvPr>
        </p:nvGraphicFramePr>
        <p:xfrm>
          <a:off x="1352352" y="3761334"/>
          <a:ext cx="96678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43865" imgH="254000" progId="Equation.DSMT4">
                  <p:embed/>
                </p:oleObj>
              </mc:Choice>
              <mc:Fallback>
                <p:oleObj r:id="rId5" imgW="443865" imgH="2540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52352" y="3761334"/>
                        <a:ext cx="966788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821894"/>
              </p:ext>
            </p:extLst>
          </p:nvPr>
        </p:nvGraphicFramePr>
        <p:xfrm>
          <a:off x="1380927" y="4485234"/>
          <a:ext cx="93821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31800" imgH="254000" progId="Equation.DSMT4">
                  <p:embed/>
                </p:oleObj>
              </mc:Choice>
              <mc:Fallback>
                <p:oleObj r:id="rId7" imgW="431800" imgH="2540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80927" y="4485234"/>
                        <a:ext cx="938213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670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0672" name="Rectangle 30"/>
          <p:cNvSpPr/>
          <p:nvPr/>
        </p:nvSpPr>
        <p:spPr>
          <a:xfrm>
            <a:off x="899592" y="5758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60433" name="文本框 1"/>
          <p:cNvSpPr txBox="1"/>
          <p:nvPr/>
        </p:nvSpPr>
        <p:spPr>
          <a:xfrm>
            <a:off x="539552" y="5061496"/>
            <a:ext cx="74961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推论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矩阵 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可逆的充要条件是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的每一个特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2352" y="710159"/>
            <a:ext cx="1373188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定理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4.3 </a:t>
            </a:r>
            <a:endParaRPr kumimoji="1" lang="zh-CN" altLang="en-US" b="1" kern="1200" cap="none" spc="0" normalizeH="0" baseline="0" noProof="0" dirty="0">
              <a:solidFill>
                <a:srgbClr val="C00000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725540" y="714921"/>
            <a:ext cx="58069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设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···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是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阶矩阵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=(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ij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)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b="1" dirty="0">
                <a:solidFill>
                  <a:srgbClr val="0000FF"/>
                </a:solidFill>
                <a:ea typeface="华文中宋" pitchFamily="2" charset="-122"/>
                <a:sym typeface="Symbol" panose="05050102010706020507" pitchFamily="18" charset="2"/>
              </a:rPr>
              <a:t>的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539552" y="5639346"/>
            <a:ext cx="23288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征值都不为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0.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19105B-14D2-C25A-4312-F469E8EF0702}"/>
              </a:ext>
            </a:extLst>
          </p:cNvPr>
          <p:cNvSpPr txBox="1"/>
          <p:nvPr/>
        </p:nvSpPr>
        <p:spPr>
          <a:xfrm>
            <a:off x="858544" y="3718766"/>
            <a:ext cx="966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当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44B82D-E19A-9C61-C7F4-02E6BED52892}"/>
              </a:ext>
            </a:extLst>
          </p:cNvPr>
          <p:cNvSpPr txBox="1"/>
          <p:nvPr/>
        </p:nvSpPr>
        <p:spPr>
          <a:xfrm>
            <a:off x="858544" y="4421334"/>
            <a:ext cx="966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当</a:t>
            </a:r>
            <a:endParaRPr lang="zh-CN" altLang="en-US" dirty="0"/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75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75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7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23" grpId="0" build="p"/>
      <p:bldP spid="24" grpId="0" build="p" advAuto="1000"/>
      <p:bldP spid="25" grpId="0" build="p"/>
      <p:bldP spid="19" grpId="0" animBg="1"/>
      <p:bldP spid="33" grpId="0"/>
      <p:bldP spid="33" grpId="1"/>
      <p:bldP spid="34" grpId="0"/>
      <p:bldP spid="34" grpId="1"/>
      <p:bldP spid="60433" grpId="0"/>
      <p:bldP spid="3" grpId="0" build="p"/>
      <p:bldP spid="4" grpId="0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83568" y="777961"/>
            <a:ext cx="6981825" cy="1652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设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是方阵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试证明</a:t>
            </a:r>
          </a:p>
          <a:p>
            <a:pPr marR="0" defTabSz="9144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(1)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0" lang="en-US" altLang="zh-CN" b="1" kern="1200" cap="none" spc="0" normalizeH="0" baseline="30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30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;</a:t>
            </a:r>
            <a:endParaRPr kumimoji="0" lang="zh-CN" altLang="en-US" b="1" kern="12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  <a:p>
            <a:pPr marR="0" defTabSz="9144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(2)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当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可逆时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1/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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30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−1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的特征值．</a:t>
            </a:r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683568" y="2683615"/>
            <a:ext cx="979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华文中宋" pitchFamily="2" charset="-122"/>
                <a:cs typeface="Times New Roman" panose="02020603050405020304" pitchFamily="18" charset="0"/>
              </a:rPr>
              <a:t>证明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293943"/>
              </p:ext>
            </p:extLst>
          </p:nvPr>
        </p:nvGraphicFramePr>
        <p:xfrm>
          <a:off x="1645372" y="2782974"/>
          <a:ext cx="185737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14400" imgH="203200" progId="Equation.DSMT4">
                  <p:embed/>
                </p:oleObj>
              </mc:Choice>
              <mc:Fallback>
                <p:oleObj r:id="rId2" imgW="914400" imgH="2032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5372" y="2782974"/>
                        <a:ext cx="1857375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391379"/>
              </p:ext>
            </p:extLst>
          </p:nvPr>
        </p:nvGraphicFramePr>
        <p:xfrm>
          <a:off x="3561485" y="2730587"/>
          <a:ext cx="3327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38300" imgH="228600" progId="Equation.DSMT4">
                  <p:embed/>
                </p:oleObj>
              </mc:Choice>
              <mc:Fallback>
                <p:oleObj r:id="rId4" imgW="1638300" imgH="2286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61485" y="2730587"/>
                        <a:ext cx="3327400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761682"/>
              </p:ext>
            </p:extLst>
          </p:nvPr>
        </p:nvGraphicFramePr>
        <p:xfrm>
          <a:off x="3502747" y="3336308"/>
          <a:ext cx="11620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203040" progId="Equation.DSMT4">
                  <p:embed/>
                </p:oleObj>
              </mc:Choice>
              <mc:Fallback>
                <p:oleObj name="Equation" r:id="rId6" imgW="571320" imgH="20304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02747" y="3336308"/>
                        <a:ext cx="1162050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693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1695" name="Rectangle 30"/>
          <p:cNvSpPr/>
          <p:nvPr/>
        </p:nvSpPr>
        <p:spPr>
          <a:xfrm>
            <a:off x="959842" y="56555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CA9BE8AB-E979-FE01-9CBF-A66BCC9E5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033808"/>
              </p:ext>
            </p:extLst>
          </p:nvPr>
        </p:nvGraphicFramePr>
        <p:xfrm>
          <a:off x="4644954" y="3322836"/>
          <a:ext cx="116046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320" imgH="203040" progId="Equation.DSMT4">
                  <p:embed/>
                </p:oleObj>
              </mc:Choice>
              <mc:Fallback>
                <p:oleObj name="Equation" r:id="rId8" imgW="571320" imgH="203040" progId="Equation.DSMT4">
                  <p:embed/>
                  <p:pic>
                    <p:nvPicPr>
                      <p:cNvPr id="30" name="Object 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44954" y="3322836"/>
                        <a:ext cx="1160462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72F6D3E-7B2A-4424-298A-C33F0C836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248935"/>
              </p:ext>
            </p:extLst>
          </p:nvPr>
        </p:nvGraphicFramePr>
        <p:xfrm>
          <a:off x="3502747" y="3862698"/>
          <a:ext cx="18573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28600" progId="Equation.DSMT4">
                  <p:embed/>
                </p:oleObj>
              </mc:Choice>
              <mc:Fallback>
                <p:oleObj name="Equation" r:id="rId10" imgW="914400" imgH="228600" progId="Equation.DSMT4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CA9BE8AB-E979-FE01-9CBF-A66BCC9E59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02747" y="3862698"/>
                        <a:ext cx="1857375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2598F28-B6B0-1B6C-9420-3EE7ADFE3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670971"/>
              </p:ext>
            </p:extLst>
          </p:nvPr>
        </p:nvGraphicFramePr>
        <p:xfrm>
          <a:off x="683568" y="4515842"/>
          <a:ext cx="188277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926465" imgH="203200" progId="Equation.DSMT4">
                  <p:embed/>
                </p:oleObj>
              </mc:Choice>
              <mc:Fallback>
                <p:oleObj r:id="rId12" imgW="926465" imgH="203200" progId="Equation.DSMT4">
                  <p:embed/>
                  <p:pic>
                    <p:nvPicPr>
                      <p:cNvPr id="31" name="Object 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3568" y="4515842"/>
                        <a:ext cx="1882775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568C7B82-FC1D-FE3C-51B2-B19C5CEB1A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307909"/>
              </p:ext>
            </p:extLst>
          </p:nvPr>
        </p:nvGraphicFramePr>
        <p:xfrm>
          <a:off x="2645718" y="4515842"/>
          <a:ext cx="24511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06500" imgH="228600" progId="Equation.DSMT4">
                  <p:embed/>
                </p:oleObj>
              </mc:Choice>
              <mc:Fallback>
                <p:oleObj r:id="rId14" imgW="1206500" imgH="228600" progId="Equation.DSMT4">
                  <p:embed/>
                  <p:pic>
                    <p:nvPicPr>
                      <p:cNvPr id="32" name="Object 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45718" y="4515842"/>
                        <a:ext cx="2451100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8220B01C-36BE-34EA-21F3-F50D9F934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805761"/>
              </p:ext>
            </p:extLst>
          </p:nvPr>
        </p:nvGraphicFramePr>
        <p:xfrm>
          <a:off x="5096818" y="4330105"/>
          <a:ext cx="193516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951865" imgH="406400" progId="Equation.DSMT4">
                  <p:embed/>
                </p:oleObj>
              </mc:Choice>
              <mc:Fallback>
                <p:oleObj r:id="rId16" imgW="951865" imgH="406400" progId="Equation.DSMT4">
                  <p:embed/>
                  <p:pic>
                    <p:nvPicPr>
                      <p:cNvPr id="33" name="Object 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96818" y="4330105"/>
                        <a:ext cx="1935163" cy="82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883934" y="825500"/>
            <a:ext cx="7778750" cy="5315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结论</a:t>
            </a:r>
            <a:r>
              <a:rPr kumimoji="0" lang="zh-CN" altLang="en-US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若非零向量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对应于特征值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000000"/>
                </a:solidFill>
                <a:ea typeface="华文中宋" pitchFamily="2" charset="-122"/>
                <a:sym typeface="Times New Roman" panose="02020603050405020304" pitchFamily="18" charset="0"/>
              </a:rPr>
              <a:t>特</a:t>
            </a:r>
            <a:endParaRPr kumimoji="0" lang="zh-CN" altLang="en-US" b="1" kern="12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16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693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1695" name="Rectangle 30"/>
          <p:cNvSpPr/>
          <p:nvPr/>
        </p:nvSpPr>
        <p:spPr>
          <a:xfrm>
            <a:off x="827584" y="7126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852375-10BF-8946-FA3F-2AFDB957C86C}"/>
              </a:ext>
            </a:extLst>
          </p:cNvPr>
          <p:cNvSpPr txBox="1"/>
          <p:nvPr/>
        </p:nvSpPr>
        <p:spPr>
          <a:xfrm>
            <a:off x="607155" y="395393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特征向量仍然是  </a:t>
            </a:r>
            <a:r>
              <a:rPr kumimoji="0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．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CFCB9F-626D-3FD3-8C5B-0D33669ADF20}"/>
              </a:ext>
            </a:extLst>
          </p:cNvPr>
          <p:cNvSpPr txBox="1"/>
          <p:nvPr/>
        </p:nvSpPr>
        <p:spPr>
          <a:xfrm>
            <a:off x="868770" y="3366033"/>
            <a:ext cx="7182544" cy="531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(3) 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当 </a:t>
            </a:r>
            <a:r>
              <a:rPr kumimoji="0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可逆时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1/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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0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30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−1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对应的</a:t>
            </a:r>
            <a:endParaRPr kumimoji="0" lang="zh-CN" altLang="en-US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10BC51-3F98-758E-7B37-8597A6F512C9}"/>
              </a:ext>
            </a:extLst>
          </p:cNvPr>
          <p:cNvSpPr txBox="1"/>
          <p:nvPr/>
        </p:nvSpPr>
        <p:spPr>
          <a:xfrm>
            <a:off x="868770" y="2793302"/>
            <a:ext cx="7706945" cy="531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(2) 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0" lang="en-US" altLang="zh-CN" b="1" i="1" kern="1200" cap="none" spc="0" normalizeH="0" baseline="30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0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i="1" kern="1200" cap="none" spc="0" normalizeH="0" baseline="3000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k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</a:t>
            </a:r>
            <a:r>
              <a:rPr kumimoji="0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对应的特征向量也是 </a:t>
            </a:r>
            <a:r>
              <a:rPr kumimoji="0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517C64-25C8-AE3A-A01C-9966D4158396}"/>
              </a:ext>
            </a:extLst>
          </p:cNvPr>
          <p:cNvSpPr txBox="1"/>
          <p:nvPr/>
        </p:nvSpPr>
        <p:spPr>
          <a:xfrm>
            <a:off x="907910" y="2162860"/>
            <a:ext cx="7778749" cy="531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(1)  </a:t>
            </a:r>
            <a:r>
              <a:rPr kumimoji="1" lang="zh-CN" altLang="en-US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 </a:t>
            </a:r>
            <a:r>
              <a:rPr kumimoji="0" lang="en-US" altLang="zh-CN" b="1" kern="1200" cap="none" spc="0" normalizeH="0" baseline="30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0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1200" cap="none" spc="0" normalizeH="0" baseline="30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对应的特征向量也</a:t>
            </a:r>
            <a:r>
              <a:rPr kumimoji="0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0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55D2B3-EF20-6491-E901-9EA6383450E1}"/>
              </a:ext>
            </a:extLst>
          </p:cNvPr>
          <p:cNvSpPr txBox="1"/>
          <p:nvPr/>
        </p:nvSpPr>
        <p:spPr>
          <a:xfrm>
            <a:off x="600584" y="147477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征向量</a:t>
            </a:r>
            <a:r>
              <a:rPr kumimoji="0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6764251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"/>
          <p:cNvSpPr txBox="1"/>
          <p:nvPr/>
        </p:nvSpPr>
        <p:spPr>
          <a:xfrm>
            <a:off x="1835696" y="1186094"/>
            <a:ext cx="5137447" cy="55983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defTabSz="0">
              <a:lnSpc>
                <a:spcPts val="4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anose="05000000000000000000" pitchFamily="2" charset="2"/>
            </a:pPr>
            <a:r>
              <a:rPr lang="en-IE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)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 </a:t>
            </a:r>
            <a:r>
              <a: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+ ···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m </a:t>
            </a:r>
            <a:r>
              <a: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m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988689" y="3250083"/>
            <a:ext cx="1270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证明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72708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9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2711" name="Rectangle 30"/>
          <p:cNvSpPr/>
          <p:nvPr/>
        </p:nvSpPr>
        <p:spPr>
          <a:xfrm>
            <a:off x="899592" y="0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基本问题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特征值、特征向量的性质</a:t>
            </a:r>
            <a:r>
              <a:rPr lang="zh-CN" altLang="en-US" sz="2600" b="1" dirty="0">
                <a:solidFill>
                  <a:srgbClr val="CC0000"/>
                </a:solidFill>
                <a:latin typeface="Arial" panose="020B0604020202020204" pitchFamily="34" charset="0"/>
                <a:ea typeface="华文中宋" pitchFamily="2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7544" y="2510309"/>
            <a:ext cx="1681163" cy="561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ts val="4000"/>
              </a:lnSpc>
              <a:buClr>
                <a:srgbClr val="0000FF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特征值．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5536" y="1813396"/>
            <a:ext cx="7710487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rgbClr val="0000FF"/>
              </a:buClr>
              <a:buFont typeface="Wingdings" panose="05000000000000000000" pitchFamily="2" charset="2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是矩阵多项式  </a:t>
            </a:r>
            <a:r>
              <a:rPr lang="en-IE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) 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···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的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57760" y="3231034"/>
            <a:ext cx="5541962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rgbClr val="0000FF"/>
              </a:buClr>
              <a:buFont typeface="Wingdings" panose="05000000000000000000" pitchFamily="2" charset="2"/>
            </a:pPr>
            <a:r>
              <a:rPr lang="en-IE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)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=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···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p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56297" y="3813646"/>
            <a:ext cx="4953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rgbClr val="0000FF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+ ···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56297" y="4375621"/>
            <a:ext cx="4808538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rgbClr val="0000FF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=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+ ···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56297" y="4937596"/>
            <a:ext cx="4665663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rgbClr val="0000FF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=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+ ···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p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56297" y="5531321"/>
            <a:ext cx="1736725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rgbClr val="0000FF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= </a:t>
            </a:r>
            <a:r>
              <a:rPr lang="en-IE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)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p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563820-2E56-496B-3499-A33A8BB8B801}"/>
              </a:ext>
            </a:extLst>
          </p:cNvPr>
          <p:cNvSpPr txBox="1"/>
          <p:nvPr/>
        </p:nvSpPr>
        <p:spPr>
          <a:xfrm>
            <a:off x="1011042" y="55143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若 </a:t>
            </a:r>
            <a:r>
              <a:rPr lang="zh-CN" altLang="en-US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楷体_GB2312" pitchFamily="49" charset="-122"/>
              </a:rPr>
              <a:t>是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的一个特征值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49809C-8BC4-7EAD-D10F-162687C34295}"/>
              </a:ext>
            </a:extLst>
          </p:cNvPr>
          <p:cNvSpPr txBox="1"/>
          <p:nvPr/>
        </p:nvSpPr>
        <p:spPr>
          <a:xfrm>
            <a:off x="4844420" y="506616"/>
            <a:ext cx="1205880" cy="56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0">
              <a:lnSpc>
                <a:spcPts val="4000"/>
              </a:lnSpc>
              <a:spcBef>
                <a:spcPct val="20000"/>
              </a:spcBef>
              <a:buClr>
                <a:srgbClr val="0000FF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6" grpId="0"/>
      <p:bldP spid="7" grpId="0"/>
      <p:bldP spid="8" grpId="0"/>
      <p:bldP spid="10" grpId="0"/>
      <p:bldP spid="11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946523" y="682625"/>
            <a:ext cx="6962775" cy="531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例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4.10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设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3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阶方阵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1, 2, 3,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求</a:t>
            </a:r>
          </a:p>
        </p:txBody>
      </p:sp>
      <p:sp>
        <p:nvSpPr>
          <p:cNvPr id="73731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3732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3734" name="Rectangle 30"/>
          <p:cNvSpPr/>
          <p:nvPr/>
        </p:nvSpPr>
        <p:spPr>
          <a:xfrm>
            <a:off x="1043608" y="44450"/>
            <a:ext cx="534035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应用问题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特征值、特征向量的应用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46523" y="1592809"/>
            <a:ext cx="5156200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解</a:t>
            </a:r>
            <a:r>
              <a:rPr kumimoji="0" lang="zh-CN" altLang="en-US" b="1" kern="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因为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的特征值为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1, 2, 3,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endParaRPr kumimoji="0" lang="en-US" altLang="zh-CN" b="1" kern="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 flipH="1">
            <a:off x="5727031" y="1594396"/>
            <a:ext cx="1185863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所以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267698" y="2659609"/>
            <a:ext cx="1511300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因此有</a:t>
            </a:r>
            <a:endParaRPr kumimoji="0" lang="en-US" altLang="zh-CN" b="1" kern="0" cap="none" spc="0" normalizeH="0" baseline="0" noProof="0" dirty="0">
              <a:solidFill>
                <a:srgbClr val="000000"/>
              </a:solidFill>
              <a:latin typeface="Times New Roman" panose="02020603050405020304" pitchFamily="18" charset="0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graphicFrame>
        <p:nvGraphicFramePr>
          <p:cNvPr id="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42621"/>
              </p:ext>
            </p:extLst>
          </p:nvPr>
        </p:nvGraphicFramePr>
        <p:xfrm>
          <a:off x="3222998" y="1176884"/>
          <a:ext cx="22748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39800" imgH="228600" progId="Equation.DSMT4">
                  <p:embed/>
                </p:oleObj>
              </mc:Choice>
              <mc:Fallback>
                <p:oleObj r:id="rId2" imgW="939800" imgH="2286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22998" y="1176884"/>
                        <a:ext cx="2274887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470052"/>
              </p:ext>
            </p:extLst>
          </p:nvPr>
        </p:nvGraphicFramePr>
        <p:xfrm>
          <a:off x="3861173" y="3670847"/>
          <a:ext cx="270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16965" imgH="406400" progId="Equation.DSMT4">
                  <p:embed/>
                </p:oleObj>
              </mc:Choice>
              <mc:Fallback>
                <p:oleObj r:id="rId4" imgW="1116965" imgH="4064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61173" y="3670847"/>
                        <a:ext cx="27051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40110" y="2659609"/>
            <a:ext cx="1925638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故</a:t>
            </a:r>
            <a:r>
              <a:rPr kumimoji="0" lang="zh-CN" altLang="en-US" b="1" kern="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 </a:t>
            </a: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可逆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10185" y="2675484"/>
            <a:ext cx="3294063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从而 </a:t>
            </a:r>
            <a:r>
              <a:rPr kumimoji="0" lang="zh-CN" altLang="en-US" b="1" kern="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30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* 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= |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| 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30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−1 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  <a:endParaRPr kumimoji="0" lang="en-US" altLang="zh-CN" b="1" kern="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558530"/>
              </p:ext>
            </p:extLst>
          </p:nvPr>
        </p:nvGraphicFramePr>
        <p:xfrm>
          <a:off x="1986335" y="3289847"/>
          <a:ext cx="18748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4065" imgH="190500" progId="Equation.DSMT4">
                  <p:embed/>
                </p:oleObj>
              </mc:Choice>
              <mc:Fallback>
                <p:oleObj r:id="rId6" imgW="774065" imgH="1905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6335" y="3289847"/>
                        <a:ext cx="1874838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022061"/>
              </p:ext>
            </p:extLst>
          </p:nvPr>
        </p:nvGraphicFramePr>
        <p:xfrm>
          <a:off x="3864348" y="3281909"/>
          <a:ext cx="25511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54100" imgH="203200" progId="Equation.DSMT4">
                  <p:embed/>
                </p:oleObj>
              </mc:Choice>
              <mc:Fallback>
                <p:oleObj r:id="rId8" imgW="1054100" imgH="203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64348" y="3281909"/>
                        <a:ext cx="255111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2927723" y="2127796"/>
            <a:ext cx="3851275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|</a:t>
            </a:r>
            <a:r>
              <a:rPr kumimoji="0" lang="en-US" altLang="zh-CN" b="1" i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0" lang="en-US" altLang="zh-CN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| = 1×2×3 = 6,</a:t>
            </a:r>
            <a:endParaRPr kumimoji="0" lang="zh-CN" altLang="en-US" b="1" kern="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4760" y="3861347"/>
            <a:ext cx="9779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有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2173" y="3842297"/>
            <a:ext cx="2117725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把上式记作</a:t>
            </a:r>
          </a:p>
        </p:txBody>
      </p:sp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925002"/>
              </p:ext>
            </p:extLst>
          </p:nvPr>
        </p:nvGraphicFramePr>
        <p:xfrm>
          <a:off x="2375273" y="3894684"/>
          <a:ext cx="984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05765" imgH="203200" progId="Equation.DSMT4">
                  <p:embed/>
                </p:oleObj>
              </mc:Choice>
              <mc:Fallback>
                <p:oleObj r:id="rId10" imgW="405765" imgH="203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75273" y="3894684"/>
                        <a:ext cx="9842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6607548" y="3839122"/>
            <a:ext cx="701675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故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54398" y="4428084"/>
            <a:ext cx="2203450" cy="533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的特征值为</a:t>
            </a:r>
          </a:p>
        </p:txBody>
      </p:sp>
      <p:graphicFrame>
        <p:nvGraphicFramePr>
          <p:cNvPr id="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902122"/>
              </p:ext>
            </p:extLst>
          </p:nvPr>
        </p:nvGraphicFramePr>
        <p:xfrm>
          <a:off x="7147298" y="3891509"/>
          <a:ext cx="8905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68300" imgH="203200" progId="Equation.DSMT4">
                  <p:embed/>
                </p:oleObj>
              </mc:Choice>
              <mc:Fallback>
                <p:oleObj r:id="rId12" imgW="368300" imgH="2032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47298" y="3891509"/>
                        <a:ext cx="89058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299943"/>
              </p:ext>
            </p:extLst>
          </p:nvPr>
        </p:nvGraphicFramePr>
        <p:xfrm>
          <a:off x="1899023" y="5047209"/>
          <a:ext cx="1412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84200" imgH="203200" progId="Equation.DSMT4">
                  <p:embed/>
                </p:oleObj>
              </mc:Choice>
              <mc:Fallback>
                <p:oleObj r:id="rId14" imgW="584200" imgH="203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99023" y="5047209"/>
                        <a:ext cx="141287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774173"/>
              </p:ext>
            </p:extLst>
          </p:nvPr>
        </p:nvGraphicFramePr>
        <p:xfrm>
          <a:off x="3546848" y="5017047"/>
          <a:ext cx="14430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596900" imgH="203200" progId="Equation.DSMT4">
                  <p:embed/>
                </p:oleObj>
              </mc:Choice>
              <mc:Fallback>
                <p:oleObj r:id="rId16" imgW="596900" imgH="2032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46848" y="5017047"/>
                        <a:ext cx="144303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669620"/>
              </p:ext>
            </p:extLst>
          </p:nvPr>
        </p:nvGraphicFramePr>
        <p:xfrm>
          <a:off x="5257040" y="5017047"/>
          <a:ext cx="1412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584200" imgH="203200" progId="Equation.DSMT4">
                  <p:embed/>
                </p:oleObj>
              </mc:Choice>
              <mc:Fallback>
                <p:oleObj r:id="rId18" imgW="584200" imgH="2032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57040" y="5017047"/>
                        <a:ext cx="141287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1077491" y="5561559"/>
            <a:ext cx="184626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于是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694090"/>
              </p:ext>
            </p:extLst>
          </p:nvPr>
        </p:nvGraphicFramePr>
        <p:xfrm>
          <a:off x="2265735" y="5569497"/>
          <a:ext cx="41497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714500" imgH="228600" progId="Equation.DSMT4">
                  <p:embed/>
                </p:oleObj>
              </mc:Choice>
              <mc:Fallback>
                <p:oleObj r:id="rId20" imgW="1714500" imgH="2286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265735" y="5569497"/>
                        <a:ext cx="4149725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7" grpId="0"/>
      <p:bldP spid="46" grpId="0"/>
      <p:bldP spid="6" grpId="0"/>
      <p:bldP spid="7" grpId="0"/>
      <p:bldP spid="21" grpId="0"/>
      <p:bldP spid="3" grpId="0"/>
      <p:bldP spid="22" grpId="0"/>
      <p:bldP spid="25" grpId="0"/>
      <p:bldP spid="26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097432" y="841475"/>
            <a:ext cx="1074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问题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1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097432" y="1456207"/>
            <a:ext cx="45370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b="1" kern="100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特征向量唯一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吗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099019" y="2051794"/>
            <a:ext cx="59944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特征值和特征向量内在联系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099020" y="2877294"/>
            <a:ext cx="4834890" cy="5328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1)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不唯一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4759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4760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4762" name="Rectangle 30"/>
          <p:cNvSpPr/>
          <p:nvPr/>
        </p:nvSpPr>
        <p:spPr>
          <a:xfrm>
            <a:off x="618708" y="44450"/>
            <a:ext cx="6545580" cy="4914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特征值、特征向量的相关问题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44F640-D3C1-E97B-A7CD-F025CF7023FF}"/>
              </a:ext>
            </a:extLst>
          </p:cNvPr>
          <p:cNvSpPr txBox="1"/>
          <p:nvPr/>
        </p:nvSpPr>
        <p:spPr>
          <a:xfrm>
            <a:off x="755576" y="4124595"/>
            <a:ext cx="4611188" cy="60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1" hangingPunct="1">
              <a:lnSpc>
                <a:spcPts val="4400"/>
              </a:lnSpc>
              <a:spcBef>
                <a:spcPct val="20000"/>
              </a:spcBef>
              <a:buClr>
                <a:srgbClr val="0000FF"/>
              </a:buClr>
              <a:buSzPct val="75000"/>
              <a:defRPr/>
            </a:pPr>
            <a:r>
              <a:rPr kumimoji="1" lang="zh-CN" altLang="en-US" b="1" dirty="0">
                <a:solidFill>
                  <a:schemeClr val="tx1"/>
                </a:solidFill>
                <a:ea typeface="华文中宋" pitchFamily="2" charset="-122"/>
                <a:sym typeface="Times New Roman" panose="02020603050405020304" pitchFamily="18" charset="0"/>
              </a:rPr>
              <a:t>合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的形式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都为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特征向量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7B9896-AD34-7D32-F6EA-BCF7EAD513E3}"/>
              </a:ext>
            </a:extLst>
          </p:cNvPr>
          <p:cNvSpPr txBox="1"/>
          <p:nvPr/>
        </p:nvSpPr>
        <p:spPr>
          <a:xfrm>
            <a:off x="5580953" y="3481844"/>
            <a:ext cx="2488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线性组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E68E17-C07D-C3EA-11F3-D0B884C9B0E3}"/>
              </a:ext>
            </a:extLst>
          </p:cNvPr>
          <p:cNvSpPr txBox="1"/>
          <p:nvPr/>
        </p:nvSpPr>
        <p:spPr>
          <a:xfrm>
            <a:off x="1097432" y="3416392"/>
            <a:ext cx="4611188" cy="60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ts val="44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因为由特征向量的定义可知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3" grpId="0"/>
      <p:bldP spid="13" grpId="1"/>
      <p:bldP spid="19" grpId="0"/>
      <p:bldP spid="3" grpId="0"/>
      <p:bldP spid="5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007880" y="585703"/>
            <a:ext cx="1074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问题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1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2068330" y="612691"/>
            <a:ext cx="55641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特征值和特征向量内在联系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1007881" y="1254258"/>
            <a:ext cx="4876873" cy="5318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2)  (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若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是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A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的一个特征值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591955" y="1865057"/>
            <a:ext cx="7294563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组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−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 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)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x 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的基础解系就是对应于特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+mn-cs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591955" y="2479419"/>
            <a:ext cx="6913563" cy="5318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征值为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的全体特征向量的最大无关组．</a:t>
            </a:r>
          </a:p>
        </p:txBody>
      </p:sp>
      <p:sp>
        <p:nvSpPr>
          <p:cNvPr id="15" name="Rectangle 36"/>
          <p:cNvSpPr/>
          <p:nvPr/>
        </p:nvSpPr>
        <p:spPr>
          <a:xfrm>
            <a:off x="420505" y="3128447"/>
            <a:ext cx="73294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  </a:t>
            </a:r>
            <a:r>
              <a:rPr lang="zh-CN" altLang="en-US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(ii)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一个特征向量只能属于一个特征值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004704" y="3812926"/>
            <a:ext cx="6088063" cy="646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反证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若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同时是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的属于特征值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5413193" y="4378241"/>
            <a:ext cx="693738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则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1041218" y="5567278"/>
            <a:ext cx="1932463" cy="504825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由于                           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graphicFrame>
        <p:nvGraphicFramePr>
          <p:cNvPr id="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532476"/>
              </p:ext>
            </p:extLst>
          </p:nvPr>
        </p:nvGraphicFramePr>
        <p:xfrm>
          <a:off x="6187893" y="3951203"/>
          <a:ext cx="19494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65200" imgH="228600" progId="Equation.DSMT4">
                  <p:embed/>
                </p:oleObj>
              </mc:Choice>
              <mc:Fallback>
                <p:oleObj r:id="rId2" imgW="965200" imgH="2286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87893" y="3951203"/>
                        <a:ext cx="194945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730376"/>
              </p:ext>
            </p:extLst>
          </p:nvPr>
        </p:nvGraphicFramePr>
        <p:xfrm>
          <a:off x="3768543" y="4516353"/>
          <a:ext cx="14779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11200" imgH="228600" progId="Equation.DSMT4">
                  <p:embed/>
                </p:oleObj>
              </mc:Choice>
              <mc:Fallback>
                <p:oleObj r:id="rId4" imgW="711200" imgH="2286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8543" y="4516353"/>
                        <a:ext cx="1477962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793925"/>
              </p:ext>
            </p:extLst>
          </p:nvPr>
        </p:nvGraphicFramePr>
        <p:xfrm>
          <a:off x="3768543" y="5106903"/>
          <a:ext cx="1828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01065" imgH="228600" progId="Equation.DSMT4">
                  <p:embed/>
                </p:oleObj>
              </mc:Choice>
              <mc:Fallback>
                <p:oleObj r:id="rId6" imgW="901065" imgH="2286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68543" y="5106903"/>
                        <a:ext cx="18288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191892"/>
              </p:ext>
            </p:extLst>
          </p:nvPr>
        </p:nvGraphicFramePr>
        <p:xfrm>
          <a:off x="1862748" y="5640439"/>
          <a:ext cx="10144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203040" progId="Equation.DSMT4">
                  <p:embed/>
                </p:oleObj>
              </mc:Choice>
              <mc:Fallback>
                <p:oleObj name="Equation" r:id="rId8" imgW="419040" imgH="20304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62748" y="5640439"/>
                        <a:ext cx="1014413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649581" y="4406090"/>
            <a:ext cx="2324100" cy="584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的特征向量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7579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5793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5795" name="Rectangle 30"/>
          <p:cNvSpPr/>
          <p:nvPr/>
        </p:nvSpPr>
        <p:spPr>
          <a:xfrm>
            <a:off x="765968" y="-11195"/>
            <a:ext cx="6526213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特征值、特征向量的相关结论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A0376B-1AEB-43FE-8D02-EB7DE0BE6E92}"/>
              </a:ext>
            </a:extLst>
          </p:cNvPr>
          <p:cNvSpPr txBox="1"/>
          <p:nvPr/>
        </p:nvSpPr>
        <p:spPr>
          <a:xfrm>
            <a:off x="2689234" y="4467469"/>
            <a:ext cx="10486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即有</a:t>
            </a:r>
            <a:endParaRPr lang="zh-CN" altLang="en-US" dirty="0"/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20540A03-E335-0145-A718-1200B0895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665329"/>
              </p:ext>
            </p:extLst>
          </p:nvPr>
        </p:nvGraphicFramePr>
        <p:xfrm>
          <a:off x="3035911" y="5640304"/>
          <a:ext cx="16891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228600" progId="Equation.DSMT4">
                  <p:embed/>
                </p:oleObj>
              </mc:Choice>
              <mc:Fallback>
                <p:oleObj name="Equation" r:id="rId10" imgW="698400" imgH="228600" progId="Equation.DSMT4">
                  <p:embed/>
                  <p:pic>
                    <p:nvPicPr>
                      <p:cNvPr id="28" name="Object 1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35911" y="5640304"/>
                        <a:ext cx="1689100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C61DE1F-AC67-6611-DEFE-53B9591BA9BB}"/>
              </a:ext>
            </a:extLst>
          </p:cNvPr>
          <p:cNvSpPr txBox="1"/>
          <p:nvPr/>
        </p:nvSpPr>
        <p:spPr>
          <a:xfrm>
            <a:off x="5760062" y="1258554"/>
            <a:ext cx="2488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则齐次线性方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6" dur="1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22" grpId="0"/>
      <p:bldP spid="23" grpId="0"/>
      <p:bldP spid="15" grpId="0" build="p" advAuto="1000"/>
      <p:bldP spid="16" grpId="0"/>
      <p:bldP spid="16" grpId="1"/>
      <p:bldP spid="17" grpId="0"/>
      <p:bldP spid="17" grpId="1"/>
      <p:bldP spid="18" grpId="0"/>
      <p:bldP spid="18" grpId="1"/>
      <p:bldP spid="29" grpId="0"/>
      <p:bldP spid="29" grpId="1"/>
      <p:bldP spid="3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885824" y="623887"/>
            <a:ext cx="11414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问题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2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008187" y="623887"/>
            <a:ext cx="51276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特征值和特征向量有关的结论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800" b="1" i="1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5" name="Rectangle 21"/>
          <p:cNvSpPr>
            <a:spLocks noChangeArrowheads="1"/>
          </p:cNvSpPr>
          <p:nvPr/>
        </p:nvSpPr>
        <p:spPr bwMode="auto">
          <a:xfrm>
            <a:off x="5127624" y="4506912"/>
            <a:ext cx="307347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是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的属于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6" name="Rectangle 4"/>
          <p:cNvSpPr>
            <a:spLocks noChangeArrowheads="1"/>
          </p:cNvSpPr>
          <p:nvPr/>
        </p:nvSpPr>
        <p:spPr bwMode="auto">
          <a:xfrm>
            <a:off x="847724" y="1209674"/>
            <a:ext cx="7785100" cy="18716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1)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若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和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都是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的属于特征值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的特征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向量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则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+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也是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的属于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的特征向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其中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 是任意常数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但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346702"/>
              </p:ext>
            </p:extLst>
          </p:nvPr>
        </p:nvGraphicFramePr>
        <p:xfrm>
          <a:off x="5456237" y="2500312"/>
          <a:ext cx="22558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40765" imgH="228600" progId="Equation.DSMT4">
                  <p:embed/>
                </p:oleObj>
              </mc:Choice>
              <mc:Fallback>
                <p:oleObj r:id="rId2" imgW="1040765" imgH="2286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56237" y="2500312"/>
                        <a:ext cx="2255837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898524" y="3174999"/>
            <a:ext cx="7383463" cy="720725"/>
            <a:chOff x="1417638" y="3290817"/>
            <a:chExt cx="7383545" cy="720725"/>
          </a:xfrm>
        </p:grpSpPr>
        <p:sp>
          <p:nvSpPr>
            <p:cNvPr id="74" name="Rectangle 25"/>
            <p:cNvSpPr>
              <a:spLocks noChangeArrowheads="1"/>
            </p:cNvSpPr>
            <p:nvPr/>
          </p:nvSpPr>
          <p:spPr bwMode="auto">
            <a:xfrm>
              <a:off x="1417638" y="3290817"/>
              <a:ext cx="7053341" cy="720725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  <a:sym typeface="Symbol" panose="05050102010706020507" pitchFamily="18" charset="2"/>
                </a:rPr>
                <a:t>证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  <a:sym typeface="Symbol" panose="05050102010706020507" pitchFamily="18" charset="2"/>
                </a:rPr>
                <a:t>    由于  </a:t>
              </a:r>
              <a:r>
                <a:rPr kumimoji="0" lang="zh-CN" alt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  <a:sym typeface="Symbol" panose="05050102010706020507" pitchFamily="18" charset="2"/>
                </a:rPr>
                <a:t>          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  <a:sym typeface="Symbol" panose="05050102010706020507" pitchFamily="18" charset="2"/>
                </a:rPr>
                <a:t>是齐次线性方程组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endParaRPr>
            </a:p>
          </p:txBody>
        </p:sp>
        <p:graphicFrame>
          <p:nvGraphicFramePr>
            <p:cNvPr id="76826" name="Object 16"/>
            <p:cNvGraphicFramePr>
              <a:graphicFrameLocks noChangeAspect="1"/>
            </p:cNvGraphicFramePr>
            <p:nvPr/>
          </p:nvGraphicFramePr>
          <p:xfrm>
            <a:off x="3006792" y="3375471"/>
            <a:ext cx="849843" cy="492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93700" imgH="228600" progId="Equation.DSMT4">
                    <p:embed/>
                  </p:oleObj>
                </mc:Choice>
                <mc:Fallback>
                  <p:oleObj r:id="rId4" imgW="393700" imgH="228600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06792" y="3375471"/>
                          <a:ext cx="849843" cy="492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7" name="Object 17"/>
            <p:cNvGraphicFramePr>
              <a:graphicFrameLocks noChangeAspect="1"/>
            </p:cNvGraphicFramePr>
            <p:nvPr/>
          </p:nvGraphicFramePr>
          <p:xfrm>
            <a:off x="6921517" y="3432263"/>
            <a:ext cx="1879666" cy="452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951865" imgH="228600" progId="Equation.DSMT4">
                    <p:embed/>
                  </p:oleObj>
                </mc:Choice>
                <mc:Fallback>
                  <p:oleObj r:id="rId6" imgW="951865" imgH="228600" progId="Equation.DSMT4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921517" y="3432263"/>
                          <a:ext cx="1879666" cy="4524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565429"/>
              </p:ext>
            </p:extLst>
          </p:nvPr>
        </p:nvGraphicFramePr>
        <p:xfrm>
          <a:off x="911224" y="4552949"/>
          <a:ext cx="20748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51865" imgH="228600" progId="Equation.DSMT4">
                  <p:embed/>
                </p:oleObj>
              </mc:Choice>
              <mc:Fallback>
                <p:oleObj r:id="rId8" imgW="951865" imgH="2286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1224" y="4552949"/>
                        <a:ext cx="2074863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721286"/>
              </p:ext>
            </p:extLst>
          </p:nvPr>
        </p:nvGraphicFramePr>
        <p:xfrm>
          <a:off x="3595687" y="4502149"/>
          <a:ext cx="15319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98500" imgH="228600" progId="Equation.DSMT4">
                  <p:embed/>
                </p:oleObj>
              </mc:Choice>
              <mc:Fallback>
                <p:oleObj r:id="rId10" imgW="698500" imgH="2286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95687" y="4502149"/>
                        <a:ext cx="1531937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Rectangle 24"/>
          <p:cNvSpPr>
            <a:spLocks noChangeArrowheads="1"/>
          </p:cNvSpPr>
          <p:nvPr/>
        </p:nvSpPr>
        <p:spPr bwMode="auto">
          <a:xfrm>
            <a:off x="849312" y="3919537"/>
            <a:ext cx="1017588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的解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90" name="Group 33"/>
          <p:cNvGrpSpPr/>
          <p:nvPr/>
        </p:nvGrpSpPr>
        <p:grpSpPr>
          <a:xfrm>
            <a:off x="1717674" y="3936999"/>
            <a:ext cx="5608638" cy="647700"/>
            <a:chOff x="1251" y="1899"/>
            <a:chExt cx="3533" cy="408"/>
          </a:xfrm>
        </p:grpSpPr>
        <p:sp>
          <p:nvSpPr>
            <p:cNvPr id="91" name="Rectangle 31"/>
            <p:cNvSpPr>
              <a:spLocks noChangeArrowheads="1"/>
            </p:cNvSpPr>
            <p:nvPr/>
          </p:nvSpPr>
          <p:spPr bwMode="auto">
            <a:xfrm>
              <a:off x="1251" y="1899"/>
              <a:ext cx="3533" cy="408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eaLnBrk="0" hangingPunct="0"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  <a:sym typeface="Symbol" panose="05050102010706020507" pitchFamily="18" charset="2"/>
                </a:rPr>
                <a:t>因此</a:t>
              </a:r>
              <a:r>
                <a:rPr kumimoji="0" lang="zh-CN" altLang="en-US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</a:rPr>
                <a:t> </a:t>
              </a:r>
              <a:r>
                <a:rPr kumimoji="0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</a:rPr>
                <a:t>,       </a:t>
              </a:r>
              <a:r>
                <a:rPr kumimoji="0" lang="zh-CN" altLang="en-US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</a:rPr>
                <a:t>             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  <a:sym typeface="Symbol" panose="05050102010706020507" pitchFamily="18" charset="2"/>
                </a:rPr>
                <a:t>也是方程组的解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华文中宋" pitchFamily="2" charset="-122"/>
                  <a:cs typeface="+mn-cs"/>
                  <a:sym typeface="Symbol" panose="05050102010706020507" pitchFamily="18" charset="2"/>
                </a:rPr>
                <a:t>.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endParaRPr>
            </a:p>
          </p:txBody>
        </p:sp>
        <p:graphicFrame>
          <p:nvGraphicFramePr>
            <p:cNvPr id="76824" name="Object 32"/>
            <p:cNvGraphicFramePr>
              <a:graphicFrameLocks noChangeAspect="1"/>
            </p:cNvGraphicFramePr>
            <p:nvPr/>
          </p:nvGraphicFramePr>
          <p:xfrm>
            <a:off x="1929" y="1909"/>
            <a:ext cx="94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698500" imgH="228600" progId="Equation.DSMT4">
                    <p:embed/>
                  </p:oleObj>
                </mc:Choice>
                <mc:Fallback>
                  <p:oleObj r:id="rId12" imgW="698500" imgH="2286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929" y="1909"/>
                          <a:ext cx="946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" name="Rectangle 8"/>
          <p:cNvSpPr>
            <a:spLocks noChangeArrowheads="1"/>
          </p:cNvSpPr>
          <p:nvPr/>
        </p:nvSpPr>
        <p:spPr bwMode="auto">
          <a:xfrm>
            <a:off x="2881312" y="4492624"/>
            <a:ext cx="1122363" cy="519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</a:p>
        </p:txBody>
      </p:sp>
      <p:sp>
        <p:nvSpPr>
          <p:cNvPr id="96" name="Rectangle 8"/>
          <p:cNvSpPr>
            <a:spLocks noChangeArrowheads="1"/>
          </p:cNvSpPr>
          <p:nvPr/>
        </p:nvSpPr>
        <p:spPr bwMode="auto">
          <a:xfrm>
            <a:off x="7077074" y="3910012"/>
            <a:ext cx="1252538" cy="520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故当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97" name="Rectangle 21"/>
          <p:cNvSpPr>
            <a:spLocks noChangeArrowheads="1"/>
          </p:cNvSpPr>
          <p:nvPr/>
        </p:nvSpPr>
        <p:spPr bwMode="auto">
          <a:xfrm>
            <a:off x="849312" y="5124449"/>
            <a:ext cx="20161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特征向量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6815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6816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76818" name="Rectangle 30"/>
          <p:cNvSpPr/>
          <p:nvPr/>
        </p:nvSpPr>
        <p:spPr>
          <a:xfrm>
            <a:off x="838200" y="9526"/>
            <a:ext cx="64262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拓展问题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华文中宋" pitchFamily="2" charset="-122"/>
              </a:rPr>
              <a:t>特征值、特征向量的相关结论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2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5" grpId="0"/>
      <p:bldP spid="89" grpId="0"/>
      <p:bldP spid="93" grpId="0"/>
      <p:bldP spid="96" grpId="0"/>
      <p:bldP spid="9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490786" y="2024698"/>
            <a:ext cx="3224213" cy="523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应特征向量是 </a:t>
            </a:r>
            <a:r>
              <a:rPr kumimoji="1" lang="en-US" altLang="zh-CN" b="1" i="1" kern="1200" cap="none" spc="0" normalizeH="0" baseline="0" noProof="0" dirty="0" err="1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en-US" altLang="zh-CN" b="1" kern="1200" cap="none" spc="0" normalizeH="0" baseline="0" noProof="0" dirty="0" err="1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en-US" altLang="zh-CN" b="1" i="1" kern="1200" cap="none" spc="0" normalizeH="0" baseline="0" noProof="0" dirty="0" err="1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y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925761" y="594360"/>
            <a:ext cx="86360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2)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6" name="Rectangle 31"/>
          <p:cNvSpPr>
            <a:spLocks noChangeArrowheads="1"/>
          </p:cNvSpPr>
          <p:nvPr/>
        </p:nvSpPr>
        <p:spPr bwMode="auto">
          <a:xfrm>
            <a:off x="1543298" y="1546860"/>
            <a:ext cx="57721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假设方阵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A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有两个不同特征值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h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,</a:t>
            </a:r>
            <a:endParaRPr kumimoji="1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8" name="Rectangle 33"/>
          <p:cNvSpPr>
            <a:spLocks noChangeArrowheads="1"/>
          </p:cNvSpPr>
          <p:nvPr/>
        </p:nvSpPr>
        <p:spPr bwMode="auto">
          <a:xfrm>
            <a:off x="7083673" y="1548448"/>
            <a:ext cx="1120775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其相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9" name="Rectangle 37"/>
          <p:cNvSpPr>
            <a:spLocks noChangeArrowheads="1"/>
          </p:cNvSpPr>
          <p:nvPr/>
        </p:nvSpPr>
        <p:spPr bwMode="auto">
          <a:xfrm>
            <a:off x="3338761" y="2056448"/>
            <a:ext cx="276701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且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y 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线性相关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8" name="Rectangle 25"/>
          <p:cNvSpPr>
            <a:spLocks noChangeArrowheads="1"/>
          </p:cNvSpPr>
          <p:nvPr/>
        </p:nvSpPr>
        <p:spPr bwMode="auto">
          <a:xfrm>
            <a:off x="490786" y="1465898"/>
            <a:ext cx="906463" cy="6048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eaLnBrk="0" hangingPunct="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证明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7832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833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9" name="Rectangle 30"/>
          <p:cNvSpPr>
            <a:spLocks noChangeArrowheads="1"/>
          </p:cNvSpPr>
          <p:nvPr/>
        </p:nvSpPr>
        <p:spPr bwMode="auto">
          <a:xfrm>
            <a:off x="623019" y="44450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特征值和特征向量的有关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结论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 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续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90898" y="576898"/>
            <a:ext cx="1373188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定理</a:t>
            </a:r>
            <a:r>
              <a:rPr kumimoji="1" lang="en-US" altLang="zh-CN" b="1" kern="1200" cap="none" spc="0" normalizeH="0" baseline="0" noProof="0" dirty="0">
                <a:solidFill>
                  <a:srgbClr val="C00000"/>
                </a:solidFill>
                <a:latin typeface="+mn-lt"/>
                <a:ea typeface="华文中宋" pitchFamily="2" charset="-122"/>
                <a:cs typeface="+mn-cs"/>
              </a:rPr>
              <a:t>4.4 </a:t>
            </a:r>
            <a:endParaRPr kumimoji="1" lang="zh-CN" altLang="en-US" b="1" kern="1200" cap="none" spc="0" normalizeH="0" baseline="0" noProof="0" dirty="0">
              <a:solidFill>
                <a:srgbClr val="C00000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72023" y="567373"/>
            <a:ext cx="5635625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方阵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 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的对应于不同特征值的特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2848" y="1053148"/>
            <a:ext cx="4578350" cy="52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征向量一定线性无关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37"/>
          <p:cNvSpPr>
            <a:spLocks noChangeArrowheads="1"/>
          </p:cNvSpPr>
          <p:nvPr/>
        </p:nvSpPr>
        <p:spPr bwMode="auto">
          <a:xfrm>
            <a:off x="6085135" y="2060802"/>
            <a:ext cx="244951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不妨设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y=m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" name="Rectangle 37"/>
          <p:cNvSpPr>
            <a:spLocks noChangeArrowheads="1"/>
          </p:cNvSpPr>
          <p:nvPr/>
        </p:nvSpPr>
        <p:spPr bwMode="auto">
          <a:xfrm>
            <a:off x="486023" y="2662873"/>
            <a:ext cx="24479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则有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2" name="Rectangle 37"/>
          <p:cNvSpPr>
            <a:spLocks noChangeArrowheads="1"/>
          </p:cNvSpPr>
          <p:nvPr/>
        </p:nvSpPr>
        <p:spPr bwMode="auto">
          <a:xfrm>
            <a:off x="3391148" y="2634298"/>
            <a:ext cx="2854325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x =k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 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Ay=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hy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3" name="Rectangle 37"/>
          <p:cNvSpPr>
            <a:spLocks noChangeArrowheads="1"/>
          </p:cNvSpPr>
          <p:nvPr/>
        </p:nvSpPr>
        <p:spPr bwMode="auto">
          <a:xfrm>
            <a:off x="468561" y="3197860"/>
            <a:ext cx="24479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从而有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4" name="Rectangle 37"/>
          <p:cNvSpPr>
            <a:spLocks noChangeArrowheads="1"/>
          </p:cNvSpPr>
          <p:nvPr/>
        </p:nvSpPr>
        <p:spPr bwMode="auto">
          <a:xfrm>
            <a:off x="994023" y="3645535"/>
            <a:ext cx="702468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kx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= m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kx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)=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) =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A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mx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=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Ay=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hy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=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hmx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.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5" name="Rectangle 37"/>
          <p:cNvSpPr>
            <a:spLocks noChangeArrowheads="1"/>
          </p:cNvSpPr>
          <p:nvPr/>
        </p:nvSpPr>
        <p:spPr bwMode="auto">
          <a:xfrm>
            <a:off x="516186" y="4145598"/>
            <a:ext cx="9572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故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6" name="Rectangle 37"/>
          <p:cNvSpPr>
            <a:spLocks noChangeArrowheads="1"/>
          </p:cNvSpPr>
          <p:nvPr/>
        </p:nvSpPr>
        <p:spPr bwMode="auto">
          <a:xfrm>
            <a:off x="3556248" y="4231323"/>
            <a:ext cx="28543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h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-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)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x =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0. 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7" name="Rectangle 37"/>
          <p:cNvSpPr>
            <a:spLocks noChangeArrowheads="1"/>
          </p:cNvSpPr>
          <p:nvPr/>
        </p:nvSpPr>
        <p:spPr bwMode="auto">
          <a:xfrm>
            <a:off x="530473" y="4823460"/>
            <a:ext cx="1992313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由于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≠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h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129086" y="4823460"/>
            <a:ext cx="4578350" cy="52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kern="100" cap="none" spc="0" normalizeH="0" baseline="0" noProof="0" dirty="0"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且特征向量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是非零向量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" name="Rectangle 37"/>
          <p:cNvSpPr>
            <a:spLocks noChangeArrowheads="1"/>
          </p:cNvSpPr>
          <p:nvPr/>
        </p:nvSpPr>
        <p:spPr bwMode="auto">
          <a:xfrm>
            <a:off x="6313736" y="4812348"/>
            <a:ext cx="199231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则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m =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0,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2" name="Rectangle 37"/>
          <p:cNvSpPr>
            <a:spLocks noChangeArrowheads="1"/>
          </p:cNvSpPr>
          <p:nvPr/>
        </p:nvSpPr>
        <p:spPr bwMode="auto">
          <a:xfrm>
            <a:off x="516186" y="5379085"/>
            <a:ext cx="18621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从而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y=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0,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3" name="Rectangle 37"/>
          <p:cNvSpPr>
            <a:spLocks noChangeArrowheads="1"/>
          </p:cNvSpPr>
          <p:nvPr/>
        </p:nvSpPr>
        <p:spPr bwMode="auto">
          <a:xfrm>
            <a:off x="2102098" y="5371148"/>
            <a:ext cx="55197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这与特征向量为非零向量矛盾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5536" y="5936298"/>
            <a:ext cx="4578350" cy="52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zh-CN" kern="100" cap="none" spc="0" normalizeH="0" baseline="0" noProof="0" dirty="0"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因此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假设不成立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,</a:t>
            </a:r>
            <a:r>
              <a:rPr kumimoji="1" lang="zh-CN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结论得证</a:t>
            </a:r>
            <a:r>
              <a:rPr kumimoji="1" lang="en-US" altLang="zh-CN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. 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 advAuto="1000"/>
      <p:bldP spid="35" grpId="0" build="p"/>
      <p:bldP spid="36" grpId="0" build="p" advAuto="1000"/>
      <p:bldP spid="38" grpId="0" build="p"/>
      <p:bldP spid="39" grpId="0" build="p"/>
      <p:bldP spid="18" grpId="0"/>
      <p:bldP spid="10" grpId="0" build="p"/>
      <p:bldP spid="11" grpId="0" build="p"/>
      <p:bldP spid="12" grpId="0" build="p"/>
      <p:bldP spid="13" grpId="0" build="p"/>
      <p:bldP spid="14" grpId="0" build="p"/>
      <p:bldP spid="15" grpId="0" build="p"/>
      <p:bldP spid="16" grpId="0" build="p"/>
      <p:bldP spid="17" grpId="0" build="p"/>
      <p:bldP spid="20" grpId="0"/>
      <p:bldP spid="21" grpId="0" build="p"/>
      <p:bldP spid="22" grpId="0" build="p"/>
      <p:bldP spid="23" grpId="0" build="p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12317" y="664939"/>
            <a:ext cx="7921625" cy="5413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华文中宋" pitchFamily="2" charset="-122"/>
                <a:cs typeface="+mn-cs"/>
                <a:sym typeface="Times New Roman" panose="02020603050405020304" pitchFamily="18" charset="0"/>
              </a:rPr>
              <a:t>4.11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设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1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和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是方阵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的两个不同的特征值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86879" y="2774726"/>
            <a:ext cx="8524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证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78852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10" name="Rectangle 30"/>
          <p:cNvSpPr>
            <a:spLocks noChangeArrowheads="1"/>
          </p:cNvSpPr>
          <p:nvPr/>
        </p:nvSpPr>
        <p:spPr bwMode="auto">
          <a:xfrm>
            <a:off x="638175" y="5651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特征值和特征向量的有关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结论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 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续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1086992" y="2774726"/>
            <a:ext cx="545782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由题意知 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A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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2"/>
          <p:cNvSpPr/>
          <p:nvPr/>
        </p:nvSpPr>
        <p:spPr>
          <a:xfrm>
            <a:off x="2571304" y="5282976"/>
            <a:ext cx="397033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+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) =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 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+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).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4" name="Rectangle 32"/>
          <p:cNvSpPr/>
          <p:nvPr/>
        </p:nvSpPr>
        <p:spPr>
          <a:xfrm>
            <a:off x="6509892" y="2836639"/>
            <a:ext cx="7556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故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" name="Rectangle 32"/>
          <p:cNvSpPr/>
          <p:nvPr/>
        </p:nvSpPr>
        <p:spPr>
          <a:xfrm>
            <a:off x="172592" y="4195539"/>
            <a:ext cx="1492250" cy="542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反证法</a:t>
            </a:r>
            <a:endParaRPr lang="zh-CN" altLang="en-US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2" name="Rectangle 32"/>
          <p:cNvSpPr/>
          <p:nvPr/>
        </p:nvSpPr>
        <p:spPr>
          <a:xfrm>
            <a:off x="2271267" y="3446239"/>
            <a:ext cx="42926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  <a:ea typeface="华文中宋" pitchFamily="2" charset="-12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+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) =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+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.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6404" y="2038126"/>
            <a:ext cx="312420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是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向量．</a:t>
            </a:r>
            <a:endParaRPr kumimoji="1" lang="zh-CN" altLang="en-US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78004" y="1385664"/>
            <a:ext cx="27019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证明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: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+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不</a:t>
            </a:r>
            <a:endParaRPr kumimoji="1" lang="zh-CN" altLang="en-US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96404" y="1366614"/>
            <a:ext cx="5457825" cy="542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对应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的特征向量依次为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和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 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  <a:r>
              <a:rPr kumimoji="1" lang="zh-CN" altLang="en-US" b="1" i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 </a:t>
            </a:r>
            <a:endParaRPr kumimoji="1" lang="en-US" altLang="zh-CN" b="1" kern="12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4" name="Rectangle 32"/>
          <p:cNvSpPr/>
          <p:nvPr/>
        </p:nvSpPr>
        <p:spPr>
          <a:xfrm>
            <a:off x="1680717" y="4203476"/>
            <a:ext cx="4854575" cy="542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设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+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是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的特征向量．</a:t>
            </a:r>
            <a:endParaRPr lang="zh-CN" altLang="en-US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5" name="Rectangle 32"/>
          <p:cNvSpPr/>
          <p:nvPr/>
        </p:nvSpPr>
        <p:spPr>
          <a:xfrm>
            <a:off x="6201917" y="4195539"/>
            <a:ext cx="1492250" cy="542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则应存</a:t>
            </a:r>
            <a:endParaRPr lang="zh-CN" altLang="en-US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6" name="Rectangle 32"/>
          <p:cNvSpPr/>
          <p:nvPr/>
        </p:nvSpPr>
        <p:spPr>
          <a:xfrm>
            <a:off x="107504" y="4870226"/>
            <a:ext cx="2781300" cy="541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在数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 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使得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>
                                      <p:cBhvr>
                                        <p:cTn id="7" dur="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build="p" advAuto="1000"/>
      <p:bldP spid="8" grpId="0" build="p" advAuto="1000"/>
      <p:bldP spid="14" grpId="0" build="p" advAuto="1000"/>
      <p:bldP spid="3" grpId="0" build="p" advAuto="1000"/>
      <p:bldP spid="12" grpId="0" build="p" advAuto="1000"/>
      <p:bldP spid="19" grpId="0"/>
      <p:bldP spid="21" grpId="0"/>
      <p:bldP spid="23" grpId="0"/>
      <p:bldP spid="24" grpId="0" build="p" advAuto="1000"/>
      <p:bldP spid="25" grpId="0" build="p" advAuto="1000"/>
      <p:bldP spid="26" grpId="0" build="p" advAuto="100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614118"/>
              </p:ext>
            </p:extLst>
          </p:nvPr>
        </p:nvGraphicFramePr>
        <p:xfrm>
          <a:off x="2973760" y="3861147"/>
          <a:ext cx="28987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19200" imgH="228600" progId="Equation.DSMT4">
                  <p:embed/>
                </p:oleObj>
              </mc:Choice>
              <mc:Fallback>
                <p:oleObj r:id="rId2" imgW="1219200" imgH="2286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3760" y="3861147"/>
                        <a:ext cx="2898775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961958"/>
              </p:ext>
            </p:extLst>
          </p:nvPr>
        </p:nvGraphicFramePr>
        <p:xfrm>
          <a:off x="2149848" y="2249835"/>
          <a:ext cx="38703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89100" imgH="228600" progId="Equation.DSMT4">
                  <p:embed/>
                </p:oleObj>
              </mc:Choice>
              <mc:Fallback>
                <p:oleObj r:id="rId4" imgW="1689100" imgH="2286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9848" y="2249835"/>
                        <a:ext cx="3870325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10" name="Rectangle 30"/>
          <p:cNvSpPr>
            <a:spLocks noChangeArrowheads="1"/>
          </p:cNvSpPr>
          <p:nvPr/>
        </p:nvSpPr>
        <p:spPr bwMode="auto">
          <a:xfrm>
            <a:off x="406995" y="-27384"/>
            <a:ext cx="7045325" cy="973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特征值和特征向量的有关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结论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 (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续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华文中宋" pitchFamily="2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46998" y="4559647"/>
            <a:ext cx="3311525" cy="542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因此 </a:t>
            </a:r>
            <a:r>
              <a:rPr kumimoji="1" lang="zh-CN" altLang="en-US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+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不是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A</a:t>
            </a:r>
            <a:endParaRPr kumimoji="1" lang="zh-CN" altLang="en-US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70510" y="4586635"/>
            <a:ext cx="2632075" cy="541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这与题设矛盾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,</a:t>
            </a:r>
            <a:endParaRPr kumimoji="1" lang="zh-CN" altLang="en-US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2" name="Rectangle 32"/>
          <p:cNvSpPr/>
          <p:nvPr/>
        </p:nvSpPr>
        <p:spPr>
          <a:xfrm>
            <a:off x="1652960" y="1211610"/>
            <a:ext cx="45370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 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+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) = =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+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2 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,</a:t>
            </a:r>
            <a:endParaRPr lang="en-US" altLang="zh-CN" b="1" dirty="0"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6" name="Rectangle 32"/>
          <p:cNvSpPr/>
          <p:nvPr/>
        </p:nvSpPr>
        <p:spPr>
          <a:xfrm>
            <a:off x="700460" y="617885"/>
            <a:ext cx="11493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于是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7" name="Rectangle 32"/>
          <p:cNvSpPr/>
          <p:nvPr/>
        </p:nvSpPr>
        <p:spPr>
          <a:xfrm>
            <a:off x="611560" y="3794472"/>
            <a:ext cx="397033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所以有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5" name="Rectangle 32"/>
          <p:cNvSpPr/>
          <p:nvPr/>
        </p:nvSpPr>
        <p:spPr>
          <a:xfrm>
            <a:off x="700460" y="1878360"/>
            <a:ext cx="114935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即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8" name="Rectangle 32"/>
          <p:cNvSpPr/>
          <p:nvPr/>
        </p:nvSpPr>
        <p:spPr>
          <a:xfrm>
            <a:off x="611560" y="3053110"/>
            <a:ext cx="11493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因为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9" name="Rectangle 32"/>
          <p:cNvSpPr/>
          <p:nvPr/>
        </p:nvSpPr>
        <p:spPr>
          <a:xfrm>
            <a:off x="1402135" y="3026122"/>
            <a:ext cx="15716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≠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0" name="Rectangle 32"/>
          <p:cNvSpPr/>
          <p:nvPr/>
        </p:nvSpPr>
        <p:spPr>
          <a:xfrm>
            <a:off x="2835648" y="3026122"/>
            <a:ext cx="26765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由定理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</a:rPr>
              <a:t>4.4</a:t>
            </a: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可知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</a:rPr>
              <a:t>,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18498" y="3007072"/>
            <a:ext cx="2901950" cy="542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1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 ,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p</a:t>
            </a:r>
            <a:r>
              <a:rPr kumimoji="1" lang="en-US" altLang="zh-CN" b="1" kern="1200" cap="none" spc="0" normalizeH="0" baseline="-2500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2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线性无关．</a:t>
            </a:r>
            <a:endParaRPr kumimoji="1" lang="zh-CN" altLang="en-US" b="1" kern="1200" cap="none" spc="0" normalizeH="0" baseline="0" noProof="0" dirty="0"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32"/>
          <p:cNvSpPr/>
          <p:nvPr/>
        </p:nvSpPr>
        <p:spPr>
          <a:xfrm>
            <a:off x="624260" y="4610447"/>
            <a:ext cx="26320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即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1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= </a:t>
            </a:r>
            <a:r>
              <a:rPr lang="zh-CN" altLang="en-US" b="1" i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中宋" pitchFamily="2" charset="-122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4260" y="5334347"/>
            <a:ext cx="2632075" cy="542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ts val="3800"/>
              </a:lnSpc>
              <a:spcBef>
                <a:spcPct val="20000"/>
              </a:spcBef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  <a:sym typeface="Times New Roman" panose="02020603050405020304" pitchFamily="18" charset="0"/>
              </a:rPr>
              <a:t>的特征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  <a:sym typeface="Times New Roman" panose="02020603050405020304" pitchFamily="18" charset="0"/>
              </a:rPr>
              <a:t>向量．</a:t>
            </a:r>
            <a:endParaRPr kumimoji="1" lang="zh-CN" altLang="en-US" kern="1200" cap="none" spc="0" normalizeH="0" baseline="0" noProof="0" dirty="0">
              <a:latin typeface="+mn-lt"/>
              <a:ea typeface="华文中宋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 build="p" advAuto="1000"/>
      <p:bldP spid="16" grpId="0" build="p" advAuto="1000"/>
      <p:bldP spid="17" grpId="0" build="p" advAuto="1000"/>
      <p:bldP spid="15" grpId="0" build="p" advAuto="1000"/>
      <p:bldP spid="18" grpId="0" build="p" advAuto="1000"/>
      <p:bldP spid="19" grpId="0" build="p" advAuto="1000"/>
      <p:bldP spid="20" grpId="0" build="p" advAuto="1000"/>
      <p:bldP spid="21" grpId="0"/>
      <p:bldP spid="22" grpId="0" build="p" advAuto="1000"/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933152" y="841474"/>
            <a:ext cx="1074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问题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4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958677" y="836712"/>
            <a:ext cx="57816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特征值和特征向量有哪些实际应用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6" name="Rectangle 2"/>
          <p:cNvSpPr/>
          <p:nvPr/>
        </p:nvSpPr>
        <p:spPr>
          <a:xfrm>
            <a:off x="933152" y="1776512"/>
            <a:ext cx="6067425" cy="3333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答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特征值的应用非常广泛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诸如 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统计分析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---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主成分分析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在物理学上的应用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---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梁的弯曲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3.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建筑物的振动</a:t>
            </a: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等等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以上例子可见教材第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134-136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页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      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下面介绍一个简单的例子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0901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Rectangle 30"/>
          <p:cNvSpPr>
            <a:spLocks noChangeArrowheads="1"/>
          </p:cNvSpPr>
          <p:nvPr/>
        </p:nvSpPr>
        <p:spPr bwMode="auto">
          <a:xfrm>
            <a:off x="695027" y="0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特征值和特征向量之应用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" name="Text Box 103"/>
          <p:cNvSpPr txBox="1">
            <a:spLocks noChangeArrowheads="1"/>
          </p:cNvSpPr>
          <p:nvPr/>
        </p:nvSpPr>
        <p:spPr bwMode="auto">
          <a:xfrm>
            <a:off x="414586" y="1250404"/>
            <a:ext cx="83058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重点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为定量分析污染与工业发展水平的关系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有人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+mn-cs"/>
            </a:endParaRPr>
          </a:p>
        </p:txBody>
      </p:sp>
      <p:sp>
        <p:nvSpPr>
          <p:cNvPr id="14" name="Text Box 105"/>
          <p:cNvSpPr txBox="1">
            <a:spLocks noChangeArrowheads="1"/>
          </p:cNvSpPr>
          <p:nvPr/>
        </p:nvSpPr>
        <p:spPr bwMode="auto">
          <a:xfrm>
            <a:off x="420936" y="1772692"/>
            <a:ext cx="788035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提出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以下的工业增长模型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: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设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+mn-cs"/>
              </a:rPr>
              <a:t>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是某地区目前的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</p:txBody>
      </p:sp>
      <p:sp>
        <p:nvSpPr>
          <p:cNvPr id="16" name="Text Box 107"/>
          <p:cNvSpPr txBox="1">
            <a:spLocks noChangeArrowheads="1"/>
          </p:cNvSpPr>
          <p:nvPr/>
        </p:nvSpPr>
        <p:spPr bwMode="auto">
          <a:xfrm>
            <a:off x="414586" y="670967"/>
            <a:ext cx="8515350" cy="523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补例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发展与环境问题已成为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21</a:t>
            </a: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世纪各国政府关注和</a:t>
            </a:r>
            <a:endParaRPr kumimoji="1" lang="en-US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10"/>
          <p:cNvSpPr txBox="1"/>
          <p:nvPr/>
        </p:nvSpPr>
        <p:spPr>
          <a:xfrm>
            <a:off x="414586" y="2263229"/>
            <a:ext cx="80787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污染水平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以空气或河湖水质的某种污染指数为测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113"/>
          <p:cNvSpPr txBox="1"/>
          <p:nvPr/>
        </p:nvSpPr>
        <p:spPr>
          <a:xfrm>
            <a:off x="1776661" y="2931567"/>
            <a:ext cx="43783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x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是目前的工业发展水平</a:t>
            </a:r>
          </a:p>
        </p:txBody>
      </p:sp>
      <p:sp>
        <p:nvSpPr>
          <p:cNvPr id="36" name="Text Box 113"/>
          <p:cNvSpPr txBox="1"/>
          <p:nvPr/>
        </p:nvSpPr>
        <p:spPr>
          <a:xfrm>
            <a:off x="3148261" y="3552279"/>
            <a:ext cx="5345113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若干年后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如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年后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的污染水平和</a:t>
            </a:r>
          </a:p>
        </p:txBody>
      </p:sp>
      <p:sp>
        <p:nvSpPr>
          <p:cNvPr id="38" name="Text Box 110"/>
          <p:cNvSpPr txBox="1"/>
          <p:nvPr/>
        </p:nvSpPr>
        <p:spPr>
          <a:xfrm>
            <a:off x="5720011" y="2904579"/>
            <a:ext cx="28860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以某种工业发展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Text Box 113"/>
          <p:cNvSpPr txBox="1"/>
          <p:nvPr/>
        </p:nvSpPr>
        <p:spPr>
          <a:xfrm>
            <a:off x="414586" y="4080917"/>
            <a:ext cx="78867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工业发展水平分别为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 </a:t>
            </a:r>
            <a:r>
              <a:rPr lang="zh-CN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和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它们之间的关系为</a:t>
            </a:r>
          </a:p>
        </p:txBody>
      </p:sp>
      <p:graphicFrame>
        <p:nvGraphicFramePr>
          <p:cNvPr id="43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708673"/>
              </p:ext>
            </p:extLst>
          </p:nvPr>
        </p:nvGraphicFramePr>
        <p:xfrm>
          <a:off x="3356224" y="4598442"/>
          <a:ext cx="2363787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16200" imgH="1155700" progId="Equation.DSMT4">
                  <p:embed/>
                </p:oleObj>
              </mc:Choice>
              <mc:Fallback>
                <p:oleObj r:id="rId2" imgW="2616200" imgH="11557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56224" y="4598442"/>
                        <a:ext cx="2363787" cy="1042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1"/>
          <p:cNvSpPr>
            <a:spLocks noChangeArrowheads="1"/>
          </p:cNvSpPr>
          <p:nvPr/>
        </p:nvSpPr>
        <p:spPr bwMode="auto">
          <a:xfrm>
            <a:off x="7469436" y="4815929"/>
            <a:ext cx="6477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46" name="Text Box 113"/>
          <p:cNvSpPr txBox="1"/>
          <p:nvPr/>
        </p:nvSpPr>
        <p:spPr>
          <a:xfrm>
            <a:off x="395536" y="5641429"/>
            <a:ext cx="80978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请预测若干年后的污染水平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与工业发展水平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y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1. 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1934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839043" y="44450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0936" y="2934742"/>
            <a:ext cx="27130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量单位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).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5699" y="3555454"/>
            <a:ext cx="34718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指数为测量单位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).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9" grpId="0"/>
      <p:bldP spid="22" grpId="0"/>
      <p:bldP spid="36" grpId="0"/>
      <p:bldP spid="38" grpId="0"/>
      <p:bldP spid="39" grpId="0"/>
      <p:bldP spid="45" grpId="0"/>
      <p:bldP spid="46" grpId="0"/>
      <p:bldP spid="3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42727" y="490562"/>
            <a:ext cx="6067425" cy="533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5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解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将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改写成矩阵形式为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aphicFrame>
        <p:nvGraphicFramePr>
          <p:cNvPr id="17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709466"/>
              </p:ext>
            </p:extLst>
          </p:nvPr>
        </p:nvGraphicFramePr>
        <p:xfrm>
          <a:off x="2652514" y="1095399"/>
          <a:ext cx="253841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14700" imgH="1155700" progId="Equation.DSMT4">
                  <p:embed/>
                </p:oleObj>
              </mc:Choice>
              <mc:Fallback>
                <p:oleObj r:id="rId3" imgW="3314700" imgH="11557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2514" y="1095399"/>
                        <a:ext cx="2538413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6622852" y="1306537"/>
            <a:ext cx="6477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itchFamily="2" charset="-122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19" name="Rectangle 2"/>
          <p:cNvSpPr/>
          <p:nvPr/>
        </p:nvSpPr>
        <p:spPr>
          <a:xfrm>
            <a:off x="541139" y="2339999"/>
            <a:ext cx="720725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记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0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929680"/>
              </p:ext>
            </p:extLst>
          </p:nvPr>
        </p:nvGraphicFramePr>
        <p:xfrm>
          <a:off x="1261864" y="2149499"/>
          <a:ext cx="43465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676900" imgH="1155700" progId="Equation.DSMT4">
                  <p:embed/>
                </p:oleObj>
              </mc:Choice>
              <mc:Fallback>
                <p:oleObj r:id="rId5" imgW="5676900" imgH="11557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1864" y="2149499"/>
                        <a:ext cx="4346575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"/>
          <p:cNvSpPr/>
          <p:nvPr/>
        </p:nvSpPr>
        <p:spPr>
          <a:xfrm>
            <a:off x="5729089" y="2357462"/>
            <a:ext cx="2770188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式可写成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2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177880"/>
              </p:ext>
            </p:extLst>
          </p:nvPr>
        </p:nvGraphicFramePr>
        <p:xfrm>
          <a:off x="3216077" y="3260749"/>
          <a:ext cx="11763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36700" imgH="482600" progId="Equation.DSMT4">
                  <p:embed/>
                </p:oleObj>
              </mc:Choice>
              <mc:Fallback>
                <p:oleObj r:id="rId7" imgW="1536700" imgH="482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6077" y="3260749"/>
                        <a:ext cx="1176337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"/>
          <p:cNvSpPr/>
          <p:nvPr/>
        </p:nvSpPr>
        <p:spPr>
          <a:xfrm>
            <a:off x="564952" y="3579837"/>
            <a:ext cx="719137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取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4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371956"/>
              </p:ext>
            </p:extLst>
          </p:nvPr>
        </p:nvGraphicFramePr>
        <p:xfrm>
          <a:off x="1106289" y="3409974"/>
          <a:ext cx="11969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62100" imgH="1155700" progId="Equation.DSMT4">
                  <p:embed/>
                </p:oleObj>
              </mc:Choice>
              <mc:Fallback>
                <p:oleObj r:id="rId9" imgW="1562100" imgH="11557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6289" y="3409974"/>
                        <a:ext cx="119697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"/>
          <p:cNvSpPr/>
          <p:nvPr/>
        </p:nvSpPr>
        <p:spPr>
          <a:xfrm>
            <a:off x="2473127" y="3578249"/>
            <a:ext cx="909637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则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6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167791"/>
              </p:ext>
            </p:extLst>
          </p:nvPr>
        </p:nvGraphicFramePr>
        <p:xfrm>
          <a:off x="2081014" y="4175149"/>
          <a:ext cx="48006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261100" imgH="1155700" progId="Equation.DSMT4">
                  <p:embed/>
                </p:oleObj>
              </mc:Choice>
              <mc:Fallback>
                <p:oleObj r:id="rId11" imgW="6261100" imgH="11557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81014" y="4175149"/>
                        <a:ext cx="4800600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"/>
          <p:cNvSpPr/>
          <p:nvPr/>
        </p:nvSpPr>
        <p:spPr>
          <a:xfrm>
            <a:off x="539552" y="5132412"/>
            <a:ext cx="1743075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显然有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华文中宋" pitchFamily="2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28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029185"/>
              </p:ext>
            </p:extLst>
          </p:nvPr>
        </p:nvGraphicFramePr>
        <p:xfrm>
          <a:off x="1947664" y="5251474"/>
          <a:ext cx="140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841500" imgH="482600" progId="Equation.DSMT4">
                  <p:embed/>
                </p:oleObj>
              </mc:Choice>
              <mc:Fallback>
                <p:oleObj r:id="rId13" imgW="1841500" imgH="4826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47664" y="5251474"/>
                        <a:ext cx="1409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"/>
          <p:cNvSpPr/>
          <p:nvPr/>
        </p:nvSpPr>
        <p:spPr>
          <a:xfrm>
            <a:off x="577652" y="5703912"/>
            <a:ext cx="8247062" cy="533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75000"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由此可以预测若干年后的污染水平与工业发展水平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  <a:sym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3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85639" y="0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特征值和特征向量之例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2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43744" y="620688"/>
            <a:ext cx="1074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问题</a:t>
            </a:r>
            <a:r>
              <a:rPr kumimoji="1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华文中宋" pitchFamily="2" charset="-122"/>
                <a:cs typeface="+mn-cs"/>
              </a:rPr>
              <a:t>5</a:t>
            </a:r>
            <a:endParaRPr kumimoji="1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2" name="Text Box 107"/>
          <p:cNvSpPr txBox="1">
            <a:spLocks noChangeArrowheads="1"/>
          </p:cNvSpPr>
          <p:nvPr/>
        </p:nvSpPr>
        <p:spPr bwMode="auto">
          <a:xfrm>
            <a:off x="527869" y="1271563"/>
            <a:ext cx="789463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答</a:t>
            </a:r>
            <a:r>
              <a:rPr lang="zh-CN" altLang="en-US" b="1" dirty="0"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1)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由于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阶矩阵的特征方程是一元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次方程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itchFamily="2" charset="-122"/>
              </a:rPr>
              <a:t>, 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467544" y="1920851"/>
            <a:ext cx="723510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所以在复数域上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阶矩阵一定有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个特征值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b="1" kern="12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67544" y="2538388"/>
            <a:ext cx="45005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不一定有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个实特征值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.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527869" y="3252763"/>
            <a:ext cx="5662612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华文中宋" pitchFamily="2" charset="-122"/>
                <a:cs typeface="+mn-cs"/>
              </a:rPr>
              <a:t>2)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 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若 </a:t>
            </a:r>
            <a:r>
              <a:rPr kumimoji="1" lang="en-US" altLang="zh-CN" b="1" i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n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阶矩阵的特征值都是实数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endParaRPr kumimoji="1" lang="zh-CN" altLang="en-US" b="1" kern="1200" cap="none" spc="0" normalizeH="0" baseline="0" noProof="0" dirty="0">
              <a:solidFill>
                <a:srgbClr val="000000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2087886" y="3898412"/>
            <a:ext cx="658703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即矩阵的特征值可以是特征方程的重根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.</a:t>
            </a: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467544" y="4446427"/>
            <a:ext cx="6587033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在计算特征值的个数时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重根按重数计算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. </a:t>
            </a:r>
            <a:endParaRPr kumimoji="1" lang="zh-CN" altLang="en-US" b="1" kern="1200" cap="none" spc="0" normalizeH="0" baseline="0" noProof="0" dirty="0">
              <a:solidFill>
                <a:schemeClr val="tx1"/>
              </a:solidFill>
              <a:latin typeface="+mn-lt"/>
              <a:ea typeface="华文中宋" pitchFamily="2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581969" y="630213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是否任何一个方阵都有特征值与特征向量</a:t>
            </a:r>
            <a:r>
              <a:rPr kumimoji="1" lang="en-US" altLang="zh-CN" b="1" kern="1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83978" name="Rectangle 20"/>
          <p:cNvSpPr/>
          <p:nvPr/>
        </p:nvSpPr>
        <p:spPr>
          <a:xfrm>
            <a:off x="450850" y="393700"/>
            <a:ext cx="403225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latinLnBrk="1" hangingPunct="1"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Gulim" pitchFamily="34" charset="-127"/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1049337" y="15909"/>
            <a:ext cx="7045325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Times New Roman" panose="02020603050405020304" pitchFamily="18" charset="0"/>
              </a:rPr>
              <a:t>特征值和特征向量的相关问题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1080" y="5088161"/>
            <a:ext cx="2493963" cy="596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</a:rPr>
              <a:t>做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k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重特征值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821976-D5CF-216C-968E-C32E23C7FB04}"/>
              </a:ext>
            </a:extLst>
          </p:cNvPr>
          <p:cNvSpPr txBox="1"/>
          <p:nvPr/>
        </p:nvSpPr>
        <p:spPr>
          <a:xfrm>
            <a:off x="7589892" y="1917244"/>
            <a:ext cx="8326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但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AC2C03-8F6E-04F5-E7A1-992770839FCE}"/>
              </a:ext>
            </a:extLst>
          </p:cNvPr>
          <p:cNvSpPr txBox="1"/>
          <p:nvPr/>
        </p:nvSpPr>
        <p:spPr>
          <a:xfrm>
            <a:off x="5826080" y="3249124"/>
            <a:ext cx="2848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则它们不一</a:t>
            </a:r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itchFamily="2" charset="-122"/>
                <a:cs typeface="+mn-cs"/>
              </a:rPr>
              <a:t>定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62CE07-EC0F-84D3-8D0E-EC9B3E22DB2A}"/>
              </a:ext>
            </a:extLst>
          </p:cNvPr>
          <p:cNvSpPr txBox="1"/>
          <p:nvPr/>
        </p:nvSpPr>
        <p:spPr>
          <a:xfrm>
            <a:off x="475482" y="3904817"/>
            <a:ext cx="2128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各不相同</a:t>
            </a:r>
            <a:r>
              <a:rPr kumimoji="1" lang="en-US" altLang="zh-CN" b="1" kern="1200" cap="none" spc="0" normalizeH="0" baseline="0" noProof="0" dirty="0">
                <a:solidFill>
                  <a:srgbClr val="000000"/>
                </a:solidFill>
                <a:latin typeface="+mn-lt"/>
                <a:ea typeface="华文中宋" pitchFamily="2" charset="-122"/>
                <a:cs typeface="+mn-cs"/>
              </a:rPr>
              <a:t>, 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DE9834-8A6E-9CB1-7103-14B8010EE1DB}"/>
              </a:ext>
            </a:extLst>
          </p:cNvPr>
          <p:cNvSpPr txBox="1"/>
          <p:nvPr/>
        </p:nvSpPr>
        <p:spPr>
          <a:xfrm>
            <a:off x="6903743" y="4546459"/>
            <a:ext cx="18407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i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</a:rPr>
              <a:t>k</a:t>
            </a:r>
            <a:r>
              <a:rPr kumimoji="1" lang="zh-CN" altLang="en-US" b="1" kern="1200" cap="none" spc="0" normalizeH="0" baseline="0" noProof="0" dirty="0">
                <a:solidFill>
                  <a:srgbClr val="0000FF"/>
                </a:solidFill>
                <a:latin typeface="+mn-lt"/>
                <a:ea typeface="华文中宋" pitchFamily="2" charset="-122"/>
                <a:cs typeface="+mn-cs"/>
              </a:rPr>
              <a:t>重根</a:t>
            </a:r>
            <a:r>
              <a:rPr kumimoji="1" lang="zh-CN" altLang="en-US" b="1" kern="1200" cap="none" spc="0" normalizeH="0" baseline="0" noProof="0" dirty="0">
                <a:solidFill>
                  <a:schemeClr val="tx1"/>
                </a:solidFill>
                <a:latin typeface="+mn-lt"/>
                <a:ea typeface="华文中宋" pitchFamily="2" charset="-122"/>
                <a:cs typeface="+mn-cs"/>
              </a:rPr>
              <a:t>叫</a:t>
            </a:r>
            <a:endParaRPr lang="zh-CN" altLang="en-US" dirty="0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2" grpId="1"/>
      <p:bldP spid="20" grpId="0"/>
      <p:bldP spid="20" grpId="1"/>
      <p:bldP spid="21" grpId="0"/>
      <p:bldP spid="21" grpId="1"/>
      <p:bldP spid="23" grpId="0"/>
      <p:bldP spid="23" grpId="1"/>
      <p:bldP spid="24" grpId="0"/>
      <p:bldP spid="24" grpId="1"/>
      <p:bldP spid="25" grpId="0"/>
      <p:bldP spid="25" grpId="1"/>
      <p:bldP spid="25" grpId="2"/>
      <p:bldP spid="26" grpId="0"/>
      <p:bldP spid="7" grpId="0"/>
      <p:bldP spid="7" grpId="1"/>
      <p:bldP spid="3" grpId="0"/>
      <p:bldP spid="5" grpId="0"/>
      <p:bldP spid="9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2313" y="1090389"/>
            <a:ext cx="847090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基本问题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特征值与特征向量的概念的理解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、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特征值的性质</a:t>
            </a:r>
            <a:endParaRPr lang="zh-CN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84996" name="Text Box 2"/>
          <p:cNvSpPr txBox="1"/>
          <p:nvPr/>
        </p:nvSpPr>
        <p:spPr>
          <a:xfrm>
            <a:off x="180023" y="116205"/>
            <a:ext cx="5407025" cy="598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itchFamily="2" charset="-122"/>
              </a:rPr>
              <a:t>特征值与特征向量小结</a:t>
            </a:r>
          </a:p>
        </p:txBody>
      </p:sp>
      <p:sp>
        <p:nvSpPr>
          <p:cNvPr id="5" name="爆炸形: 8 pt  4"/>
          <p:cNvSpPr/>
          <p:nvPr/>
        </p:nvSpPr>
        <p:spPr bwMode="auto">
          <a:xfrm>
            <a:off x="456902" y="120662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808038" y="1814289"/>
            <a:ext cx="721995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重点问题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如何求方阵的特征值和特征向量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</a:p>
        </p:txBody>
      </p:sp>
      <p:sp>
        <p:nvSpPr>
          <p:cNvPr id="7" name="爆炸形: 8 pt  6"/>
          <p:cNvSpPr/>
          <p:nvPr/>
        </p:nvSpPr>
        <p:spPr bwMode="auto">
          <a:xfrm>
            <a:off x="485512" y="192263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774700" y="2536602"/>
            <a:ext cx="7110413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难点问题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特征值与特征向量有关的理论问题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.</a:t>
            </a:r>
          </a:p>
        </p:txBody>
      </p:sp>
      <p:sp>
        <p:nvSpPr>
          <p:cNvPr id="9" name="爆炸形: 8 pt  8"/>
          <p:cNvSpPr/>
          <p:nvPr/>
        </p:nvSpPr>
        <p:spPr bwMode="auto">
          <a:xfrm>
            <a:off x="473074" y="265782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"/>
          <p:cNvSpPr/>
          <p:nvPr/>
        </p:nvSpPr>
        <p:spPr>
          <a:xfrm>
            <a:off x="774700" y="3289077"/>
            <a:ext cx="7397750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实践问题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特征值与特征向量的实际应用有哪些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</a:p>
        </p:txBody>
      </p:sp>
      <p:sp>
        <p:nvSpPr>
          <p:cNvPr id="12" name="爆炸形: 8 pt  11"/>
          <p:cNvSpPr/>
          <p:nvPr/>
        </p:nvSpPr>
        <p:spPr bwMode="auto">
          <a:xfrm>
            <a:off x="516812" y="341894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"/>
          <p:cNvSpPr/>
          <p:nvPr/>
        </p:nvSpPr>
        <p:spPr>
          <a:xfrm>
            <a:off x="771525" y="4011389"/>
            <a:ext cx="8372475" cy="477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拓展问题</a:t>
            </a:r>
            <a:r>
              <a:rPr lang="en-US" altLang="zh-C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: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itchFamily="2" charset="-122"/>
              </a:rPr>
              <a:t>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特征向量唯一吗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  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特征值与特征向量有何内在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4" name="爆炸形: 8 pt  13"/>
          <p:cNvSpPr/>
          <p:nvPr/>
        </p:nvSpPr>
        <p:spPr bwMode="auto">
          <a:xfrm>
            <a:off x="485352" y="412080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5016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" y="-9525"/>
            <a:ext cx="1014412" cy="839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Rectangle 1"/>
          <p:cNvSpPr/>
          <p:nvPr/>
        </p:nvSpPr>
        <p:spPr>
          <a:xfrm>
            <a:off x="2232025" y="4670202"/>
            <a:ext cx="6911975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联系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?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任何一个方阵是否都有特征值与特征向量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中宋" pitchFamily="2" charset="-122"/>
            </a:endParaRPr>
          </a:p>
        </p:txBody>
      </p:sp>
      <p:sp>
        <p:nvSpPr>
          <p:cNvPr id="19" name="Rectangle 1"/>
          <p:cNvSpPr/>
          <p:nvPr/>
        </p:nvSpPr>
        <p:spPr>
          <a:xfrm>
            <a:off x="2232025" y="5327427"/>
            <a:ext cx="5795963" cy="477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可从它们的定义与性质去理解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itchFamily="2" charset="-122"/>
              </a:rPr>
              <a:t>)?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11" grpId="0"/>
      <p:bldP spid="13" grpId="0"/>
      <p:bldP spid="16" grpId="0"/>
      <p:bldP spid="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76e17f0-6f76-4ec3-8c00-6dad90ddc6e2"/>
  <p:tag name="COMMONDATA" val="eyJoZGlkIjoiNGFhNGQxNWU3NzNiZWZjM2Y5ZDJjNzJhNGE4OTk1Z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2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Arial"/>
      </a:majorFont>
      <a:minorFont>
        <a:latin typeface="Times New Roman"/>
        <a:ea typeface="楷体_GB2312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21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4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5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7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9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0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1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2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3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5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6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7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8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29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0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1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2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3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4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5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6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37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38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39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0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1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2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43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4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5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6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7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8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49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0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1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2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3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4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5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6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7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8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59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0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6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6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3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4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5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6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7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8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79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0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1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2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3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85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6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7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8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89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90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91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2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3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4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5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6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7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8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99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0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1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2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3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4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5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6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7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8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09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0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1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2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3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4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15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6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7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8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19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0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2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33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4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5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6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7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8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39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0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1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2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3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4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5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6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7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8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49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0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1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2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3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4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5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6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57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58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59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0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1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2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63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4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5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6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7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8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69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FFFFFF"/>
        </a:accent3>
        <a:accent4>
          <a:srgbClr val="0056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0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FFFFFF"/>
        </a:accent3>
        <a:accent4>
          <a:srgbClr val="008282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1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FFFFFF"/>
        </a:accent3>
        <a:accent4>
          <a:srgbClr val="005682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2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FFFFFF"/>
        </a:accent3>
        <a:accent4>
          <a:srgbClr val="006C6C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3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FFFFFF"/>
        </a:accent3>
        <a:accent4>
          <a:srgbClr val="6E1E03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4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FFFFFF"/>
        </a:accent3>
        <a:accent4>
          <a:srgbClr val="2A5600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5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6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7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8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79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0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2_Pixel 18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8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9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9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2_Pixel 19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103</TotalTime>
  <Words>2439</Words>
  <Application>Microsoft Office PowerPoint</Application>
  <PresentationFormat>全屏显示(4:3)</PresentationFormat>
  <Paragraphs>327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5" baseType="lpstr">
      <vt:lpstr>Gulim</vt:lpstr>
      <vt:lpstr>黑体</vt:lpstr>
      <vt:lpstr>华文中宋</vt:lpstr>
      <vt:lpstr>宋体</vt:lpstr>
      <vt:lpstr>Arial</vt:lpstr>
      <vt:lpstr>Arial Black</vt:lpstr>
      <vt:lpstr>Calibri</vt:lpstr>
      <vt:lpstr>Times New Roman</vt:lpstr>
      <vt:lpstr>Wingdings</vt:lpstr>
      <vt:lpstr>1_Pixel</vt:lpstr>
      <vt:lpstr>212_Pixel</vt:lpstr>
      <vt:lpstr>1_默认设计模板</vt:lpstr>
      <vt:lpstr>2_默认设计模板</vt:lpstr>
      <vt:lpstr>2_习题课模板</vt:lpstr>
      <vt:lpstr>2_Pixel</vt:lpstr>
      <vt:lpstr>3_习题课模板</vt:lpstr>
      <vt:lpstr>MathType 6.0 Equation</vt:lpstr>
      <vt:lpstr>Microsoft PowerPoint 97-2003 Presentation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lilian chen</dc:creator>
  <cp:lastModifiedBy>lilian chen</cp:lastModifiedBy>
  <cp:revision>1023</cp:revision>
  <dcterms:created xsi:type="dcterms:W3CDTF">2012-06-17T01:12:18Z</dcterms:created>
  <dcterms:modified xsi:type="dcterms:W3CDTF">2024-03-03T08:11:22Z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6C6923BAFDDB4673AF1358C3C2C453F1_12</vt:lpwstr>
  </property>
  <property fmtid="{D5CDD505-2E9C-101B-9397-08002B2CF9AE}" pid="3" name="KSOProductBuildVer">
    <vt:lpwstr>2052-11.1.0.14309</vt:lpwstr>
  </property>
</Properties>
</file>