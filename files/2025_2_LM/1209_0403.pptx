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ppt" ContentType="application/vnd.ms-powerpoin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4" r:id="rId3"/>
    <p:sldMasterId id="2147483688" r:id="rId4"/>
  </p:sldMasterIdLst>
  <p:notesMasterIdLst>
    <p:notesMasterId r:id="rId32"/>
  </p:notesMasterIdLst>
  <p:sldIdLst>
    <p:sldId id="1194" r:id="rId5"/>
    <p:sldId id="1129" r:id="rId6"/>
    <p:sldId id="1195" r:id="rId7"/>
    <p:sldId id="1196" r:id="rId8"/>
    <p:sldId id="1103" r:id="rId9"/>
    <p:sldId id="1178" r:id="rId10"/>
    <p:sldId id="256" r:id="rId11"/>
    <p:sldId id="1182" r:id="rId12"/>
    <p:sldId id="1191" r:id="rId13"/>
    <p:sldId id="1179" r:id="rId14"/>
    <p:sldId id="1197" r:id="rId15"/>
    <p:sldId id="1193" r:id="rId16"/>
    <p:sldId id="1137" r:id="rId17"/>
    <p:sldId id="1183" r:id="rId18"/>
    <p:sldId id="324" r:id="rId19"/>
    <p:sldId id="1186" r:id="rId20"/>
    <p:sldId id="1187" r:id="rId21"/>
    <p:sldId id="1185" r:id="rId22"/>
    <p:sldId id="1188" r:id="rId23"/>
    <p:sldId id="1184" r:id="rId24"/>
    <p:sldId id="257" r:id="rId25"/>
    <p:sldId id="1189" r:id="rId26"/>
    <p:sldId id="1190" r:id="rId27"/>
    <p:sldId id="1173" r:id="rId28"/>
    <p:sldId id="1192" r:id="rId29"/>
    <p:sldId id="1150" r:id="rId30"/>
    <p:sldId id="317" r:id="rId31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3333FF"/>
    <a:srgbClr val="6666FF"/>
    <a:srgbClr val="969696"/>
    <a:srgbClr val="2B2BFF"/>
    <a:srgbClr val="C7E6A4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8"/>
    <p:restoredTop sz="91985"/>
  </p:normalViewPr>
  <p:slideViewPr>
    <p:cSldViewPr showGuides="1">
      <p:cViewPr varScale="1">
        <p:scale>
          <a:sx n="67" d="100"/>
          <a:sy n="67" d="100"/>
        </p:scale>
        <p:origin x="96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-82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C0A4FA-D2CA-41CF-B1AE-FD37A3579493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2024/3/3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01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13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130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E:\党办校办\党办校办文件夹\学校资料\学校标志\校徽透明_蓝_完美版-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13763" y="0"/>
            <a:ext cx="630237" cy="631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页脚占位符 1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0" rtl="0" eaLnBrk="0" fontAlgn="base" latinLnBrk="0" hangingPunct="0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Clr>
                <a:srgbClr val="0000FF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C00AC"/>
              </a:solidFill>
              <a:effectLst/>
              <a:uLnTx/>
              <a:uFillTx/>
              <a:latin typeface="+mn-lt"/>
              <a:ea typeface="+mn-ea"/>
              <a:cs typeface="楷体_GB2312" pitchFamily="49" charset="-122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165017-0B9F-46EE-A3EB-FF313FC90562}" type="datetimeFigureOut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2024/3/3</a:t>
            </a:fld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35D83A0-80DF-4DEC-9C63-42FBF4325AC9}" type="datetime1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2024/3/3</a:t>
            </a:fld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‹#›</a:t>
            </a:fld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0" rtl="0" eaLnBrk="0" fontAlgn="base" latinLnBrk="0" hangingPunct="0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Clr>
                <a:srgbClr val="0000FF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C00AC"/>
              </a:solidFill>
              <a:effectLst/>
              <a:uLnTx/>
              <a:uFillTx/>
              <a:latin typeface="+mn-lt"/>
              <a:ea typeface="+mn-ea"/>
              <a:cs typeface="楷体_GB2312" pitchFamily="49" charset="-122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437DE59-268C-4C13-A44C-018E250DFF4A}" type="datetimeFigureOut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2024/3/3</a:t>
            </a:fld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‹#›</a:t>
            </a:fld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35D83A0-80DF-4DEC-9C63-42FBF4325AC9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2024/3/3</a:t>
            </a:fld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‹#›</a:t>
            </a:fld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‹#›</a:t>
            </a:fld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00" name="Picture 2" descr="E:\党办校办\党办校办文件夹\学校资料\学校标志\校徽透明_蓝_完美版-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86775" y="0"/>
            <a:ext cx="630238" cy="631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4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0413" y="0"/>
            <a:ext cx="763587" cy="746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7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388350" y="39688"/>
            <a:ext cx="763588" cy="7461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itchFamily="49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itchFamily="49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600" b="1">
                <a:solidFill>
                  <a:srgbClr val="FFFF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  <p:pic>
        <p:nvPicPr>
          <p:cNvPr id="3079" name="图片 17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388350" y="39688"/>
            <a:ext cx="763588" cy="7461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sldNum="0" hdr="0" ftr="0" dt="0"/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itchFamily="49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itchFamily="49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/>
          <p:cNvSpPr>
            <a:spLocks noChangeArrowheads="1"/>
          </p:cNvSpPr>
          <p:nvPr/>
        </p:nvSpPr>
        <p:spPr bwMode="auto">
          <a:xfrm>
            <a:off x="611188" y="188913"/>
            <a:ext cx="3241675" cy="144463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AutoShape 27"/>
          <p:cNvSpPr>
            <a:spLocks noChangeArrowheads="1"/>
          </p:cNvSpPr>
          <p:nvPr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AutoShape 8"/>
          <p:cNvSpPr>
            <a:spLocks noChangeArrowheads="1"/>
          </p:cNvSpPr>
          <p:nvPr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AutoShape 10"/>
          <p:cNvSpPr>
            <a:spLocks noChangeArrowheads="1"/>
          </p:cNvSpPr>
          <p:nvPr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AutoShape 24"/>
          <p:cNvSpPr>
            <a:spLocks noChangeArrowheads="1"/>
          </p:cNvSpPr>
          <p:nvPr/>
        </p:nvSpPr>
        <p:spPr bwMode="auto">
          <a:xfrm>
            <a:off x="1547813" y="115888"/>
            <a:ext cx="1655763" cy="144463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AutoShape 26"/>
          <p:cNvSpPr>
            <a:spLocks noChangeArrowheads="1"/>
          </p:cNvSpPr>
          <p:nvPr/>
        </p:nvSpPr>
        <p:spPr bwMode="auto">
          <a:xfrm>
            <a:off x="0" y="-71437"/>
            <a:ext cx="1223963" cy="142875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Microsoft_PowerPoint_97-2003_Presentation.ppt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16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27.bin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3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8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3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3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4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4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5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51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/>
          <p:nvPr/>
        </p:nvSpPr>
        <p:spPr>
          <a:xfrm>
            <a:off x="323528" y="208850"/>
            <a:ext cx="9144000" cy="492443"/>
          </a:xfrm>
          <a:prstGeom prst="rect">
            <a:avLst/>
          </a:prstGeom>
          <a:noFill/>
          <a:ln w="571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第四章  相似矩阵与二次型</a:t>
            </a:r>
          </a:p>
        </p:txBody>
      </p:sp>
      <p:pic>
        <p:nvPicPr>
          <p:cNvPr id="37893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350" y="-23812"/>
            <a:ext cx="763588" cy="746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699792" y="1700808"/>
            <a:ext cx="3744416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华文中宋" pitchFamily="2" charset="-122"/>
                <a:cs typeface="Times New Roman" panose="02020603050405020304" pitchFamily="18" charset="0"/>
                <a:sym typeface="+mn-ea"/>
              </a:rPr>
              <a:t>§3  </a:t>
            </a:r>
            <a:r>
              <a:rPr kumimoji="1" lang="zh-CN" altLang="en-US" sz="4000" b="1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华文中宋" pitchFamily="2" charset="-122"/>
                <a:cs typeface="Times New Roman" panose="02020603050405020304" pitchFamily="18" charset="0"/>
                <a:sym typeface="+mn-ea"/>
              </a:rPr>
              <a:t>相似矩阵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/>
          <p:nvPr/>
        </p:nvSpPr>
        <p:spPr>
          <a:xfrm>
            <a:off x="827584" y="828675"/>
            <a:ext cx="7200900" cy="2600325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      本节重点解决以下问题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: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什么是相似矩阵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?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它有哪些重要性质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?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矩阵可对角化的条件有哪些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?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相似矩阵有哪些重要的实际应用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?</a:t>
            </a:r>
          </a:p>
        </p:txBody>
      </p:sp>
      <p:sp>
        <p:nvSpPr>
          <p:cNvPr id="38916" name="Rectangle 30"/>
          <p:cNvSpPr/>
          <p:nvPr/>
        </p:nvSpPr>
        <p:spPr>
          <a:xfrm>
            <a:off x="2123728" y="0"/>
            <a:ext cx="653732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前言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"/>
          <p:cNvSpPr txBox="1">
            <a:spLocks noChangeArrowheads="1"/>
          </p:cNvSpPr>
          <p:nvPr/>
        </p:nvSpPr>
        <p:spPr bwMode="auto">
          <a:xfrm>
            <a:off x="1077615" y="889000"/>
            <a:ext cx="7129463" cy="533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定义</a:t>
            </a:r>
            <a:r>
              <a:rPr kumimoji="1" lang="en-IE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4.10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设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B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都是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n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阶方阵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若有可逆</a:t>
            </a:r>
          </a:p>
        </p:txBody>
      </p:sp>
      <p:sp>
        <p:nvSpPr>
          <p:cNvPr id="39939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39941" name="Rectangle 30"/>
          <p:cNvSpPr/>
          <p:nvPr/>
        </p:nvSpPr>
        <p:spPr>
          <a:xfrm>
            <a:off x="755576" y="15619"/>
            <a:ext cx="61658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相似矩阵、相似变换的定义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150765" y="3357563"/>
            <a:ext cx="5911850" cy="600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ts val="4400"/>
              </a:lnSpc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可逆矩阵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P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称为把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变成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相似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44478" y="4056063"/>
            <a:ext cx="5383212" cy="600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ts val="4400"/>
              </a:lnSpc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对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进行运算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P </a:t>
            </a:r>
            <a:r>
              <a:rPr lang="en-US" altLang="zh-CN" sz="28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−</a:t>
            </a:r>
            <a:r>
              <a:rPr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AP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称为对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1228" y="2611438"/>
            <a:ext cx="5059362" cy="600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ts val="44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为矩阵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相似矩阵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50765" y="2063750"/>
            <a:ext cx="4648200" cy="53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10000"/>
              </a:lnSpc>
              <a:buClr>
                <a:srgbClr val="00007D"/>
              </a:buClr>
              <a:buNone/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P </a:t>
            </a:r>
            <a:r>
              <a:rPr lang="en-US" altLang="zh-CN" sz="28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−</a:t>
            </a:r>
            <a:r>
              <a:rPr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AP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1228" y="1539875"/>
            <a:ext cx="20351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矩阵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P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满足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1228" y="3432175"/>
            <a:ext cx="16033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相似．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419428" y="2687638"/>
            <a:ext cx="30035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或称矩阵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与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71228" y="4799013"/>
            <a:ext cx="3114675" cy="6016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ts val="4400"/>
              </a:lnSpc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进行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相似变换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．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71228" y="4056063"/>
            <a:ext cx="2179637" cy="600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ts val="4400"/>
              </a:lnSpc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变换矩阵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．</a:t>
            </a: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" grpId="0"/>
      <p:bldP spid="6" grpId="0"/>
      <p:bldP spid="8" grpId="0"/>
      <p:bldP spid="10" grpId="0"/>
      <p:bldP spid="12" grpId="0"/>
      <p:bldP spid="14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Box 10"/>
          <p:cNvSpPr txBox="1">
            <a:spLocks noChangeArrowheads="1"/>
          </p:cNvSpPr>
          <p:nvPr/>
        </p:nvSpPr>
        <p:spPr bwMode="auto">
          <a:xfrm>
            <a:off x="5348337" y="3252787"/>
            <a:ext cx="229235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B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与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C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相似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, </a:t>
            </a:r>
          </a:p>
        </p:txBody>
      </p:sp>
      <p:sp>
        <p:nvSpPr>
          <p:cNvPr id="56" name="Rectangle 31"/>
          <p:cNvSpPr>
            <a:spLocks noChangeArrowheads="1"/>
          </p:cNvSpPr>
          <p:nvPr/>
        </p:nvSpPr>
        <p:spPr bwMode="auto">
          <a:xfrm>
            <a:off x="971600" y="1631949"/>
            <a:ext cx="2303463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(1)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自反性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57" name="Rectangle 32"/>
          <p:cNvSpPr>
            <a:spLocks noChangeArrowheads="1"/>
          </p:cNvSpPr>
          <p:nvPr/>
        </p:nvSpPr>
        <p:spPr bwMode="auto">
          <a:xfrm>
            <a:off x="971600" y="2444749"/>
            <a:ext cx="216058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(2)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对称性　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58" name="Rectangle 33"/>
          <p:cNvSpPr>
            <a:spLocks noChangeArrowheads="1"/>
          </p:cNvSpPr>
          <p:nvPr/>
        </p:nvSpPr>
        <p:spPr bwMode="auto">
          <a:xfrm>
            <a:off x="5348337" y="2444749"/>
            <a:ext cx="33655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则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B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与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也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相似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;</a:t>
            </a:r>
          </a:p>
        </p:txBody>
      </p:sp>
      <p:sp>
        <p:nvSpPr>
          <p:cNvPr id="59" name="Rectangle 34"/>
          <p:cNvSpPr>
            <a:spLocks noChangeArrowheads="1"/>
          </p:cNvSpPr>
          <p:nvPr/>
        </p:nvSpPr>
        <p:spPr bwMode="auto">
          <a:xfrm>
            <a:off x="971600" y="3252787"/>
            <a:ext cx="463391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(3)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传递性　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若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A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与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B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相似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, </a:t>
            </a:r>
          </a:p>
        </p:txBody>
      </p:sp>
      <p:sp>
        <p:nvSpPr>
          <p:cNvPr id="40967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40969" name="Rectangle 30"/>
          <p:cNvSpPr/>
          <p:nvPr/>
        </p:nvSpPr>
        <p:spPr>
          <a:xfrm>
            <a:off x="819150" y="4763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相似矩阵的性质</a:t>
            </a:r>
            <a:r>
              <a:rPr lang="zh-CN" altLang="en-US" sz="2600" b="1" dirty="0">
                <a:solidFill>
                  <a:srgbClr val="CC0000"/>
                </a:solidFill>
                <a:latin typeface="Arial" panose="020B0604020202020204" pitchFamily="34" charset="0"/>
                <a:ea typeface="华文中宋" pitchFamily="2" charset="-122"/>
              </a:rPr>
              <a:t> </a:t>
            </a:r>
          </a:p>
        </p:txBody>
      </p:sp>
      <p:sp>
        <p:nvSpPr>
          <p:cNvPr id="5" name="Rectangle 3"/>
          <p:cNvSpPr txBox="1"/>
          <p:nvPr/>
        </p:nvSpPr>
        <p:spPr>
          <a:xfrm>
            <a:off x="971600" y="947737"/>
            <a:ext cx="489585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defTabSz="0"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设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,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C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是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阶方阵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则</a:t>
            </a:r>
          </a:p>
        </p:txBody>
      </p:sp>
      <p:sp>
        <p:nvSpPr>
          <p:cNvPr id="6" name="Rectangle 32"/>
          <p:cNvSpPr>
            <a:spLocks noChangeArrowheads="1"/>
          </p:cNvSpPr>
          <p:nvPr/>
        </p:nvSpPr>
        <p:spPr bwMode="auto">
          <a:xfrm>
            <a:off x="2955975" y="2439987"/>
            <a:ext cx="275748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若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与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B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相似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, </a:t>
            </a:r>
          </a:p>
        </p:txBody>
      </p:sp>
      <p:sp>
        <p:nvSpPr>
          <p:cNvPr id="7" name="Rectangle 31"/>
          <p:cNvSpPr>
            <a:spLocks noChangeArrowheads="1"/>
          </p:cNvSpPr>
          <p:nvPr/>
        </p:nvSpPr>
        <p:spPr bwMode="auto">
          <a:xfrm>
            <a:off x="3062337" y="1673224"/>
            <a:ext cx="254317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A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与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A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相似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;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638225" y="4067174"/>
            <a:ext cx="2636838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与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C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也相似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.</a:t>
            </a:r>
            <a:endParaRPr kumimoji="1" lang="en-US" altLang="zh-CN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35875" y="3252787"/>
            <a:ext cx="108108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则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75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75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75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uild="p" advAuto="1000"/>
      <p:bldP spid="56" grpId="0" build="p"/>
      <p:bldP spid="57" grpId="0" build="p"/>
      <p:bldP spid="58" grpId="0" build="p" advAuto="1000"/>
      <p:bldP spid="59" grpId="0" build="p"/>
      <p:bldP spid="6" grpId="0" build="p"/>
      <p:bldP spid="7" grpId="0" build="p"/>
      <p:bldP spid="8" grpId="0" build="p" advAuto="100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203500" y="1401763"/>
            <a:ext cx="527208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(1)  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与 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的特征多项式相同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</a:p>
        </p:txBody>
      </p:sp>
      <p:sp>
        <p:nvSpPr>
          <p:cNvPr id="25" name="Rectangle 33"/>
          <p:cNvSpPr>
            <a:spLocks noChangeArrowheads="1"/>
          </p:cNvSpPr>
          <p:nvPr/>
        </p:nvSpPr>
        <p:spPr bwMode="auto">
          <a:xfrm>
            <a:off x="1046337" y="698500"/>
            <a:ext cx="22320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定理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4.5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6" name="Rectangle 34"/>
          <p:cNvSpPr>
            <a:spLocks noChangeArrowheads="1"/>
          </p:cNvSpPr>
          <p:nvPr/>
        </p:nvSpPr>
        <p:spPr bwMode="auto">
          <a:xfrm>
            <a:off x="2100437" y="2689225"/>
            <a:ext cx="1903413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|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| = |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| , </a:t>
            </a:r>
          </a:p>
        </p:txBody>
      </p:sp>
      <p:sp>
        <p:nvSpPr>
          <p:cNvPr id="41989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41991" name="Rectangle 30"/>
          <p:cNvSpPr/>
          <p:nvPr/>
        </p:nvSpPr>
        <p:spPr>
          <a:xfrm>
            <a:off x="833438" y="-3175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相似矩阵的性质</a:t>
            </a:r>
            <a:r>
              <a:rPr lang="zh-CN" altLang="en-US" sz="2600" b="1" dirty="0">
                <a:solidFill>
                  <a:srgbClr val="CC0000"/>
                </a:solidFill>
                <a:latin typeface="Arial" panose="020B0604020202020204" pitchFamily="34" charset="0"/>
                <a:ea typeface="华文中宋" pitchFamily="2" charset="-122"/>
              </a:rPr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397300" y="698500"/>
            <a:ext cx="484028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若</a:t>
            </a:r>
            <a:r>
              <a:rPr kumimoji="0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n </a:t>
            </a:r>
            <a:r>
              <a:rPr kumimoji="0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阶方阵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矩阵 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与 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B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相似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, </a:t>
            </a:r>
            <a:endParaRPr kumimoji="1" lang="zh-CN" altLang="en-US" kern="1200" cap="none" spc="0" normalizeH="0" baseline="0" noProof="0" dirty="0">
              <a:solidFill>
                <a:srgbClr val="3333FF"/>
              </a:solidFill>
              <a:latin typeface="+mn-lt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31200" y="698500"/>
            <a:ext cx="10731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则</a:t>
            </a:r>
            <a:endParaRPr kumimoji="1" lang="zh-CN" altLang="en-US" kern="1200" cap="none" spc="0" normalizeH="0" baseline="0" noProof="0" dirty="0">
              <a:solidFill>
                <a:srgbClr val="3333FF"/>
              </a:solidFill>
              <a:latin typeface="+mn-lt"/>
              <a:cs typeface="+mn-cs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1203500" y="2701925"/>
            <a:ext cx="809625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(2)</a:t>
            </a:r>
          </a:p>
        </p:txBody>
      </p:sp>
      <p:sp>
        <p:nvSpPr>
          <p:cNvPr id="9" name="Rectangle 34"/>
          <p:cNvSpPr>
            <a:spLocks noChangeArrowheads="1"/>
          </p:cNvSpPr>
          <p:nvPr/>
        </p:nvSpPr>
        <p:spPr bwMode="auto">
          <a:xfrm>
            <a:off x="3853037" y="2689225"/>
            <a:ext cx="2982913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) =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).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11387" y="2017713"/>
            <a:ext cx="381635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与 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B 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特征值也相同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  <a:endParaRPr kumimoji="1" lang="zh-CN" altLang="en-US" b="1" kern="1200" cap="none" spc="0" normalizeH="0" baseline="0" noProof="0" dirty="0">
              <a:solidFill>
                <a:srgbClr val="3333FF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175" y="1401763"/>
            <a:ext cx="17684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从而 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endParaRPr kumimoji="1" lang="zh-CN" altLang="en-US" b="1" kern="1200" cap="none" spc="0" normalizeH="0" baseline="0" noProof="0" dirty="0">
              <a:solidFill>
                <a:srgbClr val="3333FF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1982362" y="3541713"/>
            <a:ext cx="599757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只需证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与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有相同的特征多项式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1832150" y="4187825"/>
            <a:ext cx="30305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由于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与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相似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9" name="Rectangle 8"/>
          <p:cNvSpPr>
            <a:spLocks noChangeArrowheads="1"/>
          </p:cNvSpPr>
          <p:nvPr/>
        </p:nvSpPr>
        <p:spPr bwMode="auto">
          <a:xfrm>
            <a:off x="3775250" y="5326063"/>
            <a:ext cx="2436813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en-US" altLang="zh-CN" b="1" dirty="0">
                <a:solidFill>
                  <a:schemeClr val="tx1"/>
                </a:solidFill>
                <a:ea typeface="华文中宋" pitchFamily="2" charset="-122"/>
                <a:sym typeface="Symbol" panose="05050102010706020507" pitchFamily="18" charset="2"/>
              </a:rPr>
              <a:t>,</a:t>
            </a:r>
            <a:endParaRPr kumimoji="1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sym typeface="Symbol" panose="05050102010706020507" pitchFamily="18" charset="2"/>
            </a:endParaRPr>
          </a:p>
        </p:txBody>
      </p:sp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1165400" y="3541713"/>
            <a:ext cx="902811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证明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811387" y="4187825"/>
            <a:ext cx="1328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即可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  <a:endParaRPr kumimoji="1" lang="zh-CN" altLang="en-US" kern="1200" cap="none" spc="0" normalizeH="0" baseline="0" noProof="0" dirty="0">
              <a:latin typeface="+mn-lt"/>
              <a:cs typeface="+mn-cs"/>
            </a:endParaRPr>
          </a:p>
        </p:txBody>
      </p:sp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811387" y="4805363"/>
            <a:ext cx="1201738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阵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559475" y="4187825"/>
            <a:ext cx="33051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所以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必有可逆矩</a:t>
            </a:r>
            <a:endParaRPr kumimoji="1" lang="zh-CN" altLang="en-US" kern="1200" cap="none" spc="0" normalizeH="0" baseline="0" noProof="0" dirty="0">
              <a:latin typeface="+mn-lt"/>
              <a:cs typeface="+mn-cs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744837" y="4802188"/>
            <a:ext cx="1328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使得</a:t>
            </a:r>
            <a:endParaRPr kumimoji="1" lang="zh-CN" altLang="en-US" kern="1200" cap="none" spc="0" normalizeH="0" baseline="0" noProof="0" dirty="0">
              <a:latin typeface="+mn-lt"/>
              <a:cs typeface="+mn-cs"/>
            </a:endParaRP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7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7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75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7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7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7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75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7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 advAuto="1000"/>
      <p:bldP spid="25" grpId="0" build="p"/>
      <p:bldP spid="26" grpId="0" build="p" advAuto="1000"/>
      <p:bldP spid="3" grpId="0"/>
      <p:bldP spid="6" grpId="0"/>
      <p:bldP spid="7" grpId="0" build="p" advAuto="1000"/>
      <p:bldP spid="9" grpId="0" build="p" advAuto="1000"/>
      <p:bldP spid="11" grpId="0"/>
      <p:bldP spid="12" grpId="0"/>
      <p:bldP spid="21" grpId="0" build="p"/>
      <p:bldP spid="22" grpId="0" build="p"/>
      <p:bldP spid="29" grpId="0" build="p" advAuto="1000"/>
      <p:bldP spid="30" grpId="0"/>
      <p:bldP spid="35" grpId="0"/>
      <p:bldP spid="36" grpId="0" build="p"/>
      <p:bldP spid="38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3313782" y="3345582"/>
            <a:ext cx="1906588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= |</a:t>
            </a:r>
            <a:r>
              <a:rPr kumimoji="1" lang="en-US" altLang="zh-CN" b="1" i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 -  I 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| .                                </a:t>
            </a:r>
            <a:endParaRPr kumimoji="1" lang="zh-CN" altLang="en-US" b="1" kern="1200" cap="none" spc="0" normalizeH="0" baseline="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1565945" y="1111970"/>
            <a:ext cx="67310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故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051720" y="1916832"/>
            <a:ext cx="48006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|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-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 I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| = |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-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 P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IP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|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3194720" y="2632795"/>
            <a:ext cx="33528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= |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| |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 -  I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| |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|</a:t>
            </a:r>
          </a:p>
        </p:txBody>
      </p:sp>
      <p:sp>
        <p:nvSpPr>
          <p:cNvPr id="41991" name="Rectangle 30"/>
          <p:cNvSpPr/>
          <p:nvPr>
            <p:custDataLst>
              <p:tags r:id="rId1"/>
            </p:custDataLst>
          </p:nvPr>
        </p:nvSpPr>
        <p:spPr>
          <a:xfrm>
            <a:off x="683568" y="0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相似矩阵的性质</a:t>
            </a:r>
            <a:r>
              <a:rPr lang="zh-CN" altLang="en-US" sz="2600" b="1" dirty="0">
                <a:solidFill>
                  <a:srgbClr val="CC0000"/>
                </a:solidFill>
                <a:latin typeface="Arial" panose="020B0604020202020204" pitchFamily="34" charset="0"/>
                <a:ea typeface="华文中宋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2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2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2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uild="p"/>
      <p:bldP spid="2057" grpId="0" build="p"/>
      <p:bldP spid="2058" grpId="0" build="p" advAuto="1000"/>
      <p:bldP spid="205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1115616" y="689462"/>
            <a:ext cx="114141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思考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2193529" y="692637"/>
            <a:ext cx="5159375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特征多项式相同的矩阵相似吗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800" b="1" i="1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1099741" y="1338750"/>
            <a:ext cx="16208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未必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.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5" name="Rectangle 3"/>
          <p:cNvSpPr txBox="1"/>
          <p:nvPr/>
        </p:nvSpPr>
        <p:spPr>
          <a:xfrm>
            <a:off x="1115616" y="2184887"/>
            <a:ext cx="182880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如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1115617" y="4485175"/>
            <a:ext cx="5936704" cy="53181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Arial" panose="020B0604020202020204"/>
              </a:rPr>
              <a:t>从上例可知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Arial" panose="020B0604020202020204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Arial" panose="020B0604020202020204"/>
              </a:rPr>
              <a:t>两个矩阵的特征值相同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Arial" panose="020B0604020202020204"/>
              </a:rPr>
              <a:t>,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Arial" panose="020B0604020202020204"/>
            </a:endParaRP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772716" y="5128112"/>
            <a:ext cx="4048125" cy="5318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Arial" panose="020B0604020202020204"/>
              </a:rPr>
              <a:t>迹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Arial" panose="020B0604020202020204"/>
              </a:rPr>
              <a:t>相同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Arial" panose="020B0604020202020204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Arial" panose="020B0604020202020204"/>
              </a:rPr>
              <a:t>或行列式相同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Arial" panose="020B0604020202020204"/>
              </a:rPr>
              <a:t>,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Arial" panose="020B0604020202020204"/>
            </a:endParaRPr>
          </a:p>
        </p:txBody>
      </p:sp>
      <p:graphicFrame>
        <p:nvGraphicFramePr>
          <p:cNvPr id="4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486324"/>
              </p:ext>
            </p:extLst>
          </p:nvPr>
        </p:nvGraphicFramePr>
        <p:xfrm>
          <a:off x="1723629" y="2011850"/>
          <a:ext cx="365442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65300" imgH="469900" progId="Equation.DSMT4">
                  <p:embed/>
                </p:oleObj>
              </mc:Choice>
              <mc:Fallback>
                <p:oleObj r:id="rId2" imgW="1765300" imgH="4699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23629" y="2011850"/>
                        <a:ext cx="3654425" cy="969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3"/>
          <p:cNvSpPr txBox="1"/>
          <p:nvPr/>
        </p:nvSpPr>
        <p:spPr>
          <a:xfrm>
            <a:off x="5405041" y="2184887"/>
            <a:ext cx="2806700" cy="53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两个矩阵的</a:t>
            </a:r>
            <a:endParaRPr lang="zh-CN" altLang="en-US" b="1" i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43" name="Rectangle 3"/>
          <p:cNvSpPr txBox="1"/>
          <p:nvPr/>
        </p:nvSpPr>
        <p:spPr>
          <a:xfrm>
            <a:off x="4630341" y="3053250"/>
            <a:ext cx="2421979" cy="533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若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P</a:t>
            </a:r>
            <a:r>
              <a:rPr lang="zh-CN" altLang="en-US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en-US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−</a:t>
            </a:r>
            <a:r>
              <a:rPr lang="en-US" altLang="zh-CN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1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AP =B</a:t>
            </a:r>
            <a:r>
              <a:rPr lang="en-US" altLang="zh-CN" b="1" dirty="0">
                <a:solidFill>
                  <a:srgbClr val="000000"/>
                </a:solidFill>
                <a:ea typeface="华文中宋" pitchFamily="2" charset="-122"/>
              </a:rPr>
              <a:t> ,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44043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44045" name="Rectangle 30"/>
          <p:cNvSpPr/>
          <p:nvPr/>
        </p:nvSpPr>
        <p:spPr>
          <a:xfrm>
            <a:off x="747155" y="5863"/>
            <a:ext cx="642620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特征多项式相同的矩阵相似性</a:t>
            </a:r>
          </a:p>
        </p:txBody>
      </p:sp>
      <p:sp>
        <p:nvSpPr>
          <p:cNvPr id="2" name="Rectangle 3"/>
          <p:cNvSpPr txBox="1"/>
          <p:nvPr/>
        </p:nvSpPr>
        <p:spPr>
          <a:xfrm>
            <a:off x="793354" y="3080237"/>
            <a:ext cx="4170362" cy="53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特征多项式均为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-1)</a:t>
            </a:r>
            <a:r>
              <a:rPr lang="en-US" altLang="zh-CN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.</a:t>
            </a:r>
            <a:r>
              <a:rPr lang="zh-CN" altLang="en-US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</a:p>
        </p:txBody>
      </p:sp>
      <p:sp>
        <p:nvSpPr>
          <p:cNvPr id="3" name="Rectangle 3"/>
          <p:cNvSpPr txBox="1"/>
          <p:nvPr/>
        </p:nvSpPr>
        <p:spPr>
          <a:xfrm>
            <a:off x="772716" y="3842237"/>
            <a:ext cx="3314700" cy="53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 =PB P</a:t>
            </a:r>
            <a:r>
              <a:rPr lang="zh-CN" altLang="en-US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en-US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−</a:t>
            </a:r>
            <a:r>
              <a:rPr lang="en-US" altLang="zh-CN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=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,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96829" y="3839062"/>
            <a:ext cx="1433512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矛盾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.</a:t>
            </a:r>
            <a:endParaRPr lang="zh-CN" altLang="en-US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316016" y="5136050"/>
            <a:ext cx="3532188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Arial" panose="020B0604020202020204"/>
              </a:rPr>
              <a:t>它们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Arial" panose="020B0604020202020204"/>
              </a:rPr>
              <a:t>未必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Arial" panose="020B0604020202020204"/>
              </a:rPr>
              <a:t>是相似的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Arial" panose="020B0604020202020204"/>
              </a:rPr>
              <a:t>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A9F286-F89E-37F4-16C9-CFB47885A825}"/>
              </a:ext>
            </a:extLst>
          </p:cNvPr>
          <p:cNvSpPr txBox="1"/>
          <p:nvPr/>
        </p:nvSpPr>
        <p:spPr>
          <a:xfrm>
            <a:off x="6808391" y="3053250"/>
            <a:ext cx="676499" cy="533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则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A42682-960B-B028-77B3-15D834C6F724}"/>
              </a:ext>
            </a:extLst>
          </p:cNvPr>
          <p:cNvSpPr txBox="1"/>
          <p:nvPr/>
        </p:nvSpPr>
        <p:spPr>
          <a:xfrm>
            <a:off x="6808391" y="4497202"/>
            <a:ext cx="9671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Arial" panose="020B0604020202020204"/>
              </a:rPr>
              <a:t>或</a:t>
            </a:r>
            <a:endParaRPr lang="zh-CN" altLang="en-US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childTnLst>
                                    <p:set>
                                      <p:cBhvr additive="base"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7" dur="1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42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7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46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5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2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3" grpId="0" build="p"/>
      <p:bldP spid="31" grpId="0"/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45"/>
          <p:cNvSpPr txBox="1">
            <a:spLocks noChangeArrowheads="1"/>
          </p:cNvSpPr>
          <p:nvPr/>
        </p:nvSpPr>
        <p:spPr bwMode="auto">
          <a:xfrm>
            <a:off x="1115616" y="885825"/>
            <a:ext cx="63119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推论</a:t>
            </a:r>
            <a:r>
              <a:rPr kumimoji="1" lang="en-US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4.2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   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若 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n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阶矩阵 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与对角矩阵</a:t>
            </a:r>
          </a:p>
        </p:txBody>
      </p:sp>
      <p:sp>
        <p:nvSpPr>
          <p:cNvPr id="32" name="Text Box 46"/>
          <p:cNvSpPr txBox="1">
            <a:spLocks noChangeArrowheads="1"/>
          </p:cNvSpPr>
          <p:nvPr/>
        </p:nvSpPr>
        <p:spPr bwMode="auto">
          <a:xfrm>
            <a:off x="2261791" y="1597025"/>
            <a:ext cx="4419600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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= </a:t>
            </a:r>
            <a:r>
              <a:rPr kumimoji="1" lang="en-US" altLang="zh-CN" b="1" kern="1200" cap="none" spc="0" normalizeH="0" baseline="0" noProof="0" dirty="0" err="1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diag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kern="1200" cap="none" spc="0" normalizeH="0" baseline="-2500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, 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kern="1200" cap="none" spc="0" normalizeH="0" baseline="-2500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, ···, 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i="1" kern="1200" cap="none" spc="0" normalizeH="0" baseline="-2500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3" name="Text Box 47"/>
          <p:cNvSpPr txBox="1">
            <a:spLocks noChangeArrowheads="1"/>
          </p:cNvSpPr>
          <p:nvPr/>
        </p:nvSpPr>
        <p:spPr bwMode="auto">
          <a:xfrm>
            <a:off x="839391" y="2276475"/>
            <a:ext cx="12065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相似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</a:p>
        </p:txBody>
      </p:sp>
      <p:sp>
        <p:nvSpPr>
          <p:cNvPr id="45061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45063" name="Rectangle 30"/>
          <p:cNvSpPr/>
          <p:nvPr/>
        </p:nvSpPr>
        <p:spPr>
          <a:xfrm>
            <a:off x="930275" y="-9525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相似矩阵的性质</a:t>
            </a:r>
            <a:r>
              <a:rPr lang="zh-CN" altLang="en-US" sz="2600" b="1" dirty="0">
                <a:solidFill>
                  <a:srgbClr val="CC0000"/>
                </a:solidFill>
                <a:latin typeface="Arial" panose="020B0604020202020204" pitchFamily="34" charset="0"/>
                <a:ea typeface="华文中宋" pitchFamily="2" charset="-122"/>
              </a:rPr>
              <a:t> </a:t>
            </a:r>
          </a:p>
        </p:txBody>
      </p:sp>
      <p:sp>
        <p:nvSpPr>
          <p:cNvPr id="2" name="Text Box 47"/>
          <p:cNvSpPr txBox="1">
            <a:spLocks noChangeArrowheads="1"/>
          </p:cNvSpPr>
          <p:nvPr/>
        </p:nvSpPr>
        <p:spPr bwMode="auto">
          <a:xfrm>
            <a:off x="1768078" y="2274887"/>
            <a:ext cx="565943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则 </a:t>
            </a:r>
            <a:r>
              <a:rPr kumimoji="1" lang="zh-CN" altLang="en-US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kern="1200" cap="none" spc="0" normalizeH="0" baseline="-2500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kern="1200" cap="none" spc="0" normalizeH="0" baseline="-2500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, 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···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i="1" kern="1200" cap="none" spc="0" normalizeH="0" baseline="-2500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n 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为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 </a:t>
            </a:r>
            <a:r>
              <a:rPr kumimoji="1" lang="en-US" altLang="zh-CN" b="1" i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个特征值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52128" y="3141662"/>
            <a:ext cx="11096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证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+mn-lt"/>
                <a:ea typeface="华文中宋" pitchFamily="2" charset="-122"/>
                <a:cs typeface="+mn-cs"/>
              </a:rPr>
              <a:t>明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028428" y="3140074"/>
            <a:ext cx="5659438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由于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,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···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i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n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是对角矩阵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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8" name="Text Box 47"/>
          <p:cNvSpPr txBox="1">
            <a:spLocks noChangeArrowheads="1"/>
          </p:cNvSpPr>
          <p:nvPr/>
        </p:nvSpPr>
        <p:spPr bwMode="auto">
          <a:xfrm>
            <a:off x="844153" y="3897312"/>
            <a:ext cx="231775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个特征值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847578" y="3897312"/>
            <a:ext cx="272891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由定理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4.5</a:t>
            </a: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可知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,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62166" y="3897312"/>
            <a:ext cx="23177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,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···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i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n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0178" y="4699000"/>
            <a:ext cx="3775075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即为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个特征值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32" grpId="0" build="p" advAuto="1000"/>
      <p:bldP spid="33" grpId="0" build="p" advAuto="1000"/>
      <p:bldP spid="2" grpId="0" build="p" advAuto="1000"/>
      <p:bldP spid="5" grpId="0"/>
      <p:bldP spid="7" grpId="0"/>
      <p:bldP spid="8" grpId="0" build="p" advAuto="1000"/>
      <p:bldP spid="8" grpId="1"/>
      <p:bldP spid="10" grpId="0"/>
      <p:bldP spid="11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34"/>
          <p:cNvSpPr>
            <a:spLocks noChangeArrowheads="1"/>
          </p:cNvSpPr>
          <p:nvPr/>
        </p:nvSpPr>
        <p:spPr bwMode="auto">
          <a:xfrm>
            <a:off x="1266031" y="787945"/>
            <a:ext cx="6611938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思考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  若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n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阶方阵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与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相似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且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可逆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, </a:t>
            </a:r>
            <a:endParaRPr kumimoji="1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44" name="Rectangle 35"/>
          <p:cNvSpPr>
            <a:spLocks noChangeArrowheads="1"/>
          </p:cNvSpPr>
          <p:nvPr/>
        </p:nvSpPr>
        <p:spPr bwMode="auto">
          <a:xfrm>
            <a:off x="965994" y="1549945"/>
            <a:ext cx="295116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请问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可逆吗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? </a:t>
            </a:r>
          </a:p>
        </p:txBody>
      </p:sp>
      <p:sp>
        <p:nvSpPr>
          <p:cNvPr id="46084" name="Rectangle 20"/>
          <p:cNvSpPr/>
          <p:nvPr/>
        </p:nvSpPr>
        <p:spPr>
          <a:xfrm>
            <a:off x="745281" y="490648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46086" name="Rectangle 30"/>
          <p:cNvSpPr/>
          <p:nvPr/>
        </p:nvSpPr>
        <p:spPr>
          <a:xfrm>
            <a:off x="827584" y="5915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矩阵的相似性问题</a:t>
            </a:r>
            <a:r>
              <a:rPr lang="zh-CN" altLang="en-US" sz="2600" b="1" dirty="0">
                <a:solidFill>
                  <a:srgbClr val="CC0000"/>
                </a:solidFill>
                <a:latin typeface="Arial" panose="020B0604020202020204" pitchFamily="34" charset="0"/>
                <a:ea typeface="华文中宋" pitchFamily="2" charset="-122"/>
              </a:rPr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29819" y="1549945"/>
            <a:ext cx="45799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b="1" kern="1200" cap="none" spc="0" normalizeH="0" baseline="30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-1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与 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B</a:t>
            </a:r>
            <a:r>
              <a:rPr kumimoji="1" lang="en-US" altLang="zh-CN" b="1" kern="1200" cap="none" spc="0" normalizeH="0" baseline="30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-1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相似吗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?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685131" y="2342108"/>
            <a:ext cx="22320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由定理可得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981869" y="2342108"/>
            <a:ext cx="5429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答</a:t>
            </a:r>
          </a:p>
        </p:txBody>
      </p:sp>
      <p:sp>
        <p:nvSpPr>
          <p:cNvPr id="8" name="Rectangle 34"/>
          <p:cNvSpPr>
            <a:spLocks noChangeArrowheads="1"/>
          </p:cNvSpPr>
          <p:nvPr/>
        </p:nvSpPr>
        <p:spPr bwMode="auto">
          <a:xfrm>
            <a:off x="3558381" y="2307183"/>
            <a:ext cx="19018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|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| = |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|, 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985044" y="3031083"/>
            <a:ext cx="22320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必有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|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|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 0, 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190331" y="3024733"/>
            <a:ext cx="190500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B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也可逆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277144" y="3788320"/>
            <a:ext cx="57150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设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为可逆矩阵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且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则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5214144" y="2307183"/>
            <a:ext cx="279876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故当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|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|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 0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时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058319" y="3024733"/>
            <a:ext cx="25495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即 </a:t>
            </a:r>
            <a:r>
              <a:rPr kumimoji="1" lang="en-US" altLang="zh-CN" b="1" i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可逆时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965994" y="5221833"/>
            <a:ext cx="3268663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即 </a:t>
            </a:r>
            <a:r>
              <a:rPr kumimoji="1" lang="en-US" altLang="zh-CN" b="1" i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b="1" kern="1200" cap="none" spc="0" normalizeH="0" baseline="3000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-1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与 </a:t>
            </a:r>
            <a:r>
              <a:rPr kumimoji="1" lang="en-US" altLang="zh-CN" b="1" i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en-US" altLang="zh-CN" b="1" kern="1200" cap="none" spc="0" normalizeH="0" baseline="3000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相似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.                                            </a:t>
            </a:r>
            <a:endParaRPr kumimoji="1" lang="zh-CN" altLang="en-US" b="1" kern="1200" cap="none" spc="0" normalizeH="0" baseline="0" noProof="0" dirty="0"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466504" y="4556782"/>
            <a:ext cx="477520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= 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)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P ,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uild="p"/>
      <p:bldP spid="44" grpId="0" build="p" advAuto="1000"/>
      <p:bldP spid="3" grpId="0"/>
      <p:bldP spid="5" grpId="0" build="p"/>
      <p:bldP spid="7" grpId="0"/>
      <p:bldP spid="8" grpId="0" build="p" advAuto="1000"/>
      <p:bldP spid="9" grpId="0" build="p" advAuto="1000"/>
      <p:bldP spid="10" grpId="0" build="p" advAuto="1000"/>
      <p:bldP spid="11" grpId="0" build="p"/>
      <p:bldP spid="12" grpId="0" build="p" advAuto="1000"/>
      <p:bldP spid="14" grpId="0"/>
      <p:bldP spid="15" grpId="0" build="p" advAuto="1000"/>
      <p:bldP spid="16" grpId="0" build="p" advAuto="100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"/>
          <p:cNvSpPr txBox="1"/>
          <p:nvPr/>
        </p:nvSpPr>
        <p:spPr>
          <a:xfrm>
            <a:off x="1259632" y="758250"/>
            <a:ext cx="445770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defTabSz="0"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设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是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阶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矩阵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13" name="Rectangle 31"/>
          <p:cNvSpPr>
            <a:spLocks noChangeArrowheads="1"/>
          </p:cNvSpPr>
          <p:nvPr/>
        </p:nvSpPr>
        <p:spPr bwMode="auto">
          <a:xfrm>
            <a:off x="1735882" y="1537713"/>
            <a:ext cx="488315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P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-1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AP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为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n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对角矩阵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),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5" name="Rectangle 33"/>
          <p:cNvSpPr>
            <a:spLocks noChangeArrowheads="1"/>
          </p:cNvSpPr>
          <p:nvPr/>
        </p:nvSpPr>
        <p:spPr bwMode="auto">
          <a:xfrm>
            <a:off x="1259632" y="2898200"/>
            <a:ext cx="4194175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对于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可对角化的矩阵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7" name="Rectangle 34"/>
          <p:cNvSpPr>
            <a:spLocks noChangeArrowheads="1"/>
          </p:cNvSpPr>
          <p:nvPr/>
        </p:nvSpPr>
        <p:spPr bwMode="auto">
          <a:xfrm>
            <a:off x="800845" y="3666550"/>
            <a:ext cx="72993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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和可逆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矩阵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P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使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P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-1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的过程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为把矩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47110" name="Rectangle 20"/>
          <p:cNvSpPr/>
          <p:nvPr/>
        </p:nvSpPr>
        <p:spPr>
          <a:xfrm>
            <a:off x="1152699" y="266125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1187624" y="0"/>
            <a:ext cx="5340350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矩阵</a:t>
            </a:r>
            <a:r>
              <a:rPr kumimoji="1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可对角化的定义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19032" y="1536125"/>
            <a:ext cx="1362075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则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称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77457" y="788413"/>
            <a:ext cx="370681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若存在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阶可逆矩阵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75457" y="1537713"/>
            <a:ext cx="26971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P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使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75457" y="4436488"/>
            <a:ext cx="29765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矩阵 </a:t>
            </a:r>
            <a:r>
              <a:rPr kumimoji="1" lang="en-US" altLang="zh-CN" b="1" i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 </a:t>
            </a: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对角化</a:t>
            </a:r>
            <a:r>
              <a:rPr kumimoji="1" lang="en-US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.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56920" y="2895025"/>
            <a:ext cx="31559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则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称求对角矩阵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6245" y="2217163"/>
            <a:ext cx="31035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b="1" i="1" kern="1200" cap="none" spc="0" normalizeH="0" baseline="0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b="1" kern="1200" cap="none" spc="0" normalizeH="0" baseline="0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可对角化</a:t>
            </a:r>
            <a:r>
              <a:rPr kumimoji="1" lang="en-US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13" grpId="0" build="p" advAuto="1000"/>
      <p:bldP spid="13" grpId="1"/>
      <p:bldP spid="15" grpId="0" build="p" advAuto="1000"/>
      <p:bldP spid="15" grpId="1"/>
      <p:bldP spid="17" grpId="0" build="p" advAuto="1000"/>
      <p:bldP spid="17" grpId="1"/>
      <p:bldP spid="3" grpId="0"/>
      <p:bldP spid="7" grpId="0"/>
      <p:bldP spid="9" grpId="0"/>
      <p:bldP spid="16" grpId="0"/>
      <p:bldP spid="19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1332409" y="831775"/>
            <a:ext cx="7127875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20000"/>
              </a:spcBef>
              <a:buClr>
                <a:srgbClr val="00007D"/>
              </a:buClr>
              <a:buSzPct val="75000"/>
              <a:buFontTx/>
              <a:buNone/>
              <a:defRPr/>
            </a:pPr>
            <a:r>
              <a:rPr kumimoji="0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定理</a:t>
            </a:r>
            <a:r>
              <a:rPr kumimoji="0" lang="en-US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4.6</a:t>
            </a:r>
            <a:r>
              <a:rPr kumimoji="0" lang="en-US" altLang="zh-CN" b="1" kern="1200" cap="none" spc="0" normalizeH="0" baseline="0" noProof="0" dirty="0">
                <a:solidFill>
                  <a:srgbClr val="FF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 </a:t>
            </a:r>
            <a:r>
              <a:rPr kumimoji="0" lang="en-US" altLang="zh-CN" b="1" i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n </a:t>
            </a:r>
            <a:r>
              <a:rPr kumimoji="0" lang="zh-CN" altLang="en-US" b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阶矩阵 </a:t>
            </a:r>
            <a:r>
              <a:rPr kumimoji="0" lang="en-US" altLang="zh-CN" b="1" i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和对角阵相似当且仅</a:t>
            </a:r>
            <a:endParaRPr kumimoji="0" lang="zh-CN" altLang="en-US" kern="1200" cap="none" spc="0" normalizeH="0" baseline="0" noProof="0" dirty="0">
              <a:solidFill>
                <a:srgbClr val="0000FF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7584" y="1469950"/>
            <a:ext cx="5641975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20000"/>
              </a:spcBef>
              <a:buClr>
                <a:srgbClr val="00007D"/>
              </a:buClr>
              <a:buSzPct val="75000"/>
              <a:buFontTx/>
              <a:buNone/>
              <a:defRPr/>
            </a:pPr>
            <a:r>
              <a:rPr kumimoji="0" lang="zh-CN" altLang="en-US" b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当 </a:t>
            </a:r>
            <a:r>
              <a:rPr kumimoji="0" lang="en-US" altLang="zh-CN" b="1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有</a:t>
            </a:r>
            <a:r>
              <a:rPr kumimoji="0" lang="en-US" altLang="zh-CN" b="1" i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n </a:t>
            </a:r>
            <a:r>
              <a:rPr kumimoji="0" lang="zh-CN" altLang="en-US" b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个线性无关的特征向量</a:t>
            </a: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.</a:t>
            </a:r>
            <a:endParaRPr kumimoji="0" lang="zh-CN" altLang="en-US" kern="1200" cap="none" spc="0" normalizeH="0" baseline="0" noProof="0" dirty="0">
              <a:solidFill>
                <a:srgbClr val="0000FF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graphicFrame>
        <p:nvGraphicFramePr>
          <p:cNvPr id="28" name="Object 38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394730"/>
              </p:ext>
            </p:extLst>
          </p:nvPr>
        </p:nvGraphicFramePr>
        <p:xfrm>
          <a:off x="1548309" y="2257350"/>
          <a:ext cx="8366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2068177" imgH="1551440" progId="PowerPoint.Show.8">
                  <p:embed/>
                </p:oleObj>
              </mc:Choice>
              <mc:Fallback>
                <p:oleObj name="Presentation" r:id="rId2" imgW="2068177" imgH="1551440" progId="PowerPoint.Show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rcRect l="16667" t="7777" r="74167" b="85556"/>
                      <a:stretch>
                        <a:fillRect/>
                      </a:stretch>
                    </p:blipFill>
                    <p:spPr>
                      <a:xfrm>
                        <a:off x="1548309" y="2257350"/>
                        <a:ext cx="836613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907" y="2276325"/>
            <a:ext cx="504825" cy="361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4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971550" y="15875"/>
            <a:ext cx="6426200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600" b="1" i="1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n </a:t>
            </a:r>
            <a:r>
              <a:rPr kumimoji="1" lang="zh-CN" altLang="en-US" sz="26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阶方阵 </a:t>
            </a:r>
            <a:r>
              <a:rPr kumimoji="1" lang="en-US" altLang="zh-CN" sz="2600" b="1" i="1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26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可对角化的充要条件</a:t>
            </a:r>
          </a:p>
        </p:txBody>
      </p:sp>
      <p:sp>
        <p:nvSpPr>
          <p:cNvPr id="2" name="Rectangle 42"/>
          <p:cNvSpPr>
            <a:spLocks noChangeArrowheads="1"/>
          </p:cNvSpPr>
          <p:nvPr/>
        </p:nvSpPr>
        <p:spPr bwMode="auto">
          <a:xfrm>
            <a:off x="1187947" y="3133650"/>
            <a:ext cx="72723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推论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4.3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若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阶矩阵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有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个不同的特征值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, </a:t>
            </a:r>
          </a:p>
        </p:txBody>
      </p:sp>
      <p:sp>
        <p:nvSpPr>
          <p:cNvPr id="3" name="Rectangle 43"/>
          <p:cNvSpPr>
            <a:spLocks noChangeArrowheads="1"/>
          </p:cNvSpPr>
          <p:nvPr/>
        </p:nvSpPr>
        <p:spPr bwMode="auto">
          <a:xfrm>
            <a:off x="827584" y="3856756"/>
            <a:ext cx="4537075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则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必能相似于对角矩阵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.</a:t>
            </a:r>
          </a:p>
        </p:txBody>
      </p:sp>
      <p:graphicFrame>
        <p:nvGraphicFramePr>
          <p:cNvPr id="5" name="Object 4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768712"/>
              </p:ext>
            </p:extLst>
          </p:nvPr>
        </p:nvGraphicFramePr>
        <p:xfrm>
          <a:off x="1397497" y="4568750"/>
          <a:ext cx="836612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5" imgW="4515585" imgH="3386568" progId="PowerPoint.Show.8">
                  <p:embed/>
                </p:oleObj>
              </mc:Choice>
              <mc:Fallback>
                <p:oleObj name="Presentation" r:id="rId5" imgW="4515585" imgH="3386568" progId="PowerPoint.Show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rcRect l="14999" t="15556" r="75833" b="77777"/>
                      <a:stretch>
                        <a:fillRect/>
                      </a:stretch>
                    </p:blipFill>
                    <p:spPr>
                      <a:xfrm>
                        <a:off x="1397497" y="4568750"/>
                        <a:ext cx="836612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953" y="4615581"/>
            <a:ext cx="504825" cy="361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3009392-CDEC-E23E-F7CF-4581313B589F}"/>
              </a:ext>
            </a:extLst>
          </p:cNvPr>
          <p:cNvSpPr txBox="1"/>
          <p:nvPr/>
        </p:nvSpPr>
        <p:spPr>
          <a:xfrm>
            <a:off x="2212131" y="2181503"/>
            <a:ext cx="5487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+mn-lt"/>
                <a:ea typeface="华文中宋" pitchFamily="2" charset="-122"/>
                <a:sym typeface="Times New Roman" panose="02020603050405020304" pitchFamily="18" charset="0"/>
              </a:rPr>
              <a:t>略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C918E4-DC1E-5A49-654B-A0C91ACF3DA9}"/>
              </a:ext>
            </a:extLst>
          </p:cNvPr>
          <p:cNvSpPr txBox="1"/>
          <p:nvPr/>
        </p:nvSpPr>
        <p:spPr>
          <a:xfrm>
            <a:off x="2110532" y="4534946"/>
            <a:ext cx="5487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+mn-lt"/>
                <a:ea typeface="华文中宋" pitchFamily="2" charset="-122"/>
                <a:sym typeface="Times New Roman" panose="02020603050405020304" pitchFamily="18" charset="0"/>
              </a:rPr>
              <a:t>略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 advAuto="100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029493" y="703579"/>
            <a:ext cx="1074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思考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926431" y="698817"/>
            <a:ext cx="51133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是否每个矩阵都可以对角化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039018" y="1267142"/>
            <a:ext cx="3667125" cy="533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未必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.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5" name="Rectangle 35"/>
          <p:cNvSpPr>
            <a:spLocks noChangeArrowheads="1"/>
          </p:cNvSpPr>
          <p:nvPr/>
        </p:nvSpPr>
        <p:spPr bwMode="auto">
          <a:xfrm>
            <a:off x="796697" y="1937469"/>
            <a:ext cx="31464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由前面的讨论可知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8" name="Rectangle 30"/>
          <p:cNvSpPr>
            <a:spLocks noChangeArrowheads="1"/>
          </p:cNvSpPr>
          <p:nvPr/>
        </p:nvSpPr>
        <p:spPr bwMode="auto">
          <a:xfrm>
            <a:off x="3820885" y="1916832"/>
            <a:ext cx="33623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对于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阶矩阵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,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0" name="Rectangle 36"/>
          <p:cNvSpPr>
            <a:spLocks noChangeArrowheads="1"/>
          </p:cNvSpPr>
          <p:nvPr/>
        </p:nvSpPr>
        <p:spPr bwMode="auto">
          <a:xfrm>
            <a:off x="476022" y="2418482"/>
            <a:ext cx="46958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当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的特征方程无重根时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21" name="Rectangle 37"/>
          <p:cNvSpPr>
            <a:spLocks noChangeArrowheads="1"/>
          </p:cNvSpPr>
          <p:nvPr/>
        </p:nvSpPr>
        <p:spPr bwMode="auto">
          <a:xfrm>
            <a:off x="4714647" y="2443882"/>
            <a:ext cx="2925763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一定能对角化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;</a:t>
            </a:r>
          </a:p>
        </p:txBody>
      </p:sp>
      <p:sp>
        <p:nvSpPr>
          <p:cNvPr id="22" name="Rectangle 38"/>
          <p:cNvSpPr>
            <a:spLocks noChangeArrowheads="1"/>
          </p:cNvSpPr>
          <p:nvPr/>
        </p:nvSpPr>
        <p:spPr bwMode="auto">
          <a:xfrm>
            <a:off x="476022" y="2905844"/>
            <a:ext cx="4479404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当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的特征方程有重根时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3" name="Rectangle 39"/>
          <p:cNvSpPr>
            <a:spLocks noChangeArrowheads="1"/>
          </p:cNvSpPr>
          <p:nvPr/>
        </p:nvSpPr>
        <p:spPr bwMode="auto">
          <a:xfrm>
            <a:off x="476022" y="3494807"/>
            <a:ext cx="3733483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线性无关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的特征向量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1" name="Rectangle 39"/>
          <p:cNvSpPr>
            <a:spLocks noChangeArrowheads="1"/>
          </p:cNvSpPr>
          <p:nvPr/>
        </p:nvSpPr>
        <p:spPr bwMode="auto">
          <a:xfrm>
            <a:off x="476022" y="4013919"/>
            <a:ext cx="4322763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如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4.2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节的例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4.9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中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有重根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</a:p>
        </p:txBody>
      </p:sp>
      <p:sp>
        <p:nvSpPr>
          <p:cNvPr id="32" name="Rectangle 39"/>
          <p:cNvSpPr/>
          <p:nvPr/>
        </p:nvSpPr>
        <p:spPr>
          <a:xfrm>
            <a:off x="501422" y="4582244"/>
            <a:ext cx="2500313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关的特征向量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, </a:t>
            </a:r>
          </a:p>
        </p:txBody>
      </p:sp>
      <p:sp>
        <p:nvSpPr>
          <p:cNvPr id="33" name="Rectangle 39"/>
          <p:cNvSpPr/>
          <p:nvPr/>
        </p:nvSpPr>
        <p:spPr>
          <a:xfrm>
            <a:off x="501422" y="5115644"/>
            <a:ext cx="61102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可以找到相应的线性无关的特征向量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,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6022" y="5731594"/>
            <a:ext cx="37338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它们都能对角化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49167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731064" y="4677"/>
            <a:ext cx="4713288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矩阵的对角化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267097" y="4582244"/>
            <a:ext cx="270192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而例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4.7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与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4.8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11247" y="4582244"/>
            <a:ext cx="264795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故不能对角化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;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35285" y="4012332"/>
            <a:ext cx="290512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但无 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个线性无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467247" y="5115644"/>
            <a:ext cx="93821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因此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8FC69B-F0C0-E764-2D57-AC502A02D781}"/>
              </a:ext>
            </a:extLst>
          </p:cNvPr>
          <p:cNvSpPr txBox="1"/>
          <p:nvPr/>
        </p:nvSpPr>
        <p:spPr>
          <a:xfrm>
            <a:off x="3938359" y="3493875"/>
            <a:ext cx="37334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所以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未必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能对角化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D30B81-44DF-E561-1C03-16AA2F98BCBB}"/>
              </a:ext>
            </a:extLst>
          </p:cNvPr>
          <p:cNvSpPr txBox="1"/>
          <p:nvPr/>
        </p:nvSpPr>
        <p:spPr>
          <a:xfrm>
            <a:off x="4660077" y="2911261"/>
            <a:ext cx="34921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这时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未必有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个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7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7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7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5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7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7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75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7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75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7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75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75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35" grpId="0" build="p"/>
      <p:bldP spid="18" grpId="0" build="p"/>
      <p:bldP spid="20" grpId="0" build="p"/>
      <p:bldP spid="21" grpId="0" build="p" advAuto="1000"/>
      <p:bldP spid="22" grpId="0" build="p"/>
      <p:bldP spid="23" grpId="0" build="p" advAuto="1000"/>
      <p:bldP spid="31" grpId="0" build="p" advAuto="1000"/>
      <p:bldP spid="32" grpId="0" build="p" advAuto="1000"/>
      <p:bldP spid="33" grpId="0" build="p" advAuto="1000"/>
      <p:bldP spid="40" grpId="0" build="p" advAuto="1000"/>
      <p:bldP spid="8" grpId="0"/>
      <p:bldP spid="13" grpId="0"/>
      <p:bldP spid="15" grpId="0"/>
      <p:bldP spid="17" grpId="0"/>
      <p:bldP spid="3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197768" y="671695"/>
            <a:ext cx="1074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思考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2269330" y="681220"/>
            <a:ext cx="60134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2)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28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阶矩阵 </a:t>
            </a:r>
            <a:r>
              <a:rPr kumimoji="1" lang="en-US" altLang="zh-CN" sz="28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相似于对角阵 </a:t>
            </a:r>
            <a:r>
              <a:rPr kumimoji="1" lang="en-US" altLang="zh-CN" sz="2800" b="1" i="1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怎</a:t>
            </a:r>
            <a:endParaRPr kumimoji="1" lang="zh-CN" altLang="en-US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861218" y="1808345"/>
            <a:ext cx="6815137" cy="5318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由前可知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若 </a:t>
            </a:r>
            <a:r>
              <a:rPr kumimoji="1" lang="en-US" altLang="zh-CN" sz="2800" b="1" i="1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阶矩阵 </a:t>
            </a:r>
            <a:r>
              <a:rPr kumimoji="1" lang="en-US" altLang="zh-CN" sz="2800" b="1" i="1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相似于矩阵 </a:t>
            </a:r>
            <a:r>
              <a:rPr kumimoji="1" lang="en-US" altLang="zh-CN" sz="2800" b="1" i="1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,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861218" y="1214620"/>
            <a:ext cx="74215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样求出这个对角阵 </a:t>
            </a:r>
            <a:r>
              <a:rPr kumimoji="1" lang="en-US" altLang="zh-CN" sz="2800" b="1" i="1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B 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及相应的可逆矩阵 </a:t>
            </a:r>
            <a:r>
              <a:rPr kumimoji="1" lang="en-IE" altLang="zh-CN" sz="28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P</a:t>
            </a:r>
            <a:r>
              <a:rPr kumimoji="1" lang="en-IE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? </a:t>
            </a:r>
            <a:endParaRPr kumimoji="1" lang="zh-CN" altLang="en-US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845343" y="2424295"/>
            <a:ext cx="1873250" cy="5318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Arial" panose="020B0604020202020204"/>
              </a:rPr>
              <a:t>P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Arial" panose="020B0604020202020204"/>
              </a:rPr>
              <a:t> </a:t>
            </a:r>
            <a:r>
              <a:rPr kumimoji="0" lang="en-US" altLang="en-US" sz="2800" b="1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Arial" panose="020B0604020202020204"/>
              </a:rPr>
              <a:t>−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Arial" panose="020B0604020202020204"/>
              </a:rPr>
              <a:t>1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Arial" panose="020B0604020202020204"/>
              </a:rPr>
              <a:t>AP =B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Arial" panose="020B0604020202020204"/>
              </a:rPr>
              <a:t>,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graphicFrame>
        <p:nvGraphicFramePr>
          <p:cNvPr id="3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196058"/>
              </p:ext>
            </p:extLst>
          </p:nvPr>
        </p:nvGraphicFramePr>
        <p:xfrm>
          <a:off x="1231105" y="2603682"/>
          <a:ext cx="6445250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111500" imgH="939800" progId="Equation.DSMT4">
                  <p:embed/>
                </p:oleObj>
              </mc:Choice>
              <mc:Fallback>
                <p:oleObj r:id="rId2" imgW="3111500" imgH="9398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31105" y="2603682"/>
                        <a:ext cx="6445250" cy="1939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3"/>
          <p:cNvSpPr>
            <a:spLocks noChangeArrowheads="1"/>
          </p:cNvSpPr>
          <p:nvPr/>
        </p:nvSpPr>
        <p:spPr bwMode="auto">
          <a:xfrm>
            <a:off x="861218" y="4640445"/>
            <a:ext cx="106045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从而</a:t>
            </a:r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2718593" y="4657907"/>
            <a:ext cx="52657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Ap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i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p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, (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= 1, 2, ···,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n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),</a:t>
            </a:r>
          </a:p>
        </p:txBody>
      </p:sp>
      <p:sp>
        <p:nvSpPr>
          <p:cNvPr id="41" name="Rectangle 4"/>
          <p:cNvSpPr>
            <a:spLocks noChangeArrowheads="1"/>
          </p:cNvSpPr>
          <p:nvPr/>
        </p:nvSpPr>
        <p:spPr bwMode="auto">
          <a:xfrm>
            <a:off x="861218" y="5256395"/>
            <a:ext cx="7613650" cy="5318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Arial" panose="020B0604020202020204"/>
              </a:rPr>
              <a:t>显然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Arial" panose="020B0604020202020204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为矩阵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对应于特征值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 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 , ···,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n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2" name="Rectangle 2"/>
          <p:cNvSpPr>
            <a:spLocks noChangeArrowheads="1"/>
          </p:cNvSpPr>
          <p:nvPr/>
        </p:nvSpPr>
        <p:spPr bwMode="auto">
          <a:xfrm>
            <a:off x="845343" y="5799320"/>
            <a:ext cx="2655888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特征向量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43" name="椭圆形标注 14347"/>
          <p:cNvSpPr>
            <a:spLocks noChangeArrowheads="1"/>
          </p:cNvSpPr>
          <p:nvPr/>
        </p:nvSpPr>
        <p:spPr bwMode="auto">
          <a:xfrm>
            <a:off x="7711280" y="4537257"/>
            <a:ext cx="571500" cy="727075"/>
          </a:xfrm>
          <a:prstGeom prst="wedgeEllipseCallout">
            <a:avLst>
              <a:gd name="adj1" fmla="val -108367"/>
              <a:gd name="adj2" fmla="val -49841"/>
            </a:avLst>
          </a:prstGeom>
          <a:solidFill>
            <a:srgbClr val="FFF7FF"/>
          </a:solidFill>
          <a:ln w="9525">
            <a:solidFill>
              <a:srgbClr val="0000FF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B</a:t>
            </a:r>
            <a:endParaRPr kumimoji="1" lang="zh-CN" altLang="en-US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44" name="Line 12"/>
          <p:cNvSpPr/>
          <p:nvPr/>
        </p:nvSpPr>
        <p:spPr>
          <a:xfrm flipV="1">
            <a:off x="5174455" y="4503920"/>
            <a:ext cx="2189163" cy="33337"/>
          </a:xfrm>
          <a:prstGeom prst="line">
            <a:avLst/>
          </a:prstGeom>
          <a:ln w="38100" cap="flat" cmpd="sng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14" name="Rectangle 20"/>
          <p:cNvSpPr/>
          <p:nvPr/>
        </p:nvSpPr>
        <p:spPr>
          <a:xfrm>
            <a:off x="956492" y="511358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692126" y="-5373"/>
            <a:ext cx="6426200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矩阵相似于对角矩阵的算法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6A60F3-A9C8-3A9B-D40A-FAB2769BCAB9}"/>
              </a:ext>
            </a:extLst>
          </p:cNvPr>
          <p:cNvSpPr txBox="1"/>
          <p:nvPr/>
        </p:nvSpPr>
        <p:spPr>
          <a:xfrm>
            <a:off x="7363618" y="1819458"/>
            <a:ext cx="8159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则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37E703-0017-7EC4-0F42-C8FD22F89AE6}"/>
              </a:ext>
            </a:extLst>
          </p:cNvPr>
          <p:cNvSpPr txBox="1"/>
          <p:nvPr/>
        </p:nvSpPr>
        <p:spPr>
          <a:xfrm>
            <a:off x="4668043" y="2450062"/>
            <a:ext cx="8159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即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5B4E5D4-11A1-63BD-611A-D1A142D72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473" y="2424294"/>
            <a:ext cx="2207691" cy="5318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得 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AP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PB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 ,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1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7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75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7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75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7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1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9" grpId="0"/>
      <p:bldP spid="25" grpId="0"/>
      <p:bldP spid="29" grpId="0"/>
      <p:bldP spid="38" grpId="0" build="p"/>
      <p:bldP spid="39" grpId="0" build="p" advAuto="1000"/>
      <p:bldP spid="41" grpId="0"/>
      <p:bldP spid="42" grpId="0" build="p" advAuto="1000"/>
      <p:bldP spid="43" grpId="0" animBg="1"/>
      <p:bldP spid="2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6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46977"/>
              </p:ext>
            </p:extLst>
          </p:nvPr>
        </p:nvGraphicFramePr>
        <p:xfrm>
          <a:off x="2016994" y="2595662"/>
          <a:ext cx="10398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20700" imgH="241300" progId="Equation.DSMT4">
                  <p:embed/>
                </p:oleObj>
              </mc:Choice>
              <mc:Fallback>
                <p:oleObj r:id="rId2" imgW="520700" imgH="2413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16994" y="2595662"/>
                        <a:ext cx="1039812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999175"/>
              </p:ext>
            </p:extLst>
          </p:nvPr>
        </p:nvGraphicFramePr>
        <p:xfrm>
          <a:off x="3145706" y="2428974"/>
          <a:ext cx="426085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33600" imgH="469900" progId="Equation.DSMT4">
                  <p:embed/>
                </p:oleObj>
              </mc:Choice>
              <mc:Fallback>
                <p:oleObj r:id="rId4" imgW="2133600" imgH="4699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45706" y="2428974"/>
                        <a:ext cx="4260850" cy="938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2" name="Rectangle 8"/>
          <p:cNvSpPr>
            <a:spLocks noChangeArrowheads="1"/>
          </p:cNvSpPr>
          <p:nvPr/>
        </p:nvSpPr>
        <p:spPr bwMode="auto">
          <a:xfrm>
            <a:off x="1134344" y="4054574"/>
            <a:ext cx="2238375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当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=1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时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,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45456" y="1713012"/>
            <a:ext cx="784225" cy="4810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解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415456" y="1689199"/>
            <a:ext cx="45799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A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的特征多项式为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34344" y="3405287"/>
            <a:ext cx="365760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所以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A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的特征值为</a:t>
            </a:r>
          </a:p>
        </p:txBody>
      </p:sp>
      <p:graphicFrame>
        <p:nvGraphicFramePr>
          <p:cNvPr id="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444864"/>
              </p:ext>
            </p:extLst>
          </p:nvPr>
        </p:nvGraphicFramePr>
        <p:xfrm>
          <a:off x="4222031" y="3470374"/>
          <a:ext cx="19272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65200" imgH="228600" progId="Equation.DSMT4">
                  <p:embed/>
                </p:oleObj>
              </mc:Choice>
              <mc:Fallback>
                <p:oleObj r:id="rId6" imgW="965200" imgH="2286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22031" y="3470374"/>
                        <a:ext cx="192722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3055219" y="4054574"/>
            <a:ext cx="38131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解方程组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(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A –I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)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x=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0,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60406" y="4170462"/>
            <a:ext cx="8159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即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496651"/>
              </p:ext>
            </p:extLst>
          </p:nvPr>
        </p:nvGraphicFramePr>
        <p:xfrm>
          <a:off x="3435425" y="4649886"/>
          <a:ext cx="28670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35100" imgH="482600" progId="Equation.DSMT4">
                  <p:embed/>
                </p:oleObj>
              </mc:Choice>
              <mc:Fallback>
                <p:oleObj r:id="rId8" imgW="1435100" imgH="4826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35425" y="4649886"/>
                        <a:ext cx="2867025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6" name="Rectangle 20"/>
          <p:cNvSpPr/>
          <p:nvPr/>
        </p:nvSpPr>
        <p:spPr>
          <a:xfrm>
            <a:off x="1035126" y="390077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2238" name="Rectangle 30"/>
          <p:cNvSpPr/>
          <p:nvPr/>
        </p:nvSpPr>
        <p:spPr>
          <a:xfrm>
            <a:off x="929481" y="6349"/>
            <a:ext cx="47132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相似矩阵的应用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145456" y="5627787"/>
            <a:ext cx="4579938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得基础解系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graphicFrame>
        <p:nvGraphicFramePr>
          <p:cNvPr id="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581827"/>
              </p:ext>
            </p:extLst>
          </p:nvPr>
        </p:nvGraphicFramePr>
        <p:xfrm>
          <a:off x="3879132" y="5686523"/>
          <a:ext cx="14970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48665" imgH="241300" progId="Equation.DSMT4">
                  <p:embed/>
                </p:oleObj>
              </mc:Choice>
              <mc:Fallback>
                <p:oleObj r:id="rId10" imgW="748665" imgH="2413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879132" y="5686523"/>
                        <a:ext cx="1497012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475656" y="836712"/>
            <a:ext cx="2524125" cy="4794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例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4.12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已知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982569" y="862112"/>
            <a:ext cx="16319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求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graphicFrame>
        <p:nvGraphicFramePr>
          <p:cNvPr id="5224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39883"/>
              </p:ext>
            </p:extLst>
          </p:nvPr>
        </p:nvGraphicFramePr>
        <p:xfrm>
          <a:off x="6547720" y="942933"/>
          <a:ext cx="728661" cy="397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723900" imgH="393700" progId="Equation.DSMT4">
                  <p:embed/>
                </p:oleObj>
              </mc:Choice>
              <mc:Fallback>
                <p:oleObj r:id="rId12" imgW="723900" imgH="3937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547720" y="942933"/>
                        <a:ext cx="728661" cy="39701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189603"/>
              </p:ext>
            </p:extLst>
          </p:nvPr>
        </p:nvGraphicFramePr>
        <p:xfrm>
          <a:off x="3870401" y="689073"/>
          <a:ext cx="2074862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070100" imgH="838200" progId="Equation.DSMT4">
                  <p:embed/>
                </p:oleObj>
              </mc:Choice>
              <mc:Fallback>
                <p:oleObj r:id="rId14" imgW="2070100" imgH="8382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870401" y="689073"/>
                        <a:ext cx="2074862" cy="841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2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72" grpId="0"/>
      <p:bldP spid="216072" grpId="1"/>
      <p:bldP spid="8" grpId="0"/>
      <p:bldP spid="10" grpId="0"/>
      <p:bldP spid="15" grpId="0"/>
      <p:bldP spid="17" grpId="0"/>
      <p:bldP spid="18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2" name="Rectangle 8"/>
          <p:cNvSpPr>
            <a:spLocks noChangeArrowheads="1"/>
          </p:cNvSpPr>
          <p:nvPr/>
        </p:nvSpPr>
        <p:spPr bwMode="auto">
          <a:xfrm>
            <a:off x="1331640" y="623887"/>
            <a:ext cx="2238375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当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=-5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时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,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54103" y="623887"/>
            <a:ext cx="381158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解方程组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(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A +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5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I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)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x=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0,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813278" y="623887"/>
            <a:ext cx="8159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即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677974"/>
              </p:ext>
            </p:extLst>
          </p:nvPr>
        </p:nvGraphicFramePr>
        <p:xfrm>
          <a:off x="3454128" y="1444624"/>
          <a:ext cx="25368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69365" imgH="482600" progId="Equation.DSMT4">
                  <p:embed/>
                </p:oleObj>
              </mc:Choice>
              <mc:Fallback>
                <p:oleObj r:id="rId2" imgW="1269365" imgH="4826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54128" y="1444624"/>
                        <a:ext cx="2536825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3256" name="Rectangle 30"/>
          <p:cNvSpPr/>
          <p:nvPr/>
        </p:nvSpPr>
        <p:spPr>
          <a:xfrm>
            <a:off x="1016000" y="0"/>
            <a:ext cx="47132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相似矩阵的应用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306240" y="2325687"/>
            <a:ext cx="45799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得基础解系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608879"/>
              </p:ext>
            </p:extLst>
          </p:nvPr>
        </p:nvGraphicFramePr>
        <p:xfrm>
          <a:off x="3595415" y="2936874"/>
          <a:ext cx="184626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41500" imgH="482600" progId="Equation.DSMT4">
                  <p:embed/>
                </p:oleObj>
              </mc:Choice>
              <mc:Fallback>
                <p:oleObj r:id="rId4" imgW="1841500" imgH="4826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95415" y="2936874"/>
                        <a:ext cx="1846263" cy="484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279253" y="3908424"/>
            <a:ext cx="784225" cy="479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令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194028" y="3903662"/>
            <a:ext cx="97790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则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226916"/>
              </p:ext>
            </p:extLst>
          </p:nvPr>
        </p:nvGraphicFramePr>
        <p:xfrm>
          <a:off x="1844403" y="3743324"/>
          <a:ext cx="321945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213100" imgH="838200" progId="Equation.DSMT4">
                  <p:embed/>
                </p:oleObj>
              </mc:Choice>
              <mc:Fallback>
                <p:oleObj r:id="rId6" imgW="3213100" imgH="8382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44403" y="3743324"/>
                        <a:ext cx="3219450" cy="841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712558"/>
              </p:ext>
            </p:extLst>
          </p:nvPr>
        </p:nvGraphicFramePr>
        <p:xfrm>
          <a:off x="2530203" y="5022849"/>
          <a:ext cx="127158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69365" imgH="381000" progId="Equation.DSMT4">
                  <p:embed/>
                </p:oleObj>
              </mc:Choice>
              <mc:Fallback>
                <p:oleObj r:id="rId8" imgW="1269365" imgH="3810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30203" y="5022849"/>
                        <a:ext cx="1271587" cy="382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130352"/>
              </p:ext>
            </p:extLst>
          </p:nvPr>
        </p:nvGraphicFramePr>
        <p:xfrm>
          <a:off x="3895453" y="5081587"/>
          <a:ext cx="280987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79400" imgH="279400" progId="Equation.DSMT4">
                  <p:embed/>
                </p:oleObj>
              </mc:Choice>
              <mc:Fallback>
                <p:oleObj r:id="rId10" imgW="279400" imgH="2794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895453" y="5081587"/>
                        <a:ext cx="280987" cy="280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293024"/>
              </p:ext>
            </p:extLst>
          </p:nvPr>
        </p:nvGraphicFramePr>
        <p:xfrm>
          <a:off x="4293915" y="4841874"/>
          <a:ext cx="1576388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574800" imgH="838200" progId="Equation.DSMT4">
                  <p:embed/>
                </p:oleObj>
              </mc:Choice>
              <mc:Fallback>
                <p:oleObj r:id="rId12" imgW="1574800" imgH="8382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293915" y="4841874"/>
                        <a:ext cx="1576388" cy="841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72" grpId="0"/>
      <p:bldP spid="216072" grpId="1"/>
      <p:bldP spid="17" grpId="0"/>
      <p:bldP spid="18" grpId="0"/>
      <p:bldP spid="26" grpId="0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2" name="Rectangle 8"/>
          <p:cNvSpPr>
            <a:spLocks noChangeArrowheads="1"/>
          </p:cNvSpPr>
          <p:nvPr/>
        </p:nvSpPr>
        <p:spPr bwMode="auto">
          <a:xfrm>
            <a:off x="4662463" y="802233"/>
            <a:ext cx="2238375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于是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763688" y="808583"/>
            <a:ext cx="128111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从而</a:t>
            </a:r>
          </a:p>
        </p:txBody>
      </p:sp>
      <p:sp>
        <p:nvSpPr>
          <p:cNvPr id="54276" name="Rectangle 20"/>
          <p:cNvSpPr/>
          <p:nvPr/>
        </p:nvSpPr>
        <p:spPr>
          <a:xfrm>
            <a:off x="1405409" y="505064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4278" name="Rectangle 30"/>
          <p:cNvSpPr/>
          <p:nvPr/>
        </p:nvSpPr>
        <p:spPr>
          <a:xfrm>
            <a:off x="1115616" y="6043"/>
            <a:ext cx="47132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相似矩阵的应用</a:t>
            </a:r>
          </a:p>
        </p:txBody>
      </p:sp>
      <p:graphicFrame>
        <p:nvGraphicFramePr>
          <p:cNvPr id="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386071"/>
              </p:ext>
            </p:extLst>
          </p:nvPr>
        </p:nvGraphicFramePr>
        <p:xfrm>
          <a:off x="1982763" y="1897608"/>
          <a:ext cx="61118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9600" imgH="381000" progId="Equation.DSMT4">
                  <p:embed/>
                </p:oleObj>
              </mc:Choice>
              <mc:Fallback>
                <p:oleObj r:id="rId2" imgW="609600" imgH="3810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82763" y="1897608"/>
                        <a:ext cx="611187" cy="382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480112"/>
              </p:ext>
            </p:extLst>
          </p:nvPr>
        </p:nvGraphicFramePr>
        <p:xfrm>
          <a:off x="2611413" y="1897608"/>
          <a:ext cx="160337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00200" imgH="381000" progId="Equation.DSMT4">
                  <p:embed/>
                </p:oleObj>
              </mc:Choice>
              <mc:Fallback>
                <p:oleObj r:id="rId4" imgW="1600200" imgH="3810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11413" y="1897608"/>
                        <a:ext cx="1603375" cy="382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567456"/>
              </p:ext>
            </p:extLst>
          </p:nvPr>
        </p:nvGraphicFramePr>
        <p:xfrm>
          <a:off x="2593950" y="2521496"/>
          <a:ext cx="4405313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394200" imgH="927100" progId="Equation.DSMT4">
                  <p:embed/>
                </p:oleObj>
              </mc:Choice>
              <mc:Fallback>
                <p:oleObj r:id="rId6" imgW="4394200" imgH="9271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93950" y="2521496"/>
                        <a:ext cx="4405313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393629"/>
              </p:ext>
            </p:extLst>
          </p:nvPr>
        </p:nvGraphicFramePr>
        <p:xfrm>
          <a:off x="2611413" y="3710533"/>
          <a:ext cx="3973512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962400" imgH="965200" progId="Equation.DSMT4">
                  <p:embed/>
                </p:oleObj>
              </mc:Choice>
              <mc:Fallback>
                <p:oleObj r:id="rId8" imgW="3962400" imgH="9652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11413" y="3710533"/>
                        <a:ext cx="3973512" cy="96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294170"/>
              </p:ext>
            </p:extLst>
          </p:nvPr>
        </p:nvGraphicFramePr>
        <p:xfrm>
          <a:off x="2809850" y="821283"/>
          <a:ext cx="16906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88465" imgH="444500" progId="Equation.DSMT4">
                  <p:embed/>
                </p:oleObj>
              </mc:Choice>
              <mc:Fallback>
                <p:oleObj r:id="rId10" imgW="1688465" imgH="4445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09850" y="821283"/>
                        <a:ext cx="1690688" cy="446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72" grpId="0"/>
      <p:bldP spid="216072" grpId="1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682752" y="661193"/>
            <a:ext cx="5956300" cy="4810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一般地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,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如果存在可逆矩阵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P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使得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258045" y="1808955"/>
            <a:ext cx="103981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则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258045" y="3058318"/>
            <a:ext cx="460375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而对于对角矩阵</a:t>
            </a:r>
          </a:p>
        </p:txBody>
      </p:sp>
      <p:sp>
        <p:nvSpPr>
          <p:cNvPr id="55301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5303" name="Rectangle 30"/>
          <p:cNvSpPr/>
          <p:nvPr/>
        </p:nvSpPr>
        <p:spPr>
          <a:xfrm>
            <a:off x="179070" y="-7620"/>
            <a:ext cx="47132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相似矩阵的应用</a:t>
            </a:r>
          </a:p>
        </p:txBody>
      </p:sp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08034"/>
              </p:ext>
            </p:extLst>
          </p:nvPr>
        </p:nvGraphicFramePr>
        <p:xfrm>
          <a:off x="3888532" y="1354930"/>
          <a:ext cx="16906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88465" imgH="444500" progId="Equation.DSMT4">
                  <p:embed/>
                </p:oleObj>
              </mc:Choice>
              <mc:Fallback>
                <p:oleObj r:id="rId2" imgW="1688465" imgH="4445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88532" y="1354930"/>
                        <a:ext cx="1690688" cy="446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961702"/>
              </p:ext>
            </p:extLst>
          </p:nvPr>
        </p:nvGraphicFramePr>
        <p:xfrm>
          <a:off x="1904157" y="2409030"/>
          <a:ext cx="19843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81200" imgH="444500" progId="Equation.DSMT4">
                  <p:embed/>
                </p:oleObj>
              </mc:Choice>
              <mc:Fallback>
                <p:oleObj r:id="rId4" imgW="1981200" imgH="4445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04157" y="2409030"/>
                        <a:ext cx="198437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386225"/>
              </p:ext>
            </p:extLst>
          </p:nvPr>
        </p:nvGraphicFramePr>
        <p:xfrm>
          <a:off x="2588370" y="3863180"/>
          <a:ext cx="3228975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225800" imgH="1689100" progId="Equation.DSMT4">
                  <p:embed/>
                </p:oleObj>
              </mc:Choice>
              <mc:Fallback>
                <p:oleObj r:id="rId6" imgW="3225800" imgH="16891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88370" y="3863180"/>
                        <a:ext cx="3228975" cy="169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2326044-FEB6-1690-95CC-1FF8F5F873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140237"/>
              </p:ext>
            </p:extLst>
          </p:nvPr>
        </p:nvGraphicFramePr>
        <p:xfrm>
          <a:off x="4323383" y="2453480"/>
          <a:ext cx="7127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11000" imgH="355320" progId="Equation.DSMT4">
                  <p:embed/>
                </p:oleObj>
              </mc:Choice>
              <mc:Fallback>
                <p:oleObj name="Equation" r:id="rId8" imgW="711000" imgH="355320" progId="Equation.DSMT4">
                  <p:embed/>
                  <p:pic>
                    <p:nvPicPr>
                      <p:cNvPr id="6" name="Object 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23383" y="2453480"/>
                        <a:ext cx="712788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A41CA87F-753B-08A7-7C82-532BD40037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975941"/>
              </p:ext>
            </p:extLst>
          </p:nvPr>
        </p:nvGraphicFramePr>
        <p:xfrm>
          <a:off x="5053286" y="2453480"/>
          <a:ext cx="1235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31560" imgH="355320" progId="Equation.DSMT4">
                  <p:embed/>
                </p:oleObj>
              </mc:Choice>
              <mc:Fallback>
                <p:oleObj name="Equation" r:id="rId10" imgW="1231560" imgH="355320" progId="Equation.DSMT4">
                  <p:embed/>
                  <p:pic>
                    <p:nvPicPr>
                      <p:cNvPr id="11" name="Object 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53286" y="2453480"/>
                        <a:ext cx="12350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D95D6178-1B5D-CBB5-25DE-9EDE7454A6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6410"/>
              </p:ext>
            </p:extLst>
          </p:nvPr>
        </p:nvGraphicFramePr>
        <p:xfrm>
          <a:off x="6305476" y="2406649"/>
          <a:ext cx="6238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22080" imgH="393480" progId="Equation.DSMT4">
                  <p:embed/>
                </p:oleObj>
              </mc:Choice>
              <mc:Fallback>
                <p:oleObj name="Equation" r:id="rId12" imgW="622080" imgH="3934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B2760015-A5F0-3060-7726-6B7BFE349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05476" y="2406649"/>
                        <a:ext cx="623887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5" grpId="0"/>
      <p:bldP spid="1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154908" y="4841875"/>
            <a:ext cx="403225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进而可求得矩阵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A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的幂</a:t>
            </a:r>
          </a:p>
        </p:txBody>
      </p:sp>
      <p:sp>
        <p:nvSpPr>
          <p:cNvPr id="56323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6325" name="Rectangle 30"/>
          <p:cNvSpPr/>
          <p:nvPr/>
        </p:nvSpPr>
        <p:spPr>
          <a:xfrm>
            <a:off x="323215" y="44450"/>
            <a:ext cx="47132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相似矩阵的应用</a:t>
            </a: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719741"/>
              </p:ext>
            </p:extLst>
          </p:nvPr>
        </p:nvGraphicFramePr>
        <p:xfrm>
          <a:off x="4890295" y="4900612"/>
          <a:ext cx="4206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19100" imgH="381000" progId="Equation.DSMT4">
                  <p:embed/>
                </p:oleObj>
              </mc:Choice>
              <mc:Fallback>
                <p:oleObj r:id="rId2" imgW="419100" imgH="3810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90295" y="4900612"/>
                        <a:ext cx="420688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715058"/>
              </p:ext>
            </p:extLst>
          </p:nvPr>
        </p:nvGraphicFramePr>
        <p:xfrm>
          <a:off x="6812758" y="4959350"/>
          <a:ext cx="7381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35965" imgH="355600" progId="Equation.DSMT4">
                  <p:embed/>
                </p:oleObj>
              </mc:Choice>
              <mc:Fallback>
                <p:oleObj r:id="rId4" imgW="735965" imgH="3556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12758" y="4959350"/>
                        <a:ext cx="738187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413282"/>
              </p:ext>
            </p:extLst>
          </p:nvPr>
        </p:nvGraphicFramePr>
        <p:xfrm>
          <a:off x="2443958" y="3617912"/>
          <a:ext cx="727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23900" imgH="355600" progId="Equation.DSMT4">
                  <p:embed/>
                </p:oleObj>
              </mc:Choice>
              <mc:Fallback>
                <p:oleObj r:id="rId6" imgW="723900" imgH="3556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43958" y="3617912"/>
                        <a:ext cx="7270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402033"/>
              </p:ext>
            </p:extLst>
          </p:nvPr>
        </p:nvGraphicFramePr>
        <p:xfrm>
          <a:off x="2766220" y="825500"/>
          <a:ext cx="3789363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784600" imgH="1879600" progId="Equation.DSMT4">
                  <p:embed/>
                </p:oleObj>
              </mc:Choice>
              <mc:Fallback>
                <p:oleObj r:id="rId8" imgW="3784600" imgH="18796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66220" y="825500"/>
                        <a:ext cx="3789363" cy="188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187158" y="4841875"/>
            <a:ext cx="1820863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与多项式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071422"/>
              </p:ext>
            </p:extLst>
          </p:nvPr>
        </p:nvGraphicFramePr>
        <p:xfrm>
          <a:off x="3215483" y="2967037"/>
          <a:ext cx="4208462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203700" imgH="1689100" progId="Equation.DSMT4">
                  <p:embed/>
                </p:oleObj>
              </mc:Choice>
              <mc:Fallback>
                <p:oleObj r:id="rId10" imgW="4203700" imgH="16891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215483" y="2967037"/>
                        <a:ext cx="4208462" cy="169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164433" y="728662"/>
            <a:ext cx="1039813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有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250"/>
                            </p:stCondLst>
                            <p:childTnLst>
                              <p:par>
                                <p:cTn id="1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50"/>
                            </p:stCondLst>
                            <p:childTnLst>
                              <p:par>
                                <p:cTn id="47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ChangeArrowheads="1"/>
          </p:cNvSpPr>
          <p:nvPr/>
        </p:nvSpPr>
        <p:spPr bwMode="auto">
          <a:xfrm>
            <a:off x="1227614" y="934690"/>
            <a:ext cx="2989263" cy="4794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4.12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判断矩阵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132989" y="829915"/>
            <a:ext cx="1630363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能否相似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56139" y="1879253"/>
            <a:ext cx="4032250" cy="479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对角化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,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试说明其理由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.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95826" y="2579340"/>
            <a:ext cx="12160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解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 由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95826" y="4739928"/>
            <a:ext cx="128111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解得</a:t>
            </a:r>
          </a:p>
        </p:txBody>
      </p:sp>
      <p:sp>
        <p:nvSpPr>
          <p:cNvPr id="57351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7353" name="Rectangle 30"/>
          <p:cNvSpPr/>
          <p:nvPr/>
        </p:nvSpPr>
        <p:spPr>
          <a:xfrm>
            <a:off x="323215" y="44450"/>
            <a:ext cx="47132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相似矩阵的应用</a:t>
            </a:r>
          </a:p>
        </p:txBody>
      </p:sp>
      <p:graphicFrame>
        <p:nvGraphicFramePr>
          <p:cNvPr id="573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517060"/>
              </p:ext>
            </p:extLst>
          </p:nvPr>
        </p:nvGraphicFramePr>
        <p:xfrm>
          <a:off x="3959701" y="560040"/>
          <a:ext cx="2074863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70100" imgH="1244600" progId="Equation.DSMT4">
                  <p:embed/>
                </p:oleObj>
              </mc:Choice>
              <mc:Fallback>
                <p:oleObj r:id="rId2" imgW="2070100" imgH="12446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59701" y="560040"/>
                        <a:ext cx="2074863" cy="1249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62951"/>
              </p:ext>
            </p:extLst>
          </p:nvPr>
        </p:nvGraphicFramePr>
        <p:xfrm>
          <a:off x="1087914" y="3141315"/>
          <a:ext cx="683260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819900" imgH="1244600" progId="Equation.DSMT4">
                  <p:embed/>
                </p:oleObj>
              </mc:Choice>
              <mc:Fallback>
                <p:oleObj r:id="rId4" imgW="6819900" imgH="12446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87914" y="3141315"/>
                        <a:ext cx="6832600" cy="1249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048993"/>
              </p:ext>
            </p:extLst>
          </p:nvPr>
        </p:nvGraphicFramePr>
        <p:xfrm>
          <a:off x="2165826" y="4798665"/>
          <a:ext cx="26289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628900" imgH="419100" progId="Equation.DSMT4">
                  <p:embed/>
                </p:oleObj>
              </mc:Choice>
              <mc:Fallback>
                <p:oleObj r:id="rId6" imgW="2628900" imgH="4191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65826" y="4798665"/>
                        <a:ext cx="2628900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1625823" y="787500"/>
            <a:ext cx="6096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当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1565498" y="2013050"/>
            <a:ext cx="8382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即</a:t>
            </a: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897565"/>
              </p:ext>
            </p:extLst>
          </p:nvPr>
        </p:nvGraphicFramePr>
        <p:xfrm>
          <a:off x="2195736" y="836712"/>
          <a:ext cx="17716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00100" imgH="228600" progId="Equation.DSMT4">
                  <p:embed/>
                </p:oleObj>
              </mc:Choice>
              <mc:Fallback>
                <p:oleObj r:id="rId3" imgW="800100" imgH="2286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836712"/>
                        <a:ext cx="177165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4048348" y="787500"/>
            <a:ext cx="631825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时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, </a:t>
            </a:r>
            <a:endParaRPr kumimoji="1" lang="zh-CN" altLang="en-US" b="1" kern="12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856297"/>
              </p:ext>
            </p:extLst>
          </p:nvPr>
        </p:nvGraphicFramePr>
        <p:xfrm>
          <a:off x="3251423" y="1427262"/>
          <a:ext cx="20161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88365" imgH="203200" progId="Equation.DSMT4">
                  <p:embed/>
                </p:oleObj>
              </mc:Choice>
              <mc:Fallback>
                <p:oleObj r:id="rId5" imgW="888365" imgH="2032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51423" y="1427262"/>
                        <a:ext cx="2016125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52749"/>
              </p:ext>
            </p:extLst>
          </p:nvPr>
        </p:nvGraphicFramePr>
        <p:xfrm>
          <a:off x="2935511" y="2213075"/>
          <a:ext cx="3160712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85900" imgH="711200" progId="Equation.DSMT4">
                  <p:embed/>
                </p:oleObj>
              </mc:Choice>
              <mc:Fallback>
                <p:oleObj r:id="rId7" imgW="1485900" imgH="7112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35511" y="2213075"/>
                        <a:ext cx="3160712" cy="151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4761136" y="793850"/>
            <a:ext cx="2016125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解方程组</a:t>
            </a:r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1555973" y="3792637"/>
            <a:ext cx="4213225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得基础解系分别为</a:t>
            </a:r>
          </a:p>
        </p:txBody>
      </p:sp>
      <p:graphicFrame>
        <p:nvGraphicFramePr>
          <p:cNvPr id="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306408"/>
              </p:ext>
            </p:extLst>
          </p:nvPr>
        </p:nvGraphicFramePr>
        <p:xfrm>
          <a:off x="2706117" y="4553050"/>
          <a:ext cx="2868612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371600" imgH="698500" progId="Equation.DSMT4">
                  <p:embed/>
                </p:oleObj>
              </mc:Choice>
              <mc:Fallback>
                <p:oleObj r:id="rId9" imgW="1371600" imgH="6985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06117" y="4553050"/>
                        <a:ext cx="2868612" cy="1458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3" name="Rectangle 30"/>
          <p:cNvSpPr/>
          <p:nvPr>
            <p:custDataLst>
              <p:tags r:id="rId1"/>
            </p:custDataLst>
          </p:nvPr>
        </p:nvSpPr>
        <p:spPr>
          <a:xfrm>
            <a:off x="323215" y="44450"/>
            <a:ext cx="47132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相似矩阵的应用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 build="p"/>
      <p:bldP spid="4101" grpId="1"/>
      <p:bldP spid="4104" grpId="0" build="p"/>
      <p:bldP spid="4104" grpId="1"/>
      <p:bldP spid="12" grpId="0" build="p" advAuto="1000"/>
      <p:bldP spid="12" grpId="1"/>
      <p:bldP spid="19" grpId="0" build="p" advAuto="1000"/>
      <p:bldP spid="19" grpId="1"/>
      <p:bldP spid="24" grpId="0" build="p"/>
      <p:bldP spid="24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1160264" y="789087"/>
            <a:ext cx="6096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当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1144389" y="1697137"/>
            <a:ext cx="8382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即</a:t>
            </a: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010452"/>
              </p:ext>
            </p:extLst>
          </p:nvPr>
        </p:nvGraphicFramePr>
        <p:xfrm>
          <a:off x="1769864" y="839887"/>
          <a:ext cx="9271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19100" imgH="228600" progId="Equation.DSMT4">
                  <p:embed/>
                </p:oleObj>
              </mc:Choice>
              <mc:Fallback>
                <p:oleObj r:id="rId3" imgW="419100" imgH="2286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9864" y="839887"/>
                        <a:ext cx="92710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2773164" y="785912"/>
            <a:ext cx="631825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时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, </a:t>
            </a:r>
            <a:endParaRPr kumimoji="1" lang="zh-CN" altLang="en-US" b="1" kern="12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121598"/>
              </p:ext>
            </p:extLst>
          </p:nvPr>
        </p:nvGraphicFramePr>
        <p:xfrm>
          <a:off x="5148064" y="836712"/>
          <a:ext cx="21891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65200" imgH="203200" progId="Equation.DSMT4">
                  <p:embed/>
                </p:oleObj>
              </mc:Choice>
              <mc:Fallback>
                <p:oleObj r:id="rId5" imgW="965200" imgH="2032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8064" y="836712"/>
                        <a:ext cx="2189163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821842"/>
              </p:ext>
            </p:extLst>
          </p:nvPr>
        </p:nvGraphicFramePr>
        <p:xfrm>
          <a:off x="2847777" y="1779687"/>
          <a:ext cx="3592512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688465" imgH="711200" progId="Equation.DSMT4">
                  <p:embed/>
                </p:oleObj>
              </mc:Choice>
              <mc:Fallback>
                <p:oleObj r:id="rId7" imgW="1688465" imgH="7112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47777" y="1779687"/>
                        <a:ext cx="3592512" cy="151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3636764" y="777974"/>
            <a:ext cx="2016125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解方程组</a:t>
            </a:r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1144389" y="3448149"/>
            <a:ext cx="2562225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得基础解系</a:t>
            </a:r>
          </a:p>
        </p:txBody>
      </p:sp>
      <p:graphicFrame>
        <p:nvGraphicFramePr>
          <p:cNvPr id="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234108"/>
              </p:ext>
            </p:extLst>
          </p:nvPr>
        </p:nvGraphicFramePr>
        <p:xfrm>
          <a:off x="3706614" y="3970437"/>
          <a:ext cx="1487488" cy="145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11200" imgH="698500" progId="Equation.DSMT4">
                  <p:embed/>
                </p:oleObj>
              </mc:Choice>
              <mc:Fallback>
                <p:oleObj r:id="rId9" imgW="711200" imgH="6985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06614" y="3970437"/>
                        <a:ext cx="1487488" cy="1458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3" name="Rectangle 30"/>
          <p:cNvSpPr/>
          <p:nvPr>
            <p:custDataLst>
              <p:tags r:id="rId1"/>
            </p:custDataLst>
          </p:nvPr>
        </p:nvSpPr>
        <p:spPr>
          <a:xfrm>
            <a:off x="323215" y="44450"/>
            <a:ext cx="47132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相似矩阵的应用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 build="p"/>
      <p:bldP spid="4101" grpId="1"/>
      <p:bldP spid="4104" grpId="0" build="p"/>
      <p:bldP spid="4104" grpId="1"/>
      <p:bldP spid="12" grpId="0" build="p" advAuto="1000"/>
      <p:bldP spid="12" grpId="1"/>
      <p:bldP spid="19" grpId="0" build="p" advAuto="1000"/>
      <p:bldP spid="19" grpId="1"/>
      <p:bldP spid="24" grpId="0" build="p"/>
      <p:bldP spid="24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971708" y="567042"/>
            <a:ext cx="13843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于是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,</a:t>
            </a:r>
            <a:endParaRPr kumimoji="1" lang="zh-CN" altLang="en-US" b="1" kern="12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5035709" y="1351266"/>
            <a:ext cx="2155825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且只需取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994059" y="582916"/>
            <a:ext cx="608488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三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阶矩阵 </a:t>
            </a:r>
            <a:r>
              <a:rPr kumimoji="1" lang="en-US" altLang="zh-CN" b="1" i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A 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华文中宋" pitchFamily="2" charset="-122"/>
                <a:cs typeface="+mn-cs"/>
              </a:rPr>
              <a:t>有 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华文中宋" pitchFamily="2" charset="-122"/>
                <a:cs typeface="+mn-cs"/>
              </a:rPr>
              <a:t>3 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华文中宋" pitchFamily="2" charset="-122"/>
                <a:cs typeface="+mn-cs"/>
              </a:rPr>
              <a:t>个线性无关的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特征</a:t>
            </a:r>
            <a:endParaRPr kumimoji="1" lang="zh-CN" altLang="en-US" b="1" kern="12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522733"/>
              </p:ext>
            </p:extLst>
          </p:nvPr>
        </p:nvGraphicFramePr>
        <p:xfrm>
          <a:off x="2190909" y="2643491"/>
          <a:ext cx="19732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27100" imgH="228600" progId="Equation.DSMT4">
                  <p:embed/>
                </p:oleObj>
              </mc:Choice>
              <mc:Fallback>
                <p:oleObj r:id="rId3" imgW="927100" imgH="2286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0909" y="2643491"/>
                        <a:ext cx="1973262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1581309" y="1363966"/>
            <a:ext cx="3981450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所以它能相似对角化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,</a:t>
            </a:r>
            <a:endParaRPr kumimoji="1" lang="zh-CN" altLang="en-US" b="1" kern="12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592296" y="3480103"/>
            <a:ext cx="758825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有</a:t>
            </a:r>
          </a:p>
        </p:txBody>
      </p:sp>
      <p:graphicFrame>
        <p:nvGraphicFramePr>
          <p:cNvPr id="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239695"/>
              </p:ext>
            </p:extLst>
          </p:nvPr>
        </p:nvGraphicFramePr>
        <p:xfrm>
          <a:off x="255587" y="4067478"/>
          <a:ext cx="8632825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127500" imgH="723900" progId="Equation.DSMT4">
                  <p:embed/>
                </p:oleObj>
              </mc:Choice>
              <mc:Fallback>
                <p:oleObj r:id="rId5" imgW="4127500" imgH="7239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587" y="4067478"/>
                        <a:ext cx="8632825" cy="1512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807590"/>
              </p:ext>
            </p:extLst>
          </p:nvPr>
        </p:nvGraphicFramePr>
        <p:xfrm>
          <a:off x="4262596" y="2130728"/>
          <a:ext cx="2216150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040765" imgH="698500" progId="Equation.DSMT4">
                  <p:embed/>
                </p:oleObj>
              </mc:Choice>
              <mc:Fallback>
                <p:oleObj r:id="rId7" imgW="1040765" imgH="6985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62596" y="2130728"/>
                        <a:ext cx="2216150" cy="1484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93884" y="1378253"/>
            <a:ext cx="12827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向量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7353" name="Rectangle 30"/>
          <p:cNvSpPr/>
          <p:nvPr>
            <p:custDataLst>
              <p:tags r:id="rId1"/>
            </p:custDataLst>
          </p:nvPr>
        </p:nvSpPr>
        <p:spPr>
          <a:xfrm>
            <a:off x="1043608" y="-25096"/>
            <a:ext cx="47132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相似矩阵的应用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4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1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7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1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 build="p"/>
      <p:bldP spid="4104" grpId="0" build="p"/>
      <p:bldP spid="12" grpId="0" build="p" advAuto="1000"/>
      <p:bldP spid="19" grpId="0" build="p" advAuto="1000"/>
      <p:bldP spid="24" grpId="0" build="p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107"/>
          <p:cNvSpPr txBox="1">
            <a:spLocks noChangeArrowheads="1"/>
          </p:cNvSpPr>
          <p:nvPr/>
        </p:nvSpPr>
        <p:spPr bwMode="auto">
          <a:xfrm>
            <a:off x="971600" y="965200"/>
            <a:ext cx="729138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相似矩阵在诸多领域中有着极其广泛的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应用</a:t>
            </a:r>
            <a:r>
              <a:rPr lang="en-US" altLang="zh-CN" b="1" dirty="0">
                <a:latin typeface="+mn-lt"/>
                <a:ea typeface="华文中宋" pitchFamily="2" charset="-122"/>
              </a:rPr>
              <a:t>,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7" name="Text Box 110"/>
          <p:cNvSpPr txBox="1"/>
          <p:nvPr/>
        </p:nvSpPr>
        <p:spPr>
          <a:xfrm>
            <a:off x="636638" y="1609725"/>
            <a:ext cx="8255842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华文中宋" pitchFamily="2" charset="-122"/>
              </a:rPr>
              <a:t>如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著名的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itchFamily="2" charset="-122"/>
              </a:rPr>
              <a:t>裴波那切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兔子问题中的</a:t>
            </a:r>
            <a:r>
              <a:rPr lang="zh-CN" altLang="en-US" b="1" dirty="0">
                <a:solidFill>
                  <a:srgbClr val="3333FF"/>
                </a:solidFill>
                <a:ea typeface="华文中宋" pitchFamily="2" charset="-122"/>
              </a:rPr>
              <a:t>卢卡斯通项公式</a:t>
            </a:r>
            <a:r>
              <a:rPr lang="en-US" altLang="zh-CN" b="1" dirty="0">
                <a:solidFill>
                  <a:srgbClr val="3333FF"/>
                </a:solidFill>
                <a:ea typeface="华文中宋" pitchFamily="2" charset="-122"/>
              </a:rPr>
              <a:t>;</a:t>
            </a:r>
            <a:endParaRPr lang="zh-CN" altLang="en-US" dirty="0"/>
          </a:p>
        </p:txBody>
      </p:sp>
      <p:sp>
        <p:nvSpPr>
          <p:cNvPr id="30" name="Text Box 113"/>
          <p:cNvSpPr txBox="1"/>
          <p:nvPr/>
        </p:nvSpPr>
        <p:spPr>
          <a:xfrm>
            <a:off x="636637" y="3128963"/>
            <a:ext cx="8255842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具体可以参见教材第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</a:rPr>
              <a:t>140-142</a:t>
            </a:r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</a:rPr>
              <a:t>页的相似矩阵的应用</a:t>
            </a:r>
          </a:p>
        </p:txBody>
      </p:sp>
      <p:sp>
        <p:nvSpPr>
          <p:cNvPr id="40" name="Text Box 107"/>
          <p:cNvSpPr txBox="1">
            <a:spLocks noChangeArrowheads="1"/>
          </p:cNvSpPr>
          <p:nvPr/>
        </p:nvSpPr>
        <p:spPr bwMode="auto">
          <a:xfrm>
            <a:off x="620850" y="2369344"/>
            <a:ext cx="7992888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生产线上熟练工与非熟练</a:t>
            </a:r>
            <a:r>
              <a:rPr lang="zh-CN" altLang="en-US" b="1" kern="100" dirty="0">
                <a:ea typeface="华文中宋" pitchFamily="2" charset="-122"/>
                <a:cs typeface="Times New Roman" panose="02020603050405020304" pitchFamily="18" charset="0"/>
              </a:rPr>
              <a:t>工的人数统计问题</a:t>
            </a:r>
            <a:r>
              <a:rPr lang="en-US" altLang="zh-CN" b="1" kern="100" dirty="0">
                <a:ea typeface="华文中宋" pitchFamily="2" charset="-122"/>
                <a:cs typeface="Times New Roman" panose="02020603050405020304" pitchFamily="18" charset="0"/>
              </a:rPr>
              <a:t>.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1446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1448" name="Rectangle 30"/>
          <p:cNvSpPr/>
          <p:nvPr/>
        </p:nvSpPr>
        <p:spPr>
          <a:xfrm>
            <a:off x="1166813" y="-7938"/>
            <a:ext cx="642620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实践问题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相似矩阵的应用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B30C0B-7175-B52F-D182-9FED9151A991}"/>
              </a:ext>
            </a:extLst>
          </p:cNvPr>
          <p:cNvSpPr txBox="1"/>
          <p:nvPr/>
        </p:nvSpPr>
        <p:spPr>
          <a:xfrm>
            <a:off x="642392" y="3913188"/>
            <a:ext cx="16468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</a:rPr>
              <a:t>举例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</a:rPr>
              <a:t>.</a:t>
            </a:r>
            <a:endParaRPr lang="zh-CN" altLang="en-US" dirty="0"/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27" grpId="0"/>
      <p:bldP spid="27" grpId="1"/>
      <p:bldP spid="30" grpId="0"/>
      <p:bldP spid="30" grpId="1"/>
      <p:bldP spid="40" grpId="0"/>
      <p:bldP spid="40" grpId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0"/>
          <p:cNvSpPr txBox="1">
            <a:spLocks noChangeArrowheads="1"/>
          </p:cNvSpPr>
          <p:nvPr/>
        </p:nvSpPr>
        <p:spPr bwMode="auto">
          <a:xfrm>
            <a:off x="4306243" y="2399072"/>
            <a:ext cx="397668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g(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)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与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g(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B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)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都相似吗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?</a:t>
            </a:r>
          </a:p>
        </p:txBody>
      </p:sp>
      <p:sp>
        <p:nvSpPr>
          <p:cNvPr id="39" name="Rectangle 30"/>
          <p:cNvSpPr>
            <a:spLocks noChangeArrowheads="1"/>
          </p:cNvSpPr>
          <p:nvPr/>
        </p:nvSpPr>
        <p:spPr bwMode="auto">
          <a:xfrm>
            <a:off x="978843" y="932222"/>
            <a:ext cx="74168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思考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  若矩阵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与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相似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是常数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是</a:t>
            </a:r>
          </a:p>
        </p:txBody>
      </p:sp>
      <p:sp>
        <p:nvSpPr>
          <p:cNvPr id="40" name="Rectangle 31"/>
          <p:cNvSpPr>
            <a:spLocks noChangeArrowheads="1"/>
          </p:cNvSpPr>
          <p:nvPr/>
        </p:nvSpPr>
        <p:spPr bwMode="auto">
          <a:xfrm>
            <a:off x="694680" y="1665647"/>
            <a:ext cx="614838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正整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数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, g(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x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)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0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x</a:t>
            </a:r>
            <a:r>
              <a:rPr kumimoji="1" lang="en-US" altLang="zh-CN" sz="28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+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x</a:t>
            </a:r>
            <a:r>
              <a:rPr kumimoji="1" lang="en-US" altLang="zh-CN" sz="28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+ ··· +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,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41" name="Rectangle 32"/>
          <p:cNvSpPr>
            <a:spLocks noChangeArrowheads="1"/>
          </p:cNvSpPr>
          <p:nvPr/>
        </p:nvSpPr>
        <p:spPr bwMode="auto">
          <a:xfrm>
            <a:off x="739130" y="2453047"/>
            <a:ext cx="282257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kA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与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kB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、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42" name="Rectangle 33"/>
          <p:cNvSpPr>
            <a:spLocks noChangeArrowheads="1"/>
          </p:cNvSpPr>
          <p:nvPr/>
        </p:nvSpPr>
        <p:spPr bwMode="auto">
          <a:xfrm>
            <a:off x="2521893" y="2433997"/>
            <a:ext cx="28448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与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B</a:t>
            </a:r>
            <a:r>
              <a:rPr kumimoji="1" lang="en-US" altLang="zh-CN" sz="28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、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62471" name="Rectangle 20"/>
          <p:cNvSpPr/>
          <p:nvPr/>
        </p:nvSpPr>
        <p:spPr>
          <a:xfrm>
            <a:off x="1060450" y="481986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2473" name="Rectangle 30"/>
          <p:cNvSpPr/>
          <p:nvPr/>
        </p:nvSpPr>
        <p:spPr>
          <a:xfrm>
            <a:off x="978843" y="14737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矩阵的相似性问题</a:t>
            </a:r>
            <a:r>
              <a:rPr lang="zh-CN" altLang="en-US" sz="2600" b="1" dirty="0">
                <a:solidFill>
                  <a:srgbClr val="CC0000"/>
                </a:solidFill>
                <a:latin typeface="Arial" panose="020B0604020202020204" pitchFamily="34" charset="0"/>
                <a:ea typeface="华文中宋" pitchFamily="2" charset="-122"/>
              </a:rPr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27168" y="1665647"/>
            <a:ext cx="12954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请问</a:t>
            </a: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uild="p" advAuto="1000"/>
      <p:bldP spid="39" grpId="0" build="p"/>
      <p:bldP spid="40" grpId="0" build="p" advAuto="1000"/>
      <p:bldP spid="41" grpId="0" build="p" advAuto="1000"/>
      <p:bldP spid="42" grpId="0" build="p" advAuto="100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3493" name="Rectangle 30"/>
          <p:cNvSpPr/>
          <p:nvPr/>
        </p:nvSpPr>
        <p:spPr>
          <a:xfrm>
            <a:off x="914173" y="-11857"/>
            <a:ext cx="642620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如何从现实角度理解相似矩阵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AF45CB-9798-DC87-0C54-6402325D40DE}"/>
              </a:ext>
            </a:extLst>
          </p:cNvPr>
          <p:cNvSpPr txBox="1"/>
          <p:nvPr/>
        </p:nvSpPr>
        <p:spPr>
          <a:xfrm>
            <a:off x="914173" y="901700"/>
            <a:ext cx="7906299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kern="100" dirty="0">
                <a:solidFill>
                  <a:srgbClr val="C00000"/>
                </a:solidFill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思考</a:t>
            </a:r>
            <a:r>
              <a:rPr lang="en-US" altLang="zh-CN" b="1" kern="1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b="1" kern="1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请问您在影院看电影时</a:t>
            </a:r>
            <a:r>
              <a:rPr lang="en-US" altLang="zh-CN" b="1" kern="1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kern="1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不同位置看电影</a:t>
            </a:r>
            <a:r>
              <a:rPr lang="en-US" altLang="zh-CN" b="1" kern="100" dirty="0">
                <a:solidFill>
                  <a:srgbClr val="000000"/>
                </a:solidFill>
                <a:latin typeface="Times New Roman"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en-US" altLang="zh-CN" b="1" kern="100" dirty="0">
              <a:solidFill>
                <a:schemeClr val="tx1"/>
              </a:solidFill>
              <a:latin typeface="+mn-lt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099626-3134-5CAF-542B-F4DCCA12E34A}"/>
              </a:ext>
            </a:extLst>
          </p:cNvPr>
          <p:cNvSpPr txBox="1"/>
          <p:nvPr/>
        </p:nvSpPr>
        <p:spPr>
          <a:xfrm>
            <a:off x="553810" y="1712913"/>
            <a:ext cx="82666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kern="100" dirty="0">
                <a:solidFill>
                  <a:srgbClr val="000000"/>
                </a:solidFill>
                <a:latin typeface="Times New Roman"/>
                <a:ea typeface="华文中宋" panose="02010600040101010101" pitchFamily="2" charset="-122"/>
                <a:cs typeface="Times New Roman" panose="02020603050405020304" pitchFamily="18" charset="0"/>
              </a:rPr>
              <a:t>视觉效果如何呢</a:t>
            </a:r>
            <a:r>
              <a:rPr lang="en-US" altLang="zh-CN" b="1" kern="1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?  </a:t>
            </a:r>
            <a:r>
              <a:rPr lang="zh-CN" altLang="en-US" b="1" kern="1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如果用代数的语言来描述</a:t>
            </a:r>
            <a:r>
              <a:rPr lang="en-US" altLang="zh-CN" b="1" kern="1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,  </a:t>
            </a:r>
            <a:r>
              <a:rPr lang="zh-CN" altLang="en-US" b="1" kern="1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称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7FBFAB-EFC3-2055-DF0E-B5FCC40D8776}"/>
              </a:ext>
            </a:extLst>
          </p:cNvPr>
          <p:cNvSpPr txBox="1"/>
          <p:nvPr/>
        </p:nvSpPr>
        <p:spPr>
          <a:xfrm>
            <a:off x="553811" y="2516843"/>
            <a:ext cx="4753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kern="1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之为什么呢</a:t>
            </a:r>
            <a:r>
              <a:rPr lang="en-US" altLang="zh-CN" b="1" kern="1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2638" y="1196752"/>
            <a:ext cx="6021387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基本问题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相似矩阵的概念及性质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.</a:t>
            </a:r>
            <a:endParaRPr lang="zh-CN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64516" name="Text Box 2"/>
          <p:cNvSpPr txBox="1"/>
          <p:nvPr/>
        </p:nvSpPr>
        <p:spPr>
          <a:xfrm>
            <a:off x="-468947" y="116205"/>
            <a:ext cx="5407025" cy="598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相似矩阵小结</a:t>
            </a:r>
          </a:p>
        </p:txBody>
      </p:sp>
      <p:sp>
        <p:nvSpPr>
          <p:cNvPr id="5" name="爆炸形: 8 pt  4"/>
          <p:cNvSpPr/>
          <p:nvPr/>
        </p:nvSpPr>
        <p:spPr bwMode="auto">
          <a:xfrm>
            <a:off x="516812" y="1312746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808038" y="1820639"/>
            <a:ext cx="6021387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重点问题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判断矩阵能否对角化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.</a:t>
            </a:r>
          </a:p>
        </p:txBody>
      </p:sp>
      <p:sp>
        <p:nvSpPr>
          <p:cNvPr id="7" name="爆炸形: 8 pt  6"/>
          <p:cNvSpPr/>
          <p:nvPr/>
        </p:nvSpPr>
        <p:spPr bwMode="auto">
          <a:xfrm>
            <a:off x="485512" y="1928986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785813" y="2469927"/>
            <a:ext cx="8358187" cy="477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难点问题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矩阵</a:t>
            </a:r>
            <a:r>
              <a:rPr lang="zh-CN" altLang="en-US" sz="10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5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sz="10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可对角化的条件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,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如何运用矩阵的对角化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9" name="爆炸形: 8 pt  8"/>
          <p:cNvSpPr/>
          <p:nvPr/>
        </p:nvSpPr>
        <p:spPr bwMode="auto">
          <a:xfrm>
            <a:off x="485512" y="2591732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239963" y="3101752"/>
            <a:ext cx="4348163" cy="4778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性质求解相关的问题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500" b="1" i="0" u="none" strike="noStrike" kern="1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1"/>
          <p:cNvSpPr/>
          <p:nvPr/>
        </p:nvSpPr>
        <p:spPr>
          <a:xfrm>
            <a:off x="782638" y="3751039"/>
            <a:ext cx="6742112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实践问题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相似矩阵的实际应用有哪些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?</a:t>
            </a:r>
          </a:p>
        </p:txBody>
      </p:sp>
      <p:sp>
        <p:nvSpPr>
          <p:cNvPr id="12" name="爆炸形: 8 pt  11"/>
          <p:cNvSpPr/>
          <p:nvPr/>
        </p:nvSpPr>
        <p:spPr bwMode="auto">
          <a:xfrm>
            <a:off x="518714" y="388106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"/>
          <p:cNvSpPr/>
          <p:nvPr/>
        </p:nvSpPr>
        <p:spPr>
          <a:xfrm>
            <a:off x="782638" y="4398739"/>
            <a:ext cx="6961187" cy="477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拓展问题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如何从现实角度理解相似矩阵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?</a:t>
            </a:r>
          </a:p>
        </p:txBody>
      </p:sp>
      <p:sp>
        <p:nvSpPr>
          <p:cNvPr id="14" name="爆炸形: 8 pt  13"/>
          <p:cNvSpPr/>
          <p:nvPr/>
        </p:nvSpPr>
        <p:spPr bwMode="auto">
          <a:xfrm>
            <a:off x="489203" y="4501883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4537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" y="-9525"/>
            <a:ext cx="1014412" cy="8397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10" grpId="0"/>
      <p:bldP spid="11" grpId="0"/>
      <p:bldP spid="1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477225e0-4d85-4b1d-8b37-451e2888904d"/>
  <p:tag name="COMMONDATA" val="eyJoZGlkIjoiNGFhNGQxNWU3NzNiZWZjM2Y5ZDJjNzJhNGE4OTk1ZT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419</TotalTime>
  <Words>1328</Words>
  <Application>Microsoft Office PowerPoint</Application>
  <PresentationFormat>全屏显示(4:3)</PresentationFormat>
  <Paragraphs>222</Paragraphs>
  <Slides>27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黑体</vt:lpstr>
      <vt:lpstr>华文中宋</vt:lpstr>
      <vt:lpstr>宋体</vt:lpstr>
      <vt:lpstr>Arial</vt:lpstr>
      <vt:lpstr>Arial Black</vt:lpstr>
      <vt:lpstr>Calibri</vt:lpstr>
      <vt:lpstr>Times New Roman</vt:lpstr>
      <vt:lpstr>Wingdings</vt:lpstr>
      <vt:lpstr>1_Pixel</vt:lpstr>
      <vt:lpstr>1_默认设计模板</vt:lpstr>
      <vt:lpstr>2_默认设计模板</vt:lpstr>
      <vt:lpstr>2_习题课模板</vt:lpstr>
      <vt:lpstr>MathType 6.0 Equation</vt:lpstr>
      <vt:lpstr>Microsoft PowerPoint 97-2003 演示文稿</vt:lpstr>
      <vt:lpstr>Presentation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lilian chen</cp:lastModifiedBy>
  <cp:revision>1035</cp:revision>
  <dcterms:created xsi:type="dcterms:W3CDTF">2012-06-17T01:12:18Z</dcterms:created>
  <dcterms:modified xsi:type="dcterms:W3CDTF">2024-03-03T09:03:58Z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4EEA943A85A64443BDB598106D66C9B8_12</vt:lpwstr>
  </property>
  <property fmtid="{D5CDD505-2E9C-101B-9397-08002B2CF9AE}" pid="3" name="KSOProductBuildVer">
    <vt:lpwstr>2052-11.1.0.14309</vt:lpwstr>
  </property>
</Properties>
</file>