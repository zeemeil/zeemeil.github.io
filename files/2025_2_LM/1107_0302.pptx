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5166" r:id="rId1"/>
    <p:sldMasterId id="2147485255" r:id="rId2"/>
    <p:sldMasterId id="2147485458" r:id="rId3"/>
    <p:sldMasterId id="2147487332" r:id="rId4"/>
  </p:sldMasterIdLst>
  <p:notesMasterIdLst>
    <p:notesMasterId r:id="rId54"/>
  </p:notesMasterIdLst>
  <p:handoutMasterIdLst>
    <p:handoutMasterId r:id="rId55"/>
  </p:handoutMasterIdLst>
  <p:sldIdLst>
    <p:sldId id="1463" r:id="rId5"/>
    <p:sldId id="1129" r:id="rId6"/>
    <p:sldId id="1438" r:id="rId7"/>
    <p:sldId id="1452" r:id="rId8"/>
    <p:sldId id="1359" r:id="rId9"/>
    <p:sldId id="1360" r:id="rId10"/>
    <p:sldId id="1361" r:id="rId11"/>
    <p:sldId id="1362" r:id="rId12"/>
    <p:sldId id="1363" r:id="rId13"/>
    <p:sldId id="1410" r:id="rId14"/>
    <p:sldId id="1409" r:id="rId15"/>
    <p:sldId id="1436" r:id="rId16"/>
    <p:sldId id="1437" r:id="rId17"/>
    <p:sldId id="1413" r:id="rId18"/>
    <p:sldId id="1412" r:id="rId19"/>
    <p:sldId id="1415" r:id="rId20"/>
    <p:sldId id="1462" r:id="rId21"/>
    <p:sldId id="1411" r:id="rId22"/>
    <p:sldId id="1418" r:id="rId23"/>
    <p:sldId id="1364" r:id="rId24"/>
    <p:sldId id="1419" r:id="rId25"/>
    <p:sldId id="1421" r:id="rId26"/>
    <p:sldId id="1423" r:id="rId27"/>
    <p:sldId id="1420" r:id="rId28"/>
    <p:sldId id="1425" r:id="rId29"/>
    <p:sldId id="1427" r:id="rId30"/>
    <p:sldId id="1365" r:id="rId31"/>
    <p:sldId id="1430" r:id="rId32"/>
    <p:sldId id="1429" r:id="rId33"/>
    <p:sldId id="1376" r:id="rId34"/>
    <p:sldId id="1458" r:id="rId35"/>
    <p:sldId id="1435" r:id="rId36"/>
    <p:sldId id="1431" r:id="rId37"/>
    <p:sldId id="1432" r:id="rId38"/>
    <p:sldId id="1434" r:id="rId39"/>
    <p:sldId id="1440" r:id="rId40"/>
    <p:sldId id="1377" r:id="rId41"/>
    <p:sldId id="1441" r:id="rId42"/>
    <p:sldId id="1442" r:id="rId43"/>
    <p:sldId id="1444" r:id="rId44"/>
    <p:sldId id="1443" r:id="rId45"/>
    <p:sldId id="1445" r:id="rId46"/>
    <p:sldId id="1446" r:id="rId47"/>
    <p:sldId id="1448" r:id="rId48"/>
    <p:sldId id="1447" r:id="rId49"/>
    <p:sldId id="491" r:id="rId50"/>
    <p:sldId id="1451" r:id="rId51"/>
    <p:sldId id="1450" r:id="rId52"/>
    <p:sldId id="1357" r:id="rId53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66"/>
    <a:srgbClr val="3333FF"/>
    <a:srgbClr val="6666FF"/>
    <a:srgbClr val="969696"/>
    <a:srgbClr val="2B2BFF"/>
    <a:srgbClr val="FFFFFF"/>
    <a:srgbClr val="C7E6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65" autoAdjust="0"/>
    <p:restoredTop sz="93807" autoAdjust="0"/>
  </p:normalViewPr>
  <p:slideViewPr>
    <p:cSldViewPr>
      <p:cViewPr varScale="1">
        <p:scale>
          <a:sx n="109" d="100"/>
          <a:sy n="109" d="100"/>
        </p:scale>
        <p:origin x="2040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8298"/>
    </p:cViewPr>
  </p:sorterViewPr>
  <p:notesViewPr>
    <p:cSldViewPr>
      <p:cViewPr varScale="1">
        <p:scale>
          <a:sx n="56" d="100"/>
          <a:sy n="56" d="100"/>
        </p:scale>
        <p:origin x="285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97EA380C-BE2C-4282-97A2-63FF308284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3D8108A-6D14-45B9-AD48-86AFA29CEEA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B329B3-F25B-48AB-B184-ECF14D006430}" type="datetimeFigureOut">
              <a:rPr lang="zh-CN" altLang="en-US" smtClean="0"/>
              <a:t>2023/8/25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14173B7-E60B-473E-80B6-27B9FC1A9EC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C7442B8-CFD7-4D5A-A40F-5330847ED2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C3A003-A97D-492E-97B5-C17D5102C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2367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E8D1E8CF-2E05-42CF-946C-A234E5F000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7632EF-962B-4C32-944C-9D48ADC75CB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fld id="{D2B7DC5F-3EFA-4251-8C20-6E9EC7819C7B}" type="datetimeFigureOut">
              <a:rPr lang="zh-CN" altLang="en-US"/>
              <a:pPr>
                <a:defRPr/>
              </a:pPr>
              <a:t>2023/8/25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B05BBDC4-6710-4A89-977B-5A8CCDD9C1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17B5BEF2-2FAA-4DA0-A019-CDD72CD601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9C5AE9-932A-4B24-8907-3288CEB58AB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355E83-8E18-466C-948D-A1D8AB4AD3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EECF8E6-7687-4417-B0A4-6F969A7F564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24FFA27-5CA2-4DFB-8D06-B9C664BB46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ADF04B9-6AB1-409F-90C3-976FF0BAFD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105FE01-3CC2-481E-842A-EC3BCF9364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E5C615-27DC-4BF8-A59E-3AA49FB0D5E8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28854753"/>
      </p:ext>
    </p:extLst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DC83651-720B-4544-B1BD-C9AE723969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4CEA02A-0E2E-41CB-9FBA-094B1830C8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8CBE20F-77C4-4DBD-B25D-3C6A4FEDBC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EB0E9A-86DB-4D24-B690-7EB825DC079D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20984384"/>
      </p:ext>
    </p:extLst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2834230-2B39-4DDE-A231-57D9210317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37AA53C-2A84-42AC-8ABE-E3BCD725DC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7D69738-E7EF-4239-9214-1338BEA229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6230BC-C4BF-4D06-8DEA-E30815249296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48350978"/>
      </p:ext>
    </p:extLst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9"/>
            <a:ext cx="4038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9"/>
            <a:ext cx="4038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CA1BC0-DA59-4AE7-996B-37C7C52327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721AC6-AA19-4ACC-9723-B9CDDDC201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AAA4EE-D3DA-43A0-BE88-D590F25B53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A8A078-8F53-4DD8-99BE-6937C29878CC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2712226"/>
      </p:ext>
    </p:extLst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6C333DE-221B-451E-B3BA-71E82BEAC0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20BFB29-C645-4459-9FE3-FBD984899A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DC3FE80-E225-4E0E-A4D4-9ED9C5527B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4D90F-E331-47DC-92F1-E62695D6C2EE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10150248"/>
      </p:ext>
    </p:extLst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4C59EC-2D83-4644-9FF6-91C5F0ABE1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383F13-0C98-4BF3-8523-314ACE8E1F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F39952-6881-490F-B284-BB01028130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B5CD7D-56B0-4C13-84D6-F0DB2E473BD9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20904448"/>
      </p:ext>
    </p:extLst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0C9107-412D-42F2-A220-A25A218FDA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EC7EFD-A8E4-4F78-90B4-0E1A3F97F6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CF8D3B-A421-4610-91BC-08C96EAA9A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3F3216-45D4-4224-B7C6-5D94FF958E90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04945455"/>
      </p:ext>
    </p:extLst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D130E1B-374D-48BA-A9A9-A9EB42C70E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D77BF4-B8D5-4759-A2CA-7E2D8DF1FF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6BA1783-3E36-44DB-9B84-16EAF900E3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E28436-CF71-46CC-B37F-786C39E55141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46614326"/>
      </p:ext>
    </p:extLst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7C1EB74-39EF-47DA-A763-FB37F9B131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BD1B4E2-FAE7-4275-B658-CF563EF223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D4AC064-1581-42FB-B0D3-948281D4CB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01C669-4DB4-4AE4-93DC-BF8A4974A3A8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8808084"/>
      </p:ext>
    </p:extLst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1C77236-EEBB-4827-AD1E-537D08A338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E69FFFD-5F56-4F25-B1AB-DE72DBCB49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116A906-E789-439C-BD58-729E2D76B5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B24609-233C-4051-A6FF-16711CDE0657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66638746"/>
      </p:ext>
    </p:extLst>
  </p:cSld>
  <p:clrMapOvr>
    <a:masterClrMapping/>
  </p:clrMapOvr>
  <p:transition spd="slow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7907258-1C0A-4346-809F-F31A32E629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F56CD3-B855-4099-A6DC-544CDEEBCED0}" type="datetimeFigureOut">
              <a:rPr lang="zh-CN" altLang="en-US"/>
              <a:pPr>
                <a:defRPr/>
              </a:pPr>
              <a:t>2023/8/25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936BFAF-6BC0-49F0-BC8C-FB8009774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D401784-8F1D-4904-B603-1F4759852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CB58C0-F69D-4AAE-A851-DF9D5545662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7860701"/>
      </p:ext>
    </p:extLst>
  </p:cSld>
  <p:clrMapOvr>
    <a:masterClrMapping/>
  </p:clrMapOvr>
  <p:transition spd="slow">
    <p:split orient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7CDAD0-9D64-4314-8793-8634F4D802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E35D83A0-80DF-4DEC-9C63-42FBF4325AC9}" type="datetime1">
              <a:rPr lang="zh-CN" altLang="en-US"/>
              <a:pPr>
                <a:defRPr/>
              </a:pPr>
              <a:t>2023/8/25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62A031-7B56-4E50-B06E-364E4CFB6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9A571B-27BA-4C0A-8D4F-2B2E4019B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63F919-ACE6-499C-B04E-6F37524E2A4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7767839"/>
      </p:ext>
    </p:extLst>
  </p:cSld>
  <p:clrMapOvr>
    <a:masterClrMapping/>
  </p:clrMapOvr>
  <p:transition spd="slow">
    <p:split orient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1B3347-0CA6-4EE6-8E3C-7F647BA35A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D8B6C7-F2DA-4B00-8CA8-5826F1BEF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D50E1-33F5-4F04-83D7-58255901F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788AB1-6F8F-4880-A2F2-6438CF0D6A2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815764"/>
      </p:ext>
    </p:extLst>
  </p:cSld>
  <p:clrMapOvr>
    <a:masterClrMapping/>
  </p:clrMapOvr>
  <p:transition spd="slow">
    <p:split orient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4855C45-E57E-45D8-8789-B08077A0B8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22AE40C-11D0-4D9D-B418-509A8A9A64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C1C6E2B-2607-4AFD-9E50-1545AA41B1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53664-7945-4AD5-AF54-C8983D411A1E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18393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E7F9A4D-341A-41CC-8F0F-E6924B9684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5E33512-D5A8-47D0-B549-77A18A6ED8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9B7CB67-BDC6-4137-BE93-338EAA114E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76212E-F15C-4F9E-AD83-F17D9A8F846C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72816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A490AF2-F810-4172-8A48-87F8D5EF73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1F90D61-50CB-4D86-9EAC-B76F8A3642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7DFA323-8AFE-4021-A977-A60222BA28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2D0075-AF19-4B1B-8011-58A6AB795AD5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1802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9"/>
            <a:ext cx="4038600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9"/>
            <a:ext cx="4038600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4C019C-2D7F-4455-B3FB-C346074817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1D3FD4-1623-45FB-96F8-F9285B8790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F823D2-B9E7-4EED-9D1E-3AB8E17E3F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444D41-A3C1-4F4A-A879-73119D3260B5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21926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12368DA-4B1A-424E-9857-B0A678FBC6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5B212B3-7550-4762-8B5E-CB91D5A8BC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24B8099-34BA-4920-84A9-9BA6EE4ED8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10F8A1-99AE-4343-9EF8-7AC2031B1C11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52465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E56705-0B6D-45BC-8340-6A1E4EFD65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E7C27C-6D02-42D6-BF81-983A2FCE65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602995-3DE2-4744-8539-2A7C1876E8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4240E5-FDED-47C5-BE2C-DF3B3D01D70B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20010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5B1FBF-7FD0-4CE2-A043-A41CE23630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7B4C19-C8A8-4CF8-9D44-5BAEBA2B52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925DFB-3070-475F-98EE-8E4F3A00EA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39BCF9-9D56-4431-ADCF-17A2E61D8B5B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543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D6855A6-453A-47B3-8A92-0F1063C79A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04011F6-4D45-40E9-850B-FE8F767F95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C23DB50-4002-46B4-810A-AA39BF83D1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C3078C-7EAC-411A-B198-BA9F1B1734ED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68493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ABFA5EF-1425-4B28-9B7A-348002BF3B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85E2916-713D-417C-8CEE-972575D27D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A9639DA-65DE-4219-8B66-C96E3E8929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6B9937-D75B-494B-97E0-CD8A7339E004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22887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1F1D24E-58F4-416D-B9FF-CD0720AB98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816E313-3B04-41D1-A907-070FE2F11D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E27B489-A529-4323-A27E-40A3A99864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A460E3-F074-47B4-96DD-BC52E33C0F01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5113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82B2289-983E-4EA7-8A84-119F4B9AA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086A95-86B7-4F54-92AB-60B264BB6D59}" type="datetimeFigureOut">
              <a:rPr lang="zh-CN" altLang="en-US"/>
              <a:pPr>
                <a:defRPr/>
              </a:pPr>
              <a:t>2023/8/25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6DA7B7F-14A2-4287-897C-E81797277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2ADFC2-E3A9-4650-B34E-E842FD3D3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415841-6B32-4D7D-ADE2-76473CE275C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6057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13E466-4F93-4E3A-A6F6-928A730F0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E35D83A0-80DF-4DEC-9C63-42FBF4325AC9}" type="datetime1">
              <a:rPr lang="zh-CN" altLang="en-US"/>
              <a:pPr>
                <a:defRPr/>
              </a:pPr>
              <a:t>2023/8/25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379F3-1B1D-4F43-97B0-BF8DC6305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6F5286-0118-4D1C-85B9-22086D08D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3F6EC3-AABE-42C7-BDC1-3B47FDB7D27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472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BDAEE5-B474-4771-8A83-AE3B97F821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421E6C-CD00-4620-991D-FDD210110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845B2-E858-4F40-8455-88DAA9C56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B39F2B-6D2D-42CF-BE86-44F3C34AB1F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1916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454776585"/>
      </p:ext>
    </p:extLst>
  </p:cSld>
  <p:clrMapOvr>
    <a:masterClrMapping/>
  </p:clrMapOvr>
  <p:transition spd="slow">
    <p:split orient="vert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285728393"/>
      </p:ext>
    </p:extLst>
  </p:cSld>
  <p:clrMapOvr>
    <a:masterClrMapping/>
  </p:clrMapOvr>
  <p:transition spd="slow">
    <p:split orient="vert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63468895"/>
      </p:ext>
    </p:extLst>
  </p:cSld>
  <p:clrMapOvr>
    <a:masterClrMapping/>
  </p:clrMapOvr>
  <p:transition spd="slow">
    <p:split orient="vert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836832075"/>
      </p:ext>
    </p:extLst>
  </p:cSld>
  <p:clrMapOvr>
    <a:masterClrMapping/>
  </p:clrMapOvr>
  <p:transition spd="slow">
    <p:split orient="vert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609343174"/>
      </p:ext>
    </p:extLst>
  </p:cSld>
  <p:clrMapOvr>
    <a:masterClrMapping/>
  </p:clrMapOvr>
  <p:transition spd="slow">
    <p:split orient="vert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:\党办校办\党办校办文件夹\学校资料\学校标志\校徽透明_蓝_完美版-2.png">
            <a:extLst>
              <a:ext uri="{FF2B5EF4-FFF2-40B4-BE49-F238E27FC236}">
                <a16:creationId xmlns:a16="http://schemas.microsoft.com/office/drawing/2014/main" id="{9D38C6D0-0704-4DD7-A5D2-05D8B59DF54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6775" y="0"/>
            <a:ext cx="630238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10390642"/>
      </p:ext>
    </p:extLst>
  </p:cSld>
  <p:clrMapOvr>
    <a:masterClrMapping/>
  </p:clrMapOvr>
  <p:transition spd="slow">
    <p:split orient="vert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717509"/>
      </p:ext>
    </p:extLst>
  </p:cSld>
  <p:clrMapOvr>
    <a:masterClrMapping/>
  </p:clrMapOvr>
  <p:transition spd="slow">
    <p:split orient="vert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18230320"/>
      </p:ext>
    </p:extLst>
  </p:cSld>
  <p:clrMapOvr>
    <a:masterClrMapping/>
  </p:clrMapOvr>
  <p:transition spd="slow">
    <p:split orient="vert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14770882"/>
      </p:ext>
    </p:extLst>
  </p:cSld>
  <p:clrMapOvr>
    <a:masterClrMapping/>
  </p:clrMapOvr>
  <p:transition spd="slow">
    <p:split orient="vert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065221748"/>
      </p:ext>
    </p:extLst>
  </p:cSld>
  <p:clrMapOvr>
    <a:masterClrMapping/>
  </p:clrMapOvr>
  <p:transition spd="slow">
    <p:split orient="vert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114940593"/>
      </p:ext>
    </p:extLst>
  </p:cSld>
  <p:clrMapOvr>
    <a:masterClrMapping/>
  </p:clrMapOvr>
  <p:transition spd="slow">
    <p:split orient="vert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5DCFD248-D6E9-42A7-9A08-4B322473B870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2293EF1F-B996-4BF3-8545-1F8942B7465B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18EF5DC4-DA6F-46DC-9D43-273DA325F568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B1A793CB-15AC-484F-9480-5EFAC00C87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>
                <a:extLst>
                  <a:ext uri="{FF2B5EF4-FFF2-40B4-BE49-F238E27FC236}">
                    <a16:creationId xmlns:a16="http://schemas.microsoft.com/office/drawing/2014/main" id="{3BF66AE4-90AD-4312-BBFB-E4BA8EC12AA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E36EAE0C-5BF4-4600-902D-FBFA900763F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0" name="Rectangle 8">
                <a:extLst>
                  <a:ext uri="{FF2B5EF4-FFF2-40B4-BE49-F238E27FC236}">
                    <a16:creationId xmlns:a16="http://schemas.microsoft.com/office/drawing/2014/main" id="{BD22F033-56C7-48BA-B9B5-90236C337C9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Rectangle 9">
                <a:extLst>
                  <a:ext uri="{FF2B5EF4-FFF2-40B4-BE49-F238E27FC236}">
                    <a16:creationId xmlns:a16="http://schemas.microsoft.com/office/drawing/2014/main" id="{68BF0FAB-2F85-4929-AB2D-97A6311EFA5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Rectangle 10">
                <a:extLst>
                  <a:ext uri="{FF2B5EF4-FFF2-40B4-BE49-F238E27FC236}">
                    <a16:creationId xmlns:a16="http://schemas.microsoft.com/office/drawing/2014/main" id="{B7AED698-0AAA-4BB6-9480-E7C85850634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Rectangle 11">
                <a:extLst>
                  <a:ext uri="{FF2B5EF4-FFF2-40B4-BE49-F238E27FC236}">
                    <a16:creationId xmlns:a16="http://schemas.microsoft.com/office/drawing/2014/main" id="{095121D7-4C0F-44D8-B004-AA4D7911F70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4" name="Rectangle 12">
                <a:extLst>
                  <a:ext uri="{FF2B5EF4-FFF2-40B4-BE49-F238E27FC236}">
                    <a16:creationId xmlns:a16="http://schemas.microsoft.com/office/drawing/2014/main" id="{01E34350-5B3C-4612-8690-23E0637F8F4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5" name="Rectangle 13">
                <a:extLst>
                  <a:ext uri="{FF2B5EF4-FFF2-40B4-BE49-F238E27FC236}">
                    <a16:creationId xmlns:a16="http://schemas.microsoft.com/office/drawing/2014/main" id="{0559055E-3F93-4230-B16D-24149A55D54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6" name="Rectangle 14">
                <a:extLst>
                  <a:ext uri="{FF2B5EF4-FFF2-40B4-BE49-F238E27FC236}">
                    <a16:creationId xmlns:a16="http://schemas.microsoft.com/office/drawing/2014/main" id="{C2B656F5-0850-4ED6-8F46-E13E0871EDF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Rectangle 15">
                <a:extLst>
                  <a:ext uri="{FF2B5EF4-FFF2-40B4-BE49-F238E27FC236}">
                    <a16:creationId xmlns:a16="http://schemas.microsoft.com/office/drawing/2014/main" id="{66BC7D0B-5FDB-4195-99C3-ADEC8ADF119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1742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742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99D42E93-D1A7-4D68-B8E9-89C548966C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7922CF7F-89E3-442B-8672-5D396583FC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>
            <a:extLst>
              <a:ext uri="{FF2B5EF4-FFF2-40B4-BE49-F238E27FC236}">
                <a16:creationId xmlns:a16="http://schemas.microsoft.com/office/drawing/2014/main" id="{42A8E2A3-1787-483E-8FA7-FB0A6EF2DC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0FFE78-55F7-431F-BCD8-F3E0D0F5D7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7289805"/>
      </p:ext>
    </p:extLst>
  </p:cSld>
  <p:clrMapOvr>
    <a:masterClrMapping/>
  </p:clrMapOvr>
  <p:transition spd="slow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A66C85-B574-4B8B-AE29-7E83B531F4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030FC8-A8E8-4162-9EA0-532FE09A0A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DEF225-F500-4420-A403-553EDAA46B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12FA7717-ADBA-4C62-B38A-CC9348FA096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2678118"/>
      </p:ext>
    </p:extLst>
  </p:cSld>
  <p:clrMapOvr>
    <a:masterClrMapping/>
  </p:clrMapOvr>
  <p:transition spd="slow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981287-8B2B-4245-9470-3CF9571014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3EF4B9-8B57-4C03-A5F2-E2A17B23BB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D10590-E611-40D8-BC78-27420DD68B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6E8CF0E3-2389-4D18-BF8D-B3A042044D2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8016412"/>
      </p:ext>
    </p:extLst>
  </p:cSld>
  <p:clrMapOvr>
    <a:masterClrMapping/>
  </p:clrMapOvr>
  <p:transition spd="slow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794E05-3896-4D04-A78C-E206AC6065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91DBE9-298F-478C-AD0B-532137C528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594E81-E1D8-45D8-9C37-5E31D1C2C2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7550F8A-6CB3-4E1C-A335-52B52D50778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953128"/>
      </p:ext>
    </p:extLst>
  </p:cSld>
  <p:clrMapOvr>
    <a:masterClrMapping/>
  </p:clrMapOvr>
  <p:transition spd="slow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F3769CD0-67B4-4856-9B65-2233FAA501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975BFF0B-A76A-49AB-8E76-6E5D2EFECD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A2442-AFC7-4FFD-82F8-524F2229C18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日期占位符 8">
            <a:extLst>
              <a:ext uri="{FF2B5EF4-FFF2-40B4-BE49-F238E27FC236}">
                <a16:creationId xmlns:a16="http://schemas.microsoft.com/office/drawing/2014/main" id="{5A425DD8-22B0-46CB-B651-717BE4798C7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211648"/>
      </p:ext>
    </p:extLst>
  </p:cSld>
  <p:clrMapOvr>
    <a:masterClrMapping/>
  </p:clrMapOvr>
  <p:transition spd="slow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48219D1-EEA4-4CD4-9938-0B050D9E6E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84AD52-D808-48B6-B359-7D6F15F8C8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A9A7B-6518-4705-B33A-BF06ABC473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EB0461-4B86-42B0-AC4F-E5915068182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3129802"/>
      </p:ext>
    </p:extLst>
  </p:cSld>
  <p:clrMapOvr>
    <a:masterClrMapping/>
  </p:clrMapOvr>
  <p:transition spd="slow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F30C0146-A287-4A3C-ADEE-2427F18CC1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1713" y="0"/>
            <a:ext cx="509587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17">
            <a:extLst>
              <a:ext uri="{FF2B5EF4-FFF2-40B4-BE49-F238E27FC236}">
                <a16:creationId xmlns:a16="http://schemas.microsoft.com/office/drawing/2014/main" id="{26716C4E-EB24-4F65-9CCF-3C8B064C45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413" y="0"/>
            <a:ext cx="763587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燕尾形 16">
            <a:hlinkClick r:id="" action="ppaction://hlinkshowjump?jump=previousslide" tooltip="上一页"/>
            <a:extLst>
              <a:ext uri="{FF2B5EF4-FFF2-40B4-BE49-F238E27FC236}">
                <a16:creationId xmlns:a16="http://schemas.microsoft.com/office/drawing/2014/main" id="{E868D851-0E7F-417F-A7BA-537E73D2A6F3}"/>
              </a:ext>
            </a:extLst>
          </p:cNvPr>
          <p:cNvSpPr/>
          <p:nvPr userDrawn="1"/>
        </p:nvSpPr>
        <p:spPr>
          <a:xfrm flipH="1">
            <a:off x="8346933" y="6584238"/>
            <a:ext cx="233362" cy="234950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燕尾形 18">
            <a:hlinkClick r:id="" action="ppaction://hlinkshowjump?jump=nextslide" tooltip="下一页"/>
            <a:extLst>
              <a:ext uri="{FF2B5EF4-FFF2-40B4-BE49-F238E27FC236}">
                <a16:creationId xmlns:a16="http://schemas.microsoft.com/office/drawing/2014/main" id="{12709413-AEBF-474E-85A5-9A05A52DCD51}"/>
              </a:ext>
            </a:extLst>
          </p:cNvPr>
          <p:cNvSpPr/>
          <p:nvPr userDrawn="1"/>
        </p:nvSpPr>
        <p:spPr>
          <a:xfrm>
            <a:off x="8829533" y="6596938"/>
            <a:ext cx="190500" cy="228600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页脚占位符 1">
            <a:extLst>
              <a:ext uri="{FF2B5EF4-FFF2-40B4-BE49-F238E27FC236}">
                <a16:creationId xmlns:a16="http://schemas.microsoft.com/office/drawing/2014/main" id="{3C341C7B-D148-4414-AA91-65A892CF25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灯片编号占位符 2">
            <a:extLst>
              <a:ext uri="{FF2B5EF4-FFF2-40B4-BE49-F238E27FC236}">
                <a16:creationId xmlns:a16="http://schemas.microsoft.com/office/drawing/2014/main" id="{D5F58521-311C-4635-AFA1-FD84A2FD29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61550D-240D-4904-938E-B973E916CC7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5" name="日期占位符 3">
            <a:extLst>
              <a:ext uri="{FF2B5EF4-FFF2-40B4-BE49-F238E27FC236}">
                <a16:creationId xmlns:a16="http://schemas.microsoft.com/office/drawing/2014/main" id="{8FE20C34-27D7-4001-9CA0-97FAF946607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dirty="0"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9407819"/>
      </p:ext>
    </p:extLst>
  </p:cSld>
  <p:clrMapOvr>
    <a:masterClrMapping/>
  </p:clrMapOvr>
  <p:transition spd="slow">
    <p:split orient="vert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E3765A-DB92-4FEB-8586-5083F6941B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CFDF5F-9F14-49F7-82C6-42794CEB77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EDC4BB-AB2F-46F7-AF26-133DAD60E8E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3E2FBE0-19B5-43F0-A085-F9447004E64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1689859"/>
      </p:ext>
    </p:extLst>
  </p:cSld>
  <p:clrMapOvr>
    <a:masterClrMapping/>
  </p:clrMapOvr>
  <p:transition spd="slow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410B37-7628-4026-857E-D516CCF2FE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77D3DD-3BAE-4A61-A547-EDCF67528B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E518AF-6C9F-4F47-B896-EB22B9855F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34AD834-DC92-41E8-805C-D46D15F577F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4070184"/>
      </p:ext>
    </p:extLst>
  </p:cSld>
  <p:clrMapOvr>
    <a:masterClrMapping/>
  </p:clrMapOvr>
  <p:transition spd="slow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BBAE87-7E54-42AD-8D4E-64447FA738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D049BAC-BDEE-41A8-B375-0C74582E8A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6A6D19-00A4-4745-9E70-FDB09DCE2D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9CB1ABFD-F109-4E5E-9750-C313A90A2B6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31748"/>
      </p:ext>
    </p:extLst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652F1A3-63B8-484C-A59C-FF6D582BD6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B2D1A0B-715F-4734-BBC6-DCDD9A1A98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38A8F0-77B5-4BCF-8040-6A35B75A60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C229AB6B-AD64-4746-9E73-A20F5E2738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7454006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:\党办校办\党办校办文件夹\学校资料\学校标志\校徽透明_蓝_完美版-2.png">
            <a:extLst>
              <a:ext uri="{FF2B5EF4-FFF2-40B4-BE49-F238E27FC236}">
                <a16:creationId xmlns:a16="http://schemas.microsoft.com/office/drawing/2014/main" id="{37CA2716-81D1-4A33-8A7E-BA6EB9C611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0888" y="85725"/>
            <a:ext cx="631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7313" r:id="rId1"/>
    <p:sldLayoutId id="2147487314" r:id="rId2"/>
    <p:sldLayoutId id="2147487315" r:id="rId3"/>
    <p:sldLayoutId id="2147487316" r:id="rId4"/>
    <p:sldLayoutId id="2147487317" r:id="rId5"/>
    <p:sldLayoutId id="2147487318" r:id="rId6"/>
    <p:sldLayoutId id="2147487319" r:id="rId7"/>
    <p:sldLayoutId id="2147487320" r:id="rId8"/>
    <p:sldLayoutId id="2147487321" r:id="rId9"/>
    <p:sldLayoutId id="2147487322" r:id="rId10"/>
    <p:sldLayoutId id="2147487323" r:id="rId11"/>
    <p:sldLayoutId id="2147487324" r:id="rId12"/>
    <p:sldLayoutId id="2147487325" r:id="rId13"/>
  </p:sldLayoutIdLst>
  <p:transition spd="slow">
    <p:split orient="vert"/>
  </p:transition>
  <p:txStyles>
    <p:titleStyle>
      <a:lvl1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+mj-lt"/>
          <a:ea typeface="+mj-ea"/>
          <a:cs typeface="+mj-cs"/>
          <a:sym typeface="Times New Roman" panose="02020603050405020304" pitchFamily="18" charset="0"/>
        </a:defRPr>
      </a:lvl1pPr>
      <a:lvl2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2pPr>
      <a:lvl3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3pPr>
      <a:lvl4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4pPr>
      <a:lvl5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5pPr>
      <a:lvl6pPr marL="4572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6pPr>
      <a:lvl7pPr marL="9144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7pPr>
      <a:lvl8pPr marL="13716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8pPr>
      <a:lvl9pPr marL="18288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9pPr>
    </p:titleStyle>
    <p:bodyStyle>
      <a:lvl1pPr marL="342900" indent="-342900" algn="just" defTabSz="0" rtl="0" eaLnBrk="0" fontAlgn="base" hangingPunct="0">
        <a:lnSpc>
          <a:spcPct val="105000"/>
        </a:lnSpc>
        <a:spcBef>
          <a:spcPts val="1300"/>
        </a:spcBef>
        <a:spcAft>
          <a:spcPts val="1300"/>
        </a:spcAft>
        <a:buClr>
          <a:srgbClr val="0000FF"/>
        </a:buClr>
        <a:buFont typeface="Wingdings" panose="05000000000000000000" pitchFamily="2" charset="2"/>
        <a:buChar char="u"/>
        <a:defRPr sz="2800" b="1">
          <a:solidFill>
            <a:srgbClr val="0C00AC"/>
          </a:solidFill>
          <a:latin typeface="+mn-lt"/>
          <a:ea typeface="+mn-ea"/>
          <a:cs typeface="楷体_GB2312" panose="02010609030101010101" charset="-122"/>
          <a:sym typeface="Arial" panose="020B0604020202020204" pitchFamily="34" charset="0"/>
        </a:defRPr>
      </a:lvl1pPr>
      <a:lvl2pPr marL="742950" indent="-285750" algn="just" defTabSz="0" rtl="0" eaLnBrk="0" fontAlgn="base" hangingPunct="0">
        <a:spcBef>
          <a:spcPts val="1300"/>
        </a:spcBef>
        <a:spcAft>
          <a:spcPts val="1300"/>
        </a:spcAft>
        <a:buClr>
          <a:srgbClr val="FF6600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j-lt"/>
          <a:ea typeface="+mn-ea"/>
          <a:cs typeface="楷体_GB2312" panose="02010609030101010101" charset="-122"/>
          <a:sym typeface="Arial" panose="020B0604020202020204" pitchFamily="34" charset="0"/>
        </a:defRPr>
      </a:lvl2pPr>
      <a:lvl3pPr marL="1143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3pPr>
      <a:lvl4pPr marL="1600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4pPr>
      <a:lvl5pPr marL="20574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5pPr>
      <a:lvl6pPr marL="25146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6pPr>
      <a:lvl7pPr marL="29718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7pPr>
      <a:lvl8pPr marL="3429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8pPr>
      <a:lvl9pPr marL="3886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BD8CAED-9733-4696-BE55-66C0F2E5FA2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Times New Roman" panose="02020603050405020304" pitchFamily="18" charset="0"/>
              </a:rPr>
              <a:t>单击此处编辑母版标题样式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26D87927-EA0E-4567-A73F-EE5B25BEB0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50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Arial" panose="020B0604020202020204" pitchFamily="34" charset="0"/>
              </a:rPr>
              <a:t>单击此处编辑母版文本样式</a:t>
            </a:r>
          </a:p>
          <a:p>
            <a:pPr lvl="1"/>
            <a:r>
              <a:rPr lang="zh-CN" altLang="zh-CN">
                <a:sym typeface="Arial" panose="020B0604020202020204" pitchFamily="34" charset="0"/>
              </a:rPr>
              <a:t>第二级</a:t>
            </a:r>
          </a:p>
          <a:p>
            <a:pPr lvl="2"/>
            <a:r>
              <a:rPr lang="zh-CN" altLang="zh-CN">
                <a:sym typeface="Arial" panose="020B0604020202020204" pitchFamily="34" charset="0"/>
              </a:rPr>
              <a:t>第三级</a:t>
            </a:r>
          </a:p>
          <a:p>
            <a:pPr lvl="3"/>
            <a:r>
              <a:rPr lang="zh-CN" altLang="zh-CN">
                <a:sym typeface="Arial" panose="020B0604020202020204" pitchFamily="34" charset="0"/>
              </a:rPr>
              <a:t>第四级</a:t>
            </a:r>
          </a:p>
          <a:p>
            <a:pPr lvl="4"/>
            <a:r>
              <a:rPr lang="zh-CN" altLang="zh-CN">
                <a:sym typeface="Arial" panose="020B0604020202020204" pitchFamily="34" charset="0"/>
              </a:rPr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11A3E96-2188-405F-89D7-D3A22F3D4FA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buFont typeface="Arial" panose="020B0604020202020204" pitchFamily="34" charset="0"/>
              <a:buNone/>
              <a:defRPr sz="1400"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632AC8B-0C35-44F7-97D8-F789CAAB875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buFont typeface="Arial" panose="020B0604020202020204" pitchFamily="34" charset="0"/>
              <a:buNone/>
              <a:defRPr sz="1400"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7CA088-137C-4D05-816B-160A5F146A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9925" y="65246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buFont typeface="Arial" panose="020B0604020202020204" pitchFamily="34" charset="0"/>
              <a:buNone/>
              <a:defRPr sz="1600" b="1">
                <a:solidFill>
                  <a:srgbClr val="FFFF99"/>
                </a:solidFill>
                <a:latin typeface="+mj-ea"/>
                <a:ea typeface="+mj-ea"/>
                <a:sym typeface="黑体" panose="02010609060101010101" pitchFamily="49" charset="-122"/>
              </a:defRPr>
            </a:lvl1pPr>
          </a:lstStyle>
          <a:p>
            <a:pPr>
              <a:defRPr/>
            </a:pPr>
            <a:fld id="{2BA5B29F-AC96-412D-BF2C-3AFF6CC73BBE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  <p:pic>
        <p:nvPicPr>
          <p:cNvPr id="3079" name="Picture 2" descr="E:\党办校办\党办校办文件夹\学校资料\学校标志\校徽透明_蓝_完美版-2.png">
            <a:extLst>
              <a:ext uri="{FF2B5EF4-FFF2-40B4-BE49-F238E27FC236}">
                <a16:creationId xmlns:a16="http://schemas.microsoft.com/office/drawing/2014/main" id="{FEAC0F78-C0FC-4A92-AC28-83B0375BAE1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5475" y="187325"/>
            <a:ext cx="630238" cy="83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7326" r:id="rId1"/>
    <p:sldLayoutId id="2147487284" r:id="rId2"/>
    <p:sldLayoutId id="2147487285" r:id="rId3"/>
    <p:sldLayoutId id="2147487286" r:id="rId4"/>
    <p:sldLayoutId id="2147487287" r:id="rId5"/>
    <p:sldLayoutId id="2147487288" r:id="rId6"/>
    <p:sldLayoutId id="2147487289" r:id="rId7"/>
    <p:sldLayoutId id="2147487290" r:id="rId8"/>
    <p:sldLayoutId id="2147487291" r:id="rId9"/>
    <p:sldLayoutId id="2147487292" r:id="rId10"/>
    <p:sldLayoutId id="2147487327" r:id="rId11"/>
    <p:sldLayoutId id="2147487328" r:id="rId12"/>
    <p:sldLayoutId id="2147487329" r:id="rId13"/>
  </p:sldLayoutIdLst>
  <p:txStyles>
    <p:titleStyle>
      <a:lvl1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+mj-lt"/>
          <a:ea typeface="+mj-ea"/>
          <a:cs typeface="+mj-cs"/>
          <a:sym typeface="Times New Roman" panose="02020603050405020304" pitchFamily="18" charset="0"/>
        </a:defRPr>
      </a:lvl1pPr>
      <a:lvl2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2pPr>
      <a:lvl3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3pPr>
      <a:lvl4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4pPr>
      <a:lvl5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5pPr>
      <a:lvl6pPr marL="4572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6pPr>
      <a:lvl7pPr marL="9144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7pPr>
      <a:lvl8pPr marL="13716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8pPr>
      <a:lvl9pPr marL="18288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9pPr>
    </p:titleStyle>
    <p:bodyStyle>
      <a:lvl1pPr marL="342900" indent="-342900" algn="just" defTabSz="0" rtl="0" eaLnBrk="0" fontAlgn="base" hangingPunct="0">
        <a:lnSpc>
          <a:spcPct val="105000"/>
        </a:lnSpc>
        <a:spcBef>
          <a:spcPts val="1300"/>
        </a:spcBef>
        <a:spcAft>
          <a:spcPts val="1300"/>
        </a:spcAft>
        <a:buClr>
          <a:srgbClr val="0000FF"/>
        </a:buClr>
        <a:buFont typeface="Wingdings" panose="05000000000000000000" pitchFamily="2" charset="2"/>
        <a:buChar char="u"/>
        <a:defRPr sz="2800" b="1">
          <a:solidFill>
            <a:srgbClr val="0C00AC"/>
          </a:solidFill>
          <a:latin typeface="+mn-lt"/>
          <a:ea typeface="+mn-ea"/>
          <a:cs typeface="楷体_GB2312" panose="02010609030101010101" charset="-122"/>
          <a:sym typeface="Arial" panose="020B0604020202020204" pitchFamily="34" charset="0"/>
        </a:defRPr>
      </a:lvl1pPr>
      <a:lvl2pPr marL="742950" indent="-285750" algn="just" defTabSz="0" rtl="0" eaLnBrk="0" fontAlgn="base" hangingPunct="0">
        <a:spcBef>
          <a:spcPts val="1300"/>
        </a:spcBef>
        <a:spcAft>
          <a:spcPts val="1300"/>
        </a:spcAft>
        <a:buClr>
          <a:srgbClr val="FF6600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j-lt"/>
          <a:ea typeface="+mn-ea"/>
          <a:cs typeface="楷体_GB2312" panose="02010609030101010101" charset="-122"/>
          <a:sym typeface="Arial" panose="020B0604020202020204" pitchFamily="34" charset="0"/>
        </a:defRPr>
      </a:lvl2pPr>
      <a:lvl3pPr marL="1143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3pPr>
      <a:lvl4pPr marL="1600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4pPr>
      <a:lvl5pPr marL="20574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5pPr>
      <a:lvl6pPr marL="25146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6pPr>
      <a:lvl7pPr marL="29718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7pPr>
      <a:lvl8pPr marL="3429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8pPr>
      <a:lvl9pPr marL="3886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9">
            <a:extLst>
              <a:ext uri="{FF2B5EF4-FFF2-40B4-BE49-F238E27FC236}">
                <a16:creationId xmlns:a16="http://schemas.microsoft.com/office/drawing/2014/main" id="{14ECB70A-15C1-43C3-82DD-C91F52213EA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11188" y="188913"/>
            <a:ext cx="3241675" cy="144462"/>
          </a:xfrm>
          <a:prstGeom prst="cloudCallout">
            <a:avLst>
              <a:gd name="adj1" fmla="val 49019"/>
              <a:gd name="adj2" fmla="val 604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7" name="AutoShape 27">
            <a:extLst>
              <a:ext uri="{FF2B5EF4-FFF2-40B4-BE49-F238E27FC236}">
                <a16:creationId xmlns:a16="http://schemas.microsoft.com/office/drawing/2014/main" id="{23932A2F-2686-4BEE-8DF6-1CAE4DA9689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40200" y="115888"/>
            <a:ext cx="1223963" cy="142875"/>
          </a:xfrm>
          <a:prstGeom prst="cloudCallout">
            <a:avLst>
              <a:gd name="adj1" fmla="val 36639"/>
              <a:gd name="adj2" fmla="val 35556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8" name="AutoShape 8">
            <a:extLst>
              <a:ext uri="{FF2B5EF4-FFF2-40B4-BE49-F238E27FC236}">
                <a16:creationId xmlns:a16="http://schemas.microsoft.com/office/drawing/2014/main" id="{7EAEED02-1A06-4CCC-B8A4-0F20CDF6531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8775" y="114300"/>
            <a:ext cx="2519363" cy="312738"/>
          </a:xfrm>
          <a:prstGeom prst="cloudCallout">
            <a:avLst>
              <a:gd name="adj1" fmla="val -7907"/>
              <a:gd name="adj2" fmla="val 279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9" name="AutoShape 10">
            <a:extLst>
              <a:ext uri="{FF2B5EF4-FFF2-40B4-BE49-F238E27FC236}">
                <a16:creationId xmlns:a16="http://schemas.microsoft.com/office/drawing/2014/main" id="{8589F783-3D42-4393-A6BE-B86E49ABF4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24300" y="0"/>
            <a:ext cx="3887788" cy="188913"/>
          </a:xfrm>
          <a:prstGeom prst="cloudCallout">
            <a:avLst>
              <a:gd name="adj1" fmla="val 17782"/>
              <a:gd name="adj2" fmla="val -3403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0" name="AutoShape 24">
            <a:extLst>
              <a:ext uri="{FF2B5EF4-FFF2-40B4-BE49-F238E27FC236}">
                <a16:creationId xmlns:a16="http://schemas.microsoft.com/office/drawing/2014/main" id="{6F1DC48B-481E-486F-94F2-23C1AE5DC0D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47813" y="115888"/>
            <a:ext cx="1655762" cy="144462"/>
          </a:xfrm>
          <a:prstGeom prst="cloudCallout">
            <a:avLst>
              <a:gd name="adj1" fmla="val 14046"/>
              <a:gd name="adj2" fmla="val -15935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1" name="AutoShape 26">
            <a:extLst>
              <a:ext uri="{FF2B5EF4-FFF2-40B4-BE49-F238E27FC236}">
                <a16:creationId xmlns:a16="http://schemas.microsoft.com/office/drawing/2014/main" id="{7E2F42E9-535D-4979-BEDB-04F4C08263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-71438"/>
            <a:ext cx="1223963" cy="142876"/>
          </a:xfrm>
          <a:prstGeom prst="cloudCallout">
            <a:avLst>
              <a:gd name="adj1" fmla="val 36639"/>
              <a:gd name="adj2" fmla="val -15556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293" r:id="rId1"/>
    <p:sldLayoutId id="2147487294" r:id="rId2"/>
    <p:sldLayoutId id="2147487295" r:id="rId3"/>
    <p:sldLayoutId id="2147487296" r:id="rId4"/>
    <p:sldLayoutId id="2147487297" r:id="rId5"/>
    <p:sldLayoutId id="2147487330" r:id="rId6"/>
    <p:sldLayoutId id="2147487331" r:id="rId7"/>
    <p:sldLayoutId id="2147487298" r:id="rId8"/>
    <p:sldLayoutId id="2147487299" r:id="rId9"/>
    <p:sldLayoutId id="2147487300" r:id="rId10"/>
    <p:sldLayoutId id="2147487301" r:id="rId11"/>
  </p:sldLayoutIdLst>
  <p:transition spd="slow">
    <p:split orient="vert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FB02206-B27F-4E76-91B3-4EFD85BD430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D0B8FE99-AF5C-4D4C-93CD-8759798309A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00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8D3D8D6-D2D6-43CF-91A8-D9580B07DE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28" name="Group 4">
            <a:extLst>
              <a:ext uri="{FF2B5EF4-FFF2-40B4-BE49-F238E27FC236}">
                <a16:creationId xmlns:a16="http://schemas.microsoft.com/office/drawing/2014/main" id="{FC76477D-BF5D-43C9-B67A-DA3CAB6BDED8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56" name="Rectangle 5">
              <a:extLst>
                <a:ext uri="{FF2B5EF4-FFF2-40B4-BE49-F238E27FC236}">
                  <a16:creationId xmlns:a16="http://schemas.microsoft.com/office/drawing/2014/main" id="{BAB928D6-5BF9-45A2-87AC-671B31498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2057" name="Rectangle 6">
              <a:extLst>
                <a:ext uri="{FF2B5EF4-FFF2-40B4-BE49-F238E27FC236}">
                  <a16:creationId xmlns:a16="http://schemas.microsoft.com/office/drawing/2014/main" id="{0DAE07E0-4410-415E-ADB7-B8F22AA39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2058" name="Rectangle 7">
              <a:extLst>
                <a:ext uri="{FF2B5EF4-FFF2-40B4-BE49-F238E27FC236}">
                  <a16:creationId xmlns:a16="http://schemas.microsoft.com/office/drawing/2014/main" id="{F98F35F0-3851-4629-B9AC-91B836166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59" name="Rectangle 8">
              <a:extLst>
                <a:ext uri="{FF2B5EF4-FFF2-40B4-BE49-F238E27FC236}">
                  <a16:creationId xmlns:a16="http://schemas.microsoft.com/office/drawing/2014/main" id="{8ED0044A-21CE-45E6-9C31-02E7F31AF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0" name="Rectangle 9">
              <a:extLst>
                <a:ext uri="{FF2B5EF4-FFF2-40B4-BE49-F238E27FC236}">
                  <a16:creationId xmlns:a16="http://schemas.microsoft.com/office/drawing/2014/main" id="{97BFDF85-7F81-430A-A177-C2AF6AEFDE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1" name="Rectangle 10">
              <a:extLst>
                <a:ext uri="{FF2B5EF4-FFF2-40B4-BE49-F238E27FC236}">
                  <a16:creationId xmlns:a16="http://schemas.microsoft.com/office/drawing/2014/main" id="{D23C108B-AEFE-4427-9022-F93C356E93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2" name="Rectangle 11">
              <a:extLst>
                <a:ext uri="{FF2B5EF4-FFF2-40B4-BE49-F238E27FC236}">
                  <a16:creationId xmlns:a16="http://schemas.microsoft.com/office/drawing/2014/main" id="{C7B90104-A07F-46E6-9306-63B74F0F0C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2063" name="Rectangle 12">
              <a:extLst>
                <a:ext uri="{FF2B5EF4-FFF2-40B4-BE49-F238E27FC236}">
                  <a16:creationId xmlns:a16="http://schemas.microsoft.com/office/drawing/2014/main" id="{2B4E9ABA-0A63-420D-A603-037DC96FF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4" name="Rectangle 13">
              <a:extLst>
                <a:ext uri="{FF2B5EF4-FFF2-40B4-BE49-F238E27FC236}">
                  <a16:creationId xmlns:a16="http://schemas.microsoft.com/office/drawing/2014/main" id="{C2F95056-8353-4C51-9FDB-815AFD0FE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029" name="Rectangle 14">
            <a:extLst>
              <a:ext uri="{FF2B5EF4-FFF2-40B4-BE49-F238E27FC236}">
                <a16:creationId xmlns:a16="http://schemas.microsoft.com/office/drawing/2014/main" id="{20A37B01-1D1B-477D-9302-81A19C62FC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>
            <a:extLst>
              <a:ext uri="{FF2B5EF4-FFF2-40B4-BE49-F238E27FC236}">
                <a16:creationId xmlns:a16="http://schemas.microsoft.com/office/drawing/2014/main" id="{685BA901-3641-49C6-B085-1EE89F61CA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6400" name="Rectangle 16">
            <a:extLst>
              <a:ext uri="{FF2B5EF4-FFF2-40B4-BE49-F238E27FC236}">
                <a16:creationId xmlns:a16="http://schemas.microsoft.com/office/drawing/2014/main" id="{CBCD943A-D4CE-48C0-9D30-7E42EFF0343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9190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333" r:id="rId1"/>
    <p:sldLayoutId id="2147487334" r:id="rId2"/>
    <p:sldLayoutId id="2147487335" r:id="rId3"/>
    <p:sldLayoutId id="2147487336" r:id="rId4"/>
    <p:sldLayoutId id="2147487337" r:id="rId5"/>
    <p:sldLayoutId id="2147487338" r:id="rId6"/>
    <p:sldLayoutId id="2147487339" r:id="rId7"/>
    <p:sldLayoutId id="2147487340" r:id="rId8"/>
    <p:sldLayoutId id="2147487341" r:id="rId9"/>
    <p:sldLayoutId id="2147487342" r:id="rId10"/>
    <p:sldLayoutId id="2147487343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4.x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4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44.x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5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4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4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20.wmf"/><Relationship Id="rId3" Type="http://schemas.openxmlformats.org/officeDocument/2006/relationships/image" Target="../media/image15.wmf"/><Relationship Id="rId7" Type="http://schemas.openxmlformats.org/officeDocument/2006/relationships/image" Target="../media/image17.wmf"/><Relationship Id="rId12" Type="http://schemas.openxmlformats.org/officeDocument/2006/relationships/oleObject" Target="../embeddings/oleObject13.bin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19.wmf"/><Relationship Id="rId5" Type="http://schemas.openxmlformats.org/officeDocument/2006/relationships/image" Target="../media/image16.wmf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18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21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44.xml"/><Relationship Id="rId5" Type="http://schemas.openxmlformats.org/officeDocument/2006/relationships/image" Target="../media/image23.wmf"/><Relationship Id="rId4" Type="http://schemas.openxmlformats.org/officeDocument/2006/relationships/oleObject" Target="../embeddings/oleObject16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0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8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30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32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13" Type="http://schemas.openxmlformats.org/officeDocument/2006/relationships/image" Target="../media/image38.wmf"/><Relationship Id="rId3" Type="http://schemas.openxmlformats.org/officeDocument/2006/relationships/image" Target="../media/image33.wmf"/><Relationship Id="rId7" Type="http://schemas.openxmlformats.org/officeDocument/2006/relationships/image" Target="../media/image35.wmf"/><Relationship Id="rId12" Type="http://schemas.openxmlformats.org/officeDocument/2006/relationships/oleObject" Target="../embeddings/oleObject31.bin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28.bin"/><Relationship Id="rId11" Type="http://schemas.openxmlformats.org/officeDocument/2006/relationships/image" Target="../media/image37.wmf"/><Relationship Id="rId5" Type="http://schemas.openxmlformats.org/officeDocument/2006/relationships/image" Target="../media/image34.wmf"/><Relationship Id="rId15" Type="http://schemas.openxmlformats.org/officeDocument/2006/relationships/image" Target="../media/image39.wmf"/><Relationship Id="rId10" Type="http://schemas.openxmlformats.org/officeDocument/2006/relationships/oleObject" Target="../embeddings/oleObject30.bin"/><Relationship Id="rId4" Type="http://schemas.openxmlformats.org/officeDocument/2006/relationships/oleObject" Target="../embeddings/oleObject27.bin"/><Relationship Id="rId9" Type="http://schemas.openxmlformats.org/officeDocument/2006/relationships/image" Target="../media/image36.wmf"/><Relationship Id="rId14" Type="http://schemas.openxmlformats.org/officeDocument/2006/relationships/oleObject" Target="../embeddings/oleObject32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13" Type="http://schemas.openxmlformats.org/officeDocument/2006/relationships/oleObject" Target="../embeddings/oleObject38.bin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44.wmf"/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41.wmf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34.bin"/><Relationship Id="rId10" Type="http://schemas.openxmlformats.org/officeDocument/2006/relationships/image" Target="../media/image43.wmf"/><Relationship Id="rId4" Type="http://schemas.openxmlformats.org/officeDocument/2006/relationships/image" Target="../media/image40.wmf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45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40.bin"/><Relationship Id="rId10" Type="http://schemas.openxmlformats.org/officeDocument/2006/relationships/image" Target="../media/image49.wmf"/><Relationship Id="rId4" Type="http://schemas.openxmlformats.org/officeDocument/2006/relationships/image" Target="../media/image46.wmf"/><Relationship Id="rId9" Type="http://schemas.openxmlformats.org/officeDocument/2006/relationships/oleObject" Target="../embeddings/oleObject42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5.bin"/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44.bin"/><Relationship Id="rId10" Type="http://schemas.openxmlformats.org/officeDocument/2006/relationships/image" Target="../media/image53.wmf"/><Relationship Id="rId4" Type="http://schemas.openxmlformats.org/officeDocument/2006/relationships/image" Target="../media/image50.wmf"/><Relationship Id="rId9" Type="http://schemas.openxmlformats.org/officeDocument/2006/relationships/oleObject" Target="../embeddings/oleObject46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48.bin"/><Relationship Id="rId10" Type="http://schemas.openxmlformats.org/officeDocument/2006/relationships/image" Target="../media/image57.wmf"/><Relationship Id="rId4" Type="http://schemas.openxmlformats.org/officeDocument/2006/relationships/image" Target="../media/image54.wmf"/><Relationship Id="rId9" Type="http://schemas.openxmlformats.org/officeDocument/2006/relationships/oleObject" Target="../embeddings/oleObject50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59.wmf"/><Relationship Id="rId5" Type="http://schemas.openxmlformats.org/officeDocument/2006/relationships/oleObject" Target="../embeddings/oleObject52.bin"/><Relationship Id="rId10" Type="http://schemas.openxmlformats.org/officeDocument/2006/relationships/image" Target="../media/image61.wmf"/><Relationship Id="rId4" Type="http://schemas.openxmlformats.org/officeDocument/2006/relationships/image" Target="../media/image58.wmf"/><Relationship Id="rId9" Type="http://schemas.openxmlformats.org/officeDocument/2006/relationships/oleObject" Target="../embeddings/oleObject54.bin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3" Type="http://schemas.openxmlformats.org/officeDocument/2006/relationships/oleObject" Target="../embeddings/oleObject55.bin"/><Relationship Id="rId7" Type="http://schemas.openxmlformats.org/officeDocument/2006/relationships/oleObject" Target="../embeddings/oleObject57.bin"/><Relationship Id="rId12" Type="http://schemas.openxmlformats.org/officeDocument/2006/relationships/image" Target="../media/image66.wmf"/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63.wmf"/><Relationship Id="rId11" Type="http://schemas.openxmlformats.org/officeDocument/2006/relationships/oleObject" Target="../embeddings/oleObject59.bin"/><Relationship Id="rId5" Type="http://schemas.openxmlformats.org/officeDocument/2006/relationships/oleObject" Target="../embeddings/oleObject56.bin"/><Relationship Id="rId10" Type="http://schemas.openxmlformats.org/officeDocument/2006/relationships/image" Target="../media/image65.wmf"/><Relationship Id="rId4" Type="http://schemas.openxmlformats.org/officeDocument/2006/relationships/image" Target="../media/image62.wmf"/><Relationship Id="rId9" Type="http://schemas.openxmlformats.org/officeDocument/2006/relationships/oleObject" Target="../embeddings/oleObject58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0.bin"/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68.wmf"/><Relationship Id="rId5" Type="http://schemas.openxmlformats.org/officeDocument/2006/relationships/oleObject" Target="../embeddings/oleObject61.bin"/><Relationship Id="rId4" Type="http://schemas.openxmlformats.org/officeDocument/2006/relationships/image" Target="../media/image67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3" Type="http://schemas.openxmlformats.org/officeDocument/2006/relationships/oleObject" Target="../embeddings/oleObject62.bin"/><Relationship Id="rId7" Type="http://schemas.openxmlformats.org/officeDocument/2006/relationships/oleObject" Target="../embeddings/oleObject64.bin"/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70.wmf"/><Relationship Id="rId5" Type="http://schemas.openxmlformats.org/officeDocument/2006/relationships/oleObject" Target="../embeddings/oleObject63.bin"/><Relationship Id="rId4" Type="http://schemas.openxmlformats.org/officeDocument/2006/relationships/image" Target="../media/image69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7.bin"/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72.wmf"/><Relationship Id="rId5" Type="http://schemas.openxmlformats.org/officeDocument/2006/relationships/oleObject" Target="../embeddings/oleObject66.bin"/><Relationship Id="rId4" Type="http://schemas.openxmlformats.org/officeDocument/2006/relationships/image" Target="../media/image71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3" Type="http://schemas.openxmlformats.org/officeDocument/2006/relationships/oleObject" Target="../embeddings/oleObject68.bin"/><Relationship Id="rId7" Type="http://schemas.openxmlformats.org/officeDocument/2006/relationships/oleObject" Target="../embeddings/oleObject70.bin"/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75.wmf"/><Relationship Id="rId5" Type="http://schemas.openxmlformats.org/officeDocument/2006/relationships/oleObject" Target="../embeddings/oleObject69.bin"/><Relationship Id="rId10" Type="http://schemas.openxmlformats.org/officeDocument/2006/relationships/image" Target="../media/image77.wmf"/><Relationship Id="rId4" Type="http://schemas.openxmlformats.org/officeDocument/2006/relationships/image" Target="../media/image74.wmf"/><Relationship Id="rId9" Type="http://schemas.openxmlformats.org/officeDocument/2006/relationships/oleObject" Target="../embeddings/oleObject71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13" Type="http://schemas.openxmlformats.org/officeDocument/2006/relationships/image" Target="../media/image83.wmf"/><Relationship Id="rId3" Type="http://schemas.openxmlformats.org/officeDocument/2006/relationships/image" Target="../media/image78.wmf"/><Relationship Id="rId7" Type="http://schemas.openxmlformats.org/officeDocument/2006/relationships/image" Target="../media/image80.wmf"/><Relationship Id="rId12" Type="http://schemas.openxmlformats.org/officeDocument/2006/relationships/oleObject" Target="../embeddings/oleObject77.bin"/><Relationship Id="rId2" Type="http://schemas.openxmlformats.org/officeDocument/2006/relationships/oleObject" Target="../embeddings/oleObject72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74.bin"/><Relationship Id="rId11" Type="http://schemas.openxmlformats.org/officeDocument/2006/relationships/image" Target="../media/image82.wmf"/><Relationship Id="rId5" Type="http://schemas.openxmlformats.org/officeDocument/2006/relationships/image" Target="../media/image79.wmf"/><Relationship Id="rId10" Type="http://schemas.openxmlformats.org/officeDocument/2006/relationships/oleObject" Target="../embeddings/oleObject76.bin"/><Relationship Id="rId4" Type="http://schemas.openxmlformats.org/officeDocument/2006/relationships/oleObject" Target="../embeddings/oleObject73.bin"/><Relationship Id="rId9" Type="http://schemas.openxmlformats.org/officeDocument/2006/relationships/image" Target="../media/image81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1.bin"/><Relationship Id="rId3" Type="http://schemas.openxmlformats.org/officeDocument/2006/relationships/image" Target="../media/image84.wmf"/><Relationship Id="rId7" Type="http://schemas.openxmlformats.org/officeDocument/2006/relationships/image" Target="../media/image86.wmf"/><Relationship Id="rId2" Type="http://schemas.openxmlformats.org/officeDocument/2006/relationships/oleObject" Target="../embeddings/oleObject78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80.bin"/><Relationship Id="rId5" Type="http://schemas.openxmlformats.org/officeDocument/2006/relationships/image" Target="../media/image85.wmf"/><Relationship Id="rId4" Type="http://schemas.openxmlformats.org/officeDocument/2006/relationships/oleObject" Target="../embeddings/oleObject79.bin"/><Relationship Id="rId9" Type="http://schemas.openxmlformats.org/officeDocument/2006/relationships/image" Target="../media/image87.wmf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3" Type="http://schemas.openxmlformats.org/officeDocument/2006/relationships/oleObject" Target="../embeddings/oleObject82.bin"/><Relationship Id="rId7" Type="http://schemas.openxmlformats.org/officeDocument/2006/relationships/oleObject" Target="../embeddings/oleObject84.bin"/><Relationship Id="rId12" Type="http://schemas.openxmlformats.org/officeDocument/2006/relationships/image" Target="../media/image92.wmf"/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89.wmf"/><Relationship Id="rId11" Type="http://schemas.openxmlformats.org/officeDocument/2006/relationships/oleObject" Target="../embeddings/oleObject86.bin"/><Relationship Id="rId5" Type="http://schemas.openxmlformats.org/officeDocument/2006/relationships/oleObject" Target="../embeddings/oleObject83.bin"/><Relationship Id="rId10" Type="http://schemas.openxmlformats.org/officeDocument/2006/relationships/image" Target="../media/image91.wmf"/><Relationship Id="rId4" Type="http://schemas.openxmlformats.org/officeDocument/2006/relationships/image" Target="../media/image88.wmf"/><Relationship Id="rId9" Type="http://schemas.openxmlformats.org/officeDocument/2006/relationships/oleObject" Target="../embeddings/oleObject85.bin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gif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1976255"/>
      </p:ext>
    </p:extLst>
  </p:cSld>
  <p:clrMapOvr>
    <a:masterClrMapping/>
  </p:clrMapOvr>
  <p:transition spd="slow">
    <p:split orient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Line 2">
            <a:extLst>
              <a:ext uri="{FF2B5EF4-FFF2-40B4-BE49-F238E27FC236}">
                <a16:creationId xmlns:a16="http://schemas.microsoft.com/office/drawing/2014/main" id="{B23C083C-4786-427B-8023-7BCA8B81A9CD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808038"/>
            <a:ext cx="9144000" cy="0"/>
          </a:xfrm>
          <a:prstGeom prst="line">
            <a:avLst/>
          </a:prstGeom>
          <a:noFill/>
          <a:ln w="76200" cmpd="tri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1FA1D84-786D-49E5-B770-BEFA554F4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0528" y="113454"/>
            <a:ext cx="856895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 </a:t>
            </a: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第三章   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线性方程组与向量组的线性相关性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7D27B2-7097-4919-B19E-2412D822E2F1}"/>
              </a:ext>
            </a:extLst>
          </p:cNvPr>
          <p:cNvSpPr/>
          <p:nvPr/>
        </p:nvSpPr>
        <p:spPr>
          <a:xfrm>
            <a:off x="1349351" y="1484784"/>
            <a:ext cx="58272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50000"/>
              </a:spcBef>
              <a:defRPr/>
            </a:pPr>
            <a:r>
              <a:rPr lang="en-US" altLang="zh-CN" sz="40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anose="02010600040101010101" pitchFamily="2" charset="-122"/>
                <a:cs typeface="Times New Roman" panose="02020603050405020304" pitchFamily="18" charset="0"/>
              </a:rPr>
              <a:t>§2  </a:t>
            </a:r>
            <a:r>
              <a:rPr lang="zh-CN" altLang="en-US" sz="40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anose="02010600040101010101" pitchFamily="2" charset="-122"/>
                <a:cs typeface="Times New Roman" panose="02020603050405020304" pitchFamily="18" charset="0"/>
              </a:rPr>
              <a:t>向量组及其线性组合</a:t>
            </a:r>
          </a:p>
        </p:txBody>
      </p:sp>
    </p:spTree>
  </p:cSld>
  <p:clrMapOvr>
    <a:masterClrMapping/>
  </p:clrMapOvr>
  <p:transition spd="slow">
    <p:split orient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3">
            <a:extLst>
              <a:ext uri="{FF2B5EF4-FFF2-40B4-BE49-F238E27FC236}">
                <a16:creationId xmlns:a16="http://schemas.microsoft.com/office/drawing/2014/main" id="{7568BA63-4688-4AC2-A6B8-AE7344731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218" y="1233627"/>
            <a:ext cx="6913563" cy="3247427"/>
          </a:xfrm>
          <a:prstGeom prst="rect">
            <a:avLst/>
          </a:prstGeom>
          <a:solidFill>
            <a:schemeClr val="bg1">
              <a:alpha val="56078"/>
            </a:schemeClr>
          </a:solidFill>
          <a:ln w="38100">
            <a:solidFill>
              <a:schemeClr val="bg1"/>
            </a:solidFill>
            <a:miter lim="800000"/>
            <a:headEnd/>
            <a:tailEnd/>
          </a:ln>
        </p:spPr>
        <p:txBody>
          <a:bodyPr anchor="ctr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本节重点研究如下问题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组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线性组合与线性表示和向量组   的等价性等一些重要概念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如何判别一个向量可被向量组表示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如何判别两个向量组等价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769C6B4F-6DDD-0D59-4611-2C56CEB427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0"/>
            <a:ext cx="591225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前言</a:t>
            </a:r>
          </a:p>
        </p:txBody>
      </p:sp>
    </p:spTree>
    <p:extLst>
      <p:ext uri="{BB962C8B-B14F-4D97-AF65-F5344CB8AC3E}">
        <p14:creationId xmlns:p14="http://schemas.microsoft.com/office/powerpoint/2010/main" val="2392002694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22" name="Rectangle 30">
            <a:extLst>
              <a:ext uri="{FF2B5EF4-FFF2-40B4-BE49-F238E27FC236}">
                <a16:creationId xmlns:a16="http://schemas.microsoft.com/office/drawing/2014/main" id="{57F6D9E5-9903-4D13-A782-3A0F8BD98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0"/>
            <a:ext cx="591225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有关向量组的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基本概念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92EB1B99-16D3-4D11-81EC-CC8A15FDF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4744" y="1628800"/>
            <a:ext cx="1944689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定义</a:t>
            </a:r>
            <a:r>
              <a:rPr lang="zh-CN" altLang="en-US" sz="20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华文中宋" pitchFamily="2" charset="-122"/>
                <a:cs typeface="Times New Roman" panose="02020603050405020304" pitchFamily="18" charset="0"/>
              </a:rPr>
              <a:t>3.3</a:t>
            </a:r>
            <a:endParaRPr lang="zh-CN" altLang="en-US" b="1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C94F4F48-7B0F-4216-89A6-80523B987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508" y="2348195"/>
            <a:ext cx="40322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的数组称为</a:t>
            </a:r>
            <a:r>
              <a:rPr lang="zh-CN" altLang="en-US" sz="16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n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维向量</a:t>
            </a:r>
            <a:r>
              <a:rPr lang="en-US" altLang="zh-CN" b="1" dirty="0">
                <a:solidFill>
                  <a:srgbClr val="0000FF"/>
                </a:solidFill>
                <a:ea typeface="华文中宋" pitchFamily="2" charset="-122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rgbClr val="0000FF"/>
                </a:solidFill>
                <a:latin typeface="+mn-lt"/>
                <a:ea typeface="华文中宋" pitchFamily="2" charset="-122"/>
              </a:rPr>
              <a:t> </a:t>
            </a: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9B8539BE-08E3-4D7F-AE14-5A0FFB45E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7993" y="2346607"/>
            <a:ext cx="4896546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这</a:t>
            </a:r>
            <a:r>
              <a:rPr lang="zh-CN" altLang="en-US" sz="16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n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个数称为该向量的</a:t>
            </a:r>
            <a:r>
              <a:rPr lang="zh-CN" altLang="en-US" sz="16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个</a:t>
            </a:r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34C4C441-B1CD-461B-8003-DB817D57CB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7714" y="3067124"/>
            <a:ext cx="71241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</a:t>
            </a:r>
            <a:r>
              <a:rPr lang="zh-CN" altLang="en-US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000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2,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…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1000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个数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</a:rPr>
              <a:t>a</a:t>
            </a:r>
            <a:r>
              <a:rPr lang="en-US" altLang="zh-CN" b="1" i="1" baseline="-25000" dirty="0">
                <a:solidFill>
                  <a:schemeClr val="tx1"/>
                </a:solidFill>
                <a:ea typeface="华文中宋" panose="02010600040101010101" pitchFamily="2" charset="-122"/>
              </a:rPr>
              <a:t>i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华文中宋" panose="02010600040101010101" pitchFamily="2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称为第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华文中宋" panose="02010600040101010101" pitchFamily="2" charset="-122"/>
              </a:rPr>
              <a:t>i</a:t>
            </a:r>
            <a:r>
              <a:rPr lang="en-US" altLang="zh-CN" sz="2000" b="1" i="1" dirty="0">
                <a:solidFill>
                  <a:schemeClr val="tx1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个分量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</a:rPr>
              <a:t>.</a:t>
            </a:r>
          </a:p>
        </p:txBody>
      </p:sp>
      <p:sp>
        <p:nvSpPr>
          <p:cNvPr id="23" name="Rectangle 10">
            <a:extLst>
              <a:ext uri="{FF2B5EF4-FFF2-40B4-BE49-F238E27FC236}">
                <a16:creationId xmlns:a16="http://schemas.microsoft.com/office/drawing/2014/main" id="{B554D999-1396-42B2-8B43-207DA0BF5F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509" y="3073529"/>
            <a:ext cx="1508204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分量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60B36918-8DD4-4157-8423-AEF56E01A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9802" y="1628800"/>
            <a:ext cx="6384737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由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n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个有次序的数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b="1" i="1" baseline="-25000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n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所组成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92A8C6B4-CF3B-C66A-BEC6-AF2A750390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744" y="915003"/>
            <a:ext cx="338123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rgbClr val="C00000"/>
                </a:solidFill>
                <a:cs typeface="Times New Roman" pitchFamily="18" charset="0"/>
              </a:rPr>
              <a:t>n</a:t>
            </a:r>
            <a:r>
              <a:rPr lang="en-US" altLang="zh-CN" sz="2000" b="1" dirty="0">
                <a:solidFill>
                  <a:srgbClr val="C00000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维向量的定义</a:t>
            </a:r>
          </a:p>
        </p:txBody>
      </p:sp>
    </p:spTree>
    <p:extLst>
      <p:ext uri="{BB962C8B-B14F-4D97-AF65-F5344CB8AC3E}">
        <p14:creationId xmlns:p14="http://schemas.microsoft.com/office/powerpoint/2010/main" val="879440344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7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25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25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7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 autoUpdateAnimBg="0"/>
      <p:bldP spid="14" grpId="0" build="p" autoUpdateAnimBg="0" advAuto="0"/>
      <p:bldP spid="16" grpId="0" build="p" autoUpdateAnimBg="0" advAuto="0"/>
      <p:bldP spid="17" grpId="0" build="p" autoUpdateAnimBg="0" advAuto="0"/>
      <p:bldP spid="23" grpId="0" build="p" autoUpdateAnimBg="0" advAuto="0"/>
      <p:bldP spid="26" grpId="0" build="p" autoUpdateAnimBg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30">
            <a:extLst>
              <a:ext uri="{FF2B5EF4-FFF2-40B4-BE49-F238E27FC236}">
                <a16:creationId xmlns:a16="http://schemas.microsoft.com/office/drawing/2014/main" id="{06D6B6D8-A269-47CD-B703-3AB26CF6C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633" y="0"/>
            <a:ext cx="6426143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有关向量组的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基本概念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02EC52DB-3BF3-44D2-816F-B507BE499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468" y="2493541"/>
            <a:ext cx="58324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分量全为实数的向量称为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实向量</a:t>
            </a:r>
            <a:r>
              <a:rPr lang="en-US" altLang="zh-CN" b="1" dirty="0">
                <a:solidFill>
                  <a:srgbClr val="0000FF"/>
                </a:solidFill>
                <a:ea typeface="华文中宋" pitchFamily="2" charset="-122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rgbClr val="0000FF"/>
                </a:solidFill>
                <a:latin typeface="+mn-lt"/>
                <a:ea typeface="华文中宋" pitchFamily="2" charset="-122"/>
              </a:rPr>
              <a:t> 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40DBA927-60E9-4E90-9446-4F14A078BB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468" y="3212678"/>
            <a:ext cx="3311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向量称为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复向量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97C7B0CE-9338-44A1-A5D9-DEE937D94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5193" y="3212678"/>
            <a:ext cx="55800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在这里无说明时只讨论实向量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5" name="Text Box 7">
            <a:extLst>
              <a:ext uri="{FF2B5EF4-FFF2-40B4-BE49-F238E27FC236}">
                <a16:creationId xmlns:a16="http://schemas.microsoft.com/office/drawing/2014/main" id="{C457DA19-E340-41FD-9C1F-F7C4C72A64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2994" y="1017206"/>
            <a:ext cx="5340716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0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关于向量定义的几点说明</a:t>
            </a:r>
          </a:p>
        </p:txBody>
      </p:sp>
      <p:sp>
        <p:nvSpPr>
          <p:cNvPr id="16" name="Text Box 9">
            <a:extLst>
              <a:ext uri="{FF2B5EF4-FFF2-40B4-BE49-F238E27FC236}">
                <a16:creationId xmlns:a16="http://schemas.microsoft.com/office/drawing/2014/main" id="{1FBA750B-7D87-4D94-B1BD-F971AB90C2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1" y="1772816"/>
            <a:ext cx="676875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实向量与复向量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000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零向量与非零向量</a:t>
            </a:r>
          </a:p>
        </p:txBody>
      </p:sp>
      <p:sp>
        <p:nvSpPr>
          <p:cNvPr id="17" name="Rectangle 10">
            <a:extLst>
              <a:ext uri="{FF2B5EF4-FFF2-40B4-BE49-F238E27FC236}">
                <a16:creationId xmlns:a16="http://schemas.microsoft.com/office/drawing/2014/main" id="{202113E8-0F33-4121-9F1A-3471A3E3BF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6143" y="2493541"/>
            <a:ext cx="28082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分量为复数的</a:t>
            </a:r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DC5727FE-C090-4B65-975F-1EE169EEF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468" y="3933403"/>
            <a:ext cx="54737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分量全为零的向量称为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零向量</a:t>
            </a:r>
            <a:r>
              <a:rPr lang="en-US" altLang="zh-CN" b="1" dirty="0">
                <a:solidFill>
                  <a:srgbClr val="0000FF"/>
                </a:solidFill>
                <a:ea typeface="华文中宋" pitchFamily="2" charset="-122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rgbClr val="0000FF"/>
                </a:solidFill>
                <a:latin typeface="+mn-lt"/>
                <a:ea typeface="华文中宋" pitchFamily="2" charset="-122"/>
              </a:rPr>
              <a:t> </a:t>
            </a:r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DB49AD42-A46E-4C84-975A-E2A08516B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5781" y="3933403"/>
            <a:ext cx="32400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分量不全为零的</a:t>
            </a:r>
          </a:p>
        </p:txBody>
      </p:sp>
      <p:sp>
        <p:nvSpPr>
          <p:cNvPr id="20" name="Rectangle 13">
            <a:extLst>
              <a:ext uri="{FF2B5EF4-FFF2-40B4-BE49-F238E27FC236}">
                <a16:creationId xmlns:a16="http://schemas.microsoft.com/office/drawing/2014/main" id="{71A87882-C35D-49EB-97F1-1D16BD34E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468" y="4654128"/>
            <a:ext cx="4032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向量称为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非零向量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75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7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75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25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7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utoUpdateAnimBg="0"/>
      <p:bldP spid="13" grpId="0" build="p" autoUpdateAnimBg="0" advAuto="0"/>
      <p:bldP spid="14" grpId="0" build="p" autoUpdateAnimBg="0"/>
      <p:bldP spid="15" grpId="0"/>
      <p:bldP spid="16" grpId="0"/>
      <p:bldP spid="17" grpId="0" build="p" autoUpdateAnimBg="0"/>
      <p:bldP spid="18" grpId="0" build="p" autoUpdateAnimBg="0"/>
      <p:bldP spid="19" grpId="0" build="p" autoUpdateAnimBg="0"/>
      <p:bldP spid="20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4">
            <a:extLst>
              <a:ext uri="{FF2B5EF4-FFF2-40B4-BE49-F238E27FC236}">
                <a16:creationId xmlns:a16="http://schemas.microsoft.com/office/drawing/2014/main" id="{704EEE88-1DC1-4C04-BEED-79D50EDF2A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072" y="764704"/>
            <a:ext cx="369349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行向量与列向量</a:t>
            </a: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6ECE62F7-DFC9-453C-859B-25E519C30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191" y="1483842"/>
            <a:ext cx="66960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n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维向量可写成一行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也可写成一列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0312F2AA-FC51-451D-A23B-619E4E9C0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316" y="2182526"/>
            <a:ext cx="37147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行向量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和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列向量</a:t>
            </a:r>
            <a:r>
              <a:rPr lang="en-US" altLang="zh-CN" b="1" dirty="0">
                <a:solidFill>
                  <a:srgbClr val="0000FF"/>
                </a:solidFill>
                <a:ea typeface="华文中宋" pitchFamily="2" charset="-122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rgbClr val="0000FF"/>
                </a:solidFill>
                <a:latin typeface="+mn-lt"/>
                <a:ea typeface="华文中宋" pitchFamily="2" charset="-122"/>
              </a:rPr>
              <a:t> </a:t>
            </a: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B014E1A5-FBB3-4229-892A-E7EAEFBE7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7666" y="1483842"/>
            <a:ext cx="2089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分别称为</a:t>
            </a:r>
          </a:p>
        </p:txBody>
      </p:sp>
      <p:sp>
        <p:nvSpPr>
          <p:cNvPr id="23" name="Rectangle 8">
            <a:extLst>
              <a:ext uri="{FF2B5EF4-FFF2-40B4-BE49-F238E27FC236}">
                <a16:creationId xmlns:a16="http://schemas.microsoft.com/office/drawing/2014/main" id="{2F295AAE-2DFC-407A-B776-6F53E9546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2041" y="2182526"/>
            <a:ext cx="4537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也就是行矩阵和列矩阵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Rectangle 13">
            <a:extLst>
              <a:ext uri="{FF2B5EF4-FFF2-40B4-BE49-F238E27FC236}">
                <a16:creationId xmlns:a16="http://schemas.microsoft.com/office/drawing/2014/main" id="{D337D9CC-D9FA-4A88-8E21-70E8DF6FEB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73" y="5556529"/>
            <a:ext cx="862553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(3)</a:t>
            </a:r>
            <a:r>
              <a:rPr lang="en-US" altLang="zh-CN" b="1" i="1" dirty="0">
                <a:solidFill>
                  <a:srgbClr val="C00000"/>
                </a:solidFill>
                <a:ea typeface="宋体" charset="-122"/>
              </a:rPr>
              <a:t>n</a:t>
            </a:r>
            <a:r>
              <a:rPr lang="en-US" altLang="zh-CN" sz="2000" b="1" dirty="0">
                <a:solidFill>
                  <a:srgbClr val="C00000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维列向量</a:t>
            </a:r>
            <a:r>
              <a:rPr lang="zh-CN" altLang="en-US" sz="10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b="1" i="1" dirty="0">
                <a:solidFill>
                  <a:srgbClr val="C00000"/>
                </a:solidFill>
                <a:ea typeface="宋体" charset="-122"/>
                <a:sym typeface="Symbol" pitchFamily="18" charset="2"/>
              </a:rPr>
              <a:t></a:t>
            </a:r>
            <a:r>
              <a:rPr lang="zh-CN" altLang="en-US" sz="2000" b="1" i="1" dirty="0">
                <a:solidFill>
                  <a:srgbClr val="C00000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与</a:t>
            </a:r>
            <a:r>
              <a:rPr lang="zh-CN" altLang="en-US" sz="10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rgbClr val="C00000"/>
                </a:solidFill>
                <a:ea typeface="宋体" charset="-122"/>
                <a:sym typeface="Symbol" pitchFamily="18" charset="2"/>
              </a:rPr>
              <a:t>n</a:t>
            </a:r>
            <a:r>
              <a:rPr lang="en-US" altLang="zh-CN" sz="2000" b="1" i="1" dirty="0">
                <a:solidFill>
                  <a:srgbClr val="C00000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维行向量</a:t>
            </a:r>
            <a:r>
              <a:rPr lang="zh-CN" altLang="en-US" sz="10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rgbClr val="C00000"/>
                </a:solidFill>
                <a:ea typeface="宋体" charset="-122"/>
                <a:sym typeface="Symbol" pitchFamily="18" charset="2"/>
              </a:rPr>
              <a:t></a:t>
            </a:r>
            <a:r>
              <a:rPr lang="en-US" altLang="zh-CN" b="1" baseline="30000" dirty="0">
                <a:solidFill>
                  <a:srgbClr val="C00000"/>
                </a:solidFill>
                <a:ea typeface="宋体" charset="-122"/>
                <a:sym typeface="Symbol" pitchFamily="18" charset="2"/>
              </a:rPr>
              <a:t>T</a:t>
            </a:r>
            <a:r>
              <a:rPr lang="en-US" altLang="zh-CN" sz="2000" b="1" baseline="30000" dirty="0">
                <a:solidFill>
                  <a:srgbClr val="C00000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是两个不同的向量</a:t>
            </a: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  <a:sym typeface="Symbol" pitchFamily="18" charset="2"/>
              </a:rPr>
              <a:t>.</a:t>
            </a:r>
          </a:p>
        </p:txBody>
      </p:sp>
      <p:graphicFrame>
        <p:nvGraphicFramePr>
          <p:cNvPr id="27" name="Object 5">
            <a:extLst>
              <a:ext uri="{FF2B5EF4-FFF2-40B4-BE49-F238E27FC236}">
                <a16:creationId xmlns:a16="http://schemas.microsoft.com/office/drawing/2014/main" id="{6F78B852-C541-4008-9CA4-662BC7CED1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7209567"/>
              </p:ext>
            </p:extLst>
          </p:nvPr>
        </p:nvGraphicFramePr>
        <p:xfrm>
          <a:off x="2232469" y="2876448"/>
          <a:ext cx="1358900" cy="181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58640" imgH="1815840" progId="Equation.DSMT4">
                  <p:embed/>
                </p:oleObj>
              </mc:Choice>
              <mc:Fallback>
                <p:oleObj name="Equation" r:id="rId2" imgW="1358640" imgH="1815840" progId="Equation.DSMT4">
                  <p:embed/>
                  <p:pic>
                    <p:nvPicPr>
                      <p:cNvPr id="64517" name="Object 5">
                        <a:extLst>
                          <a:ext uri="{FF2B5EF4-FFF2-40B4-BE49-F238E27FC236}">
                            <a16:creationId xmlns:a16="http://schemas.microsoft.com/office/drawing/2014/main" id="{3596196A-77AC-4935-98DF-F401F010BE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469" y="2876448"/>
                        <a:ext cx="1358900" cy="181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6">
            <a:extLst>
              <a:ext uri="{FF2B5EF4-FFF2-40B4-BE49-F238E27FC236}">
                <a16:creationId xmlns:a16="http://schemas.microsoft.com/office/drawing/2014/main" id="{5B766D00-7686-4ABA-B4F2-ADCCF43A1D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1207762"/>
              </p:ext>
            </p:extLst>
          </p:nvPr>
        </p:nvGraphicFramePr>
        <p:xfrm>
          <a:off x="4299394" y="3597173"/>
          <a:ext cx="2781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81000" imgH="507960" progId="Equation.DSMT4">
                  <p:embed/>
                </p:oleObj>
              </mc:Choice>
              <mc:Fallback>
                <p:oleObj name="Equation" r:id="rId4" imgW="2781000" imgH="507960" progId="Equation.DSMT4">
                  <p:embed/>
                  <p:pic>
                    <p:nvPicPr>
                      <p:cNvPr id="64518" name="Object 6">
                        <a:extLst>
                          <a:ext uri="{FF2B5EF4-FFF2-40B4-BE49-F238E27FC236}">
                            <a16:creationId xmlns:a16="http://schemas.microsoft.com/office/drawing/2014/main" id="{D421FAE9-A46C-4CD9-B8F3-36A193320E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9394" y="3597173"/>
                        <a:ext cx="27813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8">
            <a:extLst>
              <a:ext uri="{FF2B5EF4-FFF2-40B4-BE49-F238E27FC236}">
                <a16:creationId xmlns:a16="http://schemas.microsoft.com/office/drawing/2014/main" id="{8B47D514-57DC-450E-B3C1-BDB2881B26D9}"/>
              </a:ext>
            </a:extLst>
          </p:cNvPr>
          <p:cNvSpPr txBox="1"/>
          <p:nvPr/>
        </p:nvSpPr>
        <p:spPr>
          <a:xfrm>
            <a:off x="1515271" y="4862607"/>
            <a:ext cx="27813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n</a:t>
            </a:r>
            <a:r>
              <a:rPr lang="en-US" altLang="zh-CN" sz="2000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维列向量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910E72A-4974-494A-980D-BAD001A5B433}"/>
              </a:ext>
            </a:extLst>
          </p:cNvPr>
          <p:cNvSpPr txBox="1"/>
          <p:nvPr/>
        </p:nvSpPr>
        <p:spPr>
          <a:xfrm>
            <a:off x="4417215" y="4862607"/>
            <a:ext cx="26512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n</a:t>
            </a:r>
            <a:r>
              <a:rPr lang="en-US" altLang="zh-CN" sz="2000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维行向量</a:t>
            </a:r>
          </a:p>
        </p:txBody>
      </p:sp>
      <p:sp>
        <p:nvSpPr>
          <p:cNvPr id="18" name="Rectangle 30">
            <a:extLst>
              <a:ext uri="{FF2B5EF4-FFF2-40B4-BE49-F238E27FC236}">
                <a16:creationId xmlns:a16="http://schemas.microsoft.com/office/drawing/2014/main" id="{393EC867-48C4-4E45-B240-E8F33027A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633" y="0"/>
            <a:ext cx="6426143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有关向量组的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基本概念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25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25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build="p" autoUpdateAnimBg="0"/>
      <p:bldP spid="16" grpId="0" autoUpdateAnimBg="0"/>
      <p:bldP spid="17" grpId="0" autoUpdateAnimBg="0"/>
      <p:bldP spid="23" grpId="0" autoUpdateAnimBg="0"/>
      <p:bldP spid="26" grpId="0"/>
      <p:bldP spid="29" grpId="0"/>
      <p:bldP spid="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30">
            <a:extLst>
              <a:ext uri="{FF2B5EF4-FFF2-40B4-BE49-F238E27FC236}">
                <a16:creationId xmlns:a16="http://schemas.microsoft.com/office/drawing/2014/main" id="{412B54ED-8DE4-4867-9CC9-BAA0C8670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0"/>
            <a:ext cx="7721369" cy="4924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有关向量组的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基本概念</a:t>
            </a:r>
          </a:p>
        </p:txBody>
      </p:sp>
      <p:sp>
        <p:nvSpPr>
          <p:cNvPr id="16" name="Rectangle 36">
            <a:extLst>
              <a:ext uri="{FF2B5EF4-FFF2-40B4-BE49-F238E27FC236}">
                <a16:creationId xmlns:a16="http://schemas.microsoft.com/office/drawing/2014/main" id="{E3F30BB7-BFB4-47D1-B307-C7D84EDAF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7744" y="1737703"/>
            <a:ext cx="68504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列向量用黑体小写字母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,</a:t>
            </a:r>
            <a:r>
              <a:rPr lang="zh-CN" altLang="en-US" sz="1000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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等表示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endParaRPr lang="zh-CN" altLang="el-GR" b="1" dirty="0">
              <a:solidFill>
                <a:schemeClr val="tx1"/>
              </a:solidFill>
              <a:ea typeface="+mn-ea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17" name="Rectangle 41">
            <a:extLst>
              <a:ext uri="{FF2B5EF4-FFF2-40B4-BE49-F238E27FC236}">
                <a16:creationId xmlns:a16="http://schemas.microsoft.com/office/drawing/2014/main" id="{A3553D95-B9D9-4784-9689-4EEF10E0B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91" y="2460852"/>
            <a:ext cx="555481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行向量则用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a</a:t>
            </a:r>
            <a:r>
              <a:rPr lang="en-US" altLang="zh-CN" b="1" baseline="30000" dirty="0" err="1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T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b</a:t>
            </a:r>
            <a:r>
              <a:rPr lang="en-US" altLang="zh-CN" b="1" baseline="30000" dirty="0" err="1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T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</a:t>
            </a:r>
            <a:r>
              <a:rPr lang="en-US" altLang="zh-CN" b="1" baseline="30000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T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sz="1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baseline="30000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T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等表示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  <a:endParaRPr lang="zh-CN" altLang="el-GR" b="1" dirty="0">
              <a:solidFill>
                <a:schemeClr val="tx1"/>
              </a:solidFill>
              <a:ea typeface="+mn-ea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19" name="Rectangle 56">
            <a:extLst>
              <a:ext uri="{FF2B5EF4-FFF2-40B4-BE49-F238E27FC236}">
                <a16:creationId xmlns:a16="http://schemas.microsoft.com/office/drawing/2014/main" id="{D332FBFE-CA33-402A-AB6C-E5214E954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104" y="2458891"/>
            <a:ext cx="3406894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所讨论的向量在没</a:t>
            </a:r>
            <a:endParaRPr lang="zh-CN" altLang="el-GR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1" name="Rectangle 57">
            <a:extLst>
              <a:ext uri="{FF2B5EF4-FFF2-40B4-BE49-F238E27FC236}">
                <a16:creationId xmlns:a16="http://schemas.microsoft.com/office/drawing/2014/main" id="{F51AE69E-5264-4B65-8527-A6059A9D5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6096" y="3174799"/>
            <a:ext cx="3704497" cy="51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都当作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列向量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处理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l-GR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7" name="Text Box 4">
            <a:extLst>
              <a:ext uri="{FF2B5EF4-FFF2-40B4-BE49-F238E27FC236}">
                <a16:creationId xmlns:a16="http://schemas.microsoft.com/office/drawing/2014/main" id="{BE0C6FA6-2938-48CC-90A0-8098C4B8A9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156" y="1013899"/>
            <a:ext cx="513884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列向量与行向量的记法</a:t>
            </a:r>
          </a:p>
        </p:txBody>
      </p:sp>
      <p:sp>
        <p:nvSpPr>
          <p:cNvPr id="2" name="Rectangle 36">
            <a:extLst>
              <a:ext uri="{FF2B5EF4-FFF2-40B4-BE49-F238E27FC236}">
                <a16:creationId xmlns:a16="http://schemas.microsoft.com/office/drawing/2014/main" id="{B68728E7-977A-DC10-FB4F-92B45A610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5" y="1734791"/>
            <a:ext cx="19854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本书中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endParaRPr lang="zh-CN" altLang="el-GR" b="1" dirty="0">
              <a:solidFill>
                <a:schemeClr val="tx1"/>
              </a:solidFill>
              <a:ea typeface="+mn-ea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4" name="Rectangle 56">
            <a:extLst>
              <a:ext uri="{FF2B5EF4-FFF2-40B4-BE49-F238E27FC236}">
                <a16:creationId xmlns:a16="http://schemas.microsoft.com/office/drawing/2014/main" id="{E37BB9D3-643D-245A-31F6-D79D6DB26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159" y="3184001"/>
            <a:ext cx="57927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有指明是行向量还是列向量时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l-GR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75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utoUpdateAnimBg="0"/>
      <p:bldP spid="17" grpId="0" autoUpdateAnimBg="0"/>
      <p:bldP spid="19" grpId="0" autoUpdateAnimBg="0"/>
      <p:bldP spid="21" grpId="0"/>
      <p:bldP spid="27" grpId="0"/>
      <p:bldP spid="2" grpId="0" autoUpdateAnimBg="0"/>
      <p:bldP spid="4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30">
            <a:extLst>
              <a:ext uri="{FF2B5EF4-FFF2-40B4-BE49-F238E27FC236}">
                <a16:creationId xmlns:a16="http://schemas.microsoft.com/office/drawing/2014/main" id="{03EAF562-7BD4-4DC5-BAD0-6837B957D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11175"/>
            <a:ext cx="7721369" cy="4924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有关向量组的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基本概念</a:t>
            </a: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88F0E49B-6C25-4FF0-8774-5F22F48EF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692696"/>
            <a:ext cx="655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我们把</a:t>
            </a: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二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维向量的全体所组成的集合</a:t>
            </a: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9E1C79FB-C76C-43BA-90D0-3F51A2904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365172"/>
            <a:ext cx="57594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R</a:t>
            </a:r>
            <a:r>
              <a:rPr lang="en-US" altLang="zh-CN" b="1" baseline="30000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2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{</a:t>
            </a:r>
            <a:r>
              <a:rPr lang="en-US" altLang="zh-CN" b="1" i="1" dirty="0" err="1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r</a:t>
            </a:r>
            <a:r>
              <a:rPr lang="en-US" altLang="zh-CN" b="1" baseline="30000" dirty="0" err="1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T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|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y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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R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}</a:t>
            </a: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668DB9F5-BCC6-45B3-BD6E-5180C76F0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521" y="2085533"/>
            <a:ext cx="40528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叫作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二维向量空间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8" name="Rectangle 8">
            <a:extLst>
              <a:ext uri="{FF2B5EF4-FFF2-40B4-BE49-F238E27FC236}">
                <a16:creationId xmlns:a16="http://schemas.microsoft.com/office/drawing/2014/main" id="{3D3BA7FF-D4F8-4B2B-9168-786058532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1046" y="2085533"/>
            <a:ext cx="44354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在点空间取定坐标以后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b="1" dirty="0">
                <a:solidFill>
                  <a:schemeClr val="tx1"/>
                </a:solidFill>
                <a:latin typeface="+mn-lt"/>
                <a:ea typeface="华文中宋" pitchFamily="2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 </a:t>
            </a:r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1586352B-45A1-423D-948C-4AB9A79DB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75" y="2853283"/>
            <a:ext cx="79946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平面中的点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P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与</a:t>
            </a: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二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维向量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r</a:t>
            </a:r>
            <a:r>
              <a:rPr lang="en-US" altLang="zh-CN" b="1" baseline="30000" dirty="0" err="1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T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)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之间有</a:t>
            </a:r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7556FFB1-CDBC-41A0-A7DA-651E4C34D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75" y="3574008"/>
            <a:ext cx="37655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一一对应的关系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b="1" dirty="0">
                <a:solidFill>
                  <a:schemeClr val="tx1"/>
                </a:solidFill>
                <a:latin typeface="+mn-lt"/>
                <a:ea typeface="华文中宋" pitchFamily="2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 </a:t>
            </a:r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9757F7B9-FE94-4C5C-993D-E8CA0862A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63" y="4293146"/>
            <a:ext cx="44640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取定了坐标的点空间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</a:p>
        </p:txBody>
      </p:sp>
      <p:sp>
        <p:nvSpPr>
          <p:cNvPr id="22" name="Rectangle 15">
            <a:extLst>
              <a:ext uri="{FF2B5EF4-FFF2-40B4-BE49-F238E27FC236}">
                <a16:creationId xmlns:a16="http://schemas.microsoft.com/office/drawing/2014/main" id="{4FE276AB-6602-4C5A-B4A1-EBE1B2E0D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425" y="3574008"/>
            <a:ext cx="15128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因此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7" name="Rectangle 15">
            <a:extLst>
              <a:ext uri="{FF2B5EF4-FFF2-40B4-BE49-F238E27FC236}">
                <a16:creationId xmlns:a16="http://schemas.microsoft.com/office/drawing/2014/main" id="{5929C85A-3C17-44C7-8F75-C7D15E4BC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513" y="3574008"/>
            <a:ext cx="41036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向量空间可以类比为</a:t>
            </a:r>
          </a:p>
        </p:txBody>
      </p:sp>
      <p:sp>
        <p:nvSpPr>
          <p:cNvPr id="2" name="Rectangle 15">
            <a:extLst>
              <a:ext uri="{FF2B5EF4-FFF2-40B4-BE49-F238E27FC236}">
                <a16:creationId xmlns:a16="http://schemas.microsoft.com/office/drawing/2014/main" id="{7091F3BF-5079-0D9C-AE6E-2BF6755E2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8201" y="4293145"/>
            <a:ext cx="2772071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如图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3-2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所示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6283F9B-AF50-8B8C-F753-9E1A73B1F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5012282"/>
            <a:ext cx="57594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类似地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可定义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三维向量空间</a:t>
            </a: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为</a:t>
            </a:r>
            <a:endParaRPr lang="en-US" altLang="zh-CN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BF1D76B-A2C3-E3D4-8A2A-97B489F4C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641" y="5638098"/>
            <a:ext cx="504056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R</a:t>
            </a:r>
            <a:r>
              <a:rPr lang="en-US" altLang="zh-CN" b="1" baseline="30000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3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{</a:t>
            </a:r>
            <a:r>
              <a:rPr lang="en-US" altLang="zh-CN" b="1" i="1" dirty="0" err="1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r</a:t>
            </a:r>
            <a:r>
              <a:rPr lang="en-US" altLang="zh-CN" b="1" baseline="30000" dirty="0" err="1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T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z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|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z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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R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},</a:t>
            </a: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140D5C59-6E8C-0614-A6F0-0AA588D78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5037" y="5638097"/>
            <a:ext cx="2966739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如图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3-3</a:t>
            </a:r>
            <a:r>
              <a:rPr lang="en-US" altLang="zh-CN" sz="16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所示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7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25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75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75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utoUpdateAnimBg="0"/>
      <p:bldP spid="16" grpId="0"/>
      <p:bldP spid="17" grpId="0" autoUpdateAnimBg="0"/>
      <p:bldP spid="18" grpId="0" autoUpdateAnimBg="0"/>
      <p:bldP spid="19" grpId="0" autoUpdateAnimBg="0"/>
      <p:bldP spid="20" grpId="0" autoUpdateAnimBg="0"/>
      <p:bldP spid="21" grpId="0" autoUpdateAnimBg="0"/>
      <p:bldP spid="22" grpId="0" autoUpdateAnimBg="0"/>
      <p:bldP spid="37" grpId="0" autoUpdateAnimBg="0"/>
      <p:bldP spid="2" grpId="0" autoUpdateAnimBg="0"/>
      <p:bldP spid="4" grpId="0" autoUpdateAnimBg="0"/>
      <p:bldP spid="5" grpId="0"/>
      <p:bldP spid="6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5B1C419-F0AA-23FC-BA84-03AB841D21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85" y="771807"/>
            <a:ext cx="8469429" cy="2693732"/>
          </a:xfrm>
          <a:prstGeom prst="rect">
            <a:avLst/>
          </a:prstGeom>
        </p:spPr>
      </p:pic>
      <p:sp>
        <p:nvSpPr>
          <p:cNvPr id="20" name="Rectangle 30">
            <a:extLst>
              <a:ext uri="{FF2B5EF4-FFF2-40B4-BE49-F238E27FC236}">
                <a16:creationId xmlns:a16="http://schemas.microsoft.com/office/drawing/2014/main" id="{95EA30B3-6002-4775-B0F6-0EDE7563E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416" y="0"/>
            <a:ext cx="5777153" cy="4924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有关向量组的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基本概念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A34E7EF-E0FD-4138-BF68-86326A9FA462}"/>
              </a:ext>
            </a:extLst>
          </p:cNvPr>
          <p:cNvSpPr txBox="1"/>
          <p:nvPr/>
        </p:nvSpPr>
        <p:spPr>
          <a:xfrm>
            <a:off x="2051720" y="3176359"/>
            <a:ext cx="1728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图 </a:t>
            </a:r>
            <a:r>
              <a:rPr lang="en-US" altLang="zh-CN" sz="20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0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lang="en-US" altLang="zh-CN" sz="20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endParaRPr lang="zh-CN" altLang="en-US" sz="2000" b="1" kern="100" dirty="0">
              <a:effectLst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" name="Rectangle 31">
            <a:extLst>
              <a:ext uri="{FF2B5EF4-FFF2-40B4-BE49-F238E27FC236}">
                <a16:creationId xmlns:a16="http://schemas.microsoft.com/office/drawing/2014/main" id="{8F8E1D9E-CE98-43EF-B5B6-256F06A07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3861048"/>
            <a:ext cx="1986074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一般地</a:t>
            </a:r>
            <a:r>
              <a:rPr lang="en-US" altLang="zh-CN" b="1" dirty="0">
                <a:solidFill>
                  <a:schemeClr val="tx1"/>
                </a:solidFill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</a:rPr>
              <a:t> 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5" name="Rectangle 32">
            <a:extLst>
              <a:ext uri="{FF2B5EF4-FFF2-40B4-BE49-F238E27FC236}">
                <a16:creationId xmlns:a16="http://schemas.microsoft.com/office/drawing/2014/main" id="{712D070E-3351-49B7-A734-334A63035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1" y="4570357"/>
            <a:ext cx="6624736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chemeClr val="tx1"/>
                </a:solidFill>
              </a:rPr>
              <a:t>R</a:t>
            </a:r>
            <a:r>
              <a:rPr lang="en-US" altLang="zh-CN" b="1" i="1" baseline="30000" dirty="0">
                <a:solidFill>
                  <a:schemeClr val="tx1"/>
                </a:solidFill>
              </a:rPr>
              <a:t>n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{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r</a:t>
            </a:r>
            <a:r>
              <a:rPr lang="en-US" altLang="zh-CN" b="1" baseline="30000" dirty="0" err="1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T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</a:rPr>
              <a:t>x</a:t>
            </a:r>
            <a:r>
              <a:rPr lang="en-US" altLang="zh-CN" b="1" i="1" baseline="-25000" dirty="0" err="1">
                <a:solidFill>
                  <a:schemeClr val="tx1"/>
                </a:solidFill>
              </a:rPr>
              <a:t>n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|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</a:rPr>
              <a:t>x</a:t>
            </a:r>
            <a:r>
              <a:rPr lang="en-US" altLang="zh-CN" b="1" i="1" baseline="-25000" dirty="0" err="1">
                <a:solidFill>
                  <a:schemeClr val="tx1"/>
                </a:solidFill>
              </a:rPr>
              <a:t>n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R</a:t>
            </a:r>
            <a:r>
              <a:rPr lang="en-US" altLang="zh-CN" sz="1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}</a:t>
            </a:r>
          </a:p>
        </p:txBody>
      </p:sp>
      <p:sp>
        <p:nvSpPr>
          <p:cNvPr id="36" name="Rectangle 33">
            <a:extLst>
              <a:ext uri="{FF2B5EF4-FFF2-40B4-BE49-F238E27FC236}">
                <a16:creationId xmlns:a16="http://schemas.microsoft.com/office/drawing/2014/main" id="{3FE0BAE6-34FC-4560-BA75-25A22951E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74" y="5279666"/>
            <a:ext cx="369700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叫作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000" b="1" i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维向量空间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. </a:t>
            </a:r>
          </a:p>
        </p:txBody>
      </p:sp>
      <p:sp>
        <p:nvSpPr>
          <p:cNvPr id="37" name="Rectangle 31">
            <a:extLst>
              <a:ext uri="{FF2B5EF4-FFF2-40B4-BE49-F238E27FC236}">
                <a16:creationId xmlns:a16="http://schemas.microsoft.com/office/drawing/2014/main" id="{DFDF9DE6-3253-486B-B672-91D291A48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7924" y="3861048"/>
            <a:ext cx="55800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chemeClr val="tx1"/>
                </a:solidFill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维向量的全体所组成的集合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10529AD-56C7-EA19-2C50-A28B6CA96047}"/>
              </a:ext>
            </a:extLst>
          </p:cNvPr>
          <p:cNvSpPr txBox="1"/>
          <p:nvPr/>
        </p:nvSpPr>
        <p:spPr>
          <a:xfrm>
            <a:off x="6660232" y="3176359"/>
            <a:ext cx="15121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图 </a:t>
            </a:r>
            <a:r>
              <a:rPr lang="en-US" altLang="zh-CN" sz="20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0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lang="en-US" altLang="zh-CN" sz="20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3</a:t>
            </a:r>
            <a:endParaRPr lang="zh-CN" altLang="en-US" sz="2000" b="1" kern="100" dirty="0">
              <a:effectLst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utoUpdateAnimBg="0"/>
      <p:bldP spid="35" grpId="0"/>
      <p:bldP spid="36" grpId="0" autoUpdateAnimBg="0"/>
      <p:bldP spid="37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0">
            <a:extLst>
              <a:ext uri="{FF2B5EF4-FFF2-40B4-BE49-F238E27FC236}">
                <a16:creationId xmlns:a16="http://schemas.microsoft.com/office/drawing/2014/main" id="{95EA30B3-6002-4775-B0F6-0EDE7563E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421" y="-1582"/>
            <a:ext cx="5849161" cy="4924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有关向量组的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基本概念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86F909F-D8F8-4F8D-B6BF-61A0B07CB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8479" y="692696"/>
            <a:ext cx="316835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CC0000"/>
                </a:solidFill>
                <a:ea typeface="华文中宋" panose="02010600040101010101" pitchFamily="2" charset="-122"/>
              </a:rPr>
              <a:t>向量组的定义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7B48F7A3-A5AD-418D-A8F1-B7D31BEF44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051" y="5324271"/>
            <a:ext cx="88201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就是一个由</a:t>
            </a:r>
            <a:r>
              <a:rPr lang="zh-CN" altLang="en-US" sz="1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4</a:t>
            </a:r>
            <a:r>
              <a:rPr lang="en-US" altLang="zh-CN" sz="1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个</a:t>
            </a:r>
            <a:r>
              <a:rPr lang="zh-CN" altLang="en-US" sz="1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三</a:t>
            </a:r>
            <a:r>
              <a:rPr lang="en-US" altLang="zh-CN" sz="1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维列向量</a:t>
            </a:r>
            <a:r>
              <a:rPr lang="zh-CN" altLang="en-US" sz="1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4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构成的向量组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.</a:t>
            </a:r>
            <a:endParaRPr lang="zh-CN" altLang="en-US" b="1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F8F591-4673-4AF7-8321-7FDA810A9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342" y="1411834"/>
            <a:ext cx="1893296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定义</a:t>
            </a:r>
            <a:r>
              <a:rPr lang="zh-CN" altLang="en-US" sz="20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华文中宋" pitchFamily="2" charset="-122"/>
                <a:cs typeface="Times New Roman" panose="02020603050405020304" pitchFamily="18" charset="0"/>
              </a:rPr>
              <a:t>3.4</a:t>
            </a:r>
            <a:endParaRPr lang="zh-CN" altLang="en-US" b="1" dirty="0">
              <a:cs typeface="Times New Roman" panose="02020603050405020304" pitchFamily="18" charset="0"/>
            </a:endParaRP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A6849B14-19E9-45B2-9C08-095DBD965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051" y="4069598"/>
            <a:ext cx="13668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例如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AB01107D-CC33-40B2-9EE5-77550F1C24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300" y="2130971"/>
            <a:ext cx="4728866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所组成的集合叫作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向量组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solidFill>
                <a:srgbClr val="0000FF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2">
            <a:extLst>
              <a:ext uri="{FF2B5EF4-FFF2-40B4-BE49-F238E27FC236}">
                <a16:creationId xmlns:a16="http://schemas.microsoft.com/office/drawing/2014/main" id="{262C94D9-CCDD-47AA-995E-B43F72523B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6059467"/>
              </p:ext>
            </p:extLst>
          </p:nvPr>
        </p:nvGraphicFramePr>
        <p:xfrm>
          <a:off x="1673279" y="3584195"/>
          <a:ext cx="5930900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930640" imgH="1562040" progId="Equation.DSMT4">
                  <p:embed/>
                </p:oleObj>
              </mc:Choice>
              <mc:Fallback>
                <p:oleObj name="Equation" r:id="rId2" imgW="5930640" imgH="1562040" progId="Equation.DSMT4">
                  <p:embed/>
                  <p:pic>
                    <p:nvPicPr>
                      <p:cNvPr id="2" name="Object 2">
                        <a:extLst>
                          <a:ext uri="{FF2B5EF4-FFF2-40B4-BE49-F238E27FC236}">
                            <a16:creationId xmlns:a16="http://schemas.microsoft.com/office/drawing/2014/main" id="{EBB05A7E-2548-4C9C-AB26-4B14088583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3279" y="3584195"/>
                        <a:ext cx="5930900" cy="156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7">
            <a:extLst>
              <a:ext uri="{FF2B5EF4-FFF2-40B4-BE49-F238E27FC236}">
                <a16:creationId xmlns:a16="http://schemas.microsoft.com/office/drawing/2014/main" id="{5AAFAAD5-51DE-4C15-B5F9-9E2530FA3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0887" y="2132886"/>
            <a:ext cx="449999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向量组的一部分叫作向量</a:t>
            </a:r>
            <a:endParaRPr lang="en-US" altLang="zh-CN" b="1" dirty="0">
              <a:solidFill>
                <a:srgbClr val="0000FF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317E941E-A9CC-4315-A2F3-3E2B73FB2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8598" y="1411834"/>
            <a:ext cx="709228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若干个同维数的列向量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或同维数的行向量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</a:rPr>
              <a:t>)</a:t>
            </a:r>
          </a:p>
        </p:txBody>
      </p:sp>
      <p:sp>
        <p:nvSpPr>
          <p:cNvPr id="2" name="Rectangle 17">
            <a:extLst>
              <a:ext uri="{FF2B5EF4-FFF2-40B4-BE49-F238E27FC236}">
                <a16:creationId xmlns:a16="http://schemas.microsoft.com/office/drawing/2014/main" id="{21C8FEDD-523D-CFEF-B394-6693C666F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300" y="2842844"/>
            <a:ext cx="264140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组的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部分组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524297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7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25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 autoUpdateAnimBg="0"/>
      <p:bldP spid="7" grpId="0" build="p" autoUpdateAnimBg="0"/>
      <p:bldP spid="8" grpId="0" build="p" autoUpdateAnimBg="0"/>
      <p:bldP spid="9" grpId="0" build="p" autoUpdateAnimBg="0"/>
      <p:bldP spid="11" grpId="0"/>
      <p:bldP spid="12" grpId="0" build="p" autoUpdateAnimBg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0">
            <a:extLst>
              <a:ext uri="{FF2B5EF4-FFF2-40B4-BE49-F238E27FC236}">
                <a16:creationId xmlns:a16="http://schemas.microsoft.com/office/drawing/2014/main" id="{95EA30B3-6002-4775-B0F6-0EDE7563E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209" y="0"/>
            <a:ext cx="5849161" cy="4924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有关向量组的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基本概念</a:t>
            </a: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C1036E84-527E-429E-8692-5BD3D320E3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620688"/>
            <a:ext cx="4084539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矩阵与向量组的关系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E297DD7E-3445-456A-8D3F-55CAECFAF5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5027905"/>
            <a:ext cx="13684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若令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06ED9833-14B6-4C45-8C4E-8E74EC0320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1288471"/>
            <a:ext cx="415654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对于一个</a:t>
            </a:r>
            <a:r>
              <a:rPr lang="zh-CN" altLang="en-US" sz="2000" b="1" i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+mn-ea"/>
                <a:cs typeface="Times New Roman" pitchFamily="18" charset="0"/>
              </a:rPr>
              <a:t>m</a:t>
            </a:r>
            <a:r>
              <a:rPr lang="en-US" altLang="zh-CN" b="1" dirty="0" err="1">
                <a:solidFill>
                  <a:schemeClr val="tx1"/>
                </a:solidFill>
                <a:ea typeface="+mn-ea"/>
                <a:cs typeface="Times New Roman" pitchFamily="18" charset="0"/>
              </a:rPr>
              <a:t>×</a:t>
            </a:r>
            <a:r>
              <a:rPr lang="en-US" altLang="zh-CN" b="1" i="1" dirty="0" err="1">
                <a:solidFill>
                  <a:schemeClr val="tx1"/>
                </a:solidFill>
                <a:ea typeface="+mn-ea"/>
                <a:cs typeface="Times New Roman" pitchFamily="18" charset="0"/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矩阵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graphicFrame>
        <p:nvGraphicFramePr>
          <p:cNvPr id="8" name="Object 1">
            <a:extLst>
              <a:ext uri="{FF2B5EF4-FFF2-40B4-BE49-F238E27FC236}">
                <a16:creationId xmlns:a16="http://schemas.microsoft.com/office/drawing/2014/main" id="{3922B637-3B8E-424D-9E10-5827A8C926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7356199"/>
              </p:ext>
            </p:extLst>
          </p:nvPr>
        </p:nvGraphicFramePr>
        <p:xfrm>
          <a:off x="2520083" y="1940468"/>
          <a:ext cx="4064000" cy="209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63680" imgH="2095200" progId="Equation.DSMT4">
                  <p:embed/>
                </p:oleObj>
              </mc:Choice>
              <mc:Fallback>
                <p:oleObj name="Equation" r:id="rId2" imgW="4063680" imgH="2095200" progId="Equation.DSMT4">
                  <p:embed/>
                  <p:pic>
                    <p:nvPicPr>
                      <p:cNvPr id="7" name="Object 1">
                        <a:extLst>
                          <a:ext uri="{FF2B5EF4-FFF2-40B4-BE49-F238E27FC236}">
                            <a16:creationId xmlns:a16="http://schemas.microsoft.com/office/drawing/2014/main" id="{9A0E3DFE-E51F-4EC2-B3D7-9116060072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0083" y="1940468"/>
                        <a:ext cx="4064000" cy="209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>
            <a:extLst>
              <a:ext uri="{FF2B5EF4-FFF2-40B4-BE49-F238E27FC236}">
                <a16:creationId xmlns:a16="http://schemas.microsoft.com/office/drawing/2014/main" id="{19352F47-C799-7899-0250-15CEE66C08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066717"/>
              </p:ext>
            </p:extLst>
          </p:nvPr>
        </p:nvGraphicFramePr>
        <p:xfrm>
          <a:off x="2532783" y="4303211"/>
          <a:ext cx="4038600" cy="196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38480" imgH="1968480" progId="Equation.DSMT4">
                  <p:embed/>
                </p:oleObj>
              </mc:Choice>
              <mc:Fallback>
                <p:oleObj name="Equation" r:id="rId4" imgW="4038480" imgH="1968480" progId="Equation.DSMT4">
                  <p:embed/>
                  <p:pic>
                    <p:nvPicPr>
                      <p:cNvPr id="24" name="Object 5">
                        <a:extLst>
                          <a:ext uri="{FF2B5EF4-FFF2-40B4-BE49-F238E27FC236}">
                            <a16:creationId xmlns:a16="http://schemas.microsoft.com/office/drawing/2014/main" id="{3781F71B-5402-D48F-B436-6043DD216F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2783" y="4303211"/>
                        <a:ext cx="4038600" cy="196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53355732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7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75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  <p:bldP spid="6" grpId="0" build="p" autoUpdateAnimBg="0"/>
      <p:bldP spid="7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Box 2">
            <a:extLst>
              <a:ext uri="{FF2B5EF4-FFF2-40B4-BE49-F238E27FC236}">
                <a16:creationId xmlns:a16="http://schemas.microsoft.com/office/drawing/2014/main" id="{1DC3E154-72F8-4A2D-8BC3-41D0C177A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908720"/>
            <a:ext cx="53181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则矩阵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000" b="1" i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</a:t>
            </a:r>
            <a:r>
              <a:rPr lang="zh-CN" altLang="en-US" sz="2000" b="1" i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维列向量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</a:rPr>
              <a:t>,</a:t>
            </a:r>
            <a:endParaRPr lang="en-US" altLang="zh-CN" b="1" dirty="0">
              <a:solidFill>
                <a:schemeClr val="tx1"/>
              </a:solidFill>
              <a:ea typeface="华文中宋" panose="020106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0" name="Rectangle 30">
            <a:extLst>
              <a:ext uri="{FF2B5EF4-FFF2-40B4-BE49-F238E27FC236}">
                <a16:creationId xmlns:a16="http://schemas.microsoft.com/office/drawing/2014/main" id="{95EA30B3-6002-4775-B0F6-0EDE7563E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025" y="10600"/>
            <a:ext cx="6137193" cy="4924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有关向量组的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基本概念</a:t>
            </a: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A4BD8825-A751-48B8-887F-4F138ED4B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300" y="3799310"/>
            <a:ext cx="52562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i="1" baseline="-25000" dirty="0" err="1">
                <a:solidFill>
                  <a:schemeClr val="tx1"/>
                </a:solidFill>
                <a:ea typeface="宋体" charset="-122"/>
                <a:sym typeface="Symbol" pitchFamily="18" charset="2"/>
              </a:rPr>
              <a:t>m</a:t>
            </a:r>
            <a:r>
              <a:rPr lang="en-US" altLang="zh-CN" b="1" baseline="30000" dirty="0" err="1">
                <a:solidFill>
                  <a:schemeClr val="tx1"/>
                </a:solidFill>
                <a:ea typeface="宋体" charset="-122"/>
                <a:sym typeface="Symbol" pitchFamily="18" charset="2"/>
              </a:rPr>
              <a:t>T</a:t>
            </a:r>
            <a:r>
              <a:rPr lang="en-US" altLang="zh-CN" b="1" baseline="30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称为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矩阵</a:t>
            </a:r>
            <a:r>
              <a:rPr lang="zh-CN" altLang="en-US" sz="20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A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的行向量组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  <a:sym typeface="Symbol" pitchFamily="18" charset="2"/>
              </a:rPr>
              <a:t>.</a:t>
            </a: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C4D4487C-F974-4656-A7A4-8F1B0AAF6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2373372"/>
            <a:ext cx="7560839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若令   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 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i="1" baseline="-25000" dirty="0" err="1">
                <a:solidFill>
                  <a:schemeClr val="tx1"/>
                </a:solidFill>
                <a:sym typeface="Symbol" panose="05050102010706020507" pitchFamily="18" charset="2"/>
              </a:rPr>
              <a:t>i</a:t>
            </a:r>
            <a:r>
              <a:rPr lang="en-US" altLang="zh-CN" b="1" baseline="30000" dirty="0" err="1">
                <a:solidFill>
                  <a:schemeClr val="tx1"/>
                </a:solidFill>
                <a:sym typeface="Symbol" panose="05050102010706020507" pitchFamily="18" charset="2"/>
              </a:rPr>
              <a:t>T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en-US" altLang="zh-CN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i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en-US" altLang="zh-CN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i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en-US" altLang="zh-CN" b="1" i="1" baseline="-25000" dirty="0" err="1">
                <a:solidFill>
                  <a:schemeClr val="tx1"/>
                </a:solidFill>
                <a:sym typeface="Symbol" panose="05050102010706020507" pitchFamily="18" charset="2"/>
              </a:rPr>
              <a:t>in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   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zh-CN" b="1" i="1" dirty="0" err="1">
                <a:solidFill>
                  <a:schemeClr val="tx1"/>
                </a:solidFill>
                <a:sym typeface="Symbol" panose="05050102010706020507" pitchFamily="18" charset="2"/>
              </a:rPr>
              <a:t>i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1,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2,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m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),</a:t>
            </a:r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26F39F17-9715-4338-8685-79BA1DA1D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1650852"/>
            <a:ext cx="467369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称为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矩阵</a:t>
            </a:r>
            <a:r>
              <a:rPr lang="zh-CN" altLang="en-US" sz="20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A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的列向量组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  <a:sym typeface="Symbol" pitchFamily="18" charset="2"/>
              </a:rPr>
              <a:t>.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ea typeface="+mn-ea"/>
                <a:sym typeface="Symbol" pitchFamily="18" charset="2"/>
              </a:rPr>
              <a:t>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964B7B-280D-41EE-81F4-FDC38F25B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6089" y="908719"/>
            <a:ext cx="3522636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向量组</a:t>
            </a:r>
            <a:r>
              <a:rPr lang="zh-CN" altLang="en-US" sz="1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18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6FB55914-4177-4A7E-8AC5-BD12265CB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6089" y="3086341"/>
            <a:ext cx="3522636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向量组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1</a:t>
            </a:r>
            <a:r>
              <a:rPr lang="en-US" altLang="zh-CN" b="1" baseline="30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T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2</a:t>
            </a:r>
            <a:r>
              <a:rPr lang="en-US" altLang="zh-CN" b="1" baseline="30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T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8" name="Rectangle 10">
            <a:extLst>
              <a:ext uri="{FF2B5EF4-FFF2-40B4-BE49-F238E27FC236}">
                <a16:creationId xmlns:a16="http://schemas.microsoft.com/office/drawing/2014/main" id="{FCF27B90-E80F-4EFC-9B90-F65C947FE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300" y="3086341"/>
            <a:ext cx="525621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则矩阵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有</a:t>
            </a:r>
            <a:r>
              <a:rPr lang="zh-CN" altLang="en-US" sz="2000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m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个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维行向量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1F811208-1D8B-0862-328D-75614E4890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5297888"/>
            <a:ext cx="223224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一个矩阵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lang="en-US" altLang="zh-CN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982BB2BE-D490-839E-2708-CE3489B40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1" y="4550993"/>
            <a:ext cx="144016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反之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, </a:t>
            </a:r>
            <a:endParaRPr lang="zh-CN" altLang="en-US" b="1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  <a:sym typeface="Symbol" pitchFamily="18" charset="2"/>
            </a:endParaRP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9F116B9-E2DD-9AED-ACF8-6B40C77A6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3728" y="4550993"/>
            <a:ext cx="683499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由有限个向量所组成的向量组可以构成</a:t>
            </a:r>
          </a:p>
        </p:txBody>
      </p:sp>
    </p:spTree>
    <p:extLst>
      <p:ext uri="{BB962C8B-B14F-4D97-AF65-F5344CB8AC3E}">
        <p14:creationId xmlns:p14="http://schemas.microsoft.com/office/powerpoint/2010/main" val="4113402123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7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75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75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25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2" grpId="0" build="p" autoUpdateAnimBg="0" advAuto="0"/>
      <p:bldP spid="13" grpId="0" build="p" autoUpdateAnimBg="0" advAuto="1000"/>
      <p:bldP spid="14" grpId="0" build="p" autoUpdateAnimBg="0" advAuto="0"/>
      <p:bldP spid="15" grpId="0" build="p" autoUpdateAnimBg="0"/>
      <p:bldP spid="16" grpId="0" build="p" autoUpdateAnimBg="0" advAuto="0"/>
      <p:bldP spid="28" grpId="0"/>
      <p:bldP spid="2" grpId="0" build="p" autoUpdateAnimBg="0" advAuto="0"/>
      <p:bldP spid="3" grpId="0" build="p" autoUpdateAnimBg="0"/>
      <p:bldP spid="4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0">
            <a:extLst>
              <a:ext uri="{FF2B5EF4-FFF2-40B4-BE49-F238E27FC236}">
                <a16:creationId xmlns:a16="http://schemas.microsoft.com/office/drawing/2014/main" id="{95EA30B3-6002-4775-B0F6-0EDE7563E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91"/>
            <a:ext cx="6137193" cy="4924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有关向量组的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基本概念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9B8B0B2-DCE9-4E39-A02E-9642973D5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707" y="1700808"/>
            <a:ext cx="821626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n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可以构成一个</a:t>
            </a:r>
            <a:r>
              <a:rPr lang="zh-CN" altLang="en-US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</a:rPr>
              <a:t>m</a:t>
            </a:r>
            <a:r>
              <a:rPr lang="en-US" altLang="zh-CN" sz="2600" b="1" dirty="0" err="1">
                <a:solidFill>
                  <a:schemeClr val="tx1"/>
                </a:solidFill>
              </a:rPr>
              <a:t>×</a:t>
            </a:r>
            <a:r>
              <a:rPr lang="en-US" altLang="zh-CN" b="1" i="1" dirty="0" err="1">
                <a:solidFill>
                  <a:schemeClr val="tx1"/>
                </a:solidFill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矩阵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).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20599D9-0813-4DAF-8BA7-D47E63D909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736" y="980728"/>
            <a:ext cx="675523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个</a:t>
            </a:r>
            <a:r>
              <a:rPr lang="zh-CN" altLang="en-US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m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维列向量所组成的向量组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endParaRPr lang="en-US" altLang="zh-CN" b="1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A0EB5412-E20B-49B5-A313-B5C4C9086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980728"/>
            <a:ext cx="14398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例如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: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2D32D213-D461-73B6-F01B-44A19847A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2424996"/>
            <a:ext cx="1584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同理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  <a:r>
              <a:rPr lang="en-US" altLang="zh-CN" b="1" i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endParaRPr lang="en-US" altLang="zh-CN" b="1" baseline="30000" dirty="0">
              <a:solidFill>
                <a:schemeClr val="tx1"/>
              </a:solidFill>
              <a:ea typeface="+mn-ea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4B21A81-0AE9-62A1-3EB5-FD6929255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707" y="3145077"/>
            <a:ext cx="6501589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i="1" baseline="-25000" dirty="0" err="1">
                <a:solidFill>
                  <a:schemeClr val="tx1"/>
                </a:solidFill>
                <a:sym typeface="Symbol" panose="05050102010706020507" pitchFamily="18" charset="2"/>
              </a:rPr>
              <a:t>m</a:t>
            </a:r>
            <a:r>
              <a:rPr lang="en-US" altLang="zh-CN" b="1" baseline="30000" dirty="0" err="1">
                <a:solidFill>
                  <a:schemeClr val="tx1"/>
                </a:solidFill>
                <a:sym typeface="Symbol" panose="05050102010706020507" pitchFamily="18" charset="2"/>
              </a:rPr>
              <a:t>T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也可以构成一个</a:t>
            </a:r>
            <a:r>
              <a:rPr lang="zh-CN" altLang="en-US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</a:rPr>
              <a:t>m</a:t>
            </a:r>
            <a:r>
              <a:rPr lang="en-US" altLang="zh-CN" sz="2600" b="1" dirty="0" err="1">
                <a:solidFill>
                  <a:schemeClr val="tx1"/>
                </a:solidFill>
              </a:rPr>
              <a:t>×</a:t>
            </a:r>
            <a:r>
              <a:rPr lang="en-US" altLang="zh-CN" b="1" i="1" dirty="0" err="1">
                <a:solidFill>
                  <a:schemeClr val="tx1"/>
                </a:solidFill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矩阵</a:t>
            </a:r>
          </a:p>
        </p:txBody>
      </p:sp>
      <p:sp>
        <p:nvSpPr>
          <p:cNvPr id="17" name="Text Box 2">
            <a:extLst>
              <a:ext uri="{FF2B5EF4-FFF2-40B4-BE49-F238E27FC236}">
                <a16:creationId xmlns:a16="http://schemas.microsoft.com/office/drawing/2014/main" id="{BC713B17-BE68-EBB7-927A-6172077C0A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100" y="2424996"/>
            <a:ext cx="69135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m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个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n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维行向量所组成的向量组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b="1" baseline="30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T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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2</a:t>
            </a:r>
            <a:r>
              <a:rPr lang="en-US" altLang="zh-CN" b="1" baseline="30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T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en-US" altLang="zh-CN" b="1" baseline="30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</a:p>
        </p:txBody>
      </p:sp>
      <p:graphicFrame>
        <p:nvGraphicFramePr>
          <p:cNvPr id="24" name="Object 5">
            <a:extLst>
              <a:ext uri="{FF2B5EF4-FFF2-40B4-BE49-F238E27FC236}">
                <a16:creationId xmlns:a16="http://schemas.microsoft.com/office/drawing/2014/main" id="{3781F71B-5402-D48F-B436-6043DD216F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1034695"/>
              </p:ext>
            </p:extLst>
          </p:nvPr>
        </p:nvGraphicFramePr>
        <p:xfrm>
          <a:off x="3771900" y="3865157"/>
          <a:ext cx="1600200" cy="201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00200" imgH="2019240" progId="Equation.DSMT4">
                  <p:embed/>
                </p:oleObj>
              </mc:Choice>
              <mc:Fallback>
                <p:oleObj name="Equation" r:id="rId2" imgW="1600200" imgH="2019240" progId="Equation.DSMT4">
                  <p:embed/>
                  <p:pic>
                    <p:nvPicPr>
                      <p:cNvPr id="24" name="Object 5">
                        <a:extLst>
                          <a:ext uri="{FF2B5EF4-FFF2-40B4-BE49-F238E27FC236}">
                            <a16:creationId xmlns:a16="http://schemas.microsoft.com/office/drawing/2014/main" id="{37540C88-1BFA-4837-B2A0-F48FDBA6D6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1900" y="3865157"/>
                        <a:ext cx="1600200" cy="201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80307632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2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2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25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25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utoUpdateAnimBg="0" advAuto="0"/>
      <p:bldP spid="8" grpId="0" build="p" autoUpdateAnimBg="0"/>
      <p:bldP spid="10" grpId="0" build="p" autoUpdateAnimBg="0"/>
      <p:bldP spid="4" grpId="0" build="p" autoUpdateAnimBg="0"/>
      <p:bldP spid="5" grpId="0" build="p" autoUpdateAnimBg="0" advAuto="0"/>
      <p:bldP spid="17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0">
            <a:extLst>
              <a:ext uri="{FF2B5EF4-FFF2-40B4-BE49-F238E27FC236}">
                <a16:creationId xmlns:a16="http://schemas.microsoft.com/office/drawing/2014/main" id="{95EA30B3-6002-4775-B0F6-0EDE7563E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0"/>
            <a:ext cx="7721369" cy="4924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有关向量组的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基本概念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0CCB050E-19E4-4129-B4FF-BFF4CD5AA2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169" y="2531846"/>
            <a:ext cx="86423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从而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一个矩阵与一个行向量组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或列向量组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</a:rPr>
              <a:t>)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一一对应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</a:rPr>
              <a:t>.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C9A7967F-E85A-411B-85B2-9EFB84CE8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1086076"/>
            <a:ext cx="2407626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综上所述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chemeClr val="tx1"/>
                </a:solidFill>
                <a:latin typeface="+mn-lt"/>
                <a:ea typeface="华文中宋" pitchFamily="2" charset="-122"/>
              </a:rPr>
              <a:t> </a:t>
            </a:r>
            <a:endParaRPr lang="en-US" altLang="zh-CN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华文中宋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B656E70-4F8F-ABC6-1589-CC79EA8CE2C8}"/>
              </a:ext>
            </a:extLst>
          </p:cNvPr>
          <p:cNvSpPr txBox="1"/>
          <p:nvPr/>
        </p:nvSpPr>
        <p:spPr>
          <a:xfrm>
            <a:off x="971600" y="1806907"/>
            <a:ext cx="81529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含有限个向量的有序向量组可以与矩阵一一对应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10960270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build="p" autoUpdateAnimBg="0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0">
            <a:extLst>
              <a:ext uri="{FF2B5EF4-FFF2-40B4-BE49-F238E27FC236}">
                <a16:creationId xmlns:a16="http://schemas.microsoft.com/office/drawing/2014/main" id="{95EA30B3-6002-4775-B0F6-0EDE7563E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-20324"/>
            <a:ext cx="5993177" cy="4924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有关向量组的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基本概念</a:t>
            </a: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29C2C7A0-B610-4C97-9FD1-D1E17E66E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221" y="1235230"/>
            <a:ext cx="405665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设有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000" b="1" i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元线性方程组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7158567-4A47-4A21-A75F-696438687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1680" y="4409555"/>
            <a:ext cx="578297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32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x</a:t>
            </a:r>
            <a:r>
              <a:rPr lang="en-US" altLang="zh-CN" b="1" baseline="-25000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1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1</a:t>
            </a:r>
            <a:r>
              <a:rPr lang="en-US" altLang="zh-CN" sz="2000" b="1" baseline="-25000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+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x</a:t>
            </a:r>
            <a:r>
              <a:rPr lang="en-US" altLang="zh-CN" b="1" baseline="-25000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2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2</a:t>
            </a:r>
            <a:r>
              <a:rPr lang="en-US" altLang="zh-CN" sz="2000" b="1" baseline="-25000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+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...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+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i="1" dirty="0" err="1">
                <a:solidFill>
                  <a:srgbClr val="0000FF"/>
                </a:solidFill>
                <a:ea typeface="+mn-ea"/>
                <a:cs typeface="Times New Roman" pitchFamily="18" charset="0"/>
              </a:rPr>
              <a:t>x</a:t>
            </a:r>
            <a:r>
              <a:rPr lang="en-US" altLang="zh-CN" b="1" i="1" baseline="-25000" dirty="0" err="1">
                <a:solidFill>
                  <a:srgbClr val="0000FF"/>
                </a:solidFill>
                <a:ea typeface="+mn-ea"/>
                <a:cs typeface="Times New Roman" pitchFamily="18" charset="0"/>
              </a:rPr>
              <a:t>n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n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b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17159A15-424A-4752-B9B1-13EFBB3AD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976" y="3852355"/>
            <a:ext cx="326456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此方程组可记作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507570E5-A178-458F-8212-EE206C1D5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221" y="620688"/>
            <a:ext cx="551341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线性方程组与向量组的关系</a:t>
            </a:r>
          </a:p>
        </p:txBody>
      </p:sp>
      <p:sp>
        <p:nvSpPr>
          <p:cNvPr id="2" name="Rectangle 19">
            <a:extLst>
              <a:ext uri="{FF2B5EF4-FFF2-40B4-BE49-F238E27FC236}">
                <a16:creationId xmlns:a16="http://schemas.microsoft.com/office/drawing/2014/main" id="{0B8799CF-7696-FB8F-C40B-8B742C66F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009" y="5694242"/>
            <a:ext cx="83169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上式表明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向量</a:t>
            </a:r>
            <a:r>
              <a:rPr lang="zh-CN" altLang="en-US" sz="20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b</a:t>
            </a:r>
            <a:r>
              <a:rPr lang="en-US" altLang="zh-CN" sz="2000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可由向量组</a:t>
            </a:r>
            <a:r>
              <a:rPr lang="zh-CN" altLang="en-US" sz="10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...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n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表示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D1A1A179-5DFF-D011-50F2-54E74A0A7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009" y="5036427"/>
            <a:ext cx="86364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其中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 err="1">
                <a:solidFill>
                  <a:schemeClr val="tx1"/>
                </a:solidFill>
                <a:sym typeface="Symbol" panose="05050102010706020507" pitchFamily="18" charset="2"/>
              </a:rPr>
              <a:t>i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=</a:t>
            </a:r>
            <a:r>
              <a:rPr lang="en-US" altLang="zh-CN" sz="1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i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1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i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...</a:t>
            </a:r>
            <a:r>
              <a:rPr lang="en-US" altLang="zh-CN" sz="1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en-US" altLang="zh-CN" b="1" i="1" baseline="-25000" dirty="0" err="1">
                <a:solidFill>
                  <a:schemeClr val="tx1"/>
                </a:solidFill>
                <a:sym typeface="Symbol" panose="05050102010706020507" pitchFamily="18" charset="2"/>
              </a:rPr>
              <a:t>mi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)</a:t>
            </a:r>
            <a:r>
              <a:rPr lang="en-US" altLang="zh-CN" b="1" baseline="30000" dirty="0">
                <a:solidFill>
                  <a:schemeClr val="tx1"/>
                </a:solidFill>
                <a:sym typeface="Symbol" panose="05050102010706020507" pitchFamily="18" charset="2"/>
              </a:rPr>
              <a:t>T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zh-CN" b="1" i="1" dirty="0" err="1">
                <a:solidFill>
                  <a:schemeClr val="tx1"/>
                </a:solidFill>
                <a:sym typeface="Symbol" panose="05050102010706020507" pitchFamily="18" charset="2"/>
              </a:rPr>
              <a:t>i</a:t>
            </a:r>
            <a:r>
              <a:rPr lang="en-US" altLang="zh-CN" sz="1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=</a:t>
            </a:r>
            <a:r>
              <a:rPr lang="en-US" altLang="zh-CN" sz="1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1,</a:t>
            </a:r>
            <a:r>
              <a:rPr lang="en-US" altLang="zh-CN" sz="1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2,...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),</a:t>
            </a:r>
            <a:r>
              <a:rPr lang="en-US" altLang="zh-CN" sz="1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n-US" altLang="zh-CN" sz="1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=</a:t>
            </a:r>
            <a:r>
              <a:rPr lang="en-US" altLang="zh-CN" sz="1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1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...</a:t>
            </a:r>
            <a:r>
              <a:rPr lang="en-US" altLang="zh-CN" sz="1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n-US" altLang="zh-CN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m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)</a:t>
            </a:r>
            <a:r>
              <a:rPr lang="en-US" altLang="zh-CN" b="1" baseline="30000" dirty="0">
                <a:solidFill>
                  <a:schemeClr val="tx1"/>
                </a:solidFill>
                <a:sym typeface="Symbol" panose="05050102010706020507" pitchFamily="18" charset="2"/>
              </a:rPr>
              <a:t>T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</a:p>
        </p:txBody>
      </p:sp>
      <p:graphicFrame>
        <p:nvGraphicFramePr>
          <p:cNvPr id="14" name="Object 11">
            <a:extLst>
              <a:ext uri="{FF2B5EF4-FFF2-40B4-BE49-F238E27FC236}">
                <a16:creationId xmlns:a16="http://schemas.microsoft.com/office/drawing/2014/main" id="{3ADC3E4F-3978-2E51-C395-DF39FA9A58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8215516"/>
              </p:ext>
            </p:extLst>
          </p:nvPr>
        </p:nvGraphicFramePr>
        <p:xfrm>
          <a:off x="2370886" y="1862527"/>
          <a:ext cx="4371975" cy="187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84120" imgH="939600" progId="Equation.DSMT4">
                  <p:embed/>
                </p:oleObj>
              </mc:Choice>
              <mc:Fallback>
                <p:oleObj name="Equation" r:id="rId2" imgW="2184120" imgH="939600" progId="Equation.DSMT4">
                  <p:embed/>
                  <p:pic>
                    <p:nvPicPr>
                      <p:cNvPr id="25" name="Object 11">
                        <a:extLst>
                          <a:ext uri="{FF2B5EF4-FFF2-40B4-BE49-F238E27FC236}">
                            <a16:creationId xmlns:a16="http://schemas.microsoft.com/office/drawing/2014/main" id="{661B6989-29DB-4BF8-BD1C-0088C7AD90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886" y="1862527"/>
                        <a:ext cx="4371975" cy="187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96179690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25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  <p:bldP spid="6" grpId="0"/>
      <p:bldP spid="7" grpId="0" build="p" autoUpdateAnimBg="0"/>
      <p:bldP spid="10" grpId="0"/>
      <p:bldP spid="2" grpId="0"/>
      <p:bldP spid="3" grpId="0" build="p" autoUpdateAnimBg="0" advAuto="100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9">
            <a:extLst>
              <a:ext uri="{FF2B5EF4-FFF2-40B4-BE49-F238E27FC236}">
                <a16:creationId xmlns:a16="http://schemas.microsoft.com/office/drawing/2014/main" id="{E01B5D91-4720-4CDF-BCD1-B594019A8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1014" y="1124744"/>
            <a:ext cx="493283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给定向量组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b="1" dirty="0">
                <a:solidFill>
                  <a:schemeClr val="tx1"/>
                </a:solidFill>
              </a:rPr>
              <a:t>: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n</a:t>
            </a:r>
            <a:r>
              <a:rPr lang="en-US" altLang="zh-CN" b="1" dirty="0">
                <a:solidFill>
                  <a:schemeClr val="tx1"/>
                </a:solidFill>
              </a:rPr>
              <a:t>, </a:t>
            </a:r>
          </a:p>
        </p:txBody>
      </p:sp>
      <p:sp>
        <p:nvSpPr>
          <p:cNvPr id="20" name="Rectangle 30">
            <a:extLst>
              <a:ext uri="{FF2B5EF4-FFF2-40B4-BE49-F238E27FC236}">
                <a16:creationId xmlns:a16="http://schemas.microsoft.com/office/drawing/2014/main" id="{95EA30B3-6002-4775-B0F6-0EDE7563E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351" y="0"/>
            <a:ext cx="5417113" cy="4924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线性组合与线性表示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614F96-F244-450D-976F-280827488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238" y="4006056"/>
            <a:ext cx="322618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线性组合的系数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39E47E-5A80-48E8-82B5-4F21CF37E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238" y="3285331"/>
            <a:ext cx="5170401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为向量组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的一个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线性组合</a:t>
            </a:r>
            <a:r>
              <a:rPr lang="en-US" altLang="zh-CN" b="1" dirty="0">
                <a:solidFill>
                  <a:srgbClr val="0000FF"/>
                </a:solidFill>
                <a:ea typeface="华文中宋" pitchFamily="2" charset="-122"/>
                <a:cs typeface="Times New Roman" pitchFamily="18" charset="0"/>
              </a:rPr>
              <a:t>,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481C1A-1664-4088-A83E-44B82649C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7528" y="2561431"/>
            <a:ext cx="4679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</a:rPr>
              <a:t>k</a:t>
            </a:r>
            <a:r>
              <a:rPr lang="en-US" altLang="zh-CN" b="1" i="1" baseline="-25000" dirty="0" err="1">
                <a:solidFill>
                  <a:schemeClr val="tx1"/>
                </a:solidFill>
              </a:rPr>
              <a:t>n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n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AA3182-529D-42EC-94B7-C503700FC5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99" y="1845469"/>
            <a:ext cx="4679949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任何</a:t>
            </a:r>
            <a:r>
              <a:rPr lang="zh-CN" altLang="zh-CN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一组实数</a:t>
            </a:r>
            <a:r>
              <a:rPr lang="zh-CN" altLang="zh-CN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</a:rPr>
              <a:t>k</a:t>
            </a:r>
            <a:r>
              <a:rPr lang="en-US" altLang="zh-CN" b="1" i="1" baseline="-25000" dirty="0" err="1">
                <a:solidFill>
                  <a:schemeClr val="tx1"/>
                </a:solidFill>
              </a:rPr>
              <a:t>n</a:t>
            </a:r>
            <a:r>
              <a:rPr lang="en-US" altLang="zh-CN" b="1" dirty="0">
                <a:solidFill>
                  <a:schemeClr val="tx1"/>
                </a:solidFill>
              </a:rPr>
              <a:t>,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0AD8C6-A2D7-4696-86D7-65B91760C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1124744"/>
            <a:ext cx="174941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定义</a:t>
            </a:r>
            <a:r>
              <a:rPr lang="zh-CN" altLang="en-US" sz="20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华文中宋" pitchFamily="2" charset="-122"/>
                <a:cs typeface="Times New Roman" panose="02020603050405020304" pitchFamily="18" charset="0"/>
              </a:rPr>
              <a:t>3.5</a:t>
            </a:r>
            <a:endParaRPr lang="en-US" altLang="zh-CN" b="1" dirty="0"/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D8B3FC07-5150-4455-88D7-E2DCD4545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4433" y="1837532"/>
            <a:ext cx="21033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称表达式</a:t>
            </a: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77266572-8663-40AD-B413-D2ED11FA9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9591" y="3285331"/>
            <a:ext cx="349267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 dirty="0">
                <a:solidFill>
                  <a:schemeClr val="tx1"/>
                </a:solidFill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b="1" i="1" dirty="0">
                <a:solidFill>
                  <a:schemeClr val="tx1"/>
                </a:solidFill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</a:rPr>
              <a:t>k</a:t>
            </a:r>
            <a:r>
              <a:rPr lang="en-US" altLang="zh-CN" b="1" i="1" baseline="-25000" dirty="0" err="1">
                <a:solidFill>
                  <a:schemeClr val="tx1"/>
                </a:solidFill>
              </a:rPr>
              <a:t>n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称为该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C7380227-4DFB-4CCF-802A-1B9B807C3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3808" y="1128753"/>
            <a:ext cx="1368151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对于</a:t>
            </a:r>
            <a:endParaRPr lang="en-US" altLang="zh-CN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9145059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75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75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75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7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75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925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75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 autoUpdateAnimBg="0"/>
      <p:bldP spid="6" grpId="0" build="p" autoUpdateAnimBg="0" advAuto="0"/>
      <p:bldP spid="7" grpId="0" build="p" autoUpdateAnimBg="0" advAuto="1000"/>
      <p:bldP spid="8" grpId="0"/>
      <p:bldP spid="9" grpId="0" build="p" autoUpdateAnimBg="0" advAuto="0"/>
      <p:bldP spid="10" grpId="0" build="p" autoUpdateAnimBg="0"/>
      <p:bldP spid="11" grpId="0" build="p" autoUpdateAnimBg="0" advAuto="0"/>
      <p:bldP spid="12" grpId="0" build="p" autoUpdateAnimBg="0" advAuto="1000"/>
      <p:bldP spid="13" grpId="0" build="p" autoUpdateAnimBg="0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0">
            <a:extLst>
              <a:ext uri="{FF2B5EF4-FFF2-40B4-BE49-F238E27FC236}">
                <a16:creationId xmlns:a16="http://schemas.microsoft.com/office/drawing/2014/main" id="{95EA30B3-6002-4775-B0F6-0EDE7563E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0"/>
            <a:ext cx="5201089" cy="4924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线性组合与线性表示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C96F65-0E94-485D-9F9F-430B0DE06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227" y="692993"/>
            <a:ext cx="6408886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给定向量组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: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和向量</a:t>
            </a:r>
            <a:r>
              <a:rPr lang="zh-CN" altLang="en-US" sz="2000" b="1" i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7AF9AC8-6B87-42C4-8911-7B3F168E4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227" y="4854453"/>
            <a:ext cx="758467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式</a:t>
            </a:r>
            <a:r>
              <a:rPr lang="zh-CN" altLang="en-US" sz="20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  <a:cs typeface="Times New Roman" pitchFamily="18" charset="0"/>
              </a:rPr>
              <a:t>(</a:t>
            </a:r>
            <a:r>
              <a:rPr lang="en-US" altLang="zh-CN" b="1" dirty="0">
                <a:solidFill>
                  <a:srgbClr val="0000FF"/>
                </a:solidFill>
                <a:cs typeface="Times New Roman" panose="02020603050405020304" pitchFamily="18" charset="0"/>
              </a:rPr>
              <a:t>3.7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  <a:cs typeface="Times New Roman" pitchFamily="18" charset="0"/>
              </a:rPr>
              <a:t>)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中的</a:t>
            </a:r>
            <a:r>
              <a:rPr lang="zh-CN" altLang="en-US" sz="16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</a:t>
            </a:r>
            <a:r>
              <a:rPr lang="en-US" altLang="zh-CN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sym typeface="Symbol" panose="05050102010706020507" pitchFamily="18" charset="2"/>
              </a:rPr>
              <a:t></a:t>
            </a:r>
            <a:r>
              <a:rPr lang="en-US" altLang="zh-CN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, ... ,</a:t>
            </a:r>
            <a:r>
              <a:rPr lang="en-US" altLang="zh-CN" sz="20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sym typeface="Symbol" panose="05050102010706020507" pitchFamily="18" charset="2"/>
              </a:rPr>
              <a:t></a:t>
            </a:r>
            <a:r>
              <a:rPr lang="en-US" altLang="zh-CN" b="1" i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CN" b="1" i="1" baseline="-25000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sz="2000" b="1" i="1" baseline="-25000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不一定是唯一的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,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也可</a:t>
            </a:r>
            <a:endParaRPr lang="en-US" altLang="zh-CN" b="1" dirty="0">
              <a:solidFill>
                <a:srgbClr val="0000FF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DDE2BAC-B158-46D0-BC73-7B608466A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990" y="3573660"/>
            <a:ext cx="561597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向量</a:t>
            </a:r>
            <a:r>
              <a:rPr lang="zh-CN" altLang="en-US" sz="20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b</a:t>
            </a:r>
            <a:r>
              <a:rPr lang="en-US" altLang="zh-CN" sz="2000" b="1" i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能由向量组</a:t>
            </a:r>
            <a:r>
              <a:rPr lang="zh-CN" altLang="en-US" sz="20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A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线性表示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D9DE71A7-D620-4628-A7A8-7353DBEAB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989" y="2852935"/>
            <a:ext cx="6480176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则向量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b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是向量组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的一个线性组合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  <a:endParaRPr lang="en-US" altLang="zh-CN" sz="3200" b="1" i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471223E1-914D-4674-9162-22A968F52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752" y="2132856"/>
            <a:ext cx="4895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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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</a:t>
            </a:r>
            <a:r>
              <a:rPr lang="en-US" altLang="zh-CN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  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9AC8AC9C-E1F2-4A95-BC5A-92E62EC3E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989" y="1413073"/>
            <a:ext cx="5400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存在一组数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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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</a:t>
            </a:r>
            <a:r>
              <a:rPr lang="en-US" altLang="zh-CN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使得</a:t>
            </a:r>
          </a:p>
        </p:txBody>
      </p:sp>
      <p:sp>
        <p:nvSpPr>
          <p:cNvPr id="11" name="Rectangle 16">
            <a:extLst>
              <a:ext uri="{FF2B5EF4-FFF2-40B4-BE49-F238E27FC236}">
                <a16:creationId xmlns:a16="http://schemas.microsoft.com/office/drawing/2014/main" id="{825CDF6C-8327-4984-A11E-5CCB3B403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165" y="692993"/>
            <a:ext cx="150351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如果</a:t>
            </a:r>
          </a:p>
        </p:txBody>
      </p:sp>
      <p:sp>
        <p:nvSpPr>
          <p:cNvPr id="12" name="Rectangle 17">
            <a:extLst>
              <a:ext uri="{FF2B5EF4-FFF2-40B4-BE49-F238E27FC236}">
                <a16:creationId xmlns:a16="http://schemas.microsoft.com/office/drawing/2014/main" id="{631736E3-24C2-4E38-9574-ED5AF05A6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2845505"/>
            <a:ext cx="196787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这时称</a:t>
            </a:r>
            <a:endParaRPr lang="zh-CN" altLang="en-US" b="1" i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3" name="Text Box 19">
            <a:extLst>
              <a:ext uri="{FF2B5EF4-FFF2-40B4-BE49-F238E27FC236}">
                <a16:creationId xmlns:a16="http://schemas.microsoft.com/office/drawing/2014/main" id="{997E9E71-5DC5-4BA2-8EA4-AABF10D767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4165" y="2132856"/>
            <a:ext cx="129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(3.7)</a:t>
            </a:r>
            <a:endParaRPr lang="zh-CN" altLang="en-US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4" name="Rectangle 22">
            <a:extLst>
              <a:ext uri="{FF2B5EF4-FFF2-40B4-BE49-F238E27FC236}">
                <a16:creationId xmlns:a16="http://schemas.microsoft.com/office/drawing/2014/main" id="{6392F5E8-2F9D-4E54-80A4-85DDDB389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377" y="4196532"/>
            <a:ext cx="93697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注</a:t>
            </a:r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85DB64C5-8132-42DC-AC8F-06D1DF15C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989" y="5579940"/>
            <a:ext cx="367176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全为</a:t>
            </a:r>
            <a:r>
              <a:rPr lang="zh-CN" altLang="en-US" sz="1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或不全为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0.</a:t>
            </a:r>
            <a:endParaRPr lang="zh-CN" altLang="en-US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608521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7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75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25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25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25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8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7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1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  <p:bldP spid="6" grpId="0" build="p" autoUpdateAnimBg="0"/>
      <p:bldP spid="7" grpId="0" build="p" autoUpdateAnimBg="0" advAuto="0"/>
      <p:bldP spid="8" grpId="0" build="p" autoUpdateAnimBg="0" advAuto="1000"/>
      <p:bldP spid="9" grpId="0"/>
      <p:bldP spid="10" grpId="0" build="p" autoUpdateAnimBg="0" advAuto="0"/>
      <p:bldP spid="11" grpId="0" build="p" autoUpdateAnimBg="0"/>
      <p:bldP spid="12" grpId="0" build="p" autoUpdateAnimBg="0" advAuto="1000"/>
      <p:bldP spid="13" grpId="0"/>
      <p:bldP spid="14" grpId="0" build="p" autoUpdateAnimBg="0"/>
      <p:bldP spid="16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0">
            <a:extLst>
              <a:ext uri="{FF2B5EF4-FFF2-40B4-BE49-F238E27FC236}">
                <a16:creationId xmlns:a16="http://schemas.microsoft.com/office/drawing/2014/main" id="{95EA30B3-6002-4775-B0F6-0EDE7563E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143" y="0"/>
            <a:ext cx="5477077" cy="4924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线性组合与线性表示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C43751-79B6-4790-89AA-D4CF20373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523" y="888199"/>
            <a:ext cx="1397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例如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</a:p>
        </p:txBody>
      </p:sp>
      <p:sp>
        <p:nvSpPr>
          <p:cNvPr id="6" name="Text Box 15">
            <a:extLst>
              <a:ext uri="{FF2B5EF4-FFF2-40B4-BE49-F238E27FC236}">
                <a16:creationId xmlns:a16="http://schemas.microsoft.com/office/drawing/2014/main" id="{8AF18902-7706-444C-BAB5-FA86782609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889" y="3109125"/>
            <a:ext cx="936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</a:t>
            </a:r>
          </a:p>
        </p:txBody>
      </p:sp>
      <p:sp>
        <p:nvSpPr>
          <p:cNvPr id="7" name="Text Box 16">
            <a:extLst>
              <a:ext uri="{FF2B5EF4-FFF2-40B4-BE49-F238E27FC236}">
                <a16:creationId xmlns:a16="http://schemas.microsoft.com/office/drawing/2014/main" id="{1039B417-7941-4F5B-BF1F-B17551B35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252" y="3109125"/>
            <a:ext cx="10080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或</a:t>
            </a:r>
          </a:p>
        </p:txBody>
      </p:sp>
      <p:sp>
        <p:nvSpPr>
          <p:cNvPr id="8" name="Text Box 19">
            <a:extLst>
              <a:ext uri="{FF2B5EF4-FFF2-40B4-BE49-F238E27FC236}">
                <a16:creationId xmlns:a16="http://schemas.microsoft.com/office/drawing/2014/main" id="{CA7B94BD-BB4D-4D93-917A-8CB8862DD1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3981" y="3109125"/>
            <a:ext cx="720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或</a:t>
            </a:r>
          </a:p>
        </p:txBody>
      </p:sp>
      <p:graphicFrame>
        <p:nvGraphicFramePr>
          <p:cNvPr id="9" name="Object 1">
            <a:extLst>
              <a:ext uri="{FF2B5EF4-FFF2-40B4-BE49-F238E27FC236}">
                <a16:creationId xmlns:a16="http://schemas.microsoft.com/office/drawing/2014/main" id="{A96F6BCF-71C5-4793-9DE7-862A563AE5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5926444"/>
              </p:ext>
            </p:extLst>
          </p:nvPr>
        </p:nvGraphicFramePr>
        <p:xfrm>
          <a:off x="2270125" y="1421977"/>
          <a:ext cx="1384300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84200" imgH="1562040" progId="Equation.DSMT4">
                  <p:embed/>
                </p:oleObj>
              </mc:Choice>
              <mc:Fallback>
                <p:oleObj name="Equation" r:id="rId2" imgW="1384200" imgH="1562040" progId="Equation.DSMT4">
                  <p:embed/>
                  <p:pic>
                    <p:nvPicPr>
                      <p:cNvPr id="15" name="Object 1">
                        <a:extLst>
                          <a:ext uri="{FF2B5EF4-FFF2-40B4-BE49-F238E27FC236}">
                            <a16:creationId xmlns:a16="http://schemas.microsoft.com/office/drawing/2014/main" id="{15384BE7-B4A2-4E95-B051-161514B63E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125" y="1421977"/>
                        <a:ext cx="1384300" cy="156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8">
            <a:extLst>
              <a:ext uri="{FF2B5EF4-FFF2-40B4-BE49-F238E27FC236}">
                <a16:creationId xmlns:a16="http://schemas.microsoft.com/office/drawing/2014/main" id="{560E5A01-1037-483D-A467-826647628C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3023564"/>
              </p:ext>
            </p:extLst>
          </p:nvPr>
        </p:nvGraphicFramePr>
        <p:xfrm>
          <a:off x="3854450" y="1421977"/>
          <a:ext cx="1435100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34960" imgH="1562040" progId="Equation.DSMT4">
                  <p:embed/>
                </p:oleObj>
              </mc:Choice>
              <mc:Fallback>
                <p:oleObj name="Equation" r:id="rId4" imgW="1434960" imgH="1562040" progId="Equation.DSMT4">
                  <p:embed/>
                  <p:pic>
                    <p:nvPicPr>
                      <p:cNvPr id="16" name="Object 28">
                        <a:extLst>
                          <a:ext uri="{FF2B5EF4-FFF2-40B4-BE49-F238E27FC236}">
                            <a16:creationId xmlns:a16="http://schemas.microsoft.com/office/drawing/2014/main" id="{4629DC9F-F88C-4683-926B-AE55DFE090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4450" y="1421977"/>
                        <a:ext cx="1435100" cy="156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9">
            <a:extLst>
              <a:ext uri="{FF2B5EF4-FFF2-40B4-BE49-F238E27FC236}">
                <a16:creationId xmlns:a16="http://schemas.microsoft.com/office/drawing/2014/main" id="{7FDE1FA0-A30D-462F-9731-2DCAE6D412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3215937"/>
              </p:ext>
            </p:extLst>
          </p:nvPr>
        </p:nvGraphicFramePr>
        <p:xfrm>
          <a:off x="5484812" y="1415814"/>
          <a:ext cx="1244600" cy="157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44600" imgH="1574800" progId="Equation.DSMT4">
                  <p:embed/>
                </p:oleObj>
              </mc:Choice>
              <mc:Fallback>
                <p:oleObj name="Equation" r:id="rId6" imgW="1244600" imgH="1574800" progId="Equation.DSMT4">
                  <p:embed/>
                  <p:pic>
                    <p:nvPicPr>
                      <p:cNvPr id="18" name="Object 29">
                        <a:extLst>
                          <a:ext uri="{FF2B5EF4-FFF2-40B4-BE49-F238E27FC236}">
                            <a16:creationId xmlns:a16="http://schemas.microsoft.com/office/drawing/2014/main" id="{9109BA58-D655-4773-971D-3A3A3CA8BE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4812" y="1415814"/>
                        <a:ext cx="1244600" cy="157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0">
            <a:extLst>
              <a:ext uri="{FF2B5EF4-FFF2-40B4-BE49-F238E27FC236}">
                <a16:creationId xmlns:a16="http://schemas.microsoft.com/office/drawing/2014/main" id="{E0017D7E-BFB6-4AA1-8096-630888F7E4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3626508"/>
              </p:ext>
            </p:extLst>
          </p:nvPr>
        </p:nvGraphicFramePr>
        <p:xfrm>
          <a:off x="1009650" y="3188864"/>
          <a:ext cx="1905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04760" imgH="431640" progId="Equation.DSMT4">
                  <p:embed/>
                </p:oleObj>
              </mc:Choice>
              <mc:Fallback>
                <p:oleObj name="Equation" r:id="rId8" imgW="1904760" imgH="431640" progId="Equation.DSMT4">
                  <p:embed/>
                  <p:pic>
                    <p:nvPicPr>
                      <p:cNvPr id="9216" name="Object 30">
                        <a:extLst>
                          <a:ext uri="{FF2B5EF4-FFF2-40B4-BE49-F238E27FC236}">
                            <a16:creationId xmlns:a16="http://schemas.microsoft.com/office/drawing/2014/main" id="{14F00F30-BC3D-4EFA-ACB8-F2D7F28068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9650" y="3188864"/>
                        <a:ext cx="1905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31">
            <a:extLst>
              <a:ext uri="{FF2B5EF4-FFF2-40B4-BE49-F238E27FC236}">
                <a16:creationId xmlns:a16="http://schemas.microsoft.com/office/drawing/2014/main" id="{B201AEE2-55DB-4CC8-8EC0-5B955FD25A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7327076"/>
              </p:ext>
            </p:extLst>
          </p:nvPr>
        </p:nvGraphicFramePr>
        <p:xfrm>
          <a:off x="6457280" y="3173179"/>
          <a:ext cx="19304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30320" imgH="495000" progId="Equation.DSMT4">
                  <p:embed/>
                </p:oleObj>
              </mc:Choice>
              <mc:Fallback>
                <p:oleObj name="Equation" r:id="rId10" imgW="1930320" imgH="495000" progId="Equation.DSMT4">
                  <p:embed/>
                  <p:pic>
                    <p:nvPicPr>
                      <p:cNvPr id="9217" name="Object 31">
                        <a:extLst>
                          <a:ext uri="{FF2B5EF4-FFF2-40B4-BE49-F238E27FC236}">
                            <a16:creationId xmlns:a16="http://schemas.microsoft.com/office/drawing/2014/main" id="{E1D995D6-12E7-425E-BA8A-59EA31D7A2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7280" y="3173179"/>
                        <a:ext cx="19304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32">
            <a:extLst>
              <a:ext uri="{FF2B5EF4-FFF2-40B4-BE49-F238E27FC236}">
                <a16:creationId xmlns:a16="http://schemas.microsoft.com/office/drawing/2014/main" id="{7D409621-AA38-4597-8964-91A9C7AAB2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5202701"/>
              </p:ext>
            </p:extLst>
          </p:nvPr>
        </p:nvGraphicFramePr>
        <p:xfrm>
          <a:off x="3613544" y="3204929"/>
          <a:ext cx="2082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82600" imgH="431640" progId="Equation.DSMT4">
                  <p:embed/>
                </p:oleObj>
              </mc:Choice>
              <mc:Fallback>
                <p:oleObj name="Equation" r:id="rId12" imgW="2082600" imgH="431640" progId="Equation.DSMT4">
                  <p:embed/>
                  <p:pic>
                    <p:nvPicPr>
                      <p:cNvPr id="9218" name="Object 32">
                        <a:extLst>
                          <a:ext uri="{FF2B5EF4-FFF2-40B4-BE49-F238E27FC236}">
                            <a16:creationId xmlns:a16="http://schemas.microsoft.com/office/drawing/2014/main" id="{C5AB174E-CDFD-40F0-9B37-43A79D6A56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3544" y="3204929"/>
                        <a:ext cx="2082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4">
            <a:extLst>
              <a:ext uri="{FF2B5EF4-FFF2-40B4-BE49-F238E27FC236}">
                <a16:creationId xmlns:a16="http://schemas.microsoft.com/office/drawing/2014/main" id="{7C76845F-D741-4A4D-A018-CD9310204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943" y="5362208"/>
            <a:ext cx="1292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有解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1E4005C2-91AB-44A5-ADF9-270A35E82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4619145"/>
            <a:ext cx="5759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sz="2000" b="1" baseline="-25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sz="2000" b="1" baseline="-25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lang="en-US" altLang="zh-CN" b="1" i="1" baseline="-25000" dirty="0" err="1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b</a:t>
            </a:r>
            <a:endParaRPr lang="en-US" altLang="zh-CN" b="1" i="1" dirty="0">
              <a:solidFill>
                <a:schemeClr val="tx1"/>
              </a:solidFill>
            </a:endParaRP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C7559FBC-0B7A-48F6-8293-C1B9E2F6B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100" y="3908938"/>
            <a:ext cx="631364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显然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向量</a:t>
            </a:r>
            <a:r>
              <a:rPr lang="zh-CN" altLang="en-US" sz="1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b</a:t>
            </a:r>
            <a:r>
              <a:rPr lang="en-US" altLang="zh-CN" sz="1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能由向量组</a:t>
            </a:r>
            <a:r>
              <a:rPr lang="zh-CN" altLang="en-US" sz="1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线性表示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</a:p>
        </p:txBody>
      </p:sp>
      <p:sp>
        <p:nvSpPr>
          <p:cNvPr id="18" name="Text Box 7">
            <a:extLst>
              <a:ext uri="{FF2B5EF4-FFF2-40B4-BE49-F238E27FC236}">
                <a16:creationId xmlns:a16="http://schemas.microsoft.com/office/drawing/2014/main" id="{0BD581D6-4E9F-49CF-A7CB-FC6EE2593F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8805" y="5360154"/>
            <a:ext cx="54429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故由定理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3.1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可得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如下定理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2CA0CEEC-7023-4264-B63B-1D032B899F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00" y="3908938"/>
            <a:ext cx="27980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意味着方程组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FC47C2E7-36BB-8222-9EC9-4920DFE47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9653" y="896701"/>
            <a:ext cx="9062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</a:t>
            </a:r>
          </a:p>
        </p:txBody>
      </p:sp>
    </p:spTree>
    <p:extLst>
      <p:ext uri="{BB962C8B-B14F-4D97-AF65-F5344CB8AC3E}">
        <p14:creationId xmlns:p14="http://schemas.microsoft.com/office/powerpoint/2010/main" val="163468083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75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7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  <p:bldP spid="6" grpId="0"/>
      <p:bldP spid="7" grpId="0"/>
      <p:bldP spid="8" grpId="0"/>
      <p:bldP spid="15" grpId="0" build="p" autoUpdateAnimBg="0" advAuto="0"/>
      <p:bldP spid="16" grpId="0"/>
      <p:bldP spid="17" grpId="0" build="p" autoUpdateAnimBg="0"/>
      <p:bldP spid="18" grpId="0" build="p" autoUpdateAnimBg="0"/>
      <p:bldP spid="19" grpId="0" build="p" autoUpdateAnimBg="0"/>
      <p:bldP spid="2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0">
            <a:extLst>
              <a:ext uri="{FF2B5EF4-FFF2-40B4-BE49-F238E27FC236}">
                <a16:creationId xmlns:a16="http://schemas.microsoft.com/office/drawing/2014/main" id="{95EA30B3-6002-4775-B0F6-0EDE7563E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145" y="0"/>
            <a:ext cx="5920197" cy="4924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线性组合与线性表示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58D12F0D-7194-4113-A9A9-0E5803EC9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1208797"/>
            <a:ext cx="208823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定理</a:t>
            </a:r>
            <a:r>
              <a:rPr lang="zh-CN" altLang="en-US" sz="20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3.6</a:t>
            </a:r>
            <a:endParaRPr lang="zh-CN" altLang="zh-CN" b="1" dirty="0">
              <a:solidFill>
                <a:srgbClr val="0000FF"/>
              </a:solidFill>
              <a:ea typeface="宋体" charset="-122"/>
            </a:endParaRP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B5F0D240-C9B1-4CA7-AC61-1D02E93FE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648660"/>
            <a:ext cx="56878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矩阵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</a:rPr>
              <a:t>B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= (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</a:rPr>
              <a:t>1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</a:rPr>
              <a:t>2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...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rgbClr val="0000FF"/>
                </a:solidFill>
              </a:rPr>
              <a:t>n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</a:rPr>
              <a:t>b</a:t>
            </a:r>
            <a:r>
              <a:rPr lang="en-US" altLang="zh-CN" b="1" dirty="0">
                <a:solidFill>
                  <a:srgbClr val="0000FF"/>
                </a:solidFill>
              </a:rPr>
              <a:t>)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的秩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solidFill>
                <a:srgbClr val="0000FF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E7DAEEB9-32E8-4551-97F4-67906D367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929522"/>
            <a:ext cx="835183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表示的充要条件是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矩阵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</a:rPr>
              <a:t>A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(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</a:rPr>
              <a:t>1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</a:rPr>
              <a:t>2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...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rgbClr val="0000FF"/>
                </a:solidFill>
              </a:rPr>
              <a:t>n</a:t>
            </a:r>
            <a:r>
              <a:rPr lang="en-US" altLang="zh-CN" b="1" dirty="0">
                <a:solidFill>
                  <a:srgbClr val="0000FF"/>
                </a:solidFill>
              </a:rPr>
              <a:t>)</a:t>
            </a:r>
            <a:r>
              <a:rPr lang="zh-CN" altLang="zh-CN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的秩等于</a:t>
            </a:r>
            <a:endParaRPr lang="zh-CN" altLang="zh-CN" b="1" dirty="0">
              <a:solidFill>
                <a:srgbClr val="0000FF"/>
              </a:solidFill>
            </a:endParaRP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6430CA56-A3F7-40A7-9B87-BB8B19D32C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413" y="1208797"/>
            <a:ext cx="6553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</a:t>
            </a:r>
            <a:r>
              <a:rPr lang="zh-CN" altLang="en-US" sz="2000" b="1" dirty="0">
                <a:solidFill>
                  <a:srgbClr val="0000FF"/>
                </a:solidFill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</a:rPr>
              <a:t>b</a:t>
            </a:r>
            <a:r>
              <a:rPr lang="en-US" altLang="zh-CN" sz="2000" b="1" i="1" dirty="0">
                <a:solidFill>
                  <a:srgbClr val="0000FF"/>
                </a:solidFill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能由向量组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cs typeface="Times New Roman" panose="02020603050405020304" pitchFamily="18" charset="0"/>
              </a:rPr>
              <a:t>:</a:t>
            </a:r>
            <a:r>
              <a:rPr lang="en-US" altLang="zh-CN" sz="2000" b="1" i="1" dirty="0">
                <a:solidFill>
                  <a:srgbClr val="0000FF"/>
                </a:solidFill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</a:rPr>
              <a:t>1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</a:rPr>
              <a:t>2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...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b="1" i="1" dirty="0">
                <a:solidFill>
                  <a:srgbClr val="0000FF"/>
                </a:solidFill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rgbClr val="0000FF"/>
                </a:solidFill>
              </a:rPr>
              <a:t>n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</a:t>
            </a:r>
            <a:endParaRPr lang="zh-CN" altLang="zh-CN" b="1" dirty="0">
              <a:solidFill>
                <a:srgbClr val="0000FF"/>
              </a:solidFill>
            </a:endParaRPr>
          </a:p>
        </p:txBody>
      </p:sp>
      <p:sp>
        <p:nvSpPr>
          <p:cNvPr id="2" name="Rectangle 11">
            <a:extLst>
              <a:ext uri="{FF2B5EF4-FFF2-40B4-BE49-F238E27FC236}">
                <a16:creationId xmlns:a16="http://schemas.microsoft.com/office/drawing/2014/main" id="{917BCD90-142B-CDCF-1647-DA5A87904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104" y="2659155"/>
            <a:ext cx="298782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</a:rPr>
              <a:t>B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).</a:t>
            </a:r>
            <a:endParaRPr lang="zh-CN" altLang="en-US" b="1" dirty="0">
              <a:solidFill>
                <a:srgbClr val="0000FF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84560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2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2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  <p:bldP spid="6" grpId="0" build="p" autoUpdateAnimBg="0" advAuto="0"/>
      <p:bldP spid="8" grpId="0" build="p" autoUpdateAnimBg="0"/>
      <p:bldP spid="9" grpId="0" build="p" autoUpdateAnimBg="0"/>
      <p:bldP spid="2" grpId="0" build="p" autoUpdateAnimBg="0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17D124CD-E666-4DC0-A95E-C752EE693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Rectangle 30">
            <a:extLst>
              <a:ext uri="{FF2B5EF4-FFF2-40B4-BE49-F238E27FC236}">
                <a16:creationId xmlns:a16="http://schemas.microsoft.com/office/drawing/2014/main" id="{65BCAFFA-C778-4023-B96C-04D3B8A73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-18739"/>
            <a:ext cx="5235276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向量组的等价性</a:t>
            </a:r>
            <a:endParaRPr lang="zh-CN" altLang="en-US" sz="2600" b="1" kern="100" dirty="0">
              <a:solidFill>
                <a:schemeClr val="bg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9208F10B-B8C0-4052-BD68-1C428F08BB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221" y="1677381"/>
            <a:ext cx="18002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定义</a:t>
            </a:r>
            <a:r>
              <a:rPr lang="zh-CN" altLang="en-US" sz="20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华文中宋" pitchFamily="2" charset="-122"/>
                <a:cs typeface="Times New Roman" panose="02020603050405020304" pitchFamily="18" charset="0"/>
              </a:rPr>
              <a:t>3.6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6DEAA4E4-628A-4EA8-8F8F-C1AD31E0C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0272" y="3837968"/>
            <a:ext cx="212372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则称这两</a:t>
            </a: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64D51871-B626-4E6A-8345-AB1BE3B08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894" y="3837968"/>
            <a:ext cx="69897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若向量组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与向量组</a:t>
            </a:r>
            <a:r>
              <a:rPr lang="zh-CN" altLang="en-US" sz="16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B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能相互线性表示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9733C224-4ABC-46DE-A05B-5C04DEE62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305" y="3117243"/>
            <a:ext cx="287660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线性表示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chemeClr val="tx1"/>
                </a:solidFill>
                <a:latin typeface="+mn-lt"/>
                <a:ea typeface="华文中宋" pitchFamily="2" charset="-122"/>
              </a:rPr>
              <a:t> </a:t>
            </a:r>
            <a:endParaRPr lang="en-US" altLang="zh-CN" sz="3200" b="1" dirty="0">
              <a:solidFill>
                <a:schemeClr val="tx1"/>
              </a:solidFill>
              <a:latin typeface="+mn-lt"/>
              <a:ea typeface="华文中宋" pitchFamily="2" charset="-122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DCE29DD6-4539-4EF3-916D-5082B4920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894" y="2396518"/>
            <a:ext cx="2597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l </a:t>
            </a:r>
            <a:r>
              <a:rPr lang="en-US" altLang="zh-CN" b="1" dirty="0">
                <a:solidFill>
                  <a:schemeClr val="tx1"/>
                </a:solidFill>
              </a:rPr>
              <a:t>, </a:t>
            </a:r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56AF2BE8-C8BD-4D03-B34B-133F9B1EB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7221" y="956656"/>
            <a:ext cx="4242851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向量组等价的定义</a:t>
            </a:r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C265DCA0-6273-4B32-B298-D4F2BBFE7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6" y="2396518"/>
            <a:ext cx="658822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若向量组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B</a:t>
            </a:r>
            <a:r>
              <a:rPr lang="en-US" altLang="zh-CN" sz="1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中的每个向量都能由向量组</a:t>
            </a:r>
          </a:p>
        </p:txBody>
      </p:sp>
      <p:sp>
        <p:nvSpPr>
          <p:cNvPr id="22" name="Rectangle 14">
            <a:extLst>
              <a:ext uri="{FF2B5EF4-FFF2-40B4-BE49-F238E27FC236}">
                <a16:creationId xmlns:a16="http://schemas.microsoft.com/office/drawing/2014/main" id="{771DCCCC-1F4A-46AA-AD88-08AB24326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0482" y="3117243"/>
            <a:ext cx="64991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则称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向量组</a:t>
            </a:r>
            <a:r>
              <a:rPr lang="zh-CN" altLang="en-US" sz="16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能由向量组</a:t>
            </a:r>
            <a:r>
              <a:rPr lang="zh-CN" altLang="en-US" sz="16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2000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线性表示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.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48C7683F-BC75-42C1-8A4D-81D75B5A9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394" y="4558693"/>
            <a:ext cx="321751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向量组等价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5" name="Text Box 7">
            <a:extLst>
              <a:ext uri="{FF2B5EF4-FFF2-40B4-BE49-F238E27FC236}">
                <a16:creationId xmlns:a16="http://schemas.microsoft.com/office/drawing/2014/main" id="{E597A93D-0DFC-4FA4-8730-6183C5D6A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776" y="1677381"/>
            <a:ext cx="634307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设有两个向量组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b="1" dirty="0">
                <a:solidFill>
                  <a:schemeClr val="tx1"/>
                </a:solidFill>
              </a:rPr>
              <a:t>: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m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及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en-US" altLang="zh-CN" b="1" dirty="0">
                <a:solidFill>
                  <a:schemeClr val="tx1"/>
                </a:solidFill>
              </a:rPr>
              <a:t>: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25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3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2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925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25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utoUpdateAnimBg="0"/>
      <p:bldP spid="10" grpId="0" build="p" autoUpdateAnimBg="0" advAuto="0"/>
      <p:bldP spid="11" grpId="0" build="p" autoUpdateAnimBg="0"/>
      <p:bldP spid="12" grpId="0" build="p" autoUpdateAnimBg="0" advAuto="0"/>
      <p:bldP spid="13" grpId="0" build="p" autoUpdateAnimBg="0" advAuto="0"/>
      <p:bldP spid="14" grpId="0" build="p" autoUpdateAnimBg="0"/>
      <p:bldP spid="21" grpId="0" build="p" autoUpdateAnimBg="0" advAuto="0"/>
      <p:bldP spid="22" grpId="0" build="p" autoUpdateAnimBg="0" advAuto="0"/>
      <p:bldP spid="24" grpId="0" build="p" autoUpdateAnimBg="0" advAuto="0"/>
      <p:bldP spid="25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17D124CD-E666-4DC0-A95E-C752EE693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Rectangle 30">
            <a:extLst>
              <a:ext uri="{FF2B5EF4-FFF2-40B4-BE49-F238E27FC236}">
                <a16:creationId xmlns:a16="http://schemas.microsoft.com/office/drawing/2014/main" id="{65BCAFFA-C778-4023-B96C-04D3B8A73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318" y="-21432"/>
            <a:ext cx="4946535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向量组的等价性</a:t>
            </a:r>
            <a:endParaRPr lang="zh-CN" altLang="en-US" sz="2600" b="1" kern="100" dirty="0">
              <a:solidFill>
                <a:schemeClr val="bg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EB21C448-E136-4A63-911D-27443CEAD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262" y="1382305"/>
            <a:ext cx="7209631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(1)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把向量组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和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B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所构成的矩阵依次记作</a:t>
            </a:r>
          </a:p>
        </p:txBody>
      </p:sp>
      <p:sp>
        <p:nvSpPr>
          <p:cNvPr id="27" name="Rectangle 4">
            <a:extLst>
              <a:ext uri="{FF2B5EF4-FFF2-40B4-BE49-F238E27FC236}">
                <a16:creationId xmlns:a16="http://schemas.microsoft.com/office/drawing/2014/main" id="{A9DE28EC-99C7-43A4-84B6-D21555CB9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188" y="2736512"/>
            <a:ext cx="311099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组线性表示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</a:p>
        </p:txBody>
      </p:sp>
      <p:sp>
        <p:nvSpPr>
          <p:cNvPr id="28" name="Rectangle 5">
            <a:extLst>
              <a:ext uri="{FF2B5EF4-FFF2-40B4-BE49-F238E27FC236}">
                <a16:creationId xmlns:a16="http://schemas.microsoft.com/office/drawing/2014/main" id="{CD4974A0-3F59-439B-A7CF-07C009B5F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648" y="2046956"/>
            <a:ext cx="642021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(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m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lang="zh-CN" altLang="en-US" sz="1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l</a:t>
            </a:r>
            <a:r>
              <a:rPr lang="en-US" altLang="zh-CN" sz="1000" b="1" i="1" baseline="-25000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),</a:t>
            </a:r>
          </a:p>
        </p:txBody>
      </p:sp>
      <p:sp>
        <p:nvSpPr>
          <p:cNvPr id="29" name="Rectangle 7">
            <a:extLst>
              <a:ext uri="{FF2B5EF4-FFF2-40B4-BE49-F238E27FC236}">
                <a16:creationId xmlns:a16="http://schemas.microsoft.com/office/drawing/2014/main" id="{BC19A05B-7F8B-4246-BA33-E7D0A5334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585" y="2046956"/>
            <a:ext cx="2406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组能由</a:t>
            </a:r>
          </a:p>
        </p:txBody>
      </p:sp>
      <p:sp>
        <p:nvSpPr>
          <p:cNvPr id="30" name="Text Box 8">
            <a:extLst>
              <a:ext uri="{FF2B5EF4-FFF2-40B4-BE49-F238E27FC236}">
                <a16:creationId xmlns:a16="http://schemas.microsoft.com/office/drawing/2014/main" id="{F99CC519-E36A-4EC0-B0B9-D1FF0E850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4927" y="685329"/>
            <a:ext cx="676468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关于向量组的等价性的几点说明</a:t>
            </a:r>
            <a:endParaRPr lang="zh-CN" altLang="en-US" b="1" dirty="0">
              <a:solidFill>
                <a:srgbClr val="C00000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FCB46235-4361-1522-C13E-AA4234A35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3540" y="2747836"/>
            <a:ext cx="1289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使得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09F6D458-FC37-61D2-E3C0-BDE95D4DBA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617" y="5651096"/>
            <a:ext cx="84340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其中矩阵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+mn-ea"/>
                <a:cs typeface="Times New Roman" pitchFamily="18" charset="0"/>
              </a:rPr>
              <a:t>K</a:t>
            </a:r>
            <a:r>
              <a:rPr lang="en-US" altLang="zh-CN" b="1" i="1" baseline="-25000" dirty="0" err="1">
                <a:solidFill>
                  <a:schemeClr val="tx1"/>
                </a:solidFill>
                <a:ea typeface="+mn-ea"/>
                <a:cs typeface="Times New Roman" pitchFamily="18" charset="0"/>
              </a:rPr>
              <a:t>m</a:t>
            </a:r>
            <a:r>
              <a:rPr lang="en-US" altLang="zh-CN" b="1" baseline="-25000" dirty="0" err="1">
                <a:solidFill>
                  <a:schemeClr val="tx1"/>
                </a:solidFill>
                <a:ea typeface="+mn-ea"/>
                <a:cs typeface="Times New Roman" pitchFamily="18" charset="0"/>
              </a:rPr>
              <a:t>×</a:t>
            </a:r>
            <a:r>
              <a:rPr lang="en-US" altLang="zh-CN" b="1" i="1" baseline="-25000" dirty="0" err="1">
                <a:solidFill>
                  <a:schemeClr val="tx1"/>
                </a:solidFill>
                <a:ea typeface="+mn-ea"/>
                <a:cs typeface="Times New Roman" pitchFamily="18" charset="0"/>
              </a:rPr>
              <a:t>l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(</a:t>
            </a:r>
            <a:r>
              <a:rPr lang="en-US" altLang="zh-CN" b="1" i="1" dirty="0" err="1">
                <a:solidFill>
                  <a:schemeClr val="tx1"/>
                </a:solidFill>
                <a:ea typeface="+mn-ea"/>
                <a:cs typeface="Times New Roman" pitchFamily="18" charset="0"/>
              </a:rPr>
              <a:t>k</a:t>
            </a:r>
            <a:r>
              <a:rPr lang="en-US" altLang="zh-CN" b="1" i="1" baseline="-25000" dirty="0" err="1">
                <a:solidFill>
                  <a:schemeClr val="tx1"/>
                </a:solidFill>
                <a:ea typeface="+mn-ea"/>
                <a:cs typeface="Times New Roman" pitchFamily="18" charset="0"/>
              </a:rPr>
              <a:t>ij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称为这一线性表示的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系数矩阵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.</a:t>
            </a:r>
            <a:endParaRPr lang="zh-CN" altLang="en-US" b="1" dirty="0">
              <a:solidFill>
                <a:srgbClr val="0000FF"/>
              </a:solidFill>
              <a:ea typeface="+mn-ea"/>
              <a:cs typeface="Times New Roman" pitchFamily="18" charset="0"/>
            </a:endParaRPr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49A88916-6A12-F73A-E934-69D31E9689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9936446"/>
              </p:ext>
            </p:extLst>
          </p:nvPr>
        </p:nvGraphicFramePr>
        <p:xfrm>
          <a:off x="581276" y="3437394"/>
          <a:ext cx="7962900" cy="209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962840" imgH="2095200" progId="Equation.DSMT4">
                  <p:embed/>
                </p:oleObj>
              </mc:Choice>
              <mc:Fallback>
                <p:oleObj name="Equation" r:id="rId3" imgW="7962840" imgH="2095200" progId="Equation.DSMT4">
                  <p:embed/>
                  <p:pic>
                    <p:nvPicPr>
                      <p:cNvPr id="10" name="Object 5">
                        <a:extLst>
                          <a:ext uri="{FF2B5EF4-FFF2-40B4-BE49-F238E27FC236}">
                            <a16:creationId xmlns:a16="http://schemas.microsoft.com/office/drawing/2014/main" id="{D9A511C9-5323-4D2E-AB9E-E1D6F8E662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276" y="3437394"/>
                        <a:ext cx="7962900" cy="209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">
            <a:extLst>
              <a:ext uri="{FF2B5EF4-FFF2-40B4-BE49-F238E27FC236}">
                <a16:creationId xmlns:a16="http://schemas.microsoft.com/office/drawing/2014/main" id="{D65E0BA0-D4BB-0E67-FA2D-9C4DCBB4F4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6235" y="2743426"/>
            <a:ext cx="496855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则存在一个矩阵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+mn-ea"/>
                <a:cs typeface="Times New Roman" pitchFamily="18" charset="0"/>
              </a:rPr>
              <a:t>K</a:t>
            </a:r>
            <a:r>
              <a:rPr lang="en-US" altLang="zh-CN" b="1" i="1" baseline="-25000" dirty="0" err="1">
                <a:solidFill>
                  <a:schemeClr val="tx1"/>
                </a:solidFill>
                <a:ea typeface="+mn-ea"/>
                <a:cs typeface="Times New Roman" pitchFamily="18" charset="0"/>
              </a:rPr>
              <a:t>m</a:t>
            </a:r>
            <a:r>
              <a:rPr lang="en-US" altLang="zh-CN" b="1" baseline="-25000" dirty="0" err="1">
                <a:solidFill>
                  <a:schemeClr val="tx1"/>
                </a:solidFill>
                <a:ea typeface="+mn-ea"/>
                <a:cs typeface="Times New Roman" pitchFamily="18" charset="0"/>
              </a:rPr>
              <a:t>×</a:t>
            </a:r>
            <a:r>
              <a:rPr lang="en-US" altLang="zh-CN" b="1" i="1" baseline="-25000" dirty="0" err="1">
                <a:solidFill>
                  <a:schemeClr val="tx1"/>
                </a:solidFill>
                <a:ea typeface="+mn-ea"/>
                <a:cs typeface="Times New Roman" pitchFamily="18" charset="0"/>
              </a:rPr>
              <a:t>l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(</a:t>
            </a:r>
            <a:r>
              <a:rPr lang="en-US" altLang="zh-CN" b="1" i="1" dirty="0" err="1">
                <a:solidFill>
                  <a:schemeClr val="tx1"/>
                </a:solidFill>
                <a:ea typeface="+mn-ea"/>
                <a:cs typeface="Times New Roman" pitchFamily="18" charset="0"/>
              </a:rPr>
              <a:t>k</a:t>
            </a:r>
            <a:r>
              <a:rPr lang="en-US" altLang="zh-CN" b="1" i="1" baseline="-25000" dirty="0" err="1">
                <a:solidFill>
                  <a:schemeClr val="tx1"/>
                </a:solidFill>
                <a:ea typeface="+mn-ea"/>
                <a:cs typeface="Times New Roman" pitchFamily="18" charset="0"/>
              </a:rPr>
              <a:t>ij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)</a:t>
            </a:r>
            <a:r>
              <a:rPr lang="en-US" altLang="zh-CN" sz="1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solidFill>
                <a:srgbClr val="C00000"/>
              </a:solidFill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80483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7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25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250"/>
                            </p:stCondLst>
                            <p:childTnLst>
                              <p:par>
                                <p:cTn id="35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7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6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p" autoUpdateAnimBg="0"/>
      <p:bldP spid="27" grpId="0" build="p" autoUpdateAnimBg="0" advAuto="0"/>
      <p:bldP spid="28" grpId="0" build="p" autoUpdateAnimBg="0" advAuto="0"/>
      <p:bldP spid="29" grpId="0" build="p" autoUpdateAnimBg="0" advAuto="0"/>
      <p:bldP spid="30" grpId="0"/>
      <p:bldP spid="2" grpId="0" build="p" autoUpdateAnimBg="0"/>
      <p:bldP spid="3" grpId="0" build="p" autoUpdateAnimBg="0"/>
      <p:bldP spid="5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30">
            <a:extLst>
              <a:ext uri="{FF2B5EF4-FFF2-40B4-BE49-F238E27FC236}">
                <a16:creationId xmlns:a16="http://schemas.microsoft.com/office/drawing/2014/main" id="{65BCAFFA-C778-4023-B96C-04D3B8A73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-27047"/>
            <a:ext cx="6737994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向量组的等价性</a:t>
            </a:r>
            <a:endParaRPr lang="zh-CN" altLang="en-US" sz="2600" b="1" kern="100" dirty="0">
              <a:solidFill>
                <a:schemeClr val="bg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FE19731-2415-4DF6-9CC8-10EECD7D0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7682" y="1285259"/>
            <a:ext cx="370790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B</a:t>
            </a:r>
            <a:r>
              <a:rPr lang="en-US" altLang="zh-CN" sz="12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为这一线性表示的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E75EC935-4222-4A33-BA03-0BF6E4065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481" y="1285260"/>
            <a:ext cx="5522266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由矩阵</a:t>
            </a:r>
            <a:r>
              <a:rPr lang="zh-CN" altLang="en-US" sz="12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12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的列向量组线性表示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  <a:endParaRPr lang="en-US" altLang="zh-CN" b="1" i="1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4DB131D9-EA68-4A6A-9A22-61CA52E31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324" y="620688"/>
            <a:ext cx="44624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(2)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</a:t>
            </a:r>
            <a:r>
              <a:rPr lang="zh-CN" altLang="en-US" sz="12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</a:rPr>
              <a:t>C</a:t>
            </a:r>
            <a:r>
              <a:rPr lang="en-US" altLang="zh-CN" b="1" i="1" baseline="-25000" dirty="0" err="1">
                <a:solidFill>
                  <a:schemeClr val="tx1"/>
                </a:solidFill>
              </a:rPr>
              <a:t>m</a:t>
            </a:r>
            <a:r>
              <a:rPr lang="en-US" altLang="zh-CN" b="1" baseline="-25000" dirty="0" err="1">
                <a:solidFill>
                  <a:schemeClr val="tx1"/>
                </a:solidFill>
              </a:rPr>
              <a:t>×</a:t>
            </a:r>
            <a:r>
              <a:rPr lang="en-US" altLang="zh-CN" b="1" i="1" baseline="-25000" dirty="0" err="1">
                <a:solidFill>
                  <a:schemeClr val="tx1"/>
                </a:solidFill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</a:rPr>
              <a:t>A</a:t>
            </a:r>
            <a:r>
              <a:rPr lang="en-US" altLang="zh-CN" b="1" i="1" baseline="-25000" dirty="0" err="1">
                <a:solidFill>
                  <a:schemeClr val="tx1"/>
                </a:solidFill>
              </a:rPr>
              <a:t>m</a:t>
            </a:r>
            <a:r>
              <a:rPr lang="en-US" altLang="zh-CN" b="1" baseline="-25000" dirty="0" err="1">
                <a:solidFill>
                  <a:schemeClr val="tx1"/>
                </a:solidFill>
              </a:rPr>
              <a:t>×</a:t>
            </a:r>
            <a:r>
              <a:rPr lang="en-US" altLang="zh-CN" b="1" i="1" baseline="-25000" dirty="0" err="1">
                <a:solidFill>
                  <a:schemeClr val="tx1"/>
                </a:solidFill>
              </a:rPr>
              <a:t>l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</a:rPr>
              <a:t>B</a:t>
            </a:r>
            <a:r>
              <a:rPr lang="en-US" altLang="zh-CN" b="1" i="1" baseline="-25000" dirty="0" err="1">
                <a:solidFill>
                  <a:schemeClr val="tx1"/>
                </a:solidFill>
              </a:rPr>
              <a:t>l</a:t>
            </a:r>
            <a:r>
              <a:rPr lang="en-US" altLang="zh-CN" b="1" baseline="-25000" dirty="0" err="1">
                <a:solidFill>
                  <a:schemeClr val="tx1"/>
                </a:solidFill>
              </a:rPr>
              <a:t>×</a:t>
            </a:r>
            <a:r>
              <a:rPr lang="en-US" altLang="zh-CN" b="1" i="1" baseline="-25000" dirty="0" err="1">
                <a:solidFill>
                  <a:schemeClr val="tx1"/>
                </a:solidFill>
              </a:rPr>
              <a:t>n</a:t>
            </a:r>
            <a:r>
              <a:rPr lang="en-US" altLang="zh-CN" b="1" dirty="0">
                <a:solidFill>
                  <a:schemeClr val="tx1"/>
                </a:solidFill>
              </a:rPr>
              <a:t>, 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94EAE7CE-C90D-4C16-BFE7-90226AFFB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7602" y="621629"/>
            <a:ext cx="442798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则矩阵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C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的列向量组能</a:t>
            </a: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F0DAB9DC-394A-429D-BE5E-9B96855FA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586" y="1958494"/>
            <a:ext cx="200976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系数矩阵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13" name="Object 3">
            <a:extLst>
              <a:ext uri="{FF2B5EF4-FFF2-40B4-BE49-F238E27FC236}">
                <a16:creationId xmlns:a16="http://schemas.microsoft.com/office/drawing/2014/main" id="{37190E9E-20F7-43DB-9929-9026F8BF29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6927972"/>
              </p:ext>
            </p:extLst>
          </p:nvPr>
        </p:nvGraphicFramePr>
        <p:xfrm>
          <a:off x="828036" y="3293184"/>
          <a:ext cx="7531100" cy="209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530840" imgH="2095200" progId="Equation.DSMT4">
                  <p:embed/>
                </p:oleObj>
              </mc:Choice>
              <mc:Fallback>
                <p:oleObj name="Equation" r:id="rId2" imgW="7530840" imgH="2095200" progId="Equation.DSMT4">
                  <p:embed/>
                  <p:pic>
                    <p:nvPicPr>
                      <p:cNvPr id="8" name="Object 3">
                        <a:extLst>
                          <a:ext uri="{FF2B5EF4-FFF2-40B4-BE49-F238E27FC236}">
                            <a16:creationId xmlns:a16="http://schemas.microsoft.com/office/drawing/2014/main" id="{69C97EB4-A716-402B-ACFC-07E574F6FC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036" y="3293184"/>
                        <a:ext cx="7531100" cy="209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5">
            <a:extLst>
              <a:ext uri="{FF2B5EF4-FFF2-40B4-BE49-F238E27FC236}">
                <a16:creationId xmlns:a16="http://schemas.microsoft.com/office/drawing/2014/main" id="{8C7B2E5B-3384-6F7A-EC4A-5DE3B6503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1338" y="1963803"/>
            <a:ext cx="68042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设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</a:rPr>
              <a:t>A</a:t>
            </a:r>
            <a:r>
              <a:rPr lang="en-US" altLang="zh-CN" b="1" i="1" baseline="-25000" dirty="0" err="1">
                <a:solidFill>
                  <a:schemeClr val="tx1"/>
                </a:solidFill>
              </a:rPr>
              <a:t>m</a:t>
            </a:r>
            <a:r>
              <a:rPr lang="en-US" altLang="zh-CN" b="1" baseline="-25000" dirty="0" err="1">
                <a:solidFill>
                  <a:schemeClr val="tx1"/>
                </a:solidFill>
              </a:rPr>
              <a:t>×</a:t>
            </a:r>
            <a:r>
              <a:rPr lang="en-US" altLang="zh-CN" b="1" i="1" baseline="-25000" dirty="0" err="1">
                <a:solidFill>
                  <a:schemeClr val="tx1"/>
                </a:solidFill>
              </a:rPr>
              <a:t>l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(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...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l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),</a:t>
            </a:r>
            <a:r>
              <a:rPr lang="zh-CN" altLang="en-US" sz="1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</a:rPr>
              <a:t>C</a:t>
            </a:r>
            <a:r>
              <a:rPr lang="en-US" altLang="zh-CN" b="1" i="1" baseline="-25000" dirty="0" err="1">
                <a:solidFill>
                  <a:schemeClr val="tx1"/>
                </a:solidFill>
              </a:rPr>
              <a:t>m</a:t>
            </a:r>
            <a:r>
              <a:rPr lang="en-US" altLang="zh-CN" b="1" baseline="-25000" dirty="0" err="1">
                <a:solidFill>
                  <a:schemeClr val="tx1"/>
                </a:solidFill>
              </a:rPr>
              <a:t>×</a:t>
            </a:r>
            <a:r>
              <a:rPr lang="en-US" altLang="zh-CN" b="1" i="1" baseline="-25000" dirty="0" err="1">
                <a:solidFill>
                  <a:schemeClr val="tx1"/>
                </a:solidFill>
              </a:rPr>
              <a:t>n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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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...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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n</a:t>
            </a:r>
            <a:r>
              <a:rPr lang="en-US" altLang="zh-CN" sz="1000" b="1" i="1" baseline="-25000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),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473574F-553E-4474-E97F-F678EDEED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586" y="2644293"/>
            <a:ext cx="521819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</a:t>
            </a:r>
            <a:r>
              <a:rPr lang="zh-CN" altLang="en-US" sz="1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</a:rPr>
              <a:t>C</a:t>
            </a:r>
            <a:r>
              <a:rPr lang="en-US" altLang="zh-CN" b="1" i="1" baseline="-25000" dirty="0" err="1">
                <a:solidFill>
                  <a:schemeClr val="tx1"/>
                </a:solidFill>
              </a:rPr>
              <a:t>m</a:t>
            </a:r>
            <a:r>
              <a:rPr lang="en-US" altLang="zh-CN" b="1" baseline="-25000" dirty="0" err="1">
                <a:solidFill>
                  <a:schemeClr val="tx1"/>
                </a:solidFill>
              </a:rPr>
              <a:t>×</a:t>
            </a:r>
            <a:r>
              <a:rPr lang="en-US" altLang="zh-CN" b="1" i="1" baseline="-25000" dirty="0" err="1">
                <a:solidFill>
                  <a:schemeClr val="tx1"/>
                </a:solidFill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</a:rPr>
              <a:t>A</a:t>
            </a:r>
            <a:r>
              <a:rPr lang="en-US" altLang="zh-CN" b="1" i="1" baseline="-25000" dirty="0" err="1">
                <a:solidFill>
                  <a:schemeClr val="tx1"/>
                </a:solidFill>
              </a:rPr>
              <a:t>m</a:t>
            </a:r>
            <a:r>
              <a:rPr lang="en-US" altLang="zh-CN" b="1" baseline="-25000" dirty="0" err="1">
                <a:solidFill>
                  <a:schemeClr val="tx1"/>
                </a:solidFill>
              </a:rPr>
              <a:t>×</a:t>
            </a:r>
            <a:r>
              <a:rPr lang="en-US" altLang="zh-CN" b="1" i="1" baseline="-25000" dirty="0" err="1">
                <a:solidFill>
                  <a:schemeClr val="tx1"/>
                </a:solidFill>
              </a:rPr>
              <a:t>l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</a:rPr>
              <a:t>B</a:t>
            </a:r>
            <a:r>
              <a:rPr lang="en-US" altLang="zh-CN" b="1" i="1" baseline="-25000" dirty="0" err="1">
                <a:solidFill>
                  <a:schemeClr val="tx1"/>
                </a:solidFill>
              </a:rPr>
              <a:t>l</a:t>
            </a:r>
            <a:r>
              <a:rPr lang="en-US" altLang="zh-CN" b="1" baseline="-25000" dirty="0" err="1">
                <a:solidFill>
                  <a:schemeClr val="tx1"/>
                </a:solidFill>
              </a:rPr>
              <a:t>×</a:t>
            </a:r>
            <a:r>
              <a:rPr lang="en-US" altLang="zh-CN" b="1" i="1" baseline="-25000" dirty="0" err="1">
                <a:solidFill>
                  <a:schemeClr val="tx1"/>
                </a:solidFill>
              </a:rPr>
              <a:t>n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可表示为</a:t>
            </a:r>
            <a:r>
              <a:rPr lang="en-US" altLang="zh-CN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D2365E20-820C-622A-FBB1-03F67F42B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90" y="5419505"/>
            <a:ext cx="896544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</a:t>
            </a:r>
            <a:endParaRPr lang="en-US" altLang="zh-CN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8">
            <a:extLst>
              <a:ext uri="{FF2B5EF4-FFF2-40B4-BE49-F238E27FC236}">
                <a16:creationId xmlns:a16="http://schemas.microsoft.com/office/drawing/2014/main" id="{27E82676-7FB8-53B7-BD31-A48CC3F224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7431925"/>
              </p:ext>
            </p:extLst>
          </p:nvPr>
        </p:nvGraphicFramePr>
        <p:xfrm>
          <a:off x="1209036" y="5599798"/>
          <a:ext cx="6769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769080" imgH="482400" progId="Equation.DSMT4">
                  <p:embed/>
                </p:oleObj>
              </mc:Choice>
              <mc:Fallback>
                <p:oleObj name="Equation" r:id="rId4" imgW="6769080" imgH="482400" progId="Equation.DSMT4">
                  <p:embed/>
                  <p:pic>
                    <p:nvPicPr>
                      <p:cNvPr id="12" name="Object 8">
                        <a:extLst>
                          <a:ext uri="{FF2B5EF4-FFF2-40B4-BE49-F238E27FC236}">
                            <a16:creationId xmlns:a16="http://schemas.microsoft.com/office/drawing/2014/main" id="{C0AC73B9-B51B-4BFF-B08F-CC1C8D41A3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9036" y="5599798"/>
                        <a:ext cx="67691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40464032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7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7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25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75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75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675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utoUpdateAnimBg="0" advAuto="0"/>
      <p:bldP spid="9" grpId="0" build="p" autoUpdateAnimBg="0" advAuto="0"/>
      <p:bldP spid="10" grpId="0" build="p" autoUpdateAnimBg="0"/>
      <p:bldP spid="11" grpId="0" build="p" autoUpdateAnimBg="0"/>
      <p:bldP spid="12" grpId="0" build="p" autoUpdateAnimBg="0" advAuto="0"/>
      <p:bldP spid="2" grpId="0" build="p" autoUpdateAnimBg="0" advAuto="0"/>
      <p:bldP spid="3" grpId="0" build="p" autoUpdateAnimBg="0"/>
      <p:bldP spid="4" grpId="0" build="p" autoUpdateAnimBg="0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17D124CD-E666-4DC0-A95E-C752EE693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Rectangle 30">
            <a:extLst>
              <a:ext uri="{FF2B5EF4-FFF2-40B4-BE49-F238E27FC236}">
                <a16:creationId xmlns:a16="http://schemas.microsoft.com/office/drawing/2014/main" id="{65BCAFFA-C778-4023-B96C-04D3B8A73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9056"/>
            <a:ext cx="4484971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向量组的等价性</a:t>
            </a:r>
            <a:endParaRPr lang="zh-CN" altLang="en-US" sz="2600" b="1" kern="100" dirty="0">
              <a:solidFill>
                <a:schemeClr val="bg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A26FFDE6-6FA2-4D0F-AECF-D19B96C7E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405" y="620688"/>
            <a:ext cx="81010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同时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C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的行向量组能由</a:t>
            </a:r>
            <a:r>
              <a:rPr lang="zh-CN" altLang="en-US" sz="16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B</a:t>
            </a:r>
            <a:r>
              <a:rPr lang="en-US" altLang="zh-CN" sz="18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的行向量组线性表示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26F255CB-9DA1-4D37-8658-7DF0EBCDB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140" y="1192421"/>
            <a:ext cx="559681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为这一线性表示的系数矩阵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graphicFrame>
        <p:nvGraphicFramePr>
          <p:cNvPr id="10" name="Object 3">
            <a:extLst>
              <a:ext uri="{FF2B5EF4-FFF2-40B4-BE49-F238E27FC236}">
                <a16:creationId xmlns:a16="http://schemas.microsoft.com/office/drawing/2014/main" id="{1F6C7396-5736-498F-B176-1491F2D88A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1854024"/>
              </p:ext>
            </p:extLst>
          </p:nvPr>
        </p:nvGraphicFramePr>
        <p:xfrm>
          <a:off x="433155" y="1762210"/>
          <a:ext cx="1783229" cy="2082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68480" imgH="2298600" progId="Equation.DSMT4">
                  <p:embed/>
                </p:oleObj>
              </mc:Choice>
              <mc:Fallback>
                <p:oleObj name="Equation" r:id="rId3" imgW="1968480" imgH="2298600" progId="Equation.DSMT4">
                  <p:embed/>
                  <p:pic>
                    <p:nvPicPr>
                      <p:cNvPr id="5" name="Object 3">
                        <a:extLst>
                          <a:ext uri="{FF2B5EF4-FFF2-40B4-BE49-F238E27FC236}">
                            <a16:creationId xmlns:a16="http://schemas.microsoft.com/office/drawing/2014/main" id="{6F190B15-FFAA-4221-BE66-49C69207A2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155" y="1762210"/>
                        <a:ext cx="1783229" cy="20823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EA6A3A99-E02A-5875-0277-B776577235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6903545"/>
              </p:ext>
            </p:extLst>
          </p:nvPr>
        </p:nvGraphicFramePr>
        <p:xfrm>
          <a:off x="2216384" y="1762209"/>
          <a:ext cx="1852258" cy="2082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44440" imgH="2298600" progId="Equation.DSMT4">
                  <p:embed/>
                </p:oleObj>
              </mc:Choice>
              <mc:Fallback>
                <p:oleObj name="Equation" r:id="rId5" imgW="2044440" imgH="2298600" progId="Equation.DSMT4">
                  <p:embed/>
                  <p:pic>
                    <p:nvPicPr>
                      <p:cNvPr id="10" name="Object 3">
                        <a:extLst>
                          <a:ext uri="{FF2B5EF4-FFF2-40B4-BE49-F238E27FC236}">
                            <a16:creationId xmlns:a16="http://schemas.microsoft.com/office/drawing/2014/main" id="{1F6C7396-5736-498F-B176-1491F2D88A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6384" y="1762209"/>
                        <a:ext cx="1852258" cy="20823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2B477A6E-C23E-B6AC-E97D-CE49865C51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7370359"/>
              </p:ext>
            </p:extLst>
          </p:nvPr>
        </p:nvGraphicFramePr>
        <p:xfrm>
          <a:off x="2118592" y="3829304"/>
          <a:ext cx="4878387" cy="208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384520" imgH="2298600" progId="Equation.DSMT4">
                  <p:embed/>
                </p:oleObj>
              </mc:Choice>
              <mc:Fallback>
                <p:oleObj name="Equation" r:id="rId7" imgW="5384520" imgH="2298600" progId="Equation.DSMT4">
                  <p:embed/>
                  <p:pic>
                    <p:nvPicPr>
                      <p:cNvPr id="10" name="Object 3">
                        <a:extLst>
                          <a:ext uri="{FF2B5EF4-FFF2-40B4-BE49-F238E27FC236}">
                            <a16:creationId xmlns:a16="http://schemas.microsoft.com/office/drawing/2014/main" id="{1F6C7396-5736-498F-B176-1491F2D88A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592" y="3829304"/>
                        <a:ext cx="4878387" cy="208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5">
            <a:extLst>
              <a:ext uri="{FF2B5EF4-FFF2-40B4-BE49-F238E27FC236}">
                <a16:creationId xmlns:a16="http://schemas.microsoft.com/office/drawing/2014/main" id="{5E22B412-3C35-F14A-DA37-39A963883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6434" y="2543828"/>
            <a:ext cx="496335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</a:t>
            </a:r>
            <a:r>
              <a:rPr lang="zh-CN" altLang="en-US" sz="1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</a:rPr>
              <a:t>C</a:t>
            </a:r>
            <a:r>
              <a:rPr lang="en-US" altLang="zh-CN" b="1" i="1" baseline="-25000" dirty="0" err="1">
                <a:solidFill>
                  <a:schemeClr val="tx1"/>
                </a:solidFill>
              </a:rPr>
              <a:t>m</a:t>
            </a:r>
            <a:r>
              <a:rPr lang="en-US" altLang="zh-CN" b="1" baseline="-25000" dirty="0" err="1">
                <a:solidFill>
                  <a:schemeClr val="tx1"/>
                </a:solidFill>
              </a:rPr>
              <a:t>×</a:t>
            </a:r>
            <a:r>
              <a:rPr lang="en-US" altLang="zh-CN" b="1" i="1" baseline="-25000" dirty="0" err="1">
                <a:solidFill>
                  <a:schemeClr val="tx1"/>
                </a:solidFill>
              </a:rPr>
              <a:t>n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</a:rPr>
              <a:t>A</a:t>
            </a:r>
            <a:r>
              <a:rPr lang="en-US" altLang="zh-CN" b="1" i="1" baseline="-25000" dirty="0" err="1">
                <a:solidFill>
                  <a:schemeClr val="tx1"/>
                </a:solidFill>
              </a:rPr>
              <a:t>m</a:t>
            </a:r>
            <a:r>
              <a:rPr lang="en-US" altLang="zh-CN" b="1" baseline="-25000" dirty="0" err="1">
                <a:solidFill>
                  <a:schemeClr val="tx1"/>
                </a:solidFill>
              </a:rPr>
              <a:t>×</a:t>
            </a:r>
            <a:r>
              <a:rPr lang="en-US" altLang="zh-CN" b="1" i="1" baseline="-25000" dirty="0" err="1">
                <a:solidFill>
                  <a:schemeClr val="tx1"/>
                </a:solidFill>
              </a:rPr>
              <a:t>l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</a:rPr>
              <a:t>B</a:t>
            </a:r>
            <a:r>
              <a:rPr lang="en-US" altLang="zh-CN" b="1" i="1" baseline="-25000" dirty="0" err="1">
                <a:solidFill>
                  <a:schemeClr val="tx1"/>
                </a:solidFill>
              </a:rPr>
              <a:t>l</a:t>
            </a:r>
            <a:r>
              <a:rPr lang="en-US" altLang="zh-CN" b="1" baseline="-25000" dirty="0" err="1">
                <a:solidFill>
                  <a:schemeClr val="tx1"/>
                </a:solidFill>
              </a:rPr>
              <a:t>×</a:t>
            </a:r>
            <a:r>
              <a:rPr lang="en-US" altLang="zh-CN" b="1" i="1" baseline="-25000" dirty="0" err="1">
                <a:solidFill>
                  <a:schemeClr val="tx1"/>
                </a:solidFill>
              </a:rPr>
              <a:t>n</a:t>
            </a:r>
            <a:r>
              <a:rPr lang="en-US" altLang="zh-CN" sz="1000" b="1" i="1" baseline="-25000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可表示为</a:t>
            </a:r>
            <a:r>
              <a:rPr lang="en-US" altLang="zh-CN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C7205D3-7440-8C15-B111-7946189EF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6136" y="1316253"/>
            <a:ext cx="10081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设</a:t>
            </a:r>
            <a:endParaRPr lang="en-US" altLang="zh-CN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49AA11C8-6A14-3ECB-2FC4-C5B7685D1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140" y="5895259"/>
            <a:ext cx="896544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</a:t>
            </a:r>
            <a:endParaRPr lang="en-US" altLang="zh-CN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AB26C81A-DAEB-975E-452C-40C4BB2703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7283506"/>
              </p:ext>
            </p:extLst>
          </p:nvPr>
        </p:nvGraphicFramePr>
        <p:xfrm>
          <a:off x="1146249" y="5933381"/>
          <a:ext cx="7112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111800" imgH="507960" progId="Equation.DSMT4">
                  <p:embed/>
                </p:oleObj>
              </mc:Choice>
              <mc:Fallback>
                <p:oleObj name="Equation" r:id="rId9" imgW="7111800" imgH="507960" progId="Equation.DSMT4">
                  <p:embed/>
                  <p:pic>
                    <p:nvPicPr>
                      <p:cNvPr id="5" name="Object 8">
                        <a:extLst>
                          <a:ext uri="{FF2B5EF4-FFF2-40B4-BE49-F238E27FC236}">
                            <a16:creationId xmlns:a16="http://schemas.microsoft.com/office/drawing/2014/main" id="{27E82676-7FB8-53B7-BD31-A48CC3F224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6249" y="5933381"/>
                        <a:ext cx="7112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51572712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2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7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7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75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75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75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utoUpdateAnimBg="0"/>
      <p:bldP spid="9" grpId="0" build="p" autoUpdateAnimBg="0" advAuto="0"/>
      <p:bldP spid="4" grpId="0" build="p" autoUpdateAnimBg="0"/>
      <p:bldP spid="5" grpId="0" build="p" autoUpdateAnimBg="0"/>
      <p:bldP spid="6" grpId="0" build="p" autoUpdateAnimBg="0" advAuto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30">
            <a:extLst>
              <a:ext uri="{FF2B5EF4-FFF2-40B4-BE49-F238E27FC236}">
                <a16:creationId xmlns:a16="http://schemas.microsoft.com/office/drawing/2014/main" id="{65BCAFFA-C778-4023-B96C-04D3B8A73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49" y="-17839"/>
            <a:ext cx="4586135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向量组的等价性</a:t>
            </a:r>
            <a:endParaRPr lang="zh-CN" altLang="en-US" sz="2600" b="1" kern="100" dirty="0">
              <a:solidFill>
                <a:schemeClr val="bg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F8491A64-C60A-47CE-8E36-5C43552E5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680" y="692696"/>
            <a:ext cx="44565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(3)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设矩阵</a:t>
            </a:r>
            <a:r>
              <a:rPr lang="zh-CN" altLang="en-US" sz="16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与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</a:rPr>
              <a:t>B</a:t>
            </a:r>
            <a:r>
              <a:rPr lang="en-US" altLang="zh-CN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行等价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</a:rPr>
              <a:t>. 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B5D5730F-259C-4432-84FD-5AB4C0943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527" y="5691573"/>
            <a:ext cx="444764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组与</a:t>
            </a:r>
            <a:r>
              <a:rPr lang="zh-CN" altLang="en-US" sz="16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B</a:t>
            </a:r>
            <a:r>
              <a:rPr lang="en-US" altLang="zh-CN" sz="16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的列向量组等价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.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011C1E9F-F4E0-43EE-B63C-D12E97DAB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679" y="4970848"/>
            <a:ext cx="221855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类似可知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endParaRPr lang="en-US" altLang="zh-CN" b="1" dirty="0">
              <a:solidFill>
                <a:schemeClr val="tx1"/>
              </a:solidFill>
              <a:latin typeface="+mn-lt"/>
              <a:ea typeface="华文中宋" pitchFamily="2" charset="-122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2AD66049-104B-4260-9095-73EE3509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275" y="4240439"/>
            <a:ext cx="698085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于是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</a:rPr>
              <a:t>,</a:t>
            </a:r>
            <a:r>
              <a:rPr lang="zh-CN" altLang="en-US" sz="12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的行向量组与</a:t>
            </a:r>
            <a:r>
              <a:rPr lang="zh-CN" altLang="en-US" sz="14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</a:rPr>
              <a:t>B</a:t>
            </a:r>
            <a:r>
              <a:rPr lang="en-US" altLang="zh-CN" sz="14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的行向量组等价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</a:rPr>
              <a:t>.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1C8BBB97-EF36-4A2D-A1C3-971093288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026" y="4242242"/>
            <a:ext cx="2281906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线性表示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.</a:t>
            </a: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6C374311-EA64-4CAF-A5A0-CE58D8A579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027" y="2802380"/>
            <a:ext cx="1345801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表示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</a:rPr>
              <a:t>.</a:t>
            </a:r>
            <a:r>
              <a:rPr lang="en-US" altLang="zh-CN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19ADF065-9277-45FD-820D-5BD08D536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6788" y="2802380"/>
            <a:ext cx="381642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由于初等变换可逆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FB2BDADF-4C32-4894-8427-44F042C80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027" y="2081655"/>
            <a:ext cx="2137889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线性组合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  <a:endParaRPr lang="en-US" altLang="zh-CN" b="1" i="1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3" name="Text Box 12">
            <a:extLst>
              <a:ext uri="{FF2B5EF4-FFF2-40B4-BE49-F238E27FC236}">
                <a16:creationId xmlns:a16="http://schemas.microsoft.com/office/drawing/2014/main" id="{96B77973-29C9-45E4-AE60-E708FDC85E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908" y="1372042"/>
            <a:ext cx="6588224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的每个行向量都是</a:t>
            </a:r>
            <a:r>
              <a:rPr lang="zh-CN" altLang="en-US" sz="1000" b="1" dirty="0">
                <a:solidFill>
                  <a:schemeClr val="tx1"/>
                </a:solidFill>
                <a:latin typeface="+mn-lt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A</a:t>
            </a:r>
            <a:r>
              <a:rPr lang="en-US" altLang="zh-CN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的行向量组的</a:t>
            </a:r>
          </a:p>
        </p:txBody>
      </p:sp>
      <p:sp>
        <p:nvSpPr>
          <p:cNvPr id="24" name="Rectangle 13">
            <a:extLst>
              <a:ext uri="{FF2B5EF4-FFF2-40B4-BE49-F238E27FC236}">
                <a16:creationId xmlns:a16="http://schemas.microsoft.com/office/drawing/2014/main" id="{5245D346-AEA5-4B89-B2B9-F3749096E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0884" y="2081655"/>
            <a:ext cx="6696744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即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B</a:t>
            </a:r>
            <a:r>
              <a:rPr lang="en-US" altLang="zh-CN" sz="2000" b="1" i="1" dirty="0">
                <a:solidFill>
                  <a:schemeClr val="tx1"/>
                </a:solidFill>
                <a:latin typeface="+mn-lt"/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的行向量组能由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的行向量组线性</a:t>
            </a:r>
            <a:endParaRPr lang="en-US" altLang="zh-CN" b="1" i="1" dirty="0">
              <a:solidFill>
                <a:schemeClr val="tx1"/>
              </a:solidFill>
              <a:latin typeface="+mn-lt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5" name="Rectangle 14">
            <a:extLst>
              <a:ext uri="{FF2B5EF4-FFF2-40B4-BE49-F238E27FC236}">
                <a16:creationId xmlns:a16="http://schemas.microsoft.com/office/drawing/2014/main" id="{54B7BFFD-D4C1-4283-9860-36665EDDA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527" y="3521517"/>
            <a:ext cx="221539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换变为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F7777CF0-3EB7-626F-674E-2DCF396602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3172" y="679616"/>
            <a:ext cx="4104456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矩阵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经初等行变换可</a:t>
            </a:r>
            <a:endParaRPr lang="en-US" altLang="zh-CN" b="1" dirty="0">
              <a:solidFill>
                <a:schemeClr val="tx1"/>
              </a:solidFill>
              <a:ea typeface="华文中宋" panose="02010600040101010101" pitchFamily="2" charset="-122"/>
            </a:endParaRP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A510C307-2BF3-68D2-826A-2730703BE5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027" y="1372041"/>
            <a:ext cx="2497929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变成矩阵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</a:rPr>
              <a:t>, </a:t>
            </a:r>
          </a:p>
        </p:txBody>
      </p:sp>
      <p:sp>
        <p:nvSpPr>
          <p:cNvPr id="4" name="Rectangle 14">
            <a:extLst>
              <a:ext uri="{FF2B5EF4-FFF2-40B4-BE49-F238E27FC236}">
                <a16:creationId xmlns:a16="http://schemas.microsoft.com/office/drawing/2014/main" id="{A9C6F351-8622-F9A6-AB25-0EEB5168A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9156" y="2802379"/>
            <a:ext cx="424847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因此</a:t>
            </a:r>
            <a:r>
              <a:rPr lang="zh-CN" altLang="en-US" sz="16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B</a:t>
            </a:r>
            <a:r>
              <a:rPr lang="en-US" altLang="zh-CN" sz="1600" b="1" i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亦可经初等行变</a:t>
            </a:r>
            <a:endParaRPr lang="en-US" altLang="zh-CN" b="1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1D91658-F483-76F6-9624-F4A51C51F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0884" y="3517409"/>
            <a:ext cx="680424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从而</a:t>
            </a:r>
            <a:r>
              <a:rPr lang="zh-CN" altLang="en-US" sz="16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latin typeface="+mn-lt"/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的行向量组也能由</a:t>
            </a:r>
            <a:r>
              <a:rPr lang="zh-CN" altLang="en-US" sz="16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B</a:t>
            </a:r>
            <a:r>
              <a:rPr lang="en-US" altLang="zh-CN" sz="1600" b="1" i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的行向量组</a:t>
            </a:r>
            <a:endParaRPr lang="en-US" altLang="zh-CN" b="1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8A1A9DE-5036-B0A8-B3CD-1753F2F70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0924" y="4969478"/>
            <a:ext cx="4079254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若矩阵</a:t>
            </a:r>
            <a:r>
              <a:rPr lang="zh-CN" altLang="en-US" sz="16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A</a:t>
            </a:r>
            <a:r>
              <a:rPr lang="en-US" altLang="zh-CN" sz="16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与</a:t>
            </a:r>
            <a:r>
              <a:rPr lang="zh-CN" altLang="en-US" sz="16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B</a:t>
            </a:r>
            <a:r>
              <a:rPr lang="en-US" altLang="zh-CN" sz="1600" b="1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列等价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chemeClr val="tx1"/>
                </a:solidFill>
                <a:latin typeface="+mn-lt"/>
                <a:ea typeface="华文中宋" pitchFamily="2" charset="-122"/>
              </a:rPr>
              <a:t> 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8E7F2DF-9F04-BD57-53D0-1CC440495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3266" y="4969478"/>
            <a:ext cx="291581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则</a:t>
            </a:r>
            <a:r>
              <a:rPr lang="zh-CN" altLang="en-US" sz="16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A</a:t>
            </a:r>
            <a:r>
              <a:rPr lang="en-US" altLang="zh-CN" sz="1600" b="1" i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的列向量</a:t>
            </a:r>
            <a:endParaRPr lang="en-US" altLang="zh-CN" b="1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65468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75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75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25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25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25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25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8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7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25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2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25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25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7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0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1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utoUpdateAnimBg="0"/>
      <p:bldP spid="9" grpId="0"/>
      <p:bldP spid="10" grpId="0" build="p" autoUpdateAnimBg="0"/>
      <p:bldP spid="11" grpId="0"/>
      <p:bldP spid="12" grpId="0" build="p" autoUpdateAnimBg="0" advAuto="0"/>
      <p:bldP spid="14" grpId="0" build="p" autoUpdateAnimBg="0" advAuto="0"/>
      <p:bldP spid="21" grpId="0" build="p" autoUpdateAnimBg="0"/>
      <p:bldP spid="22" grpId="0" build="p" autoUpdateAnimBg="0" advAuto="0"/>
      <p:bldP spid="23" grpId="0" build="p" autoUpdateAnimBg="0"/>
      <p:bldP spid="24" grpId="0" build="p" autoUpdateAnimBg="0" advAuto="0"/>
      <p:bldP spid="25" grpId="0" build="p" autoUpdateAnimBg="0" advAuto="0"/>
      <p:bldP spid="2" grpId="0" build="p" autoUpdateAnimBg="0"/>
      <p:bldP spid="3" grpId="0" build="p" autoUpdateAnimBg="0"/>
      <p:bldP spid="4" grpId="0" build="p" autoUpdateAnimBg="0" advAuto="0"/>
      <p:bldP spid="5" grpId="0" build="p" autoUpdateAnimBg="0" advAuto="0"/>
      <p:bldP spid="6" grpId="0" build="p" autoUpdateAnimBg="0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17D124CD-E666-4DC0-A95E-C752EE693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Rectangle 30">
            <a:extLst>
              <a:ext uri="{FF2B5EF4-FFF2-40B4-BE49-F238E27FC236}">
                <a16:creationId xmlns:a16="http://schemas.microsoft.com/office/drawing/2014/main" id="{65BCAFFA-C778-4023-B96C-04D3B8A73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-17586"/>
            <a:ext cx="5011870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向量组的等价</a:t>
            </a:r>
            <a:endParaRPr lang="zh-CN" altLang="en-US" sz="2600" b="1" kern="100" dirty="0">
              <a:solidFill>
                <a:schemeClr val="bg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E8871595-F88E-4457-BAA1-E1ED64E82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7647" y="1995938"/>
            <a:ext cx="641915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则</a:t>
            </a:r>
            <a:r>
              <a:rPr lang="zh-CN" altLang="en-US" sz="20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2000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的行向量组与</a:t>
            </a:r>
            <a:r>
              <a:rPr lang="zh-CN" altLang="en-US" sz="20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B</a:t>
            </a:r>
            <a:r>
              <a:rPr lang="en-US" altLang="zh-CN" sz="2000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的行向量组等价</a:t>
            </a:r>
            <a:r>
              <a:rPr lang="en-US" altLang="zh-CN" b="1" dirty="0">
                <a:solidFill>
                  <a:srgbClr val="0000FF"/>
                </a:solidFill>
                <a:ea typeface="华文中宋" pitchFamily="2" charset="-122"/>
                <a:cs typeface="Times New Roman" pitchFamily="18" charset="0"/>
              </a:rPr>
              <a:t>;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D36F3D8-80E5-879E-DD9A-5CCAF2871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7161" y="1096239"/>
            <a:ext cx="295232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可得如下结论</a:t>
            </a:r>
            <a:r>
              <a:rPr lang="zh-CN" altLang="en-US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：</a:t>
            </a:r>
            <a:endParaRPr lang="en-US" altLang="zh-CN" b="1" dirty="0">
              <a:solidFill>
                <a:schemeClr val="tx1"/>
              </a:solidFill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32" name="Rectangle 18">
            <a:extLst>
              <a:ext uri="{FF2B5EF4-FFF2-40B4-BE49-F238E27FC236}">
                <a16:creationId xmlns:a16="http://schemas.microsoft.com/office/drawing/2014/main" id="{E102FF54-B712-2F91-3303-6DFA46B55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2583" y="2798652"/>
            <a:ext cx="6394219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则</a:t>
            </a:r>
            <a:r>
              <a:rPr lang="zh-CN" altLang="en-US" sz="20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2000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的列向量组与</a:t>
            </a:r>
            <a:r>
              <a:rPr lang="zh-CN" altLang="en-US" sz="20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B</a:t>
            </a:r>
            <a:r>
              <a:rPr lang="en-US" altLang="zh-CN" sz="2000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的列向量组等价</a:t>
            </a:r>
            <a:r>
              <a:rPr lang="en-US" altLang="zh-CN" b="1" dirty="0">
                <a:solidFill>
                  <a:srgbClr val="0000FF"/>
                </a:solidFill>
                <a:ea typeface="华文中宋" pitchFamily="2" charset="-122"/>
                <a:cs typeface="Times New Roman" pitchFamily="18" charset="0"/>
              </a:rPr>
              <a:t>.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140B01A-0BCD-D9C2-0079-6154E3400818}"/>
              </a:ext>
            </a:extLst>
          </p:cNvPr>
          <p:cNvGrpSpPr/>
          <p:nvPr/>
        </p:nvGrpSpPr>
        <p:grpSpPr>
          <a:xfrm>
            <a:off x="517919" y="1815316"/>
            <a:ext cx="1927704" cy="858838"/>
            <a:chOff x="517919" y="1795632"/>
            <a:chExt cx="1927704" cy="858838"/>
          </a:xfrm>
        </p:grpSpPr>
        <p:sp>
          <p:nvSpPr>
            <p:cNvPr id="13" name="Text Box 15">
              <a:extLst>
                <a:ext uri="{FF2B5EF4-FFF2-40B4-BE49-F238E27FC236}">
                  <a16:creationId xmlns:a16="http://schemas.microsoft.com/office/drawing/2014/main" id="{1C7039E2-EF0D-49BA-A333-C08AE0E50A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919" y="1991175"/>
              <a:ext cx="1173761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00FF"/>
                  </a:solidFill>
                  <a:latin typeface="华文中宋" pitchFamily="2" charset="-122"/>
                  <a:ea typeface="华文中宋" pitchFamily="2" charset="-122"/>
                </a:rPr>
                <a:t>①</a:t>
              </a:r>
              <a:r>
                <a:rPr lang="zh-CN" altLang="en-US" b="1" dirty="0">
                  <a:solidFill>
                    <a:srgbClr val="0000FF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若</a:t>
              </a:r>
            </a:p>
          </p:txBody>
        </p:sp>
        <p:graphicFrame>
          <p:nvGraphicFramePr>
            <p:cNvPr id="2" name="Object 10">
              <a:extLst>
                <a:ext uri="{FF2B5EF4-FFF2-40B4-BE49-F238E27FC236}">
                  <a16:creationId xmlns:a16="http://schemas.microsoft.com/office/drawing/2014/main" id="{50CE9416-8404-8673-7C7C-8B3CC42CEC3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0745433"/>
                </p:ext>
              </p:extLst>
            </p:nvPr>
          </p:nvGraphicFramePr>
          <p:xfrm>
            <a:off x="1378823" y="1795632"/>
            <a:ext cx="1066800" cy="8588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965160" imgH="774360" progId="Equation.DSMT4">
                    <p:embed/>
                  </p:oleObj>
                </mc:Choice>
                <mc:Fallback>
                  <p:oleObj name="Equation" r:id="rId3" imgW="965160" imgH="774360" progId="Equation.DSMT4">
                    <p:embed/>
                    <p:pic>
                      <p:nvPicPr>
                        <p:cNvPr id="10" name="Object 10">
                          <a:extLst>
                            <a:ext uri="{FF2B5EF4-FFF2-40B4-BE49-F238E27FC236}">
                              <a16:creationId xmlns:a16="http://schemas.microsoft.com/office/drawing/2014/main" id="{775A1A89-F7DC-BF64-A3F1-C9C53DC67C7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8823" y="1795632"/>
                          <a:ext cx="1066800" cy="8588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04E5E5B-2C33-FCC8-9A04-C717C85DC06A}"/>
              </a:ext>
            </a:extLst>
          </p:cNvPr>
          <p:cNvGrpSpPr/>
          <p:nvPr/>
        </p:nvGrpSpPr>
        <p:grpSpPr>
          <a:xfrm>
            <a:off x="489894" y="2626407"/>
            <a:ext cx="1955729" cy="858838"/>
            <a:chOff x="489894" y="2626407"/>
            <a:chExt cx="1955729" cy="858838"/>
          </a:xfrm>
        </p:grpSpPr>
        <p:sp>
          <p:nvSpPr>
            <p:cNvPr id="34" name="Text Box 15">
              <a:extLst>
                <a:ext uri="{FF2B5EF4-FFF2-40B4-BE49-F238E27FC236}">
                  <a16:creationId xmlns:a16="http://schemas.microsoft.com/office/drawing/2014/main" id="{6D29E8FF-06E3-7203-F2FD-ED7E8891DA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894" y="2793889"/>
              <a:ext cx="1173761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zh-CN" b="1" dirty="0">
                  <a:solidFill>
                    <a:srgbClr val="0000FF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②</a:t>
              </a:r>
              <a:r>
                <a:rPr lang="zh-CN" altLang="en-US" b="1" dirty="0">
                  <a:solidFill>
                    <a:srgbClr val="0000FF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若</a:t>
              </a:r>
            </a:p>
          </p:txBody>
        </p:sp>
        <p:graphicFrame>
          <p:nvGraphicFramePr>
            <p:cNvPr id="7" name="Object 10">
              <a:extLst>
                <a:ext uri="{FF2B5EF4-FFF2-40B4-BE49-F238E27FC236}">
                  <a16:creationId xmlns:a16="http://schemas.microsoft.com/office/drawing/2014/main" id="{0853EBD6-AEE3-D3D7-ED6C-96A3531F2C5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0371590"/>
                </p:ext>
              </p:extLst>
            </p:nvPr>
          </p:nvGraphicFramePr>
          <p:xfrm>
            <a:off x="1378823" y="2626407"/>
            <a:ext cx="1066800" cy="8588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965160" imgH="774360" progId="Equation.DSMT4">
                    <p:embed/>
                  </p:oleObj>
                </mc:Choice>
                <mc:Fallback>
                  <p:oleObj name="Equation" r:id="rId5" imgW="965160" imgH="774360" progId="Equation.DSMT4">
                    <p:embed/>
                    <p:pic>
                      <p:nvPicPr>
                        <p:cNvPr id="2" name="Object 10">
                          <a:extLst>
                            <a:ext uri="{FF2B5EF4-FFF2-40B4-BE49-F238E27FC236}">
                              <a16:creationId xmlns:a16="http://schemas.microsoft.com/office/drawing/2014/main" id="{50CE9416-8404-8673-7C7C-8B3CC42CEC3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8823" y="2626407"/>
                          <a:ext cx="1066800" cy="8588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29922160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 build="p" autoUpdateAnimBg="0"/>
      <p:bldP spid="3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0">
            <a:extLst>
              <a:ext uri="{FF2B5EF4-FFF2-40B4-BE49-F238E27FC236}">
                <a16:creationId xmlns:a16="http://schemas.microsoft.com/office/drawing/2014/main" id="{6D7B60AC-0461-4CAE-88AD-D2C2B37CB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0"/>
            <a:ext cx="6737994" cy="4924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重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(</a:t>
            </a:r>
            <a:r>
              <a:rPr lang="zh-CN" altLang="en-US" sz="2600" b="1" kern="0" dirty="0">
                <a:solidFill>
                  <a:schemeClr val="bg1"/>
                </a:solidFill>
                <a:ea typeface="华文中宋"/>
                <a:cs typeface="Times New Roman" panose="02020603050405020304" pitchFamily="18" charset="0"/>
              </a:rPr>
              <a:t>难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点问题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向量组等价的判别法</a:t>
            </a:r>
          </a:p>
        </p:txBody>
      </p:sp>
      <p:sp>
        <p:nvSpPr>
          <p:cNvPr id="5" name="Text Box 12">
            <a:extLst>
              <a:ext uri="{FF2B5EF4-FFF2-40B4-BE49-F238E27FC236}">
                <a16:creationId xmlns:a16="http://schemas.microsoft.com/office/drawing/2014/main" id="{F6292174-7463-4717-87D9-C7C5C9818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1020950"/>
            <a:ext cx="79930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根据向量组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en-US" altLang="zh-CN" b="1" dirty="0">
                <a:solidFill>
                  <a:schemeClr val="tx1"/>
                </a:solidFill>
              </a:rPr>
              <a:t>: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l 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能由向量组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b="1" dirty="0">
                <a:solidFill>
                  <a:schemeClr val="tx1"/>
                </a:solidFill>
              </a:rPr>
              <a:t>: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FA286E7F-E734-462B-BA31-99D97DDB7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63" y="1741675"/>
            <a:ext cx="48244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chemeClr val="tx1"/>
                </a:solidFill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m 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线性表示的定义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Text Box 15">
            <a:extLst>
              <a:ext uri="{FF2B5EF4-FFF2-40B4-BE49-F238E27FC236}">
                <a16:creationId xmlns:a16="http://schemas.microsoft.com/office/drawing/2014/main" id="{06A3A00F-EB0B-41FF-B0C0-0A6B6F553E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741675"/>
            <a:ext cx="4464496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必然存在矩阵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K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m</a:t>
            </a:r>
            <a:r>
              <a:rPr lang="en-US" altLang="zh-CN" b="1" baseline="-25000" dirty="0">
                <a:solidFill>
                  <a:schemeClr val="tx1"/>
                </a:solidFill>
              </a:rPr>
              <a:t> 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 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l</a:t>
            </a:r>
            <a:r>
              <a:rPr lang="en-US" altLang="zh-CN" sz="1600" b="1" i="1" baseline="-25000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1400" b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使得</a:t>
            </a:r>
            <a:endParaRPr lang="en-US" altLang="zh-CN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" name="Text Box 20">
            <a:extLst>
              <a:ext uri="{FF2B5EF4-FFF2-40B4-BE49-F238E27FC236}">
                <a16:creationId xmlns:a16="http://schemas.microsoft.com/office/drawing/2014/main" id="{5618A235-A909-43BC-A4F8-0C257F15E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63" y="3161619"/>
            <a:ext cx="259159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即矩阵方程</a:t>
            </a:r>
          </a:p>
        </p:txBody>
      </p:sp>
      <p:sp>
        <p:nvSpPr>
          <p:cNvPr id="9" name="Rectangle 21">
            <a:extLst>
              <a:ext uri="{FF2B5EF4-FFF2-40B4-BE49-F238E27FC236}">
                <a16:creationId xmlns:a16="http://schemas.microsoft.com/office/drawing/2014/main" id="{2CD8345B-D4A5-4DED-B576-1FDC700E3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942" y="3889525"/>
            <a:ext cx="54721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chemeClr val="tx1"/>
                </a:solidFill>
              </a:rPr>
              <a:t>(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...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m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b="1" i="1" dirty="0">
                <a:solidFill>
                  <a:schemeClr val="tx1"/>
                </a:solidFill>
              </a:rPr>
              <a:t>X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l 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0" name="Rectangle 22">
            <a:extLst>
              <a:ext uri="{FF2B5EF4-FFF2-40B4-BE49-F238E27FC236}">
                <a16:creationId xmlns:a16="http://schemas.microsoft.com/office/drawing/2014/main" id="{16B148AB-3DD2-48C0-A359-3F9A80EAD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582" y="4623189"/>
            <a:ext cx="16557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有解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Text Box 23">
            <a:extLst>
              <a:ext uri="{FF2B5EF4-FFF2-40B4-BE49-F238E27FC236}">
                <a16:creationId xmlns:a16="http://schemas.microsoft.com/office/drawing/2014/main" id="{6C01D536-09B7-444E-B515-68A88F65DE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1543" y="4623189"/>
            <a:ext cx="456266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由定理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3.</a:t>
            </a:r>
            <a:r>
              <a:rPr lang="en-US" altLang="zh-CN" b="1" dirty="0">
                <a:solidFill>
                  <a:schemeClr val="tx1"/>
                </a:solidFill>
              </a:rPr>
              <a:t>4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可得如下定理</a:t>
            </a:r>
          </a:p>
        </p:txBody>
      </p:sp>
      <p:sp>
        <p:nvSpPr>
          <p:cNvPr id="12" name="Text Box 28">
            <a:extLst>
              <a:ext uri="{FF2B5EF4-FFF2-40B4-BE49-F238E27FC236}">
                <a16:creationId xmlns:a16="http://schemas.microsoft.com/office/drawing/2014/main" id="{E4FF9526-907E-4D21-B806-BDBECFC3B8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7631" y="2449363"/>
            <a:ext cx="64087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1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l 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(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...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m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b="1" i="1" dirty="0">
                <a:solidFill>
                  <a:schemeClr val="tx1"/>
                </a:solidFill>
              </a:rPr>
              <a:t>K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905379439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25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7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 advAuto="0"/>
      <p:bldP spid="6" grpId="0" build="p" autoUpdateAnimBg="0" advAuto="0"/>
      <p:bldP spid="7" grpId="0" build="p" autoUpdateAnimBg="0"/>
      <p:bldP spid="8" grpId="0" build="p" autoUpdateAnimBg="0" advAuto="0"/>
      <p:bldP spid="9" grpId="0"/>
      <p:bldP spid="10" grpId="0" build="p" autoUpdateAnimBg="0" advAuto="0"/>
      <p:bldP spid="11" grpId="0" build="p" autoUpdateAnimBg="0"/>
      <p:bldP spid="12" grpId="0" build="p" autoUpdateAnimBg="0" advAuto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0">
            <a:extLst>
              <a:ext uri="{FF2B5EF4-FFF2-40B4-BE49-F238E27FC236}">
                <a16:creationId xmlns:a16="http://schemas.microsoft.com/office/drawing/2014/main" id="{6D7B60AC-0461-4CAE-88AD-D2C2B37CB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-4574"/>
            <a:ext cx="6737994" cy="5234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重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(</a:t>
            </a:r>
            <a:r>
              <a:rPr lang="zh-CN" altLang="en-US" sz="2800" b="1" kern="0" dirty="0">
                <a:solidFill>
                  <a:schemeClr val="bg1"/>
                </a:solidFill>
                <a:ea typeface="华文中宋"/>
                <a:cs typeface="Times New Roman" panose="02020603050405020304" pitchFamily="18" charset="0"/>
              </a:rPr>
              <a:t>难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点问题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8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向量组等价的判别法</a:t>
            </a:r>
          </a:p>
        </p:txBody>
      </p:sp>
      <p:sp>
        <p:nvSpPr>
          <p:cNvPr id="25" name="Text Box 2">
            <a:extLst>
              <a:ext uri="{FF2B5EF4-FFF2-40B4-BE49-F238E27FC236}">
                <a16:creationId xmlns:a16="http://schemas.microsoft.com/office/drawing/2014/main" id="{15BD9DDA-4D81-4A80-8164-EDDC41719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023" y="979289"/>
            <a:ext cx="7416800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定理</a:t>
            </a:r>
            <a:r>
              <a:rPr lang="zh-CN" altLang="en-US" sz="20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3.7</a:t>
            </a:r>
            <a:r>
              <a:rPr lang="en-US" altLang="zh-CN" b="1" dirty="0">
                <a:solidFill>
                  <a:srgbClr val="C00000"/>
                </a:solidFill>
                <a:ea typeface="宋体" charset="-122"/>
              </a:rPr>
              <a:t>  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向量组</a:t>
            </a:r>
            <a:r>
              <a:rPr lang="zh-CN" altLang="en-US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B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: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rgbClr val="0000FF"/>
                </a:solidFill>
                <a:ea typeface="宋体" charset="-122"/>
              </a:rPr>
              <a:t>1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rgbClr val="0000FF"/>
                </a:solidFill>
                <a:ea typeface="宋体" charset="-122"/>
              </a:rPr>
              <a:t>2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…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, </a:t>
            </a:r>
            <a:r>
              <a:rPr lang="en-US" altLang="zh-CN" b="1" i="1" dirty="0">
                <a:solidFill>
                  <a:srgbClr val="0000FF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i="1" baseline="-25000" dirty="0">
                <a:solidFill>
                  <a:srgbClr val="0000FF"/>
                </a:solidFill>
                <a:ea typeface="宋体" charset="-122"/>
              </a:rPr>
              <a:t>l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能由向量组</a:t>
            </a: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95E898B4-4B8B-4A89-8D00-AB606D90C5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123" y="1700808"/>
            <a:ext cx="78486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: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  <a:ea typeface="宋体" charset="-122"/>
              </a:rPr>
              <a:t>1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  <a:ea typeface="宋体" charset="-122"/>
              </a:rPr>
              <a:t>2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…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rgbClr val="0000FF"/>
                </a:solidFill>
                <a:ea typeface="宋体" charset="-122"/>
              </a:rPr>
              <a:t>m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线性表示的充要条件是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: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矩阵</a:t>
            </a:r>
            <a:endParaRPr lang="zh-CN" altLang="en-US" b="1" dirty="0">
              <a:solidFill>
                <a:srgbClr val="0000FF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27" name="Rectangle 4">
            <a:extLst>
              <a:ext uri="{FF2B5EF4-FFF2-40B4-BE49-F238E27FC236}">
                <a16:creationId xmlns:a16="http://schemas.microsoft.com/office/drawing/2014/main" id="{91A92875-6FBD-4BF9-8948-5C8584626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123" y="2421533"/>
            <a:ext cx="69992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 dirty="0">
                <a:solidFill>
                  <a:srgbClr val="0000FF"/>
                </a:solidFill>
              </a:rPr>
              <a:t>A</a:t>
            </a:r>
            <a:r>
              <a:rPr lang="en-US" altLang="zh-CN" sz="2000" b="1" i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=</a:t>
            </a:r>
            <a:r>
              <a:rPr lang="en-US" altLang="zh-CN" sz="2000" b="1" i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(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</a:rPr>
              <a:t>1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</a:rPr>
              <a:t>2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…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rgbClr val="0000FF"/>
                </a:solidFill>
              </a:rPr>
              <a:t>m</a:t>
            </a:r>
            <a:r>
              <a:rPr lang="en-US" altLang="zh-CN" b="1" dirty="0">
                <a:solidFill>
                  <a:srgbClr val="0000FF"/>
                </a:solidFill>
              </a:rPr>
              <a:t>)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的秩等于矩阵</a:t>
            </a:r>
          </a:p>
        </p:txBody>
      </p:sp>
      <p:sp>
        <p:nvSpPr>
          <p:cNvPr id="28" name="Rectangle 5">
            <a:extLst>
              <a:ext uri="{FF2B5EF4-FFF2-40B4-BE49-F238E27FC236}">
                <a16:creationId xmlns:a16="http://schemas.microsoft.com/office/drawing/2014/main" id="{3E4A2C6C-C876-4F74-878B-2DBCB9499F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5667" y="3140670"/>
            <a:ext cx="5652666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0000FF"/>
                </a:solidFill>
              </a:rPr>
              <a:t>(</a:t>
            </a:r>
            <a:r>
              <a:rPr lang="en-US" altLang="zh-CN" b="1" i="1" dirty="0">
                <a:solidFill>
                  <a:srgbClr val="0000FF"/>
                </a:solidFill>
              </a:rPr>
              <a:t>A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i="1" dirty="0">
                <a:solidFill>
                  <a:srgbClr val="0000FF"/>
                </a:solidFill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</a:rPr>
              <a:t>B</a:t>
            </a:r>
            <a:r>
              <a:rPr lang="en-US" altLang="zh-CN" b="1" dirty="0">
                <a:solidFill>
                  <a:srgbClr val="0000FF"/>
                </a:solidFill>
              </a:rPr>
              <a:t>)</a:t>
            </a:r>
            <a:r>
              <a:rPr lang="en-US" altLang="zh-CN" sz="2000" b="1" i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=</a:t>
            </a:r>
            <a:r>
              <a:rPr lang="en-US" altLang="zh-CN" sz="2000" b="1" i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(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</a:rPr>
              <a:t>1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…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rgbClr val="0000FF"/>
                </a:solidFill>
              </a:rPr>
              <a:t>m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rgbClr val="0000FF"/>
                </a:solidFill>
              </a:rPr>
              <a:t>1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i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rgbClr val="0000FF"/>
                </a:solidFill>
                <a:ea typeface="宋体" charset="-122"/>
              </a:rPr>
              <a:t>2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…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i="1" baseline="-25000" dirty="0">
                <a:solidFill>
                  <a:srgbClr val="0000FF"/>
                </a:solidFill>
              </a:rPr>
              <a:t>l </a:t>
            </a:r>
            <a:r>
              <a:rPr lang="en-US" altLang="zh-CN" b="1" dirty="0">
                <a:solidFill>
                  <a:srgbClr val="0000FF"/>
                </a:solidFill>
              </a:rPr>
              <a:t>)</a:t>
            </a:r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CDDED186-079A-4468-9D6B-08AAEC294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123" y="3861395"/>
            <a:ext cx="15827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的秩</a:t>
            </a:r>
            <a:r>
              <a:rPr lang="en-US" altLang="zh-CN" b="1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b="1">
              <a:solidFill>
                <a:srgbClr val="0000FF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Text Box 7">
            <a:extLst>
              <a:ext uri="{FF2B5EF4-FFF2-40B4-BE49-F238E27FC236}">
                <a16:creationId xmlns:a16="http://schemas.microsoft.com/office/drawing/2014/main" id="{1BFF0C88-4490-4F90-ADA0-F1DDB1F290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2061" y="3861395"/>
            <a:ext cx="38840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即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)</a:t>
            </a:r>
            <a:r>
              <a:rPr lang="en-US" altLang="zh-CN" sz="2000" b="1" i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=</a:t>
            </a:r>
            <a:r>
              <a:rPr lang="en-US" altLang="zh-CN" sz="2000" b="1" i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,</a:t>
            </a:r>
            <a:r>
              <a:rPr lang="en-US" altLang="zh-CN" sz="2000" b="1" i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B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).</a:t>
            </a:r>
          </a:p>
        </p:txBody>
      </p:sp>
    </p:spTree>
  </p:cSld>
  <p:clrMapOvr>
    <a:masterClrMapping/>
  </p:clrMapOvr>
  <p:transition spd="slow">
    <p:split orient="vert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0">
            <a:extLst>
              <a:ext uri="{FF2B5EF4-FFF2-40B4-BE49-F238E27FC236}">
                <a16:creationId xmlns:a16="http://schemas.microsoft.com/office/drawing/2014/main" id="{6D7B60AC-0461-4CAE-88AD-D2C2B37CB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-16372"/>
            <a:ext cx="6067707" cy="4924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重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(</a:t>
            </a:r>
            <a:r>
              <a:rPr lang="zh-CN" altLang="en-US" sz="2600" b="1" kern="0" dirty="0">
                <a:solidFill>
                  <a:schemeClr val="bg1"/>
                </a:solidFill>
                <a:ea typeface="华文中宋"/>
                <a:cs typeface="Times New Roman" panose="02020603050405020304" pitchFamily="18" charset="0"/>
              </a:rPr>
              <a:t>难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点问题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向量组等价的判别法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3371A08E-49F2-48EC-A390-E37A1A310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5" y="656514"/>
            <a:ext cx="836136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定理</a:t>
            </a:r>
            <a:r>
              <a:rPr lang="zh-CN" altLang="en-US" sz="20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3.8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向量组</a:t>
            </a:r>
            <a:r>
              <a:rPr lang="zh-CN" altLang="en-US" sz="16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</a:rPr>
              <a:t>A</a:t>
            </a:r>
            <a:r>
              <a:rPr lang="en-US" altLang="zh-CN" b="1" dirty="0">
                <a:solidFill>
                  <a:srgbClr val="0000FF"/>
                </a:solidFill>
              </a:rPr>
              <a:t>: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</a:rPr>
              <a:t>1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</a:rPr>
              <a:t>2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…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rgbClr val="0000FF"/>
                </a:solidFill>
              </a:rPr>
              <a:t>m</a:t>
            </a:r>
            <a:r>
              <a:rPr lang="en-US" altLang="zh-CN" sz="2000" b="1" i="1" baseline="-25000" dirty="0">
                <a:solidFill>
                  <a:srgbClr val="0000FF"/>
                </a:solidFill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与向量组</a:t>
            </a:r>
            <a:r>
              <a:rPr lang="zh-CN" altLang="en-US" sz="16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</a:rPr>
              <a:t>B</a:t>
            </a:r>
            <a:r>
              <a:rPr lang="en-US" altLang="zh-CN" b="1" dirty="0">
                <a:solidFill>
                  <a:srgbClr val="0000FF"/>
                </a:solidFill>
              </a:rPr>
              <a:t>: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rgbClr val="0000FF"/>
                </a:solidFill>
              </a:rPr>
              <a:t>1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i="1" dirty="0">
                <a:solidFill>
                  <a:srgbClr val="0000FF"/>
                </a:solidFill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rgbClr val="0000FF"/>
                </a:solidFill>
              </a:rPr>
              <a:t>2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endParaRPr lang="zh-CN" altLang="en-US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E0D5B3-8F38-4901-951C-D682FDFEF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686" y="1268495"/>
            <a:ext cx="852380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0000FF"/>
                </a:solidFill>
              </a:rPr>
              <a:t>…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i="1" baseline="-25000" dirty="0">
                <a:solidFill>
                  <a:srgbClr val="0000FF"/>
                </a:solidFill>
              </a:rPr>
              <a:t>l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等价的充要条件是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</a:rPr>
              <a:t>A</a:t>
            </a:r>
            <a:r>
              <a:rPr lang="en-US" altLang="zh-CN" b="1" dirty="0">
                <a:solidFill>
                  <a:srgbClr val="0000FF"/>
                </a:solidFill>
              </a:rPr>
              <a:t>)</a:t>
            </a:r>
            <a:r>
              <a:rPr lang="en-US" altLang="zh-CN" sz="2000" b="1" i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=</a:t>
            </a:r>
            <a:r>
              <a:rPr lang="en-US" altLang="zh-CN" sz="2000" b="1" i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</a:rPr>
              <a:t>B</a:t>
            </a:r>
            <a:r>
              <a:rPr lang="en-US" altLang="zh-CN" b="1" dirty="0">
                <a:solidFill>
                  <a:srgbClr val="0000FF"/>
                </a:solidFill>
              </a:rPr>
              <a:t>)</a:t>
            </a:r>
            <a:r>
              <a:rPr lang="en-US" altLang="zh-CN" sz="2000" b="1" i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=</a:t>
            </a:r>
            <a:r>
              <a:rPr lang="en-US" altLang="zh-CN" sz="2000" b="1" i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</a:rPr>
              <a:t>A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i="1" dirty="0">
                <a:solidFill>
                  <a:srgbClr val="0000FF"/>
                </a:solidFill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</a:rPr>
              <a:t>B</a:t>
            </a:r>
            <a:r>
              <a:rPr lang="en-US" altLang="zh-CN" b="1" dirty="0">
                <a:solidFill>
                  <a:srgbClr val="0000FF"/>
                </a:solidFill>
              </a:rPr>
              <a:t>),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其中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9CF1BC-1E5D-48B7-9E0F-CA345B87F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670" y="1911159"/>
            <a:ext cx="863131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A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和</a:t>
            </a:r>
            <a:r>
              <a:rPr lang="zh-CN" altLang="en-US" sz="1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B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分别是向量组</a:t>
            </a:r>
            <a:r>
              <a:rPr lang="zh-CN" altLang="en-US" sz="10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A</a:t>
            </a:r>
            <a:r>
              <a:rPr lang="en-US" altLang="zh-CN" sz="1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和向量组</a:t>
            </a:r>
            <a:r>
              <a:rPr lang="zh-CN" altLang="en-US" sz="10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B</a:t>
            </a:r>
            <a:r>
              <a:rPr lang="en-US" altLang="zh-CN" sz="1000" b="1" i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所构成的矩阵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D471865F-F46B-49E4-BAA7-83291014C2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671" y="2522471"/>
            <a:ext cx="1511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E6EC370B-67EA-4187-8DCE-31E421648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4333" y="2522939"/>
            <a:ext cx="776260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因为向量组</a:t>
            </a:r>
            <a:r>
              <a:rPr lang="zh-CN" altLang="en-US" sz="14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16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组与向量组</a:t>
            </a:r>
            <a:r>
              <a:rPr lang="zh-CN" altLang="en-US" sz="14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B</a:t>
            </a:r>
            <a:r>
              <a:rPr lang="en-US" altLang="zh-CN" sz="16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组能相互线性表示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</a:p>
        </p:txBody>
      </p:sp>
      <p:sp>
        <p:nvSpPr>
          <p:cNvPr id="11" name="Text Box 19">
            <a:extLst>
              <a:ext uri="{FF2B5EF4-FFF2-40B4-BE49-F238E27FC236}">
                <a16:creationId xmlns:a16="http://schemas.microsoft.com/office/drawing/2014/main" id="{4C168801-7DF0-4EAB-8C2A-C21BC7066C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8848" y="3170241"/>
            <a:ext cx="4464496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它们等价的充要条件是</a:t>
            </a:r>
          </a:p>
        </p:txBody>
      </p:sp>
      <p:sp>
        <p:nvSpPr>
          <p:cNvPr id="12" name="Text Box 20">
            <a:extLst>
              <a:ext uri="{FF2B5EF4-FFF2-40B4-BE49-F238E27FC236}">
                <a16:creationId xmlns:a16="http://schemas.microsoft.com/office/drawing/2014/main" id="{32483439-A43C-45AF-939E-670229AC1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728" y="3155416"/>
            <a:ext cx="3056144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根据定理</a:t>
            </a:r>
            <a:r>
              <a:rPr lang="zh-CN" altLang="en-US" sz="18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3.7</a:t>
            </a:r>
            <a:r>
              <a:rPr lang="en-US" altLang="zh-CN" sz="18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知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:</a:t>
            </a:r>
            <a:endParaRPr lang="zh-CN" altLang="en-US" b="1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6" name="Text Box 23">
            <a:extLst>
              <a:ext uri="{FF2B5EF4-FFF2-40B4-BE49-F238E27FC236}">
                <a16:creationId xmlns:a16="http://schemas.microsoft.com/office/drawing/2014/main" id="{7D090043-D1D3-46E4-8006-A6F3B0BAF1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671" y="4437112"/>
            <a:ext cx="7921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而</a:t>
            </a:r>
          </a:p>
        </p:txBody>
      </p:sp>
      <p:sp>
        <p:nvSpPr>
          <p:cNvPr id="17" name="Text Box 26">
            <a:extLst>
              <a:ext uri="{FF2B5EF4-FFF2-40B4-BE49-F238E27FC236}">
                <a16:creationId xmlns:a16="http://schemas.microsoft.com/office/drawing/2014/main" id="{4DAEB534-CA33-4D91-B39E-50A1E9FA8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98" y="5076831"/>
            <a:ext cx="814533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综上所述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向量组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altLang="zh-CN" sz="105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与向量组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B</a:t>
            </a:r>
            <a:r>
              <a:rPr lang="en-US" altLang="zh-CN" sz="1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等价的充要条件是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Text Box 27">
            <a:extLst>
              <a:ext uri="{FF2B5EF4-FFF2-40B4-BE49-F238E27FC236}">
                <a16:creationId xmlns:a16="http://schemas.microsoft.com/office/drawing/2014/main" id="{D5F196A2-CF8E-4D27-A4F3-A34D031E22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2342" y="5686132"/>
            <a:ext cx="40593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en-US" altLang="zh-CN" b="1" dirty="0">
                <a:solidFill>
                  <a:schemeClr val="tx1"/>
                </a:solidFill>
              </a:rPr>
              <a:t>).</a:t>
            </a:r>
          </a:p>
        </p:txBody>
      </p:sp>
      <p:sp>
        <p:nvSpPr>
          <p:cNvPr id="19" name="Text Box 6">
            <a:extLst>
              <a:ext uri="{FF2B5EF4-FFF2-40B4-BE49-F238E27FC236}">
                <a16:creationId xmlns:a16="http://schemas.microsoft.com/office/drawing/2014/main" id="{7962FD1F-27A1-4A2E-83D7-837A37257A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655" y="3788828"/>
            <a:ext cx="6215979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)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且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)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)</a:t>
            </a:r>
            <a:endParaRPr lang="en-US" altLang="zh-CN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0" name="Text Box 6">
            <a:extLst>
              <a:ext uri="{FF2B5EF4-FFF2-40B4-BE49-F238E27FC236}">
                <a16:creationId xmlns:a16="http://schemas.microsoft.com/office/drawing/2014/main" id="{44DF7296-8DE4-4B7B-A785-536D1BA78B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4437112"/>
            <a:ext cx="331236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endParaRPr lang="en-US" altLang="zh-CN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5009999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25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6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2" grpId="0"/>
      <p:bldP spid="16" grpId="0"/>
      <p:bldP spid="17" grpId="0"/>
      <p:bldP spid="18" grpId="0"/>
      <p:bldP spid="19" grpId="0"/>
      <p:bldP spid="2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0">
            <a:extLst>
              <a:ext uri="{FF2B5EF4-FFF2-40B4-BE49-F238E27FC236}">
                <a16:creationId xmlns:a16="http://schemas.microsoft.com/office/drawing/2014/main" id="{6D7B60AC-0461-4CAE-88AD-D2C2B37CB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-19045"/>
            <a:ext cx="6737994" cy="4924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重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(</a:t>
            </a:r>
            <a:r>
              <a:rPr lang="zh-CN" altLang="en-US" sz="2600" b="1" kern="0" dirty="0">
                <a:solidFill>
                  <a:schemeClr val="bg1"/>
                </a:solidFill>
                <a:ea typeface="华文中宋"/>
                <a:cs typeface="Times New Roman" panose="02020603050405020304" pitchFamily="18" charset="0"/>
              </a:rPr>
              <a:t>难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向量组等价的判别法</a:t>
            </a: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44B1B0C8-EF5E-4958-87D1-CBC32F097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620688"/>
            <a:ext cx="7920880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定理</a:t>
            </a:r>
            <a:r>
              <a:rPr lang="zh-CN" altLang="en-US" sz="20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3.9</a:t>
            </a:r>
            <a:r>
              <a:rPr lang="en-US" altLang="zh-CN" b="1" dirty="0">
                <a:ea typeface="宋体" charset="-122"/>
              </a:rPr>
              <a:t>  </a:t>
            </a:r>
            <a:r>
              <a:rPr lang="en-US" altLang="zh-CN" sz="2000" b="1" dirty="0">
                <a:ea typeface="宋体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如果向量组</a:t>
            </a:r>
            <a:r>
              <a:rPr lang="zh-CN" altLang="en-US" sz="18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B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  <a:cs typeface="Times New Roman" pitchFamily="18" charset="0"/>
              </a:rPr>
              <a:t>:</a:t>
            </a:r>
            <a:r>
              <a:rPr lang="en-US" altLang="zh-CN" sz="1800" b="1" dirty="0">
                <a:solidFill>
                  <a:srgbClr val="0000FF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rgbClr val="0000FF"/>
                </a:solidFill>
                <a:ea typeface="宋体" charset="-122"/>
              </a:rPr>
              <a:t>1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rgbClr val="0000FF"/>
                </a:solidFill>
                <a:ea typeface="宋体" charset="-122"/>
              </a:rPr>
              <a:t>2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…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, </a:t>
            </a:r>
            <a:r>
              <a:rPr lang="en-US" altLang="zh-CN" b="1" i="1" dirty="0">
                <a:solidFill>
                  <a:srgbClr val="0000FF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i="1" baseline="-25000" dirty="0">
                <a:solidFill>
                  <a:srgbClr val="0000FF"/>
                </a:solidFill>
                <a:ea typeface="宋体" charset="-122"/>
              </a:rPr>
              <a:t>l 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能由向量组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00B4F1E-DBDD-4672-875A-D126BF7C9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1312230"/>
            <a:ext cx="489666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 dirty="0">
                <a:solidFill>
                  <a:srgbClr val="0000FF"/>
                </a:solidFill>
              </a:rPr>
              <a:t>A</a:t>
            </a:r>
            <a:r>
              <a:rPr lang="en-US" altLang="zh-CN" b="1" dirty="0">
                <a:solidFill>
                  <a:srgbClr val="0000FF"/>
                </a:solidFill>
              </a:rPr>
              <a:t>: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</a:rPr>
              <a:t>1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</a:rPr>
              <a:t>2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…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rgbClr val="0000FF"/>
                </a:solidFill>
              </a:rPr>
              <a:t>m 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线性表示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solidFill>
                <a:srgbClr val="0000FF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B36BC76-2D98-416F-812B-4D9590426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2028193"/>
            <a:ext cx="8281044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 dirty="0">
                <a:solidFill>
                  <a:srgbClr val="0000FF"/>
                </a:solidFill>
              </a:rPr>
              <a:t>A</a:t>
            </a:r>
            <a:r>
              <a:rPr lang="en-US" altLang="zh-CN" sz="2000" b="1" i="1" dirty="0">
                <a:solidFill>
                  <a:srgbClr val="0000FF"/>
                </a:solidFill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</a:rPr>
              <a:t>B</a:t>
            </a:r>
            <a:r>
              <a:rPr lang="en-US" altLang="zh-CN" sz="2000" b="1" i="1" dirty="0">
                <a:solidFill>
                  <a:srgbClr val="0000FF"/>
                </a:solidFill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分别是向量组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</a:rPr>
              <a:t>A</a:t>
            </a:r>
            <a:r>
              <a:rPr lang="en-US" altLang="zh-CN" sz="2000" b="1" i="1" dirty="0">
                <a:solidFill>
                  <a:srgbClr val="0000FF"/>
                </a:solidFill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和向量组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</a:rPr>
              <a:t>B</a:t>
            </a:r>
            <a:r>
              <a:rPr lang="en-US" altLang="zh-CN" sz="2000" b="1" i="1" dirty="0">
                <a:solidFill>
                  <a:srgbClr val="0000FF"/>
                </a:solidFill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所构成的矩阵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C61B9E70-9A96-456C-8F10-5E03E7220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4172" y="1315405"/>
            <a:ext cx="40324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那么</a:t>
            </a:r>
            <a:r>
              <a:rPr lang="zh-CN" altLang="en-US" sz="1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</a:rPr>
              <a:t>B</a:t>
            </a:r>
            <a:r>
              <a:rPr lang="en-US" altLang="zh-CN" b="1" dirty="0">
                <a:solidFill>
                  <a:srgbClr val="0000FF"/>
                </a:solidFill>
              </a:rPr>
              <a:t>)</a:t>
            </a:r>
            <a:r>
              <a:rPr lang="en-US" altLang="zh-CN" sz="1000" b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</a:t>
            </a:r>
            <a:r>
              <a:rPr lang="en-US" altLang="zh-CN" sz="20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</a:rPr>
              <a:t>A</a:t>
            </a:r>
            <a:r>
              <a:rPr lang="en-US" altLang="zh-CN" b="1" dirty="0">
                <a:solidFill>
                  <a:srgbClr val="0000FF"/>
                </a:solidFill>
              </a:rPr>
              <a:t>),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其中</a:t>
            </a: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C40025EA-AA68-47AC-8658-020A4F6BD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2774637"/>
            <a:ext cx="1224856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</a:p>
        </p:txBody>
      </p:sp>
      <p:sp>
        <p:nvSpPr>
          <p:cNvPr id="10" name="Text Box 11">
            <a:extLst>
              <a:ext uri="{FF2B5EF4-FFF2-40B4-BE49-F238E27FC236}">
                <a16:creationId xmlns:a16="http://schemas.microsoft.com/office/drawing/2014/main" id="{CE59DC15-4A76-46C6-B9BD-6DBC5DDB3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1141" y="2769147"/>
            <a:ext cx="687732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记</a:t>
            </a:r>
            <a:r>
              <a:rPr lang="zh-CN" altLang="en-US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(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…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m </a:t>
            </a:r>
            <a:r>
              <a:rPr lang="en-US" altLang="zh-CN" b="1" dirty="0">
                <a:solidFill>
                  <a:schemeClr val="tx1"/>
                </a:solidFill>
              </a:rPr>
              <a:t>),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…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</a:rPr>
              <a:t>l </a:t>
            </a:r>
            <a:r>
              <a:rPr lang="en-US" altLang="zh-CN" b="1" dirty="0">
                <a:solidFill>
                  <a:schemeClr val="tx1"/>
                </a:solidFill>
              </a:rPr>
              <a:t>).</a:t>
            </a:r>
          </a:p>
        </p:txBody>
      </p:sp>
      <p:sp>
        <p:nvSpPr>
          <p:cNvPr id="11" name="Text Box 12">
            <a:extLst>
              <a:ext uri="{FF2B5EF4-FFF2-40B4-BE49-F238E27FC236}">
                <a16:creationId xmlns:a16="http://schemas.microsoft.com/office/drawing/2014/main" id="{0418781E-126D-4091-8A17-1FFF6A5AE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3472596"/>
            <a:ext cx="69849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由于向量组</a:t>
            </a:r>
            <a:r>
              <a:rPr lang="zh-CN" altLang="en-US" sz="18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B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能由向量组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线性表示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Text Box 13">
            <a:extLst>
              <a:ext uri="{FF2B5EF4-FFF2-40B4-BE49-F238E27FC236}">
                <a16:creationId xmlns:a16="http://schemas.microsoft.com/office/drawing/2014/main" id="{51514D0C-7B6B-4692-B32B-E5AC1D0ECE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4169899"/>
            <a:ext cx="385198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故根据定理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3.7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可得</a:t>
            </a:r>
          </a:p>
        </p:txBody>
      </p:sp>
      <p:sp>
        <p:nvSpPr>
          <p:cNvPr id="16" name="Text Box 17">
            <a:extLst>
              <a:ext uri="{FF2B5EF4-FFF2-40B4-BE49-F238E27FC236}">
                <a16:creationId xmlns:a16="http://schemas.microsoft.com/office/drawing/2014/main" id="{D3ED3846-5AFF-4A16-9E30-5BC181F2E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0170" y="4169900"/>
            <a:ext cx="296094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en-US" altLang="zh-CN" b="1" dirty="0">
                <a:solidFill>
                  <a:schemeClr val="tx1"/>
                </a:solidFill>
              </a:rPr>
              <a:t>).</a:t>
            </a:r>
            <a:endParaRPr lang="zh-CN" altLang="en-US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7" name="Text Box 18">
            <a:extLst>
              <a:ext uri="{FF2B5EF4-FFF2-40B4-BE49-F238E27FC236}">
                <a16:creationId xmlns:a16="http://schemas.microsoft.com/office/drawing/2014/main" id="{272101D8-2DFD-49A1-A528-8FC2774BF1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4912459"/>
            <a:ext cx="676875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又因为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            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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ea typeface="宋体" charset="-122"/>
              <a:cs typeface="Times New Roman" pitchFamily="18" charset="0"/>
            </a:endParaRPr>
          </a:p>
        </p:txBody>
      </p:sp>
      <p:sp>
        <p:nvSpPr>
          <p:cNvPr id="18" name="Rectangle 19">
            <a:extLst>
              <a:ext uri="{FF2B5EF4-FFF2-40B4-BE49-F238E27FC236}">
                <a16:creationId xmlns:a16="http://schemas.microsoft.com/office/drawing/2014/main" id="{FB960FCB-BBE1-42AF-9F39-6AB09E2BB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3728" y="5628643"/>
            <a:ext cx="2708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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b="1" dirty="0">
                <a:solidFill>
                  <a:schemeClr val="tx1"/>
                </a:solidFill>
              </a:rPr>
              <a:t>).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961A4AAC-6474-4532-BC4E-E49F574F8A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5633184"/>
            <a:ext cx="15128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所以</a:t>
            </a:r>
          </a:p>
        </p:txBody>
      </p:sp>
    </p:spTree>
    <p:extLst>
      <p:ext uri="{BB962C8B-B14F-4D97-AF65-F5344CB8AC3E}">
        <p14:creationId xmlns:p14="http://schemas.microsoft.com/office/powerpoint/2010/main" val="1437619899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2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75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7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 build="p" autoUpdateAnimBg="0"/>
      <p:bldP spid="11" grpId="0" build="p" autoUpdateAnimBg="0"/>
      <p:bldP spid="12" grpId="0" build="p" autoUpdateAnimBg="0"/>
      <p:bldP spid="16" grpId="0" build="p" autoUpdateAnimBg="0"/>
      <p:bldP spid="17" grpId="0" build="p" autoUpdateAnimBg="0"/>
      <p:bldP spid="18" grpId="0"/>
      <p:bldP spid="20" grpId="0" build="p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2BDAA7FE-125C-4DFA-9E74-618E84ACB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30">
            <a:extLst>
              <a:ext uri="{FF2B5EF4-FFF2-40B4-BE49-F238E27FC236}">
                <a16:creationId xmlns:a16="http://schemas.microsoft.com/office/drawing/2014/main" id="{6ED84202-61B3-4F99-9FF8-56DB3AE8D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-9392"/>
            <a:ext cx="8043170" cy="49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线性组合与线性表示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的实例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1390B2F0-D7F4-40AF-9026-406587914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693" y="1478949"/>
            <a:ext cx="18002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例</a:t>
            </a:r>
            <a:r>
              <a:rPr lang="zh-CN" altLang="en-US" sz="10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3.5</a:t>
            </a:r>
            <a:r>
              <a:rPr lang="en-US" altLang="zh-CN" sz="1000" b="1" dirty="0">
                <a:ea typeface="宋体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设</a:t>
            </a:r>
          </a:p>
        </p:txBody>
      </p:sp>
      <p:sp>
        <p:nvSpPr>
          <p:cNvPr id="19" name="Text Box 5">
            <a:extLst>
              <a:ext uri="{FF2B5EF4-FFF2-40B4-BE49-F238E27FC236}">
                <a16:creationId xmlns:a16="http://schemas.microsoft.com/office/drawing/2014/main" id="{33670071-03F1-451F-8177-5CF9D789D9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711" y="2834039"/>
            <a:ext cx="862177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问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向量</a:t>
            </a:r>
            <a:r>
              <a:rPr lang="zh-CN" altLang="en-US" sz="1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 </a:t>
            </a:r>
            <a:r>
              <a:rPr lang="en-US" altLang="zh-CN" sz="1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能否由向量组</a:t>
            </a:r>
            <a:r>
              <a:rPr lang="zh-CN" altLang="en-US" sz="1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4</a:t>
            </a:r>
            <a:r>
              <a:rPr lang="en-US" altLang="zh-CN" sz="2000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线性表示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?</a:t>
            </a:r>
            <a:r>
              <a:rPr lang="en-US" altLang="zh-CN" sz="2000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若能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endParaRPr lang="zh-CN" altLang="en-US" b="1" dirty="0">
              <a:solidFill>
                <a:schemeClr val="tx1"/>
              </a:solidFill>
              <a:latin typeface="+mn-lt"/>
              <a:ea typeface="华文中宋" pitchFamily="2" charset="-122"/>
              <a:sym typeface="Symbol" pitchFamily="18" charset="2"/>
            </a:endParaRPr>
          </a:p>
        </p:txBody>
      </p:sp>
      <p:sp>
        <p:nvSpPr>
          <p:cNvPr id="20" name="Text Box 6">
            <a:extLst>
              <a:ext uri="{FF2B5EF4-FFF2-40B4-BE49-F238E27FC236}">
                <a16:creationId xmlns:a16="http://schemas.microsoft.com/office/drawing/2014/main" id="{1985DB5A-DBB7-495E-B59E-6C1B4BD3CE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263" y="3525114"/>
            <a:ext cx="367240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试求出其表示式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24" name="Object 11">
            <a:extLst>
              <a:ext uri="{FF2B5EF4-FFF2-40B4-BE49-F238E27FC236}">
                <a16:creationId xmlns:a16="http://schemas.microsoft.com/office/drawing/2014/main" id="{706D95C7-A83E-444C-AECF-05F16C3F9C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2389091"/>
              </p:ext>
            </p:extLst>
          </p:nvPr>
        </p:nvGraphicFramePr>
        <p:xfrm>
          <a:off x="1777853" y="794117"/>
          <a:ext cx="6912768" cy="1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543800" imgH="2070000" progId="Equation.DSMT4">
                  <p:embed/>
                </p:oleObj>
              </mc:Choice>
              <mc:Fallback>
                <p:oleObj name="Equation" r:id="rId3" imgW="7543800" imgH="2070000" progId="Equation.DSMT4">
                  <p:embed/>
                  <p:pic>
                    <p:nvPicPr>
                      <p:cNvPr id="35848" name="Object 11">
                        <a:extLst>
                          <a:ext uri="{FF2B5EF4-FFF2-40B4-BE49-F238E27FC236}">
                            <a16:creationId xmlns:a16="http://schemas.microsoft.com/office/drawing/2014/main" id="{78ECECCB-7DAB-43D2-AC10-AAB7A637F3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7853" y="794117"/>
                        <a:ext cx="6912768" cy="1896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19">
            <a:extLst>
              <a:ext uri="{FF2B5EF4-FFF2-40B4-BE49-F238E27FC236}">
                <a16:creationId xmlns:a16="http://schemas.microsoft.com/office/drawing/2014/main" id="{171B36A4-5718-480B-8F37-FD34FBC33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378" y="4221325"/>
            <a:ext cx="86409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  <a:endParaRPr lang="en-US" altLang="zh-CN" b="1" dirty="0">
              <a:solidFill>
                <a:srgbClr val="C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7" name="Text Box 5">
            <a:extLst>
              <a:ext uri="{FF2B5EF4-FFF2-40B4-BE49-F238E27FC236}">
                <a16:creationId xmlns:a16="http://schemas.microsoft.com/office/drawing/2014/main" id="{E744E165-784B-4737-9476-D69A30B89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789" y="4217251"/>
            <a:ext cx="759551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若向量</a:t>
            </a:r>
            <a:r>
              <a:rPr lang="zh-CN" altLang="en-US" sz="1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i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CN" sz="1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能由向量组</a:t>
            </a:r>
            <a:r>
              <a:rPr lang="zh-CN" altLang="en-US" sz="1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4 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线性表示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,</a:t>
            </a:r>
            <a:endParaRPr lang="zh-CN" altLang="en-US" b="1" dirty="0">
              <a:solidFill>
                <a:schemeClr val="tx1"/>
              </a:solidFill>
              <a:latin typeface="+mn-lt"/>
              <a:ea typeface="华文中宋" pitchFamily="2" charset="-122"/>
              <a:sym typeface="Symbol" pitchFamily="18" charset="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6072ED8-39AF-43CF-978F-55FCBA62FB8C}"/>
              </a:ext>
            </a:extLst>
          </p:cNvPr>
          <p:cNvSpPr txBox="1"/>
          <p:nvPr/>
        </p:nvSpPr>
        <p:spPr>
          <a:xfrm>
            <a:off x="444378" y="4923978"/>
            <a:ext cx="60860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则存在一组实数</a:t>
            </a:r>
            <a:r>
              <a:rPr lang="zh-CN" altLang="en-US" sz="20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4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  <a:sym typeface="Symbol" pitchFamily="18" charset="2"/>
              </a:rPr>
              <a:t>,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使得</a:t>
            </a:r>
            <a:endParaRPr lang="zh-CN" altLang="en-US" sz="2800" b="1" kern="100" dirty="0"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32" name="Object 11">
            <a:extLst>
              <a:ext uri="{FF2B5EF4-FFF2-40B4-BE49-F238E27FC236}">
                <a16:creationId xmlns:a16="http://schemas.microsoft.com/office/drawing/2014/main" id="{244B607B-6E5C-4E76-A0D9-1EC0B1695B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5872857"/>
              </p:ext>
            </p:extLst>
          </p:nvPr>
        </p:nvGraphicFramePr>
        <p:xfrm>
          <a:off x="2350344" y="5619610"/>
          <a:ext cx="4483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483080" imgH="431640" progId="Equation.DSMT4">
                  <p:embed/>
                </p:oleObj>
              </mc:Choice>
              <mc:Fallback>
                <p:oleObj name="Equation" r:id="rId5" imgW="4483080" imgH="431640" progId="Equation.DSMT4">
                  <p:embed/>
                  <p:pic>
                    <p:nvPicPr>
                      <p:cNvPr id="24" name="Object 11">
                        <a:extLst>
                          <a:ext uri="{FF2B5EF4-FFF2-40B4-BE49-F238E27FC236}">
                            <a16:creationId xmlns:a16="http://schemas.microsoft.com/office/drawing/2014/main" id="{706D95C7-A83E-444C-AECF-05F16C3F9C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0344" y="5619610"/>
                        <a:ext cx="4483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39539564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2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5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5" grpId="0"/>
      <p:bldP spid="27" grpId="0"/>
      <p:bldP spid="2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2BDAA7FE-125C-4DFA-9E74-618E84ACB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30">
            <a:extLst>
              <a:ext uri="{FF2B5EF4-FFF2-40B4-BE49-F238E27FC236}">
                <a16:creationId xmlns:a16="http://schemas.microsoft.com/office/drawing/2014/main" id="{6ED84202-61B3-4F99-9FF8-56DB3AE8D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132" y="-25190"/>
            <a:ext cx="8043170" cy="49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线性组合与线性表示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的实例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Rectangle 19">
            <a:extLst>
              <a:ext uri="{FF2B5EF4-FFF2-40B4-BE49-F238E27FC236}">
                <a16:creationId xmlns:a16="http://schemas.microsoft.com/office/drawing/2014/main" id="{171B36A4-5718-480B-8F37-FD34FBC33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726" y="1189283"/>
            <a:ext cx="86409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</a:t>
            </a:r>
            <a:endParaRPr lang="en-US" altLang="zh-CN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7" name="Text Box 5">
            <a:extLst>
              <a:ext uri="{FF2B5EF4-FFF2-40B4-BE49-F238E27FC236}">
                <a16:creationId xmlns:a16="http://schemas.microsoft.com/office/drawing/2014/main" id="{E744E165-784B-4737-9476-D69A30B89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992" y="3713270"/>
            <a:ext cx="35178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i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4</a:t>
            </a:r>
            <a:r>
              <a:rPr lang="en-US" altLang="zh-CN" sz="1000" b="1" baseline="-25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,</a:t>
            </a:r>
            <a:endParaRPr lang="zh-CN" altLang="en-US" b="1" dirty="0">
              <a:solidFill>
                <a:schemeClr val="tx1"/>
              </a:solidFill>
              <a:latin typeface="+mn-lt"/>
              <a:ea typeface="华文中宋" pitchFamily="2" charset="-122"/>
              <a:sym typeface="Symbol" pitchFamily="18" charset="2"/>
            </a:endParaRPr>
          </a:p>
        </p:txBody>
      </p:sp>
      <p:graphicFrame>
        <p:nvGraphicFramePr>
          <p:cNvPr id="32" name="Object 11">
            <a:extLst>
              <a:ext uri="{FF2B5EF4-FFF2-40B4-BE49-F238E27FC236}">
                <a16:creationId xmlns:a16="http://schemas.microsoft.com/office/drawing/2014/main" id="{244B607B-6E5C-4E76-A0D9-1EC0B1695B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59536"/>
              </p:ext>
            </p:extLst>
          </p:nvPr>
        </p:nvGraphicFramePr>
        <p:xfrm>
          <a:off x="2774950" y="720481"/>
          <a:ext cx="3594100" cy="209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93880" imgH="2095200" progId="Equation.DSMT4">
                  <p:embed/>
                </p:oleObj>
              </mc:Choice>
              <mc:Fallback>
                <p:oleObj name="Equation" r:id="rId3" imgW="3593880" imgH="2095200" progId="Equation.DSMT4">
                  <p:embed/>
                  <p:pic>
                    <p:nvPicPr>
                      <p:cNvPr id="32" name="Object 11">
                        <a:extLst>
                          <a:ext uri="{FF2B5EF4-FFF2-40B4-BE49-F238E27FC236}">
                            <a16:creationId xmlns:a16="http://schemas.microsoft.com/office/drawing/2014/main" id="{244B607B-6E5C-4E76-A0D9-1EC0B1695B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4950" y="720481"/>
                        <a:ext cx="3594100" cy="209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文本框 32">
            <a:extLst>
              <a:ext uri="{FF2B5EF4-FFF2-40B4-BE49-F238E27FC236}">
                <a16:creationId xmlns:a16="http://schemas.microsoft.com/office/drawing/2014/main" id="{F8C5E003-C53F-4DD0-AE53-C10C7B5614D4}"/>
              </a:ext>
            </a:extLst>
          </p:cNvPr>
          <p:cNvSpPr txBox="1"/>
          <p:nvPr/>
        </p:nvSpPr>
        <p:spPr>
          <a:xfrm>
            <a:off x="868709" y="3004894"/>
            <a:ext cx="64087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zh-CN" altLang="en-US" b="1" kern="100" dirty="0">
                <a:latin typeface="华文中宋" panose="02010600040101010101" pitchFamily="2" charset="-122"/>
                <a:ea typeface="华文中宋" panose="02010600040101010101" pitchFamily="2" charset="-122"/>
              </a:rPr>
              <a:t>因此非齐次线性方程组</a:t>
            </a:r>
            <a:r>
              <a:rPr lang="zh-CN" altLang="en-US" sz="2000" b="1" kern="100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Ax</a:t>
            </a:r>
            <a:r>
              <a:rPr lang="en-US" altLang="zh-CN" sz="2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sz="2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kern="100" dirty="0">
                <a:latin typeface="华文中宋" panose="02010600040101010101" pitchFamily="2" charset="-122"/>
                <a:ea typeface="华文中宋" panose="02010600040101010101" pitchFamily="2" charset="-122"/>
              </a:rPr>
              <a:t>有解</a:t>
            </a:r>
            <a:r>
              <a:rPr lang="en-US" altLang="zh-CN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b="1" kern="100" dirty="0"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</a:p>
        </p:txBody>
      </p:sp>
      <p:sp>
        <p:nvSpPr>
          <p:cNvPr id="10" name="Rectangle 19">
            <a:extLst>
              <a:ext uri="{FF2B5EF4-FFF2-40B4-BE49-F238E27FC236}">
                <a16:creationId xmlns:a16="http://schemas.microsoft.com/office/drawing/2014/main" id="{84031ED7-9DA3-2EB6-BF01-7F3D4A98E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349" y="3004566"/>
            <a:ext cx="223224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其中矩阵</a:t>
            </a:r>
            <a:endParaRPr lang="en-US" altLang="zh-CN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1" name="Rectangle 19">
            <a:extLst>
              <a:ext uri="{FF2B5EF4-FFF2-40B4-BE49-F238E27FC236}">
                <a16:creationId xmlns:a16="http://schemas.microsoft.com/office/drawing/2014/main" id="{04EFD96E-2A57-34D3-345E-E98E87FDC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324" y="3715680"/>
            <a:ext cx="523320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即系数矩阵的秩与增广矩阵的</a:t>
            </a:r>
            <a:endParaRPr lang="en-US" altLang="zh-CN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Rectangle 19">
            <a:extLst>
              <a:ext uri="{FF2B5EF4-FFF2-40B4-BE49-F238E27FC236}">
                <a16:creationId xmlns:a16="http://schemas.microsoft.com/office/drawing/2014/main" id="{065E6AD9-4DA8-1EE1-0233-A5550C187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531" y="4398489"/>
            <a:ext cx="201622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秩相等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5216FB2-3062-12D7-19D4-E58422EDC2D8}"/>
              </a:ext>
            </a:extLst>
          </p:cNvPr>
          <p:cNvSpPr txBox="1"/>
          <p:nvPr/>
        </p:nvSpPr>
        <p:spPr>
          <a:xfrm>
            <a:off x="2214254" y="4395957"/>
            <a:ext cx="35283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zh-CN" altLang="en-US" b="1" kern="100" dirty="0">
                <a:latin typeface="华文中宋" panose="02010600040101010101" pitchFamily="2" charset="-122"/>
                <a:ea typeface="华文中宋" panose="02010600040101010101" pitchFamily="2" charset="-122"/>
              </a:rPr>
              <a:t>则</a:t>
            </a:r>
            <a:r>
              <a:rPr lang="zh-CN" altLang="en-US" sz="2000" b="1" kern="100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R(</a:t>
            </a:r>
            <a:r>
              <a:rPr lang="en-US" altLang="zh-CN" b="1" i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R(</a:t>
            </a:r>
            <a:r>
              <a:rPr lang="en-US" altLang="zh-CN" b="1" i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sz="1000" b="1" i="1" dirty="0">
                <a:solidFill>
                  <a:schemeClr val="tx1"/>
                </a:solidFill>
                <a:sym typeface="Symbol" panose="05050102010706020507" pitchFamily="18" charset="2"/>
              </a:rPr>
              <a:t>  </a:t>
            </a:r>
            <a:r>
              <a:rPr lang="en-US" altLang="zh-CN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).</a:t>
            </a:r>
            <a:r>
              <a:rPr lang="zh-CN" altLang="en-US" b="1" kern="100" dirty="0"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</a:p>
        </p:txBody>
      </p:sp>
      <p:sp>
        <p:nvSpPr>
          <p:cNvPr id="14" name="Rectangle 19">
            <a:extLst>
              <a:ext uri="{FF2B5EF4-FFF2-40B4-BE49-F238E27FC236}">
                <a16:creationId xmlns:a16="http://schemas.microsoft.com/office/drawing/2014/main" id="{42FA4E06-01FF-BF6A-1BE2-F43942358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7801" y="4395302"/>
            <a:ext cx="3729634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为此</a:t>
            </a:r>
            <a:r>
              <a:rPr lang="en-US" altLang="zh-CN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000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只需检验矩阵</a:t>
            </a:r>
            <a:endParaRPr lang="en-US" altLang="zh-CN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758DFC48-8B2E-A08D-DC82-8086AFE92A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531" y="5094364"/>
            <a:ext cx="813690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i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4</a:t>
            </a:r>
            <a:r>
              <a:rPr lang="en-US" altLang="zh-CN" sz="1000" b="1" baseline="-25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与矩阵</a:t>
            </a:r>
            <a:r>
              <a:rPr lang="zh-CN" altLang="en-US" sz="2000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i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4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sz="1000" b="1" baseline="-25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 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  <a:sym typeface="Symbol" pitchFamily="18" charset="2"/>
              </a:rPr>
              <a:t>的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sym typeface="Symbol" pitchFamily="18" charset="2"/>
            </a:endParaRPr>
          </a:p>
        </p:txBody>
      </p:sp>
      <p:sp>
        <p:nvSpPr>
          <p:cNvPr id="16" name="Rectangle 19">
            <a:extLst>
              <a:ext uri="{FF2B5EF4-FFF2-40B4-BE49-F238E27FC236}">
                <a16:creationId xmlns:a16="http://schemas.microsoft.com/office/drawing/2014/main" id="{7BBED990-D2DF-B75C-DCFA-26482A683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531" y="5790239"/>
            <a:ext cx="276448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  <a:sym typeface="Symbol" pitchFamily="18" charset="2"/>
              </a:rPr>
              <a:t>秩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是否相等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6906150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75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25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7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  <p:bldP spid="33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0">
            <a:extLst>
              <a:ext uri="{FF2B5EF4-FFF2-40B4-BE49-F238E27FC236}">
                <a16:creationId xmlns:a16="http://schemas.microsoft.com/office/drawing/2014/main" id="{3D8EF061-015C-42DF-81C0-D872E2FC7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308" y="0"/>
            <a:ext cx="8043170" cy="49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线性组合与线性表示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的实例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0889021-8825-44D2-B85F-7152C1C11882}"/>
              </a:ext>
            </a:extLst>
          </p:cNvPr>
          <p:cNvSpPr txBox="1"/>
          <p:nvPr/>
        </p:nvSpPr>
        <p:spPr>
          <a:xfrm>
            <a:off x="971600" y="872371"/>
            <a:ext cx="75615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b="1" kern="100" dirty="0">
                <a:latin typeface="华文中宋" panose="02010600040101010101" pitchFamily="2" charset="-122"/>
                <a:ea typeface="华文中宋" panose="02010600040101010101" pitchFamily="2" charset="-122"/>
              </a:rPr>
              <a:t>把</a:t>
            </a:r>
            <a:r>
              <a:rPr lang="zh-CN" altLang="en-US" sz="2000" b="1" kern="100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i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4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sz="1000" b="1" baseline="-25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000" b="1" i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化为行最简形矩阵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0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有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sz="2800" b="1" kern="100" dirty="0">
              <a:effectLst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0" name="Object 11">
            <a:extLst>
              <a:ext uri="{FF2B5EF4-FFF2-40B4-BE49-F238E27FC236}">
                <a16:creationId xmlns:a16="http://schemas.microsoft.com/office/drawing/2014/main" id="{25791168-3AD4-4885-8718-AAF562F6C9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8164719"/>
              </p:ext>
            </p:extLst>
          </p:nvPr>
        </p:nvGraphicFramePr>
        <p:xfrm>
          <a:off x="749755" y="1636433"/>
          <a:ext cx="3640138" cy="201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50960" imgH="914400" progId="Equation.DSMT4">
                  <p:embed/>
                </p:oleObj>
              </mc:Choice>
              <mc:Fallback>
                <p:oleObj name="Equation" r:id="rId2" imgW="1650960" imgH="914400" progId="Equation.DSMT4">
                  <p:embed/>
                  <p:pic>
                    <p:nvPicPr>
                      <p:cNvPr id="9" name="Object 11">
                        <a:extLst>
                          <a:ext uri="{FF2B5EF4-FFF2-40B4-BE49-F238E27FC236}">
                            <a16:creationId xmlns:a16="http://schemas.microsoft.com/office/drawing/2014/main" id="{D3C33B5F-D325-4CBD-A2A3-5AEE1DBC4A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755" y="1636433"/>
                        <a:ext cx="3640138" cy="201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1">
            <a:extLst>
              <a:ext uri="{FF2B5EF4-FFF2-40B4-BE49-F238E27FC236}">
                <a16:creationId xmlns:a16="http://schemas.microsoft.com/office/drawing/2014/main" id="{87C416E2-F9E6-4BA9-9418-A2A850ADE0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0327221"/>
              </p:ext>
            </p:extLst>
          </p:nvPr>
        </p:nvGraphicFramePr>
        <p:xfrm>
          <a:off x="1881815" y="3886526"/>
          <a:ext cx="2744788" cy="201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44520" imgH="914400" progId="Equation.DSMT4">
                  <p:embed/>
                </p:oleObj>
              </mc:Choice>
              <mc:Fallback>
                <p:oleObj name="Equation" r:id="rId4" imgW="1244520" imgH="914400" progId="Equation.DSMT4">
                  <p:embed/>
                  <p:pic>
                    <p:nvPicPr>
                      <p:cNvPr id="20" name="Object 11">
                        <a:extLst>
                          <a:ext uri="{FF2B5EF4-FFF2-40B4-BE49-F238E27FC236}">
                            <a16:creationId xmlns:a16="http://schemas.microsoft.com/office/drawing/2014/main" id="{25791168-3AD4-4885-8718-AAF562F6C9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1815" y="3886526"/>
                        <a:ext cx="2744788" cy="201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1">
            <a:extLst>
              <a:ext uri="{FF2B5EF4-FFF2-40B4-BE49-F238E27FC236}">
                <a16:creationId xmlns:a16="http://schemas.microsoft.com/office/drawing/2014/main" id="{F10D2203-E15E-4EAD-A01B-384399A546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1803604"/>
              </p:ext>
            </p:extLst>
          </p:nvPr>
        </p:nvGraphicFramePr>
        <p:xfrm>
          <a:off x="5216698" y="1594906"/>
          <a:ext cx="3079750" cy="201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0" imgH="914400" progId="Equation.DSMT4">
                  <p:embed/>
                </p:oleObj>
              </mc:Choice>
              <mc:Fallback>
                <p:oleObj name="Equation" r:id="rId6" imgW="1396800" imgH="914400" progId="Equation.DSMT4">
                  <p:embed/>
                  <p:pic>
                    <p:nvPicPr>
                      <p:cNvPr id="28" name="Object 11">
                        <a:extLst>
                          <a:ext uri="{FF2B5EF4-FFF2-40B4-BE49-F238E27FC236}">
                            <a16:creationId xmlns:a16="http://schemas.microsoft.com/office/drawing/2014/main" id="{123BD27B-7090-44E5-B8C1-6D08174CFF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6698" y="1594906"/>
                        <a:ext cx="3079750" cy="201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11">
            <a:extLst>
              <a:ext uri="{FF2B5EF4-FFF2-40B4-BE49-F238E27FC236}">
                <a16:creationId xmlns:a16="http://schemas.microsoft.com/office/drawing/2014/main" id="{B188804A-15DC-499F-A696-311D65F1FE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8721494"/>
              </p:ext>
            </p:extLst>
          </p:nvPr>
        </p:nvGraphicFramePr>
        <p:xfrm>
          <a:off x="5436096" y="3858744"/>
          <a:ext cx="2744788" cy="206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44520" imgH="939600" progId="Equation.DSMT4">
                  <p:embed/>
                </p:oleObj>
              </mc:Choice>
              <mc:Fallback>
                <p:oleObj name="Equation" r:id="rId8" imgW="1244520" imgH="939600" progId="Equation.DSMT4">
                  <p:embed/>
                  <p:pic>
                    <p:nvPicPr>
                      <p:cNvPr id="32" name="Object 11">
                        <a:extLst>
                          <a:ext uri="{FF2B5EF4-FFF2-40B4-BE49-F238E27FC236}">
                            <a16:creationId xmlns:a16="http://schemas.microsoft.com/office/drawing/2014/main" id="{87C416E2-F9E6-4BA9-9418-A2A850ADE0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6096" y="3858744"/>
                        <a:ext cx="2744788" cy="206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3">
            <a:extLst>
              <a:ext uri="{FF2B5EF4-FFF2-40B4-BE49-F238E27FC236}">
                <a16:creationId xmlns:a16="http://schemas.microsoft.com/office/drawing/2014/main" id="{375F39CB-68FD-1D4D-A683-B205AC3EFF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5692138"/>
              </p:ext>
            </p:extLst>
          </p:nvPr>
        </p:nvGraphicFramePr>
        <p:xfrm>
          <a:off x="4484952" y="1881911"/>
          <a:ext cx="657225" cy="146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95000" imgH="1104840" progId="Equation.DSMT4">
                  <p:embed/>
                </p:oleObj>
              </mc:Choice>
              <mc:Fallback>
                <p:oleObj name="Equation" r:id="rId10" imgW="495000" imgH="1104840" progId="Equation.DSMT4">
                  <p:embed/>
                  <p:pic>
                    <p:nvPicPr>
                      <p:cNvPr id="5" name="Object 23">
                        <a:extLst>
                          <a:ext uri="{FF2B5EF4-FFF2-40B4-BE49-F238E27FC236}">
                            <a16:creationId xmlns:a16="http://schemas.microsoft.com/office/drawing/2014/main" id="{9207FE95-8B76-4896-2BE4-EDDE9BF32B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4952" y="1881911"/>
                        <a:ext cx="657225" cy="1468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3">
            <a:extLst>
              <a:ext uri="{FF2B5EF4-FFF2-40B4-BE49-F238E27FC236}">
                <a16:creationId xmlns:a16="http://schemas.microsoft.com/office/drawing/2014/main" id="{116F31A4-60B8-6899-4BAF-C609E7FFD2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8624750"/>
              </p:ext>
            </p:extLst>
          </p:nvPr>
        </p:nvGraphicFramePr>
        <p:xfrm>
          <a:off x="4626106" y="4361188"/>
          <a:ext cx="823913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22080" imgH="799920" progId="Equation.DSMT4">
                  <p:embed/>
                </p:oleObj>
              </mc:Choice>
              <mc:Fallback>
                <p:oleObj name="Equation" r:id="rId12" imgW="622080" imgH="799920" progId="Equation.DSMT4">
                  <p:embed/>
                  <p:pic>
                    <p:nvPicPr>
                      <p:cNvPr id="19" name="Object 23">
                        <a:extLst>
                          <a:ext uri="{FF2B5EF4-FFF2-40B4-BE49-F238E27FC236}">
                            <a16:creationId xmlns:a16="http://schemas.microsoft.com/office/drawing/2014/main" id="{6C55D318-95B9-F0E1-B6E8-8B29EBE8E4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6106" y="4361188"/>
                        <a:ext cx="823913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3">
            <a:extLst>
              <a:ext uri="{FF2B5EF4-FFF2-40B4-BE49-F238E27FC236}">
                <a16:creationId xmlns:a16="http://schemas.microsoft.com/office/drawing/2014/main" id="{E15CE65D-1AB1-6EA4-E3FC-DB9050E069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3774018"/>
              </p:ext>
            </p:extLst>
          </p:nvPr>
        </p:nvGraphicFramePr>
        <p:xfrm>
          <a:off x="809625" y="4141788"/>
          <a:ext cx="995363" cy="150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49160" imgH="1130040" progId="Equation.DSMT4">
                  <p:embed/>
                </p:oleObj>
              </mc:Choice>
              <mc:Fallback>
                <p:oleObj name="Equation" r:id="rId14" imgW="749160" imgH="1130040" progId="Equation.DSMT4">
                  <p:embed/>
                  <p:pic>
                    <p:nvPicPr>
                      <p:cNvPr id="2" name="Object 23">
                        <a:extLst>
                          <a:ext uri="{FF2B5EF4-FFF2-40B4-BE49-F238E27FC236}">
                            <a16:creationId xmlns:a16="http://schemas.microsoft.com/office/drawing/2014/main" id="{375F39CB-68FD-1D4D-A683-B205AC3EFF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625" y="4141788"/>
                        <a:ext cx="995363" cy="150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9244209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2BDAA7FE-125C-4DFA-9E74-618E84ACB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30">
            <a:extLst>
              <a:ext uri="{FF2B5EF4-FFF2-40B4-BE49-F238E27FC236}">
                <a16:creationId xmlns:a16="http://schemas.microsoft.com/office/drawing/2014/main" id="{6ED84202-61B3-4F99-9FF8-56DB3AE8D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437" y="-19203"/>
            <a:ext cx="7830287" cy="493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线性组合与线性表示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的实例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5">
            <a:extLst>
              <a:ext uri="{FF2B5EF4-FFF2-40B4-BE49-F238E27FC236}">
                <a16:creationId xmlns:a16="http://schemas.microsoft.com/office/drawing/2014/main" id="{BDA78468-0DEA-4D83-B827-56ABE7C55C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7030400"/>
              </p:ext>
            </p:extLst>
          </p:nvPr>
        </p:nvGraphicFramePr>
        <p:xfrm>
          <a:off x="1547813" y="782211"/>
          <a:ext cx="2941637" cy="207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33440" imgH="939600" progId="Equation.DSMT4">
                  <p:embed/>
                </p:oleObj>
              </mc:Choice>
              <mc:Fallback>
                <p:oleObj name="Equation" r:id="rId3" imgW="1333440" imgH="93960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F61B338F-2D97-40ED-8546-7A9A1ADBFA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782211"/>
                        <a:ext cx="2941637" cy="207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5">
            <a:extLst>
              <a:ext uri="{FF2B5EF4-FFF2-40B4-BE49-F238E27FC236}">
                <a16:creationId xmlns:a16="http://schemas.microsoft.com/office/drawing/2014/main" id="{F15D35B8-29D1-4BC2-8CAC-DC878257F2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3497063"/>
              </p:ext>
            </p:extLst>
          </p:nvPr>
        </p:nvGraphicFramePr>
        <p:xfrm>
          <a:off x="5508361" y="791385"/>
          <a:ext cx="2943225" cy="207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33440" imgH="939600" progId="Equation.DSMT4">
                  <p:embed/>
                </p:oleObj>
              </mc:Choice>
              <mc:Fallback>
                <p:oleObj name="Equation" r:id="rId5" imgW="1333440" imgH="939600" progId="Equation.DSMT4">
                  <p:embed/>
                  <p:pic>
                    <p:nvPicPr>
                      <p:cNvPr id="11" name="Object 5">
                        <a:extLst>
                          <a:ext uri="{FF2B5EF4-FFF2-40B4-BE49-F238E27FC236}">
                            <a16:creationId xmlns:a16="http://schemas.microsoft.com/office/drawing/2014/main" id="{BDA78468-0DEA-4D83-B827-56ABE7C55C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361" y="791385"/>
                        <a:ext cx="2943225" cy="207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5">
            <a:extLst>
              <a:ext uri="{FF2B5EF4-FFF2-40B4-BE49-F238E27FC236}">
                <a16:creationId xmlns:a16="http://schemas.microsoft.com/office/drawing/2014/main" id="{F4788232-38EF-41E6-AA61-916163921E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9277954"/>
              </p:ext>
            </p:extLst>
          </p:nvPr>
        </p:nvGraphicFramePr>
        <p:xfrm>
          <a:off x="1560781" y="3015289"/>
          <a:ext cx="2746375" cy="207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44520" imgH="939600" progId="Equation.DSMT4">
                  <p:embed/>
                </p:oleObj>
              </mc:Choice>
              <mc:Fallback>
                <p:oleObj name="Equation" r:id="rId7" imgW="1244520" imgH="939600" progId="Equation.DSMT4">
                  <p:embed/>
                  <p:pic>
                    <p:nvPicPr>
                      <p:cNvPr id="26" name="Object 5">
                        <a:extLst>
                          <a:ext uri="{FF2B5EF4-FFF2-40B4-BE49-F238E27FC236}">
                            <a16:creationId xmlns:a16="http://schemas.microsoft.com/office/drawing/2014/main" id="{F15D35B8-29D1-4BC2-8CAC-DC878257F2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0781" y="3015289"/>
                        <a:ext cx="2746375" cy="207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Box 15">
            <a:extLst>
              <a:ext uri="{FF2B5EF4-FFF2-40B4-BE49-F238E27FC236}">
                <a16:creationId xmlns:a16="http://schemas.microsoft.com/office/drawing/2014/main" id="{E64772A0-9131-40CE-9F66-B92AA7A38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044" y="5111323"/>
            <a:ext cx="3987531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可见</a:t>
            </a:r>
            <a:r>
              <a:rPr lang="zh-CN" altLang="en-US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en-US" altLang="zh-CN" b="1" dirty="0">
                <a:solidFill>
                  <a:schemeClr val="tx1"/>
                </a:solidFill>
              </a:rPr>
              <a:t>) = 4,</a:t>
            </a:r>
            <a:endParaRPr lang="en-US" altLang="zh-CN" b="1" baseline="-250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35" name="Text Box 16">
            <a:extLst>
              <a:ext uri="{FF2B5EF4-FFF2-40B4-BE49-F238E27FC236}">
                <a16:creationId xmlns:a16="http://schemas.microsoft.com/office/drawing/2014/main" id="{50223DD9-4C3B-43FA-821C-F82BF42C6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743" y="5704859"/>
            <a:ext cx="3254751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4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线性表示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36" name="Text Box 23">
            <a:extLst>
              <a:ext uri="{FF2B5EF4-FFF2-40B4-BE49-F238E27FC236}">
                <a16:creationId xmlns:a16="http://schemas.microsoft.com/office/drawing/2014/main" id="{2079B617-061A-4494-B0F4-A3FA84364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3573" y="5111323"/>
            <a:ext cx="504056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因此向量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能由向量组</a:t>
            </a:r>
            <a:r>
              <a:rPr lang="zh-CN" altLang="en-US" sz="14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endParaRPr lang="en-US" altLang="zh-CN" b="1" baseline="-250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8" name="Object 23">
            <a:extLst>
              <a:ext uri="{FF2B5EF4-FFF2-40B4-BE49-F238E27FC236}">
                <a16:creationId xmlns:a16="http://schemas.microsoft.com/office/drawing/2014/main" id="{E717F685-0DAA-8EEC-EBFF-278204F895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6710549"/>
              </p:ext>
            </p:extLst>
          </p:nvPr>
        </p:nvGraphicFramePr>
        <p:xfrm>
          <a:off x="854320" y="1254143"/>
          <a:ext cx="673100" cy="114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07960" imgH="863280" progId="Equation.DSMT4">
                  <p:embed/>
                </p:oleObj>
              </mc:Choice>
              <mc:Fallback>
                <p:oleObj name="Equation" r:id="rId9" imgW="507960" imgH="863280" progId="Equation.DSMT4">
                  <p:embed/>
                  <p:pic>
                    <p:nvPicPr>
                      <p:cNvPr id="2" name="Object 23">
                        <a:extLst>
                          <a:ext uri="{FF2B5EF4-FFF2-40B4-BE49-F238E27FC236}">
                            <a16:creationId xmlns:a16="http://schemas.microsoft.com/office/drawing/2014/main" id="{375F39CB-68FD-1D4D-A683-B205AC3EFF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320" y="1254143"/>
                        <a:ext cx="673100" cy="1147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3">
            <a:extLst>
              <a:ext uri="{FF2B5EF4-FFF2-40B4-BE49-F238E27FC236}">
                <a16:creationId xmlns:a16="http://schemas.microsoft.com/office/drawing/2014/main" id="{8CEF013B-420E-5354-EF84-5425ADF86E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0059488"/>
              </p:ext>
            </p:extLst>
          </p:nvPr>
        </p:nvGraphicFramePr>
        <p:xfrm>
          <a:off x="4506913" y="925086"/>
          <a:ext cx="962025" cy="180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23600" imgH="1358640" progId="Equation.DSMT4">
                  <p:embed/>
                </p:oleObj>
              </mc:Choice>
              <mc:Fallback>
                <p:oleObj name="Equation" r:id="rId11" imgW="723600" imgH="1358640" progId="Equation.DSMT4">
                  <p:embed/>
                  <p:pic>
                    <p:nvPicPr>
                      <p:cNvPr id="8" name="Object 23">
                        <a:extLst>
                          <a:ext uri="{FF2B5EF4-FFF2-40B4-BE49-F238E27FC236}">
                            <a16:creationId xmlns:a16="http://schemas.microsoft.com/office/drawing/2014/main" id="{E717F685-0DAA-8EEC-EBFF-278204F895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6913" y="925086"/>
                        <a:ext cx="962025" cy="180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3">
            <a:extLst>
              <a:ext uri="{FF2B5EF4-FFF2-40B4-BE49-F238E27FC236}">
                <a16:creationId xmlns:a16="http://schemas.microsoft.com/office/drawing/2014/main" id="{97DAADD9-D7F2-7A18-31A8-C4D9ED03C8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1660004"/>
              </p:ext>
            </p:extLst>
          </p:nvPr>
        </p:nvGraphicFramePr>
        <p:xfrm>
          <a:off x="871538" y="3355063"/>
          <a:ext cx="676275" cy="1452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507960" imgH="1091880" progId="Equation.DSMT4">
                  <p:embed/>
                </p:oleObj>
              </mc:Choice>
              <mc:Fallback>
                <p:oleObj name="Equation" r:id="rId13" imgW="507960" imgH="1091880" progId="Equation.DSMT4">
                  <p:embed/>
                  <p:pic>
                    <p:nvPicPr>
                      <p:cNvPr id="9" name="Object 23">
                        <a:extLst>
                          <a:ext uri="{FF2B5EF4-FFF2-40B4-BE49-F238E27FC236}">
                            <a16:creationId xmlns:a16="http://schemas.microsoft.com/office/drawing/2014/main" id="{8CEF013B-420E-5354-EF84-5425ADF86E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538" y="3355063"/>
                        <a:ext cx="676275" cy="1452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6">
            <a:extLst>
              <a:ext uri="{FF2B5EF4-FFF2-40B4-BE49-F238E27FC236}">
                <a16:creationId xmlns:a16="http://schemas.microsoft.com/office/drawing/2014/main" id="{7DAA77A4-BE47-0251-B1C9-E48684F3FF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02" y="5704858"/>
            <a:ext cx="3254751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且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表示式唯一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B0F1E85E-3142-604A-6574-B3BDC724A818}"/>
              </a:ext>
            </a:extLst>
          </p:cNvPr>
          <p:cNvGrpSpPr/>
          <p:nvPr/>
        </p:nvGrpSpPr>
        <p:grpSpPr>
          <a:xfrm>
            <a:off x="1659419" y="3513706"/>
            <a:ext cx="2434154" cy="1518116"/>
            <a:chOff x="1630844" y="3736383"/>
            <a:chExt cx="2434154" cy="1518116"/>
          </a:xfrm>
        </p:grpSpPr>
        <p:grpSp>
          <p:nvGrpSpPr>
            <p:cNvPr id="12" name="组合 22">
              <a:extLst>
                <a:ext uri="{FF2B5EF4-FFF2-40B4-BE49-F238E27FC236}">
                  <a16:creationId xmlns:a16="http://schemas.microsoft.com/office/drawing/2014/main" id="{20342BD1-FBDF-BB44-B5FC-139277EA89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0844" y="3736383"/>
              <a:ext cx="947389" cy="503238"/>
              <a:chOff x="2051720" y="5157192"/>
              <a:chExt cx="820939" cy="504056"/>
            </a:xfrm>
          </p:grpSpPr>
          <p:cxnSp>
            <p:nvCxnSpPr>
              <p:cNvPr id="13" name="直接连接符 17">
                <a:extLst>
                  <a:ext uri="{FF2B5EF4-FFF2-40B4-BE49-F238E27FC236}">
                    <a16:creationId xmlns:a16="http://schemas.microsoft.com/office/drawing/2014/main" id="{3F2ED9BE-C4F4-2687-6EA3-2F4FA7699B3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051720" y="5157192"/>
                <a:ext cx="432048" cy="0"/>
              </a:xfrm>
              <a:prstGeom prst="line">
                <a:avLst/>
              </a:prstGeom>
              <a:noFill/>
              <a:ln w="38100" algn="ctr">
                <a:solidFill>
                  <a:srgbClr val="FF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" name="直接连接符 19">
                <a:extLst>
                  <a:ext uri="{FF2B5EF4-FFF2-40B4-BE49-F238E27FC236}">
                    <a16:creationId xmlns:a16="http://schemas.microsoft.com/office/drawing/2014/main" id="{E9E0229F-3C4F-4FD9-0F9C-C5F55E2706F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483768" y="5157192"/>
                <a:ext cx="0" cy="504056"/>
              </a:xfrm>
              <a:prstGeom prst="line">
                <a:avLst/>
              </a:prstGeom>
              <a:noFill/>
              <a:ln w="38100" algn="ctr">
                <a:solidFill>
                  <a:srgbClr val="FF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" name="直接连接符 21">
                <a:extLst>
                  <a:ext uri="{FF2B5EF4-FFF2-40B4-BE49-F238E27FC236}">
                    <a16:creationId xmlns:a16="http://schemas.microsoft.com/office/drawing/2014/main" id="{DDBF8899-2B7A-29C5-A556-4FF287DE34B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483768" y="5661248"/>
                <a:ext cx="388891" cy="0"/>
              </a:xfrm>
              <a:prstGeom prst="line">
                <a:avLst/>
              </a:prstGeom>
              <a:noFill/>
              <a:ln w="38100" algn="ctr">
                <a:solidFill>
                  <a:srgbClr val="FF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8" name="直接连接符 19">
              <a:extLst>
                <a:ext uri="{FF2B5EF4-FFF2-40B4-BE49-F238E27FC236}">
                  <a16:creationId xmlns:a16="http://schemas.microsoft.com/office/drawing/2014/main" id="{1AEFA288-5E19-E852-2EE3-211172775A2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550011" y="4239621"/>
              <a:ext cx="0" cy="503238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直接连接符 17">
              <a:extLst>
                <a:ext uri="{FF2B5EF4-FFF2-40B4-BE49-F238E27FC236}">
                  <a16:creationId xmlns:a16="http://schemas.microsoft.com/office/drawing/2014/main" id="{93344381-5B85-215E-6E6E-840DBED7C00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578233" y="4742859"/>
              <a:ext cx="498597" cy="0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2EF13D6E-19C2-DD9C-6771-6EE32947FD8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084167" y="4742859"/>
              <a:ext cx="0" cy="503238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直接连接符 17">
              <a:extLst>
                <a:ext uri="{FF2B5EF4-FFF2-40B4-BE49-F238E27FC236}">
                  <a16:creationId xmlns:a16="http://schemas.microsoft.com/office/drawing/2014/main" id="{93825CE3-CED0-E83D-1F01-C694BE35B39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056886" y="5254499"/>
              <a:ext cx="1008112" cy="0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501314707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 autoUpdateAnimBg="0"/>
      <p:bldP spid="35" grpId="0" build="p" autoUpdateAnimBg="0" advAuto="0"/>
      <p:bldP spid="36" grpId="0" build="p" autoUpdateAnimBg="0"/>
      <p:bldP spid="14" grpId="0" build="p" autoUpdateAnimBg="0" advAuto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2BDAA7FE-125C-4DFA-9E74-618E84ACB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30">
            <a:extLst>
              <a:ext uri="{FF2B5EF4-FFF2-40B4-BE49-F238E27FC236}">
                <a16:creationId xmlns:a16="http://schemas.microsoft.com/office/drawing/2014/main" id="{6ED84202-61B3-4F99-9FF8-56DB3AE8D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-5207"/>
            <a:ext cx="7830287" cy="49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线性组合与线性表示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的实例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Text Box 17">
            <a:extLst>
              <a:ext uri="{FF2B5EF4-FFF2-40B4-BE49-F238E27FC236}">
                <a16:creationId xmlns:a16="http://schemas.microsoft.com/office/drawing/2014/main" id="{4B9F9506-DBE5-4D8C-9A8A-9BE3B92DF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620688"/>
            <a:ext cx="473748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由上面的行最简形矩阵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20" name="Text Box 24">
            <a:extLst>
              <a:ext uri="{FF2B5EF4-FFF2-40B4-BE49-F238E27FC236}">
                <a16:creationId xmlns:a16="http://schemas.microsoft.com/office/drawing/2014/main" id="{7D64249E-1B64-4A8C-A769-9BD5820861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1083" y="625915"/>
            <a:ext cx="240742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可得方程组</a:t>
            </a:r>
            <a:r>
              <a:rPr lang="en-US" altLang="zh-CN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7" name="Text Box 24">
            <a:extLst>
              <a:ext uri="{FF2B5EF4-FFF2-40B4-BE49-F238E27FC236}">
                <a16:creationId xmlns:a16="http://schemas.microsoft.com/office/drawing/2014/main" id="{2E650AE6-0C3A-68F3-E28E-9426EF889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154" y="1230843"/>
            <a:ext cx="5642726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</a:rPr>
              <a:t>(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,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4 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x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的唯一解为</a:t>
            </a:r>
            <a:endParaRPr lang="en-US" altLang="zh-CN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8" name="Object 5">
            <a:extLst>
              <a:ext uri="{FF2B5EF4-FFF2-40B4-BE49-F238E27FC236}">
                <a16:creationId xmlns:a16="http://schemas.microsoft.com/office/drawing/2014/main" id="{C2F22439-FCB1-CCC9-3B2A-D585FA9CD2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7857766"/>
              </p:ext>
            </p:extLst>
          </p:nvPr>
        </p:nvGraphicFramePr>
        <p:xfrm>
          <a:off x="3241861" y="1902413"/>
          <a:ext cx="1346200" cy="207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480" imgH="939600" progId="Equation.DSMT4">
                  <p:embed/>
                </p:oleObj>
              </mc:Choice>
              <mc:Fallback>
                <p:oleObj name="Equation" r:id="rId3" imgW="609480" imgH="939600" progId="Equation.DSMT4">
                  <p:embed/>
                  <p:pic>
                    <p:nvPicPr>
                      <p:cNvPr id="26" name="Object 5">
                        <a:extLst>
                          <a:ext uri="{FF2B5EF4-FFF2-40B4-BE49-F238E27FC236}">
                            <a16:creationId xmlns:a16="http://schemas.microsoft.com/office/drawing/2014/main" id="{A5F8A118-3272-ADF2-1115-AB96405FE5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1861" y="1902413"/>
                        <a:ext cx="1346200" cy="207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5">
            <a:extLst>
              <a:ext uri="{FF2B5EF4-FFF2-40B4-BE49-F238E27FC236}">
                <a16:creationId xmlns:a16="http://schemas.microsoft.com/office/drawing/2014/main" id="{EDAE8588-E467-8DA1-2016-46C56BB85B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4077412"/>
              </p:ext>
            </p:extLst>
          </p:nvPr>
        </p:nvGraphicFramePr>
        <p:xfrm>
          <a:off x="4505325" y="1901872"/>
          <a:ext cx="1233488" cy="207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58720" imgH="939600" progId="Equation.DSMT4">
                  <p:embed/>
                </p:oleObj>
              </mc:Choice>
              <mc:Fallback>
                <p:oleObj name="Equation" r:id="rId5" imgW="558720" imgH="939600" progId="Equation.DSMT4">
                  <p:embed/>
                  <p:pic>
                    <p:nvPicPr>
                      <p:cNvPr id="26" name="Object 5">
                        <a:extLst>
                          <a:ext uri="{FF2B5EF4-FFF2-40B4-BE49-F238E27FC236}">
                            <a16:creationId xmlns:a16="http://schemas.microsoft.com/office/drawing/2014/main" id="{A5F8A118-3272-ADF2-1115-AB96405FE5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5325" y="1901872"/>
                        <a:ext cx="1233488" cy="207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 Box 9">
            <a:extLst>
              <a:ext uri="{FF2B5EF4-FFF2-40B4-BE49-F238E27FC236}">
                <a16:creationId xmlns:a16="http://schemas.microsoft.com/office/drawing/2014/main" id="{3C4552A6-BCAA-700C-E0B6-47069DD132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335" y="4034407"/>
            <a:ext cx="30972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从而可得表示式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3" name="Object 17">
            <a:extLst>
              <a:ext uri="{FF2B5EF4-FFF2-40B4-BE49-F238E27FC236}">
                <a16:creationId xmlns:a16="http://schemas.microsoft.com/office/drawing/2014/main" id="{60B73F90-EF9F-54F9-4FDF-7C60343B64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0293025"/>
              </p:ext>
            </p:extLst>
          </p:nvPr>
        </p:nvGraphicFramePr>
        <p:xfrm>
          <a:off x="1141764" y="4311405"/>
          <a:ext cx="3419475" cy="207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49080" imgH="939600" progId="Equation.DSMT4">
                  <p:embed/>
                </p:oleObj>
              </mc:Choice>
              <mc:Fallback>
                <p:oleObj name="Equation" r:id="rId7" imgW="1549080" imgH="939600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445B634C-1BAC-4EAF-9491-4906902716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1764" y="4311405"/>
                        <a:ext cx="3419475" cy="2071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17">
            <a:extLst>
              <a:ext uri="{FF2B5EF4-FFF2-40B4-BE49-F238E27FC236}">
                <a16:creationId xmlns:a16="http://schemas.microsoft.com/office/drawing/2014/main" id="{888AE022-936D-1AA5-4B5C-9B4129C63A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2906705"/>
              </p:ext>
            </p:extLst>
          </p:nvPr>
        </p:nvGraphicFramePr>
        <p:xfrm>
          <a:off x="4561239" y="5093186"/>
          <a:ext cx="341947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49080" imgH="228600" progId="Equation.DSMT4">
                  <p:embed/>
                </p:oleObj>
              </mc:Choice>
              <mc:Fallback>
                <p:oleObj name="Equation" r:id="rId9" imgW="1549080" imgH="228600" progId="Equation.DSMT4">
                  <p:embed/>
                  <p:pic>
                    <p:nvPicPr>
                      <p:cNvPr id="43" name="Object 17">
                        <a:extLst>
                          <a:ext uri="{FF2B5EF4-FFF2-40B4-BE49-F238E27FC236}">
                            <a16:creationId xmlns:a16="http://schemas.microsoft.com/office/drawing/2014/main" id="{60B73F90-EF9F-54F9-4FDF-7C60343B64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1239" y="5093186"/>
                        <a:ext cx="3419475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59817883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75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7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75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 autoUpdateAnimBg="0"/>
      <p:bldP spid="20" grpId="0" build="p" autoUpdateAnimBg="0"/>
      <p:bldP spid="37" grpId="0" build="p" autoUpdateAnimBg="0"/>
      <p:bldP spid="41" grpId="0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2BDAA7FE-125C-4DFA-9E74-618E84ACB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30">
            <a:extLst>
              <a:ext uri="{FF2B5EF4-FFF2-40B4-BE49-F238E27FC236}">
                <a16:creationId xmlns:a16="http://schemas.microsoft.com/office/drawing/2014/main" id="{6ED84202-61B3-4F99-9FF8-56DB3AE8D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-9088"/>
            <a:ext cx="7830287" cy="493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线性组合与线性表示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的实例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F8705BF8-C488-26A3-790C-C9CC265FB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030" y="720725"/>
            <a:ext cx="150606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例</a:t>
            </a:r>
            <a:r>
              <a:rPr lang="zh-CN" altLang="en-US" sz="10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3.6</a:t>
            </a:r>
            <a:endParaRPr lang="zh-CN" altLang="en-US" b="1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2BBCD962-BE2A-9D22-F1B5-DEFF58C6A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2476" y="1417901"/>
            <a:ext cx="338437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问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 </a:t>
            </a:r>
            <a:r>
              <a:rPr lang="en-US" altLang="zh-CN" b="1" i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sz="1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取何值时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,</a:t>
            </a:r>
            <a:endParaRPr lang="zh-CN" altLang="en-US" b="1" dirty="0">
              <a:solidFill>
                <a:schemeClr val="tx1"/>
              </a:solidFill>
              <a:latin typeface="+mn-lt"/>
              <a:ea typeface="华文中宋" pitchFamily="2" charset="-122"/>
              <a:sym typeface="Symbol" pitchFamily="18" charset="2"/>
            </a:endParaRPr>
          </a:p>
        </p:txBody>
      </p:sp>
      <p:sp>
        <p:nvSpPr>
          <p:cNvPr id="10" name="Text Box 6">
            <a:extLst>
              <a:ext uri="{FF2B5EF4-FFF2-40B4-BE49-F238E27FC236}">
                <a16:creationId xmlns:a16="http://schemas.microsoft.com/office/drawing/2014/main" id="{6D937DFC-A454-D498-D0AC-31623BC6D9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239" y="2760539"/>
            <a:ext cx="394410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示时求出其表示式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507506C4-80A1-2DB3-731F-3AB7B49E4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84" y="4168198"/>
            <a:ext cx="49261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sz="2000" b="1" baseline="-25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sz="2000" b="1" baseline="-25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3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3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sz="16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6176FCE-EF8C-6B0B-C09A-5531076B61FF}"/>
              </a:ext>
            </a:extLst>
          </p:cNvPr>
          <p:cNvSpPr txBox="1"/>
          <p:nvPr/>
        </p:nvSpPr>
        <p:spPr>
          <a:xfrm>
            <a:off x="1791068" y="726600"/>
            <a:ext cx="27812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设有一组向量</a:t>
            </a:r>
          </a:p>
        </p:txBody>
      </p:sp>
      <p:graphicFrame>
        <p:nvGraphicFramePr>
          <p:cNvPr id="15" name="Object 17">
            <a:extLst>
              <a:ext uri="{FF2B5EF4-FFF2-40B4-BE49-F238E27FC236}">
                <a16:creationId xmlns:a16="http://schemas.microsoft.com/office/drawing/2014/main" id="{084C1FA6-EBB9-2E06-8B22-441EE56735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7437713"/>
              </p:ext>
            </p:extLst>
          </p:nvPr>
        </p:nvGraphicFramePr>
        <p:xfrm>
          <a:off x="4093489" y="713476"/>
          <a:ext cx="227012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28520" imgH="241200" progId="Equation.DSMT4">
                  <p:embed/>
                </p:oleObj>
              </mc:Choice>
              <mc:Fallback>
                <p:oleObj name="Equation" r:id="rId3" imgW="1028520" imgH="241200" progId="Equation.DSMT4">
                  <p:embed/>
                  <p:pic>
                    <p:nvPicPr>
                      <p:cNvPr id="44" name="Object 17">
                        <a:extLst>
                          <a:ext uri="{FF2B5EF4-FFF2-40B4-BE49-F238E27FC236}">
                            <a16:creationId xmlns:a16="http://schemas.microsoft.com/office/drawing/2014/main" id="{888AE022-936D-1AA5-4B5C-9B4129C63A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3489" y="713476"/>
                        <a:ext cx="2270125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7">
            <a:extLst>
              <a:ext uri="{FF2B5EF4-FFF2-40B4-BE49-F238E27FC236}">
                <a16:creationId xmlns:a16="http://schemas.microsoft.com/office/drawing/2014/main" id="{E639EF66-2909-1417-D7CF-6737DEF336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1530903"/>
              </p:ext>
            </p:extLst>
          </p:nvPr>
        </p:nvGraphicFramePr>
        <p:xfrm>
          <a:off x="6367335" y="703014"/>
          <a:ext cx="229870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41120" imgH="241200" progId="Equation.DSMT4">
                  <p:embed/>
                </p:oleObj>
              </mc:Choice>
              <mc:Fallback>
                <p:oleObj name="Equation" r:id="rId5" imgW="1041120" imgH="241200" progId="Equation.DSMT4">
                  <p:embed/>
                  <p:pic>
                    <p:nvPicPr>
                      <p:cNvPr id="44" name="Object 17">
                        <a:extLst>
                          <a:ext uri="{FF2B5EF4-FFF2-40B4-BE49-F238E27FC236}">
                            <a16:creationId xmlns:a16="http://schemas.microsoft.com/office/drawing/2014/main" id="{888AE022-936D-1AA5-4B5C-9B4129C63A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7335" y="703014"/>
                        <a:ext cx="2298700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7">
            <a:extLst>
              <a:ext uri="{FF2B5EF4-FFF2-40B4-BE49-F238E27FC236}">
                <a16:creationId xmlns:a16="http://schemas.microsoft.com/office/drawing/2014/main" id="{E887B747-5838-C366-DBED-3A149D4785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1694029"/>
              </p:ext>
            </p:extLst>
          </p:nvPr>
        </p:nvGraphicFramePr>
        <p:xfrm>
          <a:off x="484239" y="1417901"/>
          <a:ext cx="2493962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30040" imgH="241200" progId="Equation.DSMT4">
                  <p:embed/>
                </p:oleObj>
              </mc:Choice>
              <mc:Fallback>
                <p:oleObj name="Equation" r:id="rId7" imgW="1130040" imgH="241200" progId="Equation.DSMT4">
                  <p:embed/>
                  <p:pic>
                    <p:nvPicPr>
                      <p:cNvPr id="16" name="Object 17">
                        <a:extLst>
                          <a:ext uri="{FF2B5EF4-FFF2-40B4-BE49-F238E27FC236}">
                            <a16:creationId xmlns:a16="http://schemas.microsoft.com/office/drawing/2014/main" id="{E639EF66-2909-1417-D7CF-6737DEF336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239" y="1417901"/>
                        <a:ext cx="2493962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7">
            <a:extLst>
              <a:ext uri="{FF2B5EF4-FFF2-40B4-BE49-F238E27FC236}">
                <a16:creationId xmlns:a16="http://schemas.microsoft.com/office/drawing/2014/main" id="{6EDB5F13-61E8-69A6-F82B-64FA2C3DA3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5566611"/>
              </p:ext>
            </p:extLst>
          </p:nvPr>
        </p:nvGraphicFramePr>
        <p:xfrm>
          <a:off x="3067330" y="1436296"/>
          <a:ext cx="23812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79280" imgH="228600" progId="Equation.DSMT4">
                  <p:embed/>
                </p:oleObj>
              </mc:Choice>
              <mc:Fallback>
                <p:oleObj name="Equation" r:id="rId9" imgW="1079280" imgH="228600" progId="Equation.DSMT4">
                  <p:embed/>
                  <p:pic>
                    <p:nvPicPr>
                      <p:cNvPr id="19" name="Object 17">
                        <a:extLst>
                          <a:ext uri="{FF2B5EF4-FFF2-40B4-BE49-F238E27FC236}">
                            <a16:creationId xmlns:a16="http://schemas.microsoft.com/office/drawing/2014/main" id="{E887B747-5838-C366-DBED-3A149D4785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7330" y="1436296"/>
                        <a:ext cx="238125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5">
            <a:extLst>
              <a:ext uri="{FF2B5EF4-FFF2-40B4-BE49-F238E27FC236}">
                <a16:creationId xmlns:a16="http://schemas.microsoft.com/office/drawing/2014/main" id="{3F553732-74D0-EDC3-5D55-DE7852A856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239" y="2089875"/>
            <a:ext cx="581630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 </a:t>
            </a:r>
            <a:r>
              <a:rPr lang="en-US" altLang="zh-CN" sz="1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能由向量组</a:t>
            </a:r>
            <a:r>
              <a:rPr lang="zh-CN" altLang="en-US" sz="1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3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线性表示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?</a:t>
            </a:r>
            <a:r>
              <a:rPr lang="en-US" altLang="zh-CN" sz="2000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  </a:t>
            </a:r>
            <a:endParaRPr lang="zh-CN" altLang="en-US" b="1" dirty="0">
              <a:solidFill>
                <a:schemeClr val="tx1"/>
              </a:solidFill>
              <a:latin typeface="+mn-lt"/>
              <a:ea typeface="华文中宋" pitchFamily="2" charset="-122"/>
              <a:sym typeface="Symbol" pitchFamily="18" charset="2"/>
            </a:endParaRPr>
          </a:p>
        </p:txBody>
      </p:sp>
      <p:sp>
        <p:nvSpPr>
          <p:cNvPr id="22" name="Text Box 6">
            <a:extLst>
              <a:ext uri="{FF2B5EF4-FFF2-40B4-BE49-F238E27FC236}">
                <a16:creationId xmlns:a16="http://schemas.microsoft.com/office/drawing/2014/main" id="{7B132BA4-C783-8F54-1BE5-67F971F1C8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9601" y="2091188"/>
            <a:ext cx="32035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并在可以线性表</a:t>
            </a:r>
            <a:endParaRPr lang="en-US" altLang="zh-CN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Rectangle 19">
            <a:extLst>
              <a:ext uri="{FF2B5EF4-FFF2-40B4-BE49-F238E27FC236}">
                <a16:creationId xmlns:a16="http://schemas.microsoft.com/office/drawing/2014/main" id="{A36E6552-249A-397B-3293-90EA49853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030" y="3423603"/>
            <a:ext cx="121803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  <a:endParaRPr lang="en-US" altLang="zh-CN" b="1" dirty="0">
              <a:solidFill>
                <a:srgbClr val="C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5C790AB-C2A6-2927-BF02-C34040B54796}"/>
              </a:ext>
            </a:extLst>
          </p:cNvPr>
          <p:cNvSpPr txBox="1"/>
          <p:nvPr/>
        </p:nvSpPr>
        <p:spPr>
          <a:xfrm>
            <a:off x="1692036" y="3444987"/>
            <a:ext cx="5544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设存在一组常数</a:t>
            </a:r>
            <a:r>
              <a:rPr lang="zh-CN" altLang="en-US" sz="20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  <a:sym typeface="Symbol" pitchFamily="18" charset="2"/>
              </a:rPr>
              <a:t>,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使得</a:t>
            </a:r>
            <a:endParaRPr lang="zh-CN" altLang="en-US" sz="2800" b="1" kern="100" dirty="0"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5" name="Text Box 5">
            <a:extLst>
              <a:ext uri="{FF2B5EF4-FFF2-40B4-BE49-F238E27FC236}">
                <a16:creationId xmlns:a16="http://schemas.microsoft.com/office/drawing/2014/main" id="{D614A214-FDBD-B36C-4435-D784E28255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239" y="4873786"/>
            <a:ext cx="656595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向量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sz="2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能由向量组</a:t>
            </a:r>
            <a:r>
              <a:rPr lang="zh-CN" altLang="en-US" sz="1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3</a:t>
            </a:r>
            <a:r>
              <a:rPr lang="en-US" altLang="zh-CN" sz="2000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线性表示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  </a:t>
            </a:r>
            <a:endParaRPr lang="zh-CN" altLang="en-US" b="1" dirty="0">
              <a:solidFill>
                <a:schemeClr val="tx1"/>
              </a:solidFill>
              <a:latin typeface="+mn-lt"/>
              <a:ea typeface="华文中宋" pitchFamily="2" charset="-122"/>
              <a:sym typeface="Symbol" pitchFamily="18" charset="2"/>
            </a:endParaRPr>
          </a:p>
        </p:txBody>
      </p:sp>
      <p:sp>
        <p:nvSpPr>
          <p:cNvPr id="26" name="Text Box 5">
            <a:extLst>
              <a:ext uri="{FF2B5EF4-FFF2-40B4-BE49-F238E27FC236}">
                <a16:creationId xmlns:a16="http://schemas.microsoft.com/office/drawing/2014/main" id="{DA3E3F0B-CD54-D5B6-D7E8-8189B59774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4565" y="4873635"/>
            <a:ext cx="267339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意味着方程组</a:t>
            </a:r>
            <a:endParaRPr lang="zh-CN" altLang="en-US" b="1" dirty="0">
              <a:solidFill>
                <a:schemeClr val="tx1"/>
              </a:solidFill>
              <a:latin typeface="+mn-lt"/>
              <a:ea typeface="华文中宋" pitchFamily="2" charset="-122"/>
              <a:sym typeface="Symbol" pitchFamily="18" charset="2"/>
            </a:endParaRPr>
          </a:p>
        </p:txBody>
      </p:sp>
      <p:sp>
        <p:nvSpPr>
          <p:cNvPr id="27" name="Rectangle 5">
            <a:extLst>
              <a:ext uri="{FF2B5EF4-FFF2-40B4-BE49-F238E27FC236}">
                <a16:creationId xmlns:a16="http://schemas.microsoft.com/office/drawing/2014/main" id="{7D2DF887-54FF-F787-213D-B35CB57EF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239" y="5612288"/>
            <a:ext cx="487284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sz="2000" b="1" baseline="-25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sz="2000" b="1" baseline="-25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3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3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有解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416900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25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75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2" grpId="0"/>
      <p:bldP spid="13" grpId="0"/>
      <p:bldP spid="21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2BDAA7FE-125C-4DFA-9E74-618E84ACB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30">
            <a:extLst>
              <a:ext uri="{FF2B5EF4-FFF2-40B4-BE49-F238E27FC236}">
                <a16:creationId xmlns:a16="http://schemas.microsoft.com/office/drawing/2014/main" id="{6ED84202-61B3-4F99-9FF8-56DB3AE8D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665"/>
            <a:ext cx="7830287" cy="493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线性组合与线性表示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的实例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C3A3CF42-6CE3-EC10-FC21-9BC088CA17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9992341"/>
              </p:ext>
            </p:extLst>
          </p:nvPr>
        </p:nvGraphicFramePr>
        <p:xfrm>
          <a:off x="744975" y="2832004"/>
          <a:ext cx="24384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04840" imgH="228600" progId="Equation.DSMT4">
                  <p:embed/>
                </p:oleObj>
              </mc:Choice>
              <mc:Fallback>
                <p:oleObj name="Equation" r:id="rId3" imgW="1104840" imgH="228600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C3A3CF42-6CE3-EC10-FC21-9BC088CA17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975" y="2832004"/>
                        <a:ext cx="243840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5">
            <a:extLst>
              <a:ext uri="{FF2B5EF4-FFF2-40B4-BE49-F238E27FC236}">
                <a16:creationId xmlns:a16="http://schemas.microsoft.com/office/drawing/2014/main" id="{F57308A7-F1E0-3013-314B-6A5CEF224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692696"/>
            <a:ext cx="846043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只需检验矩阵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=(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3</a:t>
            </a:r>
            <a:r>
              <a:rPr lang="en-US" altLang="zh-CN" sz="1000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16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与</a:t>
            </a:r>
            <a:r>
              <a:rPr lang="zh-CN" altLang="en-US" sz="1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=(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sz="1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)=(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sz="1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zh-CN" altLang="en-US" b="1" dirty="0">
              <a:solidFill>
                <a:schemeClr val="tx1"/>
              </a:solidFill>
              <a:latin typeface="+mn-lt"/>
              <a:ea typeface="华文中宋" pitchFamily="2" charset="-122"/>
              <a:sym typeface="Symbol" pitchFamily="18" charset="2"/>
            </a:endParaRPr>
          </a:p>
        </p:txBody>
      </p:sp>
      <p:sp>
        <p:nvSpPr>
          <p:cNvPr id="17" name="Text Box 5">
            <a:extLst>
              <a:ext uri="{FF2B5EF4-FFF2-40B4-BE49-F238E27FC236}">
                <a16:creationId xmlns:a16="http://schemas.microsoft.com/office/drawing/2014/main" id="{5C1646A5-A9CE-9890-D838-29DD8C486A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1338649"/>
            <a:ext cx="284188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的秩是否相等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.</a:t>
            </a:r>
            <a:r>
              <a:rPr lang="en-US" altLang="zh-CN" sz="2000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  </a:t>
            </a:r>
            <a:endParaRPr lang="zh-CN" altLang="en-US" b="1" dirty="0">
              <a:solidFill>
                <a:schemeClr val="tx1"/>
              </a:solidFill>
              <a:latin typeface="+mn-lt"/>
              <a:ea typeface="华文中宋" pitchFamily="2" charset="-122"/>
              <a:sym typeface="Symbol" pitchFamily="18" charset="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848095E-72C2-44AA-5D08-C88D17183C81}"/>
              </a:ext>
            </a:extLst>
          </p:cNvPr>
          <p:cNvSpPr txBox="1"/>
          <p:nvPr/>
        </p:nvSpPr>
        <p:spPr>
          <a:xfrm>
            <a:off x="3183375" y="1342145"/>
            <a:ext cx="55266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b="1" kern="1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为此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kern="1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把</a:t>
            </a:r>
            <a:r>
              <a:rPr lang="zh-CN" altLang="en-US" sz="2000" b="1" kern="1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000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b="1" kern="1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化为行阶梯形矩阵</a:t>
            </a:r>
            <a:r>
              <a:rPr lang="en-US" altLang="zh-CN" b="1" kern="100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000" b="1" kern="100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kern="100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有 </a:t>
            </a:r>
            <a:endParaRPr lang="zh-CN" altLang="en-US" b="1" kern="100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9" name="Object 17">
            <a:extLst>
              <a:ext uri="{FF2B5EF4-FFF2-40B4-BE49-F238E27FC236}">
                <a16:creationId xmlns:a16="http://schemas.microsoft.com/office/drawing/2014/main" id="{20F2B7E5-E9B3-4A7A-BE1F-51B0E57410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6087584"/>
              </p:ext>
            </p:extLst>
          </p:nvPr>
        </p:nvGraphicFramePr>
        <p:xfrm>
          <a:off x="3134187" y="2066404"/>
          <a:ext cx="2633662" cy="203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93760" imgH="927000" progId="Equation.DSMT4">
                  <p:embed/>
                </p:oleObj>
              </mc:Choice>
              <mc:Fallback>
                <p:oleObj name="Equation" r:id="rId5" imgW="1193760" imgH="927000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C3A3CF42-6CE3-EC10-FC21-9BC088CA17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4187" y="2066404"/>
                        <a:ext cx="2633662" cy="2039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17">
            <a:extLst>
              <a:ext uri="{FF2B5EF4-FFF2-40B4-BE49-F238E27FC236}">
                <a16:creationId xmlns:a16="http://schemas.microsoft.com/office/drawing/2014/main" id="{D06BFC88-596F-31BD-C8CA-16101464F1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0922608"/>
              </p:ext>
            </p:extLst>
          </p:nvPr>
        </p:nvGraphicFramePr>
        <p:xfrm>
          <a:off x="1725256" y="4149471"/>
          <a:ext cx="3055938" cy="204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84200" imgH="927000" progId="Equation.DSMT4">
                  <p:embed/>
                </p:oleObj>
              </mc:Choice>
              <mc:Fallback>
                <p:oleObj name="Equation" r:id="rId7" imgW="1384200" imgH="927000" progId="Equation.DSMT4">
                  <p:embed/>
                  <p:pic>
                    <p:nvPicPr>
                      <p:cNvPr id="30" name="Object 17">
                        <a:extLst>
                          <a:ext uri="{FF2B5EF4-FFF2-40B4-BE49-F238E27FC236}">
                            <a16:creationId xmlns:a16="http://schemas.microsoft.com/office/drawing/2014/main" id="{59D60465-85E5-C522-9606-4E5EC2081C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5256" y="4149471"/>
                        <a:ext cx="3055938" cy="204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" name="Object 23">
            <a:extLst>
              <a:ext uri="{FF2B5EF4-FFF2-40B4-BE49-F238E27FC236}">
                <a16:creationId xmlns:a16="http://schemas.microsoft.com/office/drawing/2014/main" id="{4C11649E-0935-F9AA-C622-831F90984C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4233986"/>
              </p:ext>
            </p:extLst>
          </p:nvPr>
        </p:nvGraphicFramePr>
        <p:xfrm>
          <a:off x="883881" y="4599130"/>
          <a:ext cx="841375" cy="114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34680" imgH="863280" progId="Equation.DSMT4">
                  <p:embed/>
                </p:oleObj>
              </mc:Choice>
              <mc:Fallback>
                <p:oleObj name="Equation" r:id="rId9" imgW="634680" imgH="863280" progId="Equation.DSMT4">
                  <p:embed/>
                  <p:pic>
                    <p:nvPicPr>
                      <p:cNvPr id="8" name="Object 23">
                        <a:extLst>
                          <a:ext uri="{FF2B5EF4-FFF2-40B4-BE49-F238E27FC236}">
                            <a16:creationId xmlns:a16="http://schemas.microsoft.com/office/drawing/2014/main" id="{E717F685-0DAA-8EEC-EBFF-278204F895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881" y="4599130"/>
                        <a:ext cx="841375" cy="1147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78547415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2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988DCDD1-7AC3-4420-815B-D5979A7BB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30">
            <a:extLst>
              <a:ext uri="{FF2B5EF4-FFF2-40B4-BE49-F238E27FC236}">
                <a16:creationId xmlns:a16="http://schemas.microsoft.com/office/drawing/2014/main" id="{CD7B1BCD-5AAE-4E6D-8B10-F51899EB7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-18129"/>
            <a:ext cx="8235342" cy="49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线性组合与线性表示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的实例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6" name="Object 23">
            <a:extLst>
              <a:ext uri="{FF2B5EF4-FFF2-40B4-BE49-F238E27FC236}">
                <a16:creationId xmlns:a16="http://schemas.microsoft.com/office/drawing/2014/main" id="{1B0885CF-7332-9C21-4A36-ECD8CCF245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6407067"/>
              </p:ext>
            </p:extLst>
          </p:nvPr>
        </p:nvGraphicFramePr>
        <p:xfrm>
          <a:off x="1174627" y="1232570"/>
          <a:ext cx="673100" cy="114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07960" imgH="863280" progId="Equation.DSMT4">
                  <p:embed/>
                </p:oleObj>
              </mc:Choice>
              <mc:Fallback>
                <p:oleObj name="Equation" r:id="rId3" imgW="507960" imgH="863280" progId="Equation.DSMT4">
                  <p:embed/>
                  <p:pic>
                    <p:nvPicPr>
                      <p:cNvPr id="2048" name="Object 23">
                        <a:extLst>
                          <a:ext uri="{FF2B5EF4-FFF2-40B4-BE49-F238E27FC236}">
                            <a16:creationId xmlns:a16="http://schemas.microsoft.com/office/drawing/2014/main" id="{4C11649E-0935-F9AA-C622-831F90984C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4627" y="1232570"/>
                        <a:ext cx="673100" cy="1147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3">
            <a:extLst>
              <a:ext uri="{FF2B5EF4-FFF2-40B4-BE49-F238E27FC236}">
                <a16:creationId xmlns:a16="http://schemas.microsoft.com/office/drawing/2014/main" id="{70B08AF8-E856-E1B9-F3F6-47E6290EBF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2540191"/>
              </p:ext>
            </p:extLst>
          </p:nvPr>
        </p:nvGraphicFramePr>
        <p:xfrm>
          <a:off x="1157377" y="3317700"/>
          <a:ext cx="841375" cy="183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34680" imgH="1384200" progId="Equation.DSMT4">
                  <p:embed/>
                </p:oleObj>
              </mc:Choice>
              <mc:Fallback>
                <p:oleObj name="Equation" r:id="rId5" imgW="634680" imgH="1384200" progId="Equation.DSMT4">
                  <p:embed/>
                  <p:pic>
                    <p:nvPicPr>
                      <p:cNvPr id="26" name="Object 23">
                        <a:extLst>
                          <a:ext uri="{FF2B5EF4-FFF2-40B4-BE49-F238E27FC236}">
                            <a16:creationId xmlns:a16="http://schemas.microsoft.com/office/drawing/2014/main" id="{1B0885CF-7332-9C21-4A36-ECD8CCF245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7377" y="3317700"/>
                        <a:ext cx="841375" cy="183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7">
            <a:extLst>
              <a:ext uri="{FF2B5EF4-FFF2-40B4-BE49-F238E27FC236}">
                <a16:creationId xmlns:a16="http://schemas.microsoft.com/office/drawing/2014/main" id="{E6C42709-2F34-5633-AEED-A281AC5885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0594532"/>
              </p:ext>
            </p:extLst>
          </p:nvPr>
        </p:nvGraphicFramePr>
        <p:xfrm>
          <a:off x="2051720" y="908720"/>
          <a:ext cx="3195638" cy="204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47560" imgH="927000" progId="Equation.DSMT4">
                  <p:embed/>
                </p:oleObj>
              </mc:Choice>
              <mc:Fallback>
                <p:oleObj name="Equation" r:id="rId7" imgW="1447560" imgH="927000" progId="Equation.DSMT4">
                  <p:embed/>
                  <p:pic>
                    <p:nvPicPr>
                      <p:cNvPr id="16" name="Object 17">
                        <a:extLst>
                          <a:ext uri="{FF2B5EF4-FFF2-40B4-BE49-F238E27FC236}">
                            <a16:creationId xmlns:a16="http://schemas.microsoft.com/office/drawing/2014/main" id="{8DF0A043-810C-44CA-11DC-E78A5F001E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908720"/>
                        <a:ext cx="3195638" cy="204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7">
            <a:extLst>
              <a:ext uri="{FF2B5EF4-FFF2-40B4-BE49-F238E27FC236}">
                <a16:creationId xmlns:a16="http://schemas.microsoft.com/office/drawing/2014/main" id="{0D1A7A5C-5990-1A10-B4FD-85E8143C90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7244883"/>
              </p:ext>
            </p:extLst>
          </p:nvPr>
        </p:nvGraphicFramePr>
        <p:xfrm>
          <a:off x="2051720" y="3223577"/>
          <a:ext cx="3000375" cy="204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58640" imgH="927000" progId="Equation.DSMT4">
                  <p:embed/>
                </p:oleObj>
              </mc:Choice>
              <mc:Fallback>
                <p:oleObj name="Equation" r:id="rId9" imgW="1358640" imgH="927000" progId="Equation.DSMT4">
                  <p:embed/>
                  <p:pic>
                    <p:nvPicPr>
                      <p:cNvPr id="16" name="Object 17">
                        <a:extLst>
                          <a:ext uri="{FF2B5EF4-FFF2-40B4-BE49-F238E27FC236}">
                            <a16:creationId xmlns:a16="http://schemas.microsoft.com/office/drawing/2014/main" id="{8DF0A043-810C-44CA-11DC-E78A5F001E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3223577"/>
                        <a:ext cx="3000375" cy="204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组合 29">
            <a:extLst>
              <a:ext uri="{FF2B5EF4-FFF2-40B4-BE49-F238E27FC236}">
                <a16:creationId xmlns:a16="http://schemas.microsoft.com/office/drawing/2014/main" id="{23183FC3-2538-4097-27CB-E5BE1BD91660}"/>
              </a:ext>
            </a:extLst>
          </p:cNvPr>
          <p:cNvGrpSpPr/>
          <p:nvPr/>
        </p:nvGrpSpPr>
        <p:grpSpPr>
          <a:xfrm>
            <a:off x="2121841" y="3745614"/>
            <a:ext cx="2882949" cy="1527512"/>
            <a:chOff x="1630843" y="3736383"/>
            <a:chExt cx="2882949" cy="1527512"/>
          </a:xfrm>
        </p:grpSpPr>
        <p:grpSp>
          <p:nvGrpSpPr>
            <p:cNvPr id="31" name="组合 22">
              <a:extLst>
                <a:ext uri="{FF2B5EF4-FFF2-40B4-BE49-F238E27FC236}">
                  <a16:creationId xmlns:a16="http://schemas.microsoft.com/office/drawing/2014/main" id="{3A4E9E22-077E-FD46-0059-DA1FD60F4E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0843" y="3736383"/>
              <a:ext cx="1023377" cy="503238"/>
              <a:chOff x="2051720" y="5157192"/>
              <a:chExt cx="886785" cy="504056"/>
            </a:xfrm>
          </p:grpSpPr>
          <p:cxnSp>
            <p:nvCxnSpPr>
              <p:cNvPr id="36" name="直接连接符 17">
                <a:extLst>
                  <a:ext uri="{FF2B5EF4-FFF2-40B4-BE49-F238E27FC236}">
                    <a16:creationId xmlns:a16="http://schemas.microsoft.com/office/drawing/2014/main" id="{B4C81681-52C2-568A-9D00-C4BA9DA8564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051720" y="5157192"/>
                <a:ext cx="432048" cy="0"/>
              </a:xfrm>
              <a:prstGeom prst="line">
                <a:avLst/>
              </a:prstGeom>
              <a:noFill/>
              <a:ln w="38100" algn="ctr">
                <a:solidFill>
                  <a:srgbClr val="FF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7" name="直接连接符 19">
                <a:extLst>
                  <a:ext uri="{FF2B5EF4-FFF2-40B4-BE49-F238E27FC236}">
                    <a16:creationId xmlns:a16="http://schemas.microsoft.com/office/drawing/2014/main" id="{959D601D-DE98-DF13-B3B3-6F990444CD9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483768" y="5157192"/>
                <a:ext cx="0" cy="504056"/>
              </a:xfrm>
              <a:prstGeom prst="line">
                <a:avLst/>
              </a:prstGeom>
              <a:noFill/>
              <a:ln w="38100" algn="ctr">
                <a:solidFill>
                  <a:srgbClr val="FF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8" name="直接连接符 21">
                <a:extLst>
                  <a:ext uri="{FF2B5EF4-FFF2-40B4-BE49-F238E27FC236}">
                    <a16:creationId xmlns:a16="http://schemas.microsoft.com/office/drawing/2014/main" id="{E59D827C-F77E-E3D8-40A2-C150C62DDCE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483768" y="5661248"/>
                <a:ext cx="454737" cy="0"/>
              </a:xfrm>
              <a:prstGeom prst="line">
                <a:avLst/>
              </a:prstGeom>
              <a:noFill/>
              <a:ln w="38100" algn="ctr">
                <a:solidFill>
                  <a:srgbClr val="FF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32" name="直接连接符 19">
              <a:extLst>
                <a:ext uri="{FF2B5EF4-FFF2-40B4-BE49-F238E27FC236}">
                  <a16:creationId xmlns:a16="http://schemas.microsoft.com/office/drawing/2014/main" id="{A8A55419-E2FC-6D97-9648-8CF0575F30C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654222" y="4239621"/>
              <a:ext cx="0" cy="503238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" name="直接连接符 17">
              <a:extLst>
                <a:ext uri="{FF2B5EF4-FFF2-40B4-BE49-F238E27FC236}">
                  <a16:creationId xmlns:a16="http://schemas.microsoft.com/office/drawing/2014/main" id="{79D2265A-63BD-1CB1-7115-79FC6BE425C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654222" y="4742859"/>
              <a:ext cx="883639" cy="0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125E7A12-6493-8531-94F5-E365C75E935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37861" y="4742859"/>
              <a:ext cx="0" cy="503238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" name="直接连接符 17">
              <a:extLst>
                <a:ext uri="{FF2B5EF4-FFF2-40B4-BE49-F238E27FC236}">
                  <a16:creationId xmlns:a16="http://schemas.microsoft.com/office/drawing/2014/main" id="{14189382-55E2-7832-810D-1F8E65EFE45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37861" y="5263895"/>
              <a:ext cx="975931" cy="0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444729233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988DCDD1-7AC3-4420-815B-D5979A7BB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30">
            <a:extLst>
              <a:ext uri="{FF2B5EF4-FFF2-40B4-BE49-F238E27FC236}">
                <a16:creationId xmlns:a16="http://schemas.microsoft.com/office/drawing/2014/main" id="{CD7B1BCD-5AAE-4E6D-8B10-F51899EB7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-13561"/>
            <a:ext cx="8235342" cy="49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线性组合与线性表示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的实例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EF6F8E3-6B9D-AFFD-7CBF-612CA4787FEF}"/>
              </a:ext>
            </a:extLst>
          </p:cNvPr>
          <p:cNvSpPr txBox="1"/>
          <p:nvPr/>
        </p:nvSpPr>
        <p:spPr>
          <a:xfrm>
            <a:off x="971600" y="720725"/>
            <a:ext cx="56670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由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矩阵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000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的行阶梯形矩阵可知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endParaRPr lang="zh-CN" altLang="en-US" sz="2800" b="1" kern="100" dirty="0">
              <a:effectLst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6E3C945-A011-7BAA-D661-067754D3DD1B}"/>
              </a:ext>
            </a:extLst>
          </p:cNvPr>
          <p:cNvSpPr txBox="1"/>
          <p:nvPr/>
        </p:nvSpPr>
        <p:spPr>
          <a:xfrm>
            <a:off x="971600" y="1431112"/>
            <a:ext cx="27866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kern="100" dirty="0">
                <a:solidFill>
                  <a:srgbClr val="0000FF"/>
                </a:solidFill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en-US" b="1" kern="1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当</a:t>
            </a:r>
            <a:r>
              <a:rPr lang="zh-CN" altLang="en-US" sz="2000" b="1" kern="1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kern="100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i="1" kern="100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kern="100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sz="2000" b="1" kern="100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kern="100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000" b="1" kern="100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b="1" kern="1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时</a:t>
            </a:r>
            <a:endParaRPr lang="zh-CN" altLang="en-US" sz="2800" b="1" kern="100" dirty="0">
              <a:solidFill>
                <a:srgbClr val="0000FF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11E46A2-2AF4-49BA-0285-36F34FA3DC6D}"/>
              </a:ext>
            </a:extLst>
          </p:cNvPr>
          <p:cNvSpPr txBox="1"/>
          <p:nvPr/>
        </p:nvSpPr>
        <p:spPr>
          <a:xfrm>
            <a:off x="950802" y="2129286"/>
            <a:ext cx="23838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如果</a:t>
            </a:r>
            <a:r>
              <a:rPr lang="zh-CN" altLang="en-US" sz="20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kern="1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1" i="1" kern="1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kern="1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sz="2000" b="1" kern="1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kern="1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b="1" kern="1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sz="2800" b="1" kern="100" dirty="0">
              <a:solidFill>
                <a:schemeClr val="tx1"/>
              </a:solidFill>
              <a:effectLst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Text Box 17">
            <a:extLst>
              <a:ext uri="{FF2B5EF4-FFF2-40B4-BE49-F238E27FC236}">
                <a16:creationId xmlns:a16="http://schemas.microsoft.com/office/drawing/2014/main" id="{48EBE13C-5E56-F108-FCC2-668DB275B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5263" y="2129286"/>
            <a:ext cx="3934909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 </a:t>
            </a: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3,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4.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4292A26-A593-27BC-C3A3-97ECE4DFECB6}"/>
              </a:ext>
            </a:extLst>
          </p:cNvPr>
          <p:cNvSpPr txBox="1"/>
          <p:nvPr/>
        </p:nvSpPr>
        <p:spPr>
          <a:xfrm>
            <a:off x="971600" y="4194705"/>
            <a:ext cx="23838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如果</a:t>
            </a:r>
            <a:r>
              <a:rPr lang="zh-CN" altLang="en-US" sz="20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kern="1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1" i="1" kern="1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kern="1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000" b="1" kern="1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kern="1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b="1" kern="1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sz="2800" b="1" kern="100" dirty="0">
              <a:solidFill>
                <a:schemeClr val="tx1"/>
              </a:solidFill>
              <a:effectLst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Text Box 17">
            <a:extLst>
              <a:ext uri="{FF2B5EF4-FFF2-40B4-BE49-F238E27FC236}">
                <a16:creationId xmlns:a16="http://schemas.microsoft.com/office/drawing/2014/main" id="{53CD2864-2BAF-01A0-C238-8951AABA8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6061" y="4194705"/>
            <a:ext cx="3914111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 </a:t>
            </a: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2,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3.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Text Box 5">
            <a:extLst>
              <a:ext uri="{FF2B5EF4-FFF2-40B4-BE49-F238E27FC236}">
                <a16:creationId xmlns:a16="http://schemas.microsoft.com/office/drawing/2014/main" id="{C360DEDE-11CA-CA29-E31F-BE05F728D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704" y="3545954"/>
            <a:ext cx="690217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此时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zh-CN" altLang="en-US" sz="12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不能由向量组</a:t>
            </a:r>
            <a:r>
              <a:rPr lang="zh-CN" altLang="en-US" sz="1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3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线性表示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.</a:t>
            </a:r>
            <a:r>
              <a:rPr lang="en-US" altLang="zh-CN" sz="2000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 </a:t>
            </a:r>
            <a:endParaRPr lang="zh-CN" altLang="en-US" b="1" dirty="0">
              <a:solidFill>
                <a:schemeClr val="tx1"/>
              </a:solidFill>
              <a:latin typeface="+mn-lt"/>
              <a:ea typeface="华文中宋" pitchFamily="2" charset="-122"/>
              <a:sym typeface="Symbol" pitchFamily="18" charset="2"/>
            </a:endParaRPr>
          </a:p>
        </p:txBody>
      </p:sp>
      <p:sp>
        <p:nvSpPr>
          <p:cNvPr id="20" name="Text Box 5">
            <a:extLst>
              <a:ext uri="{FF2B5EF4-FFF2-40B4-BE49-F238E27FC236}">
                <a16:creationId xmlns:a16="http://schemas.microsoft.com/office/drawing/2014/main" id="{A3BCDAFD-2428-434E-2489-349138230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704" y="5631947"/>
            <a:ext cx="690217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此时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sz="2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sz="1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不能由向量组</a:t>
            </a:r>
            <a:r>
              <a:rPr lang="zh-CN" altLang="en-US" sz="1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3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线性表示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.</a:t>
            </a:r>
            <a:r>
              <a:rPr lang="en-US" altLang="zh-CN" sz="2000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 </a:t>
            </a:r>
            <a:endParaRPr lang="zh-CN" altLang="en-US" b="1" dirty="0">
              <a:solidFill>
                <a:schemeClr val="tx1"/>
              </a:solidFill>
              <a:latin typeface="+mn-lt"/>
              <a:ea typeface="华文中宋" pitchFamily="2" charset="-122"/>
              <a:sym typeface="Symbol" pitchFamily="18" charset="2"/>
            </a:endParaRPr>
          </a:p>
        </p:txBody>
      </p:sp>
      <p:sp>
        <p:nvSpPr>
          <p:cNvPr id="11" name="Text Box 17">
            <a:extLst>
              <a:ext uri="{FF2B5EF4-FFF2-40B4-BE49-F238E27FC236}">
                <a16:creationId xmlns:a16="http://schemas.microsoft.com/office/drawing/2014/main" id="{3F6D00FC-6D10-BDC1-6455-B32FF2D250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205" y="2835565"/>
            <a:ext cx="3517959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因为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&lt;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en-US" altLang="zh-CN" b="1" dirty="0">
                <a:solidFill>
                  <a:schemeClr val="tx1"/>
                </a:solidFill>
              </a:rPr>
              <a:t>),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Text Box 17">
            <a:extLst>
              <a:ext uri="{FF2B5EF4-FFF2-40B4-BE49-F238E27FC236}">
                <a16:creationId xmlns:a16="http://schemas.microsoft.com/office/drawing/2014/main" id="{0291F376-1B39-B059-A17B-220F223D01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205" y="4925389"/>
            <a:ext cx="3517959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因为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&lt;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en-US" altLang="zh-CN" b="1" dirty="0">
                <a:solidFill>
                  <a:schemeClr val="tx1"/>
                </a:solidFill>
              </a:rPr>
              <a:t>),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F18B54FD-C1FB-E85F-D741-31FE284C5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8285" y="2839675"/>
            <a:ext cx="319327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所以方程组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  <a:sym typeface="Symbol" pitchFamily="18" charset="2"/>
              </a:rPr>
              <a:t>无解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itchFamily="18" charset="2"/>
              </a:rPr>
              <a:t>.</a:t>
            </a:r>
            <a:endParaRPr lang="en-US" altLang="zh-CN" b="1" i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68046F6E-4624-AE99-95AA-F901C572B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8285" y="4925390"/>
            <a:ext cx="319327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所以方程组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  <a:sym typeface="Symbol" pitchFamily="18" charset="2"/>
              </a:rPr>
              <a:t>无解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itchFamily="18" charset="2"/>
              </a:rPr>
              <a:t>.</a:t>
            </a:r>
            <a:endParaRPr lang="en-US" altLang="zh-CN" b="1" i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62611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5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3" grpId="0" build="p" autoUpdateAnimBg="0"/>
      <p:bldP spid="15" grpId="0"/>
      <p:bldP spid="17" grpId="0" build="p" autoUpdateAnimBg="0"/>
      <p:bldP spid="19" grpId="0"/>
      <p:bldP spid="20" grpId="0"/>
      <p:bldP spid="11" grpId="0" build="p" autoUpdateAnimBg="0"/>
      <p:bldP spid="16" grpId="0" build="p" autoUpdateAnimBg="0"/>
      <p:bldP spid="14" grpId="0"/>
      <p:bldP spid="1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83EB0558-1DA1-079E-23F2-01DD68FB0D45}"/>
              </a:ext>
            </a:extLst>
          </p:cNvPr>
          <p:cNvSpPr txBox="1"/>
          <p:nvPr/>
        </p:nvSpPr>
        <p:spPr>
          <a:xfrm>
            <a:off x="971601" y="900442"/>
            <a:ext cx="26642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kern="100" dirty="0">
                <a:solidFill>
                  <a:srgbClr val="0000FF"/>
                </a:solidFill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en-US" b="1" kern="1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当</a:t>
            </a:r>
            <a:r>
              <a:rPr lang="zh-CN" altLang="en-US" sz="2000" b="1" kern="1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kern="100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i="1" kern="100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kern="100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000" b="1" kern="100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kern="100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000" b="1" kern="100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b="1" kern="1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时</a:t>
            </a:r>
            <a:endParaRPr lang="zh-CN" altLang="en-US" sz="2800" b="1" kern="100" dirty="0">
              <a:solidFill>
                <a:srgbClr val="0000FF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988DCDD1-7AC3-4420-815B-D5979A7BB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30">
            <a:extLst>
              <a:ext uri="{FF2B5EF4-FFF2-40B4-BE49-F238E27FC236}">
                <a16:creationId xmlns:a16="http://schemas.microsoft.com/office/drawing/2014/main" id="{CD7B1BCD-5AAE-4E6D-8B10-F51899EB7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-8965"/>
            <a:ext cx="8235342" cy="49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线性组合与线性表示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的实例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11E46A2-2AF4-49BA-0285-36F34FA3DC6D}"/>
              </a:ext>
            </a:extLst>
          </p:cNvPr>
          <p:cNvSpPr txBox="1"/>
          <p:nvPr/>
        </p:nvSpPr>
        <p:spPr>
          <a:xfrm>
            <a:off x="554903" y="1578941"/>
            <a:ext cx="23625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如果</a:t>
            </a:r>
            <a:r>
              <a:rPr lang="zh-CN" altLang="en-US" sz="20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kern="1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1" i="1" kern="1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kern="1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sz="2000" b="1" kern="1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kern="1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b="1" kern="1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sz="2800" b="1" kern="100" dirty="0">
              <a:solidFill>
                <a:schemeClr val="tx1"/>
              </a:solidFill>
              <a:effectLst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Text Box 17">
            <a:extLst>
              <a:ext uri="{FF2B5EF4-FFF2-40B4-BE49-F238E27FC236}">
                <a16:creationId xmlns:a16="http://schemas.microsoft.com/office/drawing/2014/main" id="{48EBE13C-5E56-F108-FCC2-668DB275B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2710" y="1583048"/>
            <a:ext cx="3629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en-US" altLang="zh-CN" b="1" dirty="0">
                <a:solidFill>
                  <a:schemeClr val="tx1"/>
                </a:solidFill>
              </a:rPr>
              <a:t>) 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3,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F18B54FD-C1FB-E85F-D741-31FE284C5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4383" y="1570485"/>
            <a:ext cx="355835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故方程组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  <a:sym typeface="Symbol" pitchFamily="18" charset="2"/>
              </a:rPr>
              <a:t>有唯一解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itchFamily="18" charset="2"/>
              </a:rPr>
              <a:t>.</a:t>
            </a:r>
            <a:endParaRPr lang="en-US" altLang="zh-CN" b="1" i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Text Box 5">
            <a:extLst>
              <a:ext uri="{FF2B5EF4-FFF2-40B4-BE49-F238E27FC236}">
                <a16:creationId xmlns:a16="http://schemas.microsoft.com/office/drawing/2014/main" id="{C360DEDE-11CA-CA29-E31F-BE05F728D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904" y="2288894"/>
            <a:ext cx="858909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此时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sz="2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sz="1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能由向量组</a:t>
            </a:r>
            <a:r>
              <a:rPr lang="zh-CN" altLang="en-US" sz="1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3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线性表示且表示式唯一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.</a:t>
            </a:r>
            <a:r>
              <a:rPr lang="en-US" altLang="zh-CN" sz="2000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 </a:t>
            </a:r>
            <a:endParaRPr lang="zh-CN" altLang="en-US" b="1" dirty="0">
              <a:solidFill>
                <a:schemeClr val="tx1"/>
              </a:solidFill>
              <a:latin typeface="+mn-lt"/>
              <a:ea typeface="华文中宋" pitchFamily="2" charset="-122"/>
              <a:sym typeface="Symbol" pitchFamily="18" charset="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25E7088-B191-D4C7-735B-4EC70C670D08}"/>
              </a:ext>
            </a:extLst>
          </p:cNvPr>
          <p:cNvSpPr txBox="1"/>
          <p:nvPr/>
        </p:nvSpPr>
        <p:spPr>
          <a:xfrm>
            <a:off x="554904" y="2993133"/>
            <a:ext cx="28649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为求出表示式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endParaRPr lang="zh-CN" altLang="en-US" b="1" kern="100" dirty="0"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21" name="Object 17">
            <a:extLst>
              <a:ext uri="{FF2B5EF4-FFF2-40B4-BE49-F238E27FC236}">
                <a16:creationId xmlns:a16="http://schemas.microsoft.com/office/drawing/2014/main" id="{B9F849C3-7651-7483-047B-E12A348957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3248416"/>
              </p:ext>
            </p:extLst>
          </p:nvPr>
        </p:nvGraphicFramePr>
        <p:xfrm>
          <a:off x="1110133" y="4514680"/>
          <a:ext cx="363538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4880" imgH="164880" progId="Equation.DSMT4">
                  <p:embed/>
                </p:oleObj>
              </mc:Choice>
              <mc:Fallback>
                <p:oleObj name="Equation" r:id="rId3" imgW="164880" imgH="164880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C3A3CF42-6CE3-EC10-FC21-9BC088CA17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0133" y="4514680"/>
                        <a:ext cx="363538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7">
            <a:extLst>
              <a:ext uri="{FF2B5EF4-FFF2-40B4-BE49-F238E27FC236}">
                <a16:creationId xmlns:a16="http://schemas.microsoft.com/office/drawing/2014/main" id="{1657DAD1-907F-1DE2-F447-748AC472A3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3165470"/>
              </p:ext>
            </p:extLst>
          </p:nvPr>
        </p:nvGraphicFramePr>
        <p:xfrm>
          <a:off x="2514328" y="3697372"/>
          <a:ext cx="2243138" cy="204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15920" imgH="927000" progId="Equation.DSMT4">
                  <p:embed/>
                </p:oleObj>
              </mc:Choice>
              <mc:Fallback>
                <p:oleObj name="Equation" r:id="rId5" imgW="1015920" imgH="927000" progId="Equation.DSMT4">
                  <p:embed/>
                  <p:pic>
                    <p:nvPicPr>
                      <p:cNvPr id="31" name="Object 17">
                        <a:extLst>
                          <a:ext uri="{FF2B5EF4-FFF2-40B4-BE49-F238E27FC236}">
                            <a16:creationId xmlns:a16="http://schemas.microsoft.com/office/drawing/2014/main" id="{D06BFC88-596F-31BD-C8CA-16101464F1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328" y="3697372"/>
                        <a:ext cx="2243138" cy="204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3">
            <a:extLst>
              <a:ext uri="{FF2B5EF4-FFF2-40B4-BE49-F238E27FC236}">
                <a16:creationId xmlns:a16="http://schemas.microsoft.com/office/drawing/2014/main" id="{0A923128-B8F5-2C90-4CE2-E8C182D5FA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191674"/>
              </p:ext>
            </p:extLst>
          </p:nvPr>
        </p:nvGraphicFramePr>
        <p:xfrm>
          <a:off x="4768542" y="4144252"/>
          <a:ext cx="806450" cy="114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09480" imgH="863280" progId="Equation.DSMT4">
                  <p:embed/>
                </p:oleObj>
              </mc:Choice>
              <mc:Fallback>
                <p:oleObj name="Equation" r:id="rId7" imgW="609480" imgH="863280" progId="Equation.DSMT4">
                  <p:embed/>
                  <p:pic>
                    <p:nvPicPr>
                      <p:cNvPr id="2048" name="Object 23">
                        <a:extLst>
                          <a:ext uri="{FF2B5EF4-FFF2-40B4-BE49-F238E27FC236}">
                            <a16:creationId xmlns:a16="http://schemas.microsoft.com/office/drawing/2014/main" id="{4C11649E-0935-F9AA-C622-831F90984C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8542" y="4144252"/>
                        <a:ext cx="806450" cy="1147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228C8DD4-38B5-6C44-4644-3CF9882F11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3988900"/>
              </p:ext>
            </p:extLst>
          </p:nvPr>
        </p:nvGraphicFramePr>
        <p:xfrm>
          <a:off x="1518059" y="4009404"/>
          <a:ext cx="942975" cy="140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11000" imgH="1054080" progId="Equation.DSMT4">
                  <p:embed/>
                </p:oleObj>
              </mc:Choice>
              <mc:Fallback>
                <p:oleObj name="Equation" r:id="rId9" imgW="711000" imgH="1054080" progId="Equation.DSMT4">
                  <p:embed/>
                  <p:pic>
                    <p:nvPicPr>
                      <p:cNvPr id="23" name="Object 23">
                        <a:extLst>
                          <a:ext uri="{FF2B5EF4-FFF2-40B4-BE49-F238E27FC236}">
                            <a16:creationId xmlns:a16="http://schemas.microsoft.com/office/drawing/2014/main" id="{0A923128-B8F5-2C90-4CE2-E8C182D5FA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8059" y="4009404"/>
                        <a:ext cx="942975" cy="1400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7">
            <a:extLst>
              <a:ext uri="{FF2B5EF4-FFF2-40B4-BE49-F238E27FC236}">
                <a16:creationId xmlns:a16="http://schemas.microsoft.com/office/drawing/2014/main" id="{9449D135-9749-6F2F-0418-7CD10D3D73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2476308"/>
              </p:ext>
            </p:extLst>
          </p:nvPr>
        </p:nvGraphicFramePr>
        <p:xfrm>
          <a:off x="5558079" y="3692742"/>
          <a:ext cx="2243138" cy="204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15920" imgH="927000" progId="Equation.DSMT4">
                  <p:embed/>
                </p:oleObj>
              </mc:Choice>
              <mc:Fallback>
                <p:oleObj name="Equation" r:id="rId11" imgW="1015920" imgH="927000" progId="Equation.DSMT4">
                  <p:embed/>
                  <p:pic>
                    <p:nvPicPr>
                      <p:cNvPr id="22" name="Object 17">
                        <a:extLst>
                          <a:ext uri="{FF2B5EF4-FFF2-40B4-BE49-F238E27FC236}">
                            <a16:creationId xmlns:a16="http://schemas.microsoft.com/office/drawing/2014/main" id="{1657DAD1-907F-1DE2-F447-748AC472A3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8079" y="3692742"/>
                        <a:ext cx="2243138" cy="204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组合 25">
            <a:extLst>
              <a:ext uri="{FF2B5EF4-FFF2-40B4-BE49-F238E27FC236}">
                <a16:creationId xmlns:a16="http://schemas.microsoft.com/office/drawing/2014/main" id="{794761C8-B06D-B477-D8C6-A08DE68685EC}"/>
              </a:ext>
            </a:extLst>
          </p:cNvPr>
          <p:cNvGrpSpPr/>
          <p:nvPr/>
        </p:nvGrpSpPr>
        <p:grpSpPr>
          <a:xfrm>
            <a:off x="5645113" y="4190279"/>
            <a:ext cx="1907018" cy="1006476"/>
            <a:chOff x="1630843" y="3736383"/>
            <a:chExt cx="1907018" cy="1006476"/>
          </a:xfrm>
        </p:grpSpPr>
        <p:grpSp>
          <p:nvGrpSpPr>
            <p:cNvPr id="27" name="组合 22">
              <a:extLst>
                <a:ext uri="{FF2B5EF4-FFF2-40B4-BE49-F238E27FC236}">
                  <a16:creationId xmlns:a16="http://schemas.microsoft.com/office/drawing/2014/main" id="{8DFE211A-04FF-4BA3-4E12-C70C99DFC6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0843" y="3736383"/>
              <a:ext cx="1023377" cy="503238"/>
              <a:chOff x="2051720" y="5157192"/>
              <a:chExt cx="886785" cy="504056"/>
            </a:xfrm>
          </p:grpSpPr>
          <p:cxnSp>
            <p:nvCxnSpPr>
              <p:cNvPr id="42" name="直接连接符 17">
                <a:extLst>
                  <a:ext uri="{FF2B5EF4-FFF2-40B4-BE49-F238E27FC236}">
                    <a16:creationId xmlns:a16="http://schemas.microsoft.com/office/drawing/2014/main" id="{99033CF7-4CFE-77EF-C246-7101B36F442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051720" y="5157192"/>
                <a:ext cx="432048" cy="0"/>
              </a:xfrm>
              <a:prstGeom prst="line">
                <a:avLst/>
              </a:prstGeom>
              <a:noFill/>
              <a:ln w="38100" algn="ctr">
                <a:solidFill>
                  <a:srgbClr val="FF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3" name="直接连接符 19">
                <a:extLst>
                  <a:ext uri="{FF2B5EF4-FFF2-40B4-BE49-F238E27FC236}">
                    <a16:creationId xmlns:a16="http://schemas.microsoft.com/office/drawing/2014/main" id="{52C9B400-CCAB-3755-9E99-E2493AEFCC4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483768" y="5157192"/>
                <a:ext cx="0" cy="504056"/>
              </a:xfrm>
              <a:prstGeom prst="line">
                <a:avLst/>
              </a:prstGeom>
              <a:noFill/>
              <a:ln w="38100" algn="ctr">
                <a:solidFill>
                  <a:srgbClr val="FF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4" name="直接连接符 21">
                <a:extLst>
                  <a:ext uri="{FF2B5EF4-FFF2-40B4-BE49-F238E27FC236}">
                    <a16:creationId xmlns:a16="http://schemas.microsoft.com/office/drawing/2014/main" id="{426CA275-0F17-6858-517B-119B5B97FA6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483768" y="5661248"/>
                <a:ext cx="454737" cy="0"/>
              </a:xfrm>
              <a:prstGeom prst="line">
                <a:avLst/>
              </a:prstGeom>
              <a:noFill/>
              <a:ln w="38100" algn="ctr">
                <a:solidFill>
                  <a:srgbClr val="FF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28" name="直接连接符 19">
              <a:extLst>
                <a:ext uri="{FF2B5EF4-FFF2-40B4-BE49-F238E27FC236}">
                  <a16:creationId xmlns:a16="http://schemas.microsoft.com/office/drawing/2014/main" id="{ED440836-7CA4-BF39-F6A5-BB0764B60E4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654222" y="4239621"/>
              <a:ext cx="0" cy="503238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" name="直接连接符 17">
              <a:extLst>
                <a:ext uri="{FF2B5EF4-FFF2-40B4-BE49-F238E27FC236}">
                  <a16:creationId xmlns:a16="http://schemas.microsoft.com/office/drawing/2014/main" id="{8128C9DA-2819-A7EA-9D34-BE3034E51A3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654222" y="4742859"/>
              <a:ext cx="883639" cy="0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3B9065D1-BBA8-CA25-01F7-ECDF87CC29A9}"/>
              </a:ext>
            </a:extLst>
          </p:cNvPr>
          <p:cNvSpPr txBox="1"/>
          <p:nvPr/>
        </p:nvSpPr>
        <p:spPr>
          <a:xfrm>
            <a:off x="3088353" y="2984490"/>
            <a:ext cx="55160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zh-CN" altLang="en-US" b="1" kern="100" dirty="0">
                <a:latin typeface="华文中宋" panose="02010600040101010101" pitchFamily="2" charset="-122"/>
                <a:ea typeface="华文中宋" panose="02010600040101010101" pitchFamily="2" charset="-122"/>
              </a:rPr>
              <a:t>继续将</a:t>
            </a:r>
            <a:r>
              <a:rPr lang="zh-CN" altLang="en-US" sz="2000" b="1" kern="100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zh-CN" altLang="en-US" b="1" kern="100" dirty="0">
                <a:latin typeface="华文中宋" panose="02010600040101010101" pitchFamily="2" charset="-122"/>
                <a:ea typeface="华文中宋" panose="02010600040101010101" pitchFamily="2" charset="-122"/>
              </a:rPr>
              <a:t>化为行最简形矩阵</a:t>
            </a:r>
            <a:r>
              <a:rPr lang="en-US" altLang="zh-CN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b="1" kern="100" dirty="0">
                <a:latin typeface="华文中宋" panose="02010600040101010101" pitchFamily="2" charset="-122"/>
                <a:ea typeface="华文中宋" panose="02010600040101010101" pitchFamily="2" charset="-122"/>
              </a:rPr>
              <a:t>有</a:t>
            </a:r>
          </a:p>
        </p:txBody>
      </p:sp>
    </p:spTree>
    <p:extLst>
      <p:ext uri="{BB962C8B-B14F-4D97-AF65-F5344CB8AC3E}">
        <p14:creationId xmlns:p14="http://schemas.microsoft.com/office/powerpoint/2010/main" val="191204577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75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25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 build="p" autoUpdateAnimBg="0"/>
      <p:bldP spid="14" grpId="0"/>
      <p:bldP spid="19" grpId="0"/>
      <p:bldP spid="16" grpId="0"/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988DCDD1-7AC3-4420-815B-D5979A7BB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F18B54FD-C1FB-E85F-D741-31FE284C5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888" y="935036"/>
            <a:ext cx="513089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由此得此方程组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  <a:sym typeface="Symbol" pitchFamily="18" charset="2"/>
              </a:rPr>
              <a:t>的唯一解为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itchFamily="18" charset="2"/>
              </a:rPr>
              <a:t>:</a:t>
            </a:r>
            <a:endParaRPr lang="en-US" altLang="zh-CN" b="1" i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Text Box 5">
            <a:extLst>
              <a:ext uri="{FF2B5EF4-FFF2-40B4-BE49-F238E27FC236}">
                <a16:creationId xmlns:a16="http://schemas.microsoft.com/office/drawing/2014/main" id="{C360DEDE-11CA-CA29-E31F-BE05F728D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559" y="2384287"/>
            <a:ext cx="77050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故</a:t>
            </a:r>
            <a:endParaRPr lang="zh-CN" altLang="en-US" b="1" dirty="0">
              <a:solidFill>
                <a:schemeClr val="tx1"/>
              </a:solidFill>
              <a:latin typeface="+mn-lt"/>
              <a:ea typeface="华文中宋" pitchFamily="2" charset="-122"/>
              <a:sym typeface="Symbol" pitchFamily="18" charset="2"/>
            </a:endParaRPr>
          </a:p>
        </p:txBody>
      </p:sp>
      <p:graphicFrame>
        <p:nvGraphicFramePr>
          <p:cNvPr id="27" name="Object 17">
            <a:extLst>
              <a:ext uri="{FF2B5EF4-FFF2-40B4-BE49-F238E27FC236}">
                <a16:creationId xmlns:a16="http://schemas.microsoft.com/office/drawing/2014/main" id="{4C12DC05-EDB5-0DF7-A174-9C00B45725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5806693"/>
              </p:ext>
            </p:extLst>
          </p:nvPr>
        </p:nvGraphicFramePr>
        <p:xfrm>
          <a:off x="3003395" y="1680312"/>
          <a:ext cx="3132138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22360" imgH="228600" progId="Equation.DSMT4">
                  <p:embed/>
                </p:oleObj>
              </mc:Choice>
              <mc:Fallback>
                <p:oleObj name="Equation" r:id="rId3" imgW="1422360" imgH="228600" progId="Equation.DSMT4">
                  <p:embed/>
                  <p:pic>
                    <p:nvPicPr>
                      <p:cNvPr id="21" name="Object 17">
                        <a:extLst>
                          <a:ext uri="{FF2B5EF4-FFF2-40B4-BE49-F238E27FC236}">
                            <a16:creationId xmlns:a16="http://schemas.microsoft.com/office/drawing/2014/main" id="{B9F849C3-7651-7483-047B-E12A348957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3395" y="1680312"/>
                        <a:ext cx="3132138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17">
            <a:extLst>
              <a:ext uri="{FF2B5EF4-FFF2-40B4-BE49-F238E27FC236}">
                <a16:creationId xmlns:a16="http://schemas.microsoft.com/office/drawing/2014/main" id="{54A30F37-AF8A-3FCA-5122-453B4990B6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3040375"/>
              </p:ext>
            </p:extLst>
          </p:nvPr>
        </p:nvGraphicFramePr>
        <p:xfrm>
          <a:off x="3018631" y="2393021"/>
          <a:ext cx="2941637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33440" imgH="228600" progId="Equation.DSMT4">
                  <p:embed/>
                </p:oleObj>
              </mc:Choice>
              <mc:Fallback>
                <p:oleObj name="Equation" r:id="rId5" imgW="1333440" imgH="228600" progId="Equation.DSMT4">
                  <p:embed/>
                  <p:pic>
                    <p:nvPicPr>
                      <p:cNvPr id="44" name="Object 17">
                        <a:extLst>
                          <a:ext uri="{FF2B5EF4-FFF2-40B4-BE49-F238E27FC236}">
                            <a16:creationId xmlns:a16="http://schemas.microsoft.com/office/drawing/2014/main" id="{888AE022-936D-1AA5-4B5C-9B4129C63A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8631" y="2393021"/>
                        <a:ext cx="2941637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0">
            <a:extLst>
              <a:ext uri="{FF2B5EF4-FFF2-40B4-BE49-F238E27FC236}">
                <a16:creationId xmlns:a16="http://schemas.microsoft.com/office/drawing/2014/main" id="{9CD3990E-84F1-4348-B93B-BA302E093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-8965"/>
            <a:ext cx="8235342" cy="49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线性组合与线性表示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的实例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241284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988DCDD1-7AC3-4420-815B-D5979A7BB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4292A26-A593-27BC-C3A3-97ECE4DFECB6}"/>
              </a:ext>
            </a:extLst>
          </p:cNvPr>
          <p:cNvSpPr txBox="1"/>
          <p:nvPr/>
        </p:nvSpPr>
        <p:spPr>
          <a:xfrm>
            <a:off x="971600" y="806248"/>
            <a:ext cx="23838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如果</a:t>
            </a:r>
            <a:r>
              <a:rPr lang="zh-CN" altLang="en-US" sz="2000" b="1" kern="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kern="1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1" i="1" kern="1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kern="1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000" b="1" kern="1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kern="1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b="1" kern="100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sz="2800" b="1" kern="100" dirty="0">
              <a:solidFill>
                <a:schemeClr val="tx1"/>
              </a:solidFill>
              <a:effectLst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Text Box 17">
            <a:extLst>
              <a:ext uri="{FF2B5EF4-FFF2-40B4-BE49-F238E27FC236}">
                <a16:creationId xmlns:a16="http://schemas.microsoft.com/office/drawing/2014/main" id="{53CD2864-2BAF-01A0-C238-8951AABA8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8498" y="810458"/>
            <a:ext cx="4104456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2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&lt;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3.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68046F6E-4624-AE99-95AA-F901C572B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589" y="1468132"/>
            <a:ext cx="44011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故方程组有无穷多组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  <a:sym typeface="Symbol" pitchFamily="18" charset="2"/>
              </a:rPr>
              <a:t>解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itchFamily="18" charset="2"/>
              </a:rPr>
              <a:t>.</a:t>
            </a:r>
            <a:endParaRPr lang="en-US" altLang="zh-CN" b="1" i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Text Box 5">
            <a:extLst>
              <a:ext uri="{FF2B5EF4-FFF2-40B4-BE49-F238E27FC236}">
                <a16:creationId xmlns:a16="http://schemas.microsoft.com/office/drawing/2014/main" id="{A3BCDAFD-2428-434E-2489-349138230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589" y="2142391"/>
            <a:ext cx="672059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此时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sz="2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sz="1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能由向量组</a:t>
            </a:r>
            <a:r>
              <a:rPr lang="zh-CN" altLang="en-US" sz="1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3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线性表示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.</a:t>
            </a:r>
            <a:r>
              <a:rPr lang="en-US" altLang="zh-CN" sz="2000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 </a:t>
            </a:r>
            <a:endParaRPr lang="zh-CN" altLang="en-US" b="1" dirty="0">
              <a:solidFill>
                <a:schemeClr val="tx1"/>
              </a:solidFill>
              <a:latin typeface="+mn-lt"/>
              <a:ea typeface="华文中宋" pitchFamily="2" charset="-122"/>
              <a:sym typeface="Symbol" pitchFamily="18" charset="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3049CB5-8D56-6A24-3B6B-2503BB19AD28}"/>
              </a:ext>
            </a:extLst>
          </p:cNvPr>
          <p:cNvSpPr txBox="1"/>
          <p:nvPr/>
        </p:nvSpPr>
        <p:spPr>
          <a:xfrm>
            <a:off x="967590" y="2848955"/>
            <a:ext cx="28335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为求出表示式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endParaRPr lang="zh-CN" altLang="en-US" b="1" kern="100" dirty="0"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9" name="Object 17">
            <a:extLst>
              <a:ext uri="{FF2B5EF4-FFF2-40B4-BE49-F238E27FC236}">
                <a16:creationId xmlns:a16="http://schemas.microsoft.com/office/drawing/2014/main" id="{420DF5A8-E14E-AE43-A098-EC029090ED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7306571"/>
              </p:ext>
            </p:extLst>
          </p:nvPr>
        </p:nvGraphicFramePr>
        <p:xfrm>
          <a:off x="3162717" y="3525867"/>
          <a:ext cx="2411412" cy="204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91880" imgH="927000" progId="Equation.DSMT4">
                  <p:embed/>
                </p:oleObj>
              </mc:Choice>
              <mc:Fallback>
                <p:oleObj name="Equation" r:id="rId3" imgW="1091880" imgH="927000" progId="Equation.DSMT4">
                  <p:embed/>
                  <p:pic>
                    <p:nvPicPr>
                      <p:cNvPr id="22" name="Object 17">
                        <a:extLst>
                          <a:ext uri="{FF2B5EF4-FFF2-40B4-BE49-F238E27FC236}">
                            <a16:creationId xmlns:a16="http://schemas.microsoft.com/office/drawing/2014/main" id="{1657DAD1-907F-1DE2-F447-748AC472A3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2717" y="3525867"/>
                        <a:ext cx="2411412" cy="204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3">
            <a:extLst>
              <a:ext uri="{FF2B5EF4-FFF2-40B4-BE49-F238E27FC236}">
                <a16:creationId xmlns:a16="http://schemas.microsoft.com/office/drawing/2014/main" id="{5566A524-0DB1-98CF-D542-37A6E70592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8378114"/>
              </p:ext>
            </p:extLst>
          </p:nvPr>
        </p:nvGraphicFramePr>
        <p:xfrm>
          <a:off x="2311709" y="4086946"/>
          <a:ext cx="825500" cy="106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22080" imgH="799920" progId="Equation.DSMT4">
                  <p:embed/>
                </p:oleObj>
              </mc:Choice>
              <mc:Fallback>
                <p:oleObj name="Equation" r:id="rId5" imgW="622080" imgH="799920" progId="Equation.DSMT4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228C8DD4-38B5-6C44-4644-3CF9882F11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1709" y="4086946"/>
                        <a:ext cx="825500" cy="1062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组合 22">
            <a:extLst>
              <a:ext uri="{FF2B5EF4-FFF2-40B4-BE49-F238E27FC236}">
                <a16:creationId xmlns:a16="http://schemas.microsoft.com/office/drawing/2014/main" id="{5E00439D-CFC6-4D6C-0C8B-85CD3C60F82B}"/>
              </a:ext>
            </a:extLst>
          </p:cNvPr>
          <p:cNvGrpSpPr>
            <a:grpSpLocks/>
          </p:cNvGrpSpPr>
          <p:nvPr/>
        </p:nvGrpSpPr>
        <p:grpSpPr bwMode="auto">
          <a:xfrm>
            <a:off x="3279923" y="4057528"/>
            <a:ext cx="2016374" cy="503238"/>
            <a:chOff x="2051720" y="5157192"/>
            <a:chExt cx="1747245" cy="504056"/>
          </a:xfrm>
        </p:grpSpPr>
        <p:cxnSp>
          <p:nvCxnSpPr>
            <p:cNvPr id="26" name="直接连接符 17">
              <a:extLst>
                <a:ext uri="{FF2B5EF4-FFF2-40B4-BE49-F238E27FC236}">
                  <a16:creationId xmlns:a16="http://schemas.microsoft.com/office/drawing/2014/main" id="{800F1DEB-8119-0E2A-D471-D8F9C753FD0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1720" y="5157192"/>
              <a:ext cx="432048" cy="0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" name="直接连接符 19">
              <a:extLst>
                <a:ext uri="{FF2B5EF4-FFF2-40B4-BE49-F238E27FC236}">
                  <a16:creationId xmlns:a16="http://schemas.microsoft.com/office/drawing/2014/main" id="{046A350A-4A52-09E7-1342-5B2A49C581E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483768" y="5157192"/>
              <a:ext cx="0" cy="504056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" name="直接连接符 21">
              <a:extLst>
                <a:ext uri="{FF2B5EF4-FFF2-40B4-BE49-F238E27FC236}">
                  <a16:creationId xmlns:a16="http://schemas.microsoft.com/office/drawing/2014/main" id="{5575B08F-862E-417D-2C14-0EE1201C416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483768" y="5661248"/>
              <a:ext cx="1315197" cy="0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40" name="Object 17">
            <a:extLst>
              <a:ext uri="{FF2B5EF4-FFF2-40B4-BE49-F238E27FC236}">
                <a16:creationId xmlns:a16="http://schemas.microsoft.com/office/drawing/2014/main" id="{52FAFB8D-8A6B-D1C5-719B-44736BA034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1335478"/>
              </p:ext>
            </p:extLst>
          </p:nvPr>
        </p:nvGraphicFramePr>
        <p:xfrm>
          <a:off x="1933817" y="4435050"/>
          <a:ext cx="363538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4880" imgH="164880" progId="Equation.DSMT4">
                  <p:embed/>
                </p:oleObj>
              </mc:Choice>
              <mc:Fallback>
                <p:oleObj name="Equation" r:id="rId7" imgW="164880" imgH="164880" progId="Equation.DSMT4">
                  <p:embed/>
                  <p:pic>
                    <p:nvPicPr>
                      <p:cNvPr id="21" name="Object 17">
                        <a:extLst>
                          <a:ext uri="{FF2B5EF4-FFF2-40B4-BE49-F238E27FC236}">
                            <a16:creationId xmlns:a16="http://schemas.microsoft.com/office/drawing/2014/main" id="{B9F849C3-7651-7483-047B-E12A348957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3817" y="4435050"/>
                        <a:ext cx="363538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DFB46E16-2AC4-D408-D332-EC374A33C797}"/>
              </a:ext>
            </a:extLst>
          </p:cNvPr>
          <p:cNvSpPr txBox="1"/>
          <p:nvPr/>
        </p:nvSpPr>
        <p:spPr>
          <a:xfrm>
            <a:off x="3468881" y="2848955"/>
            <a:ext cx="53559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继续将</a:t>
            </a:r>
            <a:r>
              <a:rPr lang="zh-CN" altLang="en-US" sz="10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zh-CN" altLang="en-US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化为行最简形矩阵</a:t>
            </a:r>
            <a:r>
              <a:rPr lang="en-US" altLang="zh-CN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0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有</a:t>
            </a:r>
          </a:p>
        </p:txBody>
      </p:sp>
      <p:sp>
        <p:nvSpPr>
          <p:cNvPr id="21" name="Rectangle 30">
            <a:extLst>
              <a:ext uri="{FF2B5EF4-FFF2-40B4-BE49-F238E27FC236}">
                <a16:creationId xmlns:a16="http://schemas.microsoft.com/office/drawing/2014/main" id="{7E68E0E5-E4E2-4793-95B2-F6C947242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-8965"/>
            <a:ext cx="8235342" cy="49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线性组合与线性表示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的实例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686024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7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2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2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 build="p" autoUpdateAnimBg="0"/>
      <p:bldP spid="18" grpId="0"/>
      <p:bldP spid="20" grpId="0"/>
      <p:bldP spid="8" grpId="0"/>
      <p:bldP spid="1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988DCDD1-7AC3-4420-815B-D5979A7BB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Text Box 17">
            <a:extLst>
              <a:ext uri="{FF2B5EF4-FFF2-40B4-BE49-F238E27FC236}">
                <a16:creationId xmlns:a16="http://schemas.microsoft.com/office/drawing/2014/main" id="{3D275689-193C-A24B-E2A5-816ABF90A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1591006"/>
            <a:ext cx="691276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sz="2000" b="1" baseline="-25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sz="2000" b="1" baseline="-25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3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3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sz="1000" b="1" i="1" dirty="0">
                <a:solidFill>
                  <a:schemeClr val="tx1"/>
                </a:solidFill>
                <a:sym typeface="Symbol" panose="05050102010706020507" pitchFamily="18" charset="2"/>
              </a:rPr>
              <a:t>  </a:t>
            </a:r>
            <a:r>
              <a:rPr lang="en-US" altLang="zh-CN" sz="2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同解的线性方程组为</a:t>
            </a:r>
          </a:p>
        </p:txBody>
      </p:sp>
      <p:graphicFrame>
        <p:nvGraphicFramePr>
          <p:cNvPr id="13" name="Object 18">
            <a:extLst>
              <a:ext uri="{FF2B5EF4-FFF2-40B4-BE49-F238E27FC236}">
                <a16:creationId xmlns:a16="http://schemas.microsoft.com/office/drawing/2014/main" id="{CDF006CD-ADC3-592A-22B3-701D2B13BB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6151203"/>
              </p:ext>
            </p:extLst>
          </p:nvPr>
        </p:nvGraphicFramePr>
        <p:xfrm>
          <a:off x="3524250" y="2323129"/>
          <a:ext cx="2095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95200" imgH="888840" progId="Equation.DSMT4">
                  <p:embed/>
                </p:oleObj>
              </mc:Choice>
              <mc:Fallback>
                <p:oleObj name="Equation" r:id="rId3" imgW="2095200" imgH="888840" progId="Equation.DSMT4">
                  <p:embed/>
                  <p:pic>
                    <p:nvPicPr>
                      <p:cNvPr id="10" name="Object 18">
                        <a:extLst>
                          <a:ext uri="{FF2B5EF4-FFF2-40B4-BE49-F238E27FC236}">
                            <a16:creationId xmlns:a16="http://schemas.microsoft.com/office/drawing/2014/main" id="{EA3CE0A2-2572-42A7-A7B5-D0AFA62530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4250" y="2323129"/>
                        <a:ext cx="20955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2">
            <a:extLst>
              <a:ext uri="{FF2B5EF4-FFF2-40B4-BE49-F238E27FC236}">
                <a16:creationId xmlns:a16="http://schemas.microsoft.com/office/drawing/2014/main" id="{FDA312FC-15AE-F78F-7865-5238E5718E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4812138"/>
            <a:ext cx="7920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故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80E64AC-6F84-B66E-9D0C-7710A7B8F143}"/>
              </a:ext>
            </a:extLst>
          </p:cNvPr>
          <p:cNvSpPr txBox="1"/>
          <p:nvPr/>
        </p:nvSpPr>
        <p:spPr>
          <a:xfrm>
            <a:off x="965738" y="981268"/>
            <a:ext cx="41875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由上述行最简形矩阵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b="1" kern="100" dirty="0">
              <a:effectLst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D564077-4E67-5DCA-4FD1-110241B89BCD}"/>
              </a:ext>
            </a:extLst>
          </p:cNvPr>
          <p:cNvSpPr txBox="1"/>
          <p:nvPr/>
        </p:nvSpPr>
        <p:spPr>
          <a:xfrm>
            <a:off x="755576" y="3479585"/>
            <a:ext cx="4680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由此得此方程组的通解为 </a:t>
            </a:r>
          </a:p>
        </p:txBody>
      </p:sp>
      <p:graphicFrame>
        <p:nvGraphicFramePr>
          <p:cNvPr id="24" name="Object 18">
            <a:extLst>
              <a:ext uri="{FF2B5EF4-FFF2-40B4-BE49-F238E27FC236}">
                <a16:creationId xmlns:a16="http://schemas.microsoft.com/office/drawing/2014/main" id="{AD430F4F-EB7D-04DB-85D7-5E96F040F8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1464118"/>
              </p:ext>
            </p:extLst>
          </p:nvPr>
        </p:nvGraphicFramePr>
        <p:xfrm>
          <a:off x="2012950" y="4213975"/>
          <a:ext cx="5118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117760" imgH="419040" progId="Equation.DSMT4">
                  <p:embed/>
                </p:oleObj>
              </mc:Choice>
              <mc:Fallback>
                <p:oleObj name="Equation" r:id="rId5" imgW="5117760" imgH="419040" progId="Equation.DSMT4">
                  <p:embed/>
                  <p:pic>
                    <p:nvPicPr>
                      <p:cNvPr id="13" name="Object 18">
                        <a:extLst>
                          <a:ext uri="{FF2B5EF4-FFF2-40B4-BE49-F238E27FC236}">
                            <a16:creationId xmlns:a16="http://schemas.microsoft.com/office/drawing/2014/main" id="{CDF006CD-ADC3-592A-22B3-701D2B13BB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2950" y="4213975"/>
                        <a:ext cx="5118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8">
            <a:extLst>
              <a:ext uri="{FF2B5EF4-FFF2-40B4-BE49-F238E27FC236}">
                <a16:creationId xmlns:a16="http://schemas.microsoft.com/office/drawing/2014/main" id="{6DD168B0-FB4F-37C6-5351-07C2ABE30F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8499854"/>
              </p:ext>
            </p:extLst>
          </p:nvPr>
        </p:nvGraphicFramePr>
        <p:xfrm>
          <a:off x="2307877" y="4900531"/>
          <a:ext cx="4508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508280" imgH="419040" progId="Equation.DSMT4">
                  <p:embed/>
                </p:oleObj>
              </mc:Choice>
              <mc:Fallback>
                <p:oleObj name="Equation" r:id="rId7" imgW="4508280" imgH="419040" progId="Equation.DSMT4">
                  <p:embed/>
                  <p:pic>
                    <p:nvPicPr>
                      <p:cNvPr id="24" name="Object 18">
                        <a:extLst>
                          <a:ext uri="{FF2B5EF4-FFF2-40B4-BE49-F238E27FC236}">
                            <a16:creationId xmlns:a16="http://schemas.microsoft.com/office/drawing/2014/main" id="{AD430F4F-EB7D-04DB-85D7-5E96F040F8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7877" y="4900531"/>
                        <a:ext cx="4508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7">
            <a:extLst>
              <a:ext uri="{FF2B5EF4-FFF2-40B4-BE49-F238E27FC236}">
                <a16:creationId xmlns:a16="http://schemas.microsoft.com/office/drawing/2014/main" id="{1DBF7AD4-6BA8-A937-3B5B-926F6C389A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4008" y="975522"/>
            <a:ext cx="28803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可得与方程组</a:t>
            </a:r>
          </a:p>
        </p:txBody>
      </p:sp>
      <p:sp>
        <p:nvSpPr>
          <p:cNvPr id="16" name="Rectangle 30">
            <a:extLst>
              <a:ext uri="{FF2B5EF4-FFF2-40B4-BE49-F238E27FC236}">
                <a16:creationId xmlns:a16="http://schemas.microsoft.com/office/drawing/2014/main" id="{7DB3396D-8D16-486D-8EE4-47AEA9653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-8965"/>
            <a:ext cx="8235342" cy="49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线性组合与线性表示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的实例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894397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2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25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500"/>
                            </p:stCondLst>
                            <p:childTnLst>
                              <p:par>
                                <p:cTn id="17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5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utoUpdateAnimBg="0"/>
      <p:bldP spid="14" grpId="0"/>
      <p:bldP spid="19" grpId="0"/>
      <p:bldP spid="22" grpId="0"/>
      <p:bldP spid="8" grpId="0" build="p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3">
            <a:extLst>
              <a:ext uri="{FF2B5EF4-FFF2-40B4-BE49-F238E27FC236}">
                <a16:creationId xmlns:a16="http://schemas.microsoft.com/office/drawing/2014/main" id="{BC6FDF1F-7D34-6F4D-E692-F7CD001294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782212"/>
            <a:ext cx="1567276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例</a:t>
            </a:r>
            <a:r>
              <a:rPr lang="zh-CN" altLang="en-US" sz="10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3.7</a:t>
            </a:r>
            <a:endParaRPr lang="zh-CN" altLang="en-US" b="1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CD1E730-CD03-15D5-DFCB-09702D8ADDDE}"/>
              </a:ext>
            </a:extLst>
          </p:cNvPr>
          <p:cNvSpPr txBox="1"/>
          <p:nvPr/>
        </p:nvSpPr>
        <p:spPr>
          <a:xfrm>
            <a:off x="2178837" y="787343"/>
            <a:ext cx="26507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设向量</a:t>
            </a:r>
            <a:r>
              <a:rPr lang="zh-CN" altLang="en-US" b="1" kern="100" dirty="0">
                <a:latin typeface="华文中宋" panose="02010600040101010101" pitchFamily="2" charset="-122"/>
                <a:ea typeface="华文中宋" panose="02010600040101010101" pitchFamily="2" charset="-122"/>
              </a:rPr>
              <a:t>组</a:t>
            </a:r>
            <a:r>
              <a:rPr lang="zh-CN" altLang="en-US" sz="1000" b="1" kern="100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2000" b="1" i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sz="2800" b="1" kern="100" dirty="0"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F60CA73-40E3-3395-96AF-381AB6838B8F}"/>
              </a:ext>
            </a:extLst>
          </p:cNvPr>
          <p:cNvSpPr txBox="1"/>
          <p:nvPr/>
        </p:nvSpPr>
        <p:spPr>
          <a:xfrm>
            <a:off x="971600" y="3168630"/>
            <a:ext cx="1999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向量组</a:t>
            </a:r>
            <a:r>
              <a:rPr lang="zh-CN" altLang="en-US" sz="10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2000" b="1" i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sz="2800" b="1" kern="100" dirty="0"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988DCDD1-7AC3-4420-815B-D5979A7BB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30">
            <a:extLst>
              <a:ext uri="{FF2B5EF4-FFF2-40B4-BE49-F238E27FC236}">
                <a16:creationId xmlns:a16="http://schemas.microsoft.com/office/drawing/2014/main" id="{CD7B1BCD-5AAE-4E6D-8B10-F51899EB7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0"/>
            <a:ext cx="8235342" cy="49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向量组的等价性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实例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18">
            <a:extLst>
              <a:ext uri="{FF2B5EF4-FFF2-40B4-BE49-F238E27FC236}">
                <a16:creationId xmlns:a16="http://schemas.microsoft.com/office/drawing/2014/main" id="{990EBF52-8CC3-CB63-B8D9-D02B299FFE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9873024"/>
              </p:ext>
            </p:extLst>
          </p:nvPr>
        </p:nvGraphicFramePr>
        <p:xfrm>
          <a:off x="3206750" y="1434626"/>
          <a:ext cx="12954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95280" imgH="1625400" progId="Equation.DSMT4">
                  <p:embed/>
                </p:oleObj>
              </mc:Choice>
              <mc:Fallback>
                <p:oleObj name="Equation" r:id="rId3" imgW="1295280" imgH="1625400" progId="Equation.DSMT4">
                  <p:embed/>
                  <p:pic>
                    <p:nvPicPr>
                      <p:cNvPr id="13" name="Object 18">
                        <a:extLst>
                          <a:ext uri="{FF2B5EF4-FFF2-40B4-BE49-F238E27FC236}">
                            <a16:creationId xmlns:a16="http://schemas.microsoft.com/office/drawing/2014/main" id="{CDF006CD-ADC3-592A-22B3-701D2B13BB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6750" y="1434626"/>
                        <a:ext cx="1295400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8">
            <a:extLst>
              <a:ext uri="{FF2B5EF4-FFF2-40B4-BE49-F238E27FC236}">
                <a16:creationId xmlns:a16="http://schemas.microsoft.com/office/drawing/2014/main" id="{6CBE92BD-E009-6597-1A06-942C64042B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5201812"/>
              </p:ext>
            </p:extLst>
          </p:nvPr>
        </p:nvGraphicFramePr>
        <p:xfrm>
          <a:off x="4641852" y="1434626"/>
          <a:ext cx="15240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3880" imgH="1625400" progId="Equation.DSMT4">
                  <p:embed/>
                </p:oleObj>
              </mc:Choice>
              <mc:Fallback>
                <p:oleObj name="Equation" r:id="rId5" imgW="1523880" imgH="1625400" progId="Equation.DSMT4">
                  <p:embed/>
                  <p:pic>
                    <p:nvPicPr>
                      <p:cNvPr id="11" name="Object 18">
                        <a:extLst>
                          <a:ext uri="{FF2B5EF4-FFF2-40B4-BE49-F238E27FC236}">
                            <a16:creationId xmlns:a16="http://schemas.microsoft.com/office/drawing/2014/main" id="{990EBF52-8CC3-CB63-B8D9-D02B299FFE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1852" y="1434626"/>
                        <a:ext cx="1524000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8">
            <a:extLst>
              <a:ext uri="{FF2B5EF4-FFF2-40B4-BE49-F238E27FC236}">
                <a16:creationId xmlns:a16="http://schemas.microsoft.com/office/drawing/2014/main" id="{9F3CA7A6-8573-ACE5-74E3-2FBE5A97ED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0727160"/>
              </p:ext>
            </p:extLst>
          </p:nvPr>
        </p:nvGraphicFramePr>
        <p:xfrm>
          <a:off x="3060700" y="3638271"/>
          <a:ext cx="15113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11280" imgH="1625400" progId="Equation.DSMT4">
                  <p:embed/>
                </p:oleObj>
              </mc:Choice>
              <mc:Fallback>
                <p:oleObj name="Equation" r:id="rId7" imgW="1511280" imgH="1625400" progId="Equation.DSMT4">
                  <p:embed/>
                  <p:pic>
                    <p:nvPicPr>
                      <p:cNvPr id="11" name="Object 18">
                        <a:extLst>
                          <a:ext uri="{FF2B5EF4-FFF2-40B4-BE49-F238E27FC236}">
                            <a16:creationId xmlns:a16="http://schemas.microsoft.com/office/drawing/2014/main" id="{990EBF52-8CC3-CB63-B8D9-D02B299FFE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0700" y="3638271"/>
                        <a:ext cx="1511300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8">
            <a:extLst>
              <a:ext uri="{FF2B5EF4-FFF2-40B4-BE49-F238E27FC236}">
                <a16:creationId xmlns:a16="http://schemas.microsoft.com/office/drawing/2014/main" id="{CBB6DA19-E67D-DC9B-8E9D-976874C61E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4960591"/>
              </p:ext>
            </p:extLst>
          </p:nvPr>
        </p:nvGraphicFramePr>
        <p:xfrm>
          <a:off x="4667429" y="3638271"/>
          <a:ext cx="15240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23880" imgH="1625400" progId="Equation.DSMT4">
                  <p:embed/>
                </p:oleObj>
              </mc:Choice>
              <mc:Fallback>
                <p:oleObj name="Equation" r:id="rId9" imgW="1523880" imgH="1625400" progId="Equation.DSMT4">
                  <p:embed/>
                  <p:pic>
                    <p:nvPicPr>
                      <p:cNvPr id="14" name="Object 18">
                        <a:extLst>
                          <a:ext uri="{FF2B5EF4-FFF2-40B4-BE49-F238E27FC236}">
                            <a16:creationId xmlns:a16="http://schemas.microsoft.com/office/drawing/2014/main" id="{6CBE92BD-E009-6597-1A06-942C64042B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429" y="3638271"/>
                        <a:ext cx="1524000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3359A306-8413-6C5B-F364-70EEE2D76DD3}"/>
              </a:ext>
            </a:extLst>
          </p:cNvPr>
          <p:cNvSpPr txBox="1"/>
          <p:nvPr/>
        </p:nvSpPr>
        <p:spPr>
          <a:xfrm>
            <a:off x="971600" y="5391815"/>
            <a:ext cx="56717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kern="100" dirty="0">
                <a:solidFill>
                  <a:srgbClr val="00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  <a:r>
              <a:rPr lang="en-US" altLang="zh-CN" sz="2800" b="1" kern="100" dirty="0">
                <a:solidFill>
                  <a:srgbClr val="000000"/>
                </a:solidFill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2000" b="1" kern="100" dirty="0">
                <a:solidFill>
                  <a:srgbClr val="000000"/>
                </a:solidFill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向量组</a:t>
            </a:r>
            <a:r>
              <a:rPr lang="zh-CN" altLang="en-US" sz="10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sz="2800" b="1" i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1" i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与向量组</a:t>
            </a:r>
            <a:r>
              <a:rPr lang="zh-CN" altLang="en-US" sz="10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sz="2800" b="1" i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i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等价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sz="2800" b="1" kern="100" dirty="0">
              <a:effectLst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4221562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2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25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25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25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25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5" grpId="0"/>
      <p:bldP spid="2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Box 15">
            <a:extLst>
              <a:ext uri="{FF2B5EF4-FFF2-40B4-BE49-F238E27FC236}">
                <a16:creationId xmlns:a16="http://schemas.microsoft.com/office/drawing/2014/main" id="{4A23B183-EF3E-4E61-8116-A428BC575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2968" y="5857072"/>
            <a:ext cx="1943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2,</a:t>
            </a: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B09CEFDD-BF32-0325-6762-D90BE85A2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847" y="620688"/>
            <a:ext cx="1296144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A078B570-CA7A-6465-E0D0-87A8902B21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5991" y="621343"/>
            <a:ext cx="525658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记矩阵</a:t>
            </a:r>
            <a:r>
              <a:rPr lang="zh-CN" altLang="en-US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A</a:t>
            </a:r>
            <a:r>
              <a:rPr lang="en-US" altLang="zh-CN" sz="1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=</a:t>
            </a:r>
            <a:r>
              <a:rPr lang="en-US" altLang="zh-CN" sz="1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(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B</a:t>
            </a:r>
            <a:r>
              <a:rPr lang="en-US" altLang="zh-CN" sz="1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=</a:t>
            </a:r>
            <a:r>
              <a:rPr lang="en-US" altLang="zh-CN" sz="1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),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8E60ED23-4291-7028-DD71-078DA65EAE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467" y="1245175"/>
            <a:ext cx="316495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由定理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3.8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可知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24D375E1-11E6-80C6-035B-9C99AED434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6111" y="1245175"/>
            <a:ext cx="579613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只要证明</a:t>
            </a:r>
            <a:r>
              <a:rPr lang="zh-CN" altLang="en-US" sz="1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即可</a:t>
            </a:r>
            <a:r>
              <a:rPr lang="en-US" altLang="zh-CN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1" name="Text Box 10">
            <a:extLst>
              <a:ext uri="{FF2B5EF4-FFF2-40B4-BE49-F238E27FC236}">
                <a16:creationId xmlns:a16="http://schemas.microsoft.com/office/drawing/2014/main" id="{A110D867-ED06-3C56-1DB4-C7ED54E2F5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467" y="1871721"/>
            <a:ext cx="717828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为此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把矩阵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化为行阶梯形矩阵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有</a:t>
            </a:r>
          </a:p>
        </p:txBody>
      </p:sp>
      <p:graphicFrame>
        <p:nvGraphicFramePr>
          <p:cNvPr id="22" name="Object 9">
            <a:extLst>
              <a:ext uri="{FF2B5EF4-FFF2-40B4-BE49-F238E27FC236}">
                <a16:creationId xmlns:a16="http://schemas.microsoft.com/office/drawing/2014/main" id="{F7058FB8-61DB-6726-8E79-3445D13AB6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1652646"/>
              </p:ext>
            </p:extLst>
          </p:nvPr>
        </p:nvGraphicFramePr>
        <p:xfrm>
          <a:off x="1316276" y="3037797"/>
          <a:ext cx="324802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73120" imgH="228600" progId="Equation.DSMT4">
                  <p:embed/>
                </p:oleObj>
              </mc:Choice>
              <mc:Fallback>
                <p:oleObj name="Equation" r:id="rId2" imgW="1473120" imgH="228600" progId="Equation.DSMT4">
                  <p:embed/>
                  <p:pic>
                    <p:nvPicPr>
                      <p:cNvPr id="22" name="Object 9">
                        <a:extLst>
                          <a:ext uri="{FF2B5EF4-FFF2-40B4-BE49-F238E27FC236}">
                            <a16:creationId xmlns:a16="http://schemas.microsoft.com/office/drawing/2014/main" id="{F7058FB8-61DB-6726-8E79-3445D13AB6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6276" y="3037797"/>
                        <a:ext cx="3248025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3">
            <a:extLst>
              <a:ext uri="{FF2B5EF4-FFF2-40B4-BE49-F238E27FC236}">
                <a16:creationId xmlns:a16="http://schemas.microsoft.com/office/drawing/2014/main" id="{10542D74-D0BB-9A80-1A67-E4BFB98D79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5461802"/>
              </p:ext>
            </p:extLst>
          </p:nvPr>
        </p:nvGraphicFramePr>
        <p:xfrm>
          <a:off x="1331786" y="4430685"/>
          <a:ext cx="823912" cy="1147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22080" imgH="863280" progId="Equation.DSMT4">
                  <p:embed/>
                </p:oleObj>
              </mc:Choice>
              <mc:Fallback>
                <p:oleObj name="Equation" r:id="rId4" imgW="622080" imgH="863280" progId="Equation.DSMT4">
                  <p:embed/>
                  <p:pic>
                    <p:nvPicPr>
                      <p:cNvPr id="26" name="Object 23">
                        <a:extLst>
                          <a:ext uri="{FF2B5EF4-FFF2-40B4-BE49-F238E27FC236}">
                            <a16:creationId xmlns:a16="http://schemas.microsoft.com/office/drawing/2014/main" id="{10542D74-D0BB-9A80-1A67-E4BFB98D79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786" y="4430685"/>
                        <a:ext cx="823912" cy="1147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3">
            <a:extLst>
              <a:ext uri="{FF2B5EF4-FFF2-40B4-BE49-F238E27FC236}">
                <a16:creationId xmlns:a16="http://schemas.microsoft.com/office/drawing/2014/main" id="{4D2F9CBF-F2A3-20D9-2C49-F4CA66631A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8836281"/>
              </p:ext>
            </p:extLst>
          </p:nvPr>
        </p:nvGraphicFramePr>
        <p:xfrm>
          <a:off x="4779952" y="4438555"/>
          <a:ext cx="958850" cy="1147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23600" imgH="863280" progId="Equation.DSMT4">
                  <p:embed/>
                </p:oleObj>
              </mc:Choice>
              <mc:Fallback>
                <p:oleObj name="Equation" r:id="rId6" imgW="723600" imgH="863280" progId="Equation.DSMT4">
                  <p:embed/>
                  <p:pic>
                    <p:nvPicPr>
                      <p:cNvPr id="29" name="Object 23">
                        <a:extLst>
                          <a:ext uri="{FF2B5EF4-FFF2-40B4-BE49-F238E27FC236}">
                            <a16:creationId xmlns:a16="http://schemas.microsoft.com/office/drawing/2014/main" id="{4D2F9CBF-F2A3-20D9-2C49-F4CA66631A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9952" y="4438555"/>
                        <a:ext cx="958850" cy="1147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8">
            <a:extLst>
              <a:ext uri="{FF2B5EF4-FFF2-40B4-BE49-F238E27FC236}">
                <a16:creationId xmlns:a16="http://schemas.microsoft.com/office/drawing/2014/main" id="{A45D9E8B-4106-7954-1C88-FBF18EDB52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8204701"/>
              </p:ext>
            </p:extLst>
          </p:nvPr>
        </p:nvGraphicFramePr>
        <p:xfrm>
          <a:off x="2194902" y="4199951"/>
          <a:ext cx="25019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01640" imgH="1625400" progId="Equation.DSMT4">
                  <p:embed/>
                </p:oleObj>
              </mc:Choice>
              <mc:Fallback>
                <p:oleObj name="Equation" r:id="rId8" imgW="2501640" imgH="1625400" progId="Equation.DSMT4">
                  <p:embed/>
                  <p:pic>
                    <p:nvPicPr>
                      <p:cNvPr id="14" name="Object 18">
                        <a:extLst>
                          <a:ext uri="{FF2B5EF4-FFF2-40B4-BE49-F238E27FC236}">
                            <a16:creationId xmlns:a16="http://schemas.microsoft.com/office/drawing/2014/main" id="{A45D9E8B-4106-7954-1C88-FBF18EDB52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4902" y="4199951"/>
                        <a:ext cx="2501900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8">
            <a:extLst>
              <a:ext uri="{FF2B5EF4-FFF2-40B4-BE49-F238E27FC236}">
                <a16:creationId xmlns:a16="http://schemas.microsoft.com/office/drawing/2014/main" id="{7A088235-A4F9-2D02-7D80-06F4864FF6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9935488"/>
              </p:ext>
            </p:extLst>
          </p:nvPr>
        </p:nvGraphicFramePr>
        <p:xfrm>
          <a:off x="4590247" y="2461673"/>
          <a:ext cx="27813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781000" imgH="1625400" progId="Equation.DSMT4">
                  <p:embed/>
                </p:oleObj>
              </mc:Choice>
              <mc:Fallback>
                <p:oleObj name="Equation" r:id="rId10" imgW="2781000" imgH="1625400" progId="Equation.DSMT4">
                  <p:embed/>
                  <p:pic>
                    <p:nvPicPr>
                      <p:cNvPr id="16" name="Object 18">
                        <a:extLst>
                          <a:ext uri="{FF2B5EF4-FFF2-40B4-BE49-F238E27FC236}">
                            <a16:creationId xmlns:a16="http://schemas.microsoft.com/office/drawing/2014/main" id="{7A088235-A4F9-2D02-7D80-06F4864FF6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0247" y="2461673"/>
                        <a:ext cx="2781300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8">
            <a:extLst>
              <a:ext uri="{FF2B5EF4-FFF2-40B4-BE49-F238E27FC236}">
                <a16:creationId xmlns:a16="http://schemas.microsoft.com/office/drawing/2014/main" id="{63753B44-3604-378B-E438-C3B5D3004D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3860127"/>
              </p:ext>
            </p:extLst>
          </p:nvPr>
        </p:nvGraphicFramePr>
        <p:xfrm>
          <a:off x="5836656" y="4228960"/>
          <a:ext cx="19431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42920" imgH="1625400" progId="Equation.DSMT4">
                  <p:embed/>
                </p:oleObj>
              </mc:Choice>
              <mc:Fallback>
                <p:oleObj name="Equation" r:id="rId12" imgW="1942920" imgH="1625400" progId="Equation.DSMT4">
                  <p:embed/>
                  <p:pic>
                    <p:nvPicPr>
                      <p:cNvPr id="17" name="Object 18">
                        <a:extLst>
                          <a:ext uri="{FF2B5EF4-FFF2-40B4-BE49-F238E27FC236}">
                            <a16:creationId xmlns:a16="http://schemas.microsoft.com/office/drawing/2014/main" id="{63753B44-3604-378B-E438-C3B5D3004D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6656" y="4228960"/>
                        <a:ext cx="1943100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15">
            <a:extLst>
              <a:ext uri="{FF2B5EF4-FFF2-40B4-BE49-F238E27FC236}">
                <a16:creationId xmlns:a16="http://schemas.microsoft.com/office/drawing/2014/main" id="{B0662F11-F45B-29D6-A941-F0C6B104F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466" y="5855484"/>
            <a:ext cx="8924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故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34" name="Text Box 27">
            <a:extLst>
              <a:ext uri="{FF2B5EF4-FFF2-40B4-BE49-F238E27FC236}">
                <a16:creationId xmlns:a16="http://schemas.microsoft.com/office/drawing/2014/main" id="{9051566E-7E1E-3548-4A13-1CFC21F560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8730" y="5855484"/>
            <a:ext cx="2501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2.</a:t>
            </a:r>
          </a:p>
        </p:txBody>
      </p:sp>
      <p:sp>
        <p:nvSpPr>
          <p:cNvPr id="20" name="Rectangle 30">
            <a:extLst>
              <a:ext uri="{FF2B5EF4-FFF2-40B4-BE49-F238E27FC236}">
                <a16:creationId xmlns:a16="http://schemas.microsoft.com/office/drawing/2014/main" id="{5AC88A88-EE46-48B8-9F80-2E7E80F878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0"/>
            <a:ext cx="8235342" cy="49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向量组的等价性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实例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995644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7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2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500"/>
                            </p:stCondLst>
                            <p:childTnLst>
                              <p:par>
                                <p:cTn id="6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build="p" autoUpdateAnimBg="0"/>
      <p:bldP spid="35" grpId="1"/>
      <p:bldP spid="6" grpId="0"/>
      <p:bldP spid="7" grpId="0" build="p" autoUpdateAnimBg="0"/>
      <p:bldP spid="8" grpId="0" build="p" autoUpdateAnimBg="0"/>
      <p:bldP spid="9" grpId="0" build="p" autoUpdateAnimBg="0" advAuto="0"/>
      <p:bldP spid="21" grpId="0" build="p" autoUpdateAnimBg="0"/>
      <p:bldP spid="33" grpId="0" build="p" autoUpdateAnimBg="0"/>
      <p:bldP spid="34" grpId="0" build="p" autoUpdateAnimBg="0"/>
      <p:bldP spid="34" grpId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Object 18">
            <a:extLst>
              <a:ext uri="{FF2B5EF4-FFF2-40B4-BE49-F238E27FC236}">
                <a16:creationId xmlns:a16="http://schemas.microsoft.com/office/drawing/2014/main" id="{6C492630-C20B-81D6-8A53-289E49EBF6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2460544"/>
              </p:ext>
            </p:extLst>
          </p:nvPr>
        </p:nvGraphicFramePr>
        <p:xfrm>
          <a:off x="2013120" y="963155"/>
          <a:ext cx="35179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17560" imgH="1625400" progId="Equation.DSMT4">
                  <p:embed/>
                </p:oleObj>
              </mc:Choice>
              <mc:Fallback>
                <p:oleObj name="Equation" r:id="rId2" imgW="3517560" imgH="1625400" progId="Equation.DSMT4">
                  <p:embed/>
                  <p:pic>
                    <p:nvPicPr>
                      <p:cNvPr id="2" name="Object 18">
                        <a:extLst>
                          <a:ext uri="{FF2B5EF4-FFF2-40B4-BE49-F238E27FC236}">
                            <a16:creationId xmlns:a16="http://schemas.microsoft.com/office/drawing/2014/main" id="{E1EABE5E-6758-BDBC-A6DD-4783C189F2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3120" y="963155"/>
                        <a:ext cx="3517900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ext Box 9">
            <a:extLst>
              <a:ext uri="{FF2B5EF4-FFF2-40B4-BE49-F238E27FC236}">
                <a16:creationId xmlns:a16="http://schemas.microsoft.com/office/drawing/2014/main" id="{417D7FF5-33DE-F89F-E916-8D183E0062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090" y="2857497"/>
            <a:ext cx="69119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所以矩阵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B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中有不等于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0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的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二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阶子式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47" name="Text Box 10">
            <a:extLst>
              <a:ext uri="{FF2B5EF4-FFF2-40B4-BE49-F238E27FC236}">
                <a16:creationId xmlns:a16="http://schemas.microsoft.com/office/drawing/2014/main" id="{5CF5C767-7B73-1BFB-241C-C2CC2D3A1A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2500" y="2857497"/>
            <a:ext cx="243668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故</a:t>
            </a:r>
            <a:r>
              <a:rPr lang="zh-CN" altLang="en-US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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2.</a:t>
            </a:r>
          </a:p>
        </p:txBody>
      </p:sp>
      <p:sp>
        <p:nvSpPr>
          <p:cNvPr id="48" name="Rectangle 4">
            <a:extLst>
              <a:ext uri="{FF2B5EF4-FFF2-40B4-BE49-F238E27FC236}">
                <a16:creationId xmlns:a16="http://schemas.microsoft.com/office/drawing/2014/main" id="{562724EE-82B8-BDB7-9DA4-D1578B810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9673" y="3666579"/>
            <a:ext cx="3581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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49" name="Text Box 5">
            <a:extLst>
              <a:ext uri="{FF2B5EF4-FFF2-40B4-BE49-F238E27FC236}">
                <a16:creationId xmlns:a16="http://schemas.microsoft.com/office/drawing/2014/main" id="{1ADCBAF8-CE32-282E-B1E0-6989CF0E97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3542" y="3657762"/>
            <a:ext cx="305275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从而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2.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id="50" name="Text Box 8">
            <a:extLst>
              <a:ext uri="{FF2B5EF4-FFF2-40B4-BE49-F238E27FC236}">
                <a16:creationId xmlns:a16="http://schemas.microsoft.com/office/drawing/2014/main" id="{CBF6888C-01F2-80A4-0AF5-D15152040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090" y="1471096"/>
            <a:ext cx="196067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因为矩阵</a:t>
            </a:r>
          </a:p>
        </p:txBody>
      </p:sp>
      <p:sp>
        <p:nvSpPr>
          <p:cNvPr id="51" name="Rectangle 6">
            <a:extLst>
              <a:ext uri="{FF2B5EF4-FFF2-40B4-BE49-F238E27FC236}">
                <a16:creationId xmlns:a16="http://schemas.microsoft.com/office/drawing/2014/main" id="{71488C4C-CDE4-24B6-BA20-42AB3AC428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673" y="3653655"/>
            <a:ext cx="17980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又因为</a:t>
            </a:r>
          </a:p>
        </p:txBody>
      </p:sp>
      <p:sp>
        <p:nvSpPr>
          <p:cNvPr id="52" name="Rectangle 7">
            <a:extLst>
              <a:ext uri="{FF2B5EF4-FFF2-40B4-BE49-F238E27FC236}">
                <a16:creationId xmlns:a16="http://schemas.microsoft.com/office/drawing/2014/main" id="{27B13594-F369-CE69-005E-8D701512E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4" y="4476060"/>
            <a:ext cx="4043809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en-US" altLang="zh-CN" b="1" dirty="0">
                <a:solidFill>
                  <a:schemeClr val="tx1"/>
                </a:solidFill>
              </a:rPr>
              <a:t>).</a:t>
            </a:r>
          </a:p>
        </p:txBody>
      </p:sp>
      <p:graphicFrame>
        <p:nvGraphicFramePr>
          <p:cNvPr id="58" name="Object 33">
            <a:extLst>
              <a:ext uri="{FF2B5EF4-FFF2-40B4-BE49-F238E27FC236}">
                <a16:creationId xmlns:a16="http://schemas.microsoft.com/office/drawing/2014/main" id="{5AE7061D-DAC1-B85B-2B2E-140C8C2D9B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9327281"/>
              </p:ext>
            </p:extLst>
          </p:nvPr>
        </p:nvGraphicFramePr>
        <p:xfrm>
          <a:off x="7518624" y="1579219"/>
          <a:ext cx="447675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3040" imgH="177480" progId="Equation.DSMT4">
                  <p:embed/>
                </p:oleObj>
              </mc:Choice>
              <mc:Fallback>
                <p:oleObj name="Equation" r:id="rId4" imgW="203040" imgH="177480" progId="Equation.DSMT4">
                  <p:embed/>
                  <p:pic>
                    <p:nvPicPr>
                      <p:cNvPr id="25" name="Object 33">
                        <a:extLst>
                          <a:ext uri="{FF2B5EF4-FFF2-40B4-BE49-F238E27FC236}">
                            <a16:creationId xmlns:a16="http://schemas.microsoft.com/office/drawing/2014/main" id="{66FC6B53-1911-9CB2-9E1B-9DA156594E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8624" y="1579219"/>
                        <a:ext cx="447675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34">
            <a:extLst>
              <a:ext uri="{FF2B5EF4-FFF2-40B4-BE49-F238E27FC236}">
                <a16:creationId xmlns:a16="http://schemas.microsoft.com/office/drawing/2014/main" id="{7361BFE6-F49D-114E-6CD5-347A75C867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8921120"/>
              </p:ext>
            </p:extLst>
          </p:nvPr>
        </p:nvGraphicFramePr>
        <p:xfrm>
          <a:off x="8023523" y="1581540"/>
          <a:ext cx="644525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1973" imgH="190417" progId="Equation.DSMT4">
                  <p:embed/>
                </p:oleObj>
              </mc:Choice>
              <mc:Fallback>
                <p:oleObj name="Equation" r:id="rId6" imgW="291973" imgH="190417" progId="Equation.DSMT4">
                  <p:embed/>
                  <p:pic>
                    <p:nvPicPr>
                      <p:cNvPr id="26" name="Object 34">
                        <a:extLst>
                          <a:ext uri="{FF2B5EF4-FFF2-40B4-BE49-F238E27FC236}">
                            <a16:creationId xmlns:a16="http://schemas.microsoft.com/office/drawing/2014/main" id="{392EDFC5-D89C-0FF9-EDA7-65AADFE928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3523" y="1581540"/>
                        <a:ext cx="644525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Rectangle 6">
            <a:extLst>
              <a:ext uri="{FF2B5EF4-FFF2-40B4-BE49-F238E27FC236}">
                <a16:creationId xmlns:a16="http://schemas.microsoft.com/office/drawing/2014/main" id="{D956EF01-B501-9CD1-AE9C-0DC074262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0123" y="1471096"/>
            <a:ext cx="1079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且</a:t>
            </a:r>
          </a:p>
        </p:txBody>
      </p:sp>
      <p:graphicFrame>
        <p:nvGraphicFramePr>
          <p:cNvPr id="62" name="Object 32">
            <a:extLst>
              <a:ext uri="{FF2B5EF4-FFF2-40B4-BE49-F238E27FC236}">
                <a16:creationId xmlns:a16="http://schemas.microsoft.com/office/drawing/2014/main" id="{AD3ED4DF-F4A2-E13D-349B-64B3DF55CC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7046145"/>
              </p:ext>
            </p:extLst>
          </p:nvPr>
        </p:nvGraphicFramePr>
        <p:xfrm>
          <a:off x="6017995" y="1273930"/>
          <a:ext cx="1512887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85800" imgH="469800" progId="Equation.DSMT4">
                  <p:embed/>
                </p:oleObj>
              </mc:Choice>
              <mc:Fallback>
                <p:oleObj name="Equation" r:id="rId8" imgW="685800" imgH="469800" progId="Equation.DSMT4">
                  <p:embed/>
                  <p:pic>
                    <p:nvPicPr>
                      <p:cNvPr id="57" name="Object 32">
                        <a:extLst>
                          <a:ext uri="{FF2B5EF4-FFF2-40B4-BE49-F238E27FC236}">
                            <a16:creationId xmlns:a16="http://schemas.microsoft.com/office/drawing/2014/main" id="{4D6BB343-2C5D-B736-A435-6CAC49B2A9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7995" y="1273930"/>
                        <a:ext cx="1512887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Rectangle 6">
            <a:extLst>
              <a:ext uri="{FF2B5EF4-FFF2-40B4-BE49-F238E27FC236}">
                <a16:creationId xmlns:a16="http://schemas.microsoft.com/office/drawing/2014/main" id="{CB6415E7-503A-9197-A8AE-DF9392D52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908" y="4476060"/>
            <a:ext cx="23779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综上可得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3" name="Text Box 14">
            <a:extLst>
              <a:ext uri="{FF2B5EF4-FFF2-40B4-BE49-F238E27FC236}">
                <a16:creationId xmlns:a16="http://schemas.microsoft.com/office/drawing/2014/main" id="{E1BBD1C9-A29B-B25A-2E39-44020527F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673" y="5263202"/>
            <a:ext cx="506134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故向量组</a:t>
            </a:r>
            <a:r>
              <a:rPr lang="zh-CN" altLang="en-US" sz="1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与向量组</a:t>
            </a:r>
            <a:r>
              <a:rPr lang="zh-CN" altLang="en-US" sz="1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B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等价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.</a:t>
            </a:r>
          </a:p>
        </p:txBody>
      </p:sp>
      <p:sp>
        <p:nvSpPr>
          <p:cNvPr id="20" name="Rectangle 30">
            <a:extLst>
              <a:ext uri="{FF2B5EF4-FFF2-40B4-BE49-F238E27FC236}">
                <a16:creationId xmlns:a16="http://schemas.microsoft.com/office/drawing/2014/main" id="{99486D9A-1CBC-4462-ACA0-61C5E4F5F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0"/>
            <a:ext cx="8235342" cy="49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向量组的等价性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实例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999928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7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7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7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75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25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875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0"/>
                            </p:stCondLst>
                            <p:childTnLst>
                              <p:par>
                                <p:cTn id="59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build="p" autoUpdateAnimBg="0"/>
      <p:bldP spid="47" grpId="0" build="p" autoUpdateAnimBg="0" advAuto="0"/>
      <p:bldP spid="48" grpId="0" build="p" autoUpdateAnimBg="0"/>
      <p:bldP spid="49" grpId="0" build="p" autoUpdateAnimBg="0"/>
      <p:bldP spid="50" grpId="0" build="p" autoUpdateAnimBg="0"/>
      <p:bldP spid="51" grpId="0" build="p" autoUpdateAnimBg="0"/>
      <p:bldP spid="52" grpId="0" build="p" autoUpdateAnimBg="0"/>
      <p:bldP spid="61" grpId="0" build="p" autoUpdateAnimBg="0"/>
      <p:bldP spid="64" grpId="0" build="p" autoUpdateAnimBg="0"/>
      <p:bldP spid="53" grpId="0"/>
      <p:bldP spid="53" grpId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7">
            <a:extLst>
              <a:ext uri="{FF2B5EF4-FFF2-40B4-BE49-F238E27FC236}">
                <a16:creationId xmlns:a16="http://schemas.microsoft.com/office/drawing/2014/main" id="{B09CEFDD-BF32-0325-6762-D90BE85A2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613" y="966708"/>
            <a:ext cx="97909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注</a:t>
            </a:r>
          </a:p>
        </p:txBody>
      </p:sp>
      <p:sp>
        <p:nvSpPr>
          <p:cNvPr id="31" name="Text Box 3">
            <a:extLst>
              <a:ext uri="{FF2B5EF4-FFF2-40B4-BE49-F238E27FC236}">
                <a16:creationId xmlns:a16="http://schemas.microsoft.com/office/drawing/2014/main" id="{24F844DC-E9BF-31DF-B254-80624C6178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0031" y="1772816"/>
            <a:ext cx="259228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在例</a:t>
            </a:r>
            <a:r>
              <a:rPr lang="zh-CN" altLang="en-US" sz="10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 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3.7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中</a:t>
            </a:r>
            <a:r>
              <a:rPr lang="en-US" altLang="zh-CN" b="1" dirty="0">
                <a:solidFill>
                  <a:srgbClr val="0000FF"/>
                </a:solidFill>
                <a:ea typeface="华文中宋" pitchFamily="2" charset="-122"/>
                <a:cs typeface="Times New Roman" pitchFamily="18" charset="0"/>
              </a:rPr>
              <a:t>,</a:t>
            </a:r>
            <a:endParaRPr lang="zh-CN" altLang="en-US" b="1" dirty="0">
              <a:solidFill>
                <a:srgbClr val="0000FF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39940" name="文本框 39939">
            <a:extLst>
              <a:ext uri="{FF2B5EF4-FFF2-40B4-BE49-F238E27FC236}">
                <a16:creationId xmlns:a16="http://schemas.microsoft.com/office/drawing/2014/main" id="{4D1DD273-1CA8-304E-6AAE-0D573B3F4679}"/>
              </a:ext>
            </a:extLst>
          </p:cNvPr>
          <p:cNvSpPr txBox="1"/>
          <p:nvPr/>
        </p:nvSpPr>
        <p:spPr>
          <a:xfrm>
            <a:off x="4515838" y="2513799"/>
            <a:ext cx="42627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kern="100" dirty="0">
                <a:solidFill>
                  <a:srgbClr val="0000FF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将其化为行阶梯形矩阵</a:t>
            </a:r>
            <a:r>
              <a:rPr lang="en-US" altLang="zh-CN" sz="2800" b="1" kern="100" dirty="0">
                <a:solidFill>
                  <a:srgbClr val="0000FF"/>
                </a:solidFill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endParaRPr lang="zh-CN" altLang="en-US" sz="2800" b="1" kern="100" dirty="0">
              <a:solidFill>
                <a:srgbClr val="0000FF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9941" name="文本框 39940">
            <a:extLst>
              <a:ext uri="{FF2B5EF4-FFF2-40B4-BE49-F238E27FC236}">
                <a16:creationId xmlns:a16="http://schemas.microsoft.com/office/drawing/2014/main" id="{CF5A0819-9054-58CB-427F-82BF5C6CA8D7}"/>
              </a:ext>
            </a:extLst>
          </p:cNvPr>
          <p:cNvSpPr txBox="1"/>
          <p:nvPr/>
        </p:nvSpPr>
        <p:spPr>
          <a:xfrm>
            <a:off x="3131840" y="1773143"/>
            <a:ext cx="34456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kern="100" dirty="0">
                <a:solidFill>
                  <a:srgbClr val="0000FF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求矩阵</a:t>
            </a:r>
            <a:r>
              <a:rPr lang="zh-CN" altLang="en-US" sz="2000" b="1" kern="100" dirty="0">
                <a:solidFill>
                  <a:srgbClr val="0000FF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B</a:t>
            </a:r>
            <a:r>
              <a:rPr lang="en-US" altLang="zh-CN" sz="2000" b="1" i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zh-CN" altLang="en-US" sz="2800" b="1" kern="100" dirty="0">
                <a:solidFill>
                  <a:srgbClr val="0000FF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的秩时</a:t>
            </a:r>
            <a:r>
              <a:rPr lang="en-US" altLang="zh-CN" sz="2800" b="1" kern="100" dirty="0">
                <a:solidFill>
                  <a:srgbClr val="0000FF"/>
                </a:solidFill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sz="2800" b="1" kern="100" dirty="0">
              <a:solidFill>
                <a:srgbClr val="0000FF"/>
              </a:solidFill>
              <a:effectLst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9942" name="文本框 39941">
            <a:extLst>
              <a:ext uri="{FF2B5EF4-FFF2-40B4-BE49-F238E27FC236}">
                <a16:creationId xmlns:a16="http://schemas.microsoft.com/office/drawing/2014/main" id="{5E8EC650-C663-5E68-31E5-7FA3EF0E775D}"/>
              </a:ext>
            </a:extLst>
          </p:cNvPr>
          <p:cNvSpPr txBox="1"/>
          <p:nvPr/>
        </p:nvSpPr>
        <p:spPr>
          <a:xfrm>
            <a:off x="495516" y="3230747"/>
            <a:ext cx="40203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b="1" kern="1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从而</a:t>
            </a:r>
            <a:r>
              <a:rPr lang="zh-CN" altLang="en-US" sz="2800" b="1" kern="100" dirty="0">
                <a:solidFill>
                  <a:srgbClr val="0000FF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求出矩阵</a:t>
            </a:r>
            <a:r>
              <a:rPr lang="zh-CN" altLang="en-US" sz="2000" b="1" kern="100" dirty="0">
                <a:solidFill>
                  <a:srgbClr val="0000FF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B</a:t>
            </a:r>
            <a:r>
              <a:rPr lang="en-US" altLang="zh-CN" sz="2000" b="1" i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zh-CN" altLang="en-US" sz="2800" b="1" kern="100" dirty="0">
                <a:solidFill>
                  <a:srgbClr val="0000FF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的秩</a:t>
            </a:r>
            <a:r>
              <a:rPr lang="en-US" altLang="zh-CN" sz="2800" b="1" kern="100" dirty="0">
                <a:solidFill>
                  <a:srgbClr val="0000FF"/>
                </a:solidFill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sz="2800" b="1" kern="100" dirty="0">
              <a:solidFill>
                <a:srgbClr val="0000FF"/>
              </a:solidFill>
              <a:effectLst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9943" name="文本框 39942">
            <a:extLst>
              <a:ext uri="{FF2B5EF4-FFF2-40B4-BE49-F238E27FC236}">
                <a16:creationId xmlns:a16="http://schemas.microsoft.com/office/drawing/2014/main" id="{25E7C3F4-50A3-31E6-70BC-1F7BC5B4A65B}"/>
              </a:ext>
            </a:extLst>
          </p:cNvPr>
          <p:cNvSpPr txBox="1"/>
          <p:nvPr/>
        </p:nvSpPr>
        <p:spPr>
          <a:xfrm>
            <a:off x="495516" y="2513799"/>
            <a:ext cx="44644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kern="100" dirty="0">
                <a:solidFill>
                  <a:srgbClr val="0000FF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矩阵</a:t>
            </a:r>
            <a:r>
              <a:rPr lang="zh-CN" altLang="en-US" sz="2000" b="1" kern="100" dirty="0">
                <a:solidFill>
                  <a:srgbClr val="0000FF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B</a:t>
            </a:r>
            <a:r>
              <a:rPr lang="en-US" altLang="zh-CN" sz="2000" b="1" i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zh-CN" altLang="en-US" sz="2800" b="1" kern="100" dirty="0">
                <a:solidFill>
                  <a:srgbClr val="0000FF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施行初等行变换</a:t>
            </a:r>
            <a:r>
              <a:rPr lang="en-US" altLang="zh-CN" sz="2800" b="1" kern="100" dirty="0">
                <a:solidFill>
                  <a:srgbClr val="0000FF"/>
                </a:solidFill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sz="2800" b="1" kern="100" dirty="0">
              <a:solidFill>
                <a:srgbClr val="0000FF"/>
              </a:solidFill>
              <a:effectLst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9938" name="文本框 39937">
            <a:extLst>
              <a:ext uri="{FF2B5EF4-FFF2-40B4-BE49-F238E27FC236}">
                <a16:creationId xmlns:a16="http://schemas.microsoft.com/office/drawing/2014/main" id="{A71388F0-9297-5940-7A57-D286FC62F154}"/>
              </a:ext>
            </a:extLst>
          </p:cNvPr>
          <p:cNvSpPr txBox="1"/>
          <p:nvPr/>
        </p:nvSpPr>
        <p:spPr>
          <a:xfrm>
            <a:off x="6012160" y="1773143"/>
            <a:ext cx="27664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b="1" kern="1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还可以</a:t>
            </a:r>
            <a:r>
              <a:rPr lang="zh-CN" altLang="en-US" sz="2800" b="1" kern="100" dirty="0">
                <a:solidFill>
                  <a:srgbClr val="0000FF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直接对</a:t>
            </a:r>
            <a:endParaRPr lang="zh-CN" altLang="en-US" sz="2800" b="1" kern="100" dirty="0">
              <a:solidFill>
                <a:srgbClr val="0000FF"/>
              </a:solidFill>
              <a:effectLst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30">
            <a:extLst>
              <a:ext uri="{FF2B5EF4-FFF2-40B4-BE49-F238E27FC236}">
                <a16:creationId xmlns:a16="http://schemas.microsoft.com/office/drawing/2014/main" id="{D38498D8-A48C-44EA-BDE8-8E8CDD29E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0"/>
            <a:ext cx="8235342" cy="49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向量组的等价性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实例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75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75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75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1" grpId="0"/>
      <p:bldP spid="39940" grpId="0"/>
      <p:bldP spid="39941" grpId="0"/>
      <p:bldP spid="39942" grpId="0"/>
      <p:bldP spid="39943" grpId="0"/>
      <p:bldP spid="3993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CCD1E730-CD03-15D5-DFCB-09702D8ADDDE}"/>
              </a:ext>
            </a:extLst>
          </p:cNvPr>
          <p:cNvSpPr txBox="1"/>
          <p:nvPr/>
        </p:nvSpPr>
        <p:spPr>
          <a:xfrm>
            <a:off x="1833739" y="1027524"/>
            <a:ext cx="25471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b="1" kern="100" dirty="0">
                <a:latin typeface="华文中宋" panose="02010600040101010101" pitchFamily="2" charset="-122"/>
                <a:ea typeface="华文中宋" panose="02010600040101010101" pitchFamily="2" charset="-122"/>
              </a:rPr>
              <a:t>判断</a:t>
            </a: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向量组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F60CA73-40E3-3395-96AF-381AB6838B8F}"/>
              </a:ext>
            </a:extLst>
          </p:cNvPr>
          <p:cNvSpPr txBox="1"/>
          <p:nvPr/>
        </p:nvSpPr>
        <p:spPr>
          <a:xfrm>
            <a:off x="6902136" y="1027524"/>
            <a:ext cx="21443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和向量组</a:t>
            </a:r>
          </a:p>
        </p:txBody>
      </p:sp>
      <p:sp>
        <p:nvSpPr>
          <p:cNvPr id="2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988DCDD1-7AC3-4420-815B-D5979A7BB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BC6FDF1F-7D34-6F4D-E692-F7CD001294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026869"/>
            <a:ext cx="135125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例</a:t>
            </a:r>
            <a:r>
              <a:rPr lang="zh-CN" altLang="en-US" sz="10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3.8</a:t>
            </a:r>
            <a:endParaRPr lang="zh-CN" altLang="en-US" b="1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graphicFrame>
        <p:nvGraphicFramePr>
          <p:cNvPr id="11" name="Object 18">
            <a:extLst>
              <a:ext uri="{FF2B5EF4-FFF2-40B4-BE49-F238E27FC236}">
                <a16:creationId xmlns:a16="http://schemas.microsoft.com/office/drawing/2014/main" id="{990EBF52-8CC3-CB63-B8D9-D02B299FFE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4870771"/>
              </p:ext>
            </p:extLst>
          </p:nvPr>
        </p:nvGraphicFramePr>
        <p:xfrm>
          <a:off x="3822693" y="666506"/>
          <a:ext cx="30226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22560" imgH="1244520" progId="Equation.DSMT4">
                  <p:embed/>
                </p:oleObj>
              </mc:Choice>
              <mc:Fallback>
                <p:oleObj name="Equation" r:id="rId3" imgW="3022560" imgH="1244520" progId="Equation.DSMT4">
                  <p:embed/>
                  <p:pic>
                    <p:nvPicPr>
                      <p:cNvPr id="11" name="Object 18">
                        <a:extLst>
                          <a:ext uri="{FF2B5EF4-FFF2-40B4-BE49-F238E27FC236}">
                            <a16:creationId xmlns:a16="http://schemas.microsoft.com/office/drawing/2014/main" id="{990EBF52-8CC3-CB63-B8D9-D02B299FFE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2693" y="666506"/>
                        <a:ext cx="30226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8">
            <a:extLst>
              <a:ext uri="{FF2B5EF4-FFF2-40B4-BE49-F238E27FC236}">
                <a16:creationId xmlns:a16="http://schemas.microsoft.com/office/drawing/2014/main" id="{5814EE22-B221-4857-5591-29E9231440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7516319"/>
              </p:ext>
            </p:extLst>
          </p:nvPr>
        </p:nvGraphicFramePr>
        <p:xfrm>
          <a:off x="523882" y="2147574"/>
          <a:ext cx="30607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060360" imgH="1244520" progId="Equation.DSMT4">
                  <p:embed/>
                </p:oleObj>
              </mc:Choice>
              <mc:Fallback>
                <p:oleObj name="Equation" r:id="rId5" imgW="3060360" imgH="1244520" progId="Equation.DSMT4">
                  <p:embed/>
                  <p:pic>
                    <p:nvPicPr>
                      <p:cNvPr id="13" name="Object 18">
                        <a:extLst>
                          <a:ext uri="{FF2B5EF4-FFF2-40B4-BE49-F238E27FC236}">
                            <a16:creationId xmlns:a16="http://schemas.microsoft.com/office/drawing/2014/main" id="{5814EE22-B221-4857-5591-29E9231440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882" y="2147574"/>
                        <a:ext cx="30607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3359A306-8413-6C5B-F364-70EEE2D76DD3}"/>
              </a:ext>
            </a:extLst>
          </p:cNvPr>
          <p:cNvSpPr txBox="1"/>
          <p:nvPr/>
        </p:nvSpPr>
        <p:spPr>
          <a:xfrm>
            <a:off x="3656316" y="2508264"/>
            <a:ext cx="22341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kern="100" dirty="0">
                <a:solidFill>
                  <a:srgbClr val="00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是否</a:t>
            </a: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等价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sz="2800" b="1" kern="100" dirty="0">
              <a:effectLst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8A7277FA-1072-4C67-50ED-AC8947B13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3621835"/>
            <a:ext cx="957539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</a:p>
        </p:txBody>
      </p:sp>
      <p:sp>
        <p:nvSpPr>
          <p:cNvPr id="18" name="Text Box 8">
            <a:extLst>
              <a:ext uri="{FF2B5EF4-FFF2-40B4-BE49-F238E27FC236}">
                <a16:creationId xmlns:a16="http://schemas.microsoft.com/office/drawing/2014/main" id="{64EFBA8D-4F9D-4826-6A0E-28FCAD619E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9717" y="3622490"/>
            <a:ext cx="451076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记</a:t>
            </a:r>
            <a:r>
              <a:rPr lang="zh-CN" altLang="en-US" sz="24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(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),</a:t>
            </a:r>
          </a:p>
        </p:txBody>
      </p:sp>
      <p:graphicFrame>
        <p:nvGraphicFramePr>
          <p:cNvPr id="22" name="Object 9">
            <a:extLst>
              <a:ext uri="{FF2B5EF4-FFF2-40B4-BE49-F238E27FC236}">
                <a16:creationId xmlns:a16="http://schemas.microsoft.com/office/drawing/2014/main" id="{95FB946E-C287-4FA9-4F67-D607475182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3521043"/>
              </p:ext>
            </p:extLst>
          </p:nvPr>
        </p:nvGraphicFramePr>
        <p:xfrm>
          <a:off x="2937186" y="4383731"/>
          <a:ext cx="1789112" cy="153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12520" imgH="698400" progId="Equation.DSMT4">
                  <p:embed/>
                </p:oleObj>
              </mc:Choice>
              <mc:Fallback>
                <p:oleObj name="Equation" r:id="rId7" imgW="812520" imgH="698400" progId="Equation.DSMT4">
                  <p:embed/>
                  <p:pic>
                    <p:nvPicPr>
                      <p:cNvPr id="22" name="Object 9">
                        <a:extLst>
                          <a:ext uri="{FF2B5EF4-FFF2-40B4-BE49-F238E27FC236}">
                            <a16:creationId xmlns:a16="http://schemas.microsoft.com/office/drawing/2014/main" id="{95FB946E-C287-4FA9-4F67-D607475182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7186" y="4383731"/>
                        <a:ext cx="1789112" cy="153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10">
            <a:extLst>
              <a:ext uri="{FF2B5EF4-FFF2-40B4-BE49-F238E27FC236}">
                <a16:creationId xmlns:a16="http://schemas.microsoft.com/office/drawing/2014/main" id="{98F2C3A4-413A-4AEC-8B8B-CEC50CEA41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0484" y="3621835"/>
            <a:ext cx="745816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则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graphicFrame>
        <p:nvGraphicFramePr>
          <p:cNvPr id="25" name="Object 9">
            <a:extLst>
              <a:ext uri="{FF2B5EF4-FFF2-40B4-BE49-F238E27FC236}">
                <a16:creationId xmlns:a16="http://schemas.microsoft.com/office/drawing/2014/main" id="{4D6D36E3-02C0-FEBE-F197-9B15B99B16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841451"/>
              </p:ext>
            </p:extLst>
          </p:nvPr>
        </p:nvGraphicFramePr>
        <p:xfrm>
          <a:off x="959602" y="4383731"/>
          <a:ext cx="1790700" cy="153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12520" imgH="698400" progId="Equation.DSMT4">
                  <p:embed/>
                </p:oleObj>
              </mc:Choice>
              <mc:Fallback>
                <p:oleObj name="Equation" r:id="rId9" imgW="812520" imgH="698400" progId="Equation.DSMT4">
                  <p:embed/>
                  <p:pic>
                    <p:nvPicPr>
                      <p:cNvPr id="25" name="Object 9">
                        <a:extLst>
                          <a:ext uri="{FF2B5EF4-FFF2-40B4-BE49-F238E27FC236}">
                            <a16:creationId xmlns:a16="http://schemas.microsoft.com/office/drawing/2014/main" id="{4D6D36E3-02C0-FEBE-F197-9B15B99B16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9602" y="4383731"/>
                        <a:ext cx="1790700" cy="1531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9">
            <a:extLst>
              <a:ext uri="{FF2B5EF4-FFF2-40B4-BE49-F238E27FC236}">
                <a16:creationId xmlns:a16="http://schemas.microsoft.com/office/drawing/2014/main" id="{BBA84E6F-BC42-4FF9-3574-2739EEFDB0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9855313"/>
              </p:ext>
            </p:extLst>
          </p:nvPr>
        </p:nvGraphicFramePr>
        <p:xfrm>
          <a:off x="4913183" y="4390501"/>
          <a:ext cx="3359150" cy="153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23880" imgH="698400" progId="Equation.DSMT4">
                  <p:embed/>
                </p:oleObj>
              </mc:Choice>
              <mc:Fallback>
                <p:oleObj name="Equation" r:id="rId11" imgW="1523880" imgH="698400" progId="Equation.DSMT4">
                  <p:embed/>
                  <p:pic>
                    <p:nvPicPr>
                      <p:cNvPr id="26" name="Object 9">
                        <a:extLst>
                          <a:ext uri="{FF2B5EF4-FFF2-40B4-BE49-F238E27FC236}">
                            <a16:creationId xmlns:a16="http://schemas.microsoft.com/office/drawing/2014/main" id="{BBA84E6F-BC42-4FF9-3574-2739EEFDB0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3183" y="4390501"/>
                        <a:ext cx="3359150" cy="153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30">
            <a:extLst>
              <a:ext uri="{FF2B5EF4-FFF2-40B4-BE49-F238E27FC236}">
                <a16:creationId xmlns:a16="http://schemas.microsoft.com/office/drawing/2014/main" id="{E0ACFF22-33F8-42C2-8948-C6F22EED6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0"/>
            <a:ext cx="8235342" cy="49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向量组的等价性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实例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146752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7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2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7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75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75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25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  <p:bldP spid="8" grpId="0"/>
      <p:bldP spid="20" grpId="0"/>
      <p:bldP spid="9" grpId="0"/>
      <p:bldP spid="18" grpId="0" build="p" autoUpdateAnimBg="0"/>
      <p:bldP spid="24" grpId="0" build="p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9">
            <a:extLst>
              <a:ext uri="{FF2B5EF4-FFF2-40B4-BE49-F238E27FC236}">
                <a16:creationId xmlns:a16="http://schemas.microsoft.com/office/drawing/2014/main" id="{8E60ED23-4291-7028-DD71-078DA65EAE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886" y="1883389"/>
            <a:ext cx="3375781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由定理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3.8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可知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3" name="Text Box 15">
            <a:extLst>
              <a:ext uri="{FF2B5EF4-FFF2-40B4-BE49-F238E27FC236}">
                <a16:creationId xmlns:a16="http://schemas.microsoft.com/office/drawing/2014/main" id="{B0662F11-F45B-29D6-A941-F0C6B104F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885" y="1042073"/>
            <a:ext cx="14398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显然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35" name="Text Box 15">
            <a:extLst>
              <a:ext uri="{FF2B5EF4-FFF2-40B4-BE49-F238E27FC236}">
                <a16:creationId xmlns:a16="http://schemas.microsoft.com/office/drawing/2014/main" id="{4A23B183-EF3E-4E61-8116-A428BC575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2721" y="1043385"/>
            <a:ext cx="29019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2,</a:t>
            </a:r>
          </a:p>
        </p:txBody>
      </p:sp>
      <p:sp>
        <p:nvSpPr>
          <p:cNvPr id="32" name="Text Box 27">
            <a:extLst>
              <a:ext uri="{FF2B5EF4-FFF2-40B4-BE49-F238E27FC236}">
                <a16:creationId xmlns:a16="http://schemas.microsoft.com/office/drawing/2014/main" id="{DACCF9BB-7B31-2D14-358B-8905B35C8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048804"/>
            <a:ext cx="223224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3.</a:t>
            </a:r>
          </a:p>
        </p:txBody>
      </p:sp>
      <p:sp>
        <p:nvSpPr>
          <p:cNvPr id="37" name="Text Box 14">
            <a:extLst>
              <a:ext uri="{FF2B5EF4-FFF2-40B4-BE49-F238E27FC236}">
                <a16:creationId xmlns:a16="http://schemas.microsoft.com/office/drawing/2014/main" id="{A481A9A6-2747-ACDF-CE37-93D6DB3DAE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7921" y="1888101"/>
            <a:ext cx="521222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向量组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与向量组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B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不等价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.</a:t>
            </a:r>
          </a:p>
        </p:txBody>
      </p:sp>
      <p:sp>
        <p:nvSpPr>
          <p:cNvPr id="59" name="Text Box 7">
            <a:extLst>
              <a:ext uri="{FF2B5EF4-FFF2-40B4-BE49-F238E27FC236}">
                <a16:creationId xmlns:a16="http://schemas.microsoft.com/office/drawing/2014/main" id="{C88510B8-FF43-63FE-3C18-5C0D75304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240" y="2890706"/>
            <a:ext cx="97909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注</a:t>
            </a:r>
          </a:p>
        </p:txBody>
      </p:sp>
      <p:sp>
        <p:nvSpPr>
          <p:cNvPr id="60" name="Text Box 3">
            <a:extLst>
              <a:ext uri="{FF2B5EF4-FFF2-40B4-BE49-F238E27FC236}">
                <a16:creationId xmlns:a16="http://schemas.microsoft.com/office/drawing/2014/main" id="{068448F0-4CBA-82DD-A21C-C1BD651F1F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3211" y="3738281"/>
            <a:ext cx="231471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例</a:t>
            </a:r>
            <a:r>
              <a:rPr lang="zh-CN" altLang="en-US" sz="20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3.8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说明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endParaRPr lang="zh-CN" altLang="en-US" b="1" dirty="0">
              <a:solidFill>
                <a:srgbClr val="0000FF"/>
              </a:solidFill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DDDD2A10-003A-8EA9-068F-1AAB8795093D}"/>
              </a:ext>
            </a:extLst>
          </p:cNvPr>
          <p:cNvSpPr txBox="1"/>
          <p:nvPr/>
        </p:nvSpPr>
        <p:spPr>
          <a:xfrm>
            <a:off x="3494314" y="3738608"/>
            <a:ext cx="46262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kern="100" dirty="0">
                <a:solidFill>
                  <a:srgbClr val="0000FF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秩相等的向量组未必等价</a:t>
            </a:r>
            <a:r>
              <a:rPr lang="en-US" altLang="zh-CN" sz="2800" b="1" kern="100" dirty="0">
                <a:solidFill>
                  <a:srgbClr val="0000FF"/>
                </a:solidFill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sz="2800" b="1" kern="100" dirty="0">
              <a:solidFill>
                <a:srgbClr val="0000FF"/>
              </a:solidFill>
              <a:effectLst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30">
            <a:extLst>
              <a:ext uri="{FF2B5EF4-FFF2-40B4-BE49-F238E27FC236}">
                <a16:creationId xmlns:a16="http://schemas.microsoft.com/office/drawing/2014/main" id="{FED55EFA-AD5F-4924-866F-791290477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0"/>
            <a:ext cx="8235342" cy="49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向量组的等价性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实例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541662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750"/>
                            </p:stCondLst>
                            <p:childTnLst>
                              <p:par>
                                <p:cTn id="13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7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utoUpdateAnimBg="0"/>
      <p:bldP spid="33" grpId="0" build="p" autoUpdateAnimBg="0"/>
      <p:bldP spid="35" grpId="0" build="p" autoUpdateAnimBg="0"/>
      <p:bldP spid="35" grpId="1"/>
      <p:bldP spid="32" grpId="0" build="p" autoUpdateAnimBg="0"/>
      <p:bldP spid="32" grpId="1"/>
      <p:bldP spid="37" grpId="0"/>
      <p:bldP spid="37" grpId="1"/>
      <p:bldP spid="59" grpId="0"/>
      <p:bldP spid="60" grpId="0"/>
      <p:bldP spid="6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9BF13833-45B6-4AAA-B73B-C5518CFEB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268760"/>
            <a:ext cx="78489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向量及向量组的定义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线性组合与线性表示的</a:t>
            </a:r>
            <a:endParaRPr kumimoji="1" lang="zh-CN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4035" name="Line 12">
            <a:extLst>
              <a:ext uri="{FF2B5EF4-FFF2-40B4-BE49-F238E27FC236}">
                <a16:creationId xmlns:a16="http://schemas.microsoft.com/office/drawing/2014/main" id="{80982FA9-26BC-4A95-9851-2F2FC5A77790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836613"/>
            <a:ext cx="9144000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037" name="Text Box 2">
            <a:extLst>
              <a:ext uri="{FF2B5EF4-FFF2-40B4-BE49-F238E27FC236}">
                <a16:creationId xmlns:a16="http://schemas.microsoft.com/office/drawing/2014/main" id="{EA77B2B6-8A95-4258-8CFE-AE1C4CC44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021" y="78796"/>
            <a:ext cx="5407025" cy="63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向量组及其线性组合小结</a:t>
            </a:r>
          </a:p>
        </p:txBody>
      </p:sp>
      <p:sp>
        <p:nvSpPr>
          <p:cNvPr id="2" name="爆炸形: 8 pt  1">
            <a:extLst>
              <a:ext uri="{FF2B5EF4-FFF2-40B4-BE49-F238E27FC236}">
                <a16:creationId xmlns:a16="http://schemas.microsoft.com/office/drawing/2014/main" id="{53382267-904B-4FCD-A0F5-4D7098E0F9EF}"/>
              </a:ext>
            </a:extLst>
          </p:cNvPr>
          <p:cNvSpPr/>
          <p:nvPr/>
        </p:nvSpPr>
        <p:spPr bwMode="auto">
          <a:xfrm>
            <a:off x="687535" y="1387808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0185E265-DE75-4DB9-8ED5-2F0295195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921" y="2428494"/>
            <a:ext cx="813807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如何判别一个向量组能否被另一个向量组线性</a:t>
            </a:r>
          </a:p>
        </p:txBody>
      </p:sp>
      <p:sp>
        <p:nvSpPr>
          <p:cNvPr id="28" name="爆炸形: 8 pt  27">
            <a:extLst>
              <a:ext uri="{FF2B5EF4-FFF2-40B4-BE49-F238E27FC236}">
                <a16:creationId xmlns:a16="http://schemas.microsoft.com/office/drawing/2014/main" id="{248C877F-9883-4098-8C1C-B2D41EE58B18}"/>
              </a:ext>
            </a:extLst>
          </p:cNvPr>
          <p:cNvSpPr/>
          <p:nvPr/>
        </p:nvSpPr>
        <p:spPr bwMode="auto">
          <a:xfrm>
            <a:off x="684641" y="2539003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Rectangle 1">
            <a:extLst>
              <a:ext uri="{FF2B5EF4-FFF2-40B4-BE49-F238E27FC236}">
                <a16:creationId xmlns:a16="http://schemas.microsoft.com/office/drawing/2014/main" id="{D45D5E3B-7792-41DB-B7B3-A7C01A97E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1" y="3555456"/>
            <a:ext cx="744785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线性方程组与向量组有何内在的联系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" name="爆炸形: 8 pt  33">
            <a:extLst>
              <a:ext uri="{FF2B5EF4-FFF2-40B4-BE49-F238E27FC236}">
                <a16:creationId xmlns:a16="http://schemas.microsoft.com/office/drawing/2014/main" id="{B23A7B6D-0423-4C9B-B3FA-23D5B0DAEF34}"/>
              </a:ext>
            </a:extLst>
          </p:cNvPr>
          <p:cNvSpPr/>
          <p:nvPr/>
        </p:nvSpPr>
        <p:spPr bwMode="auto">
          <a:xfrm>
            <a:off x="670630" y="3650869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7FAD9148-9271-4382-ACAF-806CF34C9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77" y="4140257"/>
            <a:ext cx="80458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如何利用向量组等价的定义和判别法解决具体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爆炸形: 8 pt  25">
            <a:extLst>
              <a:ext uri="{FF2B5EF4-FFF2-40B4-BE49-F238E27FC236}">
                <a16:creationId xmlns:a16="http://schemas.microsoft.com/office/drawing/2014/main" id="{082BB6DD-8C1D-41CE-AA78-9834A7F65212}"/>
              </a:ext>
            </a:extLst>
          </p:cNvPr>
          <p:cNvSpPr/>
          <p:nvPr/>
        </p:nvSpPr>
        <p:spPr bwMode="auto">
          <a:xfrm>
            <a:off x="673207" y="4256656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910E4721-4835-429B-A2A3-E5E18CA7B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5250459"/>
            <a:ext cx="81369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拓展问题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研究矩阵和向量组的内在联系有何重要的意义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爆炸形: 8 pt  29">
            <a:extLst>
              <a:ext uri="{FF2B5EF4-FFF2-40B4-BE49-F238E27FC236}">
                <a16:creationId xmlns:a16="http://schemas.microsoft.com/office/drawing/2014/main" id="{FBB8E06C-C25A-473E-91F8-3070EDFE2E38}"/>
              </a:ext>
            </a:extLst>
          </p:cNvPr>
          <p:cNvSpPr/>
          <p:nvPr/>
        </p:nvSpPr>
        <p:spPr bwMode="auto">
          <a:xfrm>
            <a:off x="684079" y="5353258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4059" name="Picture 11">
            <a:extLst>
              <a:ext uri="{FF2B5EF4-FFF2-40B4-BE49-F238E27FC236}">
                <a16:creationId xmlns:a16="http://schemas.microsoft.com/office/drawing/2014/main" id="{F6B0C0DB-4097-40EC-AC71-84AE9EC490A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2863" y="-9525"/>
            <a:ext cx="1014413" cy="83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1">
            <a:extLst>
              <a:ext uri="{FF2B5EF4-FFF2-40B4-BE49-F238E27FC236}">
                <a16:creationId xmlns:a16="http://schemas.microsoft.com/office/drawing/2014/main" id="{CD994356-B386-4856-8731-892828B0A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3534" y="2983743"/>
            <a:ext cx="572886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表示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 </a:t>
            </a:r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如何判别两个向量组是否等价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7628AA9-194A-BC50-7ADC-C31F86A8A4FB}"/>
              </a:ext>
            </a:extLst>
          </p:cNvPr>
          <p:cNvSpPr txBox="1"/>
          <p:nvPr/>
        </p:nvSpPr>
        <p:spPr>
          <a:xfrm>
            <a:off x="2443534" y="1848982"/>
            <a:ext cx="24404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定义是什么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41438E3-8CAA-7260-77A0-66371CC3E790}"/>
              </a:ext>
            </a:extLst>
          </p:cNvPr>
          <p:cNvSpPr txBox="1"/>
          <p:nvPr/>
        </p:nvSpPr>
        <p:spPr>
          <a:xfrm>
            <a:off x="2443535" y="4725058"/>
            <a:ext cx="13363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问题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9578603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2" grpId="0"/>
      <p:bldP spid="29" grpId="0"/>
      <p:bldP spid="24" grpId="0"/>
      <p:bldP spid="27" grpId="0"/>
      <p:bldP spid="18" grpId="0"/>
      <p:bldP spid="4" grpId="0"/>
      <p:bldP spid="7" grpId="0"/>
    </p:bldLst>
  </p:timing>
</p:sld>
</file>

<file path=ppt/theme/theme1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FFFFF"/>
      </a:accent3>
      <a:accent4>
        <a:srgbClr val="000000"/>
      </a:accent4>
      <a:accent5>
        <a:srgbClr val="C0E5AF"/>
      </a:accent5>
      <a:accent6>
        <a:srgbClr val="D4126E"/>
      </a:accent6>
      <a:hlink>
        <a:srgbClr val="EB8803"/>
      </a:hlink>
      <a:folHlink>
        <a:srgbClr val="5F7791"/>
      </a:folHlink>
    </a:clrScheme>
    <a:fontScheme name="默认设计模板">
      <a:majorFont>
        <a:latin typeface="Times New Roman"/>
        <a:ea typeface="黑体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默认设计模板">
  <a:themeElements>
    <a:clrScheme name="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FFFFF"/>
      </a:accent3>
      <a:accent4>
        <a:srgbClr val="000000"/>
      </a:accent4>
      <a:accent5>
        <a:srgbClr val="C0E5AF"/>
      </a:accent5>
      <a:accent6>
        <a:srgbClr val="D4126E"/>
      </a:accent6>
      <a:hlink>
        <a:srgbClr val="EB8803"/>
      </a:hlink>
      <a:folHlink>
        <a:srgbClr val="5F7791"/>
      </a:folHlink>
    </a:clrScheme>
    <a:fontScheme name="默认设计模板">
      <a:majorFont>
        <a:latin typeface="Times New Roman"/>
        <a:ea typeface="黑体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习题课模板">
  <a:themeElements>
    <a:clrScheme name="2_习题课模板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2_习题课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习题课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习题课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20128</TotalTime>
  <Words>3667</Words>
  <Application>Microsoft Office PowerPoint</Application>
  <PresentationFormat>全屏显示(4:3)</PresentationFormat>
  <Paragraphs>389</Paragraphs>
  <Slides>49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62" baseType="lpstr">
      <vt:lpstr>黑体</vt:lpstr>
      <vt:lpstr>华文中宋</vt:lpstr>
      <vt:lpstr>宋体</vt:lpstr>
      <vt:lpstr>Arial</vt:lpstr>
      <vt:lpstr>Arial Black</vt:lpstr>
      <vt:lpstr>Calibri</vt:lpstr>
      <vt:lpstr>Times New Roman</vt:lpstr>
      <vt:lpstr>Wingdings</vt:lpstr>
      <vt:lpstr>1_默认设计模板</vt:lpstr>
      <vt:lpstr>2_默认设计模板</vt:lpstr>
      <vt:lpstr>2_习题课模板</vt:lpstr>
      <vt:lpstr>2_Pixel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chen lilian</dc:creator>
  <cp:lastModifiedBy>rong jiang</cp:lastModifiedBy>
  <cp:revision>1109</cp:revision>
  <dcterms:created xsi:type="dcterms:W3CDTF">2012-06-17T01:12:18Z</dcterms:created>
  <dcterms:modified xsi:type="dcterms:W3CDTF">2023-08-25T05:58:27Z</dcterms:modified>
</cp:coreProperties>
</file>