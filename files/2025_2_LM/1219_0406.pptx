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66" r:id="rId1"/>
    <p:sldMasterId id="2147485255" r:id="rId2"/>
    <p:sldMasterId id="2147485458" r:id="rId3"/>
    <p:sldMasterId id="2147487332" r:id="rId4"/>
  </p:sldMasterIdLst>
  <p:notesMasterIdLst>
    <p:notesMasterId r:id="rId26"/>
  </p:notesMasterIdLst>
  <p:handoutMasterIdLst>
    <p:handoutMasterId r:id="rId27"/>
  </p:handoutMasterIdLst>
  <p:sldIdLst>
    <p:sldId id="1407" r:id="rId5"/>
    <p:sldId id="1129" r:id="rId6"/>
    <p:sldId id="1408" r:id="rId7"/>
    <p:sldId id="1358" r:id="rId8"/>
    <p:sldId id="1409" r:id="rId9"/>
    <p:sldId id="1410" r:id="rId10"/>
    <p:sldId id="1411" r:id="rId11"/>
    <p:sldId id="1412" r:id="rId12"/>
    <p:sldId id="1394" r:id="rId13"/>
    <p:sldId id="1395" r:id="rId14"/>
    <p:sldId id="1398" r:id="rId15"/>
    <p:sldId id="1413" r:id="rId16"/>
    <p:sldId id="1396" r:id="rId17"/>
    <p:sldId id="1382" r:id="rId18"/>
    <p:sldId id="1405" r:id="rId19"/>
    <p:sldId id="1399" r:id="rId20"/>
    <p:sldId id="1406" r:id="rId21"/>
    <p:sldId id="1401" r:id="rId22"/>
    <p:sldId id="1402" r:id="rId23"/>
    <p:sldId id="1414" r:id="rId24"/>
    <p:sldId id="1232" r:id="rId2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3333FF"/>
    <a:srgbClr val="6666FF"/>
    <a:srgbClr val="969696"/>
    <a:srgbClr val="2B2BFF"/>
    <a:srgbClr val="FFFFFF"/>
    <a:srgbClr val="C7E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24" autoAdjust="0"/>
    <p:restoredTop sz="93807" autoAdjust="0"/>
  </p:normalViewPr>
  <p:slideViewPr>
    <p:cSldViewPr>
      <p:cViewPr varScale="1">
        <p:scale>
          <a:sx n="109" d="100"/>
          <a:sy n="109" d="100"/>
        </p:scale>
        <p:origin x="192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notesViewPr>
    <p:cSldViewPr>
      <p:cViewPr varScale="1">
        <p:scale>
          <a:sx n="56" d="100"/>
          <a:sy n="56" d="100"/>
        </p:scale>
        <p:origin x="285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7EA380C-BE2C-4282-97A2-63FF308284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D8108A-6D14-45B9-AD48-86AFA29CEE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329B3-F25B-48AB-B184-ECF14D006430}" type="datetimeFigureOut">
              <a:rPr lang="zh-CN" altLang="en-US" smtClean="0"/>
              <a:t>2023/8/26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4173B7-E60B-473E-80B6-27B9FC1A9E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7442B8-CFD7-4D5A-A40F-5330847ED2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3A003-A97D-492E-97B5-C17D5102C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236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8D1E8CF-2E05-42CF-946C-A234E5F000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632EF-962B-4C32-944C-9D48ADC75C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pPr>
                <a:defRPr/>
              </a:pPr>
              <a:t>2023/8/26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05BBDC4-6710-4A89-977B-5A8CCDD9C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7B5BEF2-2FAA-4DA0-A019-CDD72CD60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9C5AE9-932A-4B24-8907-3288CEB58A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55E83-8E18-466C-948D-A1D8AB4AD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4FFA27-5CA2-4DFB-8D06-B9C664BB4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F04B9-6AB1-409F-90C3-976FF0BAF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05FE01-3CC2-481E-842A-EC3BCF9364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854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C83651-720B-4544-B1BD-C9AE72396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CEA02A-0E2E-41CB-9FBA-094B1830C8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CBE20F-77C4-4DBD-B25D-3C6A4FEDB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0984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834230-2B39-4DDE-A231-57D9210317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7AA53C-2A84-42AC-8ABE-E3BCD725D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69738-E7EF-4239-9214-1338BEA229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835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CA1BC0-DA59-4AE7-996B-37C7C52327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721AC6-AA19-4ACC-9723-B9CDDDC20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AA4EE-D3DA-43A0-BE88-D590F25B5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271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6C333DE-221B-451E-B3BA-71E82BEAC0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0BFB29-C645-4459-9FE3-FBD984899A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C3FE80-E225-4E0E-A4D4-9ED9C5527B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0150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C59EC-2D83-4644-9FF6-91C5F0ABE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83F13-0C98-4BF3-8523-314ACE8E1F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F39952-6881-490F-B284-BB0102813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0904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C9107-412D-42F2-A220-A25A218FDA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C7EFD-A8E4-4F78-90B4-0E1A3F97F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CF8D3B-A421-4610-91BC-08C96EAA9A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4945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130E1B-374D-48BA-A9A9-A9EB42C70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D77BF4-B8D5-4759-A2CA-7E2D8DF1FF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BA1783-3E36-44DB-9B84-16EAF900E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614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C1EB74-39EF-47DA-A763-FB37F9B131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D1B4E2-FAE7-4275-B658-CF563EF22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4AC064-1581-42FB-B0D3-948281D4C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8808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C77236-EEBB-4827-AD1E-537D08A338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69FFFD-5F56-4F25-B1AB-DE72DBCB4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16A906-E789-439C-BD58-729E2D76B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638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907258-1C0A-4346-809F-F31A32E6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pPr>
                <a:defRPr/>
              </a:pPr>
              <a:t>2023/8/26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36BFAF-6BC0-49F0-BC8C-FB800977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401784-8F1D-4904-B603-1F475985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60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CDAD0-9D64-4314-8793-8634F4D8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2023/8/26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62A031-7B56-4E50-B06E-364E4CFB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A571B-27BA-4C0A-8D4F-2B2E4019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767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B3347-0CA6-4EE6-8E3C-7F647BA3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8B6C7-F2DA-4B00-8CA8-5826F1BE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D50E1-33F5-4F04-83D7-58255901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815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855C45-E57E-45D8-8789-B08077A0B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2AE40C-11D0-4D9D-B418-509A8A9A6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1C6E2B-2607-4AFD-9E50-1545AA41B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839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7F9A4D-341A-41CC-8F0F-E6924B9684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E33512-D5A8-47D0-B549-77A18A6ED8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B7CB67-BDC6-4137-BE93-338EAA114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7281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490AF2-F810-4172-8A48-87F8D5EF7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F90D61-50CB-4D86-9EAC-B76F8A364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FA323-8AFE-4021-A977-A60222BA28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180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C019C-2D7F-4455-B3FB-C34607481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D3FD4-1623-45FB-96F8-F9285B879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823D2-B9E7-4EED-9D1E-3AB8E17E3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19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12368DA-4B1A-424E-9857-B0A678FBC6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B212B3-7550-4762-8B5E-CB91D5A8BC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4B8099-34BA-4920-84A9-9BA6EE4ED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246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56705-0B6D-45BC-8340-6A1E4EFD65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7C27C-6D02-42D6-BF81-983A2FCE65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02995-3DE2-4744-8539-2A7C1876E8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20010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B1FBF-7FD0-4CE2-A043-A41CE23630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B4C19-C8A8-4CF8-9D44-5BAEBA2B52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25DFB-3070-475F-98EE-8E4F3A00E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54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6855A6-453A-47B3-8A92-0F1063C79A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4011F6-4D45-40E9-850B-FE8F767F9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23DB50-4002-46B4-810A-AA39BF83D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849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BFA5EF-1425-4B28-9B7A-348002BF3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5E2916-713D-417C-8CEE-972575D27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9639DA-65DE-4219-8B66-C96E3E8929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2887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F1D24E-58F4-416D-B9FF-CD0720AB9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16E313-3B04-41D1-A907-070FE2F11D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27B489-A529-4323-A27E-40A3A99864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113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2B2289-983E-4EA7-8A84-119F4B9A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pPr>
                <a:defRPr/>
              </a:pPr>
              <a:t>2023/8/26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DA7B7F-14A2-4287-897C-E8179727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2ADFC2-E3A9-4650-B34E-E842FD3D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605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3E466-4F93-4E3A-A6F6-928A730F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2023/8/26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379F3-1B1D-4F43-97B0-BF8DC630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F5286-0118-4D1C-85B9-22086D08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472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DAEE5-B474-4771-8A83-AE3B97F8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21E6C-CD00-4620-991D-FDD21011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845B2-E858-4F40-8455-88DAA9C5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916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547765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85728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34688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368320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093431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9D38C6D0-0704-4DD7-A5D2-05D8B59DF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103906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175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182303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147708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652217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149405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DCFD248-D6E9-42A7-9A08-4B322473B87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293EF1F-B996-4BF3-8545-1F8942B7465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8EF5DC4-DA6F-46DC-9D43-273DA325F56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B1A793CB-15AC-484F-9480-5EFAC00C87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3BF66AE4-90AD-4312-BBFB-E4BA8EC12A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36EAE0C-5BF4-4600-902D-FBFA900763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BD22F033-56C7-48BA-B9B5-90236C337C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68BF0FAB-2F85-4929-AB2D-97A6311EFA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7AED698-0AAA-4BB6-9480-E7C8585063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095121D7-4C0F-44D8-B004-AA4D7911F7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01E34350-5B3C-4612-8690-23E0637F8F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0559055E-3F93-4230-B16D-24149A55D5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C2B656F5-0850-4ED6-8F46-E13E0871ED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66BC7D0B-5FDB-4195-99C3-ADEC8ADF11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99D42E93-D1A7-4D68-B8E9-89C548966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7922CF7F-89E3-442B-8672-5D396583FC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2A8E2A3-1787-483E-8FA7-FB0A6EF2DC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289805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A66C85-B574-4B8B-AE29-7E83B531F4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030FC8-A8E8-4162-9EA0-532FE09A0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12FA7717-ADBA-4C62-B38A-CC9348FA09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2678118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81287-8B2B-4245-9470-3CF9571014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3EF4B9-8B57-4C03-A5F2-E2A17B23BB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6E8CF0E3-2389-4D18-BF8D-B3A042044D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016412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94E05-3896-4D04-A78C-E206AC6065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1DBE9-298F-478C-AD0B-532137C528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550F8A-6CB3-4E1C-A335-52B52D5077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953128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F3769CD0-67B4-4856-9B65-2233FAA50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75BFF0B-A76A-49AB-8E76-6E5D2EFEC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5A425DD8-22B0-46CB-B651-717BE4798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11648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8219D1-EEA4-4CD4-9938-0B050D9E6E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4AD52-D808-48B6-B359-7D6F15F8C8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B0461-4B86-42B0-AC4F-E5915068182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129802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30C0146-A287-4A3C-ADEE-2427F18CC1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713" y="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7">
            <a:extLst>
              <a:ext uri="{FF2B5EF4-FFF2-40B4-BE49-F238E27FC236}">
                <a16:creationId xmlns:a16="http://schemas.microsoft.com/office/drawing/2014/main" id="{26716C4E-EB24-4F65-9CCF-3C8B064C45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燕尾形 16">
            <a:hlinkClick r:id="" action="ppaction://hlinkshowjump?jump=previousslide" tooltip="上一页"/>
            <a:extLst>
              <a:ext uri="{FF2B5EF4-FFF2-40B4-BE49-F238E27FC236}">
                <a16:creationId xmlns:a16="http://schemas.microsoft.com/office/drawing/2014/main" id="{E868D851-0E7F-417F-A7BA-537E73D2A6F3}"/>
              </a:ext>
            </a:extLst>
          </p:cNvPr>
          <p:cNvSpPr/>
          <p:nvPr userDrawn="1"/>
        </p:nvSpPr>
        <p:spPr>
          <a:xfrm flipH="1">
            <a:off x="8346933" y="6584238"/>
            <a:ext cx="233362" cy="23495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18">
            <a:hlinkClick r:id="" action="ppaction://hlinkshowjump?jump=nextslide" tooltip="下一页"/>
            <a:extLst>
              <a:ext uri="{FF2B5EF4-FFF2-40B4-BE49-F238E27FC236}">
                <a16:creationId xmlns:a16="http://schemas.microsoft.com/office/drawing/2014/main" id="{12709413-AEBF-474E-85A5-9A05A52DCD51}"/>
              </a:ext>
            </a:extLst>
          </p:cNvPr>
          <p:cNvSpPr/>
          <p:nvPr userDrawn="1"/>
        </p:nvSpPr>
        <p:spPr>
          <a:xfrm>
            <a:off x="8829533" y="6596938"/>
            <a:ext cx="190500" cy="2286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页脚占位符 1">
            <a:extLst>
              <a:ext uri="{FF2B5EF4-FFF2-40B4-BE49-F238E27FC236}">
                <a16:creationId xmlns:a16="http://schemas.microsoft.com/office/drawing/2014/main" id="{3C341C7B-D148-4414-AA91-65A892CF2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D5F58521-311C-4635-AFA1-FD84A2FD2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1550D-240D-4904-938E-B973E916CC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8FE20C34-27D7-4001-9CA0-97FAF94660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407819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3765A-DB92-4FEB-8586-5083F6941B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FDF5F-9F14-49F7-82C6-42794CEB7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E2FBE0-19B5-43F0-A085-F9447004E6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689859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410B37-7628-4026-857E-D516CCF2FE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7D3DD-3BAE-4A61-A547-EDCF67528B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4AD834-DC92-41E8-805C-D46D15F577F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070184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BBAE87-7E54-42AD-8D4E-64447FA738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049BAC-BDEE-41A8-B375-0C74582E8A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CB1ABFD-F109-4E5E-9750-C313A90A2B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1748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52F1A3-63B8-484C-A59C-FF6D582BD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D1A0B-715F-4734-BBC6-DCDD9A1A9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229AB6B-AD64-4746-9E73-A20F5E2738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45400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37CA2716-81D1-4A33-8A7E-BA6EB9C611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13" r:id="rId1"/>
    <p:sldLayoutId id="2147487314" r:id="rId2"/>
    <p:sldLayoutId id="2147487315" r:id="rId3"/>
    <p:sldLayoutId id="2147487316" r:id="rId4"/>
    <p:sldLayoutId id="2147487317" r:id="rId5"/>
    <p:sldLayoutId id="2147487318" r:id="rId6"/>
    <p:sldLayoutId id="2147487319" r:id="rId7"/>
    <p:sldLayoutId id="2147487320" r:id="rId8"/>
    <p:sldLayoutId id="2147487321" r:id="rId9"/>
    <p:sldLayoutId id="2147487322" r:id="rId10"/>
    <p:sldLayoutId id="2147487323" r:id="rId11"/>
    <p:sldLayoutId id="2147487324" r:id="rId12"/>
    <p:sldLayoutId id="2147487325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D8CAED-9733-4696-BE55-66C0F2E5FA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6D87927-EA0E-4567-A73F-EE5B25BEB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1A3E96-2188-405F-89D7-D3A22F3D4F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32AC8B-0C35-44F7-97D8-F789CAAB87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7CA088-137C-4D05-816B-160A5F146A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FEAC0F78-C0FC-4A92-AC28-83B0375BAE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26" r:id="rId1"/>
    <p:sldLayoutId id="2147487284" r:id="rId2"/>
    <p:sldLayoutId id="2147487285" r:id="rId3"/>
    <p:sldLayoutId id="2147487286" r:id="rId4"/>
    <p:sldLayoutId id="2147487287" r:id="rId5"/>
    <p:sldLayoutId id="2147487288" r:id="rId6"/>
    <p:sldLayoutId id="2147487289" r:id="rId7"/>
    <p:sldLayoutId id="2147487290" r:id="rId8"/>
    <p:sldLayoutId id="2147487291" r:id="rId9"/>
    <p:sldLayoutId id="2147487292" r:id="rId10"/>
    <p:sldLayoutId id="2147487327" r:id="rId11"/>
    <p:sldLayoutId id="2147487328" r:id="rId12"/>
    <p:sldLayoutId id="2147487329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>
            <a:extLst>
              <a:ext uri="{FF2B5EF4-FFF2-40B4-BE49-F238E27FC236}">
                <a16:creationId xmlns:a16="http://schemas.microsoft.com/office/drawing/2014/main" id="{14ECB70A-15C1-43C3-82DD-C91F52213E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AutoShape 27">
            <a:extLst>
              <a:ext uri="{FF2B5EF4-FFF2-40B4-BE49-F238E27FC236}">
                <a16:creationId xmlns:a16="http://schemas.microsoft.com/office/drawing/2014/main" id="{23932A2F-2686-4BEE-8DF6-1CAE4DA968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8" name="AutoShape 8">
            <a:extLst>
              <a:ext uri="{FF2B5EF4-FFF2-40B4-BE49-F238E27FC236}">
                <a16:creationId xmlns:a16="http://schemas.microsoft.com/office/drawing/2014/main" id="{7EAEED02-1A06-4CCC-B8A4-0F20CDF653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AutoShape 10">
            <a:extLst>
              <a:ext uri="{FF2B5EF4-FFF2-40B4-BE49-F238E27FC236}">
                <a16:creationId xmlns:a16="http://schemas.microsoft.com/office/drawing/2014/main" id="{8589F783-3D42-4393-A6BE-B86E49ABF4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AutoShape 24">
            <a:extLst>
              <a:ext uri="{FF2B5EF4-FFF2-40B4-BE49-F238E27FC236}">
                <a16:creationId xmlns:a16="http://schemas.microsoft.com/office/drawing/2014/main" id="{6F1DC48B-481E-486F-94F2-23C1AE5DC0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AutoShape 26">
            <a:extLst>
              <a:ext uri="{FF2B5EF4-FFF2-40B4-BE49-F238E27FC236}">
                <a16:creationId xmlns:a16="http://schemas.microsoft.com/office/drawing/2014/main" id="{7E2F42E9-535D-4979-BEDB-04F4C08263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93" r:id="rId1"/>
    <p:sldLayoutId id="2147487294" r:id="rId2"/>
    <p:sldLayoutId id="2147487295" r:id="rId3"/>
    <p:sldLayoutId id="2147487296" r:id="rId4"/>
    <p:sldLayoutId id="2147487297" r:id="rId5"/>
    <p:sldLayoutId id="2147487330" r:id="rId6"/>
    <p:sldLayoutId id="2147487331" r:id="rId7"/>
    <p:sldLayoutId id="2147487298" r:id="rId8"/>
    <p:sldLayoutId id="2147487299" r:id="rId9"/>
    <p:sldLayoutId id="2147487300" r:id="rId10"/>
    <p:sldLayoutId id="214748730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FB02206-B27F-4E76-91B3-4EFD85BD43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0B8FE99-AF5C-4D4C-93CD-8759798309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FC76477D-BF5D-43C9-B67A-DA3CAB6BDED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>
              <a:extLst>
                <a:ext uri="{FF2B5EF4-FFF2-40B4-BE49-F238E27FC236}">
                  <a16:creationId xmlns:a16="http://schemas.microsoft.com/office/drawing/2014/main" id="{BAB928D6-5BF9-45A2-87AC-671B31498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7" name="Rectangle 6">
              <a:extLst>
                <a:ext uri="{FF2B5EF4-FFF2-40B4-BE49-F238E27FC236}">
                  <a16:creationId xmlns:a16="http://schemas.microsoft.com/office/drawing/2014/main" id="{0DAE07E0-4410-415E-ADB7-B8F22AA3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8" name="Rectangle 7">
              <a:extLst>
                <a:ext uri="{FF2B5EF4-FFF2-40B4-BE49-F238E27FC236}">
                  <a16:creationId xmlns:a16="http://schemas.microsoft.com/office/drawing/2014/main" id="{F98F35F0-3851-4629-B9AC-91B836166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9" name="Rectangle 8">
              <a:extLst>
                <a:ext uri="{FF2B5EF4-FFF2-40B4-BE49-F238E27FC236}">
                  <a16:creationId xmlns:a16="http://schemas.microsoft.com/office/drawing/2014/main" id="{8ED0044A-21CE-45E6-9C31-02E7F31A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0" name="Rectangle 9">
              <a:extLst>
                <a:ext uri="{FF2B5EF4-FFF2-40B4-BE49-F238E27FC236}">
                  <a16:creationId xmlns:a16="http://schemas.microsoft.com/office/drawing/2014/main" id="{97BFDF85-7F81-430A-A177-C2AF6AEFD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1" name="Rectangle 10">
              <a:extLst>
                <a:ext uri="{FF2B5EF4-FFF2-40B4-BE49-F238E27FC236}">
                  <a16:creationId xmlns:a16="http://schemas.microsoft.com/office/drawing/2014/main" id="{D23C108B-AEFE-4427-9022-F93C356E9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2" name="Rectangle 11">
              <a:extLst>
                <a:ext uri="{FF2B5EF4-FFF2-40B4-BE49-F238E27FC236}">
                  <a16:creationId xmlns:a16="http://schemas.microsoft.com/office/drawing/2014/main" id="{C7B90104-A07F-46E6-9306-63B74F0F0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63" name="Rectangle 12">
              <a:extLst>
                <a:ext uri="{FF2B5EF4-FFF2-40B4-BE49-F238E27FC236}">
                  <a16:creationId xmlns:a16="http://schemas.microsoft.com/office/drawing/2014/main" id="{2B4E9ABA-0A63-420D-A603-037DC96FF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4" name="Rectangle 13">
              <a:extLst>
                <a:ext uri="{FF2B5EF4-FFF2-40B4-BE49-F238E27FC236}">
                  <a16:creationId xmlns:a16="http://schemas.microsoft.com/office/drawing/2014/main" id="{C2F95056-8353-4C51-9FDB-815AFD0FE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20A37B01-1D1B-477D-9302-81A19C62F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685BA901-3641-49C6-B085-1EE89F61C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CBCD943A-D4CE-48C0-9D30-7E42EFF034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19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333" r:id="rId1"/>
    <p:sldLayoutId id="2147487334" r:id="rId2"/>
    <p:sldLayoutId id="2147487335" r:id="rId3"/>
    <p:sldLayoutId id="2147487336" r:id="rId4"/>
    <p:sldLayoutId id="2147487337" r:id="rId5"/>
    <p:sldLayoutId id="2147487338" r:id="rId6"/>
    <p:sldLayoutId id="2147487339" r:id="rId7"/>
    <p:sldLayoutId id="2147487340" r:id="rId8"/>
    <p:sldLayoutId id="2147487341" r:id="rId9"/>
    <p:sldLayoutId id="2147487342" r:id="rId10"/>
    <p:sldLayoutId id="2147487343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slide3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" Target="slide3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16.bin"/><Relationship Id="rId21" Type="http://schemas.openxmlformats.org/officeDocument/2006/relationships/oleObject" Target="../embeddings/oleObject25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3.bin"/><Relationship Id="rId2" Type="http://schemas.openxmlformats.org/officeDocument/2006/relationships/slide" Target="slide5.xml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0.bin"/><Relationship Id="rId24" Type="http://schemas.openxmlformats.org/officeDocument/2006/relationships/image" Target="../media/image32.wmf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23" Type="http://schemas.openxmlformats.org/officeDocument/2006/relationships/oleObject" Target="../embeddings/oleObject26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24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7.wmf"/><Relationship Id="rId22" Type="http://schemas.openxmlformats.org/officeDocument/2006/relationships/image" Target="../media/image3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45.wmf"/><Relationship Id="rId26" Type="http://schemas.openxmlformats.org/officeDocument/2006/relationships/image" Target="../media/image49.wmf"/><Relationship Id="rId3" Type="http://schemas.openxmlformats.org/officeDocument/2006/relationships/oleObject" Target="../embeddings/oleObject32.bin"/><Relationship Id="rId21" Type="http://schemas.openxmlformats.org/officeDocument/2006/relationships/oleObject" Target="../embeddings/oleObject41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39.bin"/><Relationship Id="rId25" Type="http://schemas.openxmlformats.org/officeDocument/2006/relationships/oleObject" Target="../embeddings/oleObject43.bin"/><Relationship Id="rId2" Type="http://schemas.openxmlformats.org/officeDocument/2006/relationships/slide" Target="slide5.xml"/><Relationship Id="rId16" Type="http://schemas.openxmlformats.org/officeDocument/2006/relationships/image" Target="../media/image44.wmf"/><Relationship Id="rId20" Type="http://schemas.openxmlformats.org/officeDocument/2006/relationships/image" Target="../media/image46.wmf"/><Relationship Id="rId29" Type="http://schemas.openxmlformats.org/officeDocument/2006/relationships/oleObject" Target="../embeddings/oleObject45.bin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36.bin"/><Relationship Id="rId24" Type="http://schemas.openxmlformats.org/officeDocument/2006/relationships/image" Target="../media/image48.wmf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23" Type="http://schemas.openxmlformats.org/officeDocument/2006/relationships/oleObject" Target="../embeddings/oleObject42.bin"/><Relationship Id="rId28" Type="http://schemas.openxmlformats.org/officeDocument/2006/relationships/image" Target="../media/image50.wmf"/><Relationship Id="rId10" Type="http://schemas.openxmlformats.org/officeDocument/2006/relationships/image" Target="../media/image41.wmf"/><Relationship Id="rId19" Type="http://schemas.openxmlformats.org/officeDocument/2006/relationships/oleObject" Target="../embeddings/oleObject40.bin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43.wmf"/><Relationship Id="rId22" Type="http://schemas.openxmlformats.org/officeDocument/2006/relationships/image" Target="../media/image47.wmf"/><Relationship Id="rId27" Type="http://schemas.openxmlformats.org/officeDocument/2006/relationships/oleObject" Target="../embeddings/oleObject44.bin"/><Relationship Id="rId30" Type="http://schemas.openxmlformats.org/officeDocument/2006/relationships/image" Target="../media/image5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" Target="slide3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5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gi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4909899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2">
            <a:extLst>
              <a:ext uri="{FF2B5EF4-FFF2-40B4-BE49-F238E27FC236}">
                <a16:creationId xmlns:a16="http://schemas.microsoft.com/office/drawing/2014/main" id="{B23C083C-4786-427B-8023-7BCA8B81A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08038"/>
            <a:ext cx="91440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B2132EF-33CE-4DEE-A132-AEEC1C91E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03" y="0"/>
            <a:ext cx="604867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第四章  相似矩阵及二次型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CAD84F-36F4-4582-A224-10E203E2669A}"/>
              </a:ext>
            </a:extLst>
          </p:cNvPr>
          <p:cNvSpPr/>
          <p:nvPr/>
        </p:nvSpPr>
        <p:spPr>
          <a:xfrm>
            <a:off x="2411760" y="1700808"/>
            <a:ext cx="39036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  <a:defRPr/>
            </a:pPr>
            <a:r>
              <a:rPr lang="en-US" altLang="zh-CN" sz="4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§6   </a:t>
            </a:r>
            <a:r>
              <a:rPr lang="zh-CN" altLang="en-US" sz="4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正定二次型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>
        <p:sndAc>
          <p:stSnd>
            <p:snd r:embed="rId2" name="chimes.wav"/>
          </p:stSnd>
        </p:sndAc>
      </p:transition>
    </mc:Choice>
    <mc:Fallback xmlns="">
      <p:transition spd="slow">
        <p:sndAc>
          <p:stSnd>
            <p:snd r:embed="rId7" name="chimes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FC681D5B-066D-3B5E-CF4A-7F4255074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771074"/>
            <a:ext cx="7200800" cy="2601097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      本节重点解决以下问题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: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惯性定理的条件和结论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正定二次型的定义及其判定定理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.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  <a:sym typeface="楷体_GB2312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二次型有哪些实际应用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?</a:t>
            </a:r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DBB9CF36-9EF1-0B6E-062A-4EABFCE26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118015417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-37300"/>
            <a:ext cx="13049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引言</a:t>
            </a:r>
          </a:p>
        </p:txBody>
      </p:sp>
      <p:sp>
        <p:nvSpPr>
          <p:cNvPr id="27" name="Text Box 16">
            <a:extLst>
              <a:ext uri="{FF2B5EF4-FFF2-40B4-BE49-F238E27FC236}">
                <a16:creationId xmlns:a16="http://schemas.microsoft.com/office/drawing/2014/main" id="{71C33F9D-092B-41FF-9A2F-7F676245A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882" y="4265626"/>
            <a:ext cx="1871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定理</a:t>
            </a:r>
            <a:r>
              <a:rPr lang="en-US" altLang="zh-CN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8" name="Rectangle 35">
            <a:extLst>
              <a:ext uri="{FF2B5EF4-FFF2-40B4-BE49-F238E27FC236}">
                <a16:creationId xmlns:a16="http://schemas.microsoft.com/office/drawing/2014/main" id="{8E3A5AE7-8EAF-4A0C-8F8B-927687314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682" y="1385901"/>
            <a:ext cx="6192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二次型的标准形显然不是唯一的</a:t>
            </a:r>
            <a:r>
              <a:rPr lang="en-US" altLang="zh-CN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Rectangle 36">
            <a:extLst>
              <a:ext uri="{FF2B5EF4-FFF2-40B4-BE49-F238E27FC236}">
                <a16:creationId xmlns:a16="http://schemas.microsoft.com/office/drawing/2014/main" id="{989253D0-7D95-4534-A921-67E6E3420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882" y="2105039"/>
            <a:ext cx="64039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所含项数是确定的</a:t>
            </a:r>
            <a:r>
              <a:rPr lang="en-US" altLang="zh-CN" b="1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(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即是二次型的秩</a:t>
            </a:r>
            <a:r>
              <a:rPr lang="en-US" altLang="zh-CN" b="1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.</a:t>
            </a:r>
          </a:p>
        </p:txBody>
      </p:sp>
      <p:sp>
        <p:nvSpPr>
          <p:cNvPr id="30" name="Rectangle 37">
            <a:extLst>
              <a:ext uri="{FF2B5EF4-FFF2-40B4-BE49-F238E27FC236}">
                <a16:creationId xmlns:a16="http://schemas.microsoft.com/office/drawing/2014/main" id="{0367F374-5992-408C-BB12-11E6BA734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2794" y="2105039"/>
            <a:ext cx="2376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不仅如此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31" name="Rectangle 38">
            <a:extLst>
              <a:ext uri="{FF2B5EF4-FFF2-40B4-BE49-F238E27FC236}">
                <a16:creationId xmlns:a16="http://schemas.microsoft.com/office/drawing/2014/main" id="{5C0AD66D-5157-4F3F-9F64-297231741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882" y="2825764"/>
            <a:ext cx="4392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在限定变换为实变换时</a:t>
            </a:r>
            <a:r>
              <a:rPr lang="en-US" altLang="zh-CN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2" name="Rectangle 39">
            <a:extLst>
              <a:ext uri="{FF2B5EF4-FFF2-40B4-BE49-F238E27FC236}">
                <a16:creationId xmlns:a16="http://schemas.microsoft.com/office/drawing/2014/main" id="{0930E836-8729-4517-A5C4-5C2580679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882" y="3546489"/>
            <a:ext cx="64087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是不变的</a:t>
            </a:r>
            <a:r>
              <a:rPr lang="en-US" altLang="zh-CN" b="1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(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因而负系数的个数也不变</a:t>
            </a:r>
            <a:r>
              <a:rPr lang="en-US" altLang="zh-CN" b="1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)</a:t>
            </a:r>
            <a:r>
              <a:rPr lang="en-US" altLang="zh-CN" b="1" dirty="0">
                <a:solidFill>
                  <a:srgbClr val="000000"/>
                </a:solidFill>
                <a:latin typeface="Times New Roman"/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endParaRPr lang="zh-CN" altLang="en-US" b="1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3" name="Rectangle 35">
            <a:extLst>
              <a:ext uri="{FF2B5EF4-FFF2-40B4-BE49-F238E27FC236}">
                <a16:creationId xmlns:a16="http://schemas.microsoft.com/office/drawing/2014/main" id="{2D1CA4A6-62DE-4ED7-9DC7-08D2ACC7C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357" y="1385901"/>
            <a:ext cx="2663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但标准形中</a:t>
            </a:r>
          </a:p>
        </p:txBody>
      </p:sp>
      <p:sp>
        <p:nvSpPr>
          <p:cNvPr id="34" name="Rectangle 39">
            <a:extLst>
              <a:ext uri="{FF2B5EF4-FFF2-40B4-BE49-F238E27FC236}">
                <a16:creationId xmlns:a16="http://schemas.microsoft.com/office/drawing/2014/main" id="{624D582A-E23E-42E6-8B9C-5682AAC6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357" y="3546489"/>
            <a:ext cx="2447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从而有以下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2198E885-9B35-4730-B6CA-BDF987FF7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694" y="2825764"/>
            <a:ext cx="4392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标准形中正系数的个数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 autoUpdateAnimBg="0" advAuto="0"/>
      <p:bldP spid="28" grpId="0" build="p" autoUpdateAnimBg="0"/>
      <p:bldP spid="29" grpId="0" build="p" autoUpdateAnimBg="0" advAuto="0"/>
      <p:bldP spid="30" grpId="0" build="p" autoUpdateAnimBg="0"/>
      <p:bldP spid="31" grpId="0" build="p" autoUpdateAnimBg="0" advAuto="0"/>
      <p:bldP spid="32" grpId="0" build="p" autoUpdateAnimBg="0" advAuto="0"/>
      <p:bldP spid="33" grpId="0" build="p" autoUpdateAnimBg="0"/>
      <p:bldP spid="34" grpId="0" build="p" autoUpdateAnimBg="0" advAuto="0"/>
      <p:bldP spid="35" grpId="0" build="p" autoUpdateAnimBg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332" y="9346"/>
            <a:ext cx="408699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惯性定理</a:t>
            </a:r>
          </a:p>
        </p:txBody>
      </p:sp>
      <p:grpSp>
        <p:nvGrpSpPr>
          <p:cNvPr id="16" name="组合 13">
            <a:extLst>
              <a:ext uri="{FF2B5EF4-FFF2-40B4-BE49-F238E27FC236}">
                <a16:creationId xmlns:a16="http://schemas.microsoft.com/office/drawing/2014/main" id="{EE40E31B-6A74-4252-AF46-640B64878F09}"/>
              </a:ext>
            </a:extLst>
          </p:cNvPr>
          <p:cNvGrpSpPr>
            <a:grpSpLocks/>
          </p:cNvGrpSpPr>
          <p:nvPr/>
        </p:nvGrpSpPr>
        <p:grpSpPr bwMode="auto">
          <a:xfrm>
            <a:off x="683568" y="1309992"/>
            <a:ext cx="8208962" cy="4840288"/>
            <a:chOff x="611188" y="1268413"/>
            <a:chExt cx="8208962" cy="4840287"/>
          </a:xfrm>
        </p:grpSpPr>
        <p:sp>
          <p:nvSpPr>
            <p:cNvPr id="17" name="Text Box 10">
              <a:extLst>
                <a:ext uri="{FF2B5EF4-FFF2-40B4-BE49-F238E27FC236}">
                  <a16:creationId xmlns:a16="http://schemas.microsoft.com/office/drawing/2014/main" id="{DB92E45A-F5FF-4403-9893-F65735C43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188" y="5589588"/>
              <a:ext cx="5184775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sym typeface="Symbol" panose="05050102010706020507" pitchFamily="18" charset="2"/>
                </a:rPr>
                <a:t>中正数的个数相等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sym typeface="Symbol" panose="05050102010706020507" pitchFamily="18" charset="2"/>
                </a:rPr>
                <a:t>.</a:t>
              </a:r>
              <a:endParaRPr kumimoji="1" lang="en-US" altLang="zh-CN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8" name="Rectangle 30">
              <a:extLst>
                <a:ext uri="{FF2B5EF4-FFF2-40B4-BE49-F238E27FC236}">
                  <a16:creationId xmlns:a16="http://schemas.microsoft.com/office/drawing/2014/main" id="{E7A5A639-FE91-4AB8-AA29-FA0F718B9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" y="1268413"/>
              <a:ext cx="7848600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华文中宋" pitchFamily="2" charset="-122"/>
                  <a:ea typeface="华文中宋" pitchFamily="2" charset="-122"/>
                </a:rPr>
                <a:t>定理</a:t>
              </a: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华文中宋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华文中宋" pitchFamily="2" charset="-122"/>
                  <a:cs typeface="Times New Roman" panose="02020603050405020304" pitchFamily="18" charset="0"/>
                </a:rPr>
                <a:t>4.1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宋体"/>
                  <a:cs typeface="Times New Roman" panose="02020603050405020304" pitchFamily="18" charset="0"/>
                </a:rPr>
                <a:t>3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charset="-122"/>
                  <a:cs typeface="Times New Roman" panose="02020603050405020304" pitchFamily="18" charset="0"/>
                </a:rPr>
                <a:t>   </a:t>
              </a: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itchFamily="2" charset="-122"/>
                  <a:ea typeface="华文中宋" pitchFamily="2" charset="-122"/>
                </a:rPr>
                <a:t>设有实二次型 </a:t>
              </a:r>
              <a:r>
                <a:rPr kumimoji="0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charset="-122"/>
                </a:rPr>
                <a:t>f = </a:t>
              </a:r>
              <a:r>
                <a:rPr kumimoji="0" lang="en-US" altLang="zh-CN" b="1" i="1" u="none" strike="noStrike" kern="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charset="-122"/>
                </a:rPr>
                <a:t>x</a:t>
              </a:r>
              <a:r>
                <a:rPr kumimoji="0" lang="en-US" altLang="zh-CN" b="1" i="0" u="none" strike="noStrike" kern="0" cap="none" spc="0" normalizeH="0" baseline="3000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charset="-122"/>
                </a:rPr>
                <a:t>T</a:t>
              </a:r>
              <a:r>
                <a:rPr kumimoji="0" lang="en-US" altLang="zh-CN" b="1" i="1" u="none" strike="noStrike" kern="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charset="-122"/>
                </a:rPr>
                <a:t>Ax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charset="-122"/>
                </a:rPr>
                <a:t>, </a:t>
              </a: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itchFamily="2" charset="-122"/>
                  <a:ea typeface="华文中宋" pitchFamily="2" charset="-122"/>
                </a:rPr>
                <a:t>它的秩为 </a:t>
              </a:r>
              <a:r>
                <a:rPr kumimoji="0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charset="-122"/>
                </a:rPr>
                <a:t>r 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charset="-122"/>
                </a:rPr>
                <a:t>,</a:t>
              </a: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itchFamily="2" charset="-122"/>
                  <a:ea typeface="华文中宋" pitchFamily="2" charset="-122"/>
                </a:rPr>
                <a:t> </a:t>
              </a:r>
            </a:p>
          </p:txBody>
        </p:sp>
        <p:sp>
          <p:nvSpPr>
            <p:cNvPr id="19" name="Rectangle 31">
              <a:extLst>
                <a:ext uri="{FF2B5EF4-FFF2-40B4-BE49-F238E27FC236}">
                  <a16:creationId xmlns:a16="http://schemas.microsoft.com/office/drawing/2014/main" id="{3855BC90-039E-4EE7-962B-5CFE96311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560" y="1988840"/>
              <a:ext cx="48006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rPr>
                <a:t>且有两个实的可逆变换</a:t>
              </a:r>
            </a:p>
          </p:txBody>
        </p:sp>
        <p:sp>
          <p:nvSpPr>
            <p:cNvPr id="20" name="Rectangle 32">
              <a:extLst>
                <a:ext uri="{FF2B5EF4-FFF2-40B4-BE49-F238E27FC236}">
                  <a16:creationId xmlns:a16="http://schemas.microsoft.com/office/drawing/2014/main" id="{CC6D01F0-2C57-4290-B60A-8A3DCD896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538" y="2708275"/>
              <a:ext cx="51117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1" i="1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x = Cy</a:t>
              </a:r>
              <a:r>
                <a:rPr kumimoji="1" lang="en-US" altLang="zh-CN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           </a:t>
              </a:r>
              <a:r>
                <a:rPr kumimoji="1" lang="zh-CN" altLang="en-US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rPr>
                <a:t>及</a:t>
              </a:r>
              <a:r>
                <a:rPr kumimoji="1" lang="zh-CN" altLang="en-US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          </a:t>
              </a:r>
              <a:r>
                <a:rPr kumimoji="1" lang="en-US" altLang="zh-CN" b="1" i="1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x = Pz</a:t>
              </a:r>
            </a:p>
          </p:txBody>
        </p:sp>
        <p:sp>
          <p:nvSpPr>
            <p:cNvPr id="21" name="Rectangle 33">
              <a:extLst>
                <a:ext uri="{FF2B5EF4-FFF2-40B4-BE49-F238E27FC236}">
                  <a16:creationId xmlns:a16="http://schemas.microsoft.com/office/drawing/2014/main" id="{D2552031-6D03-4589-AEA7-6DD7B13B8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3443288"/>
              <a:ext cx="7599363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rPr>
                <a:t>使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         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f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 = 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k</a:t>
              </a:r>
              <a:r>
                <a:rPr kumimoji="1" lang="en-US" altLang="zh-CN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1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y</a:t>
              </a:r>
              <a:r>
                <a:rPr kumimoji="1" lang="en-US" altLang="zh-CN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1</a:t>
              </a:r>
              <a:r>
                <a:rPr kumimoji="1" lang="en-US" altLang="zh-CN" b="1" i="0" u="none" strike="noStrike" kern="0" cap="none" spc="0" normalizeH="0" baseline="30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2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 + 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k</a:t>
              </a:r>
              <a:r>
                <a:rPr kumimoji="1" lang="en-US" altLang="zh-CN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2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y</a:t>
              </a:r>
              <a:r>
                <a:rPr kumimoji="1" lang="en-US" altLang="zh-CN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2</a:t>
              </a:r>
              <a:r>
                <a:rPr kumimoji="1" lang="en-US" altLang="zh-CN" b="1" i="0" u="none" strike="noStrike" kern="0" cap="none" spc="0" normalizeH="0" baseline="30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2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 + 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···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 + 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k</a:t>
              </a:r>
              <a:r>
                <a:rPr kumimoji="1" lang="en-US" altLang="zh-CN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r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y</a:t>
              </a:r>
              <a:r>
                <a:rPr kumimoji="1" lang="en-US" altLang="zh-CN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r</a:t>
              </a:r>
              <a:r>
                <a:rPr kumimoji="1" lang="en-US" altLang="zh-CN" b="1" i="0" u="none" strike="noStrike" kern="0" cap="none" spc="0" normalizeH="0" baseline="30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2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       (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k</a:t>
              </a:r>
              <a:r>
                <a:rPr kumimoji="1" lang="en-US" altLang="zh-CN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i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 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 0),</a:t>
              </a:r>
            </a:p>
          </p:txBody>
        </p:sp>
        <p:sp>
          <p:nvSpPr>
            <p:cNvPr id="22" name="Rectangle 34">
              <a:extLst>
                <a:ext uri="{FF2B5EF4-FFF2-40B4-BE49-F238E27FC236}">
                  <a16:creationId xmlns:a16="http://schemas.microsoft.com/office/drawing/2014/main" id="{C4E372A3-2640-43E1-BF4B-E3D4A343E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4143375"/>
              <a:ext cx="777398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sym typeface="Symbol" panose="05050102010706020507" pitchFamily="18" charset="2"/>
                </a:rPr>
                <a:t>及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         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f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 = 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</a:t>
              </a:r>
              <a:r>
                <a:rPr kumimoji="1" lang="en-US" altLang="zh-CN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1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z</a:t>
              </a:r>
              <a:r>
                <a:rPr kumimoji="1" lang="en-US" altLang="zh-CN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1</a:t>
              </a:r>
              <a:r>
                <a:rPr kumimoji="1" lang="en-US" altLang="zh-CN" b="1" i="0" u="none" strike="noStrike" kern="0" cap="none" spc="0" normalizeH="0" baseline="30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2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 + 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</a:t>
              </a:r>
              <a:r>
                <a:rPr kumimoji="1" lang="en-US" altLang="zh-CN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2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z</a:t>
              </a:r>
              <a:r>
                <a:rPr kumimoji="1" lang="en-US" altLang="zh-CN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2</a:t>
              </a:r>
              <a:r>
                <a:rPr kumimoji="1" lang="en-US" altLang="zh-CN" b="1" i="0" u="none" strike="noStrike" kern="0" cap="none" spc="0" normalizeH="0" baseline="30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2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 + ··· + 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</a:t>
              </a:r>
              <a:r>
                <a:rPr kumimoji="1" lang="en-US" altLang="zh-CN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r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z</a:t>
              </a:r>
              <a:r>
                <a:rPr kumimoji="1" lang="en-US" altLang="zh-CN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r</a:t>
              </a:r>
              <a:r>
                <a:rPr kumimoji="1" lang="en-US" altLang="zh-CN" b="1" i="0" u="none" strike="noStrike" kern="0" cap="none" spc="0" normalizeH="0" baseline="30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2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       (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</a:t>
              </a:r>
              <a:r>
                <a:rPr kumimoji="1" lang="en-US" altLang="zh-CN" b="1" i="1" u="none" strike="noStrike" kern="0" cap="none" spc="0" normalizeH="0" baseline="-2500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i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 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 0),</a:t>
              </a:r>
            </a:p>
          </p:txBody>
        </p:sp>
        <p:sp>
          <p:nvSpPr>
            <p:cNvPr id="24" name="Rectangle 35">
              <a:extLst>
                <a:ext uri="{FF2B5EF4-FFF2-40B4-BE49-F238E27FC236}">
                  <a16:creationId xmlns:a16="http://schemas.microsoft.com/office/drawing/2014/main" id="{177EE1C1-FDE3-4ECB-821A-BBB3B86C4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4854575"/>
              <a:ext cx="734221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sym typeface="Symbol" panose="05050102010706020507" pitchFamily="18" charset="2"/>
                </a:rPr>
                <a:t>则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 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k</a:t>
              </a:r>
              <a:r>
                <a:rPr kumimoji="1" lang="en-US" altLang="zh-CN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1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, </a:t>
              </a:r>
              <a:r>
                <a:rPr kumimoji="1" lang="en-US" altLang="zh-CN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k</a:t>
              </a:r>
              <a:r>
                <a:rPr kumimoji="1" lang="en-US" altLang="zh-CN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2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, ··· , </a:t>
              </a:r>
              <a:r>
                <a:rPr kumimoji="1" lang="en-US" altLang="zh-CN" b="1" i="1" u="none" strike="noStrike" kern="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k</a:t>
              </a:r>
              <a:r>
                <a:rPr kumimoji="1" lang="en-US" altLang="zh-CN" b="1" i="1" u="none" strike="noStrike" kern="0" cap="none" spc="0" normalizeH="0" baseline="-2500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r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 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sym typeface="Symbol" panose="05050102010706020507" pitchFamily="18" charset="2"/>
                </a:rPr>
                <a:t>中正数的个数与 </a:t>
              </a:r>
              <a:r>
                <a:rPr kumimoji="1" lang="en-US" altLang="en-US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</a:t>
              </a:r>
              <a:r>
                <a:rPr kumimoji="1" lang="en-US" altLang="en-US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1</a:t>
              </a:r>
              <a:r>
                <a:rPr kumimoji="1" lang="en-US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, </a:t>
              </a:r>
              <a:r>
                <a:rPr kumimoji="1" lang="en-US" altLang="en-US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</a:t>
              </a:r>
              <a:r>
                <a:rPr kumimoji="1" lang="en-US" altLang="en-US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2</a:t>
              </a:r>
              <a:r>
                <a:rPr kumimoji="1" lang="en-US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, 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···</a:t>
              </a:r>
              <a:r>
                <a:rPr kumimoji="1" lang="en-US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, </a:t>
              </a:r>
              <a:r>
                <a:rPr kumimoji="1" lang="en-US" altLang="en-US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</a:t>
              </a:r>
              <a:r>
                <a:rPr kumimoji="1" lang="en-US" altLang="zh-CN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sym typeface="Symbol" panose="05050102010706020507" pitchFamily="18" charset="2"/>
                </a:rPr>
                <a:t>r</a:t>
              </a:r>
            </a:p>
          </p:txBody>
        </p:sp>
      </p:grpSp>
      <p:sp>
        <p:nvSpPr>
          <p:cNvPr id="2" name="AutoShape 9">
            <a:extLst>
              <a:ext uri="{FF2B5EF4-FFF2-40B4-BE49-F238E27FC236}">
                <a16:creationId xmlns:a16="http://schemas.microsoft.com/office/drawing/2014/main" id="{E033046D-FC7C-14CE-1F45-A974A10EF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159" y="393700"/>
            <a:ext cx="2305033" cy="838200"/>
          </a:xfrm>
          <a:prstGeom prst="wedgeEllipseCallout">
            <a:avLst>
              <a:gd name="adj1" fmla="val -30564"/>
              <a:gd name="adj2" fmla="val 65215"/>
            </a:avLst>
          </a:prstGeom>
          <a:solidFill>
            <a:schemeClr val="bg1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惯性定理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527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-25651"/>
            <a:ext cx="425038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华文中宋" pitchFamily="2" charset="-122"/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latin typeface="华文中宋" pitchFamily="2" charset="-122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华文中宋" pitchFamily="2" charset="-122"/>
                <a:ea typeface="华文中宋" pitchFamily="2" charset="-122"/>
              </a:rPr>
              <a:t>惯性指数的定义</a:t>
            </a:r>
            <a:endParaRPr lang="zh-CN" altLang="en-US" sz="2600" b="1" dirty="0">
              <a:solidFill>
                <a:schemeClr val="bg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494225BF-FCB6-471D-ADDB-927E1B567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260" y="1752667"/>
            <a:ext cx="28082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正惯性指数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 </a:t>
            </a:r>
            <a:endParaRPr lang="en-US" altLang="zh-CN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/>
              <a:ea typeface="宋体"/>
            </a:endParaRPr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2A1A3357-8E73-4E0C-8EB6-CD7C71B6E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497" y="2473392"/>
            <a:ext cx="7200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若二次型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的正惯性指数为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秩为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CB863309-2CE5-4F10-873C-8D1640FF3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0" y="2488949"/>
            <a:ext cx="16208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则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</a:t>
            </a:r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71CD8F24-F5E8-496D-9175-DBFD2387A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497" y="4633979"/>
            <a:ext cx="79930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科学技术上用得较多的二次型是正惯性指数为 </a:t>
            </a:r>
            <a:r>
              <a:rPr lang="en-US" altLang="zh-CN" b="1" i="1" dirty="0">
                <a:solidFill>
                  <a:srgbClr val="000000"/>
                </a:solidFill>
                <a:ea typeface="宋体" charset="-122"/>
                <a:cs typeface="Times New Roman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ea typeface="宋体" charset="-122"/>
                <a:cs typeface="Times New Roman" pitchFamily="18" charset="0"/>
              </a:rPr>
              <a:t> </a:t>
            </a:r>
            <a:endParaRPr lang="zh-CN" altLang="en-US" b="1" dirty="0">
              <a:solidFill>
                <a:srgbClr val="000000"/>
              </a:solidFill>
              <a:ea typeface="宋体"/>
              <a:cs typeface="Times New Roman" pitchFamily="18" charset="0"/>
            </a:endParaRPr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7FBBE3B0-8E72-49BE-ADD3-5D76F45FF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60" y="5353117"/>
            <a:ext cx="568191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或负惯性指数为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n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n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元二次型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.  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21" name="Text Box 2">
            <a:extLst>
              <a:ext uri="{FF2B5EF4-FFF2-40B4-BE49-F238E27FC236}">
                <a16:creationId xmlns:a16="http://schemas.microsoft.com/office/drawing/2014/main" id="{25E60685-B9BF-4098-8F52-10207DBEB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85" y="1033529"/>
            <a:ext cx="82089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二次型的标准形中正系数的个数称为二次型的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060A1FC-AE2C-4A4D-B817-8414B3EB9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7522" y="1752667"/>
            <a:ext cx="58689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负系数的个数称为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负惯性指数 </a:t>
            </a: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.</a:t>
            </a:r>
          </a:p>
        </p:txBody>
      </p:sp>
      <p:sp>
        <p:nvSpPr>
          <p:cNvPr id="24" name="Text Box 8">
            <a:extLst>
              <a:ext uri="{FF2B5EF4-FFF2-40B4-BE49-F238E27FC236}">
                <a16:creationId xmlns:a16="http://schemas.microsoft.com/office/drawing/2014/main" id="{DA964517-2B21-4019-8C33-17D86B7C4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60" y="3192529"/>
            <a:ext cx="553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规范形便可确定为</a:t>
            </a:r>
          </a:p>
        </p:txBody>
      </p:sp>
      <p:graphicFrame>
        <p:nvGraphicFramePr>
          <p:cNvPr id="25" name="Object 3">
            <a:extLst>
              <a:ext uri="{FF2B5EF4-FFF2-40B4-BE49-F238E27FC236}">
                <a16:creationId xmlns:a16="http://schemas.microsoft.com/office/drawing/2014/main" id="{C4F43C57-77A2-4163-8589-D0A0D4C396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3875154"/>
          <a:ext cx="5016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16240" imgH="558720" progId="Equation.DSMT4">
                  <p:embed/>
                </p:oleObj>
              </mc:Choice>
              <mc:Fallback>
                <p:oleObj name="Equation" r:id="rId3" imgW="5016240" imgH="558720" progId="Equation.DSMT4">
                  <p:embed/>
                  <p:pic>
                    <p:nvPicPr>
                      <p:cNvPr id="25" name="Object 3">
                        <a:extLst>
                          <a:ext uri="{FF2B5EF4-FFF2-40B4-BE49-F238E27FC236}">
                            <a16:creationId xmlns:a16="http://schemas.microsoft.com/office/drawing/2014/main" id="{C4F43C57-77A2-4163-8589-D0A0D4C396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3875154"/>
                        <a:ext cx="50165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086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utoUpdateAnimBg="0" advAuto="0"/>
      <p:bldP spid="17" grpId="0" build="p" autoUpdateAnimBg="0"/>
      <p:bldP spid="18" grpId="0" build="p" autoUpdateAnimBg="0" advAuto="0"/>
      <p:bldP spid="19" grpId="0" build="p" autoUpdateAnimBg="0"/>
      <p:bldP spid="20" grpId="0" build="p" autoUpdateAnimBg="0" advAuto="0"/>
      <p:bldP spid="21" grpId="0" build="p" autoUpdateAnimBg="0"/>
      <p:bldP spid="22" grpId="0" build="p" autoUpdateAnimBg="0" advAuto="0"/>
      <p:bldP spid="24" grpId="0" build="p" autoUpdateAnimBg="0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900FB169-4E50-4B1E-8ED4-94F43A19C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0"/>
            <a:ext cx="54532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正定二次型的定义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7C3C1D44-099B-4633-AD11-106BB8F81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268413"/>
            <a:ext cx="6192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en-US" altLang="zh-CN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4.13</a:t>
            </a:r>
            <a:r>
              <a:rPr lang="zh-CN" altLang="en-US" dirty="0">
                <a:solidFill>
                  <a:srgbClr val="33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设有二次型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 = </a:t>
            </a:r>
            <a:r>
              <a:rPr lang="en-US" altLang="zh-CN" i="1" dirty="0" err="1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 err="1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i="1" dirty="0" err="1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C1540214-3613-47E1-B294-6C969F796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9088" y="3429000"/>
            <a:ext cx="35655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并称对称矩阵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A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是</a:t>
            </a:r>
            <a:endParaRPr lang="en-US" altLang="zh-CN" b="1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213687DE-BE64-4387-AF6F-4908A23C0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0" y="2708275"/>
            <a:ext cx="4248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如果对任何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 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都有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0059DC6-B1C8-4265-A439-FCB02CE8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708275"/>
            <a:ext cx="50403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并称对称矩阵 </a:t>
            </a:r>
            <a:r>
              <a:rPr lang="en-US" altLang="zh-CN" b="1" i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A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是正定的</a:t>
            </a:r>
            <a:r>
              <a:rPr lang="en-US" altLang="zh-CN" b="1" dirty="0">
                <a:solidFill>
                  <a:srgbClr val="C00000"/>
                </a:solidFill>
                <a:ea typeface="宋体" charset="-122"/>
              </a:rPr>
              <a:t>;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 </a:t>
            </a:r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CDC525A5-C8EE-447E-9646-AE79C0E24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989138"/>
            <a:ext cx="51831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都有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) &gt; 0 (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显然</a:t>
            </a:r>
            <a:r>
              <a:rPr kumimoji="1" lang="zh-CN" altLang="en-US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(0) = 0),   </a:t>
            </a: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6BF4DF48-2CD5-49F9-9A4E-3E0FAC01E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168" y="1268413"/>
            <a:ext cx="3563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若对任何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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,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8A400D8C-2892-445D-AA44-00DA67FA7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288" y="1989138"/>
            <a:ext cx="4176712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则称</a:t>
            </a:r>
            <a:r>
              <a:rPr lang="zh-CN" altLang="en-US" b="1" dirty="0">
                <a:solidFill>
                  <a:srgbClr val="000000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ea typeface="宋体" charset="-122"/>
              </a:rPr>
              <a:t>f</a:t>
            </a:r>
            <a:r>
              <a:rPr lang="en-US" altLang="zh-CN" b="1" i="1" dirty="0">
                <a:solidFill>
                  <a:srgbClr val="000000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为正定二次型</a:t>
            </a: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,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F00FB6-D20C-4BDF-B825-70281E115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429000"/>
            <a:ext cx="2016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) &lt; 0,  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0E186821-DA76-4EBA-A210-5E5BC70B6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3429000"/>
            <a:ext cx="41052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则称</a:t>
            </a:r>
            <a:r>
              <a:rPr lang="zh-CN" altLang="en-US" b="1" dirty="0">
                <a:solidFill>
                  <a:srgbClr val="000000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charset="-122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为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负定二次型</a:t>
            </a: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C00000"/>
              </a:solidFill>
              <a:ea typeface="宋体"/>
              <a:cs typeface="Times New Roman" pitchFamily="18" charset="0"/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E4D9189D-1335-46FA-913D-22F34D1D4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149725"/>
            <a:ext cx="2160587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负定的</a:t>
            </a: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.</a:t>
            </a:r>
            <a:r>
              <a:rPr lang="en-US" altLang="zh-CN" b="1" dirty="0">
                <a:solidFill>
                  <a:srgbClr val="C00000"/>
                </a:solidFill>
                <a:latin typeface="宋体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796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9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9" grpId="0" build="p" autoUpdateAnimBg="0" advAuto="0"/>
      <p:bldP spid="10" grpId="0" build="p" autoUpdateAnimBg="0" advAuto="0"/>
      <p:bldP spid="11" grpId="0" build="p" autoUpdateAnimBg="0" advAuto="0"/>
      <p:bldP spid="12" grpId="0" build="p" autoUpdateAnimBg="0" advAuto="0"/>
      <p:bldP spid="13" grpId="0" build="p" autoUpdateAnimBg="0"/>
      <p:bldP spid="14" grpId="0" build="p" autoUpdateAnimBg="0" advAuto="0"/>
      <p:bldP spid="15" grpId="0" build="p" autoUpdateAnimBg="0" advAuto="0"/>
      <p:bldP spid="16" grpId="0" build="p" autoUpdateAnimBg="0" advAuto="0"/>
      <p:bldP spid="17" grpId="0" build="p" autoUpdateAnimBg="0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900FB169-4E50-4B1E-8ED4-94F43A19C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20" y="0"/>
            <a:ext cx="696540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二次型正定性的定义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F35E207C-34A1-426F-AE2B-28DDDF677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286" y="1085553"/>
            <a:ext cx="6588869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定义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4.13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设有实二次型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(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) = </a:t>
            </a:r>
            <a:r>
              <a:rPr lang="en-US" altLang="zh-CN" b="1" i="1" dirty="0" err="1">
                <a:solidFill>
                  <a:srgbClr val="000000"/>
                </a:solidFill>
                <a:ea typeface="宋体"/>
                <a:cs typeface="Times New Roman" pitchFamily="18" charset="0"/>
              </a:rPr>
              <a:t>x</a:t>
            </a:r>
            <a:r>
              <a:rPr lang="en-US" altLang="zh-CN" b="1" i="1" baseline="50000" dirty="0" err="1">
                <a:solidFill>
                  <a:srgbClr val="000000"/>
                </a:solidFill>
                <a:ea typeface="宋体"/>
                <a:cs typeface="Times New Roman" pitchFamily="18" charset="0"/>
              </a:rPr>
              <a:t>T</a:t>
            </a:r>
            <a:r>
              <a:rPr lang="en-US" altLang="zh-CN" b="1" i="1" dirty="0" err="1">
                <a:solidFill>
                  <a:srgbClr val="000000"/>
                </a:solidFill>
                <a:ea typeface="宋体"/>
                <a:cs typeface="Times New Roman" pitchFamily="18" charset="0"/>
              </a:rPr>
              <a:t>Ax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endParaRPr lang="en-US" altLang="zh-CN" b="1" dirty="0">
              <a:solidFill>
                <a:srgbClr val="000000"/>
              </a:solidFill>
              <a:ea typeface="宋体"/>
              <a:cs typeface="Times New Roman" pitchFamily="18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98568DAF-50E4-4F57-BF73-1E3615F78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412" y="1805623"/>
            <a:ext cx="2952750" cy="52228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恒有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charset="-122"/>
                <a:cs typeface="Times New Roman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  <a:cs typeface="Times New Roman" pitchFamily="18" charset="0"/>
              </a:rPr>
              <a:t> (</a:t>
            </a:r>
            <a:r>
              <a:rPr lang="en-US" altLang="zh-CN" b="1" i="1" dirty="0">
                <a:solidFill>
                  <a:srgbClr val="000000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  <a:cs typeface="Times New Roman" pitchFamily="18" charset="0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 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  <a:cs typeface="Times New Roman" pitchFamily="18" charset="0"/>
              </a:rPr>
              <a:t>0,</a:t>
            </a:r>
            <a:endParaRPr lang="en-US" altLang="zh-CN" b="1" dirty="0">
              <a:solidFill>
                <a:srgbClr val="000000"/>
              </a:solidFill>
              <a:ea typeface="宋体"/>
              <a:cs typeface="Times New Roman" pitchFamily="18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8E975D27-D2BE-4689-A0D2-467646516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845" y="1084212"/>
            <a:ext cx="2275434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若</a:t>
            </a:r>
            <a:r>
              <a:rPr lang="zh-CN" altLang="en-US" b="1" i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x </a:t>
            </a:r>
            <a:r>
              <a:rPr lang="zh-CN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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CC0000"/>
                </a:solidFill>
                <a:ea typeface="宋体"/>
                <a:cs typeface="Times New Roman" pitchFamily="18" charset="0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时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endParaRPr lang="en-US" altLang="zh-CN" b="1" dirty="0">
              <a:solidFill>
                <a:srgbClr val="000000"/>
              </a:solidFill>
              <a:ea typeface="宋体"/>
              <a:cs typeface="Times New Roman" pitchFamily="18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5200EB0F-A1C2-4E5B-9BA5-EB0BDA0AD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75" y="1805623"/>
            <a:ext cx="5329237" cy="52228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那么称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(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)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为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半正定二次型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513AE48A-D354-4D9B-9389-FB7ABD6A2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924" y="1805623"/>
            <a:ext cx="13319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并称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B09FA35-55F3-46EB-B685-582ACDE93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50" y="2524760"/>
            <a:ext cx="3313112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rgbClr val="000000"/>
                </a:solidFill>
                <a:ea typeface="宋体" charset="-122"/>
                <a:cs typeface="Times New Roman" pitchFamily="18" charset="0"/>
              </a:rPr>
              <a:t>A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为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半正定矩阵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.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8FDF2FEF-96C2-4A45-86D9-32363438E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700" y="2524760"/>
            <a:ext cx="54721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类似地可定义</a:t>
            </a: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半负定二次型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85585536-7627-489D-B847-26E6BB34C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50" y="3245485"/>
            <a:ext cx="2736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半负定矩阵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82051FBA-A6F9-4317-8D05-12A06E333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286" y="3910940"/>
            <a:ext cx="6409391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若实二次型 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(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) = </a:t>
            </a:r>
            <a:r>
              <a:rPr lang="en-US" altLang="zh-CN" b="1" i="1" dirty="0" err="1">
                <a:solidFill>
                  <a:srgbClr val="000000"/>
                </a:solidFill>
                <a:ea typeface="宋体"/>
                <a:cs typeface="Times New Roman" pitchFamily="18" charset="0"/>
              </a:rPr>
              <a:t>x</a:t>
            </a:r>
            <a:r>
              <a:rPr lang="en-US" altLang="zh-CN" b="1" baseline="50000" dirty="0" err="1">
                <a:solidFill>
                  <a:srgbClr val="000000"/>
                </a:solidFill>
                <a:ea typeface="宋体"/>
                <a:cs typeface="Times New Roman" pitchFamily="18" charset="0"/>
              </a:rPr>
              <a:t>T</a:t>
            </a:r>
            <a:r>
              <a:rPr lang="en-US" altLang="zh-CN" b="1" i="1" dirty="0" err="1">
                <a:solidFill>
                  <a:srgbClr val="000000"/>
                </a:solidFill>
                <a:ea typeface="宋体"/>
                <a:cs typeface="Times New Roman" pitchFamily="18" charset="0"/>
              </a:rPr>
              <a:t>Ax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仅取一个符号</a:t>
            </a:r>
            <a:r>
              <a:rPr lang="en-US" altLang="zh-CN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7D0E51E6-A03B-4457-B726-84AB253A5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671" y="4623577"/>
            <a:ext cx="3349558" cy="52228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(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)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为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定的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54F85E21-C7FC-4D3C-A29D-7845033EA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3801" y="3913214"/>
            <a:ext cx="13319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则称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97F2CFC4-590C-4548-85A7-98FC3F4F8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2888" y="4627966"/>
            <a:ext cx="6409391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若实二次型 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(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) = </a:t>
            </a:r>
            <a:r>
              <a:rPr lang="en-US" altLang="zh-CN" b="1" i="1" dirty="0" err="1">
                <a:solidFill>
                  <a:srgbClr val="000000"/>
                </a:solidFill>
                <a:ea typeface="宋体"/>
                <a:cs typeface="Times New Roman" pitchFamily="18" charset="0"/>
              </a:rPr>
              <a:t>x</a:t>
            </a:r>
            <a:r>
              <a:rPr lang="en-US" altLang="zh-CN" b="1" baseline="50000" dirty="0" err="1">
                <a:solidFill>
                  <a:srgbClr val="000000"/>
                </a:solidFill>
                <a:ea typeface="宋体"/>
                <a:cs typeface="Times New Roman" pitchFamily="18" charset="0"/>
              </a:rPr>
              <a:t>T</a:t>
            </a:r>
            <a:r>
              <a:rPr lang="en-US" altLang="zh-CN" b="1" i="1" dirty="0" err="1">
                <a:solidFill>
                  <a:srgbClr val="000000"/>
                </a:solidFill>
                <a:ea typeface="宋体"/>
                <a:cs typeface="Times New Roman" pitchFamily="18" charset="0"/>
              </a:rPr>
              <a:t>Ax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取不同符号</a:t>
            </a:r>
            <a:r>
              <a:rPr lang="en-US" altLang="zh-CN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FC259DBF-0D9A-4B50-B0C9-86C7846DD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04" y="5345098"/>
            <a:ext cx="5509302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则称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(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)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为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不定的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. </a:t>
            </a:r>
            <a:endParaRPr lang="en-US" altLang="zh-CN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35541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7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7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5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7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7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7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build="p"/>
      <p:bldP spid="18" grpId="0" build="p"/>
      <p:bldP spid="19" grpId="0" build="p"/>
      <p:bldP spid="20" grpId="0" build="p"/>
      <p:bldP spid="21" grpId="0" build="p"/>
      <p:bldP spid="22" grpId="0"/>
      <p:bldP spid="24" grpId="0"/>
      <p:bldP spid="28" grpId="0" build="p"/>
      <p:bldP spid="31" grpId="0" build="p"/>
      <p:bldP spid="32" grpId="0" build="p"/>
      <p:bldP spid="34" grpId="0" build="p"/>
      <p:bldP spid="3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">
            <a:extLst>
              <a:ext uri="{FF2B5EF4-FFF2-40B4-BE49-F238E27FC236}">
                <a16:creationId xmlns:a16="http://schemas.microsoft.com/office/drawing/2014/main" id="{900FB169-4E50-4B1E-8ED4-94F43A19C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330" y="-17839"/>
            <a:ext cx="54532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正定二次型的定义</a:t>
            </a:r>
          </a:p>
        </p:txBody>
      </p:sp>
      <p:sp>
        <p:nvSpPr>
          <p:cNvPr id="21" name="Text Box 11">
            <a:extLst>
              <a:ext uri="{FF2B5EF4-FFF2-40B4-BE49-F238E27FC236}">
                <a16:creationId xmlns:a16="http://schemas.microsoft.com/office/drawing/2014/main" id="{C1CCC4DD-A8E9-4653-974B-689978FD1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2" y="1123963"/>
            <a:ext cx="3024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例如 </a:t>
            </a:r>
            <a:r>
              <a:rPr lang="en-US" altLang="zh-CN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二次型</a:t>
            </a:r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A0A1B243-1C29-4625-87F1-0979AB941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0" y="1843101"/>
            <a:ext cx="12239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正定</a:t>
            </a:r>
          </a:p>
        </p:txBody>
      </p:sp>
      <p:grpSp>
        <p:nvGrpSpPr>
          <p:cNvPr id="24" name="组合 21">
            <a:extLst>
              <a:ext uri="{FF2B5EF4-FFF2-40B4-BE49-F238E27FC236}">
                <a16:creationId xmlns:a16="http://schemas.microsoft.com/office/drawing/2014/main" id="{391B8424-FE6D-4208-9721-798D6B0EAB7B}"/>
              </a:ext>
            </a:extLst>
          </p:cNvPr>
          <p:cNvGrpSpPr>
            <a:grpSpLocks/>
          </p:cNvGrpSpPr>
          <p:nvPr/>
        </p:nvGrpSpPr>
        <p:grpSpPr bwMode="auto">
          <a:xfrm>
            <a:off x="1171575" y="1843101"/>
            <a:ext cx="7272337" cy="647700"/>
            <a:chOff x="755576" y="1268760"/>
            <a:chExt cx="7272808" cy="648072"/>
          </a:xfrm>
        </p:grpSpPr>
        <p:graphicFrame>
          <p:nvGraphicFramePr>
            <p:cNvPr id="25" name="Object 2">
              <a:extLst>
                <a:ext uri="{FF2B5EF4-FFF2-40B4-BE49-F238E27FC236}">
                  <a16:creationId xmlns:a16="http://schemas.microsoft.com/office/drawing/2014/main" id="{79E23049-76EC-4215-B466-B47124C70E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2734250"/>
                </p:ext>
              </p:extLst>
            </p:nvPr>
          </p:nvGraphicFramePr>
          <p:xfrm>
            <a:off x="755576" y="1268760"/>
            <a:ext cx="46990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698720" imgH="482400" progId="Equation.DSMT4">
                    <p:embed/>
                  </p:oleObj>
                </mc:Choice>
                <mc:Fallback>
                  <p:oleObj name="Equation" r:id="rId2" imgW="4698720" imgH="482400" progId="Equation.DSMT4">
                    <p:embed/>
                    <p:pic>
                      <p:nvPicPr>
                        <p:cNvPr id="5" name="Object 2">
                          <a:extLst>
                            <a:ext uri="{FF2B5EF4-FFF2-40B4-BE49-F238E27FC236}">
                              <a16:creationId xmlns:a16="http://schemas.microsoft.com/office/drawing/2014/main" id="{F5A238AA-89F0-4452-AE19-8AA99C7639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576" y="1268760"/>
                          <a:ext cx="4699000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" name="组合 12">
              <a:extLst>
                <a:ext uri="{FF2B5EF4-FFF2-40B4-BE49-F238E27FC236}">
                  <a16:creationId xmlns:a16="http://schemas.microsoft.com/office/drawing/2014/main" id="{B069BED3-166D-4C9D-B777-4210517CF5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0112" y="1268760"/>
              <a:ext cx="2448272" cy="648072"/>
              <a:chOff x="5580112" y="1268760"/>
              <a:chExt cx="2448272" cy="648072"/>
            </a:xfrm>
          </p:grpSpPr>
          <p:sp>
            <p:nvSpPr>
              <p:cNvPr id="27" name="Text Box 12">
                <a:extLst>
                  <a:ext uri="{FF2B5EF4-FFF2-40B4-BE49-F238E27FC236}">
                    <a16:creationId xmlns:a16="http://schemas.microsoft.com/office/drawing/2014/main" id="{2CD9D3D1-DC62-46F0-B402-AE628B6141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80112" y="1268760"/>
                <a:ext cx="2448272" cy="522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是           的</a:t>
                </a:r>
                <a:r>
                  <a:rPr kumimoji="1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.</a:t>
                </a:r>
                <a:endPara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8" name="直接连接符 8">
                <a:extLst>
                  <a:ext uri="{FF2B5EF4-FFF2-40B4-BE49-F238E27FC236}">
                    <a16:creationId xmlns:a16="http://schemas.microsoft.com/office/drawing/2014/main" id="{10C8606D-4BB0-47C9-A2C4-DC9DD723023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012160" y="1916832"/>
                <a:ext cx="1368152" cy="0"/>
              </a:xfrm>
              <a:prstGeom prst="line">
                <a:avLst/>
              </a:prstGeom>
              <a:noFill/>
              <a:ln w="38100" algn="ctr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29" name="组合 22">
            <a:extLst>
              <a:ext uri="{FF2B5EF4-FFF2-40B4-BE49-F238E27FC236}">
                <a16:creationId xmlns:a16="http://schemas.microsoft.com/office/drawing/2014/main" id="{40EAE630-CBAA-49DA-BFF6-18DEEE2CF393}"/>
              </a:ext>
            </a:extLst>
          </p:cNvPr>
          <p:cNvGrpSpPr>
            <a:grpSpLocks/>
          </p:cNvGrpSpPr>
          <p:nvPr/>
        </p:nvGrpSpPr>
        <p:grpSpPr bwMode="auto">
          <a:xfrm>
            <a:off x="1139607" y="2830935"/>
            <a:ext cx="7348537" cy="719150"/>
            <a:chOff x="680022" y="1988827"/>
            <a:chExt cx="7348362" cy="720093"/>
          </a:xfrm>
        </p:grpSpPr>
        <p:graphicFrame>
          <p:nvGraphicFramePr>
            <p:cNvPr id="30" name="Object 3">
              <a:extLst>
                <a:ext uri="{FF2B5EF4-FFF2-40B4-BE49-F238E27FC236}">
                  <a16:creationId xmlns:a16="http://schemas.microsoft.com/office/drawing/2014/main" id="{7C0405CE-80BC-459D-8854-01FE210114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4459520"/>
                </p:ext>
              </p:extLst>
            </p:nvPr>
          </p:nvGraphicFramePr>
          <p:xfrm>
            <a:off x="680022" y="1988827"/>
            <a:ext cx="4825885" cy="483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825800" imgH="482400" progId="Equation.DSMT4">
                    <p:embed/>
                  </p:oleObj>
                </mc:Choice>
                <mc:Fallback>
                  <p:oleObj name="Equation" r:id="rId4" imgW="4825800" imgH="482400" progId="Equation.DSMT4">
                    <p:embed/>
                    <p:pic>
                      <p:nvPicPr>
                        <p:cNvPr id="12" name="Object 3">
                          <a:extLst>
                            <a:ext uri="{FF2B5EF4-FFF2-40B4-BE49-F238E27FC236}">
                              <a16:creationId xmlns:a16="http://schemas.microsoft.com/office/drawing/2014/main" id="{CCB80502-D3C0-45FD-88C1-DE81BEE776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022" y="1988827"/>
                          <a:ext cx="4825885" cy="483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1" name="组合 13">
              <a:extLst>
                <a:ext uri="{FF2B5EF4-FFF2-40B4-BE49-F238E27FC236}">
                  <a16:creationId xmlns:a16="http://schemas.microsoft.com/office/drawing/2014/main" id="{E9E3B37D-6F70-450E-9A6F-C3C0AA8600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0112" y="1988840"/>
              <a:ext cx="2448272" cy="720080"/>
              <a:chOff x="5580112" y="1268760"/>
              <a:chExt cx="2448272" cy="720080"/>
            </a:xfrm>
          </p:grpSpPr>
          <p:sp>
            <p:nvSpPr>
              <p:cNvPr id="32" name="Text Box 12">
                <a:extLst>
                  <a:ext uri="{FF2B5EF4-FFF2-40B4-BE49-F238E27FC236}">
                    <a16:creationId xmlns:a16="http://schemas.microsoft.com/office/drawing/2014/main" id="{0190E1C4-12D5-4C31-B970-69F73E305E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80112" y="1268760"/>
                <a:ext cx="2448272" cy="522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是           的</a:t>
                </a:r>
                <a:r>
                  <a:rPr kumimoji="1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.</a:t>
                </a:r>
                <a:endPara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3" name="直接连接符 15">
                <a:extLst>
                  <a:ext uri="{FF2B5EF4-FFF2-40B4-BE49-F238E27FC236}">
                    <a16:creationId xmlns:a16="http://schemas.microsoft.com/office/drawing/2014/main" id="{1131B09B-5173-4B8F-8983-AE6AC625C87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012160" y="1988840"/>
                <a:ext cx="1296144" cy="0"/>
              </a:xfrm>
              <a:prstGeom prst="line">
                <a:avLst/>
              </a:prstGeom>
              <a:noFill/>
              <a:ln w="38100" algn="ctr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34" name="Text Box 12">
            <a:extLst>
              <a:ext uri="{FF2B5EF4-FFF2-40B4-BE49-F238E27FC236}">
                <a16:creationId xmlns:a16="http://schemas.microsoft.com/office/drawing/2014/main" id="{7DADEA1D-4D6E-46A5-8E01-50A0BC0F0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6482" y="2830948"/>
            <a:ext cx="12239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负定</a:t>
            </a:r>
          </a:p>
        </p:txBody>
      </p:sp>
      <p:grpSp>
        <p:nvGrpSpPr>
          <p:cNvPr id="35" name="组合 22">
            <a:extLst>
              <a:ext uri="{FF2B5EF4-FFF2-40B4-BE49-F238E27FC236}">
                <a16:creationId xmlns:a16="http://schemas.microsoft.com/office/drawing/2014/main" id="{1B683BE2-4C06-49E7-8CEB-AC20889FEA0F}"/>
              </a:ext>
            </a:extLst>
          </p:cNvPr>
          <p:cNvGrpSpPr>
            <a:grpSpLocks/>
          </p:cNvGrpSpPr>
          <p:nvPr/>
        </p:nvGrpSpPr>
        <p:grpSpPr bwMode="auto">
          <a:xfrm>
            <a:off x="1146283" y="3833673"/>
            <a:ext cx="6290230" cy="675448"/>
            <a:chOff x="1200260" y="1975608"/>
            <a:chExt cx="6290080" cy="676333"/>
          </a:xfrm>
        </p:grpSpPr>
        <p:graphicFrame>
          <p:nvGraphicFramePr>
            <p:cNvPr id="36" name="Object 3">
              <a:extLst>
                <a:ext uri="{FF2B5EF4-FFF2-40B4-BE49-F238E27FC236}">
                  <a16:creationId xmlns:a16="http://schemas.microsoft.com/office/drawing/2014/main" id="{1A91EA56-6CB7-44AC-8A96-E20351BC15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1680787"/>
                </p:ext>
              </p:extLst>
            </p:nvPr>
          </p:nvGraphicFramePr>
          <p:xfrm>
            <a:off x="1200260" y="1989469"/>
            <a:ext cx="3784510" cy="483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784320" imgH="482400" progId="Equation.DSMT4">
                    <p:embed/>
                  </p:oleObj>
                </mc:Choice>
                <mc:Fallback>
                  <p:oleObj name="Equation" r:id="rId6" imgW="3784320" imgH="482400" progId="Equation.DSMT4">
                    <p:embed/>
                    <p:pic>
                      <p:nvPicPr>
                        <p:cNvPr id="30" name="Object 3">
                          <a:extLst>
                            <a:ext uri="{FF2B5EF4-FFF2-40B4-BE49-F238E27FC236}">
                              <a16:creationId xmlns:a16="http://schemas.microsoft.com/office/drawing/2014/main" id="{7C0405CE-80BC-459D-8854-01FE210114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260" y="1989469"/>
                          <a:ext cx="3784510" cy="483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7" name="组合 13">
              <a:extLst>
                <a:ext uri="{FF2B5EF4-FFF2-40B4-BE49-F238E27FC236}">
                  <a16:creationId xmlns:a16="http://schemas.microsoft.com/office/drawing/2014/main" id="{F3AA10D3-9BB1-45A8-9485-B17246244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2068" y="1975608"/>
              <a:ext cx="2448272" cy="676333"/>
              <a:chOff x="5042068" y="1255528"/>
              <a:chExt cx="2448272" cy="676333"/>
            </a:xfrm>
          </p:grpSpPr>
          <p:sp>
            <p:nvSpPr>
              <p:cNvPr id="38" name="Text Box 12">
                <a:extLst>
                  <a:ext uri="{FF2B5EF4-FFF2-40B4-BE49-F238E27FC236}">
                    <a16:creationId xmlns:a16="http://schemas.microsoft.com/office/drawing/2014/main" id="{E8312A34-E3BD-4F73-8332-D2E47E2E25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2068" y="1255528"/>
                <a:ext cx="2448272" cy="522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是           的</a:t>
                </a: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.</a:t>
                </a:r>
                <a:endPara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9" name="直接连接符 15">
                <a:extLst>
                  <a:ext uri="{FF2B5EF4-FFF2-40B4-BE49-F238E27FC236}">
                    <a16:creationId xmlns:a16="http://schemas.microsoft.com/office/drawing/2014/main" id="{9EA301A2-5FFC-4D87-9824-04356C76A59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476775" y="1931861"/>
                <a:ext cx="1296144" cy="0"/>
              </a:xfrm>
              <a:prstGeom prst="line">
                <a:avLst/>
              </a:prstGeom>
              <a:noFill/>
              <a:ln w="38100" algn="ctr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40" name="Text Box 12">
            <a:extLst>
              <a:ext uri="{FF2B5EF4-FFF2-40B4-BE49-F238E27FC236}">
                <a16:creationId xmlns:a16="http://schemas.microsoft.com/office/drawing/2014/main" id="{62010BF6-D67A-406F-972E-CAD61BD25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367" y="3827671"/>
            <a:ext cx="12239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不定</a:t>
            </a:r>
          </a:p>
        </p:txBody>
      </p:sp>
    </p:spTree>
    <p:extLst>
      <p:ext uri="{BB962C8B-B14F-4D97-AF65-F5344CB8AC3E}">
        <p14:creationId xmlns:p14="http://schemas.microsoft.com/office/powerpoint/2010/main" val="27062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utoUpdateAnimBg="0"/>
      <p:bldP spid="22" grpId="0" build="p" autoUpdateAnimBg="0"/>
      <p:bldP spid="34" grpId="0" build="p" autoUpdateAnimBg="0"/>
      <p:bldP spid="40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900FB169-4E50-4B1E-8ED4-94F43A19C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163" y="0"/>
            <a:ext cx="54532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正定二次型的判别法</a:t>
            </a:r>
          </a:p>
        </p:txBody>
      </p:sp>
      <p:sp>
        <p:nvSpPr>
          <p:cNvPr id="25" name="Text Box 12">
            <a:extLst>
              <a:ext uri="{FF2B5EF4-FFF2-40B4-BE49-F238E27FC236}">
                <a16:creationId xmlns:a16="http://schemas.microsoft.com/office/drawing/2014/main" id="{E741A6F3-8A7C-4A0E-BC02-D79435B54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51" y="1008496"/>
            <a:ext cx="82438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latin typeface="Times New Roman" charset="0"/>
              </a:rPr>
              <a:t>4.14  </a:t>
            </a:r>
            <a:r>
              <a:rPr lang="en-US" altLang="zh-CN" b="1" i="1" dirty="0">
                <a:solidFill>
                  <a:srgbClr val="0000FF"/>
                </a:solidFill>
                <a:latin typeface="Times New Roman"/>
                <a:ea typeface="华文中宋" pitchFamily="2" charset="-122"/>
              </a:rPr>
              <a:t>n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元二次型 </a:t>
            </a:r>
            <a:r>
              <a:rPr lang="en-US" altLang="zh-CN" b="1" i="1" dirty="0">
                <a:solidFill>
                  <a:srgbClr val="0000FF"/>
                </a:solidFill>
                <a:latin typeface="Times New Roman" charset="0"/>
              </a:rPr>
              <a:t>f</a:t>
            </a:r>
            <a:r>
              <a:rPr lang="en-US" altLang="zh-CN" b="1" dirty="0">
                <a:solidFill>
                  <a:srgbClr val="0000FF"/>
                </a:solidFill>
                <a:latin typeface="Times New Roman" charset="0"/>
              </a:rPr>
              <a:t> = </a:t>
            </a:r>
            <a:r>
              <a:rPr lang="en-US" altLang="zh-CN" b="1" i="1" dirty="0" err="1">
                <a:solidFill>
                  <a:srgbClr val="0000FF"/>
                </a:solidFill>
                <a:latin typeface="Times New Roman" charset="0"/>
              </a:rPr>
              <a:t>x</a:t>
            </a:r>
            <a:r>
              <a:rPr lang="en-US" altLang="zh-CN" b="1" baseline="30000" dirty="0" err="1">
                <a:solidFill>
                  <a:srgbClr val="0000FF"/>
                </a:solidFill>
                <a:latin typeface="Times New Roman" charset="0"/>
              </a:rPr>
              <a:t>T</a:t>
            </a:r>
            <a:r>
              <a:rPr lang="en-US" altLang="zh-CN" b="1" i="1" dirty="0" err="1">
                <a:solidFill>
                  <a:srgbClr val="0000FF"/>
                </a:solidFill>
                <a:latin typeface="Times New Roman" charset="0"/>
              </a:rPr>
              <a:t>Ax</a:t>
            </a:r>
            <a:r>
              <a:rPr lang="en-US" altLang="zh-CN" b="1" i="1" dirty="0">
                <a:solidFill>
                  <a:srgbClr val="0000FF"/>
                </a:solidFill>
                <a:latin typeface="Times New Roman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为正定的充分必要</a:t>
            </a:r>
          </a:p>
        </p:txBody>
      </p:sp>
      <p:sp>
        <p:nvSpPr>
          <p:cNvPr id="26" name="Rectangle 35">
            <a:extLst>
              <a:ext uri="{FF2B5EF4-FFF2-40B4-BE49-F238E27FC236}">
                <a16:creationId xmlns:a16="http://schemas.microsoft.com/office/drawing/2014/main" id="{D349E86A-01BA-41C8-95B0-534CFFC6D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31" y="1731602"/>
            <a:ext cx="1873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条件是</a:t>
            </a:r>
            <a:r>
              <a:rPr lang="en-US" altLang="zh-CN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46">
            <a:extLst>
              <a:ext uri="{FF2B5EF4-FFF2-40B4-BE49-F238E27FC236}">
                <a16:creationId xmlns:a16="http://schemas.microsoft.com/office/drawing/2014/main" id="{78D255F2-6FB6-4ECC-833D-0FF69472E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5793" y="1730014"/>
            <a:ext cx="2125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即它的规</a:t>
            </a:r>
          </a:p>
        </p:txBody>
      </p:sp>
      <p:sp>
        <p:nvSpPr>
          <p:cNvPr id="28" name="Rectangle 46">
            <a:extLst>
              <a:ext uri="{FF2B5EF4-FFF2-40B4-BE49-F238E27FC236}">
                <a16:creationId xmlns:a16="http://schemas.microsoft.com/office/drawing/2014/main" id="{5FC624F6-4A58-4AC4-8BF6-DAB3E2CCE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31" y="2450739"/>
            <a:ext cx="4248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范形的 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n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个系数全为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1;</a:t>
            </a:r>
            <a:endParaRPr lang="zh-CN" altLang="en-US" b="1" dirty="0">
              <a:solidFill>
                <a:srgbClr val="0000FF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9" name="Rectangle 35">
            <a:extLst>
              <a:ext uri="{FF2B5EF4-FFF2-40B4-BE49-F238E27FC236}">
                <a16:creationId xmlns:a16="http://schemas.microsoft.com/office/drawing/2014/main" id="{DE5149CE-3B05-4715-8EEA-D06BAA235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993" y="1731602"/>
            <a:ext cx="5905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它的标准形的 </a:t>
            </a:r>
            <a:r>
              <a:rPr lang="en-US" altLang="zh-CN" i="1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个系数全为正</a:t>
            </a:r>
            <a:r>
              <a:rPr lang="en-US" altLang="zh-CN">
                <a:solidFill>
                  <a:srgbClr val="0000FF"/>
                </a:solidFill>
                <a:ea typeface="华文中宋" panose="02010600040101010101" pitchFamily="2" charset="-122"/>
              </a:rPr>
              <a:t>;</a:t>
            </a:r>
            <a:endParaRPr lang="zh-CN" altLang="en-US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" name="Rectangle 46">
            <a:extLst>
              <a:ext uri="{FF2B5EF4-FFF2-40B4-BE49-F238E27FC236}">
                <a16:creationId xmlns:a16="http://schemas.microsoft.com/office/drawing/2014/main" id="{F6EAFAD9-0747-435F-A80F-C4959078D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043" y="2450739"/>
            <a:ext cx="4789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亦即它的正惯性指数等于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.</a:t>
            </a:r>
            <a:r>
              <a:rPr lang="en-US" altLang="zh-CN" b="1" dirty="0">
                <a:solidFill>
                  <a:srgbClr val="0000FF"/>
                </a:solidFill>
                <a:latin typeface="宋体"/>
                <a:ea typeface="宋体" charset="-122"/>
              </a:rPr>
              <a:t> 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09CBE5C8-A9C0-4892-8CB7-1B3820FAF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7681" y="3173052"/>
            <a:ext cx="44640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设可逆变换 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x = Cy 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使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</a:p>
        </p:txBody>
      </p:sp>
      <p:sp>
        <p:nvSpPr>
          <p:cNvPr id="32" name="Text Box 7">
            <a:extLst>
              <a:ext uri="{FF2B5EF4-FFF2-40B4-BE49-F238E27FC236}">
                <a16:creationId xmlns:a16="http://schemas.microsoft.com/office/drawing/2014/main" id="{6A759372-4285-4D0C-BA21-8C0EF9D5D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593" y="3892189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先证</a:t>
            </a:r>
            <a:r>
              <a:rPr lang="zh-CN" altLang="en-US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充分性</a:t>
            </a:r>
            <a:r>
              <a:rPr lang="en-US" altLang="zh-CN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r>
              <a:rPr lang="en-US" altLang="zh-CN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64E468DA-5B69-40A4-A05E-B7587BA8B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2718" y="4611327"/>
            <a:ext cx="309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则</a:t>
            </a:r>
            <a:r>
              <a:rPr lang="zh-CN" altLang="en-US" b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   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 = 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C </a:t>
            </a:r>
            <a:r>
              <a:rPr lang="en-US" altLang="zh-CN" b="1" baseline="30000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-1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  0 ,  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  <a:sym typeface="Symbol" pitchFamily="18" charset="2"/>
            </a:endParaRPr>
          </a:p>
        </p:txBody>
      </p:sp>
      <p:sp>
        <p:nvSpPr>
          <p:cNvPr id="34" name="Rectangle 10">
            <a:extLst>
              <a:ext uri="{FF2B5EF4-FFF2-40B4-BE49-F238E27FC236}">
                <a16:creationId xmlns:a16="http://schemas.microsoft.com/office/drawing/2014/main" id="{DCF55B5C-982A-46C1-8B4D-68B9C0AF8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93" y="4612914"/>
            <a:ext cx="2303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任给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 0 , 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8CCF024C-954B-4595-9897-607442489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8618" y="3892189"/>
            <a:ext cx="4608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kumimoji="1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&gt; 0 (</a:t>
            </a:r>
            <a:r>
              <a:rPr kumimoji="1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= 1, 2, </a:t>
            </a:r>
            <a:r>
              <a:rPr kumimoji="0" lang="en-US" altLang="zh-CN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···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). </a:t>
            </a:r>
          </a:p>
        </p:txBody>
      </p:sp>
      <p:sp>
        <p:nvSpPr>
          <p:cNvPr id="36" name="Rectangle 12">
            <a:extLst>
              <a:ext uri="{FF2B5EF4-FFF2-40B4-BE49-F238E27FC236}">
                <a16:creationId xmlns:a16="http://schemas.microsoft.com/office/drawing/2014/main" id="{301E8799-7916-4875-8B6A-0692E86F5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56" y="3171464"/>
            <a:ext cx="1143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graphicFrame>
        <p:nvGraphicFramePr>
          <p:cNvPr id="37" name="Object 5">
            <a:extLst>
              <a:ext uri="{FF2B5EF4-FFF2-40B4-BE49-F238E27FC236}">
                <a16:creationId xmlns:a16="http://schemas.microsoft.com/office/drawing/2014/main" id="{F76605A0-1B9E-4FA7-A9DD-1D98C3D579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503311"/>
              </p:ext>
            </p:extLst>
          </p:nvPr>
        </p:nvGraphicFramePr>
        <p:xfrm>
          <a:off x="5239568" y="2955564"/>
          <a:ext cx="3378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77880" imgH="939600" progId="Equation.DSMT4">
                  <p:embed/>
                </p:oleObj>
              </mc:Choice>
              <mc:Fallback>
                <p:oleObj name="Equation" r:id="rId3" imgW="3377880" imgH="939600" progId="Equation.DSMT4">
                  <p:embed/>
                  <p:pic>
                    <p:nvPicPr>
                      <p:cNvPr id="31" name="Object 5">
                        <a:extLst>
                          <a:ext uri="{FF2B5EF4-FFF2-40B4-BE49-F238E27FC236}">
                            <a16:creationId xmlns:a16="http://schemas.microsoft.com/office/drawing/2014/main" id="{D00DC71F-0BFA-498D-81A0-784DD35A78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9568" y="2955564"/>
                        <a:ext cx="3378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9">
            <a:extLst>
              <a:ext uri="{FF2B5EF4-FFF2-40B4-BE49-F238E27FC236}">
                <a16:creationId xmlns:a16="http://schemas.microsoft.com/office/drawing/2014/main" id="{5544DCFA-B80F-4988-94BD-A558EB1A8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2443" y="4611327"/>
            <a:ext cx="1008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故</a:t>
            </a:r>
          </a:p>
        </p:txBody>
      </p:sp>
      <p:graphicFrame>
        <p:nvGraphicFramePr>
          <p:cNvPr id="39" name="Object 6">
            <a:extLst>
              <a:ext uri="{FF2B5EF4-FFF2-40B4-BE49-F238E27FC236}">
                <a16:creationId xmlns:a16="http://schemas.microsoft.com/office/drawing/2014/main" id="{5F2D6788-1419-4234-9ADA-C35C8DFBFA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486004"/>
              </p:ext>
            </p:extLst>
          </p:nvPr>
        </p:nvGraphicFramePr>
        <p:xfrm>
          <a:off x="702493" y="5187589"/>
          <a:ext cx="2590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90560" imgH="939600" progId="Equation.DSMT4">
                  <p:embed/>
                </p:oleObj>
              </mc:Choice>
              <mc:Fallback>
                <p:oleObj name="Equation" r:id="rId5" imgW="2590560" imgH="939600" progId="Equation.DSMT4">
                  <p:embed/>
                  <p:pic>
                    <p:nvPicPr>
                      <p:cNvPr id="33" name="Object 6">
                        <a:extLst>
                          <a:ext uri="{FF2B5EF4-FFF2-40B4-BE49-F238E27FC236}">
                            <a16:creationId xmlns:a16="http://schemas.microsoft.com/office/drawing/2014/main" id="{5EC7CF18-5A0B-467D-9BFF-F0F16EAB3E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493" y="5187589"/>
                        <a:ext cx="25908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5">
            <a:extLst>
              <a:ext uri="{FF2B5EF4-FFF2-40B4-BE49-F238E27FC236}">
                <a16:creationId xmlns:a16="http://schemas.microsoft.com/office/drawing/2014/main" id="{A4F74EB9-5DA8-4243-B754-2A3A00436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0781" y="5332052"/>
            <a:ext cx="52562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即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二次型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f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x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) = </a:t>
            </a:r>
            <a:r>
              <a:rPr lang="en-US" altLang="zh-CN" b="1" i="1" dirty="0" err="1">
                <a:solidFill>
                  <a:srgbClr val="0000FF"/>
                </a:solidFill>
                <a:ea typeface="宋体" charset="-122"/>
              </a:rPr>
              <a:t>x</a:t>
            </a:r>
            <a:r>
              <a:rPr lang="en-US" altLang="zh-CN" b="1" baseline="30000" dirty="0" err="1">
                <a:solidFill>
                  <a:srgbClr val="0000FF"/>
                </a:solidFill>
                <a:ea typeface="宋体" charset="-122"/>
              </a:rPr>
              <a:t>T</a:t>
            </a:r>
            <a:r>
              <a:rPr lang="en-US" altLang="zh-CN" b="1" i="1" dirty="0" err="1">
                <a:solidFill>
                  <a:srgbClr val="0000FF"/>
                </a:solidFill>
                <a:ea typeface="宋体" charset="-122"/>
              </a:rPr>
              <a:t>Ax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正定</a:t>
            </a:r>
            <a:r>
              <a:rPr lang="en-US" altLang="zh-CN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.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16242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 autoUpdateAnimBg="0"/>
      <p:bldP spid="26" grpId="0" build="p" autoUpdateAnimBg="0" advAuto="0"/>
      <p:bldP spid="27" grpId="0" build="p" autoUpdateAnimBg="0" advAuto="0"/>
      <p:bldP spid="28" grpId="0" build="p" autoUpdateAnimBg="0" advAuto="0"/>
      <p:bldP spid="29" grpId="0" build="p" autoUpdateAnimBg="0" advAuto="0"/>
      <p:bldP spid="30" grpId="0" build="p" autoUpdateAnimBg="0" advAuto="0"/>
      <p:bldP spid="31" grpId="0" build="p" autoUpdateAnimBg="0"/>
      <p:bldP spid="32" grpId="0" build="p" autoUpdateAnimBg="0"/>
      <p:bldP spid="33" grpId="0" build="p" autoUpdateAnimBg="0" advAuto="0"/>
      <p:bldP spid="34" grpId="0" build="p" autoUpdateAnimBg="0"/>
      <p:bldP spid="35" grpId="0" build="p" autoUpdateAnimBg="0"/>
      <p:bldP spid="36" grpId="0"/>
      <p:bldP spid="38" grpId="0" build="p" autoUpdateAnimBg="0" advAuto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900FB169-4E50-4B1E-8ED4-94F43A19C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83" y="-25169"/>
            <a:ext cx="54532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正定二次型的判别法</a:t>
            </a:r>
          </a:p>
        </p:txBody>
      </p:sp>
      <p:sp>
        <p:nvSpPr>
          <p:cNvPr id="55" name="Text Box 2">
            <a:extLst>
              <a:ext uri="{FF2B5EF4-FFF2-40B4-BE49-F238E27FC236}">
                <a16:creationId xmlns:a16="http://schemas.microsoft.com/office/drawing/2014/main" id="{2B404E5F-1DAF-42DF-9056-56B1531C7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062" y="870977"/>
            <a:ext cx="2663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再证</a:t>
            </a: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必要性</a:t>
            </a:r>
            <a:r>
              <a:rPr lang="en-US" altLang="zh-CN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5B608EA1-AD31-42BC-898F-A9D87DA4D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4806" y="3735985"/>
            <a:ext cx="404735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</a:rPr>
              <a:t>k</a:t>
            </a:r>
            <a:r>
              <a:rPr lang="en-US" altLang="zh-CN" b="1" i="1" baseline="-25000" dirty="0">
                <a:solidFill>
                  <a:srgbClr val="000000"/>
                </a:solidFill>
                <a:ea typeface="黑体" pitchFamily="2" charset="-122"/>
              </a:rPr>
              <a:t>i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</a:rPr>
              <a:t>&gt; 0 (</a:t>
            </a:r>
            <a:r>
              <a:rPr lang="en-US" altLang="zh-CN" b="1" i="1" dirty="0" err="1">
                <a:solidFill>
                  <a:srgbClr val="000000"/>
                </a:solidFill>
                <a:ea typeface="黑体" pitchFamily="2" charset="-122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</a:rPr>
              <a:t> = 1, 2, ··· , 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</a:rPr>
              <a:t>).               </a:t>
            </a:r>
            <a:endParaRPr lang="en-US" altLang="zh-CN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sp>
        <p:nvSpPr>
          <p:cNvPr id="57" name="Rectangle 4">
            <a:extLst>
              <a:ext uri="{FF2B5EF4-FFF2-40B4-BE49-F238E27FC236}">
                <a16:creationId xmlns:a16="http://schemas.microsoft.com/office/drawing/2014/main" id="{2C9E286C-860B-4782-AD40-9B74A7ABE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844" y="3015260"/>
            <a:ext cx="41640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这与</a:t>
            </a:r>
            <a:r>
              <a:rPr lang="zh-CN" altLang="en-US" b="1" i="1" dirty="0">
                <a:solidFill>
                  <a:srgbClr val="000000"/>
                </a:solidFill>
                <a:latin typeface="宋体"/>
                <a:ea typeface="宋体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f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正定相矛盾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  <a:sym typeface="Symbol" pitchFamily="18" charset="2"/>
              </a:rPr>
              <a:t> </a:t>
            </a:r>
          </a:p>
        </p:txBody>
      </p:sp>
      <p:sp>
        <p:nvSpPr>
          <p:cNvPr id="58" name="Rectangle 5">
            <a:extLst>
              <a:ext uri="{FF2B5EF4-FFF2-40B4-BE49-F238E27FC236}">
                <a16:creationId xmlns:a16="http://schemas.microsoft.com/office/drawing/2014/main" id="{CD0F2F24-E19D-434F-A1CF-B137AE5E4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4587" y="3010693"/>
            <a:ext cx="1282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所以</a:t>
            </a:r>
          </a:p>
        </p:txBody>
      </p:sp>
      <p:sp>
        <p:nvSpPr>
          <p:cNvPr id="59" name="Rectangle 6">
            <a:extLst>
              <a:ext uri="{FF2B5EF4-FFF2-40B4-BE49-F238E27FC236}">
                <a16:creationId xmlns:a16="http://schemas.microsoft.com/office/drawing/2014/main" id="{7B533555-CDED-4F66-8157-BEFF87822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194" y="2296123"/>
            <a:ext cx="215900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且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b="1" i="1" dirty="0" err="1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Ce</a:t>
            </a:r>
            <a:r>
              <a:rPr lang="en-US" altLang="zh-CN" b="1" i="1" baseline="-25000" dirty="0" err="1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s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) =</a:t>
            </a:r>
          </a:p>
        </p:txBody>
      </p:sp>
      <p:sp>
        <p:nvSpPr>
          <p:cNvPr id="60" name="Rectangle 7">
            <a:extLst>
              <a:ext uri="{FF2B5EF4-FFF2-40B4-BE49-F238E27FC236}">
                <a16:creationId xmlns:a16="http://schemas.microsoft.com/office/drawing/2014/main" id="{FFA6E476-BB96-45F0-B104-DB8425291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869" y="2296123"/>
            <a:ext cx="18716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i="1" dirty="0" err="1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Ce</a:t>
            </a:r>
            <a:r>
              <a:rPr lang="en-US" altLang="zh-CN" b="1" i="1" baseline="-25000" dirty="0" err="1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s</a:t>
            </a:r>
            <a:r>
              <a:rPr lang="en-US" altLang="zh-CN" b="1" baseline="-25000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 0 </a:t>
            </a:r>
            <a:r>
              <a:rPr lang="en-US" altLang="zh-CN" b="1" dirty="0">
                <a:solidFill>
                  <a:srgbClr val="000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 charset="-122"/>
                <a:sym typeface="Symbol" pitchFamily="18" charset="2"/>
              </a:rPr>
              <a:t> 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  <a:sym typeface="Symbol" pitchFamily="18" charset="2"/>
            </a:endParaRPr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6DFDBC90-671F-471C-9F35-47B792C09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8769" y="856260"/>
            <a:ext cx="24495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用反证法</a:t>
            </a:r>
            <a:r>
              <a:rPr lang="en-US" altLang="zh-CN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. 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  <a:sym typeface="Symbol" pitchFamily="18" charset="2"/>
            </a:endParaRPr>
          </a:p>
        </p:txBody>
      </p:sp>
      <p:sp>
        <p:nvSpPr>
          <p:cNvPr id="63" name="Rectangle 8">
            <a:extLst>
              <a:ext uri="{FF2B5EF4-FFF2-40B4-BE49-F238E27FC236}">
                <a16:creationId xmlns:a16="http://schemas.microsoft.com/office/drawing/2014/main" id="{8C34B02C-682B-42A2-8071-073E873F9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844" y="1575398"/>
            <a:ext cx="28813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假设有</a:t>
            </a:r>
            <a:r>
              <a:rPr lang="zh-CN" altLang="en-US" b="1" dirty="0">
                <a:solidFill>
                  <a:srgbClr val="000000"/>
                </a:solidFill>
                <a:ea typeface="黑体" pitchFamily="2" charset="-122"/>
              </a:rPr>
              <a:t> </a:t>
            </a:r>
            <a:r>
              <a:rPr lang="en-US" altLang="zh-CN" b="1" i="1" dirty="0" err="1">
                <a:solidFill>
                  <a:srgbClr val="000000"/>
                </a:solidFill>
                <a:ea typeface="黑体" pitchFamily="2" charset="-122"/>
              </a:rPr>
              <a:t>k</a:t>
            </a:r>
            <a:r>
              <a:rPr lang="en-US" altLang="zh-CN" b="1" i="1" baseline="-25000" dirty="0" err="1">
                <a:solidFill>
                  <a:srgbClr val="000000"/>
                </a:solidFill>
                <a:ea typeface="黑体" pitchFamily="2" charset="-122"/>
              </a:rPr>
              <a:t>s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 0, 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  <a:sym typeface="Symbol" pitchFamily="18" charset="2"/>
            </a:endParaRPr>
          </a:p>
        </p:txBody>
      </p:sp>
      <p:sp>
        <p:nvSpPr>
          <p:cNvPr id="64" name="Rectangle 8">
            <a:extLst>
              <a:ext uri="{FF2B5EF4-FFF2-40B4-BE49-F238E27FC236}">
                <a16:creationId xmlns:a16="http://schemas.microsoft.com/office/drawing/2014/main" id="{16B9BD17-C8E8-46D0-ABD7-18CA3DDB9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5894" y="1575398"/>
            <a:ext cx="52578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则当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y = </a:t>
            </a:r>
            <a:r>
              <a:rPr lang="en-US" altLang="zh-CN" b="1" i="1" dirty="0" err="1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e</a:t>
            </a:r>
            <a:r>
              <a:rPr lang="en-US" altLang="zh-CN" b="1" i="1" baseline="-25000" dirty="0" err="1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s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 (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单位坐标向量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时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, 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  <a:sym typeface="Symbol" pitchFamily="18" charset="2"/>
            </a:endParaRPr>
          </a:p>
        </p:txBody>
      </p:sp>
      <p:sp>
        <p:nvSpPr>
          <p:cNvPr id="65" name="Rectangle 44">
            <a:extLst>
              <a:ext uri="{FF2B5EF4-FFF2-40B4-BE49-F238E27FC236}">
                <a16:creationId xmlns:a16="http://schemas.microsoft.com/office/drawing/2014/main" id="{E873E278-185A-45D3-A108-D23C6B8C6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738" y="4760315"/>
            <a:ext cx="813752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推论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4.4</a:t>
            </a:r>
            <a:r>
              <a:rPr lang="zh-CN" altLang="en-US" b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对称矩阵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latin typeface="Times New Roman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为正定的充分必要条件是</a:t>
            </a:r>
            <a:r>
              <a:rPr lang="en-US" altLang="zh-CN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: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6" name="Rectangle 45">
            <a:extLst>
              <a:ext uri="{FF2B5EF4-FFF2-40B4-BE49-F238E27FC236}">
                <a16:creationId xmlns:a16="http://schemas.microsoft.com/office/drawing/2014/main" id="{F08DF79F-61D3-44BE-8F68-E06E469BB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751" y="5381027"/>
            <a:ext cx="4191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A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的特征值全为正</a:t>
            </a:r>
            <a:r>
              <a:rPr lang="en-US" altLang="zh-CN" b="1" dirty="0">
                <a:solidFill>
                  <a:srgbClr val="0000FF"/>
                </a:solidFill>
                <a:latin typeface="宋体"/>
                <a:ea typeface="宋体"/>
              </a:rPr>
              <a:t>.</a:t>
            </a:r>
          </a:p>
        </p:txBody>
      </p:sp>
      <p:sp>
        <p:nvSpPr>
          <p:cNvPr id="68" name="Rectangle 6">
            <a:extLst>
              <a:ext uri="{FF2B5EF4-FFF2-40B4-BE49-F238E27FC236}">
                <a16:creationId xmlns:a16="http://schemas.microsoft.com/office/drawing/2014/main" id="{FCD6E5EA-0E35-42D4-87F8-6E0F9C952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9856" y="2296123"/>
            <a:ext cx="7921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</a:t>
            </a:r>
            <a:r>
              <a:rPr kumimoji="1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s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9" name="Rectangle 6">
            <a:extLst>
              <a:ext uri="{FF2B5EF4-FFF2-40B4-BE49-F238E27FC236}">
                <a16:creationId xmlns:a16="http://schemas.microsoft.com/office/drawing/2014/main" id="{4A0EB76A-EAE7-48E9-AC98-2637C4291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119" y="2296123"/>
            <a:ext cx="12954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 0 . </a:t>
            </a:r>
          </a:p>
        </p:txBody>
      </p:sp>
    </p:spTree>
    <p:extLst>
      <p:ext uri="{BB962C8B-B14F-4D97-AF65-F5344CB8AC3E}">
        <p14:creationId xmlns:p14="http://schemas.microsoft.com/office/powerpoint/2010/main" val="369832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uild="p" autoUpdateAnimBg="0"/>
      <p:bldP spid="56" grpId="0" build="p" autoUpdateAnimBg="0" advAuto="0"/>
      <p:bldP spid="57" grpId="0" build="p" autoUpdateAnimBg="0" advAuto="0"/>
      <p:bldP spid="58" grpId="0" build="p" autoUpdateAnimBg="0"/>
      <p:bldP spid="59" grpId="0" build="p" autoUpdateAnimBg="0" advAuto="0"/>
      <p:bldP spid="60" grpId="0" build="p" autoUpdateAnimBg="0"/>
      <p:bldP spid="61" grpId="0" build="p" autoUpdateAnimBg="0"/>
      <p:bldP spid="63" grpId="0" build="p" autoUpdateAnimBg="0"/>
      <p:bldP spid="64" grpId="0" build="p" autoUpdateAnimBg="0"/>
      <p:bldP spid="65" grpId="0" build="p" autoUpdateAnimBg="0"/>
      <p:bldP spid="66" grpId="0" build="p" autoUpdateAnimBg="0" advAuto="0"/>
      <p:bldP spid="68" grpId="0" build="p" autoUpdateAnimBg="0" advAuto="0"/>
      <p:bldP spid="69" grpId="0" build="p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900FB169-4E50-4B1E-8ED4-94F43A19C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-6988"/>
            <a:ext cx="54532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顺序主子式的定义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0424E913-654A-41EB-837C-4C6AB5A95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548" y="818357"/>
            <a:ext cx="57245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en-US" altLang="zh-CN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4.14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对于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阶矩阵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= (</a:t>
            </a:r>
            <a:r>
              <a:rPr kumimoji="1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8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ij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) ,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E9DE207-465D-4D9F-AA16-E9EAC0AA1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286" y="1537495"/>
            <a:ext cx="4537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阶主子方阵的行列式</a:t>
            </a:r>
          </a:p>
        </p:txBody>
      </p:sp>
      <p:graphicFrame>
        <p:nvGraphicFramePr>
          <p:cNvPr id="16" name="Object 11">
            <a:extLst>
              <a:ext uri="{FF2B5EF4-FFF2-40B4-BE49-F238E27FC236}">
                <a16:creationId xmlns:a16="http://schemas.microsoft.com/office/drawing/2014/main" id="{AD736CD1-87AC-42B7-BCA9-3AB1D82D62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4336" y="2113757"/>
          <a:ext cx="26162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16120" imgH="1676160" progId="Equation.DSMT4">
                  <p:embed/>
                </p:oleObj>
              </mc:Choice>
              <mc:Fallback>
                <p:oleObj name="Equation" r:id="rId3" imgW="2616120" imgH="1676160" progId="Equation.DSMT4">
                  <p:embed/>
                  <p:pic>
                    <p:nvPicPr>
                      <p:cNvPr id="16" name="Object 11">
                        <a:extLst>
                          <a:ext uri="{FF2B5EF4-FFF2-40B4-BE49-F238E27FC236}">
                            <a16:creationId xmlns:a16="http://schemas.microsoft.com/office/drawing/2014/main" id="{AD736CD1-87AC-42B7-BCA9-3AB1D82D62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336" y="2113757"/>
                        <a:ext cx="26162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1">
            <a:extLst>
              <a:ext uri="{FF2B5EF4-FFF2-40B4-BE49-F238E27FC236}">
                <a16:creationId xmlns:a16="http://schemas.microsoft.com/office/drawing/2014/main" id="{021520EA-75DD-4219-83AD-33EF18BD8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286" y="3985420"/>
            <a:ext cx="6985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为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阶</a:t>
            </a: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顺序主子式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=1, 2, </a:t>
            </a:r>
            <a:r>
              <a:rPr kumimoji="0" lang="en-US" altLang="zh-CN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···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367E827F-EC98-4C47-A595-8E283E1C1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4820119"/>
            <a:ext cx="734481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下面要介绍利用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的各阶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顺序主子式的符号</a:t>
            </a:r>
          </a:p>
        </p:txBody>
      </p:sp>
      <p:sp>
        <p:nvSpPr>
          <p:cNvPr id="19" name="Text Box 11">
            <a:extLst>
              <a:ext uri="{FF2B5EF4-FFF2-40B4-BE49-F238E27FC236}">
                <a16:creationId xmlns:a16="http://schemas.microsoft.com/office/drawing/2014/main" id="{2411BA91-834F-4C6D-ABDF-F94D7DD00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069" y="5517356"/>
            <a:ext cx="79930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判别实对称矩阵是否是正定矩阵的方法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1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utoUpdateAnimBg="0"/>
      <p:bldP spid="15" grpId="0" build="p" autoUpdateAnimBg="0"/>
      <p:bldP spid="17" grpId="0" build="p" autoUpdateAnimBg="0"/>
      <p:bldP spid="18" grpId="0" build="p" autoUpdateAnimBg="0"/>
      <p:bldP spid="19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900FB169-4E50-4B1E-8ED4-94F43A19C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2181"/>
            <a:ext cx="68619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对称矩阵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为正定的充要条件</a:t>
            </a:r>
            <a:endParaRPr lang="zh-CN" altLang="en-US" sz="2600" b="1" dirty="0">
              <a:solidFill>
                <a:schemeClr val="bg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Text Box 10">
            <a:extLst>
              <a:ext uri="{FF2B5EF4-FFF2-40B4-BE49-F238E27FC236}">
                <a16:creationId xmlns:a16="http://schemas.microsoft.com/office/drawing/2014/main" id="{47F126CC-BCC1-430F-A1C5-C0AD15204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475" y="468341"/>
            <a:ext cx="76866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</a:t>
            </a:r>
            <a:r>
              <a:rPr lang="zh-CN" altLang="en-US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理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4.15 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对称矩阵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为正定的充分必要条件是</a:t>
            </a:r>
            <a:endParaRPr lang="zh-CN" altLang="en-US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Text Box 12">
            <a:extLst>
              <a:ext uri="{FF2B5EF4-FFF2-40B4-BE49-F238E27FC236}">
                <a16:creationId xmlns:a16="http://schemas.microsoft.com/office/drawing/2014/main" id="{8416EE74-0DD8-40B6-B2BF-79BD76972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03678"/>
            <a:ext cx="36718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奇数阶主子式为负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宋体"/>
                <a:ea typeface="宋体" charset="-122"/>
              </a:rPr>
              <a:t> </a:t>
            </a:r>
            <a:endParaRPr lang="zh-CN" altLang="en-US" b="1" dirty="0">
              <a:solidFill>
                <a:srgbClr val="0000FF"/>
              </a:solidFill>
              <a:latin typeface="宋体"/>
              <a:ea typeface="宋体" charset="-122"/>
            </a:endParaRPr>
          </a:p>
        </p:txBody>
      </p:sp>
      <p:sp>
        <p:nvSpPr>
          <p:cNvPr id="41" name="Rectangle 31">
            <a:extLst>
              <a:ext uri="{FF2B5EF4-FFF2-40B4-BE49-F238E27FC236}">
                <a16:creationId xmlns:a16="http://schemas.microsoft.com/office/drawing/2014/main" id="{E100D482-D186-4790-94A9-CBF1AD71F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043016"/>
            <a:ext cx="4679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latin typeface="宋体"/>
                <a:ea typeface="宋体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的各阶主子式都为正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宋体"/>
                <a:ea typeface="宋体"/>
              </a:rPr>
              <a:t> </a:t>
            </a:r>
            <a:endParaRPr lang="zh-CN" altLang="en-US" b="1" dirty="0">
              <a:solidFill>
                <a:srgbClr val="0000FF"/>
              </a:solidFill>
              <a:latin typeface="宋体"/>
              <a:ea typeface="宋体"/>
            </a:endParaRPr>
          </a:p>
        </p:txBody>
      </p:sp>
      <p:sp>
        <p:nvSpPr>
          <p:cNvPr id="42" name="Rectangle 31">
            <a:extLst>
              <a:ext uri="{FF2B5EF4-FFF2-40B4-BE49-F238E27FC236}">
                <a16:creationId xmlns:a16="http://schemas.microsoft.com/office/drawing/2014/main" id="{B11E7887-4D07-4795-95A8-0AF52B222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1043016"/>
            <a:ext cx="936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graphicFrame>
        <p:nvGraphicFramePr>
          <p:cNvPr id="43" name="Object 15">
            <a:extLst>
              <a:ext uri="{FF2B5EF4-FFF2-40B4-BE49-F238E27FC236}">
                <a16:creationId xmlns:a16="http://schemas.microsoft.com/office/drawing/2014/main" id="{F81E0D24-B33C-4C90-9A25-4A5FB77F60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54439"/>
              </p:ext>
            </p:extLst>
          </p:nvPr>
        </p:nvGraphicFramePr>
        <p:xfrm>
          <a:off x="1409700" y="1547841"/>
          <a:ext cx="62992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298920" imgH="1574640" progId="Equation.DSMT4">
                  <p:embed/>
                </p:oleObj>
              </mc:Choice>
              <mc:Fallback>
                <p:oleObj name="Equation" r:id="rId3" imgW="6298920" imgH="1574640" progId="Equation.DSMT4">
                  <p:embed/>
                  <p:pic>
                    <p:nvPicPr>
                      <p:cNvPr id="6" name="Object 15">
                        <a:extLst>
                          <a:ext uri="{FF2B5EF4-FFF2-40B4-BE49-F238E27FC236}">
                            <a16:creationId xmlns:a16="http://schemas.microsoft.com/office/drawing/2014/main" id="{9CF06362-F257-4D21-B17A-B8BA07AECE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1547841"/>
                        <a:ext cx="62992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12">
            <a:extLst>
              <a:ext uri="{FF2B5EF4-FFF2-40B4-BE49-F238E27FC236}">
                <a16:creationId xmlns:a16="http://schemas.microsoft.com/office/drawing/2014/main" id="{6B7C3974-6A52-48EE-B5F3-9593D06F7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203603"/>
            <a:ext cx="6985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对称矩阵 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A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为负定的充分必要条件是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:</a:t>
            </a:r>
            <a:endParaRPr lang="zh-CN" altLang="en-US" b="1" dirty="0">
              <a:solidFill>
                <a:srgbClr val="0000FF"/>
              </a:solidFill>
              <a:ea typeface="宋体"/>
              <a:cs typeface="Times New Roman" pitchFamily="18" charset="0"/>
            </a:endParaRPr>
          </a:p>
        </p:txBody>
      </p:sp>
      <p:sp>
        <p:nvSpPr>
          <p:cNvPr id="45" name="Rectangle 32">
            <a:extLst>
              <a:ext uri="{FF2B5EF4-FFF2-40B4-BE49-F238E27FC236}">
                <a16:creationId xmlns:a16="http://schemas.microsoft.com/office/drawing/2014/main" id="{D404C11E-6083-4118-B25A-D620CC233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803678"/>
            <a:ext cx="39608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而偶数阶主子式为正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宋体"/>
                <a:ea typeface="宋体"/>
              </a:rPr>
              <a:t> </a:t>
            </a:r>
            <a:endParaRPr lang="zh-CN" altLang="en-US" b="1" dirty="0">
              <a:solidFill>
                <a:srgbClr val="0000FF"/>
              </a:solidFill>
              <a:latin typeface="宋体"/>
              <a:ea typeface="宋体"/>
            </a:endParaRP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951F39CA-8014-47B8-8DC6-0EF817F26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3803678"/>
            <a:ext cx="936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graphicFrame>
        <p:nvGraphicFramePr>
          <p:cNvPr id="47" name="Object 5">
            <a:extLst>
              <a:ext uri="{FF2B5EF4-FFF2-40B4-BE49-F238E27FC236}">
                <a16:creationId xmlns:a16="http://schemas.microsoft.com/office/drawing/2014/main" id="{066C509E-C545-472C-9876-DEFD9579A4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484901"/>
              </p:ext>
            </p:extLst>
          </p:nvPr>
        </p:nvGraphicFramePr>
        <p:xfrm>
          <a:off x="1695450" y="4433864"/>
          <a:ext cx="57531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52800" imgH="1562040" progId="Equation.DSMT4">
                  <p:embed/>
                </p:oleObj>
              </mc:Choice>
              <mc:Fallback>
                <p:oleObj name="Equation" r:id="rId5" imgW="5752800" imgH="156204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F7B0FF26-1717-4EF4-AE4B-CC7118D787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4433864"/>
                        <a:ext cx="57531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11">
            <a:extLst>
              <a:ext uri="{FF2B5EF4-FFF2-40B4-BE49-F238E27FC236}">
                <a16:creationId xmlns:a16="http://schemas.microsoft.com/office/drawing/2014/main" id="{B0E5BE8A-96F9-4AB3-A967-1596B2157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964266"/>
            <a:ext cx="792003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这个定理称为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霍尔维茨定理</a:t>
            </a: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C00000"/>
                </a:solidFill>
                <a:latin typeface="宋体"/>
                <a:ea typeface="宋体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这里不予证明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.        </a:t>
            </a:r>
          </a:p>
        </p:txBody>
      </p:sp>
    </p:spTree>
    <p:extLst>
      <p:ext uri="{BB962C8B-B14F-4D97-AF65-F5344CB8AC3E}">
        <p14:creationId xmlns:p14="http://schemas.microsoft.com/office/powerpoint/2010/main" val="259849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uild="p" autoUpdateAnimBg="0"/>
      <p:bldP spid="40" grpId="0" build="p" autoUpdateAnimBg="0"/>
      <p:bldP spid="41" grpId="0" build="p" autoUpdateAnimBg="0" advAuto="0"/>
      <p:bldP spid="42" grpId="0" build="p" autoUpdateAnimBg="0" advAuto="0"/>
      <p:bldP spid="44" grpId="0" build="p" autoUpdateAnimBg="0"/>
      <p:bldP spid="45" grpId="0" build="p" autoUpdateAnimBg="0" advAuto="0"/>
      <p:bldP spid="46" grpId="0" build="p" autoUpdateAnimBg="0" advAuto="0"/>
      <p:bldP spid="48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-14002"/>
            <a:ext cx="58132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二次型的正定性的实践 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5A3074A1-1045-493C-9313-8E79FF707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4748" y="1233202"/>
            <a:ext cx="31683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 </a:t>
            </a: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4.23  </a:t>
            </a:r>
            <a:r>
              <a:rPr lang="zh-CN" altLang="en-US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利用矩阵</a:t>
            </a:r>
            <a:endParaRPr lang="en-US" altLang="zh-CN" b="1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4">
            <a:extLst>
              <a:ext uri="{FF2B5EF4-FFF2-40B4-BE49-F238E27FC236}">
                <a16:creationId xmlns:a16="http://schemas.microsoft.com/office/drawing/2014/main" id="{BDFED3EB-FD9E-4829-9269-2AE1661CE5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95031"/>
              </p:ext>
            </p:extLst>
          </p:nvPr>
        </p:nvGraphicFramePr>
        <p:xfrm>
          <a:off x="4205152" y="1132701"/>
          <a:ext cx="1587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7240" imgH="838080" progId="Equation.DSMT4">
                  <p:embed/>
                </p:oleObj>
              </mc:Choice>
              <mc:Fallback>
                <p:oleObj name="Equation" r:id="rId3" imgW="1587240" imgH="838080" progId="Equation.DSMT4">
                  <p:embed/>
                  <p:pic>
                    <p:nvPicPr>
                      <p:cNvPr id="12" name="Object 4">
                        <a:extLst>
                          <a:ext uri="{FF2B5EF4-FFF2-40B4-BE49-F238E27FC236}">
                            <a16:creationId xmlns:a16="http://schemas.microsoft.com/office/drawing/2014/main" id="{AD660325-5BED-4FD2-94B3-A96A65051C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5152" y="1132701"/>
                        <a:ext cx="1587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">
            <a:extLst>
              <a:ext uri="{FF2B5EF4-FFF2-40B4-BE49-F238E27FC236}">
                <a16:creationId xmlns:a16="http://schemas.microsoft.com/office/drawing/2014/main" id="{0A6D7134-2C1B-4A51-B968-BE1A522A78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976025"/>
              </p:ext>
            </p:extLst>
          </p:nvPr>
        </p:nvGraphicFramePr>
        <p:xfrm>
          <a:off x="2121054" y="2717094"/>
          <a:ext cx="5943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943600" imgH="838080" progId="Equation.DSMT4">
                  <p:embed/>
                </p:oleObj>
              </mc:Choice>
              <mc:Fallback>
                <p:oleObj name="Equation" r:id="rId5" imgW="5943600" imgH="838080" progId="Equation.DSMT4">
                  <p:embed/>
                  <p:pic>
                    <p:nvPicPr>
                      <p:cNvPr id="11" name="Object 9">
                        <a:extLst>
                          <a:ext uri="{FF2B5EF4-FFF2-40B4-BE49-F238E27FC236}">
                            <a16:creationId xmlns:a16="http://schemas.microsoft.com/office/drawing/2014/main" id="{1FED4878-CDD0-4174-8164-22AC06E9CC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1054" y="2717094"/>
                        <a:ext cx="5943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9">
            <a:extLst>
              <a:ext uri="{FF2B5EF4-FFF2-40B4-BE49-F238E27FC236}">
                <a16:creationId xmlns:a16="http://schemas.microsoft.com/office/drawing/2014/main" id="{FB21B765-D109-4112-A954-37869EB41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9244" y="1261801"/>
            <a:ext cx="33257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的特征值判断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9" name="Object 11">
            <a:extLst>
              <a:ext uri="{FF2B5EF4-FFF2-40B4-BE49-F238E27FC236}">
                <a16:creationId xmlns:a16="http://schemas.microsoft.com/office/drawing/2014/main" id="{8A39E864-F268-4363-963C-FDC68F7921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043561"/>
              </p:ext>
            </p:extLst>
          </p:nvPr>
        </p:nvGraphicFramePr>
        <p:xfrm>
          <a:off x="2048097" y="3857529"/>
          <a:ext cx="1854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54000" imgH="419040" progId="Equation.DSMT4">
                  <p:embed/>
                </p:oleObj>
              </mc:Choice>
              <mc:Fallback>
                <p:oleObj name="Equation" r:id="rId7" imgW="1854000" imgH="419040" progId="Equation.DSMT4">
                  <p:embed/>
                  <p:pic>
                    <p:nvPicPr>
                      <p:cNvPr id="6" name="Object 11">
                        <a:extLst>
                          <a:ext uri="{FF2B5EF4-FFF2-40B4-BE49-F238E27FC236}">
                            <a16:creationId xmlns:a16="http://schemas.microsoft.com/office/drawing/2014/main" id="{8B44D684-A154-4999-9EDC-35A4F4648C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8097" y="3857529"/>
                        <a:ext cx="1854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8">
            <a:extLst>
              <a:ext uri="{FF2B5EF4-FFF2-40B4-BE49-F238E27FC236}">
                <a16:creationId xmlns:a16="http://schemas.microsoft.com/office/drawing/2014/main" id="{459099ED-5DA4-4785-93BF-97C11D015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6827" y="3810812"/>
            <a:ext cx="122413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解得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2A0E5A-D1EA-469F-9A84-0A48F15A1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748" y="2828682"/>
            <a:ext cx="849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C3A06F0B-2A19-4DA3-AF39-D1B91B9CD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827" y="2011940"/>
            <a:ext cx="4032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其正定性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5" name="Object 11">
            <a:extLst>
              <a:ext uri="{FF2B5EF4-FFF2-40B4-BE49-F238E27FC236}">
                <a16:creationId xmlns:a16="http://schemas.microsoft.com/office/drawing/2014/main" id="{73E45295-EF73-46CA-B43B-1C803DF4CB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892088"/>
              </p:ext>
            </p:extLst>
          </p:nvPr>
        </p:nvGraphicFramePr>
        <p:xfrm>
          <a:off x="4851670" y="3825194"/>
          <a:ext cx="774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74360" imgH="419040" progId="Equation.DSMT4">
                  <p:embed/>
                </p:oleObj>
              </mc:Choice>
              <mc:Fallback>
                <p:oleObj name="Equation" r:id="rId9" imgW="774360" imgH="419040" progId="Equation.DSMT4">
                  <p:embed/>
                  <p:pic>
                    <p:nvPicPr>
                      <p:cNvPr id="19" name="Object 11">
                        <a:extLst>
                          <a:ext uri="{FF2B5EF4-FFF2-40B4-BE49-F238E27FC236}">
                            <a16:creationId xmlns:a16="http://schemas.microsoft.com/office/drawing/2014/main" id="{8A39E864-F268-4363-963C-FDC68F7921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670" y="3825194"/>
                        <a:ext cx="774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8">
            <a:extLst>
              <a:ext uri="{FF2B5EF4-FFF2-40B4-BE49-F238E27FC236}">
                <a16:creationId xmlns:a16="http://schemas.microsoft.com/office/drawing/2014/main" id="{B7EDB50F-0F17-42AA-85D2-9F745CC7D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156" y="3757517"/>
            <a:ext cx="122413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Text Box 8">
            <a:extLst>
              <a:ext uri="{FF2B5EF4-FFF2-40B4-BE49-F238E27FC236}">
                <a16:creationId xmlns:a16="http://schemas.microsoft.com/office/drawing/2014/main" id="{E7F5FD9D-4FC0-475D-8952-22BB16B1F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6370" y="3725182"/>
            <a:ext cx="24382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都大于零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8">
            <a:extLst>
              <a:ext uri="{FF2B5EF4-FFF2-40B4-BE49-F238E27FC236}">
                <a16:creationId xmlns:a16="http://schemas.microsoft.com/office/drawing/2014/main" id="{824CEF95-A04E-490E-BE4B-A85075C8A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6827" y="4616708"/>
            <a:ext cx="66247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由定理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4.14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知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矩阵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是正定矩阵．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95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 build="p" autoUpdateAnimBg="0"/>
      <p:bldP spid="21" grpId="0"/>
      <p:bldP spid="22" grpId="0"/>
      <p:bldP spid="26" grpId="0" build="p" autoUpdateAnimBg="0"/>
      <p:bldP spid="28" grpId="0" build="p" autoUpdateAnimBg="0"/>
      <p:bldP spid="29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2" y="-27809"/>
            <a:ext cx="58132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二次型的正定性的实践 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5A3074A1-1045-493C-9313-8E79FF707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874286"/>
            <a:ext cx="74168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 </a:t>
            </a: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4.24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判定下面二次型的正定性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</a:p>
        </p:txBody>
      </p:sp>
      <p:graphicFrame>
        <p:nvGraphicFramePr>
          <p:cNvPr id="16" name="Object 4">
            <a:extLst>
              <a:ext uri="{FF2B5EF4-FFF2-40B4-BE49-F238E27FC236}">
                <a16:creationId xmlns:a16="http://schemas.microsoft.com/office/drawing/2014/main" id="{BDFED3EB-FD9E-4829-9269-2AE1661CE5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344084"/>
              </p:ext>
            </p:extLst>
          </p:nvPr>
        </p:nvGraphicFramePr>
        <p:xfrm>
          <a:off x="2065537" y="1631104"/>
          <a:ext cx="5041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41800" imgH="482400" progId="Equation.DSMT4">
                  <p:embed/>
                </p:oleObj>
              </mc:Choice>
              <mc:Fallback>
                <p:oleObj name="Equation" r:id="rId3" imgW="5041800" imgH="482400" progId="Equation.DSMT4">
                  <p:embed/>
                  <p:pic>
                    <p:nvPicPr>
                      <p:cNvPr id="16" name="Object 4">
                        <a:extLst>
                          <a:ext uri="{FF2B5EF4-FFF2-40B4-BE49-F238E27FC236}">
                            <a16:creationId xmlns:a16="http://schemas.microsoft.com/office/drawing/2014/main" id="{BDFED3EB-FD9E-4829-9269-2AE1661CE5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537" y="1631104"/>
                        <a:ext cx="50419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1">
            <a:extLst>
              <a:ext uri="{FF2B5EF4-FFF2-40B4-BE49-F238E27FC236}">
                <a16:creationId xmlns:a16="http://schemas.microsoft.com/office/drawing/2014/main" id="{8A39E864-F268-4363-963C-FDC68F7921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705910"/>
              </p:ext>
            </p:extLst>
          </p:nvPr>
        </p:nvGraphicFramePr>
        <p:xfrm>
          <a:off x="3406147" y="3002711"/>
          <a:ext cx="27432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1244520" progId="Equation.DSMT4">
                  <p:embed/>
                </p:oleObj>
              </mc:Choice>
              <mc:Fallback>
                <p:oleObj name="Equation" r:id="rId5" imgW="2743200" imgH="1244520" progId="Equation.DSMT4">
                  <p:embed/>
                  <p:pic>
                    <p:nvPicPr>
                      <p:cNvPr id="19" name="Object 11">
                        <a:extLst>
                          <a:ext uri="{FF2B5EF4-FFF2-40B4-BE49-F238E27FC236}">
                            <a16:creationId xmlns:a16="http://schemas.microsoft.com/office/drawing/2014/main" id="{8A39E864-F268-4363-963C-FDC68F7921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147" y="3002711"/>
                        <a:ext cx="27432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8">
            <a:extLst>
              <a:ext uri="{FF2B5EF4-FFF2-40B4-BE49-F238E27FC236}">
                <a16:creationId xmlns:a16="http://schemas.microsoft.com/office/drawing/2014/main" id="{459099ED-5DA4-4785-93BF-97C11D015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4484741"/>
            <a:ext cx="4897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各阶顺序主子式计算如下 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2A0E5A-D1EA-469F-9A84-0A48F15A1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224" y="2348235"/>
            <a:ext cx="849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zh-CN" altLang="en-US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C3A06F0B-2A19-4DA3-AF39-D1B91B9CD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7704" y="2374061"/>
            <a:ext cx="4032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二次型 </a:t>
            </a:r>
            <a:r>
              <a:rPr lang="en-US" altLang="zh-CN" i="1" dirty="0">
                <a:solidFill>
                  <a:srgbClr val="000000"/>
                </a:solidFill>
                <a:cs typeface="Times New Roman" panose="02020603050405020304" pitchFamily="18" charset="0"/>
              </a:rPr>
              <a:t>f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的矩阵为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668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 autoUpdateAnimBg="0"/>
      <p:bldP spid="21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26" y="-20695"/>
            <a:ext cx="58132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二次型的正定性的实践 </a:t>
            </a:r>
          </a:p>
        </p:txBody>
      </p:sp>
      <p:graphicFrame>
        <p:nvGraphicFramePr>
          <p:cNvPr id="38" name="Object 7">
            <a:extLst>
              <a:ext uri="{FF2B5EF4-FFF2-40B4-BE49-F238E27FC236}">
                <a16:creationId xmlns:a16="http://schemas.microsoft.com/office/drawing/2014/main" id="{5177AF32-1B45-417E-B9AF-2A715CC66D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251654"/>
              </p:ext>
            </p:extLst>
          </p:nvPr>
        </p:nvGraphicFramePr>
        <p:xfrm>
          <a:off x="2296449" y="1010424"/>
          <a:ext cx="69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400" imgH="419040" progId="Equation.DSMT4">
                  <p:embed/>
                </p:oleObj>
              </mc:Choice>
              <mc:Fallback>
                <p:oleObj name="Equation" r:id="rId3" imgW="698400" imgH="419040" progId="Equation.DSMT4">
                  <p:embed/>
                  <p:pic>
                    <p:nvPicPr>
                      <p:cNvPr id="2" name="Object 7">
                        <a:extLst>
                          <a:ext uri="{FF2B5EF4-FFF2-40B4-BE49-F238E27FC236}">
                            <a16:creationId xmlns:a16="http://schemas.microsoft.com/office/drawing/2014/main" id="{0EEBBF8C-B941-4DCF-BFB7-DADEEFE60B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449" y="1010424"/>
                        <a:ext cx="698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">
            <a:extLst>
              <a:ext uri="{FF2B5EF4-FFF2-40B4-BE49-F238E27FC236}">
                <a16:creationId xmlns:a16="http://schemas.microsoft.com/office/drawing/2014/main" id="{CC47D706-E239-40C4-B953-D6A910B519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839306"/>
              </p:ext>
            </p:extLst>
          </p:nvPr>
        </p:nvGraphicFramePr>
        <p:xfrm>
          <a:off x="2223424" y="1802586"/>
          <a:ext cx="1549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49080" imgH="876240" progId="Equation.DSMT4">
                  <p:embed/>
                </p:oleObj>
              </mc:Choice>
              <mc:Fallback>
                <p:oleObj name="Equation" r:id="rId5" imgW="1549080" imgH="87624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FFEC7429-01BB-45BB-BE9F-FDD6467CC2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3424" y="1802586"/>
                        <a:ext cx="15494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">
            <a:extLst>
              <a:ext uri="{FF2B5EF4-FFF2-40B4-BE49-F238E27FC236}">
                <a16:creationId xmlns:a16="http://schemas.microsoft.com/office/drawing/2014/main" id="{B331F6C0-CCD0-4209-9026-9B38ADDDD2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992528"/>
              </p:ext>
            </p:extLst>
          </p:nvPr>
        </p:nvGraphicFramePr>
        <p:xfrm>
          <a:off x="2223424" y="3386911"/>
          <a:ext cx="698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98400" imgH="355320" progId="Equation.DSMT4">
                  <p:embed/>
                </p:oleObj>
              </mc:Choice>
              <mc:Fallback>
                <p:oleObj name="Equation" r:id="rId7" imgW="698400" imgH="355320" progId="Equation.DSMT4">
                  <p:embed/>
                  <p:pic>
                    <p:nvPicPr>
                      <p:cNvPr id="4" name="Object 8">
                        <a:extLst>
                          <a:ext uri="{FF2B5EF4-FFF2-40B4-BE49-F238E27FC236}">
                            <a16:creationId xmlns:a16="http://schemas.microsoft.com/office/drawing/2014/main" id="{0F6F8081-A69D-49E9-8944-B272F3E03B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3424" y="3386911"/>
                        <a:ext cx="698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9">
            <a:extLst>
              <a:ext uri="{FF2B5EF4-FFF2-40B4-BE49-F238E27FC236}">
                <a16:creationId xmlns:a16="http://schemas.microsoft.com/office/drawing/2014/main" id="{9DA59021-B62D-4E0C-9382-A1EE1ABAD1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5788"/>
              </p:ext>
            </p:extLst>
          </p:nvPr>
        </p:nvGraphicFramePr>
        <p:xfrm>
          <a:off x="4984235" y="3393975"/>
          <a:ext cx="622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22080" imgH="279360" progId="Equation.DSMT4">
                  <p:embed/>
                </p:oleObj>
              </mc:Choice>
              <mc:Fallback>
                <p:oleObj name="Equation" r:id="rId9" imgW="622080" imgH="279360" progId="Equation.DSMT4">
                  <p:embed/>
                  <p:pic>
                    <p:nvPicPr>
                      <p:cNvPr id="5" name="Object 9">
                        <a:extLst>
                          <a:ext uri="{FF2B5EF4-FFF2-40B4-BE49-F238E27FC236}">
                            <a16:creationId xmlns:a16="http://schemas.microsoft.com/office/drawing/2014/main" id="{5C14DA16-2B5E-4169-9F80-20287EBCB5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235" y="3393975"/>
                        <a:ext cx="6223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6">
            <a:extLst>
              <a:ext uri="{FF2B5EF4-FFF2-40B4-BE49-F238E27FC236}">
                <a16:creationId xmlns:a16="http://schemas.microsoft.com/office/drawing/2014/main" id="{8CEB1F08-6088-4E14-AB1A-A1A1ADEB0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235" y="4351528"/>
            <a:ext cx="1600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正定的</a:t>
            </a:r>
            <a:r>
              <a:rPr lang="en-US" altLang="zh-CN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</a:p>
        </p:txBody>
      </p:sp>
      <p:sp>
        <p:nvSpPr>
          <p:cNvPr id="44" name="Text Box 14">
            <a:extLst>
              <a:ext uri="{FF2B5EF4-FFF2-40B4-BE49-F238E27FC236}">
                <a16:creationId xmlns:a16="http://schemas.microsoft.com/office/drawing/2014/main" id="{C5DEF244-D3A4-4386-B092-E70977DFA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7524" y="4323536"/>
            <a:ext cx="331326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由此可知二次型是</a:t>
            </a:r>
            <a:endParaRPr lang="en-US" altLang="zh-CN" b="1" dirty="0">
              <a:solidFill>
                <a:srgbClr val="000000"/>
              </a:solidFill>
              <a:ea typeface="宋体"/>
              <a:cs typeface="Times New Roman" pitchFamily="18" charset="0"/>
            </a:endParaRPr>
          </a:p>
        </p:txBody>
      </p:sp>
      <p:graphicFrame>
        <p:nvGraphicFramePr>
          <p:cNvPr id="45" name="Object 12">
            <a:extLst>
              <a:ext uri="{FF2B5EF4-FFF2-40B4-BE49-F238E27FC236}">
                <a16:creationId xmlns:a16="http://schemas.microsoft.com/office/drawing/2014/main" id="{723AB82E-80E8-4BBF-9C8C-BFEE08D537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100524"/>
              </p:ext>
            </p:extLst>
          </p:nvPr>
        </p:nvGraphicFramePr>
        <p:xfrm>
          <a:off x="3110985" y="1082575"/>
          <a:ext cx="190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0440" imgH="291960" progId="Equation.DSMT4">
                  <p:embed/>
                </p:oleObj>
              </mc:Choice>
              <mc:Fallback>
                <p:oleObj name="Equation" r:id="rId11" imgW="190440" imgH="291960" progId="Equation.DSMT4">
                  <p:embed/>
                  <p:pic>
                    <p:nvPicPr>
                      <p:cNvPr id="9" name="Object 12">
                        <a:extLst>
                          <a:ext uri="{FF2B5EF4-FFF2-40B4-BE49-F238E27FC236}">
                            <a16:creationId xmlns:a16="http://schemas.microsoft.com/office/drawing/2014/main" id="{9B1E09EC-B70C-4D52-8A0A-652297E7E6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0985" y="1082575"/>
                        <a:ext cx="1905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4">
            <a:extLst>
              <a:ext uri="{FF2B5EF4-FFF2-40B4-BE49-F238E27FC236}">
                <a16:creationId xmlns:a16="http://schemas.microsoft.com/office/drawing/2014/main" id="{D0C54159-E42F-4701-BC96-4B1ED3105B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063136"/>
              </p:ext>
            </p:extLst>
          </p:nvPr>
        </p:nvGraphicFramePr>
        <p:xfrm>
          <a:off x="3807749" y="1802586"/>
          <a:ext cx="1155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55600" imgH="838080" progId="Equation.DSMT4">
                  <p:embed/>
                </p:oleObj>
              </mc:Choice>
              <mc:Fallback>
                <p:oleObj name="Equation" r:id="rId13" imgW="1155600" imgH="838080" progId="Equation.DSMT4">
                  <p:embed/>
                  <p:pic>
                    <p:nvPicPr>
                      <p:cNvPr id="11" name="Object 14">
                        <a:extLst>
                          <a:ext uri="{FF2B5EF4-FFF2-40B4-BE49-F238E27FC236}">
                            <a16:creationId xmlns:a16="http://schemas.microsoft.com/office/drawing/2014/main" id="{F9FE156E-4049-46E7-A6DD-E08D02DCD6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7749" y="1802586"/>
                        <a:ext cx="1155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5">
            <a:extLst>
              <a:ext uri="{FF2B5EF4-FFF2-40B4-BE49-F238E27FC236}">
                <a16:creationId xmlns:a16="http://schemas.microsoft.com/office/drawing/2014/main" id="{1384735B-D9A5-479A-993A-AF3016BA12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668934"/>
              </p:ext>
            </p:extLst>
          </p:nvPr>
        </p:nvGraphicFramePr>
        <p:xfrm>
          <a:off x="5052498" y="2012850"/>
          <a:ext cx="609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09480" imgH="291960" progId="Equation.DSMT4">
                  <p:embed/>
                </p:oleObj>
              </mc:Choice>
              <mc:Fallback>
                <p:oleObj name="Equation" r:id="rId15" imgW="609480" imgH="291960" progId="Equation.DSMT4">
                  <p:embed/>
                  <p:pic>
                    <p:nvPicPr>
                      <p:cNvPr id="12" name="Object 15">
                        <a:extLst>
                          <a:ext uri="{FF2B5EF4-FFF2-40B4-BE49-F238E27FC236}">
                            <a16:creationId xmlns:a16="http://schemas.microsoft.com/office/drawing/2014/main" id="{D7A454BD-3964-4D7B-A030-A04F99DFF1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2498" y="2012850"/>
                        <a:ext cx="6096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6">
            <a:extLst>
              <a:ext uri="{FF2B5EF4-FFF2-40B4-BE49-F238E27FC236}">
                <a16:creationId xmlns:a16="http://schemas.microsoft.com/office/drawing/2014/main" id="{B2EBE711-CF51-4A9E-803E-DEF8C7E327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945715"/>
              </p:ext>
            </p:extLst>
          </p:nvPr>
        </p:nvGraphicFramePr>
        <p:xfrm>
          <a:off x="5823874" y="2018486"/>
          <a:ext cx="54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45760" imgH="342720" progId="Equation.DSMT4">
                  <p:embed/>
                </p:oleObj>
              </mc:Choice>
              <mc:Fallback>
                <p:oleObj name="Equation" r:id="rId17" imgW="545760" imgH="342720" progId="Equation.DSMT4">
                  <p:embed/>
                  <p:pic>
                    <p:nvPicPr>
                      <p:cNvPr id="13" name="Object 16">
                        <a:extLst>
                          <a:ext uri="{FF2B5EF4-FFF2-40B4-BE49-F238E27FC236}">
                            <a16:creationId xmlns:a16="http://schemas.microsoft.com/office/drawing/2014/main" id="{0D7F3C4D-B066-43F9-BE81-A23BD1F9DF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3874" y="2018486"/>
                        <a:ext cx="546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7">
            <a:extLst>
              <a:ext uri="{FF2B5EF4-FFF2-40B4-BE49-F238E27FC236}">
                <a16:creationId xmlns:a16="http://schemas.microsoft.com/office/drawing/2014/main" id="{A3F2D743-ECF3-4735-B59A-95923E63EC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28926"/>
              </p:ext>
            </p:extLst>
          </p:nvPr>
        </p:nvGraphicFramePr>
        <p:xfrm>
          <a:off x="3015586" y="2955111"/>
          <a:ext cx="18161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815840" imgH="1244520" progId="Equation.DSMT4">
                  <p:embed/>
                </p:oleObj>
              </mc:Choice>
              <mc:Fallback>
                <p:oleObj name="Equation" r:id="rId19" imgW="1815840" imgH="1244520" progId="Equation.DSMT4">
                  <p:embed/>
                  <p:pic>
                    <p:nvPicPr>
                      <p:cNvPr id="14" name="Object 17">
                        <a:extLst>
                          <a:ext uri="{FF2B5EF4-FFF2-40B4-BE49-F238E27FC236}">
                            <a16:creationId xmlns:a16="http://schemas.microsoft.com/office/drawing/2014/main" id="{0A15C184-A1FF-4069-8DE4-90363B5596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586" y="2955111"/>
                        <a:ext cx="18161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8">
            <a:extLst>
              <a:ext uri="{FF2B5EF4-FFF2-40B4-BE49-F238E27FC236}">
                <a16:creationId xmlns:a16="http://schemas.microsoft.com/office/drawing/2014/main" id="{A8F2BAAE-F4A3-4ECB-9EA7-8D469E7A02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303289"/>
              </p:ext>
            </p:extLst>
          </p:nvPr>
        </p:nvGraphicFramePr>
        <p:xfrm>
          <a:off x="5814349" y="3386911"/>
          <a:ext cx="533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33160" imgH="291960" progId="Equation.DSMT4">
                  <p:embed/>
                </p:oleObj>
              </mc:Choice>
              <mc:Fallback>
                <p:oleObj name="Equation" r:id="rId21" imgW="533160" imgH="291960" progId="Equation.DSMT4">
                  <p:embed/>
                  <p:pic>
                    <p:nvPicPr>
                      <p:cNvPr id="15" name="Object 18">
                        <a:extLst>
                          <a:ext uri="{FF2B5EF4-FFF2-40B4-BE49-F238E27FC236}">
                            <a16:creationId xmlns:a16="http://schemas.microsoft.com/office/drawing/2014/main" id="{E177B8A4-333C-4915-B2D0-988B638D4B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4349" y="3386911"/>
                        <a:ext cx="5334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3">
            <a:extLst>
              <a:ext uri="{FF2B5EF4-FFF2-40B4-BE49-F238E27FC236}">
                <a16:creationId xmlns:a16="http://schemas.microsoft.com/office/drawing/2014/main" id="{189B5B6E-F95B-4EE1-8A18-BC23AF174F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557958"/>
              </p:ext>
            </p:extLst>
          </p:nvPr>
        </p:nvGraphicFramePr>
        <p:xfrm>
          <a:off x="3419872" y="1068445"/>
          <a:ext cx="54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45760" imgH="342720" progId="Equation.DSMT4">
                  <p:embed/>
                </p:oleObj>
              </mc:Choice>
              <mc:Fallback>
                <p:oleObj name="Equation" r:id="rId23" imgW="545760" imgH="342720" progId="Equation.DSMT4">
                  <p:embed/>
                  <p:pic>
                    <p:nvPicPr>
                      <p:cNvPr id="16" name="Object 13">
                        <a:extLst>
                          <a:ext uri="{FF2B5EF4-FFF2-40B4-BE49-F238E27FC236}">
                            <a16:creationId xmlns:a16="http://schemas.microsoft.com/office/drawing/2014/main" id="{E1376BE1-938C-48F6-BB60-A47BEDC5E3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1068445"/>
                        <a:ext cx="546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988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34" name="Text Box 11">
            <a:extLst>
              <a:ext uri="{FF2B5EF4-FFF2-40B4-BE49-F238E27FC236}">
                <a16:creationId xmlns:a16="http://schemas.microsoft.com/office/drawing/2014/main" id="{D3042727-5908-4E48-83B7-6A9A8419C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1098250"/>
            <a:ext cx="74168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 </a:t>
            </a: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4.25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若矩阵 </a:t>
            </a:r>
            <a:r>
              <a:rPr lang="en-US" altLang="zh-CN" b="1" i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可逆</a:t>
            </a:r>
            <a:r>
              <a:rPr lang="en-US" altLang="zh-CN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则 </a:t>
            </a:r>
            <a:r>
              <a:rPr lang="en-US" altLang="zh-CN" b="1" i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30000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b="1" i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 A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为正定阵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</a:p>
        </p:txBody>
      </p:sp>
      <p:sp>
        <p:nvSpPr>
          <p:cNvPr id="35" name="Text Box 8">
            <a:extLst>
              <a:ext uri="{FF2B5EF4-FFF2-40B4-BE49-F238E27FC236}">
                <a16:creationId xmlns:a16="http://schemas.microsoft.com/office/drawing/2014/main" id="{B046477B-50D4-4D0B-89B7-1BB5F2C22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1568" y="1987359"/>
            <a:ext cx="78819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设</a:t>
            </a:r>
            <a:endParaRPr lang="en-US" altLang="zh-CN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D2E8510-6652-46C0-9E1A-0160FC332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1967908"/>
            <a:ext cx="18580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证明</a:t>
            </a:r>
            <a:endParaRPr lang="zh-CN" altLang="en-US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43ABCDE9-9C8F-4C5D-904D-4A2233EA4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5579" y="1967253"/>
            <a:ext cx="43900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显然矩阵 </a:t>
            </a:r>
            <a:r>
              <a:rPr lang="en-US" altLang="zh-CN" i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30000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i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 A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为对称阵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Text Box 14">
            <a:extLst>
              <a:ext uri="{FF2B5EF4-FFF2-40B4-BE49-F238E27FC236}">
                <a16:creationId xmlns:a16="http://schemas.microsoft.com/office/drawing/2014/main" id="{6D486293-B729-4CC7-A4BC-08126A075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012" y="2694562"/>
            <a:ext cx="129614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于是</a:t>
            </a:r>
            <a:endParaRPr lang="en-US" altLang="zh-CN" b="1" dirty="0">
              <a:solidFill>
                <a:srgbClr val="000000"/>
              </a:solidFill>
              <a:ea typeface="宋体"/>
              <a:cs typeface="Times New Roman" pitchFamily="18" charset="0"/>
            </a:endParaRPr>
          </a:p>
        </p:txBody>
      </p:sp>
      <p:graphicFrame>
        <p:nvGraphicFramePr>
          <p:cNvPr id="39" name="Object 14">
            <a:extLst>
              <a:ext uri="{FF2B5EF4-FFF2-40B4-BE49-F238E27FC236}">
                <a16:creationId xmlns:a16="http://schemas.microsoft.com/office/drawing/2014/main" id="{E347B31F-D091-4A93-937B-847B3E7BD7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215237"/>
              </p:ext>
            </p:extLst>
          </p:nvPr>
        </p:nvGraphicFramePr>
        <p:xfrm>
          <a:off x="2964072" y="3532854"/>
          <a:ext cx="3213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13000" imgH="533160" progId="Equation.DSMT4">
                  <p:embed/>
                </p:oleObj>
              </mc:Choice>
              <mc:Fallback>
                <p:oleObj name="Equation" r:id="rId3" imgW="3213000" imgH="533160" progId="Equation.DSMT4">
                  <p:embed/>
                  <p:pic>
                    <p:nvPicPr>
                      <p:cNvPr id="22" name="Object 14">
                        <a:extLst>
                          <a:ext uri="{FF2B5EF4-FFF2-40B4-BE49-F238E27FC236}">
                            <a16:creationId xmlns:a16="http://schemas.microsoft.com/office/drawing/2014/main" id="{0CFEC0C2-8984-4F18-ACB7-6D9813EB89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4072" y="3532854"/>
                        <a:ext cx="32131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3">
            <a:extLst>
              <a:ext uri="{FF2B5EF4-FFF2-40B4-BE49-F238E27FC236}">
                <a16:creationId xmlns:a16="http://schemas.microsoft.com/office/drawing/2014/main" id="{43727B49-8F11-4EBC-BC03-583A1780A6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255343"/>
              </p:ext>
            </p:extLst>
          </p:nvPr>
        </p:nvGraphicFramePr>
        <p:xfrm>
          <a:off x="6877078" y="2124506"/>
          <a:ext cx="825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480" imgH="342720" progId="Equation.DSMT4">
                  <p:embed/>
                </p:oleObj>
              </mc:Choice>
              <mc:Fallback>
                <p:oleObj name="Equation" r:id="rId5" imgW="825480" imgH="342720" progId="Equation.DSMT4">
                  <p:embed/>
                  <p:pic>
                    <p:nvPicPr>
                      <p:cNvPr id="27" name="Object 13">
                        <a:extLst>
                          <a:ext uri="{FF2B5EF4-FFF2-40B4-BE49-F238E27FC236}">
                            <a16:creationId xmlns:a16="http://schemas.microsoft.com/office/drawing/2014/main" id="{0DBCB598-A04B-48A9-9A8F-54DF5E9590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78" y="2124506"/>
                        <a:ext cx="825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8">
            <a:extLst>
              <a:ext uri="{FF2B5EF4-FFF2-40B4-BE49-F238E27FC236}">
                <a16:creationId xmlns:a16="http://schemas.microsoft.com/office/drawing/2014/main" id="{AF2F73B0-1150-4EBB-B2AB-FA848E267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527" y="2692158"/>
            <a:ext cx="78819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则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2" name="Object 13">
            <a:extLst>
              <a:ext uri="{FF2B5EF4-FFF2-40B4-BE49-F238E27FC236}">
                <a16:creationId xmlns:a16="http://schemas.microsoft.com/office/drawing/2014/main" id="{018B4B57-37AF-42FD-9383-75C0DBD761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412893"/>
              </p:ext>
            </p:extLst>
          </p:nvPr>
        </p:nvGraphicFramePr>
        <p:xfrm>
          <a:off x="1339490" y="2813165"/>
          <a:ext cx="1041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41120" imgH="291960" progId="Equation.DSMT4">
                  <p:embed/>
                </p:oleObj>
              </mc:Choice>
              <mc:Fallback>
                <p:oleObj name="Equation" r:id="rId7" imgW="1041120" imgH="291960" progId="Equation.DSMT4">
                  <p:embed/>
                  <p:pic>
                    <p:nvPicPr>
                      <p:cNvPr id="29" name="Object 13">
                        <a:extLst>
                          <a:ext uri="{FF2B5EF4-FFF2-40B4-BE49-F238E27FC236}">
                            <a16:creationId xmlns:a16="http://schemas.microsoft.com/office/drawing/2014/main" id="{D97FB21E-0E3E-40C0-80F7-79E255638D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490" y="2813165"/>
                        <a:ext cx="10414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11">
            <a:extLst>
              <a:ext uri="{FF2B5EF4-FFF2-40B4-BE49-F238E27FC236}">
                <a16:creationId xmlns:a16="http://schemas.microsoft.com/office/drawing/2014/main" id="{3EEB62AA-C09D-489C-B178-B382A6660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56" y="4337462"/>
            <a:ext cx="394370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所以 </a:t>
            </a:r>
            <a:r>
              <a:rPr lang="en-US" altLang="zh-CN" b="1" i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30000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b="1" i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 A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为正定阵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A955BAA0-4AB9-494F-8B21-37BB4A72B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26" y="-20695"/>
            <a:ext cx="58132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二次型的正定性的实践 </a:t>
            </a:r>
          </a:p>
        </p:txBody>
      </p:sp>
    </p:spTree>
    <p:extLst>
      <p:ext uri="{BB962C8B-B14F-4D97-AF65-F5344CB8AC3E}">
        <p14:creationId xmlns:p14="http://schemas.microsoft.com/office/powerpoint/2010/main" val="307442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 autoUpdateAnimBg="0"/>
      <p:bldP spid="36" grpId="0"/>
      <p:bldP spid="37" grpId="0"/>
      <p:bldP spid="38" grpId="0" build="p" autoUpdateAnimBg="0"/>
      <p:bldP spid="41" grpId="0" build="p" autoUpdateAnimBg="0"/>
      <p:bldP spid="4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8A7CD4BA-6254-4EAA-BDF9-1918AD92B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347" y="840431"/>
            <a:ext cx="7200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补例</a:t>
            </a: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试确定</a:t>
            </a:r>
            <a:r>
              <a:rPr lang="zh-CN" altLang="en-US" i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使得二次型</a:t>
            </a:r>
          </a:p>
        </p:txBody>
      </p:sp>
      <p:graphicFrame>
        <p:nvGraphicFramePr>
          <p:cNvPr id="15" name="Object 2">
            <a:extLst>
              <a:ext uri="{FF2B5EF4-FFF2-40B4-BE49-F238E27FC236}">
                <a16:creationId xmlns:a16="http://schemas.microsoft.com/office/drawing/2014/main" id="{421E2AD1-D1D3-43E4-BF6E-0C6070589C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2497" y="1559569"/>
          <a:ext cx="53133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21160" imgH="507960" progId="Equation.DSMT4">
                  <p:embed/>
                </p:oleObj>
              </mc:Choice>
              <mc:Fallback>
                <p:oleObj name="Equation" r:id="rId3" imgW="5321160" imgH="507960" progId="Equation.DSMT4">
                  <p:embed/>
                  <p:pic>
                    <p:nvPicPr>
                      <p:cNvPr id="15" name="Object 2">
                        <a:extLst>
                          <a:ext uri="{FF2B5EF4-FFF2-40B4-BE49-F238E27FC236}">
                            <a16:creationId xmlns:a16="http://schemas.microsoft.com/office/drawing/2014/main" id="{421E2AD1-D1D3-43E4-BF6E-0C6070589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2497" y="1559569"/>
                        <a:ext cx="5313363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4">
            <a:extLst>
              <a:ext uri="{FF2B5EF4-FFF2-40B4-BE49-F238E27FC236}">
                <a16:creationId xmlns:a16="http://schemas.microsoft.com/office/drawing/2014/main" id="{DB108752-9B4C-4B94-BB74-6355F3D5D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243" y="2250925"/>
            <a:ext cx="3600450" cy="51911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为正定二次型 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.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236BB631-F83A-4883-A604-1612D7D62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243" y="2979438"/>
            <a:ext cx="790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en-US" altLang="zh-CN" dirty="0">
              <a:solidFill>
                <a:srgbClr val="CC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856594FF-FD4C-4907-A3F9-936168EFF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047" y="2996257"/>
            <a:ext cx="3816350" cy="51911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二次型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的矩阵为</a:t>
            </a:r>
          </a:p>
        </p:txBody>
      </p:sp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E94430AA-5F6A-4E27-8026-B038DE6263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947481"/>
              </p:ext>
            </p:extLst>
          </p:nvPr>
        </p:nvGraphicFramePr>
        <p:xfrm>
          <a:off x="3397250" y="3836044"/>
          <a:ext cx="21717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71520" imgH="1244520" progId="Equation.DSMT4">
                  <p:embed/>
                </p:oleObj>
              </mc:Choice>
              <mc:Fallback>
                <p:oleObj name="Equation" r:id="rId5" imgW="2171520" imgH="1244520" progId="Equation.DSMT4">
                  <p:embed/>
                  <p:pic>
                    <p:nvPicPr>
                      <p:cNvPr id="19" name="Object 3">
                        <a:extLst>
                          <a:ext uri="{FF2B5EF4-FFF2-40B4-BE49-F238E27FC236}">
                            <a16:creationId xmlns:a16="http://schemas.microsoft.com/office/drawing/2014/main" id="{E94430AA-5F6A-4E27-8026-B038DE6263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0" y="3836044"/>
                        <a:ext cx="21717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8">
            <a:extLst>
              <a:ext uri="{FF2B5EF4-FFF2-40B4-BE49-F238E27FC236}">
                <a16:creationId xmlns:a16="http://schemas.microsoft.com/office/drawing/2014/main" id="{745AA5BE-8AB5-4516-99E8-E84FB2411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347" y="5160019"/>
            <a:ext cx="5111750" cy="51911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A</a:t>
            </a:r>
            <a:r>
              <a:rPr lang="en-US" altLang="zh-CN" b="1" i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的顺序主子式分别为</a:t>
            </a: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3C52D892-37F3-4B61-936B-602C94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26" y="-20695"/>
            <a:ext cx="58132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二次型的正定性的实践 </a:t>
            </a:r>
          </a:p>
        </p:txBody>
      </p:sp>
    </p:spTree>
    <p:extLst>
      <p:ext uri="{BB962C8B-B14F-4D97-AF65-F5344CB8AC3E}">
        <p14:creationId xmlns:p14="http://schemas.microsoft.com/office/powerpoint/2010/main" val="2430281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737" y="0"/>
            <a:ext cx="58132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二次型的正定性的实践 </a:t>
            </a:r>
          </a:p>
        </p:txBody>
      </p:sp>
      <p:graphicFrame>
        <p:nvGraphicFramePr>
          <p:cNvPr id="32" name="Object 12">
            <a:extLst>
              <a:ext uri="{FF2B5EF4-FFF2-40B4-BE49-F238E27FC236}">
                <a16:creationId xmlns:a16="http://schemas.microsoft.com/office/drawing/2014/main" id="{E232DD17-4A1E-4188-A478-19E7883E01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732491"/>
          <a:ext cx="1549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9080" imgH="876240" progId="Equation.DSMT4">
                  <p:embed/>
                </p:oleObj>
              </mc:Choice>
              <mc:Fallback>
                <p:oleObj name="Equation" r:id="rId3" imgW="1549080" imgH="876240" progId="Equation.DSMT4">
                  <p:embed/>
                  <p:pic>
                    <p:nvPicPr>
                      <p:cNvPr id="32" name="Object 12">
                        <a:extLst>
                          <a:ext uri="{FF2B5EF4-FFF2-40B4-BE49-F238E27FC236}">
                            <a16:creationId xmlns:a16="http://schemas.microsoft.com/office/drawing/2014/main" id="{E232DD17-4A1E-4188-A478-19E7883E01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732491"/>
                        <a:ext cx="15494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7">
            <a:extLst>
              <a:ext uri="{FF2B5EF4-FFF2-40B4-BE49-F238E27FC236}">
                <a16:creationId xmlns:a16="http://schemas.microsoft.com/office/drawing/2014/main" id="{86489546-5CC6-4673-AD70-E624718848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1740554"/>
          <a:ext cx="15113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11280" imgH="1244520" progId="Equation.DSMT4">
                  <p:embed/>
                </p:oleObj>
              </mc:Choice>
              <mc:Fallback>
                <p:oleObj name="Equation" r:id="rId5" imgW="1511280" imgH="1244520" progId="Equation.DSMT4">
                  <p:embed/>
                  <p:pic>
                    <p:nvPicPr>
                      <p:cNvPr id="33" name="Object 7">
                        <a:extLst>
                          <a:ext uri="{FF2B5EF4-FFF2-40B4-BE49-F238E27FC236}">
                            <a16:creationId xmlns:a16="http://schemas.microsoft.com/office/drawing/2014/main" id="{86489546-5CC6-4673-AD70-E624718848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740554"/>
                        <a:ext cx="15113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5">
            <a:extLst>
              <a:ext uri="{FF2B5EF4-FFF2-40B4-BE49-F238E27FC236}">
                <a16:creationId xmlns:a16="http://schemas.microsoft.com/office/drawing/2014/main" id="{DF83E6FC-7886-4F87-9B5A-C025E0C49A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2099329"/>
          <a:ext cx="1219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18960" imgH="419040" progId="Equation.DSMT4">
                  <p:embed/>
                </p:oleObj>
              </mc:Choice>
              <mc:Fallback>
                <p:oleObj name="Equation" r:id="rId7" imgW="1218960" imgH="419040" progId="Equation.DSMT4">
                  <p:embed/>
                  <p:pic>
                    <p:nvPicPr>
                      <p:cNvPr id="34" name="Object 15">
                        <a:extLst>
                          <a:ext uri="{FF2B5EF4-FFF2-40B4-BE49-F238E27FC236}">
                            <a16:creationId xmlns:a16="http://schemas.microsoft.com/office/drawing/2014/main" id="{DF83E6FC-7886-4F87-9B5A-C025E0C49A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2099329"/>
                        <a:ext cx="1219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9">
            <a:extLst>
              <a:ext uri="{FF2B5EF4-FFF2-40B4-BE49-F238E27FC236}">
                <a16:creationId xmlns:a16="http://schemas.microsoft.com/office/drawing/2014/main" id="{FF43209A-C3F8-4D52-8AF1-7D87F5BC90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3525" y="975379"/>
          <a:ext cx="69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98400" imgH="419040" progId="Equation.DSMT4">
                  <p:embed/>
                </p:oleObj>
              </mc:Choice>
              <mc:Fallback>
                <p:oleObj name="Equation" r:id="rId9" imgW="698400" imgH="419040" progId="Equation.DSMT4">
                  <p:embed/>
                  <p:pic>
                    <p:nvPicPr>
                      <p:cNvPr id="35" name="Object 9">
                        <a:extLst>
                          <a:ext uri="{FF2B5EF4-FFF2-40B4-BE49-F238E27FC236}">
                            <a16:creationId xmlns:a16="http://schemas.microsoft.com/office/drawing/2014/main" id="{FF43209A-C3F8-4D52-8AF1-7D87F5BC90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3525" y="975379"/>
                        <a:ext cx="698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8">
            <a:extLst>
              <a:ext uri="{FF2B5EF4-FFF2-40B4-BE49-F238E27FC236}">
                <a16:creationId xmlns:a16="http://schemas.microsoft.com/office/drawing/2014/main" id="{7049AD11-C3FB-4406-A22C-D95F008A74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8450" y="803929"/>
          <a:ext cx="749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49160" imgH="838080" progId="Equation.DSMT4">
                  <p:embed/>
                </p:oleObj>
              </mc:Choice>
              <mc:Fallback>
                <p:oleObj name="Equation" r:id="rId11" imgW="749160" imgH="838080" progId="Equation.DSMT4">
                  <p:embed/>
                  <p:pic>
                    <p:nvPicPr>
                      <p:cNvPr id="36" name="Object 8">
                        <a:extLst>
                          <a:ext uri="{FF2B5EF4-FFF2-40B4-BE49-F238E27FC236}">
                            <a16:creationId xmlns:a16="http://schemas.microsoft.com/office/drawing/2014/main" id="{7049AD11-C3FB-4406-A22C-D95F008A74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803929"/>
                        <a:ext cx="749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7">
            <a:extLst>
              <a:ext uri="{FF2B5EF4-FFF2-40B4-BE49-F238E27FC236}">
                <a16:creationId xmlns:a16="http://schemas.microsoft.com/office/drawing/2014/main" id="{4D90DDC4-79A6-495F-8C81-1E358BB713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875366"/>
          <a:ext cx="1016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15920" imgH="393480" progId="Equation.DSMT4">
                  <p:embed/>
                </p:oleObj>
              </mc:Choice>
              <mc:Fallback>
                <p:oleObj name="Equation" r:id="rId13" imgW="1015920" imgH="393480" progId="Equation.DSMT4">
                  <p:embed/>
                  <p:pic>
                    <p:nvPicPr>
                      <p:cNvPr id="37" name="Object 7">
                        <a:extLst>
                          <a:ext uri="{FF2B5EF4-FFF2-40B4-BE49-F238E27FC236}">
                            <a16:creationId xmlns:a16="http://schemas.microsoft.com/office/drawing/2014/main" id="{4D90DDC4-79A6-495F-8C81-1E358BB713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875366"/>
                        <a:ext cx="1016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1">
            <a:extLst>
              <a:ext uri="{FF2B5EF4-FFF2-40B4-BE49-F238E27FC236}">
                <a16:creationId xmlns:a16="http://schemas.microsoft.com/office/drawing/2014/main" id="{82C58D3D-5682-4B83-9697-D1ADD768A8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0450" y="1024591"/>
          <a:ext cx="203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3040" imgH="279360" progId="Equation.DSMT4">
                  <p:embed/>
                </p:oleObj>
              </mc:Choice>
              <mc:Fallback>
                <p:oleObj name="Equation" r:id="rId15" imgW="203040" imgH="279360" progId="Equation.DSMT4">
                  <p:embed/>
                  <p:pic>
                    <p:nvPicPr>
                      <p:cNvPr id="38" name="Object 11">
                        <a:extLst>
                          <a:ext uri="{FF2B5EF4-FFF2-40B4-BE49-F238E27FC236}">
                            <a16:creationId xmlns:a16="http://schemas.microsoft.com/office/drawing/2014/main" id="{82C58D3D-5682-4B83-9697-D1ADD768A8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1024591"/>
                        <a:ext cx="2032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9">
            <a:extLst>
              <a:ext uri="{FF2B5EF4-FFF2-40B4-BE49-F238E27FC236}">
                <a16:creationId xmlns:a16="http://schemas.microsoft.com/office/drawing/2014/main" id="{63FC8CE7-A150-4F0D-B8C5-505BC0686A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740554"/>
          <a:ext cx="22860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86000" imgH="1307880" progId="Equation.DSMT4">
                  <p:embed/>
                </p:oleObj>
              </mc:Choice>
              <mc:Fallback>
                <p:oleObj name="Equation" r:id="rId17" imgW="2286000" imgH="1307880" progId="Equation.DSMT4">
                  <p:embed/>
                  <p:pic>
                    <p:nvPicPr>
                      <p:cNvPr id="39" name="Object 9">
                        <a:extLst>
                          <a:ext uri="{FF2B5EF4-FFF2-40B4-BE49-F238E27FC236}">
                            <a16:creationId xmlns:a16="http://schemas.microsoft.com/office/drawing/2014/main" id="{63FC8CE7-A150-4F0D-B8C5-505BC0686A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740554"/>
                        <a:ext cx="2286000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2">
            <a:extLst>
              <a:ext uri="{FF2B5EF4-FFF2-40B4-BE49-F238E27FC236}">
                <a16:creationId xmlns:a16="http://schemas.microsoft.com/office/drawing/2014/main" id="{050C04D3-B127-4160-A5B6-1FC43504B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5" y="3251854"/>
            <a:ext cx="4608513" cy="52228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若使此二次型为正定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000000"/>
              </a:solidFill>
              <a:ea typeface="宋体"/>
              <a:cs typeface="Times New Roman" pitchFamily="18" charset="0"/>
            </a:endParaRPr>
          </a:p>
        </p:txBody>
      </p:sp>
      <p:sp>
        <p:nvSpPr>
          <p:cNvPr id="42" name="Rectangle 12">
            <a:extLst>
              <a:ext uri="{FF2B5EF4-FFF2-40B4-BE49-F238E27FC236}">
                <a16:creationId xmlns:a16="http://schemas.microsoft.com/office/drawing/2014/main" id="{C00E776A-F3EF-4B7A-865C-9D1E3D1E0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025" y="3251854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需满足</a:t>
            </a:r>
            <a:endParaRPr lang="en-US" altLang="zh-CN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43" name="Object 16">
            <a:extLst>
              <a:ext uri="{FF2B5EF4-FFF2-40B4-BE49-F238E27FC236}">
                <a16:creationId xmlns:a16="http://schemas.microsoft.com/office/drawing/2014/main" id="{7B7BA482-1B3F-4B08-889D-A3A7422B27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4200" y="3904316"/>
          <a:ext cx="1358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58640" imgH="444240" progId="Equation.DSMT4">
                  <p:embed/>
                </p:oleObj>
              </mc:Choice>
              <mc:Fallback>
                <p:oleObj name="Equation" r:id="rId19" imgW="1358640" imgH="444240" progId="Equation.DSMT4">
                  <p:embed/>
                  <p:pic>
                    <p:nvPicPr>
                      <p:cNvPr id="43" name="Object 16">
                        <a:extLst>
                          <a:ext uri="{FF2B5EF4-FFF2-40B4-BE49-F238E27FC236}">
                            <a16:creationId xmlns:a16="http://schemas.microsoft.com/office/drawing/2014/main" id="{7B7BA482-1B3F-4B08-889D-A3A7422B27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3904316"/>
                        <a:ext cx="1358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12">
            <a:extLst>
              <a:ext uri="{FF2B5EF4-FFF2-40B4-BE49-F238E27FC236}">
                <a16:creationId xmlns:a16="http://schemas.microsoft.com/office/drawing/2014/main" id="{850521CE-D7E2-4ABD-A79D-EFE13F369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3872566"/>
            <a:ext cx="86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</a:t>
            </a:r>
            <a:endParaRPr lang="en-US" altLang="zh-CN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45" name="Object 20">
            <a:extLst>
              <a:ext uri="{FF2B5EF4-FFF2-40B4-BE49-F238E27FC236}">
                <a16:creationId xmlns:a16="http://schemas.microsoft.com/office/drawing/2014/main" id="{DE583792-B1CF-49B5-B402-E1503C3B0C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3899554"/>
          <a:ext cx="171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14320" imgH="444240" progId="Equation.DSMT4">
                  <p:embed/>
                </p:oleObj>
              </mc:Choice>
              <mc:Fallback>
                <p:oleObj name="Equation" r:id="rId21" imgW="1714320" imgH="444240" progId="Equation.DSMT4">
                  <p:embed/>
                  <p:pic>
                    <p:nvPicPr>
                      <p:cNvPr id="45" name="Object 20">
                        <a:extLst>
                          <a:ext uri="{FF2B5EF4-FFF2-40B4-BE49-F238E27FC236}">
                            <a16:creationId xmlns:a16="http://schemas.microsoft.com/office/drawing/2014/main" id="{DE583792-B1CF-49B5-B402-E1503C3B0C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899554"/>
                        <a:ext cx="1714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4">
            <a:extLst>
              <a:ext uri="{FF2B5EF4-FFF2-40B4-BE49-F238E27FC236}">
                <a16:creationId xmlns:a16="http://schemas.microsoft.com/office/drawing/2014/main" id="{D0178FB3-A95F-4D52-B7DE-B43EA72DF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4620279"/>
            <a:ext cx="1728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解得</a:t>
            </a:r>
          </a:p>
        </p:txBody>
      </p:sp>
      <p:graphicFrame>
        <p:nvGraphicFramePr>
          <p:cNvPr id="47" name="Object 18">
            <a:extLst>
              <a:ext uri="{FF2B5EF4-FFF2-40B4-BE49-F238E27FC236}">
                <a16:creationId xmlns:a16="http://schemas.microsoft.com/office/drawing/2014/main" id="{DA2006B5-0EB4-414D-8040-7EBF0E7C08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4620279"/>
          <a:ext cx="1231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31560" imgH="495000" progId="Equation.DSMT4">
                  <p:embed/>
                </p:oleObj>
              </mc:Choice>
              <mc:Fallback>
                <p:oleObj name="Equation" r:id="rId23" imgW="1231560" imgH="495000" progId="Equation.DSMT4">
                  <p:embed/>
                  <p:pic>
                    <p:nvPicPr>
                      <p:cNvPr id="47" name="Object 18">
                        <a:extLst>
                          <a:ext uri="{FF2B5EF4-FFF2-40B4-BE49-F238E27FC236}">
                            <a16:creationId xmlns:a16="http://schemas.microsoft.com/office/drawing/2014/main" id="{DA2006B5-0EB4-414D-8040-7EBF0E7C08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620279"/>
                        <a:ext cx="1231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组合 27">
            <a:extLst>
              <a:ext uri="{FF2B5EF4-FFF2-40B4-BE49-F238E27FC236}">
                <a16:creationId xmlns:a16="http://schemas.microsoft.com/office/drawing/2014/main" id="{3B7898F4-2779-471B-9059-F3EEA79D71D6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4620279"/>
            <a:ext cx="3167062" cy="519112"/>
            <a:chOff x="900386" y="4293096"/>
            <a:chExt cx="3167558" cy="519112"/>
          </a:xfrm>
        </p:grpSpPr>
        <p:sp>
          <p:nvSpPr>
            <p:cNvPr id="49" name="Text Box 2">
              <a:extLst>
                <a:ext uri="{FF2B5EF4-FFF2-40B4-BE49-F238E27FC236}">
                  <a16:creationId xmlns:a16="http://schemas.microsoft.com/office/drawing/2014/main" id="{BBFDE5E6-A8CD-4A72-9013-9ACDB826F4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386" y="4293096"/>
              <a:ext cx="3167558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itchFamily="2" charset="-122"/>
                  <a:ea typeface="华文中宋" pitchFamily="2" charset="-122"/>
                </a:rPr>
                <a:t>当             时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华文中宋" pitchFamily="2" charset="-122"/>
                </a:rPr>
                <a:t>,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endParaRPr>
            </a:p>
          </p:txBody>
        </p:sp>
        <p:graphicFrame>
          <p:nvGraphicFramePr>
            <p:cNvPr id="50" name="Object 17">
              <a:extLst>
                <a:ext uri="{FF2B5EF4-FFF2-40B4-BE49-F238E27FC236}">
                  <a16:creationId xmlns:a16="http://schemas.microsoft.com/office/drawing/2014/main" id="{D166E3D3-4C86-4754-82FD-752B932399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3648" y="4293096"/>
            <a:ext cx="13589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358640" imgH="419040" progId="Equation.DSMT4">
                    <p:embed/>
                  </p:oleObj>
                </mc:Choice>
                <mc:Fallback>
                  <p:oleObj name="Equation" r:id="rId25" imgW="1358640" imgH="419040" progId="Equation.DSMT4">
                    <p:embed/>
                    <p:pic>
                      <p:nvPicPr>
                        <p:cNvPr id="50" name="Object 17">
                          <a:extLst>
                            <a:ext uri="{FF2B5EF4-FFF2-40B4-BE49-F238E27FC236}">
                              <a16:creationId xmlns:a16="http://schemas.microsoft.com/office/drawing/2014/main" id="{D166E3D3-4C86-4754-82FD-752B932399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648" y="4293096"/>
                          <a:ext cx="13589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Text Box 4">
            <a:extLst>
              <a:ext uri="{FF2B5EF4-FFF2-40B4-BE49-F238E27FC236}">
                <a16:creationId xmlns:a16="http://schemas.microsoft.com/office/drawing/2014/main" id="{66689CCB-2E7C-4D50-9508-EF0FD1F6A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5556904"/>
            <a:ext cx="1728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解得</a:t>
            </a:r>
          </a:p>
        </p:txBody>
      </p:sp>
      <p:graphicFrame>
        <p:nvGraphicFramePr>
          <p:cNvPr id="52" name="Object 14">
            <a:extLst>
              <a:ext uri="{FF2B5EF4-FFF2-40B4-BE49-F238E27FC236}">
                <a16:creationId xmlns:a16="http://schemas.microsoft.com/office/drawing/2014/main" id="{317B7BE9-97C9-4F3C-B2C0-FB89331CF1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6513" y="5334654"/>
          <a:ext cx="1295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95280" imgH="939600" progId="Equation.DSMT4">
                  <p:embed/>
                </p:oleObj>
              </mc:Choice>
              <mc:Fallback>
                <p:oleObj name="Equation" r:id="rId27" imgW="1295280" imgH="939600" progId="Equation.DSMT4">
                  <p:embed/>
                  <p:pic>
                    <p:nvPicPr>
                      <p:cNvPr id="52" name="Object 14">
                        <a:extLst>
                          <a:ext uri="{FF2B5EF4-FFF2-40B4-BE49-F238E27FC236}">
                            <a16:creationId xmlns:a16="http://schemas.microsoft.com/office/drawing/2014/main" id="{317B7BE9-97C9-4F3C-B2C0-FB89331CF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3" y="5334654"/>
                        <a:ext cx="1295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组合 30">
            <a:extLst>
              <a:ext uri="{FF2B5EF4-FFF2-40B4-BE49-F238E27FC236}">
                <a16:creationId xmlns:a16="http://schemas.microsoft.com/office/drawing/2014/main" id="{C5379623-92A9-4F2C-8FC8-E6F72C3DCD1B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556904"/>
            <a:ext cx="3311525" cy="519112"/>
            <a:chOff x="900386" y="4293096"/>
            <a:chExt cx="3312368" cy="519112"/>
          </a:xfrm>
        </p:grpSpPr>
        <p:sp>
          <p:nvSpPr>
            <p:cNvPr id="54" name="Text Box 2">
              <a:extLst>
                <a:ext uri="{FF2B5EF4-FFF2-40B4-BE49-F238E27FC236}">
                  <a16:creationId xmlns:a16="http://schemas.microsoft.com/office/drawing/2014/main" id="{2868EAB6-0F90-40EB-B8BD-B0CB5EF66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386" y="4293096"/>
              <a:ext cx="3312368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itchFamily="2" charset="-122"/>
                  <a:ea typeface="华文中宋" pitchFamily="2" charset="-122"/>
                </a:rPr>
                <a:t>当                时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华文中宋" pitchFamily="2" charset="-122"/>
                </a:rPr>
                <a:t>,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endParaRPr>
            </a:p>
          </p:txBody>
        </p:sp>
        <p:graphicFrame>
          <p:nvGraphicFramePr>
            <p:cNvPr id="55" name="Object 21">
              <a:extLst>
                <a:ext uri="{FF2B5EF4-FFF2-40B4-BE49-F238E27FC236}">
                  <a16:creationId xmlns:a16="http://schemas.microsoft.com/office/drawing/2014/main" id="{7B53136F-5F38-43F7-8C5D-DE2FD3CAA2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4442" y="4293096"/>
            <a:ext cx="17526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752480" imgH="419040" progId="Equation.DSMT4">
                    <p:embed/>
                  </p:oleObj>
                </mc:Choice>
                <mc:Fallback>
                  <p:oleObj name="Equation" r:id="rId29" imgW="1752480" imgH="419040" progId="Equation.DSMT4">
                    <p:embed/>
                    <p:pic>
                      <p:nvPicPr>
                        <p:cNvPr id="55" name="Object 21">
                          <a:extLst>
                            <a:ext uri="{FF2B5EF4-FFF2-40B4-BE49-F238E27FC236}">
                              <a16:creationId xmlns:a16="http://schemas.microsoft.com/office/drawing/2014/main" id="{7B53136F-5F38-43F7-8C5D-DE2FD3CAA2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4442" y="4293096"/>
                          <a:ext cx="17526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92801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44" grpId="0"/>
      <p:bldP spid="46" grpId="0" build="p" autoUpdateAnimBg="0"/>
      <p:bldP spid="51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922" y="4908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377C1783-0A81-4EA0-80E5-4AC2C38E4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1223444"/>
            <a:ext cx="3581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取其公共部分得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:</a:t>
            </a:r>
            <a:endParaRPr lang="zh-CN" altLang="en-US" b="1" dirty="0">
              <a:solidFill>
                <a:srgbClr val="000000"/>
              </a:solidFill>
              <a:ea typeface="宋体"/>
              <a:cs typeface="Times New Roman" pitchFamily="18" charset="0"/>
            </a:endParaRPr>
          </a:p>
        </p:txBody>
      </p:sp>
      <p:graphicFrame>
        <p:nvGraphicFramePr>
          <p:cNvPr id="16" name="Object 12">
            <a:extLst>
              <a:ext uri="{FF2B5EF4-FFF2-40B4-BE49-F238E27FC236}">
                <a16:creationId xmlns:a16="http://schemas.microsoft.com/office/drawing/2014/main" id="{9520E230-BCD7-4EE1-9147-9F724F9376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316699"/>
              </p:ext>
            </p:extLst>
          </p:nvPr>
        </p:nvGraphicFramePr>
        <p:xfrm>
          <a:off x="4860900" y="1007544"/>
          <a:ext cx="1295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95280" imgH="939600" progId="Equation.DSMT4">
                  <p:embed/>
                </p:oleObj>
              </mc:Choice>
              <mc:Fallback>
                <p:oleObj name="Equation" r:id="rId3" imgW="1295280" imgH="939600" progId="Equation.DSMT4">
                  <p:embed/>
                  <p:pic>
                    <p:nvPicPr>
                      <p:cNvPr id="16" name="Object 12">
                        <a:extLst>
                          <a:ext uri="{FF2B5EF4-FFF2-40B4-BE49-F238E27FC236}">
                            <a16:creationId xmlns:a16="http://schemas.microsoft.com/office/drawing/2014/main" id="{9520E230-BCD7-4EE1-9147-9F724F9376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900" y="1007544"/>
                        <a:ext cx="1295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23">
            <a:extLst>
              <a:ext uri="{FF2B5EF4-FFF2-40B4-BE49-F238E27FC236}">
                <a16:creationId xmlns:a16="http://schemas.microsoft.com/office/drawing/2014/main" id="{EF5E752D-2CAE-493B-8D36-1532EED7D362}"/>
              </a:ext>
            </a:extLst>
          </p:cNvPr>
          <p:cNvGrpSpPr>
            <a:grpSpLocks/>
          </p:cNvGrpSpPr>
          <p:nvPr/>
        </p:nvGrpSpPr>
        <p:grpSpPr bwMode="auto">
          <a:xfrm>
            <a:off x="1763688" y="2389770"/>
            <a:ext cx="3256727" cy="939800"/>
            <a:chOff x="846584" y="3284538"/>
            <a:chExt cx="3255683" cy="939800"/>
          </a:xfrm>
        </p:grpSpPr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D1C93672-7A33-4C26-8DCD-E4C264C88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584" y="3500438"/>
              <a:ext cx="1367864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rPr>
                <a:t>即当</a:t>
              </a:r>
            </a:p>
          </p:txBody>
        </p:sp>
        <p:sp>
          <p:nvSpPr>
            <p:cNvPr id="19" name="Text Box 14">
              <a:extLst>
                <a:ext uri="{FF2B5EF4-FFF2-40B4-BE49-F238E27FC236}">
                  <a16:creationId xmlns:a16="http://schemas.microsoft.com/office/drawing/2014/main" id="{2A497D2D-2D3B-4418-8B7E-F415C5EC41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4527" y="3500438"/>
              <a:ext cx="1007740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b="1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时</a:t>
              </a:r>
              <a:r>
                <a:rPr lang="en-US" altLang="zh-CN" b="1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, </a:t>
              </a:r>
            </a:p>
          </p:txBody>
        </p:sp>
        <p:graphicFrame>
          <p:nvGraphicFramePr>
            <p:cNvPr id="20" name="Object 13">
              <a:extLst>
                <a:ext uri="{FF2B5EF4-FFF2-40B4-BE49-F238E27FC236}">
                  <a16:creationId xmlns:a16="http://schemas.microsoft.com/office/drawing/2014/main" id="{629EF079-3C25-4BB8-A37E-ACAB089A26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4513" y="3284538"/>
            <a:ext cx="1193800" cy="939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93760" imgH="939600" progId="Equation.DSMT4">
                    <p:embed/>
                  </p:oleObj>
                </mc:Choice>
                <mc:Fallback>
                  <p:oleObj name="Equation" r:id="rId5" imgW="1193760" imgH="939600" progId="Equation.DSMT4">
                    <p:embed/>
                    <p:pic>
                      <p:nvPicPr>
                        <p:cNvPr id="20" name="Object 13">
                          <a:extLst>
                            <a:ext uri="{FF2B5EF4-FFF2-40B4-BE49-F238E27FC236}">
                              <a16:creationId xmlns:a16="http://schemas.microsoft.com/office/drawing/2014/main" id="{629EF079-3C25-4BB8-A37E-ACAB089A26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4513" y="3284538"/>
                          <a:ext cx="1193800" cy="939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14">
            <a:extLst>
              <a:ext uri="{FF2B5EF4-FFF2-40B4-BE49-F238E27FC236}">
                <a16:creationId xmlns:a16="http://schemas.microsoft.com/office/drawing/2014/main" id="{0A3F8387-D12B-4B72-93FC-8AD9E9EA1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875" y="2605670"/>
            <a:ext cx="28082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二次型 </a:t>
            </a:r>
            <a:r>
              <a:rPr lang="en-US" altLang="zh-CN" b="1" i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f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正定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</a:p>
        </p:txBody>
      </p:sp>
      <p:sp>
        <p:nvSpPr>
          <p:cNvPr id="24" name="Rectangle 30">
            <a:extLst>
              <a:ext uri="{FF2B5EF4-FFF2-40B4-BE49-F238E27FC236}">
                <a16:creationId xmlns:a16="http://schemas.microsoft.com/office/drawing/2014/main" id="{62C73CE2-9B71-4F8E-8660-CAC8C9669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26" y="-20695"/>
            <a:ext cx="58132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二次型的正定性的实践 </a:t>
            </a:r>
          </a:p>
        </p:txBody>
      </p:sp>
    </p:spTree>
    <p:extLst>
      <p:ext uri="{BB962C8B-B14F-4D97-AF65-F5344CB8AC3E}">
        <p14:creationId xmlns:p14="http://schemas.microsoft.com/office/powerpoint/2010/main" val="273982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utoUpdateAnimBg="0"/>
      <p:bldP spid="21" grpId="0" build="p" autoUpdateAnimBg="0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1CEF4A-2E1C-874A-E8F7-1D5A6FD96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43" y="1340768"/>
            <a:ext cx="623792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正定二次型的概念与性质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Line 12">
            <a:extLst>
              <a:ext uri="{FF2B5EF4-FFF2-40B4-BE49-F238E27FC236}">
                <a16:creationId xmlns:a16="http://schemas.microsoft.com/office/drawing/2014/main" id="{FABAE163-6DC5-E115-D944-D71010ECE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6B5F9E8A-9777-7E49-1960-3FB942747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52536" y="75820"/>
            <a:ext cx="5407025" cy="598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正定二次型小结</a:t>
            </a:r>
          </a:p>
        </p:txBody>
      </p:sp>
      <p:sp>
        <p:nvSpPr>
          <p:cNvPr id="6" name="爆炸形: 8 pt  5">
            <a:extLst>
              <a:ext uri="{FF2B5EF4-FFF2-40B4-BE49-F238E27FC236}">
                <a16:creationId xmlns:a16="http://schemas.microsoft.com/office/drawing/2014/main" id="{AF761F2B-0CD2-D6E3-23E5-BA1EF0AFD7BE}"/>
              </a:ext>
            </a:extLst>
          </p:cNvPr>
          <p:cNvSpPr/>
          <p:nvPr/>
        </p:nvSpPr>
        <p:spPr bwMode="auto">
          <a:xfrm>
            <a:off x="516812" y="1457432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EDF88F9-CA33-8EA5-F598-F4B841FF9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295" y="1964772"/>
            <a:ext cx="7725145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正定二次型与矩阵的关系</a:t>
            </a:r>
            <a:r>
              <a:rPr lang="en-US" altLang="zh-CN" sz="2500" b="1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  </a:t>
            </a:r>
            <a:r>
              <a:rPr lang="zh-CN" altLang="en-US" sz="2500" b="1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如何判定正定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爆炸形: 8 pt  7">
            <a:extLst>
              <a:ext uri="{FF2B5EF4-FFF2-40B4-BE49-F238E27FC236}">
                <a16:creationId xmlns:a16="http://schemas.microsoft.com/office/drawing/2014/main" id="{45286C91-9363-BB8F-C384-DD64B63541CB}"/>
              </a:ext>
            </a:extLst>
          </p:cNvPr>
          <p:cNvSpPr/>
          <p:nvPr/>
        </p:nvSpPr>
        <p:spPr bwMode="auto">
          <a:xfrm>
            <a:off x="485512" y="2073672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3A61B90-CB25-A4EF-9639-CB2347850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61" y="3143178"/>
            <a:ext cx="629711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正定二次型判定的各种条件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爆炸形: 8 pt  9">
            <a:extLst>
              <a:ext uri="{FF2B5EF4-FFF2-40B4-BE49-F238E27FC236}">
                <a16:creationId xmlns:a16="http://schemas.microsoft.com/office/drawing/2014/main" id="{54B42938-EA27-3938-DBFE-504E32A124DF}"/>
              </a:ext>
            </a:extLst>
          </p:cNvPr>
          <p:cNvSpPr/>
          <p:nvPr/>
        </p:nvSpPr>
        <p:spPr bwMode="auto">
          <a:xfrm>
            <a:off x="494240" y="3264249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B48825D-AC93-A3A0-A3A6-5971C1AA6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43" y="3895302"/>
            <a:ext cx="652596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正定二次型的实际应用有哪些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爆炸形: 8 pt  12">
            <a:extLst>
              <a:ext uri="{FF2B5EF4-FFF2-40B4-BE49-F238E27FC236}">
                <a16:creationId xmlns:a16="http://schemas.microsoft.com/office/drawing/2014/main" id="{18AEAB16-5DA7-7086-F195-AB613D54CAE8}"/>
              </a:ext>
            </a:extLst>
          </p:cNvPr>
          <p:cNvSpPr/>
          <p:nvPr/>
        </p:nvSpPr>
        <p:spPr bwMode="auto">
          <a:xfrm>
            <a:off x="518714" y="4025751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B22C0A2-3582-3086-A991-B6203620D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169" y="4617888"/>
            <a:ext cx="739323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正定二次型如何应用在二次曲面上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爆炸形: 8 pt  14">
            <a:extLst>
              <a:ext uri="{FF2B5EF4-FFF2-40B4-BE49-F238E27FC236}">
                <a16:creationId xmlns:a16="http://schemas.microsoft.com/office/drawing/2014/main" id="{E7F803F9-A56C-F6EE-6094-B2C39A560911}"/>
              </a:ext>
            </a:extLst>
          </p:cNvPr>
          <p:cNvSpPr/>
          <p:nvPr/>
        </p:nvSpPr>
        <p:spPr bwMode="auto">
          <a:xfrm>
            <a:off x="489666" y="4689737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" name="Picture 11">
            <a:extLst>
              <a:ext uri="{FF2B5EF4-FFF2-40B4-BE49-F238E27FC236}">
                <a16:creationId xmlns:a16="http://schemas.microsoft.com/office/drawing/2014/main" id="{11C7C430-7B63-0C87-39E1-AC57FF6C639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65E09A3D-596D-1E93-4CD4-E23F3B2E1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744" y="2531600"/>
            <a:ext cx="1872208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500" b="1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二次型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  <p:bldP spid="12" grpId="0"/>
      <p:bldP spid="14" grpId="0"/>
      <p:bldP spid="18" grpId="0"/>
    </p:bldLst>
  </p:timing>
</p:sld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16301</TotalTime>
  <Words>1066</Words>
  <Application>Microsoft Office PowerPoint</Application>
  <PresentationFormat>全屏显示(4:3)</PresentationFormat>
  <Paragraphs>163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黑体</vt:lpstr>
      <vt:lpstr>华文中宋</vt:lpstr>
      <vt:lpstr>宋体</vt:lpstr>
      <vt:lpstr>Arial</vt:lpstr>
      <vt:lpstr>Arial Black</vt:lpstr>
      <vt:lpstr>Calibri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rong jiang</cp:lastModifiedBy>
  <cp:revision>1062</cp:revision>
  <dcterms:created xsi:type="dcterms:W3CDTF">2012-06-17T01:12:18Z</dcterms:created>
  <dcterms:modified xsi:type="dcterms:W3CDTF">2023-08-25T16:19:41Z</dcterms:modified>
</cp:coreProperties>
</file>