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6" r:id="rId4"/>
    <p:sldMasterId id="2147483700" r:id="rId5"/>
    <p:sldMasterId id="2147483712" r:id="rId6"/>
  </p:sldMasterIdLst>
  <p:notesMasterIdLst>
    <p:notesMasterId r:id="rId47"/>
  </p:notesMasterIdLst>
  <p:sldIdLst>
    <p:sldId id="1399" r:id="rId7"/>
    <p:sldId id="1131" r:id="rId8"/>
    <p:sldId id="1129" r:id="rId9"/>
    <p:sldId id="1401" r:id="rId10"/>
    <p:sldId id="1402" r:id="rId11"/>
    <p:sldId id="1397" r:id="rId12"/>
    <p:sldId id="1403" r:id="rId13"/>
    <p:sldId id="1404" r:id="rId14"/>
    <p:sldId id="1405" r:id="rId15"/>
    <p:sldId id="1406" r:id="rId16"/>
    <p:sldId id="1413" r:id="rId17"/>
    <p:sldId id="1407" r:id="rId18"/>
    <p:sldId id="1408" r:id="rId19"/>
    <p:sldId id="1370" r:id="rId20"/>
    <p:sldId id="1372" r:id="rId21"/>
    <p:sldId id="1379" r:id="rId22"/>
    <p:sldId id="1381" r:id="rId23"/>
    <p:sldId id="1409" r:id="rId24"/>
    <p:sldId id="1374" r:id="rId25"/>
    <p:sldId id="1375" r:id="rId26"/>
    <p:sldId id="1382" r:id="rId27"/>
    <p:sldId id="1380" r:id="rId28"/>
    <p:sldId id="1383" r:id="rId29"/>
    <p:sldId id="1384" r:id="rId30"/>
    <p:sldId id="1414" r:id="rId31"/>
    <p:sldId id="1386" r:id="rId32"/>
    <p:sldId id="1385" r:id="rId33"/>
    <p:sldId id="1398" r:id="rId34"/>
    <p:sldId id="1410" r:id="rId35"/>
    <p:sldId id="1377" r:id="rId36"/>
    <p:sldId id="1411" r:id="rId37"/>
    <p:sldId id="1388" r:id="rId38"/>
    <p:sldId id="1389" r:id="rId39"/>
    <p:sldId id="1412" r:id="rId40"/>
    <p:sldId id="1390" r:id="rId41"/>
    <p:sldId id="1391" r:id="rId42"/>
    <p:sldId id="1392" r:id="rId43"/>
    <p:sldId id="1393" r:id="rId44"/>
    <p:sldId id="1394" r:id="rId45"/>
    <p:sldId id="1395" r:id="rId46"/>
  </p:sldIdLst>
  <p:sldSz cx="9144000" cy="6858000" type="screen4x3"/>
  <p:notesSz cx="6858000" cy="9144000"/>
  <p:custDataLst>
    <p:tags r:id="rId4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969696"/>
    <a:srgbClr val="2B2BFF"/>
    <a:srgbClr val="3333FF"/>
    <a:srgbClr val="C7E6A4"/>
    <a:srgbClr val="00800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/>
    <p:restoredTop sz="91777"/>
  </p:normalViewPr>
  <p:slideViewPr>
    <p:cSldViewPr showGuides="1">
      <p:cViewPr varScale="1">
        <p:scale>
          <a:sx n="73" d="100"/>
          <a:sy n="73" d="100"/>
        </p:scale>
        <p:origin x="780" y="72"/>
      </p:cViewPr>
      <p:guideLst>
        <p:guide orient="horz" pos="2160"/>
        <p:guide pos="290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-82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tags" Target="tags/tag1.xml"/><Relationship Id="rId8" Type="http://schemas.openxmlformats.org/officeDocument/2006/relationships/slide" Target="slides/slide2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228F58-9971-4204-872E-7FCE93CBFB6D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2024/3/3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178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0413" y="0"/>
            <a:ext cx="763587" cy="746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页脚占位符 1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0" rtl="0" eaLnBrk="0" fontAlgn="base" latinLnBrk="0" hangingPunct="0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Clr>
                <a:srgbClr val="0000FF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C00AC"/>
              </a:solidFill>
              <a:effectLst/>
              <a:uLnTx/>
              <a:uFillTx/>
              <a:latin typeface="+mn-lt"/>
              <a:ea typeface="+mn-ea"/>
              <a:cs typeface="楷体_GB2312" pitchFamily="49" charset="-122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3013EF-52D9-409B-B9F7-7D0EBC279948}" type="datetimeFigureOut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2024/3/3</a:t>
            </a:fld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35D83A0-80DF-4DEC-9C63-42FBF4325AC9}" type="datetime1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2024/3/3</a:t>
            </a:fld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‹#›</a:t>
            </a:fld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0" rtl="0" eaLnBrk="0" fontAlgn="base" latinLnBrk="0" hangingPunct="0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Clr>
                <a:srgbClr val="0000FF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C00AC"/>
              </a:solidFill>
              <a:effectLst/>
              <a:uLnTx/>
              <a:uFillTx/>
              <a:latin typeface="+mn-lt"/>
              <a:ea typeface="+mn-ea"/>
              <a:cs typeface="楷体_GB2312" pitchFamily="49" charset="-122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5C5D72C-1017-41F3-9B88-0451F43DCAD9}" type="datetimeFigureOut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2024/3/3</a:t>
            </a:fld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‹#›</a:t>
            </a:fld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35D83A0-80DF-4DEC-9C63-42FBF4325AC9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2024/3/3</a:t>
            </a:fld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‹#›</a:t>
            </a:fld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‹#›</a:t>
            </a:fld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8" name="Picture 2" descr="E:\党办校办\党办校办文件夹\学校资料\学校标志\校徽透明_蓝_完美版-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86775" y="0"/>
            <a:ext cx="630238" cy="631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72" name="Picture 2" descr="E:\党办校办\党办校办文件夹\学校资料\学校标志\校徽透明_蓝_完美版-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13763" y="0"/>
            <a:ext cx="630237" cy="631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7898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燕尾形 16">
            <a:hlinkClick r:id="" action="ppaction://hlinkshowjump?jump=previousslide" tooltip="上一页"/>
          </p:cNvPr>
          <p:cNvSpPr/>
          <p:nvPr/>
        </p:nvSpPr>
        <p:spPr>
          <a:xfrm flipH="1">
            <a:off x="8347075" y="6584950"/>
            <a:ext cx="233363" cy="23495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燕尾形 18">
            <a:hlinkClick r:id="" action="ppaction://hlinkshowjump?jump=nextslide" tooltip="下一页"/>
          </p:cNvPr>
          <p:cNvSpPr/>
          <p:nvPr/>
        </p:nvSpPr>
        <p:spPr>
          <a:xfrm>
            <a:off x="8829675" y="6597650"/>
            <a:ext cx="190500" cy="2286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4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ru-RU" dirty="0"/>
              <a:t>单击此处编辑母版标题样式</a:t>
            </a:r>
          </a:p>
        </p:txBody>
      </p:sp>
      <p:sp>
        <p:nvSpPr>
          <p:cNvPr id="2051" name="Rectangle 15"/>
          <p:cNvSpPr>
            <a:spLocks noGrp="1"/>
          </p:cNvSpPr>
          <p:nvPr>
            <p:ph type="body" idx="1"/>
          </p:nvPr>
        </p:nvSpPr>
        <p:spPr>
          <a:xfrm>
            <a:off x="457200" y="1628775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ru-RU" dirty="0"/>
              <a:t>单击此处编辑母版文本样式</a:t>
            </a:r>
          </a:p>
          <a:p>
            <a:pPr lvl="1"/>
            <a:r>
              <a:rPr lang="zh-CN" altLang="ru-RU" dirty="0"/>
              <a:t>第二级</a:t>
            </a:r>
          </a:p>
          <a:p>
            <a:pPr lvl="2"/>
            <a:r>
              <a:rPr lang="zh-CN" altLang="ru-RU" dirty="0"/>
              <a:t>第三级</a:t>
            </a:r>
          </a:p>
          <a:p>
            <a:pPr lvl="3"/>
            <a:r>
              <a:rPr lang="zh-CN" altLang="ru-RU" dirty="0"/>
              <a:t>第四级</a:t>
            </a:r>
          </a:p>
          <a:p>
            <a:pPr lvl="4"/>
            <a:r>
              <a:rPr lang="zh-CN" altLang="ru-RU" dirty="0"/>
              <a:t>第五级</a:t>
            </a:r>
          </a:p>
        </p:txBody>
      </p:sp>
      <p:sp>
        <p:nvSpPr>
          <p:cNvPr id="5015" name="Rectangle 2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buFont typeface="Arial" panose="020B0604020202020204" pitchFamily="34" charset="0"/>
              <a:buNone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6" name="Rectangle 3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017" name="Rectangle 16"/>
          <p:cNvSpPr>
            <a:spLocks noGrp="1" noChangeArrowheads="1"/>
          </p:cNvSpPr>
          <p:nvPr>
            <p:ph type="dt" sz="half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17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380413" y="0"/>
            <a:ext cx="763587" cy="7461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buSzPct val="100000"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党办校办\党办校办文件夹\学校资料\学校标志\校徽透明_蓝_完美版-2.png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370888" y="85725"/>
            <a:ext cx="631825" cy="6413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sldNum="0" hdr="0" ftr="0" dt="0"/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itchFamily="49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itchFamily="49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600" b="1">
                <a:solidFill>
                  <a:srgbClr val="FFFF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  <p:pic>
        <p:nvPicPr>
          <p:cNvPr id="4103" name="Picture 2" descr="E:\党办校办\党办校办文件夹\学校资料\学校标志\校徽透明_蓝_完美版-2.png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245475" y="187325"/>
            <a:ext cx="630238" cy="8397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hf sldNum="0" hdr="0" ftr="0" dt="0"/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itchFamily="49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itchFamily="49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/>
          <p:cNvSpPr>
            <a:spLocks noChangeArrowheads="1"/>
          </p:cNvSpPr>
          <p:nvPr/>
        </p:nvSpPr>
        <p:spPr bwMode="auto">
          <a:xfrm>
            <a:off x="611188" y="188913"/>
            <a:ext cx="3241675" cy="144463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AutoShape 27"/>
          <p:cNvSpPr>
            <a:spLocks noChangeArrowheads="1"/>
          </p:cNvSpPr>
          <p:nvPr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AutoShape 8"/>
          <p:cNvSpPr>
            <a:spLocks noChangeArrowheads="1"/>
          </p:cNvSpPr>
          <p:nvPr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AutoShape 10"/>
          <p:cNvSpPr>
            <a:spLocks noChangeArrowheads="1"/>
          </p:cNvSpPr>
          <p:nvPr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AutoShape 24"/>
          <p:cNvSpPr>
            <a:spLocks noChangeArrowheads="1"/>
          </p:cNvSpPr>
          <p:nvPr/>
        </p:nvSpPr>
        <p:spPr bwMode="auto">
          <a:xfrm>
            <a:off x="1547813" y="115888"/>
            <a:ext cx="1655763" cy="144463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AutoShape 26"/>
          <p:cNvSpPr>
            <a:spLocks noChangeArrowheads="1"/>
          </p:cNvSpPr>
          <p:nvPr/>
        </p:nvSpPr>
        <p:spPr bwMode="auto">
          <a:xfrm>
            <a:off x="0" y="-71437"/>
            <a:ext cx="1223963" cy="142875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614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14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15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ransition spd="slow"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6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6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6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6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3.wmf"/><Relationship Id="rId10" Type="http://schemas.openxmlformats.org/officeDocument/2006/relationships/image" Target="../media/image16.png"/><Relationship Id="rId4" Type="http://schemas.openxmlformats.org/officeDocument/2006/relationships/oleObject" Target="../embeddings/oleObject7.bin"/><Relationship Id="rId9" Type="http://schemas.openxmlformats.org/officeDocument/2006/relationships/image" Target="../media/image1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24.wmf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18.bin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66.xml"/><Relationship Id="rId6" Type="http://schemas.openxmlformats.org/officeDocument/2006/relationships/oleObject" Target="../embeddings/oleObject14.bin"/><Relationship Id="rId11" Type="http://schemas.openxmlformats.org/officeDocument/2006/relationships/oleObject" Target="../embeddings/oleObject17.bin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3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6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30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66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6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6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3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slideLayout" Target="../slideLayouts/slideLayout66.xml"/><Relationship Id="rId1" Type="http://schemas.openxmlformats.org/officeDocument/2006/relationships/tags" Target="../tags/tag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7" Type="http://schemas.openxmlformats.org/officeDocument/2006/relationships/image" Target="../media/image39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42.png"/><Relationship Id="rId4" Type="http://schemas.openxmlformats.org/officeDocument/2006/relationships/image" Target="../media/image4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66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26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7" Type="http://schemas.openxmlformats.org/officeDocument/2006/relationships/image" Target="../media/image48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66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47.wmf"/><Relationship Id="rId4" Type="http://schemas.openxmlformats.org/officeDocument/2006/relationships/oleObject" Target="../embeddings/oleObject2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36.bin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66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5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66.x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5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66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61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slideLayout" Target="../slideLayouts/slideLayout6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slideLayout" Target="../slideLayouts/slideLayout6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slideLayout" Target="../slideLayouts/slideLayout6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7" Type="http://schemas.openxmlformats.org/officeDocument/2006/relationships/image" Target="../media/image70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66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47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76.wmf"/><Relationship Id="rId3" Type="http://schemas.openxmlformats.org/officeDocument/2006/relationships/image" Target="../media/image71.emf"/><Relationship Id="rId7" Type="http://schemas.openxmlformats.org/officeDocument/2006/relationships/image" Target="../media/image73.emf"/><Relationship Id="rId12" Type="http://schemas.openxmlformats.org/officeDocument/2006/relationships/oleObject" Target="../embeddings/oleObject54.bin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66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75.emf"/><Relationship Id="rId5" Type="http://schemas.openxmlformats.org/officeDocument/2006/relationships/image" Target="../media/image72.e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74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77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7" Type="http://schemas.openxmlformats.org/officeDocument/2006/relationships/image" Target="../media/image82.wmf"/><Relationship Id="rId2" Type="http://schemas.openxmlformats.org/officeDocument/2006/relationships/image" Target="../media/image78.wmf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80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 bwMode="auto">
          <a:xfrm>
            <a:off x="1116013" y="1268413"/>
            <a:ext cx="65913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本章首先讨论方阵的特征值与特征向量</a:t>
            </a:r>
            <a:r>
              <a:rPr kumimoji="1" lang="en-US" altLang="zh-CN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, </a:t>
            </a:r>
            <a:endParaRPr kumimoji="1" lang="zh-CN" altLang="en-US" b="1" kern="100" cap="none" spc="0" normalizeH="0" baseline="0" noProof="0" dirty="0"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 bwMode="auto">
          <a:xfrm>
            <a:off x="728663" y="1971675"/>
            <a:ext cx="67564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运用相似矩阵理论解决矩阵的对角化问题</a:t>
            </a:r>
            <a:r>
              <a:rPr kumimoji="1" lang="en-US" altLang="zh-CN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, </a:t>
            </a:r>
            <a:endParaRPr kumimoji="1" lang="zh-CN" altLang="en-US" b="1" kern="100" cap="none" spc="0" normalizeH="0" baseline="0" noProof="0" dirty="0"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89500" y="2652713"/>
            <a:ext cx="351631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而它们又涉及到</a:t>
            </a: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向量</a:t>
            </a:r>
            <a:endParaRPr kumimoji="1" lang="zh-CN" altLang="en-US" b="1" kern="100" cap="none" spc="0" normalizeH="0" baseline="0" noProof="0" dirty="0">
              <a:solidFill>
                <a:srgbClr val="000000"/>
              </a:solidFill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 bwMode="auto">
          <a:xfrm>
            <a:off x="728663" y="2655888"/>
            <a:ext cx="547211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讨论二次型的化简等问题</a:t>
            </a:r>
            <a:r>
              <a:rPr kumimoji="1" lang="en-US" altLang="zh-CN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b="1" kern="100" cap="none" spc="0" normalizeH="0" baseline="0" noProof="0" dirty="0"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8663" y="3324225"/>
            <a:ext cx="54483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的内积、长度以及正交性等知识</a:t>
            </a:r>
            <a:r>
              <a:rPr kumimoji="1" lang="en-US" altLang="zh-CN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kumimoji="1" lang="zh-CN" altLang="en-US" b="1" kern="100" cap="none" spc="0" normalizeH="0" baseline="0" noProof="0" dirty="0">
              <a:solidFill>
                <a:srgbClr val="000000"/>
              </a:solidFill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08675" y="3324225"/>
            <a:ext cx="1074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因此</a:t>
            </a:r>
            <a:r>
              <a:rPr kumimoji="1" lang="en-US" altLang="zh-CN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, </a:t>
            </a:r>
            <a:endParaRPr kumimoji="1" lang="zh-CN" altLang="en-US" b="1" kern="100" cap="none" spc="0" normalizeH="0" baseline="0" noProof="0" dirty="0"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28663" y="3992563"/>
            <a:ext cx="23923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些基本知识</a:t>
            </a:r>
            <a:r>
              <a:rPr kumimoji="1" lang="en-US" altLang="zh-CN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b="1" kern="100" cap="none" spc="0" normalizeH="0" baseline="0" noProof="0" dirty="0"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77038" y="3321050"/>
            <a:ext cx="186055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</a:rPr>
              <a:t>先介绍这</a:t>
            </a:r>
            <a:endParaRPr lang="zh-CN" altLang="en-US" sz="2800" b="0" dirty="0">
              <a:solidFill>
                <a:schemeClr val="tx2"/>
              </a:solidFill>
              <a:ea typeface="华文中宋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72350" y="1981200"/>
            <a:ext cx="1033463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</a:rPr>
              <a:t>最后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</a:rPr>
              <a:t>, </a:t>
            </a:r>
            <a:endParaRPr lang="zh-CN" altLang="en-US" sz="2800" b="0" dirty="0">
              <a:solidFill>
                <a:schemeClr val="tx2"/>
              </a:solidFill>
              <a:ea typeface="华文中宋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72350" y="1274763"/>
            <a:ext cx="125253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</a:rPr>
              <a:t>其次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</a:rPr>
              <a:t>, </a:t>
            </a:r>
            <a:endParaRPr lang="zh-CN" altLang="en-US" sz="2800" b="0" dirty="0">
              <a:solidFill>
                <a:schemeClr val="tx2"/>
              </a:solidFill>
              <a:ea typeface="华文中宋" pitchFamily="2" charset="-122"/>
            </a:endParaRPr>
          </a:p>
        </p:txBody>
      </p:sp>
      <p:sp>
        <p:nvSpPr>
          <p:cNvPr id="52237" name="Rectangle 30"/>
          <p:cNvSpPr/>
          <p:nvPr/>
        </p:nvSpPr>
        <p:spPr>
          <a:xfrm>
            <a:off x="1430299" y="15082"/>
            <a:ext cx="653732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chemeClr val="bg1"/>
                </a:solidFill>
                <a:ea typeface="华文中宋" pitchFamily="2" charset="-122"/>
              </a:rPr>
              <a:t>前言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5" grpId="1"/>
      <p:bldP spid="4" grpId="0"/>
      <p:bldP spid="4" grpId="1"/>
      <p:bldP spid="7" grpId="0"/>
      <p:bldP spid="7" grpId="1"/>
      <p:bldP spid="9" grpId="0"/>
      <p:bldP spid="9" grpId="1"/>
      <p:bldP spid="18" grpId="0"/>
      <p:bldP spid="18" grpId="1"/>
      <p:bldP spid="8" grpId="0"/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/>
          <p:nvPr/>
        </p:nvSpPr>
        <p:spPr>
          <a:xfrm>
            <a:off x="179512" y="188640"/>
            <a:ext cx="9144000" cy="492443"/>
          </a:xfrm>
          <a:prstGeom prst="rect">
            <a:avLst/>
          </a:prstGeom>
          <a:noFill/>
          <a:ln w="571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第四章  相似矩阵与二次型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54430" y="1557020"/>
            <a:ext cx="68345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600" b="1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anose="02020603050405020304" pitchFamily="18" charset="0"/>
                <a:sym typeface="+mn-ea"/>
              </a:rPr>
              <a:t>§1   </a:t>
            </a:r>
            <a:r>
              <a:rPr kumimoji="1" lang="zh-CN" altLang="en-US" sz="3600" b="1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anose="02020603050405020304" pitchFamily="18" charset="0"/>
                <a:sym typeface="+mn-ea"/>
              </a:rPr>
              <a:t>向量的内积、长度及正交性</a:t>
            </a:r>
          </a:p>
        </p:txBody>
      </p:sp>
    </p:spTree>
  </p:cSld>
  <p:clrMapOvr>
    <a:masterClrMapping/>
  </p:clrMapOvr>
  <p:transition spd="slow">
    <p:split orient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/>
          <p:nvPr/>
        </p:nvSpPr>
        <p:spPr>
          <a:xfrm>
            <a:off x="467544" y="620688"/>
            <a:ext cx="7632700" cy="4540250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       本节重点解决以下问题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: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什么是两个向量的内积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?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它有哪些性质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?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向量的长度及夹角的定义是什么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?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什么是正交向量组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?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它有何性质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?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什么是正交规范基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?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如何将一个基转化为规范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  <a:sym typeface="楷体_GB2312" pitchFamily="49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正交基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?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正交矩阵的概念及其判别法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、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正交变换的定义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.</a:t>
            </a:r>
            <a:endParaRPr lang="zh-CN" altLang="en-US" sz="1800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  <a:sym typeface="Arial" panose="020B0604020202020204" pitchFamily="34" charset="0"/>
            </a:endParaRPr>
          </a:p>
        </p:txBody>
      </p:sp>
      <p:sp>
        <p:nvSpPr>
          <p:cNvPr id="54276" name="Rectangle 30"/>
          <p:cNvSpPr/>
          <p:nvPr/>
        </p:nvSpPr>
        <p:spPr>
          <a:xfrm>
            <a:off x="1475656" y="0"/>
            <a:ext cx="653732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前言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5300" name="Rectangle 30"/>
          <p:cNvSpPr/>
          <p:nvPr/>
        </p:nvSpPr>
        <p:spPr>
          <a:xfrm>
            <a:off x="450850" y="0"/>
            <a:ext cx="37353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内积的定义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901802" y="1442194"/>
            <a:ext cx="25146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设 </a:t>
            </a:r>
            <a:r>
              <a:rPr kumimoji="1" lang="en-US" altLang="zh-CN" sz="2800" b="1" i="1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维向量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  <a:cs typeface="+mn-cs"/>
            </a:endParaRPr>
          </a:p>
        </p:txBody>
      </p:sp>
      <p:sp>
        <p:nvSpPr>
          <p:cNvPr id="55302" name="Rectangle 6"/>
          <p:cNvSpPr/>
          <p:nvPr/>
        </p:nvSpPr>
        <p:spPr>
          <a:xfrm flipV="1">
            <a:off x="5222727" y="1031031"/>
            <a:ext cx="1673225" cy="5222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303" name="Rectangle 10"/>
          <p:cNvSpPr/>
          <p:nvPr/>
        </p:nvSpPr>
        <p:spPr>
          <a:xfrm flipV="1">
            <a:off x="6365727" y="835769"/>
            <a:ext cx="508000" cy="5222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414768" y="1446005"/>
            <a:ext cx="6159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令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  <a:cs typeface="+mn-cs"/>
            </a:endParaRPr>
          </a:p>
        </p:txBody>
      </p:sp>
      <p:sp>
        <p:nvSpPr>
          <p:cNvPr id="55305" name="Rectangle 12"/>
          <p:cNvSpPr/>
          <p:nvPr/>
        </p:nvSpPr>
        <p:spPr>
          <a:xfrm flipV="1">
            <a:off x="2893864" y="2499469"/>
            <a:ext cx="346075" cy="523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149624"/>
              </p:ext>
            </p:extLst>
          </p:nvPr>
        </p:nvGraphicFramePr>
        <p:xfrm>
          <a:off x="4826842" y="825500"/>
          <a:ext cx="2638880" cy="1824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59535" imgH="940435" progId="Equation.DSMT4">
                  <p:embed/>
                </p:oleObj>
              </mc:Choice>
              <mc:Fallback>
                <p:oleObj r:id="rId2" imgW="1359535" imgH="940435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26842" y="825500"/>
                        <a:ext cx="2638880" cy="182423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052489" y="3060902"/>
            <a:ext cx="502602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]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1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2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 +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···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n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n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39689" y="3993306"/>
            <a:ext cx="58388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则称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/>
                <a:cs typeface="+mn-cs"/>
                <a:sym typeface="Times New Roman" panose="02020603050405020304" pitchFamily="18" charset="0"/>
              </a:rPr>
              <a:t>[</a:t>
            </a:r>
            <a:r>
              <a:rPr kumimoji="0" lang="en-US" altLang="zh-CN" b="1" i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/>
                <a:cs typeface="+mn-cs"/>
                <a:sym typeface="Times New Roman" panose="02020603050405020304" pitchFamily="18" charset="0"/>
              </a:rPr>
              <a:t>x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/>
                <a:cs typeface="+mn-cs"/>
                <a:sym typeface="Times New Roman" panose="02020603050405020304" pitchFamily="18" charset="0"/>
              </a:rPr>
              <a:t>, </a:t>
            </a:r>
            <a:r>
              <a:rPr kumimoji="0" lang="en-US" altLang="zh-CN" b="1" i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/>
                <a:cs typeface="+mn-cs"/>
                <a:sym typeface="Times New Roman" panose="02020603050405020304" pitchFamily="18" charset="0"/>
              </a:rPr>
              <a:t>y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/>
                <a:cs typeface="+mn-cs"/>
                <a:sym typeface="Times New Roman" panose="02020603050405020304" pitchFamily="18" charset="0"/>
              </a:rPr>
              <a:t>] </a:t>
            </a: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为向量 </a:t>
            </a:r>
            <a:r>
              <a:rPr kumimoji="0" lang="en-US" altLang="zh-CN" b="1" i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/>
                <a:cs typeface="+mn-cs"/>
                <a:sym typeface="Times New Roman" panose="02020603050405020304" pitchFamily="18" charset="0"/>
              </a:rPr>
              <a:t>x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和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en-US" altLang="zh-CN" b="1" i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/>
                <a:cs typeface="+mn-cs"/>
                <a:sym typeface="Times New Roman" panose="02020603050405020304" pitchFamily="18" charset="0"/>
              </a:rPr>
              <a:t>y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的</a:t>
            </a:r>
            <a:r>
              <a:rPr kumimoji="1" lang="zh-CN" altLang="en-US" b="1" kern="1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内积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楷体_GB2312"/>
                <a:cs typeface="+mn-cs"/>
                <a:sym typeface="Times New Roman" panose="02020603050405020304" pitchFamily="18" charset="0"/>
              </a:rPr>
              <a:t>．</a:t>
            </a:r>
            <a:endParaRPr kumimoji="1" lang="zh-CN" altLang="en-US" kern="120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557338" y="1429075"/>
            <a:ext cx="2170113" cy="531813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666699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华文中宋" pitchFamily="2" charset="-122"/>
                <a:cs typeface="Times New Roman" panose="02020603050405020304" pitchFamily="18" charset="0"/>
              </a:rPr>
              <a:t>定义</a:t>
            </a:r>
            <a:r>
              <a:rPr kumimoji="1" lang="en-IE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4.1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华文中宋" pitchFamily="2" charset="-122"/>
                <a:cs typeface="Times New Roman" panose="02020603050405020304" pitchFamily="18" charset="0"/>
              </a:rPr>
              <a:t>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华文中宋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3" grpId="0"/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6324" name="Rectangle 30"/>
          <p:cNvSpPr/>
          <p:nvPr/>
        </p:nvSpPr>
        <p:spPr>
          <a:xfrm>
            <a:off x="959491" y="2708"/>
            <a:ext cx="37353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内积的定义</a:t>
            </a:r>
          </a:p>
        </p:txBody>
      </p:sp>
      <p:sp>
        <p:nvSpPr>
          <p:cNvPr id="56325" name="Rectangle 10"/>
          <p:cNvSpPr/>
          <p:nvPr/>
        </p:nvSpPr>
        <p:spPr>
          <a:xfrm flipV="1">
            <a:off x="4406380" y="620688"/>
            <a:ext cx="508000" cy="5222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99592" y="663550"/>
            <a:ext cx="2125663" cy="6302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marR="0" indent="-342900" defTabSz="0">
              <a:lnSpc>
                <a:spcPct val="14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说明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009130" y="1517625"/>
            <a:ext cx="6553200" cy="53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0">
              <a:lnSpc>
                <a:spcPct val="110000"/>
              </a:lnSpc>
              <a:buClr>
                <a:srgbClr val="0000FF"/>
              </a:buClr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☛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内积是两个向量之间的一种运算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其结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972617" y="2324075"/>
            <a:ext cx="4572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果是一个实数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.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563167" y="4779938"/>
            <a:ext cx="6192838" cy="531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defTabSz="0">
              <a:lnSpc>
                <a:spcPct val="110000"/>
              </a:lnSpc>
              <a:buClr>
                <a:srgbClr val="00007D"/>
              </a:buClr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] =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+ ··· +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y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09130" y="3146400"/>
            <a:ext cx="7045325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0">
              <a:lnSpc>
                <a:spcPct val="110000"/>
              </a:lnSpc>
              <a:buClr>
                <a:srgbClr val="0000FF"/>
              </a:buClr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☛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内积可用矩阵乘法表示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: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当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y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都是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09130" y="4052863"/>
            <a:ext cx="4572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列向量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时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7349" name="Rectangle 3"/>
          <p:cNvSpPr txBox="1"/>
          <p:nvPr/>
        </p:nvSpPr>
        <p:spPr>
          <a:xfrm>
            <a:off x="1686297" y="692696"/>
            <a:ext cx="6450013" cy="5921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lnSpc>
                <a:spcPct val="11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] 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1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2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···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itchFamily="2" charset="-122"/>
              </a:rPr>
              <a:t>n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itchFamily="2" charset="-12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itchFamily="2" charset="-122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itchFamily="2" charset="-122"/>
              </a:rPr>
              <a:t>．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52860" y="705396"/>
            <a:ext cx="12493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  <a:cs typeface="+mn-cs"/>
              </a:rPr>
              <a:t>内积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44897" y="2632621"/>
            <a:ext cx="457200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 对称性：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 = 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．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11560" y="1945233"/>
            <a:ext cx="492125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设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为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n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维向量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k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为实数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87760" y="3427958"/>
            <a:ext cx="10509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因为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任意多边形 12"/>
          <p:cNvSpPr/>
          <p:nvPr/>
        </p:nvSpPr>
        <p:spPr>
          <a:xfrm>
            <a:off x="3122985" y="3448596"/>
            <a:ext cx="365125" cy="1508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0" b="0"/>
            <a:pathLst>
              <a:path w="1480457" h="725715">
                <a:moveTo>
                  <a:pt x="0" y="725715"/>
                </a:moveTo>
                <a:cubicBezTo>
                  <a:pt x="254000" y="362857"/>
                  <a:pt x="508000" y="0"/>
                  <a:pt x="754743" y="0"/>
                </a:cubicBezTo>
                <a:cubicBezTo>
                  <a:pt x="1001486" y="0"/>
                  <a:pt x="1240971" y="362857"/>
                  <a:pt x="1480457" y="725715"/>
                </a:cubicBezTo>
              </a:path>
            </a:pathLst>
          </a:custGeom>
          <a:noFill/>
          <a:ln w="28575" cap="flat" cmpd="sng">
            <a:solidFill>
              <a:srgbClr val="0000FF"/>
            </a:solidFill>
            <a:prstDash val="solid"/>
            <a:round/>
            <a:headEnd type="stealth" w="med" len="lg"/>
            <a:tailEnd type="stealth" w="med" len="lg"/>
          </a:ln>
        </p:spPr>
        <p:txBody>
          <a:bodyPr/>
          <a:lstStyle/>
          <a:p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42" name="任意多边形 13"/>
          <p:cNvSpPr/>
          <p:nvPr/>
        </p:nvSpPr>
        <p:spPr>
          <a:xfrm>
            <a:off x="4105647" y="3448596"/>
            <a:ext cx="368300" cy="1508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0" b="0"/>
            <a:pathLst>
              <a:path w="1480457" h="725715">
                <a:moveTo>
                  <a:pt x="0" y="725715"/>
                </a:moveTo>
                <a:cubicBezTo>
                  <a:pt x="254000" y="362857"/>
                  <a:pt x="508000" y="0"/>
                  <a:pt x="754743" y="0"/>
                </a:cubicBezTo>
                <a:cubicBezTo>
                  <a:pt x="1001486" y="0"/>
                  <a:pt x="1240971" y="362857"/>
                  <a:pt x="1480457" y="725715"/>
                </a:cubicBezTo>
              </a:path>
            </a:pathLst>
          </a:custGeom>
          <a:noFill/>
          <a:ln w="28575" cap="flat" cmpd="sng">
            <a:solidFill>
              <a:srgbClr val="0000FF"/>
            </a:solidFill>
            <a:prstDash val="solid"/>
            <a:round/>
            <a:headEnd type="stealth" w="med" len="lg"/>
            <a:tailEnd type="stealth" w="med" len="lg"/>
          </a:ln>
        </p:spPr>
        <p:txBody>
          <a:bodyPr/>
          <a:lstStyle/>
          <a:p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43" name="任意多边形 14"/>
          <p:cNvSpPr/>
          <p:nvPr/>
        </p:nvSpPr>
        <p:spPr>
          <a:xfrm>
            <a:off x="5899522" y="3445421"/>
            <a:ext cx="368300" cy="1492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0" b="0"/>
            <a:pathLst>
              <a:path w="1480457" h="725715">
                <a:moveTo>
                  <a:pt x="0" y="725715"/>
                </a:moveTo>
                <a:cubicBezTo>
                  <a:pt x="254000" y="362857"/>
                  <a:pt x="508000" y="0"/>
                  <a:pt x="754743" y="0"/>
                </a:cubicBezTo>
                <a:cubicBezTo>
                  <a:pt x="1001486" y="0"/>
                  <a:pt x="1240971" y="362857"/>
                  <a:pt x="1480457" y="725715"/>
                </a:cubicBezTo>
              </a:path>
            </a:pathLst>
          </a:custGeom>
          <a:noFill/>
          <a:ln w="28575" cap="flat" cmpd="sng">
            <a:solidFill>
              <a:srgbClr val="0000FF"/>
            </a:solidFill>
            <a:prstDash val="solid"/>
            <a:round/>
            <a:headEnd type="stealth" w="med" len="lg"/>
            <a:tailEnd type="stealth" w="med" len="lg"/>
          </a:ln>
        </p:spPr>
        <p:txBody>
          <a:bodyPr/>
          <a:lstStyle/>
          <a:p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57357" name="文本框 2"/>
          <p:cNvSpPr txBox="1"/>
          <p:nvPr/>
        </p:nvSpPr>
        <p:spPr>
          <a:xfrm>
            <a:off x="852860" y="1378496"/>
            <a:ext cx="403225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具有下列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性质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32810" y="1940471"/>
            <a:ext cx="1290637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则有</a:t>
            </a:r>
          </a:p>
        </p:txBody>
      </p:sp>
      <p:sp>
        <p:nvSpPr>
          <p:cNvPr id="6" name="Rectangle 3"/>
          <p:cNvSpPr txBox="1"/>
          <p:nvPr/>
        </p:nvSpPr>
        <p:spPr>
          <a:xfrm>
            <a:off x="1794247" y="3404146"/>
            <a:ext cx="5149850" cy="5921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] 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1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2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···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itchFamily="2" charset="-122"/>
              </a:rPr>
              <a:t>n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itchFamily="2" charset="-122"/>
              </a:rPr>
              <a:t>n</a:t>
            </a:r>
            <a:endParaRPr lang="zh-CN" altLang="en-US" sz="2800" b="1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7" name="Rectangle 3"/>
          <p:cNvSpPr txBox="1"/>
          <p:nvPr/>
        </p:nvSpPr>
        <p:spPr>
          <a:xfrm>
            <a:off x="2641972" y="4042321"/>
            <a:ext cx="4489450" cy="5921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1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2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+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···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itchFamily="2" charset="-122"/>
              </a:rPr>
              <a:t>n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itchFamily="2" charset="-122"/>
              </a:rPr>
              <a:t>n</a:t>
            </a:r>
            <a:endParaRPr lang="zh-CN" altLang="en-US" sz="2800" b="1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8" name="Rectangle 3"/>
          <p:cNvSpPr txBox="1"/>
          <p:nvPr/>
        </p:nvSpPr>
        <p:spPr>
          <a:xfrm>
            <a:off x="2641972" y="4659858"/>
            <a:ext cx="1831975" cy="5921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= [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] </a:t>
            </a:r>
            <a:endParaRPr lang="zh-CN" altLang="en-US" sz="2800" b="1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56324" name="Rectangle 30"/>
          <p:cNvSpPr/>
          <p:nvPr>
            <p:custDataLst>
              <p:tags r:id="rId1"/>
            </p:custDataLst>
          </p:nvPr>
        </p:nvSpPr>
        <p:spPr>
          <a:xfrm>
            <a:off x="1253331" y="-20637"/>
            <a:ext cx="37353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内积的定义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childTnLst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7" presetClass="entr" presetSubtype="10" fill="hold" nodeType="withEffect">
                                  <p:childTnLst>
                                    <p:set>
                                      <p:cBhvr additive="base"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7" presetClass="entr" presetSubtype="10" fill="hold" nodeType="withEffect">
                                  <p:childTnLst>
                                    <p:set>
                                      <p:cBhvr additive="base"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6" grpId="0"/>
      <p:bldP spid="36" grpId="1"/>
      <p:bldP spid="37" grpId="0"/>
      <p:bldP spid="5" grpId="0"/>
      <p:bldP spid="5" grpId="1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8373" name="Rectangle 3"/>
          <p:cNvSpPr txBox="1"/>
          <p:nvPr/>
        </p:nvSpPr>
        <p:spPr>
          <a:xfrm>
            <a:off x="1804343" y="548680"/>
            <a:ext cx="6450013" cy="5921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lnSpc>
                <a:spcPct val="11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] 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1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2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···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itchFamily="2" charset="-122"/>
              </a:rPr>
              <a:t>n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itchFamily="2" charset="-12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itchFamily="2" charset="-122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itchFamily="2" charset="-122"/>
              </a:rPr>
              <a:t>．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70906" y="561380"/>
            <a:ext cx="12493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  <a:cs typeface="+mn-cs"/>
              </a:rPr>
              <a:t>内积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62943" y="2488605"/>
            <a:ext cx="457200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 对称性：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 = 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．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729606" y="1801217"/>
            <a:ext cx="492125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设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为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n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维向量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k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为实数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58377" name="文本框 2"/>
          <p:cNvSpPr txBox="1"/>
          <p:nvPr/>
        </p:nvSpPr>
        <p:spPr>
          <a:xfrm>
            <a:off x="970906" y="1234480"/>
            <a:ext cx="403225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具有下列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性质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50856" y="1796455"/>
            <a:ext cx="1290637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则有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62943" y="3106142"/>
            <a:ext cx="6310313" cy="1092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线性性质：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k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 =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];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  <a:p>
            <a:pPr marL="0" lvl="0" indent="0" eaLnBrk="1" hangingPunct="1">
              <a:lnSpc>
                <a:spcPct val="110000"/>
              </a:lnSpc>
              <a:buClr>
                <a:srgbClr val="969696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                     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 = 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 + 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].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61356" y="4145955"/>
            <a:ext cx="10509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因为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"/>
          <p:cNvSpPr txBox="1"/>
          <p:nvPr/>
        </p:nvSpPr>
        <p:spPr>
          <a:xfrm>
            <a:off x="728018" y="4634905"/>
            <a:ext cx="1490663" cy="5921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k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]</a:t>
            </a:r>
            <a:endParaRPr lang="zh-CN" altLang="en-US" sz="2800" b="1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93793" y="4671417"/>
            <a:ext cx="17113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=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k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];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25331" y="4709517"/>
            <a:ext cx="2087562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=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 k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 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T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·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)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317231" y="4684117"/>
            <a:ext cx="178435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=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 k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T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·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720206" y="4658717"/>
            <a:ext cx="21971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= (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k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)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T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·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38" name="Rectangle 3"/>
          <p:cNvSpPr txBox="1"/>
          <p:nvPr/>
        </p:nvSpPr>
        <p:spPr>
          <a:xfrm>
            <a:off x="683568" y="5174655"/>
            <a:ext cx="1490663" cy="5921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x+y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,z]</a:t>
            </a:r>
            <a:endParaRPr lang="zh-CN" altLang="en-US" sz="2800" b="1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759893" y="5657255"/>
            <a:ext cx="270192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=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z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]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+ 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]. 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461943" y="5277842"/>
            <a:ext cx="27019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=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T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)+ 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T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)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518843" y="5234980"/>
            <a:ext cx="2214563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=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T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 +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T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 )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·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z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780531" y="5209580"/>
            <a:ext cx="219710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= 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x+y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)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T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·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</a:rPr>
              <a:t>z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56324" name="Rectangle 30"/>
          <p:cNvSpPr/>
          <p:nvPr>
            <p:custDataLst>
              <p:tags r:id="rId1"/>
            </p:custDataLst>
          </p:nvPr>
        </p:nvSpPr>
        <p:spPr>
          <a:xfrm>
            <a:off x="908620" y="-13493"/>
            <a:ext cx="37353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内积的定义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6" grpId="0"/>
      <p:bldP spid="5" grpId="0"/>
      <p:bldP spid="9" grpId="0"/>
      <p:bldP spid="20" grpId="0"/>
      <p:bldP spid="23" grpId="0"/>
      <p:bldP spid="25" grpId="0"/>
      <p:bldP spid="27" grpId="0"/>
      <p:bldP spid="29" grpId="0"/>
      <p:bldP spid="38" grpId="0"/>
      <p:bldP spid="39" grpId="0"/>
      <p:bldP spid="40" grpId="0"/>
      <p:bldP spid="44" grpId="0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9397" name="Rectangle 3"/>
          <p:cNvSpPr txBox="1"/>
          <p:nvPr/>
        </p:nvSpPr>
        <p:spPr>
          <a:xfrm>
            <a:off x="1830313" y="548680"/>
            <a:ext cx="6450013" cy="5921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lnSpc>
                <a:spcPct val="11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] 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1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2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···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itchFamily="2" charset="-122"/>
              </a:rPr>
              <a:t>n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itchFamily="2" charset="-12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itchFamily="2" charset="-122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itchFamily="2" charset="-122"/>
              </a:rPr>
              <a:t>．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96876" y="561380"/>
            <a:ext cx="12493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  <a:cs typeface="+mn-cs"/>
              </a:rPr>
              <a:t>内积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88913" y="2488605"/>
            <a:ext cx="457200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 对称性：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 = 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．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755576" y="1801217"/>
            <a:ext cx="492125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设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为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n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维向量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k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为实数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59401" name="文本框 2"/>
          <p:cNvSpPr txBox="1"/>
          <p:nvPr/>
        </p:nvSpPr>
        <p:spPr>
          <a:xfrm>
            <a:off x="996876" y="1234480"/>
            <a:ext cx="403225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具有下列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性质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76826" y="1796455"/>
            <a:ext cx="1290637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则有</a:t>
            </a:r>
          </a:p>
        </p:txBody>
      </p:sp>
      <p:sp>
        <p:nvSpPr>
          <p:cNvPr id="59403" name="文本框 1"/>
          <p:cNvSpPr txBox="1"/>
          <p:nvPr/>
        </p:nvSpPr>
        <p:spPr>
          <a:xfrm>
            <a:off x="788913" y="3106142"/>
            <a:ext cx="6310313" cy="1092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线性性质：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k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 =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．</a:t>
            </a:r>
          </a:p>
          <a:p>
            <a:pPr marL="0" lvl="0" indent="0" eaLnBrk="1" hangingPunct="1">
              <a:lnSpc>
                <a:spcPct val="110000"/>
              </a:lnSpc>
              <a:buClr>
                <a:srgbClr val="969696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                     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 = 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 + 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88913" y="4211042"/>
            <a:ext cx="7119938" cy="1092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非负性：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当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= 0 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零向量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)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时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 = 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；</a:t>
            </a:r>
          </a:p>
          <a:p>
            <a:pPr marL="0" lvl="0" indent="0" eaLnBrk="1" hangingPunct="1">
              <a:lnSpc>
                <a:spcPct val="110000"/>
              </a:lnSpc>
              <a:buClr>
                <a:srgbClr val="969696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                 当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 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≠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0 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零向量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时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 &gt; 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．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8913" y="5188942"/>
            <a:ext cx="10509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因为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35076" y="5558830"/>
            <a:ext cx="5849937" cy="531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10000"/>
              </a:lnSpc>
              <a:buClr>
                <a:srgbClr val="969696"/>
              </a:buClr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] =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1</a:t>
            </a:r>
            <a:r>
              <a:rPr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2</a:t>
            </a:r>
            <a:r>
              <a:rPr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···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+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n</a:t>
            </a:r>
            <a:r>
              <a:rPr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2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≥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0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56324" name="Rectangle 30"/>
          <p:cNvSpPr/>
          <p:nvPr>
            <p:custDataLst>
              <p:tags r:id="rId1"/>
            </p:custDataLst>
          </p:nvPr>
        </p:nvSpPr>
        <p:spPr>
          <a:xfrm>
            <a:off x="1187624" y="-3735"/>
            <a:ext cx="37353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内积的定义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6" grpId="0"/>
      <p:bldP spid="5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854075" y="-26194"/>
            <a:ext cx="6310313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向量长度</a:t>
            </a:r>
            <a:r>
              <a:rPr kumimoji="1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单位向量的定义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870744" y="692696"/>
            <a:ext cx="2146300" cy="531813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marR="0" lvl="0" indent="-3810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定义</a:t>
            </a:r>
            <a:r>
              <a:rPr kumimoji="1" lang="en-IE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4.2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令</a:t>
            </a:r>
          </a:p>
        </p:txBody>
      </p:sp>
      <p:graphicFrame>
        <p:nvGraphicFramePr>
          <p:cNvPr id="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512980"/>
              </p:ext>
            </p:extLst>
          </p:nvPr>
        </p:nvGraphicFramePr>
        <p:xfrm>
          <a:off x="1548606" y="1410246"/>
          <a:ext cx="5365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28600" imgH="241300" progId="Equation.DSMT4">
                  <p:embed/>
                </p:oleObj>
              </mc:Choice>
              <mc:Fallback>
                <p:oleObj r:id="rId3" imgW="228600" imgH="2413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8606" y="1410246"/>
                        <a:ext cx="536575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779107"/>
              </p:ext>
            </p:extLst>
          </p:nvPr>
        </p:nvGraphicFramePr>
        <p:xfrm>
          <a:off x="2167731" y="1408658"/>
          <a:ext cx="1458913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22300" imgH="254000" progId="Equation.DSMT4">
                  <p:embed/>
                </p:oleObj>
              </mc:Choice>
              <mc:Fallback>
                <p:oleObj r:id="rId5" imgW="622300" imgH="2540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67731" y="1408658"/>
                        <a:ext cx="1458913" cy="592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679116"/>
              </p:ext>
            </p:extLst>
          </p:nvPr>
        </p:nvGraphicFramePr>
        <p:xfrm>
          <a:off x="3690144" y="1351508"/>
          <a:ext cx="36322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48765" imgH="292100" progId="Equation.DSMT4">
                  <p:embed/>
                </p:oleObj>
              </mc:Choice>
              <mc:Fallback>
                <p:oleObj name="Equation" r:id="rId7" imgW="1548765" imgH="2921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90144" y="1351508"/>
                        <a:ext cx="3632200" cy="681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891381" y="2191296"/>
            <a:ext cx="6434138" cy="630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81000" lvl="0" indent="-381000" defTabSz="0">
              <a:lnSpc>
                <a:spcPct val="14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称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||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||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维向量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长度</a:t>
            </a:r>
            <a:r>
              <a:rPr lang="en-IE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或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范数</a:t>
            </a:r>
            <a:r>
              <a:rPr lang="en-IE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．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91381" y="3107283"/>
            <a:ext cx="6151563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81000" lvl="0" indent="-381000" defTabSz="0">
              <a:lnSpc>
                <a:spcPct val="11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当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||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|| = 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时</a:t>
            </a:r>
            <a:r>
              <a:rPr lang="en-IE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称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为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单位向量．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75506" y="3988346"/>
            <a:ext cx="403225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81000" lvl="0" indent="-381000" defTabSz="0">
              <a:lnSpc>
                <a:spcPct val="11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当 给定一个非零向量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 , 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91856" y="3999458"/>
            <a:ext cx="74295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81000" lvl="0" indent="-381000" defTabSz="0">
              <a:lnSpc>
                <a:spcPct val="11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609769"/>
              </p:ext>
            </p:extLst>
          </p:nvPr>
        </p:nvGraphicFramePr>
        <p:xfrm>
          <a:off x="5063331" y="3781971"/>
          <a:ext cx="1071563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457200" imgH="457200" progId="Equation.DSMT4">
                  <p:embed/>
                </p:oleObj>
              </mc:Choice>
              <mc:Fallback>
                <p:oleObj r:id="rId9" imgW="457200" imgH="4572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63331" y="3781971"/>
                        <a:ext cx="1071563" cy="1065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2" name="文本框 10"/>
          <p:cNvSpPr txBox="1"/>
          <p:nvPr/>
        </p:nvSpPr>
        <p:spPr>
          <a:xfrm>
            <a:off x="6031706" y="3999458"/>
            <a:ext cx="233680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81000" lvl="0" indent="-381000" defTabSz="0">
              <a:lnSpc>
                <a:spcPct val="110000"/>
              </a:lnSpc>
              <a:buClr>
                <a:srgbClr val="00007D"/>
              </a:buClr>
              <a:buFontTx/>
              <a:buNone/>
            </a:pP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是单位向量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58383" name="文本框 12"/>
          <p:cNvSpPr txBox="1"/>
          <p:nvPr/>
        </p:nvSpPr>
        <p:spPr>
          <a:xfrm>
            <a:off x="608806" y="4793208"/>
            <a:ext cx="739933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将化为此向量的过程称为将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向量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的单位化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5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250"/>
                                        <p:tgtEl>
                                          <p:spTgt spid="5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20" grpId="0"/>
      <p:bldP spid="20" grpId="1"/>
      <p:bldP spid="22" grpId="0"/>
      <p:bldP spid="22" grpId="1"/>
      <p:bldP spid="2" grpId="0"/>
      <p:bldP spid="2" grpId="1"/>
      <p:bldP spid="3" grpId="0"/>
      <p:bldP spid="3" grpId="1"/>
      <p:bldP spid="58382" grpId="0"/>
      <p:bldP spid="583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1043608" y="0"/>
            <a:ext cx="4725988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向量长度的性质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3568" y="1440780"/>
            <a:ext cx="7077075" cy="5323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81000" indent="-38100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▶  非负性：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当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= 0</a:t>
            </a:r>
            <a:r>
              <a:rPr kumimoji="0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零向量</a:t>
            </a:r>
            <a:r>
              <a:rPr kumimoji="0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时</a:t>
            </a:r>
            <a:r>
              <a:rPr kumimoji="0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||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|| = 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；</a:t>
            </a:r>
          </a:p>
        </p:txBody>
      </p:sp>
      <p:graphicFrame>
        <p:nvGraphicFramePr>
          <p:cNvPr id="4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326774"/>
              </p:ext>
            </p:extLst>
          </p:nvPr>
        </p:nvGraphicFramePr>
        <p:xfrm>
          <a:off x="1515115" y="3161615"/>
          <a:ext cx="678112" cy="556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2100" imgH="241300" progId="Equation.DSMT4">
                  <p:embed/>
                </p:oleObj>
              </mc:Choice>
              <mc:Fallback>
                <p:oleObj r:id="rId2" imgW="292100" imgH="241300" progId="Equation.DSMT4">
                  <p:embed/>
                  <p:pic>
                    <p:nvPicPr>
                      <p:cNvPr id="43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15115" y="3161615"/>
                        <a:ext cx="678112" cy="55635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792122"/>
              </p:ext>
            </p:extLst>
          </p:nvPr>
        </p:nvGraphicFramePr>
        <p:xfrm>
          <a:off x="2141914" y="3112967"/>
          <a:ext cx="1815356" cy="61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48665" imgH="254000" progId="Equation.DSMT4">
                  <p:embed/>
                </p:oleObj>
              </mc:Choice>
              <mc:Fallback>
                <p:oleObj r:id="rId4" imgW="748665" imgH="254000" progId="Equation.DSMT4">
                  <p:embed/>
                  <p:pic>
                    <p:nvPicPr>
                      <p:cNvPr id="44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41914" y="3112967"/>
                        <a:ext cx="1815356" cy="6115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912998"/>
              </p:ext>
            </p:extLst>
          </p:nvPr>
        </p:nvGraphicFramePr>
        <p:xfrm>
          <a:off x="3889840" y="3102121"/>
          <a:ext cx="1876817" cy="611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74065" imgH="254000" progId="Equation.DSMT4">
                  <p:embed/>
                </p:oleObj>
              </mc:Choice>
              <mc:Fallback>
                <p:oleObj r:id="rId6" imgW="774065" imgH="254000" progId="Equation.DSMT4">
                  <p:embed/>
                  <p:pic>
                    <p:nvPicPr>
                      <p:cNvPr id="45" name="Object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89840" y="3102121"/>
                        <a:ext cx="1876817" cy="61156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090601"/>
              </p:ext>
            </p:extLst>
          </p:nvPr>
        </p:nvGraphicFramePr>
        <p:xfrm>
          <a:off x="5732662" y="3152762"/>
          <a:ext cx="1218018" cy="57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08000" imgH="241300" progId="Equation.DSMT4">
                  <p:embed/>
                </p:oleObj>
              </mc:Choice>
              <mc:Fallback>
                <p:oleObj r:id="rId8" imgW="508000" imgH="241300" progId="Equation.DSMT4">
                  <p:embed/>
                  <p:pic>
                    <p:nvPicPr>
                      <p:cNvPr id="46" name="Object 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32662" y="3152762"/>
                        <a:ext cx="1218018" cy="57405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图片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8568" y="3161615"/>
            <a:ext cx="5930900" cy="877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59" name="文本框 35"/>
          <p:cNvSpPr txBox="1"/>
          <p:nvPr/>
        </p:nvSpPr>
        <p:spPr>
          <a:xfrm>
            <a:off x="704206" y="834355"/>
            <a:ext cx="6230937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设</a:t>
            </a:r>
            <a:r>
              <a:rPr lang="zh-CN" altLang="en-US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为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n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维向量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k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为实数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则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04206" y="2496468"/>
            <a:ext cx="5522912" cy="531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10000"/>
              </a:lnSpc>
              <a:buClr>
                <a:srgbClr val="FF0000"/>
              </a:buClr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▶  齐次性：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||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k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|| =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|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k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|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·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||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||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．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58F2557-14FC-0690-69F8-9051B86C63B6}"/>
              </a:ext>
            </a:extLst>
          </p:cNvPr>
          <p:cNvSpPr txBox="1"/>
          <p:nvPr/>
        </p:nvSpPr>
        <p:spPr>
          <a:xfrm>
            <a:off x="683568" y="3102893"/>
            <a:ext cx="6756400" cy="531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0">
              <a:lnSpc>
                <a:spcPct val="110000"/>
              </a:lnSpc>
              <a:buClr>
                <a:srgbClr val="FF0000"/>
              </a:buClr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▶  三角不等式：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||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x + y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|| ≤ ||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|| + ||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||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．</a:t>
            </a:r>
          </a:p>
        </p:txBody>
      </p:sp>
      <p:sp>
        <p:nvSpPr>
          <p:cNvPr id="3" name="矩形 14">
            <a:extLst>
              <a:ext uri="{FF2B5EF4-FFF2-40B4-BE49-F238E27FC236}">
                <a16:creationId xmlns:a16="http://schemas.microsoft.com/office/drawing/2014/main" id="{C439D17A-A288-996D-C52C-444B833FE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952" y="4330948"/>
            <a:ext cx="1628775" cy="4841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" name="矩形 17">
            <a:extLst>
              <a:ext uri="{FF2B5EF4-FFF2-40B4-BE49-F238E27FC236}">
                <a16:creationId xmlns:a16="http://schemas.microsoft.com/office/drawing/2014/main" id="{9B781BAE-EC36-5427-A987-E7F0A3C3E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0727" y="4330948"/>
            <a:ext cx="1384300" cy="4841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Times New Roman" panose="02020603050405020304" pitchFamily="18" charset="0"/>
            </a:endParaRP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56793C2C-BD84-2233-E195-B4066751D9D6}"/>
              </a:ext>
            </a:extLst>
          </p:cNvPr>
          <p:cNvGrpSpPr/>
          <p:nvPr/>
        </p:nvGrpSpPr>
        <p:grpSpPr>
          <a:xfrm>
            <a:off x="5220989" y="5361236"/>
            <a:ext cx="1643063" cy="714375"/>
            <a:chOff x="0" y="0"/>
            <a:chExt cx="1643074" cy="714382"/>
          </a:xfrm>
        </p:grpSpPr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FFD8DFE0-4E75-74F7-90EB-ADB7DC44A1B3}"/>
                </a:ext>
              </a:extLst>
            </p:cNvPr>
            <p:cNvSpPr/>
            <p:nvPr/>
          </p:nvSpPr>
          <p:spPr>
            <a:xfrm>
              <a:off x="857256" y="252714"/>
              <a:ext cx="320924" cy="4616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>
                  <a:srgbClr val="9999CC"/>
                </a:buClr>
                <a:buSzPct val="80000"/>
                <a:buFontTx/>
                <a:buNone/>
              </a:pPr>
              <a:r>
                <a:rPr lang="en-US" altLang="zh-CN" sz="2400" i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  <a:sym typeface="Times New Roman" panose="02020603050405020304" pitchFamily="18" charset="0"/>
                </a:rPr>
                <a:t>x</a:t>
              </a:r>
              <a:endParaRPr lang="en-US" altLang="zh-CN" sz="2800" dirty="0">
                <a:solidFill>
                  <a:srgbClr val="C00000"/>
                </a:solidFill>
              </a:endParaRPr>
            </a:p>
          </p:txBody>
        </p:sp>
        <p:sp>
          <p:nvSpPr>
            <p:cNvPr id="10" name="直接连接符 71">
              <a:extLst>
                <a:ext uri="{FF2B5EF4-FFF2-40B4-BE49-F238E27FC236}">
                  <a16:creationId xmlns:a16="http://schemas.microsoft.com/office/drawing/2014/main" id="{3E4085B7-A41A-2C5C-7E61-9948F1E747FD}"/>
                </a:ext>
              </a:extLst>
            </p:cNvPr>
            <p:cNvSpPr/>
            <p:nvPr/>
          </p:nvSpPr>
          <p:spPr>
            <a:xfrm flipV="1">
              <a:off x="0" y="0"/>
              <a:ext cx="1643074" cy="714380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B2636DEF-D863-9689-144B-BD55CAF16A89}"/>
              </a:ext>
            </a:extLst>
          </p:cNvPr>
          <p:cNvGrpSpPr/>
          <p:nvPr/>
        </p:nvGrpSpPr>
        <p:grpSpPr>
          <a:xfrm>
            <a:off x="5241627" y="4646861"/>
            <a:ext cx="749300" cy="1428750"/>
            <a:chOff x="0" y="0"/>
            <a:chExt cx="749550" cy="1428760"/>
          </a:xfrm>
        </p:grpSpPr>
        <p:sp>
          <p:nvSpPr>
            <p:cNvPr id="12" name="直接连接符 73">
              <a:extLst>
                <a:ext uri="{FF2B5EF4-FFF2-40B4-BE49-F238E27FC236}">
                  <a16:creationId xmlns:a16="http://schemas.microsoft.com/office/drawing/2014/main" id="{A0EDA53C-0481-0D8B-443C-68BC01C9F54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-392804" y="392804"/>
              <a:ext cx="1428760" cy="643152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solidFill>
                    <a:srgbClr val="C00000"/>
                  </a:solidFill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62BE306D-502C-E209-C95A-EC59800EC8C2}"/>
                </a:ext>
              </a:extLst>
            </p:cNvPr>
            <p:cNvSpPr/>
            <p:nvPr/>
          </p:nvSpPr>
          <p:spPr>
            <a:xfrm>
              <a:off x="428628" y="483548"/>
              <a:ext cx="32092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>
                  <a:srgbClr val="9999CC"/>
                </a:buClr>
                <a:buSzPct val="80000"/>
                <a:buFontTx/>
                <a:buNone/>
              </a:pPr>
              <a:r>
                <a:rPr lang="en-US" altLang="zh-CN" sz="2400" i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  <a:sym typeface="Times New Roman" panose="02020603050405020304" pitchFamily="18" charset="0"/>
                </a:rPr>
                <a:t>y</a:t>
              </a:r>
              <a:endParaRPr lang="en-US" altLang="zh-CN" sz="28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4" name="Group 11">
            <a:extLst>
              <a:ext uri="{FF2B5EF4-FFF2-40B4-BE49-F238E27FC236}">
                <a16:creationId xmlns:a16="http://schemas.microsoft.com/office/drawing/2014/main" id="{6EE8FBDD-DD4E-5EC6-A10A-2709C76C81E6}"/>
              </a:ext>
            </a:extLst>
          </p:cNvPr>
          <p:cNvGrpSpPr/>
          <p:nvPr/>
        </p:nvGrpSpPr>
        <p:grpSpPr>
          <a:xfrm>
            <a:off x="5220989" y="3946773"/>
            <a:ext cx="2286000" cy="2143125"/>
            <a:chOff x="0" y="0"/>
            <a:chExt cx="2286016" cy="2143140"/>
          </a:xfrm>
        </p:grpSpPr>
        <p:sp>
          <p:nvSpPr>
            <p:cNvPr id="15" name="Text Box 9">
              <a:extLst>
                <a:ext uri="{FF2B5EF4-FFF2-40B4-BE49-F238E27FC236}">
                  <a16:creationId xmlns:a16="http://schemas.microsoft.com/office/drawing/2014/main" id="{CFB0D723-4C8B-4C6A-0350-368C98A31C90}"/>
                </a:ext>
              </a:extLst>
            </p:cNvPr>
            <p:cNvSpPr/>
            <p:nvPr/>
          </p:nvSpPr>
          <p:spPr>
            <a:xfrm>
              <a:off x="762004" y="128361"/>
              <a:ext cx="803425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>
                  <a:srgbClr val="9999CC"/>
                </a:buClr>
                <a:buSzPct val="80000"/>
                <a:buFontTx/>
                <a:buNone/>
              </a:pPr>
              <a:r>
                <a:rPr lang="en-US" altLang="zh-CN" sz="24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sym typeface="Times New Roman" panose="02020603050405020304" pitchFamily="18" charset="0"/>
                </a:rPr>
                <a:t>x + y</a:t>
              </a:r>
              <a:endParaRPr lang="en-US" altLang="zh-CN" sz="2800" dirty="0"/>
            </a:p>
          </p:txBody>
        </p:sp>
        <p:sp>
          <p:nvSpPr>
            <p:cNvPr id="16" name="直接连接符 77">
              <a:extLst>
                <a:ext uri="{FF2B5EF4-FFF2-40B4-BE49-F238E27FC236}">
                  <a16:creationId xmlns:a16="http://schemas.microsoft.com/office/drawing/2014/main" id="{14E6B0E4-5FF6-F57C-F2E9-5998D44396CC}"/>
                </a:ext>
              </a:extLst>
            </p:cNvPr>
            <p:cNvSpPr/>
            <p:nvPr/>
          </p:nvSpPr>
          <p:spPr>
            <a:xfrm flipV="1">
              <a:off x="0" y="0"/>
              <a:ext cx="2286016" cy="214314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14">
            <a:extLst>
              <a:ext uri="{FF2B5EF4-FFF2-40B4-BE49-F238E27FC236}">
                <a16:creationId xmlns:a16="http://schemas.microsoft.com/office/drawing/2014/main" id="{7A200482-0418-3E3F-FF99-76D7C907E428}"/>
              </a:ext>
            </a:extLst>
          </p:cNvPr>
          <p:cNvGrpSpPr/>
          <p:nvPr/>
        </p:nvGrpSpPr>
        <p:grpSpPr>
          <a:xfrm>
            <a:off x="5220989" y="3861048"/>
            <a:ext cx="2519363" cy="2214563"/>
            <a:chOff x="0" y="0"/>
            <a:chExt cx="2520002" cy="2215651"/>
          </a:xfrm>
        </p:grpSpPr>
        <p:sp>
          <p:nvSpPr>
            <p:cNvPr id="18" name="直接连接符 79">
              <a:extLst>
                <a:ext uri="{FF2B5EF4-FFF2-40B4-BE49-F238E27FC236}">
                  <a16:creationId xmlns:a16="http://schemas.microsoft.com/office/drawing/2014/main" id="{A45D05B6-3ABE-6E86-8910-DDE5113A5A0F}"/>
                </a:ext>
              </a:extLst>
            </p:cNvPr>
            <p:cNvSpPr/>
            <p:nvPr/>
          </p:nvSpPr>
          <p:spPr>
            <a:xfrm rot="-5400000" flipH="1">
              <a:off x="1259465" y="955114"/>
              <a:ext cx="1074" cy="25200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直接连接符 80">
              <a:extLst>
                <a:ext uri="{FF2B5EF4-FFF2-40B4-BE49-F238E27FC236}">
                  <a16:creationId xmlns:a16="http://schemas.microsoft.com/office/drawing/2014/main" id="{D09FA07C-2606-3EED-E395-AC34F511F0AE}"/>
                </a:ext>
              </a:extLst>
            </p:cNvPr>
            <p:cNvSpPr/>
            <p:nvPr/>
          </p:nvSpPr>
          <p:spPr>
            <a:xfrm rot="5400000" flipH="1" flipV="1">
              <a:off x="-1106729" y="1106728"/>
              <a:ext cx="2214578" cy="111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17">
            <a:extLst>
              <a:ext uri="{FF2B5EF4-FFF2-40B4-BE49-F238E27FC236}">
                <a16:creationId xmlns:a16="http://schemas.microsoft.com/office/drawing/2014/main" id="{34286E57-E2B0-B8E4-5AAE-F796ADB20112}"/>
              </a:ext>
            </a:extLst>
          </p:cNvPr>
          <p:cNvGrpSpPr/>
          <p:nvPr/>
        </p:nvGrpSpPr>
        <p:grpSpPr>
          <a:xfrm>
            <a:off x="6862464" y="3932486"/>
            <a:ext cx="749300" cy="1428750"/>
            <a:chOff x="0" y="0"/>
            <a:chExt cx="749550" cy="1428760"/>
          </a:xfrm>
        </p:grpSpPr>
        <p:sp>
          <p:nvSpPr>
            <p:cNvPr id="21" name="直接连接符 84">
              <a:extLst>
                <a:ext uri="{FF2B5EF4-FFF2-40B4-BE49-F238E27FC236}">
                  <a16:creationId xmlns:a16="http://schemas.microsoft.com/office/drawing/2014/main" id="{89A3D67A-9BA3-3A35-45CB-C030E54FF474}"/>
                </a:ext>
              </a:extLst>
            </p:cNvPr>
            <p:cNvSpPr/>
            <p:nvPr/>
          </p:nvSpPr>
          <p:spPr>
            <a:xfrm rot="5400000" flipH="1" flipV="1">
              <a:off x="-392909" y="392909"/>
              <a:ext cx="1428760" cy="642942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9">
              <a:extLst>
                <a:ext uri="{FF2B5EF4-FFF2-40B4-BE49-F238E27FC236}">
                  <a16:creationId xmlns:a16="http://schemas.microsoft.com/office/drawing/2014/main" id="{1962C6BB-A995-0E4A-255A-5A1B3C1E2696}"/>
                </a:ext>
              </a:extLst>
            </p:cNvPr>
            <p:cNvSpPr/>
            <p:nvPr/>
          </p:nvSpPr>
          <p:spPr>
            <a:xfrm>
              <a:off x="428628" y="483548"/>
              <a:ext cx="32092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>
                  <a:srgbClr val="9999CC"/>
                </a:buClr>
                <a:buSzPct val="80000"/>
                <a:buFontTx/>
                <a:buNone/>
              </a:pPr>
              <a:r>
                <a:rPr lang="en-US" altLang="zh-CN" sz="2400" i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  <a:sym typeface="Times New Roman" panose="02020603050405020304" pitchFamily="18" charset="0"/>
                </a:rPr>
                <a:t>y</a:t>
              </a:r>
              <a:endParaRPr lang="en-US" altLang="zh-CN" sz="2800" dirty="0">
                <a:solidFill>
                  <a:srgbClr val="C00000"/>
                </a:solidFill>
              </a:endParaRPr>
            </a:p>
          </p:txBody>
        </p:sp>
      </p:grpSp>
      <p:sp>
        <p:nvSpPr>
          <p:cNvPr id="23" name="Rectangle 3">
            <a:extLst>
              <a:ext uri="{FF2B5EF4-FFF2-40B4-BE49-F238E27FC236}">
                <a16:creationId xmlns:a16="http://schemas.microsoft.com/office/drawing/2014/main" id="{3A698112-0333-47A5-FA1B-AEB327A40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7071" y="1922801"/>
            <a:ext cx="5385594" cy="5328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81000" indent="-38100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当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≠ 0</a:t>
            </a:r>
            <a:r>
              <a:rPr kumimoji="0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零向量</a:t>
            </a:r>
            <a:r>
              <a:rPr kumimoji="0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时</a:t>
            </a:r>
            <a:r>
              <a:rPr kumimoji="0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||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||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．</a:t>
            </a:r>
          </a:p>
        </p:txBody>
      </p:sp>
    </p:spTree>
    <p:extLst>
      <p:ext uri="{BB962C8B-B14F-4D97-AF65-F5344CB8AC3E}">
        <p14:creationId xmlns:p14="http://schemas.microsoft.com/office/powerpoint/2010/main" val="34243848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2" grpId="0"/>
      <p:bldP spid="3" grpId="0" bldLvl="0" animBg="1"/>
      <p:bldP spid="4" grpId="0" bldLvl="0" animBg="1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560654" y="-10318"/>
            <a:ext cx="6310313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向量夹角、正交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的定义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67544" y="548680"/>
            <a:ext cx="8229600" cy="535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81000" indent="-381000" defTabSz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0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施瓦兹</a:t>
            </a:r>
            <a:r>
              <a:rPr kumimoji="0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Schwarz</a:t>
            </a:r>
            <a:r>
              <a:rPr kumimoji="0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不等式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marR="0" lvl="0" indent="0" algn="l" defTabSz="0" rtl="0" eaLnBrk="0" fontAlgn="base" latinLnBrk="0" hangingPunct="0">
              <a:lnSpc>
                <a:spcPts val="48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[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]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≤ [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] [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]</a:t>
            </a:r>
          </a:p>
          <a:p>
            <a:pPr marL="0" marR="0" lvl="0" indent="0" algn="l" defTabSz="0" rtl="0" eaLnBrk="0" fontAlgn="base" latinLnBrk="0" hangingPunct="0">
              <a:lnSpc>
                <a:spcPts val="58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当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≠ 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且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y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≠ 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时</a:t>
            </a:r>
            <a:r>
              <a:rPr kumimoji="0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marR="0" lvl="0" indent="0" algn="l" defTabSz="0" rtl="0" eaLnBrk="0" fontAlgn="base" latinLnBrk="0" hangingPunct="0">
              <a:lnSpc>
                <a:spcPts val="58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定义</a:t>
            </a:r>
            <a:r>
              <a:rPr kumimoji="1" lang="en-IE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当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≠ 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且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y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≠ 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时</a:t>
            </a:r>
            <a:r>
              <a:rPr kumimoji="0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把</a:t>
            </a:r>
          </a:p>
          <a:p>
            <a:pPr marL="381000" marR="0" lvl="0" indent="-381000" algn="l" defTabSz="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81000" marR="0" lvl="0" indent="-381000" algn="l" defTabSz="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81000" marR="0" lvl="0" indent="-381000" algn="l" defTabSz="0" rtl="0" eaLnBrk="0" fontAlgn="base" latinLnBrk="0" hangingPunct="0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称为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维向量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和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夹角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．</a:t>
            </a:r>
          </a:p>
          <a:p>
            <a:pPr marL="381000" marR="0" lvl="0" indent="-381000" algn="l" defTabSz="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当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[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] = 0</a:t>
            </a:r>
            <a:r>
              <a:rPr kumimoji="0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称向量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和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正交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．</a:t>
            </a:r>
          </a:p>
          <a:p>
            <a:pPr marL="381000" marR="0" lvl="0" indent="-381000" algn="l" defTabSz="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结论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若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= 0</a:t>
            </a:r>
            <a:r>
              <a:rPr kumimoji="0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则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与任何向量都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正交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．</a:t>
            </a: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909510"/>
              </p:ext>
            </p:extLst>
          </p:nvPr>
        </p:nvGraphicFramePr>
        <p:xfrm>
          <a:off x="2523357" y="3264892"/>
          <a:ext cx="2768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84935" imgH="431800" progId="Equation.DSMT4">
                  <p:embed/>
                </p:oleObj>
              </mc:Choice>
              <mc:Fallback>
                <p:oleObj r:id="rId2" imgW="1384935" imgH="4318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23357" y="3264892"/>
                        <a:ext cx="2768600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227559"/>
              </p:ext>
            </p:extLst>
          </p:nvPr>
        </p:nvGraphicFramePr>
        <p:xfrm>
          <a:off x="3677469" y="1732955"/>
          <a:ext cx="1930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835" imgH="469900" progId="Equation.DSMT4">
                  <p:embed/>
                </p:oleObj>
              </mc:Choice>
              <mc:Fallback>
                <p:oleObj name="Equation" r:id="rId4" imgW="965835" imgH="4699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77469" y="1732955"/>
                        <a:ext cx="19304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7"/>
          <p:cNvGrpSpPr/>
          <p:nvPr/>
        </p:nvGrpSpPr>
        <p:grpSpPr>
          <a:xfrm>
            <a:off x="6271444" y="4588867"/>
            <a:ext cx="1643063" cy="714375"/>
            <a:chOff x="0" y="0"/>
            <a:chExt cx="1643074" cy="714382"/>
          </a:xfrm>
        </p:grpSpPr>
        <p:sp>
          <p:nvSpPr>
            <p:cNvPr id="13" name="Text Box 9"/>
            <p:cNvSpPr>
              <a:spLocks noChangeArrowheads="1"/>
            </p:cNvSpPr>
            <p:nvPr/>
          </p:nvSpPr>
          <p:spPr bwMode="auto">
            <a:xfrm>
              <a:off x="857256" y="252415"/>
              <a:ext cx="320677" cy="461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999CC"/>
                </a:buClr>
                <a:buSzPct val="80000"/>
                <a:buFontTx/>
                <a:buNone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x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直接连接符 10"/>
            <p:cNvSpPr>
              <a:spLocks noChangeShapeType="1"/>
            </p:cNvSpPr>
            <p:nvPr/>
          </p:nvSpPr>
          <p:spPr bwMode="auto">
            <a:xfrm flipV="1">
              <a:off x="0" y="0"/>
              <a:ext cx="1643074" cy="714382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0"/>
          <p:cNvGrpSpPr/>
          <p:nvPr/>
        </p:nvGrpSpPr>
        <p:grpSpPr>
          <a:xfrm>
            <a:off x="6292082" y="3874492"/>
            <a:ext cx="749300" cy="1428750"/>
            <a:chOff x="0" y="0"/>
            <a:chExt cx="749657" cy="1428760"/>
          </a:xfrm>
        </p:grpSpPr>
        <p:sp>
          <p:nvSpPr>
            <p:cNvPr id="19" name="直接连接符 12"/>
            <p:cNvSpPr>
              <a:spLocks noChangeShapeType="1"/>
            </p:cNvSpPr>
            <p:nvPr/>
          </p:nvSpPr>
          <p:spPr bwMode="auto">
            <a:xfrm rot="5400000" flipH="1" flipV="1">
              <a:off x="-392758" y="392759"/>
              <a:ext cx="1428760" cy="64324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9"/>
            <p:cNvSpPr>
              <a:spLocks noChangeArrowheads="1"/>
            </p:cNvSpPr>
            <p:nvPr/>
          </p:nvSpPr>
          <p:spPr bwMode="auto">
            <a:xfrm>
              <a:off x="428829" y="484191"/>
              <a:ext cx="320828" cy="46037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999CC"/>
                </a:buClr>
                <a:buSzPct val="80000"/>
                <a:buFontTx/>
                <a:buNone/>
                <a:defRPr/>
              </a:pP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y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Group 13"/>
          <p:cNvGrpSpPr/>
          <p:nvPr/>
        </p:nvGrpSpPr>
        <p:grpSpPr>
          <a:xfrm>
            <a:off x="6271444" y="3088680"/>
            <a:ext cx="2284413" cy="2214562"/>
            <a:chOff x="0" y="0"/>
            <a:chExt cx="2520002" cy="2215651"/>
          </a:xfrm>
        </p:grpSpPr>
        <p:sp>
          <p:nvSpPr>
            <p:cNvPr id="24" name="直接连接符 15"/>
            <p:cNvSpPr>
              <a:spLocks noChangeShapeType="1"/>
            </p:cNvSpPr>
            <p:nvPr/>
          </p:nvSpPr>
          <p:spPr bwMode="auto">
            <a:xfrm rot="16200000" flipH="1">
              <a:off x="1259207" y="954856"/>
              <a:ext cx="1588" cy="25200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直接连接符 16"/>
            <p:cNvSpPr>
              <a:spLocks noChangeShapeType="1"/>
            </p:cNvSpPr>
            <p:nvPr/>
          </p:nvSpPr>
          <p:spPr bwMode="auto">
            <a:xfrm rot="5400000" flipH="1" flipV="1">
              <a:off x="-1106155" y="1106156"/>
              <a:ext cx="2214063" cy="17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Group 16"/>
          <p:cNvGrpSpPr/>
          <p:nvPr/>
        </p:nvGrpSpPr>
        <p:grpSpPr>
          <a:xfrm>
            <a:off x="6406382" y="4760317"/>
            <a:ext cx="379412" cy="428625"/>
            <a:chOff x="0" y="0"/>
            <a:chExt cx="378727" cy="428625"/>
          </a:xfrm>
        </p:grpSpPr>
        <p:pic>
          <p:nvPicPr>
            <p:cNvPr id="62477" name="Object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739" y="0"/>
              <a:ext cx="280988" cy="357187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62478" name="Group 18"/>
            <p:cNvGrpSpPr/>
            <p:nvPr/>
          </p:nvGrpSpPr>
          <p:grpSpPr>
            <a:xfrm>
              <a:off x="0" y="280988"/>
              <a:ext cx="147637" cy="147637"/>
              <a:chOff x="0" y="0"/>
              <a:chExt cx="93" cy="93"/>
            </a:xfrm>
          </p:grpSpPr>
          <p:sp>
            <p:nvSpPr>
              <p:cNvPr id="29" name="Freeform 72"/>
              <p:cNvSpPr>
                <a:spLocks noChangeArrowheads="1"/>
              </p:cNvSpPr>
              <p:nvPr/>
            </p:nvSpPr>
            <p:spPr bwMode="auto">
              <a:xfrm>
                <a:off x="0" y="43"/>
                <a:ext cx="50" cy="50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noFill/>
              <a:ln w="2857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Freeform 73"/>
              <p:cNvSpPr>
                <a:spLocks noChangeArrowheads="1"/>
              </p:cNvSpPr>
              <p:nvPr/>
            </p:nvSpPr>
            <p:spPr bwMode="auto">
              <a:xfrm>
                <a:off x="8" y="0"/>
                <a:ext cx="85" cy="85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noFill/>
              <a:ln w="2857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" name="Rectangle 3"/>
          <p:cNvSpPr txBox="1"/>
          <p:nvPr/>
        </p:nvSpPr>
        <p:spPr>
          <a:xfrm>
            <a:off x="4642669" y="1226542"/>
            <a:ext cx="2478088" cy="53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0">
              <a:lnSpc>
                <a:spcPct val="110000"/>
              </a:lnSpc>
              <a:buClr>
                <a:srgbClr val="FF0000"/>
              </a:buClr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=||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|| · ||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||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．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35243" y="44768"/>
            <a:ext cx="7461250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正交向量组、规范正交向量组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的定义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78694" y="692696"/>
            <a:ext cx="1938338" cy="533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定义</a:t>
            </a:r>
            <a:r>
              <a:rPr kumimoji="1" lang="en-IE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设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179119" y="708571"/>
            <a:ext cx="3090863" cy="533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是一组非零向量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67544" y="2061121"/>
            <a:ext cx="2946400" cy="533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为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正交向量组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．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610362"/>
              </p:ext>
            </p:extLst>
          </p:nvPr>
        </p:nvGraphicFramePr>
        <p:xfrm>
          <a:off x="2653531" y="759371"/>
          <a:ext cx="152558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87400" imgH="228600" progId="Equation.DSMT4">
                  <p:embed/>
                </p:oleObj>
              </mc:Choice>
              <mc:Fallback>
                <p:oleObj r:id="rId2" imgW="787400" imgH="2286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53531" y="759371"/>
                        <a:ext cx="1525588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297482"/>
              </p:ext>
            </p:extLst>
          </p:nvPr>
        </p:nvGraphicFramePr>
        <p:xfrm>
          <a:off x="467544" y="1465809"/>
          <a:ext cx="131127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11200" imgH="241300" progId="Equation.DSMT4">
                  <p:embed/>
                </p:oleObj>
              </mc:Choice>
              <mc:Fallback>
                <p:oleObj r:id="rId4" imgW="711200" imgH="2413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7544" y="1465809"/>
                        <a:ext cx="1311275" cy="436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4996681" y="1370559"/>
            <a:ext cx="1227138" cy="533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则称</a:t>
            </a:r>
            <a:endParaRPr kumimoji="0" lang="zh-CN" altLang="en-US" b="1" kern="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006667"/>
              </p:ext>
            </p:extLst>
          </p:nvPr>
        </p:nvGraphicFramePr>
        <p:xfrm>
          <a:off x="5844406" y="1402309"/>
          <a:ext cx="16224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87400" imgH="228600" progId="Equation.DSMT4">
                  <p:embed/>
                </p:oleObj>
              </mc:Choice>
              <mc:Fallback>
                <p:oleObj r:id="rId6" imgW="787400" imgH="2286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44406" y="1402309"/>
                        <a:ext cx="1622425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254381"/>
              </p:ext>
            </p:extLst>
          </p:nvPr>
        </p:nvGraphicFramePr>
        <p:xfrm>
          <a:off x="1774056" y="1480096"/>
          <a:ext cx="7112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81000" imgH="203200" progId="Equation.DSMT4">
                  <p:embed/>
                </p:oleObj>
              </mc:Choice>
              <mc:Fallback>
                <p:oleObj r:id="rId8" imgW="381000" imgH="2032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74056" y="1480096"/>
                        <a:ext cx="711200" cy="376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2494781" y="1356271"/>
            <a:ext cx="730250" cy="533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且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34256" y="2719934"/>
            <a:ext cx="1511300" cy="533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特别地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kumimoji="0" lang="zh-CN" altLang="en-US" b="1" kern="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2105844" y="2719934"/>
            <a:ext cx="2463800" cy="533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若正交向量组 </a:t>
            </a: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241957"/>
              </p:ext>
            </p:extLst>
          </p:nvPr>
        </p:nvGraphicFramePr>
        <p:xfrm>
          <a:off x="4331519" y="2783434"/>
          <a:ext cx="153193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87400" imgH="228600" progId="Equation.DSMT4">
                  <p:embed/>
                </p:oleObj>
              </mc:Choice>
              <mc:Fallback>
                <p:oleObj r:id="rId10" imgW="787400" imgH="2286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31519" y="2783434"/>
                        <a:ext cx="1531937" cy="442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5958706" y="2735809"/>
            <a:ext cx="1795463" cy="533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都是单位</a:t>
            </a:r>
            <a:endParaRPr kumimoji="0" lang="zh-CN" altLang="en-US" b="1" kern="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450383"/>
              </p:ext>
            </p:extLst>
          </p:nvPr>
        </p:nvGraphicFramePr>
        <p:xfrm>
          <a:off x="2367781" y="3491459"/>
          <a:ext cx="14938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787400" imgH="228600" progId="Equation.DSMT4">
                  <p:embed/>
                </p:oleObj>
              </mc:Choice>
              <mc:Fallback>
                <p:oleObj r:id="rId11" imgW="787400" imgH="2286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7781" y="3491459"/>
                        <a:ext cx="1493838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3877494" y="3389859"/>
            <a:ext cx="3703638" cy="533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为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规范正交向量组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或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15294" y="3416846"/>
            <a:ext cx="1227138" cy="533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则称</a:t>
            </a:r>
            <a:endParaRPr kumimoji="0" lang="zh-CN" altLang="en-US" b="1" kern="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32631" y="4115346"/>
            <a:ext cx="3287713" cy="533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标准正交向量组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．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881044" y="708571"/>
            <a:ext cx="873125" cy="533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若</a:t>
            </a:r>
          </a:p>
        </p:txBody>
      </p:sp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372211"/>
              </p:ext>
            </p:extLst>
          </p:nvPr>
        </p:nvGraphicFramePr>
        <p:xfrm>
          <a:off x="3077394" y="1519784"/>
          <a:ext cx="1919287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028065" imgH="203200" progId="Equation.DSMT4">
                  <p:embed/>
                </p:oleObj>
              </mc:Choice>
              <mc:Fallback>
                <p:oleObj r:id="rId12" imgW="1028065" imgH="2032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77394" y="1519784"/>
                        <a:ext cx="1919287" cy="376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532631" y="3400971"/>
            <a:ext cx="1227138" cy="533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向量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kumimoji="0" lang="zh-CN" altLang="en-US" b="1" kern="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7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5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25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25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9" grpId="0"/>
      <p:bldP spid="30" grpId="0"/>
      <p:bldP spid="31" grpId="0"/>
      <p:bldP spid="32" grpId="0"/>
      <p:bldP spid="34" grpId="0"/>
      <p:bldP spid="36" grpId="0"/>
      <p:bldP spid="3" grpId="0"/>
      <p:bldP spid="5" grpId="0"/>
      <p:bldP spid="7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589210" y="44768"/>
            <a:ext cx="4414838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应用问题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正交向量组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之例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23528" y="1027088"/>
            <a:ext cx="8231188" cy="45085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已知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维向量空间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R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中两个向量                                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正交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试求一个非零向量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,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使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两两正交．</a:t>
            </a:r>
          </a:p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分析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显然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⊥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．</a:t>
            </a:r>
          </a:p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解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设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(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,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若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⊥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,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⊥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则</a:t>
            </a:r>
          </a:p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[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] =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+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+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= 0</a:t>
            </a:r>
          </a:p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[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] =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－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+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= 0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6" name="Object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815" y="620688"/>
            <a:ext cx="2562225" cy="1395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75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949250" y="-317"/>
            <a:ext cx="4414838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应用问题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正交向量组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之例</a:t>
            </a:r>
          </a:p>
        </p:txBody>
      </p:sp>
      <p:pic>
        <p:nvPicPr>
          <p:cNvPr id="65541" name="Object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161" y="568548"/>
            <a:ext cx="4084638" cy="14208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Objec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2011586"/>
            <a:ext cx="7231063" cy="9382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6"/>
          <p:cNvSpPr/>
          <p:nvPr/>
        </p:nvSpPr>
        <p:spPr>
          <a:xfrm>
            <a:off x="879724" y="3175223"/>
            <a:ext cx="75565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Clr>
                <a:srgbClr val="0000FF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得</a:t>
            </a:r>
          </a:p>
        </p:txBody>
      </p:sp>
      <p:pic>
        <p:nvPicPr>
          <p:cNvPr id="11" name="Object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774" y="3149823"/>
            <a:ext cx="1370012" cy="963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Object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5774" y="4265836"/>
            <a:ext cx="711200" cy="1395412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485491"/>
              </p:ext>
            </p:extLst>
          </p:nvPr>
        </p:nvGraphicFramePr>
        <p:xfrm>
          <a:off x="5073154" y="4201195"/>
          <a:ext cx="1320800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0400" imgH="698500" progId="Equation.DSMT4">
                  <p:embed/>
                </p:oleObj>
              </mc:Choice>
              <mc:Fallback>
                <p:oleObj name="Equation" r:id="rId6" imgW="660400" imgH="6985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73154" y="4201195"/>
                        <a:ext cx="1320800" cy="1395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79724" y="4561111"/>
            <a:ext cx="2828180" cy="533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>
                <a:srgbClr val="0000FF"/>
              </a:buClr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从而有基础解系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95316" y="4617466"/>
            <a:ext cx="7112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令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AF5399D-B745-5337-B6B0-79EE36F39528}"/>
              </a:ext>
            </a:extLst>
          </p:cNvPr>
          <p:cNvSpPr txBox="1"/>
          <p:nvPr/>
        </p:nvSpPr>
        <p:spPr>
          <a:xfrm>
            <a:off x="4292509" y="4589976"/>
            <a:ext cx="423507" cy="523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IE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D7EF22-1E2C-CD76-E4B1-BA2C02E343F9}"/>
              </a:ext>
            </a:extLst>
          </p:cNvPr>
          <p:cNvSpPr txBox="1"/>
          <p:nvPr/>
        </p:nvSpPr>
        <p:spPr>
          <a:xfrm>
            <a:off x="6327585" y="4594450"/>
            <a:ext cx="423507" cy="523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IE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2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6564" name="Rectangle 30"/>
          <p:cNvSpPr/>
          <p:nvPr/>
        </p:nvSpPr>
        <p:spPr>
          <a:xfrm>
            <a:off x="107633" y="44768"/>
            <a:ext cx="6016625" cy="971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难点问题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正交向量组的线性相关性</a:t>
            </a:r>
          </a:p>
          <a:p>
            <a:pPr marL="0" lvl="0" indent="0" eaLnBrk="1" hangingPunct="1">
              <a:buClr>
                <a:srgbClr val="00007D"/>
              </a:buClr>
              <a:buNone/>
            </a:pPr>
            <a:endParaRPr lang="zh-CN" altLang="en-US" sz="2600" b="1" dirty="0">
              <a:solidFill>
                <a:schemeClr val="bg1"/>
              </a:solidFill>
              <a:ea typeface="华文中宋" pitchFamily="2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251520" y="642143"/>
            <a:ext cx="8231188" cy="5573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  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定理</a:t>
            </a:r>
            <a:r>
              <a:rPr kumimoji="1" lang="en-IE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4.1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若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n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维向量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···,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n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是一组两两正交</a:t>
            </a:r>
            <a:endParaRPr kumimoji="1" lang="en-IE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的非零向量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则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···,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n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线性无关．</a:t>
            </a: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证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设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+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2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+ ··· + 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n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n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= 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零向量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),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则</a:t>
            </a: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           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0 = [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0] = [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+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2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+ ··· + 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n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n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]</a:t>
            </a: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               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[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] +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2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[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] + ··· + 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[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n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]</a:t>
            </a: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               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[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] + 0 + ···+ 0 </a:t>
            </a: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               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||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||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从而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= 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．</a:t>
            </a: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  同理可证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3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=  ··· = 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=0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．</a:t>
            </a: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  综上所述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···,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n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线性无关．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中宋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75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75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7588" name="Rectangle 30"/>
          <p:cNvSpPr/>
          <p:nvPr/>
        </p:nvSpPr>
        <p:spPr>
          <a:xfrm>
            <a:off x="355575" y="44768"/>
            <a:ext cx="6016625" cy="971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难点问题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正交向量组的线性相关性</a:t>
            </a:r>
          </a:p>
          <a:p>
            <a:pPr marL="0" lvl="0" indent="0" eaLnBrk="1" hangingPunct="1">
              <a:buClr>
                <a:srgbClr val="00007D"/>
              </a:buClr>
              <a:buNone/>
            </a:pPr>
            <a:endParaRPr lang="zh-CN" altLang="en-US" sz="2600" b="1" dirty="0">
              <a:solidFill>
                <a:schemeClr val="bg1"/>
              </a:solidFill>
              <a:ea typeface="华文中宋" pitchFamily="2" charset="-122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043608" y="1052736"/>
            <a:ext cx="10763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注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707183" y="1063848"/>
            <a:ext cx="59769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线性无关的向量组未必是正交向量组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1043608" y="2038573"/>
            <a:ext cx="2608263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Clr>
                <a:srgbClr val="0000FF"/>
              </a:buClr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比如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向量组</a:t>
            </a: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528785"/>
              </p:ext>
            </p:extLst>
          </p:nvPr>
        </p:nvGraphicFramePr>
        <p:xfrm>
          <a:off x="3035921" y="1841723"/>
          <a:ext cx="23844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93800" imgH="469900" progId="Equation.DSMT4">
                  <p:embed/>
                </p:oleObj>
              </mc:Choice>
              <mc:Fallback>
                <p:oleObj r:id="rId2" imgW="1193800" imgH="4699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35921" y="1841723"/>
                        <a:ext cx="2384425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/>
          <p:nvPr/>
        </p:nvSpPr>
        <p:spPr>
          <a:xfrm>
            <a:off x="5420346" y="2086198"/>
            <a:ext cx="1871662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Clr>
                <a:srgbClr val="0000FF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线性无关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12" name="Rectangle 4"/>
          <p:cNvSpPr/>
          <p:nvPr/>
        </p:nvSpPr>
        <p:spPr>
          <a:xfrm>
            <a:off x="1043608" y="2991073"/>
            <a:ext cx="4541838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Clr>
                <a:srgbClr val="0000FF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但它们却不是正交向量组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>
                                      <p:cBhvr>
                                        <p:cTn id="25" dur="1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>
                                      <p:cBhvr>
                                        <p:cTn id="30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0">
            <a:hlinkClick r:id="" action="ppaction://noaction"/>
          </p:cNvPr>
          <p:cNvSpPr/>
          <p:nvPr/>
        </p:nvSpPr>
        <p:spPr>
          <a:xfrm>
            <a:off x="857450" y="525146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639142" y="44768"/>
            <a:ext cx="7461250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正交基、规范正交基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的定义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072407" y="824142"/>
            <a:ext cx="7083425" cy="523875"/>
            <a:chOff x="755650" y="1758950"/>
            <a:chExt cx="7084080" cy="523925"/>
          </a:xfrm>
        </p:grpSpPr>
        <p:sp>
          <p:nvSpPr>
            <p:cNvPr id="15" name="Rectangle 2"/>
            <p:cNvSpPr>
              <a:spLocks noChangeArrowheads="1"/>
            </p:cNvSpPr>
            <p:nvPr/>
          </p:nvSpPr>
          <p:spPr bwMode="auto">
            <a:xfrm>
              <a:off x="755650" y="1758950"/>
              <a:ext cx="6696694" cy="52392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ts val="36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7D"/>
                </a:buClr>
                <a:buSzPct val="75000"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定义</a:t>
              </a:r>
              <a:r>
                <a:rPr kumimoji="1" lang="en-IE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</a:rPr>
                <a:t>4.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 </a:t>
              </a: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设</a:t>
              </a:r>
              <a:r>
                <a:rPr kumimoji="1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  <a:ea typeface="华文中宋" pitchFamily="2" charset="-122"/>
                  <a:cs typeface="+mn-cs"/>
                  <a:sym typeface="Times New Roman" panose="02020603050405020304" pitchFamily="18" charset="0"/>
                </a:rPr>
                <a:t>a</a:t>
              </a:r>
              <a:r>
                <a:rPr kumimoji="0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1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, </a:t>
              </a:r>
              <a:r>
                <a:rPr kumimoji="1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  <a:ea typeface="华文中宋" pitchFamily="2" charset="-122"/>
                  <a:cs typeface="+mn-cs"/>
                  <a:sym typeface="Times New Roman" panose="02020603050405020304" pitchFamily="18" charset="0"/>
                </a:rPr>
                <a:t>a</a:t>
              </a:r>
              <a:r>
                <a:rPr kumimoji="0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2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, 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···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, </a:t>
              </a:r>
              <a:r>
                <a:rPr kumimoji="1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  <a:ea typeface="华文中宋" pitchFamily="2" charset="-122"/>
                  <a:cs typeface="+mn-cs"/>
                  <a:sym typeface="Times New Roman" panose="02020603050405020304" pitchFamily="18" charset="0"/>
                </a:rPr>
                <a:t>a</a:t>
              </a:r>
              <a:r>
                <a:rPr kumimoji="0" lang="en-US" altLang="zh-CN" sz="28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n </a:t>
              </a: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是</a:t>
              </a:r>
              <a:r>
                <a:rPr kumimoji="0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n </a:t>
              </a: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维向量空间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pic>
          <p:nvPicPr>
            <p:cNvPr id="68620" name="Object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23730" y="1816770"/>
              <a:ext cx="1016000" cy="40640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737444" y="1559155"/>
            <a:ext cx="7835900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fontAlgn="auto" hangingPunct="1">
              <a:lnSpc>
                <a:spcPts val="3600"/>
              </a:lnSpc>
              <a:spcBef>
                <a:spcPct val="20000"/>
              </a:spcBef>
              <a:spcAft>
                <a:spcPts val="0"/>
              </a:spcAft>
              <a:buClr>
                <a:srgbClr val="00007D"/>
              </a:buClr>
              <a:buSzPct val="75000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中的一个正交向量组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则称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···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b="1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是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V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的一</a:t>
            </a: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639020" y="3073630"/>
            <a:ext cx="6601420" cy="5238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0" indent="0" eaLnBrk="1" fontAlgn="auto" hangingPunct="1">
              <a:lnSpc>
                <a:spcPts val="36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特别地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若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···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b="1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是规范正交组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737444" y="2337030"/>
            <a:ext cx="2830513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ts val="3600"/>
              </a:lnSpc>
              <a:spcBef>
                <a:spcPct val="20000"/>
              </a:spcBef>
              <a:spcAft>
                <a:spcPts val="0"/>
              </a:spcAft>
              <a:buClr>
                <a:srgbClr val="00007D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个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正交基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．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153494" y="3875317"/>
            <a:ext cx="6713538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是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V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的一个</a:t>
            </a:r>
            <a:r>
              <a:rPr kumimoji="0" lang="zh-CN" altLang="en-US" b="1" kern="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规范正交基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或</a:t>
            </a:r>
            <a:r>
              <a:rPr kumimoji="0" lang="zh-CN" altLang="en-US" b="1" kern="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标准正交基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．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759669" y="3819755"/>
            <a:ext cx="2016125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0" indent="0" eaLnBrk="1" fontAlgn="auto" hangingPunct="1">
              <a:lnSpc>
                <a:spcPts val="36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defRPr/>
            </a:pP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···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b="1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672F357-A79D-050D-B8B3-22497F686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5766" y="3073629"/>
            <a:ext cx="1584226" cy="5238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0" indent="0" eaLnBrk="1" fontAlgn="auto" hangingPunct="1">
              <a:lnSpc>
                <a:spcPts val="36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则称 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  <p:bldP spid="26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1043608" y="15874"/>
            <a:ext cx="4414838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应用问题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规范正交基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之例</a:t>
            </a:r>
          </a:p>
        </p:txBody>
      </p:sp>
      <p:sp>
        <p:nvSpPr>
          <p:cNvPr id="8" name="Rectangle 2"/>
          <p:cNvSpPr/>
          <p:nvPr/>
        </p:nvSpPr>
        <p:spPr>
          <a:xfrm>
            <a:off x="915988" y="1335088"/>
            <a:ext cx="6107112" cy="20748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例如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</a:p>
          <a:p>
            <a:pPr marL="342900" lvl="0" indent="-342900" eaLnBrk="1" hangingPunct="1">
              <a:buClr>
                <a:srgbClr val="00007D"/>
              </a:buClr>
              <a:buFontTx/>
              <a:buNone/>
            </a:pP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lvl="0" indent="-342900" eaLnBrk="1" hangingPunct="1">
              <a:buClr>
                <a:srgbClr val="00007D"/>
              </a:buClr>
              <a:buFontTx/>
              <a:buNone/>
            </a:pP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lvl="0" indent="-342900" eaLnBrk="1" hangingPunct="1"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4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的一个规范正交基．</a:t>
            </a:r>
            <a:endParaRPr lang="zh-CN" altLang="en-US" sz="2800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2108200" y="690563"/>
          <a:ext cx="46482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4100" imgH="927100" progId="Equation.DSMT4">
                  <p:embed/>
                </p:oleObj>
              </mc:Choice>
              <mc:Fallback>
                <p:oleObj name="Equation" r:id="rId2" imgW="2324100" imgH="9271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08200" y="690563"/>
                        <a:ext cx="4648200" cy="185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Object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888" y="3541713"/>
            <a:ext cx="7086600" cy="198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915988" y="5610225"/>
            <a:ext cx="55880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7D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也是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R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的一个规范正交基．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.00000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1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.000000" to="-1.0" calcmode="lin" valueType="num">
                                      <p:cBhvr>
                                        <p:cTn id="3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>
                                        <p:cTn id="3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908720"/>
            <a:ext cx="4622800" cy="185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Rectangle 9"/>
          <p:cNvSpPr/>
          <p:nvPr/>
        </p:nvSpPr>
        <p:spPr>
          <a:xfrm>
            <a:off x="1043608" y="3356992"/>
            <a:ext cx="59277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R</a:t>
            </a:r>
            <a:r>
              <a:rPr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4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的一个基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但不是规范正交基．</a:t>
            </a:r>
            <a:endParaRPr lang="zh-CN" altLang="en-US" sz="2800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" name="Rectangle 3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331640" y="0"/>
            <a:ext cx="4414838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应用问题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规范正交基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之例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>
                                      <p:cBhvr>
                                        <p:cTn id="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.000000" to="-1.0" calcmode="lin" valueType="num">
                                      <p:cBhvr>
                                        <p:cTn id="1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2"/>
          <p:cNvSpPr>
            <a:spLocks noChangeArrowheads="1"/>
          </p:cNvSpPr>
          <p:nvPr/>
        </p:nvSpPr>
        <p:spPr bwMode="auto">
          <a:xfrm>
            <a:off x="2010568" y="1816100"/>
            <a:ext cx="544513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基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3" name="Rectangle 43"/>
          <p:cNvSpPr>
            <a:spLocks noChangeArrowheads="1"/>
          </p:cNvSpPr>
          <p:nvPr/>
        </p:nvSpPr>
        <p:spPr bwMode="auto">
          <a:xfrm>
            <a:off x="3121818" y="1816100"/>
            <a:ext cx="1262063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正交基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876006" y="1816100"/>
            <a:ext cx="1979613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规范正交基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5" name="AutoShape 45"/>
          <p:cNvSpPr>
            <a:spLocks noChangeArrowheads="1"/>
          </p:cNvSpPr>
          <p:nvPr/>
        </p:nvSpPr>
        <p:spPr bwMode="auto">
          <a:xfrm>
            <a:off x="2666206" y="1816100"/>
            <a:ext cx="471488" cy="485775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rgbClr val="0000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6" name="AutoShape 46"/>
          <p:cNvSpPr>
            <a:spLocks noChangeArrowheads="1"/>
          </p:cNvSpPr>
          <p:nvPr/>
        </p:nvSpPr>
        <p:spPr bwMode="auto">
          <a:xfrm>
            <a:off x="4404518" y="1854200"/>
            <a:ext cx="471488" cy="485775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rgbClr val="0000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594518" y="976312"/>
            <a:ext cx="3744913" cy="48577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j-cs"/>
              </a:rPr>
              <a:t>求规范正交基的流程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j-cs"/>
              </a:rPr>
              <a:t>: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itchFamily="2" charset="-122"/>
              <a:cs typeface="+mj-cs"/>
            </a:endParaRPr>
          </a:p>
        </p:txBody>
      </p:sp>
      <p:sp>
        <p:nvSpPr>
          <p:cNvPr id="71688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1690" name="Rectangle 30"/>
          <p:cNvSpPr/>
          <p:nvPr/>
        </p:nvSpPr>
        <p:spPr>
          <a:xfrm>
            <a:off x="683568" y="0"/>
            <a:ext cx="601662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由基到规范正交基的方法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/>
      <p:bldP spid="3" grpId="0" bldLvl="0"/>
      <p:bldP spid="4" grpId="0" bldLvl="0"/>
      <p:bldP spid="5" grpId="0" bldLvl="0" animBg="1"/>
      <p:bldP spid="6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2708" name="Rectangle 30"/>
          <p:cNvSpPr/>
          <p:nvPr/>
        </p:nvSpPr>
        <p:spPr>
          <a:xfrm>
            <a:off x="725849" y="0"/>
            <a:ext cx="601662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由基到规范正交基的方法</a:t>
            </a:r>
          </a:p>
        </p:txBody>
      </p:sp>
      <p:sp>
        <p:nvSpPr>
          <p:cNvPr id="15" name="Rectangle 3"/>
          <p:cNvSpPr txBox="1"/>
          <p:nvPr/>
        </p:nvSpPr>
        <p:spPr>
          <a:xfrm>
            <a:off x="683568" y="692696"/>
            <a:ext cx="7920037" cy="517680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defTabSz="0"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第一步   正交化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——</a:t>
            </a:r>
            <a:r>
              <a:rPr lang="en-IE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Gram-Schimidt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正交化过程</a:t>
            </a:r>
          </a:p>
          <a:p>
            <a:pPr marL="342900" lvl="0" indent="-342900" defTabSz="0"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···,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是向量空间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V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中的一个基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则令</a:t>
            </a:r>
          </a:p>
          <a:p>
            <a:pPr marL="342900" lvl="0" indent="-342900" defTabSz="0">
              <a:buClr>
                <a:srgbClr val="00007D"/>
              </a:buClr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lvl="0" indent="-342900" defTabSz="0">
              <a:buClr>
                <a:srgbClr val="00007D"/>
              </a:buClr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lvl="0" indent="-342900" defTabSz="0">
              <a:buClr>
                <a:srgbClr val="00007D"/>
              </a:buClr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lvl="0" indent="-342900" defTabSz="0">
              <a:buClr>
                <a:srgbClr val="00007D"/>
              </a:buClr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lvl="0" indent="-342900" defTabSz="0">
              <a:buClr>
                <a:srgbClr val="00007D"/>
              </a:buClr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lvl="0" indent="-342900" defTabSz="0">
              <a:buClr>
                <a:srgbClr val="00007D"/>
              </a:buClr>
              <a:buNone/>
            </a:pP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lvl="0" indent="-342900" defTabSz="0"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于是</a:t>
            </a:r>
            <a:r>
              <a:rPr lang="zh-CN" altLang="en-US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···,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两两正交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且与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···,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等价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lvl="0" indent="-342900" defTabSz="0"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即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···,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是向量空间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V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中的一个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正交基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．</a:t>
            </a:r>
          </a:p>
        </p:txBody>
      </p:sp>
      <p:pic>
        <p:nvPicPr>
          <p:cNvPr id="16" name="Object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729333"/>
            <a:ext cx="889000" cy="4572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7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039129"/>
              </p:ext>
            </p:extLst>
          </p:nvPr>
        </p:nvGraphicFramePr>
        <p:xfrm>
          <a:off x="683568" y="2280196"/>
          <a:ext cx="3454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27200" imgH="444500" progId="Equation.DSMT4">
                  <p:embed/>
                </p:oleObj>
              </mc:Choice>
              <mc:Fallback>
                <p:oleObj r:id="rId3" imgW="1727200" imgH="4445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3568" y="2280196"/>
                        <a:ext cx="34544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AF60049-6845-4442-9270-9D287DE25E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409670"/>
              </p:ext>
            </p:extLst>
          </p:nvPr>
        </p:nvGraphicFramePr>
        <p:xfrm>
          <a:off x="683568" y="3285962"/>
          <a:ext cx="623887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7160" imgH="101520" progId="Equation.DSMT4">
                  <p:embed/>
                </p:oleObj>
              </mc:Choice>
              <mc:Fallback>
                <p:oleObj name="Equation" r:id="rId5" imgW="317160" imgH="1015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10048F4-DC50-EA11-8E72-0338DB4850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568" y="3285962"/>
                        <a:ext cx="623887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07B7F4DF-45B0-2F5D-87DE-33C2AB7C22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505068"/>
            <a:ext cx="6248942" cy="920576"/>
          </a:xfrm>
          <a:prstGeom prst="rect">
            <a:avLst/>
          </a:prstGeom>
        </p:spPr>
      </p:pic>
      <p:sp>
        <p:nvSpPr>
          <p:cNvPr id="19" name="Rectangle 36"/>
          <p:cNvSpPr>
            <a:spLocks noChangeArrowheads="1"/>
          </p:cNvSpPr>
          <p:nvPr/>
        </p:nvSpPr>
        <p:spPr bwMode="auto">
          <a:xfrm>
            <a:off x="1852532" y="3484400"/>
            <a:ext cx="865188" cy="8738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0" name="Rectangle 37"/>
          <p:cNvSpPr>
            <a:spLocks noChangeArrowheads="1"/>
          </p:cNvSpPr>
          <p:nvPr/>
        </p:nvSpPr>
        <p:spPr bwMode="auto">
          <a:xfrm>
            <a:off x="3198371" y="3544027"/>
            <a:ext cx="939597" cy="9228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1" name="Rectangle 38"/>
          <p:cNvSpPr>
            <a:spLocks noChangeArrowheads="1"/>
          </p:cNvSpPr>
          <p:nvPr/>
        </p:nvSpPr>
        <p:spPr bwMode="auto">
          <a:xfrm>
            <a:off x="5146823" y="3519734"/>
            <a:ext cx="1223963" cy="9228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box(in)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box(in)">
                                      <p:cBhvr>
                                        <p:cTn id="4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box(in)">
                                      <p:cBhvr>
                                        <p:cTn id="4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25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25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20" grpId="0" bldLvl="0" animBg="1"/>
      <p:bldP spid="21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3732" name="Rectangle 30"/>
          <p:cNvSpPr/>
          <p:nvPr/>
        </p:nvSpPr>
        <p:spPr>
          <a:xfrm>
            <a:off x="708501" y="0"/>
            <a:ext cx="601662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由基到规范正交基的方法</a:t>
            </a:r>
          </a:p>
        </p:txBody>
      </p:sp>
      <p:sp>
        <p:nvSpPr>
          <p:cNvPr id="71685" name="Rectangle 4"/>
          <p:cNvSpPr/>
          <p:nvPr/>
        </p:nvSpPr>
        <p:spPr>
          <a:xfrm>
            <a:off x="938213" y="516588"/>
            <a:ext cx="26638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第二步  单位化</a:t>
            </a:r>
          </a:p>
        </p:txBody>
      </p:sp>
      <p:pic>
        <p:nvPicPr>
          <p:cNvPr id="13" name="Object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463" y="2962925"/>
            <a:ext cx="6832600" cy="9652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363937"/>
              </p:ext>
            </p:extLst>
          </p:nvPr>
        </p:nvGraphicFramePr>
        <p:xfrm>
          <a:off x="1160463" y="4143047"/>
          <a:ext cx="2362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1100" imgH="266700" progId="Equation.DSMT4">
                  <p:embed/>
                </p:oleObj>
              </mc:Choice>
              <mc:Fallback>
                <p:oleObj name="Equation" r:id="rId3" imgW="1181100" imgH="2667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60463" y="4143047"/>
                        <a:ext cx="23622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0" name="文本框 2"/>
          <p:cNvSpPr txBox="1"/>
          <p:nvPr/>
        </p:nvSpPr>
        <p:spPr>
          <a:xfrm>
            <a:off x="450850" y="5498213"/>
            <a:ext cx="85994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rgbClr val="00007D"/>
              </a:buClr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故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e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e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···,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e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是向量空间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V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中的一个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规范正交基．</a:t>
            </a:r>
            <a:endParaRPr lang="zh-CN" altLang="en-US" sz="2800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71691" name="文本框 7"/>
          <p:cNvSpPr txBox="1"/>
          <p:nvPr/>
        </p:nvSpPr>
        <p:spPr>
          <a:xfrm>
            <a:off x="450850" y="2493025"/>
            <a:ext cx="1462088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因为</a:t>
            </a:r>
          </a:p>
        </p:txBody>
      </p:sp>
      <p:sp>
        <p:nvSpPr>
          <p:cNvPr id="71692" name="文本框 9"/>
          <p:cNvSpPr txBox="1"/>
          <p:nvPr/>
        </p:nvSpPr>
        <p:spPr>
          <a:xfrm>
            <a:off x="938213" y="1086500"/>
            <a:ext cx="7366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rgbClr val="00007D"/>
              </a:buClr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···,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是向量空间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V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中的一个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正交基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endParaRPr lang="zh-CN" altLang="en-US" sz="2800" b="1" dirty="0"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6888" y="1694513"/>
            <a:ext cx="13684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则令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4" name="文本框 2">
            <a:extLst>
              <a:ext uri="{FF2B5EF4-FFF2-40B4-BE49-F238E27FC236}">
                <a16:creationId xmlns:a16="http://schemas.microsoft.com/office/drawing/2014/main" id="{547EB145-48F9-F19F-F718-F6B409D3D8B6}"/>
              </a:ext>
            </a:extLst>
          </p:cNvPr>
          <p:cNvSpPr txBox="1"/>
          <p:nvPr/>
        </p:nvSpPr>
        <p:spPr>
          <a:xfrm>
            <a:off x="496888" y="4802406"/>
            <a:ext cx="468041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Clr>
                <a:srgbClr val="00007D"/>
              </a:buClr>
              <a:buSz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同理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||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e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|| = 1(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=1,2, ···,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．</a:t>
            </a:r>
            <a:endParaRPr lang="zh-CN" altLang="en-US" sz="2800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1CFB3202-BF9B-9AC4-9ADF-66972E8FD2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155" y="1805455"/>
            <a:ext cx="5212532" cy="85961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20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/>
      <p:bldP spid="71690" grpId="0"/>
      <p:bldP spid="71691" grpId="0"/>
      <p:bldP spid="71692" grpId="0"/>
      <p:bldP spid="3" grpId="0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980048"/>
              </p:ext>
            </p:extLst>
          </p:nvPr>
        </p:nvGraphicFramePr>
        <p:xfrm>
          <a:off x="690147" y="3534681"/>
          <a:ext cx="5580062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94000" imgH="1219200" progId="Equation.DSMT4">
                  <p:embed/>
                </p:oleObj>
              </mc:Choice>
              <mc:Fallback>
                <p:oleObj r:id="rId2" imgW="2794000" imgH="12192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0147" y="3534681"/>
                        <a:ext cx="5580062" cy="243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4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4756" name="Rectangle 30"/>
          <p:cNvSpPr/>
          <p:nvPr/>
        </p:nvSpPr>
        <p:spPr>
          <a:xfrm>
            <a:off x="427583" y="44768"/>
            <a:ext cx="601662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: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Gram-Schimidt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正交化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之例</a:t>
            </a:r>
          </a:p>
        </p:txBody>
      </p:sp>
      <p:sp>
        <p:nvSpPr>
          <p:cNvPr id="2" name="Rectangle 2"/>
          <p:cNvSpPr/>
          <p:nvPr/>
        </p:nvSpPr>
        <p:spPr>
          <a:xfrm>
            <a:off x="421250" y="1035026"/>
            <a:ext cx="1539875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Clr>
                <a:srgbClr val="0000FF"/>
              </a:buClr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4.3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293064"/>
              </p:ext>
            </p:extLst>
          </p:nvPr>
        </p:nvGraphicFramePr>
        <p:xfrm>
          <a:off x="1721413" y="620688"/>
          <a:ext cx="3881437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43100" imgH="698500" progId="Equation.DSMT4">
                  <p:embed/>
                </p:oleObj>
              </mc:Choice>
              <mc:Fallback>
                <p:oleObj r:id="rId4" imgW="1943100" imgH="6985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1413" y="620688"/>
                        <a:ext cx="3881437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1" name="文本框 10"/>
          <p:cNvSpPr txBox="1"/>
          <p:nvPr/>
        </p:nvSpPr>
        <p:spPr>
          <a:xfrm>
            <a:off x="430823" y="2670151"/>
            <a:ext cx="4572000" cy="630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40000"/>
              </a:lnSpc>
              <a:buClr>
                <a:srgbClr val="0000FF"/>
              </a:buClr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解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第一步正交化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取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412821"/>
              </p:ext>
            </p:extLst>
          </p:nvPr>
        </p:nvGraphicFramePr>
        <p:xfrm>
          <a:off x="690147" y="3582964"/>
          <a:ext cx="10906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46100" imgH="228600" progId="Equation.DSMT4">
                  <p:embed/>
                </p:oleObj>
              </mc:Choice>
              <mc:Fallback>
                <p:oleObj r:id="rId6" imgW="546100" imgH="2286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0147" y="3582964"/>
                        <a:ext cx="1090612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7690" y="2081982"/>
            <a:ext cx="67849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正交化过程把这组向量规范正交化．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561575" y="1035026"/>
            <a:ext cx="34686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试用</a:t>
            </a:r>
            <a:r>
              <a:rPr lang="en-IE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Gram-Schimidt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2711" grpId="0"/>
      <p:bldP spid="7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4756" name="Rectangle 30"/>
          <p:cNvSpPr/>
          <p:nvPr/>
        </p:nvSpPr>
        <p:spPr>
          <a:xfrm>
            <a:off x="251143" y="44768"/>
            <a:ext cx="601662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: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Gram-Schimidt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正交化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之例</a:t>
            </a: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802283"/>
              </p:ext>
            </p:extLst>
          </p:nvPr>
        </p:nvGraphicFramePr>
        <p:xfrm>
          <a:off x="1835696" y="885825"/>
          <a:ext cx="42354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20900" imgH="444500" progId="Equation.DSMT4">
                  <p:embed/>
                </p:oleObj>
              </mc:Choice>
              <mc:Fallback>
                <p:oleObj r:id="rId2" imgW="2120900" imgH="444500" progId="Equation.DSMT4">
                  <p:embed/>
                  <p:pic>
                    <p:nvPicPr>
                      <p:cNvPr id="14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35696" y="885825"/>
                        <a:ext cx="423545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509270"/>
              </p:ext>
            </p:extLst>
          </p:nvPr>
        </p:nvGraphicFramePr>
        <p:xfrm>
          <a:off x="2168827" y="1886768"/>
          <a:ext cx="3146425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74800" imgH="1219200" progId="Equation.DSMT4">
                  <p:embed/>
                </p:oleObj>
              </mc:Choice>
              <mc:Fallback>
                <p:oleObj r:id="rId4" imgW="1574800" imgH="1219200" progId="Equation.DSMT4">
                  <p:embed/>
                  <p:pic>
                    <p:nvPicPr>
                      <p:cNvPr id="1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8827" y="1886768"/>
                        <a:ext cx="3146425" cy="243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609182"/>
              </p:ext>
            </p:extLst>
          </p:nvPr>
        </p:nvGraphicFramePr>
        <p:xfrm>
          <a:off x="2165261" y="4438672"/>
          <a:ext cx="1319213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60400" imgH="698500" progId="Equation.DSMT4">
                  <p:embed/>
                </p:oleObj>
              </mc:Choice>
              <mc:Fallback>
                <p:oleObj r:id="rId6" imgW="660400" imgH="698500" progId="Equation.DSMT4">
                  <p:embed/>
                  <p:pic>
                    <p:nvPicPr>
                      <p:cNvPr id="16" name="Object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65261" y="4438672"/>
                        <a:ext cx="1319213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530574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5780" name="Rectangle 30"/>
          <p:cNvSpPr/>
          <p:nvPr/>
        </p:nvSpPr>
        <p:spPr>
          <a:xfrm>
            <a:off x="106998" y="44768"/>
            <a:ext cx="592137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: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Gram-Schimidt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正交化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之例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65982" y="634776"/>
            <a:ext cx="3468688" cy="6286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第二步单位化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令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268509"/>
              </p:ext>
            </p:extLst>
          </p:nvPr>
        </p:nvGraphicFramePr>
        <p:xfrm>
          <a:off x="467544" y="1485676"/>
          <a:ext cx="28956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47800" imgH="698500" progId="Equation.DSMT4">
                  <p:embed/>
                </p:oleObj>
              </mc:Choice>
              <mc:Fallback>
                <p:oleObj r:id="rId2" imgW="1447800" imgH="6985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7544" y="1485676"/>
                        <a:ext cx="2895600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952515"/>
              </p:ext>
            </p:extLst>
          </p:nvPr>
        </p:nvGraphicFramePr>
        <p:xfrm>
          <a:off x="3393307" y="1795239"/>
          <a:ext cx="15716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87400" imgH="457200" progId="Equation.DSMT4">
                  <p:embed/>
                </p:oleObj>
              </mc:Choice>
              <mc:Fallback>
                <p:oleObj r:id="rId4" imgW="787400" imgH="4572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93307" y="1795239"/>
                        <a:ext cx="1571625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706518"/>
              </p:ext>
            </p:extLst>
          </p:nvPr>
        </p:nvGraphicFramePr>
        <p:xfrm>
          <a:off x="4914132" y="1050701"/>
          <a:ext cx="2994025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98600" imgH="1219200" progId="Equation.DSMT4">
                  <p:embed/>
                </p:oleObj>
              </mc:Choice>
              <mc:Fallback>
                <p:oleObj r:id="rId6" imgW="1498600" imgH="12192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14132" y="1050701"/>
                        <a:ext cx="2994025" cy="243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153088"/>
              </p:ext>
            </p:extLst>
          </p:nvPr>
        </p:nvGraphicFramePr>
        <p:xfrm>
          <a:off x="467544" y="3504976"/>
          <a:ext cx="15716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87400" imgH="457200" progId="Equation.DSMT4">
                  <p:embed/>
                </p:oleObj>
              </mc:Choice>
              <mc:Fallback>
                <p:oleObj r:id="rId8" imgW="787400" imgH="4572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7544" y="3504976"/>
                        <a:ext cx="1571625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09515"/>
              </p:ext>
            </p:extLst>
          </p:nvPr>
        </p:nvGraphicFramePr>
        <p:xfrm>
          <a:off x="1988369" y="3282726"/>
          <a:ext cx="3246438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25600" imgH="698500" progId="Equation.DSMT4">
                  <p:embed/>
                </p:oleObj>
              </mc:Choice>
              <mc:Fallback>
                <p:oleObj r:id="rId10" imgW="1625600" imgH="6985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88369" y="3282726"/>
                        <a:ext cx="3246438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3020244" y="5079776"/>
            <a:ext cx="45720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即为所求的规范正交基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b="1" kern="120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705739"/>
              </p:ext>
            </p:extLst>
          </p:nvPr>
        </p:nvGraphicFramePr>
        <p:xfrm>
          <a:off x="1448619" y="4890864"/>
          <a:ext cx="15716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787400" imgH="457200" progId="Equation.DSMT4">
                  <p:embed/>
                </p:oleObj>
              </mc:Choice>
              <mc:Fallback>
                <p:oleObj r:id="rId12" imgW="787400" imgH="4572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48619" y="4890864"/>
                        <a:ext cx="1571625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883469" y="5121051"/>
            <a:ext cx="13509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则</a:t>
            </a:r>
            <a:endParaRPr kumimoji="1" lang="zh-CN" altLang="en-US" b="1" kern="1200" cap="none" spc="0" normalizeH="0" baseline="0" noProof="0" dirty="0">
              <a:solidFill>
                <a:srgbClr val="000000"/>
              </a:solidFill>
              <a:latin typeface="+mn-lt"/>
              <a:ea typeface="华文中宋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>
                                      <p:cBhvr>
                                        <p:cTn id="7" dur="1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6804" name="Rectangle 30"/>
          <p:cNvSpPr/>
          <p:nvPr/>
        </p:nvSpPr>
        <p:spPr>
          <a:xfrm>
            <a:off x="591790" y="44768"/>
            <a:ext cx="61404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: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Gram-Schimidt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正交化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之例</a:t>
            </a:r>
          </a:p>
        </p:txBody>
      </p:sp>
      <p:sp>
        <p:nvSpPr>
          <p:cNvPr id="76805" name="Rectangle 2"/>
          <p:cNvSpPr/>
          <p:nvPr/>
        </p:nvSpPr>
        <p:spPr>
          <a:xfrm>
            <a:off x="704528" y="951325"/>
            <a:ext cx="7362825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Clr>
                <a:srgbClr val="0000FF"/>
              </a:buClr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4.4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已知              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试求非零向量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使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楷体_GB2312" pitchFamily="49" charset="-122"/>
            </a:endParaRPr>
          </a:p>
        </p:txBody>
      </p:sp>
      <p:graphicFrame>
        <p:nvGraphicFramePr>
          <p:cNvPr id="7680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683472"/>
              </p:ext>
            </p:extLst>
          </p:nvPr>
        </p:nvGraphicFramePr>
        <p:xfrm>
          <a:off x="2623815" y="544925"/>
          <a:ext cx="1292225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7700" imgH="698500" progId="Equation.DSMT4">
                  <p:embed/>
                </p:oleObj>
              </mc:Choice>
              <mc:Fallback>
                <p:oleObj r:id="rId2" imgW="647700" imgH="6985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23815" y="544925"/>
                        <a:ext cx="1292225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704528" y="2718212"/>
            <a:ext cx="5472112" cy="630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40000"/>
              </a:lnSpc>
              <a:buClr>
                <a:srgbClr val="0000FF"/>
              </a:buClr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解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由题意知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3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满足方程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37828" y="4083462"/>
            <a:ext cx="4973637" cy="630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40000"/>
              </a:lnSpc>
              <a:buClr>
                <a:srgbClr val="0000FF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取该方程组的一个基础解系为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7476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156358"/>
              </p:ext>
            </p:extLst>
          </p:nvPr>
        </p:nvGraphicFramePr>
        <p:xfrm>
          <a:off x="5474965" y="2843625"/>
          <a:ext cx="11906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96900" imgH="241300" progId="Equation.DSMT4">
                  <p:embed/>
                </p:oleObj>
              </mc:Choice>
              <mc:Fallback>
                <p:oleObj r:id="rId4" imgW="596900" imgH="2413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74965" y="2843625"/>
                        <a:ext cx="119062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641778" y="2718212"/>
            <a:ext cx="720725" cy="630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40000"/>
              </a:lnSpc>
              <a:buClr>
                <a:srgbClr val="0000FF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即</a:t>
            </a:r>
          </a:p>
        </p:txBody>
      </p:sp>
      <p:graphicFrame>
        <p:nvGraphicFramePr>
          <p:cNvPr id="747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456390"/>
              </p:ext>
            </p:extLst>
          </p:nvPr>
        </p:nvGraphicFramePr>
        <p:xfrm>
          <a:off x="2923853" y="3556412"/>
          <a:ext cx="236537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43000" imgH="228600" progId="Equation.DSMT4">
                  <p:embed/>
                </p:oleObj>
              </mc:Choice>
              <mc:Fallback>
                <p:oleObj r:id="rId6" imgW="1143000" imgH="2286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23853" y="3556412"/>
                        <a:ext cx="2365375" cy="47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772751"/>
              </p:ext>
            </p:extLst>
          </p:nvPr>
        </p:nvGraphicFramePr>
        <p:xfrm>
          <a:off x="3069903" y="4940712"/>
          <a:ext cx="2405062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06500" imgH="698500" progId="Equation.DSMT4">
                  <p:embed/>
                </p:oleObj>
              </mc:Choice>
              <mc:Fallback>
                <p:oleObj r:id="rId8" imgW="1206500" imgH="6985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69903" y="4940712"/>
                        <a:ext cx="2405062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3" name="文本框 4"/>
          <p:cNvSpPr txBox="1"/>
          <p:nvPr/>
        </p:nvSpPr>
        <p:spPr>
          <a:xfrm>
            <a:off x="323528" y="1973675"/>
            <a:ext cx="46624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3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两两正交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.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2" grpId="0"/>
      <p:bldP spid="32" grpId="1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7828" name="Rectangle 30"/>
          <p:cNvSpPr/>
          <p:nvPr/>
        </p:nvSpPr>
        <p:spPr>
          <a:xfrm>
            <a:off x="807814" y="44768"/>
            <a:ext cx="61404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: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Gram-Schimidt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正交化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之例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755576" y="692696"/>
            <a:ext cx="1047750" cy="630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40000"/>
              </a:lnSpc>
              <a:buClr>
                <a:srgbClr val="0000FF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再把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807964" y="4620171"/>
            <a:ext cx="3671887" cy="628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40000"/>
              </a:lnSpc>
              <a:buClr>
                <a:srgbClr val="0000FF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则向量组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graphicFrame>
        <p:nvGraphicFramePr>
          <p:cNvPr id="7476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473028"/>
              </p:ext>
            </p:extLst>
          </p:nvPr>
        </p:nvGraphicFramePr>
        <p:xfrm>
          <a:off x="1636639" y="819696"/>
          <a:ext cx="6842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2900" imgH="228600" progId="Equation.DSMT4">
                  <p:embed/>
                </p:oleObj>
              </mc:Choice>
              <mc:Fallback>
                <p:oleObj r:id="rId2" imgW="342900" imgH="2286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36639" y="819696"/>
                        <a:ext cx="684212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8" name="文本框 10"/>
          <p:cNvSpPr txBox="1"/>
          <p:nvPr/>
        </p:nvSpPr>
        <p:spPr>
          <a:xfrm>
            <a:off x="2328789" y="754609"/>
            <a:ext cx="18097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正交化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74769" name="文本框 12"/>
          <p:cNvSpPr txBox="1"/>
          <p:nvPr/>
        </p:nvSpPr>
        <p:spPr>
          <a:xfrm>
            <a:off x="3662289" y="760959"/>
            <a:ext cx="33131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即为所求的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, 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graphicFrame>
        <p:nvGraphicFramePr>
          <p:cNvPr id="747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88614"/>
              </p:ext>
            </p:extLst>
          </p:nvPr>
        </p:nvGraphicFramePr>
        <p:xfrm>
          <a:off x="1225476" y="1545184"/>
          <a:ext cx="1824038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14400" imgH="698500" progId="Equation.DSMT4">
                  <p:embed/>
                </p:oleObj>
              </mc:Choice>
              <mc:Fallback>
                <p:oleObj r:id="rId4" imgW="914400" imgH="6985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25476" y="1545184"/>
                        <a:ext cx="1824038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932963"/>
              </p:ext>
            </p:extLst>
          </p:nvPr>
        </p:nvGraphicFramePr>
        <p:xfrm>
          <a:off x="1198489" y="3126334"/>
          <a:ext cx="245903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31265" imgH="444500" progId="Equation.DSMT4">
                  <p:embed/>
                </p:oleObj>
              </mc:Choice>
              <mc:Fallback>
                <p:oleObj r:id="rId6" imgW="1231265" imgH="4445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8489" y="3126334"/>
                        <a:ext cx="2459037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166859"/>
              </p:ext>
            </p:extLst>
          </p:nvPr>
        </p:nvGraphicFramePr>
        <p:xfrm>
          <a:off x="3657526" y="2892971"/>
          <a:ext cx="1773238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889000" imgH="698500" progId="Equation.DSMT4">
                  <p:embed/>
                </p:oleObj>
              </mc:Choice>
              <mc:Fallback>
                <p:oleObj r:id="rId8" imgW="889000" imgH="6985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57526" y="2892971"/>
                        <a:ext cx="1773238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001256"/>
              </p:ext>
            </p:extLst>
          </p:nvPr>
        </p:nvGraphicFramePr>
        <p:xfrm>
          <a:off x="5476801" y="2892971"/>
          <a:ext cx="1316038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60400" imgH="698500" progId="Equation.DSMT4">
                  <p:embed/>
                </p:oleObj>
              </mc:Choice>
              <mc:Fallback>
                <p:oleObj r:id="rId10" imgW="660400" imgH="6985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476801" y="2892971"/>
                        <a:ext cx="1316038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3681339" y="4726534"/>
            <a:ext cx="3556000" cy="522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是所求正交向量组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.</a:t>
            </a:r>
            <a:endParaRPr kumimoji="1" lang="zh-CN" altLang="en-US" b="1" kern="120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7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7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7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7" grpId="1"/>
      <p:bldP spid="41" grpId="0"/>
      <p:bldP spid="41" grpId="1"/>
      <p:bldP spid="74768" grpId="0"/>
      <p:bldP spid="74769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0">
            <a:hlinkClick r:id="" action="ppaction://noaction"/>
          </p:cNvPr>
          <p:cNvSpPr/>
          <p:nvPr/>
        </p:nvSpPr>
        <p:spPr>
          <a:xfrm>
            <a:off x="755576" y="475082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1116013" y="-4669"/>
            <a:ext cx="7461250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正交矩阵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的定义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203623" y="846086"/>
            <a:ext cx="5989638" cy="561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>
                <a:srgbClr val="00007D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定义</a:t>
            </a:r>
            <a:r>
              <a:rPr kumimoji="1" lang="en-IE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若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阶矩阵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满足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= I</a:t>
            </a:r>
            <a:r>
              <a:rPr kumimoji="0" lang="en-IE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36961" y="3198761"/>
            <a:ext cx="65436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注  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若矩阵 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 </a:t>
            </a:r>
            <a:r>
              <a:rPr kumimoji="0" lang="zh-CN" altLang="en-US" b="1" kern="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满足 </a:t>
            </a:r>
            <a:r>
              <a:rPr kumimoji="0" lang="en-US" altLang="zh-CN" b="1" i="1" kern="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b="1" kern="0" cap="none" spc="0" normalizeH="0" baseline="3000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b="1" i="1" kern="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b="1" kern="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= I</a:t>
            </a:r>
            <a:r>
              <a:rPr kumimoji="0" lang="en-IE" altLang="zh-CN" b="1" kern="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zh-CN" altLang="en-US" b="1" kern="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则 </a:t>
            </a:r>
            <a:r>
              <a:rPr kumimoji="0" lang="en-US" altLang="zh-CN" b="1" i="1" kern="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AA</a:t>
            </a:r>
            <a:r>
              <a:rPr kumimoji="0" lang="en-US" altLang="zh-CN" b="1" kern="0" cap="none" spc="0" normalizeH="0" baseline="3000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b="1" kern="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= I</a:t>
            </a:r>
            <a:endParaRPr kumimoji="0" lang="zh-CN" altLang="en-US" b="1" kern="0" cap="none" spc="0" normalizeH="0" baseline="0" noProof="0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916286" y="2168474"/>
            <a:ext cx="6864350" cy="561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>
                <a:srgbClr val="00007D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则称矩阵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正交矩阵</a:t>
            </a:r>
            <a:r>
              <a:rPr kumimoji="0" lang="en-IE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简称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正交阵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．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796011" y="1568399"/>
            <a:ext cx="20891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i="1" kern="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zh-CN" altLang="en-US" b="1" i="1" kern="0" cap="none" spc="0" normalizeH="0" baseline="30000" noProof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－</a:t>
            </a:r>
            <a:r>
              <a:rPr kumimoji="0" lang="en-US" altLang="zh-CN" b="1" kern="0" cap="none" spc="0" normalizeH="0" baseline="30000" noProof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kumimoji="0" lang="en-US" altLang="zh-CN" b="1" kern="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= </a:t>
            </a:r>
            <a:r>
              <a:rPr kumimoji="0" lang="en-US" altLang="zh-CN" b="1" i="1" kern="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b="1" kern="0" cap="none" spc="0" normalizeH="0" baseline="30000" noProof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IE" altLang="zh-CN" b="1" kern="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97986" y="884186"/>
            <a:ext cx="9604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即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16286" y="3929011"/>
            <a:ext cx="45720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必成立</a:t>
            </a:r>
            <a:r>
              <a:rPr kumimoji="0" lang="en-US" altLang="zh-CN" b="1" kern="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IE" altLang="zh-CN" b="1" kern="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5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930277" y="15969"/>
            <a:ext cx="7461250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正交矩阵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的性质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58827" y="1498129"/>
            <a:ext cx="1366838" cy="6619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整数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</a:t>
            </a:r>
            <a:endParaRPr kumimoji="0" lang="zh-CN" altLang="en-US" b="1" kern="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77927" y="764704"/>
            <a:ext cx="7213600" cy="6619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(1) 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若 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是正交阵</a:t>
            </a:r>
            <a:r>
              <a:rPr kumimoji="0" lang="en-IE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则</a:t>
            </a:r>
            <a:r>
              <a:rPr kumimoji="0" lang="zh-CN" altLang="en-US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–A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A</a:t>
            </a:r>
            <a:r>
              <a:rPr kumimoji="0" lang="en-US" altLang="zh-CN" b="1" kern="0" cap="none" spc="0" normalizeH="0" baseline="3000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, 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b="1" i="1" kern="0" cap="none" spc="0" normalizeH="0" baseline="3000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−</a:t>
            </a:r>
            <a:r>
              <a:rPr kumimoji="0" lang="en-US" altLang="zh-CN" b="1" kern="0" cap="none" spc="0" normalizeH="0" baseline="3000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b="1" i="1" kern="0" cap="none" spc="0" normalizeH="0" baseline="3000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k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1" lang="zh-CN" altLang="zh-CN" kern="1200" cap="none" spc="0" normalizeH="0" baseline="0" noProof="0" dirty="0"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k</a:t>
            </a:r>
            <a:r>
              <a:rPr kumimoji="0" lang="zh-CN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000252" y="1636241"/>
            <a:ext cx="28622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b="1" kern="0" cap="none" spc="0" normalizeH="0" baseline="3000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*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也是正交阵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77927" y="2290291"/>
            <a:ext cx="6348413" cy="6619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defRPr/>
            </a:pP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(2)  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若 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是正交阵</a:t>
            </a:r>
            <a:r>
              <a:rPr kumimoji="0" lang="en-IE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则 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|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| = 1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或 </a:t>
            </a:r>
            <a:r>
              <a:rPr lang="en-US" altLang="zh-CN" b="1" i="1" kern="0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–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1;</a:t>
            </a:r>
            <a:endParaRPr kumimoji="0" lang="zh-CN" altLang="en-US" b="1" kern="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204915" y="3152304"/>
            <a:ext cx="7186613" cy="6619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(3) 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若同阶矩阵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和 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B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是正交阵</a:t>
            </a:r>
            <a:r>
              <a:rPr kumimoji="0" lang="en-IE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endParaRPr kumimoji="0" lang="zh-CN" altLang="en-US" b="1" kern="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58827" y="3990504"/>
            <a:ext cx="2054225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是正交阵．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43836A-1DAD-590F-C9F3-F5E23304013E}"/>
              </a:ext>
            </a:extLst>
          </p:cNvPr>
          <p:cNvSpPr txBox="1"/>
          <p:nvPr/>
        </p:nvSpPr>
        <p:spPr>
          <a:xfrm>
            <a:off x="6290793" y="3291072"/>
            <a:ext cx="19979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则</a:t>
            </a:r>
            <a:r>
              <a:rPr kumimoji="0" lang="zh-CN" altLang="en-US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AB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也</a:t>
            </a:r>
            <a:endParaRPr lang="zh-CN" altLang="en-US" dirty="0"/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1" grpId="0"/>
      <p:bldP spid="23" grpId="0"/>
      <p:bldP spid="23" grpId="1"/>
      <p:bldP spid="32" grpId="0"/>
      <p:bldP spid="32" grpId="1"/>
      <p:bldP spid="39" grpId="0"/>
      <p:bldP spid="39" grpId="1"/>
      <p:bldP spid="46" grpId="0"/>
      <p:bldP spid="46" grpId="1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80900" name="Rectangle 30"/>
          <p:cNvSpPr/>
          <p:nvPr/>
        </p:nvSpPr>
        <p:spPr>
          <a:xfrm>
            <a:off x="1078706" y="17556"/>
            <a:ext cx="592137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正交矩阵的充要条件</a:t>
            </a:r>
          </a:p>
        </p:txBody>
      </p:sp>
      <p:sp>
        <p:nvSpPr>
          <p:cNvPr id="80901" name="AutoShape 27">
            <a:hlinkClick r:id="" action="ppaction://noaction"/>
          </p:cNvPr>
          <p:cNvSpPr/>
          <p:nvPr/>
        </p:nvSpPr>
        <p:spPr>
          <a:xfrm>
            <a:off x="3282156" y="858838"/>
            <a:ext cx="4267200" cy="457200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1078706" y="825500"/>
            <a:ext cx="17049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</a:rPr>
              <a:t>定理</a:t>
            </a:r>
            <a:r>
              <a:rPr kumimoji="1" lang="en-IE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  <a:ea typeface="华文中宋" pitchFamily="2" charset="-122"/>
              <a:cs typeface="+mn-cs"/>
            </a:endParaRPr>
          </a:p>
        </p:txBody>
      </p:sp>
      <p:sp>
        <p:nvSpPr>
          <p:cNvPr id="14" name="Rectangle 6"/>
          <p:cNvSpPr/>
          <p:nvPr/>
        </p:nvSpPr>
        <p:spPr>
          <a:xfrm>
            <a:off x="2493739" y="742430"/>
            <a:ext cx="5989637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4000"/>
              </a:lnSpc>
              <a:buClr>
                <a:srgbClr val="FF0000"/>
              </a:buClr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(1)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方阵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为正交阵的充分必要条件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5806" y="2293938"/>
            <a:ext cx="5638800" cy="457200"/>
          </a:xfrm>
          <a:prstGeom prst="rect">
            <a:avLst/>
          </a:prstGeom>
          <a:noFill/>
          <a:ln w="9525">
            <a:noFill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即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列向量组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构成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的规范正交基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． 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6" name="Rectangle 6"/>
          <p:cNvSpPr/>
          <p:nvPr/>
        </p:nvSpPr>
        <p:spPr>
          <a:xfrm>
            <a:off x="1078706" y="2971800"/>
            <a:ext cx="7134225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4000"/>
              </a:lnSpc>
              <a:buClr>
                <a:srgbClr val="FF0000"/>
              </a:buClr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(2)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方阵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为正交阵的充分必要条件是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17" name="Rectangle 14"/>
          <p:cNvSpPr/>
          <p:nvPr/>
        </p:nvSpPr>
        <p:spPr>
          <a:xfrm>
            <a:off x="6349206" y="3762375"/>
            <a:ext cx="1397000" cy="457200"/>
          </a:xfrm>
          <a:prstGeom prst="rect">
            <a:avLst/>
          </a:prstGeom>
          <a:noFill/>
          <a:ln w="9525">
            <a:noFill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即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5806" y="1503363"/>
            <a:ext cx="7335837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4000"/>
              </a:lnSpc>
              <a:spcBef>
                <a:spcPct val="0"/>
              </a:spcBef>
              <a:buClr>
                <a:srgbClr val="FF0000"/>
              </a:buClr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列向量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都是单位向量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且两两正交．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35806" y="3762375"/>
            <a:ext cx="62468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行向量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都是单位向量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且两两正交．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angle 14"/>
          <p:cNvSpPr/>
          <p:nvPr/>
        </p:nvSpPr>
        <p:spPr>
          <a:xfrm>
            <a:off x="710406" y="4519613"/>
            <a:ext cx="5638800" cy="457200"/>
          </a:xfrm>
          <a:prstGeom prst="rect">
            <a:avLst/>
          </a:prstGeom>
          <a:noFill/>
          <a:ln w="9525">
            <a:noFill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华文中宋" pitchFamily="2" charset="-122"/>
                <a:sym typeface="Times New Roman" panose="02020603050405020304" pitchFamily="18" charset="0"/>
              </a:rPr>
              <a:t>行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向量组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构成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的规范正交基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． 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3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bldLvl="0"/>
      <p:bldP spid="17" grpId="0" bldLvl="0"/>
      <p:bldP spid="6" grpId="0"/>
      <p:bldP spid="8" grpId="0"/>
      <p:bldP spid="9" grpId="0" bldLvl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81924" name="Rectangle 30"/>
          <p:cNvSpPr/>
          <p:nvPr/>
        </p:nvSpPr>
        <p:spPr>
          <a:xfrm>
            <a:off x="738857" y="44624"/>
            <a:ext cx="592137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正交矩阵的充要条件</a:t>
            </a: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1042095" y="620688"/>
            <a:ext cx="5349875" cy="561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>
                <a:srgbClr val="00007D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分析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设矩阵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正交矩阵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则</a:t>
            </a:r>
          </a:p>
        </p:txBody>
      </p:sp>
      <p:sp>
        <p:nvSpPr>
          <p:cNvPr id="20" name="Rectangle 10"/>
          <p:cNvSpPr/>
          <p:nvPr/>
        </p:nvSpPr>
        <p:spPr>
          <a:xfrm>
            <a:off x="6828533" y="1273151"/>
            <a:ext cx="144462" cy="3587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1" name="Rectangle 11"/>
          <p:cNvSpPr/>
          <p:nvPr/>
        </p:nvSpPr>
        <p:spPr>
          <a:xfrm>
            <a:off x="7217470" y="1704951"/>
            <a:ext cx="144463" cy="3587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2" name="Rectangle 12"/>
          <p:cNvSpPr/>
          <p:nvPr/>
        </p:nvSpPr>
        <p:spPr>
          <a:xfrm>
            <a:off x="8095358" y="2509813"/>
            <a:ext cx="144462" cy="3587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3588445" y="1273151"/>
            <a:ext cx="647700" cy="3603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4" name="Rectangle 8"/>
          <p:cNvSpPr/>
          <p:nvPr/>
        </p:nvSpPr>
        <p:spPr>
          <a:xfrm>
            <a:off x="4366320" y="1704951"/>
            <a:ext cx="647700" cy="3603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5" name="Rectangle 9"/>
          <p:cNvSpPr/>
          <p:nvPr/>
        </p:nvSpPr>
        <p:spPr>
          <a:xfrm>
            <a:off x="5647433" y="2509813"/>
            <a:ext cx="647700" cy="36036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251520" y="3240063"/>
            <a:ext cx="8229600" cy="2273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于是</a:t>
            </a:r>
          </a:p>
          <a:p>
            <a:pPr marL="342900" marR="0" lvl="0" indent="-34290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从而可得</a:t>
            </a:r>
          </a:p>
          <a:p>
            <a:pPr marL="0" marR="0" lvl="0" indent="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✲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方阵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为正交阵的充分必要条件是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列向量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都是单位向量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且两两正交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中宋" pitchFamily="2" charset="-122"/>
              <a:cs typeface="+mn-cs"/>
            </a:endParaRPr>
          </a:p>
        </p:txBody>
      </p:sp>
      <p:pic>
        <p:nvPicPr>
          <p:cNvPr id="27" name="Object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927" y="3100364"/>
            <a:ext cx="5884229" cy="99536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" name="Rectangle 14"/>
          <p:cNvSpPr/>
          <p:nvPr/>
        </p:nvSpPr>
        <p:spPr>
          <a:xfrm>
            <a:off x="4613970" y="4976788"/>
            <a:ext cx="3886200" cy="457200"/>
          </a:xfrm>
          <a:prstGeom prst="rect">
            <a:avLst/>
          </a:prstGeom>
          <a:noFill/>
          <a:ln w="9525">
            <a:noFill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即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列向量组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构成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pic>
        <p:nvPicPr>
          <p:cNvPr id="29" name="Objec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83" y="1225526"/>
            <a:ext cx="8118475" cy="1712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Rectangle 15"/>
          <p:cNvSpPr>
            <a:spLocks noChangeArrowheads="1"/>
          </p:cNvSpPr>
          <p:nvPr/>
        </p:nvSpPr>
        <p:spPr bwMode="auto">
          <a:xfrm>
            <a:off x="1773933" y="1849413"/>
            <a:ext cx="1512888" cy="43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1" name="Rectangle 16"/>
          <p:cNvSpPr>
            <a:spLocks noChangeArrowheads="1"/>
          </p:cNvSpPr>
          <p:nvPr/>
        </p:nvSpPr>
        <p:spPr bwMode="auto">
          <a:xfrm>
            <a:off x="1126233" y="1200126"/>
            <a:ext cx="647700" cy="17287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2" name="Rectangle 17"/>
          <p:cNvSpPr>
            <a:spLocks noChangeArrowheads="1"/>
          </p:cNvSpPr>
          <p:nvPr/>
        </p:nvSpPr>
        <p:spPr bwMode="auto">
          <a:xfrm>
            <a:off x="3286820" y="1171551"/>
            <a:ext cx="3384550" cy="18002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3" name="矩形 18"/>
          <p:cNvSpPr>
            <a:spLocks noChangeArrowheads="1"/>
          </p:cNvSpPr>
          <p:nvPr/>
        </p:nvSpPr>
        <p:spPr bwMode="auto">
          <a:xfrm>
            <a:off x="1773934" y="3395638"/>
            <a:ext cx="1179512" cy="428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4858" y="5546701"/>
            <a:ext cx="33369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的规范正交基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． 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wipe(lef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wipe(left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25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8" grpId="0" bldLvl="0"/>
      <p:bldP spid="30" grpId="0" bldLvl="0" animBg="1"/>
      <p:bldP spid="31" grpId="0" bldLvl="0" animBg="1"/>
      <p:bldP spid="32" grpId="0" bldLvl="0" animBg="1"/>
      <p:bldP spid="33" grpId="0" bldLvl="0" animBg="1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82948" name="Rectangle 30"/>
          <p:cNvSpPr/>
          <p:nvPr/>
        </p:nvSpPr>
        <p:spPr>
          <a:xfrm>
            <a:off x="641772" y="35939"/>
            <a:ext cx="592137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正交矩阵的充要条件</a:t>
            </a:r>
          </a:p>
        </p:txBody>
      </p:sp>
      <p:sp>
        <p:nvSpPr>
          <p:cNvPr id="20" name="Rectangle 10"/>
          <p:cNvSpPr/>
          <p:nvPr/>
        </p:nvSpPr>
        <p:spPr>
          <a:xfrm>
            <a:off x="6917433" y="1480145"/>
            <a:ext cx="144462" cy="3587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21" name="Rectangle 11"/>
          <p:cNvSpPr/>
          <p:nvPr/>
        </p:nvSpPr>
        <p:spPr>
          <a:xfrm>
            <a:off x="7320658" y="1883370"/>
            <a:ext cx="144462" cy="3587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22" name="Rectangle 12"/>
          <p:cNvSpPr/>
          <p:nvPr/>
        </p:nvSpPr>
        <p:spPr>
          <a:xfrm>
            <a:off x="8212833" y="2718395"/>
            <a:ext cx="144462" cy="3587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3" name="Rectangle 13"/>
          <p:cNvSpPr/>
          <p:nvPr/>
        </p:nvSpPr>
        <p:spPr>
          <a:xfrm>
            <a:off x="3763070" y="1480145"/>
            <a:ext cx="647700" cy="3603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24" name="Rectangle 14"/>
          <p:cNvSpPr/>
          <p:nvPr/>
        </p:nvSpPr>
        <p:spPr>
          <a:xfrm>
            <a:off x="4540945" y="1883370"/>
            <a:ext cx="647700" cy="3603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25" name="Rectangle 15"/>
          <p:cNvSpPr/>
          <p:nvPr/>
        </p:nvSpPr>
        <p:spPr>
          <a:xfrm>
            <a:off x="5822058" y="2718395"/>
            <a:ext cx="647700" cy="36036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Times New Roman" panose="02020603050405020304" pitchFamily="18" charset="0"/>
            </a:endParaRPr>
          </a:p>
        </p:txBody>
      </p:sp>
      <p:pic>
        <p:nvPicPr>
          <p:cNvPr id="26" name="Object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95" y="1437282"/>
            <a:ext cx="7981950" cy="1712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" name="Rectangle 16"/>
          <p:cNvSpPr>
            <a:spLocks noChangeArrowheads="1"/>
          </p:cNvSpPr>
          <p:nvPr/>
        </p:nvSpPr>
        <p:spPr bwMode="auto">
          <a:xfrm>
            <a:off x="1977133" y="2094507"/>
            <a:ext cx="1512888" cy="43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8" name="Rectangle 17"/>
          <p:cNvSpPr>
            <a:spLocks noChangeArrowheads="1"/>
          </p:cNvSpPr>
          <p:nvPr/>
        </p:nvSpPr>
        <p:spPr bwMode="auto">
          <a:xfrm>
            <a:off x="1329433" y="1445220"/>
            <a:ext cx="647700" cy="17287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3490020" y="1416645"/>
            <a:ext cx="3282950" cy="18002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0" name="Rectangle 7"/>
          <p:cNvSpPr/>
          <p:nvPr/>
        </p:nvSpPr>
        <p:spPr>
          <a:xfrm>
            <a:off x="445195" y="602257"/>
            <a:ext cx="60245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又因为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T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 = I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与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AA</a:t>
            </a:r>
            <a:r>
              <a:rPr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T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= I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等价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所以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pic>
        <p:nvPicPr>
          <p:cNvPr id="31" name="Object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008" y="3223220"/>
            <a:ext cx="4924425" cy="844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" name="Rectangle 8"/>
          <p:cNvSpPr/>
          <p:nvPr/>
        </p:nvSpPr>
        <p:spPr>
          <a:xfrm>
            <a:off x="251520" y="4544020"/>
            <a:ext cx="8362950" cy="1039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FF0000"/>
              </a:buClr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✲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方阵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为正交阵的充分必要条件是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行向量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0" lvl="0" indent="0" eaLnBrk="1" hangingPunct="1">
              <a:buClr>
                <a:srgbClr val="FF0000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都是单位向量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且两两正交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34" name="Rectangle 6"/>
          <p:cNvSpPr/>
          <p:nvPr/>
        </p:nvSpPr>
        <p:spPr>
          <a:xfrm>
            <a:off x="262633" y="3342282"/>
            <a:ext cx="8229600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ts val="4000"/>
              </a:lnSpc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于是</a:t>
            </a:r>
          </a:p>
          <a:p>
            <a:pPr marL="342900" lvl="0" indent="-342900" eaLnBrk="1" hangingPunct="1">
              <a:lnSpc>
                <a:spcPts val="4000"/>
              </a:lnSpc>
              <a:buClr>
                <a:srgbClr val="00007D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从而可得</a:t>
            </a:r>
          </a:p>
        </p:txBody>
      </p:sp>
      <p:sp>
        <p:nvSpPr>
          <p:cNvPr id="35" name="矩形 18"/>
          <p:cNvSpPr>
            <a:spLocks noChangeArrowheads="1"/>
          </p:cNvSpPr>
          <p:nvPr/>
        </p:nvSpPr>
        <p:spPr bwMode="auto">
          <a:xfrm>
            <a:off x="980183" y="5880695"/>
            <a:ext cx="1000125" cy="428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" name="Rectangle 14"/>
          <p:cNvSpPr/>
          <p:nvPr/>
        </p:nvSpPr>
        <p:spPr>
          <a:xfrm>
            <a:off x="4721920" y="5064720"/>
            <a:ext cx="3886200" cy="457200"/>
          </a:xfrm>
          <a:prstGeom prst="rect">
            <a:avLst/>
          </a:prstGeom>
          <a:noFill/>
          <a:ln w="9525">
            <a:noFill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即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行向量组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构成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633" y="5594945"/>
            <a:ext cx="33369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R</a:t>
            </a:r>
            <a:r>
              <a:rPr lang="en-US" altLang="zh-CN" sz="28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的规范正交基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． 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>
                                      <p:cBhvr>
                                        <p:cTn id="12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wipe(lef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wipe(left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25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25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25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25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25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1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25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7" grpId="0" bldLvl="0" animBg="1"/>
      <p:bldP spid="28" grpId="0" bldLvl="0" animBg="1"/>
      <p:bldP spid="29" grpId="0" bldLvl="0" animBg="1"/>
      <p:bldP spid="30" grpId="0"/>
      <p:bldP spid="35" grpId="0" bldLvl="0" animBg="1"/>
      <p:bldP spid="2" grpId="0" bldLvl="0"/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1323065" y="12887"/>
            <a:ext cx="4700588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正交变换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的定义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146424" y="598785"/>
            <a:ext cx="7165975" cy="661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定义</a:t>
            </a:r>
            <a:r>
              <a:rPr kumimoji="1" lang="en-IE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若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是正交阵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则线性变换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=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Px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11" name="Object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36" y="2833985"/>
            <a:ext cx="6929438" cy="55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1057524" y="3554710"/>
            <a:ext cx="6357938" cy="661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这说明正交变换保持向量的长度不变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662236" y="4207172"/>
            <a:ext cx="4884738" cy="661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这就是正交变换的优良之处．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746374" y="1276647"/>
            <a:ext cx="3511550" cy="661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称为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正交变换．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395536" y="1881485"/>
            <a:ext cx="2281238" cy="661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由于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19" grpId="0"/>
      <p:bldP spid="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84996" name="Rectangle 30"/>
          <p:cNvSpPr/>
          <p:nvPr/>
        </p:nvSpPr>
        <p:spPr>
          <a:xfrm>
            <a:off x="1342989" y="12700"/>
            <a:ext cx="592137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实践问题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内积的应用</a:t>
            </a:r>
          </a:p>
        </p:txBody>
      </p:sp>
      <p:sp>
        <p:nvSpPr>
          <p:cNvPr id="84997" name="Rectangle 2"/>
          <p:cNvSpPr/>
          <p:nvPr/>
        </p:nvSpPr>
        <p:spPr>
          <a:xfrm>
            <a:off x="788219" y="764704"/>
            <a:ext cx="758190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Clr>
                <a:srgbClr val="0000FF"/>
              </a:buClr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补例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小明一周购买的食物的价格向量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p=</a:t>
            </a:r>
            <a:endParaRPr lang="zh-CN" altLang="en-US" sz="2800" b="1" i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4621324"/>
              </p:ext>
            </p:extLst>
          </p:nvPr>
        </p:nvGraphicFramePr>
        <p:xfrm>
          <a:off x="1784946" y="4369917"/>
          <a:ext cx="94138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31800" imgH="203200" progId="Equation.DSMT4">
                  <p:embed/>
                </p:oleObj>
              </mc:Choice>
              <mc:Fallback>
                <p:oleObj r:id="rId2" imgW="431800" imgH="2032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84946" y="4369917"/>
                        <a:ext cx="941388" cy="43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097778"/>
              </p:ext>
            </p:extLst>
          </p:nvPr>
        </p:nvGraphicFramePr>
        <p:xfrm>
          <a:off x="2848683" y="4346104"/>
          <a:ext cx="33020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74800" imgH="203200" progId="Equation.DSMT4">
                  <p:embed/>
                </p:oleObj>
              </mc:Choice>
              <mc:Fallback>
                <p:oleObj r:id="rId4" imgW="1574800" imgH="2032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8683" y="4346104"/>
                        <a:ext cx="3302000" cy="43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903032"/>
              </p:ext>
            </p:extLst>
          </p:nvPr>
        </p:nvGraphicFramePr>
        <p:xfrm>
          <a:off x="2414613" y="4849341"/>
          <a:ext cx="35433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88465" imgH="177800" progId="Equation.DSMT4">
                  <p:embed/>
                </p:oleObj>
              </mc:Choice>
              <mc:Fallback>
                <p:oleObj r:id="rId6" imgW="1688465" imgH="1778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14613" y="4849341"/>
                        <a:ext cx="3543300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848544" y="3568229"/>
            <a:ext cx="598805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Clr>
                <a:srgbClr val="0000FF"/>
              </a:buClr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解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 显然小明一周的饮食消费为</a:t>
            </a:r>
          </a:p>
        </p:txBody>
      </p:sp>
      <p:sp>
        <p:nvSpPr>
          <p:cNvPr id="85002" name="文本框 12"/>
          <p:cNvSpPr txBox="1"/>
          <p:nvPr/>
        </p:nvSpPr>
        <p:spPr>
          <a:xfrm>
            <a:off x="467544" y="2726854"/>
            <a:ext cx="5710238" cy="596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0000FF"/>
              </a:buClr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瓶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),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求小明一周的饮食消费为多少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?</a:t>
            </a:r>
          </a:p>
        </p:txBody>
      </p:sp>
      <p:sp>
        <p:nvSpPr>
          <p:cNvPr id="85003" name="文本框 14"/>
          <p:cNvSpPr txBox="1"/>
          <p:nvPr/>
        </p:nvSpPr>
        <p:spPr>
          <a:xfrm>
            <a:off x="467544" y="2095029"/>
            <a:ext cx="7437438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FF"/>
              </a:buClr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瓶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),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消耗的数量向量为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d=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(4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斤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 5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斤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2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斤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</a:p>
        </p:txBody>
      </p:sp>
      <p:sp>
        <p:nvSpPr>
          <p:cNvPr id="85004" name="文本框 16"/>
          <p:cNvSpPr txBox="1"/>
          <p:nvPr/>
        </p:nvSpPr>
        <p:spPr>
          <a:xfrm>
            <a:off x="467544" y="1415579"/>
            <a:ext cx="758190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buClr>
                <a:srgbClr val="0000FF"/>
              </a:buClr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蔬菜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3.5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斤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大米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2.5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斤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牛肉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45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斤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啤酒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86020" name="Rectangle 30"/>
          <p:cNvSpPr/>
          <p:nvPr/>
        </p:nvSpPr>
        <p:spPr>
          <a:xfrm>
            <a:off x="323533" y="44768"/>
            <a:ext cx="592137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实践问题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内积的应用</a:t>
            </a:r>
          </a:p>
        </p:txBody>
      </p:sp>
      <p:sp>
        <p:nvSpPr>
          <p:cNvPr id="26" name="Text Box 103"/>
          <p:cNvSpPr txBox="1"/>
          <p:nvPr/>
        </p:nvSpPr>
        <p:spPr>
          <a:xfrm>
            <a:off x="6324600" y="1103313"/>
            <a:ext cx="23622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沿与力夹角</a:t>
            </a:r>
          </a:p>
        </p:txBody>
      </p:sp>
      <p:sp>
        <p:nvSpPr>
          <p:cNvPr id="27" name="Text Box 105"/>
          <p:cNvSpPr txBox="1"/>
          <p:nvPr/>
        </p:nvSpPr>
        <p:spPr>
          <a:xfrm>
            <a:off x="695325" y="1835150"/>
            <a:ext cx="30480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为 </a:t>
            </a:r>
            <a:r>
              <a:rPr lang="el-G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θ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的直线移动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28" name="Text Box 107"/>
          <p:cNvSpPr txBox="1">
            <a:spLocks noChangeArrowheads="1"/>
          </p:cNvSpPr>
          <p:nvPr/>
        </p:nvSpPr>
        <p:spPr bwMode="auto">
          <a:xfrm>
            <a:off x="1116013" y="1103313"/>
            <a:ext cx="5773738" cy="5238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补例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设一物体在常力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F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作用下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 </a:t>
            </a:r>
          </a:p>
        </p:txBody>
      </p:sp>
      <p:sp>
        <p:nvSpPr>
          <p:cNvPr id="29" name="Text Box 110"/>
          <p:cNvSpPr txBox="1"/>
          <p:nvPr/>
        </p:nvSpPr>
        <p:spPr>
          <a:xfrm>
            <a:off x="3467100" y="1851025"/>
            <a:ext cx="17526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位移为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,</a:t>
            </a:r>
          </a:p>
        </p:txBody>
      </p:sp>
      <p:sp>
        <p:nvSpPr>
          <p:cNvPr id="30" name="Text Box 113"/>
          <p:cNvSpPr txBox="1"/>
          <p:nvPr/>
        </p:nvSpPr>
        <p:spPr>
          <a:xfrm>
            <a:off x="5060950" y="1843088"/>
            <a:ext cx="3048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则力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所做的功为</a:t>
            </a:r>
          </a:p>
        </p:txBody>
      </p:sp>
      <p:grpSp>
        <p:nvGrpSpPr>
          <p:cNvPr id="32" name="Group 116"/>
          <p:cNvGrpSpPr/>
          <p:nvPr/>
        </p:nvGrpSpPr>
        <p:grpSpPr>
          <a:xfrm>
            <a:off x="5289550" y="3341688"/>
            <a:ext cx="609600" cy="914400"/>
            <a:chOff x="3600" y="2448"/>
            <a:chExt cx="384" cy="576"/>
          </a:xfrm>
        </p:grpSpPr>
        <p:sp>
          <p:nvSpPr>
            <p:cNvPr id="33" name="Rectangle 117"/>
            <p:cNvSpPr>
              <a:spLocks noChangeArrowheads="1"/>
            </p:cNvSpPr>
            <p:nvPr/>
          </p:nvSpPr>
          <p:spPr bwMode="auto">
            <a:xfrm>
              <a:off x="3600" y="2448"/>
              <a:ext cx="384" cy="288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34" name="Line 118"/>
            <p:cNvSpPr>
              <a:spLocks noChangeShapeType="1"/>
            </p:cNvSpPr>
            <p:nvPr/>
          </p:nvSpPr>
          <p:spPr bwMode="auto">
            <a:xfrm>
              <a:off x="3792" y="2688"/>
              <a:ext cx="0" cy="48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6041" name="Object 119"/>
            <p:cNvGraphicFramePr>
              <a:graphicFrameLocks noChangeAspect="1"/>
            </p:cNvGraphicFramePr>
            <p:nvPr/>
          </p:nvGraphicFramePr>
          <p:xfrm>
            <a:off x="3678" y="2744"/>
            <a:ext cx="306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10515" imgH="277495" progId="Equation.3">
                    <p:embed/>
                  </p:oleObj>
                </mc:Choice>
                <mc:Fallback>
                  <p:oleObj r:id="rId2" imgW="310515" imgH="277495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78" y="2744"/>
                          <a:ext cx="306" cy="280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rgbClr val="FFFFFF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Line 120"/>
          <p:cNvSpPr>
            <a:spLocks noChangeShapeType="1"/>
          </p:cNvSpPr>
          <p:nvPr/>
        </p:nvSpPr>
        <p:spPr bwMode="auto">
          <a:xfrm flipV="1">
            <a:off x="5594350" y="2960688"/>
            <a:ext cx="9906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Line 121"/>
          <p:cNvSpPr>
            <a:spLocks noChangeShapeType="1"/>
          </p:cNvSpPr>
          <p:nvPr/>
        </p:nvSpPr>
        <p:spPr bwMode="auto">
          <a:xfrm>
            <a:off x="5594350" y="3798888"/>
            <a:ext cx="2286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Arc 122"/>
          <p:cNvSpPr/>
          <p:nvPr/>
        </p:nvSpPr>
        <p:spPr bwMode="auto">
          <a:xfrm>
            <a:off x="5365750" y="3344863"/>
            <a:ext cx="730250" cy="454025"/>
          </a:xfrm>
          <a:custGeom>
            <a:avLst/>
            <a:gdLst>
              <a:gd name="T0" fmla="*/ 2147483646 w 21600"/>
              <a:gd name="T1" fmla="*/ 0 h 13462"/>
              <a:gd name="T2" fmla="*/ 2147483646 w 21600"/>
              <a:gd name="T3" fmla="*/ 2147483646 h 13462"/>
              <a:gd name="T4" fmla="*/ 0 w 21600"/>
              <a:gd name="T5" fmla="*/ 2147483646 h 1346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3462" fill="none" extrusionOk="0">
                <a:moveTo>
                  <a:pt x="16891" y="0"/>
                </a:moveTo>
                <a:cubicBezTo>
                  <a:pt x="19940" y="3824"/>
                  <a:pt x="21600" y="8571"/>
                  <a:pt x="21600" y="13462"/>
                </a:cubicBezTo>
              </a:path>
              <a:path w="21600" h="13462" stroke="0" extrusionOk="0">
                <a:moveTo>
                  <a:pt x="16891" y="0"/>
                </a:moveTo>
                <a:cubicBezTo>
                  <a:pt x="19940" y="3824"/>
                  <a:pt x="21600" y="8571"/>
                  <a:pt x="21600" y="13462"/>
                </a:cubicBezTo>
                <a:lnTo>
                  <a:pt x="0" y="13462"/>
                </a:lnTo>
                <a:lnTo>
                  <a:pt x="16891" y="0"/>
                </a:lnTo>
                <a:close/>
              </a:path>
            </a:pathLst>
          </a:custGeom>
          <a:noFill/>
          <a:ln w="28575">
            <a:solidFill>
              <a:srgbClr val="3333CC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9" name="Object 123"/>
          <p:cNvGraphicFramePr>
            <a:graphicFrameLocks noChangeAspect="1"/>
          </p:cNvGraphicFramePr>
          <p:nvPr/>
        </p:nvGraphicFramePr>
        <p:xfrm>
          <a:off x="6173788" y="3405188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7790" imgH="163195" progId="Equation.3">
                  <p:embed/>
                </p:oleObj>
              </mc:Choice>
              <mc:Fallback>
                <p:oleObj r:id="rId4" imgW="97790" imgH="163195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73788" y="3405188"/>
                        <a:ext cx="241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25"/>
          <p:cNvGraphicFramePr>
            <a:graphicFrameLocks noChangeAspect="1"/>
          </p:cNvGraphicFramePr>
          <p:nvPr/>
        </p:nvGraphicFramePr>
        <p:xfrm>
          <a:off x="6584950" y="2808288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4940" imgH="154940" progId="Equation.3">
                  <p:embed/>
                </p:oleObj>
              </mc:Choice>
              <mc:Fallback>
                <p:oleObj r:id="rId6" imgW="154940" imgH="15494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84950" y="2808288"/>
                        <a:ext cx="3048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Group 127"/>
          <p:cNvGrpSpPr/>
          <p:nvPr/>
        </p:nvGrpSpPr>
        <p:grpSpPr>
          <a:xfrm>
            <a:off x="7575550" y="3341688"/>
            <a:ext cx="685800" cy="914400"/>
            <a:chOff x="5040" y="2448"/>
            <a:chExt cx="432" cy="576"/>
          </a:xfrm>
        </p:grpSpPr>
        <p:sp>
          <p:nvSpPr>
            <p:cNvPr id="42" name="Rectangle 128"/>
            <p:cNvSpPr>
              <a:spLocks noChangeArrowheads="1"/>
            </p:cNvSpPr>
            <p:nvPr/>
          </p:nvSpPr>
          <p:spPr bwMode="auto">
            <a:xfrm>
              <a:off x="5040" y="2448"/>
              <a:ext cx="384" cy="288"/>
            </a:xfrm>
            <a:prstGeom prst="rect">
              <a:avLst/>
            </a:prstGeom>
            <a:solidFill>
              <a:srgbClr val="666699">
                <a:alpha val="50195"/>
              </a:srgbClr>
            </a:solidFill>
            <a:ln w="9525">
              <a:solidFill>
                <a:srgbClr val="000000"/>
              </a:solidFill>
              <a:prstDash val="dash"/>
              <a:miter lim="800000"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86036" name="Group 129"/>
            <p:cNvGrpSpPr/>
            <p:nvPr/>
          </p:nvGrpSpPr>
          <p:grpSpPr>
            <a:xfrm>
              <a:off x="5146" y="2688"/>
              <a:ext cx="326" cy="336"/>
              <a:chOff x="5146" y="2688"/>
              <a:chExt cx="326" cy="336"/>
            </a:xfrm>
          </p:grpSpPr>
          <p:sp>
            <p:nvSpPr>
              <p:cNvPr id="44" name="Line 130"/>
              <p:cNvSpPr>
                <a:spLocks noChangeShapeType="1"/>
              </p:cNvSpPr>
              <p:nvPr/>
            </p:nvSpPr>
            <p:spPr bwMode="auto">
              <a:xfrm>
                <a:off x="5243" y="2688"/>
                <a:ext cx="0" cy="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86038" name="Object 131"/>
              <p:cNvGraphicFramePr>
                <a:graphicFrameLocks noChangeAspect="1"/>
              </p:cNvGraphicFramePr>
              <p:nvPr/>
            </p:nvGraphicFramePr>
            <p:xfrm>
              <a:off x="5146" y="2746"/>
              <a:ext cx="326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342900" imgH="277495" progId="Equation.3">
                      <p:embed/>
                    </p:oleObj>
                  </mc:Choice>
                  <mc:Fallback>
                    <p:oleObj r:id="rId8" imgW="342900" imgH="277495" progId="Equation.3">
                      <p:embed/>
                      <p:pic>
                        <p:nvPicPr>
                          <p:cNvPr id="0" name="图片 3122"/>
                          <p:cNvPicPr/>
                          <p:nvPr/>
                        </p:nvPicPr>
                        <p:blipFill>
                          <a:blip r:embed="rId9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146" y="2746"/>
                            <a:ext cx="326" cy="27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46" name="Object 133"/>
          <p:cNvGraphicFramePr>
            <a:graphicFrameLocks noChangeAspect="1"/>
          </p:cNvGraphicFramePr>
          <p:nvPr/>
        </p:nvGraphicFramePr>
        <p:xfrm>
          <a:off x="6673850" y="3938588"/>
          <a:ext cx="21590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7150" imgH="97790" progId="Equation.3">
                  <p:embed/>
                </p:oleObj>
              </mc:Choice>
              <mc:Fallback>
                <p:oleObj r:id="rId10" imgW="57150" imgH="9779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73850" y="3938588"/>
                        <a:ext cx="215900" cy="274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277937"/>
              </p:ext>
            </p:extLst>
          </p:nvPr>
        </p:nvGraphicFramePr>
        <p:xfrm>
          <a:off x="2392362" y="3381375"/>
          <a:ext cx="214947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806700" imgH="546100" progId="Equation.DSMT4">
                  <p:embed/>
                </p:oleObj>
              </mc:Choice>
              <mc:Fallback>
                <p:oleObj r:id="rId12" imgW="2806700" imgH="5461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92362" y="3381375"/>
                        <a:ext cx="2149475" cy="417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87044" name="Rectangle 30"/>
          <p:cNvSpPr/>
          <p:nvPr/>
        </p:nvSpPr>
        <p:spPr>
          <a:xfrm>
            <a:off x="971600" y="52387"/>
            <a:ext cx="592137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内积的应用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71600" y="764704"/>
            <a:ext cx="67468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问题</a:t>
            </a:r>
            <a:r>
              <a:rPr kumimoji="1" lang="en-US" altLang="zh-CN" b="1" kern="1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 两向量的内积值的大小与它们的方</a:t>
            </a:r>
            <a:endParaRPr kumimoji="1" lang="en-US" altLang="zh-CN" b="1" kern="10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107"/>
          <p:cNvSpPr txBox="1">
            <a:spLocks noChangeArrowheads="1"/>
          </p:cNvSpPr>
          <p:nvPr/>
        </p:nvSpPr>
        <p:spPr bwMode="auto">
          <a:xfrm>
            <a:off x="622350" y="2149004"/>
            <a:ext cx="6829425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答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由两向量的夹角定义可知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内积值越大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22350" y="1426691"/>
            <a:ext cx="394970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向是否有内在联系</a:t>
            </a:r>
            <a:r>
              <a:rPr kumimoji="1" lang="en-US" altLang="zh-CN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b="1" kern="10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103"/>
          <p:cNvSpPr txBox="1">
            <a:spLocks noChangeArrowheads="1"/>
          </p:cNvSpPr>
          <p:nvPr/>
        </p:nvSpPr>
        <p:spPr bwMode="auto">
          <a:xfrm>
            <a:off x="622350" y="2817341"/>
            <a:ext cx="5241925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两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个向量在方向上的就越接近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103"/>
          <p:cNvSpPr txBox="1"/>
          <p:nvPr/>
        </p:nvSpPr>
        <p:spPr>
          <a:xfrm>
            <a:off x="622350" y="3533304"/>
            <a:ext cx="457200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两向量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在方向上的就越相反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.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87050" name="文本框 5"/>
          <p:cNvSpPr txBox="1"/>
          <p:nvPr/>
        </p:nvSpPr>
        <p:spPr>
          <a:xfrm>
            <a:off x="3787825" y="2722091"/>
            <a:ext cx="557212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19787" y="2817341"/>
            <a:ext cx="2452688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内积值越小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  <p:bldP spid="21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  <a:cs typeface="Times New Roman" panose="02020603050405020304" pitchFamily="18" charset="0"/>
            </a:endParaRPr>
          </a:p>
        </p:txBody>
      </p:sp>
      <p:sp>
        <p:nvSpPr>
          <p:cNvPr id="88068" name="Rectangle 30"/>
          <p:cNvSpPr/>
          <p:nvPr/>
        </p:nvSpPr>
        <p:spPr>
          <a:xfrm>
            <a:off x="71637" y="-15453"/>
            <a:ext cx="6789737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en-IE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Schimidt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正交化过程中的正交性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50577" y="655956"/>
            <a:ext cx="746918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问题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Schimidt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正交化过程中为什么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···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,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64814" y="1132206"/>
            <a:ext cx="387508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b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是两两正交的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?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68027" y="1606869"/>
            <a:ext cx="7235825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答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由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Schimidt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正交化过程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设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···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n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是</a:t>
            </a:r>
          </a:p>
        </p:txBody>
      </p:sp>
      <p:sp>
        <p:nvSpPr>
          <p:cNvPr id="7" name="AutoShape 67"/>
          <p:cNvSpPr/>
          <p:nvPr/>
        </p:nvSpPr>
        <p:spPr>
          <a:xfrm>
            <a:off x="3995936" y="4365005"/>
            <a:ext cx="5086350" cy="1944687"/>
          </a:xfrm>
          <a:prstGeom prst="parallelogram">
            <a:avLst>
              <a:gd name="adj" fmla="val 55663"/>
            </a:avLst>
          </a:prstGeom>
          <a:solidFill>
            <a:schemeClr val="bg1"/>
          </a:solidFill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Times New Roman" panose="02020603050405020304" pitchFamily="18" charset="0"/>
            </a:endParaRPr>
          </a:p>
        </p:txBody>
      </p:sp>
      <p:pic>
        <p:nvPicPr>
          <p:cNvPr id="8" name="Object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584450"/>
            <a:ext cx="889000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Line 36"/>
          <p:cNvSpPr/>
          <p:nvPr/>
        </p:nvSpPr>
        <p:spPr>
          <a:xfrm>
            <a:off x="5781874" y="5660405"/>
            <a:ext cx="2159000" cy="1587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0" name="AutoShape 37"/>
          <p:cNvCxnSpPr/>
          <p:nvPr/>
        </p:nvCxnSpPr>
        <p:spPr>
          <a:xfrm>
            <a:off x="6285111" y="4750767"/>
            <a:ext cx="1655763" cy="9239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cxnSp>
      <p:sp>
        <p:nvSpPr>
          <p:cNvPr id="11" name="Line 38"/>
          <p:cNvSpPr>
            <a:spLocks noChangeAspect="1"/>
          </p:cNvSpPr>
          <p:nvPr/>
        </p:nvSpPr>
        <p:spPr>
          <a:xfrm flipH="1">
            <a:off x="5453261" y="4765055"/>
            <a:ext cx="831850" cy="14430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2" name="AutoShape 39"/>
          <p:cNvCxnSpPr/>
          <p:nvPr/>
        </p:nvCxnSpPr>
        <p:spPr>
          <a:xfrm flipH="1">
            <a:off x="7940874" y="4779342"/>
            <a:ext cx="503237" cy="89535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13" name="Line 40"/>
          <p:cNvSpPr/>
          <p:nvPr/>
        </p:nvSpPr>
        <p:spPr>
          <a:xfrm>
            <a:off x="5205611" y="4765055"/>
            <a:ext cx="1079500" cy="1587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stealth" w="lg" len="lg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Line 41"/>
          <p:cNvSpPr/>
          <p:nvPr/>
        </p:nvSpPr>
        <p:spPr>
          <a:xfrm>
            <a:off x="4788099" y="5484192"/>
            <a:ext cx="10795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5" name="AutoShape 42"/>
          <p:cNvCxnSpPr>
            <a:stCxn id="13" idx="1"/>
            <a:endCxn id="14" idx="0"/>
          </p:cNvCxnSpPr>
          <p:nvPr/>
        </p:nvCxnSpPr>
        <p:spPr>
          <a:xfrm flipH="1">
            <a:off x="4788099" y="4779342"/>
            <a:ext cx="1497012" cy="690563"/>
          </a:xfrm>
          <a:prstGeom prst="straightConnector1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stealth" w="lg" len="lg"/>
          </a:ln>
        </p:spPr>
      </p:cxnSp>
      <p:cxnSp>
        <p:nvCxnSpPr>
          <p:cNvPr id="16" name="AutoShape 43"/>
          <p:cNvCxnSpPr>
            <a:stCxn id="13" idx="0"/>
            <a:endCxn id="14" idx="0"/>
          </p:cNvCxnSpPr>
          <p:nvPr/>
        </p:nvCxnSpPr>
        <p:spPr>
          <a:xfrm flipH="1">
            <a:off x="4788099" y="4750767"/>
            <a:ext cx="417512" cy="719138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17" name="Line 44"/>
          <p:cNvSpPr/>
          <p:nvPr/>
        </p:nvSpPr>
        <p:spPr>
          <a:xfrm flipV="1">
            <a:off x="4788099" y="3315667"/>
            <a:ext cx="1587" cy="2159000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8" name="AutoShape 45"/>
          <p:cNvCxnSpPr>
            <a:stCxn id="27" idx="0"/>
            <a:endCxn id="17" idx="1"/>
          </p:cNvCxnSpPr>
          <p:nvPr/>
        </p:nvCxnSpPr>
        <p:spPr>
          <a:xfrm flipH="1" flipV="1">
            <a:off x="4788099" y="3301380"/>
            <a:ext cx="1498600" cy="1449387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cxnSp>
      <p:sp>
        <p:nvSpPr>
          <p:cNvPr id="19" name="Text Box 46"/>
          <p:cNvSpPr/>
          <p:nvPr/>
        </p:nvSpPr>
        <p:spPr>
          <a:xfrm>
            <a:off x="5054799" y="5876305"/>
            <a:ext cx="43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1</a:t>
            </a:r>
            <a:endParaRPr lang="en-US" altLang="zh-CN" sz="2800" dirty="0"/>
          </a:p>
        </p:txBody>
      </p:sp>
      <p:sp>
        <p:nvSpPr>
          <p:cNvPr id="20" name="Text Box 47"/>
          <p:cNvSpPr/>
          <p:nvPr/>
        </p:nvSpPr>
        <p:spPr>
          <a:xfrm>
            <a:off x="5637411" y="5876305"/>
            <a:ext cx="43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1</a:t>
            </a:r>
            <a:endParaRPr lang="en-US" altLang="zh-CN" sz="2800" dirty="0"/>
          </a:p>
        </p:txBody>
      </p:sp>
      <p:sp>
        <p:nvSpPr>
          <p:cNvPr id="21" name="Text Box 48"/>
          <p:cNvSpPr/>
          <p:nvPr/>
        </p:nvSpPr>
        <p:spPr>
          <a:xfrm>
            <a:off x="7724974" y="5588967"/>
            <a:ext cx="43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2</a:t>
            </a:r>
            <a:endParaRPr lang="en-US" altLang="zh-CN" sz="2800" dirty="0"/>
          </a:p>
        </p:txBody>
      </p:sp>
      <p:sp>
        <p:nvSpPr>
          <p:cNvPr id="22" name="Text Box 49"/>
          <p:cNvSpPr/>
          <p:nvPr/>
        </p:nvSpPr>
        <p:spPr>
          <a:xfrm>
            <a:off x="4407099" y="2899742"/>
            <a:ext cx="43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3</a:t>
            </a:r>
            <a:endParaRPr lang="en-US" altLang="zh-CN" sz="2800" dirty="0"/>
          </a:p>
        </p:txBody>
      </p:sp>
      <p:cxnSp>
        <p:nvCxnSpPr>
          <p:cNvPr id="23" name="AutoShape 50"/>
          <p:cNvCxnSpPr/>
          <p:nvPr/>
        </p:nvCxnSpPr>
        <p:spPr>
          <a:xfrm flipV="1">
            <a:off x="5781874" y="4750767"/>
            <a:ext cx="503237" cy="895350"/>
          </a:xfrm>
          <a:prstGeom prst="straightConnector1">
            <a:avLst/>
          </a:prstGeom>
          <a:ln w="28575" cap="flat" cmpd="sng">
            <a:solidFill>
              <a:srgbClr val="0000FF"/>
            </a:solidFill>
            <a:prstDash val="solid"/>
            <a:headEnd type="stealth" w="lg" len="lg"/>
            <a:tailEnd type="none" w="med" len="med"/>
          </a:ln>
        </p:spPr>
      </p:cxnSp>
      <p:sp>
        <p:nvSpPr>
          <p:cNvPr id="24" name="Text Box 51"/>
          <p:cNvSpPr/>
          <p:nvPr/>
        </p:nvSpPr>
        <p:spPr>
          <a:xfrm>
            <a:off x="5277049" y="5419105"/>
            <a:ext cx="4206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2</a:t>
            </a:r>
            <a:endParaRPr lang="en-US" altLang="zh-CN" sz="2800" dirty="0"/>
          </a:p>
        </p:txBody>
      </p:sp>
      <p:sp>
        <p:nvSpPr>
          <p:cNvPr id="25" name="Text Box 52"/>
          <p:cNvSpPr/>
          <p:nvPr/>
        </p:nvSpPr>
        <p:spPr>
          <a:xfrm>
            <a:off x="8294886" y="4291980"/>
            <a:ext cx="43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2</a:t>
            </a:r>
            <a:endParaRPr lang="en-US" altLang="zh-CN" sz="2800" dirty="0"/>
          </a:p>
        </p:txBody>
      </p:sp>
      <p:sp>
        <p:nvSpPr>
          <p:cNvPr id="26" name="Text Box 53"/>
          <p:cNvSpPr/>
          <p:nvPr/>
        </p:nvSpPr>
        <p:spPr>
          <a:xfrm>
            <a:off x="4569024" y="5419105"/>
            <a:ext cx="4206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3</a:t>
            </a:r>
            <a:endParaRPr lang="en-US" altLang="zh-CN" sz="2800" dirty="0"/>
          </a:p>
        </p:txBody>
      </p:sp>
      <p:sp>
        <p:nvSpPr>
          <p:cNvPr id="27" name="Line 54"/>
          <p:cNvSpPr>
            <a:spLocks noChangeAspect="1"/>
          </p:cNvSpPr>
          <p:nvPr/>
        </p:nvSpPr>
        <p:spPr>
          <a:xfrm flipH="1">
            <a:off x="5870774" y="4765055"/>
            <a:ext cx="414337" cy="719137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Box 55"/>
          <p:cNvSpPr/>
          <p:nvPr/>
        </p:nvSpPr>
        <p:spPr>
          <a:xfrm>
            <a:off x="6083499" y="4869830"/>
            <a:ext cx="5222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31</a:t>
            </a:r>
            <a:endParaRPr lang="en-US" altLang="zh-CN" sz="2800" dirty="0"/>
          </a:p>
        </p:txBody>
      </p:sp>
      <p:sp>
        <p:nvSpPr>
          <p:cNvPr id="29" name="Text Box 56"/>
          <p:cNvSpPr/>
          <p:nvPr/>
        </p:nvSpPr>
        <p:spPr>
          <a:xfrm>
            <a:off x="5416749" y="4245942"/>
            <a:ext cx="5222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Times New Roman" panose="02020603050405020304" pitchFamily="18" charset="0"/>
              </a:rPr>
              <a:t>32</a:t>
            </a:r>
            <a:endParaRPr lang="en-US" altLang="zh-CN" sz="2800" dirty="0"/>
          </a:p>
        </p:txBody>
      </p:sp>
      <p:sp>
        <p:nvSpPr>
          <p:cNvPr id="30" name="Line 57"/>
          <p:cNvSpPr/>
          <p:nvPr/>
        </p:nvSpPr>
        <p:spPr>
          <a:xfrm flipV="1">
            <a:off x="4788099" y="3315667"/>
            <a:ext cx="1587" cy="2159000"/>
          </a:xfrm>
          <a:prstGeom prst="line">
            <a:avLst/>
          </a:prstGeom>
          <a:ln w="28575" cap="flat" cmpd="sng">
            <a:solidFill>
              <a:srgbClr val="C00000"/>
            </a:solidFill>
            <a:prstDash val="solid"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Box 58"/>
          <p:cNvSpPr/>
          <p:nvPr/>
        </p:nvSpPr>
        <p:spPr>
          <a:xfrm>
            <a:off x="6423224" y="2348880"/>
            <a:ext cx="43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59"/>
          <p:cNvSpPr/>
          <p:nvPr/>
        </p:nvSpPr>
        <p:spPr>
          <a:xfrm>
            <a:off x="5781874" y="5660405"/>
            <a:ext cx="2159000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Line 60"/>
          <p:cNvSpPr/>
          <p:nvPr/>
        </p:nvSpPr>
        <p:spPr>
          <a:xfrm flipV="1">
            <a:off x="4815086" y="2637805"/>
            <a:ext cx="1470025" cy="660400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Object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135313"/>
            <a:ext cx="3454400" cy="889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" name="Object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4114800"/>
            <a:ext cx="3759200" cy="185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" name="Rectangle 65"/>
          <p:cNvSpPr/>
          <p:nvPr/>
        </p:nvSpPr>
        <p:spPr>
          <a:xfrm>
            <a:off x="1047750" y="4600575"/>
            <a:ext cx="2376488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Times New Roman" panose="02020603050405020304" pitchFamily="18" charset="0"/>
            </a:endParaRPr>
          </a:p>
        </p:txBody>
      </p:sp>
      <p:sp>
        <p:nvSpPr>
          <p:cNvPr id="37" name="Rectangle 66"/>
          <p:cNvSpPr/>
          <p:nvPr/>
        </p:nvSpPr>
        <p:spPr>
          <a:xfrm>
            <a:off x="1047750" y="5105400"/>
            <a:ext cx="3384550" cy="7921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Times New Roman" panose="02020603050405020304" pitchFamily="18" charset="0"/>
            </a:endParaRPr>
          </a:p>
        </p:txBody>
      </p:sp>
      <p:sp>
        <p:nvSpPr>
          <p:cNvPr id="38" name="Rectangle 68"/>
          <p:cNvSpPr/>
          <p:nvPr/>
        </p:nvSpPr>
        <p:spPr>
          <a:xfrm>
            <a:off x="1882775" y="5105400"/>
            <a:ext cx="865188" cy="7921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Times New Roman" panose="02020603050405020304" pitchFamily="18" charset="0"/>
            </a:endParaRPr>
          </a:p>
        </p:txBody>
      </p:sp>
      <p:sp>
        <p:nvSpPr>
          <p:cNvPr id="39" name="Rectangle 69"/>
          <p:cNvSpPr/>
          <p:nvPr/>
        </p:nvSpPr>
        <p:spPr>
          <a:xfrm>
            <a:off x="3308350" y="5105400"/>
            <a:ext cx="865188" cy="7921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Times New Roman" panose="02020603050405020304" pitchFamily="18" charset="0"/>
            </a:endParaRPr>
          </a:p>
        </p:txBody>
      </p:sp>
      <p:cxnSp>
        <p:nvCxnSpPr>
          <p:cNvPr id="40" name="AutoShape 70"/>
          <p:cNvCxnSpPr>
            <a:stCxn id="30" idx="1"/>
            <a:endCxn id="27" idx="1"/>
          </p:cNvCxnSpPr>
          <p:nvPr/>
        </p:nvCxnSpPr>
        <p:spPr>
          <a:xfrm>
            <a:off x="4788099" y="3301380"/>
            <a:ext cx="1084262" cy="219710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41" name="AutoShape 71"/>
          <p:cNvCxnSpPr>
            <a:stCxn id="30" idx="1"/>
            <a:endCxn id="13" idx="0"/>
          </p:cNvCxnSpPr>
          <p:nvPr/>
        </p:nvCxnSpPr>
        <p:spPr>
          <a:xfrm>
            <a:off x="4788099" y="3301380"/>
            <a:ext cx="417512" cy="1449387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45" name="文本框 44"/>
          <p:cNvSpPr txBox="1"/>
          <p:nvPr/>
        </p:nvSpPr>
        <p:spPr>
          <a:xfrm>
            <a:off x="411633" y="2061642"/>
            <a:ext cx="410845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向量空间 </a:t>
            </a:r>
            <a:r>
              <a:rPr kumimoji="1" lang="en-US" altLang="zh-CN" b="1" i="1" kern="100" cap="none" spc="0" normalizeH="0" baseline="0" noProof="0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V</a:t>
            </a:r>
            <a:r>
              <a:rPr kumimoji="1" lang="en-US" altLang="zh-CN" b="1" kern="100" cap="none" spc="0" normalizeH="0" baseline="0" noProof="0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b="1" kern="100" cap="none" spc="0" normalizeH="0" baseline="0" noProof="0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中的一个基</a:t>
            </a:r>
            <a:r>
              <a:rPr kumimoji="1" lang="en-US" altLang="zh-CN" b="1" kern="100" cap="none" spc="0" normalizeH="0" baseline="0" noProof="0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 </a:t>
            </a:r>
            <a:endParaRPr kumimoji="1" lang="zh-CN" altLang="en-US" b="1" kern="100" cap="none" spc="0" normalizeH="0" baseline="0" noProof="0" dirty="0">
              <a:solidFill>
                <a:schemeClr val="tx1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636678-2C08-19C9-8173-07813967CF3D}"/>
              </a:ext>
            </a:extLst>
          </p:cNvPr>
          <p:cNvSpPr txBox="1"/>
          <p:nvPr/>
        </p:nvSpPr>
        <p:spPr>
          <a:xfrm>
            <a:off x="4273182" y="2065472"/>
            <a:ext cx="1598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kern="100" cap="none" spc="0" normalizeH="0" baseline="0" noProof="0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则令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03 -0.13033 L 3.61111E-6 2.96296E-6 " pathEditMode="relative" rAng="0" ptsTypes="AA">
                                      <p:cBhvr>
                                        <p:cTn id="82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00" y="650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>
                                      <p:cBhvr>
                                        <p:cTn id="8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0" presetClass="exit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0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50" presetClass="exit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3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0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>
                                      <p:cBhvr>
                                        <p:cTn id="1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>
                                      <p:cBhvr>
                                        <p:cTn id="1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>
                                      <p:cBhvr>
                                        <p:cTn id="12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88 L 0.16528 -0.10324 " pathEditMode="relative" rAng="0" ptsTypes="AA">
                                      <p:cBhvr>
                                        <p:cTn id="1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00" y="-4700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>
                                      <p:cBhvr>
                                        <p:cTn id="13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>
                                      <p:cBhvr>
                                        <p:cTn id="1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>
                                      <p:cBhvr>
                                        <p:cTn id="1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>
                                      <p:cBhvr>
                                        <p:cTn id="1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>
                                      <p:cBhvr>
                                        <p:cTn id="1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>
                                      <p:cBhvr>
                                        <p:cTn id="1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000"/>
                            </p:stCondLst>
                            <p:childTnLst>
                              <p:par>
                                <p:cTn id="16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1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>
                                      <p:cBhvr>
                                        <p:cTn id="1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box(in)">
                                      <p:cBhvr>
                                        <p:cTn id="1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box(in)">
                                      <p:cBhvr>
                                        <p:cTn id="1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box(in)">
                                      <p:cBhvr>
                                        <p:cTn id="1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box(in)">
                                      <p:cBhvr>
                                        <p:cTn id="1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bldLvl="0" animBg="1"/>
      <p:bldP spid="19" grpId="0" bldLvl="0"/>
      <p:bldP spid="20" grpId="0" bldLvl="0"/>
      <p:bldP spid="21" grpId="0" bldLvl="0"/>
      <p:bldP spid="22" grpId="0" bldLvl="0"/>
      <p:bldP spid="24" grpId="0" bldLvl="0"/>
      <p:bldP spid="24" grpId="1" bldLvl="0"/>
      <p:bldP spid="25" grpId="0" bldLvl="0"/>
      <p:bldP spid="26" grpId="0" bldLvl="0"/>
      <p:bldP spid="28" grpId="0" bldLvl="0"/>
      <p:bldP spid="29" grpId="0" bldLvl="0"/>
      <p:bldP spid="31" grpId="0" bldLvl="0"/>
      <p:bldP spid="36" grpId="0" bldLvl="0" animBg="1"/>
      <p:bldP spid="37" grpId="0" bldLvl="0" animBg="1"/>
      <p:bldP spid="38" grpId="0" bldLvl="0" animBg="1"/>
      <p:bldP spid="39" grpId="0" bldLvl="0" animBg="1"/>
      <p:bldP spid="45" grpId="0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0">
            <a:hlinkClick r:id="" action="ppaction://noaction"/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89092" name="Rectangle 30"/>
          <p:cNvSpPr/>
          <p:nvPr/>
        </p:nvSpPr>
        <p:spPr>
          <a:xfrm>
            <a:off x="35243" y="44768"/>
            <a:ext cx="659130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en-IE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Schimidt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正交化过程中的正交性</a:t>
            </a:r>
          </a:p>
        </p:txBody>
      </p:sp>
      <p:sp>
        <p:nvSpPr>
          <p:cNvPr id="69667" name="Text Box 36"/>
          <p:cNvSpPr/>
          <p:nvPr/>
        </p:nvSpPr>
        <p:spPr>
          <a:xfrm>
            <a:off x="3995316" y="2339658"/>
            <a:ext cx="4413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89094" name="Line 4"/>
          <p:cNvSpPr/>
          <p:nvPr/>
        </p:nvSpPr>
        <p:spPr>
          <a:xfrm flipV="1">
            <a:off x="2915816" y="1129983"/>
            <a:ext cx="2159000" cy="1123950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69" name="Line 5"/>
          <p:cNvSpPr>
            <a:spLocks noChangeShapeType="1"/>
          </p:cNvSpPr>
          <p:nvPr/>
        </p:nvSpPr>
        <p:spPr bwMode="auto">
          <a:xfrm>
            <a:off x="2915816" y="2253933"/>
            <a:ext cx="3346450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中宋" pitchFamily="2" charset="-122"/>
              <a:cs typeface="+mn-cs"/>
            </a:endParaRPr>
          </a:p>
        </p:txBody>
      </p:sp>
      <p:sp>
        <p:nvSpPr>
          <p:cNvPr id="69670" name="Line 6"/>
          <p:cNvSpPr/>
          <p:nvPr/>
        </p:nvSpPr>
        <p:spPr>
          <a:xfrm>
            <a:off x="2914228" y="2253933"/>
            <a:ext cx="1439863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69671" name="AutoShape 7"/>
          <p:cNvCxnSpPr>
            <a:stCxn id="69670" idx="1"/>
            <a:endCxn id="89094" idx="1"/>
          </p:cNvCxnSpPr>
          <p:nvPr/>
        </p:nvCxnSpPr>
        <p:spPr>
          <a:xfrm flipV="1">
            <a:off x="4354091" y="1115696"/>
            <a:ext cx="720725" cy="1152525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cxnSp>
      <p:grpSp>
        <p:nvGrpSpPr>
          <p:cNvPr id="69672" name="Group 7"/>
          <p:cNvGrpSpPr/>
          <p:nvPr/>
        </p:nvGrpSpPr>
        <p:grpSpPr>
          <a:xfrm>
            <a:off x="2914228" y="956946"/>
            <a:ext cx="1843088" cy="571500"/>
            <a:chOff x="0" y="358"/>
            <a:chExt cx="1161" cy="360"/>
          </a:xfrm>
        </p:grpSpPr>
        <p:sp>
          <p:nvSpPr>
            <p:cNvPr id="89147" name="Line 9"/>
            <p:cNvSpPr/>
            <p:nvPr/>
          </p:nvSpPr>
          <p:spPr>
            <a:xfrm>
              <a:off x="0" y="717"/>
              <a:ext cx="1020" cy="1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9148" name="AutoShape 10"/>
            <p:cNvCxnSpPr>
              <a:stCxn id="89147" idx="1"/>
              <a:endCxn id="89094" idx="1"/>
            </p:cNvCxnSpPr>
            <p:nvPr/>
          </p:nvCxnSpPr>
          <p:spPr>
            <a:xfrm flipV="1">
              <a:off x="1020" y="358"/>
              <a:ext cx="141" cy="360"/>
            </a:xfrm>
            <a:prstGeom prst="straightConnector1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cxnSp>
      </p:grpSp>
      <p:grpSp>
        <p:nvGrpSpPr>
          <p:cNvPr id="69675" name="Group 10"/>
          <p:cNvGrpSpPr/>
          <p:nvPr/>
        </p:nvGrpSpPr>
        <p:grpSpPr>
          <a:xfrm>
            <a:off x="2914228" y="956946"/>
            <a:ext cx="1843088" cy="571500"/>
            <a:chOff x="0" y="358"/>
            <a:chExt cx="1161" cy="360"/>
          </a:xfrm>
        </p:grpSpPr>
        <p:sp>
          <p:nvSpPr>
            <p:cNvPr id="89145" name="Line 12"/>
            <p:cNvSpPr/>
            <p:nvPr/>
          </p:nvSpPr>
          <p:spPr>
            <a:xfrm>
              <a:off x="0" y="717"/>
              <a:ext cx="1134" cy="1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9146" name="AutoShape 13"/>
            <p:cNvCxnSpPr>
              <a:stCxn id="89145" idx="1"/>
              <a:endCxn id="89094" idx="1"/>
            </p:cNvCxnSpPr>
            <p:nvPr/>
          </p:nvCxnSpPr>
          <p:spPr>
            <a:xfrm flipV="1">
              <a:off x="1134" y="358"/>
              <a:ext cx="27" cy="360"/>
            </a:xfrm>
            <a:prstGeom prst="straightConnector1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cxnSp>
      </p:grpSp>
      <p:grpSp>
        <p:nvGrpSpPr>
          <p:cNvPr id="69678" name="Group 13"/>
          <p:cNvGrpSpPr/>
          <p:nvPr/>
        </p:nvGrpSpPr>
        <p:grpSpPr>
          <a:xfrm>
            <a:off x="2914228" y="956946"/>
            <a:ext cx="1979613" cy="571500"/>
            <a:chOff x="0" y="358"/>
            <a:chExt cx="1247" cy="360"/>
          </a:xfrm>
        </p:grpSpPr>
        <p:sp>
          <p:nvSpPr>
            <p:cNvPr id="89143" name="Line 15"/>
            <p:cNvSpPr/>
            <p:nvPr/>
          </p:nvSpPr>
          <p:spPr>
            <a:xfrm>
              <a:off x="0" y="717"/>
              <a:ext cx="1247" cy="1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9144" name="AutoShape 16"/>
            <p:cNvCxnSpPr>
              <a:stCxn id="89143" idx="1"/>
              <a:endCxn id="89094" idx="1"/>
            </p:cNvCxnSpPr>
            <p:nvPr/>
          </p:nvCxnSpPr>
          <p:spPr>
            <a:xfrm flipH="1" flipV="1">
              <a:off x="1161" y="358"/>
              <a:ext cx="86" cy="360"/>
            </a:xfrm>
            <a:prstGeom prst="straightConnector1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cxnSp>
      </p:grpSp>
      <p:grpSp>
        <p:nvGrpSpPr>
          <p:cNvPr id="69681" name="Group 16"/>
          <p:cNvGrpSpPr/>
          <p:nvPr/>
        </p:nvGrpSpPr>
        <p:grpSpPr>
          <a:xfrm>
            <a:off x="2914228" y="956946"/>
            <a:ext cx="2159000" cy="571500"/>
            <a:chOff x="0" y="358"/>
            <a:chExt cx="1360" cy="360"/>
          </a:xfrm>
        </p:grpSpPr>
        <p:sp>
          <p:nvSpPr>
            <p:cNvPr id="89141" name="Line 18"/>
            <p:cNvSpPr/>
            <p:nvPr/>
          </p:nvSpPr>
          <p:spPr>
            <a:xfrm>
              <a:off x="0" y="717"/>
              <a:ext cx="1360" cy="1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9142" name="AutoShape 19"/>
            <p:cNvCxnSpPr>
              <a:stCxn id="89141" idx="1"/>
              <a:endCxn id="89094" idx="1"/>
            </p:cNvCxnSpPr>
            <p:nvPr/>
          </p:nvCxnSpPr>
          <p:spPr>
            <a:xfrm flipH="1" flipV="1">
              <a:off x="1161" y="358"/>
              <a:ext cx="199" cy="360"/>
            </a:xfrm>
            <a:prstGeom prst="straightConnector1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cxnSp>
      </p:grpSp>
      <p:grpSp>
        <p:nvGrpSpPr>
          <p:cNvPr id="69684" name="Group 19"/>
          <p:cNvGrpSpPr/>
          <p:nvPr/>
        </p:nvGrpSpPr>
        <p:grpSpPr>
          <a:xfrm>
            <a:off x="2915816" y="956946"/>
            <a:ext cx="2339975" cy="571500"/>
            <a:chOff x="0" y="358"/>
            <a:chExt cx="1474" cy="360"/>
          </a:xfrm>
        </p:grpSpPr>
        <p:sp>
          <p:nvSpPr>
            <p:cNvPr id="89139" name="Line 21"/>
            <p:cNvSpPr/>
            <p:nvPr/>
          </p:nvSpPr>
          <p:spPr>
            <a:xfrm>
              <a:off x="0" y="717"/>
              <a:ext cx="1474" cy="1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9140" name="AutoShape 22"/>
            <p:cNvCxnSpPr>
              <a:stCxn id="89139" idx="1"/>
              <a:endCxn id="89094" idx="1"/>
            </p:cNvCxnSpPr>
            <p:nvPr/>
          </p:nvCxnSpPr>
          <p:spPr>
            <a:xfrm flipH="1" flipV="1">
              <a:off x="1160" y="358"/>
              <a:ext cx="314" cy="360"/>
            </a:xfrm>
            <a:prstGeom prst="straightConnector1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cxnSp>
      </p:grpSp>
      <p:grpSp>
        <p:nvGrpSpPr>
          <p:cNvPr id="69687" name="Group 22"/>
          <p:cNvGrpSpPr/>
          <p:nvPr/>
        </p:nvGrpSpPr>
        <p:grpSpPr>
          <a:xfrm>
            <a:off x="2915816" y="956946"/>
            <a:ext cx="2519362" cy="571500"/>
            <a:chOff x="0" y="358"/>
            <a:chExt cx="1587" cy="360"/>
          </a:xfrm>
        </p:grpSpPr>
        <p:sp>
          <p:nvSpPr>
            <p:cNvPr id="89137" name="Line 24"/>
            <p:cNvSpPr/>
            <p:nvPr/>
          </p:nvSpPr>
          <p:spPr>
            <a:xfrm>
              <a:off x="0" y="717"/>
              <a:ext cx="1587" cy="1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9138" name="AutoShape 25"/>
            <p:cNvCxnSpPr>
              <a:stCxn id="89137" idx="1"/>
              <a:endCxn id="89094" idx="1"/>
            </p:cNvCxnSpPr>
            <p:nvPr/>
          </p:nvCxnSpPr>
          <p:spPr>
            <a:xfrm flipH="1" flipV="1">
              <a:off x="1160" y="358"/>
              <a:ext cx="427" cy="360"/>
            </a:xfrm>
            <a:prstGeom prst="straightConnector1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cxnSp>
      </p:grpSp>
      <p:grpSp>
        <p:nvGrpSpPr>
          <p:cNvPr id="69690" name="Group 25"/>
          <p:cNvGrpSpPr/>
          <p:nvPr/>
        </p:nvGrpSpPr>
        <p:grpSpPr>
          <a:xfrm>
            <a:off x="2915816" y="956946"/>
            <a:ext cx="2698750" cy="571500"/>
            <a:chOff x="0" y="358"/>
            <a:chExt cx="1700" cy="360"/>
          </a:xfrm>
        </p:grpSpPr>
        <p:sp>
          <p:nvSpPr>
            <p:cNvPr id="89135" name="Line 27"/>
            <p:cNvSpPr/>
            <p:nvPr/>
          </p:nvSpPr>
          <p:spPr>
            <a:xfrm>
              <a:off x="0" y="717"/>
              <a:ext cx="1700" cy="1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9136" name="AutoShape 28"/>
            <p:cNvCxnSpPr>
              <a:stCxn id="89135" idx="1"/>
              <a:endCxn id="89094" idx="1"/>
            </p:cNvCxnSpPr>
            <p:nvPr/>
          </p:nvCxnSpPr>
          <p:spPr>
            <a:xfrm flipH="1" flipV="1">
              <a:off x="1160" y="358"/>
              <a:ext cx="540" cy="360"/>
            </a:xfrm>
            <a:prstGeom prst="straightConnector1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cxnSp>
      </p:grpSp>
      <p:grpSp>
        <p:nvGrpSpPr>
          <p:cNvPr id="69693" name="Group 28"/>
          <p:cNvGrpSpPr/>
          <p:nvPr/>
        </p:nvGrpSpPr>
        <p:grpSpPr>
          <a:xfrm>
            <a:off x="2915816" y="956946"/>
            <a:ext cx="2879725" cy="571500"/>
            <a:chOff x="0" y="358"/>
            <a:chExt cx="1814" cy="360"/>
          </a:xfrm>
        </p:grpSpPr>
        <p:sp>
          <p:nvSpPr>
            <p:cNvPr id="89133" name="Line 30"/>
            <p:cNvSpPr/>
            <p:nvPr/>
          </p:nvSpPr>
          <p:spPr>
            <a:xfrm>
              <a:off x="0" y="717"/>
              <a:ext cx="1814" cy="1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9134" name="AutoShape 31"/>
            <p:cNvCxnSpPr>
              <a:stCxn id="89133" idx="1"/>
              <a:endCxn id="89094" idx="1"/>
            </p:cNvCxnSpPr>
            <p:nvPr/>
          </p:nvCxnSpPr>
          <p:spPr>
            <a:xfrm flipH="1" flipV="1">
              <a:off x="1160" y="358"/>
              <a:ext cx="654" cy="360"/>
            </a:xfrm>
            <a:prstGeom prst="straightConnector1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cxnSp>
      </p:grpSp>
      <p:sp>
        <p:nvSpPr>
          <p:cNvPr id="69696" name="Line 32"/>
          <p:cNvSpPr/>
          <p:nvPr/>
        </p:nvSpPr>
        <p:spPr>
          <a:xfrm>
            <a:off x="2917403" y="2253933"/>
            <a:ext cx="2159000" cy="0"/>
          </a:xfrm>
          <a:prstGeom prst="line">
            <a:avLst/>
          </a:prstGeom>
          <a:ln w="38100" cap="flat" cmpd="sng">
            <a:solidFill>
              <a:srgbClr val="C00000"/>
            </a:solidFill>
            <a:prstDash val="solid"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69697" name="AutoShape 33"/>
          <p:cNvCxnSpPr>
            <a:stCxn id="89094" idx="1"/>
            <a:endCxn id="69696" idx="1"/>
          </p:cNvCxnSpPr>
          <p:nvPr/>
        </p:nvCxnSpPr>
        <p:spPr>
          <a:xfrm>
            <a:off x="5074816" y="1115696"/>
            <a:ext cx="1587" cy="1157287"/>
          </a:xfrm>
          <a:prstGeom prst="straightConnector1">
            <a:avLst/>
          </a:prstGeom>
          <a:ln w="1905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69698" name="AutoShape 34"/>
          <p:cNvCxnSpPr>
            <a:stCxn id="69696" idx="1"/>
            <a:endCxn id="89094" idx="1"/>
          </p:cNvCxnSpPr>
          <p:nvPr/>
        </p:nvCxnSpPr>
        <p:spPr>
          <a:xfrm flipH="1" flipV="1">
            <a:off x="5074816" y="1115696"/>
            <a:ext cx="1587" cy="1157287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cxnSp>
      <p:sp>
        <p:nvSpPr>
          <p:cNvPr id="69699" name="Text Box 35"/>
          <p:cNvSpPr/>
          <p:nvPr/>
        </p:nvSpPr>
        <p:spPr>
          <a:xfrm>
            <a:off x="4655716" y="2339658"/>
            <a:ext cx="423862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89110" name="Text Box 37"/>
          <p:cNvSpPr/>
          <p:nvPr/>
        </p:nvSpPr>
        <p:spPr>
          <a:xfrm>
            <a:off x="4860503" y="539433"/>
            <a:ext cx="4413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69701" name="Text Box 38"/>
          <p:cNvSpPr/>
          <p:nvPr/>
        </p:nvSpPr>
        <p:spPr>
          <a:xfrm>
            <a:off x="5147841" y="1499871"/>
            <a:ext cx="44132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69702" name="Rectangle 41"/>
          <p:cNvSpPr/>
          <p:nvPr/>
        </p:nvSpPr>
        <p:spPr>
          <a:xfrm>
            <a:off x="601241" y="3084196"/>
            <a:ext cx="7083425" cy="1557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 eaLnBrk="1" hangingPunct="1"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令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c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在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上的投影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则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c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= </a:t>
            </a:r>
            <a:r>
              <a:rPr lang="el-G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λ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lvl="0" eaLnBrk="1" hangingPunct="1"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若令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－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c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=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－</a:t>
            </a:r>
            <a:r>
              <a:rPr lang="zh-CN" alt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l-G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λ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则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⊥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．</a:t>
            </a:r>
          </a:p>
          <a:p>
            <a:pPr lvl="0" eaLnBrk="1" hangingPunct="1"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下面确定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l-G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λ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的值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.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因为</a:t>
            </a:r>
          </a:p>
        </p:txBody>
      </p:sp>
      <p:pic>
        <p:nvPicPr>
          <p:cNvPr id="69703" name="Object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428" y="4543108"/>
            <a:ext cx="5537200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705" name="Rectangle 44"/>
          <p:cNvSpPr>
            <a:spLocks noChangeArrowheads="1"/>
          </p:cNvSpPr>
          <p:nvPr/>
        </p:nvSpPr>
        <p:spPr bwMode="auto">
          <a:xfrm>
            <a:off x="2657053" y="4543108"/>
            <a:ext cx="1843088" cy="433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69707" name="Rectangle 46"/>
          <p:cNvSpPr>
            <a:spLocks noChangeArrowheads="1"/>
          </p:cNvSpPr>
          <p:nvPr/>
        </p:nvSpPr>
        <p:spPr bwMode="auto">
          <a:xfrm>
            <a:off x="2688803" y="5065396"/>
            <a:ext cx="1008063" cy="504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69708" name="Text Box 37"/>
          <p:cNvSpPr/>
          <p:nvPr/>
        </p:nvSpPr>
        <p:spPr>
          <a:xfrm>
            <a:off x="3650828" y="1637983"/>
            <a:ext cx="11080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－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 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grpSp>
        <p:nvGrpSpPr>
          <p:cNvPr id="69709" name="Group 45"/>
          <p:cNvGrpSpPr/>
          <p:nvPr/>
        </p:nvGrpSpPr>
        <p:grpSpPr>
          <a:xfrm>
            <a:off x="5724103" y="1809433"/>
            <a:ext cx="446088" cy="430213"/>
            <a:chOff x="0" y="0"/>
            <a:chExt cx="281" cy="271"/>
          </a:xfrm>
        </p:grpSpPr>
        <p:sp>
          <p:nvSpPr>
            <p:cNvPr id="69710" name="Freeform 46"/>
            <p:cNvSpPr>
              <a:spLocks noChangeArrowheads="1"/>
            </p:cNvSpPr>
            <p:nvPr/>
          </p:nvSpPr>
          <p:spPr bwMode="auto">
            <a:xfrm>
              <a:off x="0" y="165"/>
              <a:ext cx="136" cy="106"/>
            </a:xfrm>
            <a:custGeom>
              <a:avLst/>
              <a:gdLst/>
              <a:ahLst/>
              <a:cxnLst/>
              <a:rect l="0" t="0" r="0" b="0"/>
              <a:pathLst/>
            </a:custGeom>
            <a:noFill/>
            <a:ln w="28575">
              <a:solidFill>
                <a:srgbClr val="00CC00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</a:endParaRPr>
            </a:p>
          </p:txBody>
        </p:sp>
        <p:pic>
          <p:nvPicPr>
            <p:cNvPr id="89132" name="Object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" y="0"/>
              <a:ext cx="177" cy="22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69712" name="Group 48"/>
          <p:cNvGrpSpPr>
            <a:grpSpLocks noChangeAspect="1"/>
          </p:cNvGrpSpPr>
          <p:nvPr/>
        </p:nvGrpSpPr>
        <p:grpSpPr>
          <a:xfrm>
            <a:off x="5062116" y="2060258"/>
            <a:ext cx="179387" cy="179388"/>
            <a:chOff x="0" y="0"/>
            <a:chExt cx="136" cy="136"/>
          </a:xfrm>
        </p:grpSpPr>
        <p:sp>
          <p:nvSpPr>
            <p:cNvPr id="89129" name="Line 53"/>
            <p:cNvSpPr>
              <a:spLocks noChangeAspect="1"/>
            </p:cNvSpPr>
            <p:nvPr/>
          </p:nvSpPr>
          <p:spPr>
            <a:xfrm>
              <a:off x="0" y="0"/>
              <a:ext cx="136" cy="1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30" name="Line 55"/>
            <p:cNvSpPr>
              <a:spLocks noChangeAspect="1"/>
            </p:cNvSpPr>
            <p:nvPr/>
          </p:nvSpPr>
          <p:spPr>
            <a:xfrm>
              <a:off x="136" y="0"/>
              <a:ext cx="1" cy="136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715" name="Group 51"/>
          <p:cNvGrpSpPr/>
          <p:nvPr/>
        </p:nvGrpSpPr>
        <p:grpSpPr>
          <a:xfrm>
            <a:off x="4481091" y="1811021"/>
            <a:ext cx="379412" cy="428625"/>
            <a:chOff x="0" y="0"/>
            <a:chExt cx="378727" cy="428625"/>
          </a:xfrm>
        </p:grpSpPr>
        <p:pic>
          <p:nvPicPr>
            <p:cNvPr id="89125" name="Object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739" y="0"/>
              <a:ext cx="280988" cy="357187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89126" name="Group 53"/>
            <p:cNvGrpSpPr/>
            <p:nvPr/>
          </p:nvGrpSpPr>
          <p:grpSpPr>
            <a:xfrm>
              <a:off x="0" y="280988"/>
              <a:ext cx="147637" cy="147637"/>
              <a:chOff x="0" y="0"/>
              <a:chExt cx="93" cy="93"/>
            </a:xfrm>
          </p:grpSpPr>
          <p:sp>
            <p:nvSpPr>
              <p:cNvPr id="69718" name="Freeform 72"/>
              <p:cNvSpPr>
                <a:spLocks noChangeArrowheads="1"/>
              </p:cNvSpPr>
              <p:nvPr/>
            </p:nvSpPr>
            <p:spPr bwMode="auto">
              <a:xfrm>
                <a:off x="0" y="43"/>
                <a:ext cx="50" cy="50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noFill/>
              <a:ln w="28575">
                <a:solidFill>
                  <a:srgbClr val="00CC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  <a:ea typeface="华文中宋" pitchFamily="2" charset="-122"/>
                  <a:cs typeface="+mn-cs"/>
                </a:endParaRPr>
              </a:p>
            </p:txBody>
          </p:sp>
          <p:sp>
            <p:nvSpPr>
              <p:cNvPr id="69719" name="Freeform 73"/>
              <p:cNvSpPr>
                <a:spLocks noChangeArrowheads="1"/>
              </p:cNvSpPr>
              <p:nvPr/>
            </p:nvSpPr>
            <p:spPr bwMode="auto">
              <a:xfrm>
                <a:off x="8" y="0"/>
                <a:ext cx="85" cy="85"/>
              </a:xfrm>
              <a:custGeom>
                <a:avLst/>
                <a:gdLst/>
                <a:ahLst/>
                <a:cxnLst/>
                <a:rect l="0" t="0" r="0" b="0"/>
                <a:pathLst/>
              </a:custGeom>
              <a:noFill/>
              <a:ln w="28575">
                <a:solidFill>
                  <a:srgbClr val="00CC00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  <a:ea typeface="华文中宋" pitchFamily="2" charset="-122"/>
                  <a:cs typeface="+mn-cs"/>
                </a:endParaRPr>
              </a:p>
            </p:txBody>
          </p:sp>
        </p:grpSp>
      </p:grpSp>
      <p:sp>
        <p:nvSpPr>
          <p:cNvPr id="69720" name="Rectangle 44"/>
          <p:cNvSpPr>
            <a:spLocks noChangeArrowheads="1"/>
          </p:cNvSpPr>
          <p:nvPr/>
        </p:nvSpPr>
        <p:spPr bwMode="auto">
          <a:xfrm>
            <a:off x="4500141" y="4543108"/>
            <a:ext cx="2376488" cy="4333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graphicFrame>
        <p:nvGraphicFramePr>
          <p:cNvPr id="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001021"/>
              </p:ext>
            </p:extLst>
          </p:nvPr>
        </p:nvGraphicFramePr>
        <p:xfrm>
          <a:off x="1518816" y="5281296"/>
          <a:ext cx="16224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12165" imgH="444500" progId="Equation.DSMT4">
                  <p:embed/>
                </p:oleObj>
              </mc:Choice>
              <mc:Fallback>
                <p:oleObj r:id="rId5" imgW="812165" imgH="4445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18816" y="5281296"/>
                        <a:ext cx="1622425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3215853" y="5474971"/>
            <a:ext cx="12065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从而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01241" y="5454333"/>
            <a:ext cx="100806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rgbClr val="00007D"/>
              </a:buClr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所以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pic>
        <p:nvPicPr>
          <p:cNvPr id="24" name="Object 4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1041" y="5317808"/>
            <a:ext cx="4749800" cy="889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>
                                      <p:cBhvr>
                                        <p:cTn id="7" dur="500"/>
                                        <p:tgtEl>
                                          <p:spTgt spid="6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>
                                      <p:cBhvr>
                                        <p:cTn id="10" dur="500"/>
                                        <p:tgtEl>
                                          <p:spTgt spid="6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>
                                      <p:cBhvr>
                                        <p:cTn id="15" dur="500"/>
                                        <p:tgtEl>
                                          <p:spTgt spid="6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8" presetID="1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>
                                      <p:cBhvr>
                                        <p:cTn id="50" dur="500"/>
                                        <p:tgtEl>
                                          <p:spTgt spid="697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>
                                      <p:cBhvr>
                                        <p:cTn id="65" dur="500"/>
                                        <p:tgtEl>
                                          <p:spTgt spid="69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Right)">
                                      <p:cBhvr>
                                        <p:cTn id="69" dur="500"/>
                                        <p:tgtEl>
                                          <p:spTgt spid="6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74" dur="500"/>
                                        <p:tgtEl>
                                          <p:spTgt spid="69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9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9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>
                                      <p:cBhvr>
                                        <p:cTn id="84" dur="500"/>
                                        <p:tgtEl>
                                          <p:spTgt spid="69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>
                                      <p:cBhvr>
                                        <p:cTn id="89" dur="500"/>
                                        <p:tgtEl>
                                          <p:spTgt spid="6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9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9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>
                                      <p:cBhvr>
                                        <p:cTn id="99" dur="500"/>
                                        <p:tgtEl>
                                          <p:spTgt spid="69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>
                                      <p:cBhvr>
                                        <p:cTn id="108" dur="500"/>
                                        <p:tgtEl>
                                          <p:spTgt spid="6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wipe(left)">
                                      <p:cBhvr>
                                        <p:cTn id="112" dur="500"/>
                                        <p:tgtEl>
                                          <p:spTgt spid="697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filter="wipe(left)">
                                      <p:cBhvr>
                                        <p:cTn id="117" dur="500"/>
                                        <p:tgtEl>
                                          <p:spTgt spid="697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>
                                      <p:cBhvr>
                                        <p:cTn id="1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67" grpId="0" bldLvl="0"/>
      <p:bldP spid="69699" grpId="0" bldLvl="0"/>
      <p:bldP spid="69701" grpId="0" bldLvl="0"/>
      <p:bldP spid="69705" grpId="0" bldLvl="0" animBg="1"/>
      <p:bldP spid="69707" grpId="0" bldLvl="0" animBg="1"/>
      <p:bldP spid="69708" grpId="0" bldLvl="0"/>
      <p:bldP spid="69708" grpId="1" bldLvl="0"/>
      <p:bldP spid="69720" grpId="0" bldLvl="0" animBg="1"/>
      <p:bldP spid="21" grpId="0"/>
      <p:bldP spid="2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>
            <a:off x="755576" y="973337"/>
            <a:ext cx="8070850" cy="477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zh-CN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基本问题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zh-CN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如何理解内积这一概念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?</a:t>
            </a:r>
            <a:r>
              <a:rPr lang="zh-CN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它与数量积有何联系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?</a:t>
            </a:r>
            <a:endParaRPr lang="zh-CN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90116" name="Text Box 2"/>
          <p:cNvSpPr txBox="1"/>
          <p:nvPr/>
        </p:nvSpPr>
        <p:spPr>
          <a:xfrm>
            <a:off x="323533" y="135890"/>
            <a:ext cx="6769100" cy="598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向量的内积、长度及正交性小结</a:t>
            </a:r>
          </a:p>
        </p:txBody>
      </p:sp>
      <p:sp>
        <p:nvSpPr>
          <p:cNvPr id="7" name="爆炸形: 8 pt  6"/>
          <p:cNvSpPr/>
          <p:nvPr/>
        </p:nvSpPr>
        <p:spPr bwMode="auto">
          <a:xfrm>
            <a:off x="489330" y="1090224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777801" y="2136974"/>
            <a:ext cx="8335962" cy="477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zh-CN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重点问题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</a:t>
            </a:r>
            <a:r>
              <a:rPr lang="zh-CN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如何将向量空间的一个基化为一个规范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正交</a:t>
            </a:r>
            <a:r>
              <a:rPr lang="zh-CN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基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?</a:t>
            </a:r>
          </a:p>
        </p:txBody>
      </p:sp>
      <p:sp>
        <p:nvSpPr>
          <p:cNvPr id="9" name="爆炸形: 8 pt  8"/>
          <p:cNvSpPr/>
          <p:nvPr/>
        </p:nvSpPr>
        <p:spPr bwMode="auto">
          <a:xfrm>
            <a:off x="456354" y="2246387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"/>
          <p:cNvSpPr/>
          <p:nvPr/>
        </p:nvSpPr>
        <p:spPr>
          <a:xfrm>
            <a:off x="734938" y="2752924"/>
            <a:ext cx="7559675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zh-CN" altLang="en-US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难点问题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zh-CN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如何求解有关向量组之间的正交问题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?</a:t>
            </a:r>
          </a:p>
        </p:txBody>
      </p:sp>
      <p:sp>
        <p:nvSpPr>
          <p:cNvPr id="11" name="爆炸形: 8 pt  10"/>
          <p:cNvSpPr/>
          <p:nvPr/>
        </p:nvSpPr>
        <p:spPr bwMode="auto">
          <a:xfrm>
            <a:off x="456354" y="2842494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"/>
          <p:cNvSpPr/>
          <p:nvPr/>
        </p:nvSpPr>
        <p:spPr>
          <a:xfrm>
            <a:off x="704776" y="3357762"/>
            <a:ext cx="5314950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zh-CN" altLang="en-US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实践问题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zh-CN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内积有哪些实际应用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?</a:t>
            </a:r>
          </a:p>
        </p:txBody>
      </p:sp>
      <p:sp>
        <p:nvSpPr>
          <p:cNvPr id="14" name="爆炸形: 8 pt  13"/>
          <p:cNvSpPr/>
          <p:nvPr/>
        </p:nvSpPr>
        <p:spPr bwMode="auto">
          <a:xfrm>
            <a:off x="441429" y="3487477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"/>
          <p:cNvSpPr/>
          <p:nvPr/>
        </p:nvSpPr>
        <p:spPr>
          <a:xfrm>
            <a:off x="703188" y="3981649"/>
            <a:ext cx="8462963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zh-CN" altLang="en-US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拓展问题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 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(1)</a:t>
            </a:r>
            <a:r>
              <a:rPr lang="zh-CN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两向量的内积值的大小与它们的方向是否有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6" name="爆炸形: 8 pt  15"/>
          <p:cNvSpPr/>
          <p:nvPr/>
        </p:nvSpPr>
        <p:spPr bwMode="auto">
          <a:xfrm>
            <a:off x="413821" y="4053134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0136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" y="-9525"/>
            <a:ext cx="1014412" cy="839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Rectangle 1"/>
          <p:cNvSpPr/>
          <p:nvPr/>
        </p:nvSpPr>
        <p:spPr>
          <a:xfrm>
            <a:off x="2165276" y="4562674"/>
            <a:ext cx="6897687" cy="477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zh-CN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内在联系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(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可从内积与向量夹角的的定义考虑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)?</a:t>
            </a:r>
          </a:p>
        </p:txBody>
      </p:sp>
      <p:sp>
        <p:nvSpPr>
          <p:cNvPr id="19" name="Rectangle 1"/>
          <p:cNvSpPr/>
          <p:nvPr/>
        </p:nvSpPr>
        <p:spPr>
          <a:xfrm>
            <a:off x="2216076" y="1567062"/>
            <a:ext cx="6078537" cy="477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zh-CN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正交矩阵的概念与性质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分别是什么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?</a:t>
            </a:r>
            <a:endParaRPr lang="zh-CN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0" name="Rectangle 1"/>
          <p:cNvSpPr/>
          <p:nvPr/>
        </p:nvSpPr>
        <p:spPr>
          <a:xfrm>
            <a:off x="2165276" y="5154812"/>
            <a:ext cx="6897687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(2)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为什么施密特的正交化过程中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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1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,</a:t>
            </a: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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,</a:t>
            </a: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···</a:t>
            </a: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,</a:t>
            </a: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</a:t>
            </a:r>
            <a:r>
              <a:rPr lang="en-US" altLang="zh-CN" sz="28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n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</a:p>
        </p:txBody>
      </p:sp>
      <p:sp>
        <p:nvSpPr>
          <p:cNvPr id="21" name="Rectangle 1"/>
          <p:cNvSpPr/>
          <p:nvPr/>
        </p:nvSpPr>
        <p:spPr>
          <a:xfrm>
            <a:off x="2165276" y="5762824"/>
            <a:ext cx="6353175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是两两正交的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 (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可从投影向量方面考虑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)?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3" grpId="0"/>
      <p:bldP spid="15" grpId="0"/>
      <p:bldP spid="18" grpId="0"/>
      <p:bldP spid="19" grpId="0"/>
      <p:bldP spid="20" grpId="0"/>
      <p:bldP spid="2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7fec2d8-38fa-4339-b98c-843fa233c440"/>
  <p:tag name="COMMONDATA" val="eyJoZGlkIjoiNGFhNGQxNWU3NzNiZWZjM2Y5ZDJjNzJhNGE4OTk1ZT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2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Arial"/>
      </a:majorFont>
      <a:minorFont>
        <a:latin typeface="Times New Roman"/>
        <a:ea typeface="楷体_GB2312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212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3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4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5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6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7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8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9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0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1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2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3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4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5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6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7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8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9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0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1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2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3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4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5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6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7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38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39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40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41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42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43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44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45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46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47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48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49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0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1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2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3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4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5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6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7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8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9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60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6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6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6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6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6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6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6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6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6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3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4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5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6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7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8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9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80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81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82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83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84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85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86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87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88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89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90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91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2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3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4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5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6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7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8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9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0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1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2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3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4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5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6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7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8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9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10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11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12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13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14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15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16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17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18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19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0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3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3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3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33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34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35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36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37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38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39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0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1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2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3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4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5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6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7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8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9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0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1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2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3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4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5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6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7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58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59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60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61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62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63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64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65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66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67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68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69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0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1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2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3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4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5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6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7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8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9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80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8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8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8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8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8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8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8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8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8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9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9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9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817</TotalTime>
  <Words>2498</Words>
  <Application>Microsoft Office PowerPoint</Application>
  <PresentationFormat>全屏显示(4:3)</PresentationFormat>
  <Paragraphs>317</Paragraphs>
  <Slides>40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40</vt:i4>
      </vt:variant>
    </vt:vector>
  </HeadingPairs>
  <TitlesOfParts>
    <vt:vector size="56" baseType="lpstr">
      <vt:lpstr>黑体</vt:lpstr>
      <vt:lpstr>华文中宋</vt:lpstr>
      <vt:lpstr>Arial</vt:lpstr>
      <vt:lpstr>Arial Black</vt:lpstr>
      <vt:lpstr>Calibri</vt:lpstr>
      <vt:lpstr>Times New Roman</vt:lpstr>
      <vt:lpstr>Wingdings</vt:lpstr>
      <vt:lpstr>1_Pixel</vt:lpstr>
      <vt:lpstr>212_Pixel</vt:lpstr>
      <vt:lpstr>1_默认设计模板</vt:lpstr>
      <vt:lpstr>2_默认设计模板</vt:lpstr>
      <vt:lpstr>2_习题课模板</vt:lpstr>
      <vt:lpstr>2_Pixel</vt:lpstr>
      <vt:lpstr>MathType 6.0 Equation</vt:lpstr>
      <vt:lpstr>Equation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lilian chen</cp:lastModifiedBy>
  <cp:revision>927</cp:revision>
  <dcterms:created xsi:type="dcterms:W3CDTF">2012-06-17T01:12:18Z</dcterms:created>
  <dcterms:modified xsi:type="dcterms:W3CDTF">2024-03-03T07:53:12Z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6105EB0AC75D4744B4DC0D249604620C_12</vt:lpwstr>
  </property>
  <property fmtid="{D5CDD505-2E9C-101B-9397-08002B2CF9AE}" pid="3" name="KSOProductBuildVer">
    <vt:lpwstr>2052-11.1.0.14309</vt:lpwstr>
  </property>
</Properties>
</file>