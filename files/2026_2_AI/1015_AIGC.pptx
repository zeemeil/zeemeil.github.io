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85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尊敬的各位来宾，大家好！在这个日新月异的时代，AIGC技术如一股不可阻挡的潮流，正以前所未有的速度改变着我们的生活与工作。今天，我们汇聚一堂，共同探讨AIGC技术的革新轨迹与广泛应用，期待从中窥见未来智能社会的璀璨蓝图。接下来，请允许我引领大家走进AIGC技术的精彩世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在这次演讲中，我将通过五方面内容带您深入了解AIGC：从其概述、技术基础，到与大型模型的关系；接着探讨AIGC的应用场景及其带来的行业革新。我们将一探AIGC如何引领技术进步和创新变革。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这部分将探讨AIGC的概念，包括其基本定义、核心特点以及发展历史。AIGC，即人工智能生成内容，代表了技术驱动的革新潮流，它的发展标志着从简单自动化到智能创造的转变。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### 标题：AIGC的定义与特点这段我将以AIGC的核心概念及其发展为主线，深入解析这一创新技术如何重塑内容创作领域。AIGC，全称为Artificial Intelligence Generated Content，代表了一种革命性的内容创造手段，它依托于先进的人工智能算法，自动产生文本、图像、音频乃至视频等多种形态的内容。这不仅仅是一种内容的呈现形式，更是一系列尖端技术融合的智慧结晶，涵盖了自然语言处理、计算机视觉、深度学习等多个技术领域。谈及AIGC的特点，我们可以观察到几个显著优势。AIGC能够产出丰富多样的内容形态，满足不同场景下的需求。基于其强大的技术支撑，AIGC在提升内容生产效率和准确性方面展现出了巨大潜力，实现了高效与质量的双重保证。AIGC还显现出个性化定制和开源化的趋势，意味着它能根据用户需求灵活调整输出，同时鼓励社区参与和技术创新，进一步推动了该领域的繁荣发展。回顾AIGC的历程，自20世纪50年代萌芽以来，历经数十年的技术迭代与应用探索，至2022年迎来了产品爆发期，众多创新产品涌现并迅速走红，引发了社会各界的广泛关注。这一转折点标志着AIGC从实验室走向大众视野，步入了一个全新的发展阶段，预示着未来内容创作领域将因AIGC技术的不断突破而更加精彩纷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将以时间为轴线，阐述AIGC的发展历程。从早期探索与实验阶段追溯至20世纪50年代，虽受限于技术条件，但开启了先河；沉淀积累期自1990年起，实现从实验室到实际应用的转变；自2010年后快速发展，得益于生成算法等技术进步，尤其在2022年至2024年间迎来创新突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将以时间为轴线，阐述AIGC的发展历程。从早期探索与实验阶段追溯至20世纪50年代，虽受限于技术条件，但开启了先河；沉淀积累期自1990年起，实现从实验室到实际应用的转变；自2010年后快速发展，得益于生成算法等技术进步，尤其在2022年至2024年间迎来创新突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这段我将以AIGC技术基础为核心，带您了解生成算法的精妙、预训练模型的威力以及多模态技术的融合之美，共同探索人工智能如何重塑内容创作边界。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我将以“生成算法”为核心，阐述其在AIGC发展中的核心作用。它通过接收数据并运算生成预训练模型，是内容自动生成过程中不可或缺的核心部分。随着技术进步，生成算法在提升内容生产效率、降低生产门槛方面发挥重要作用，让内容创作更高效便捷。同时，它支持内容的个性化和开放化趋势，满足用户定制需求，促进内容多样性与创新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，我们将深入探讨预训练模型及其对AIGC发展的影响。首先，预训练模型是AIGC领域的核心，它通过大规模数据运算生成复杂模型，为后续的AI绘图技术打下基础。接下来，让我们关注2022年8月发布的StableDiffusion模型。这一创新不仅奠定了AI绘图模型的发展基石，更推动了整个AIGC领域的进步。最后，我们不得不提及ChatGPT，这是OpenAI基于GPT-3.5与人类反馈强化学习机制（RLHF）推出的产品。其核心技术正是预训练模型，再次证明了预训练模型在当前AI发展中的不可或缺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这部分将以多模态技术为主题展开。多模态技术是AIGC发展的关键，融合不同模型处理多种数据类型内容。其应用实例包括Stable Diffusion利用GAN生成艺术作品，OpenAI的Sora根据文本提示创建逼真视频。目前，多模态技术在理解和模拟真实物理世界方面取得进展，推动AIGC发展，为内容创作带来新可能与工具。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这部分将聚焦AIGC与大模型关系，探讨二者内在联系。其中涉及技术支持层面的关键要点，以及它们在应用领域重合方面的情况，带大家深入了解这一重要内容。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我将以AIGC背后的技术支持为重点展开。首先，深度学习的崛起通过仿人脑神经元机制，赋予其强大的数据处理与自适应能力；其次，大模型的应用扩展了AIGC在多模态内容创作领域的边界，显著提升了效能；最后，依托这些技术优势，AIGC正快速发展，为人工智能领域开辟新天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，我将探讨大模型在自然语言处理与计算机视觉领域的显著应用，并分析其在内容创作中的影响力。首先，自然语言处理领域见证了大模型带来的革命性突破，这些模型深化了对语言的理解与生成能力，极大促进了机器翻译、情感分析等技术的进步。紧接着，计算机视觉方面，借助深度学习与大数据分析的力量，大模型在图像识别与视频解析上取得了飞跃，为自动驾驶和医疗影像诊断等关键领域提供了坚实基础。最后，AIGC领域展示了大模型在内容创作中的应用潜力，不仅提升了生产效率，更拓宽了创意表达的新境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这部分将以AIGC的应用为核心，探索其如何通过文本生成、文本处理、图像生成、视频生成及语音生成这些关键工具，重塑内容创作的方式，展现人工智能技术在各个领域内的创新应用和广泛潜力。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我将聚焦于文本生成工具的核心价值。文本生成工具依托AI技术，实现高质量文本的自动产出，覆盖从基础编辑到深度创作，全面提速写作流程。它们不仅支撑文章与报告的一键生成，还集成语法校验、精准翻译及内容润色等功能，服务于新闻发布、市场营销、教育科研等广泛场景，极大拓宽了创意表达的疆域。面对众多特色鲜明的工具，如Nation AI的多语言精通、讯飞听见的场景化专长、笔灵AI的文档高效处理能力，合理选型成为释放生产力的关键。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，我将向大家介绍几种高效的文本处理工具。腾讯文涌Effidit作为一款内容创作工具，集成了智能纠错、文本续写、润色及词句推荐等强大功能，旨在帮助用户提升写作效率与质量。紧接着，据意查句WantQuotes通过输入关键词，能够快速检索到相关的名言、诗句、俗语或成语，为用户提供丰富的语言素材支持。最后，讯飞星火凭借其在文本生成、语言理解、知识问答以及多模态交互方面的卓越能力，不仅限于资料查询和翻译服务，还能根据描述生成文本内容，甚至包括视频和音频，极大地扩展了文本处理的可能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这部分，我将向您介绍当前市场上三款领先的图像生成工具：Midjourney、稿定设计，以及Stable Diffusion。首先，我们关注Midjourney，这款AIGC图像工具已经迎来了V5版本的升级。这一更新着重优化了手部和眼部特写，以及光影处理的仿真度，显著提升了用户的图像生成体验。接着，让我们转向稿定设计。这个平台不仅在AI绘图和设计方面表现出色，还融合了AI文案的功能。它特别适用于公众号封面图和日常配图的制作，极大地提升了内容创作的效率与质量。最后，Stable Diffusion凭借其深度学习模型——GAN（生成对抗网络），能够模仿艺术家的独特创作风格，从而产出高质量的数字艺术作品。这项技术为艺术创作领域开辟了全新的道路。以上就是目前市场上备受瞩目的三大图像生成工具的简要概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这部分介绍几种创新的视频生成工具。首先是Make-A-Video，它利用先进的图像合成和预测技术，仅需简短的文字提示就能快速生成创意短视频。接着是Pika Labs，这一工具通过提词器实现画面元素的动态控制与转换，智能识别并填补画面中的缺失内容，确保视觉连贯性。最后，腾讯智影提供了一站式视频制作服务，涵盖素材收集至发布的全过程，并支持正版版权素材。用户还可以上传个人照片和文本来创建数字人视频，极大地丰富了视频内容的多样性与个性化选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我将以语音生成工具为核心，展开三项技术的探讨。首先是文本到语音合成技术，该技术实现了输入文本后，能模拟特定说话者的语音输出，广泛应用于机器人和语音播报任务，标志着技术已达相对成熟阶段，未来发展方向聚焦于情感化表达及少量样本学习。紧接着是语音克隆应用，其核心在于以目标说话人的语音样本为蓝本，转换任意语音或文本为该特定说话者的语音，主要服务于智能配音领域，满足个性化语音输出的需求。最后，快速音乐创作能力，得益于先进算法与强大处理能力的加持，使得即便没有音乐背景的用户也能在瞬间创作出原创歌曲，这不仅是技术创新的体现，也是艺术创作的新途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这部分将以“AIGC带来的革新”为主题展开。AIGC极大提升内容生产效率，增加质量和多样性并助力创新，还有对话式搜索、数字媒体适配等亮点，在多个领域引发产业变革。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将聚焦于AIGC技术如何显著提升内容生产效率。首先，AIGC技术通过自动生成多种形式的内容，为创意行业提供了强大技术支持；其次，智能创作工具的应用极大地提高了日常工作效率和质量；最后，AIGC还能助力实现个性化内容创新，满足用户定制化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我将聚焦于AIGC技术如何显著增强内容的质量与多样性。首先，AIGC技术依托深度学习和大数据分析的能力，实现了内容的高质量生成，其准确性和专业性远超传统人类创作，极大地提升了内容的可靠性。接下来，我们探讨AIGC如何推动个性化内容的创新。通过深入理解用户需求与偏好，AIGC能够定制化产出独特的内容，为每位用户带来前所未有的独特体验，这标志着内容消费从大众化向个性化的转变。最后，强调AIGC技术在内容创作领域的革新作用——创意与实现的分离。这一变革让创作者得以从执行细节中解放出来，专注于创新互动形式与灵感捕捉，促进了内容表现形式的多样化与深度发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我将以助力内容创新为主题展开。首先，AIGC技术革新了内容创作，凭借智能算法自动生成个性化内容，提升创作效率与多样性，为创作者提供创新工具。其次，AIGC实现创意与制作分离，让创作者专注灵感创意，重复劳动交由AI完成。最后，利用AIGC可探索新互动形式，如动态内容、个性化推荐等，推动内容消费模式创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，我们将聚焦于对话式搜索的核心概念、其独特优势，以及在实际应用中的典范例证。首先探讨对话式搜索的定义。本质上，它是人工智能生成内容（AIGC）技术的前沿应用，巧妙地将传统搜索流程转变为与聊天机器人的交互体验。在此模式下，用户通过与AI进行自然语言沟通，逐步引导对话直至获得期望的答案。这一过程不仅简化了信息检索，也极大地提升了用户体验的效率与满意度。接下来，让我们深入理解对话式搜索所具备的优势。与传统搜索引擎相比，对话式搜索能够提供更为精准且个性化的结果。它不仅仅是返回一系列可能相关的网页链接，而是根据用户的即时需求和上下文环境，动态地调整响应策略，确保输出信息的相关性和针对性，从而更贴近用户的实际意图。最后，我们通过一个具体的应用实例来具体阐述对话式搜索的现实意义。以新版BING为例，用户只需轻点搜索栏旁的“聊天”选项，便能即刻启动与AI的互动对话。这种创新的搜索方式，让用户在询问、探索直至获得建议的过程中，享受到流畅而直观的服务体验，充分展示了对话式搜索在实际场景中的强大功能与潜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这部分我将聚焦数字媒体适配。AIGC 技术与数字媒体融合，借助语言整合和文字输出适配资讯平台类媒体，拓展内容创作新路径。BuzzFeed 计划利用 OpenAI 的 API 将 AI 辅助创作从研发转向核心业务。同时，借助 AI 生成个性化文本内容，如依据用户测验反应定制，以提升用户体验和参与度。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将围绕企业服务优化展开。AIGC技术借助分析历史数据，精准匹配客服人员与客户，考虑多因素以提供个性化服务体验。引入该技术后，能快速完成匹配，缩短客户等待时间，提升效率。同时，它助力企业理解客户需求，分析互动方式，为客户提供更有效解决方案，进而提高客户满意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将探讨数字人技术在各行业的应用，涵盖电商直播革新、新闻播报智能化及接待指引自动化。数字人在电商领域，借AI虚拟人物与动态捕捉技术革新营销，提升转化率；于新闻播报，凭借理性评述与稳定效果优化报道质量；在服务端，作为智能接待员，为顾客答疑推介商品，优化体验并提高服务效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部分我将以产业变革为核心，探讨其三大关键影响：首先，AIGC技术的革新性应用极大地提升了内容生产效率与降低成本，引领创意行业革命。其次，通过深度学习，AIGC在内容质量与多样性上有望超越人类，促进内容创新边界拓展。最后，对话式搜索的兴起，融合了AIGC与ChatGPT技术，正将搜索引擎转变为互动对话平台，精准回应用户需求，彻底优化信息获取体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尊敬的各位，感谢聆听。本次演讲探讨了AIGC技术的概述、基础、与大模型的关系及其广泛应用和带来的革新。AIGC不仅提升了内容生成的效率和质量，还引领了新的技术潮流，未来前景广阔，值得深入探索。谢谢大家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6.jpe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5.jpeg"/><Relationship Id="rId2" Type="http://schemas.openxmlformats.org/officeDocument/2006/relationships/tags" Target="../tags/tag1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jpe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5" Type="http://schemas.openxmlformats.org/officeDocument/2006/relationships/notesSlide" Target="../notesSlides/notesSlide16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jpe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jpeg"/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0.jpeg"/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3.jpeg"/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80396" y="1540323"/>
            <a:ext cx="3768559" cy="79184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3455" b="1" kern="0" spc="144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AIGC技术</a:t>
            </a:r>
            <a:endParaRPr lang="en-US" sz="1440" dirty="0"/>
          </a:p>
        </p:txBody>
      </p:sp>
      <p:sp>
        <p:nvSpPr>
          <p:cNvPr id="4" name="Text 1"/>
          <p:cNvSpPr/>
          <p:nvPr/>
        </p:nvSpPr>
        <p:spPr>
          <a:xfrm>
            <a:off x="780396" y="3039939"/>
            <a:ext cx="4322586" cy="4846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从内容创作到产业变革</a:t>
            </a:r>
            <a:endParaRPr lang="en-US" sz="1440" dirty="0"/>
          </a:p>
        </p:txBody>
      </p:sp>
      <p:sp>
        <p:nvSpPr>
          <p:cNvPr id="6" name="Shape 3"/>
          <p:cNvSpPr/>
          <p:nvPr/>
        </p:nvSpPr>
        <p:spPr>
          <a:xfrm>
            <a:off x="897176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7" name="Shape 4"/>
          <p:cNvSpPr/>
          <p:nvPr/>
        </p:nvSpPr>
        <p:spPr>
          <a:xfrm>
            <a:off x="1250653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8" name="Shape 5"/>
          <p:cNvSpPr/>
          <p:nvPr/>
        </p:nvSpPr>
        <p:spPr>
          <a:xfrm>
            <a:off x="1604131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15396" y="424488"/>
            <a:ext cx="4313208" cy="10881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750" b="1" dirty="0">
                <a:solidFill>
                  <a:srgbClr val="1859AE">
                    <a:alpha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1440" dirty="0"/>
          </a:p>
        </p:txBody>
      </p:sp>
      <p:sp>
        <p:nvSpPr>
          <p:cNvPr id="4" name="Text 1"/>
          <p:cNvSpPr/>
          <p:nvPr/>
        </p:nvSpPr>
        <p:spPr>
          <a:xfrm>
            <a:off x="3734023" y="685104"/>
            <a:ext cx="1675953" cy="7315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1520202" y="1810315"/>
            <a:ext cx="3236976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AIGC概述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966844" y="1755451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30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7" name="Text 4"/>
          <p:cNvSpPr/>
          <p:nvPr/>
        </p:nvSpPr>
        <p:spPr>
          <a:xfrm>
            <a:off x="5334968" y="1810315"/>
            <a:ext cx="3236855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AIGC技术基础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4781610" y="1755451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30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1520354" y="2438812"/>
            <a:ext cx="3236976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AIGC与大模型关系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966996" y="2383948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30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5334846" y="2438812"/>
            <a:ext cx="3236976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AIGC的应用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4781488" y="2383948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30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1520281" y="3067310"/>
            <a:ext cx="3236976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AIGC带来的革新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966924" y="3012446"/>
            <a:ext cx="713232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30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58045" y="1664502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585216" h="585216">
                <a:moveTo>
                  <a:pt x="73152" y="0"/>
                </a:moveTo>
                <a:moveTo>
                  <a:pt x="73152" y="0"/>
                </a:moveTo>
                <a:lnTo>
                  <a:pt x="512064" y="0"/>
                </a:lnTo>
                <a:quadBezTo>
                  <a:pt x="585216" y="0"/>
                  <a:pt x="585216" y="73152"/>
                </a:quadBezTo>
                <a:lnTo>
                  <a:pt x="585216" y="512064"/>
                </a:lnTo>
                <a:quadBezTo>
                  <a:pt x="585216" y="585216"/>
                  <a:pt x="512064" y="585216"/>
                </a:quadBezTo>
                <a:lnTo>
                  <a:pt x="73152" y="585216"/>
                </a:lnTo>
                <a:quadBezTo>
                  <a:pt x="0" y="585216"/>
                  <a:pt x="0" y="512064"/>
                </a:quadBezTo>
                <a:lnTo>
                  <a:pt x="0" y="73152"/>
                </a:lnTo>
                <a:quadBezTo>
                  <a:pt x="0" y="0"/>
                  <a:pt x="73152" y="0"/>
                </a:quad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4" name="Text 1"/>
          <p:cNvSpPr/>
          <p:nvPr/>
        </p:nvSpPr>
        <p:spPr>
          <a:xfrm>
            <a:off x="830029" y="1682790"/>
            <a:ext cx="841248" cy="5486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865937" y="2437790"/>
            <a:ext cx="7518197" cy="7315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AIGC概述</a:t>
            </a:r>
            <a:endParaRPr lang="en-US" sz="1440" dirty="0"/>
          </a:p>
        </p:txBody>
      </p:sp>
      <p:sp>
        <p:nvSpPr>
          <p:cNvPr id="6" name="Shape 3"/>
          <p:cNvSpPr/>
          <p:nvPr/>
        </p:nvSpPr>
        <p:spPr>
          <a:xfrm>
            <a:off x="897176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7" name="Shape 4"/>
          <p:cNvSpPr/>
          <p:nvPr/>
        </p:nvSpPr>
        <p:spPr>
          <a:xfrm>
            <a:off x="1250653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8" name="Shape 5"/>
          <p:cNvSpPr/>
          <p:nvPr/>
        </p:nvSpPr>
        <p:spPr>
          <a:xfrm>
            <a:off x="1604131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607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定义与特点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pic>
        <p:nvPicPr>
          <p:cNvPr id="7" name="Image 0" descr="https://sgw-dx.xf-yun.com/api/v1/sparkdesk/_1740055398104eaca5f7c7f2144b3978bdb7ada870846.jpg?authorization=c2ltcGxlLWp3dCBhaz1zcGFya2Rlc2s4MDAwMDAwMDAwMDE7ZXhwPTMzMTY4NTUzOTg7YWxnbz1obWFjLXNoYTI1NjtzaWc9b0RBQ1RPR2Uxbzd5K29LUURaVENoakJrOXhsQ1BSR0ZkMWxzMlVzMVAycz0=&amp;x_location=7YfmxI7B7uKO7jlRxIftd60uePD=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88372" y="1088132"/>
            <a:ext cx="2283193" cy="1282693"/>
          </a:xfrm>
          <a:prstGeom prst="rect">
            <a:avLst/>
          </a:prstGeom>
        </p:spPr>
      </p:pic>
      <p:sp>
        <p:nvSpPr>
          <p:cNvPr id="8" name="Text 4"/>
          <p:cNvSpPr/>
          <p:nvPr>
            <p:custDataLst>
              <p:tags r:id="rId4"/>
            </p:custDataLst>
          </p:nvPr>
        </p:nvSpPr>
        <p:spPr>
          <a:xfrm>
            <a:off x="786384" y="2446016"/>
            <a:ext cx="2487168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AIGC的定义</a:t>
            </a:r>
            <a:endParaRPr lang="en-US" sz="1440" dirty="0"/>
          </a:p>
        </p:txBody>
      </p:sp>
      <p:sp>
        <p:nvSpPr>
          <p:cNvPr id="9" name="Text 5"/>
          <p:cNvSpPr/>
          <p:nvPr>
            <p:custDataLst>
              <p:tags r:id="rId5"/>
            </p:custDataLst>
          </p:nvPr>
        </p:nvSpPr>
        <p:spPr>
          <a:xfrm>
            <a:off x="822960" y="2773736"/>
            <a:ext cx="2414016" cy="14996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AIGC，即Artificial Intelligence Generated Content，是一种利用人工智能技术自动生成文本、图片、音乐甚至视频的内容创作方式，它既是一种内容形态，也是一种内容生成的技术合集。</a:t>
            </a:r>
            <a:endParaRPr lang="en-US" sz="1440" dirty="0"/>
          </a:p>
        </p:txBody>
      </p:sp>
      <p:pic>
        <p:nvPicPr>
          <p:cNvPr id="10" name="Image 1" descr="https://sgw-dx.xf-yun.com/api/v1/sparkdesk/_1740055401201c5e02892e121461b8b0bc2e565f38a40.jpg?authorization=c2ltcGxlLWp3dCBhaz1zcGFya2Rlc2s4MDAwMDAwMDAwMDE7ZXhwPTMzMTY4NTU0MDE7YWxnbz1obWFjLXNoYTI1NjtzaWc9NkVnZWRMVC92UlJXN1NoOFd6aGVGQkMxN0xJUWR6cUtvYkF5K0xCUnRaRT0=&amp;x_location=7YfmxI7B7uKO7jlRxIftd60uePD=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466980" y="1088132"/>
            <a:ext cx="2283193" cy="1282693"/>
          </a:xfrm>
          <a:prstGeom prst="rect">
            <a:avLst/>
          </a:prstGeom>
        </p:spPr>
      </p:pic>
      <p:sp>
        <p:nvSpPr>
          <p:cNvPr id="11" name="Text 6"/>
          <p:cNvSpPr/>
          <p:nvPr>
            <p:custDataLst>
              <p:tags r:id="rId8"/>
            </p:custDataLst>
          </p:nvPr>
        </p:nvSpPr>
        <p:spPr>
          <a:xfrm>
            <a:off x="3328416" y="2446016"/>
            <a:ext cx="2487168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AIGC的特点</a:t>
            </a:r>
            <a:endParaRPr lang="en-US" sz="1440" dirty="0"/>
          </a:p>
        </p:txBody>
      </p:sp>
      <p:sp>
        <p:nvSpPr>
          <p:cNvPr id="12" name="Text 7"/>
          <p:cNvSpPr/>
          <p:nvPr>
            <p:custDataLst>
              <p:tags r:id="rId9"/>
            </p:custDataLst>
          </p:nvPr>
        </p:nvSpPr>
        <p:spPr>
          <a:xfrm>
            <a:off x="3401568" y="2773736"/>
            <a:ext cx="2414016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AIGC具有内容形态多样、技术基础强大、提高效率与准确性、个性化和开放化趋势等特点，这些特点使得AIGC在内容创作方面具有更高的效率和准确性。</a:t>
            </a:r>
            <a:endParaRPr lang="en-US" sz="144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49925" y="1088390"/>
            <a:ext cx="3060065" cy="1480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发展历程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Shape 4"/>
          <p:cNvSpPr/>
          <p:nvPr/>
        </p:nvSpPr>
        <p:spPr>
          <a:xfrm>
            <a:off x="1528754" y="1041561"/>
            <a:ext cx="362032" cy="362032"/>
          </a:xfrm>
          <a:custGeom>
            <a:avLst/>
            <a:gdLst/>
            <a:ahLst/>
            <a:cxnLst/>
            <a:rect l="l" t="t" r="r" b="b"/>
            <a:pathLst>
              <a:path w="362032" h="362032">
                <a:moveTo>
                  <a:pt x="181016" y="0"/>
                </a:moveTo>
                <a:moveTo>
                  <a:pt x="181016" y="0"/>
                </a:moveTo>
                <a:cubicBezTo>
                  <a:pt x="280921" y="0"/>
                  <a:pt x="362032" y="81111"/>
                  <a:pt x="362032" y="181016"/>
                </a:cubicBezTo>
                <a:cubicBezTo>
                  <a:pt x="362032" y="280921"/>
                  <a:pt x="280921" y="362032"/>
                  <a:pt x="181016" y="362032"/>
                </a:cubicBezTo>
                <a:cubicBezTo>
                  <a:pt x="81111" y="362032"/>
                  <a:pt x="0" y="280921"/>
                  <a:pt x="0" y="181016"/>
                </a:cubicBezTo>
                <a:cubicBezTo>
                  <a:pt x="0" y="81111"/>
                  <a:pt x="81111" y="0"/>
                  <a:pt x="18101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8" name="Shape 5"/>
          <p:cNvSpPr/>
          <p:nvPr/>
        </p:nvSpPr>
        <p:spPr>
          <a:xfrm>
            <a:off x="5687275" y="1041561"/>
            <a:ext cx="362032" cy="362032"/>
          </a:xfrm>
          <a:custGeom>
            <a:avLst/>
            <a:gdLst/>
            <a:ahLst/>
            <a:cxnLst/>
            <a:rect l="l" t="t" r="r" b="b"/>
            <a:pathLst>
              <a:path w="362032" h="362032">
                <a:moveTo>
                  <a:pt x="181016" y="0"/>
                </a:moveTo>
                <a:moveTo>
                  <a:pt x="181016" y="0"/>
                </a:moveTo>
                <a:cubicBezTo>
                  <a:pt x="280921" y="0"/>
                  <a:pt x="362032" y="81111"/>
                  <a:pt x="362032" y="181016"/>
                </a:cubicBezTo>
                <a:cubicBezTo>
                  <a:pt x="362032" y="280921"/>
                  <a:pt x="280921" y="362032"/>
                  <a:pt x="181016" y="362032"/>
                </a:cubicBezTo>
                <a:cubicBezTo>
                  <a:pt x="81111" y="362032"/>
                  <a:pt x="0" y="280921"/>
                  <a:pt x="0" y="181016"/>
                </a:cubicBezTo>
                <a:cubicBezTo>
                  <a:pt x="0" y="81111"/>
                  <a:pt x="81111" y="0"/>
                  <a:pt x="18101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9" name="Shape 6"/>
          <p:cNvSpPr/>
          <p:nvPr/>
        </p:nvSpPr>
        <p:spPr>
          <a:xfrm>
            <a:off x="3542750" y="2852974"/>
            <a:ext cx="362032" cy="362032"/>
          </a:xfrm>
          <a:custGeom>
            <a:avLst/>
            <a:gdLst/>
            <a:ahLst/>
            <a:cxnLst/>
            <a:rect l="l" t="t" r="r" b="b"/>
            <a:pathLst>
              <a:path w="362032" h="362032">
                <a:moveTo>
                  <a:pt x="181016" y="0"/>
                </a:moveTo>
                <a:moveTo>
                  <a:pt x="181016" y="0"/>
                </a:moveTo>
                <a:cubicBezTo>
                  <a:pt x="280921" y="0"/>
                  <a:pt x="362032" y="81111"/>
                  <a:pt x="362032" y="181016"/>
                </a:cubicBezTo>
                <a:cubicBezTo>
                  <a:pt x="362032" y="280921"/>
                  <a:pt x="280921" y="362032"/>
                  <a:pt x="181016" y="362032"/>
                </a:cubicBezTo>
                <a:cubicBezTo>
                  <a:pt x="81111" y="362032"/>
                  <a:pt x="0" y="280921"/>
                  <a:pt x="0" y="181016"/>
                </a:cubicBezTo>
                <a:cubicBezTo>
                  <a:pt x="0" y="81111"/>
                  <a:pt x="81111" y="0"/>
                  <a:pt x="18101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10" name="Text 7"/>
          <p:cNvSpPr/>
          <p:nvPr/>
        </p:nvSpPr>
        <p:spPr>
          <a:xfrm>
            <a:off x="1890785" y="896569"/>
            <a:ext cx="2428566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早期探索与实验</a:t>
            </a:r>
            <a:endParaRPr lang="en-US" sz="1440" dirty="0"/>
          </a:p>
        </p:txBody>
      </p:sp>
      <p:pic>
        <p:nvPicPr>
          <p:cNvPr id="11" name="Image 0" descr="https://sgw-dx.xf-yun.com/api/v1/sparkdesk/_1740055397099ba8759d980f74dd9b81f4bbd60d6b769.jpg?authorization=c2ltcGxlLWp3dCBhaz1zcGFya2Rlc2s4MDAwMDAwMDAwMDE7ZXhwPTMzMTY4NTUzOTc7YWxnbz1obWFjLXNoYTI1NjtzaWc9Z1hqNG0zNForcVNxUGxKNlhpSFhoVTNYL3N4WTdiMGxlRjI0T1ltTWk0OD0=&amp;x_location=7YfmxI7B7uKO7jlRxIftd60uePD="/>
          <p:cNvPicPr>
            <a:picLocks noChangeAspect="1"/>
          </p:cNvPicPr>
          <p:nvPr/>
        </p:nvPicPr>
        <p:blipFill>
          <a:blip r:embed="rId2"/>
          <a:srcRect l="21910" r="21910"/>
          <a:stretch>
            <a:fillRect/>
          </a:stretch>
        </p:blipFill>
        <p:spPr>
          <a:xfrm>
            <a:off x="498274" y="1041561"/>
            <a:ext cx="1392512" cy="1392512"/>
          </a:xfrm>
          <a:prstGeom prst="ellipse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90785" y="1291590"/>
            <a:ext cx="2428566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AIGC的概念最早可追溯至20世纪50年代，但直到1990年前，受限于当时的技术条件，AIGC主要处于小规模的实验阶段，尚未广泛应用于实际场景。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6049307" y="896569"/>
            <a:ext cx="2428566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沉淀积累与初步应用</a:t>
            </a:r>
            <a:endParaRPr lang="en-US" sz="1440" dirty="0"/>
          </a:p>
        </p:txBody>
      </p:sp>
      <p:pic>
        <p:nvPicPr>
          <p:cNvPr id="14" name="Image 1" descr="https://sgw-dx.xf-yun.com/api/v1/sparkdesk/_17400553999086a1a69fe1ed845f7b061a04084710453.jpg?authorization=c2ltcGxlLWp3dCBhaz1zcGFya2Rlc2s4MDAwMDAwMDAwMDE7ZXhwPTMzMTY4NTUzOTk7YWxnbz1obWFjLXNoYTI1NjtzaWc9b3dzS2tZNzZiWHZJMlZaMGU3L2RleVV4eUxFL3NNNndBcTVUeUt6NmFHTT0=&amp;x_location=7YfmxI7B7uKO7jlRxIftd60uePD="/>
          <p:cNvPicPr>
            <a:picLocks noChangeAspect="1"/>
          </p:cNvPicPr>
          <p:nvPr/>
        </p:nvPicPr>
        <p:blipFill>
          <a:blip r:embed="rId3"/>
          <a:srcRect l="21910" r="21910"/>
          <a:stretch>
            <a:fillRect/>
          </a:stretch>
        </p:blipFill>
        <p:spPr>
          <a:xfrm>
            <a:off x="4656795" y="1041561"/>
            <a:ext cx="1392512" cy="1392512"/>
          </a:xfrm>
          <a:prstGeom prst="ellipse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49307" y="1291590"/>
            <a:ext cx="2428566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从1990年到2010年，AIGC经历了关键的沉淀积累期，此阶段见证了从实验室到实际应用的转变，尽管面临算法瓶颈，但为后续发展奠定了基础。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3904782" y="2707982"/>
            <a:ext cx="2428566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快速发展与创新突破</a:t>
            </a:r>
            <a:endParaRPr lang="en-US" sz="1440" dirty="0"/>
          </a:p>
        </p:txBody>
      </p:sp>
      <p:pic>
        <p:nvPicPr>
          <p:cNvPr id="17" name="Image 2" descr="https://sgw-dx.xf-yun.com/api/v1/sparkdesk/_174005540275441b6ba3810d540fbae268e1279097a7e.jpg?authorization=c2ltcGxlLWp3dCBhaz1zcGFya2Rlc2s4MDAwMDAwMDAwMDE7ZXhwPTMzMTY4NTU0MDI7YWxnbz1obWFjLXNoYTI1NjtzaWc9bWJpUVhYYUpCbjFUcDZsYXE5em1CWjlHUkRGZXBjVHhLWFZBOWJPbkNtYz0=&amp;x_location=7YfmxI7B7uKO7jlRxIftd60uePD="/>
          <p:cNvPicPr>
            <a:picLocks noChangeAspect="1"/>
          </p:cNvPicPr>
          <p:nvPr/>
        </p:nvPicPr>
        <p:blipFill>
          <a:blip r:embed="rId4"/>
          <a:srcRect l="21910" r="21910"/>
          <a:stretch>
            <a:fillRect/>
          </a:stretch>
        </p:blipFill>
        <p:spPr>
          <a:xfrm>
            <a:off x="2512271" y="2852974"/>
            <a:ext cx="1392512" cy="1392512"/>
          </a:xfrm>
          <a:prstGeom prst="ellipse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904782" y="3103003"/>
            <a:ext cx="2428566" cy="14996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自2010年以来，随着生成算法、预训练模型和多模态技术的不断进步，AIGC领域实现了快速发展，特别是2022年至2024年间，多款创新产品的发布标志着该领域的重大飞跃。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发展历程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pic>
        <p:nvPicPr>
          <p:cNvPr id="2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" y="984885"/>
            <a:ext cx="7204710" cy="32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58045" y="1664502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585216" h="585216">
                <a:moveTo>
                  <a:pt x="73152" y="0"/>
                </a:moveTo>
                <a:moveTo>
                  <a:pt x="73152" y="0"/>
                </a:moveTo>
                <a:lnTo>
                  <a:pt x="512064" y="0"/>
                </a:lnTo>
                <a:quadBezTo>
                  <a:pt x="585216" y="0"/>
                  <a:pt x="585216" y="73152"/>
                </a:quadBezTo>
                <a:lnTo>
                  <a:pt x="585216" y="512064"/>
                </a:lnTo>
                <a:quadBezTo>
                  <a:pt x="585216" y="585216"/>
                  <a:pt x="512064" y="585216"/>
                </a:quadBezTo>
                <a:lnTo>
                  <a:pt x="73152" y="585216"/>
                </a:lnTo>
                <a:quadBezTo>
                  <a:pt x="0" y="585216"/>
                  <a:pt x="0" y="512064"/>
                </a:quadBezTo>
                <a:lnTo>
                  <a:pt x="0" y="73152"/>
                </a:lnTo>
                <a:quadBezTo>
                  <a:pt x="0" y="0"/>
                  <a:pt x="73152" y="0"/>
                </a:quad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4" name="Text 1"/>
          <p:cNvSpPr/>
          <p:nvPr/>
        </p:nvSpPr>
        <p:spPr>
          <a:xfrm>
            <a:off x="830029" y="1682790"/>
            <a:ext cx="841248" cy="5486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865937" y="2437790"/>
            <a:ext cx="7518197" cy="7315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AIGC技术基础</a:t>
            </a:r>
            <a:endParaRPr lang="en-US" sz="1440" dirty="0"/>
          </a:p>
        </p:txBody>
      </p:sp>
      <p:sp>
        <p:nvSpPr>
          <p:cNvPr id="6" name="Shape 3"/>
          <p:cNvSpPr/>
          <p:nvPr/>
        </p:nvSpPr>
        <p:spPr>
          <a:xfrm>
            <a:off x="897176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7" name="Shape 4"/>
          <p:cNvSpPr/>
          <p:nvPr/>
        </p:nvSpPr>
        <p:spPr>
          <a:xfrm>
            <a:off x="1250653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8" name="Shape 5"/>
          <p:cNvSpPr/>
          <p:nvPr/>
        </p:nvSpPr>
        <p:spPr>
          <a:xfrm>
            <a:off x="1604131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607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生成算法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Shape 4"/>
          <p:cNvSpPr/>
          <p:nvPr/>
        </p:nvSpPr>
        <p:spPr>
          <a:xfrm>
            <a:off x="447956" y="1929366"/>
            <a:ext cx="8248087" cy="2346713"/>
          </a:xfrm>
          <a:custGeom>
            <a:avLst/>
            <a:gdLst/>
            <a:ahLst/>
            <a:cxnLst/>
            <a:rect l="l" t="t" r="r" b="b"/>
            <a:pathLst>
              <a:path w="8248087" h="2346713">
                <a:moveTo>
                  <a:pt x="293339" y="0"/>
                </a:moveTo>
                <a:moveTo>
                  <a:pt x="293339" y="0"/>
                </a:moveTo>
                <a:lnTo>
                  <a:pt x="7954748" y="0"/>
                </a:lnTo>
                <a:quadBezTo>
                  <a:pt x="8248087" y="0"/>
                  <a:pt x="8248087" y="293339"/>
                </a:quadBezTo>
                <a:lnTo>
                  <a:pt x="8248087" y="2053374"/>
                </a:lnTo>
                <a:quadBezTo>
                  <a:pt x="8248087" y="2346713"/>
                  <a:pt x="7954748" y="2346713"/>
                </a:quadBezTo>
                <a:lnTo>
                  <a:pt x="293339" y="2346713"/>
                </a:lnTo>
                <a:quadBezTo>
                  <a:pt x="0" y="2346713"/>
                  <a:pt x="0" y="2053374"/>
                </a:quadBezTo>
                <a:lnTo>
                  <a:pt x="0" y="293339"/>
                </a:lnTo>
                <a:quadBezTo>
                  <a:pt x="0" y="0"/>
                  <a:pt x="293339" y="0"/>
                </a:quadBezTo>
                <a:close/>
              </a:path>
            </a:pathLst>
          </a:custGeom>
          <a:solidFill>
            <a:srgbClr val="1859AE">
              <a:alpha val="10000"/>
            </a:srgbClr>
          </a:solidFill>
          <a:ln w="19050">
            <a:solidFill>
              <a:srgbClr val="1859A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39" y="867420"/>
            <a:ext cx="914400" cy="9144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126739" y="86742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36445" y="995436"/>
            <a:ext cx="784215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7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11" name="Shape 6"/>
          <p:cNvSpPr/>
          <p:nvPr/>
        </p:nvSpPr>
        <p:spPr>
          <a:xfrm>
            <a:off x="1745836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>
              <a:alpha val="80000"/>
            </a:srgbClr>
          </a:solidFill>
        </p:spPr>
      </p:sp>
      <p:sp>
        <p:nvSpPr>
          <p:cNvPr id="12" name="Shape 7"/>
          <p:cNvSpPr/>
          <p:nvPr/>
        </p:nvSpPr>
        <p:spPr>
          <a:xfrm>
            <a:off x="1949699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/>
          </a:solidFill>
        </p:spPr>
      </p:sp>
      <p:sp>
        <p:nvSpPr>
          <p:cNvPr id="13" name="Shape 8"/>
          <p:cNvSpPr/>
          <p:nvPr/>
        </p:nvSpPr>
        <p:spPr>
          <a:xfrm>
            <a:off x="2153562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>
              <a:alpha val="80000"/>
            </a:srgbClr>
          </a:solidFill>
        </p:spPr>
      </p:sp>
      <p:sp>
        <p:nvSpPr>
          <p:cNvPr id="14" name="Text 9"/>
          <p:cNvSpPr/>
          <p:nvPr/>
        </p:nvSpPr>
        <p:spPr>
          <a:xfrm>
            <a:off x="825904" y="2045733"/>
            <a:ext cx="2430470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生成算法的核心作用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825904" y="2448069"/>
            <a:ext cx="2430470" cy="106070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生成算法是AIGC发展的关键，它通过接收数据并运算生成预训练模型，成为内容自动生成过程中不可或缺的核心部分。</a:t>
            </a:r>
            <a:endParaRPr lang="en-US" sz="144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67420"/>
            <a:ext cx="914400" cy="914400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657600" y="867420"/>
            <a:ext cx="914400" cy="914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152608" y="995436"/>
            <a:ext cx="849850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7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19" name="Text 12"/>
          <p:cNvSpPr/>
          <p:nvPr/>
        </p:nvSpPr>
        <p:spPr>
          <a:xfrm>
            <a:off x="3356765" y="2045733"/>
            <a:ext cx="2430470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技术进步与生产效率</a:t>
            </a:r>
            <a:endParaRPr lang="en-US" sz="1440" dirty="0"/>
          </a:p>
        </p:txBody>
      </p:sp>
      <p:sp>
        <p:nvSpPr>
          <p:cNvPr id="20" name="Text 13"/>
          <p:cNvSpPr/>
          <p:nvPr/>
        </p:nvSpPr>
        <p:spPr>
          <a:xfrm>
            <a:off x="3356765" y="2448069"/>
            <a:ext cx="2430470" cy="106070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随着技术的不断进步，生成算法在提升内容生产效率、降低生产门槛方面发挥着重要作用，使得内容创作更加高效便捷。</a:t>
            </a:r>
            <a:endParaRPr lang="en-US" sz="144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861" y="867420"/>
            <a:ext cx="914400" cy="914400"/>
          </a:xfrm>
          <a:prstGeom prst="rect">
            <a:avLst/>
          </a:prstGeom>
        </p:spPr>
      </p:pic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188461" y="867420"/>
            <a:ext cx="914400" cy="9144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676289" y="995436"/>
            <a:ext cx="817032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7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  <p:sp>
        <p:nvSpPr>
          <p:cNvPr id="24" name="Text 15"/>
          <p:cNvSpPr/>
          <p:nvPr/>
        </p:nvSpPr>
        <p:spPr>
          <a:xfrm>
            <a:off x="5887626" y="2045733"/>
            <a:ext cx="2430470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个性化与开放化趋势</a:t>
            </a:r>
            <a:endParaRPr lang="en-US" sz="1440" dirty="0"/>
          </a:p>
        </p:txBody>
      </p:sp>
      <p:sp>
        <p:nvSpPr>
          <p:cNvPr id="25" name="Text 16"/>
          <p:cNvSpPr/>
          <p:nvPr/>
        </p:nvSpPr>
        <p:spPr>
          <a:xfrm>
            <a:off x="5887626" y="2448069"/>
            <a:ext cx="2430470" cy="106070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生成算法支持内容的个性化和开放化趋势，使用户能够根据自身需求定制内容，同时促进了内容的多样性和创新性。</a:t>
            </a:r>
            <a:endParaRPr lang="en-US" sz="1440" dirty="0"/>
          </a:p>
        </p:txBody>
      </p:sp>
      <p:sp>
        <p:nvSpPr>
          <p:cNvPr id="26" name="Shape 17"/>
          <p:cNvSpPr/>
          <p:nvPr/>
        </p:nvSpPr>
        <p:spPr>
          <a:xfrm>
            <a:off x="4276697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>
              <a:alpha val="80000"/>
            </a:srgbClr>
          </a:solidFill>
        </p:spPr>
      </p:sp>
      <p:sp>
        <p:nvSpPr>
          <p:cNvPr id="27" name="Shape 18"/>
          <p:cNvSpPr/>
          <p:nvPr/>
        </p:nvSpPr>
        <p:spPr>
          <a:xfrm>
            <a:off x="4480560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/>
          </a:solidFill>
        </p:spPr>
      </p:sp>
      <p:sp>
        <p:nvSpPr>
          <p:cNvPr id="28" name="Shape 19"/>
          <p:cNvSpPr/>
          <p:nvPr/>
        </p:nvSpPr>
        <p:spPr>
          <a:xfrm>
            <a:off x="4684423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>
              <a:alpha val="80000"/>
            </a:srgbClr>
          </a:solidFill>
        </p:spPr>
      </p:sp>
      <p:sp>
        <p:nvSpPr>
          <p:cNvPr id="29" name="Shape 20"/>
          <p:cNvSpPr/>
          <p:nvPr/>
        </p:nvSpPr>
        <p:spPr>
          <a:xfrm>
            <a:off x="6807558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>
              <a:alpha val="80000"/>
            </a:srgbClr>
          </a:solidFill>
        </p:spPr>
      </p:sp>
      <p:sp>
        <p:nvSpPr>
          <p:cNvPr id="30" name="Shape 21"/>
          <p:cNvSpPr/>
          <p:nvPr/>
        </p:nvSpPr>
        <p:spPr>
          <a:xfrm>
            <a:off x="7011421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/>
          </a:solidFill>
        </p:spPr>
      </p:sp>
      <p:sp>
        <p:nvSpPr>
          <p:cNvPr id="31" name="Shape 22"/>
          <p:cNvSpPr/>
          <p:nvPr/>
        </p:nvSpPr>
        <p:spPr>
          <a:xfrm>
            <a:off x="7215284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>
              <a:alpha val="80000"/>
            </a:srgbClr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预训练模型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Shape 4"/>
          <p:cNvSpPr/>
          <p:nvPr/>
        </p:nvSpPr>
        <p:spPr>
          <a:xfrm rot="2700000">
            <a:off x="844660" y="2788678"/>
            <a:ext cx="566928" cy="566928"/>
          </a:xfrm>
          <a:custGeom>
            <a:avLst/>
            <a:gdLst/>
            <a:ahLst/>
            <a:cxnLst/>
            <a:rect l="l" t="t" r="r" b="b"/>
            <a:pathLst>
              <a:path w="566928" h="566928">
                <a:moveTo>
                  <a:pt x="0" y="0"/>
                </a:moveTo>
                <a:moveTo>
                  <a:pt x="0" y="0"/>
                </a:moveTo>
                <a:lnTo>
                  <a:pt x="566928" y="0"/>
                </a:lnTo>
                <a:lnTo>
                  <a:pt x="566928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4586DB">
              <a:alpha val="50000"/>
            </a:srgbClr>
          </a:solidFill>
        </p:spPr>
      </p:sp>
      <p:sp>
        <p:nvSpPr>
          <p:cNvPr id="8" name="Shape 5"/>
          <p:cNvSpPr/>
          <p:nvPr/>
        </p:nvSpPr>
        <p:spPr>
          <a:xfrm rot="2700000">
            <a:off x="844660" y="1753483"/>
            <a:ext cx="566928" cy="566928"/>
          </a:xfrm>
          <a:custGeom>
            <a:avLst/>
            <a:gdLst/>
            <a:ahLst/>
            <a:cxnLst/>
            <a:rect l="l" t="t" r="r" b="b"/>
            <a:pathLst>
              <a:path w="566928" h="566928">
                <a:moveTo>
                  <a:pt x="0" y="0"/>
                </a:moveTo>
                <a:moveTo>
                  <a:pt x="0" y="0"/>
                </a:moveTo>
                <a:lnTo>
                  <a:pt x="566928" y="0"/>
                </a:lnTo>
                <a:lnTo>
                  <a:pt x="566928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4586DB">
              <a:alpha val="50000"/>
            </a:srgbClr>
          </a:solidFill>
        </p:spPr>
      </p:sp>
      <p:sp>
        <p:nvSpPr>
          <p:cNvPr id="9" name="Shape 6"/>
          <p:cNvSpPr/>
          <p:nvPr/>
        </p:nvSpPr>
        <p:spPr>
          <a:xfrm rot="2700000">
            <a:off x="844660" y="2290075"/>
            <a:ext cx="566928" cy="566928"/>
          </a:xfrm>
          <a:custGeom>
            <a:avLst/>
            <a:gdLst/>
            <a:ahLst/>
            <a:cxnLst/>
            <a:rect l="l" t="t" r="r" b="b"/>
            <a:pathLst>
              <a:path w="566928" h="566928">
                <a:moveTo>
                  <a:pt x="0" y="0"/>
                </a:moveTo>
                <a:moveTo>
                  <a:pt x="0" y="0"/>
                </a:moveTo>
                <a:lnTo>
                  <a:pt x="566928" y="0"/>
                </a:lnTo>
                <a:lnTo>
                  <a:pt x="566928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1859AE"/>
          </a:solidFill>
        </p:spPr>
      </p:sp>
      <p:sp>
        <p:nvSpPr>
          <p:cNvPr id="10" name="Shape 7"/>
          <p:cNvSpPr/>
          <p:nvPr/>
        </p:nvSpPr>
        <p:spPr>
          <a:xfrm rot="2700000">
            <a:off x="844660" y="3319915"/>
            <a:ext cx="566928" cy="566928"/>
          </a:xfrm>
          <a:custGeom>
            <a:avLst/>
            <a:gdLst/>
            <a:ahLst/>
            <a:cxnLst/>
            <a:rect l="l" t="t" r="r" b="b"/>
            <a:pathLst>
              <a:path w="566928" h="566928">
                <a:moveTo>
                  <a:pt x="0" y="0"/>
                </a:moveTo>
                <a:moveTo>
                  <a:pt x="0" y="0"/>
                </a:moveTo>
                <a:lnTo>
                  <a:pt x="566928" y="0"/>
                </a:lnTo>
                <a:lnTo>
                  <a:pt x="566928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1859AE"/>
          </a:solidFill>
        </p:spPr>
      </p:sp>
      <p:sp>
        <p:nvSpPr>
          <p:cNvPr id="11" name="Shape 8"/>
          <p:cNvSpPr/>
          <p:nvPr/>
        </p:nvSpPr>
        <p:spPr>
          <a:xfrm rot="2700000">
            <a:off x="844660" y="1216795"/>
            <a:ext cx="566928" cy="566928"/>
          </a:xfrm>
          <a:custGeom>
            <a:avLst/>
            <a:gdLst/>
            <a:ahLst/>
            <a:cxnLst/>
            <a:rect l="l" t="t" r="r" b="b"/>
            <a:pathLst>
              <a:path w="566928" h="566928">
                <a:moveTo>
                  <a:pt x="0" y="0"/>
                </a:moveTo>
                <a:moveTo>
                  <a:pt x="0" y="0"/>
                </a:moveTo>
                <a:lnTo>
                  <a:pt x="566928" y="0"/>
                </a:lnTo>
                <a:lnTo>
                  <a:pt x="566928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1859AE"/>
          </a:solidFill>
        </p:spPr>
      </p:sp>
      <p:sp>
        <p:nvSpPr>
          <p:cNvPr id="12" name="Text 9"/>
          <p:cNvSpPr/>
          <p:nvPr/>
        </p:nvSpPr>
        <p:spPr>
          <a:xfrm>
            <a:off x="786369" y="2290075"/>
            <a:ext cx="683510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01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786369" y="3319915"/>
            <a:ext cx="683510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01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786369" y="1216795"/>
            <a:ext cx="683510" cy="56692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01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15" name="Shape 12"/>
          <p:cNvSpPr/>
          <p:nvPr/>
        </p:nvSpPr>
        <p:spPr>
          <a:xfrm>
            <a:off x="1377951" y="1108896"/>
            <a:ext cx="7030578" cy="822960"/>
          </a:xfrm>
          <a:custGeom>
            <a:avLst/>
            <a:gdLst/>
            <a:ahLst/>
            <a:cxnLst/>
            <a:rect l="l" t="t" r="r" b="b"/>
            <a:pathLst>
              <a:path w="7030578" h="822960">
                <a:moveTo>
                  <a:pt x="102870" y="0"/>
                </a:moveTo>
                <a:moveTo>
                  <a:pt x="102870" y="0"/>
                </a:moveTo>
                <a:lnTo>
                  <a:pt x="6927708" y="0"/>
                </a:lnTo>
                <a:quadBezTo>
                  <a:pt x="7030578" y="0"/>
                  <a:pt x="7030578" y="102870"/>
                </a:quadBezTo>
                <a:lnTo>
                  <a:pt x="7030578" y="720090"/>
                </a:lnTo>
                <a:quadBezTo>
                  <a:pt x="7030578" y="822960"/>
                  <a:pt x="6927708" y="822960"/>
                </a:quadBezTo>
                <a:lnTo>
                  <a:pt x="102870" y="822960"/>
                </a:lnTo>
                <a:quadBezTo>
                  <a:pt x="0" y="822960"/>
                  <a:pt x="0" y="720090"/>
                </a:quadBezTo>
                <a:lnTo>
                  <a:pt x="0" y="102870"/>
                </a:lnTo>
                <a:quadBezTo>
                  <a:pt x="0" y="0"/>
                  <a:pt x="102870" y="0"/>
                </a:quadBezTo>
                <a:close/>
              </a:path>
            </a:pathLst>
          </a:custGeom>
          <a:solidFill>
            <a:srgbClr val="0084FF">
              <a:alpha val="0"/>
            </a:srgbClr>
          </a:solidFill>
          <a:ln w="19050">
            <a:solidFill>
              <a:srgbClr val="1859A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29002" y="1296348"/>
            <a:ext cx="2377440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458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预训练模型的定义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3906614" y="1099752"/>
            <a:ext cx="4501915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预训练模型是AIGC发展的关键之一，通过接收数据进行运算生成的模型，为后续AI绘图模型的发展奠定了基础。</a:t>
            </a:r>
            <a:endParaRPr lang="en-US" sz="1440" dirty="0"/>
          </a:p>
        </p:txBody>
      </p:sp>
      <p:sp>
        <p:nvSpPr>
          <p:cNvPr id="18" name="Shape 15"/>
          <p:cNvSpPr/>
          <p:nvPr/>
        </p:nvSpPr>
        <p:spPr>
          <a:xfrm>
            <a:off x="1377951" y="2181487"/>
            <a:ext cx="7038804" cy="822960"/>
          </a:xfrm>
          <a:custGeom>
            <a:avLst/>
            <a:gdLst/>
            <a:ahLst/>
            <a:cxnLst/>
            <a:rect l="l" t="t" r="r" b="b"/>
            <a:pathLst>
              <a:path w="7038804" h="822960">
                <a:moveTo>
                  <a:pt x="102870" y="0"/>
                </a:moveTo>
                <a:moveTo>
                  <a:pt x="102870" y="0"/>
                </a:moveTo>
                <a:lnTo>
                  <a:pt x="6935934" y="0"/>
                </a:lnTo>
                <a:quadBezTo>
                  <a:pt x="7038804" y="0"/>
                  <a:pt x="7038804" y="102870"/>
                </a:quadBezTo>
                <a:lnTo>
                  <a:pt x="7038804" y="720090"/>
                </a:lnTo>
                <a:quadBezTo>
                  <a:pt x="7038804" y="822960"/>
                  <a:pt x="6935934" y="822960"/>
                </a:quadBezTo>
                <a:lnTo>
                  <a:pt x="102870" y="822960"/>
                </a:lnTo>
                <a:quadBezTo>
                  <a:pt x="0" y="822960"/>
                  <a:pt x="0" y="720090"/>
                </a:quadBezTo>
                <a:lnTo>
                  <a:pt x="0" y="102870"/>
                </a:lnTo>
                <a:quadBezTo>
                  <a:pt x="0" y="0"/>
                  <a:pt x="102870" y="0"/>
                </a:quadBez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1859A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377951" y="3212016"/>
            <a:ext cx="7030578" cy="822960"/>
          </a:xfrm>
          <a:custGeom>
            <a:avLst/>
            <a:gdLst/>
            <a:ahLst/>
            <a:cxnLst/>
            <a:rect l="l" t="t" r="r" b="b"/>
            <a:pathLst>
              <a:path w="7030578" h="822960">
                <a:moveTo>
                  <a:pt x="102870" y="0"/>
                </a:moveTo>
                <a:moveTo>
                  <a:pt x="102870" y="0"/>
                </a:moveTo>
                <a:lnTo>
                  <a:pt x="6927708" y="0"/>
                </a:lnTo>
                <a:quadBezTo>
                  <a:pt x="7030578" y="0"/>
                  <a:pt x="7030578" y="102870"/>
                </a:quadBezTo>
                <a:lnTo>
                  <a:pt x="7030578" y="720090"/>
                </a:lnTo>
                <a:quadBezTo>
                  <a:pt x="7030578" y="822960"/>
                  <a:pt x="6927708" y="822960"/>
                </a:quadBezTo>
                <a:lnTo>
                  <a:pt x="102870" y="822960"/>
                </a:lnTo>
                <a:quadBezTo>
                  <a:pt x="0" y="822960"/>
                  <a:pt x="0" y="720090"/>
                </a:quadBezTo>
                <a:lnTo>
                  <a:pt x="0" y="102870"/>
                </a:lnTo>
                <a:quadBezTo>
                  <a:pt x="0" y="0"/>
                  <a:pt x="102870" y="0"/>
                </a:quadBez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1859A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29002" y="2368939"/>
            <a:ext cx="2377440" cy="7132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458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StableDiffusion模型的影响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3906614" y="2172343"/>
            <a:ext cx="4501915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2022年8月，StabiltyAI发布的StableDiffusion模型，为后续AI绘图模型的发展奠定了基础，推动了AIGC的进步。</a:t>
            </a:r>
            <a:endParaRPr lang="en-US" sz="1440" dirty="0"/>
          </a:p>
        </p:txBody>
      </p:sp>
      <p:sp>
        <p:nvSpPr>
          <p:cNvPr id="22" name="Text 19"/>
          <p:cNvSpPr/>
          <p:nvPr/>
        </p:nvSpPr>
        <p:spPr>
          <a:xfrm>
            <a:off x="1529174" y="3399468"/>
            <a:ext cx="2377440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458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ChatGPT的基础技术</a:t>
            </a:r>
            <a:endParaRPr lang="en-US" sz="1440" dirty="0"/>
          </a:p>
        </p:txBody>
      </p:sp>
      <p:sp>
        <p:nvSpPr>
          <p:cNvPr id="23" name="Text 20"/>
          <p:cNvSpPr/>
          <p:nvPr/>
        </p:nvSpPr>
        <p:spPr>
          <a:xfrm>
            <a:off x="3908443" y="3202872"/>
            <a:ext cx="4500086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OpenAI推出的基于GPT-3.5与RLHF(人类反馈强化学习）机制的ChatGPT，其基础就是预训练模型。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多模态技术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pic>
        <p:nvPicPr>
          <p:cNvPr id="7" name="Image 0" descr="https://sgw-dx.xf-yun.com/api/v1/sparkdesk/_174005541169149315c2495644a619ed25bb90db87c68.jpg?authorization=c2ltcGxlLWp3dCBhaz1zcGFya2Rlc2s4MDAwMDAwMDAwMDE7ZXhwPTMzMTY4NTU0MTE7YWxnbz1obWFjLXNoYTI1NjtzaWc9TWExbjNiWG1LV2FsQjVlSUVKaDJBU2J4VWsvL1BFdExtWlBYUjMwVW5Vdz0=&amp;x_location=7YfmxI7B7uKO7jlRxIftd60uePD=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72" y="1088132"/>
            <a:ext cx="2283193" cy="12826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2446016"/>
            <a:ext cx="2487168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多模态技术的定义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822960" y="2773736"/>
            <a:ext cx="2414016" cy="106070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多模态技术是AIGC发展的关键，它通过融合不同模型处理和生成包含多种数据类型的内容，如视觉大模型、语言大模型等。</a:t>
            </a:r>
            <a:endParaRPr lang="en-US" sz="1440" dirty="0"/>
          </a:p>
        </p:txBody>
      </p:sp>
      <p:pic>
        <p:nvPicPr>
          <p:cNvPr id="10" name="Image 1" descr="https://sgw-dx.xf-yun.com/api/v1/sparkdesk/_17400554144062d75088440b54c9b94ee177fd73d32f1.jpg?authorization=c2ltcGxlLWp3dCBhaz1zcGFya2Rlc2s4MDAwMDAwMDAwMDE7ZXhwPTMzMTY4NTU0MTQ7YWxnbz1obWFjLXNoYTI1NjtzaWc9U0xYQTNNWGdiMnk3N1lsTlJLZURrbGMybmdLWWs2dUI4VVFhdEtSOGNxWT0=&amp;x_location=7YfmxI7B7uKO7jlRxIftd60uePD=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980" y="1088132"/>
            <a:ext cx="2283193" cy="12826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28416" y="2446016"/>
            <a:ext cx="2487168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多模态技术的应用实例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3401568" y="2773736"/>
            <a:ext cx="2414016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Stable Diffusion模型使用生成对抗网络（GAN），学习并模仿艺术家的创作风格生成艺术作品；OpenAI的Sora能根据文本提示创建逼真视频。</a:t>
            </a:r>
            <a:endParaRPr lang="en-US" sz="1440" dirty="0"/>
          </a:p>
        </p:txBody>
      </p:sp>
      <p:pic>
        <p:nvPicPr>
          <p:cNvPr id="13" name="Image 2" descr="https://sgw-dx.xf-yun.com/api/v1/sparkdesk/_17400554177516f0ed163cfa7409daadb56cb2c5d7819.jpg?authorization=c2ltcGxlLWp3dCBhaz1zcGFya2Rlc2s4MDAwMDAwMDAwMDE7ZXhwPTMzMTY4NTU0MTc7YWxnbz1obWFjLXNoYTI1NjtzaWc9ejEvSHBuOFZSdFAvWUFNdUZhWnhkZ09GQXJzbERJR09LTzBxaXlOZWx0ND0=&amp;x_location=7YfmxI7B7uKO7jlRxIftd60uePD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012" y="1088132"/>
            <a:ext cx="2283193" cy="12826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70448" y="2447488"/>
            <a:ext cx="2487168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多模态技术的进展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5943600" y="2775208"/>
            <a:ext cx="2414016" cy="106070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多模态技术在理解和模拟真实物理世界方面取得进展，推动了AIGC的发展，为内容创作提供了新的可能性和工具。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58045" y="1664502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585216" h="585216">
                <a:moveTo>
                  <a:pt x="73152" y="0"/>
                </a:moveTo>
                <a:moveTo>
                  <a:pt x="73152" y="0"/>
                </a:moveTo>
                <a:lnTo>
                  <a:pt x="512064" y="0"/>
                </a:lnTo>
                <a:quadBezTo>
                  <a:pt x="585216" y="0"/>
                  <a:pt x="585216" y="73152"/>
                </a:quadBezTo>
                <a:lnTo>
                  <a:pt x="585216" y="512064"/>
                </a:lnTo>
                <a:quadBezTo>
                  <a:pt x="585216" y="585216"/>
                  <a:pt x="512064" y="585216"/>
                </a:quadBezTo>
                <a:lnTo>
                  <a:pt x="73152" y="585216"/>
                </a:lnTo>
                <a:quadBezTo>
                  <a:pt x="0" y="585216"/>
                  <a:pt x="0" y="512064"/>
                </a:quadBezTo>
                <a:lnTo>
                  <a:pt x="0" y="73152"/>
                </a:lnTo>
                <a:quadBezTo>
                  <a:pt x="0" y="0"/>
                  <a:pt x="73152" y="0"/>
                </a:quad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4" name="Text 1"/>
          <p:cNvSpPr/>
          <p:nvPr/>
        </p:nvSpPr>
        <p:spPr>
          <a:xfrm>
            <a:off x="830029" y="1682790"/>
            <a:ext cx="841248" cy="5486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865937" y="2437790"/>
            <a:ext cx="7518197" cy="7315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AIGC与大模型关系</a:t>
            </a:r>
            <a:endParaRPr lang="en-US" sz="1440" dirty="0"/>
          </a:p>
        </p:txBody>
      </p:sp>
      <p:sp>
        <p:nvSpPr>
          <p:cNvPr id="6" name="Shape 3"/>
          <p:cNvSpPr/>
          <p:nvPr/>
        </p:nvSpPr>
        <p:spPr>
          <a:xfrm>
            <a:off x="897176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7" name="Shape 4"/>
          <p:cNvSpPr/>
          <p:nvPr/>
        </p:nvSpPr>
        <p:spPr>
          <a:xfrm>
            <a:off x="1250653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8" name="Shape 5"/>
          <p:cNvSpPr/>
          <p:nvPr/>
        </p:nvSpPr>
        <p:spPr>
          <a:xfrm>
            <a:off x="1604131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607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技术支持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Text 4"/>
          <p:cNvSpPr/>
          <p:nvPr/>
        </p:nvSpPr>
        <p:spPr>
          <a:xfrm>
            <a:off x="2743200" y="1025863"/>
            <a:ext cx="3657600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深度学习的崛起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2743200" y="1368172"/>
            <a:ext cx="3657600" cy="84124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深度学习通过模拟人脑神经元的工作方式，对大量数据进行学习，从而实现对复杂任务的自适应处理，为AIGC提供了强大的技术支持。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522708" y="2567541"/>
            <a:ext cx="3657600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大模型的应用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522708" y="2899468"/>
            <a:ext cx="3657600" cy="84124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大模型作为深度学习的一种重要形式，使得AIGC在视觉、语言和多模态内容创作方面有了更多的可能性，提高了AIGC的效率和准确性。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4963692" y="2567541"/>
            <a:ext cx="3657600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AIGC的发展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4963692" y="2899468"/>
            <a:ext cx="3657600" cy="84124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AIGC借助深度学习和大模型的技术优势，推动了自身的快速发展，同时也为人工智能领域带来了新的发展机遇。</a:t>
            </a:r>
            <a:endParaRPr lang="en-US" sz="1440" dirty="0"/>
          </a:p>
        </p:txBody>
      </p:sp>
      <p:pic>
        <p:nvPicPr>
          <p:cNvPr id="158" name="图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3669665"/>
            <a:ext cx="5200650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应用领域重合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Shape 4"/>
          <p:cNvSpPr/>
          <p:nvPr/>
        </p:nvSpPr>
        <p:spPr>
          <a:xfrm>
            <a:off x="5510252" y="2264253"/>
            <a:ext cx="2689524" cy="445315"/>
          </a:xfrm>
          <a:custGeom>
            <a:avLst/>
            <a:gdLst/>
            <a:ahLst/>
            <a:cxnLst/>
            <a:rect l="l" t="t" r="r" b="b"/>
            <a:pathLst>
              <a:path w="2689524" h="445315">
                <a:moveTo>
                  <a:pt x="0" y="0"/>
                </a:moveTo>
                <a:moveTo>
                  <a:pt x="0" y="0"/>
                </a:moveTo>
                <a:lnTo>
                  <a:pt x="2689524" y="0"/>
                </a:lnTo>
                <a:lnTo>
                  <a:pt x="2689524" y="445315"/>
                </a:lnTo>
                <a:lnTo>
                  <a:pt x="0" y="445315"/>
                </a:lnTo>
                <a:close/>
              </a:path>
            </a:pathLst>
          </a:custGeom>
          <a:solidFill>
            <a:srgbClr val="4586DB"/>
          </a:solidFill>
        </p:spPr>
      </p:sp>
      <p:sp>
        <p:nvSpPr>
          <p:cNvPr id="8" name="Shape 5"/>
          <p:cNvSpPr/>
          <p:nvPr/>
        </p:nvSpPr>
        <p:spPr>
          <a:xfrm rot="-8100000">
            <a:off x="7748355" y="2055442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moveTo>
                  <a:pt x="0" y="0"/>
                </a:moveTo>
                <a:lnTo>
                  <a:pt x="0" y="731520"/>
                </a:lnTo>
                <a:lnTo>
                  <a:pt x="731520" y="731520"/>
                </a:lnTo>
                <a:close/>
              </a:path>
            </a:pathLst>
          </a:custGeom>
          <a:solidFill>
            <a:srgbClr val="4586DB"/>
          </a:solidFill>
        </p:spPr>
      </p:sp>
      <p:sp>
        <p:nvSpPr>
          <p:cNvPr id="9" name="Shape 6"/>
          <p:cNvSpPr/>
          <p:nvPr/>
        </p:nvSpPr>
        <p:spPr>
          <a:xfrm>
            <a:off x="512622" y="1319563"/>
            <a:ext cx="7687154" cy="576734"/>
          </a:xfrm>
          <a:custGeom>
            <a:avLst/>
            <a:gdLst/>
            <a:ahLst/>
            <a:cxnLst/>
            <a:rect l="l" t="t" r="r" b="b"/>
            <a:pathLst>
              <a:path w="7687154" h="576734">
                <a:moveTo>
                  <a:pt x="0" y="0"/>
                </a:moveTo>
                <a:moveTo>
                  <a:pt x="0" y="0"/>
                </a:moveTo>
                <a:lnTo>
                  <a:pt x="7687154" y="0"/>
                </a:lnTo>
                <a:lnTo>
                  <a:pt x="7687154" y="576734"/>
                </a:lnTo>
                <a:lnTo>
                  <a:pt x="0" y="576734"/>
                </a:lnTo>
                <a:close/>
              </a:path>
            </a:pathLst>
          </a:custGeom>
          <a:solidFill>
            <a:srgbClr val="4586DB"/>
          </a:solidFill>
        </p:spPr>
      </p:sp>
      <p:sp>
        <p:nvSpPr>
          <p:cNvPr id="10" name="Shape 7"/>
          <p:cNvSpPr/>
          <p:nvPr/>
        </p:nvSpPr>
        <p:spPr>
          <a:xfrm rot="-8100000">
            <a:off x="7739211" y="124217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moveTo>
                  <a:pt x="0" y="0"/>
                </a:moveTo>
                <a:lnTo>
                  <a:pt x="0" y="731520"/>
                </a:lnTo>
                <a:lnTo>
                  <a:pt x="731520" y="731520"/>
                </a:lnTo>
                <a:close/>
              </a:path>
            </a:pathLst>
          </a:custGeom>
          <a:solidFill>
            <a:srgbClr val="4586DB"/>
          </a:solidFill>
        </p:spPr>
      </p:sp>
      <p:sp>
        <p:nvSpPr>
          <p:cNvPr id="11" name="Shape 8"/>
          <p:cNvSpPr/>
          <p:nvPr/>
        </p:nvSpPr>
        <p:spPr>
          <a:xfrm rot="-8100000">
            <a:off x="7730067" y="1610126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0" y="0"/>
                </a:moveTo>
                <a:moveTo>
                  <a:pt x="0" y="0"/>
                </a:moveTo>
                <a:lnTo>
                  <a:pt x="0" y="731520"/>
                </a:lnTo>
                <a:lnTo>
                  <a:pt x="731520" y="731520"/>
                </a:lnTo>
                <a:close/>
              </a:path>
            </a:pathLst>
          </a:custGeom>
          <a:solidFill>
            <a:srgbClr val="1859AE"/>
          </a:solidFill>
        </p:spPr>
      </p:sp>
      <p:sp>
        <p:nvSpPr>
          <p:cNvPr id="12" name="Shape 9"/>
          <p:cNvSpPr/>
          <p:nvPr/>
        </p:nvSpPr>
        <p:spPr>
          <a:xfrm>
            <a:off x="521766" y="1903939"/>
            <a:ext cx="2511105" cy="1682799"/>
          </a:xfrm>
          <a:custGeom>
            <a:avLst/>
            <a:gdLst/>
            <a:ahLst/>
            <a:cxnLst/>
            <a:rect l="l" t="t" r="r" b="b"/>
            <a:pathLst>
              <a:path w="2511105" h="1682799">
                <a:moveTo>
                  <a:pt x="0" y="0"/>
                </a:moveTo>
                <a:moveTo>
                  <a:pt x="0" y="0"/>
                </a:moveTo>
                <a:lnTo>
                  <a:pt x="2511105" y="0"/>
                </a:lnTo>
                <a:lnTo>
                  <a:pt x="2511105" y="1682799"/>
                </a:lnTo>
                <a:lnTo>
                  <a:pt x="0" y="1682799"/>
                </a:lnTo>
                <a:close/>
              </a:path>
            </a:pathLst>
          </a:custGeom>
          <a:solidFill>
            <a:srgbClr val="A2E5B9">
              <a:alpha val="0"/>
            </a:srgbClr>
          </a:solidFill>
          <a:ln w="19050">
            <a:solidFill>
              <a:srgbClr val="4586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30749" y="2264253"/>
            <a:ext cx="2488647" cy="1682799"/>
          </a:xfrm>
          <a:custGeom>
            <a:avLst/>
            <a:gdLst/>
            <a:ahLst/>
            <a:cxnLst/>
            <a:rect l="l" t="t" r="r" b="b"/>
            <a:pathLst>
              <a:path w="2488647" h="1682799">
                <a:moveTo>
                  <a:pt x="0" y="0"/>
                </a:moveTo>
                <a:moveTo>
                  <a:pt x="0" y="0"/>
                </a:moveTo>
                <a:lnTo>
                  <a:pt x="2488647" y="0"/>
                </a:lnTo>
                <a:lnTo>
                  <a:pt x="2488647" y="1682799"/>
                </a:lnTo>
                <a:lnTo>
                  <a:pt x="0" y="1682799"/>
                </a:lnTo>
                <a:close/>
              </a:path>
            </a:pathLst>
          </a:custGeom>
          <a:solidFill>
            <a:srgbClr val="A2E5B9">
              <a:alpha val="0"/>
            </a:srgbClr>
          </a:solidFill>
          <a:ln w="19050">
            <a:solidFill>
              <a:srgbClr val="1859A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19396" y="2709569"/>
            <a:ext cx="2591353" cy="1682799"/>
          </a:xfrm>
          <a:custGeom>
            <a:avLst/>
            <a:gdLst/>
            <a:ahLst/>
            <a:cxnLst/>
            <a:rect l="l" t="t" r="r" b="b"/>
            <a:pathLst>
              <a:path w="2591353" h="1682799">
                <a:moveTo>
                  <a:pt x="0" y="0"/>
                </a:moveTo>
                <a:moveTo>
                  <a:pt x="0" y="0"/>
                </a:moveTo>
                <a:lnTo>
                  <a:pt x="2591353" y="0"/>
                </a:lnTo>
                <a:lnTo>
                  <a:pt x="2591353" y="1682799"/>
                </a:lnTo>
                <a:lnTo>
                  <a:pt x="0" y="1682799"/>
                </a:lnTo>
                <a:close/>
              </a:path>
            </a:pathLst>
          </a:custGeom>
          <a:solidFill>
            <a:srgbClr val="A2E5B9">
              <a:alpha val="0"/>
            </a:srgbClr>
          </a:solidFill>
          <a:ln w="19050">
            <a:solidFill>
              <a:srgbClr val="4586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2401" y="1406762"/>
            <a:ext cx="2430470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自然语言处理的突破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512622" y="1864695"/>
            <a:ext cx="2501961" cy="120700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1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大模型在自然语言处理领域的应用，实现了对语言深层次理解与生成的能力，极大地推动了机器翻译、情感分析等技术的发展。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3017435" y="2264253"/>
            <a:ext cx="2501961" cy="120700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1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通过深度学习和大数据分析，大模型在图像识别、视频分析等方面取得了显著成果，为自动驾驶、医疗影像诊断等领域提供了强大支持。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5510252" y="2307233"/>
            <a:ext cx="2430470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AIGC在内容创作中的应用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5519396" y="2709569"/>
            <a:ext cx="2501961" cy="120700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1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AIGC利用大模型的强大能力，将人工智能技术应用于内容创作领域，不仅提高了内容生产的效率，还拓展了创意表达的新边界。</a:t>
            </a:r>
            <a:endParaRPr lang="en-US" sz="1440" dirty="0"/>
          </a:p>
        </p:txBody>
      </p:sp>
      <p:sp>
        <p:nvSpPr>
          <p:cNvPr id="20" name="Shape 17"/>
          <p:cNvSpPr/>
          <p:nvPr/>
        </p:nvSpPr>
        <p:spPr>
          <a:xfrm>
            <a:off x="3023727" y="1687519"/>
            <a:ext cx="5176049" cy="576734"/>
          </a:xfrm>
          <a:custGeom>
            <a:avLst/>
            <a:gdLst/>
            <a:ahLst/>
            <a:cxnLst/>
            <a:rect l="l" t="t" r="r" b="b"/>
            <a:pathLst>
              <a:path w="5176049" h="576734">
                <a:moveTo>
                  <a:pt x="0" y="0"/>
                </a:moveTo>
                <a:moveTo>
                  <a:pt x="0" y="0"/>
                </a:moveTo>
                <a:lnTo>
                  <a:pt x="5176049" y="0"/>
                </a:lnTo>
                <a:lnTo>
                  <a:pt x="5176049" y="576734"/>
                </a:lnTo>
                <a:lnTo>
                  <a:pt x="0" y="576734"/>
                </a:lnTo>
                <a:close/>
              </a:path>
            </a:pathLst>
          </a:custGeom>
          <a:solidFill>
            <a:srgbClr val="1859AE"/>
          </a:solidFill>
        </p:spPr>
      </p:sp>
      <p:sp>
        <p:nvSpPr>
          <p:cNvPr id="21" name="Text 18"/>
          <p:cNvSpPr/>
          <p:nvPr/>
        </p:nvSpPr>
        <p:spPr>
          <a:xfrm>
            <a:off x="3014583" y="1774718"/>
            <a:ext cx="2430470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计算机视觉的进步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58045" y="1664502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585216" h="585216">
                <a:moveTo>
                  <a:pt x="73152" y="0"/>
                </a:moveTo>
                <a:moveTo>
                  <a:pt x="73152" y="0"/>
                </a:moveTo>
                <a:lnTo>
                  <a:pt x="512064" y="0"/>
                </a:lnTo>
                <a:quadBezTo>
                  <a:pt x="585216" y="0"/>
                  <a:pt x="585216" y="73152"/>
                </a:quadBezTo>
                <a:lnTo>
                  <a:pt x="585216" y="512064"/>
                </a:lnTo>
                <a:quadBezTo>
                  <a:pt x="585216" y="585216"/>
                  <a:pt x="512064" y="585216"/>
                </a:quadBezTo>
                <a:lnTo>
                  <a:pt x="73152" y="585216"/>
                </a:lnTo>
                <a:quadBezTo>
                  <a:pt x="0" y="585216"/>
                  <a:pt x="0" y="512064"/>
                </a:quadBezTo>
                <a:lnTo>
                  <a:pt x="0" y="73152"/>
                </a:lnTo>
                <a:quadBezTo>
                  <a:pt x="0" y="0"/>
                  <a:pt x="73152" y="0"/>
                </a:quad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4" name="Text 1"/>
          <p:cNvSpPr/>
          <p:nvPr/>
        </p:nvSpPr>
        <p:spPr>
          <a:xfrm>
            <a:off x="830029" y="1682790"/>
            <a:ext cx="841248" cy="5486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865937" y="2437790"/>
            <a:ext cx="7518197" cy="7315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AIGC的应用</a:t>
            </a:r>
            <a:endParaRPr lang="en-US" sz="1440" dirty="0"/>
          </a:p>
        </p:txBody>
      </p:sp>
      <p:sp>
        <p:nvSpPr>
          <p:cNvPr id="6" name="Shape 3"/>
          <p:cNvSpPr/>
          <p:nvPr/>
        </p:nvSpPr>
        <p:spPr>
          <a:xfrm>
            <a:off x="897176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7" name="Shape 4"/>
          <p:cNvSpPr/>
          <p:nvPr/>
        </p:nvSpPr>
        <p:spPr>
          <a:xfrm>
            <a:off x="1250653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8" name="Shape 5"/>
          <p:cNvSpPr/>
          <p:nvPr/>
        </p:nvSpPr>
        <p:spPr>
          <a:xfrm>
            <a:off x="1604131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607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文本生成工具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Shape 4"/>
          <p:cNvSpPr/>
          <p:nvPr/>
        </p:nvSpPr>
        <p:spPr>
          <a:xfrm>
            <a:off x="640994" y="1792041"/>
            <a:ext cx="2487168" cy="2332625"/>
          </a:xfrm>
          <a:custGeom>
            <a:avLst/>
            <a:gdLst/>
            <a:ahLst/>
            <a:cxnLst/>
            <a:rect l="l" t="t" r="r" b="b"/>
            <a:pathLst>
              <a:path w="2487168" h="2332625">
                <a:moveTo>
                  <a:pt x="260604" y="0"/>
                </a:moveTo>
                <a:moveTo>
                  <a:pt x="260604" y="0"/>
                </a:moveTo>
                <a:lnTo>
                  <a:pt x="2226564" y="0"/>
                </a:lnTo>
                <a:quadBezTo>
                  <a:pt x="2487168" y="0"/>
                  <a:pt x="2487168" y="291578"/>
                </a:quadBezTo>
                <a:lnTo>
                  <a:pt x="2487168" y="2041047"/>
                </a:lnTo>
                <a:quadBezTo>
                  <a:pt x="2487168" y="2332625"/>
                  <a:pt x="2226564" y="2332625"/>
                </a:quadBezTo>
                <a:lnTo>
                  <a:pt x="260604" y="2332625"/>
                </a:lnTo>
                <a:quadBezTo>
                  <a:pt x="0" y="2332625"/>
                  <a:pt x="0" y="2041047"/>
                </a:quadBezTo>
                <a:lnTo>
                  <a:pt x="0" y="291578"/>
                </a:lnTo>
                <a:quadBezTo>
                  <a:pt x="0" y="0"/>
                  <a:pt x="260604" y="0"/>
                </a:quadBezTo>
                <a:close/>
              </a:path>
            </a:pathLst>
          </a:custGeom>
          <a:solidFill>
            <a:srgbClr val="1859AE">
              <a:alpha val="10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1066906" y="1534826"/>
            <a:ext cx="530506" cy="257215"/>
          </a:xfrm>
          <a:custGeom>
            <a:avLst/>
            <a:gdLst/>
            <a:ahLst/>
            <a:cxnLst/>
            <a:rect l="l" t="t" r="r" b="b"/>
            <a:pathLst>
              <a:path w="530506" h="257215">
                <a:moveTo>
                  <a:pt x="265253" y="0"/>
                </a:moveTo>
                <a:moveTo>
                  <a:pt x="265253" y="0"/>
                </a:moveTo>
                <a:lnTo>
                  <a:pt x="0" y="257215"/>
                </a:lnTo>
                <a:lnTo>
                  <a:pt x="530506" y="257215"/>
                </a:lnTo>
                <a:close/>
              </a:path>
            </a:pathLst>
          </a:custGeom>
          <a:solidFill>
            <a:srgbClr val="1859AE">
              <a:alpha val="1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640994" y="1018720"/>
            <a:ext cx="426013" cy="426013"/>
          </a:xfrm>
          <a:custGeom>
            <a:avLst/>
            <a:gdLst/>
            <a:ahLst/>
            <a:cxnLst/>
            <a:rect l="l" t="t" r="r" b="b"/>
            <a:pathLst>
              <a:path w="426013" h="426013">
                <a:moveTo>
                  <a:pt x="213006" y="0"/>
                </a:moveTo>
                <a:moveTo>
                  <a:pt x="213006" y="0"/>
                </a:moveTo>
                <a:cubicBezTo>
                  <a:pt x="330568" y="0"/>
                  <a:pt x="426013" y="95445"/>
                  <a:pt x="426013" y="213006"/>
                </a:cubicBezTo>
                <a:cubicBezTo>
                  <a:pt x="426013" y="330568"/>
                  <a:pt x="330568" y="426013"/>
                  <a:pt x="213006" y="426013"/>
                </a:cubicBezTo>
                <a:cubicBezTo>
                  <a:pt x="95445" y="426013"/>
                  <a:pt x="0" y="330568"/>
                  <a:pt x="0" y="213006"/>
                </a:cubicBezTo>
                <a:cubicBezTo>
                  <a:pt x="0" y="95445"/>
                  <a:pt x="95445" y="0"/>
                  <a:pt x="21300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10" name="Shape 7"/>
          <p:cNvSpPr/>
          <p:nvPr/>
        </p:nvSpPr>
        <p:spPr>
          <a:xfrm>
            <a:off x="1589475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arrow"/>
          </a:ln>
        </p:spPr>
      </p:sp>
      <p:sp>
        <p:nvSpPr>
          <p:cNvPr id="11" name="Text 8"/>
          <p:cNvSpPr/>
          <p:nvPr/>
        </p:nvSpPr>
        <p:spPr>
          <a:xfrm>
            <a:off x="686714" y="1938345"/>
            <a:ext cx="2395728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文本生成工具概述</a:t>
            </a:r>
            <a:endParaRPr lang="en-US" sz="1440" dirty="0"/>
          </a:p>
        </p:txBody>
      </p:sp>
      <p:sp>
        <p:nvSpPr>
          <p:cNvPr id="12" name="Shape 9"/>
          <p:cNvSpPr/>
          <p:nvPr/>
        </p:nvSpPr>
        <p:spPr>
          <a:xfrm>
            <a:off x="3339389" y="1792041"/>
            <a:ext cx="2487168" cy="2332625"/>
          </a:xfrm>
          <a:custGeom>
            <a:avLst/>
            <a:gdLst/>
            <a:ahLst/>
            <a:cxnLst/>
            <a:rect l="l" t="t" r="r" b="b"/>
            <a:pathLst>
              <a:path w="2487168" h="2332625">
                <a:moveTo>
                  <a:pt x="260604" y="0"/>
                </a:moveTo>
                <a:moveTo>
                  <a:pt x="260604" y="0"/>
                </a:moveTo>
                <a:lnTo>
                  <a:pt x="2226564" y="0"/>
                </a:lnTo>
                <a:quadBezTo>
                  <a:pt x="2487168" y="0"/>
                  <a:pt x="2487168" y="291578"/>
                </a:quadBezTo>
                <a:lnTo>
                  <a:pt x="2487168" y="2041047"/>
                </a:lnTo>
                <a:quadBezTo>
                  <a:pt x="2487168" y="2332625"/>
                  <a:pt x="2226564" y="2332625"/>
                </a:quadBezTo>
                <a:lnTo>
                  <a:pt x="260604" y="2332625"/>
                </a:lnTo>
                <a:quadBezTo>
                  <a:pt x="0" y="2332625"/>
                  <a:pt x="0" y="2041047"/>
                </a:quadBezTo>
                <a:lnTo>
                  <a:pt x="0" y="291578"/>
                </a:lnTo>
                <a:quadBezTo>
                  <a:pt x="0" y="0"/>
                  <a:pt x="260604" y="0"/>
                </a:quadBezTo>
                <a:close/>
              </a:path>
            </a:pathLst>
          </a:custGeom>
          <a:solidFill>
            <a:srgbClr val="1859AE">
              <a:alpha val="10000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6015838" y="1792155"/>
            <a:ext cx="2487168" cy="2332625"/>
          </a:xfrm>
          <a:custGeom>
            <a:avLst/>
            <a:gdLst/>
            <a:ahLst/>
            <a:cxnLst/>
            <a:rect l="l" t="t" r="r" b="b"/>
            <a:pathLst>
              <a:path w="2487168" h="2332625">
                <a:moveTo>
                  <a:pt x="260604" y="0"/>
                </a:moveTo>
                <a:moveTo>
                  <a:pt x="260604" y="0"/>
                </a:moveTo>
                <a:lnTo>
                  <a:pt x="2226564" y="0"/>
                </a:lnTo>
                <a:quadBezTo>
                  <a:pt x="2487168" y="0"/>
                  <a:pt x="2487168" y="291578"/>
                </a:quadBezTo>
                <a:lnTo>
                  <a:pt x="2487168" y="2041047"/>
                </a:lnTo>
                <a:quadBezTo>
                  <a:pt x="2487168" y="2332625"/>
                  <a:pt x="2226564" y="2332625"/>
                </a:quadBezTo>
                <a:lnTo>
                  <a:pt x="260604" y="2332625"/>
                </a:lnTo>
                <a:quadBezTo>
                  <a:pt x="0" y="2332625"/>
                  <a:pt x="0" y="2041047"/>
                </a:quadBezTo>
                <a:lnTo>
                  <a:pt x="0" y="291578"/>
                </a:lnTo>
                <a:quadBezTo>
                  <a:pt x="0" y="0"/>
                  <a:pt x="260604" y="0"/>
                </a:quadBezTo>
                <a:close/>
              </a:path>
            </a:pathLst>
          </a:custGeom>
          <a:solidFill>
            <a:srgbClr val="1859AE">
              <a:alpha val="1000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750722" y="2340681"/>
            <a:ext cx="2267712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文本生成工具是利用人工智能技术，自动产生高质量文本内容的软件。它们能够辅助用户完成从简单编辑到复杂创作的多种任务，提升写作效率。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3385109" y="1938345"/>
            <a:ext cx="2395728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主要功能与应用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6061558" y="1938345"/>
            <a:ext cx="2395728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工具比较与选择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3449117" y="2340681"/>
            <a:ext cx="2267712" cy="14996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这些工具不仅支持文章、报告的自动生成，还能进行语法检查、翻译和内容优化等。广泛应用于新闻、营销、教育等多个领域，极大地丰富了内容创作的可能性。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6125566" y="2340681"/>
            <a:ext cx="2267712" cy="14996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不同的文本生成工具各有特色，如Nation AI擅长多语言处理，讯飞听见注重场景化写作，笔灵AI则在文档处理上表现突出。用户可根据需求选择合适的工具以提高工作效率。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640994" y="1048069"/>
            <a:ext cx="679728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20" name="Shape 17"/>
          <p:cNvSpPr/>
          <p:nvPr/>
        </p:nvSpPr>
        <p:spPr>
          <a:xfrm>
            <a:off x="3339835" y="1018720"/>
            <a:ext cx="426013" cy="426013"/>
          </a:xfrm>
          <a:custGeom>
            <a:avLst/>
            <a:gdLst/>
            <a:ahLst/>
            <a:cxnLst/>
            <a:rect l="l" t="t" r="r" b="b"/>
            <a:pathLst>
              <a:path w="426013" h="426013">
                <a:moveTo>
                  <a:pt x="213006" y="0"/>
                </a:moveTo>
                <a:moveTo>
                  <a:pt x="213006" y="0"/>
                </a:moveTo>
                <a:cubicBezTo>
                  <a:pt x="330568" y="0"/>
                  <a:pt x="426013" y="95445"/>
                  <a:pt x="426013" y="213006"/>
                </a:cubicBezTo>
                <a:cubicBezTo>
                  <a:pt x="426013" y="330568"/>
                  <a:pt x="330568" y="426013"/>
                  <a:pt x="213006" y="426013"/>
                </a:cubicBezTo>
                <a:cubicBezTo>
                  <a:pt x="95445" y="426013"/>
                  <a:pt x="0" y="330568"/>
                  <a:pt x="0" y="213006"/>
                </a:cubicBezTo>
                <a:cubicBezTo>
                  <a:pt x="0" y="95445"/>
                  <a:pt x="95445" y="0"/>
                  <a:pt x="21300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21" name="Text 18"/>
          <p:cNvSpPr/>
          <p:nvPr/>
        </p:nvSpPr>
        <p:spPr>
          <a:xfrm>
            <a:off x="3349080" y="1048069"/>
            <a:ext cx="709960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22" name="Shape 19"/>
          <p:cNvSpPr/>
          <p:nvPr/>
        </p:nvSpPr>
        <p:spPr>
          <a:xfrm>
            <a:off x="6015819" y="1018720"/>
            <a:ext cx="426013" cy="426013"/>
          </a:xfrm>
          <a:custGeom>
            <a:avLst/>
            <a:gdLst/>
            <a:ahLst/>
            <a:cxnLst/>
            <a:rect l="l" t="t" r="r" b="b"/>
            <a:pathLst>
              <a:path w="426013" h="426013">
                <a:moveTo>
                  <a:pt x="213006" y="0"/>
                </a:moveTo>
                <a:moveTo>
                  <a:pt x="213006" y="0"/>
                </a:moveTo>
                <a:cubicBezTo>
                  <a:pt x="330568" y="0"/>
                  <a:pt x="426013" y="95445"/>
                  <a:pt x="426013" y="213006"/>
                </a:cubicBezTo>
                <a:cubicBezTo>
                  <a:pt x="426013" y="330568"/>
                  <a:pt x="330568" y="426013"/>
                  <a:pt x="213006" y="426013"/>
                </a:cubicBezTo>
                <a:cubicBezTo>
                  <a:pt x="95445" y="426013"/>
                  <a:pt x="0" y="330568"/>
                  <a:pt x="0" y="213006"/>
                </a:cubicBezTo>
                <a:cubicBezTo>
                  <a:pt x="0" y="95445"/>
                  <a:pt x="95445" y="0"/>
                  <a:pt x="21300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23" name="Text 20"/>
          <p:cNvSpPr/>
          <p:nvPr/>
        </p:nvSpPr>
        <p:spPr>
          <a:xfrm>
            <a:off x="6016304" y="1048069"/>
            <a:ext cx="723664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  <p:sp>
        <p:nvSpPr>
          <p:cNvPr id="24" name="Shape 21"/>
          <p:cNvSpPr/>
          <p:nvPr/>
        </p:nvSpPr>
        <p:spPr>
          <a:xfrm>
            <a:off x="4228093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arrow"/>
          </a:ln>
        </p:spPr>
      </p:sp>
      <p:sp>
        <p:nvSpPr>
          <p:cNvPr id="25" name="Shape 22"/>
          <p:cNvSpPr/>
          <p:nvPr/>
        </p:nvSpPr>
        <p:spPr>
          <a:xfrm>
            <a:off x="6913035" y="1289285"/>
            <a:ext cx="1334304" cy="0"/>
          </a:xfrm>
          <a:custGeom>
            <a:avLst/>
            <a:gdLst/>
            <a:ahLst/>
            <a:cxnLst/>
            <a:rect l="l" t="t" r="r" b="b"/>
            <a:pathLst>
              <a:path w="1334304">
                <a:moveTo>
                  <a:pt x="0" y="0"/>
                </a:moveTo>
                <a:moveTo>
                  <a:pt x="0" y="0"/>
                </a:moveTo>
                <a:lnTo>
                  <a:pt x="1334304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arrow"/>
          </a:ln>
        </p:spPr>
      </p:sp>
      <p:sp>
        <p:nvSpPr>
          <p:cNvPr id="26" name="Shape 23"/>
          <p:cNvSpPr/>
          <p:nvPr/>
        </p:nvSpPr>
        <p:spPr>
          <a:xfrm>
            <a:off x="3765747" y="1534826"/>
            <a:ext cx="530506" cy="257215"/>
          </a:xfrm>
          <a:custGeom>
            <a:avLst/>
            <a:gdLst/>
            <a:ahLst/>
            <a:cxnLst/>
            <a:rect l="l" t="t" r="r" b="b"/>
            <a:pathLst>
              <a:path w="530506" h="257215">
                <a:moveTo>
                  <a:pt x="265253" y="0"/>
                </a:moveTo>
                <a:moveTo>
                  <a:pt x="265253" y="0"/>
                </a:moveTo>
                <a:lnTo>
                  <a:pt x="0" y="257215"/>
                </a:lnTo>
                <a:lnTo>
                  <a:pt x="530506" y="257215"/>
                </a:lnTo>
                <a:close/>
              </a:path>
            </a:pathLst>
          </a:custGeom>
          <a:solidFill>
            <a:srgbClr val="1859AE">
              <a:alpha val="10000"/>
            </a:srgbClr>
          </a:solidFill>
        </p:spPr>
      </p:sp>
      <p:sp>
        <p:nvSpPr>
          <p:cNvPr id="27" name="Shape 24"/>
          <p:cNvSpPr/>
          <p:nvPr/>
        </p:nvSpPr>
        <p:spPr>
          <a:xfrm>
            <a:off x="6441731" y="1534826"/>
            <a:ext cx="530506" cy="257215"/>
          </a:xfrm>
          <a:custGeom>
            <a:avLst/>
            <a:gdLst/>
            <a:ahLst/>
            <a:cxnLst/>
            <a:rect l="l" t="t" r="r" b="b"/>
            <a:pathLst>
              <a:path w="530506" h="257215">
                <a:moveTo>
                  <a:pt x="265253" y="0"/>
                </a:moveTo>
                <a:moveTo>
                  <a:pt x="265253" y="0"/>
                </a:moveTo>
                <a:lnTo>
                  <a:pt x="0" y="257215"/>
                </a:lnTo>
                <a:lnTo>
                  <a:pt x="530506" y="257215"/>
                </a:lnTo>
                <a:close/>
              </a:path>
            </a:pathLst>
          </a:custGeom>
          <a:solidFill>
            <a:srgbClr val="1859AE">
              <a:alpha val="10000"/>
            </a:srgbClr>
          </a:solid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文本处理工具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Text 4"/>
          <p:cNvSpPr/>
          <p:nvPr>
            <p:custDataLst>
              <p:tags r:id="rId2"/>
            </p:custDataLst>
          </p:nvPr>
        </p:nvSpPr>
        <p:spPr>
          <a:xfrm>
            <a:off x="886148" y="1536231"/>
            <a:ext cx="2212848" cy="3931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腾讯文涌Effidit</a:t>
            </a:r>
            <a:endParaRPr lang="en-US" sz="1440" dirty="0"/>
          </a:p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886148" y="1920279"/>
            <a:ext cx="2212848" cy="155448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腾讯文涌Effidit是一款内容创作工具，主要功能包括智能纠错、文本续写、文本润色、词句推荐等，帮助用户提升写作效率和质量。</a:t>
            </a:r>
            <a:endParaRPr lang="en-US" sz="1440" dirty="0"/>
          </a:p>
        </p:txBody>
      </p:sp>
      <p:sp>
        <p:nvSpPr>
          <p:cNvPr id="9" name="Shape 6"/>
          <p:cNvSpPr/>
          <p:nvPr>
            <p:custDataLst>
              <p:tags r:id="rId4"/>
            </p:custDataLst>
          </p:nvPr>
        </p:nvSpPr>
        <p:spPr>
          <a:xfrm>
            <a:off x="886489" y="1045921"/>
            <a:ext cx="426013" cy="426013"/>
          </a:xfrm>
          <a:custGeom>
            <a:avLst/>
            <a:gdLst/>
            <a:ahLst/>
            <a:cxnLst/>
            <a:rect l="l" t="t" r="r" b="b"/>
            <a:pathLst>
              <a:path w="426013" h="426013">
                <a:moveTo>
                  <a:pt x="213006" y="0"/>
                </a:moveTo>
                <a:moveTo>
                  <a:pt x="213006" y="0"/>
                </a:moveTo>
                <a:cubicBezTo>
                  <a:pt x="330568" y="0"/>
                  <a:pt x="426013" y="95445"/>
                  <a:pt x="426013" y="213006"/>
                </a:cubicBezTo>
                <a:cubicBezTo>
                  <a:pt x="426013" y="330568"/>
                  <a:pt x="330568" y="426013"/>
                  <a:pt x="213006" y="426013"/>
                </a:cubicBezTo>
                <a:cubicBezTo>
                  <a:pt x="95445" y="426013"/>
                  <a:pt x="0" y="330568"/>
                  <a:pt x="0" y="213006"/>
                </a:cubicBezTo>
                <a:cubicBezTo>
                  <a:pt x="0" y="95445"/>
                  <a:pt x="95445" y="0"/>
                  <a:pt x="21300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813116" y="1076047"/>
            <a:ext cx="554470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3502025" y="1527175"/>
            <a:ext cx="2430145" cy="4343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据意查句WantQuotes</a:t>
            </a:r>
            <a:endParaRPr lang="en-US" sz="144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3502092" y="1920279"/>
            <a:ext cx="2212848" cy="155448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据意查句WantQuotes能根据用户输入的主题词汇，快速找出相关的名言、诗句、俗语、成语等，为用户提供丰富的语言素材。</a:t>
            </a:r>
            <a:endParaRPr lang="en-US" sz="1440" dirty="0"/>
          </a:p>
        </p:txBody>
      </p:sp>
      <p:sp>
        <p:nvSpPr>
          <p:cNvPr id="13" name="Shape 10"/>
          <p:cNvSpPr/>
          <p:nvPr>
            <p:custDataLst>
              <p:tags r:id="rId8"/>
            </p:custDataLst>
          </p:nvPr>
        </p:nvSpPr>
        <p:spPr>
          <a:xfrm>
            <a:off x="3502092" y="1045921"/>
            <a:ext cx="426013" cy="426013"/>
          </a:xfrm>
          <a:custGeom>
            <a:avLst/>
            <a:gdLst/>
            <a:ahLst/>
            <a:cxnLst/>
            <a:rect l="l" t="t" r="r" b="b"/>
            <a:pathLst>
              <a:path w="426013" h="426013">
                <a:moveTo>
                  <a:pt x="213006" y="0"/>
                </a:moveTo>
                <a:moveTo>
                  <a:pt x="213006" y="0"/>
                </a:moveTo>
                <a:cubicBezTo>
                  <a:pt x="330568" y="0"/>
                  <a:pt x="426013" y="95445"/>
                  <a:pt x="426013" y="213006"/>
                </a:cubicBezTo>
                <a:cubicBezTo>
                  <a:pt x="426013" y="330568"/>
                  <a:pt x="330568" y="426013"/>
                  <a:pt x="213006" y="426013"/>
                </a:cubicBezTo>
                <a:cubicBezTo>
                  <a:pt x="95445" y="426013"/>
                  <a:pt x="0" y="330568"/>
                  <a:pt x="0" y="213006"/>
                </a:cubicBezTo>
                <a:cubicBezTo>
                  <a:pt x="0" y="95445"/>
                  <a:pt x="95445" y="0"/>
                  <a:pt x="21300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3447228" y="1076047"/>
            <a:ext cx="517553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6118036" y="1527087"/>
            <a:ext cx="2212848" cy="3931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讯飞星火</a:t>
            </a:r>
            <a:endParaRPr lang="en-US" sz="1440" dirty="0"/>
          </a:p>
        </p:txBody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6118036" y="1920279"/>
            <a:ext cx="2212848" cy="182880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讯飞星火具备文本生成、语言理解、知识问答、多模交互等多种能力，可以用来查找资料、翻译、解答疑惑，同时也可以根据描述生成文本、视频和音频。</a:t>
            </a:r>
            <a:endParaRPr lang="en-US" sz="1440" dirty="0"/>
          </a:p>
        </p:txBody>
      </p:sp>
      <p:sp>
        <p:nvSpPr>
          <p:cNvPr id="17" name="Shape 14"/>
          <p:cNvSpPr/>
          <p:nvPr>
            <p:custDataLst>
              <p:tags r:id="rId12"/>
            </p:custDataLst>
          </p:nvPr>
        </p:nvSpPr>
        <p:spPr>
          <a:xfrm>
            <a:off x="6118036" y="1045921"/>
            <a:ext cx="426013" cy="426013"/>
          </a:xfrm>
          <a:custGeom>
            <a:avLst/>
            <a:gdLst/>
            <a:ahLst/>
            <a:cxnLst/>
            <a:rect l="l" t="t" r="r" b="b"/>
            <a:pathLst>
              <a:path w="426013" h="426013">
                <a:moveTo>
                  <a:pt x="213006" y="0"/>
                </a:moveTo>
                <a:moveTo>
                  <a:pt x="213006" y="0"/>
                </a:moveTo>
                <a:cubicBezTo>
                  <a:pt x="330568" y="0"/>
                  <a:pt x="426013" y="95445"/>
                  <a:pt x="426013" y="213006"/>
                </a:cubicBezTo>
                <a:cubicBezTo>
                  <a:pt x="426013" y="330568"/>
                  <a:pt x="330568" y="426013"/>
                  <a:pt x="213006" y="426013"/>
                </a:cubicBezTo>
                <a:cubicBezTo>
                  <a:pt x="95445" y="426013"/>
                  <a:pt x="0" y="330568"/>
                  <a:pt x="0" y="213006"/>
                </a:cubicBezTo>
                <a:cubicBezTo>
                  <a:pt x="0" y="95445"/>
                  <a:pt x="95445" y="0"/>
                  <a:pt x="21300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18" name="Text 15"/>
          <p:cNvSpPr/>
          <p:nvPr>
            <p:custDataLst>
              <p:tags r:id="rId13"/>
            </p:custDataLst>
          </p:nvPr>
        </p:nvSpPr>
        <p:spPr>
          <a:xfrm>
            <a:off x="6090604" y="1076047"/>
            <a:ext cx="479885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图像生成工具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8" name="Text 4"/>
          <p:cNvSpPr/>
          <p:nvPr/>
        </p:nvSpPr>
        <p:spPr>
          <a:xfrm>
            <a:off x="3485040" y="1130659"/>
            <a:ext cx="3309781" cy="4846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Midjourney的卓越表现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3485040" y="1427243"/>
            <a:ext cx="5212080" cy="841248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Midjourney作为市场上最受欢迎的AIGC图像工具，已升级至V5版本，其在手部和眼部特写以及光影处理方面的逼真度得到了显著提升，为用户提供了更加精细的图像生成体验。</a:t>
            </a:r>
            <a:endParaRPr lang="en-US" sz="1440" dirty="0"/>
          </a:p>
        </p:txBody>
      </p:sp>
      <p:sp>
        <p:nvSpPr>
          <p:cNvPr id="10" name="Text 6"/>
          <p:cNvSpPr/>
          <p:nvPr/>
        </p:nvSpPr>
        <p:spPr>
          <a:xfrm>
            <a:off x="3485040" y="2158619"/>
            <a:ext cx="4507439" cy="4846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稿定设计的多功能应用</a:t>
            </a:r>
            <a:endParaRPr lang="en-US" sz="1440" dirty="0"/>
          </a:p>
        </p:txBody>
      </p:sp>
      <p:sp>
        <p:nvSpPr>
          <p:cNvPr id="11" name="Text 7"/>
          <p:cNvSpPr/>
          <p:nvPr/>
        </p:nvSpPr>
        <p:spPr>
          <a:xfrm>
            <a:off x="3485040" y="2463259"/>
            <a:ext cx="5212080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稿定设计不仅支持AI绘图和设计，还涵盖了AI文案功能，特别适合用于公众号封面图和配图的日常制作，极大地提高了内容创作的效率和质量。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3485040" y="3194618"/>
            <a:ext cx="4861995" cy="4846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Stable Diffusion的创新技术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3485040" y="3491058"/>
            <a:ext cx="5213718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Stable Diffusion利用GAN(生成对抗网络）的深度学习模型，能够模仿艺术家的创作风格，生成高品质的数字艺术作品，为艺术创作提供了全新的可能。</a:t>
            </a:r>
            <a:endParaRPr lang="en-US" sz="1440" dirty="0"/>
          </a:p>
        </p:txBody>
      </p:sp>
      <p:pic>
        <p:nvPicPr>
          <p:cNvPr id="366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5" y="1285240"/>
            <a:ext cx="2966085" cy="982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视频生成工具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Shape 4"/>
          <p:cNvSpPr/>
          <p:nvPr/>
        </p:nvSpPr>
        <p:spPr>
          <a:xfrm>
            <a:off x="603401" y="1099566"/>
            <a:ext cx="7497539" cy="1021473"/>
          </a:xfrm>
          <a:custGeom>
            <a:avLst/>
            <a:gdLst/>
            <a:ahLst/>
            <a:cxnLst/>
            <a:rect l="l" t="t" r="r" b="b"/>
            <a:pathLst>
              <a:path w="7497539" h="1021473">
                <a:moveTo>
                  <a:pt x="127684" y="0"/>
                </a:moveTo>
                <a:moveTo>
                  <a:pt x="127684" y="0"/>
                </a:moveTo>
                <a:lnTo>
                  <a:pt x="7369855" y="0"/>
                </a:lnTo>
                <a:quadBezTo>
                  <a:pt x="7497539" y="0"/>
                  <a:pt x="7497539" y="127684"/>
                </a:quadBezTo>
                <a:lnTo>
                  <a:pt x="7497539" y="893789"/>
                </a:lnTo>
                <a:quadBezTo>
                  <a:pt x="7497539" y="1021473"/>
                  <a:pt x="7369855" y="1021473"/>
                </a:quadBezTo>
                <a:lnTo>
                  <a:pt x="127684" y="1021473"/>
                </a:lnTo>
                <a:quadBezTo>
                  <a:pt x="0" y="1021473"/>
                  <a:pt x="0" y="893789"/>
                </a:quadBezTo>
                <a:lnTo>
                  <a:pt x="0" y="127684"/>
                </a:lnTo>
                <a:quadBezTo>
                  <a:pt x="0" y="0"/>
                  <a:pt x="127684" y="0"/>
                </a:quadBez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603401" y="3263375"/>
            <a:ext cx="7497539" cy="914400"/>
          </a:xfrm>
          <a:custGeom>
            <a:avLst/>
            <a:gdLst/>
            <a:ahLst/>
            <a:cxnLst/>
            <a:rect l="l" t="t" r="r" b="b"/>
            <a:pathLst>
              <a:path w="7497539" h="914400">
                <a:moveTo>
                  <a:pt x="114300" y="0"/>
                </a:moveTo>
                <a:moveTo>
                  <a:pt x="114300" y="0"/>
                </a:moveTo>
                <a:lnTo>
                  <a:pt x="7383239" y="0"/>
                </a:lnTo>
                <a:quadBezTo>
                  <a:pt x="7497539" y="0"/>
                  <a:pt x="7497539" y="114300"/>
                </a:quadBezTo>
                <a:lnTo>
                  <a:pt x="7497539" y="800100"/>
                </a:lnTo>
                <a:quadBezTo>
                  <a:pt x="7497539" y="914400"/>
                  <a:pt x="7383239" y="914400"/>
                </a:quadBezTo>
                <a:lnTo>
                  <a:pt x="114300" y="914400"/>
                </a:lnTo>
                <a:quadBezTo>
                  <a:pt x="0" y="914400"/>
                  <a:pt x="0" y="80010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9" name="Shape 6"/>
          <p:cNvSpPr/>
          <p:nvPr/>
        </p:nvSpPr>
        <p:spPr>
          <a:xfrm rot="-8100000">
            <a:off x="8148204" y="3558047"/>
            <a:ext cx="325055" cy="325055"/>
          </a:xfrm>
          <a:custGeom>
            <a:avLst/>
            <a:gdLst/>
            <a:ahLst/>
            <a:cxnLst/>
            <a:rect l="l" t="t" r="r" b="b"/>
            <a:pathLst>
              <a:path w="325055" h="325055">
                <a:moveTo>
                  <a:pt x="0" y="0"/>
                </a:moveTo>
                <a:moveTo>
                  <a:pt x="0" y="0"/>
                </a:moveTo>
                <a:lnTo>
                  <a:pt x="0" y="325055"/>
                </a:lnTo>
                <a:lnTo>
                  <a:pt x="325055" y="325055"/>
                </a:ln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603401" y="2248391"/>
            <a:ext cx="7497539" cy="914400"/>
          </a:xfrm>
          <a:custGeom>
            <a:avLst/>
            <a:gdLst/>
            <a:ahLst/>
            <a:cxnLst/>
            <a:rect l="l" t="t" r="r" b="b"/>
            <a:pathLst>
              <a:path w="7497539" h="914400">
                <a:moveTo>
                  <a:pt x="114300" y="0"/>
                </a:moveTo>
                <a:moveTo>
                  <a:pt x="114300" y="0"/>
                </a:moveTo>
                <a:lnTo>
                  <a:pt x="7383239" y="0"/>
                </a:lnTo>
                <a:quadBezTo>
                  <a:pt x="7497539" y="0"/>
                  <a:pt x="7497539" y="114300"/>
                </a:quadBezTo>
                <a:lnTo>
                  <a:pt x="7497539" y="800100"/>
                </a:lnTo>
                <a:quadBezTo>
                  <a:pt x="7497539" y="914400"/>
                  <a:pt x="7383239" y="914400"/>
                </a:quadBezTo>
                <a:lnTo>
                  <a:pt x="114300" y="914400"/>
                </a:lnTo>
                <a:quadBezTo>
                  <a:pt x="0" y="914400"/>
                  <a:pt x="0" y="80010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11" name="Shape 8"/>
          <p:cNvSpPr/>
          <p:nvPr/>
        </p:nvSpPr>
        <p:spPr>
          <a:xfrm rot="-8100000">
            <a:off x="8148223" y="2543063"/>
            <a:ext cx="325055" cy="325055"/>
          </a:xfrm>
          <a:custGeom>
            <a:avLst/>
            <a:gdLst/>
            <a:ahLst/>
            <a:cxnLst/>
            <a:rect l="l" t="t" r="r" b="b"/>
            <a:pathLst>
              <a:path w="325055" h="325055">
                <a:moveTo>
                  <a:pt x="0" y="0"/>
                </a:moveTo>
                <a:moveTo>
                  <a:pt x="0" y="0"/>
                </a:moveTo>
                <a:lnTo>
                  <a:pt x="0" y="325055"/>
                </a:lnTo>
                <a:lnTo>
                  <a:pt x="325055" y="325055"/>
                </a:ln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12" name="Shape 9"/>
          <p:cNvSpPr/>
          <p:nvPr/>
        </p:nvSpPr>
        <p:spPr>
          <a:xfrm rot="-8100000">
            <a:off x="8148185" y="1394239"/>
            <a:ext cx="325055" cy="325055"/>
          </a:xfrm>
          <a:custGeom>
            <a:avLst/>
            <a:gdLst/>
            <a:ahLst/>
            <a:cxnLst/>
            <a:rect l="l" t="t" r="r" b="b"/>
            <a:pathLst>
              <a:path w="325055" h="325055">
                <a:moveTo>
                  <a:pt x="0" y="0"/>
                </a:moveTo>
                <a:moveTo>
                  <a:pt x="0" y="0"/>
                </a:moveTo>
                <a:lnTo>
                  <a:pt x="0" y="325055"/>
                </a:lnTo>
                <a:lnTo>
                  <a:pt x="325055" y="325055"/>
                </a:ln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834307" y="1323749"/>
            <a:ext cx="2845133" cy="573106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Make-A-Video的创意视频生成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3586576" y="1099566"/>
            <a:ext cx="4333133" cy="914400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Make-A-Video由Meta公司推出，能根据文字提示迅速生成短视频，如飞翔的超级英雄狗，通过图像合成和预测技术实现。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834307" y="2409000"/>
            <a:ext cx="2531059" cy="593182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Pika Labs的动态画面控制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3586576" y="2248391"/>
            <a:ext cx="4333133" cy="914400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Pika Labs允许用户通过提词器控制画面元素进行动态转换，智能识别并合理生成画面中不存在的内容，保持画面稳定。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834307" y="3434022"/>
            <a:ext cx="2530145" cy="573106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腾讯智影的多功能视频制作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3586576" y="3263375"/>
            <a:ext cx="4333133" cy="914400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腾讯智影提供从素材收集到视频发布的一站式服务，支持正版版权素材，用户可上传照片和文本生成数字人视频。</a:t>
            </a:r>
            <a:endParaRPr lang="en-US" sz="14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语音生成工具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Shape 4"/>
          <p:cNvSpPr/>
          <p:nvPr/>
        </p:nvSpPr>
        <p:spPr>
          <a:xfrm>
            <a:off x="447956" y="1929366"/>
            <a:ext cx="8248087" cy="2346713"/>
          </a:xfrm>
          <a:custGeom>
            <a:avLst/>
            <a:gdLst/>
            <a:ahLst/>
            <a:cxnLst/>
            <a:rect l="l" t="t" r="r" b="b"/>
            <a:pathLst>
              <a:path w="8248087" h="2346713">
                <a:moveTo>
                  <a:pt x="293339" y="0"/>
                </a:moveTo>
                <a:moveTo>
                  <a:pt x="293339" y="0"/>
                </a:moveTo>
                <a:lnTo>
                  <a:pt x="7954748" y="0"/>
                </a:lnTo>
                <a:quadBezTo>
                  <a:pt x="8248087" y="0"/>
                  <a:pt x="8248087" y="293339"/>
                </a:quadBezTo>
                <a:lnTo>
                  <a:pt x="8248087" y="2053374"/>
                </a:lnTo>
                <a:quadBezTo>
                  <a:pt x="8248087" y="2346713"/>
                  <a:pt x="7954748" y="2346713"/>
                </a:quadBezTo>
                <a:lnTo>
                  <a:pt x="293339" y="2346713"/>
                </a:lnTo>
                <a:quadBezTo>
                  <a:pt x="0" y="2346713"/>
                  <a:pt x="0" y="2053374"/>
                </a:quadBezTo>
                <a:lnTo>
                  <a:pt x="0" y="293339"/>
                </a:lnTo>
                <a:quadBezTo>
                  <a:pt x="0" y="0"/>
                  <a:pt x="293339" y="0"/>
                </a:quadBezTo>
                <a:close/>
              </a:path>
            </a:pathLst>
          </a:custGeom>
          <a:solidFill>
            <a:srgbClr val="1859AE">
              <a:alpha val="10000"/>
            </a:srgbClr>
          </a:solidFill>
          <a:ln w="19050">
            <a:solidFill>
              <a:srgbClr val="1859A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39" y="867420"/>
            <a:ext cx="914400" cy="9144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126739" y="86742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36445" y="995436"/>
            <a:ext cx="784215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7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11" name="Shape 6"/>
          <p:cNvSpPr/>
          <p:nvPr/>
        </p:nvSpPr>
        <p:spPr>
          <a:xfrm>
            <a:off x="1745836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>
              <a:alpha val="80000"/>
            </a:srgbClr>
          </a:solidFill>
        </p:spPr>
      </p:sp>
      <p:sp>
        <p:nvSpPr>
          <p:cNvPr id="12" name="Shape 7"/>
          <p:cNvSpPr/>
          <p:nvPr/>
        </p:nvSpPr>
        <p:spPr>
          <a:xfrm>
            <a:off x="1949699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/>
          </a:solidFill>
        </p:spPr>
      </p:sp>
      <p:sp>
        <p:nvSpPr>
          <p:cNvPr id="13" name="Shape 8"/>
          <p:cNvSpPr/>
          <p:nvPr/>
        </p:nvSpPr>
        <p:spPr>
          <a:xfrm>
            <a:off x="2153562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>
              <a:alpha val="80000"/>
            </a:srgbClr>
          </a:solidFill>
        </p:spPr>
      </p:sp>
      <p:sp>
        <p:nvSpPr>
          <p:cNvPr id="14" name="Text 9"/>
          <p:cNvSpPr/>
          <p:nvPr/>
        </p:nvSpPr>
        <p:spPr>
          <a:xfrm>
            <a:off x="825904" y="2045733"/>
            <a:ext cx="2430470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文本到语音合成技术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825904" y="2448069"/>
            <a:ext cx="2430470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文本到语音合成技术通过输入文本生成特定说话者的语音，广泛应用于机器人和语音播报任务，目前技术已相对成熟，未来将向情感化和少量样本学习方向发展。</a:t>
            </a:r>
            <a:endParaRPr lang="en-US" sz="144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67420"/>
            <a:ext cx="914400" cy="914400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657600" y="867420"/>
            <a:ext cx="914400" cy="914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152608" y="995436"/>
            <a:ext cx="849850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7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19" name="Text 12"/>
          <p:cNvSpPr/>
          <p:nvPr/>
        </p:nvSpPr>
        <p:spPr>
          <a:xfrm>
            <a:off x="3356765" y="2045733"/>
            <a:ext cx="2430470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语音克隆应用</a:t>
            </a:r>
            <a:endParaRPr lang="en-US" sz="1440" dirty="0"/>
          </a:p>
        </p:txBody>
      </p:sp>
      <p:sp>
        <p:nvSpPr>
          <p:cNvPr id="20" name="Text 13"/>
          <p:cNvSpPr/>
          <p:nvPr/>
        </p:nvSpPr>
        <p:spPr>
          <a:xfrm>
            <a:off x="3356765" y="2448069"/>
            <a:ext cx="2430470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语音克隆技术以目标说话人的语音为输入，能将任意语音或文本转换为该说话人的语音，主要用于智能配音等场景，实现个性化语音输出。</a:t>
            </a:r>
            <a:endParaRPr lang="en-US" sz="144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861" y="867420"/>
            <a:ext cx="914400" cy="914400"/>
          </a:xfrm>
          <a:prstGeom prst="rect">
            <a:avLst/>
          </a:prstGeom>
        </p:spPr>
      </p:pic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188461" y="867420"/>
            <a:ext cx="914400" cy="9144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676289" y="995436"/>
            <a:ext cx="817032" cy="5852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17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  <p:sp>
        <p:nvSpPr>
          <p:cNvPr id="24" name="Text 15"/>
          <p:cNvSpPr/>
          <p:nvPr/>
        </p:nvSpPr>
        <p:spPr>
          <a:xfrm>
            <a:off x="5887626" y="2045733"/>
            <a:ext cx="2430470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快速音乐创作</a:t>
            </a:r>
            <a:endParaRPr lang="en-US" sz="1440" dirty="0"/>
          </a:p>
        </p:txBody>
      </p:sp>
      <p:sp>
        <p:nvSpPr>
          <p:cNvPr id="25" name="Text 16"/>
          <p:cNvSpPr/>
          <p:nvPr/>
        </p:nvSpPr>
        <p:spPr>
          <a:xfrm>
            <a:off x="5887626" y="2448069"/>
            <a:ext cx="2430470" cy="106070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利用先进的语音生成工具，即使没有音乐创作经验的用户也能在几秒钟内创作出原创歌曲，这得益于高效的算法和强大的处理能力。</a:t>
            </a:r>
            <a:endParaRPr lang="en-US" sz="1440" dirty="0"/>
          </a:p>
        </p:txBody>
      </p:sp>
      <p:sp>
        <p:nvSpPr>
          <p:cNvPr id="26" name="Shape 17"/>
          <p:cNvSpPr/>
          <p:nvPr/>
        </p:nvSpPr>
        <p:spPr>
          <a:xfrm>
            <a:off x="4276697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>
              <a:alpha val="80000"/>
            </a:srgbClr>
          </a:solidFill>
        </p:spPr>
      </p:sp>
      <p:sp>
        <p:nvSpPr>
          <p:cNvPr id="27" name="Shape 18"/>
          <p:cNvSpPr/>
          <p:nvPr/>
        </p:nvSpPr>
        <p:spPr>
          <a:xfrm>
            <a:off x="4480560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/>
          </a:solidFill>
        </p:spPr>
      </p:sp>
      <p:sp>
        <p:nvSpPr>
          <p:cNvPr id="28" name="Shape 19"/>
          <p:cNvSpPr/>
          <p:nvPr/>
        </p:nvSpPr>
        <p:spPr>
          <a:xfrm>
            <a:off x="4684423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>
              <a:alpha val="80000"/>
            </a:srgbClr>
          </a:solidFill>
        </p:spPr>
      </p:sp>
      <p:sp>
        <p:nvSpPr>
          <p:cNvPr id="29" name="Shape 20"/>
          <p:cNvSpPr/>
          <p:nvPr/>
        </p:nvSpPr>
        <p:spPr>
          <a:xfrm>
            <a:off x="6807558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>
              <a:alpha val="80000"/>
            </a:srgbClr>
          </a:solidFill>
        </p:spPr>
      </p:sp>
      <p:sp>
        <p:nvSpPr>
          <p:cNvPr id="30" name="Shape 21"/>
          <p:cNvSpPr/>
          <p:nvPr/>
        </p:nvSpPr>
        <p:spPr>
          <a:xfrm>
            <a:off x="7011421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/>
          </a:solidFill>
        </p:spPr>
      </p:sp>
      <p:sp>
        <p:nvSpPr>
          <p:cNvPr id="31" name="Shape 22"/>
          <p:cNvSpPr/>
          <p:nvPr/>
        </p:nvSpPr>
        <p:spPr>
          <a:xfrm>
            <a:off x="7215284" y="174648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1929" y="71448"/>
                </a:moveTo>
                <a:moveTo>
                  <a:pt x="181929" y="71448"/>
                </a:moveTo>
                <a:lnTo>
                  <a:pt x="113536" y="70396"/>
                </a:lnTo>
                <a:lnTo>
                  <a:pt x="91440" y="6212"/>
                </a:lnTo>
                <a:lnTo>
                  <a:pt x="69344" y="70396"/>
                </a:lnTo>
                <a:lnTo>
                  <a:pt x="951" y="71448"/>
                </a:lnTo>
                <a:lnTo>
                  <a:pt x="55665" y="112484"/>
                </a:lnTo>
                <a:lnTo>
                  <a:pt x="34621" y="177720"/>
                </a:lnTo>
                <a:lnTo>
                  <a:pt x="90388" y="137737"/>
                </a:lnTo>
                <a:lnTo>
                  <a:pt x="146154" y="177720"/>
                </a:lnTo>
                <a:lnTo>
                  <a:pt x="125110" y="112484"/>
                </a:lnTo>
                <a:lnTo>
                  <a:pt x="181929" y="71448"/>
                </a:lnTo>
                <a:close/>
              </a:path>
            </a:pathLst>
          </a:custGeom>
          <a:solidFill>
            <a:srgbClr val="1859AE">
              <a:alpha val="80000"/>
            </a:srgbClr>
          </a:solid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58045" y="1664502"/>
            <a:ext cx="585216" cy="585216"/>
          </a:xfrm>
          <a:custGeom>
            <a:avLst/>
            <a:gdLst/>
            <a:ahLst/>
            <a:cxnLst/>
            <a:rect l="l" t="t" r="r" b="b"/>
            <a:pathLst>
              <a:path w="585216" h="585216">
                <a:moveTo>
                  <a:pt x="73152" y="0"/>
                </a:moveTo>
                <a:moveTo>
                  <a:pt x="73152" y="0"/>
                </a:moveTo>
                <a:lnTo>
                  <a:pt x="512064" y="0"/>
                </a:lnTo>
                <a:quadBezTo>
                  <a:pt x="585216" y="0"/>
                  <a:pt x="585216" y="73152"/>
                </a:quadBezTo>
                <a:lnTo>
                  <a:pt x="585216" y="512064"/>
                </a:lnTo>
                <a:quadBezTo>
                  <a:pt x="585216" y="585216"/>
                  <a:pt x="512064" y="585216"/>
                </a:quadBezTo>
                <a:lnTo>
                  <a:pt x="73152" y="585216"/>
                </a:lnTo>
                <a:quadBezTo>
                  <a:pt x="0" y="585216"/>
                  <a:pt x="0" y="512064"/>
                </a:quadBezTo>
                <a:lnTo>
                  <a:pt x="0" y="73152"/>
                </a:lnTo>
                <a:quadBezTo>
                  <a:pt x="0" y="0"/>
                  <a:pt x="73152" y="0"/>
                </a:quad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4" name="Text 1"/>
          <p:cNvSpPr/>
          <p:nvPr/>
        </p:nvSpPr>
        <p:spPr>
          <a:xfrm>
            <a:off x="830029" y="1682790"/>
            <a:ext cx="841248" cy="54864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440" dirty="0"/>
          </a:p>
        </p:txBody>
      </p:sp>
      <p:sp>
        <p:nvSpPr>
          <p:cNvPr id="5" name="Text 2"/>
          <p:cNvSpPr/>
          <p:nvPr/>
        </p:nvSpPr>
        <p:spPr>
          <a:xfrm>
            <a:off x="865937" y="2437790"/>
            <a:ext cx="7518197" cy="73152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AIGC带来的革新</a:t>
            </a:r>
            <a:endParaRPr lang="en-US" sz="1440" dirty="0"/>
          </a:p>
        </p:txBody>
      </p:sp>
      <p:sp>
        <p:nvSpPr>
          <p:cNvPr id="6" name="Shape 3"/>
          <p:cNvSpPr/>
          <p:nvPr/>
        </p:nvSpPr>
        <p:spPr>
          <a:xfrm>
            <a:off x="897176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7" name="Shape 4"/>
          <p:cNvSpPr/>
          <p:nvPr/>
        </p:nvSpPr>
        <p:spPr>
          <a:xfrm>
            <a:off x="1250653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8" name="Shape 5"/>
          <p:cNvSpPr/>
          <p:nvPr/>
        </p:nvSpPr>
        <p:spPr>
          <a:xfrm>
            <a:off x="1604131" y="1110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607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内容生产效率提升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pic>
        <p:nvPicPr>
          <p:cNvPr id="7" name="Image 0" descr="https://sgw-dx.xf-yun.com/api/v1/sparkdesk/_174005544893198ffebed1ee34dce8bade08af4cfd953.jpg?authorization=c2ltcGxlLWp3dCBhaz1zcGFya2Rlc2s4MDAwMDAwMDAwMDE7ZXhwPTMzMTY4NTU0NDg7YWxnbz1obWFjLXNoYTI1NjtzaWc9NEhqNjRwM29hZ0JXU3pkVTVENk94VmlQbkR3dHFDbmVyb0M0dUsxNXY0cz0=&amp;x_location=7YfmxI7B7uKO7jlRxIftd60uePD=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72" y="1088132"/>
            <a:ext cx="2283193" cy="12826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2446016"/>
            <a:ext cx="2487168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AIGC内容生产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822960" y="2773736"/>
            <a:ext cx="2414016" cy="106070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AIGC技术通过自动生成文本、图像、音频和视频，极大地提高了内容生产效率，为创意行业提供了强大的技术支持。</a:t>
            </a:r>
            <a:endParaRPr lang="en-US" sz="1440" dirty="0"/>
          </a:p>
        </p:txBody>
      </p:sp>
      <p:pic>
        <p:nvPicPr>
          <p:cNvPr id="10" name="Image 1" descr="https://sgw-dx.xf-yun.com/api/v1/sparkdesk/_1740055452386d9d9d560b06b494e831c8005c4056266.jpg?authorization=c2ltcGxlLWp3dCBhaz1zcGFya2Rlc2s4MDAwMDAwMDAwMDE7ZXhwPTMzMTY4NTU0NTI7YWxnbz1obWFjLXNoYTI1NjtzaWc9b3RCMUowZnNNeUdKVXJDcENMLzBzN0dONzdxN0E5VnNLQy9vY1owWkduWT0=&amp;x_location=7YfmxI7B7uKO7jlRxIftd60uePD=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980" y="1088132"/>
            <a:ext cx="2283193" cy="12826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28416" y="2446016"/>
            <a:ext cx="2487168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智能创作工具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3401568" y="2773736"/>
            <a:ext cx="2414016" cy="106070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高效的智能创作工具能够辅助艺术、影视等行业从业者快速生成所需内容，显著提升了日常工作的效率和质量。</a:t>
            </a:r>
            <a:endParaRPr lang="en-US" sz="1440" dirty="0"/>
          </a:p>
        </p:txBody>
      </p:sp>
      <p:pic>
        <p:nvPicPr>
          <p:cNvPr id="13" name="Image 2" descr="https://sgw-dx.xf-yun.com/api/v1/sparkdesk/_174005545568708bc916b3bd046669d5a92eac91c3e9a.jpg?authorization=c2ltcGxlLWp3dCBhaz1zcGFya2Rlc2s4MDAwMDAwMDAwMDE7ZXhwPTMzMTY4NTU0NTU7YWxnbz1obWFjLXNoYTI1NjtzaWc9cXpobTlNYysxWW04dEsrVGxKaFNmUWY2eDdsZlgwTUdxd2ZSZ1ZJdlZvWT0=&amp;x_location=7YfmxI7B7uKO7jlRxIftd60uePD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012" y="1088132"/>
            <a:ext cx="2283193" cy="12826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70448" y="2447488"/>
            <a:ext cx="2487168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AIGC助力内容创新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5943600" y="2775208"/>
            <a:ext cx="2414016" cy="106070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AIGC不仅提升了内容生产的效率，还实现了个性化内容的生成，满足了用户对高质量、定制化内容的需求。</a:t>
            </a:r>
            <a:endParaRPr lang="en-US" sz="14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内容质量与多样性增加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pic>
        <p:nvPicPr>
          <p:cNvPr id="7" name="Image 0" descr="https://sgw-dx.xf-yun.com/api/v1/sparkdesk/_1740055461770aa3ed2a269d049e0b248ce3d14c9d601.jpg?authorization=c2ltcGxlLWp3dCBhaz1zcGFya2Rlc2s4MDAwMDAwMDAwMDE7ZXhwPTMzMTY4NTU0NjE7YWxnbz1obWFjLXNoYTI1NjtzaWc9TXgwNHFJb3NScW9VUUFIOVlSNUJ0NlBqdjB1ZDhyRzVWNGxGcmhYdkJ3ST0=&amp;x_location=7YfmxI7B7uKO7jlRxIftd60uePD=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42" y="1227435"/>
            <a:ext cx="2831634" cy="28316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85040" y="1130659"/>
            <a:ext cx="3309781" cy="4846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AIGC提升内容质量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3485040" y="1427243"/>
            <a:ext cx="5212080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AIGC技术通过深度学习和大数据分析，能够生成比人类创作的内容更高质量、更准确的信息，显著提升了内容的专业性和可靠性。</a:t>
            </a:r>
            <a:endParaRPr lang="en-US" sz="1440" dirty="0"/>
          </a:p>
        </p:txBody>
      </p:sp>
      <p:sp>
        <p:nvSpPr>
          <p:cNvPr id="10" name="Text 6"/>
          <p:cNvSpPr/>
          <p:nvPr/>
        </p:nvSpPr>
        <p:spPr>
          <a:xfrm>
            <a:off x="3485040" y="2158619"/>
            <a:ext cx="4507439" cy="4846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个性化内容的创新</a:t>
            </a:r>
            <a:endParaRPr lang="en-US" sz="1440" dirty="0"/>
          </a:p>
        </p:txBody>
      </p:sp>
      <p:sp>
        <p:nvSpPr>
          <p:cNvPr id="11" name="Text 7"/>
          <p:cNvSpPr/>
          <p:nvPr/>
        </p:nvSpPr>
        <p:spPr>
          <a:xfrm>
            <a:off x="3485040" y="2463259"/>
            <a:ext cx="5212080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AIGC不仅提高了内容的质量，还能根据用户的需求和偏好，创造出个性化的内容，为每个用户提供独一无二的体验。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3485040" y="3194618"/>
            <a:ext cx="4861995" cy="48463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创意与实现的分离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3485040" y="3491058"/>
            <a:ext cx="5213718" cy="6217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AIGC技术使得内容创作的创意过程和执行过程可以分离，让有经验的创作者能更专注于创新互动形式，捕捉灵感。</a:t>
            </a:r>
            <a:endParaRPr lang="en-US" sz="14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助力内容创新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886688"/>
            <a:ext cx="4523239" cy="4053616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903148"/>
            <a:ext cx="4523239" cy="4398546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9529"/>
            <a:ext cx="4523239" cy="452323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122902" y="1093989"/>
            <a:ext cx="4389120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458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AIGC技术革新内容创作</a:t>
            </a:r>
            <a:endParaRPr lang="en-US" sz="1440" dirty="0"/>
          </a:p>
        </p:txBody>
      </p:sp>
      <p:sp>
        <p:nvSpPr>
          <p:cNvPr id="11" name="Text 5"/>
          <p:cNvSpPr/>
          <p:nvPr/>
        </p:nvSpPr>
        <p:spPr>
          <a:xfrm>
            <a:off x="4122902" y="1395741"/>
            <a:ext cx="4476025" cy="81381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AIGC技术通过智能算法，实现个性化内容的自动生成，极大地提高了内容创作的效率和多样性，为创作者提供了前所未有的创新工具。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4122902" y="2258934"/>
            <a:ext cx="4389120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458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创意与实现的分离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4122902" y="2555200"/>
            <a:ext cx="4476025" cy="60350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AIGC助力内容创新，将创意构思与实际制作过程分离，使创作者能够专注于灵感捕捉和创意发展，而将重复劳动交由AI完成。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4122115" y="3522635"/>
            <a:ext cx="4389120" cy="4023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458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互动形式的创新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4122902" y="3824695"/>
            <a:ext cx="4476025" cy="60350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利用AIGC技术，创作者可以探索新的互动形式，如动态内容、个性化推荐等，增强用户体验，推动内容消费模式的创新。</a:t>
            </a:r>
            <a:endParaRPr lang="en-US" sz="1440" dirty="0"/>
          </a:p>
        </p:txBody>
      </p:sp>
      <p:sp>
        <p:nvSpPr>
          <p:cNvPr id="16" name="Shape 10"/>
          <p:cNvSpPr/>
          <p:nvPr/>
        </p:nvSpPr>
        <p:spPr>
          <a:xfrm>
            <a:off x="2673371" y="1805964"/>
            <a:ext cx="499914" cy="0"/>
          </a:xfrm>
          <a:custGeom>
            <a:avLst/>
            <a:gdLst/>
            <a:ahLst/>
            <a:cxnLst/>
            <a:rect l="l" t="t" r="r" b="b"/>
            <a:pathLst>
              <a:path w="499914">
                <a:moveTo>
                  <a:pt x="0" y="0"/>
                </a:moveTo>
                <a:moveTo>
                  <a:pt x="0" y="0"/>
                </a:moveTo>
                <a:lnTo>
                  <a:pt x="499914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arrow"/>
          </a:ln>
        </p:spPr>
      </p:sp>
      <p:sp>
        <p:nvSpPr>
          <p:cNvPr id="17" name="Shape 11"/>
          <p:cNvSpPr/>
          <p:nvPr/>
        </p:nvSpPr>
        <p:spPr>
          <a:xfrm>
            <a:off x="3162037" y="2856649"/>
            <a:ext cx="350493" cy="0"/>
          </a:xfrm>
          <a:custGeom>
            <a:avLst/>
            <a:gdLst/>
            <a:ahLst/>
            <a:cxnLst/>
            <a:rect l="l" t="t" r="r" b="b"/>
            <a:pathLst>
              <a:path w="350493">
                <a:moveTo>
                  <a:pt x="0" y="0"/>
                </a:moveTo>
                <a:moveTo>
                  <a:pt x="0" y="0"/>
                </a:moveTo>
                <a:lnTo>
                  <a:pt x="350493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arrow"/>
          </a:ln>
        </p:spPr>
      </p:sp>
      <p:sp>
        <p:nvSpPr>
          <p:cNvPr id="18" name="Shape 12"/>
          <p:cNvSpPr/>
          <p:nvPr/>
        </p:nvSpPr>
        <p:spPr>
          <a:xfrm>
            <a:off x="2804600" y="4003258"/>
            <a:ext cx="1103131" cy="0"/>
          </a:xfrm>
          <a:custGeom>
            <a:avLst/>
            <a:gdLst/>
            <a:ahLst/>
            <a:cxnLst/>
            <a:rect l="l" t="t" r="r" b="b"/>
            <a:pathLst>
              <a:path w="1103131">
                <a:moveTo>
                  <a:pt x="0" y="0"/>
                </a:moveTo>
                <a:moveTo>
                  <a:pt x="0" y="0"/>
                </a:moveTo>
                <a:lnTo>
                  <a:pt x="1103131" y="0"/>
                </a:lnTo>
              </a:path>
            </a:pathLst>
          </a:custGeom>
          <a:noFill/>
          <a:ln w="19050">
            <a:solidFill>
              <a:srgbClr val="1859AE"/>
            </a:solidFill>
            <a:prstDash val="solid"/>
            <a:headEnd type="none"/>
            <a:tailEnd type="arrow"/>
          </a:ln>
        </p:spPr>
      </p:sp>
      <p:sp>
        <p:nvSpPr>
          <p:cNvPr id="19" name="Text 13"/>
          <p:cNvSpPr/>
          <p:nvPr/>
        </p:nvSpPr>
        <p:spPr>
          <a:xfrm>
            <a:off x="1838595" y="1558724"/>
            <a:ext cx="794446" cy="594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20" name="Text 14"/>
          <p:cNvSpPr/>
          <p:nvPr/>
        </p:nvSpPr>
        <p:spPr>
          <a:xfrm>
            <a:off x="1605529" y="2616316"/>
            <a:ext cx="1312181" cy="594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21" name="Text 15"/>
          <p:cNvSpPr/>
          <p:nvPr/>
        </p:nvSpPr>
        <p:spPr>
          <a:xfrm>
            <a:off x="1426313" y="3754199"/>
            <a:ext cx="1670613" cy="5943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16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对话式搜索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Shape 4"/>
          <p:cNvSpPr/>
          <p:nvPr/>
        </p:nvSpPr>
        <p:spPr>
          <a:xfrm>
            <a:off x="1528754" y="1041561"/>
            <a:ext cx="362032" cy="362032"/>
          </a:xfrm>
          <a:custGeom>
            <a:avLst/>
            <a:gdLst/>
            <a:ahLst/>
            <a:cxnLst/>
            <a:rect l="l" t="t" r="r" b="b"/>
            <a:pathLst>
              <a:path w="362032" h="362032">
                <a:moveTo>
                  <a:pt x="181016" y="0"/>
                </a:moveTo>
                <a:moveTo>
                  <a:pt x="181016" y="0"/>
                </a:moveTo>
                <a:cubicBezTo>
                  <a:pt x="280921" y="0"/>
                  <a:pt x="362032" y="81111"/>
                  <a:pt x="362032" y="181016"/>
                </a:cubicBezTo>
                <a:cubicBezTo>
                  <a:pt x="362032" y="280921"/>
                  <a:pt x="280921" y="362032"/>
                  <a:pt x="181016" y="362032"/>
                </a:cubicBezTo>
                <a:cubicBezTo>
                  <a:pt x="81111" y="362032"/>
                  <a:pt x="0" y="280921"/>
                  <a:pt x="0" y="181016"/>
                </a:cubicBezTo>
                <a:cubicBezTo>
                  <a:pt x="0" y="81111"/>
                  <a:pt x="81111" y="0"/>
                  <a:pt x="18101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8" name="Shape 5"/>
          <p:cNvSpPr/>
          <p:nvPr/>
        </p:nvSpPr>
        <p:spPr>
          <a:xfrm>
            <a:off x="5687275" y="1041561"/>
            <a:ext cx="362032" cy="362032"/>
          </a:xfrm>
          <a:custGeom>
            <a:avLst/>
            <a:gdLst/>
            <a:ahLst/>
            <a:cxnLst/>
            <a:rect l="l" t="t" r="r" b="b"/>
            <a:pathLst>
              <a:path w="362032" h="362032">
                <a:moveTo>
                  <a:pt x="181016" y="0"/>
                </a:moveTo>
                <a:moveTo>
                  <a:pt x="181016" y="0"/>
                </a:moveTo>
                <a:cubicBezTo>
                  <a:pt x="280921" y="0"/>
                  <a:pt x="362032" y="81111"/>
                  <a:pt x="362032" y="181016"/>
                </a:cubicBezTo>
                <a:cubicBezTo>
                  <a:pt x="362032" y="280921"/>
                  <a:pt x="280921" y="362032"/>
                  <a:pt x="181016" y="362032"/>
                </a:cubicBezTo>
                <a:cubicBezTo>
                  <a:pt x="81111" y="362032"/>
                  <a:pt x="0" y="280921"/>
                  <a:pt x="0" y="181016"/>
                </a:cubicBezTo>
                <a:cubicBezTo>
                  <a:pt x="0" y="81111"/>
                  <a:pt x="81111" y="0"/>
                  <a:pt x="18101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9" name="Shape 6"/>
          <p:cNvSpPr/>
          <p:nvPr/>
        </p:nvSpPr>
        <p:spPr>
          <a:xfrm>
            <a:off x="3542750" y="2852974"/>
            <a:ext cx="362032" cy="362032"/>
          </a:xfrm>
          <a:custGeom>
            <a:avLst/>
            <a:gdLst/>
            <a:ahLst/>
            <a:cxnLst/>
            <a:rect l="l" t="t" r="r" b="b"/>
            <a:pathLst>
              <a:path w="362032" h="362032">
                <a:moveTo>
                  <a:pt x="181016" y="0"/>
                </a:moveTo>
                <a:moveTo>
                  <a:pt x="181016" y="0"/>
                </a:moveTo>
                <a:cubicBezTo>
                  <a:pt x="280921" y="0"/>
                  <a:pt x="362032" y="81111"/>
                  <a:pt x="362032" y="181016"/>
                </a:cubicBezTo>
                <a:cubicBezTo>
                  <a:pt x="362032" y="280921"/>
                  <a:pt x="280921" y="362032"/>
                  <a:pt x="181016" y="362032"/>
                </a:cubicBezTo>
                <a:cubicBezTo>
                  <a:pt x="81111" y="362032"/>
                  <a:pt x="0" y="280921"/>
                  <a:pt x="0" y="181016"/>
                </a:cubicBezTo>
                <a:cubicBezTo>
                  <a:pt x="0" y="81111"/>
                  <a:pt x="81111" y="0"/>
                  <a:pt x="18101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10" name="Text 7"/>
          <p:cNvSpPr/>
          <p:nvPr/>
        </p:nvSpPr>
        <p:spPr>
          <a:xfrm>
            <a:off x="1890785" y="896569"/>
            <a:ext cx="2428566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对话式搜索的定义</a:t>
            </a:r>
            <a:endParaRPr lang="en-US" sz="1440" dirty="0"/>
          </a:p>
        </p:txBody>
      </p:sp>
      <p:pic>
        <p:nvPicPr>
          <p:cNvPr id="11" name="Image 0" descr="https://sgw-dx.xf-yun.com/api/v1/sparkdesk/_17400554643587c730e7b08134d7db27664baef418044.jpg?authorization=c2ltcGxlLWp3dCBhaz1zcGFya2Rlc2s4MDAwMDAwMDAwMDE7ZXhwPTMzMTY4NTU0NjQ7YWxnbz1obWFjLXNoYTI1NjtzaWc9a2lJaThFbkRGdlpiRGVyOSt6N3FuVStUN0hicHcwYW1zVkEveEV5VW0zYz0=&amp;x_location=7YfmxI7B7uKO7jlRxIftd60uePD="/>
          <p:cNvPicPr>
            <a:picLocks noChangeAspect="1"/>
          </p:cNvPicPr>
          <p:nvPr/>
        </p:nvPicPr>
        <p:blipFill>
          <a:blip r:embed="rId2"/>
          <a:srcRect l="21910" r="21910"/>
          <a:stretch>
            <a:fillRect/>
          </a:stretch>
        </p:blipFill>
        <p:spPr>
          <a:xfrm>
            <a:off x="498274" y="1041561"/>
            <a:ext cx="1392512" cy="1392512"/>
          </a:xfrm>
          <a:prstGeom prst="ellipse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90785" y="1291590"/>
            <a:ext cx="2428566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对话式搜索是AIGC技术的一种应用，通过将搜索转化为与聊天机器人的互动，使用户在与聊天机器人的对话中最终得到满意的答案。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6049307" y="896569"/>
            <a:ext cx="2428566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对话式搜索的优势</a:t>
            </a:r>
            <a:endParaRPr lang="en-US" sz="1440" dirty="0"/>
          </a:p>
        </p:txBody>
      </p:sp>
      <p:pic>
        <p:nvPicPr>
          <p:cNvPr id="14" name="Image 1" descr="https://sgw-dx.xf-yun.com/api/v1/sparkdesk/_1740055467605c9cad193d8444a6a8df849b909da17e5.jpg?authorization=c2ltcGxlLWp3dCBhaz1zcGFya2Rlc2s4MDAwMDAwMDAwMDE7ZXhwPTMzMTY4NTU0Njc7YWxnbz1obWFjLXNoYTI1NjtzaWc9Ym03Y2tDR01LblI2bFBnbWxEdlV0Q21NSFNFS2I0b0FLam5DYVNvaE1qTT0=&amp;x_location=7YfmxI7B7uKO7jlRxIftd60uePD="/>
          <p:cNvPicPr>
            <a:picLocks noChangeAspect="1"/>
          </p:cNvPicPr>
          <p:nvPr/>
        </p:nvPicPr>
        <p:blipFill>
          <a:blip r:embed="rId3"/>
          <a:srcRect l="21910" r="21910"/>
          <a:stretch>
            <a:fillRect/>
          </a:stretch>
        </p:blipFill>
        <p:spPr>
          <a:xfrm>
            <a:off x="4656795" y="1041561"/>
            <a:ext cx="1392512" cy="1392512"/>
          </a:xfrm>
          <a:prstGeom prst="ellipse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49307" y="1291590"/>
            <a:ext cx="2428566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对话式搜索可以提供更加精准和个性化的搜索结果，而不仅仅是泛化的信息链接，这种方式能更好地满足用户的需求。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3904782" y="2707982"/>
            <a:ext cx="2428566" cy="512064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对话式搜索的应用实例</a:t>
            </a:r>
            <a:endParaRPr lang="en-US" sz="1440" dirty="0"/>
          </a:p>
        </p:txBody>
      </p:sp>
      <p:pic>
        <p:nvPicPr>
          <p:cNvPr id="17" name="Image 2" descr="https://sgw-dx.xf-yun.com/api/v1/sparkdesk/_1740055470735c33e86c035244233928b7355623e49e0.jpg?authorization=c2ltcGxlLWp3dCBhaz1zcGFya2Rlc2s4MDAwMDAwMDAwMDE7ZXhwPTMzMTY4NTU0NzA7YWxnbz1obWFjLXNoYTI1NjtzaWc9N2cyMGtyNkpBaXhUQ1B3TUlvOGpxOXBvTTZPWUE0SVRBNHdGYkVVd2tEVT0=&amp;x_location=7YfmxI7B7uKO7jlRxIftd60uePD="/>
          <p:cNvPicPr>
            <a:picLocks noChangeAspect="1"/>
          </p:cNvPicPr>
          <p:nvPr/>
        </p:nvPicPr>
        <p:blipFill>
          <a:blip r:embed="rId4"/>
          <a:srcRect l="21910" r="21910"/>
          <a:stretch>
            <a:fillRect/>
          </a:stretch>
        </p:blipFill>
        <p:spPr>
          <a:xfrm>
            <a:off x="2512271" y="2852974"/>
            <a:ext cx="1392512" cy="1392512"/>
          </a:xfrm>
          <a:prstGeom prst="ellipse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904782" y="3103003"/>
            <a:ext cx="2428566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例如，新版BING中，用户可以通过单击搜索栏的“聊天”选项，与AI聊天的方式获得答案或建议，这是对话式搜索在实际中的应用。</a:t>
            </a:r>
            <a:endParaRPr lang="en-US" sz="14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数字媒体适配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pic>
        <p:nvPicPr>
          <p:cNvPr id="7" name="Image 0" descr="https://sgw-dx.xf-yun.com/api/v1/sparkdesk/_17400554759019e1f148808ab47b48125fe5ebbcb36b6.jpg?authorization=c2ltcGxlLWp3dCBhaz1zcGFya2Rlc2s4MDAwMDAwMDAwMDE7ZXhwPTMzMTY4NTU0NzY7YWxnbz1obWFjLXNoYTI1NjtzaWc9blJ1bzBsRjBiN014Y1NOMHdYUjZFUGF0R3VJOXJlUjNYeTBYYnkwQkpWMD0=&amp;x_location=7YfmxI7B7uKO7jlRxIftd60uePD=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5361" y="2646298"/>
            <a:ext cx="2516140" cy="14153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5930" y="826770"/>
            <a:ext cx="2791460" cy="45656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458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AIGC技术与数字媒体融合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3247889" y="1290078"/>
            <a:ext cx="2614983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BuzzFeed宣布将使用OpenAI开放的API协助创作内容，计划在2023年把由AI创造的内容从研发阶段转变为核心业务的一部分。</a:t>
            </a:r>
            <a:endParaRPr lang="en-US" sz="1440" dirty="0"/>
          </a:p>
        </p:txBody>
      </p:sp>
      <p:pic>
        <p:nvPicPr>
          <p:cNvPr id="10" name="Image 1" descr="https://sgw-dx.xf-yun.com/api/v1/sparkdesk/_17400554790835f2191faae2c420ca963a2507adfd353.jpg?authorization=c2ltcGxlLWp3dCBhaz1zcGFya2Rlc2s4MDAwMDAwMDAwMDE7ZXhwPTMzMTY4NTU0Nzk7YWxnbz1obWFjLXNoYTI1NjtzaWc9WFQrMjdZeG9IekNhUy83YmdoZnZJMnBKR0ZNanlVaTI2WTE1MlJYZCtTTT0=&amp;x_location=7YfmxI7B7uKO7jlRxIftd60uePD="/>
          <p:cNvPicPr>
            <a:picLocks noChangeAspect="1"/>
          </p:cNvPicPr>
          <p:nvPr/>
        </p:nvPicPr>
        <p:blipFill>
          <a:blip r:embed="rId3"/>
          <a:srcRect l="154" r="154"/>
          <a:stretch>
            <a:fillRect/>
          </a:stretch>
        </p:blipFill>
        <p:spPr>
          <a:xfrm>
            <a:off x="3297311" y="2646298"/>
            <a:ext cx="2516140" cy="141532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47889" y="826507"/>
            <a:ext cx="2614983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458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BuzzFeed的AI应用案例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6031158" y="1290078"/>
            <a:ext cx="2656902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利用AI技术创建面对用户的个性测验，并根据用户反应生成个性化的文本内容，提高用户体验和参与度。</a:t>
            </a:r>
            <a:endParaRPr lang="en-US" sz="1440" dirty="0"/>
          </a:p>
        </p:txBody>
      </p:sp>
      <p:pic>
        <p:nvPicPr>
          <p:cNvPr id="13" name="Image 2" descr="https://sgw-dx.xf-yun.com/api/v1/sparkdesk/_1740055481974e34cda85ad66407db0f27f28cf6eb4d8.jpg?authorization=c2ltcGxlLWp3dCBhaz1zcGFya2Rlc2s4MDAwMDAwMDAwMDE7ZXhwPTMzMTY4NTU0ODE7YWxnbz1obWFjLXNoYTI1NjtzaWc9Q1RzY05FcXRyT2J2dnVXaFFnLzhrS29YcGtuWFZFdEZoZFZXUHZNcEdvST0=&amp;x_location=7YfmxI7B7uKO7jlRxIftd60uePD="/>
          <p:cNvPicPr>
            <a:picLocks noChangeAspect="1"/>
          </p:cNvPicPr>
          <p:nvPr/>
        </p:nvPicPr>
        <p:blipFill>
          <a:blip r:embed="rId4"/>
          <a:srcRect l="154" r="154"/>
          <a:stretch>
            <a:fillRect/>
          </a:stretch>
        </p:blipFill>
        <p:spPr>
          <a:xfrm>
            <a:off x="6101539" y="2646298"/>
            <a:ext cx="2516140" cy="141532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31158" y="826507"/>
            <a:ext cx="2656902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458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个性化文本内容的生成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455940" y="1290078"/>
            <a:ext cx="2614983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AIGC技术通过语言整合和文字输出，与资讯平台类的数字媒体高度适配，为内容创作提供新的可能性。</a:t>
            </a:r>
            <a:endParaRPr lang="en-US" sz="14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企业服务优化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pic>
        <p:nvPicPr>
          <p:cNvPr id="7" name="Image 0" descr="https://sgw-dx.xf-yun.com/api/v1/sparkdesk/_17400554759149ab5552e1458446f99faf03041b96267.jpg?authorization=c2ltcGxlLWp3dCBhaz1zcGFya2Rlc2s4MDAwMDAwMDAwMDE7ZXhwPTMzMTY4NTU0NzU7YWxnbz1obWFjLXNoYTI1NjtzaWc9c2Q4ZDRRL3MweGJzYkc3dkE2STlNMm1iTFBrWWIzYS9EQU5ZaTNWZTJqbz0=&amp;x_location=7YfmxI7B7uKO7jlRxIftd60uePD=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72" y="1088132"/>
            <a:ext cx="2283193" cy="12826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" y="2446016"/>
            <a:ext cx="2487168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提升客户服务质量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822960" y="2773736"/>
            <a:ext cx="2414016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AIGC技术通过分析历史数据，实现客服人员与客户的精准匹配，考虑产品使用情况、使用年限等因素，以提供更个性化的服务体验。</a:t>
            </a:r>
            <a:endParaRPr lang="en-US" sz="1440" dirty="0"/>
          </a:p>
        </p:txBody>
      </p:sp>
      <p:pic>
        <p:nvPicPr>
          <p:cNvPr id="10" name="Image 1" descr="https://sgw-dx.xf-yun.com/api/v1/sparkdesk/_1740055478875165f436440f64764871a83bf3e06315b.jpg?authorization=c2ltcGxlLWp3dCBhaz1zcGFya2Rlc2s4MDAwMDAwMDAwMDE7ZXhwPTMzMTY4NTU0Nzg7YWxnbz1obWFjLXNoYTI1NjtzaWc9ZGdXQVpUdW42SjdwcDhVWlJZb1RwdFVUczlmT3VtNEdCQUIrKzR3eGdmVT0=&amp;x_location=7YfmxI7B7uKO7jlRxIftd60uePD=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980" y="1088132"/>
            <a:ext cx="2283193" cy="12826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28416" y="2446016"/>
            <a:ext cx="2487168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优化客服响应速度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3401568" y="2773736"/>
            <a:ext cx="2414016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引入AI技术后，品牌方能够在几毫秒内完成个人与客服人员的匹配，大大缩短了客户等待时间，提高了服务效率。</a:t>
            </a:r>
            <a:endParaRPr lang="en-US" sz="1440" dirty="0"/>
          </a:p>
        </p:txBody>
      </p:sp>
      <p:pic>
        <p:nvPicPr>
          <p:cNvPr id="13" name="Image 2" descr="https://sgw-dx.xf-yun.com/api/v1/sparkdesk/_17400554817467f48167361dc49c4a5dfbadf076a0ab4.jpg?authorization=c2ltcGxlLWp3dCBhaz1zcGFya2Rlc2s4MDAwMDAwMDAwMDE7ZXhwPTMzMTY4NTU0ODE7YWxnbz1obWFjLXNoYTI1NjtzaWc9eTFONWNiNHYxdVRMNytJNG9vZ0k4WCtNanpLTzg5WVI0aWpSUTZTejhrbz0=&amp;x_location=7YfmxI7B7uKO7jlRxIftd60uePD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012" y="1088132"/>
            <a:ext cx="2283193" cy="12826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70448" y="2447488"/>
            <a:ext cx="2487168" cy="4480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提高客户满意度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5943600" y="2775208"/>
            <a:ext cx="2414016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AIGC技术帮助企业更好地理解客户需求，通过分析客服人员处理类似信息互动的方式，为客户提供更有效的解决方案，从而提升客户满意度。</a:t>
            </a:r>
            <a:endParaRPr lang="en-US" sz="14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数字人应用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Text 4"/>
          <p:cNvSpPr/>
          <p:nvPr/>
        </p:nvSpPr>
        <p:spPr>
          <a:xfrm>
            <a:off x="886148" y="1536231"/>
            <a:ext cx="2212848" cy="3931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电商直播革新</a:t>
            </a:r>
            <a:endParaRPr lang="en-US" sz="1440" dirty="0"/>
          </a:p>
        </p:txBody>
      </p:sp>
      <p:sp>
        <p:nvSpPr>
          <p:cNvPr id="8" name="Text 5"/>
          <p:cNvSpPr/>
          <p:nvPr/>
        </p:nvSpPr>
        <p:spPr>
          <a:xfrm>
            <a:off x="886148" y="1920279"/>
            <a:ext cx="2212848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数字人技术在电商直播中通过AI虚拟人物与动态捕捉技术的结合，创新内容营销方式，有效提升转化率和经济效益。</a:t>
            </a:r>
            <a:endParaRPr lang="en-US" sz="1440" dirty="0"/>
          </a:p>
        </p:txBody>
      </p:sp>
      <p:sp>
        <p:nvSpPr>
          <p:cNvPr id="9" name="Shape 6"/>
          <p:cNvSpPr/>
          <p:nvPr/>
        </p:nvSpPr>
        <p:spPr>
          <a:xfrm>
            <a:off x="886489" y="1045921"/>
            <a:ext cx="426013" cy="426013"/>
          </a:xfrm>
          <a:custGeom>
            <a:avLst/>
            <a:gdLst/>
            <a:ahLst/>
            <a:cxnLst/>
            <a:rect l="l" t="t" r="r" b="b"/>
            <a:pathLst>
              <a:path w="426013" h="426013">
                <a:moveTo>
                  <a:pt x="213006" y="0"/>
                </a:moveTo>
                <a:moveTo>
                  <a:pt x="213006" y="0"/>
                </a:moveTo>
                <a:cubicBezTo>
                  <a:pt x="330568" y="0"/>
                  <a:pt x="426013" y="95445"/>
                  <a:pt x="426013" y="213006"/>
                </a:cubicBezTo>
                <a:cubicBezTo>
                  <a:pt x="426013" y="330568"/>
                  <a:pt x="330568" y="426013"/>
                  <a:pt x="213006" y="426013"/>
                </a:cubicBezTo>
                <a:cubicBezTo>
                  <a:pt x="95445" y="426013"/>
                  <a:pt x="0" y="330568"/>
                  <a:pt x="0" y="213006"/>
                </a:cubicBezTo>
                <a:cubicBezTo>
                  <a:pt x="0" y="95445"/>
                  <a:pt x="95445" y="0"/>
                  <a:pt x="21300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10" name="Text 7"/>
          <p:cNvSpPr/>
          <p:nvPr/>
        </p:nvSpPr>
        <p:spPr>
          <a:xfrm>
            <a:off x="813116" y="1076047"/>
            <a:ext cx="554470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3502092" y="1527087"/>
            <a:ext cx="2212848" cy="3931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新闻播报智能化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3502092" y="1920279"/>
            <a:ext cx="2212848" cy="155448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AI虚拟主播在新闻播报领域的应用，以其理性客观的评述和稳定的播出效果，减少了人工错误，提高了新闻报道的质量。</a:t>
            </a:r>
            <a:endParaRPr lang="en-US" sz="1440" dirty="0"/>
          </a:p>
        </p:txBody>
      </p:sp>
      <p:sp>
        <p:nvSpPr>
          <p:cNvPr id="13" name="Shape 10"/>
          <p:cNvSpPr/>
          <p:nvPr/>
        </p:nvSpPr>
        <p:spPr>
          <a:xfrm>
            <a:off x="3502092" y="1045921"/>
            <a:ext cx="426013" cy="426013"/>
          </a:xfrm>
          <a:custGeom>
            <a:avLst/>
            <a:gdLst/>
            <a:ahLst/>
            <a:cxnLst/>
            <a:rect l="l" t="t" r="r" b="b"/>
            <a:pathLst>
              <a:path w="426013" h="426013">
                <a:moveTo>
                  <a:pt x="213006" y="0"/>
                </a:moveTo>
                <a:moveTo>
                  <a:pt x="213006" y="0"/>
                </a:moveTo>
                <a:cubicBezTo>
                  <a:pt x="330568" y="0"/>
                  <a:pt x="426013" y="95445"/>
                  <a:pt x="426013" y="213006"/>
                </a:cubicBezTo>
                <a:cubicBezTo>
                  <a:pt x="426013" y="330568"/>
                  <a:pt x="330568" y="426013"/>
                  <a:pt x="213006" y="426013"/>
                </a:cubicBezTo>
                <a:cubicBezTo>
                  <a:pt x="95445" y="426013"/>
                  <a:pt x="0" y="330568"/>
                  <a:pt x="0" y="213006"/>
                </a:cubicBezTo>
                <a:cubicBezTo>
                  <a:pt x="0" y="95445"/>
                  <a:pt x="95445" y="0"/>
                  <a:pt x="21300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14" name="Text 11"/>
          <p:cNvSpPr/>
          <p:nvPr/>
        </p:nvSpPr>
        <p:spPr>
          <a:xfrm>
            <a:off x="3447228" y="1076047"/>
            <a:ext cx="517553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6118036" y="1527087"/>
            <a:ext cx="2212848" cy="393192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5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接待指引自动化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6118036" y="1920279"/>
            <a:ext cx="2212848" cy="12801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just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利用AI虚拟数字人作为智能接待员和导购，为顾客提供疑问解答和商品推介服务，优化了客户体验，提升了服务效率。</a:t>
            </a:r>
            <a:endParaRPr lang="en-US" sz="1440" dirty="0"/>
          </a:p>
        </p:txBody>
      </p:sp>
      <p:sp>
        <p:nvSpPr>
          <p:cNvPr id="17" name="Shape 14"/>
          <p:cNvSpPr/>
          <p:nvPr/>
        </p:nvSpPr>
        <p:spPr>
          <a:xfrm>
            <a:off x="6118036" y="1045921"/>
            <a:ext cx="426013" cy="426013"/>
          </a:xfrm>
          <a:custGeom>
            <a:avLst/>
            <a:gdLst/>
            <a:ahLst/>
            <a:cxnLst/>
            <a:rect l="l" t="t" r="r" b="b"/>
            <a:pathLst>
              <a:path w="426013" h="426013">
                <a:moveTo>
                  <a:pt x="213006" y="0"/>
                </a:moveTo>
                <a:moveTo>
                  <a:pt x="213006" y="0"/>
                </a:moveTo>
                <a:cubicBezTo>
                  <a:pt x="330568" y="0"/>
                  <a:pt x="426013" y="95445"/>
                  <a:pt x="426013" y="213006"/>
                </a:cubicBezTo>
                <a:cubicBezTo>
                  <a:pt x="426013" y="330568"/>
                  <a:pt x="330568" y="426013"/>
                  <a:pt x="213006" y="426013"/>
                </a:cubicBezTo>
                <a:cubicBezTo>
                  <a:pt x="95445" y="426013"/>
                  <a:pt x="0" y="330568"/>
                  <a:pt x="0" y="213006"/>
                </a:cubicBezTo>
                <a:cubicBezTo>
                  <a:pt x="0" y="95445"/>
                  <a:pt x="95445" y="0"/>
                  <a:pt x="213006" y="0"/>
                </a:cubicBezTo>
                <a:close/>
              </a:path>
            </a:pathLst>
          </a:custGeom>
          <a:solidFill>
            <a:srgbClr val="1859AE"/>
          </a:solidFill>
        </p:spPr>
      </p:sp>
      <p:sp>
        <p:nvSpPr>
          <p:cNvPr id="18" name="Text 15"/>
          <p:cNvSpPr/>
          <p:nvPr/>
        </p:nvSpPr>
        <p:spPr>
          <a:xfrm>
            <a:off x="6090604" y="1076047"/>
            <a:ext cx="479885" cy="36576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270" y="406871"/>
            <a:ext cx="8311854" cy="5777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0" b="1" dirty="0">
                <a:solidFill>
                  <a:srgbClr val="08377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产业变革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433541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8989"/>
          </a:solidFill>
        </p:spPr>
      </p:sp>
      <p:sp>
        <p:nvSpPr>
          <p:cNvPr id="5" name="Shape 2"/>
          <p:cNvSpPr/>
          <p:nvPr/>
        </p:nvSpPr>
        <p:spPr>
          <a:xfrm>
            <a:off x="787018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D8F1FF"/>
          </a:solidFill>
        </p:spPr>
      </p:sp>
      <p:sp>
        <p:nvSpPr>
          <p:cNvPr id="6" name="Shape 3"/>
          <p:cNvSpPr/>
          <p:nvPr/>
        </p:nvSpPr>
        <p:spPr>
          <a:xfrm>
            <a:off x="1140496" y="2239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FFDB41"/>
          </a:solidFill>
        </p:spPr>
      </p:sp>
      <p:sp>
        <p:nvSpPr>
          <p:cNvPr id="7" name="Shape 4"/>
          <p:cNvSpPr/>
          <p:nvPr/>
        </p:nvSpPr>
        <p:spPr>
          <a:xfrm>
            <a:off x="603401" y="1099566"/>
            <a:ext cx="7497539" cy="1021473"/>
          </a:xfrm>
          <a:custGeom>
            <a:avLst/>
            <a:gdLst/>
            <a:ahLst/>
            <a:cxnLst/>
            <a:rect l="l" t="t" r="r" b="b"/>
            <a:pathLst>
              <a:path w="7497539" h="1021473">
                <a:moveTo>
                  <a:pt x="127684" y="0"/>
                </a:moveTo>
                <a:moveTo>
                  <a:pt x="127684" y="0"/>
                </a:moveTo>
                <a:lnTo>
                  <a:pt x="7369855" y="0"/>
                </a:lnTo>
                <a:quadBezTo>
                  <a:pt x="7497539" y="0"/>
                  <a:pt x="7497539" y="127684"/>
                </a:quadBezTo>
                <a:lnTo>
                  <a:pt x="7497539" y="893789"/>
                </a:lnTo>
                <a:quadBezTo>
                  <a:pt x="7497539" y="1021473"/>
                  <a:pt x="7369855" y="1021473"/>
                </a:quadBezTo>
                <a:lnTo>
                  <a:pt x="127684" y="1021473"/>
                </a:lnTo>
                <a:quadBezTo>
                  <a:pt x="0" y="1021473"/>
                  <a:pt x="0" y="893789"/>
                </a:quadBezTo>
                <a:lnTo>
                  <a:pt x="0" y="127684"/>
                </a:lnTo>
                <a:quadBezTo>
                  <a:pt x="0" y="0"/>
                  <a:pt x="127684" y="0"/>
                </a:quadBez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603401" y="3263375"/>
            <a:ext cx="7497539" cy="914400"/>
          </a:xfrm>
          <a:custGeom>
            <a:avLst/>
            <a:gdLst/>
            <a:ahLst/>
            <a:cxnLst/>
            <a:rect l="l" t="t" r="r" b="b"/>
            <a:pathLst>
              <a:path w="7497539" h="914400">
                <a:moveTo>
                  <a:pt x="114300" y="0"/>
                </a:moveTo>
                <a:moveTo>
                  <a:pt x="114300" y="0"/>
                </a:moveTo>
                <a:lnTo>
                  <a:pt x="7383239" y="0"/>
                </a:lnTo>
                <a:quadBezTo>
                  <a:pt x="7497539" y="0"/>
                  <a:pt x="7497539" y="114300"/>
                </a:quadBezTo>
                <a:lnTo>
                  <a:pt x="7497539" y="800100"/>
                </a:lnTo>
                <a:quadBezTo>
                  <a:pt x="7497539" y="914400"/>
                  <a:pt x="7383239" y="914400"/>
                </a:quadBezTo>
                <a:lnTo>
                  <a:pt x="114300" y="914400"/>
                </a:lnTo>
                <a:quadBezTo>
                  <a:pt x="0" y="914400"/>
                  <a:pt x="0" y="80010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9" name="Shape 6"/>
          <p:cNvSpPr/>
          <p:nvPr/>
        </p:nvSpPr>
        <p:spPr>
          <a:xfrm rot="-8100000">
            <a:off x="8148204" y="3558047"/>
            <a:ext cx="325055" cy="325055"/>
          </a:xfrm>
          <a:custGeom>
            <a:avLst/>
            <a:gdLst/>
            <a:ahLst/>
            <a:cxnLst/>
            <a:rect l="l" t="t" r="r" b="b"/>
            <a:pathLst>
              <a:path w="325055" h="325055">
                <a:moveTo>
                  <a:pt x="0" y="0"/>
                </a:moveTo>
                <a:moveTo>
                  <a:pt x="0" y="0"/>
                </a:moveTo>
                <a:lnTo>
                  <a:pt x="0" y="325055"/>
                </a:lnTo>
                <a:lnTo>
                  <a:pt x="325055" y="325055"/>
                </a:ln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603401" y="2248391"/>
            <a:ext cx="7497539" cy="914400"/>
          </a:xfrm>
          <a:custGeom>
            <a:avLst/>
            <a:gdLst/>
            <a:ahLst/>
            <a:cxnLst/>
            <a:rect l="l" t="t" r="r" b="b"/>
            <a:pathLst>
              <a:path w="7497539" h="914400">
                <a:moveTo>
                  <a:pt x="114300" y="0"/>
                </a:moveTo>
                <a:moveTo>
                  <a:pt x="114300" y="0"/>
                </a:moveTo>
                <a:lnTo>
                  <a:pt x="7383239" y="0"/>
                </a:lnTo>
                <a:quadBezTo>
                  <a:pt x="7497539" y="0"/>
                  <a:pt x="7497539" y="114300"/>
                </a:quadBezTo>
                <a:lnTo>
                  <a:pt x="7497539" y="800100"/>
                </a:lnTo>
                <a:quadBezTo>
                  <a:pt x="7497539" y="914400"/>
                  <a:pt x="7383239" y="914400"/>
                </a:quadBezTo>
                <a:lnTo>
                  <a:pt x="114300" y="914400"/>
                </a:lnTo>
                <a:quadBezTo>
                  <a:pt x="0" y="914400"/>
                  <a:pt x="0" y="80010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11" name="Shape 8"/>
          <p:cNvSpPr/>
          <p:nvPr/>
        </p:nvSpPr>
        <p:spPr>
          <a:xfrm rot="-8100000">
            <a:off x="8148223" y="2543063"/>
            <a:ext cx="325055" cy="325055"/>
          </a:xfrm>
          <a:custGeom>
            <a:avLst/>
            <a:gdLst/>
            <a:ahLst/>
            <a:cxnLst/>
            <a:rect l="l" t="t" r="r" b="b"/>
            <a:pathLst>
              <a:path w="325055" h="325055">
                <a:moveTo>
                  <a:pt x="0" y="0"/>
                </a:moveTo>
                <a:moveTo>
                  <a:pt x="0" y="0"/>
                </a:moveTo>
                <a:lnTo>
                  <a:pt x="0" y="325055"/>
                </a:lnTo>
                <a:lnTo>
                  <a:pt x="325055" y="325055"/>
                </a:ln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12" name="Shape 9"/>
          <p:cNvSpPr/>
          <p:nvPr/>
        </p:nvSpPr>
        <p:spPr>
          <a:xfrm rot="-8100000">
            <a:off x="8148185" y="1394239"/>
            <a:ext cx="325055" cy="325055"/>
          </a:xfrm>
          <a:custGeom>
            <a:avLst/>
            <a:gdLst/>
            <a:ahLst/>
            <a:cxnLst/>
            <a:rect l="l" t="t" r="r" b="b"/>
            <a:pathLst>
              <a:path w="325055" h="325055">
                <a:moveTo>
                  <a:pt x="0" y="0"/>
                </a:moveTo>
                <a:moveTo>
                  <a:pt x="0" y="0"/>
                </a:moveTo>
                <a:lnTo>
                  <a:pt x="0" y="325055"/>
                </a:lnTo>
                <a:lnTo>
                  <a:pt x="325055" y="325055"/>
                </a:lnTo>
                <a:close/>
              </a:path>
            </a:pathLst>
          </a:custGeom>
          <a:solidFill>
            <a:srgbClr val="D6D9E1">
              <a:alpha val="20000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834307" y="1323749"/>
            <a:ext cx="2845133" cy="573106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自动内容生成的革新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3586576" y="1099566"/>
            <a:ext cx="4333133" cy="914400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AIGC技术通过自动生成文本、图像、音频和视频等内容，显著提升了内容生产效率，降低了成本，为创意行业带来革命性变化。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834307" y="2409000"/>
            <a:ext cx="2531059" cy="593182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提升内容质量与多样性</a:t>
            </a:r>
            <a:endParaRPr lang="en-US" sz="1440" dirty="0"/>
          </a:p>
        </p:txBody>
      </p:sp>
      <p:sp>
        <p:nvSpPr>
          <p:cNvPr id="16" name="Text 13"/>
          <p:cNvSpPr/>
          <p:nvPr/>
        </p:nvSpPr>
        <p:spPr>
          <a:xfrm>
            <a:off x="3586576" y="2248391"/>
            <a:ext cx="4333133" cy="914400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借助大量数据学习，AIGC生成的内容在质量和信息丰富度上可能超越人类创作，如AI绘画作品已接近专业画师水平，推动内容创新。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834307" y="3434022"/>
            <a:ext cx="2530145" cy="573106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3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对话式搜索的崛起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3586576" y="3263375"/>
            <a:ext cx="4333133" cy="914400"/>
          </a:xfrm>
          <a:prstGeom prst="rect">
            <a:avLst/>
          </a:prstGeom>
          <a:noFill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AIGC结合ChatGPT技术，将传统搜索转变为对话式互动，提供精准答案而非泛化链接，极大改善了用户体验和信息获取效率。</a:t>
            </a:r>
            <a:endParaRPr lang="en-US" sz="14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8792" y="2311996"/>
            <a:ext cx="4313208" cy="108813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750" b="1" dirty="0">
                <a:solidFill>
                  <a:srgbClr val="1859AE">
                    <a:alpha val="1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THANKS！</a:t>
            </a:r>
            <a:endParaRPr lang="en-US" sz="1440" dirty="0"/>
          </a:p>
        </p:txBody>
      </p:sp>
      <p:sp>
        <p:nvSpPr>
          <p:cNvPr id="4" name="Text 1"/>
          <p:cNvSpPr/>
          <p:nvPr/>
        </p:nvSpPr>
        <p:spPr>
          <a:xfrm>
            <a:off x="738792" y="2179408"/>
            <a:ext cx="3275888" cy="67665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890" b="1" dirty="0">
                <a:solidFill>
                  <a:srgbClr val="1859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感谢观看！</a:t>
            </a:r>
            <a:endParaRPr lang="en-US" sz="144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0.80472440944877,&quot;left&quot;:61.92,&quot;top&quot;:85.67968503937007,&quot;width&quot;:596.1600000000001}"/>
</p:tagLst>
</file>

<file path=ppt/tags/tag2.xml><?xml version="1.0" encoding="utf-8"?>
<p:tagLst xmlns:p="http://schemas.openxmlformats.org/presentationml/2006/main">
  <p:tag name="KSO_WM_DIAGRAM_VIRTUALLY_FRAME" val="{&quot;height&quot;:250.80472440944877,&quot;left&quot;:61.92,&quot;top&quot;:85.67968503937007,&quot;width&quot;:596.1600000000001}"/>
</p:tagLst>
</file>

<file path=ppt/tags/tag3.xml><?xml version="1.0" encoding="utf-8"?>
<p:tagLst xmlns:p="http://schemas.openxmlformats.org/presentationml/2006/main">
  <p:tag name="KSO_WM_DIAGRAM_VIRTUALLY_FRAME" val="{&quot;height&quot;:250.80472440944877,&quot;left&quot;:61.92,&quot;top&quot;:85.67968503937007,&quot;width&quot;:596.1600000000001}"/>
</p:tagLst>
</file>

<file path=ppt/tags/tag4.xml><?xml version="1.0" encoding="utf-8"?>
<p:tagLst xmlns:p="http://schemas.openxmlformats.org/presentationml/2006/main">
  <p:tag name="KSO_WM_DIAGRAM_VIRTUALLY_FRAME" val="{&quot;height&quot;:250.80472440944877,&quot;left&quot;:61.92,&quot;top&quot;:85.67968503937007,&quot;width&quot;:596.1600000000001}"/>
</p:tagLst>
</file>

<file path=ppt/tags/tag5.xml><?xml version="1.0" encoding="utf-8"?>
<p:tagLst xmlns:p="http://schemas.openxmlformats.org/presentationml/2006/main">
  <p:tag name="KSO_WM_DIAGRAM_VIRTUALLY_FRAME" val="{&quot;height&quot;:250.80472440944877,&quot;left&quot;:61.92,&quot;top&quot;:85.67968503937007,&quot;width&quot;:596.1600000000001}"/>
</p:tagLst>
</file>

<file path=ppt/tags/tag6.xml><?xml version="1.0" encoding="utf-8"?>
<p:tagLst xmlns:p="http://schemas.openxmlformats.org/presentationml/2006/main">
  <p:tag name="KSO_WM_DIAGRAM_VIRTUALLY_FRAME" val="{&quot;height&quot;:250.80472440944877,&quot;left&quot;:61.92,&quot;top&quot;:85.67968503937007,&quot;width&quot;:596.1600000000001}"/>
</p:tagLst>
</file>

<file path=ppt/tags/tag7.xml><?xml version="1.0" encoding="utf-8"?>
<p:tagLst xmlns:p="http://schemas.openxmlformats.org/presentationml/2006/main">
  <p:tag name="KSO_WM_DIAGRAM_VIRTUALLY_FRAME" val="{&quot;height&quot;:212.84708661417326,&quot;left&quot;:64.02488188976378,&quot;top&quot;:82.35598425196851,&quot;width&quot;:591.9502362204723}"/>
</p:tagLst>
</file>

<file path=ppt/tags/tag8.xml><?xml version="1.0" encoding="utf-8"?>
<p:tagLst xmlns:p="http://schemas.openxmlformats.org/presentationml/2006/main">
  <p:tag name="KSO_WM_DIAGRAM_VIRTUALLY_FRAME" val="{&quot;height&quot;:212.84708661417326,&quot;left&quot;:64.02488188976378,&quot;top&quot;:82.35598425196851,&quot;width&quot;:591.9502362204723}"/>
</p:tagLst>
</file>

<file path=ppt/tags/tag9.xml><?xml version="1.0" encoding="utf-8"?>
<p:tagLst xmlns:p="http://schemas.openxmlformats.org/presentationml/2006/main">
  <p:tag name="KSO_WM_DIAGRAM_VIRTUALLY_FRAME" val="{&quot;height&quot;:212.84708661417326,&quot;left&quot;:64.02488188976378,&quot;top&quot;:82.35598425196851,&quot;width&quot;:591.9502362204723}"/>
</p:tagLst>
</file>

<file path=ppt/tags/tag10.xml><?xml version="1.0" encoding="utf-8"?>
<p:tagLst xmlns:p="http://schemas.openxmlformats.org/presentationml/2006/main">
  <p:tag name="KSO_WM_DIAGRAM_VIRTUALLY_FRAME" val="{&quot;height&quot;:212.84708661417326,&quot;left&quot;:64.02488188976378,&quot;top&quot;:82.35598425196851,&quot;width&quot;:591.9502362204723}"/>
</p:tagLst>
</file>

<file path=ppt/tags/tag11.xml><?xml version="1.0" encoding="utf-8"?>
<p:tagLst xmlns:p="http://schemas.openxmlformats.org/presentationml/2006/main">
  <p:tag name="KSO_WM_DIAGRAM_VIRTUALLY_FRAME" val="{&quot;height&quot;:212.84708661417326,&quot;left&quot;:64.02488188976378,&quot;top&quot;:82.35598425196851,&quot;width&quot;:591.9502362204723}"/>
</p:tagLst>
</file>

<file path=ppt/tags/tag12.xml><?xml version="1.0" encoding="utf-8"?>
<p:tagLst xmlns:p="http://schemas.openxmlformats.org/presentationml/2006/main">
  <p:tag name="KSO_WM_DIAGRAM_VIRTUALLY_FRAME" val="{&quot;height&quot;:212.84708661417326,&quot;left&quot;:64.02488188976378,&quot;top&quot;:82.35598425196851,&quot;width&quot;:591.9502362204723}"/>
</p:tagLst>
</file>

<file path=ppt/tags/tag13.xml><?xml version="1.0" encoding="utf-8"?>
<p:tagLst xmlns:p="http://schemas.openxmlformats.org/presentationml/2006/main">
  <p:tag name="KSO_WM_DIAGRAM_VIRTUALLY_FRAME" val="{&quot;height&quot;:212.84708661417326,&quot;left&quot;:64.02488188976378,&quot;top&quot;:82.35598425196851,&quot;width&quot;:591.9502362204723}"/>
</p:tagLst>
</file>

<file path=ppt/tags/tag14.xml><?xml version="1.0" encoding="utf-8"?>
<p:tagLst xmlns:p="http://schemas.openxmlformats.org/presentationml/2006/main">
  <p:tag name="KSO_WM_DIAGRAM_VIRTUALLY_FRAME" val="{&quot;height&quot;:212.84708661417326,&quot;left&quot;:64.02488188976378,&quot;top&quot;:82.35598425196851,&quot;width&quot;:591.9502362204723}"/>
</p:tagLst>
</file>

<file path=ppt/tags/tag15.xml><?xml version="1.0" encoding="utf-8"?>
<p:tagLst xmlns:p="http://schemas.openxmlformats.org/presentationml/2006/main">
  <p:tag name="KSO_WM_DIAGRAM_VIRTUALLY_FRAME" val="{&quot;height&quot;:212.84708661417326,&quot;left&quot;:64.02488188976378,&quot;top&quot;:82.35598425196851,&quot;width&quot;:591.9502362204723}"/>
</p:tagLst>
</file>

<file path=ppt/tags/tag16.xml><?xml version="1.0" encoding="utf-8"?>
<p:tagLst xmlns:p="http://schemas.openxmlformats.org/presentationml/2006/main">
  <p:tag name="KSO_WM_DIAGRAM_VIRTUALLY_FRAME" val="{&quot;height&quot;:212.84708661417326,&quot;left&quot;:64.02488188976378,&quot;top&quot;:82.35598425196851,&quot;width&quot;:591.9502362204723}"/>
</p:tagLst>
</file>

<file path=ppt/tags/tag17.xml><?xml version="1.0" encoding="utf-8"?>
<p:tagLst xmlns:p="http://schemas.openxmlformats.org/presentationml/2006/main">
  <p:tag name="KSO_WM_DIAGRAM_VIRTUALLY_FRAME" val="{&quot;height&quot;:212.84708661417326,&quot;left&quot;:64.02488188976378,&quot;top&quot;:82.35598425196851,&quot;width&quot;:591.9502362204723}"/>
</p:tagLst>
</file>

<file path=ppt/tags/tag18.xml><?xml version="1.0" encoding="utf-8"?>
<p:tagLst xmlns:p="http://schemas.openxmlformats.org/presentationml/2006/main">
  <p:tag name="KSO_WM_DIAGRAM_VIRTUALLY_FRAME" val="{&quot;height&quot;:212.84708661417326,&quot;left&quot;:64.02488188976378,&quot;top&quot;:82.35598425196851,&quot;width&quot;:591.950236220472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4451</Words>
  <Application>WPS 演示</Application>
  <PresentationFormat>On-screen Show (16:9)</PresentationFormat>
  <Paragraphs>372</Paragraphs>
  <Slides>29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程显毅</cp:lastModifiedBy>
  <cp:revision>2</cp:revision>
  <dcterms:created xsi:type="dcterms:W3CDTF">2025-02-20T12:47:00Z</dcterms:created>
  <dcterms:modified xsi:type="dcterms:W3CDTF">2025-02-21T06:03:04Z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1E434BD5FD8246D49E692E74C06BE06F_12</vt:lpwstr>
  </property>
  <property fmtid="{D5CDD505-2E9C-101B-9397-08002B2CF9AE}" pid="3" name="KSOProductBuildVer">
    <vt:lpwstr>2052-12.1.0.19770</vt:lpwstr>
  </property>
</Properties>
</file>