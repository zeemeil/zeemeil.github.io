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tags/tag27.xml" ContentType="application/vnd.openxmlformats-officedocument.presentationml.tag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34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Default Extension="wdp" ContentType="image/vnd.ms-photo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Default Extension="svg" ContentType="image/svg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44"/>
  </p:notesMasterIdLst>
  <p:sldIdLst>
    <p:sldId id="257" r:id="rId2"/>
    <p:sldId id="258" r:id="rId3"/>
    <p:sldId id="260" r:id="rId4"/>
    <p:sldId id="403" r:id="rId5"/>
    <p:sldId id="413" r:id="rId6"/>
    <p:sldId id="520" r:id="rId7"/>
    <p:sldId id="521" r:id="rId8"/>
    <p:sldId id="523" r:id="rId9"/>
    <p:sldId id="522" r:id="rId10"/>
    <p:sldId id="525" r:id="rId11"/>
    <p:sldId id="528" r:id="rId12"/>
    <p:sldId id="529" r:id="rId13"/>
    <p:sldId id="531" r:id="rId14"/>
    <p:sldId id="535" r:id="rId15"/>
    <p:sldId id="524" r:id="rId16"/>
    <p:sldId id="538" r:id="rId17"/>
    <p:sldId id="274" r:id="rId18"/>
    <p:sldId id="275" r:id="rId19"/>
    <p:sldId id="534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536" r:id="rId29"/>
    <p:sldId id="542" r:id="rId30"/>
    <p:sldId id="537" r:id="rId31"/>
    <p:sldId id="539" r:id="rId32"/>
    <p:sldId id="540" r:id="rId33"/>
    <p:sldId id="541" r:id="rId34"/>
    <p:sldId id="319" r:id="rId35"/>
    <p:sldId id="322" r:id="rId36"/>
    <p:sldId id="543" r:id="rId37"/>
    <p:sldId id="547" r:id="rId38"/>
    <p:sldId id="544" r:id="rId39"/>
    <p:sldId id="545" r:id="rId40"/>
    <p:sldId id="546" r:id="rId41"/>
    <p:sldId id="548" r:id="rId42"/>
    <p:sldId id="291" r:id="rId43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7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546" y="-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2025/4/25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胡总书记十七大：道路自信、理论自信、制度自信</a:t>
            </a:r>
          </a:p>
          <a:p>
            <a:r>
              <a:rPr lang="zh-CN" altLang="en-US"/>
              <a:t>习总书记中国共产党成立</a:t>
            </a:r>
            <a:r>
              <a:rPr lang="en-US" altLang="zh-CN"/>
              <a:t>95</a:t>
            </a:r>
            <a:r>
              <a:rPr lang="zh-CN" altLang="en-US"/>
              <a:t>周年讲话中增加</a:t>
            </a:r>
            <a:r>
              <a:rPr lang="en-US" altLang="zh-CN"/>
              <a:t>“</a:t>
            </a:r>
            <a:r>
              <a:rPr lang="zh-CN" altLang="en-US"/>
              <a:t>文化自信</a:t>
            </a:r>
            <a:r>
              <a:rPr lang="en-US" altLang="zh-CN"/>
              <a:t>”</a:t>
            </a:r>
          </a:p>
          <a:p>
            <a:r>
              <a:rPr lang="zh-CN" altLang="en-US"/>
              <a:t>从《黑神话：悟空》到《哪吒》，再到</a:t>
            </a:r>
            <a:r>
              <a:rPr lang="en-US" altLang="zh-CN"/>
              <a:t>DeepSeek</a:t>
            </a:r>
            <a:r>
              <a:rPr lang="zh-CN" altLang="en-US"/>
              <a:t>，中华文化正以多种形式走向世界。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宾阳县委书记梁展凡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xmlns="" id="{DC24E989-3879-D904-51B6-9C6FE10B659C}"/>
              </a:ext>
            </a:extLst>
          </p:cNvPr>
          <p:cNvSpPr txBox="1"/>
          <p:nvPr userDrawn="1"/>
        </p:nvSpPr>
        <p:spPr>
          <a:xfrm>
            <a:off x="321303" y="961510"/>
            <a:ext cx="11549394" cy="3990500"/>
          </a:xfrm>
          <a:prstGeom prst="plaque">
            <a:avLst>
              <a:gd name="adj" fmla="val 463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683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1831CA2-F67B-43AF-1D3A-CF52F52D9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188" y="970756"/>
            <a:ext cx="9415624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xmlns="" id="{13DDA8EA-B93C-ADB1-75A4-F52D288135D5}"/>
              </a:ext>
            </a:extLst>
          </p:cNvPr>
          <p:cNvCxnSpPr>
            <a:cxnSpLocks/>
          </p:cNvCxnSpPr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9B74A374-6D49-150F-8476-5DA9B7B89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2287"/>
          <a:stretch/>
        </p:blipFill>
        <p:spPr>
          <a:xfrm>
            <a:off x="0" y="5075428"/>
            <a:ext cx="12192000" cy="17825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778A85C0-1115-3FCC-F56B-340BA186AF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48040" y="0"/>
            <a:ext cx="3943960" cy="6551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1935BCD8-3D14-F452-D665-5760958F50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0" y="52197"/>
            <a:ext cx="2634199" cy="553563"/>
          </a:xfrm>
          <a:prstGeom prst="rect">
            <a:avLst/>
          </a:prstGeom>
        </p:spPr>
      </p:pic>
      <p:sp>
        <p:nvSpPr>
          <p:cNvPr id="14" name="副标题 2">
            <a:extLst>
              <a:ext uri="{FF2B5EF4-FFF2-40B4-BE49-F238E27FC236}">
                <a16:creationId xmlns:a16="http://schemas.microsoft.com/office/drawing/2014/main" xmlns="" id="{E44A6CD8-179C-160E-4538-BBD69A2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188" y="3481774"/>
            <a:ext cx="9415624" cy="91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371383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0F3426D-F980-0594-D01E-EDBEDFA69F55}"/>
              </a:ext>
            </a:extLst>
          </p:cNvPr>
          <p:cNvSpPr/>
          <p:nvPr userDrawn="1"/>
        </p:nvSpPr>
        <p:spPr>
          <a:xfrm>
            <a:off x="0" y="4878222"/>
            <a:ext cx="12192000" cy="1979778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D50E9725-4C9C-791F-EE2B-1419ED660104}"/>
              </a:ext>
            </a:extLst>
          </p:cNvPr>
          <p:cNvSpPr/>
          <p:nvPr userDrawn="1"/>
        </p:nvSpPr>
        <p:spPr>
          <a:xfrm>
            <a:off x="0" y="0"/>
            <a:ext cx="4180840" cy="6858000"/>
          </a:xfrm>
          <a:custGeom>
            <a:avLst/>
            <a:gdLst/>
            <a:ahLst/>
            <a:cxnLst/>
            <a:rect l="l" t="t" r="r" b="b"/>
            <a:pathLst>
              <a:path w="4180840" h="6858000">
                <a:moveTo>
                  <a:pt x="0" y="6857999"/>
                </a:moveTo>
                <a:lnTo>
                  <a:pt x="4180331" y="6858000"/>
                </a:lnTo>
                <a:lnTo>
                  <a:pt x="4180331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>
              <a:alpha val="90194"/>
            </a:srgbClr>
          </a:solidFill>
        </p:spPr>
        <p:txBody>
          <a:bodyPr wrap="square" lIns="0" tIns="0" rIns="0" bIns="0" rtlCol="0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xmlns="" id="{6A601DC9-ACD9-1694-5343-6C85C850F233}"/>
              </a:ext>
            </a:extLst>
          </p:cNvPr>
          <p:cNvSpPr txBox="1"/>
          <p:nvPr userDrawn="1"/>
        </p:nvSpPr>
        <p:spPr>
          <a:xfrm>
            <a:off x="-184052" y="3053256"/>
            <a:ext cx="444893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800" spc="285" dirty="0">
                <a:solidFill>
                  <a:schemeClr val="bg1"/>
                </a:solidFill>
                <a:latin typeface="+mj-lt"/>
                <a:cs typeface="SimSun"/>
              </a:rPr>
              <a:t>C</a:t>
            </a:r>
            <a:r>
              <a:rPr sz="4800" spc="-265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610" dirty="0">
                <a:solidFill>
                  <a:schemeClr val="bg1"/>
                </a:solidFill>
                <a:latin typeface="+mj-lt"/>
                <a:cs typeface="SimSun"/>
              </a:rPr>
              <a:t>O</a:t>
            </a:r>
            <a:r>
              <a:rPr sz="4800" spc="-27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SimSun"/>
              </a:rPr>
              <a:t>N</a:t>
            </a:r>
            <a:r>
              <a:rPr lang="en-US" sz="4800" spc="-265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SimSun"/>
              </a:rPr>
              <a:t>T</a:t>
            </a:r>
            <a:r>
              <a:rPr sz="4800" spc="-26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SimSun"/>
              </a:rPr>
              <a:t>E</a:t>
            </a:r>
            <a:r>
              <a:rPr sz="4800" spc="-27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SimSun"/>
              </a:rPr>
              <a:t>N</a:t>
            </a:r>
            <a:r>
              <a:rPr sz="4800" spc="-254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+mj-lt"/>
                <a:cs typeface="SimSun"/>
              </a:rPr>
              <a:t>T</a:t>
            </a:r>
            <a:endParaRPr sz="4800" dirty="0">
              <a:solidFill>
                <a:schemeClr val="bg1"/>
              </a:solidFill>
              <a:latin typeface="+mj-lt"/>
              <a:cs typeface="SimSu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xmlns="" id="{D6F16F92-CD4F-84AE-96CB-827753A3E143}"/>
              </a:ext>
            </a:extLst>
          </p:cNvPr>
          <p:cNvSpPr txBox="1"/>
          <p:nvPr userDrawn="1"/>
        </p:nvSpPr>
        <p:spPr>
          <a:xfrm>
            <a:off x="-134046" y="714337"/>
            <a:ext cx="4245384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24610" algn="l"/>
              </a:tabLst>
            </a:pPr>
            <a:r>
              <a:rPr sz="12000" spc="-50" dirty="0">
                <a:solidFill>
                  <a:schemeClr val="bg1"/>
                </a:solidFill>
                <a:latin typeface="Microsoft YaHei"/>
                <a:cs typeface="Microsoft YaHei"/>
              </a:rPr>
              <a:t>目</a:t>
            </a:r>
            <a:r>
              <a:rPr sz="12000" dirty="0">
                <a:solidFill>
                  <a:schemeClr val="bg1"/>
                </a:solidFill>
                <a:latin typeface="Microsoft YaHei"/>
                <a:cs typeface="Microsoft YaHei"/>
              </a:rPr>
              <a:t>	</a:t>
            </a:r>
            <a:r>
              <a:rPr sz="12000" spc="-50" dirty="0">
                <a:solidFill>
                  <a:schemeClr val="bg1"/>
                </a:solidFill>
                <a:latin typeface="Microsoft YaHei"/>
                <a:cs typeface="Microsoft YaHei"/>
              </a:rPr>
              <a:t>录</a:t>
            </a:r>
            <a:endParaRPr sz="12000" dirty="0">
              <a:solidFill>
                <a:schemeClr val="bg1"/>
              </a:solidFill>
              <a:latin typeface="Microsoft YaHei"/>
              <a:cs typeface="Microsoft YaHei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EFF968F0-64CB-2363-0B42-1F1F9FA2F1B1}"/>
              </a:ext>
            </a:extLst>
          </p:cNvPr>
          <p:cNvGrpSpPr/>
          <p:nvPr userDrawn="1"/>
        </p:nvGrpSpPr>
        <p:grpSpPr>
          <a:xfrm>
            <a:off x="292937" y="4552540"/>
            <a:ext cx="3391417" cy="1557664"/>
            <a:chOff x="144167" y="4585999"/>
            <a:chExt cx="3391417" cy="1557664"/>
          </a:xfrm>
        </p:grpSpPr>
        <p:pic>
          <p:nvPicPr>
            <p:cNvPr id="13" name="object 18">
              <a:extLst>
                <a:ext uri="{FF2B5EF4-FFF2-40B4-BE49-F238E27FC236}">
                  <a16:creationId xmlns:a16="http://schemas.microsoft.com/office/drawing/2014/main" xmlns="" id="{8EA66252-DE04-275C-601C-88EBA451A9B7}"/>
                </a:ext>
              </a:extLst>
            </p:cNvPr>
            <p:cNvPicPr/>
            <p:nvPr userDrawn="1"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4401" t="15529" r="24997" b="12057"/>
            <a:stretch/>
          </p:blipFill>
          <p:spPr>
            <a:xfrm>
              <a:off x="1981687" y="4585999"/>
              <a:ext cx="1553897" cy="1557664"/>
            </a:xfrm>
            <a:prstGeom prst="rect">
              <a:avLst/>
            </a:prstGeom>
          </p:spPr>
        </p:pic>
        <p:pic>
          <p:nvPicPr>
            <p:cNvPr id="14" name="Picture 2" descr="广东石油化工学院">
              <a:extLst>
                <a:ext uri="{FF2B5EF4-FFF2-40B4-BE49-F238E27FC236}">
                  <a16:creationId xmlns:a16="http://schemas.microsoft.com/office/drawing/2014/main" xmlns="" id="{31809E60-448B-DD48-56E8-4B0B0A7979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4589" t="13775" r="26846" b="13201"/>
            <a:stretch/>
          </p:blipFill>
          <p:spPr bwMode="auto">
            <a:xfrm>
              <a:off x="144167" y="4585999"/>
              <a:ext cx="1553897" cy="1557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532C9B9C-9374-D9B6-2E34-BACE6F572B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86611" y="4585999"/>
              <a:ext cx="0" cy="15576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xmlns="" id="{B9811DDB-B809-C4EA-0987-450E702C6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5914" y="1516773"/>
            <a:ext cx="696750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19" name="Picture 2" descr="广东石油化工学院">
            <a:extLst>
              <a:ext uri="{FF2B5EF4-FFF2-40B4-BE49-F238E27FC236}">
                <a16:creationId xmlns:a16="http://schemas.microsoft.com/office/drawing/2014/main" xmlns="" id="{225C34E6-687A-A99C-568D-7876644FA9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3030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29E19EF5-FE0E-85C0-F0E5-53908F2AD9EE}"/>
              </a:ext>
            </a:extLst>
          </p:cNvPr>
          <p:cNvGrpSpPr/>
          <p:nvPr userDrawn="1"/>
        </p:nvGrpSpPr>
        <p:grpSpPr>
          <a:xfrm>
            <a:off x="48289" y="48432"/>
            <a:ext cx="12138214" cy="6858000"/>
            <a:chOff x="1" y="0"/>
            <a:chExt cx="11907435" cy="68580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xmlns="" id="{B79C53B3-7612-5AA3-1404-B4DDCACAE74F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rcRect/>
            <a:stretch>
              <a:fillRect/>
            </a:stretch>
          </p:blipFill>
          <p:spPr>
            <a:xfrm flipH="1">
              <a:off x="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xmlns="" id="{49DF4538-1BD2-D7CD-4593-F33B00D163D7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rcRect/>
            <a:stretch>
              <a:fillRect/>
            </a:stretch>
          </p:blipFill>
          <p:spPr>
            <a:xfrm>
              <a:off x="596538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9CF88AD2-63B4-BEAD-D7C8-2638692C66CE}"/>
              </a:ext>
            </a:extLst>
          </p:cNvPr>
          <p:cNvSpPr/>
          <p:nvPr userDrawn="1"/>
        </p:nvSpPr>
        <p:spPr>
          <a:xfrm>
            <a:off x="4160232" y="2202744"/>
            <a:ext cx="7630116" cy="2892781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39B0ED73-6537-57A7-BB28-5F2ACBDD8585}"/>
              </a:ext>
            </a:extLst>
          </p:cNvPr>
          <p:cNvSpPr/>
          <p:nvPr userDrawn="1"/>
        </p:nvSpPr>
        <p:spPr>
          <a:xfrm>
            <a:off x="147652" y="1156837"/>
            <a:ext cx="4984594" cy="4984594"/>
          </a:xfrm>
          <a:prstGeom prst="ellipse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E60FD301-2063-6507-161B-D435235F5A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406025" y="1473378"/>
            <a:ext cx="4470266" cy="4470266"/>
          </a:xfrm>
          <a:custGeom>
            <a:avLst/>
            <a:gdLst>
              <a:gd name="connsiteX0" fmla="*/ 2025472 w 4470266"/>
              <a:gd name="connsiteY0" fmla="*/ 0 h 4459677"/>
              <a:gd name="connsiteX1" fmla="*/ 2444795 w 4470266"/>
              <a:gd name="connsiteY1" fmla="*/ 0 h 4459677"/>
              <a:gd name="connsiteX2" fmla="*/ 2463663 w 4470266"/>
              <a:gd name="connsiteY2" fmla="*/ 953 h 4459677"/>
              <a:gd name="connsiteX3" fmla="*/ 4470266 w 4470266"/>
              <a:gd name="connsiteY3" fmla="*/ 2224546 h 4459677"/>
              <a:gd name="connsiteX4" fmla="*/ 2463663 w 4470266"/>
              <a:gd name="connsiteY4" fmla="*/ 4448139 h 4459677"/>
              <a:gd name="connsiteX5" fmla="*/ 2235173 w 4470266"/>
              <a:gd name="connsiteY5" fmla="*/ 4459677 h 4459677"/>
              <a:gd name="connsiteX6" fmla="*/ 2235094 w 4470266"/>
              <a:gd name="connsiteY6" fmla="*/ 4459677 h 4459677"/>
              <a:gd name="connsiteX7" fmla="*/ 2006604 w 4470266"/>
              <a:gd name="connsiteY7" fmla="*/ 4448139 h 4459677"/>
              <a:gd name="connsiteX8" fmla="*/ 0 w 4470266"/>
              <a:gd name="connsiteY8" fmla="*/ 2224546 h 4459677"/>
              <a:gd name="connsiteX9" fmla="*/ 2006604 w 4470266"/>
              <a:gd name="connsiteY9" fmla="*/ 953 h 445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70266" h="4459677">
                <a:moveTo>
                  <a:pt x="2025472" y="0"/>
                </a:moveTo>
                <a:lnTo>
                  <a:pt x="2444795" y="0"/>
                </a:lnTo>
                <a:lnTo>
                  <a:pt x="2463663" y="953"/>
                </a:lnTo>
                <a:cubicBezTo>
                  <a:pt x="3590742" y="115414"/>
                  <a:pt x="4470266" y="1067268"/>
                  <a:pt x="4470266" y="2224546"/>
                </a:cubicBezTo>
                <a:cubicBezTo>
                  <a:pt x="4470266" y="3381824"/>
                  <a:pt x="3590742" y="4333678"/>
                  <a:pt x="2463663" y="4448139"/>
                </a:cubicBezTo>
                <a:lnTo>
                  <a:pt x="2235173" y="4459677"/>
                </a:lnTo>
                <a:lnTo>
                  <a:pt x="2235094" y="4459677"/>
                </a:lnTo>
                <a:lnTo>
                  <a:pt x="2006604" y="4448139"/>
                </a:lnTo>
                <a:cubicBezTo>
                  <a:pt x="879524" y="4333678"/>
                  <a:pt x="0" y="3381824"/>
                  <a:pt x="0" y="2224546"/>
                </a:cubicBezTo>
                <a:cubicBezTo>
                  <a:pt x="0" y="1067268"/>
                  <a:pt x="879524" y="115414"/>
                  <a:pt x="2006604" y="953"/>
                </a:cubicBezTo>
                <a:close/>
              </a:path>
            </a:pathLst>
          </a:cu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181A87B3-8C25-2B1C-97B7-DAC2B1BE39CC}"/>
              </a:ext>
            </a:extLst>
          </p:cNvPr>
          <p:cNvSpPr/>
          <p:nvPr userDrawn="1"/>
        </p:nvSpPr>
        <p:spPr>
          <a:xfrm>
            <a:off x="406025" y="1464472"/>
            <a:ext cx="4470266" cy="44702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xmlns="" id="{374A6D39-AEA5-130A-AC22-916C93B5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46" y="2864881"/>
            <a:ext cx="72132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>
            <a:extLst>
              <a:ext uri="{FF2B5EF4-FFF2-40B4-BE49-F238E27FC236}">
                <a16:creationId xmlns:a16="http://schemas.microsoft.com/office/drawing/2014/main" xmlns="" id="{D3EA5588-459A-7BC4-05EB-733322C297A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502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11">
            <a:extLst>
              <a:ext uri="{FF2B5EF4-FFF2-40B4-BE49-F238E27FC236}">
                <a16:creationId xmlns:a16="http://schemas.microsoft.com/office/drawing/2014/main" xmlns="" id="{6BC44C64-7448-6BBE-D990-61ACC75B743B}"/>
              </a:ext>
            </a:extLst>
          </p:cNvPr>
          <p:cNvCxnSpPr>
            <a:cxnSpLocks/>
          </p:cNvCxnSpPr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A18E6DD6-1157-FC8A-DFCA-1EE316E09345}"/>
              </a:ext>
            </a:extLst>
          </p:cNvPr>
          <p:cNvSpPr/>
          <p:nvPr userDrawn="1"/>
        </p:nvSpPr>
        <p:spPr>
          <a:xfrm>
            <a:off x="276679" y="276679"/>
            <a:ext cx="248040" cy="248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A58EB51F-8339-D95E-95F6-83B7F7BE3F23}"/>
              </a:ext>
            </a:extLst>
          </p:cNvPr>
          <p:cNvSpPr/>
          <p:nvPr userDrawn="1"/>
        </p:nvSpPr>
        <p:spPr>
          <a:xfrm>
            <a:off x="0" y="0"/>
            <a:ext cx="393701" cy="393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" name="直线连接符 6">
            <a:extLst>
              <a:ext uri="{FF2B5EF4-FFF2-40B4-BE49-F238E27FC236}">
                <a16:creationId xmlns:a16="http://schemas.microsoft.com/office/drawing/2014/main" xmlns="" id="{953D9D1F-688C-C0B6-9E28-5265EAB577FE}"/>
              </a:ext>
            </a:extLst>
          </p:cNvPr>
          <p:cNvCxnSpPr/>
          <p:nvPr userDrawn="1"/>
        </p:nvCxnSpPr>
        <p:spPr>
          <a:xfrm>
            <a:off x="0" y="6814457"/>
            <a:ext cx="12192000" cy="0"/>
          </a:xfrm>
          <a:prstGeom prst="line">
            <a:avLst/>
          </a:prstGeom>
          <a:ln w="101600" cmpd="thinThick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xmlns="" id="{09C9FA1C-CA2E-3850-34AA-8ABEABD8D6C1}"/>
              </a:ext>
            </a:extLst>
          </p:cNvPr>
          <p:cNvSpPr txBox="1"/>
          <p:nvPr userDrawn="1"/>
        </p:nvSpPr>
        <p:spPr>
          <a:xfrm>
            <a:off x="11508581" y="6602431"/>
            <a:ext cx="683418" cy="261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0" tIns="45720" rIns="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8B1CCC-5B4E-41DC-9FD8-30B8F0069F97}" type="slidenum">
              <a:rPr lang="zh-CN" altLang="en-US" sz="1400" smtClean="0"/>
              <a:pPr/>
              <a:t>‹#›</a:t>
            </a:fld>
            <a:endParaRPr lang="zh-CN" altLang="en-US" sz="1400" dirty="0"/>
          </a:p>
        </p:txBody>
      </p:sp>
      <p:sp>
        <p:nvSpPr>
          <p:cNvPr id="14" name="日期占位符 3">
            <a:extLst>
              <a:ext uri="{FF2B5EF4-FFF2-40B4-BE49-F238E27FC236}">
                <a16:creationId xmlns:a16="http://schemas.microsoft.com/office/drawing/2014/main" xmlns="" id="{093E7F06-91F6-1BDE-DBFC-437E3332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19869"/>
            <a:ext cx="116919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427B852C-D69C-4447-A656-272F5CAA5127}" type="datetimeFigureOut">
              <a:rPr lang="zh-CN" altLang="en-US" smtClean="0"/>
              <a:pPr/>
              <a:t>2025/4/25</a:t>
            </a:fld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xmlns="" id="{5FEE3986-4E32-54D7-9872-C0919028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35" y="43542"/>
            <a:ext cx="8775438" cy="599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>
            <a:extLst>
              <a:ext uri="{FF2B5EF4-FFF2-40B4-BE49-F238E27FC236}">
                <a16:creationId xmlns:a16="http://schemas.microsoft.com/office/drawing/2014/main" xmlns="" id="{73F16906-79A9-84B3-984D-D3CB1D2FF5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9045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xmlns="" id="{66EEB814-2A10-A9AE-5537-CA303A0B48A1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artisticPhotocopy/>
                    </a14:imgEffect>
                    <a14:imgEffect>
                      <a14:sharpenSoften amount="-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473"/>
            <a:ext cx="12192000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B67EAD31-0D87-3008-A280-8B744A759E98}"/>
              </a:ext>
            </a:extLst>
          </p:cNvPr>
          <p:cNvGrpSpPr/>
          <p:nvPr userDrawn="1"/>
        </p:nvGrpSpPr>
        <p:grpSpPr>
          <a:xfrm>
            <a:off x="1893835" y="1413748"/>
            <a:ext cx="8590598" cy="4030504"/>
            <a:chOff x="276701" y="1331119"/>
            <a:chExt cx="8590598" cy="4030504"/>
          </a:xfrm>
          <a:solidFill>
            <a:schemeClr val="bg1"/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E2C7D521-FE4F-376A-89DA-6B251E93F301}"/>
                </a:ext>
              </a:extLst>
            </p:cNvPr>
            <p:cNvSpPr/>
            <p:nvPr/>
          </p:nvSpPr>
          <p:spPr>
            <a:xfrm>
              <a:off x="276701" y="1331119"/>
              <a:ext cx="8590598" cy="40305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xmlns="" id="{E00C4BB2-B394-0FB6-50B7-DF2CA7988FB4}"/>
                </a:ext>
              </a:extLst>
            </p:cNvPr>
            <p:cNvSpPr txBox="1"/>
            <p:nvPr/>
          </p:nvSpPr>
          <p:spPr>
            <a:xfrm>
              <a:off x="1453039" y="2510314"/>
              <a:ext cx="6236494" cy="1107996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THANK YOU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4926A6E4-9A2A-1CDA-F843-E5C780C32AD8}"/>
                </a:ext>
              </a:extLst>
            </p:cNvPr>
            <p:cNvCxnSpPr/>
            <p:nvPr/>
          </p:nvCxnSpPr>
          <p:spPr>
            <a:xfrm>
              <a:off x="276702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xmlns="" id="{B8D472E8-2E02-DA5F-FA6F-2F595C22E469}"/>
                </a:ext>
              </a:extLst>
            </p:cNvPr>
            <p:cNvCxnSpPr/>
            <p:nvPr/>
          </p:nvCxnSpPr>
          <p:spPr>
            <a:xfrm>
              <a:off x="7594283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7F0A85B2-A9E2-CA24-DCF6-4364E209E05B}"/>
                </a:ext>
              </a:extLst>
            </p:cNvPr>
            <p:cNvSpPr/>
            <p:nvPr/>
          </p:nvSpPr>
          <p:spPr>
            <a:xfrm>
              <a:off x="4542949" y="1331119"/>
              <a:ext cx="57150" cy="333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3" name="Picture 2" descr="广东石油化工学院">
            <a:extLst>
              <a:ext uri="{FF2B5EF4-FFF2-40B4-BE49-F238E27FC236}">
                <a16:creationId xmlns:a16="http://schemas.microsoft.com/office/drawing/2014/main" xmlns="" id="{5FCE1C99-9F5D-FDDF-EA95-D240A6CACA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5469615" y="1474261"/>
            <a:ext cx="1252769" cy="12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78476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pPr/>
              <a:t>2025/4/25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9598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9543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252525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400358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00000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1014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2089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50.sv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hyperlink" Target="http://www.interconnects.ai/p/deepseek-r1-recipe-for-o1" TargetMode="Externa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eg"/><Relationship Id="rId3" Type="http://schemas.openxmlformats.org/officeDocument/2006/relationships/image" Target="../media/image79.jpeg"/><Relationship Id="rId7" Type="http://schemas.openxmlformats.org/officeDocument/2006/relationships/image" Target="../media/image83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>
            <a:extLst>
              <a:ext uri="{FF2B5EF4-FFF2-40B4-BE49-F238E27FC236}">
                <a16:creationId xmlns:a16="http://schemas.microsoft.com/office/drawing/2014/main" xmlns="" id="{9D8C1ECA-3316-293E-354E-92CCAFC6EFEC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88188" y="1673489"/>
            <a:ext cx="9415624" cy="2387600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dirty="0"/>
              <a:t>人工智能导论 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zh-CN" altLang="en-US" sz="4400" dirty="0"/>
              <a:t>第</a:t>
            </a:r>
            <a:r>
              <a:rPr lang="en-US" altLang="zh-CN" sz="4400" dirty="0"/>
              <a:t>7</a:t>
            </a:r>
            <a:r>
              <a:rPr lang="zh-CN" altLang="en-US" sz="4400" dirty="0"/>
              <a:t>章</a:t>
            </a:r>
            <a:r>
              <a:rPr lang="en-US" altLang="zh-CN" sz="4400" dirty="0"/>
              <a:t>(Ⅱ)</a:t>
            </a:r>
            <a:r>
              <a:rPr lang="zh-CN" altLang="en-US" sz="4400" dirty="0"/>
              <a:t>  </a:t>
            </a:r>
            <a:r>
              <a:rPr lang="en-US" altLang="zh-CN" sz="4400" dirty="0" err="1"/>
              <a:t>DeepSeek</a:t>
            </a:r>
            <a:endParaRPr lang="zh-CN" altLang="en-US" sz="4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6FE90DCE-4BE0-F707-204C-0B4293C90467}"/>
              </a:ext>
            </a:extLst>
          </p:cNvPr>
          <p:cNvGrpSpPr/>
          <p:nvPr/>
        </p:nvGrpSpPr>
        <p:grpSpPr>
          <a:xfrm>
            <a:off x="5168316" y="1399319"/>
            <a:ext cx="4853267" cy="736447"/>
            <a:chOff x="4284032" y="231806"/>
            <a:chExt cx="4853267" cy="736447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xmlns="" id="{05367CB9-10C8-629C-1F5F-6646BAE1819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284032" y="231806"/>
              <a:ext cx="4853267" cy="736447"/>
            </a:xfrm>
            <a:prstGeom prst="roundRect">
              <a:avLst>
                <a:gd name="adj" fmla="val 6375"/>
              </a:avLst>
            </a:prstGeom>
            <a:solidFill>
              <a:schemeClr val="accent1">
                <a:alpha val="1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+mn-ea"/>
                <a:sym typeface="+mn-ea"/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xmlns="" id="{E5EDB442-0A5E-1FC4-1CA6-BC908B3D9C4F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>
            <a:xfrm flipV="1">
              <a:off x="5464534" y="380608"/>
              <a:ext cx="0" cy="459602"/>
            </a:xfrm>
            <a:prstGeom prst="line">
              <a:avLst/>
            </a:prstGeom>
            <a:ln w="25400" cap="rnd">
              <a:solidFill>
                <a:schemeClr val="accent1">
                  <a:lumMod val="40000"/>
                  <a:lumOff val="6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项标题">
              <a:extLst>
                <a:ext uri="{FF2B5EF4-FFF2-40B4-BE49-F238E27FC236}">
                  <a16:creationId xmlns:a16="http://schemas.microsoft.com/office/drawing/2014/main" xmlns="" id="{85884EB1-F268-BD1E-453B-4C05ED07114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877378" y="346349"/>
              <a:ext cx="3041386" cy="53308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spc="300" dirty="0" err="1">
                  <a:solidFill>
                    <a:schemeClr val="tx2"/>
                  </a:solidFill>
                  <a:latin typeface="+mn-ea"/>
                </a:rPr>
                <a:t>DeepSeek</a:t>
              </a:r>
              <a:r>
                <a:rPr lang="zh-CN" altLang="en-US" b="1" spc="300" dirty="0">
                  <a:solidFill>
                    <a:schemeClr val="tx2"/>
                  </a:solidFill>
                  <a:latin typeface="+mn-ea"/>
                </a:rPr>
                <a:t>的诞生和影响</a:t>
              </a:r>
            </a:p>
          </p:txBody>
        </p:sp>
        <p:sp>
          <p:nvSpPr>
            <p:cNvPr id="6" name="序号">
              <a:extLst>
                <a:ext uri="{FF2B5EF4-FFF2-40B4-BE49-F238E27FC236}">
                  <a16:creationId xmlns:a16="http://schemas.microsoft.com/office/drawing/2014/main" xmlns="" id="{0E22DE05-777F-3BE1-2A3B-3F1C0EFA0D0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435509" y="231806"/>
              <a:ext cx="872890" cy="73644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600" b="1" dirty="0">
                  <a:gradFill flip="none" rotWithShape="1">
                    <a:gsLst>
                      <a:gs pos="19000">
                        <a:schemeClr val="accent1"/>
                      </a:gs>
                      <a:gs pos="74000">
                        <a:schemeClr val="accent2"/>
                      </a:gs>
                    </a:gsLst>
                    <a:lin ang="2700000" scaled="1"/>
                    <a:tileRect/>
                  </a:gradFill>
                  <a:latin typeface="+mn-ea"/>
                </a:rPr>
                <a:t>01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FFAB31A3-FE1B-1E7D-8F97-CFD6507DE545}"/>
              </a:ext>
            </a:extLst>
          </p:cNvPr>
          <p:cNvGrpSpPr/>
          <p:nvPr/>
        </p:nvGrpSpPr>
        <p:grpSpPr>
          <a:xfrm>
            <a:off x="5168316" y="2379398"/>
            <a:ext cx="4853267" cy="736447"/>
            <a:chOff x="4284032" y="231806"/>
            <a:chExt cx="4853267" cy="7364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xmlns="" id="{511C40F8-4572-4945-DEB3-91F92C6C032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284032" y="231806"/>
              <a:ext cx="4853267" cy="736447"/>
            </a:xfrm>
            <a:prstGeom prst="roundRect">
              <a:avLst>
                <a:gd name="adj" fmla="val 6375"/>
              </a:avLst>
            </a:prstGeom>
            <a:solidFill>
              <a:schemeClr val="accent1">
                <a:alpha val="1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+mn-ea"/>
                <a:sym typeface="+mn-ea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C3BEB4F9-4B59-AA50-0BF9-4A3C07DA7B90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>
            <a:xfrm flipV="1">
              <a:off x="5464534" y="380608"/>
              <a:ext cx="0" cy="459602"/>
            </a:xfrm>
            <a:prstGeom prst="line">
              <a:avLst/>
            </a:prstGeom>
            <a:ln w="25400" cap="rnd">
              <a:solidFill>
                <a:schemeClr val="accent1">
                  <a:lumMod val="40000"/>
                  <a:lumOff val="6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项标题">
              <a:extLst>
                <a:ext uri="{FF2B5EF4-FFF2-40B4-BE49-F238E27FC236}">
                  <a16:creationId xmlns:a16="http://schemas.microsoft.com/office/drawing/2014/main" xmlns="" id="{DF977624-F6CB-D611-773D-211D4107C592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5877378" y="346349"/>
              <a:ext cx="3041386" cy="53308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spc="300" dirty="0" err="1">
                  <a:solidFill>
                    <a:schemeClr val="tx2"/>
                  </a:solidFill>
                  <a:latin typeface="+mn-ea"/>
                </a:rPr>
                <a:t>DeepSeek</a:t>
              </a:r>
              <a:r>
                <a:rPr lang="zh-CN" altLang="en-US" b="1" spc="300" dirty="0">
                  <a:solidFill>
                    <a:schemeClr val="tx2"/>
                  </a:solidFill>
                  <a:latin typeface="+mn-ea"/>
                </a:rPr>
                <a:t>的功能</a:t>
              </a:r>
            </a:p>
          </p:txBody>
        </p:sp>
        <p:sp>
          <p:nvSpPr>
            <p:cNvPr id="11" name="序号">
              <a:extLst>
                <a:ext uri="{FF2B5EF4-FFF2-40B4-BE49-F238E27FC236}">
                  <a16:creationId xmlns:a16="http://schemas.microsoft.com/office/drawing/2014/main" xmlns="" id="{4B735118-D3ED-4E1E-A9BC-B69B5A9FF58A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435509" y="231806"/>
              <a:ext cx="872890" cy="73644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600" b="1" dirty="0">
                  <a:gradFill flip="none" rotWithShape="1">
                    <a:gsLst>
                      <a:gs pos="19000">
                        <a:schemeClr val="accent1"/>
                      </a:gs>
                      <a:gs pos="74000">
                        <a:schemeClr val="accent2"/>
                      </a:gs>
                    </a:gsLst>
                    <a:lin ang="2700000" scaled="1"/>
                    <a:tileRect/>
                  </a:gradFill>
                  <a:latin typeface="+mn-ea"/>
                </a:rPr>
                <a:t>02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EBCA59B3-BEC2-0E51-3951-49E7E7090203}"/>
              </a:ext>
            </a:extLst>
          </p:cNvPr>
          <p:cNvGrpSpPr/>
          <p:nvPr/>
        </p:nvGrpSpPr>
        <p:grpSpPr>
          <a:xfrm>
            <a:off x="5168316" y="3359477"/>
            <a:ext cx="4853267" cy="736447"/>
            <a:chOff x="4284032" y="231806"/>
            <a:chExt cx="4853267" cy="73644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xmlns="" id="{17073F17-AB20-1D3A-289F-8A6A6CF618A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284032" y="231806"/>
              <a:ext cx="4853267" cy="736447"/>
            </a:xfrm>
            <a:prstGeom prst="roundRect">
              <a:avLst>
                <a:gd name="adj" fmla="val 6375"/>
              </a:avLst>
            </a:prstGeom>
            <a:solidFill>
              <a:schemeClr val="accent1">
                <a:alpha val="1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+mn-ea"/>
                <a:sym typeface="+mn-ea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215AFD91-3680-DBDF-1C1E-8C6885B7C8C8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 flipV="1">
              <a:off x="5464534" y="380608"/>
              <a:ext cx="0" cy="459602"/>
            </a:xfrm>
            <a:prstGeom prst="line">
              <a:avLst/>
            </a:prstGeom>
            <a:ln w="25400" cap="rnd">
              <a:solidFill>
                <a:schemeClr val="accent1">
                  <a:lumMod val="40000"/>
                  <a:lumOff val="6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项标题">
              <a:extLst>
                <a:ext uri="{FF2B5EF4-FFF2-40B4-BE49-F238E27FC236}">
                  <a16:creationId xmlns:a16="http://schemas.microsoft.com/office/drawing/2014/main" xmlns="" id="{7F88EB29-2682-F318-C60A-B393576DDC6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5877378" y="346349"/>
              <a:ext cx="3041386" cy="53308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spc="300" dirty="0" err="1">
                  <a:solidFill>
                    <a:schemeClr val="tx2"/>
                  </a:solidFill>
                  <a:latin typeface="+mn-ea"/>
                </a:rPr>
                <a:t>DeepSeek</a:t>
              </a:r>
              <a:r>
                <a:rPr lang="zh-CN" altLang="en-US" b="1" spc="300" dirty="0">
                  <a:solidFill>
                    <a:schemeClr val="tx2"/>
                  </a:solidFill>
                  <a:latin typeface="+mn-ea"/>
                </a:rPr>
                <a:t>的技术创新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xmlns="" id="{7D0FB969-C22F-44B1-5479-BCD8C34FEC6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435509" y="231806"/>
              <a:ext cx="872890" cy="73644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600" b="1" dirty="0">
                  <a:gradFill flip="none" rotWithShape="1">
                    <a:gsLst>
                      <a:gs pos="19000">
                        <a:schemeClr val="accent1"/>
                      </a:gs>
                      <a:gs pos="74000">
                        <a:schemeClr val="accent2"/>
                      </a:gs>
                    </a:gsLst>
                    <a:lin ang="2700000" scaled="1"/>
                    <a:tileRect/>
                  </a:gradFill>
                  <a:latin typeface="+mn-ea"/>
                </a:rPr>
                <a:t>03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B504BE71-1763-D3BE-513A-6573A711B6EA}"/>
              </a:ext>
            </a:extLst>
          </p:cNvPr>
          <p:cNvGrpSpPr/>
          <p:nvPr/>
        </p:nvGrpSpPr>
        <p:grpSpPr>
          <a:xfrm>
            <a:off x="5168316" y="4339556"/>
            <a:ext cx="4853267" cy="736447"/>
            <a:chOff x="4284032" y="231806"/>
            <a:chExt cx="4853267" cy="736447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xmlns="" id="{7E8FCCDA-71E5-910F-B9E2-12F6033F2E7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4284032" y="231806"/>
              <a:ext cx="4853267" cy="736447"/>
            </a:xfrm>
            <a:prstGeom prst="roundRect">
              <a:avLst>
                <a:gd name="adj" fmla="val 6375"/>
              </a:avLst>
            </a:prstGeom>
            <a:solidFill>
              <a:schemeClr val="accent1">
                <a:alpha val="1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+mn-ea"/>
                <a:sym typeface="+mn-ea"/>
              </a:endParaRP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6D94986D-40E3-1171-4034-776816E0D6EF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>
            <a:xfrm flipV="1">
              <a:off x="5464534" y="380608"/>
              <a:ext cx="0" cy="459602"/>
            </a:xfrm>
            <a:prstGeom prst="line">
              <a:avLst/>
            </a:prstGeom>
            <a:ln w="25400" cap="rnd">
              <a:solidFill>
                <a:schemeClr val="accent1">
                  <a:lumMod val="40000"/>
                  <a:lumOff val="6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项标题">
              <a:extLst>
                <a:ext uri="{FF2B5EF4-FFF2-40B4-BE49-F238E27FC236}">
                  <a16:creationId xmlns:a16="http://schemas.microsoft.com/office/drawing/2014/main" xmlns="" id="{896EADC5-4132-ACC3-B07E-7E5D6F72EDA8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5877378" y="346349"/>
              <a:ext cx="3041386" cy="53308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spc="300" dirty="0" err="1">
                  <a:solidFill>
                    <a:schemeClr val="tx2"/>
                  </a:solidFill>
                  <a:latin typeface="+mn-ea"/>
                </a:rPr>
                <a:t>DeepSeek</a:t>
              </a:r>
              <a:r>
                <a:rPr lang="zh-CN" altLang="en-US" b="1" spc="300" dirty="0">
                  <a:solidFill>
                    <a:schemeClr val="tx2"/>
                  </a:solidFill>
                  <a:latin typeface="+mn-ea"/>
                </a:rPr>
                <a:t>的使用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xmlns="" id="{F9846950-BDE3-6A98-A8EA-0F5BEC34860C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435509" y="231806"/>
              <a:ext cx="872890" cy="73644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3600" b="1" dirty="0">
                  <a:gradFill flip="none" rotWithShape="1">
                    <a:gsLst>
                      <a:gs pos="19000">
                        <a:schemeClr val="accent1"/>
                      </a:gs>
                      <a:gs pos="74000">
                        <a:schemeClr val="accent2"/>
                      </a:gs>
                    </a:gsLst>
                    <a:lin ang="2700000" scaled="1"/>
                    <a:tileRect/>
                  </a:gradFill>
                  <a:latin typeface="+mn-ea"/>
                </a:rPr>
                <a:t>04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63989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7.1 </a:t>
            </a:r>
            <a:r>
              <a:rPr lang="en-US" altLang="zh-CN" dirty="0" err="1"/>
              <a:t>DeepSeek</a:t>
            </a:r>
            <a:r>
              <a:rPr lang="zh-CN" altLang="en-US" dirty="0"/>
              <a:t>的诞生和影响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6">
            <a:extLst>
              <a:ext uri="{FF2B5EF4-FFF2-40B4-BE49-F238E27FC236}">
                <a16:creationId xmlns:a16="http://schemas.microsoft.com/office/drawing/2014/main" xmlns="" id="{4C5343A7-6972-56E5-8B2C-CF8D6D3EFA9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zh-CN" dirty="0"/>
              <a:t>7.1 </a:t>
            </a:r>
            <a:r>
              <a:rPr lang="en-US" altLang="zh-CN" dirty="0" err="1"/>
              <a:t>DeepSeek</a:t>
            </a:r>
            <a:r>
              <a:rPr lang="zh-CN" altLang="en-US" dirty="0"/>
              <a:t>的诞生和影响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351589" y="995239"/>
            <a:ext cx="3911574" cy="47628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3329F7"/>
                </a:solidFill>
              </a:rPr>
              <a:t> </a:t>
            </a:r>
            <a:r>
              <a:rPr lang="en-US" altLang="zh-CN" sz="3200" b="1" dirty="0" err="1">
                <a:solidFill>
                  <a:srgbClr val="C00000"/>
                </a:solidFill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</a:rPr>
              <a:t>是什么？</a:t>
            </a: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8192686" y="1138458"/>
            <a:ext cx="3908479" cy="4796972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BC2287D9-D07C-A2DC-0794-FD7B9CD73069}"/>
              </a:ext>
            </a:extLst>
          </p:cNvPr>
          <p:cNvSpPr txBox="1"/>
          <p:nvPr/>
        </p:nvSpPr>
        <p:spPr>
          <a:xfrm>
            <a:off x="169557" y="1823511"/>
            <a:ext cx="8187211" cy="438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75000"/>
              </a:lnSpc>
              <a:buFont typeface="Wingdings" pitchFamily="2" charset="2"/>
              <a:buChar char="u"/>
            </a:pP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，全称杭州深度求索人工智能基础技术研究有限公司，是一家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纯粹的中国公司</a:t>
            </a:r>
          </a:p>
          <a:p>
            <a:pPr marL="742950" lvl="1" indent="-285750">
              <a:lnSpc>
                <a:spcPct val="175000"/>
              </a:lnSpc>
              <a:buFont typeface="Wingdings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专注通用人工智能（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AGI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）研发</a:t>
            </a:r>
          </a:p>
          <a:p>
            <a:pPr marL="742950" lvl="1" indent="-285750">
              <a:lnSpc>
                <a:spcPct val="175000"/>
              </a:lnSpc>
              <a:buFont typeface="Wingdings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创始人为湛江人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梁文锋</a:t>
            </a:r>
          </a:p>
          <a:p>
            <a:pPr marL="742950" lvl="1" indent="-285750">
              <a:lnSpc>
                <a:spcPct val="175000"/>
              </a:lnSpc>
              <a:buFont typeface="Wingdings" pitchFamily="2" charset="2"/>
              <a:buChar char="u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2025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日</a:t>
            </a:r>
            <a:r>
              <a:rPr lang="zh-CN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发布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R1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推理模型达到世界一流水平</a:t>
            </a:r>
          </a:p>
          <a:p>
            <a:pPr>
              <a:lnSpc>
                <a:spcPct val="175000"/>
              </a:lnSpc>
            </a:pPr>
            <a:endParaRPr kumimoji="1" lang="zh-CN" altLang="en-US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1487805" y="4588875"/>
            <a:ext cx="2532380" cy="157099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5" name="图片 4"/>
          <p:cNvPicPr/>
          <p:nvPr/>
        </p:nvPicPr>
        <p:blipFill>
          <a:blip r:embed="rId5"/>
          <a:srcRect l="42446"/>
          <a:stretch>
            <a:fillRect/>
          </a:stretch>
        </p:blipFill>
        <p:spPr>
          <a:xfrm>
            <a:off x="4629150" y="4588875"/>
            <a:ext cx="2532380" cy="157099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/>
          <a:srcRect/>
          <a:stretch/>
        </p:blipFill>
        <p:spPr>
          <a:xfrm>
            <a:off x="7770495" y="4588875"/>
            <a:ext cx="2832915" cy="158623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C9896737-2F7E-41BD-51CC-5224051370AC}"/>
              </a:ext>
            </a:extLst>
          </p:cNvPr>
          <p:cNvSpPr txBox="1"/>
          <p:nvPr/>
        </p:nvSpPr>
        <p:spPr>
          <a:xfrm>
            <a:off x="268233" y="847646"/>
            <a:ext cx="4792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国家正在大力推广应用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84E4D33B-390C-4421-1E98-4D4C7E725AF7}"/>
              </a:ext>
            </a:extLst>
          </p:cNvPr>
          <p:cNvSpPr txBox="1"/>
          <p:nvPr/>
        </p:nvSpPr>
        <p:spPr>
          <a:xfrm>
            <a:off x="85089" y="1717986"/>
            <a:ext cx="12106911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lnSpc>
                <a:spcPts val="3400"/>
              </a:lnSpc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17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日，梁文锋出席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总书记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主持召开的民营企业座谈会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200150" lvl="2" indent="-285750">
              <a:lnSpc>
                <a:spcPts val="3400"/>
              </a:lnSpc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20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日，梁文锋参加国务院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总理李强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主持召开的座谈会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200150" lvl="2" indent="-285750">
              <a:lnSpc>
                <a:spcPts val="3400"/>
              </a:lnSpc>
              <a:buFont typeface="Wingdings" pitchFamily="2" charset="2"/>
              <a:buChar char="u"/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月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14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日，中共中央政治局委员、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外交部长王毅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第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61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届慕尼黑安全会议回答提问时说到“这几句可能翻译起来不容易，可以找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来帮一帮忙”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1200150" lvl="2" indent="-285750">
              <a:lnSpc>
                <a:spcPts val="3400"/>
              </a:lnSpc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中石化、华南理工大学等单位已经本地化部署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了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，广油也接入了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模型应用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ts val="3400"/>
              </a:lnSpc>
            </a:pPr>
            <a:endParaRPr kumimoji="1"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" name="标题 16">
            <a:extLst>
              <a:ext uri="{FF2B5EF4-FFF2-40B4-BE49-F238E27FC236}">
                <a16:creationId xmlns:a16="http://schemas.microsoft.com/office/drawing/2014/main" xmlns="" id="{33AA8AD7-C82C-9AD9-88A8-7FB6B14AA2B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9135" y="43542"/>
            <a:ext cx="8775438" cy="599705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7.1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的诞生和影响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xmlns="" id="{0466D84F-096D-5E84-1D81-DB7454D6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7.1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的诞生和影响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349250" y="991501"/>
            <a:ext cx="3314699" cy="52800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3329F7"/>
                </a:solidFill>
              </a:rPr>
              <a:t> </a:t>
            </a:r>
            <a:r>
              <a:rPr lang="en-US" altLang="zh-CN" sz="3200" b="1" dirty="0" err="1">
                <a:solidFill>
                  <a:srgbClr val="C00000"/>
                </a:solidFill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</a:rPr>
              <a:t>的优势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rcRect/>
          <a:stretch/>
        </p:blipFill>
        <p:spPr>
          <a:xfrm>
            <a:off x="5222415" y="1765935"/>
            <a:ext cx="6867895" cy="40671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0171" y="1972343"/>
            <a:ext cx="5044899" cy="35140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DeepSeek-R1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的推理能力达到了世界第一梯队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但训练和推理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成本低、速度快、全部开源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DeepSeek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打破了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硅谷传统的“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堆算力、拼资本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”的大模型发展路径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891082E2-BFB9-4EEC-A133-E672F782F330}"/>
              </a:ext>
            </a:extLst>
          </p:cNvPr>
          <p:cNvSpPr txBox="1"/>
          <p:nvPr/>
        </p:nvSpPr>
        <p:spPr>
          <a:xfrm>
            <a:off x="6926932" y="5811639"/>
            <a:ext cx="422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kumimoji="1"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 R1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与世界顶级模型性能对比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xmlns="" id="{ED0DB6F1-CF6C-7B86-085A-DB14B0EF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7.1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的诞生和影响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146051" y="921409"/>
            <a:ext cx="5892800" cy="5997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对我国的战略意义</a:t>
            </a:r>
          </a:p>
          <a:p>
            <a:pPr marL="0" indent="0"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847CC7AA-9314-312D-421D-2DAB9AFE3FD3}"/>
              </a:ext>
            </a:extLst>
          </p:cNvPr>
          <p:cNvSpPr txBox="1"/>
          <p:nvPr/>
        </p:nvSpPr>
        <p:spPr>
          <a:xfrm>
            <a:off x="254985" y="2027494"/>
            <a:ext cx="6734394" cy="360924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极大提振了中国人民的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民族自信心和自豪感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，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DeepSeek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的出现使国人相信，在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AI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领域我国也有和美国掰手腕的实力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打破了美国利用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AI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阻击中国的企图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，使我国免于被孤立和边缘化的风险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为我国在全球科技竞争中赢得了更多的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话语权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pic>
        <p:nvPicPr>
          <p:cNvPr id="15" name="图片 14" descr="文本&#10;&#10;描述已自动生成">
            <a:extLst>
              <a:ext uri="{FF2B5EF4-FFF2-40B4-BE49-F238E27FC236}">
                <a16:creationId xmlns:a16="http://schemas.microsoft.com/office/drawing/2014/main" xmlns="" id="{E4B1CB28-B2DE-A827-ADD9-A98F05A9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621" y="1225550"/>
            <a:ext cx="5087086" cy="473381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A3942FA7-0547-A0A5-7B3F-894790120B65}"/>
              </a:ext>
            </a:extLst>
          </p:cNvPr>
          <p:cNvSpPr txBox="1"/>
          <p:nvPr/>
        </p:nvSpPr>
        <p:spPr>
          <a:xfrm>
            <a:off x="7689339" y="5959366"/>
            <a:ext cx="4051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美国</a:t>
            </a:r>
            <a:r>
              <a:rPr kumimoji="1"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《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经济学人</a:t>
            </a:r>
            <a:r>
              <a:rPr kumimoji="1"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》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杂志称</a:t>
            </a:r>
            <a:endParaRPr kumimoji="1"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kumimoji="1"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kumimoji="1"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对硅谷构成了挑战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B5E64B-0D07-489E-9710-780CBCE6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xmlns="" id="{284B6FBF-2953-E11D-1894-43A21290F0C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63989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7.2 </a:t>
            </a:r>
            <a:r>
              <a:rPr lang="en-US" altLang="zh-CN" dirty="0" err="1"/>
              <a:t>DeepSeek</a:t>
            </a:r>
            <a:r>
              <a:rPr lang="zh-CN" altLang="en-US" dirty="0"/>
              <a:t>的功能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431383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C3132D-9020-EA72-5634-BFC2F38B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xmlns="" id="{87AF7516-F690-F849-2FC5-6E9E0A60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7.2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85D16E1-B1CD-9E5D-0103-5A947894045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6051" y="921409"/>
            <a:ext cx="5892800" cy="5997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可以做什么？</a:t>
            </a:r>
          </a:p>
          <a:p>
            <a:pPr marL="0" indent="0"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xmlns="" id="{8E88AD5E-7E3B-F8C9-FA51-5DAC10E75F99}"/>
              </a:ext>
            </a:extLst>
          </p:cNvPr>
          <p:cNvSpPr txBox="1"/>
          <p:nvPr/>
        </p:nvSpPr>
        <p:spPr>
          <a:xfrm>
            <a:off x="317335" y="1596664"/>
            <a:ext cx="11703215" cy="7024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直接面向用户或者支持开发者，提供智能对话、文本生成、语义理解、计算推理、代码生成补全等应用场景， 支持联网搜索与深度思考模式，同时支持文件上传，能够扫描读取各类文件及图片中的文字内容。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xmlns="" id="{FC5C6D3C-849D-5CE5-5E4E-2A31A443DC5B}"/>
              </a:ext>
            </a:extLst>
          </p:cNvPr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7028" y="2152650"/>
            <a:ext cx="8518272" cy="466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6791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117672" y="5119764"/>
            <a:ext cx="7074328" cy="816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5" dirty="0">
                <a:solidFill>
                  <a:srgbClr val="5F95E6"/>
                </a:solidFill>
                <a:latin typeface="Microsoft JhengHei"/>
                <a:cs typeface="Microsoft JhengHei"/>
              </a:rPr>
              <a:t>结构化生</a:t>
            </a:r>
            <a:r>
              <a:rPr sz="2800" b="1" dirty="0">
                <a:solidFill>
                  <a:srgbClr val="5F95E6"/>
                </a:solidFill>
                <a:latin typeface="Microsoft JhengHei"/>
                <a:cs typeface="Microsoft JhengHei"/>
              </a:rPr>
              <a:t>成</a:t>
            </a:r>
            <a:endParaRPr sz="28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29900"/>
              </a:lnSpc>
              <a:spcBef>
                <a:spcPts val="480"/>
              </a:spcBef>
            </a:pPr>
            <a:r>
              <a:rPr dirty="0" err="1">
                <a:solidFill>
                  <a:srgbClr val="252525"/>
                </a:solidFill>
                <a:latin typeface="宋体"/>
                <a:cs typeface="宋体"/>
              </a:rPr>
              <a:t>表格</a:t>
            </a:r>
            <a:r>
              <a:rPr lang="zh-CN" altLang="en-US" dirty="0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dirty="0" err="1">
                <a:solidFill>
                  <a:srgbClr val="252525"/>
                </a:solidFill>
                <a:latin typeface="宋体"/>
                <a:cs typeface="宋体"/>
              </a:rPr>
              <a:t>列表生成（如日程安排、菜谱</a:t>
            </a: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） 代码注释、文档撰写</a:t>
            </a:r>
            <a:endParaRPr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7672" y="2113535"/>
            <a:ext cx="5838038" cy="1164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5" dirty="0">
                <a:solidFill>
                  <a:srgbClr val="5F95E6"/>
                </a:solidFill>
                <a:latin typeface="Microsoft JhengHei"/>
                <a:cs typeface="Microsoft JhengHei"/>
              </a:rPr>
              <a:t>文本创</a:t>
            </a:r>
            <a:r>
              <a:rPr sz="2800" b="1" dirty="0">
                <a:solidFill>
                  <a:srgbClr val="5F95E6"/>
                </a:solidFill>
                <a:latin typeface="Microsoft JhengHei"/>
                <a:cs typeface="Microsoft JhengHei"/>
              </a:rPr>
              <a:t>作</a:t>
            </a:r>
            <a:endParaRPr sz="2800" dirty="0">
              <a:latin typeface="Microsoft JhengHei"/>
              <a:cs typeface="Microsoft JhengHei"/>
            </a:endParaRPr>
          </a:p>
          <a:p>
            <a:pPr marL="12700" marR="614680">
              <a:lnSpc>
                <a:spcPct val="129900"/>
              </a:lnSpc>
              <a:spcBef>
                <a:spcPts val="425"/>
              </a:spcBef>
            </a:pP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文章</a:t>
            </a:r>
            <a:r>
              <a:rPr spc="-140" dirty="0">
                <a:solidFill>
                  <a:srgbClr val="252525"/>
                </a:solidFill>
                <a:latin typeface="宋体"/>
                <a:cs typeface="宋体"/>
              </a:rPr>
              <a:t>/</a:t>
            </a: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故事</a:t>
            </a:r>
            <a:r>
              <a:rPr spc="-140" dirty="0">
                <a:solidFill>
                  <a:srgbClr val="252525"/>
                </a:solidFill>
                <a:latin typeface="宋体"/>
                <a:cs typeface="宋体"/>
              </a:rPr>
              <a:t>/</a:t>
            </a:r>
            <a:r>
              <a:rPr dirty="0" err="1">
                <a:solidFill>
                  <a:srgbClr val="252525"/>
                </a:solidFill>
                <a:latin typeface="宋体"/>
                <a:cs typeface="宋体"/>
              </a:rPr>
              <a:t>诗歌写作</a:t>
            </a: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spc="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dirty="0" err="1">
                <a:solidFill>
                  <a:srgbClr val="252525"/>
                </a:solidFill>
                <a:latin typeface="宋体"/>
                <a:cs typeface="宋体"/>
              </a:rPr>
              <a:t>营销文案</a:t>
            </a:r>
            <a:r>
              <a:rPr lang="zh-CN" altLang="en-US" dirty="0">
                <a:solidFill>
                  <a:srgbClr val="252525"/>
                </a:solidFill>
                <a:latin typeface="宋体"/>
                <a:cs typeface="宋体"/>
              </a:rPr>
              <a:t>、</a:t>
            </a:r>
            <a:r>
              <a:rPr dirty="0" err="1">
                <a:solidFill>
                  <a:srgbClr val="252525"/>
                </a:solidFill>
                <a:latin typeface="宋体"/>
                <a:cs typeface="宋体"/>
              </a:rPr>
              <a:t>广告语生成</a:t>
            </a:r>
            <a:endParaRPr dirty="0">
              <a:latin typeface="宋体"/>
              <a:cs typeface="宋体"/>
            </a:endParaRPr>
          </a:p>
          <a:p>
            <a:pPr marL="12700" marR="5080">
              <a:lnSpc>
                <a:spcPct val="129900"/>
              </a:lnSpc>
            </a:pP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社交媒体内容（如推文、帖子） 剧本或对话设计</a:t>
            </a:r>
            <a:endParaRPr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7672" y="3616656"/>
            <a:ext cx="5514168" cy="117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5" dirty="0">
                <a:solidFill>
                  <a:srgbClr val="57B6E4"/>
                </a:solidFill>
                <a:latin typeface="Microsoft JhengHei"/>
                <a:cs typeface="Microsoft JhengHei"/>
              </a:rPr>
              <a:t>摘要与改</a:t>
            </a:r>
            <a:r>
              <a:rPr sz="2800" b="1" dirty="0">
                <a:solidFill>
                  <a:srgbClr val="57B6E4"/>
                </a:solidFill>
                <a:latin typeface="Microsoft JhengHei"/>
                <a:cs typeface="Microsoft JhengHei"/>
              </a:rPr>
              <a:t>写</a:t>
            </a:r>
            <a:endParaRPr sz="28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29900"/>
              </a:lnSpc>
              <a:spcBef>
                <a:spcPts val="450"/>
              </a:spcBef>
            </a:pP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长文本摘要（论文、报告） 文本简化（降低复杂度） </a:t>
            </a:r>
            <a:r>
              <a:rPr spc="5" dirty="0">
                <a:solidFill>
                  <a:srgbClr val="252525"/>
                </a:solidFill>
                <a:latin typeface="宋体"/>
                <a:cs typeface="宋体"/>
              </a:rPr>
              <a:t> </a:t>
            </a:r>
            <a:r>
              <a:rPr dirty="0">
                <a:solidFill>
                  <a:srgbClr val="252525"/>
                </a:solidFill>
                <a:latin typeface="宋体"/>
                <a:cs typeface="宋体"/>
              </a:rPr>
              <a:t>多语言翻译与本地化</a:t>
            </a:r>
            <a:endParaRPr dirty="0">
              <a:latin typeface="宋体"/>
              <a:cs typeface="宋体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B9D32866-1A82-A18E-DFC1-7AA2AB7B501D}"/>
              </a:ext>
            </a:extLst>
          </p:cNvPr>
          <p:cNvGrpSpPr/>
          <p:nvPr/>
        </p:nvGrpSpPr>
        <p:grpSpPr>
          <a:xfrm>
            <a:off x="1024246" y="1939469"/>
            <a:ext cx="3290629" cy="3962400"/>
            <a:chOff x="965136" y="1447800"/>
            <a:chExt cx="3290629" cy="39624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5136" y="1447800"/>
              <a:ext cx="3022663" cy="396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6629" y="3126664"/>
              <a:ext cx="589136" cy="58801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895791" y="3769476"/>
            <a:ext cx="29081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2</a:t>
            </a:r>
            <a:endParaRPr sz="2000" dirty="0">
              <a:latin typeface="Microsoft JhengHei"/>
              <a:cs typeface="Microsoft JhengHe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2568" y="2238110"/>
            <a:ext cx="589136" cy="58801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62633" y="2389252"/>
            <a:ext cx="24892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1</a:t>
            </a:r>
            <a:endParaRPr sz="2000" dirty="0">
              <a:latin typeface="Microsoft JhengHei"/>
              <a:cs typeface="Microsoft JhengHe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2568" y="4997947"/>
            <a:ext cx="589136" cy="58801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362633" y="5149090"/>
            <a:ext cx="24892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b="1" spc="40" dirty="0">
                <a:solidFill>
                  <a:srgbClr val="FFFFFF"/>
                </a:solidFill>
                <a:latin typeface="Microsoft JhengHei"/>
                <a:cs typeface="Microsoft JhengHei"/>
              </a:rPr>
              <a:t>3</a:t>
            </a:r>
            <a:endParaRPr sz="2000" dirty="0">
              <a:latin typeface="Microsoft JhengHei"/>
              <a:cs typeface="Microsoft JhengHe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4335" y="2874240"/>
            <a:ext cx="2070506" cy="20701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60160" y="3348880"/>
            <a:ext cx="99885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5" dirty="0">
                <a:solidFill>
                  <a:srgbClr val="FFFFFF"/>
                </a:solidFill>
                <a:latin typeface="Microsoft JhengHei"/>
                <a:cs typeface="Microsoft JhengHei"/>
              </a:rPr>
              <a:t>文本生</a:t>
            </a:r>
            <a:r>
              <a:rPr sz="3600" b="1" dirty="0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endParaRPr sz="3600" dirty="0">
              <a:latin typeface="Microsoft JhengHei"/>
              <a:cs typeface="Microsoft JhengHei"/>
            </a:endParaRP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05213ABE-620F-A74D-9945-F8626DD5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7.2 </a:t>
            </a:r>
            <a:r>
              <a:rPr lang="en-US" altLang="zh-CN" dirty="0" err="1"/>
              <a:t>DeepSeek</a:t>
            </a:r>
            <a:r>
              <a:rPr lang="zh-CN" altLang="en-US" dirty="0"/>
              <a:t>的功能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xmlns="" id="{8B27120F-47A8-A9CF-138B-346DC51F42C6}"/>
              </a:ext>
            </a:extLst>
          </p:cNvPr>
          <p:cNvSpPr txBox="1">
            <a:spLocks/>
          </p:cNvSpPr>
          <p:nvPr/>
        </p:nvSpPr>
        <p:spPr>
          <a:xfrm>
            <a:off x="146050" y="921409"/>
            <a:ext cx="6496049" cy="5997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可以做什么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文本生成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AC421D-057D-6A8A-6F05-14686BE6F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441BD582-AC08-4D43-8B9B-FA6CAE1D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7.2 </a:t>
            </a:r>
            <a:r>
              <a:rPr lang="en-US" altLang="zh-CN" dirty="0" err="1"/>
              <a:t>DeepSeek</a:t>
            </a:r>
            <a:r>
              <a:rPr lang="zh-CN" altLang="en-US" dirty="0"/>
              <a:t>的功能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xmlns="" id="{6D70C040-033F-5EC6-546B-AB9512F28373}"/>
              </a:ext>
            </a:extLst>
          </p:cNvPr>
          <p:cNvSpPr txBox="1">
            <a:spLocks/>
          </p:cNvSpPr>
          <p:nvPr/>
        </p:nvSpPr>
        <p:spPr>
          <a:xfrm>
            <a:off x="146050" y="921409"/>
            <a:ext cx="8604250" cy="5997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可以做什么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自然语言理解与分析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xmlns="" id="{02C20ED9-B14B-5C9E-70E6-3562652CD411}"/>
              </a:ext>
            </a:extLst>
          </p:cNvPr>
          <p:cNvGrpSpPr/>
          <p:nvPr/>
        </p:nvGrpSpPr>
        <p:grpSpPr>
          <a:xfrm>
            <a:off x="3988713" y="1799276"/>
            <a:ext cx="4148648" cy="4105096"/>
            <a:chOff x="3751550" y="1540430"/>
            <a:chExt cx="3903345" cy="3903345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xmlns="" id="{6AD5F4A0-BF6C-F145-D756-8817861188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1550" y="1540430"/>
              <a:ext cx="3903158" cy="3903158"/>
            </a:xfrm>
            <a:prstGeom prst="rect">
              <a:avLst/>
            </a:prstGeom>
          </p:spPr>
        </p:pic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xmlns="" id="{4E4C732E-AC26-B863-86EB-1967830D95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3863" y="1715490"/>
              <a:ext cx="2336634" cy="2391333"/>
            </a:xfrm>
            <a:prstGeom prst="rect">
              <a:avLst/>
            </a:prstGeom>
          </p:spPr>
        </p:pic>
        <p:pic>
          <p:nvPicPr>
            <p:cNvPr id="20" name="object 6">
              <a:extLst>
                <a:ext uri="{FF2B5EF4-FFF2-40B4-BE49-F238E27FC236}">
                  <a16:creationId xmlns:a16="http://schemas.microsoft.com/office/drawing/2014/main" xmlns="" id="{DDCB62F0-FBC4-3357-AAA3-A0149145ADF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7791" y="1748535"/>
              <a:ext cx="1927110" cy="3049079"/>
            </a:xfrm>
            <a:prstGeom prst="rect">
              <a:avLst/>
            </a:prstGeom>
          </p:spPr>
        </p:pic>
        <p:pic>
          <p:nvPicPr>
            <p:cNvPr id="21" name="object 7">
              <a:extLst>
                <a:ext uri="{FF2B5EF4-FFF2-40B4-BE49-F238E27FC236}">
                  <a16:creationId xmlns:a16="http://schemas.microsoft.com/office/drawing/2014/main" xmlns="" id="{9E2EC8DF-5F31-0382-F205-C07FD2573ED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8224" y="3781463"/>
              <a:ext cx="3073857" cy="1464195"/>
            </a:xfrm>
            <a:prstGeom prst="rect">
              <a:avLst/>
            </a:prstGeom>
          </p:spPr>
        </p:pic>
      </p:grpSp>
      <p:sp>
        <p:nvSpPr>
          <p:cNvPr id="22" name="object 8">
            <a:extLst>
              <a:ext uri="{FF2B5EF4-FFF2-40B4-BE49-F238E27FC236}">
                <a16:creationId xmlns:a16="http://schemas.microsoft.com/office/drawing/2014/main" xmlns="" id="{FBA934BA-A8E6-1C31-2A4E-7FEFD364FDFB}"/>
              </a:ext>
            </a:extLst>
          </p:cNvPr>
          <p:cNvSpPr txBox="1"/>
          <p:nvPr/>
        </p:nvSpPr>
        <p:spPr>
          <a:xfrm>
            <a:off x="8329283" y="3393184"/>
            <a:ext cx="3986091" cy="1661352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zh-CN" altLang="en-US" sz="2400" b="1" spc="5" dirty="0">
                <a:solidFill>
                  <a:srgbClr val="57B6E4"/>
                </a:solidFill>
                <a:latin typeface="Microsoft JhengHei"/>
                <a:cs typeface="Microsoft JhengHei"/>
              </a:rPr>
              <a:t>知识</a:t>
            </a:r>
            <a:r>
              <a:rPr sz="2400" b="1" spc="5" dirty="0" err="1">
                <a:solidFill>
                  <a:srgbClr val="57B6E4"/>
                </a:solidFill>
                <a:latin typeface="Microsoft JhengHei"/>
                <a:cs typeface="Microsoft JhengHei"/>
              </a:rPr>
              <a:t>推理</a:t>
            </a:r>
            <a:endParaRPr sz="24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知识推理</a:t>
            </a:r>
            <a:endParaRPr sz="2000" dirty="0">
              <a:latin typeface="宋体"/>
              <a:cs typeface="宋体"/>
            </a:endParaRPr>
          </a:p>
          <a:p>
            <a:pPr marL="12700" marR="5080">
              <a:lnSpc>
                <a:spcPct val="129900"/>
              </a:lnSpc>
            </a:pPr>
            <a:r>
              <a:rPr sz="2000" spc="100" dirty="0" err="1">
                <a:solidFill>
                  <a:srgbClr val="252525"/>
                </a:solidFill>
                <a:latin typeface="宋体"/>
                <a:cs typeface="宋体"/>
              </a:rPr>
              <a:t>逻辑问题解答（数学、常</a:t>
            </a:r>
            <a:r>
              <a:rPr sz="2000" spc="105" dirty="0" err="1">
                <a:solidFill>
                  <a:srgbClr val="252525"/>
                </a:solidFill>
                <a:latin typeface="宋体"/>
                <a:cs typeface="宋体"/>
              </a:rPr>
              <a:t>识</a:t>
            </a:r>
            <a:r>
              <a:rPr sz="2000" dirty="0" err="1">
                <a:solidFill>
                  <a:srgbClr val="252525"/>
                </a:solidFill>
                <a:latin typeface="宋体"/>
                <a:cs typeface="宋体"/>
              </a:rPr>
              <a:t>推理</a:t>
            </a: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）</a:t>
            </a:r>
            <a:endParaRPr sz="20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因果分析（事件关联性）</a:t>
            </a:r>
            <a:endParaRPr sz="2000" dirty="0">
              <a:latin typeface="宋体"/>
              <a:cs typeface="宋体"/>
            </a:endParaRPr>
          </a:p>
        </p:txBody>
      </p:sp>
      <p:pic>
        <p:nvPicPr>
          <p:cNvPr id="23" name="object 9">
            <a:extLst>
              <a:ext uri="{FF2B5EF4-FFF2-40B4-BE49-F238E27FC236}">
                <a16:creationId xmlns:a16="http://schemas.microsoft.com/office/drawing/2014/main" xmlns="" id="{CC7BCCA3-E087-10C3-0AF3-D827A5B6802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26544" y="3582314"/>
            <a:ext cx="561931" cy="228460"/>
          </a:xfrm>
          <a:prstGeom prst="rect">
            <a:avLst/>
          </a:prstGeom>
        </p:spPr>
      </p:pic>
      <p:sp>
        <p:nvSpPr>
          <p:cNvPr id="24" name="object 10">
            <a:extLst>
              <a:ext uri="{FF2B5EF4-FFF2-40B4-BE49-F238E27FC236}">
                <a16:creationId xmlns:a16="http://schemas.microsoft.com/office/drawing/2014/main" xmlns="" id="{E53D16A1-26B1-554D-90E7-2696ECF87858}"/>
              </a:ext>
            </a:extLst>
          </p:cNvPr>
          <p:cNvSpPr txBox="1"/>
          <p:nvPr/>
        </p:nvSpPr>
        <p:spPr>
          <a:xfrm>
            <a:off x="2195964" y="2315082"/>
            <a:ext cx="1279594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5" dirty="0">
                <a:solidFill>
                  <a:srgbClr val="5F95E6"/>
                </a:solidFill>
                <a:latin typeface="Microsoft JhengHei"/>
                <a:cs typeface="Microsoft JhengHei"/>
              </a:rPr>
              <a:t>语义分析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xmlns="" id="{B93A589E-242A-C21B-38E2-41FB080BCA07}"/>
              </a:ext>
            </a:extLst>
          </p:cNvPr>
          <p:cNvSpPr txBox="1"/>
          <p:nvPr/>
        </p:nvSpPr>
        <p:spPr>
          <a:xfrm>
            <a:off x="209550" y="2661285"/>
            <a:ext cx="4234180" cy="15315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语义解析</a:t>
            </a:r>
            <a:endParaRPr sz="20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情感分析（评论、反馈）</a:t>
            </a:r>
            <a:endParaRPr sz="2000" dirty="0">
              <a:latin typeface="宋体"/>
              <a:cs typeface="宋体"/>
            </a:endParaRPr>
          </a:p>
          <a:p>
            <a:pPr marL="12700" marR="5080">
              <a:lnSpc>
                <a:spcPct val="129900"/>
              </a:lnSpc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意图识别（客服对话、用户查询） </a:t>
            </a:r>
            <a:endParaRPr lang="en-US" sz="2000" dirty="0">
              <a:solidFill>
                <a:srgbClr val="252525"/>
              </a:solidFill>
              <a:latin typeface="宋体"/>
              <a:cs typeface="宋体"/>
            </a:endParaRPr>
          </a:p>
          <a:p>
            <a:pPr marL="12700" marR="5080">
              <a:lnSpc>
                <a:spcPct val="129900"/>
              </a:lnSpc>
            </a:pPr>
            <a:r>
              <a:rPr sz="2000" dirty="0" err="1">
                <a:solidFill>
                  <a:srgbClr val="252525"/>
                </a:solidFill>
                <a:latin typeface="宋体"/>
                <a:cs typeface="宋体"/>
              </a:rPr>
              <a:t>实体提取（人名、地点、事件</a:t>
            </a: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）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xmlns="" id="{89675ADC-6685-E3FC-90A5-6DE08F180339}"/>
              </a:ext>
            </a:extLst>
          </p:cNvPr>
          <p:cNvSpPr txBox="1"/>
          <p:nvPr/>
        </p:nvSpPr>
        <p:spPr>
          <a:xfrm>
            <a:off x="2195964" y="4722215"/>
            <a:ext cx="1279594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5" dirty="0">
                <a:solidFill>
                  <a:srgbClr val="55C994"/>
                </a:solidFill>
                <a:latin typeface="Microsoft JhengHei"/>
                <a:cs typeface="Microsoft JhengHei"/>
              </a:rPr>
              <a:t>文本分类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xmlns="" id="{44B73C59-3DB5-F0D3-87E8-BF818980FED6}"/>
              </a:ext>
            </a:extLst>
          </p:cNvPr>
          <p:cNvSpPr txBox="1"/>
          <p:nvPr/>
        </p:nvSpPr>
        <p:spPr>
          <a:xfrm>
            <a:off x="312756" y="5002530"/>
            <a:ext cx="3673774" cy="114678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文本分类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ct val="129900"/>
              </a:lnSpc>
            </a:pPr>
            <a:r>
              <a:rPr sz="2000" dirty="0">
                <a:solidFill>
                  <a:srgbClr val="252525"/>
                </a:solidFill>
                <a:latin typeface="宋体"/>
                <a:cs typeface="宋体"/>
              </a:rPr>
              <a:t>主题标签生成（如新闻分类） 垃圾内容检测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28" name="object 14">
            <a:extLst>
              <a:ext uri="{FF2B5EF4-FFF2-40B4-BE49-F238E27FC236}">
                <a16:creationId xmlns:a16="http://schemas.microsoft.com/office/drawing/2014/main" xmlns="" id="{D1C9A35F-4115-C7C1-856B-6FFF9A744DB4}"/>
              </a:ext>
            </a:extLst>
          </p:cNvPr>
          <p:cNvGrpSpPr/>
          <p:nvPr/>
        </p:nvGrpSpPr>
        <p:grpSpPr>
          <a:xfrm>
            <a:off x="3476231" y="2414168"/>
            <a:ext cx="3662045" cy="2640330"/>
            <a:chOff x="3260331" y="2077618"/>
            <a:chExt cx="3662045" cy="2640330"/>
          </a:xfrm>
        </p:grpSpPr>
        <p:pic>
          <p:nvPicPr>
            <p:cNvPr id="29" name="object 15">
              <a:extLst>
                <a:ext uri="{FF2B5EF4-FFF2-40B4-BE49-F238E27FC236}">
                  <a16:creationId xmlns:a16="http://schemas.microsoft.com/office/drawing/2014/main" xmlns="" id="{BC69F94D-1F99-B51E-D6CE-3CCD64DC073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60331" y="2077618"/>
              <a:ext cx="458914" cy="228460"/>
            </a:xfrm>
            <a:prstGeom prst="rect">
              <a:avLst/>
            </a:prstGeom>
          </p:spPr>
        </p:pic>
        <p:sp>
          <p:nvSpPr>
            <p:cNvPr id="30" name="object 16">
              <a:extLst>
                <a:ext uri="{FF2B5EF4-FFF2-40B4-BE49-F238E27FC236}">
                  <a16:creationId xmlns:a16="http://schemas.microsoft.com/office/drawing/2014/main" xmlns="" id="{F17C6A8F-1461-07DF-4BD0-EE609B88AF8F}"/>
                </a:ext>
              </a:extLst>
            </p:cNvPr>
            <p:cNvSpPr/>
            <p:nvPr/>
          </p:nvSpPr>
          <p:spPr>
            <a:xfrm>
              <a:off x="3505199" y="4489386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5" h="228600">
                  <a:moveTo>
                    <a:pt x="114376" y="228460"/>
                  </a:moveTo>
                  <a:lnTo>
                    <a:pt x="69906" y="219489"/>
                  </a:lnTo>
                  <a:lnTo>
                    <a:pt x="33580" y="195051"/>
                  </a:lnTo>
                  <a:lnTo>
                    <a:pt x="9057" y="158856"/>
                  </a:lnTo>
                  <a:lnTo>
                    <a:pt x="0" y="114617"/>
                  </a:lnTo>
                  <a:lnTo>
                    <a:pt x="9057" y="69930"/>
                  </a:lnTo>
                  <a:lnTo>
                    <a:pt x="33580" y="33505"/>
                  </a:lnTo>
                  <a:lnTo>
                    <a:pt x="69906" y="8982"/>
                  </a:lnTo>
                  <a:lnTo>
                    <a:pt x="114376" y="0"/>
                  </a:lnTo>
                  <a:lnTo>
                    <a:pt x="158843" y="8976"/>
                  </a:lnTo>
                  <a:lnTo>
                    <a:pt x="195154" y="33458"/>
                  </a:lnTo>
                  <a:lnTo>
                    <a:pt x="219635" y="69769"/>
                  </a:lnTo>
                  <a:lnTo>
                    <a:pt x="228612" y="114236"/>
                  </a:lnTo>
                  <a:lnTo>
                    <a:pt x="219635" y="158696"/>
                  </a:lnTo>
                  <a:lnTo>
                    <a:pt x="195154" y="195003"/>
                  </a:lnTo>
                  <a:lnTo>
                    <a:pt x="158843" y="219483"/>
                  </a:lnTo>
                  <a:lnTo>
                    <a:pt x="114376" y="228460"/>
                  </a:lnTo>
                  <a:close/>
                </a:path>
              </a:pathLst>
            </a:custGeom>
            <a:solidFill>
              <a:srgbClr val="55C99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17">
              <a:extLst>
                <a:ext uri="{FF2B5EF4-FFF2-40B4-BE49-F238E27FC236}">
                  <a16:creationId xmlns:a16="http://schemas.microsoft.com/office/drawing/2014/main" xmlns="" id="{E5350A9F-9019-6B1F-A5C5-CD32D0A051C2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1753" y="2959011"/>
              <a:ext cx="368363" cy="368363"/>
            </a:xfrm>
            <a:prstGeom prst="rect">
              <a:avLst/>
            </a:prstGeom>
          </p:spPr>
        </p:pic>
        <p:sp>
          <p:nvSpPr>
            <p:cNvPr id="32" name="object 18">
              <a:extLst>
                <a:ext uri="{FF2B5EF4-FFF2-40B4-BE49-F238E27FC236}">
                  <a16:creationId xmlns:a16="http://schemas.microsoft.com/office/drawing/2014/main" xmlns="" id="{98BAAA41-9121-8EBC-42FB-EC39B9B00837}"/>
                </a:ext>
              </a:extLst>
            </p:cNvPr>
            <p:cNvSpPr/>
            <p:nvPr/>
          </p:nvSpPr>
          <p:spPr>
            <a:xfrm>
              <a:off x="3579875" y="4564214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700" y="78803"/>
                  </a:moveTo>
                  <a:lnTo>
                    <a:pt x="24361" y="75713"/>
                  </a:lnTo>
                  <a:lnTo>
                    <a:pt x="11806" y="67311"/>
                  </a:lnTo>
                  <a:lnTo>
                    <a:pt x="3272" y="54902"/>
                  </a:lnTo>
                  <a:lnTo>
                    <a:pt x="0" y="39789"/>
                  </a:lnTo>
                  <a:lnTo>
                    <a:pt x="3272" y="24228"/>
                  </a:lnTo>
                  <a:lnTo>
                    <a:pt x="11806" y="11588"/>
                  </a:lnTo>
                  <a:lnTo>
                    <a:pt x="24361" y="3102"/>
                  </a:lnTo>
                  <a:lnTo>
                    <a:pt x="39700" y="0"/>
                  </a:lnTo>
                  <a:lnTo>
                    <a:pt x="55033" y="3096"/>
                  </a:lnTo>
                  <a:lnTo>
                    <a:pt x="67556" y="11541"/>
                  </a:lnTo>
                  <a:lnTo>
                    <a:pt x="75999" y="24067"/>
                  </a:lnTo>
                  <a:lnTo>
                    <a:pt x="79095" y="39408"/>
                  </a:lnTo>
                  <a:lnTo>
                    <a:pt x="75999" y="54741"/>
                  </a:lnTo>
                  <a:lnTo>
                    <a:pt x="67556" y="67263"/>
                  </a:lnTo>
                  <a:lnTo>
                    <a:pt x="55033" y="75707"/>
                  </a:lnTo>
                  <a:lnTo>
                    <a:pt x="39700" y="78803"/>
                  </a:lnTo>
                  <a:close/>
                </a:path>
              </a:pathLst>
            </a:custGeom>
            <a:solidFill>
              <a:srgbClr val="55C9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9">
              <a:extLst>
                <a:ext uri="{FF2B5EF4-FFF2-40B4-BE49-F238E27FC236}">
                  <a16:creationId xmlns:a16="http://schemas.microsoft.com/office/drawing/2014/main" xmlns="" id="{0B5402EF-03D7-67A5-A454-D6F872A52EB1}"/>
                </a:ext>
              </a:extLst>
            </p:cNvPr>
            <p:cNvSpPr/>
            <p:nvPr/>
          </p:nvSpPr>
          <p:spPr>
            <a:xfrm>
              <a:off x="3274898" y="4600143"/>
              <a:ext cx="230504" cy="7620"/>
            </a:xfrm>
            <a:custGeom>
              <a:avLst/>
              <a:gdLst/>
              <a:ahLst/>
              <a:cxnLst/>
              <a:rect l="l" t="t" r="r" b="b"/>
              <a:pathLst>
                <a:path w="230504" h="7620">
                  <a:moveTo>
                    <a:pt x="7620" y="0"/>
                  </a:moveTo>
                  <a:lnTo>
                    <a:pt x="0" y="0"/>
                  </a:lnTo>
                  <a:lnTo>
                    <a:pt x="0" y="7620"/>
                  </a:lnTo>
                  <a:lnTo>
                    <a:pt x="7620" y="7620"/>
                  </a:lnTo>
                  <a:lnTo>
                    <a:pt x="7620" y="0"/>
                  </a:lnTo>
                  <a:close/>
                </a:path>
                <a:path w="230504" h="7620">
                  <a:moveTo>
                    <a:pt x="22860" y="0"/>
                  </a:moveTo>
                  <a:lnTo>
                    <a:pt x="15227" y="0"/>
                  </a:lnTo>
                  <a:lnTo>
                    <a:pt x="15227" y="7620"/>
                  </a:lnTo>
                  <a:lnTo>
                    <a:pt x="22860" y="7620"/>
                  </a:lnTo>
                  <a:lnTo>
                    <a:pt x="22860" y="0"/>
                  </a:lnTo>
                  <a:close/>
                </a:path>
                <a:path w="230504" h="7620">
                  <a:moveTo>
                    <a:pt x="38100" y="0"/>
                  </a:moveTo>
                  <a:lnTo>
                    <a:pt x="30480" y="0"/>
                  </a:lnTo>
                  <a:lnTo>
                    <a:pt x="30480" y="7620"/>
                  </a:lnTo>
                  <a:lnTo>
                    <a:pt x="38100" y="7620"/>
                  </a:lnTo>
                  <a:lnTo>
                    <a:pt x="38100" y="0"/>
                  </a:lnTo>
                  <a:close/>
                </a:path>
                <a:path w="230504" h="7620">
                  <a:moveTo>
                    <a:pt x="53327" y="0"/>
                  </a:moveTo>
                  <a:lnTo>
                    <a:pt x="45720" y="0"/>
                  </a:lnTo>
                  <a:lnTo>
                    <a:pt x="45720" y="7620"/>
                  </a:lnTo>
                  <a:lnTo>
                    <a:pt x="53327" y="7620"/>
                  </a:lnTo>
                  <a:lnTo>
                    <a:pt x="53327" y="0"/>
                  </a:lnTo>
                  <a:close/>
                </a:path>
                <a:path w="230504" h="7620">
                  <a:moveTo>
                    <a:pt x="68580" y="0"/>
                  </a:moveTo>
                  <a:lnTo>
                    <a:pt x="60960" y="0"/>
                  </a:lnTo>
                  <a:lnTo>
                    <a:pt x="60960" y="7620"/>
                  </a:lnTo>
                  <a:lnTo>
                    <a:pt x="68580" y="7620"/>
                  </a:lnTo>
                  <a:lnTo>
                    <a:pt x="68580" y="0"/>
                  </a:lnTo>
                  <a:close/>
                </a:path>
                <a:path w="230504" h="7620">
                  <a:moveTo>
                    <a:pt x="83820" y="0"/>
                  </a:moveTo>
                  <a:lnTo>
                    <a:pt x="76200" y="0"/>
                  </a:lnTo>
                  <a:lnTo>
                    <a:pt x="76200" y="7620"/>
                  </a:lnTo>
                  <a:lnTo>
                    <a:pt x="83820" y="7620"/>
                  </a:lnTo>
                  <a:lnTo>
                    <a:pt x="83820" y="0"/>
                  </a:lnTo>
                  <a:close/>
                </a:path>
                <a:path w="230504" h="7620">
                  <a:moveTo>
                    <a:pt x="99060" y="0"/>
                  </a:moveTo>
                  <a:lnTo>
                    <a:pt x="91440" y="0"/>
                  </a:lnTo>
                  <a:lnTo>
                    <a:pt x="91440" y="7620"/>
                  </a:lnTo>
                  <a:lnTo>
                    <a:pt x="99060" y="7620"/>
                  </a:lnTo>
                  <a:lnTo>
                    <a:pt x="99060" y="0"/>
                  </a:lnTo>
                  <a:close/>
                </a:path>
                <a:path w="230504" h="7620">
                  <a:moveTo>
                    <a:pt x="114300" y="0"/>
                  </a:moveTo>
                  <a:lnTo>
                    <a:pt x="106680" y="0"/>
                  </a:lnTo>
                  <a:lnTo>
                    <a:pt x="106680" y="7620"/>
                  </a:lnTo>
                  <a:lnTo>
                    <a:pt x="114300" y="7620"/>
                  </a:lnTo>
                  <a:lnTo>
                    <a:pt x="114300" y="0"/>
                  </a:lnTo>
                  <a:close/>
                </a:path>
                <a:path w="230504" h="7620">
                  <a:moveTo>
                    <a:pt x="129540" y="0"/>
                  </a:moveTo>
                  <a:lnTo>
                    <a:pt x="121920" y="0"/>
                  </a:lnTo>
                  <a:lnTo>
                    <a:pt x="121920" y="7620"/>
                  </a:lnTo>
                  <a:lnTo>
                    <a:pt x="129540" y="7620"/>
                  </a:lnTo>
                  <a:lnTo>
                    <a:pt x="129540" y="0"/>
                  </a:lnTo>
                  <a:close/>
                </a:path>
                <a:path w="230504" h="7620">
                  <a:moveTo>
                    <a:pt x="144780" y="0"/>
                  </a:moveTo>
                  <a:lnTo>
                    <a:pt x="137160" y="0"/>
                  </a:lnTo>
                  <a:lnTo>
                    <a:pt x="137160" y="7620"/>
                  </a:lnTo>
                  <a:lnTo>
                    <a:pt x="144780" y="7620"/>
                  </a:lnTo>
                  <a:lnTo>
                    <a:pt x="144780" y="0"/>
                  </a:lnTo>
                  <a:close/>
                </a:path>
                <a:path w="230504" h="7620">
                  <a:moveTo>
                    <a:pt x="160020" y="0"/>
                  </a:moveTo>
                  <a:lnTo>
                    <a:pt x="152400" y="0"/>
                  </a:lnTo>
                  <a:lnTo>
                    <a:pt x="152400" y="7620"/>
                  </a:lnTo>
                  <a:lnTo>
                    <a:pt x="160020" y="7620"/>
                  </a:lnTo>
                  <a:lnTo>
                    <a:pt x="160020" y="0"/>
                  </a:lnTo>
                  <a:close/>
                </a:path>
                <a:path w="230504" h="7620">
                  <a:moveTo>
                    <a:pt x="175260" y="0"/>
                  </a:moveTo>
                  <a:lnTo>
                    <a:pt x="167640" y="0"/>
                  </a:lnTo>
                  <a:lnTo>
                    <a:pt x="167640" y="7620"/>
                  </a:lnTo>
                  <a:lnTo>
                    <a:pt x="175260" y="7620"/>
                  </a:lnTo>
                  <a:lnTo>
                    <a:pt x="175260" y="0"/>
                  </a:lnTo>
                  <a:close/>
                </a:path>
                <a:path w="230504" h="7620">
                  <a:moveTo>
                    <a:pt x="190500" y="0"/>
                  </a:moveTo>
                  <a:lnTo>
                    <a:pt x="182880" y="0"/>
                  </a:lnTo>
                  <a:lnTo>
                    <a:pt x="182880" y="7620"/>
                  </a:lnTo>
                  <a:lnTo>
                    <a:pt x="190500" y="7620"/>
                  </a:lnTo>
                  <a:lnTo>
                    <a:pt x="190500" y="0"/>
                  </a:lnTo>
                  <a:close/>
                </a:path>
                <a:path w="230504" h="7620">
                  <a:moveTo>
                    <a:pt x="205740" y="0"/>
                  </a:moveTo>
                  <a:lnTo>
                    <a:pt x="198120" y="0"/>
                  </a:lnTo>
                  <a:lnTo>
                    <a:pt x="198120" y="7620"/>
                  </a:lnTo>
                  <a:lnTo>
                    <a:pt x="205740" y="7620"/>
                  </a:lnTo>
                  <a:lnTo>
                    <a:pt x="205740" y="0"/>
                  </a:lnTo>
                  <a:close/>
                </a:path>
                <a:path w="230504" h="7620">
                  <a:moveTo>
                    <a:pt x="220980" y="0"/>
                  </a:moveTo>
                  <a:lnTo>
                    <a:pt x="213360" y="0"/>
                  </a:lnTo>
                  <a:lnTo>
                    <a:pt x="213360" y="7620"/>
                  </a:lnTo>
                  <a:lnTo>
                    <a:pt x="220980" y="7620"/>
                  </a:lnTo>
                  <a:lnTo>
                    <a:pt x="220980" y="0"/>
                  </a:lnTo>
                  <a:close/>
                </a:path>
                <a:path w="230504" h="7620">
                  <a:moveTo>
                    <a:pt x="230454" y="0"/>
                  </a:moveTo>
                  <a:lnTo>
                    <a:pt x="228600" y="0"/>
                  </a:lnTo>
                  <a:lnTo>
                    <a:pt x="228600" y="7620"/>
                  </a:lnTo>
                  <a:lnTo>
                    <a:pt x="230454" y="7620"/>
                  </a:lnTo>
                  <a:lnTo>
                    <a:pt x="230454" y="0"/>
                  </a:lnTo>
                  <a:close/>
                </a:path>
              </a:pathLst>
            </a:custGeom>
            <a:solidFill>
              <a:srgbClr val="55C99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20">
              <a:extLst>
                <a:ext uri="{FF2B5EF4-FFF2-40B4-BE49-F238E27FC236}">
                  <a16:creationId xmlns:a16="http://schemas.microsoft.com/office/drawing/2014/main" xmlns="" id="{54E672C2-4698-4525-42A6-E347797237F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3479" y="2959011"/>
              <a:ext cx="368363" cy="368363"/>
            </a:xfrm>
            <a:prstGeom prst="rect">
              <a:avLst/>
            </a:prstGeom>
          </p:spPr>
        </p:pic>
        <p:pic>
          <p:nvPicPr>
            <p:cNvPr id="35" name="object 21">
              <a:extLst>
                <a:ext uri="{FF2B5EF4-FFF2-40B4-BE49-F238E27FC236}">
                  <a16:creationId xmlns:a16="http://schemas.microsoft.com/office/drawing/2014/main" xmlns="" id="{57E0817B-1DAC-AAB5-FBF0-EFDD3985333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5002" y="4336402"/>
              <a:ext cx="368363" cy="3683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5845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BAD7E7-0241-1BAE-AE71-71F58C58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753F1A58-D8F2-D203-F692-2FC40082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7.2 </a:t>
            </a:r>
            <a:r>
              <a:rPr lang="en-US" altLang="zh-CN" dirty="0" err="1">
                <a:latin typeface="Times New Roman" panose="02020603050405020304" pitchFamily="18" charset="0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</a:rPr>
              <a:t>的功能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xmlns="" id="{2F1074B7-DF36-869A-0D29-F41D4F9C96A5}"/>
              </a:ext>
            </a:extLst>
          </p:cNvPr>
          <p:cNvSpPr txBox="1">
            <a:spLocks/>
          </p:cNvSpPr>
          <p:nvPr/>
        </p:nvSpPr>
        <p:spPr>
          <a:xfrm>
            <a:off x="146050" y="921409"/>
            <a:ext cx="8604250" cy="5997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可以做什么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编程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335B485E-777D-A63A-F8FC-59B70EA327C8}"/>
              </a:ext>
            </a:extLst>
          </p:cNvPr>
          <p:cNvSpPr/>
          <p:nvPr/>
        </p:nvSpPr>
        <p:spPr>
          <a:xfrm>
            <a:off x="4607724" y="2279626"/>
            <a:ext cx="2976551" cy="3656965"/>
          </a:xfrm>
          <a:custGeom>
            <a:avLst/>
            <a:gdLst/>
            <a:ahLst/>
            <a:cxnLst/>
            <a:rect l="l" t="t" r="r" b="b"/>
            <a:pathLst>
              <a:path w="2472054" h="3656965">
                <a:moveTo>
                  <a:pt x="141090" y="3656483"/>
                </a:moveTo>
                <a:lnTo>
                  <a:pt x="103761" y="3647390"/>
                </a:lnTo>
                <a:lnTo>
                  <a:pt x="70107" y="3628089"/>
                </a:lnTo>
                <a:lnTo>
                  <a:pt x="41516" y="3599939"/>
                </a:lnTo>
                <a:lnTo>
                  <a:pt x="19377" y="3564302"/>
                </a:lnTo>
                <a:lnTo>
                  <a:pt x="5075" y="3522536"/>
                </a:lnTo>
                <a:lnTo>
                  <a:pt x="0" y="3476003"/>
                </a:lnTo>
                <a:lnTo>
                  <a:pt x="0" y="179566"/>
                </a:lnTo>
                <a:lnTo>
                  <a:pt x="6830" y="125868"/>
                </a:lnTo>
                <a:lnTo>
                  <a:pt x="25862" y="78903"/>
                </a:lnTo>
                <a:lnTo>
                  <a:pt x="54905" y="40830"/>
                </a:lnTo>
                <a:lnTo>
                  <a:pt x="91769" y="13808"/>
                </a:lnTo>
                <a:lnTo>
                  <a:pt x="134264" y="0"/>
                </a:lnTo>
                <a:lnTo>
                  <a:pt x="180200" y="1563"/>
                </a:lnTo>
                <a:lnTo>
                  <a:pt x="2345601" y="460782"/>
                </a:lnTo>
                <a:lnTo>
                  <a:pt x="2386734" y="476794"/>
                </a:lnTo>
                <a:lnTo>
                  <a:pt x="2421497" y="504855"/>
                </a:lnTo>
                <a:lnTo>
                  <a:pt x="2448285" y="542711"/>
                </a:lnTo>
                <a:lnTo>
                  <a:pt x="2465494" y="588106"/>
                </a:lnTo>
                <a:lnTo>
                  <a:pt x="2471521" y="638785"/>
                </a:lnTo>
                <a:lnTo>
                  <a:pt x="2471521" y="3006726"/>
                </a:lnTo>
                <a:lnTo>
                  <a:pt x="2465452" y="3057290"/>
                </a:lnTo>
                <a:lnTo>
                  <a:pt x="2448297" y="3102599"/>
                </a:lnTo>
                <a:lnTo>
                  <a:pt x="2421633" y="3140427"/>
                </a:lnTo>
                <a:lnTo>
                  <a:pt x="2387040" y="3168546"/>
                </a:lnTo>
                <a:lnTo>
                  <a:pt x="2346096" y="3184729"/>
                </a:lnTo>
                <a:lnTo>
                  <a:pt x="180708" y="3654007"/>
                </a:lnTo>
                <a:lnTo>
                  <a:pt x="141090" y="3656483"/>
                </a:lnTo>
                <a:close/>
              </a:path>
            </a:pathLst>
          </a:custGeom>
          <a:solidFill>
            <a:srgbClr val="BED4F5">
              <a:alpha val="17999"/>
            </a:srgbClr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xmlns="" id="{C32375DF-1534-05FE-A5AD-562C31278F99}"/>
              </a:ext>
            </a:extLst>
          </p:cNvPr>
          <p:cNvSpPr txBox="1"/>
          <p:nvPr/>
        </p:nvSpPr>
        <p:spPr>
          <a:xfrm>
            <a:off x="4779186" y="3132496"/>
            <a:ext cx="2564437" cy="22919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95"/>
              </a:spcBef>
            </a:pPr>
            <a:r>
              <a:rPr sz="3200" b="1" spc="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代码调</a:t>
            </a:r>
            <a:r>
              <a:rPr sz="3200" b="1" spc="-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试</a:t>
            </a:r>
            <a:endParaRPr sz="3200" dirty="0">
              <a:latin typeface="Times New Roman" panose="02020603050405020304" pitchFamily="18" charset="0"/>
              <a:cs typeface="Microsoft JhengHei"/>
            </a:endParaRPr>
          </a:p>
          <a:p>
            <a:pPr marL="298450" marR="5080" indent="-285750">
              <a:lnSpc>
                <a:spcPct val="139800"/>
              </a:lnSpc>
              <a:spcBef>
                <a:spcPts val="9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285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错误分析</a:t>
            </a:r>
            <a:r>
              <a:rPr sz="2000" spc="29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与修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复 建议</a:t>
            </a:r>
            <a:endParaRPr sz="2000" dirty="0">
              <a:latin typeface="Times New Roman" panose="02020603050405020304" pitchFamily="18" charset="0"/>
              <a:cs typeface="宋体"/>
            </a:endParaRPr>
          </a:p>
          <a:p>
            <a:pPr marL="298450" marR="5080" indent="-285750">
              <a:lnSpc>
                <a:spcPct val="1398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285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代码性能</a:t>
            </a:r>
            <a:r>
              <a:rPr sz="2000" spc="29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优化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提 示</a:t>
            </a:r>
            <a:endParaRPr sz="2000" dirty="0">
              <a:latin typeface="Times New Roman" panose="02020603050405020304" pitchFamily="18" charset="0"/>
              <a:cs typeface="宋体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xmlns="" id="{EBA59FBA-932B-F49B-964A-319EF7F88A72}"/>
              </a:ext>
            </a:extLst>
          </p:cNvPr>
          <p:cNvGrpSpPr/>
          <p:nvPr/>
        </p:nvGrpSpPr>
        <p:grpSpPr>
          <a:xfrm>
            <a:off x="5436843" y="2049681"/>
            <a:ext cx="980204" cy="814069"/>
            <a:chOff x="5157901" y="1833841"/>
            <a:chExt cx="814069" cy="814069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xmlns="" id="{E124F774-9C12-7D4A-CD3D-FBEA661C303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7901" y="1833841"/>
              <a:ext cx="814011" cy="814069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xmlns="" id="{B1D54C09-A1BA-35A0-71EE-865B02D5BE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8279" y="2065058"/>
              <a:ext cx="352539" cy="352539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xmlns="" id="{E6A71D59-8F81-B603-C949-EFC443CD7FBC}"/>
              </a:ext>
            </a:extLst>
          </p:cNvPr>
          <p:cNvSpPr/>
          <p:nvPr/>
        </p:nvSpPr>
        <p:spPr>
          <a:xfrm>
            <a:off x="7906891" y="2279626"/>
            <a:ext cx="2976551" cy="3656965"/>
          </a:xfrm>
          <a:custGeom>
            <a:avLst/>
            <a:gdLst/>
            <a:ahLst/>
            <a:cxnLst/>
            <a:rect l="l" t="t" r="r" b="b"/>
            <a:pathLst>
              <a:path w="2472054" h="3656965">
                <a:moveTo>
                  <a:pt x="141082" y="3656483"/>
                </a:moveTo>
                <a:lnTo>
                  <a:pt x="103756" y="3647390"/>
                </a:lnTo>
                <a:lnTo>
                  <a:pt x="70105" y="3628089"/>
                </a:lnTo>
                <a:lnTo>
                  <a:pt x="41515" y="3599939"/>
                </a:lnTo>
                <a:lnTo>
                  <a:pt x="19376" y="3564302"/>
                </a:lnTo>
                <a:lnTo>
                  <a:pt x="5075" y="3522536"/>
                </a:lnTo>
                <a:lnTo>
                  <a:pt x="0" y="3476003"/>
                </a:lnTo>
                <a:lnTo>
                  <a:pt x="0" y="179566"/>
                </a:lnTo>
                <a:lnTo>
                  <a:pt x="6830" y="125868"/>
                </a:lnTo>
                <a:lnTo>
                  <a:pt x="25862" y="78903"/>
                </a:lnTo>
                <a:lnTo>
                  <a:pt x="54905" y="40830"/>
                </a:lnTo>
                <a:lnTo>
                  <a:pt x="91769" y="13808"/>
                </a:lnTo>
                <a:lnTo>
                  <a:pt x="134264" y="0"/>
                </a:lnTo>
                <a:lnTo>
                  <a:pt x="180200" y="1563"/>
                </a:lnTo>
                <a:lnTo>
                  <a:pt x="2345588" y="460782"/>
                </a:lnTo>
                <a:lnTo>
                  <a:pt x="2386728" y="476794"/>
                </a:lnTo>
                <a:lnTo>
                  <a:pt x="2421494" y="504855"/>
                </a:lnTo>
                <a:lnTo>
                  <a:pt x="2448284" y="542711"/>
                </a:lnTo>
                <a:lnTo>
                  <a:pt x="2465494" y="588106"/>
                </a:lnTo>
                <a:lnTo>
                  <a:pt x="2471521" y="638785"/>
                </a:lnTo>
                <a:lnTo>
                  <a:pt x="2471521" y="3006726"/>
                </a:lnTo>
                <a:lnTo>
                  <a:pt x="2465451" y="3057290"/>
                </a:lnTo>
                <a:lnTo>
                  <a:pt x="2448293" y="3102599"/>
                </a:lnTo>
                <a:lnTo>
                  <a:pt x="2421628" y="3140427"/>
                </a:lnTo>
                <a:lnTo>
                  <a:pt x="2387035" y="3168546"/>
                </a:lnTo>
                <a:lnTo>
                  <a:pt x="2346096" y="3184729"/>
                </a:lnTo>
                <a:lnTo>
                  <a:pt x="180695" y="3654007"/>
                </a:lnTo>
                <a:lnTo>
                  <a:pt x="141082" y="3656483"/>
                </a:lnTo>
                <a:close/>
              </a:path>
            </a:pathLst>
          </a:custGeom>
          <a:solidFill>
            <a:srgbClr val="BED4F5">
              <a:alpha val="17999"/>
            </a:srgbClr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xmlns="" id="{9FD93BCD-F1E6-F105-CEF5-316D88FC0472}"/>
              </a:ext>
            </a:extLst>
          </p:cNvPr>
          <p:cNvSpPr txBox="1"/>
          <p:nvPr/>
        </p:nvSpPr>
        <p:spPr>
          <a:xfrm>
            <a:off x="8093833" y="3093695"/>
            <a:ext cx="260266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技术文档处</a:t>
            </a:r>
            <a:r>
              <a:rPr sz="3200" b="1" spc="-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理</a:t>
            </a:r>
            <a:endParaRPr sz="3200" dirty="0">
              <a:latin typeface="Times New Roman" panose="02020603050405020304" pitchFamily="18" charset="0"/>
              <a:cs typeface="Microsoft JhengHei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xmlns="" id="{D96FBD28-FA8D-BD19-43FA-415A4B4497AA}"/>
              </a:ext>
            </a:extLst>
          </p:cNvPr>
          <p:cNvSpPr txBox="1"/>
          <p:nvPr/>
        </p:nvSpPr>
        <p:spPr>
          <a:xfrm>
            <a:off x="8027847" y="3684844"/>
            <a:ext cx="2602666" cy="124194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65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API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文档生成</a:t>
            </a:r>
            <a:endParaRPr sz="2000" dirty="0">
              <a:latin typeface="Times New Roman" panose="02020603050405020304" pitchFamily="18" charset="0"/>
              <a:cs typeface="宋体"/>
            </a:endParaRPr>
          </a:p>
          <a:p>
            <a:pPr marL="298450" marR="5080" indent="-285750">
              <a:lnSpc>
                <a:spcPct val="1398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130" dirty="0" err="1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代码库解释与</a:t>
            </a:r>
            <a:r>
              <a:rPr sz="2000" dirty="0" err="1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示例生成</a:t>
            </a:r>
            <a:endParaRPr sz="2000" dirty="0">
              <a:latin typeface="Times New Roman" panose="02020603050405020304" pitchFamily="18" charset="0"/>
              <a:cs typeface="宋体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xmlns="" id="{442C4A95-D044-6A96-BD68-A160313CC457}"/>
              </a:ext>
            </a:extLst>
          </p:cNvPr>
          <p:cNvGrpSpPr/>
          <p:nvPr/>
        </p:nvGrpSpPr>
        <p:grpSpPr>
          <a:xfrm>
            <a:off x="8736011" y="2049681"/>
            <a:ext cx="980204" cy="814069"/>
            <a:chOff x="8457069" y="1833841"/>
            <a:chExt cx="814069" cy="814069"/>
          </a:xfrm>
        </p:grpSpPr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xmlns="" id="{C020876A-869E-50DF-5BC8-3160918E8F9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57069" y="1833841"/>
              <a:ext cx="814011" cy="814069"/>
            </a:xfrm>
            <a:prstGeom prst="rect">
              <a:avLst/>
            </a:prstGeom>
          </p:spPr>
        </p:pic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xmlns="" id="{55A29C0A-3F2A-0B6B-94D0-FECE2A09183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8159" y="2065058"/>
              <a:ext cx="351828" cy="351828"/>
            </a:xfrm>
            <a:prstGeom prst="rect">
              <a:avLst/>
            </a:prstGeom>
          </p:spPr>
        </p:pic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xmlns="" id="{8EDE721D-54C9-5D0B-765D-F9B6D0639346}"/>
              </a:ext>
            </a:extLst>
          </p:cNvPr>
          <p:cNvSpPr/>
          <p:nvPr/>
        </p:nvSpPr>
        <p:spPr>
          <a:xfrm>
            <a:off x="1307845" y="2279626"/>
            <a:ext cx="2976551" cy="3656965"/>
          </a:xfrm>
          <a:custGeom>
            <a:avLst/>
            <a:gdLst/>
            <a:ahLst/>
            <a:cxnLst/>
            <a:rect l="l" t="t" r="r" b="b"/>
            <a:pathLst>
              <a:path w="2472054" h="3656965">
                <a:moveTo>
                  <a:pt x="141090" y="3656483"/>
                </a:moveTo>
                <a:lnTo>
                  <a:pt x="103761" y="3647390"/>
                </a:lnTo>
                <a:lnTo>
                  <a:pt x="70107" y="3628089"/>
                </a:lnTo>
                <a:lnTo>
                  <a:pt x="41516" y="3599939"/>
                </a:lnTo>
                <a:lnTo>
                  <a:pt x="19377" y="3564302"/>
                </a:lnTo>
                <a:lnTo>
                  <a:pt x="5075" y="3522536"/>
                </a:lnTo>
                <a:lnTo>
                  <a:pt x="0" y="3476003"/>
                </a:lnTo>
                <a:lnTo>
                  <a:pt x="0" y="179566"/>
                </a:lnTo>
                <a:lnTo>
                  <a:pt x="6830" y="125868"/>
                </a:lnTo>
                <a:lnTo>
                  <a:pt x="25862" y="78903"/>
                </a:lnTo>
                <a:lnTo>
                  <a:pt x="54905" y="40830"/>
                </a:lnTo>
                <a:lnTo>
                  <a:pt x="91769" y="13808"/>
                </a:lnTo>
                <a:lnTo>
                  <a:pt x="134264" y="0"/>
                </a:lnTo>
                <a:lnTo>
                  <a:pt x="180200" y="1563"/>
                </a:lnTo>
                <a:lnTo>
                  <a:pt x="2345601" y="460782"/>
                </a:lnTo>
                <a:lnTo>
                  <a:pt x="2386734" y="476794"/>
                </a:lnTo>
                <a:lnTo>
                  <a:pt x="2421497" y="504855"/>
                </a:lnTo>
                <a:lnTo>
                  <a:pt x="2448285" y="542711"/>
                </a:lnTo>
                <a:lnTo>
                  <a:pt x="2465494" y="588106"/>
                </a:lnTo>
                <a:lnTo>
                  <a:pt x="2471521" y="638785"/>
                </a:lnTo>
                <a:lnTo>
                  <a:pt x="2471521" y="3006726"/>
                </a:lnTo>
                <a:lnTo>
                  <a:pt x="2465452" y="3057290"/>
                </a:lnTo>
                <a:lnTo>
                  <a:pt x="2448297" y="3102599"/>
                </a:lnTo>
                <a:lnTo>
                  <a:pt x="2421633" y="3140427"/>
                </a:lnTo>
                <a:lnTo>
                  <a:pt x="2387040" y="3168546"/>
                </a:lnTo>
                <a:lnTo>
                  <a:pt x="2346096" y="3184729"/>
                </a:lnTo>
                <a:lnTo>
                  <a:pt x="180708" y="3654007"/>
                </a:lnTo>
                <a:lnTo>
                  <a:pt x="141090" y="3656483"/>
                </a:lnTo>
                <a:close/>
              </a:path>
            </a:pathLst>
          </a:custGeom>
          <a:solidFill>
            <a:srgbClr val="BED4F5">
              <a:alpha val="17999"/>
            </a:srgbClr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xmlns="" id="{26F2C217-B7B7-407C-3B9F-3F34D1A5AD64}"/>
              </a:ext>
            </a:extLst>
          </p:cNvPr>
          <p:cNvSpPr txBox="1"/>
          <p:nvPr/>
        </p:nvSpPr>
        <p:spPr>
          <a:xfrm>
            <a:off x="1308910" y="3132496"/>
            <a:ext cx="2774139" cy="27228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1334">
              <a:lnSpc>
                <a:spcPct val="100000"/>
              </a:lnSpc>
              <a:spcBef>
                <a:spcPts val="95"/>
              </a:spcBef>
            </a:pPr>
            <a:r>
              <a:rPr sz="3200" b="1" spc="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代码生</a:t>
            </a:r>
            <a:r>
              <a:rPr sz="3200" b="1" spc="-5" dirty="0">
                <a:solidFill>
                  <a:srgbClr val="5F95E6"/>
                </a:solidFill>
                <a:latin typeface="Times New Roman" panose="02020603050405020304" pitchFamily="18" charset="0"/>
                <a:cs typeface="Microsoft JhengHei"/>
              </a:rPr>
              <a:t>成</a:t>
            </a:r>
            <a:endParaRPr sz="3200" dirty="0">
              <a:latin typeface="Times New Roman" panose="02020603050405020304" pitchFamily="18" charset="0"/>
              <a:cs typeface="Microsoft JhengHei"/>
            </a:endParaRPr>
          </a:p>
          <a:p>
            <a:pPr marL="298450" marR="5080" indent="-285750">
              <a:lnSpc>
                <a:spcPct val="139800"/>
              </a:lnSpc>
              <a:spcBef>
                <a:spcPts val="9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285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根据需</a:t>
            </a:r>
            <a:r>
              <a:rPr sz="2000" spc="29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求生成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代 </a:t>
            </a:r>
            <a:r>
              <a:rPr sz="2000" dirty="0" err="1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码片段（</a:t>
            </a:r>
            <a:r>
              <a:rPr sz="2000" spc="275" dirty="0" err="1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P</a:t>
            </a:r>
            <a:r>
              <a:rPr lang="en-US" sz="2000" spc="60" dirty="0" err="1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ython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、  JavaScript）</a:t>
            </a:r>
            <a:endParaRPr sz="2000" dirty="0">
              <a:latin typeface="Times New Roman" panose="02020603050405020304" pitchFamily="18" charset="0"/>
              <a:cs typeface="宋体"/>
            </a:endParaRPr>
          </a:p>
          <a:p>
            <a:pPr marL="298450" marR="83820" indent="-285750">
              <a:lnSpc>
                <a:spcPct val="1398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spc="285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自动补</a:t>
            </a:r>
            <a:r>
              <a:rPr sz="2000" spc="29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全与注</a:t>
            </a:r>
            <a:r>
              <a:rPr sz="2000" dirty="0">
                <a:solidFill>
                  <a:srgbClr val="252525"/>
                </a:solidFill>
                <a:latin typeface="Times New Roman" panose="02020603050405020304" pitchFamily="18" charset="0"/>
                <a:cs typeface="宋体"/>
              </a:rPr>
              <a:t>释 生成</a:t>
            </a:r>
            <a:endParaRPr sz="2000" dirty="0">
              <a:latin typeface="Times New Roman" panose="02020603050405020304" pitchFamily="18" charset="0"/>
              <a:cs typeface="宋体"/>
            </a:endParaRPr>
          </a:p>
        </p:txBody>
      </p:sp>
      <p:grpSp>
        <p:nvGrpSpPr>
          <p:cNvPr id="36" name="object 16">
            <a:extLst>
              <a:ext uri="{FF2B5EF4-FFF2-40B4-BE49-F238E27FC236}">
                <a16:creationId xmlns:a16="http://schemas.microsoft.com/office/drawing/2014/main" xmlns="" id="{2520690B-35A2-A09D-B6B9-2D9CA1E4FA70}"/>
              </a:ext>
            </a:extLst>
          </p:cNvPr>
          <p:cNvGrpSpPr/>
          <p:nvPr/>
        </p:nvGrpSpPr>
        <p:grpSpPr>
          <a:xfrm>
            <a:off x="2136964" y="2049681"/>
            <a:ext cx="980204" cy="814069"/>
            <a:chOff x="1858022" y="1833841"/>
            <a:chExt cx="814069" cy="814069"/>
          </a:xfrm>
        </p:grpSpPr>
        <p:pic>
          <p:nvPicPr>
            <p:cNvPr id="37" name="object 17">
              <a:extLst>
                <a:ext uri="{FF2B5EF4-FFF2-40B4-BE49-F238E27FC236}">
                  <a16:creationId xmlns:a16="http://schemas.microsoft.com/office/drawing/2014/main" xmlns="" id="{DF15A8D7-6E40-B60B-6A54-E6032367F0D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8022" y="1833841"/>
              <a:ext cx="814011" cy="814069"/>
            </a:xfrm>
            <a:prstGeom prst="rect">
              <a:avLst/>
            </a:prstGeom>
          </p:spPr>
        </p:pic>
        <p:pic>
          <p:nvPicPr>
            <p:cNvPr id="38" name="object 18">
              <a:extLst>
                <a:ext uri="{FF2B5EF4-FFF2-40B4-BE49-F238E27FC236}">
                  <a16:creationId xmlns:a16="http://schemas.microsoft.com/office/drawing/2014/main" xmlns="" id="{BF0C5A07-B548-588F-9344-36D4E9A5620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7676" y="2063635"/>
              <a:ext cx="354355" cy="3543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9355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AB12A9-6196-1941-9773-F106CCC9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A0C6FB6B-C44E-3EBA-CD68-00081B31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7.2 </a:t>
            </a:r>
            <a:r>
              <a:rPr lang="en-US" altLang="zh-CN" dirty="0" err="1">
                <a:latin typeface="Times New Roman" panose="02020603050405020304" pitchFamily="18" charset="0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</a:rPr>
              <a:t>的功能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xmlns="" id="{A1744FC0-4ECF-7407-8F1C-B3B75DE588A3}"/>
              </a:ext>
            </a:extLst>
          </p:cNvPr>
          <p:cNvSpPr txBox="1">
            <a:spLocks/>
          </p:cNvSpPr>
          <p:nvPr/>
        </p:nvSpPr>
        <p:spPr>
          <a:xfrm>
            <a:off x="146050" y="921409"/>
            <a:ext cx="8604250" cy="59970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可以做什么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——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常规绘图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xmlns="" id="{33986DD0-EDD1-FCC9-5B15-2E4FA6CF9E1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193" y="2081275"/>
            <a:ext cx="9501006" cy="396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83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E99E13-AEB7-D4BB-881F-3B042BDB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xmlns="" id="{214B6016-514A-AC0E-E716-F198940B70A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63989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7.3 </a:t>
            </a:r>
            <a:r>
              <a:rPr lang="en-US" altLang="zh-CN" dirty="0" err="1"/>
              <a:t>DeepSeek</a:t>
            </a:r>
            <a:r>
              <a:rPr lang="zh-CN" altLang="en-US" dirty="0"/>
              <a:t>的技术创新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639366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C232ED-40B6-4C82-3A34-56E8C2D2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xmlns="" id="{0B2A5223-2656-6D24-8719-27A7AECE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D7C84CF8-9719-2705-3048-1BC600A5753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6051" y="921409"/>
            <a:ext cx="5892800" cy="5997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模型迭代及发展历程</a:t>
            </a:r>
          </a:p>
          <a:p>
            <a:pPr marL="0" indent="0">
              <a:buNone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39B6B601-87CD-ADF0-BC9B-42EABA131D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86" b="10041"/>
          <a:stretch/>
        </p:blipFill>
        <p:spPr>
          <a:xfrm>
            <a:off x="0" y="1799276"/>
            <a:ext cx="12192000" cy="300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9543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B50B04-75A0-968E-10CD-FA5FD408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xmlns="" id="{36E318C1-EBF8-9B1A-5396-00E847099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altLang="zh-CN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7F359F52-6300-B6DD-F5B1-3713D38BD145}"/>
              </a:ext>
            </a:extLst>
          </p:cNvPr>
          <p:cNvGrpSpPr/>
          <p:nvPr/>
        </p:nvGrpSpPr>
        <p:grpSpPr>
          <a:xfrm>
            <a:off x="437514" y="819150"/>
            <a:ext cx="11100366" cy="5580711"/>
            <a:chOff x="437514" y="819150"/>
            <a:chExt cx="11100366" cy="5580711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xmlns="" id="{1E2CCC1A-B759-A9D1-74DC-0B87D43247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514" y="819150"/>
              <a:ext cx="11100366" cy="5580711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xmlns="" id="{55B3CEF5-253C-2B55-74F2-66E349B5C839}"/>
                </a:ext>
              </a:extLst>
            </p:cNvPr>
            <p:cNvSpPr/>
            <p:nvPr/>
          </p:nvSpPr>
          <p:spPr>
            <a:xfrm>
              <a:off x="10922000" y="2063750"/>
              <a:ext cx="215900" cy="2159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623315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1938" y="915355"/>
            <a:ext cx="4169410" cy="307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DeepSeek</a:t>
            </a:r>
            <a:r>
              <a:rPr sz="2400" b="1" spc="-5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V3主要创新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ts val="2400"/>
              </a:lnSpc>
              <a:buFont typeface="Courier New"/>
              <a:buChar char="o"/>
              <a:tabLst>
                <a:tab pos="356235" algn="l"/>
              </a:tabLst>
            </a:pP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Infrastructures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356235" algn="l"/>
              </a:tabLst>
            </a:pPr>
            <a:r>
              <a:rPr sz="2000" b="1" spc="-2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Multi-Token</a:t>
            </a:r>
            <a:r>
              <a:rPr sz="20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Prediction</a:t>
            </a:r>
            <a:r>
              <a:rPr sz="2000" b="1" spc="-3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(MTP)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ts val="2390"/>
              </a:lnSpc>
              <a:spcBef>
                <a:spcPts val="890"/>
              </a:spcBef>
            </a:pPr>
            <a:r>
              <a:rPr sz="20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Infrastructures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ts val="2150"/>
              </a:lnSpc>
              <a:buFont typeface="Courier New"/>
              <a:buChar char="o"/>
              <a:tabLst>
                <a:tab pos="355600" algn="l"/>
                <a:tab pos="356235" algn="l"/>
              </a:tabLst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减少流水线气泡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355600" algn="l"/>
                <a:tab pos="356235" algn="l"/>
              </a:tabLst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高效节点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间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-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o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-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通信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ts val="2130"/>
              </a:lnSpc>
              <a:spcBef>
                <a:spcPts val="20"/>
              </a:spcBef>
              <a:buFont typeface="Courier New"/>
              <a:buChar char="o"/>
              <a:tabLst>
                <a:tab pos="355600" algn="l"/>
                <a:tab pos="356235" algn="l"/>
              </a:tabLst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FP8训练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355600" indent="-343535">
              <a:lnSpc>
                <a:spcPts val="2130"/>
              </a:lnSpc>
              <a:buFont typeface="Courier New"/>
              <a:buChar char="o"/>
              <a:tabLst>
                <a:tab pos="355600" algn="l"/>
                <a:tab pos="356235" algn="l"/>
              </a:tabLst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低精度存储与通信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2000" b="1" spc="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MTP：</a:t>
            </a:r>
            <a:r>
              <a:rPr sz="2000" b="1" spc="-5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一</a:t>
            </a:r>
            <a:r>
              <a:rPr sz="2000" b="1" spc="3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次预</a:t>
            </a:r>
            <a:r>
              <a:rPr sz="2000" b="1" spc="-5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测</a:t>
            </a:r>
            <a:r>
              <a:rPr sz="2000" b="1" spc="3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多</a:t>
            </a:r>
            <a:r>
              <a:rPr sz="2000" b="1" spc="-1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个token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2661" y="780227"/>
            <a:ext cx="7372350" cy="58288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468" y="4228580"/>
            <a:ext cx="3584763" cy="15957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0" y="6257925"/>
            <a:ext cx="7821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V3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等线"/>
              </a:rPr>
              <a:t>规模：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671B</a:t>
            </a:r>
            <a:r>
              <a:rPr sz="1800" spc="4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2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total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parameters,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37B</a:t>
            </a:r>
            <a:r>
              <a:rPr sz="1800" spc="4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activated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parameters,</a:t>
            </a:r>
            <a:r>
              <a:rPr sz="1800" spc="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trained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on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14.8T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tokens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xmlns="" id="{8C66D9E3-905F-E219-F879-A468F4879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300" y="88343"/>
            <a:ext cx="87757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的技术创新：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模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型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架构</a:t>
            </a:r>
            <a:r>
              <a:rPr sz="3200" spc="-8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10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35" dirty="0">
                <a:latin typeface="Times New Roman" panose="02020603050405020304" pitchFamily="18" charset="0"/>
                <a:ea typeface="楷体" panose="02010609060101010101" pitchFamily="49" charset="-122"/>
              </a:rPr>
              <a:t>V</a:t>
            </a:r>
            <a:r>
              <a:rPr lang="en-US" sz="3200" spc="35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endParaRPr sz="3200" spc="35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913001" y="5624512"/>
            <a:ext cx="8175625" cy="546100"/>
            <a:chOff x="1951101" y="6075362"/>
            <a:chExt cx="8175625" cy="546100"/>
          </a:xfrm>
        </p:grpSpPr>
        <p:sp>
          <p:nvSpPr>
            <p:cNvPr id="4" name="object 4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8074025" y="0"/>
                  </a:moveTo>
                  <a:lnTo>
                    <a:pt x="88773" y="0"/>
                  </a:lnTo>
                  <a:lnTo>
                    <a:pt x="54221" y="6986"/>
                  </a:lnTo>
                  <a:lnTo>
                    <a:pt x="26003" y="26038"/>
                  </a:lnTo>
                  <a:lnTo>
                    <a:pt x="6977" y="54296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7" y="479103"/>
                  </a:lnTo>
                  <a:lnTo>
                    <a:pt x="26003" y="507361"/>
                  </a:lnTo>
                  <a:lnTo>
                    <a:pt x="54221" y="526413"/>
                  </a:lnTo>
                  <a:lnTo>
                    <a:pt x="88773" y="533400"/>
                  </a:lnTo>
                  <a:lnTo>
                    <a:pt x="8074025" y="533400"/>
                  </a:lnTo>
                  <a:lnTo>
                    <a:pt x="8108596" y="526413"/>
                  </a:lnTo>
                  <a:lnTo>
                    <a:pt x="8136858" y="507361"/>
                  </a:lnTo>
                  <a:lnTo>
                    <a:pt x="8155928" y="479103"/>
                  </a:lnTo>
                  <a:lnTo>
                    <a:pt x="8162925" y="444500"/>
                  </a:lnTo>
                  <a:lnTo>
                    <a:pt x="8162925" y="88900"/>
                  </a:lnTo>
                  <a:lnTo>
                    <a:pt x="8155928" y="54296"/>
                  </a:lnTo>
                  <a:lnTo>
                    <a:pt x="8136858" y="26038"/>
                  </a:lnTo>
                  <a:lnTo>
                    <a:pt x="8108596" y="6986"/>
                  </a:lnTo>
                  <a:lnTo>
                    <a:pt x="8074025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0" y="88900"/>
                  </a:moveTo>
                  <a:lnTo>
                    <a:pt x="6977" y="54296"/>
                  </a:lnTo>
                  <a:lnTo>
                    <a:pt x="26003" y="26038"/>
                  </a:lnTo>
                  <a:lnTo>
                    <a:pt x="54221" y="6986"/>
                  </a:lnTo>
                  <a:lnTo>
                    <a:pt x="88773" y="0"/>
                  </a:lnTo>
                  <a:lnTo>
                    <a:pt x="8074025" y="0"/>
                  </a:lnTo>
                  <a:lnTo>
                    <a:pt x="8108596" y="6986"/>
                  </a:lnTo>
                  <a:lnTo>
                    <a:pt x="8136858" y="26038"/>
                  </a:lnTo>
                  <a:lnTo>
                    <a:pt x="8155928" y="54296"/>
                  </a:lnTo>
                  <a:lnTo>
                    <a:pt x="8162925" y="88900"/>
                  </a:lnTo>
                  <a:lnTo>
                    <a:pt x="8162925" y="444500"/>
                  </a:lnTo>
                  <a:lnTo>
                    <a:pt x="8155928" y="479103"/>
                  </a:lnTo>
                  <a:lnTo>
                    <a:pt x="8136858" y="507361"/>
                  </a:lnTo>
                  <a:lnTo>
                    <a:pt x="8108596" y="526413"/>
                  </a:lnTo>
                  <a:lnTo>
                    <a:pt x="8074025" y="533400"/>
                  </a:lnTo>
                  <a:lnTo>
                    <a:pt x="88773" y="533400"/>
                  </a:lnTo>
                  <a:lnTo>
                    <a:pt x="54221" y="526413"/>
                  </a:lnTo>
                  <a:lnTo>
                    <a:pt x="26003" y="507361"/>
                  </a:lnTo>
                  <a:lnTo>
                    <a:pt x="6977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62157" y="5706163"/>
            <a:ext cx="306768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C00000"/>
                </a:solidFill>
                <a:latin typeface="微软雅黑"/>
                <a:cs typeface="微软雅黑"/>
              </a:rPr>
              <a:t>杀手锏：性</a:t>
            </a:r>
            <a:r>
              <a:rPr sz="2400" b="1" spc="5" dirty="0">
                <a:solidFill>
                  <a:srgbClr val="C00000"/>
                </a:solidFill>
                <a:latin typeface="微软雅黑"/>
                <a:cs typeface="微软雅黑"/>
              </a:rPr>
              <a:t>能</a:t>
            </a:r>
            <a:r>
              <a:rPr sz="2400" b="1" dirty="0">
                <a:solidFill>
                  <a:srgbClr val="C00000"/>
                </a:solidFill>
                <a:latin typeface="微软雅黑"/>
                <a:cs typeface="微软雅黑"/>
              </a:rPr>
              <a:t>/</a:t>
            </a:r>
            <a:r>
              <a:rPr sz="2400" b="1" dirty="0" err="1">
                <a:solidFill>
                  <a:srgbClr val="C00000"/>
                </a:solidFill>
                <a:latin typeface="微软雅黑"/>
                <a:cs typeface="微软雅黑"/>
              </a:rPr>
              <a:t>成</a:t>
            </a:r>
            <a:r>
              <a:rPr sz="2400" b="1" spc="5" dirty="0" err="1">
                <a:solidFill>
                  <a:srgbClr val="C00000"/>
                </a:solidFill>
                <a:latin typeface="微软雅黑"/>
                <a:cs typeface="微软雅黑"/>
              </a:rPr>
              <a:t>本</a:t>
            </a:r>
            <a:r>
              <a:rPr sz="2400" b="1" spc="-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en-US" sz="2400" b="1" spc="-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endParaRPr sz="2400" dirty="0">
              <a:solidFill>
                <a:srgbClr val="C00000"/>
              </a:solidFill>
              <a:latin typeface="微软雅黑"/>
              <a:cs typeface="微软雅黑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0725" y="977900"/>
            <a:ext cx="8083510" cy="415290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xmlns="" id="{6947C399-9652-D843-466F-963EDEE2EF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300" y="88343"/>
            <a:ext cx="87757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的技术创新：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模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型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架构</a:t>
            </a:r>
            <a:r>
              <a:rPr sz="3200" spc="-8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10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35" dirty="0">
                <a:latin typeface="Times New Roman" panose="02020603050405020304" pitchFamily="18" charset="0"/>
                <a:ea typeface="楷体" panose="02010609060101010101" pitchFamily="49" charset="-122"/>
              </a:rPr>
              <a:t>V</a:t>
            </a:r>
            <a:r>
              <a:rPr lang="en-US" sz="3200" spc="35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endParaRPr sz="3200" spc="35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zh-CN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altLang="zh-CN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的技术创新： </a:t>
            </a:r>
            <a:r>
              <a:rPr sz="3200" spc="30" dirty="0">
                <a:latin typeface="Times New Roman" panose="02020603050405020304" pitchFamily="18" charset="0"/>
              </a:rPr>
              <a:t>模</a:t>
            </a:r>
            <a:r>
              <a:rPr sz="3200" spc="-55" dirty="0">
                <a:latin typeface="Times New Roman" panose="02020603050405020304" pitchFamily="18" charset="0"/>
              </a:rPr>
              <a:t>型</a:t>
            </a:r>
            <a:r>
              <a:rPr sz="3200" spc="30" dirty="0">
                <a:latin typeface="Times New Roman" panose="02020603050405020304" pitchFamily="18" charset="0"/>
              </a:rPr>
              <a:t>架构</a:t>
            </a:r>
            <a:r>
              <a:rPr sz="3200" spc="-80" dirty="0">
                <a:latin typeface="Times New Roman" panose="02020603050405020304" pitchFamily="18" charset="0"/>
              </a:rPr>
              <a:t> </a:t>
            </a:r>
            <a:r>
              <a:rPr sz="3200" spc="10" dirty="0">
                <a:latin typeface="Times New Roman" panose="02020603050405020304" pitchFamily="18" charset="0"/>
              </a:rPr>
              <a:t>|</a:t>
            </a:r>
            <a:r>
              <a:rPr sz="3200" spc="-60" dirty="0">
                <a:latin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</a:rPr>
              <a:t>V3</a:t>
            </a:r>
            <a:r>
              <a:rPr sz="3200" spc="25" dirty="0">
                <a:latin typeface="Times New Roman" panose="02020603050405020304" pitchFamily="18" charset="0"/>
              </a:rPr>
              <a:t>成本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43151" y="5961380"/>
            <a:ext cx="8175625" cy="546100"/>
            <a:chOff x="1951101" y="6075362"/>
            <a:chExt cx="8175625" cy="546100"/>
          </a:xfrm>
        </p:grpSpPr>
        <p:sp>
          <p:nvSpPr>
            <p:cNvPr id="4" name="object 4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8074025" y="0"/>
                  </a:moveTo>
                  <a:lnTo>
                    <a:pt x="88773" y="0"/>
                  </a:lnTo>
                  <a:lnTo>
                    <a:pt x="54221" y="6986"/>
                  </a:lnTo>
                  <a:lnTo>
                    <a:pt x="26003" y="26038"/>
                  </a:lnTo>
                  <a:lnTo>
                    <a:pt x="6977" y="54296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7" y="479103"/>
                  </a:lnTo>
                  <a:lnTo>
                    <a:pt x="26003" y="507361"/>
                  </a:lnTo>
                  <a:lnTo>
                    <a:pt x="54221" y="526413"/>
                  </a:lnTo>
                  <a:lnTo>
                    <a:pt x="88773" y="533400"/>
                  </a:lnTo>
                  <a:lnTo>
                    <a:pt x="8074025" y="533400"/>
                  </a:lnTo>
                  <a:lnTo>
                    <a:pt x="8108596" y="526413"/>
                  </a:lnTo>
                  <a:lnTo>
                    <a:pt x="8136858" y="507361"/>
                  </a:lnTo>
                  <a:lnTo>
                    <a:pt x="8155928" y="479103"/>
                  </a:lnTo>
                  <a:lnTo>
                    <a:pt x="8162925" y="444500"/>
                  </a:lnTo>
                  <a:lnTo>
                    <a:pt x="8162925" y="88900"/>
                  </a:lnTo>
                  <a:lnTo>
                    <a:pt x="8155928" y="54296"/>
                  </a:lnTo>
                  <a:lnTo>
                    <a:pt x="8136858" y="26038"/>
                  </a:lnTo>
                  <a:lnTo>
                    <a:pt x="8108596" y="6986"/>
                  </a:lnTo>
                  <a:lnTo>
                    <a:pt x="8074025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0" y="88900"/>
                  </a:moveTo>
                  <a:lnTo>
                    <a:pt x="6977" y="54296"/>
                  </a:lnTo>
                  <a:lnTo>
                    <a:pt x="26003" y="26038"/>
                  </a:lnTo>
                  <a:lnTo>
                    <a:pt x="54221" y="6986"/>
                  </a:lnTo>
                  <a:lnTo>
                    <a:pt x="88773" y="0"/>
                  </a:lnTo>
                  <a:lnTo>
                    <a:pt x="8074025" y="0"/>
                  </a:lnTo>
                  <a:lnTo>
                    <a:pt x="8108596" y="6986"/>
                  </a:lnTo>
                  <a:lnTo>
                    <a:pt x="8136858" y="26038"/>
                  </a:lnTo>
                  <a:lnTo>
                    <a:pt x="8155928" y="54296"/>
                  </a:lnTo>
                  <a:lnTo>
                    <a:pt x="8162925" y="88900"/>
                  </a:lnTo>
                  <a:lnTo>
                    <a:pt x="8162925" y="444500"/>
                  </a:lnTo>
                  <a:lnTo>
                    <a:pt x="8155928" y="479103"/>
                  </a:lnTo>
                  <a:lnTo>
                    <a:pt x="8136858" y="507361"/>
                  </a:lnTo>
                  <a:lnTo>
                    <a:pt x="8108596" y="526413"/>
                  </a:lnTo>
                  <a:lnTo>
                    <a:pt x="8074025" y="533400"/>
                  </a:lnTo>
                  <a:lnTo>
                    <a:pt x="88773" y="533400"/>
                  </a:lnTo>
                  <a:lnTo>
                    <a:pt x="54221" y="526413"/>
                  </a:lnTo>
                  <a:lnTo>
                    <a:pt x="26003" y="507361"/>
                  </a:lnTo>
                  <a:lnTo>
                    <a:pt x="6977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</a:endParaRPr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0" y="850900"/>
            <a:ext cx="10547350" cy="1765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9154" y="2670968"/>
            <a:ext cx="10817226" cy="83439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5" dirty="0">
                <a:latin typeface="Times New Roman" panose="02020603050405020304" pitchFamily="18" charset="0"/>
                <a:cs typeface="Calibri"/>
              </a:rPr>
              <a:t>During</a:t>
            </a:r>
            <a:r>
              <a:rPr sz="1800" spc="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5" dirty="0">
                <a:latin typeface="Times New Roman" panose="02020603050405020304" pitchFamily="18" charset="0"/>
                <a:cs typeface="Calibri"/>
              </a:rPr>
              <a:t>the</a:t>
            </a:r>
            <a:r>
              <a:rPr sz="1800" spc="-2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Calibri"/>
              </a:rPr>
              <a:t>pre-training</a:t>
            </a:r>
            <a:r>
              <a:rPr sz="1800" spc="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30" dirty="0">
                <a:latin typeface="Times New Roman" panose="02020603050405020304" pitchFamily="18" charset="0"/>
                <a:cs typeface="Calibri"/>
              </a:rPr>
              <a:t>state,</a:t>
            </a:r>
            <a:r>
              <a:rPr sz="1800" spc="5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5" dirty="0">
                <a:latin typeface="Times New Roman" panose="02020603050405020304" pitchFamily="18" charset="0"/>
                <a:cs typeface="Calibri"/>
              </a:rPr>
              <a:t>training</a:t>
            </a:r>
            <a:r>
              <a:rPr sz="1800" spc="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5" dirty="0">
                <a:latin typeface="Times New Roman" panose="02020603050405020304" pitchFamily="18" charset="0"/>
                <a:cs typeface="Calibri"/>
              </a:rPr>
              <a:t>DeepSeek-V3</a:t>
            </a:r>
            <a:r>
              <a:rPr sz="1800" spc="-4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10" dirty="0">
                <a:latin typeface="Times New Roman" panose="02020603050405020304" pitchFamily="18" charset="0"/>
                <a:cs typeface="Calibri"/>
              </a:rPr>
              <a:t>on</a:t>
            </a:r>
            <a:r>
              <a:rPr sz="180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5" dirty="0">
                <a:latin typeface="Times New Roman" panose="02020603050405020304" pitchFamily="18" charset="0"/>
                <a:cs typeface="Calibri"/>
              </a:rPr>
              <a:t>each</a:t>
            </a:r>
            <a:r>
              <a:rPr sz="180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cs typeface="Calibri"/>
              </a:rPr>
              <a:t>trillion</a:t>
            </a:r>
            <a:r>
              <a:rPr sz="180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Calibri"/>
              </a:rPr>
              <a:t>tokens</a:t>
            </a:r>
            <a:r>
              <a:rPr sz="1800" spc="2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requires</a:t>
            </a:r>
            <a:r>
              <a:rPr sz="1800" spc="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dirty="0">
                <a:latin typeface="Times New Roman" panose="02020603050405020304" pitchFamily="18" charset="0"/>
                <a:cs typeface="Calibri"/>
              </a:rPr>
              <a:t>only</a:t>
            </a:r>
            <a:r>
              <a:rPr sz="1800" spc="-1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5" dirty="0">
                <a:latin typeface="Times New Roman" panose="02020603050405020304" pitchFamily="18" charset="0"/>
                <a:cs typeface="Calibri"/>
              </a:rPr>
              <a:t>180K</a:t>
            </a:r>
            <a:r>
              <a:rPr sz="1800" spc="1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H800</a:t>
            </a:r>
            <a:r>
              <a:rPr sz="1800" spc="4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Calibri"/>
              </a:rPr>
              <a:t>GPU</a:t>
            </a:r>
            <a:r>
              <a:rPr sz="1800" spc="2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5" dirty="0">
                <a:latin typeface="Times New Roman" panose="02020603050405020304" pitchFamily="18" charset="0"/>
                <a:cs typeface="Calibri"/>
              </a:rPr>
              <a:t>hours,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dirty="0">
                <a:latin typeface="Times New Roman" panose="02020603050405020304" pitchFamily="18" charset="0"/>
                <a:cs typeface="Calibri"/>
              </a:rPr>
              <a:t>i.e.,</a:t>
            </a:r>
            <a:r>
              <a:rPr sz="1800" spc="-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3.7</a:t>
            </a:r>
            <a:r>
              <a:rPr sz="18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days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on</a:t>
            </a:r>
            <a:r>
              <a:rPr sz="1800" b="1" spc="5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our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own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cluster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with</a:t>
            </a:r>
            <a:r>
              <a:rPr sz="1800" b="1" spc="55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2048</a:t>
            </a:r>
            <a:r>
              <a:rPr sz="1800" b="1" spc="3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H800</a:t>
            </a:r>
            <a:r>
              <a:rPr sz="1800" b="1" spc="3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Times New Roman" panose="02020603050405020304" pitchFamily="18" charset="0"/>
                <a:cs typeface="Calibri"/>
              </a:rPr>
              <a:t>GPUs</a:t>
            </a:r>
            <a:r>
              <a:rPr sz="1800" spc="10" dirty="0">
                <a:latin typeface="Times New Roman" panose="02020603050405020304" pitchFamily="18" charset="0"/>
                <a:cs typeface="Calibri"/>
              </a:rPr>
              <a:t>.</a:t>
            </a:r>
            <a:r>
              <a:rPr sz="1800" spc="5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5" dirty="0">
                <a:latin typeface="Times New Roman" panose="02020603050405020304" pitchFamily="18" charset="0"/>
                <a:cs typeface="Calibri"/>
              </a:rPr>
              <a:t>Consequently,</a:t>
            </a:r>
            <a:r>
              <a:rPr sz="1800" spc="5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our</a:t>
            </a:r>
            <a:r>
              <a:rPr sz="1800" spc="2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pre-training</a:t>
            </a:r>
            <a:r>
              <a:rPr sz="1800" spc="3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Calibri"/>
              </a:rPr>
              <a:t>stage </a:t>
            </a:r>
            <a:r>
              <a:rPr sz="1800" spc="15" dirty="0">
                <a:latin typeface="Times New Roman" panose="02020603050405020304" pitchFamily="18" charset="0"/>
                <a:cs typeface="Calibri"/>
              </a:rPr>
              <a:t>is </a:t>
            </a:r>
            <a:r>
              <a:rPr sz="1800" spc="-10" dirty="0">
                <a:latin typeface="Times New Roman" panose="02020603050405020304" pitchFamily="18" charset="0"/>
                <a:cs typeface="Calibri"/>
              </a:rPr>
              <a:t>completed</a:t>
            </a:r>
            <a:r>
              <a:rPr sz="1800" spc="25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dirty="0">
                <a:latin typeface="Times New Roman" panose="02020603050405020304" pitchFamily="18" charset="0"/>
                <a:cs typeface="Calibri"/>
              </a:rPr>
              <a:t>in</a:t>
            </a:r>
            <a:r>
              <a:rPr sz="1800" b="1" spc="-20" dirty="0">
                <a:latin typeface="Times New Roman" panose="02020603050405020304" pitchFamily="18" charset="0"/>
                <a:cs typeface="Calibri"/>
              </a:rPr>
              <a:t> </a:t>
            </a:r>
            <a:r>
              <a:rPr sz="1800" b="1" spc="5" dirty="0">
                <a:latin typeface="Times New Roman" panose="02020603050405020304" pitchFamily="18" charset="0"/>
                <a:cs typeface="Calibri"/>
              </a:rPr>
              <a:t>less</a:t>
            </a:r>
            <a:r>
              <a:rPr lang="en-US" sz="1800" b="1" spc="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b="1" spc="-5" dirty="0">
                <a:latin typeface="Times New Roman" panose="02020603050405020304" pitchFamily="18" charset="0"/>
                <a:cs typeface="Calibri"/>
              </a:rPr>
              <a:t>than</a:t>
            </a:r>
            <a:r>
              <a:rPr lang="en-US" altLang="zh-CN" sz="1800" b="1" spc="-3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b="1" spc="-10" dirty="0">
                <a:latin typeface="Times New Roman" panose="02020603050405020304" pitchFamily="18" charset="0"/>
                <a:cs typeface="Calibri"/>
              </a:rPr>
              <a:t>two</a:t>
            </a:r>
            <a:r>
              <a:rPr lang="en-US" altLang="zh-CN" sz="1800" b="1" spc="4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b="1" spc="-10" dirty="0">
                <a:latin typeface="Times New Roman" panose="02020603050405020304" pitchFamily="18" charset="0"/>
                <a:cs typeface="Calibri"/>
              </a:rPr>
              <a:t>months</a:t>
            </a:r>
            <a:r>
              <a:rPr lang="en-US" altLang="zh-CN" sz="1800" b="1" spc="-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spc="-5" dirty="0">
                <a:latin typeface="Times New Roman" panose="02020603050405020304" pitchFamily="18" charset="0"/>
                <a:cs typeface="Calibri"/>
              </a:rPr>
              <a:t>and costs</a:t>
            </a:r>
            <a:r>
              <a:rPr lang="en-US" altLang="zh-CN" sz="1800" spc="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Calibri"/>
              </a:rPr>
              <a:t>2664K</a:t>
            </a:r>
            <a:r>
              <a:rPr lang="en-US" altLang="zh-CN" sz="1800" spc="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spc="-15" dirty="0">
                <a:latin typeface="Times New Roman" panose="02020603050405020304" pitchFamily="18" charset="0"/>
                <a:cs typeface="Calibri"/>
              </a:rPr>
              <a:t>GPU</a:t>
            </a:r>
            <a:r>
              <a:rPr lang="en-US" altLang="zh-CN" sz="1800" spc="5" dirty="0">
                <a:latin typeface="Times New Roman" panose="02020603050405020304" pitchFamily="18" charset="0"/>
                <a:cs typeface="Calibri"/>
              </a:rPr>
              <a:t> </a:t>
            </a:r>
            <a:r>
              <a:rPr lang="en-US" altLang="zh-CN" sz="1800" spc="-10" dirty="0">
                <a:latin typeface="Times New Roman" panose="02020603050405020304" pitchFamily="18" charset="0"/>
                <a:cs typeface="Calibri"/>
              </a:rPr>
              <a:t>hours.</a:t>
            </a:r>
            <a:endParaRPr lang="en-US" altLang="zh-CN" sz="1800" dirty="0">
              <a:latin typeface="Times New Roman" panose="02020603050405020304" pitchFamily="18" charset="0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383" y="3634280"/>
            <a:ext cx="5991225" cy="196215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154926" y="4281551"/>
            <a:ext cx="400050" cy="1219200"/>
          </a:xfrm>
          <a:custGeom>
            <a:avLst/>
            <a:gdLst/>
            <a:ahLst/>
            <a:cxnLst/>
            <a:rect l="l" t="t" r="r" b="b"/>
            <a:pathLst>
              <a:path w="400050" h="1219200">
                <a:moveTo>
                  <a:pt x="400050" y="1219136"/>
                </a:moveTo>
                <a:lnTo>
                  <a:pt x="322163" y="1216517"/>
                </a:lnTo>
                <a:lnTo>
                  <a:pt x="258540" y="1209373"/>
                </a:lnTo>
                <a:lnTo>
                  <a:pt x="215634" y="1198776"/>
                </a:lnTo>
                <a:lnTo>
                  <a:pt x="199898" y="1185799"/>
                </a:lnTo>
                <a:lnTo>
                  <a:pt x="200025" y="642874"/>
                </a:lnTo>
                <a:lnTo>
                  <a:pt x="184290" y="629906"/>
                </a:lnTo>
                <a:lnTo>
                  <a:pt x="141398" y="619331"/>
                </a:lnTo>
                <a:lnTo>
                  <a:pt x="77813" y="612209"/>
                </a:lnTo>
                <a:lnTo>
                  <a:pt x="0" y="609600"/>
                </a:lnTo>
                <a:lnTo>
                  <a:pt x="77813" y="606970"/>
                </a:lnTo>
                <a:lnTo>
                  <a:pt x="141398" y="599805"/>
                </a:lnTo>
                <a:lnTo>
                  <a:pt x="184290" y="589186"/>
                </a:lnTo>
                <a:lnTo>
                  <a:pt x="200025" y="576199"/>
                </a:lnTo>
                <a:lnTo>
                  <a:pt x="200025" y="33274"/>
                </a:lnTo>
                <a:lnTo>
                  <a:pt x="215741" y="20306"/>
                </a:lnTo>
                <a:lnTo>
                  <a:pt x="258603" y="9731"/>
                </a:lnTo>
                <a:lnTo>
                  <a:pt x="322183" y="2609"/>
                </a:lnTo>
                <a:lnTo>
                  <a:pt x="4000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0990" y="4735131"/>
            <a:ext cx="4832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成本</a:t>
            </a:r>
            <a:endParaRPr sz="1800">
              <a:latin typeface="Times New Roman" panose="02020603050405020304" pitchFamily="18" charset="0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5926" y="4125912"/>
            <a:ext cx="1625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微软雅黑"/>
              </a:rPr>
              <a:t>大模型研发成本</a:t>
            </a:r>
            <a:endParaRPr sz="1800">
              <a:latin typeface="Times New Roman" panose="02020603050405020304" pitchFamily="18" charset="0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9507" y="5415390"/>
            <a:ext cx="5942965" cy="49757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72229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cs typeface="微软雅黑"/>
              </a:rPr>
              <a:t>大模型部署推理成本</a:t>
            </a:r>
            <a:endParaRPr sz="1800" dirty="0">
              <a:latin typeface="Times New Roman" panose="02020603050405020304" pitchFamily="18" charset="0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 dirty="0">
              <a:latin typeface="Times New Roman" panose="02020603050405020304" pitchFamily="18" charset="0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93276" y="3481451"/>
            <a:ext cx="304800" cy="1581150"/>
          </a:xfrm>
          <a:custGeom>
            <a:avLst/>
            <a:gdLst/>
            <a:ahLst/>
            <a:cxnLst/>
            <a:rect l="l" t="t" r="r" b="b"/>
            <a:pathLst>
              <a:path w="304800" h="1581150">
                <a:moveTo>
                  <a:pt x="304800" y="1581150"/>
                </a:moveTo>
                <a:lnTo>
                  <a:pt x="245445" y="1579145"/>
                </a:lnTo>
                <a:lnTo>
                  <a:pt x="196961" y="1573688"/>
                </a:lnTo>
                <a:lnTo>
                  <a:pt x="164264" y="1565612"/>
                </a:lnTo>
                <a:lnTo>
                  <a:pt x="152273" y="1555750"/>
                </a:lnTo>
                <a:lnTo>
                  <a:pt x="152400" y="815848"/>
                </a:lnTo>
                <a:lnTo>
                  <a:pt x="140410" y="806005"/>
                </a:lnTo>
                <a:lnTo>
                  <a:pt x="107727" y="797972"/>
                </a:lnTo>
                <a:lnTo>
                  <a:pt x="59281" y="792559"/>
                </a:lnTo>
                <a:lnTo>
                  <a:pt x="0" y="790575"/>
                </a:lnTo>
                <a:lnTo>
                  <a:pt x="59281" y="788570"/>
                </a:lnTo>
                <a:lnTo>
                  <a:pt x="107727" y="783113"/>
                </a:lnTo>
                <a:lnTo>
                  <a:pt x="140410" y="775037"/>
                </a:lnTo>
                <a:lnTo>
                  <a:pt x="152400" y="765175"/>
                </a:lnTo>
                <a:lnTo>
                  <a:pt x="152400" y="25273"/>
                </a:lnTo>
                <a:lnTo>
                  <a:pt x="164371" y="15430"/>
                </a:lnTo>
                <a:lnTo>
                  <a:pt x="197024" y="7397"/>
                </a:lnTo>
                <a:lnTo>
                  <a:pt x="245465" y="1984"/>
                </a:lnTo>
                <a:lnTo>
                  <a:pt x="30480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24365" y="3347402"/>
            <a:ext cx="2543810" cy="193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大规模高性能加速器</a:t>
            </a:r>
            <a:endParaRPr sz="1800">
              <a:latin typeface="Times New Roman" panose="02020603050405020304" pitchFamily="18" charset="0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（折旧）</a:t>
            </a:r>
            <a:endParaRPr sz="1800">
              <a:latin typeface="Times New Roman" panose="02020603050405020304" pitchFamily="18" charset="0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大模型研发人员成本</a:t>
            </a:r>
            <a:endParaRPr sz="1800">
              <a:latin typeface="Times New Roman" panose="02020603050405020304" pitchFamily="18" charset="0"/>
              <a:cs typeface="微软雅黑"/>
            </a:endParaRPr>
          </a:p>
          <a:p>
            <a:pPr marL="12700" marR="5080">
              <a:lnSpc>
                <a:spcPct val="123700"/>
              </a:lnSpc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大模型架构技术探索成本 大模型数据成本</a:t>
            </a:r>
            <a:endParaRPr sz="1800">
              <a:latin typeface="Times New Roman" panose="02020603050405020304" pitchFamily="18" charset="0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00" dirty="0">
                <a:latin typeface="Times New Roman" panose="02020603050405020304" pitchFamily="18" charset="0"/>
                <a:cs typeface="微软雅黑"/>
              </a:rPr>
              <a:t>大模型最终训练成本</a:t>
            </a:r>
            <a:endParaRPr sz="1800">
              <a:latin typeface="Times New Roman" panose="02020603050405020304" pitchFamily="18" charset="0"/>
              <a:cs typeface="微软雅黑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xmlns="" id="{64E83162-61B7-6C8F-8AC4-E9C5987E56D8}"/>
              </a:ext>
            </a:extLst>
          </p:cNvPr>
          <p:cNvSpPr txBox="1"/>
          <p:nvPr/>
        </p:nvSpPr>
        <p:spPr>
          <a:xfrm>
            <a:off x="4619307" y="6047233"/>
            <a:ext cx="306768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杀手锏：性</a:t>
            </a:r>
            <a:r>
              <a:rPr sz="2400" b="1" spc="5" dirty="0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能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/</a:t>
            </a:r>
            <a:r>
              <a:rPr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成</a:t>
            </a:r>
            <a:r>
              <a:rPr sz="2400" b="1" spc="5" dirty="0" err="1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本</a:t>
            </a:r>
            <a:r>
              <a:rPr sz="24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 </a:t>
            </a:r>
            <a:r>
              <a:rPr lang="en-US" sz="24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微软雅黑"/>
              </a:rPr>
              <a:t> </a:t>
            </a:r>
            <a:endParaRPr sz="2400" dirty="0">
              <a:solidFill>
                <a:srgbClr val="C00000"/>
              </a:solidFill>
              <a:latin typeface="Times New Roman" panose="02020603050405020304" pitchFamily="18" charset="0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7.3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的技术创新：</a:t>
            </a:r>
            <a:r>
              <a:rPr sz="3200" spc="30" dirty="0"/>
              <a:t>推</a:t>
            </a:r>
            <a:r>
              <a:rPr sz="3200" spc="-55" dirty="0"/>
              <a:t>理</a:t>
            </a:r>
            <a:r>
              <a:rPr sz="3200" spc="30" dirty="0"/>
              <a:t>模型</a:t>
            </a:r>
            <a:r>
              <a:rPr sz="3200" spc="-75" dirty="0"/>
              <a:t> </a:t>
            </a:r>
            <a:r>
              <a:rPr sz="3200" spc="10" dirty="0"/>
              <a:t>|</a:t>
            </a:r>
            <a:r>
              <a:rPr sz="3200" spc="-55" dirty="0"/>
              <a:t> </a:t>
            </a:r>
            <a:r>
              <a:rPr sz="3200" spc="10" dirty="0"/>
              <a:t>R1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xmlns="" id="{448554A4-1EE9-3454-CFF2-4462804ACB21}"/>
              </a:ext>
            </a:extLst>
          </p:cNvPr>
          <p:cNvGrpSpPr/>
          <p:nvPr/>
        </p:nvGrpSpPr>
        <p:grpSpPr>
          <a:xfrm>
            <a:off x="55880" y="1138055"/>
            <a:ext cx="12343765" cy="4862195"/>
            <a:chOff x="11430" y="1169805"/>
            <a:chExt cx="12343765" cy="4862195"/>
          </a:xfrm>
        </p:grpSpPr>
        <p:sp>
          <p:nvSpPr>
            <p:cNvPr id="4" name="爆炸形 1 49">
              <a:extLst>
                <a:ext uri="{FF2B5EF4-FFF2-40B4-BE49-F238E27FC236}">
                  <a16:creationId xmlns:a16="http://schemas.microsoft.com/office/drawing/2014/main" xmlns="" id="{46F1B326-8CA8-23C4-8B46-01A0DAC4839B}"/>
                </a:ext>
              </a:extLst>
            </p:cNvPr>
            <p:cNvSpPr/>
            <p:nvPr/>
          </p:nvSpPr>
          <p:spPr>
            <a:xfrm>
              <a:off x="4230370" y="1357130"/>
              <a:ext cx="2156460" cy="1866900"/>
            </a:xfrm>
            <a:prstGeom prst="irregularSeal1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xmlns="" id="{DB2B3E77-1410-E241-6306-8D8286127073}"/>
                </a:ext>
              </a:extLst>
            </p:cNvPr>
            <p:cNvGrpSpPr/>
            <p:nvPr/>
          </p:nvGrpSpPr>
          <p:grpSpPr>
            <a:xfrm>
              <a:off x="2360295" y="1881005"/>
              <a:ext cx="1502410" cy="937895"/>
              <a:chOff x="664" y="3680"/>
              <a:chExt cx="2366" cy="1477"/>
            </a:xfrm>
            <a:solidFill>
              <a:srgbClr val="0E7FB7"/>
            </a:solidFill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xmlns="" id="{28694AF6-4F42-4B3C-0834-0983C4D8ECD8}"/>
                  </a:ext>
                </a:extLst>
              </p:cNvPr>
              <p:cNvSpPr/>
              <p:nvPr/>
            </p:nvSpPr>
            <p:spPr>
              <a:xfrm>
                <a:off x="664" y="3680"/>
                <a:ext cx="2035" cy="97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xmlns="" id="{0F6EE4E8-6D00-FAA1-A646-044DADB08E83}"/>
                  </a:ext>
                </a:extLst>
              </p:cNvPr>
              <p:cNvSpPr/>
              <p:nvPr/>
            </p:nvSpPr>
            <p:spPr>
              <a:xfrm>
                <a:off x="814" y="3837"/>
                <a:ext cx="2035" cy="98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xmlns="" id="{C03A5603-D09C-945A-E8F1-CEBA4806E548}"/>
                  </a:ext>
                </a:extLst>
              </p:cNvPr>
              <p:cNvSpPr/>
              <p:nvPr/>
            </p:nvSpPr>
            <p:spPr>
              <a:xfrm>
                <a:off x="1028" y="4033"/>
                <a:ext cx="2003" cy="112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大模型</a:t>
                </a:r>
              </a:p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预训练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xmlns="" id="{D8F3CEE0-8714-3222-8B6D-6DEC2CCB1449}"/>
                </a:ext>
              </a:extLst>
            </p:cNvPr>
            <p:cNvSpPr txBox="1"/>
            <p:nvPr/>
          </p:nvSpPr>
          <p:spPr>
            <a:xfrm>
              <a:off x="803910" y="1256800"/>
              <a:ext cx="24517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传统模型训练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ECEC5F32-2F7A-E1BF-F698-26C0650643B9}"/>
                </a:ext>
              </a:extLst>
            </p:cNvPr>
            <p:cNvSpPr txBox="1"/>
            <p:nvPr/>
          </p:nvSpPr>
          <p:spPr>
            <a:xfrm>
              <a:off x="81280" y="2028325"/>
              <a:ext cx="1393825" cy="101566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大规模无标注文本数据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xmlns="" id="{32CD1BD0-4463-6B4E-B327-7ED409E3DA27}"/>
                </a:ext>
              </a:extLst>
            </p:cNvPr>
            <p:cNvCxnSpPr/>
            <p:nvPr/>
          </p:nvCxnSpPr>
          <p:spPr>
            <a:xfrm>
              <a:off x="1532890" y="2350905"/>
              <a:ext cx="768985" cy="44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xmlns="" id="{7812960D-7417-4334-B162-6956130240B7}"/>
                </a:ext>
              </a:extLst>
            </p:cNvPr>
            <p:cNvGrpSpPr/>
            <p:nvPr/>
          </p:nvGrpSpPr>
          <p:grpSpPr>
            <a:xfrm>
              <a:off x="2360295" y="3436755"/>
              <a:ext cx="1502410" cy="937895"/>
              <a:chOff x="664" y="3680"/>
              <a:chExt cx="2366" cy="1477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xmlns="" id="{61C1FD71-4943-0229-7FFB-FF09A1ADFD7A}"/>
                  </a:ext>
                </a:extLst>
              </p:cNvPr>
              <p:cNvSpPr/>
              <p:nvPr/>
            </p:nvSpPr>
            <p:spPr>
              <a:xfrm>
                <a:off x="664" y="3680"/>
                <a:ext cx="2035" cy="974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="" id="{D5F6E570-1038-7512-8023-FCEA8E5653EF}"/>
                  </a:ext>
                </a:extLst>
              </p:cNvPr>
              <p:cNvSpPr/>
              <p:nvPr/>
            </p:nvSpPr>
            <p:spPr>
              <a:xfrm>
                <a:off x="814" y="3837"/>
                <a:ext cx="2035" cy="9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xmlns="" id="{A89A59D0-5CD5-F3FA-3C1C-B65CB8462B15}"/>
                  </a:ext>
                </a:extLst>
              </p:cNvPr>
              <p:cNvSpPr/>
              <p:nvPr/>
            </p:nvSpPr>
            <p:spPr>
              <a:xfrm>
                <a:off x="1028" y="4033"/>
                <a:ext cx="2003" cy="112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 dirty="0">
                    <a:latin typeface="Times New Roman" panose="02020603050405020304" pitchFamily="18" charset="0"/>
                    <a:ea typeface="楷体" panose="02010609060101010101" pitchFamily="49" charset="-122"/>
                  </a:rPr>
                  <a:t>模型微调</a:t>
                </a: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xmlns="" id="{CED5F520-047A-EB4F-B08E-97DAA66618C8}"/>
                </a:ext>
              </a:extLst>
            </p:cNvPr>
            <p:cNvGrpSpPr/>
            <p:nvPr/>
          </p:nvGrpSpPr>
          <p:grpSpPr>
            <a:xfrm>
              <a:off x="2360930" y="4862965"/>
              <a:ext cx="1502410" cy="937895"/>
              <a:chOff x="664" y="3680"/>
              <a:chExt cx="2366" cy="1477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xmlns="" id="{60B807A2-AEEC-3F98-9D31-2C2721A7D50E}"/>
                  </a:ext>
                </a:extLst>
              </p:cNvPr>
              <p:cNvSpPr/>
              <p:nvPr/>
            </p:nvSpPr>
            <p:spPr>
              <a:xfrm>
                <a:off x="664" y="3680"/>
                <a:ext cx="2035" cy="974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xmlns="" id="{EB46C730-D16B-10F4-5A5E-EA80C47750AA}"/>
                  </a:ext>
                </a:extLst>
              </p:cNvPr>
              <p:cNvSpPr/>
              <p:nvPr/>
            </p:nvSpPr>
            <p:spPr>
              <a:xfrm>
                <a:off x="814" y="3837"/>
                <a:ext cx="2035" cy="9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xmlns="" id="{E0D8C768-669F-6FBF-E9B7-CA8F7D646453}"/>
                  </a:ext>
                </a:extLst>
              </p:cNvPr>
              <p:cNvSpPr/>
              <p:nvPr/>
            </p:nvSpPr>
            <p:spPr>
              <a:xfrm>
                <a:off x="1028" y="4033"/>
                <a:ext cx="2003" cy="112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000">
                    <a:latin typeface="Times New Roman" panose="02020603050405020304" pitchFamily="18" charset="0"/>
                    <a:ea typeface="楷体" panose="02010609060101010101" pitchFamily="49" charset="-122"/>
                  </a:rPr>
                  <a:t>最终模型</a:t>
                </a:r>
              </a:p>
            </p:txBody>
          </p: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3183390E-CE52-1902-04F1-1822631487CD}"/>
                </a:ext>
              </a:extLst>
            </p:cNvPr>
            <p:cNvSpPr txBox="1"/>
            <p:nvPr/>
          </p:nvSpPr>
          <p:spPr>
            <a:xfrm>
              <a:off x="59690" y="5087120"/>
              <a:ext cx="1331595" cy="400110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测试数据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xmlns="" id="{22F8CE22-609A-A9FB-ACEA-CB3304E4A8C1}"/>
                </a:ext>
              </a:extLst>
            </p:cNvPr>
            <p:cNvCxnSpPr/>
            <p:nvPr/>
          </p:nvCxnSpPr>
          <p:spPr>
            <a:xfrm>
              <a:off x="1475105" y="5273175"/>
              <a:ext cx="768985" cy="44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下箭头 40">
              <a:extLst>
                <a:ext uri="{FF2B5EF4-FFF2-40B4-BE49-F238E27FC236}">
                  <a16:creationId xmlns:a16="http://schemas.microsoft.com/office/drawing/2014/main" xmlns="" id="{CA249906-305F-4F01-D15C-12B00E8AB80A}"/>
                </a:ext>
              </a:extLst>
            </p:cNvPr>
            <p:cNvSpPr/>
            <p:nvPr/>
          </p:nvSpPr>
          <p:spPr>
            <a:xfrm>
              <a:off x="3107690" y="2946535"/>
              <a:ext cx="217805" cy="34036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3" name="下箭头 41">
              <a:extLst>
                <a:ext uri="{FF2B5EF4-FFF2-40B4-BE49-F238E27FC236}">
                  <a16:creationId xmlns:a16="http://schemas.microsoft.com/office/drawing/2014/main" xmlns="" id="{2B7E8339-4F1C-DD09-EDC7-09E68CADC0D9}"/>
                </a:ext>
              </a:extLst>
            </p:cNvPr>
            <p:cNvSpPr/>
            <p:nvPr/>
          </p:nvSpPr>
          <p:spPr>
            <a:xfrm>
              <a:off x="3107690" y="4454025"/>
              <a:ext cx="217805" cy="34036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D6AF4351-13B5-9ED0-88E7-34776657D2EB}"/>
                </a:ext>
              </a:extLst>
            </p:cNvPr>
            <p:cNvSpPr txBox="1"/>
            <p:nvPr/>
          </p:nvSpPr>
          <p:spPr>
            <a:xfrm>
              <a:off x="11430" y="3612650"/>
              <a:ext cx="1464310" cy="707886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不同任务</a:t>
              </a:r>
            </a:p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有标注数据</a:t>
              </a: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xmlns="" id="{06214AA6-337D-647A-9A44-3DFE11CBA1D6}"/>
                </a:ext>
              </a:extLst>
            </p:cNvPr>
            <p:cNvCxnSpPr/>
            <p:nvPr/>
          </p:nvCxnSpPr>
          <p:spPr>
            <a:xfrm>
              <a:off x="1533525" y="3926340"/>
              <a:ext cx="768985" cy="44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xmlns="" id="{AC9FFFA8-D567-B24D-7D86-CB7952CB7F98}"/>
                </a:ext>
              </a:extLst>
            </p:cNvPr>
            <p:cNvGrpSpPr/>
            <p:nvPr/>
          </p:nvGrpSpPr>
          <p:grpSpPr>
            <a:xfrm>
              <a:off x="6320155" y="1169805"/>
              <a:ext cx="6035040" cy="4862195"/>
              <a:chOff x="9647" y="2445"/>
              <a:chExt cx="9504" cy="7657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xmlns="" id="{772F2877-A0BE-B7C1-A909-7B41751F7E08}"/>
                  </a:ext>
                </a:extLst>
              </p:cNvPr>
              <p:cNvGrpSpPr/>
              <p:nvPr/>
            </p:nvGrpSpPr>
            <p:grpSpPr>
              <a:xfrm>
                <a:off x="9647" y="3427"/>
                <a:ext cx="9504" cy="6675"/>
                <a:chOff x="8561" y="2662"/>
                <a:chExt cx="9504" cy="6675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xmlns="" id="{3C87E637-1A44-9AB0-CDF3-A7099F1128A1}"/>
                    </a:ext>
                  </a:extLst>
                </p:cNvPr>
                <p:cNvGrpSpPr/>
                <p:nvPr/>
              </p:nvGrpSpPr>
              <p:grpSpPr>
                <a:xfrm>
                  <a:off x="8561" y="2662"/>
                  <a:ext cx="3984" cy="3582"/>
                  <a:chOff x="899" y="2582"/>
                  <a:chExt cx="3984" cy="3582"/>
                </a:xfrm>
              </p:grpSpPr>
              <p:grpSp>
                <p:nvGrpSpPr>
                  <p:cNvPr id="42" name="组合 41">
                    <a:extLst>
                      <a:ext uri="{FF2B5EF4-FFF2-40B4-BE49-F238E27FC236}">
                        <a16:creationId xmlns:a16="http://schemas.microsoft.com/office/drawing/2014/main" xmlns="" id="{113791A4-B02C-740E-C8F1-BDD9931C64B9}"/>
                      </a:ext>
                    </a:extLst>
                  </p:cNvPr>
                  <p:cNvGrpSpPr/>
                  <p:nvPr/>
                </p:nvGrpSpPr>
                <p:grpSpPr>
                  <a:xfrm>
                    <a:off x="899" y="2582"/>
                    <a:ext cx="3984" cy="2362"/>
                    <a:chOff x="899" y="2582"/>
                    <a:chExt cx="3984" cy="2362"/>
                  </a:xfrm>
                </p:grpSpPr>
                <p:sp>
                  <p:nvSpPr>
                    <p:cNvPr id="44" name="文本框 43">
                      <a:extLst>
                        <a:ext uri="{FF2B5EF4-FFF2-40B4-BE49-F238E27FC236}">
                          <a16:creationId xmlns:a16="http://schemas.microsoft.com/office/drawing/2014/main" xmlns="" id="{774365BB-AECE-61A0-BD0A-1FB4E58CEE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83" y="2582"/>
                      <a:ext cx="2436" cy="104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indent="0" algn="l">
                        <a:lnSpc>
                          <a:spcPct val="130000"/>
                        </a:lnSpc>
                        <a:buClrTx/>
                        <a:buSzTx/>
                        <a:buFont typeface="Wingdings" panose="05000000000000000000" charset="0"/>
                        <a:buNone/>
                      </a:pPr>
                      <a:r>
                        <a:rPr kumimoji="1" lang="zh-CN" altLang="en-US" sz="3200" b="1" i="0" dirty="0">
                          <a:ln w="12700">
                            <a:noFill/>
                          </a:ln>
                          <a:solidFill>
                            <a:srgbClr val="256BF6">
                              <a:alpha val="100000"/>
                            </a:srgb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Source Han Sans CN Bold" panose="020B0800000000000000" charset="-122"/>
                        </a:rPr>
                        <a:t>思维链</a:t>
                      </a:r>
                    </a:p>
                  </p:txBody>
                </p:sp>
                <p:sp>
                  <p:nvSpPr>
                    <p:cNvPr id="45" name="文本框 44">
                      <a:extLst>
                        <a:ext uri="{FF2B5EF4-FFF2-40B4-BE49-F238E27FC236}">
                          <a16:creationId xmlns:a16="http://schemas.microsoft.com/office/drawing/2014/main" xmlns="" id="{841E0D24-808D-A23F-4202-7DBFEF0F64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3" y="3567"/>
                      <a:ext cx="3960" cy="6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(Chain of Thought)</a:t>
                      </a:r>
                      <a:endParaRPr lang="zh-CN" altLang="en-US" sz="2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</a:endParaRPr>
                    </a:p>
                  </p:txBody>
                </p:sp>
                <p:sp>
                  <p:nvSpPr>
                    <p:cNvPr id="46" name="文本框 45">
                      <a:extLst>
                        <a:ext uri="{FF2B5EF4-FFF2-40B4-BE49-F238E27FC236}">
                          <a16:creationId xmlns:a16="http://schemas.microsoft.com/office/drawing/2014/main" xmlns="" id="{3002E408-9CD2-996B-D683-36202EDA42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" y="4217"/>
                      <a:ext cx="3804" cy="7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让模型进行思考</a:t>
                      </a:r>
                    </a:p>
                  </p:txBody>
                </p:sp>
              </p:grpSp>
              <p:pic>
                <p:nvPicPr>
                  <p:cNvPr id="43" name="图片 24" descr="思维链路">
                    <a:extLst>
                      <a:ext uri="{FF2B5EF4-FFF2-40B4-BE49-F238E27FC236}">
                        <a16:creationId xmlns:a16="http://schemas.microsoft.com/office/drawing/2014/main" xmlns="" id="{32F1355C-EAA8-1AF8-D719-CC9F5E8FDA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96DAC541-7B7A-43D3-8B79-37D633B846F1}">
                        <asvg:svgBlip xmlns:asvg="http://schemas.microsoft.com/office/drawing/2016/SVG/main" xmlns="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077" y="4955"/>
                    <a:ext cx="1209" cy="1209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xmlns="" id="{0A99056E-AB26-4B00-BB97-8649D8E96D64}"/>
                    </a:ext>
                  </a:extLst>
                </p:cNvPr>
                <p:cNvGrpSpPr/>
                <p:nvPr/>
              </p:nvGrpSpPr>
              <p:grpSpPr>
                <a:xfrm>
                  <a:off x="9459" y="5768"/>
                  <a:ext cx="7336" cy="3569"/>
                  <a:chOff x="5647" y="5768"/>
                  <a:chExt cx="7336" cy="3569"/>
                </a:xfrm>
              </p:grpSpPr>
              <p:grpSp>
                <p:nvGrpSpPr>
                  <p:cNvPr id="37" name="组合 36">
                    <a:extLst>
                      <a:ext uri="{FF2B5EF4-FFF2-40B4-BE49-F238E27FC236}">
                        <a16:creationId xmlns:a16="http://schemas.microsoft.com/office/drawing/2014/main" xmlns="" id="{917DCA7C-7131-5066-5BC7-6EFD2E036595}"/>
                      </a:ext>
                    </a:extLst>
                  </p:cNvPr>
                  <p:cNvGrpSpPr/>
                  <p:nvPr/>
                </p:nvGrpSpPr>
                <p:grpSpPr>
                  <a:xfrm>
                    <a:off x="5647" y="7018"/>
                    <a:ext cx="7336" cy="2319"/>
                    <a:chOff x="-803" y="2634"/>
                    <a:chExt cx="7336" cy="2319"/>
                  </a:xfrm>
                </p:grpSpPr>
                <p:sp>
                  <p:nvSpPr>
                    <p:cNvPr id="39" name="文本框 38">
                      <a:extLst>
                        <a:ext uri="{FF2B5EF4-FFF2-40B4-BE49-F238E27FC236}">
                          <a16:creationId xmlns:a16="http://schemas.microsoft.com/office/drawing/2014/main" xmlns="" id="{3C4B25FE-64E4-168B-DCC9-955E2D7D40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54" y="2634"/>
                      <a:ext cx="2035" cy="104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indent="0" algn="ctr">
                        <a:lnSpc>
                          <a:spcPct val="130000"/>
                        </a:lnSpc>
                        <a:buClrTx/>
                        <a:buSzTx/>
                        <a:buFont typeface="Wingdings" panose="05000000000000000000" charset="0"/>
                        <a:buNone/>
                      </a:pPr>
                      <a:r>
                        <a:rPr kumimoji="1" lang="zh-CN" altLang="en-US" sz="3200" b="1" i="0" dirty="0">
                          <a:ln w="12700">
                            <a:noFill/>
                          </a:ln>
                          <a:solidFill>
                            <a:srgbClr val="256BF6">
                              <a:alpha val="100000"/>
                            </a:srgb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Source Han Sans CN Bold" panose="020B0800000000000000" charset="-122"/>
                        </a:rPr>
                        <a:t>蒸馏</a:t>
                      </a:r>
                    </a:p>
                  </p:txBody>
                </p:sp>
                <p:sp>
                  <p:nvSpPr>
                    <p:cNvPr id="40" name="文本框 39">
                      <a:extLst>
                        <a:ext uri="{FF2B5EF4-FFF2-40B4-BE49-F238E27FC236}">
                          <a16:creationId xmlns:a16="http://schemas.microsoft.com/office/drawing/2014/main" xmlns="" id="{C86BFC23-8645-C87F-E795-0D3849606A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72" y="3567"/>
                      <a:ext cx="2794" cy="6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Distillation</a:t>
                      </a:r>
                      <a:r>
                        <a:rPr lang="zh-CN" altLang="en-US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p:txBody>
                </p:sp>
                <p:sp>
                  <p:nvSpPr>
                    <p:cNvPr id="41" name="文本框 40">
                      <a:extLst>
                        <a:ext uri="{FF2B5EF4-FFF2-40B4-BE49-F238E27FC236}">
                          <a16:creationId xmlns:a16="http://schemas.microsoft.com/office/drawing/2014/main" xmlns="" id="{16DAC085-3238-C065-7E89-A96FE9BAF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803" y="4226"/>
                      <a:ext cx="7336" cy="7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在不损失能力的情况下缩小模型</a:t>
                      </a:r>
                    </a:p>
                  </p:txBody>
                </p:sp>
              </p:grpSp>
              <p:pic>
                <p:nvPicPr>
                  <p:cNvPr id="38" name="图片 25" descr="ion-ios-flask">
                    <a:extLst>
                      <a:ext uri="{FF2B5EF4-FFF2-40B4-BE49-F238E27FC236}">
                        <a16:creationId xmlns:a16="http://schemas.microsoft.com/office/drawing/2014/main" xmlns="" id="{6C23DEB6-E2E4-33F8-E950-827ABD550D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print">
                    <a:extLst>
                      <a:ext uri="{96DAC541-7B7A-43D3-8B79-37D633B846F1}">
                        <asvg:svgBlip xmlns:asvg="http://schemas.microsoft.com/office/drawing/2016/SVG/main" xmlns="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67" y="5768"/>
                    <a:ext cx="1310" cy="131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xmlns="" id="{5D2B3488-180A-E6B1-BE60-8A6486766F33}"/>
                    </a:ext>
                  </a:extLst>
                </p:cNvPr>
                <p:cNvGrpSpPr/>
                <p:nvPr/>
              </p:nvGrpSpPr>
              <p:grpSpPr>
                <a:xfrm>
                  <a:off x="12697" y="2666"/>
                  <a:ext cx="5368" cy="3614"/>
                  <a:chOff x="12706" y="2629"/>
                  <a:chExt cx="5368" cy="3614"/>
                </a:xfrm>
              </p:grpSpPr>
              <p:grpSp>
                <p:nvGrpSpPr>
                  <p:cNvPr id="32" name="组合 31">
                    <a:extLst>
                      <a:ext uri="{FF2B5EF4-FFF2-40B4-BE49-F238E27FC236}">
                        <a16:creationId xmlns:a16="http://schemas.microsoft.com/office/drawing/2014/main" xmlns="" id="{C52DFAB0-0415-F34F-76D7-6EFAC85E2CFB}"/>
                      </a:ext>
                    </a:extLst>
                  </p:cNvPr>
                  <p:cNvGrpSpPr/>
                  <p:nvPr/>
                </p:nvGrpSpPr>
                <p:grpSpPr>
                  <a:xfrm>
                    <a:off x="12706" y="2629"/>
                    <a:ext cx="5368" cy="2225"/>
                    <a:chOff x="-456" y="2666"/>
                    <a:chExt cx="5368" cy="2225"/>
                  </a:xfrm>
                </p:grpSpPr>
                <p:sp>
                  <p:nvSpPr>
                    <p:cNvPr id="34" name="文本框 33">
                      <a:extLst>
                        <a:ext uri="{FF2B5EF4-FFF2-40B4-BE49-F238E27FC236}">
                          <a16:creationId xmlns:a16="http://schemas.microsoft.com/office/drawing/2014/main" xmlns="" id="{1B538DE6-DA1A-695A-7A0F-4973FE5672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3" y="2666"/>
                      <a:ext cx="2999" cy="104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indent="0" algn="l">
                        <a:lnSpc>
                          <a:spcPct val="130000"/>
                        </a:lnSpc>
                        <a:buClrTx/>
                        <a:buSzTx/>
                        <a:buFont typeface="Wingdings" panose="05000000000000000000" charset="0"/>
                        <a:buNone/>
                      </a:pPr>
                      <a:r>
                        <a:rPr kumimoji="1" lang="zh-CN" altLang="en-US" sz="3200" b="1" i="0" dirty="0">
                          <a:ln w="12700">
                            <a:noFill/>
                          </a:ln>
                          <a:solidFill>
                            <a:srgbClr val="256BF6">
                              <a:alpha val="100000"/>
                            </a:srgb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Source Han Sans CN Bold" panose="020B0800000000000000" charset="-122"/>
                        </a:rPr>
                        <a:t>强化学习</a:t>
                      </a:r>
                    </a:p>
                  </p:txBody>
                </p:sp>
                <p:sp>
                  <p:nvSpPr>
                    <p:cNvPr id="35" name="文本框 34">
                      <a:extLst>
                        <a:ext uri="{FF2B5EF4-FFF2-40B4-BE49-F238E27FC236}">
                          <a16:creationId xmlns:a16="http://schemas.microsoft.com/office/drawing/2014/main" xmlns="" id="{1FD8D3EF-1EE9-BC1D-5084-8DC54DF31D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456" y="3602"/>
                      <a:ext cx="5051" cy="6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Reinforcement Learning</a:t>
                      </a:r>
                      <a:r>
                        <a:rPr lang="zh-CN" altLang="en-US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）</a:t>
                      </a: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xmlns="" id="{5D058574-8965-DD7A-86F5-65E7DA0DCB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361" y="4164"/>
                      <a:ext cx="5273" cy="7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让模型自我探索和训练</a:t>
                      </a:r>
                    </a:p>
                  </p:txBody>
                </p:sp>
              </p:grpSp>
              <p:pic>
                <p:nvPicPr>
                  <p:cNvPr id="33" name="图片 26" descr="learning">
                    <a:extLst>
                      <a:ext uri="{FF2B5EF4-FFF2-40B4-BE49-F238E27FC236}">
                        <a16:creationId xmlns:a16="http://schemas.microsoft.com/office/drawing/2014/main" xmlns="" id="{C9D34362-074C-8D3C-B5C6-098113EA5A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print">
                    <a:extLst>
                      <a:ext uri="{96DAC541-7B7A-43D3-8B79-37D633B846F1}">
                        <asvg:svgBlip xmlns:asvg="http://schemas.microsoft.com/office/drawing/2016/SVG/main" xmlns="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736" y="4839"/>
                    <a:ext cx="1404" cy="1404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xmlns="" id="{BACF3815-A028-1E49-1D83-882D30CA6044}"/>
                  </a:ext>
                </a:extLst>
              </p:cNvPr>
              <p:cNvSpPr txBox="1"/>
              <p:nvPr/>
            </p:nvSpPr>
            <p:spPr>
              <a:xfrm>
                <a:off x="12142" y="2445"/>
                <a:ext cx="3755" cy="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DeepSeek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</a:rPr>
                  <a:t>训练</a:t>
                </a:r>
              </a:p>
            </p:txBody>
          </p:sp>
        </p:grpSp>
        <p:sp>
          <p:nvSpPr>
            <p:cNvPr id="47" name="燕尾形箭头 47">
              <a:extLst>
                <a:ext uri="{FF2B5EF4-FFF2-40B4-BE49-F238E27FC236}">
                  <a16:creationId xmlns:a16="http://schemas.microsoft.com/office/drawing/2014/main" xmlns="" id="{B9C63DED-604F-6E2F-8415-E110CD5A9C05}"/>
                </a:ext>
              </a:extLst>
            </p:cNvPr>
            <p:cNvSpPr/>
            <p:nvPr/>
          </p:nvSpPr>
          <p:spPr>
            <a:xfrm>
              <a:off x="4349750" y="3158625"/>
              <a:ext cx="1915795" cy="880110"/>
            </a:xfrm>
            <a:prstGeom prst="notch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xmlns="" id="{7EEF4F97-748A-0652-D041-0945BD60AFBA}"/>
                </a:ext>
              </a:extLst>
            </p:cNvPr>
            <p:cNvSpPr txBox="1"/>
            <p:nvPr/>
          </p:nvSpPr>
          <p:spPr>
            <a:xfrm>
              <a:off x="4315777" y="1837960"/>
              <a:ext cx="19837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冲云破雾</a:t>
              </a:r>
            </a:p>
            <a:p>
              <a:pPr algn="ctr"/>
              <a:r>
                <a:rPr lang="zh-CN" alt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打破常规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7.3 </a:t>
            </a:r>
            <a:r>
              <a:rPr sz="3200" spc="5" dirty="0"/>
              <a:t>DeepSeek</a:t>
            </a:r>
            <a:r>
              <a:rPr lang="zh-CN" altLang="en-US" sz="3200" spc="5" dirty="0"/>
              <a:t>的</a:t>
            </a:r>
            <a:r>
              <a:rPr sz="3200" spc="-55" dirty="0"/>
              <a:t>技</a:t>
            </a:r>
            <a:r>
              <a:rPr sz="3200" spc="30" dirty="0"/>
              <a:t>术创</a:t>
            </a:r>
            <a:r>
              <a:rPr sz="3200" spc="-30" dirty="0"/>
              <a:t>新</a:t>
            </a:r>
            <a:r>
              <a:rPr lang="zh-CN" altLang="en-US" sz="3200" spc="-30" dirty="0"/>
              <a:t>：</a:t>
            </a:r>
            <a:r>
              <a:rPr sz="3200" spc="30" dirty="0"/>
              <a:t>推</a:t>
            </a:r>
            <a:r>
              <a:rPr sz="3200" spc="-55" dirty="0"/>
              <a:t>理</a:t>
            </a:r>
            <a:r>
              <a:rPr sz="3200" spc="30" dirty="0"/>
              <a:t>模型</a:t>
            </a:r>
            <a:r>
              <a:rPr sz="3200" spc="-70" dirty="0"/>
              <a:t> </a:t>
            </a:r>
            <a:r>
              <a:rPr sz="3200" spc="10" dirty="0"/>
              <a:t>|</a:t>
            </a:r>
            <a:r>
              <a:rPr sz="3200" spc="-60" dirty="0"/>
              <a:t> </a:t>
            </a:r>
            <a:r>
              <a:rPr sz="3200" spc="5" dirty="0"/>
              <a:t>R1-Zero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2290" y="778740"/>
            <a:ext cx="6577774" cy="146338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5627" y="2660967"/>
            <a:ext cx="5915025" cy="2139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7655" algn="l"/>
              </a:tabLst>
            </a:pPr>
            <a:r>
              <a:rPr sz="18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强化学习训练规模大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 marR="5080">
              <a:lnSpc>
                <a:spcPct val="100800"/>
              </a:lnSpc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业内通常训练几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十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</a:t>
            </a:r>
            <a:r>
              <a:rPr sz="180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steps，DeepSeek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训练几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千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steps </a:t>
            </a:r>
            <a:r>
              <a:rPr sz="1800" spc="-5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4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Tülu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最大发布模型只训练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了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~50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</a:t>
            </a:r>
            <a:r>
              <a:rPr sz="180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steps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>
              <a:lnSpc>
                <a:spcPct val="100000"/>
              </a:lnSpc>
            </a:pPr>
            <a:endParaRPr sz="12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287655" indent="-274955">
              <a:lnSpc>
                <a:spcPct val="100000"/>
              </a:lnSpc>
              <a:buAutoNum type="arabicPeriod" startAt="2"/>
              <a:tabLst>
                <a:tab pos="287655" algn="l"/>
              </a:tabLst>
            </a:pPr>
            <a:r>
              <a:rPr sz="18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</a:t>
            </a:r>
            <a:r>
              <a:rPr sz="1800" b="1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Training</a:t>
            </a:r>
            <a:r>
              <a:rPr sz="1800" b="1" spc="4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Scaling</a:t>
            </a:r>
            <a:r>
              <a:rPr sz="1800" b="1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Law：</a:t>
            </a:r>
            <a:r>
              <a:rPr sz="18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涌</a:t>
            </a:r>
            <a:r>
              <a:rPr sz="18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现reflection、</a:t>
            </a:r>
            <a:r>
              <a:rPr sz="1800" b="1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aha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自动涌现出搜索、反思、顿悟、纠错</a:t>
            </a:r>
          </a:p>
          <a:p>
            <a:pPr marL="12700" marR="83820">
              <a:lnSpc>
                <a:spcPts val="2100"/>
              </a:lnSpc>
              <a:spcBef>
                <a:spcPts val="140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与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testing-time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scaling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law</a:t>
            </a:r>
            <a:r>
              <a:rPr sz="180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一致，可从性能增长曲线和长度增长曲线推出推理</a:t>
            </a:r>
            <a:r>
              <a:rPr sz="1800" spc="-1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时</a:t>
            </a:r>
            <a:r>
              <a:rPr sz="1800" spc="-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scaling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law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7937" y="2287473"/>
            <a:ext cx="4426394" cy="9966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4078" y="3649060"/>
            <a:ext cx="2527238" cy="1426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5353" y="3721182"/>
            <a:ext cx="2479654" cy="13685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5627" y="5216207"/>
            <a:ext cx="5515610" cy="84741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3.</a:t>
            </a:r>
            <a:r>
              <a:rPr sz="1800" b="1" spc="-3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通</a:t>
            </a:r>
            <a:r>
              <a:rPr sz="1800" b="1" spc="-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过prompt策略引导模型思考和给出答案，避免</a:t>
            </a:r>
            <a:r>
              <a:rPr lang="zh-CN" altLang="en-US" sz="18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基座</a:t>
            </a:r>
            <a:r>
              <a:rPr sz="1800" b="1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模型不能生成停止符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使用标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记&lt;think&gt;&lt;/think&gt;&lt;answer&gt;&lt;/answer&gt;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9625" y="5260952"/>
            <a:ext cx="5335382" cy="122204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49819" y="3276282"/>
            <a:ext cx="429196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https://</a:t>
            </a:r>
            <a:r>
              <a:rPr sz="14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  <a:hlinkClick r:id="rId7"/>
              </a:rPr>
              <a:t>www.interconnects.ai/p/deepseek-r1-recipe-for-o1</a:t>
            </a:r>
            <a:endParaRPr sz="140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7.3 </a:t>
            </a:r>
            <a:r>
              <a:rPr sz="3200" spc="5" dirty="0"/>
              <a:t>DeepSeek</a:t>
            </a:r>
            <a:r>
              <a:rPr lang="zh-CN" altLang="en-US" sz="3200" spc="5" dirty="0"/>
              <a:t>的</a:t>
            </a:r>
            <a:r>
              <a:rPr sz="3200" spc="-55" dirty="0"/>
              <a:t>技</a:t>
            </a:r>
            <a:r>
              <a:rPr sz="3200" spc="30" dirty="0"/>
              <a:t>术创</a:t>
            </a:r>
            <a:r>
              <a:rPr sz="3200" spc="-30" dirty="0"/>
              <a:t>新</a:t>
            </a:r>
            <a:r>
              <a:rPr lang="zh-CN" altLang="en-US" sz="3200" spc="-30" dirty="0"/>
              <a:t>：</a:t>
            </a:r>
            <a:r>
              <a:rPr sz="3200" spc="30" dirty="0"/>
              <a:t>推</a:t>
            </a:r>
            <a:r>
              <a:rPr sz="3200" spc="-55" dirty="0"/>
              <a:t>理</a:t>
            </a:r>
            <a:r>
              <a:rPr sz="3200" spc="30" dirty="0"/>
              <a:t>模型</a:t>
            </a:r>
            <a:r>
              <a:rPr sz="3200" spc="-55" dirty="0"/>
              <a:t> </a:t>
            </a:r>
            <a:r>
              <a:rPr sz="3200" spc="10" dirty="0"/>
              <a:t>|</a:t>
            </a:r>
            <a:r>
              <a:rPr sz="3200" spc="-40" dirty="0"/>
              <a:t> </a:t>
            </a:r>
            <a:r>
              <a:rPr sz="3200" spc="10" dirty="0"/>
              <a:t>R1</a:t>
            </a:r>
            <a:r>
              <a:rPr sz="3200" spc="-55" dirty="0"/>
              <a:t> </a:t>
            </a:r>
            <a:r>
              <a:rPr sz="3200" spc="-10" dirty="0"/>
              <a:t>Recipe</a:t>
            </a:r>
          </a:p>
        </p:txBody>
      </p:sp>
      <p:sp>
        <p:nvSpPr>
          <p:cNvPr id="3" name="object 3"/>
          <p:cNvSpPr/>
          <p:nvPr/>
        </p:nvSpPr>
        <p:spPr>
          <a:xfrm>
            <a:off x="74612" y="1871726"/>
            <a:ext cx="2086610" cy="809625"/>
          </a:xfrm>
          <a:custGeom>
            <a:avLst/>
            <a:gdLst/>
            <a:ahLst/>
            <a:cxnLst/>
            <a:rect l="l" t="t" r="r" b="b"/>
            <a:pathLst>
              <a:path w="2086610" h="809625">
                <a:moveTo>
                  <a:pt x="0" y="134874"/>
                </a:moveTo>
                <a:lnTo>
                  <a:pt x="6879" y="92220"/>
                </a:lnTo>
                <a:lnTo>
                  <a:pt x="26035" y="55193"/>
                </a:lnTo>
                <a:lnTo>
                  <a:pt x="55245" y="26005"/>
                </a:lnTo>
                <a:lnTo>
                  <a:pt x="92286" y="6870"/>
                </a:lnTo>
                <a:lnTo>
                  <a:pt x="134937" y="0"/>
                </a:lnTo>
                <a:lnTo>
                  <a:pt x="1951037" y="0"/>
                </a:lnTo>
                <a:lnTo>
                  <a:pt x="1993704" y="6870"/>
                </a:lnTo>
                <a:lnTo>
                  <a:pt x="2030763" y="26005"/>
                </a:lnTo>
                <a:lnTo>
                  <a:pt x="2059988" y="55193"/>
                </a:lnTo>
                <a:lnTo>
                  <a:pt x="2079155" y="92220"/>
                </a:lnTo>
                <a:lnTo>
                  <a:pt x="2086038" y="134874"/>
                </a:lnTo>
                <a:lnTo>
                  <a:pt x="2086038" y="674624"/>
                </a:lnTo>
                <a:lnTo>
                  <a:pt x="2079155" y="717290"/>
                </a:lnTo>
                <a:lnTo>
                  <a:pt x="2059988" y="754349"/>
                </a:lnTo>
                <a:lnTo>
                  <a:pt x="2030763" y="783574"/>
                </a:lnTo>
                <a:lnTo>
                  <a:pt x="1993704" y="802741"/>
                </a:lnTo>
                <a:lnTo>
                  <a:pt x="1951037" y="809625"/>
                </a:lnTo>
                <a:lnTo>
                  <a:pt x="134937" y="809625"/>
                </a:lnTo>
                <a:lnTo>
                  <a:pt x="92286" y="802741"/>
                </a:lnTo>
                <a:lnTo>
                  <a:pt x="55245" y="783574"/>
                </a:lnTo>
                <a:lnTo>
                  <a:pt x="26035" y="754349"/>
                </a:lnTo>
                <a:lnTo>
                  <a:pt x="6879" y="717290"/>
                </a:lnTo>
                <a:lnTo>
                  <a:pt x="0" y="674624"/>
                </a:lnTo>
                <a:lnTo>
                  <a:pt x="0" y="13487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endParaRPr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578" y="2103817"/>
            <a:ext cx="2056765" cy="2898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DeepSeek-V3-base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8262" y="2681223"/>
            <a:ext cx="2099310" cy="1883410"/>
            <a:chOff x="150812" y="2852673"/>
            <a:chExt cx="2099310" cy="1883410"/>
          </a:xfrm>
        </p:grpSpPr>
        <p:sp>
          <p:nvSpPr>
            <p:cNvPr id="6" name="object 6"/>
            <p:cNvSpPr/>
            <p:nvPr/>
          </p:nvSpPr>
          <p:spPr>
            <a:xfrm>
              <a:off x="1166812" y="2852673"/>
              <a:ext cx="76200" cy="1056640"/>
            </a:xfrm>
            <a:custGeom>
              <a:avLst/>
              <a:gdLst/>
              <a:ahLst/>
              <a:cxnLst/>
              <a:rect l="l" t="t" r="r" b="b"/>
              <a:pathLst>
                <a:path w="76200" h="1056639">
                  <a:moveTo>
                    <a:pt x="34925" y="979932"/>
                  </a:moveTo>
                  <a:lnTo>
                    <a:pt x="0" y="979932"/>
                  </a:lnTo>
                  <a:lnTo>
                    <a:pt x="38100" y="1056132"/>
                  </a:lnTo>
                  <a:lnTo>
                    <a:pt x="69850" y="992632"/>
                  </a:lnTo>
                  <a:lnTo>
                    <a:pt x="34925" y="992632"/>
                  </a:lnTo>
                  <a:lnTo>
                    <a:pt x="34925" y="979932"/>
                  </a:lnTo>
                  <a:close/>
                </a:path>
                <a:path w="76200" h="1056639">
                  <a:moveTo>
                    <a:pt x="41275" y="0"/>
                  </a:moveTo>
                  <a:lnTo>
                    <a:pt x="34925" y="0"/>
                  </a:lnTo>
                  <a:lnTo>
                    <a:pt x="34925" y="992632"/>
                  </a:lnTo>
                  <a:lnTo>
                    <a:pt x="41275" y="992632"/>
                  </a:lnTo>
                  <a:lnTo>
                    <a:pt x="41275" y="0"/>
                  </a:lnTo>
                  <a:close/>
                </a:path>
                <a:path w="76200" h="1056639">
                  <a:moveTo>
                    <a:pt x="76200" y="979932"/>
                  </a:moveTo>
                  <a:lnTo>
                    <a:pt x="41275" y="979932"/>
                  </a:lnTo>
                  <a:lnTo>
                    <a:pt x="41275" y="992632"/>
                  </a:lnTo>
                  <a:lnTo>
                    <a:pt x="69850" y="992632"/>
                  </a:lnTo>
                  <a:lnTo>
                    <a:pt x="76200" y="97993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162" y="3910075"/>
              <a:ext cx="2086610" cy="819150"/>
            </a:xfrm>
            <a:custGeom>
              <a:avLst/>
              <a:gdLst/>
              <a:ahLst/>
              <a:cxnLst/>
              <a:rect l="l" t="t" r="r" b="b"/>
              <a:pathLst>
                <a:path w="2086610" h="819150">
                  <a:moveTo>
                    <a:pt x="1949386" y="0"/>
                  </a:moveTo>
                  <a:lnTo>
                    <a:pt x="136525" y="0"/>
                  </a:lnTo>
                  <a:lnTo>
                    <a:pt x="93372" y="6956"/>
                  </a:lnTo>
                  <a:lnTo>
                    <a:pt x="55895" y="26330"/>
                  </a:lnTo>
                  <a:lnTo>
                    <a:pt x="26341" y="55878"/>
                  </a:lnTo>
                  <a:lnTo>
                    <a:pt x="6960" y="93358"/>
                  </a:lnTo>
                  <a:lnTo>
                    <a:pt x="0" y="136525"/>
                  </a:lnTo>
                  <a:lnTo>
                    <a:pt x="0" y="682498"/>
                  </a:lnTo>
                  <a:lnTo>
                    <a:pt x="6960" y="725678"/>
                  </a:lnTo>
                  <a:lnTo>
                    <a:pt x="26341" y="763188"/>
                  </a:lnTo>
                  <a:lnTo>
                    <a:pt x="55895" y="792774"/>
                  </a:lnTo>
                  <a:lnTo>
                    <a:pt x="93372" y="812180"/>
                  </a:lnTo>
                  <a:lnTo>
                    <a:pt x="136525" y="819150"/>
                  </a:lnTo>
                  <a:lnTo>
                    <a:pt x="1949386" y="819150"/>
                  </a:lnTo>
                  <a:lnTo>
                    <a:pt x="1992566" y="812180"/>
                  </a:lnTo>
                  <a:lnTo>
                    <a:pt x="2030077" y="792774"/>
                  </a:lnTo>
                  <a:lnTo>
                    <a:pt x="2059663" y="763188"/>
                  </a:lnTo>
                  <a:lnTo>
                    <a:pt x="2079068" y="725678"/>
                  </a:lnTo>
                  <a:lnTo>
                    <a:pt x="2086038" y="682498"/>
                  </a:lnTo>
                  <a:lnTo>
                    <a:pt x="2086038" y="136525"/>
                  </a:lnTo>
                  <a:lnTo>
                    <a:pt x="2079068" y="93358"/>
                  </a:lnTo>
                  <a:lnTo>
                    <a:pt x="2059663" y="55878"/>
                  </a:lnTo>
                  <a:lnTo>
                    <a:pt x="2030077" y="26330"/>
                  </a:lnTo>
                  <a:lnTo>
                    <a:pt x="1992566" y="6956"/>
                  </a:lnTo>
                  <a:lnTo>
                    <a:pt x="194938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7162" y="3910075"/>
              <a:ext cx="2086610" cy="819150"/>
            </a:xfrm>
            <a:custGeom>
              <a:avLst/>
              <a:gdLst/>
              <a:ahLst/>
              <a:cxnLst/>
              <a:rect l="l" t="t" r="r" b="b"/>
              <a:pathLst>
                <a:path w="2086610" h="819150">
                  <a:moveTo>
                    <a:pt x="0" y="136525"/>
                  </a:moveTo>
                  <a:lnTo>
                    <a:pt x="6960" y="93358"/>
                  </a:lnTo>
                  <a:lnTo>
                    <a:pt x="26341" y="55878"/>
                  </a:lnTo>
                  <a:lnTo>
                    <a:pt x="55895" y="26330"/>
                  </a:lnTo>
                  <a:lnTo>
                    <a:pt x="93372" y="6956"/>
                  </a:lnTo>
                  <a:lnTo>
                    <a:pt x="136525" y="0"/>
                  </a:lnTo>
                  <a:lnTo>
                    <a:pt x="1949386" y="0"/>
                  </a:lnTo>
                  <a:lnTo>
                    <a:pt x="1992566" y="6956"/>
                  </a:lnTo>
                  <a:lnTo>
                    <a:pt x="2030077" y="26330"/>
                  </a:lnTo>
                  <a:lnTo>
                    <a:pt x="2059663" y="55878"/>
                  </a:lnTo>
                  <a:lnTo>
                    <a:pt x="2079068" y="93358"/>
                  </a:lnTo>
                  <a:lnTo>
                    <a:pt x="2086038" y="136525"/>
                  </a:lnTo>
                  <a:lnTo>
                    <a:pt x="2086038" y="682498"/>
                  </a:lnTo>
                  <a:lnTo>
                    <a:pt x="2079068" y="725678"/>
                  </a:lnTo>
                  <a:lnTo>
                    <a:pt x="2059663" y="763188"/>
                  </a:lnTo>
                  <a:lnTo>
                    <a:pt x="2030077" y="792774"/>
                  </a:lnTo>
                  <a:lnTo>
                    <a:pt x="1992566" y="812180"/>
                  </a:lnTo>
                  <a:lnTo>
                    <a:pt x="1949386" y="819150"/>
                  </a:lnTo>
                  <a:lnTo>
                    <a:pt x="136525" y="819150"/>
                  </a:lnTo>
                  <a:lnTo>
                    <a:pt x="93372" y="812180"/>
                  </a:lnTo>
                  <a:lnTo>
                    <a:pt x="55895" y="792774"/>
                  </a:lnTo>
                  <a:lnTo>
                    <a:pt x="26341" y="763188"/>
                  </a:lnTo>
                  <a:lnTo>
                    <a:pt x="6960" y="725678"/>
                  </a:lnTo>
                  <a:lnTo>
                    <a:pt x="0" y="682498"/>
                  </a:lnTo>
                  <a:lnTo>
                    <a:pt x="0" y="136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7344" y="3874349"/>
            <a:ext cx="197910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DeepSeek-R1-Zero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等线"/>
              </a:rPr>
              <a:t>中间推理模型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等线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715" y="2957131"/>
            <a:ext cx="939800" cy="551818"/>
          </a:xfrm>
          <a:prstGeom prst="rect">
            <a:avLst/>
          </a:prstGeom>
        </p:spPr>
        <p:txBody>
          <a:bodyPr vert="horz" wrap="square" lIns="0" tIns="10795" rIns="0" bIns="0" rtlCol="0" anchor="ctr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大规模强 化学习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3096" y="3674354"/>
            <a:ext cx="2200275" cy="780983"/>
          </a:xfrm>
          <a:prstGeom prst="rect">
            <a:avLst/>
          </a:prstGeom>
          <a:solidFill>
            <a:srgbClr val="0052FF"/>
          </a:solidFill>
          <a:ln w="12700">
            <a:solidFill>
              <a:srgbClr val="2E528F"/>
            </a:solidFill>
          </a:ln>
        </p:spPr>
        <p:txBody>
          <a:bodyPr vert="horz" wrap="square" lIns="0" tIns="2540" rIns="0" bIns="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</a:t>
            </a:r>
            <a:endParaRPr lang="zh-CN" altLang="en-US"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algn="ctr">
              <a:lnSpc>
                <a:spcPct val="150000"/>
              </a:lnSpc>
              <a:spcBef>
                <a:spcPts val="20"/>
              </a:spcBef>
            </a:pPr>
            <a:r>
              <a:rPr sz="1800" spc="-5" dirty="0" err="1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长</a:t>
            </a:r>
            <a:r>
              <a:rPr sz="1800" dirty="0" err="1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CoT数据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60523" y="1865376"/>
            <a:ext cx="4026535" cy="3267710"/>
            <a:chOff x="2243073" y="2036826"/>
            <a:chExt cx="4026535" cy="3267710"/>
          </a:xfrm>
        </p:grpSpPr>
        <p:sp>
          <p:nvSpPr>
            <p:cNvPr id="13" name="object 13"/>
            <p:cNvSpPr/>
            <p:nvPr/>
          </p:nvSpPr>
          <p:spPr>
            <a:xfrm>
              <a:off x="2243073" y="4284218"/>
              <a:ext cx="506095" cy="76200"/>
            </a:xfrm>
            <a:custGeom>
              <a:avLst/>
              <a:gdLst/>
              <a:ahLst/>
              <a:cxnLst/>
              <a:rect l="l" t="t" r="r" b="b"/>
              <a:pathLst>
                <a:path w="506094" h="76200">
                  <a:moveTo>
                    <a:pt x="429894" y="0"/>
                  </a:moveTo>
                  <a:lnTo>
                    <a:pt x="429720" y="34967"/>
                  </a:lnTo>
                  <a:lnTo>
                    <a:pt x="442468" y="35051"/>
                  </a:lnTo>
                  <a:lnTo>
                    <a:pt x="442340" y="41401"/>
                  </a:lnTo>
                  <a:lnTo>
                    <a:pt x="429687" y="41401"/>
                  </a:lnTo>
                  <a:lnTo>
                    <a:pt x="429513" y="76199"/>
                  </a:lnTo>
                  <a:lnTo>
                    <a:pt x="500168" y="41401"/>
                  </a:lnTo>
                  <a:lnTo>
                    <a:pt x="442340" y="41401"/>
                  </a:lnTo>
                  <a:lnTo>
                    <a:pt x="500337" y="41318"/>
                  </a:lnTo>
                  <a:lnTo>
                    <a:pt x="505840" y="38607"/>
                  </a:lnTo>
                  <a:lnTo>
                    <a:pt x="429894" y="0"/>
                  </a:lnTo>
                  <a:close/>
                </a:path>
                <a:path w="506094" h="76200">
                  <a:moveTo>
                    <a:pt x="429720" y="34967"/>
                  </a:moveTo>
                  <a:lnTo>
                    <a:pt x="429688" y="41318"/>
                  </a:lnTo>
                  <a:lnTo>
                    <a:pt x="442340" y="41401"/>
                  </a:lnTo>
                  <a:lnTo>
                    <a:pt x="442468" y="35051"/>
                  </a:lnTo>
                  <a:lnTo>
                    <a:pt x="429720" y="34967"/>
                  </a:lnTo>
                  <a:close/>
                </a:path>
                <a:path w="506094" h="76200">
                  <a:moveTo>
                    <a:pt x="126" y="32130"/>
                  </a:moveTo>
                  <a:lnTo>
                    <a:pt x="0" y="38480"/>
                  </a:lnTo>
                  <a:lnTo>
                    <a:pt x="429688" y="41318"/>
                  </a:lnTo>
                  <a:lnTo>
                    <a:pt x="429720" y="34967"/>
                  </a:lnTo>
                  <a:lnTo>
                    <a:pt x="126" y="3213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519425" y="4319651"/>
              <a:ext cx="0" cy="981710"/>
            </a:xfrm>
            <a:custGeom>
              <a:avLst/>
              <a:gdLst/>
              <a:ahLst/>
              <a:cxnLst/>
              <a:rect l="l" t="t" r="r" b="b"/>
              <a:pathLst>
                <a:path h="981710">
                  <a:moveTo>
                    <a:pt x="0" y="0"/>
                  </a:moveTo>
                  <a:lnTo>
                    <a:pt x="0" y="981202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4186300" y="2043176"/>
              <a:ext cx="2076450" cy="809625"/>
            </a:xfrm>
            <a:custGeom>
              <a:avLst/>
              <a:gdLst/>
              <a:ahLst/>
              <a:cxnLst/>
              <a:rect l="l" t="t" r="r" b="b"/>
              <a:pathLst>
                <a:path w="2076450" h="809625">
                  <a:moveTo>
                    <a:pt x="0" y="134874"/>
                  </a:moveTo>
                  <a:lnTo>
                    <a:pt x="6870" y="92220"/>
                  </a:lnTo>
                  <a:lnTo>
                    <a:pt x="26005" y="55193"/>
                  </a:lnTo>
                  <a:lnTo>
                    <a:pt x="55193" y="26005"/>
                  </a:lnTo>
                  <a:lnTo>
                    <a:pt x="92220" y="6870"/>
                  </a:lnTo>
                  <a:lnTo>
                    <a:pt x="134874" y="0"/>
                  </a:lnTo>
                  <a:lnTo>
                    <a:pt x="1941449" y="0"/>
                  </a:lnTo>
                  <a:lnTo>
                    <a:pt x="1984115" y="6870"/>
                  </a:lnTo>
                  <a:lnTo>
                    <a:pt x="2021174" y="26005"/>
                  </a:lnTo>
                  <a:lnTo>
                    <a:pt x="2050399" y="55193"/>
                  </a:lnTo>
                  <a:lnTo>
                    <a:pt x="2069566" y="92220"/>
                  </a:lnTo>
                  <a:lnTo>
                    <a:pt x="2076450" y="134874"/>
                  </a:lnTo>
                  <a:lnTo>
                    <a:pt x="2076450" y="674624"/>
                  </a:lnTo>
                  <a:lnTo>
                    <a:pt x="2069566" y="717290"/>
                  </a:lnTo>
                  <a:lnTo>
                    <a:pt x="2050399" y="754349"/>
                  </a:lnTo>
                  <a:lnTo>
                    <a:pt x="2021174" y="783574"/>
                  </a:lnTo>
                  <a:lnTo>
                    <a:pt x="1984115" y="802741"/>
                  </a:lnTo>
                  <a:lnTo>
                    <a:pt x="1941449" y="809625"/>
                  </a:lnTo>
                  <a:lnTo>
                    <a:pt x="134874" y="809625"/>
                  </a:lnTo>
                  <a:lnTo>
                    <a:pt x="92220" y="802741"/>
                  </a:lnTo>
                  <a:lnTo>
                    <a:pt x="55193" y="783574"/>
                  </a:lnTo>
                  <a:lnTo>
                    <a:pt x="26005" y="754349"/>
                  </a:lnTo>
                  <a:lnTo>
                    <a:pt x="6870" y="717290"/>
                  </a:lnTo>
                  <a:lnTo>
                    <a:pt x="0" y="674624"/>
                  </a:lnTo>
                  <a:lnTo>
                    <a:pt x="0" y="1348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362259" y="2110106"/>
            <a:ext cx="1636903" cy="2898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SFT</a:t>
            </a:r>
            <a:r>
              <a:rPr sz="1800" spc="-4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Checkpoint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13651" y="1871726"/>
            <a:ext cx="2076450" cy="809625"/>
          </a:xfrm>
          <a:custGeom>
            <a:avLst/>
            <a:gdLst/>
            <a:ahLst/>
            <a:cxnLst/>
            <a:rect l="l" t="t" r="r" b="b"/>
            <a:pathLst>
              <a:path w="2076450" h="809625">
                <a:moveTo>
                  <a:pt x="0" y="134874"/>
                </a:moveTo>
                <a:lnTo>
                  <a:pt x="6870" y="92220"/>
                </a:lnTo>
                <a:lnTo>
                  <a:pt x="26005" y="55193"/>
                </a:lnTo>
                <a:lnTo>
                  <a:pt x="55193" y="26005"/>
                </a:lnTo>
                <a:lnTo>
                  <a:pt x="92220" y="6870"/>
                </a:lnTo>
                <a:lnTo>
                  <a:pt x="134874" y="0"/>
                </a:lnTo>
                <a:lnTo>
                  <a:pt x="1941449" y="0"/>
                </a:lnTo>
                <a:lnTo>
                  <a:pt x="1984115" y="6870"/>
                </a:lnTo>
                <a:lnTo>
                  <a:pt x="2021174" y="26005"/>
                </a:lnTo>
                <a:lnTo>
                  <a:pt x="2050399" y="55193"/>
                </a:lnTo>
                <a:lnTo>
                  <a:pt x="2069566" y="92220"/>
                </a:lnTo>
                <a:lnTo>
                  <a:pt x="2076450" y="134874"/>
                </a:lnTo>
                <a:lnTo>
                  <a:pt x="2076450" y="674624"/>
                </a:lnTo>
                <a:lnTo>
                  <a:pt x="2069566" y="717290"/>
                </a:lnTo>
                <a:lnTo>
                  <a:pt x="2050399" y="754349"/>
                </a:lnTo>
                <a:lnTo>
                  <a:pt x="2021174" y="783574"/>
                </a:lnTo>
                <a:lnTo>
                  <a:pt x="1984115" y="802741"/>
                </a:lnTo>
                <a:lnTo>
                  <a:pt x="1941449" y="809625"/>
                </a:lnTo>
                <a:lnTo>
                  <a:pt x="134874" y="809625"/>
                </a:lnTo>
                <a:lnTo>
                  <a:pt x="92220" y="802741"/>
                </a:lnTo>
                <a:lnTo>
                  <a:pt x="55193" y="783574"/>
                </a:lnTo>
                <a:lnTo>
                  <a:pt x="26005" y="754349"/>
                </a:lnTo>
                <a:lnTo>
                  <a:pt x="6870" y="717290"/>
                </a:lnTo>
                <a:lnTo>
                  <a:pt x="0" y="674624"/>
                </a:lnTo>
                <a:lnTo>
                  <a:pt x="0" y="13487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endParaRPr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05254" y="1003617"/>
            <a:ext cx="2479040" cy="554639"/>
          </a:xfrm>
          <a:prstGeom prst="rect">
            <a:avLst/>
          </a:prstGeom>
        </p:spPr>
        <p:txBody>
          <a:bodyPr vert="horz" wrap="square" lIns="0" tIns="10795" rIns="0" bIns="0" rtlCol="0" anchor="ctr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b="1" spc="-4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1.</a:t>
            </a:r>
            <a:r>
              <a:rPr sz="1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</a:t>
            </a:r>
            <a:r>
              <a:rPr sz="1800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SFT </a:t>
            </a:r>
            <a:r>
              <a:rPr sz="1800" spc="-5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Cold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Start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9590" y="5156517"/>
            <a:ext cx="3776345" cy="551818"/>
          </a:xfrm>
          <a:prstGeom prst="rect">
            <a:avLst/>
          </a:prstGeom>
        </p:spPr>
        <p:txBody>
          <a:bodyPr vert="horz" wrap="square" lIns="0" tIns="10795" rIns="0" bIns="0" rtlCol="0" anchor="ctr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0.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Generating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Long 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CoT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 </a:t>
            </a:r>
            <a:r>
              <a:rPr sz="1800" spc="-5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Few-shot</a:t>
            </a:r>
            <a:r>
              <a:rPr sz="1800" spc="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ICL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+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人工后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期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refining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88859" y="2105342"/>
            <a:ext cx="15265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RL-tuned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Model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68976" y="2233676"/>
            <a:ext cx="2689225" cy="2673350"/>
            <a:chOff x="5351526" y="2405126"/>
            <a:chExt cx="2689225" cy="2673350"/>
          </a:xfrm>
        </p:grpSpPr>
        <p:sp>
          <p:nvSpPr>
            <p:cNvPr id="24" name="object 24"/>
            <p:cNvSpPr/>
            <p:nvPr/>
          </p:nvSpPr>
          <p:spPr>
            <a:xfrm>
              <a:off x="6262624" y="2405126"/>
              <a:ext cx="925830" cy="76200"/>
            </a:xfrm>
            <a:custGeom>
              <a:avLst/>
              <a:gdLst/>
              <a:ahLst/>
              <a:cxnLst/>
              <a:rect l="l" t="t" r="r" b="b"/>
              <a:pathLst>
                <a:path w="925829" h="76200">
                  <a:moveTo>
                    <a:pt x="849376" y="41273"/>
                  </a:moveTo>
                  <a:lnTo>
                    <a:pt x="849376" y="76200"/>
                  </a:lnTo>
                  <a:lnTo>
                    <a:pt x="919226" y="41275"/>
                  </a:lnTo>
                  <a:lnTo>
                    <a:pt x="849376" y="41273"/>
                  </a:lnTo>
                  <a:close/>
                </a:path>
                <a:path w="925829" h="76200">
                  <a:moveTo>
                    <a:pt x="849376" y="34923"/>
                  </a:moveTo>
                  <a:lnTo>
                    <a:pt x="849376" y="41273"/>
                  </a:lnTo>
                  <a:lnTo>
                    <a:pt x="862076" y="41275"/>
                  </a:lnTo>
                  <a:lnTo>
                    <a:pt x="862076" y="34925"/>
                  </a:lnTo>
                  <a:lnTo>
                    <a:pt x="849376" y="34923"/>
                  </a:lnTo>
                  <a:close/>
                </a:path>
                <a:path w="925829" h="76200">
                  <a:moveTo>
                    <a:pt x="849376" y="0"/>
                  </a:moveTo>
                  <a:lnTo>
                    <a:pt x="849376" y="34923"/>
                  </a:lnTo>
                  <a:lnTo>
                    <a:pt x="862076" y="34925"/>
                  </a:lnTo>
                  <a:lnTo>
                    <a:pt x="862076" y="41275"/>
                  </a:lnTo>
                  <a:lnTo>
                    <a:pt x="919229" y="41273"/>
                  </a:lnTo>
                  <a:lnTo>
                    <a:pt x="925576" y="38100"/>
                  </a:lnTo>
                  <a:lnTo>
                    <a:pt x="849376" y="0"/>
                  </a:lnTo>
                  <a:close/>
                </a:path>
                <a:path w="925829" h="76200">
                  <a:moveTo>
                    <a:pt x="0" y="34798"/>
                  </a:moveTo>
                  <a:lnTo>
                    <a:pt x="0" y="41148"/>
                  </a:lnTo>
                  <a:lnTo>
                    <a:pt x="849376" y="41273"/>
                  </a:lnTo>
                  <a:lnTo>
                    <a:pt x="849376" y="34923"/>
                  </a:lnTo>
                  <a:lnTo>
                    <a:pt x="0" y="3479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357876" y="4252976"/>
              <a:ext cx="2676525" cy="819150"/>
            </a:xfrm>
            <a:custGeom>
              <a:avLst/>
              <a:gdLst/>
              <a:ahLst/>
              <a:cxnLst/>
              <a:rect l="l" t="t" r="r" b="b"/>
              <a:pathLst>
                <a:path w="2676525" h="819150">
                  <a:moveTo>
                    <a:pt x="0" y="136525"/>
                  </a:moveTo>
                  <a:lnTo>
                    <a:pt x="6956" y="93358"/>
                  </a:lnTo>
                  <a:lnTo>
                    <a:pt x="26330" y="55878"/>
                  </a:lnTo>
                  <a:lnTo>
                    <a:pt x="55878" y="26330"/>
                  </a:lnTo>
                  <a:lnTo>
                    <a:pt x="93358" y="6956"/>
                  </a:lnTo>
                  <a:lnTo>
                    <a:pt x="136525" y="0"/>
                  </a:lnTo>
                  <a:lnTo>
                    <a:pt x="2539873" y="0"/>
                  </a:lnTo>
                  <a:lnTo>
                    <a:pt x="2583053" y="6956"/>
                  </a:lnTo>
                  <a:lnTo>
                    <a:pt x="2620563" y="26330"/>
                  </a:lnTo>
                  <a:lnTo>
                    <a:pt x="2650149" y="55878"/>
                  </a:lnTo>
                  <a:lnTo>
                    <a:pt x="2669555" y="93358"/>
                  </a:lnTo>
                  <a:lnTo>
                    <a:pt x="2676525" y="136525"/>
                  </a:lnTo>
                  <a:lnTo>
                    <a:pt x="2676525" y="682498"/>
                  </a:lnTo>
                  <a:lnTo>
                    <a:pt x="2669555" y="725678"/>
                  </a:lnTo>
                  <a:lnTo>
                    <a:pt x="2650149" y="763188"/>
                  </a:lnTo>
                  <a:lnTo>
                    <a:pt x="2620563" y="792774"/>
                  </a:lnTo>
                  <a:lnTo>
                    <a:pt x="2583052" y="812180"/>
                  </a:lnTo>
                  <a:lnTo>
                    <a:pt x="2539873" y="819150"/>
                  </a:lnTo>
                  <a:lnTo>
                    <a:pt x="136525" y="819150"/>
                  </a:lnTo>
                  <a:lnTo>
                    <a:pt x="93358" y="812180"/>
                  </a:lnTo>
                  <a:lnTo>
                    <a:pt x="55878" y="792774"/>
                  </a:lnTo>
                  <a:lnTo>
                    <a:pt x="26330" y="763188"/>
                  </a:lnTo>
                  <a:lnTo>
                    <a:pt x="6956" y="725678"/>
                  </a:lnTo>
                  <a:lnTo>
                    <a:pt x="0" y="682498"/>
                  </a:lnTo>
                  <a:lnTo>
                    <a:pt x="0" y="136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79846" y="859091"/>
            <a:ext cx="3388360" cy="8534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b="1" spc="-3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2.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Reasoning-oriented</a:t>
            </a:r>
            <a:r>
              <a:rPr sz="18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 marR="1573530">
              <a:lnSpc>
                <a:spcPct val="100800"/>
              </a:lnSpc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类似训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练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spc="-3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1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-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Z</a:t>
            </a:r>
            <a:r>
              <a:rPr sz="1800" spc="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</a:t>
            </a:r>
            <a:r>
              <a:rPr sz="1800" spc="-9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o 直至训练收敛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91734" y="4324413"/>
            <a:ext cx="2245995" cy="3003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General-Purpose</a:t>
            </a:r>
            <a:r>
              <a:rPr sz="1800" spc="-4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Model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43551" y="2681223"/>
            <a:ext cx="6305550" cy="2226310"/>
            <a:chOff x="5126101" y="2852673"/>
            <a:chExt cx="6305550" cy="2226310"/>
          </a:xfrm>
        </p:grpSpPr>
        <p:sp>
          <p:nvSpPr>
            <p:cNvPr id="29" name="object 29"/>
            <p:cNvSpPr/>
            <p:nvPr/>
          </p:nvSpPr>
          <p:spPr>
            <a:xfrm>
              <a:off x="5126101" y="2852673"/>
              <a:ext cx="3111500" cy="1845310"/>
            </a:xfrm>
            <a:custGeom>
              <a:avLst/>
              <a:gdLst/>
              <a:ahLst/>
              <a:cxnLst/>
              <a:rect l="l" t="t" r="r" b="b"/>
              <a:pathLst>
                <a:path w="3111500" h="1845310">
                  <a:moveTo>
                    <a:pt x="155575" y="1769109"/>
                  </a:moveTo>
                  <a:lnTo>
                    <a:pt x="155575" y="1845309"/>
                  </a:lnTo>
                  <a:lnTo>
                    <a:pt x="225425" y="1810384"/>
                  </a:lnTo>
                  <a:lnTo>
                    <a:pt x="168275" y="1810384"/>
                  </a:lnTo>
                  <a:lnTo>
                    <a:pt x="168275" y="1804034"/>
                  </a:lnTo>
                  <a:lnTo>
                    <a:pt x="225425" y="1804034"/>
                  </a:lnTo>
                  <a:lnTo>
                    <a:pt x="155575" y="1769109"/>
                  </a:lnTo>
                  <a:close/>
                </a:path>
                <a:path w="3111500" h="1845310">
                  <a:moveTo>
                    <a:pt x="3104642" y="696213"/>
                  </a:moveTo>
                  <a:lnTo>
                    <a:pt x="0" y="696213"/>
                  </a:lnTo>
                  <a:lnTo>
                    <a:pt x="0" y="1810384"/>
                  </a:lnTo>
                  <a:lnTo>
                    <a:pt x="155575" y="1810384"/>
                  </a:lnTo>
                  <a:lnTo>
                    <a:pt x="155575" y="1807209"/>
                  </a:lnTo>
                  <a:lnTo>
                    <a:pt x="6350" y="1807209"/>
                  </a:lnTo>
                  <a:lnTo>
                    <a:pt x="3175" y="1804034"/>
                  </a:lnTo>
                  <a:lnTo>
                    <a:pt x="6350" y="1804034"/>
                  </a:lnTo>
                  <a:lnTo>
                    <a:pt x="6350" y="702563"/>
                  </a:lnTo>
                  <a:lnTo>
                    <a:pt x="3175" y="702563"/>
                  </a:lnTo>
                  <a:lnTo>
                    <a:pt x="6350" y="699388"/>
                  </a:lnTo>
                  <a:lnTo>
                    <a:pt x="3104642" y="699388"/>
                  </a:lnTo>
                  <a:lnTo>
                    <a:pt x="3104642" y="696213"/>
                  </a:lnTo>
                  <a:close/>
                </a:path>
                <a:path w="3111500" h="1845310">
                  <a:moveTo>
                    <a:pt x="225425" y="1804034"/>
                  </a:moveTo>
                  <a:lnTo>
                    <a:pt x="168275" y="1804034"/>
                  </a:lnTo>
                  <a:lnTo>
                    <a:pt x="168275" y="1810384"/>
                  </a:lnTo>
                  <a:lnTo>
                    <a:pt x="225425" y="1810384"/>
                  </a:lnTo>
                  <a:lnTo>
                    <a:pt x="231775" y="1807209"/>
                  </a:lnTo>
                  <a:lnTo>
                    <a:pt x="225425" y="1804034"/>
                  </a:lnTo>
                  <a:close/>
                </a:path>
                <a:path w="3111500" h="1845310">
                  <a:moveTo>
                    <a:pt x="6350" y="1804034"/>
                  </a:moveTo>
                  <a:lnTo>
                    <a:pt x="3175" y="1804034"/>
                  </a:lnTo>
                  <a:lnTo>
                    <a:pt x="6350" y="1807209"/>
                  </a:lnTo>
                  <a:lnTo>
                    <a:pt x="6350" y="1804034"/>
                  </a:lnTo>
                  <a:close/>
                </a:path>
                <a:path w="3111500" h="1845310">
                  <a:moveTo>
                    <a:pt x="155575" y="1804034"/>
                  </a:moveTo>
                  <a:lnTo>
                    <a:pt x="6350" y="1804034"/>
                  </a:lnTo>
                  <a:lnTo>
                    <a:pt x="6350" y="1807209"/>
                  </a:lnTo>
                  <a:lnTo>
                    <a:pt x="155575" y="1807209"/>
                  </a:lnTo>
                  <a:lnTo>
                    <a:pt x="155575" y="1804034"/>
                  </a:lnTo>
                  <a:close/>
                </a:path>
                <a:path w="3111500" h="1845310">
                  <a:moveTo>
                    <a:pt x="6350" y="699388"/>
                  </a:moveTo>
                  <a:lnTo>
                    <a:pt x="3175" y="702563"/>
                  </a:lnTo>
                  <a:lnTo>
                    <a:pt x="6350" y="702563"/>
                  </a:lnTo>
                  <a:lnTo>
                    <a:pt x="6350" y="699388"/>
                  </a:lnTo>
                  <a:close/>
                </a:path>
                <a:path w="3111500" h="1845310">
                  <a:moveTo>
                    <a:pt x="3110992" y="696213"/>
                  </a:moveTo>
                  <a:lnTo>
                    <a:pt x="3107817" y="696213"/>
                  </a:lnTo>
                  <a:lnTo>
                    <a:pt x="3104642" y="699388"/>
                  </a:lnTo>
                  <a:lnTo>
                    <a:pt x="6350" y="699388"/>
                  </a:lnTo>
                  <a:lnTo>
                    <a:pt x="6350" y="702563"/>
                  </a:lnTo>
                  <a:lnTo>
                    <a:pt x="3110992" y="702563"/>
                  </a:lnTo>
                  <a:lnTo>
                    <a:pt x="3110992" y="696213"/>
                  </a:lnTo>
                  <a:close/>
                </a:path>
                <a:path w="3111500" h="1845310">
                  <a:moveTo>
                    <a:pt x="3110992" y="0"/>
                  </a:moveTo>
                  <a:lnTo>
                    <a:pt x="3104642" y="0"/>
                  </a:lnTo>
                  <a:lnTo>
                    <a:pt x="3104642" y="699388"/>
                  </a:lnTo>
                  <a:lnTo>
                    <a:pt x="3107817" y="696213"/>
                  </a:lnTo>
                  <a:lnTo>
                    <a:pt x="3110992" y="696213"/>
                  </a:lnTo>
                  <a:lnTo>
                    <a:pt x="311099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9348851" y="4252975"/>
              <a:ext cx="2076450" cy="819150"/>
            </a:xfrm>
            <a:custGeom>
              <a:avLst/>
              <a:gdLst/>
              <a:ahLst/>
              <a:cxnLst/>
              <a:rect l="l" t="t" r="r" b="b"/>
              <a:pathLst>
                <a:path w="2076450" h="819150">
                  <a:moveTo>
                    <a:pt x="0" y="136525"/>
                  </a:moveTo>
                  <a:lnTo>
                    <a:pt x="6956" y="93358"/>
                  </a:lnTo>
                  <a:lnTo>
                    <a:pt x="26330" y="55878"/>
                  </a:lnTo>
                  <a:lnTo>
                    <a:pt x="55878" y="26330"/>
                  </a:lnTo>
                  <a:lnTo>
                    <a:pt x="93358" y="6956"/>
                  </a:lnTo>
                  <a:lnTo>
                    <a:pt x="136525" y="0"/>
                  </a:lnTo>
                  <a:lnTo>
                    <a:pt x="1939798" y="0"/>
                  </a:lnTo>
                  <a:lnTo>
                    <a:pt x="1982977" y="6956"/>
                  </a:lnTo>
                  <a:lnTo>
                    <a:pt x="2020488" y="26330"/>
                  </a:lnTo>
                  <a:lnTo>
                    <a:pt x="2050074" y="55878"/>
                  </a:lnTo>
                  <a:lnTo>
                    <a:pt x="2069480" y="93358"/>
                  </a:lnTo>
                  <a:lnTo>
                    <a:pt x="2076450" y="136525"/>
                  </a:lnTo>
                  <a:lnTo>
                    <a:pt x="2076450" y="682498"/>
                  </a:lnTo>
                  <a:lnTo>
                    <a:pt x="2069480" y="725678"/>
                  </a:lnTo>
                  <a:lnTo>
                    <a:pt x="2050074" y="763188"/>
                  </a:lnTo>
                  <a:lnTo>
                    <a:pt x="2020488" y="792774"/>
                  </a:lnTo>
                  <a:lnTo>
                    <a:pt x="1982977" y="812180"/>
                  </a:lnTo>
                  <a:lnTo>
                    <a:pt x="1939798" y="819150"/>
                  </a:lnTo>
                  <a:lnTo>
                    <a:pt x="136525" y="819150"/>
                  </a:lnTo>
                  <a:lnTo>
                    <a:pt x="93358" y="812180"/>
                  </a:lnTo>
                  <a:lnTo>
                    <a:pt x="55878" y="792774"/>
                  </a:lnTo>
                  <a:lnTo>
                    <a:pt x="26330" y="763188"/>
                  </a:lnTo>
                  <a:lnTo>
                    <a:pt x="6956" y="725678"/>
                  </a:lnTo>
                  <a:lnTo>
                    <a:pt x="0" y="682498"/>
                  </a:lnTo>
                  <a:lnTo>
                    <a:pt x="0" y="13652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ctr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66759" y="2766123"/>
            <a:ext cx="3700145" cy="8534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3.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Rejection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Sampling</a:t>
            </a:r>
            <a:r>
              <a:rPr sz="1800" spc="-4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SFT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¾</a:t>
            </a:r>
            <a:r>
              <a:rPr sz="1800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 data（600K）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¼ general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instruction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</a:t>
            </a:r>
            <a:r>
              <a:rPr sz="180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(200K)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13926" y="843025"/>
            <a:ext cx="2743200" cy="866775"/>
          </a:xfrm>
          <a:prstGeom prst="rect">
            <a:avLst/>
          </a:prstGeom>
          <a:solidFill>
            <a:srgbClr val="434DD5"/>
          </a:solidFill>
          <a:ln w="12700">
            <a:solidFill>
              <a:srgbClr val="2E528F"/>
            </a:solidFill>
          </a:ln>
        </p:spPr>
        <p:txBody>
          <a:bodyPr vert="horz" wrap="square" lIns="0" tIns="6350" rIns="0" bIns="0" rtlCol="0" anchor="ctr">
            <a:spAutoFit/>
          </a:bodyPr>
          <a:lstStyle/>
          <a:p>
            <a:pPr marL="133350" marR="120650" algn="ctr">
              <a:lnSpc>
                <a:spcPct val="100800"/>
              </a:lnSpc>
              <a:spcBef>
                <a:spcPts val="50"/>
              </a:spcBef>
            </a:pP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spc="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</a:t>
            </a:r>
            <a:r>
              <a:rPr sz="1800" spc="-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</a:t>
            </a:r>
            <a:r>
              <a:rPr sz="1800" spc="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 </a:t>
            </a:r>
            <a:r>
              <a:rPr sz="1800" spc="-5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Math,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Code,</a:t>
            </a:r>
            <a:r>
              <a:rPr sz="1800" spc="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Logic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905" algn="ctr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（600K</a:t>
            </a:r>
            <a:r>
              <a:rPr sz="1800" spc="-8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samples）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13926" y="1766951"/>
            <a:ext cx="2743200" cy="876300"/>
          </a:xfrm>
          <a:prstGeom prst="rect">
            <a:avLst/>
          </a:prstGeom>
          <a:solidFill>
            <a:srgbClr val="00D5FF"/>
          </a:solidFill>
          <a:ln w="12700">
            <a:solidFill>
              <a:srgbClr val="2E528F"/>
            </a:solidFill>
          </a:ln>
        </p:spPr>
        <p:txBody>
          <a:bodyPr vert="horz" wrap="square" lIns="0" tIns="14604" rIns="0" bIns="0" rtlCol="0" anchor="ctr">
            <a:spAutoFit/>
          </a:bodyPr>
          <a:lstStyle/>
          <a:p>
            <a:pPr marL="103505" marR="97790" indent="5715" algn="ctr">
              <a:lnSpc>
                <a:spcPct val="100800"/>
              </a:lnSpc>
              <a:spcBef>
                <a:spcPts val="114"/>
              </a:spcBef>
              <a:tabLst>
                <a:tab pos="2258060" algn="l"/>
              </a:tabLst>
            </a:pP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spc="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</a:t>
            </a:r>
            <a:r>
              <a:rPr sz="1800" spc="-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Instruction</a:t>
            </a:r>
            <a:r>
              <a:rPr sz="1800" spc="-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 </a:t>
            </a:r>
            <a:r>
              <a:rPr sz="1800" spc="-5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W</a:t>
            </a:r>
            <a:r>
              <a:rPr sz="1800" spc="-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</a:t>
            </a:r>
            <a:r>
              <a:rPr sz="1800" spc="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n</a:t>
            </a:r>
            <a:r>
              <a:rPr sz="1800" spc="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</a:t>
            </a:r>
            <a:r>
              <a:rPr sz="1800" spc="-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Q</a:t>
            </a:r>
            <a:r>
              <a:rPr sz="1800" spc="8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spc="5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n</a:t>
            </a:r>
            <a:r>
              <a:rPr sz="1800" spc="6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	</a:t>
            </a:r>
            <a:r>
              <a:rPr sz="1800" spc="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</a:t>
            </a:r>
            <a:r>
              <a:rPr sz="1800" spc="-7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c.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905" algn="ctr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（200K</a:t>
            </a:r>
            <a:r>
              <a:rPr sz="1800" spc="-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samples）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01135" y="4334945"/>
            <a:ext cx="1539875" cy="2898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DeepSeek-R1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1723" y="4455286"/>
            <a:ext cx="1308100" cy="76200"/>
          </a:xfrm>
          <a:custGeom>
            <a:avLst/>
            <a:gdLst/>
            <a:ahLst/>
            <a:cxnLst/>
            <a:rect l="l" t="t" r="r" b="b"/>
            <a:pathLst>
              <a:path w="1308100" h="76200">
                <a:moveTo>
                  <a:pt x="1231831" y="41250"/>
                </a:moveTo>
                <a:lnTo>
                  <a:pt x="1231773" y="76200"/>
                </a:lnTo>
                <a:lnTo>
                  <a:pt x="1301856" y="41275"/>
                </a:lnTo>
                <a:lnTo>
                  <a:pt x="1244473" y="41275"/>
                </a:lnTo>
                <a:lnTo>
                  <a:pt x="1231831" y="41250"/>
                </a:lnTo>
                <a:close/>
              </a:path>
              <a:path w="1308100" h="76200">
                <a:moveTo>
                  <a:pt x="1231841" y="34900"/>
                </a:moveTo>
                <a:lnTo>
                  <a:pt x="1231831" y="41250"/>
                </a:lnTo>
                <a:lnTo>
                  <a:pt x="1244473" y="41275"/>
                </a:lnTo>
                <a:lnTo>
                  <a:pt x="1244473" y="34925"/>
                </a:lnTo>
                <a:lnTo>
                  <a:pt x="1231841" y="34900"/>
                </a:lnTo>
                <a:close/>
              </a:path>
              <a:path w="1308100" h="76200">
                <a:moveTo>
                  <a:pt x="1231900" y="0"/>
                </a:moveTo>
                <a:lnTo>
                  <a:pt x="1231841" y="34900"/>
                </a:lnTo>
                <a:lnTo>
                  <a:pt x="1244473" y="34925"/>
                </a:lnTo>
                <a:lnTo>
                  <a:pt x="1244473" y="41275"/>
                </a:lnTo>
                <a:lnTo>
                  <a:pt x="1301856" y="41275"/>
                </a:lnTo>
                <a:lnTo>
                  <a:pt x="1307973" y="38226"/>
                </a:lnTo>
                <a:lnTo>
                  <a:pt x="1231900" y="0"/>
                </a:lnTo>
                <a:close/>
              </a:path>
              <a:path w="1308100" h="76200">
                <a:moveTo>
                  <a:pt x="126" y="32512"/>
                </a:moveTo>
                <a:lnTo>
                  <a:pt x="0" y="38862"/>
                </a:lnTo>
                <a:lnTo>
                  <a:pt x="1231831" y="41250"/>
                </a:lnTo>
                <a:lnTo>
                  <a:pt x="1231841" y="34900"/>
                </a:lnTo>
                <a:lnTo>
                  <a:pt x="126" y="3251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 anchor="ctr"/>
          <a:lstStyle/>
          <a:p>
            <a:endParaRPr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0876" y="5086286"/>
            <a:ext cx="4815840" cy="8534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b="1" spc="-4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4.</a:t>
            </a:r>
            <a:r>
              <a:rPr sz="1800" b="1" spc="-3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General</a:t>
            </a:r>
            <a:r>
              <a:rPr sz="1800" spc="-5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 marR="5080">
              <a:lnSpc>
                <a:spcPct val="100800"/>
              </a:lnSpc>
            </a:pP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</a:t>
            </a:r>
            <a:r>
              <a:rPr sz="1800" spc="509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with</a:t>
            </a:r>
            <a:r>
              <a:rPr sz="1800" spc="5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rule-based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rewards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RLHF</a:t>
            </a:r>
            <a:r>
              <a:rPr sz="18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Preference</a:t>
            </a:r>
            <a:r>
              <a:rPr sz="1800" spc="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3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Tuning</a:t>
            </a:r>
            <a:r>
              <a:rPr sz="1800" spc="3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with</a:t>
            </a:r>
            <a:r>
              <a:rPr sz="1800" spc="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safety</a:t>
            </a:r>
            <a:r>
              <a:rPr sz="1800" spc="-4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rewards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0069" y="6072504"/>
            <a:ext cx="7410450" cy="57721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98450" algn="l"/>
              </a:tabLst>
            </a:pP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DeepSeek-R1</a:t>
            </a:r>
            <a:r>
              <a:rPr sz="1800" spc="-6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不是唯一的推理模型框架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，2025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年将出现更多新的框架</a:t>
            </a: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98450" algn="l"/>
              </a:tabLst>
            </a:pP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要复现上述框架，需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要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</a:t>
            </a:r>
            <a:r>
              <a:rPr sz="1800" spc="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ee</a:t>
            </a:r>
            <a:r>
              <a:rPr sz="18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p</a:t>
            </a:r>
            <a:r>
              <a:rPr sz="18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</a:t>
            </a:r>
            <a:r>
              <a:rPr sz="1800" spc="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</a:t>
            </a:r>
            <a:r>
              <a:rPr sz="1800" spc="-5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</a:t>
            </a:r>
            <a:r>
              <a:rPr sz="1800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k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开源相关数据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xmlns="" id="{52893F97-11A7-4BF2-13C2-1838EF14F82C}"/>
              </a:ext>
            </a:extLst>
          </p:cNvPr>
          <p:cNvCxnSpPr>
            <a:cxnSpLocks/>
          </p:cNvCxnSpPr>
          <p:nvPr/>
        </p:nvCxnSpPr>
        <p:spPr>
          <a:xfrm flipV="1">
            <a:off x="2160523" y="2221758"/>
            <a:ext cx="1943227" cy="8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xmlns="" id="{2F6CAA31-4224-A4E0-9CD3-C1AD7A9EFCB6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773233" y="2230748"/>
            <a:ext cx="1" cy="1443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的技术创新：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推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理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模型</a:t>
            </a:r>
            <a:r>
              <a:rPr sz="3200" spc="-75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10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sz="3200" spc="-6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10" dirty="0">
                <a:latin typeface="Times New Roman" panose="02020603050405020304" pitchFamily="18" charset="0"/>
                <a:ea typeface="楷体" panose="02010609060101010101" pitchFamily="49" charset="-122"/>
              </a:rPr>
              <a:t>RL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6837" y="1604582"/>
            <a:ext cx="6919913" cy="380568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0667" y="1447736"/>
            <a:ext cx="4984433" cy="93557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20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1.</a:t>
            </a:r>
            <a:r>
              <a:rPr sz="2000" b="1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强化学习框</a:t>
            </a:r>
            <a:r>
              <a:rPr sz="20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架</a:t>
            </a:r>
            <a:r>
              <a:rPr sz="20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GRPO </a:t>
            </a:r>
            <a:r>
              <a:rPr sz="20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（DeepSeekMath） </a:t>
            </a:r>
            <a:endParaRPr 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20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采用蒙特卡洛估算以取</a:t>
            </a:r>
            <a:r>
              <a:rPr sz="2000" spc="-1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代</a:t>
            </a:r>
            <a:r>
              <a:rPr lang="en-US" sz="2000" spc="-1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V</a:t>
            </a:r>
            <a:r>
              <a:rPr lang="en-US" altLang="zh-CN" sz="2000" spc="-1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alue</a:t>
            </a:r>
            <a:r>
              <a:rPr sz="2000" spc="-5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模型，降低</a:t>
            </a:r>
            <a:r>
              <a:rPr sz="200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计算和存储开销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817" y="4290810"/>
            <a:ext cx="6133783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2.</a:t>
            </a:r>
            <a:r>
              <a:rPr sz="2000" b="1" spc="-5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强化学习奖励模型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采</a:t>
            </a:r>
            <a:r>
              <a:rPr sz="20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用easily</a:t>
            </a:r>
            <a:r>
              <a:rPr sz="2000" spc="-3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verifiable</a:t>
            </a:r>
            <a:r>
              <a:rPr sz="20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rewards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756285" lvl="1" indent="-286385">
              <a:lnSpc>
                <a:spcPts val="2135"/>
              </a:lnSpc>
              <a:spcBef>
                <a:spcPts val="15"/>
              </a:spcBef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Accuracy</a:t>
            </a:r>
            <a:r>
              <a:rPr sz="2000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756285" lvl="1" indent="-286385">
              <a:lnSpc>
                <a:spcPts val="2135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Format</a:t>
            </a:r>
            <a:r>
              <a:rPr sz="20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756285" lvl="1" indent="-28638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Language-consistency</a:t>
            </a:r>
            <a:r>
              <a:rPr sz="20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298450" indent="-286385">
              <a:lnSpc>
                <a:spcPct val="100000"/>
              </a:lnSpc>
              <a:spcBef>
                <a:spcPts val="15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避免过程奖励模型：计算复杂，容</a:t>
            </a:r>
            <a:r>
              <a:rPr sz="2000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易</a:t>
            </a: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reward</a:t>
            </a:r>
            <a:r>
              <a:rPr sz="2000" spc="-4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0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hacking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4" y="88838"/>
            <a:ext cx="909336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zh-CN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altLang="zh-CN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zh-CN" altLang="en-US"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技</a:t>
            </a:r>
            <a:r>
              <a:rPr lang="zh-CN" altLang="en-US"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术创</a:t>
            </a:r>
            <a:r>
              <a:rPr lang="zh-CN" altLang="en-US" sz="3200" spc="-30" dirty="0">
                <a:latin typeface="Times New Roman" panose="02020603050405020304" pitchFamily="18" charset="0"/>
                <a:ea typeface="楷体" panose="02010609060101010101" pitchFamily="49" charset="-122"/>
              </a:rPr>
              <a:t>新：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推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理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模型</a:t>
            </a:r>
            <a:r>
              <a:rPr sz="3200" spc="-8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10" dirty="0">
                <a:latin typeface="Times New Roman" panose="02020603050405020304" pitchFamily="18" charset="0"/>
                <a:ea typeface="楷体" panose="02010609060101010101" pitchFamily="49" charset="-122"/>
              </a:rPr>
              <a:t>|</a:t>
            </a:r>
            <a:r>
              <a:rPr sz="3200" spc="-60" dirty="0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推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理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能力</a:t>
            </a:r>
            <a:r>
              <a:rPr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蒸</a:t>
            </a:r>
            <a:r>
              <a:rPr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7276" y="2167001"/>
            <a:ext cx="2827274" cy="866775"/>
          </a:xfrm>
          <a:prstGeom prst="rect">
            <a:avLst/>
          </a:prstGeom>
          <a:solidFill>
            <a:srgbClr val="434DD5"/>
          </a:solidFill>
          <a:ln w="12700">
            <a:solidFill>
              <a:srgbClr val="2E528F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35255" marR="128270" algn="ctr">
              <a:lnSpc>
                <a:spcPct val="100800"/>
              </a:lnSpc>
              <a:spcBef>
                <a:spcPts val="75"/>
              </a:spcBef>
            </a:pP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spc="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</a:t>
            </a:r>
            <a:r>
              <a:rPr sz="1800" spc="-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</a:t>
            </a:r>
            <a:r>
              <a:rPr sz="1800" spc="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 </a:t>
            </a:r>
            <a:r>
              <a:rPr sz="1800" spc="-5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Math,</a:t>
            </a:r>
            <a:r>
              <a:rPr sz="1800" spc="-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Code,</a:t>
            </a:r>
            <a:r>
              <a:rPr sz="1800" spc="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Logic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（600K</a:t>
            </a:r>
            <a:r>
              <a:rPr sz="1800" spc="-7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samples）</a:t>
            </a:r>
            <a:endParaRPr sz="18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7276" y="3090926"/>
            <a:ext cx="2827274" cy="876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2E528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06045" marR="104775" indent="5715" algn="ctr">
              <a:lnSpc>
                <a:spcPct val="100800"/>
              </a:lnSpc>
              <a:spcBef>
                <a:spcPts val="140"/>
              </a:spcBef>
              <a:tabLst>
                <a:tab pos="2260600" algn="l"/>
              </a:tabLst>
            </a:pP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Step</a:t>
            </a:r>
            <a:r>
              <a:rPr sz="1800" spc="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3</a:t>
            </a:r>
            <a:r>
              <a:rPr sz="1800" spc="-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Instruction</a:t>
            </a:r>
            <a:r>
              <a:rPr sz="1800" spc="-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Data </a:t>
            </a:r>
            <a:r>
              <a:rPr sz="1800" spc="-52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W</a:t>
            </a:r>
            <a:r>
              <a:rPr sz="1800" spc="-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</a:t>
            </a:r>
            <a:r>
              <a:rPr sz="1800" spc="1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n</a:t>
            </a:r>
            <a:r>
              <a:rPr sz="1800" spc="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</a:t>
            </a:r>
            <a:r>
              <a:rPr sz="1800" spc="-3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Q</a:t>
            </a:r>
            <a:r>
              <a:rPr sz="1800" spc="8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1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1800" spc="5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1800" spc="-6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n</a:t>
            </a:r>
            <a:r>
              <a:rPr sz="1800" spc="6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,	</a:t>
            </a:r>
            <a:r>
              <a:rPr sz="1800" spc="2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e</a:t>
            </a:r>
            <a:r>
              <a:rPr sz="1800" spc="-7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c.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（200K</a:t>
            </a:r>
            <a:r>
              <a:rPr sz="1800" spc="-4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samples）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4812" y="1100200"/>
            <a:ext cx="2877185" cy="1409700"/>
          </a:xfrm>
          <a:custGeom>
            <a:avLst/>
            <a:gdLst/>
            <a:ahLst/>
            <a:cxnLst/>
            <a:rect l="l" t="t" r="r" b="b"/>
            <a:pathLst>
              <a:path w="2877185" h="1409700">
                <a:moveTo>
                  <a:pt x="0" y="234950"/>
                </a:moveTo>
                <a:lnTo>
                  <a:pt x="4773" y="187589"/>
                </a:lnTo>
                <a:lnTo>
                  <a:pt x="18464" y="143482"/>
                </a:lnTo>
                <a:lnTo>
                  <a:pt x="40126" y="103571"/>
                </a:lnTo>
                <a:lnTo>
                  <a:pt x="68816" y="68802"/>
                </a:lnTo>
                <a:lnTo>
                  <a:pt x="103588" y="40116"/>
                </a:lnTo>
                <a:lnTo>
                  <a:pt x="143498" y="18458"/>
                </a:lnTo>
                <a:lnTo>
                  <a:pt x="187600" y="4771"/>
                </a:lnTo>
                <a:lnTo>
                  <a:pt x="234950" y="0"/>
                </a:lnTo>
                <a:lnTo>
                  <a:pt x="2641536" y="0"/>
                </a:lnTo>
                <a:lnTo>
                  <a:pt x="2688902" y="4771"/>
                </a:lnTo>
                <a:lnTo>
                  <a:pt x="2733024" y="18458"/>
                </a:lnTo>
                <a:lnTo>
                  <a:pt x="2772954" y="40116"/>
                </a:lnTo>
                <a:lnTo>
                  <a:pt x="2807747" y="68802"/>
                </a:lnTo>
                <a:lnTo>
                  <a:pt x="2836456" y="103571"/>
                </a:lnTo>
                <a:lnTo>
                  <a:pt x="2858134" y="143482"/>
                </a:lnTo>
                <a:lnTo>
                  <a:pt x="2871836" y="187589"/>
                </a:lnTo>
                <a:lnTo>
                  <a:pt x="2876613" y="234950"/>
                </a:lnTo>
                <a:lnTo>
                  <a:pt x="2876613" y="1174623"/>
                </a:lnTo>
                <a:lnTo>
                  <a:pt x="2871836" y="1221989"/>
                </a:lnTo>
                <a:lnTo>
                  <a:pt x="2858135" y="1266110"/>
                </a:lnTo>
                <a:lnTo>
                  <a:pt x="2836456" y="1306041"/>
                </a:lnTo>
                <a:lnTo>
                  <a:pt x="2807747" y="1340834"/>
                </a:lnTo>
                <a:lnTo>
                  <a:pt x="2772954" y="1369543"/>
                </a:lnTo>
                <a:lnTo>
                  <a:pt x="2733024" y="1391221"/>
                </a:lnTo>
                <a:lnTo>
                  <a:pt x="2688902" y="1404922"/>
                </a:lnTo>
                <a:lnTo>
                  <a:pt x="2641536" y="1409700"/>
                </a:lnTo>
                <a:lnTo>
                  <a:pt x="234950" y="1409700"/>
                </a:lnTo>
                <a:lnTo>
                  <a:pt x="187600" y="1404922"/>
                </a:lnTo>
                <a:lnTo>
                  <a:pt x="143498" y="1391221"/>
                </a:lnTo>
                <a:lnTo>
                  <a:pt x="103588" y="1369543"/>
                </a:lnTo>
                <a:lnTo>
                  <a:pt x="68816" y="1340834"/>
                </a:lnTo>
                <a:lnTo>
                  <a:pt x="40126" y="1306041"/>
                </a:lnTo>
                <a:lnTo>
                  <a:pt x="18464" y="1266110"/>
                </a:lnTo>
                <a:lnTo>
                  <a:pt x="4773" y="1221989"/>
                </a:lnTo>
                <a:lnTo>
                  <a:pt x="0" y="1174623"/>
                </a:lnTo>
                <a:lnTo>
                  <a:pt x="0" y="234950"/>
                </a:lnTo>
                <a:close/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297" y="1085532"/>
            <a:ext cx="2542857" cy="1393908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635" algn="ctr">
              <a:lnSpc>
                <a:spcPct val="100800"/>
              </a:lnSpc>
              <a:spcBef>
                <a:spcPts val="85"/>
              </a:spcBef>
            </a:pP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Qwen2.5-Math-1.5B,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Qwen2.5-Math-7B, </a:t>
            </a:r>
            <a:r>
              <a:rPr sz="180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Qwen2.5-</a:t>
            </a:r>
            <a:r>
              <a:rPr sz="1800" spc="-2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14B,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Qwen2.5- </a:t>
            </a:r>
            <a:r>
              <a:rPr sz="1800" spc="-39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32B,</a:t>
            </a:r>
            <a:r>
              <a:rPr sz="1800" spc="3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1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Llama-3.1-8B,</a:t>
            </a:r>
            <a:r>
              <a:rPr sz="1800" spc="-4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1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and </a:t>
            </a:r>
            <a:r>
              <a:rPr sz="1800" spc="20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Llama-3.3-70B-Instruct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99501" y="1093850"/>
            <a:ext cx="3565525" cy="1422400"/>
            <a:chOff x="8199501" y="1360550"/>
            <a:chExt cx="3565525" cy="1422400"/>
          </a:xfrm>
        </p:grpSpPr>
        <p:sp>
          <p:nvSpPr>
            <p:cNvPr id="8" name="object 8"/>
            <p:cNvSpPr/>
            <p:nvPr/>
          </p:nvSpPr>
          <p:spPr>
            <a:xfrm>
              <a:off x="8205851" y="1366900"/>
              <a:ext cx="3552825" cy="1409700"/>
            </a:xfrm>
            <a:custGeom>
              <a:avLst/>
              <a:gdLst/>
              <a:ahLst/>
              <a:cxnLst/>
              <a:rect l="l" t="t" r="r" b="b"/>
              <a:pathLst>
                <a:path w="3552825" h="1409700">
                  <a:moveTo>
                    <a:pt x="3317748" y="0"/>
                  </a:moveTo>
                  <a:lnTo>
                    <a:pt x="234950" y="0"/>
                  </a:lnTo>
                  <a:lnTo>
                    <a:pt x="187589" y="4771"/>
                  </a:lnTo>
                  <a:lnTo>
                    <a:pt x="143482" y="18458"/>
                  </a:lnTo>
                  <a:lnTo>
                    <a:pt x="103571" y="40116"/>
                  </a:lnTo>
                  <a:lnTo>
                    <a:pt x="68802" y="68802"/>
                  </a:lnTo>
                  <a:lnTo>
                    <a:pt x="40116" y="103571"/>
                  </a:lnTo>
                  <a:lnTo>
                    <a:pt x="18458" y="143482"/>
                  </a:lnTo>
                  <a:lnTo>
                    <a:pt x="4771" y="187589"/>
                  </a:lnTo>
                  <a:lnTo>
                    <a:pt x="0" y="234950"/>
                  </a:lnTo>
                  <a:lnTo>
                    <a:pt x="0" y="1174623"/>
                  </a:lnTo>
                  <a:lnTo>
                    <a:pt x="4771" y="1221989"/>
                  </a:lnTo>
                  <a:lnTo>
                    <a:pt x="18458" y="1266110"/>
                  </a:lnTo>
                  <a:lnTo>
                    <a:pt x="40116" y="1306041"/>
                  </a:lnTo>
                  <a:lnTo>
                    <a:pt x="68802" y="1340834"/>
                  </a:lnTo>
                  <a:lnTo>
                    <a:pt x="103571" y="1369543"/>
                  </a:lnTo>
                  <a:lnTo>
                    <a:pt x="143482" y="1391221"/>
                  </a:lnTo>
                  <a:lnTo>
                    <a:pt x="187589" y="1404922"/>
                  </a:lnTo>
                  <a:lnTo>
                    <a:pt x="234950" y="1409700"/>
                  </a:lnTo>
                  <a:lnTo>
                    <a:pt x="3317748" y="1409700"/>
                  </a:lnTo>
                  <a:lnTo>
                    <a:pt x="3365114" y="1404922"/>
                  </a:lnTo>
                  <a:lnTo>
                    <a:pt x="3409235" y="1391221"/>
                  </a:lnTo>
                  <a:lnTo>
                    <a:pt x="3449166" y="1369543"/>
                  </a:lnTo>
                  <a:lnTo>
                    <a:pt x="3483959" y="1340834"/>
                  </a:lnTo>
                  <a:lnTo>
                    <a:pt x="3512668" y="1306041"/>
                  </a:lnTo>
                  <a:lnTo>
                    <a:pt x="3534346" y="1266110"/>
                  </a:lnTo>
                  <a:lnTo>
                    <a:pt x="3548047" y="1221989"/>
                  </a:lnTo>
                  <a:lnTo>
                    <a:pt x="3552825" y="1174623"/>
                  </a:lnTo>
                  <a:lnTo>
                    <a:pt x="3552825" y="234950"/>
                  </a:lnTo>
                  <a:lnTo>
                    <a:pt x="3548047" y="187589"/>
                  </a:lnTo>
                  <a:lnTo>
                    <a:pt x="3534346" y="143482"/>
                  </a:lnTo>
                  <a:lnTo>
                    <a:pt x="3512668" y="103571"/>
                  </a:lnTo>
                  <a:lnTo>
                    <a:pt x="3483959" y="68802"/>
                  </a:lnTo>
                  <a:lnTo>
                    <a:pt x="3449166" y="40116"/>
                  </a:lnTo>
                  <a:lnTo>
                    <a:pt x="3409235" y="18458"/>
                  </a:lnTo>
                  <a:lnTo>
                    <a:pt x="3365114" y="4771"/>
                  </a:lnTo>
                  <a:lnTo>
                    <a:pt x="3317748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205851" y="1366900"/>
              <a:ext cx="3552825" cy="1409700"/>
            </a:xfrm>
            <a:custGeom>
              <a:avLst/>
              <a:gdLst/>
              <a:ahLst/>
              <a:cxnLst/>
              <a:rect l="l" t="t" r="r" b="b"/>
              <a:pathLst>
                <a:path w="3552825" h="1409700">
                  <a:moveTo>
                    <a:pt x="0" y="234950"/>
                  </a:moveTo>
                  <a:lnTo>
                    <a:pt x="4771" y="187589"/>
                  </a:lnTo>
                  <a:lnTo>
                    <a:pt x="18458" y="143482"/>
                  </a:lnTo>
                  <a:lnTo>
                    <a:pt x="40116" y="103571"/>
                  </a:lnTo>
                  <a:lnTo>
                    <a:pt x="68802" y="68802"/>
                  </a:lnTo>
                  <a:lnTo>
                    <a:pt x="103571" y="40116"/>
                  </a:lnTo>
                  <a:lnTo>
                    <a:pt x="143482" y="18458"/>
                  </a:lnTo>
                  <a:lnTo>
                    <a:pt x="187589" y="4771"/>
                  </a:lnTo>
                  <a:lnTo>
                    <a:pt x="234950" y="0"/>
                  </a:lnTo>
                  <a:lnTo>
                    <a:pt x="3317748" y="0"/>
                  </a:lnTo>
                  <a:lnTo>
                    <a:pt x="3365114" y="4771"/>
                  </a:lnTo>
                  <a:lnTo>
                    <a:pt x="3409235" y="18458"/>
                  </a:lnTo>
                  <a:lnTo>
                    <a:pt x="3449166" y="40116"/>
                  </a:lnTo>
                  <a:lnTo>
                    <a:pt x="3483959" y="68802"/>
                  </a:lnTo>
                  <a:lnTo>
                    <a:pt x="3512668" y="103571"/>
                  </a:lnTo>
                  <a:lnTo>
                    <a:pt x="3534346" y="143482"/>
                  </a:lnTo>
                  <a:lnTo>
                    <a:pt x="3548047" y="187589"/>
                  </a:lnTo>
                  <a:lnTo>
                    <a:pt x="3552825" y="234950"/>
                  </a:lnTo>
                  <a:lnTo>
                    <a:pt x="3552825" y="1174623"/>
                  </a:lnTo>
                  <a:lnTo>
                    <a:pt x="3548047" y="1221989"/>
                  </a:lnTo>
                  <a:lnTo>
                    <a:pt x="3534346" y="1266110"/>
                  </a:lnTo>
                  <a:lnTo>
                    <a:pt x="3512668" y="1306041"/>
                  </a:lnTo>
                  <a:lnTo>
                    <a:pt x="3483959" y="1340834"/>
                  </a:lnTo>
                  <a:lnTo>
                    <a:pt x="3449166" y="1369543"/>
                  </a:lnTo>
                  <a:lnTo>
                    <a:pt x="3409235" y="1391221"/>
                  </a:lnTo>
                  <a:lnTo>
                    <a:pt x="3365114" y="1404922"/>
                  </a:lnTo>
                  <a:lnTo>
                    <a:pt x="3317748" y="1409700"/>
                  </a:lnTo>
                  <a:lnTo>
                    <a:pt x="234950" y="1409700"/>
                  </a:lnTo>
                  <a:lnTo>
                    <a:pt x="187589" y="1404922"/>
                  </a:lnTo>
                  <a:lnTo>
                    <a:pt x="143482" y="1391221"/>
                  </a:lnTo>
                  <a:lnTo>
                    <a:pt x="103571" y="1369543"/>
                  </a:lnTo>
                  <a:lnTo>
                    <a:pt x="68802" y="1340834"/>
                  </a:lnTo>
                  <a:lnTo>
                    <a:pt x="40116" y="1306041"/>
                  </a:lnTo>
                  <a:lnTo>
                    <a:pt x="18458" y="1266110"/>
                  </a:lnTo>
                  <a:lnTo>
                    <a:pt x="4771" y="1221989"/>
                  </a:lnTo>
                  <a:lnTo>
                    <a:pt x="0" y="1174623"/>
                  </a:lnTo>
                  <a:lnTo>
                    <a:pt x="0" y="234950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03868" y="1497266"/>
            <a:ext cx="3003932" cy="553998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6845" marR="5080" indent="-144780">
              <a:lnSpc>
                <a:spcPct val="101000"/>
              </a:lnSpc>
              <a:spcBef>
                <a:spcPts val="80"/>
              </a:spcBef>
            </a:pP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DeepSeek-R1-Distill-Qwen2.5 </a:t>
            </a:r>
            <a:r>
              <a:rPr sz="1800" spc="-39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/>
              </a:rPr>
              <a:t>DeepSeek-R1-Distill-Llama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81298" y="1766951"/>
            <a:ext cx="4922520" cy="76200"/>
          </a:xfrm>
          <a:custGeom>
            <a:avLst/>
            <a:gdLst/>
            <a:ahLst/>
            <a:cxnLst/>
            <a:rect l="l" t="t" r="r" b="b"/>
            <a:pathLst>
              <a:path w="4922520" h="76200">
                <a:moveTo>
                  <a:pt x="4846320" y="41274"/>
                </a:moveTo>
                <a:lnTo>
                  <a:pt x="4846320" y="76200"/>
                </a:lnTo>
                <a:lnTo>
                  <a:pt x="4916170" y="41275"/>
                </a:lnTo>
                <a:lnTo>
                  <a:pt x="4846320" y="41274"/>
                </a:lnTo>
                <a:close/>
              </a:path>
              <a:path w="4922520" h="76200">
                <a:moveTo>
                  <a:pt x="4846320" y="34924"/>
                </a:moveTo>
                <a:lnTo>
                  <a:pt x="4846320" y="41274"/>
                </a:lnTo>
                <a:lnTo>
                  <a:pt x="4859147" y="41275"/>
                </a:lnTo>
                <a:lnTo>
                  <a:pt x="4859147" y="34925"/>
                </a:lnTo>
                <a:lnTo>
                  <a:pt x="4846320" y="34924"/>
                </a:lnTo>
                <a:close/>
              </a:path>
              <a:path w="4922520" h="76200">
                <a:moveTo>
                  <a:pt x="4846320" y="0"/>
                </a:moveTo>
                <a:lnTo>
                  <a:pt x="4846320" y="34924"/>
                </a:lnTo>
                <a:lnTo>
                  <a:pt x="4859147" y="34925"/>
                </a:lnTo>
                <a:lnTo>
                  <a:pt x="4859147" y="41275"/>
                </a:lnTo>
                <a:lnTo>
                  <a:pt x="4916170" y="41274"/>
                </a:lnTo>
                <a:lnTo>
                  <a:pt x="4922520" y="38100"/>
                </a:lnTo>
                <a:lnTo>
                  <a:pt x="4846320" y="0"/>
                </a:lnTo>
                <a:close/>
              </a:path>
              <a:path w="4922520" h="76200">
                <a:moveTo>
                  <a:pt x="0" y="34798"/>
                </a:moveTo>
                <a:lnTo>
                  <a:pt x="0" y="41148"/>
                </a:lnTo>
                <a:lnTo>
                  <a:pt x="4846320" y="41274"/>
                </a:lnTo>
                <a:lnTo>
                  <a:pt x="4846320" y="34924"/>
                </a:lnTo>
                <a:lnTo>
                  <a:pt x="0" y="3479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7975" y="1281551"/>
            <a:ext cx="9757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</a:t>
            </a:r>
            <a:r>
              <a:rPr sz="2400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F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</a:t>
            </a:r>
            <a:endParaRPr sz="18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3984" y="4234700"/>
            <a:ext cx="7081203" cy="226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推理模型蒸馏到小模型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298450" indent="-286385">
              <a:lnSpc>
                <a:spcPct val="15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reasoning</a:t>
            </a:r>
            <a:r>
              <a:rPr sz="20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能力可以蒸馏到小模型</a:t>
            </a:r>
          </a:p>
          <a:p>
            <a:pPr marL="298450" indent="-286385">
              <a:lnSpc>
                <a:spcPct val="150000"/>
              </a:lnSpc>
              <a:spcBef>
                <a:spcPts val="20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大模型蒸馏到小模型优于小模型直接通过大规</a:t>
            </a:r>
            <a:r>
              <a:rPr sz="2000" spc="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模</a:t>
            </a:r>
            <a:r>
              <a:rPr sz="2000" spc="2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</a:t>
            </a:r>
            <a:r>
              <a:rPr sz="2000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</a:t>
            </a:r>
            <a:r>
              <a:rPr sz="20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训练</a:t>
            </a:r>
          </a:p>
          <a:p>
            <a:pPr marL="298450" indent="-286385">
              <a:lnSpc>
                <a:spcPct val="150000"/>
              </a:lnSpc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再次验证了模型规模</a:t>
            </a:r>
            <a:r>
              <a:rPr sz="2000" spc="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在</a:t>
            </a:r>
            <a:r>
              <a:rPr sz="2000" spc="-7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A</a:t>
            </a:r>
            <a:r>
              <a:rPr sz="2000" spc="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G</a:t>
            </a:r>
            <a:r>
              <a:rPr sz="2000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I</a:t>
            </a:r>
            <a:r>
              <a:rPr sz="20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发展中的重要性</a:t>
            </a:r>
          </a:p>
          <a:p>
            <a:pPr marL="298450" indent="-286385">
              <a:lnSpc>
                <a:spcPct val="150000"/>
              </a:lnSpc>
              <a:spcBef>
                <a:spcPts val="15"/>
              </a:spcBef>
              <a:buFont typeface="Courier New"/>
              <a:buChar char="o"/>
              <a:tabLst>
                <a:tab pos="299085" algn="l"/>
              </a:tabLst>
            </a:pPr>
            <a:r>
              <a:rPr sz="20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推理者同样需要规模支撑</a:t>
            </a:r>
            <a:endParaRPr sz="20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zh-CN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7.3 </a:t>
            </a:r>
            <a:r>
              <a:rPr lang="en-US" altLang="zh-CN" sz="32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</a:t>
            </a:r>
            <a:r>
              <a:rPr lang="zh-CN" altLang="en-US" sz="3200" spc="-55" dirty="0">
                <a:latin typeface="Times New Roman" panose="02020603050405020304" pitchFamily="18" charset="0"/>
                <a:ea typeface="楷体" panose="02010609060101010101" pitchFamily="49" charset="-122"/>
              </a:rPr>
              <a:t>技</a:t>
            </a:r>
            <a:r>
              <a:rPr lang="zh-CN" altLang="en-US" sz="3200" spc="30" dirty="0">
                <a:latin typeface="Times New Roman" panose="02020603050405020304" pitchFamily="18" charset="0"/>
                <a:ea typeface="楷体" panose="02010609060101010101" pitchFamily="49" charset="-122"/>
              </a:rPr>
              <a:t>术创</a:t>
            </a:r>
            <a:r>
              <a:rPr lang="zh-CN" altLang="en-US" sz="3200" spc="-30" dirty="0">
                <a:latin typeface="Times New Roman" panose="02020603050405020304" pitchFamily="18" charset="0"/>
                <a:ea typeface="楷体" panose="02010609060101010101" pitchFamily="49" charset="-122"/>
              </a:rPr>
              <a:t>新：</a:t>
            </a:r>
            <a:r>
              <a:rPr sz="3200" spc="30" dirty="0"/>
              <a:t>推</a:t>
            </a:r>
            <a:r>
              <a:rPr sz="3200" spc="-55" dirty="0"/>
              <a:t>理</a:t>
            </a:r>
            <a:r>
              <a:rPr sz="3200" spc="30" dirty="0"/>
              <a:t>模型</a:t>
            </a:r>
            <a:r>
              <a:rPr sz="3200" spc="-75" dirty="0"/>
              <a:t> </a:t>
            </a:r>
            <a:r>
              <a:rPr sz="3200" spc="10" dirty="0"/>
              <a:t>|</a:t>
            </a:r>
            <a:r>
              <a:rPr sz="3200" spc="-55" dirty="0"/>
              <a:t> </a:t>
            </a:r>
            <a:r>
              <a:rPr sz="3200" spc="10" dirty="0"/>
              <a:t>R1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" y="1114425"/>
            <a:ext cx="4667250" cy="4657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2112" y="2012950"/>
            <a:ext cx="7154638" cy="28114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51101" y="6075362"/>
            <a:ext cx="8175625" cy="546100"/>
            <a:chOff x="1951101" y="6075362"/>
            <a:chExt cx="8175625" cy="546100"/>
          </a:xfrm>
        </p:grpSpPr>
        <p:sp>
          <p:nvSpPr>
            <p:cNvPr id="6" name="object 6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8074025" y="0"/>
                  </a:moveTo>
                  <a:lnTo>
                    <a:pt x="88773" y="0"/>
                  </a:lnTo>
                  <a:lnTo>
                    <a:pt x="54221" y="6986"/>
                  </a:lnTo>
                  <a:lnTo>
                    <a:pt x="26003" y="26038"/>
                  </a:lnTo>
                  <a:lnTo>
                    <a:pt x="6977" y="54296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6977" y="479103"/>
                  </a:lnTo>
                  <a:lnTo>
                    <a:pt x="26003" y="507361"/>
                  </a:lnTo>
                  <a:lnTo>
                    <a:pt x="54221" y="526413"/>
                  </a:lnTo>
                  <a:lnTo>
                    <a:pt x="88773" y="533400"/>
                  </a:lnTo>
                  <a:lnTo>
                    <a:pt x="8074025" y="533400"/>
                  </a:lnTo>
                  <a:lnTo>
                    <a:pt x="8108596" y="526413"/>
                  </a:lnTo>
                  <a:lnTo>
                    <a:pt x="8136858" y="507361"/>
                  </a:lnTo>
                  <a:lnTo>
                    <a:pt x="8155928" y="479103"/>
                  </a:lnTo>
                  <a:lnTo>
                    <a:pt x="8162925" y="444500"/>
                  </a:lnTo>
                  <a:lnTo>
                    <a:pt x="8162925" y="88900"/>
                  </a:lnTo>
                  <a:lnTo>
                    <a:pt x="8155928" y="54296"/>
                  </a:lnTo>
                  <a:lnTo>
                    <a:pt x="8136858" y="26038"/>
                  </a:lnTo>
                  <a:lnTo>
                    <a:pt x="8108596" y="6986"/>
                  </a:lnTo>
                  <a:lnTo>
                    <a:pt x="8074025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57451" y="6081712"/>
              <a:ext cx="8162925" cy="533400"/>
            </a:xfrm>
            <a:custGeom>
              <a:avLst/>
              <a:gdLst/>
              <a:ahLst/>
              <a:cxnLst/>
              <a:rect l="l" t="t" r="r" b="b"/>
              <a:pathLst>
                <a:path w="8162925" h="533400">
                  <a:moveTo>
                    <a:pt x="0" y="88900"/>
                  </a:moveTo>
                  <a:lnTo>
                    <a:pt x="6977" y="54296"/>
                  </a:lnTo>
                  <a:lnTo>
                    <a:pt x="26003" y="26038"/>
                  </a:lnTo>
                  <a:lnTo>
                    <a:pt x="54221" y="6986"/>
                  </a:lnTo>
                  <a:lnTo>
                    <a:pt x="88773" y="0"/>
                  </a:lnTo>
                  <a:lnTo>
                    <a:pt x="8074025" y="0"/>
                  </a:lnTo>
                  <a:lnTo>
                    <a:pt x="8108596" y="6986"/>
                  </a:lnTo>
                  <a:lnTo>
                    <a:pt x="8136858" y="26038"/>
                  </a:lnTo>
                  <a:lnTo>
                    <a:pt x="8155928" y="54296"/>
                  </a:lnTo>
                  <a:lnTo>
                    <a:pt x="8162925" y="88900"/>
                  </a:lnTo>
                  <a:lnTo>
                    <a:pt x="8162925" y="444500"/>
                  </a:lnTo>
                  <a:lnTo>
                    <a:pt x="8155928" y="479103"/>
                  </a:lnTo>
                  <a:lnTo>
                    <a:pt x="8136858" y="507361"/>
                  </a:lnTo>
                  <a:lnTo>
                    <a:pt x="8108596" y="526413"/>
                  </a:lnTo>
                  <a:lnTo>
                    <a:pt x="8074025" y="533400"/>
                  </a:lnTo>
                  <a:lnTo>
                    <a:pt x="88773" y="533400"/>
                  </a:lnTo>
                  <a:lnTo>
                    <a:pt x="54221" y="526413"/>
                  </a:lnTo>
                  <a:lnTo>
                    <a:pt x="26003" y="507361"/>
                  </a:lnTo>
                  <a:lnTo>
                    <a:pt x="6977" y="479103"/>
                  </a:lnTo>
                  <a:lnTo>
                    <a:pt x="0" y="444500"/>
                  </a:lnTo>
                  <a:lnTo>
                    <a:pt x="0" y="889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83965" y="6142990"/>
            <a:ext cx="45123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C00000"/>
                </a:solidFill>
                <a:latin typeface="微软雅黑"/>
                <a:cs typeface="微软雅黑"/>
              </a:rPr>
              <a:t>杀手锏：性</a:t>
            </a:r>
            <a:r>
              <a:rPr sz="2400" b="1" spc="5" dirty="0">
                <a:solidFill>
                  <a:srgbClr val="C00000"/>
                </a:solidFill>
                <a:latin typeface="微软雅黑"/>
                <a:cs typeface="微软雅黑"/>
              </a:rPr>
              <a:t>能</a:t>
            </a:r>
            <a:r>
              <a:rPr sz="2400" b="1" dirty="0">
                <a:solidFill>
                  <a:srgbClr val="C00000"/>
                </a:solidFill>
                <a:latin typeface="微软雅黑"/>
                <a:cs typeface="微软雅黑"/>
              </a:rPr>
              <a:t>/</a:t>
            </a:r>
            <a:r>
              <a:rPr sz="2400" b="1" dirty="0" err="1">
                <a:solidFill>
                  <a:srgbClr val="C00000"/>
                </a:solidFill>
                <a:latin typeface="微软雅黑"/>
                <a:cs typeface="微软雅黑"/>
              </a:rPr>
              <a:t>成</a:t>
            </a:r>
            <a:r>
              <a:rPr sz="2400" b="1" spc="5" dirty="0" err="1">
                <a:solidFill>
                  <a:srgbClr val="C00000"/>
                </a:solidFill>
                <a:latin typeface="微软雅黑"/>
                <a:cs typeface="微软雅黑"/>
              </a:rPr>
              <a:t>本</a:t>
            </a:r>
            <a:endParaRPr sz="24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7.3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的技术创新：</a:t>
            </a:r>
            <a:r>
              <a:rPr sz="3200" spc="30" dirty="0"/>
              <a:t>推</a:t>
            </a:r>
            <a:r>
              <a:rPr sz="3200" spc="-55" dirty="0"/>
              <a:t>理</a:t>
            </a:r>
            <a:r>
              <a:rPr sz="3200" spc="30" dirty="0"/>
              <a:t>模型</a:t>
            </a:r>
            <a:r>
              <a:rPr sz="3200" spc="-75" dirty="0"/>
              <a:t> </a:t>
            </a:r>
            <a:r>
              <a:rPr sz="3200" spc="10" dirty="0"/>
              <a:t>|</a:t>
            </a:r>
            <a:r>
              <a:rPr sz="3200" spc="-55" dirty="0"/>
              <a:t> </a:t>
            </a:r>
            <a:r>
              <a:rPr sz="3200" spc="10" dirty="0"/>
              <a:t>R1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90625"/>
            <a:ext cx="6800850" cy="36766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3275" y="2114550"/>
            <a:ext cx="4962525" cy="12668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33420" y="5553392"/>
            <a:ext cx="56781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0052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TJUNLP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实测</a:t>
            </a:r>
            <a:r>
              <a:rPr sz="2400" b="1" spc="-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DeepSeek-R1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逻辑推理性能</a:t>
            </a:r>
            <a:endParaRPr sz="240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7.3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的技术创新：</a:t>
            </a:r>
            <a:r>
              <a:rPr sz="3200" spc="30" dirty="0"/>
              <a:t>创</a:t>
            </a:r>
            <a:r>
              <a:rPr sz="3200" spc="-55" dirty="0"/>
              <a:t>新</a:t>
            </a:r>
            <a:r>
              <a:rPr sz="3200" spc="30" dirty="0"/>
              <a:t>程度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550" y="773933"/>
            <a:ext cx="11880850" cy="5814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130"/>
              </a:spcBef>
            </a:pP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DeepSeek</a:t>
            </a:r>
            <a:r>
              <a:rPr sz="2400" spc="6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R1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是在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探明方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向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（OpenAI</a:t>
            </a:r>
            <a:r>
              <a:rPr sz="2400" spc="4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o1引领和证实的方向）上进</a:t>
            </a:r>
            <a:r>
              <a:rPr sz="240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行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0-1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的创新突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破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，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独立探索出基于大规模强化学习的大语言模型推理技术路线，避开了过去一年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多（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自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OpenAI的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Q*在社交媒体讨论）业内广泛思索的通过在训练中进行显式搜索、 过程奖励模型（</a:t>
            </a:r>
            <a:r>
              <a:rPr sz="2400" b="1" spc="1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即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Search+PRM）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实现推理的“误区”；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贡献：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813435" indent="-343535">
              <a:lnSpc>
                <a:spcPct val="100000"/>
              </a:lnSpc>
              <a:spcBef>
                <a:spcPts val="1475"/>
              </a:spcBef>
              <a:buFont typeface="Courier New"/>
              <a:buChar char="o"/>
              <a:tabLst>
                <a:tab pos="813435" algn="l"/>
              </a:tabLst>
            </a:pP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独立探索出推理技术路线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813435" indent="-343535">
              <a:lnSpc>
                <a:spcPct val="100000"/>
              </a:lnSpc>
              <a:spcBef>
                <a:spcPts val="1405"/>
              </a:spcBef>
              <a:buFont typeface="Courier New"/>
              <a:buChar char="o"/>
              <a:tabLst>
                <a:tab pos="813435" algn="l"/>
              </a:tabLst>
            </a:pP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将技术路线公开发布（解惑了业内的“不知”）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813435" indent="-343535">
              <a:lnSpc>
                <a:spcPct val="100000"/>
              </a:lnSpc>
              <a:spcBef>
                <a:spcPts val="1475"/>
              </a:spcBef>
              <a:buFont typeface="Courier New"/>
              <a:buChar char="o"/>
              <a:tabLst>
                <a:tab pos="813435" algn="l"/>
              </a:tabLst>
            </a:pP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模型开源</a:t>
            </a:r>
            <a:r>
              <a:rPr sz="2400" b="1" spc="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（MIT</a:t>
            </a:r>
            <a:r>
              <a:rPr sz="2400" b="1" spc="-9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License）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55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DeepSeek</a:t>
            </a:r>
            <a:r>
              <a:rPr sz="2400" b="1" spc="-2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R1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打破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了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美国第一梯队企业以闭源形成</a:t>
            </a:r>
            <a:r>
              <a:rPr sz="2400" b="1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的</a:t>
            </a:r>
            <a:r>
              <a:rPr sz="2400" b="1" dirty="0">
                <a:solidFill>
                  <a:srgbClr val="6F2F9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技术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护城</a:t>
            </a: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河</a:t>
            </a:r>
            <a:r>
              <a:rPr sz="2400" b="1" dirty="0"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，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进一步动摇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了美国的“AI</a:t>
            </a:r>
            <a:r>
              <a:rPr sz="2400" b="1" spc="-1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/>
              </a:rPr>
              <a:t>Dominance”</a:t>
            </a:r>
            <a:endParaRPr sz="2400" dirty="0">
              <a:latin typeface="Times New Roman" panose="02020603050405020304" pitchFamily="18" charset="0"/>
              <a:ea typeface="楷体" panose="02010609060101010101" pitchFamily="49" charset="-122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50DFFE-43D8-F8E2-28DD-A139D875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xmlns="" id="{D3C1028E-0AC7-B04B-D603-3F1E995BB920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639897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7.4 </a:t>
            </a:r>
            <a:r>
              <a:rPr lang="en-US" altLang="zh-CN" dirty="0" err="1"/>
              <a:t>DeepSeek</a:t>
            </a:r>
            <a:r>
              <a:rPr lang="zh-CN" altLang="en-US" dirty="0"/>
              <a:t>的使用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3209623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CF61F0-87A4-2E5B-29B9-8C49952A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E50E5BD7-28B7-8232-A89F-3BA88CADA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7.4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的使用</a:t>
            </a:r>
            <a:endParaRPr sz="3200" spc="3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B2551318-D2E3-17F3-8658-68AF04977E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8750" y="654050"/>
            <a:ext cx="9030081" cy="642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42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3CADDF-73AB-B218-1742-C8D29A5C6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928B77C8-7536-52C9-FD86-BC8D65C5E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7.4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的使用</a:t>
            </a:r>
            <a:endParaRPr sz="3200" spc="3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xmlns="" id="{FCC6DD56-9175-7A38-F559-1780C2AD5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749135" y="1327150"/>
            <a:ext cx="10849779" cy="397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4284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18F409-0F13-B3E8-FDDE-EBB2359B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3AD335D6-6CED-B1C0-E1AF-D3EF4CB9E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7.4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的使用</a:t>
            </a:r>
            <a:endParaRPr sz="3200" spc="30" dirty="0"/>
          </a:p>
        </p:txBody>
      </p:sp>
      <p:sp>
        <p:nvSpPr>
          <p:cNvPr id="20" name="文本占位符 2">
            <a:extLst>
              <a:ext uri="{FF2B5EF4-FFF2-40B4-BE49-F238E27FC236}">
                <a16:creationId xmlns:a16="http://schemas.microsoft.com/office/drawing/2014/main" xmlns="" id="{E4E4B77F-31B2-F10A-78D2-3C9CF5FF365E}"/>
              </a:ext>
            </a:extLst>
          </p:cNvPr>
          <p:cNvSpPr txBox="1">
            <a:spLocks/>
          </p:cNvSpPr>
          <p:nvPr/>
        </p:nvSpPr>
        <p:spPr>
          <a:xfrm>
            <a:off x="1" y="1035050"/>
            <a:ext cx="5638800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提示语应该怎么写？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3200" b="1" kern="0" dirty="0">
                <a:solidFill>
                  <a:srgbClr val="C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  <a:sym typeface="+mn-ea"/>
              </a:rPr>
              <a:t>RTGO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1" name="picture 232">
            <a:extLst>
              <a:ext uri="{FF2B5EF4-FFF2-40B4-BE49-F238E27FC236}">
                <a16:creationId xmlns:a16="http://schemas.microsoft.com/office/drawing/2014/main" xmlns="" id="{F18F597E-35A5-6A9E-B56A-18D60C0A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464" y="3184355"/>
            <a:ext cx="2409190" cy="1826895"/>
          </a:xfrm>
          <a:prstGeom prst="rect">
            <a:avLst/>
          </a:prstGeom>
        </p:spPr>
      </p:pic>
      <p:pic>
        <p:nvPicPr>
          <p:cNvPr id="22" name="picture 234">
            <a:extLst>
              <a:ext uri="{FF2B5EF4-FFF2-40B4-BE49-F238E27FC236}">
                <a16:creationId xmlns:a16="http://schemas.microsoft.com/office/drawing/2014/main" xmlns="" id="{4200B521-20F5-8560-3A12-34DA808F2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0939"/>
            <a:ext cx="1466615" cy="2136707"/>
          </a:xfrm>
          <a:prstGeom prst="rect">
            <a:avLst/>
          </a:prstGeom>
        </p:spPr>
      </p:pic>
      <p:sp>
        <p:nvSpPr>
          <p:cNvPr id="23" name="textbox 236">
            <a:extLst>
              <a:ext uri="{FF2B5EF4-FFF2-40B4-BE49-F238E27FC236}">
                <a16:creationId xmlns:a16="http://schemas.microsoft.com/office/drawing/2014/main" xmlns="" id="{7E44E26B-FBC2-E9C0-4189-6E24C2BD7135}"/>
              </a:ext>
            </a:extLst>
          </p:cNvPr>
          <p:cNvSpPr/>
          <p:nvPr/>
        </p:nvSpPr>
        <p:spPr>
          <a:xfrm>
            <a:off x="511945" y="4280682"/>
            <a:ext cx="3083560" cy="2386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838200" algn="l" rtl="0" eaLnBrk="0">
              <a:lnSpc>
                <a:spcPts val="3165"/>
              </a:lnSpc>
            </a:pPr>
            <a:r>
              <a:rPr sz="2300" b="1" kern="0" spc="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Task</a:t>
            </a:r>
            <a:r>
              <a:rPr sz="2300" b="1" kern="0" spc="5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（任务）</a:t>
            </a:r>
            <a:endParaRPr sz="23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algn="r" rtl="0" eaLnBrk="0">
              <a:lnSpc>
                <a:spcPct val="91000"/>
              </a:lnSpc>
              <a:spcBef>
                <a:spcPts val="1020"/>
              </a:spcBef>
            </a:pPr>
            <a:r>
              <a:rPr kern="0" spc="-1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具体任务描述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：</a:t>
            </a:r>
            <a:endParaRPr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353695" indent="-292735" algn="l" rtl="0" eaLnBrk="0">
              <a:lnSpc>
                <a:spcPct val="120000"/>
              </a:lnSpc>
              <a:spcBef>
                <a:spcPts val="330"/>
              </a:spcBef>
            </a:pPr>
            <a:r>
              <a:rPr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写一份关于XXX活动的小红书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宣推文案</a:t>
            </a:r>
            <a:r>
              <a:rPr lang="zh-CN"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、</a:t>
            </a:r>
            <a:r>
              <a:rPr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写一份关于XX事件的舆论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分析报告</a:t>
            </a:r>
            <a:r>
              <a:rPr kern="0" spc="-3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kern="0" spc="-6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……</a:t>
            </a:r>
          </a:p>
        </p:txBody>
      </p:sp>
      <p:sp>
        <p:nvSpPr>
          <p:cNvPr id="24" name="textbox 238">
            <a:extLst>
              <a:ext uri="{FF2B5EF4-FFF2-40B4-BE49-F238E27FC236}">
                <a16:creationId xmlns:a16="http://schemas.microsoft.com/office/drawing/2014/main" xmlns="" id="{1C48CA3B-2694-97EB-4CA1-84E3BEBF1769}"/>
              </a:ext>
            </a:extLst>
          </p:cNvPr>
          <p:cNvSpPr/>
          <p:nvPr/>
        </p:nvSpPr>
        <p:spPr>
          <a:xfrm>
            <a:off x="449079" y="1927690"/>
            <a:ext cx="2737485" cy="181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864235" algn="l" rtl="0" eaLnBrk="0">
              <a:lnSpc>
                <a:spcPts val="3165"/>
              </a:lnSpc>
            </a:pPr>
            <a:r>
              <a:rPr sz="2300" b="1" kern="0" spc="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Role</a:t>
            </a:r>
            <a:r>
              <a:rPr sz="2300" b="1" kern="0" spc="5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（角色）</a:t>
            </a:r>
            <a:endParaRPr sz="23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algn="r" rtl="0" eaLnBrk="0">
              <a:lnSpc>
                <a:spcPts val="1815"/>
              </a:lnSpc>
              <a:spcBef>
                <a:spcPts val="830"/>
              </a:spcBef>
            </a:pPr>
            <a:r>
              <a:rPr kern="0" spc="-1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定义AI的角色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：</a:t>
            </a:r>
            <a:endParaRPr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12700" indent="936625" algn="l" rtl="0" eaLnBrk="0">
              <a:lnSpc>
                <a:spcPct val="120000"/>
              </a:lnSpc>
              <a:spcBef>
                <a:spcPts val="305"/>
              </a:spcBef>
            </a:pP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经验丰富的数据分析师</a:t>
            </a:r>
            <a:r>
              <a:rPr lang="zh-CN"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、软件开发工程师</a:t>
            </a:r>
            <a:r>
              <a:rPr lang="zh-CN" kern="0" spc="0" dirty="0">
                <a:solidFill>
                  <a:srgbClr val="595959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、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……</a:t>
            </a:r>
            <a:endParaRPr sz="1400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pic>
        <p:nvPicPr>
          <p:cNvPr id="25" name="picture 240">
            <a:extLst>
              <a:ext uri="{FF2B5EF4-FFF2-40B4-BE49-F238E27FC236}">
                <a16:creationId xmlns:a16="http://schemas.microsoft.com/office/drawing/2014/main" xmlns="" id="{9A4C753C-238E-CE62-C50B-C5223A072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556" y="5011351"/>
            <a:ext cx="812951" cy="314858"/>
          </a:xfrm>
          <a:prstGeom prst="rect">
            <a:avLst/>
          </a:prstGeom>
        </p:spPr>
      </p:pic>
      <p:pic>
        <p:nvPicPr>
          <p:cNvPr id="26" name="picture 242">
            <a:extLst>
              <a:ext uri="{FF2B5EF4-FFF2-40B4-BE49-F238E27FC236}">
                <a16:creationId xmlns:a16="http://schemas.microsoft.com/office/drawing/2014/main" xmlns="" id="{33562F5F-948E-7943-39D2-EE5B3E648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284" y="3118315"/>
            <a:ext cx="1227455" cy="1823085"/>
          </a:xfrm>
          <a:prstGeom prst="rect">
            <a:avLst/>
          </a:prstGeom>
        </p:spPr>
      </p:pic>
      <p:sp>
        <p:nvSpPr>
          <p:cNvPr id="27" name="textbox 244">
            <a:extLst>
              <a:ext uri="{FF2B5EF4-FFF2-40B4-BE49-F238E27FC236}">
                <a16:creationId xmlns:a16="http://schemas.microsoft.com/office/drawing/2014/main" xmlns="" id="{C5F26B8D-A935-B18F-718F-2BC06686511E}"/>
              </a:ext>
            </a:extLst>
          </p:cNvPr>
          <p:cNvSpPr/>
          <p:nvPr/>
        </p:nvSpPr>
        <p:spPr>
          <a:xfrm>
            <a:off x="8677409" y="1734650"/>
            <a:ext cx="3098800" cy="2010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22860" algn="l" rtl="0" eaLnBrk="0">
              <a:lnSpc>
                <a:spcPts val="3165"/>
              </a:lnSpc>
            </a:pPr>
            <a:r>
              <a:rPr sz="2300" b="1" kern="0" spc="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Goal</a:t>
            </a:r>
            <a:r>
              <a:rPr sz="2300" b="1" kern="0" spc="9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（目标）</a:t>
            </a:r>
            <a:endParaRPr sz="23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91000"/>
              </a:lnSpc>
              <a:spcBef>
                <a:spcPts val="1090"/>
              </a:spcBef>
            </a:pPr>
            <a:r>
              <a:rPr kern="0" spc="-1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期望达成什么目标效果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：</a:t>
            </a:r>
            <a:endParaRPr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23000"/>
              </a:lnSpc>
              <a:spcBef>
                <a:spcPts val="340"/>
              </a:spcBef>
            </a:pPr>
            <a:r>
              <a:rPr kern="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通过该文案吸引潜在客户</a:t>
            </a:r>
            <a:r>
              <a:rPr kern="0" spc="-15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kern="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，</a:t>
            </a:r>
            <a:r>
              <a:rPr kern="0" spc="-2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促成消</a:t>
            </a:r>
            <a:r>
              <a:rPr kern="0" spc="-1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费</a:t>
            </a:r>
            <a:r>
              <a:rPr kern="0" spc="-29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……</a:t>
            </a:r>
            <a:r>
              <a:rPr kern="0" spc="-1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通过该报告为相关企业管理</a:t>
            </a:r>
            <a:r>
              <a:rPr kern="0" spc="-20" dirty="0" err="1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者提供</a:t>
            </a:r>
            <a:r>
              <a:rPr kern="0" spc="-26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kern="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……策略支撑</a:t>
            </a:r>
          </a:p>
        </p:txBody>
      </p:sp>
      <p:sp>
        <p:nvSpPr>
          <p:cNvPr id="28" name="textbox 246">
            <a:extLst>
              <a:ext uri="{FF2B5EF4-FFF2-40B4-BE49-F238E27FC236}">
                <a16:creationId xmlns:a16="http://schemas.microsoft.com/office/drawing/2014/main" xmlns="" id="{345D0651-1DBE-8A46-7EE3-DC7DEF247A22}"/>
              </a:ext>
            </a:extLst>
          </p:cNvPr>
          <p:cNvSpPr/>
          <p:nvPr/>
        </p:nvSpPr>
        <p:spPr>
          <a:xfrm>
            <a:off x="8614543" y="4775665"/>
            <a:ext cx="3314065" cy="1396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12700" indent="7620" algn="l" rtl="0" eaLnBrk="0">
              <a:lnSpc>
                <a:spcPct val="112000"/>
              </a:lnSpc>
            </a:pPr>
            <a:r>
              <a:rPr sz="2300" b="1" kern="0" spc="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Objective</a:t>
            </a:r>
            <a:r>
              <a:rPr sz="2300" b="1" kern="0" spc="18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（操作要</a:t>
            </a:r>
            <a:r>
              <a:rPr sz="2300" b="1" kern="0" spc="20" dirty="0">
                <a:solidFill>
                  <a:srgbClr val="7030A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求）</a:t>
            </a:r>
            <a:endParaRPr sz="2300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40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26035" indent="-13970" algn="l" rtl="0" eaLnBrk="0">
              <a:lnSpc>
                <a:spcPct val="120000"/>
              </a:lnSpc>
              <a:spcBef>
                <a:spcPts val="5"/>
              </a:spcBef>
            </a:pPr>
            <a:r>
              <a:rPr kern="0" spc="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字数</a:t>
            </a:r>
            <a:r>
              <a:rPr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要求、段落</a:t>
            </a:r>
            <a:r>
              <a:rPr kern="0" spc="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结构</a:t>
            </a:r>
            <a:r>
              <a:rPr kern="0" spc="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、用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词</a:t>
            </a:r>
            <a:r>
              <a:rPr kern="0" spc="-1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风格</a:t>
            </a:r>
            <a:r>
              <a:rPr kern="0" spc="-1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、 </a:t>
            </a:r>
            <a:r>
              <a:rPr kern="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内容要点、输出</a:t>
            </a:r>
            <a:r>
              <a:rPr kern="0" spc="-2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格式</a:t>
            </a:r>
            <a:r>
              <a:rPr kern="0" spc="-27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 </a:t>
            </a:r>
            <a:r>
              <a:rPr kern="0" spc="-20" dirty="0"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…</a:t>
            </a:r>
          </a:p>
        </p:txBody>
      </p:sp>
      <p:pic>
        <p:nvPicPr>
          <p:cNvPr id="29" name="picture 250">
            <a:extLst>
              <a:ext uri="{FF2B5EF4-FFF2-40B4-BE49-F238E27FC236}">
                <a16:creationId xmlns:a16="http://schemas.microsoft.com/office/drawing/2014/main" xmlns="" id="{241D7A1F-6527-DC01-92A5-2EC98C220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8654" y="2700485"/>
            <a:ext cx="1200150" cy="1873885"/>
          </a:xfrm>
          <a:prstGeom prst="rect">
            <a:avLst/>
          </a:prstGeom>
        </p:spPr>
      </p:pic>
      <p:pic>
        <p:nvPicPr>
          <p:cNvPr id="30" name="picture 252">
            <a:extLst>
              <a:ext uri="{FF2B5EF4-FFF2-40B4-BE49-F238E27FC236}">
                <a16:creationId xmlns:a16="http://schemas.microsoft.com/office/drawing/2014/main" xmlns="" id="{D92A13C1-060A-AC8D-0032-28BBF57D1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418" y="2341075"/>
            <a:ext cx="1147394" cy="779335"/>
          </a:xfrm>
          <a:prstGeom prst="rect">
            <a:avLst/>
          </a:prstGeom>
        </p:spPr>
      </p:pic>
      <p:pic>
        <p:nvPicPr>
          <p:cNvPr id="31" name="picture 254">
            <a:extLst>
              <a:ext uri="{FF2B5EF4-FFF2-40B4-BE49-F238E27FC236}">
                <a16:creationId xmlns:a16="http://schemas.microsoft.com/office/drawing/2014/main" xmlns="" id="{E79DADC8-2610-E4E7-9CFA-8D7A27C40C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5881" y="2700785"/>
            <a:ext cx="640172" cy="690382"/>
          </a:xfrm>
          <a:prstGeom prst="rect">
            <a:avLst/>
          </a:prstGeom>
        </p:spPr>
      </p:pic>
      <p:pic>
        <p:nvPicPr>
          <p:cNvPr id="32" name="picture 256">
            <a:extLst>
              <a:ext uri="{FF2B5EF4-FFF2-40B4-BE49-F238E27FC236}">
                <a16:creationId xmlns:a16="http://schemas.microsoft.com/office/drawing/2014/main" xmlns="" id="{6B57D840-01D8-3E35-489F-D49755EF3D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6629" y="3134825"/>
            <a:ext cx="1119505" cy="1459230"/>
          </a:xfrm>
          <a:prstGeom prst="rect">
            <a:avLst/>
          </a:prstGeom>
        </p:spPr>
      </p:pic>
      <p:pic>
        <p:nvPicPr>
          <p:cNvPr id="33" name="picture 260">
            <a:extLst>
              <a:ext uri="{FF2B5EF4-FFF2-40B4-BE49-F238E27FC236}">
                <a16:creationId xmlns:a16="http://schemas.microsoft.com/office/drawing/2014/main" xmlns="" id="{FA7BDB3F-45A4-B97E-438E-F73C7615B8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6742" y="2331550"/>
            <a:ext cx="1767801" cy="383857"/>
          </a:xfrm>
          <a:prstGeom prst="rect">
            <a:avLst/>
          </a:prstGeom>
        </p:spPr>
      </p:pic>
      <p:sp>
        <p:nvSpPr>
          <p:cNvPr id="34" name="path 262">
            <a:extLst>
              <a:ext uri="{FF2B5EF4-FFF2-40B4-BE49-F238E27FC236}">
                <a16:creationId xmlns:a16="http://schemas.microsoft.com/office/drawing/2014/main" xmlns="" id="{7765348B-5931-B94E-4029-13490F10F1D6}"/>
              </a:ext>
            </a:extLst>
          </p:cNvPr>
          <p:cNvSpPr/>
          <p:nvPr/>
        </p:nvSpPr>
        <p:spPr>
          <a:xfrm>
            <a:off x="6701086" y="2867972"/>
            <a:ext cx="275004" cy="266662"/>
          </a:xfrm>
          <a:custGeom>
            <a:avLst/>
            <a:gdLst/>
            <a:ahLst/>
            <a:cxnLst/>
            <a:rect l="0" t="0" r="0" b="0"/>
            <a:pathLst>
              <a:path w="433" h="419">
                <a:moveTo>
                  <a:pt x="325" y="327"/>
                </a:moveTo>
                <a:cubicBezTo>
                  <a:pt x="307" y="292"/>
                  <a:pt x="273" y="273"/>
                  <a:pt x="234" y="258"/>
                </a:cubicBezTo>
                <a:cubicBezTo>
                  <a:pt x="228" y="256"/>
                  <a:pt x="226" y="249"/>
                  <a:pt x="229" y="244"/>
                </a:cubicBezTo>
                <a:lnTo>
                  <a:pt x="229" y="243"/>
                </a:lnTo>
                <a:lnTo>
                  <a:pt x="229" y="242"/>
                </a:lnTo>
                <a:cubicBezTo>
                  <a:pt x="246" y="219"/>
                  <a:pt x="261" y="189"/>
                  <a:pt x="263" y="150"/>
                </a:cubicBezTo>
                <a:cubicBezTo>
                  <a:pt x="268" y="106"/>
                  <a:pt x="251" y="75"/>
                  <a:pt x="228" y="52"/>
                </a:cubicBezTo>
                <a:cubicBezTo>
                  <a:pt x="224" y="49"/>
                  <a:pt x="224" y="44"/>
                  <a:pt x="226" y="40"/>
                </a:cubicBezTo>
                <a:cubicBezTo>
                  <a:pt x="237" y="20"/>
                  <a:pt x="254" y="4"/>
                  <a:pt x="285" y="2"/>
                </a:cubicBezTo>
                <a:cubicBezTo>
                  <a:pt x="333" y="0"/>
                  <a:pt x="359" y="30"/>
                  <a:pt x="363" y="68"/>
                </a:cubicBezTo>
                <a:cubicBezTo>
                  <a:pt x="370" y="111"/>
                  <a:pt x="354" y="146"/>
                  <a:pt x="337" y="167"/>
                </a:cubicBezTo>
                <a:cubicBezTo>
                  <a:pt x="335" y="172"/>
                  <a:pt x="331" y="174"/>
                  <a:pt x="328" y="178"/>
                </a:cubicBezTo>
                <a:cubicBezTo>
                  <a:pt x="327" y="182"/>
                  <a:pt x="326" y="190"/>
                  <a:pt x="328" y="195"/>
                </a:cubicBezTo>
                <a:cubicBezTo>
                  <a:pt x="328" y="197"/>
                  <a:pt x="329" y="199"/>
                  <a:pt x="331" y="200"/>
                </a:cubicBezTo>
                <a:cubicBezTo>
                  <a:pt x="337" y="205"/>
                  <a:pt x="349" y="209"/>
                  <a:pt x="357" y="213"/>
                </a:cubicBezTo>
                <a:cubicBezTo>
                  <a:pt x="368" y="217"/>
                  <a:pt x="376" y="222"/>
                  <a:pt x="385" y="226"/>
                </a:cubicBezTo>
                <a:cubicBezTo>
                  <a:pt x="402" y="234"/>
                  <a:pt x="422" y="247"/>
                  <a:pt x="428" y="265"/>
                </a:cubicBezTo>
                <a:cubicBezTo>
                  <a:pt x="433" y="275"/>
                  <a:pt x="430" y="297"/>
                  <a:pt x="424" y="306"/>
                </a:cubicBezTo>
                <a:cubicBezTo>
                  <a:pt x="410" y="326"/>
                  <a:pt x="369" y="329"/>
                  <a:pt x="336" y="333"/>
                </a:cubicBezTo>
                <a:cubicBezTo>
                  <a:pt x="332" y="333"/>
                  <a:pt x="328" y="331"/>
                  <a:pt x="325" y="327"/>
                </a:cubicBezTo>
                <a:moveTo>
                  <a:pt x="0" y="370"/>
                </a:moveTo>
                <a:lnTo>
                  <a:pt x="0" y="355"/>
                </a:lnTo>
                <a:cubicBezTo>
                  <a:pt x="0" y="351"/>
                  <a:pt x="2" y="346"/>
                  <a:pt x="4" y="342"/>
                </a:cubicBezTo>
                <a:cubicBezTo>
                  <a:pt x="12" y="325"/>
                  <a:pt x="29" y="314"/>
                  <a:pt x="44" y="304"/>
                </a:cubicBezTo>
                <a:cubicBezTo>
                  <a:pt x="45" y="303"/>
                  <a:pt x="45" y="303"/>
                  <a:pt x="46" y="303"/>
                </a:cubicBezTo>
                <a:cubicBezTo>
                  <a:pt x="58" y="296"/>
                  <a:pt x="71" y="290"/>
                  <a:pt x="86" y="284"/>
                </a:cubicBezTo>
                <a:cubicBezTo>
                  <a:pt x="90" y="282"/>
                  <a:pt x="95" y="280"/>
                  <a:pt x="99" y="278"/>
                </a:cubicBezTo>
                <a:cubicBezTo>
                  <a:pt x="101" y="278"/>
                  <a:pt x="102" y="277"/>
                  <a:pt x="103" y="276"/>
                </a:cubicBezTo>
                <a:cubicBezTo>
                  <a:pt x="109" y="268"/>
                  <a:pt x="116" y="253"/>
                  <a:pt x="110" y="241"/>
                </a:cubicBezTo>
                <a:cubicBezTo>
                  <a:pt x="108" y="236"/>
                  <a:pt x="105" y="234"/>
                  <a:pt x="101" y="230"/>
                </a:cubicBezTo>
                <a:lnTo>
                  <a:pt x="101" y="230"/>
                </a:lnTo>
                <a:cubicBezTo>
                  <a:pt x="81" y="208"/>
                  <a:pt x="64" y="172"/>
                  <a:pt x="69" y="129"/>
                </a:cubicBezTo>
                <a:cubicBezTo>
                  <a:pt x="73" y="86"/>
                  <a:pt x="101" y="55"/>
                  <a:pt x="149" y="55"/>
                </a:cubicBezTo>
                <a:cubicBezTo>
                  <a:pt x="196" y="55"/>
                  <a:pt x="224" y="85"/>
                  <a:pt x="231" y="128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3" y="155"/>
                  <a:pt x="227" y="178"/>
                  <a:pt x="220" y="194"/>
                </a:cubicBezTo>
                <a:cubicBezTo>
                  <a:pt x="214" y="208"/>
                  <a:pt x="208" y="219"/>
                  <a:pt x="199" y="230"/>
                </a:cubicBezTo>
                <a:cubicBezTo>
                  <a:pt x="199" y="230"/>
                  <a:pt x="198" y="230"/>
                  <a:pt x="198" y="231"/>
                </a:cubicBezTo>
                <a:cubicBezTo>
                  <a:pt x="196" y="234"/>
                  <a:pt x="193" y="236"/>
                  <a:pt x="190" y="240"/>
                </a:cubicBezTo>
                <a:cubicBezTo>
                  <a:pt x="190" y="240"/>
                  <a:pt x="190" y="241"/>
                  <a:pt x="190" y="242"/>
                </a:cubicBezTo>
                <a:cubicBezTo>
                  <a:pt x="186" y="255"/>
                  <a:pt x="190" y="271"/>
                  <a:pt x="194" y="278"/>
                </a:cubicBezTo>
                <a:cubicBezTo>
                  <a:pt x="197" y="282"/>
                  <a:pt x="205" y="282"/>
                  <a:pt x="211" y="284"/>
                </a:cubicBezTo>
                <a:cubicBezTo>
                  <a:pt x="212" y="284"/>
                  <a:pt x="212" y="284"/>
                  <a:pt x="212" y="284"/>
                </a:cubicBezTo>
                <a:cubicBezTo>
                  <a:pt x="238" y="295"/>
                  <a:pt x="264" y="308"/>
                  <a:pt x="283" y="325"/>
                </a:cubicBezTo>
                <a:cubicBezTo>
                  <a:pt x="283" y="325"/>
                  <a:pt x="283" y="325"/>
                  <a:pt x="284" y="325"/>
                </a:cubicBezTo>
                <a:cubicBezTo>
                  <a:pt x="289" y="331"/>
                  <a:pt x="297" y="338"/>
                  <a:pt x="300" y="349"/>
                </a:cubicBezTo>
                <a:cubicBezTo>
                  <a:pt x="300" y="351"/>
                  <a:pt x="300" y="354"/>
                  <a:pt x="300" y="356"/>
                </a:cubicBezTo>
                <a:lnTo>
                  <a:pt x="300" y="373"/>
                </a:lnTo>
                <a:cubicBezTo>
                  <a:pt x="300" y="374"/>
                  <a:pt x="300" y="375"/>
                  <a:pt x="300" y="376"/>
                </a:cubicBezTo>
                <a:cubicBezTo>
                  <a:pt x="293" y="398"/>
                  <a:pt x="263" y="405"/>
                  <a:pt x="236" y="411"/>
                </a:cubicBezTo>
                <a:cubicBezTo>
                  <a:pt x="188" y="419"/>
                  <a:pt x="121" y="419"/>
                  <a:pt x="71" y="411"/>
                </a:cubicBezTo>
                <a:cubicBezTo>
                  <a:pt x="47" y="407"/>
                  <a:pt x="21" y="400"/>
                  <a:pt x="8" y="385"/>
                </a:cubicBezTo>
                <a:cubicBezTo>
                  <a:pt x="4" y="383"/>
                  <a:pt x="2" y="379"/>
                  <a:pt x="0" y="370"/>
                </a:cubicBezTo>
              </a:path>
            </a:pathLst>
          </a:custGeom>
          <a:solidFill>
            <a:srgbClr val="577E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5" name="path 264">
            <a:extLst>
              <a:ext uri="{FF2B5EF4-FFF2-40B4-BE49-F238E27FC236}">
                <a16:creationId xmlns:a16="http://schemas.microsoft.com/office/drawing/2014/main" xmlns="" id="{0FA50A9D-18A3-154E-6CEE-58712E12902D}"/>
              </a:ext>
            </a:extLst>
          </p:cNvPr>
          <p:cNvSpPr/>
          <p:nvPr/>
        </p:nvSpPr>
        <p:spPr>
          <a:xfrm>
            <a:off x="7659122" y="4686993"/>
            <a:ext cx="274269" cy="254482"/>
          </a:xfrm>
          <a:custGeom>
            <a:avLst/>
            <a:gdLst/>
            <a:ahLst/>
            <a:cxnLst/>
            <a:rect l="0" t="0" r="0" b="0"/>
            <a:pathLst>
              <a:path w="431" h="400">
                <a:moveTo>
                  <a:pt x="377" y="112"/>
                </a:moveTo>
                <a:lnTo>
                  <a:pt x="377" y="84"/>
                </a:lnTo>
                <a:cubicBezTo>
                  <a:pt x="377" y="76"/>
                  <a:pt x="375" y="69"/>
                  <a:pt x="370" y="64"/>
                </a:cubicBezTo>
                <a:cubicBezTo>
                  <a:pt x="365" y="58"/>
                  <a:pt x="358" y="55"/>
                  <a:pt x="350" y="55"/>
                </a:cubicBezTo>
                <a:lnTo>
                  <a:pt x="189" y="55"/>
                </a:lnTo>
                <a:lnTo>
                  <a:pt x="189" y="28"/>
                </a:lnTo>
                <a:cubicBezTo>
                  <a:pt x="189" y="21"/>
                  <a:pt x="186" y="14"/>
                  <a:pt x="181" y="8"/>
                </a:cubicBezTo>
                <a:cubicBezTo>
                  <a:pt x="176" y="3"/>
                  <a:pt x="169" y="0"/>
                  <a:pt x="162" y="0"/>
                </a:cubicBezTo>
                <a:lnTo>
                  <a:pt x="27" y="0"/>
                </a:lnTo>
                <a:cubicBezTo>
                  <a:pt x="19" y="0"/>
                  <a:pt x="12" y="3"/>
                  <a:pt x="7" y="8"/>
                </a:cubicBezTo>
                <a:cubicBezTo>
                  <a:pt x="2" y="14"/>
                  <a:pt x="0" y="21"/>
                  <a:pt x="0" y="28"/>
                </a:cubicBezTo>
                <a:lnTo>
                  <a:pt x="0" y="376"/>
                </a:lnTo>
                <a:cubicBezTo>
                  <a:pt x="0" y="374"/>
                  <a:pt x="1" y="373"/>
                  <a:pt x="1" y="371"/>
                </a:cubicBezTo>
                <a:cubicBezTo>
                  <a:pt x="2" y="365"/>
                  <a:pt x="3" y="360"/>
                  <a:pt x="4" y="355"/>
                </a:cubicBezTo>
                <a:cubicBezTo>
                  <a:pt x="6" y="347"/>
                  <a:pt x="7" y="339"/>
                  <a:pt x="9" y="331"/>
                </a:cubicBezTo>
                <a:cubicBezTo>
                  <a:pt x="11" y="322"/>
                  <a:pt x="13" y="312"/>
                  <a:pt x="15" y="302"/>
                </a:cubicBezTo>
                <a:cubicBezTo>
                  <a:pt x="17" y="292"/>
                  <a:pt x="19" y="281"/>
                  <a:pt x="21" y="270"/>
                </a:cubicBezTo>
                <a:cubicBezTo>
                  <a:pt x="24" y="259"/>
                  <a:pt x="26" y="248"/>
                  <a:pt x="28" y="237"/>
                </a:cubicBezTo>
                <a:cubicBezTo>
                  <a:pt x="30" y="227"/>
                  <a:pt x="32" y="217"/>
                  <a:pt x="34" y="206"/>
                </a:cubicBezTo>
                <a:cubicBezTo>
                  <a:pt x="36" y="196"/>
                  <a:pt x="39" y="186"/>
                  <a:pt x="41" y="176"/>
                </a:cubicBezTo>
                <a:cubicBezTo>
                  <a:pt x="42" y="167"/>
                  <a:pt x="44" y="157"/>
                  <a:pt x="46" y="148"/>
                </a:cubicBezTo>
                <a:cubicBezTo>
                  <a:pt x="47" y="139"/>
                  <a:pt x="49" y="130"/>
                  <a:pt x="54" y="123"/>
                </a:cubicBezTo>
                <a:cubicBezTo>
                  <a:pt x="59" y="116"/>
                  <a:pt x="67" y="113"/>
                  <a:pt x="75" y="112"/>
                </a:cubicBezTo>
                <a:cubicBezTo>
                  <a:pt x="84" y="111"/>
                  <a:pt x="93" y="111"/>
                  <a:pt x="102" y="112"/>
                </a:cubicBezTo>
                <a:cubicBezTo>
                  <a:pt x="122" y="112"/>
                  <a:pt x="142" y="112"/>
                  <a:pt x="163" y="112"/>
                </a:cubicBezTo>
                <a:lnTo>
                  <a:pt x="377" y="112"/>
                </a:lnTo>
                <a:lnTo>
                  <a:pt x="377" y="112"/>
                </a:lnTo>
                <a:close/>
                <a:moveTo>
                  <a:pt x="357" y="400"/>
                </a:moveTo>
                <a:cubicBezTo>
                  <a:pt x="354" y="400"/>
                  <a:pt x="350" y="400"/>
                  <a:pt x="347" y="400"/>
                </a:cubicBezTo>
                <a:cubicBezTo>
                  <a:pt x="342" y="400"/>
                  <a:pt x="336" y="400"/>
                  <a:pt x="331" y="400"/>
                </a:cubicBezTo>
                <a:cubicBezTo>
                  <a:pt x="327" y="400"/>
                  <a:pt x="323" y="400"/>
                  <a:pt x="318" y="400"/>
                </a:cubicBezTo>
                <a:lnTo>
                  <a:pt x="21" y="400"/>
                </a:lnTo>
                <a:cubicBezTo>
                  <a:pt x="22" y="398"/>
                  <a:pt x="22" y="397"/>
                  <a:pt x="23" y="395"/>
                </a:cubicBezTo>
                <a:cubicBezTo>
                  <a:pt x="23" y="390"/>
                  <a:pt x="24" y="385"/>
                  <a:pt x="25" y="380"/>
                </a:cubicBezTo>
                <a:cubicBezTo>
                  <a:pt x="27" y="373"/>
                  <a:pt x="28" y="366"/>
                  <a:pt x="30" y="358"/>
                </a:cubicBezTo>
                <a:cubicBezTo>
                  <a:pt x="31" y="349"/>
                  <a:pt x="33" y="340"/>
                  <a:pt x="35" y="331"/>
                </a:cubicBezTo>
                <a:cubicBezTo>
                  <a:pt x="37" y="321"/>
                  <a:pt x="39" y="311"/>
                  <a:pt x="41" y="301"/>
                </a:cubicBezTo>
                <a:cubicBezTo>
                  <a:pt x="43" y="290"/>
                  <a:pt x="45" y="280"/>
                  <a:pt x="47" y="269"/>
                </a:cubicBezTo>
                <a:cubicBezTo>
                  <a:pt x="49" y="259"/>
                  <a:pt x="51" y="249"/>
                  <a:pt x="53" y="238"/>
                </a:cubicBezTo>
                <a:cubicBezTo>
                  <a:pt x="56" y="218"/>
                  <a:pt x="60" y="198"/>
                  <a:pt x="64" y="178"/>
                </a:cubicBezTo>
                <a:cubicBezTo>
                  <a:pt x="66" y="166"/>
                  <a:pt x="66" y="153"/>
                  <a:pt x="74" y="143"/>
                </a:cubicBezTo>
                <a:cubicBezTo>
                  <a:pt x="83" y="132"/>
                  <a:pt x="99" y="133"/>
                  <a:pt x="112" y="133"/>
                </a:cubicBezTo>
                <a:cubicBezTo>
                  <a:pt x="130" y="134"/>
                  <a:pt x="147" y="133"/>
                  <a:pt x="164" y="133"/>
                </a:cubicBezTo>
                <a:lnTo>
                  <a:pt x="374" y="133"/>
                </a:lnTo>
                <a:cubicBezTo>
                  <a:pt x="383" y="133"/>
                  <a:pt x="393" y="133"/>
                  <a:pt x="403" y="133"/>
                </a:cubicBezTo>
                <a:cubicBezTo>
                  <a:pt x="411" y="134"/>
                  <a:pt x="420" y="137"/>
                  <a:pt x="425" y="144"/>
                </a:cubicBezTo>
                <a:cubicBezTo>
                  <a:pt x="430" y="150"/>
                  <a:pt x="431" y="157"/>
                  <a:pt x="431" y="165"/>
                </a:cubicBezTo>
                <a:cubicBezTo>
                  <a:pt x="429" y="175"/>
                  <a:pt x="426" y="184"/>
                  <a:pt x="424" y="194"/>
                </a:cubicBezTo>
                <a:cubicBezTo>
                  <a:pt x="422" y="204"/>
                  <a:pt x="419" y="214"/>
                  <a:pt x="417" y="224"/>
                </a:cubicBezTo>
                <a:cubicBezTo>
                  <a:pt x="414" y="238"/>
                  <a:pt x="411" y="252"/>
                  <a:pt x="408" y="265"/>
                </a:cubicBezTo>
                <a:cubicBezTo>
                  <a:pt x="405" y="277"/>
                  <a:pt x="402" y="289"/>
                  <a:pt x="399" y="301"/>
                </a:cubicBezTo>
                <a:cubicBezTo>
                  <a:pt x="395" y="321"/>
                  <a:pt x="391" y="341"/>
                  <a:pt x="386" y="361"/>
                </a:cubicBezTo>
                <a:cubicBezTo>
                  <a:pt x="384" y="369"/>
                  <a:pt x="382" y="378"/>
                  <a:pt x="379" y="385"/>
                </a:cubicBezTo>
                <a:cubicBezTo>
                  <a:pt x="375" y="392"/>
                  <a:pt x="369" y="398"/>
                  <a:pt x="362" y="399"/>
                </a:cubicBezTo>
                <a:cubicBezTo>
                  <a:pt x="360" y="400"/>
                  <a:pt x="359" y="400"/>
                  <a:pt x="357" y="400"/>
                </a:cubicBezTo>
              </a:path>
            </a:pathLst>
          </a:custGeom>
          <a:solidFill>
            <a:srgbClr val="4C89A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6" name="path 266">
            <a:extLst>
              <a:ext uri="{FF2B5EF4-FFF2-40B4-BE49-F238E27FC236}">
                <a16:creationId xmlns:a16="http://schemas.microsoft.com/office/drawing/2014/main" xmlns="" id="{26CA9013-7DDC-B108-6618-48EF5EBDBBEF}"/>
              </a:ext>
            </a:extLst>
          </p:cNvPr>
          <p:cNvSpPr/>
          <p:nvPr/>
        </p:nvSpPr>
        <p:spPr>
          <a:xfrm>
            <a:off x="4045401" y="2882780"/>
            <a:ext cx="273685" cy="236740"/>
          </a:xfrm>
          <a:custGeom>
            <a:avLst/>
            <a:gdLst/>
            <a:ahLst/>
            <a:cxnLst/>
            <a:rect l="0" t="0" r="0" b="0"/>
            <a:pathLst>
              <a:path w="431" h="372">
                <a:moveTo>
                  <a:pt x="273" y="151"/>
                </a:moveTo>
                <a:lnTo>
                  <a:pt x="205" y="219"/>
                </a:lnTo>
                <a:lnTo>
                  <a:pt x="157" y="171"/>
                </a:lnTo>
                <a:cubicBezTo>
                  <a:pt x="151" y="165"/>
                  <a:pt x="142" y="165"/>
                  <a:pt x="137" y="171"/>
                </a:cubicBezTo>
                <a:cubicBezTo>
                  <a:pt x="131" y="176"/>
                  <a:pt x="131" y="186"/>
                  <a:pt x="137" y="191"/>
                </a:cubicBezTo>
                <a:lnTo>
                  <a:pt x="195" y="250"/>
                </a:lnTo>
                <a:cubicBezTo>
                  <a:pt x="198" y="252"/>
                  <a:pt x="202" y="254"/>
                  <a:pt x="205" y="254"/>
                </a:cubicBezTo>
                <a:cubicBezTo>
                  <a:pt x="209" y="254"/>
                  <a:pt x="213" y="252"/>
                  <a:pt x="216" y="250"/>
                </a:cubicBezTo>
                <a:lnTo>
                  <a:pt x="293" y="172"/>
                </a:lnTo>
                <a:cubicBezTo>
                  <a:pt x="299" y="166"/>
                  <a:pt x="299" y="157"/>
                  <a:pt x="293" y="151"/>
                </a:cubicBezTo>
                <a:cubicBezTo>
                  <a:pt x="288" y="145"/>
                  <a:pt x="279" y="145"/>
                  <a:pt x="273" y="151"/>
                </a:cubicBezTo>
                <a:moveTo>
                  <a:pt x="70" y="28"/>
                </a:moveTo>
                <a:lnTo>
                  <a:pt x="130" y="28"/>
                </a:lnTo>
                <a:lnTo>
                  <a:pt x="130" y="46"/>
                </a:lnTo>
                <a:cubicBezTo>
                  <a:pt x="130" y="56"/>
                  <a:pt x="138" y="64"/>
                  <a:pt x="148" y="64"/>
                </a:cubicBezTo>
                <a:cubicBezTo>
                  <a:pt x="158" y="64"/>
                  <a:pt x="166" y="56"/>
                  <a:pt x="166" y="46"/>
                </a:cubicBezTo>
                <a:lnTo>
                  <a:pt x="166" y="28"/>
                </a:lnTo>
                <a:lnTo>
                  <a:pt x="198" y="28"/>
                </a:lnTo>
                <a:lnTo>
                  <a:pt x="198" y="46"/>
                </a:lnTo>
                <a:cubicBezTo>
                  <a:pt x="198" y="56"/>
                  <a:pt x="207" y="64"/>
                  <a:pt x="217" y="64"/>
                </a:cubicBezTo>
                <a:cubicBezTo>
                  <a:pt x="227" y="64"/>
                  <a:pt x="235" y="56"/>
                  <a:pt x="235" y="46"/>
                </a:cubicBezTo>
                <a:lnTo>
                  <a:pt x="235" y="28"/>
                </a:lnTo>
                <a:lnTo>
                  <a:pt x="262" y="28"/>
                </a:lnTo>
                <a:lnTo>
                  <a:pt x="262" y="46"/>
                </a:lnTo>
                <a:cubicBezTo>
                  <a:pt x="262" y="56"/>
                  <a:pt x="270" y="64"/>
                  <a:pt x="280" y="64"/>
                </a:cubicBezTo>
                <a:cubicBezTo>
                  <a:pt x="290" y="64"/>
                  <a:pt x="299" y="56"/>
                  <a:pt x="299" y="46"/>
                </a:cubicBezTo>
                <a:lnTo>
                  <a:pt x="299" y="28"/>
                </a:lnTo>
                <a:lnTo>
                  <a:pt x="360" y="28"/>
                </a:lnTo>
                <a:cubicBezTo>
                  <a:pt x="399" y="28"/>
                  <a:pt x="431" y="60"/>
                  <a:pt x="431" y="98"/>
                </a:cubicBezTo>
                <a:lnTo>
                  <a:pt x="431" y="302"/>
                </a:lnTo>
                <a:cubicBezTo>
                  <a:pt x="431" y="341"/>
                  <a:pt x="399" y="372"/>
                  <a:pt x="360" y="372"/>
                </a:cubicBezTo>
                <a:lnTo>
                  <a:pt x="70" y="372"/>
                </a:lnTo>
                <a:cubicBezTo>
                  <a:pt x="31" y="372"/>
                  <a:pt x="0" y="341"/>
                  <a:pt x="0" y="302"/>
                </a:cubicBezTo>
                <a:lnTo>
                  <a:pt x="0" y="98"/>
                </a:lnTo>
                <a:cubicBezTo>
                  <a:pt x="0" y="60"/>
                  <a:pt x="31" y="28"/>
                  <a:pt x="70" y="28"/>
                </a:cubicBezTo>
                <a:moveTo>
                  <a:pt x="279" y="0"/>
                </a:moveTo>
                <a:lnTo>
                  <a:pt x="282" y="0"/>
                </a:lnTo>
                <a:cubicBezTo>
                  <a:pt x="287" y="0"/>
                  <a:pt x="292" y="4"/>
                  <a:pt x="292" y="9"/>
                </a:cubicBezTo>
                <a:lnTo>
                  <a:pt x="292" y="47"/>
                </a:lnTo>
                <a:cubicBezTo>
                  <a:pt x="292" y="52"/>
                  <a:pt x="287" y="57"/>
                  <a:pt x="282" y="57"/>
                </a:cubicBezTo>
                <a:lnTo>
                  <a:pt x="279" y="57"/>
                </a:lnTo>
                <a:cubicBezTo>
                  <a:pt x="273" y="57"/>
                  <a:pt x="269" y="52"/>
                  <a:pt x="269" y="47"/>
                </a:cubicBezTo>
                <a:lnTo>
                  <a:pt x="269" y="9"/>
                </a:lnTo>
                <a:cubicBezTo>
                  <a:pt x="269" y="4"/>
                  <a:pt x="274" y="0"/>
                  <a:pt x="279" y="0"/>
                </a:cubicBezTo>
                <a:moveTo>
                  <a:pt x="215" y="0"/>
                </a:moveTo>
                <a:lnTo>
                  <a:pt x="218" y="0"/>
                </a:lnTo>
                <a:cubicBezTo>
                  <a:pt x="224" y="0"/>
                  <a:pt x="228" y="4"/>
                  <a:pt x="228" y="9"/>
                </a:cubicBezTo>
                <a:lnTo>
                  <a:pt x="228" y="47"/>
                </a:lnTo>
                <a:cubicBezTo>
                  <a:pt x="228" y="52"/>
                  <a:pt x="224" y="57"/>
                  <a:pt x="218" y="57"/>
                </a:cubicBezTo>
                <a:lnTo>
                  <a:pt x="215" y="57"/>
                </a:lnTo>
                <a:cubicBezTo>
                  <a:pt x="210" y="57"/>
                  <a:pt x="206" y="52"/>
                  <a:pt x="206" y="47"/>
                </a:cubicBezTo>
                <a:lnTo>
                  <a:pt x="206" y="9"/>
                </a:lnTo>
                <a:cubicBezTo>
                  <a:pt x="206" y="4"/>
                  <a:pt x="210" y="0"/>
                  <a:pt x="215" y="0"/>
                </a:cubicBezTo>
                <a:moveTo>
                  <a:pt x="146" y="0"/>
                </a:moveTo>
                <a:lnTo>
                  <a:pt x="150" y="0"/>
                </a:lnTo>
                <a:cubicBezTo>
                  <a:pt x="155" y="0"/>
                  <a:pt x="159" y="4"/>
                  <a:pt x="159" y="9"/>
                </a:cubicBezTo>
                <a:lnTo>
                  <a:pt x="159" y="47"/>
                </a:lnTo>
                <a:cubicBezTo>
                  <a:pt x="159" y="52"/>
                  <a:pt x="155" y="57"/>
                  <a:pt x="150" y="57"/>
                </a:cubicBezTo>
                <a:lnTo>
                  <a:pt x="146" y="57"/>
                </a:lnTo>
                <a:cubicBezTo>
                  <a:pt x="141" y="57"/>
                  <a:pt x="137" y="52"/>
                  <a:pt x="137" y="47"/>
                </a:cubicBezTo>
                <a:lnTo>
                  <a:pt x="137" y="9"/>
                </a:lnTo>
                <a:cubicBezTo>
                  <a:pt x="137" y="4"/>
                  <a:pt x="141" y="0"/>
                  <a:pt x="146" y="0"/>
                </a:cubicBezTo>
              </a:path>
            </a:pathLst>
          </a:custGeom>
          <a:solidFill>
            <a:srgbClr val="577E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0031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644EF7-D8F1-9F1C-7C62-7B1C086D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D99D9AA3-B905-1A61-5EF6-FB9A530D36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7.4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的使用</a:t>
            </a:r>
            <a:endParaRPr sz="3200" spc="3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D5C280CD-EEFC-14F9-3EB3-F5E42C531BAB}"/>
              </a:ext>
            </a:extLst>
          </p:cNvPr>
          <p:cNvSpPr txBox="1">
            <a:spLocks/>
          </p:cNvSpPr>
          <p:nvPr/>
        </p:nvSpPr>
        <p:spPr>
          <a:xfrm>
            <a:off x="-152400" y="996950"/>
            <a:ext cx="11215688" cy="5969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3329F7"/>
                </a:solidFill>
              </a:rPr>
              <a:t> </a:t>
            </a:r>
            <a:r>
              <a:rPr lang="zh-CN" altLang="en-US" sz="3200" b="1" dirty="0">
                <a:solidFill>
                  <a:srgbClr val="C00000"/>
                </a:solidFill>
              </a:rPr>
              <a:t>提示语应该怎么写？</a:t>
            </a:r>
            <a:r>
              <a:rPr lang="en-US" altLang="zh-CN" sz="3200" b="1" dirty="0"/>
              <a:t>---</a:t>
            </a:r>
            <a:r>
              <a:rPr lang="en-US" altLang="zh-CN" sz="3200" b="1" dirty="0" err="1">
                <a:solidFill>
                  <a:srgbClr val="C00000"/>
                </a:solidFill>
              </a:rPr>
              <a:t>DeepSeek</a:t>
            </a:r>
            <a:r>
              <a:rPr lang="zh-CN" altLang="en-US" sz="3200" b="1" dirty="0"/>
              <a:t> </a:t>
            </a:r>
            <a:r>
              <a:rPr lang="en-US" altLang="zh-CN" sz="3200" b="1" kern="0" spc="220" dirty="0">
                <a:solidFill>
                  <a:srgbClr val="C00000">
                    <a:alpha val="100000"/>
                  </a:srgb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R1</a:t>
            </a:r>
            <a:r>
              <a:rPr lang="zh-CN" altLang="en-US" sz="3200" b="1" kern="0" spc="220" dirty="0">
                <a:solidFill>
                  <a:srgbClr val="C00000">
                    <a:alpha val="100000"/>
                  </a:srgb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提示语技巧（开放性）</a:t>
            </a:r>
          </a:p>
        </p:txBody>
      </p:sp>
      <p:sp>
        <p:nvSpPr>
          <p:cNvPr id="4" name="textbox 294">
            <a:extLst>
              <a:ext uri="{FF2B5EF4-FFF2-40B4-BE49-F238E27FC236}">
                <a16:creationId xmlns:a16="http://schemas.microsoft.com/office/drawing/2014/main" xmlns="" id="{757C81B9-9971-2383-317E-9370F215D627}"/>
              </a:ext>
            </a:extLst>
          </p:cNvPr>
          <p:cNvSpPr/>
          <p:nvPr/>
        </p:nvSpPr>
        <p:spPr>
          <a:xfrm>
            <a:off x="749135" y="2244397"/>
            <a:ext cx="4163059" cy="3723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20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30480" algn="l" rtl="0" eaLnBrk="0">
              <a:lnSpc>
                <a:spcPct val="96000"/>
              </a:lnSpc>
            </a:pP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•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   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不需要思维链提示</a:t>
            </a: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30480" algn="l" rtl="0" eaLnBrk="0">
              <a:lnSpc>
                <a:spcPct val="96000"/>
              </a:lnSpc>
              <a:spcBef>
                <a:spcPts val="1280"/>
              </a:spcBef>
            </a:pP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•   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不需要结构化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提示词</a:t>
            </a: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30480" algn="l" rtl="0" eaLnBrk="0">
              <a:lnSpc>
                <a:spcPct val="95000"/>
              </a:lnSpc>
              <a:spcBef>
                <a:spcPts val="1300"/>
              </a:spcBef>
            </a:pP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•   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不需要给示例</a:t>
            </a: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30480" algn="l" rtl="0" eaLnBrk="0">
              <a:lnSpc>
                <a:spcPct val="95000"/>
              </a:lnSpc>
              <a:spcBef>
                <a:spcPts val="1305"/>
              </a:spcBef>
            </a:pP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•   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不需要做太多解释</a:t>
            </a: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30480" algn="l" rtl="0" eaLnBrk="0">
              <a:lnSpc>
                <a:spcPts val="1270"/>
              </a:lnSpc>
              <a:spcBef>
                <a:spcPts val="515"/>
              </a:spcBef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•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Arial" panose="020B0604020202020204"/>
              </a:rPr>
              <a:t>  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 panose="020F0502020204030204"/>
              </a:rPr>
              <a:t>…</a:t>
            </a:r>
            <a:r>
              <a:rPr sz="2000" b="1" kern="0" spc="-2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 panose="020F0502020204030204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Calibri" panose="020F0502020204030204"/>
              </a:rPr>
              <a:t>…</a:t>
            </a:r>
            <a:endParaRPr sz="2000" b="1" dirty="0">
              <a:latin typeface="Times New Roman" panose="02020603050405020304" pitchFamily="18" charset="0"/>
              <a:ea typeface="楷体" panose="02010609060101010101" pitchFamily="49" charset="-122"/>
              <a:cs typeface="Calibri" panose="020F0502020204030204"/>
            </a:endParaRPr>
          </a:p>
          <a:p>
            <a:pPr algn="l" rtl="0" eaLnBrk="0">
              <a:lnSpc>
                <a:spcPct val="108000"/>
              </a:lnSpc>
            </a:pPr>
            <a:endParaRPr sz="105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5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5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50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2400" b="1" kern="0" spc="-70" dirty="0">
                <a:solidFill>
                  <a:srgbClr val="01060A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</a:t>
            </a:r>
            <a:r>
              <a:rPr sz="2400" b="1" kern="0" spc="-60" dirty="0">
                <a:solidFill>
                  <a:srgbClr val="01060A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要过多干预,  </a:t>
            </a:r>
            <a:r>
              <a:rPr sz="2400" b="1" kern="0" spc="-60" dirty="0">
                <a:solidFill>
                  <a:srgbClr val="01030A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不要手把手教</a:t>
            </a:r>
            <a:r>
              <a:rPr sz="2400" b="1" kern="0" spc="-50" dirty="0">
                <a:solidFill>
                  <a:srgbClr val="01030A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学</a:t>
            </a:r>
          </a:p>
        </p:txBody>
      </p:sp>
      <p:sp>
        <p:nvSpPr>
          <p:cNvPr id="5" name="textbox 296">
            <a:extLst>
              <a:ext uri="{FF2B5EF4-FFF2-40B4-BE49-F238E27FC236}">
                <a16:creationId xmlns:a16="http://schemas.microsoft.com/office/drawing/2014/main" xmlns="" id="{C3703799-5A1D-82A6-609A-633DDA40FFE0}"/>
              </a:ext>
            </a:extLst>
          </p:cNvPr>
          <p:cNvSpPr/>
          <p:nvPr/>
        </p:nvSpPr>
        <p:spPr>
          <a:xfrm>
            <a:off x="7503554" y="2114857"/>
            <a:ext cx="4163060" cy="302229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b="1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469900" indent="-457200" algn="l" defTabSz="914400" rtl="0" eaLnBrk="0">
              <a:lnSpc>
                <a:spcPct val="157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2800" b="1" kern="0" dirty="0">
                <a:solidFill>
                  <a:srgbClr val="0B293E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干什么?</a:t>
            </a:r>
          </a:p>
          <a:p>
            <a:pPr marL="469900" indent="-457200" algn="l" rtl="0" eaLnBrk="0">
              <a:lnSpc>
                <a:spcPct val="157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sz="2800" b="1" kern="0" dirty="0">
                <a:solidFill>
                  <a:srgbClr val="0B293E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给谁干?</a:t>
            </a:r>
          </a:p>
          <a:p>
            <a:pPr marL="171450" indent="-171450" algn="l" rtl="0" eaLnBrk="0">
              <a:lnSpc>
                <a:spcPct val="106000"/>
              </a:lnSpc>
              <a:buFont typeface="Arial" panose="020B0604020202020204" pitchFamily="34" charset="0"/>
              <a:buChar char="•"/>
            </a:pPr>
            <a:endParaRPr sz="900" b="1" kern="0" dirty="0">
              <a:latin typeface="Times New Roman" panose="02020603050405020304" pitchFamily="18" charset="0"/>
              <a:ea typeface="楷体" panose="02010609060101010101" pitchFamily="49" charset="-122"/>
              <a:cs typeface="Arial" panose="020B0604020202020204"/>
            </a:endParaRPr>
          </a:p>
          <a:p>
            <a:pPr marL="469900" indent="-457200" algn="l" rtl="0" eaLnBrk="0">
              <a:lnSpc>
                <a:spcPct val="15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b="1" kern="0" dirty="0">
                <a:solidFill>
                  <a:srgbClr val="0B293E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目的是</a:t>
            </a:r>
            <a:r>
              <a:rPr lang="zh-CN" sz="2800" b="1" kern="0" dirty="0">
                <a:solidFill>
                  <a:srgbClr val="0B293E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？（</a:t>
            </a:r>
            <a:r>
              <a:rPr sz="2800" b="1" kern="0" dirty="0">
                <a:solidFill>
                  <a:srgbClr val="060C23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要</a:t>
            </a:r>
            <a:r>
              <a:rPr sz="2800" b="1" kern="0" dirty="0">
                <a:solidFill>
                  <a:srgbClr val="0B293E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什么</a:t>
            </a:r>
            <a:r>
              <a:rPr lang="zh-CN" sz="2800" b="1" kern="0" dirty="0">
                <a:solidFill>
                  <a:srgbClr val="060C23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）</a:t>
            </a:r>
            <a:endParaRPr sz="2800" b="1" kern="0" dirty="0">
              <a:solidFill>
                <a:srgbClr val="060C23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  <a:p>
            <a:pPr marL="469900" indent="-457200" algn="l" rtl="0" eaLnBrk="0">
              <a:lnSpc>
                <a:spcPct val="157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sz="2800" b="1" kern="0" dirty="0">
                <a:solidFill>
                  <a:srgbClr val="000B11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约束是?  </a:t>
            </a:r>
            <a:r>
              <a:rPr lang="zh-CN" sz="2800" b="1" kern="0" dirty="0">
                <a:solidFill>
                  <a:srgbClr val="000B11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（</a:t>
            </a:r>
            <a:r>
              <a:rPr sz="2800" b="1" kern="0" dirty="0">
                <a:solidFill>
                  <a:srgbClr val="050414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不要什么</a:t>
            </a:r>
            <a:r>
              <a:rPr lang="zh-CN" sz="2800" b="1" kern="0" dirty="0">
                <a:solidFill>
                  <a:srgbClr val="050414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微软雅黑" panose="020B0503020204020204" charset="-122"/>
              </a:rPr>
              <a:t>）</a:t>
            </a:r>
            <a:endParaRPr sz="2800" b="1" kern="0" dirty="0">
              <a:latin typeface="Times New Roman" panose="02020603050405020304" pitchFamily="18" charset="0"/>
              <a:ea typeface="楷体" panose="02010609060101010101" pitchFamily="49" charset="-122"/>
              <a:cs typeface="微软雅黑" panose="020B0503020204020204" charset="-122"/>
            </a:endParaRPr>
          </a:p>
        </p:txBody>
      </p:sp>
      <p:pic>
        <p:nvPicPr>
          <p:cNvPr id="6" name="picture 304">
            <a:extLst>
              <a:ext uri="{FF2B5EF4-FFF2-40B4-BE49-F238E27FC236}">
                <a16:creationId xmlns:a16="http://schemas.microsoft.com/office/drawing/2014/main" xmlns="" id="{E58546E3-FF7D-05AB-A9B9-684AF399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854" y="2705201"/>
            <a:ext cx="1391374" cy="144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71014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457178-A99F-4AE2-88D9-7E1F3885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xmlns="" id="{CE24FB4C-AA7A-9621-B702-C77289471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35" y="88837"/>
            <a:ext cx="877543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spc="5" dirty="0"/>
              <a:t>7.4 </a:t>
            </a:r>
            <a:r>
              <a:rPr lang="en-US" sz="3200" spc="5" dirty="0" err="1"/>
              <a:t>DeepSeek</a:t>
            </a:r>
            <a:r>
              <a:rPr lang="zh-CN" altLang="en-US" sz="3200" spc="5" dirty="0"/>
              <a:t>的使用</a:t>
            </a:r>
            <a:endParaRPr sz="3200" spc="3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53432EAF-DEBE-8C8B-103F-5A32F5AC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56" y="990106"/>
            <a:ext cx="9172994" cy="5679125"/>
          </a:xfrm>
          <a:prstGeom prst="rect">
            <a:avLst/>
          </a:prstGeom>
        </p:spPr>
      </p:pic>
      <p:sp>
        <p:nvSpPr>
          <p:cNvPr id="4" name="文本占位符 2">
            <a:extLst>
              <a:ext uri="{FF2B5EF4-FFF2-40B4-BE49-F238E27FC236}">
                <a16:creationId xmlns:a16="http://schemas.microsoft.com/office/drawing/2014/main" xmlns="" id="{DEC538A6-A897-412B-A809-AD253494C4BF}"/>
              </a:ext>
            </a:extLst>
          </p:cNvPr>
          <p:cNvSpPr txBox="1">
            <a:spLocks/>
          </p:cNvSpPr>
          <p:nvPr/>
        </p:nvSpPr>
        <p:spPr>
          <a:xfrm>
            <a:off x="-63500" y="1531439"/>
            <a:ext cx="5638800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官方提示词实例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94E96D6C-DFBA-1502-E2BF-0BA9B160C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35" y="2391896"/>
            <a:ext cx="2875546" cy="28755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DC68D48F-A28F-DC09-9FA0-FFA8C8042FB6}"/>
              </a:ext>
            </a:extLst>
          </p:cNvPr>
          <p:cNvSpPr txBox="1"/>
          <p:nvPr/>
        </p:nvSpPr>
        <p:spPr>
          <a:xfrm>
            <a:off x="-169862" y="5037558"/>
            <a:ext cx="5008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https://api-docs.deepseek.com/zh-cn/prompt-library/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3681051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6822" y="1259459"/>
            <a:ext cx="5924550" cy="53962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1.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明确目标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不好：“写一篇关于教育的文章。”</a:t>
            </a:r>
          </a:p>
          <a:p>
            <a:pPr marL="285115" marR="5080" lvl="1" indent="-285115" algn="r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1400" dirty="0">
                <a:latin typeface="楷体"/>
                <a:cs typeface="楷体"/>
              </a:rPr>
              <a:t>问题：任务不清，不知道是讨论教育制度、技术、方法还是历史。</a:t>
            </a:r>
          </a:p>
          <a:p>
            <a:pPr marL="75565" marR="63500" indent="-76200" algn="r">
              <a:lnSpc>
                <a:spcPts val="1645"/>
              </a:lnSpc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好：“写一篇800字文章，分析人工智能在高中课堂教学中的优势与挑战，</a:t>
            </a:r>
          </a:p>
          <a:p>
            <a:pPr marL="12700">
              <a:lnSpc>
                <a:spcPts val="1610"/>
              </a:lnSpc>
            </a:pPr>
            <a:r>
              <a:rPr sz="1400" dirty="0">
                <a:latin typeface="微软雅黑"/>
                <a:cs typeface="微软雅黑"/>
              </a:rPr>
              <a:t>并加入一个真实案例。”</a:t>
            </a:r>
          </a:p>
          <a:p>
            <a:pPr marL="12700">
              <a:lnSpc>
                <a:spcPts val="1645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2.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精确简洁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不好：“写一个报告，谈谈去年经济情况。”</a:t>
            </a: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问题：缺乏时间范围、数据类型和具体指标。</a:t>
            </a:r>
          </a:p>
          <a:p>
            <a:pPr marL="12700" marR="63500">
              <a:lnSpc>
                <a:spcPts val="1700"/>
              </a:lnSpc>
              <a:spcBef>
                <a:spcPts val="4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好：“撰写一份关于2024年第一季度中国制造业GDP增长趋势的报告，包含 同比增长率和主要影响因素。”</a:t>
            </a:r>
          </a:p>
          <a:p>
            <a:pPr marL="12700">
              <a:lnSpc>
                <a:spcPts val="1455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3.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上下文重要性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不好：“解释深度学习在医疗中的作用。”</a:t>
            </a: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问题：没有上下文，AI可能泛泛而谈。</a:t>
            </a:r>
          </a:p>
          <a:p>
            <a:pPr marL="12700" marR="152400">
              <a:lnSpc>
                <a:spcPts val="1700"/>
              </a:lnSpc>
              <a:spcBef>
                <a:spcPts val="4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好：“近年来，深度学习在医学图像识别中表现突出。请结合CT扫描识别 肺结节的案例，说明其在临床中的应用。”</a:t>
            </a:r>
          </a:p>
          <a:p>
            <a:pPr marL="12700">
              <a:lnSpc>
                <a:spcPts val="1455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4.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使用语言标记（语言提示符）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不好：“写一段话说明气候变化的影响。”</a:t>
            </a: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问题：没有突出重点，不易引导AI。</a:t>
            </a:r>
          </a:p>
          <a:p>
            <a:pPr marL="12700" marR="152400">
              <a:lnSpc>
                <a:spcPts val="1700"/>
              </a:lnSpc>
              <a:spcBef>
                <a:spcPts val="4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好：“请撰写一段简要分析，解释**气温上升**和**降水变化**对农业产 量和水资源安全的双重影响。”</a:t>
            </a:r>
          </a:p>
          <a:p>
            <a:pPr marL="12700">
              <a:lnSpc>
                <a:spcPts val="1455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5.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量化表达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不好：“请写一个关于新能源的长篇文章。”</a:t>
            </a: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问题：长度和内容要求模糊。</a:t>
            </a:r>
          </a:p>
          <a:p>
            <a:pPr marL="12700" marR="152400">
              <a:lnSpc>
                <a:spcPts val="1700"/>
              </a:lnSpc>
              <a:spcBef>
                <a:spcPts val="4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好：“请写一篇约2000字的文章，分析风能、太阳能和氢能的全球发展趋 势，分别提供两个国家的政策支持案例。”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7759" y="3309620"/>
            <a:ext cx="1304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7.</a:t>
            </a:r>
            <a:r>
              <a:rPr sz="1400" b="1" spc="-85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表明参考出处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7759" y="1556004"/>
            <a:ext cx="5421630" cy="502701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6.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层次化引导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ct val="100000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不好：“请生成一篇关于AI教育的完整文章。”</a:t>
            </a:r>
          </a:p>
          <a:p>
            <a:pPr marL="755650" lvl="1" indent="-28638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问题：任务过大，难以聚焦重点。</a:t>
            </a:r>
          </a:p>
          <a:p>
            <a:pPr marL="75565" indent="-63500">
              <a:lnSpc>
                <a:spcPct val="100000"/>
              </a:lnSpc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好（递进式）：</a:t>
            </a:r>
          </a:p>
          <a:p>
            <a:pPr marL="755650" lvl="1" indent="-286385">
              <a:lnSpc>
                <a:spcPts val="1645"/>
              </a:lnSpc>
              <a:spcBef>
                <a:spcPts val="2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步骤1：“生成一篇关于AI赋能教育的文章大纲。”</a:t>
            </a:r>
          </a:p>
          <a:p>
            <a:pPr marL="755015" marR="123825" lvl="1" indent="-285750">
              <a:lnSpc>
                <a:spcPts val="1700"/>
              </a:lnSpc>
              <a:spcBef>
                <a:spcPts val="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步骤2：“根据大纲，分别撰写AI在课堂教学和个性化学习 中的应用，每段300字左右。”</a:t>
            </a:r>
          </a:p>
          <a:p>
            <a:pPr marL="755650" lvl="1" indent="-286385">
              <a:lnSpc>
                <a:spcPts val="153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步骤3：“根据以上内容写结论，提出未来发展建议</a:t>
            </a:r>
            <a:r>
              <a:rPr sz="1400" dirty="0">
                <a:latin typeface="微软雅黑"/>
                <a:cs typeface="微软雅黑"/>
              </a:rPr>
              <a:t>。”</a:t>
            </a:r>
            <a:endParaRPr lang="en-US" sz="1400" dirty="0">
              <a:latin typeface="微软雅黑"/>
              <a:cs typeface="微软雅黑"/>
            </a:endParaRPr>
          </a:p>
          <a:p>
            <a:pPr marL="755650" lvl="1" indent="-286385">
              <a:lnSpc>
                <a:spcPts val="153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endParaRPr sz="1400" dirty="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950" dirty="0">
              <a:latin typeface="微软雅黑"/>
              <a:cs typeface="微软雅黑"/>
            </a:endParaRPr>
          </a:p>
          <a:p>
            <a:pPr marL="75565" indent="-63500">
              <a:lnSpc>
                <a:spcPts val="1645"/>
              </a:lnSpc>
              <a:spcBef>
                <a:spcPts val="5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不好：“请介绍人工智能在医疗中的应用。”</a:t>
            </a:r>
          </a:p>
          <a:p>
            <a:pPr marL="755650" lvl="1" indent="-286385">
              <a:lnSpc>
                <a:spcPts val="1645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问题：没有引用来源，内容可信度低。</a:t>
            </a:r>
          </a:p>
          <a:p>
            <a:pPr marL="75565" indent="-63500">
              <a:lnSpc>
                <a:spcPct val="100000"/>
              </a:lnSpc>
              <a:spcBef>
                <a:spcPts val="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好：“请总结人工智能在医疗影像分析领域的应用，查阅至少3篇英</a:t>
            </a:r>
          </a:p>
          <a:p>
            <a:pPr marL="12700">
              <a:lnSpc>
                <a:spcPts val="1630"/>
              </a:lnSpc>
              <a:spcBef>
                <a:spcPts val="25"/>
              </a:spcBef>
            </a:pPr>
            <a:r>
              <a:rPr sz="1400" dirty="0">
                <a:latin typeface="楷体"/>
                <a:cs typeface="楷体"/>
              </a:rPr>
              <a:t>文论文，并以APA格式列出文献来源。”</a:t>
            </a:r>
          </a:p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8.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避免偏差与歧义</a:t>
            </a:r>
            <a:endParaRPr sz="1400" dirty="0">
              <a:latin typeface="微软雅黑"/>
              <a:cs typeface="微软雅黑"/>
            </a:endParaRPr>
          </a:p>
          <a:p>
            <a:pPr marL="75565" indent="-63500">
              <a:lnSpc>
                <a:spcPts val="1645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不好：“为什么女性不适合做程序员？”</a:t>
            </a:r>
          </a:p>
          <a:p>
            <a:pPr marL="755650" lvl="1" indent="-286385">
              <a:lnSpc>
                <a:spcPts val="1645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sz="1400" dirty="0">
                <a:latin typeface="楷体"/>
                <a:cs typeface="楷体"/>
              </a:rPr>
              <a:t>问题：带有明显性别偏见。</a:t>
            </a:r>
          </a:p>
          <a:p>
            <a:pPr marL="75565" indent="-63500">
              <a:lnSpc>
                <a:spcPct val="100000"/>
              </a:lnSpc>
              <a:spcBef>
                <a:spcPts val="25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好：“请分析男性与女性在程序开发岗位中常见的不同风格和优势，</a:t>
            </a:r>
          </a:p>
          <a:p>
            <a:pPr marL="12700">
              <a:lnSpc>
                <a:spcPts val="1630"/>
              </a:lnSpc>
              <a:spcBef>
                <a:spcPts val="25"/>
              </a:spcBef>
            </a:pPr>
            <a:r>
              <a:rPr sz="1400" dirty="0">
                <a:latin typeface="楷体"/>
                <a:cs typeface="楷体"/>
              </a:rPr>
              <a:t>并讨论性别多元化对团队的正面影响。”</a:t>
            </a:r>
          </a:p>
          <a:p>
            <a:pPr marL="12700">
              <a:lnSpc>
                <a:spcPts val="1630"/>
              </a:lnSpc>
            </a:pPr>
            <a:r>
              <a:rPr sz="1400" b="1" spc="-5" dirty="0">
                <a:solidFill>
                  <a:srgbClr val="C00000"/>
                </a:solidFill>
                <a:latin typeface="微软雅黑"/>
                <a:cs typeface="微软雅黑"/>
              </a:rPr>
              <a:t>9.</a:t>
            </a:r>
            <a:r>
              <a:rPr sz="1400" b="1" spc="-5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/>
                <a:cs typeface="微软雅黑"/>
              </a:rPr>
              <a:t>多轮迭代与风格模仿</a:t>
            </a:r>
            <a:endParaRPr sz="1400" dirty="0">
              <a:latin typeface="微软雅黑"/>
              <a:cs typeface="微软雅黑"/>
            </a:endParaRPr>
          </a:p>
          <a:p>
            <a:pPr marL="63500" marR="2317115" indent="-63500" algn="r">
              <a:lnSpc>
                <a:spcPts val="1645"/>
              </a:lnSpc>
              <a:spcBef>
                <a:spcPts val="120"/>
              </a:spcBef>
              <a:buSzPct val="92857"/>
              <a:buFont typeface="Arial"/>
              <a:buChar char="•"/>
              <a:tabLst>
                <a:tab pos="63500" algn="l"/>
              </a:tabLst>
            </a:pPr>
            <a:r>
              <a:rPr sz="1400" dirty="0">
                <a:latin typeface="楷体"/>
                <a:cs typeface="楷体"/>
              </a:rPr>
              <a:t>不好：“生成一篇关于友谊的短文。”</a:t>
            </a:r>
          </a:p>
          <a:p>
            <a:pPr marL="285115" marR="2346325" lvl="1" indent="-285115" algn="r">
              <a:lnSpc>
                <a:spcPts val="1645"/>
              </a:lnSpc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1400" dirty="0">
                <a:latin typeface="楷体"/>
                <a:cs typeface="楷体"/>
              </a:rPr>
              <a:t>问题：风格模糊，输出普通。</a:t>
            </a:r>
          </a:p>
          <a:p>
            <a:pPr marL="75565" indent="-63500">
              <a:lnSpc>
                <a:spcPct val="100000"/>
              </a:lnSpc>
              <a:spcBef>
                <a:spcPts val="25"/>
              </a:spcBef>
              <a:buSzPct val="92857"/>
              <a:buFont typeface="Arial"/>
              <a:buChar char="•"/>
              <a:tabLst>
                <a:tab pos="76200" algn="l"/>
              </a:tabLst>
            </a:pPr>
            <a:r>
              <a:rPr sz="1400" dirty="0">
                <a:latin typeface="楷体"/>
                <a:cs typeface="楷体"/>
              </a:rPr>
              <a:t>好：“请模仿《论语》的风格，写一段关于‘友谊与人生’的短文，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楷体"/>
                <a:cs typeface="楷体"/>
              </a:rPr>
              <a:t>控制在80字以内。”</a:t>
            </a:r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59346D98-DFAB-2122-E443-C4184F202F0B}"/>
              </a:ext>
            </a:extLst>
          </p:cNvPr>
          <p:cNvSpPr txBox="1">
            <a:spLocks/>
          </p:cNvSpPr>
          <p:nvPr/>
        </p:nvSpPr>
        <p:spPr>
          <a:xfrm>
            <a:off x="184150" y="720079"/>
            <a:ext cx="5638800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提示词案例对比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10E4A1E7-808F-9A8F-7DAB-34FB6B38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833907CA-E90B-F65D-F894-1934204D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55398AB2-C966-B29A-154B-4A348FF7D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831850"/>
            <a:ext cx="10998749" cy="58691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534D3AE-6881-F944-3B62-C0F09E8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B44862FF-9DBA-0249-1184-CE6F30DFCFD2}"/>
              </a:ext>
            </a:extLst>
          </p:cNvPr>
          <p:cNvSpPr txBox="1">
            <a:spLocks/>
          </p:cNvSpPr>
          <p:nvPr/>
        </p:nvSpPr>
        <p:spPr>
          <a:xfrm>
            <a:off x="182292" y="830838"/>
            <a:ext cx="5638800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文生图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DDB3776A-11FC-C604-5E52-FD06EEA7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xmlns="" id="{60E0D448-4341-04C3-BE85-6CCC76215F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511" y="1610535"/>
            <a:ext cx="5895757" cy="4662667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xmlns="" id="{DA51366C-66E2-487F-3A38-DDAACFF44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0909" y="1062112"/>
            <a:ext cx="5293266" cy="537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0991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7BF24F-2FDA-6D63-F96A-2933B945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FF9EB1BD-E72C-A4AE-FF96-180AB91F162C}"/>
              </a:ext>
            </a:extLst>
          </p:cNvPr>
          <p:cNvSpPr txBox="1">
            <a:spLocks/>
          </p:cNvSpPr>
          <p:nvPr/>
        </p:nvSpPr>
        <p:spPr>
          <a:xfrm>
            <a:off x="182292" y="830838"/>
            <a:ext cx="6250258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赋能课堂即时代码生成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EAD53C6B-D279-E9DF-C8C4-F02A169A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ED4D409F-299D-4481-7F2C-7CEF58B1E74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075" y="1417476"/>
            <a:ext cx="10826750" cy="524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43501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12FD5D-3EAC-F9E9-0B17-5916A299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60452E3A-BA9C-E41E-5C2B-EAD836B7E4DB}"/>
              </a:ext>
            </a:extLst>
          </p:cNvPr>
          <p:cNvSpPr txBox="1">
            <a:spLocks/>
          </p:cNvSpPr>
          <p:nvPr/>
        </p:nvSpPr>
        <p:spPr>
          <a:xfrm>
            <a:off x="182292" y="830838"/>
            <a:ext cx="5638800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赋能数据分析</a:t>
            </a: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EE54E8C8-61A9-BC5D-F84C-10AEAA84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68212243-AC71-D25F-BC69-5F724EF09815}"/>
              </a:ext>
            </a:extLst>
          </p:cNvPr>
          <p:cNvGrpSpPr/>
          <p:nvPr/>
        </p:nvGrpSpPr>
        <p:grpSpPr>
          <a:xfrm>
            <a:off x="1124451" y="1627026"/>
            <a:ext cx="10324599" cy="4952089"/>
            <a:chOff x="222751" y="871232"/>
            <a:chExt cx="11861992" cy="5561833"/>
          </a:xfrm>
        </p:grpSpPr>
        <p:pic>
          <p:nvPicPr>
            <p:cNvPr id="4" name="object 2">
              <a:extLst>
                <a:ext uri="{FF2B5EF4-FFF2-40B4-BE49-F238E27FC236}">
                  <a16:creationId xmlns:a16="http://schemas.microsoft.com/office/drawing/2014/main" xmlns="" id="{40E979EF-2E14-B9F1-A229-0150E4AA5D1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751" y="872520"/>
              <a:ext cx="3522829" cy="5560545"/>
            </a:xfrm>
            <a:prstGeom prst="rect">
              <a:avLst/>
            </a:prstGeom>
          </p:spPr>
        </p:pic>
        <p:pic>
          <p:nvPicPr>
            <p:cNvPr id="5" name="object 3">
              <a:extLst>
                <a:ext uri="{FF2B5EF4-FFF2-40B4-BE49-F238E27FC236}">
                  <a16:creationId xmlns:a16="http://schemas.microsoft.com/office/drawing/2014/main" xmlns="" id="{E0FC19FC-B515-01AC-4150-24877F50115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1166" y="907353"/>
              <a:ext cx="3329746" cy="5376153"/>
            </a:xfrm>
            <a:prstGeom prst="rect">
              <a:avLst/>
            </a:prstGeom>
          </p:spPr>
        </p:pic>
        <p:pic>
          <p:nvPicPr>
            <p:cNvPr id="8" name="object 4">
              <a:extLst>
                <a:ext uri="{FF2B5EF4-FFF2-40B4-BE49-F238E27FC236}">
                  <a16:creationId xmlns:a16="http://schemas.microsoft.com/office/drawing/2014/main" xmlns="" id="{A5656A62-8C26-2ED4-CC30-BA244AA75C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0358" y="871232"/>
              <a:ext cx="2394012" cy="1529508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xmlns="" id="{55659170-480E-3BC6-2E89-1A28836DAB5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7382" y="2905923"/>
              <a:ext cx="2215399" cy="1491134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xmlns="" id="{6F2B5E60-18C3-A508-F8A6-CB6E2B48FF8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5336" y="4638783"/>
              <a:ext cx="2422022" cy="1610818"/>
            </a:xfrm>
            <a:prstGeom prst="rect">
              <a:avLst/>
            </a:prstGeom>
          </p:spPr>
        </p:pic>
        <p:pic>
          <p:nvPicPr>
            <p:cNvPr id="12" name="object 7">
              <a:extLst>
                <a:ext uri="{FF2B5EF4-FFF2-40B4-BE49-F238E27FC236}">
                  <a16:creationId xmlns:a16="http://schemas.microsoft.com/office/drawing/2014/main" xmlns="" id="{0D85E5CC-7F8D-20AE-3469-50C0CA231C6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96897" y="2683982"/>
              <a:ext cx="1746263" cy="1689944"/>
            </a:xfrm>
            <a:prstGeom prst="rect">
              <a:avLst/>
            </a:prstGeom>
          </p:spPr>
        </p:pic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xmlns="" id="{B87434A1-07E5-D906-8818-81E9F9C1C26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91028" y="4730467"/>
              <a:ext cx="1993715" cy="1404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024481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6DB78D-49C3-AC64-6555-94B9EC94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278852A3-A0B9-4D2F-61B8-EF15FEDEE22C}"/>
              </a:ext>
            </a:extLst>
          </p:cNvPr>
          <p:cNvSpPr txBox="1">
            <a:spLocks/>
          </p:cNvSpPr>
          <p:nvPr/>
        </p:nvSpPr>
        <p:spPr>
          <a:xfrm>
            <a:off x="156892" y="887988"/>
            <a:ext cx="6072458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Cherry LM + </a:t>
            </a: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API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调用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3765E2FE-9971-F432-A55D-FE12570D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/>
              <a:t>7.4 </a:t>
            </a:r>
            <a:r>
              <a:rPr lang="en-US" altLang="zh-CN" sz="3600" spc="5" dirty="0" err="1"/>
              <a:t>DeepSeek</a:t>
            </a:r>
            <a:r>
              <a:rPr lang="zh-CN" altLang="en-US" sz="3600" spc="5" dirty="0"/>
              <a:t>的使用</a:t>
            </a:r>
            <a:endParaRPr lang="zh-CN" alt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xmlns="" id="{B752B789-F525-A4C4-E92D-90DC1246A1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1082" y="2201672"/>
            <a:ext cx="5590032" cy="3467100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xmlns="" id="{C7A9076A-3DBC-686E-1101-59FB6C111B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986" y="2201672"/>
            <a:ext cx="5681472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52415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33A43E-5037-5215-9CE1-D69046DE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542859DF-01AF-4631-C695-CBDE5534FACC}"/>
              </a:ext>
            </a:extLst>
          </p:cNvPr>
          <p:cNvSpPr txBox="1">
            <a:spLocks/>
          </p:cNvSpPr>
          <p:nvPr/>
        </p:nvSpPr>
        <p:spPr>
          <a:xfrm>
            <a:off x="156892" y="804130"/>
            <a:ext cx="6072458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本地化部署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5F2AD6E1-6335-9E14-C9EE-58F90E82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7.4 </a:t>
            </a:r>
            <a:r>
              <a:rPr lang="en-US" altLang="zh-CN" sz="36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6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的使用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xmlns="" id="{251AC14E-FA4D-1EEB-C3F7-9D36D1CCB5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175" y="1895601"/>
            <a:ext cx="5039868" cy="290322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xmlns="" id="{116890DE-52F4-CCF0-927B-A3C1F8A004D6}"/>
              </a:ext>
            </a:extLst>
          </p:cNvPr>
          <p:cNvSpPr txBox="1"/>
          <p:nvPr/>
        </p:nvSpPr>
        <p:spPr>
          <a:xfrm>
            <a:off x="749135" y="1434998"/>
            <a:ext cx="106554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26100" algn="l"/>
              </a:tabLst>
            </a:pP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方法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1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：使用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H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u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gg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ing </a:t>
            </a:r>
            <a:r>
              <a:rPr sz="2400" spc="-8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F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ace </a:t>
            </a:r>
            <a:r>
              <a:rPr sz="2400" spc="-17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T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r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ansfo</a:t>
            </a:r>
            <a:r>
              <a:rPr sz="2400" spc="-1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r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me</a:t>
            </a:r>
            <a:r>
              <a:rPr sz="2400" spc="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r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s	</a:t>
            </a:r>
            <a:r>
              <a:rPr 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         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方法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2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：使用vLLM加速推理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xmlns="" id="{45E329BC-E9E6-B2B6-12BF-A72329706F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4042" y="2109592"/>
            <a:ext cx="5676419" cy="250954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xmlns="" id="{DE2E8F11-9D53-3BFF-EF33-8B61531948B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1278" y="4918444"/>
            <a:ext cx="7239369" cy="1771290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xmlns="" id="{E3A6906C-0CAF-807B-4ABA-0A9DDCA1B799}"/>
              </a:ext>
            </a:extLst>
          </p:cNvPr>
          <p:cNvSpPr txBox="1"/>
          <p:nvPr/>
        </p:nvSpPr>
        <p:spPr>
          <a:xfrm>
            <a:off x="1257300" y="5671714"/>
            <a:ext cx="26254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方法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3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：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D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oc</a:t>
            </a:r>
            <a:r>
              <a:rPr sz="2400" spc="-4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k</a:t>
            </a:r>
            <a:r>
              <a:rPr sz="2400" spc="-5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er</a:t>
            </a:r>
            <a:r>
              <a:rPr sz="2400" dirty="0">
                <a:latin typeface="Times New Roman" panose="02020603050405020304" pitchFamily="18" charset="0"/>
                <a:ea typeface="楷体" panose="02010609060101010101" pitchFamily="49" charset="-122"/>
                <a:cs typeface="Microsoft YaHei UI"/>
              </a:rPr>
              <a:t>部署</a:t>
            </a:r>
          </a:p>
        </p:txBody>
      </p:sp>
    </p:spTree>
    <p:extLst>
      <p:ext uri="{BB962C8B-B14F-4D97-AF65-F5344CB8AC3E}">
        <p14:creationId xmlns:p14="http://schemas.microsoft.com/office/powerpoint/2010/main" xmlns="" val="3404945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E89903-EDAB-2B8A-6C59-74CEAE6C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>
            <a:extLst>
              <a:ext uri="{FF2B5EF4-FFF2-40B4-BE49-F238E27FC236}">
                <a16:creationId xmlns:a16="http://schemas.microsoft.com/office/drawing/2014/main" xmlns="" id="{6EB05376-5B7F-C02B-0581-8CD9DE223895}"/>
              </a:ext>
            </a:extLst>
          </p:cNvPr>
          <p:cNvSpPr txBox="1">
            <a:spLocks/>
          </p:cNvSpPr>
          <p:nvPr/>
        </p:nvSpPr>
        <p:spPr>
          <a:xfrm>
            <a:off x="156892" y="804130"/>
            <a:ext cx="6072458" cy="46254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注意：避免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AI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幻觉！！！</a:t>
            </a:r>
            <a:endParaRPr lang="en-US" altLang="zh-CN" sz="32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sz="3200" b="1" kern="0" spc="22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DBCBC41A-0A92-0C9C-B93B-2FFB9F1E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7.4 </a:t>
            </a:r>
            <a:r>
              <a:rPr lang="en-US" altLang="zh-CN" sz="3600" spc="5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DeepSeek</a:t>
            </a:r>
            <a:r>
              <a:rPr lang="zh-CN" altLang="en-US" sz="3600" spc="5" dirty="0">
                <a:latin typeface="Times New Roman" panose="02020603050405020304" pitchFamily="18" charset="0"/>
                <a:ea typeface="楷体" panose="02010609060101010101" pitchFamily="49" charset="-122"/>
              </a:rPr>
              <a:t>的使用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74CF517-3083-8590-1E95-EAE667D6CA2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421"/>
          <a:stretch/>
        </p:blipFill>
        <p:spPr>
          <a:xfrm>
            <a:off x="512983" y="1427560"/>
            <a:ext cx="11166033" cy="520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10300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RESENTATION_SOURCE" val="WPPAIGenerate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71"/>
  <p:tag name="KSO_WM_TEMPLATE_CATEGORY" val="custom"/>
  <p:tag name="KSO_WM_SLIDE_INDEX" val="1"/>
  <p:tag name="KSO_WM_SLIDE_ID" val="custom20235971_1"/>
  <p:tag name="KSO_WM_TEMPLATE_MASTER_TYPE" val="0"/>
  <p:tag name="KSO_WM_SLIDE_LAYOUT" val="a_f"/>
  <p:tag name="KSO_WM_SLIDE_LAYOUT_CNT" val="1_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单击此处&#10;添加文档标题"/>
  <p:tag name="KSO_WM_UNIT_TEXT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971"/>
  <p:tag name="KSO_WM_TEMPLATE_CATEGORY" val="custom"/>
  <p:tag name="KSO_WM_SLIDE_INDEX" val="4"/>
  <p:tag name="KSO_WM_SLIDE_ID" val="custom20235971_4"/>
  <p:tag name="KSO_WM_TEMPLATE_MASTER_TYPE" val="0"/>
  <p:tag name="KSO_WM_SLIDE_LAYOUT" val="a_l"/>
  <p:tag name="KSO_WM_SLIDE_LAYOUT_CNT" val="1_1"/>
  <p:tag name="KSO_WM_SLIDE_DIAGTYPE" val="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9"/>
  <p:tag name="KSO_WM_SLIDE_ID" val="custom20235971_9"/>
  <p:tag name="KSO_WM_TEMPLATE_MASTER_TYPE" val="0"/>
  <p:tag name="KSO_WM_SLIDE_LAYOUT" val="a_f"/>
  <p:tag name="KSO_WM_SLIDE_LAYOUT_CNT" val="1_2"/>
</p:tagLst>
</file>

<file path=ppt/theme/theme1.xml><?xml version="1.0" encoding="utf-8"?>
<a:theme xmlns:a="http://schemas.openxmlformats.org/drawingml/2006/main" name="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教学PPT字体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1647</Words>
  <Application>Microsoft Office PowerPoint</Application>
  <PresentationFormat>自定义</PresentationFormat>
  <Paragraphs>310</Paragraphs>
  <Slides>42</Slides>
  <Notes>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3" baseType="lpstr">
      <vt:lpstr>标题</vt:lpstr>
      <vt:lpstr>人工智能导论   第7章(Ⅱ)  DeepSeek</vt:lpstr>
      <vt:lpstr>幻灯片 2</vt:lpstr>
      <vt:lpstr>7.1 DeepSeek的诞生和影响</vt:lpstr>
      <vt:lpstr>7.1 DeepSeek的诞生和影响</vt:lpstr>
      <vt:lpstr>7.1 DeepSeek的诞生和影响</vt:lpstr>
      <vt:lpstr>7.1 DeepSeek的诞生和影响</vt:lpstr>
      <vt:lpstr>7.1 DeepSeek的诞生和影响</vt:lpstr>
      <vt:lpstr>7.2 DeepSeek的功能</vt:lpstr>
      <vt:lpstr>7.2 DeepSeek的功能</vt:lpstr>
      <vt:lpstr>7.2 DeepSeek的功能</vt:lpstr>
      <vt:lpstr>7.2 DeepSeek的功能</vt:lpstr>
      <vt:lpstr>7.2 DeepSeek的功能</vt:lpstr>
      <vt:lpstr>7.2 DeepSeek的功能</vt:lpstr>
      <vt:lpstr>7.3 DeepSeek的技术创新</vt:lpstr>
      <vt:lpstr>7.3 DeepSeek的技术创新</vt:lpstr>
      <vt:lpstr>7.3 DeepSeek的技术创新</vt:lpstr>
      <vt:lpstr>7.3 DeepSeek的技术创新：模型架构 | V3</vt:lpstr>
      <vt:lpstr>7.3 DeepSeek的技术创新：模型架构 | V3</vt:lpstr>
      <vt:lpstr>7.3 DeepSeek的技术创新： 模型架构 | V3成本</vt:lpstr>
      <vt:lpstr>7.3 DeepSeek的技术创新：推理模型 | R1</vt:lpstr>
      <vt:lpstr>7.3 DeepSeek的技术创新：推理模型 | R1-Zero</vt:lpstr>
      <vt:lpstr>7.3 DeepSeek的技术创新：推理模型 | R1 Recipe</vt:lpstr>
      <vt:lpstr>7.3 DeepSeek的技术创新：推理模型 | RL</vt:lpstr>
      <vt:lpstr>7.3 DeepSeek的技术创新：推理模型 | 推理能力蒸馏</vt:lpstr>
      <vt:lpstr>7.3 DeepSeek的技术创新：推理模型 | R1</vt:lpstr>
      <vt:lpstr>7.3 DeepSeek的技术创新：推理模型 | R1</vt:lpstr>
      <vt:lpstr>7.3 DeepSeek的技术创新：创新程度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7.4 DeepSeek的使用</vt:lpstr>
      <vt:lpstr>幻灯片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LIUYUHUI</dc:creator>
  <cp:lastModifiedBy>Administrator</cp:lastModifiedBy>
  <cp:revision>433</cp:revision>
  <dcterms:created xsi:type="dcterms:W3CDTF">2019-06-19T02:08:00Z</dcterms:created>
  <dcterms:modified xsi:type="dcterms:W3CDTF">2025-04-25T05:35:35Z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5CAEA41B0E824852AA1C3ACF072D96DA_11</vt:lpwstr>
  </property>
</Properties>
</file>