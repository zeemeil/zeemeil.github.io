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pn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1"/>
  </p:notesMasterIdLst>
  <p:handoutMasterIdLst>
    <p:handoutMasterId r:id="rId42"/>
  </p:handoutMasterIdLst>
  <p:sldIdLst>
    <p:sldId id="256" r:id="rId2"/>
    <p:sldId id="259" r:id="rId3"/>
    <p:sldId id="341" r:id="rId4"/>
    <p:sldId id="399" r:id="rId5"/>
    <p:sldId id="278" r:id="rId6"/>
    <p:sldId id="400" r:id="rId7"/>
    <p:sldId id="402" r:id="rId8"/>
    <p:sldId id="411" r:id="rId9"/>
    <p:sldId id="409" r:id="rId10"/>
    <p:sldId id="408" r:id="rId11"/>
    <p:sldId id="410" r:id="rId12"/>
    <p:sldId id="401" r:id="rId13"/>
    <p:sldId id="361" r:id="rId14"/>
    <p:sldId id="403" r:id="rId15"/>
    <p:sldId id="404" r:id="rId16"/>
    <p:sldId id="417" r:id="rId17"/>
    <p:sldId id="418" r:id="rId18"/>
    <p:sldId id="406" r:id="rId19"/>
    <p:sldId id="420" r:id="rId20"/>
    <p:sldId id="419" r:id="rId21"/>
    <p:sldId id="423" r:id="rId22"/>
    <p:sldId id="424" r:id="rId23"/>
    <p:sldId id="405" r:id="rId24"/>
    <p:sldId id="425" r:id="rId25"/>
    <p:sldId id="426" r:id="rId26"/>
    <p:sldId id="421" r:id="rId27"/>
    <p:sldId id="422" r:id="rId28"/>
    <p:sldId id="428" r:id="rId29"/>
    <p:sldId id="407" r:id="rId30"/>
    <p:sldId id="413" r:id="rId31"/>
    <p:sldId id="412" r:id="rId32"/>
    <p:sldId id="414" r:id="rId33"/>
    <p:sldId id="416" r:id="rId34"/>
    <p:sldId id="415" r:id="rId35"/>
    <p:sldId id="427" r:id="rId36"/>
    <p:sldId id="429" r:id="rId37"/>
    <p:sldId id="431" r:id="rId38"/>
    <p:sldId id="430" r:id="rId39"/>
    <p:sldId id="263"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20" userDrawn="1">
          <p15:clr>
            <a:srgbClr val="A4A3A4"/>
          </p15:clr>
        </p15:guide>
        <p15:guide id="2" pos="2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D4C39"/>
    <a:srgbClr val="8CEB4B"/>
    <a:srgbClr val="FE3D38"/>
    <a:srgbClr val="F0FE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82" autoAdjust="0"/>
    <p:restoredTop sz="74283" autoAdjust="0"/>
  </p:normalViewPr>
  <p:slideViewPr>
    <p:cSldViewPr snapToObjects="1" showGuides="1">
      <p:cViewPr varScale="1">
        <p:scale>
          <a:sx n="48" d="100"/>
          <a:sy n="48" d="100"/>
        </p:scale>
        <p:origin x="1720" y="24"/>
      </p:cViewPr>
      <p:guideLst>
        <p:guide orient="horz" pos="1920"/>
        <p:guide pos="240"/>
      </p:guideLst>
    </p:cSldViewPr>
  </p:slideViewPr>
  <p:notesTextViewPr>
    <p:cViewPr>
      <p:scale>
        <a:sx n="100" d="100"/>
        <a:sy n="100" d="100"/>
      </p:scale>
      <p:origin x="0" y="0"/>
    </p:cViewPr>
  </p:notesTextViewPr>
  <p:sorterViewPr>
    <p:cViewPr>
      <p:scale>
        <a:sx n="50" d="100"/>
        <a:sy n="50" d="100"/>
      </p:scale>
      <p:origin x="0" y="0"/>
    </p:cViewPr>
  </p:sorterViewPr>
  <p:notesViewPr>
    <p:cSldViewPr snapToObjects="1" showGuides="1">
      <p:cViewPr varScale="1">
        <p:scale>
          <a:sx n="51" d="100"/>
          <a:sy n="51" d="100"/>
        </p:scale>
        <p:origin x="-291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169B477-52D3-4177-833F-412723801D5E}" type="doc">
      <dgm:prSet loTypeId="urn:microsoft.com/office/officeart/2005/8/layout/process1" loCatId="process" qsTypeId="urn:microsoft.com/office/officeart/2005/8/quickstyle/simple1#1" qsCatId="simple" csTypeId="urn:microsoft.com/office/officeart/2005/8/colors/accent2_2#1" csCatId="accent2" phldr="1"/>
      <dgm:spPr/>
    </dgm:pt>
    <dgm:pt modelId="{E64C5A97-3685-4AB1-864C-75F4B0566B7F}">
      <dgm:prSet phldrT="[文本]" custT="1"/>
      <dgm:spPr/>
      <dgm:t>
        <a:bodyPr/>
        <a:lstStyle/>
        <a:p>
          <a:r>
            <a:rPr lang="zh-CN" altLang="en-US" sz="2400" dirty="0">
              <a:latin typeface="+mj-ea"/>
              <a:ea typeface="+mj-ea"/>
            </a:rPr>
            <a:t>数据收集</a:t>
          </a:r>
        </a:p>
      </dgm:t>
    </dgm:pt>
    <dgm:pt modelId="{3245DB59-78F0-43C5-AD2D-39C109C8C855}" type="parTrans" cxnId="{4BB3B23F-C47E-4CC5-AB5C-CA809E9B3EC7}">
      <dgm:prSet/>
      <dgm:spPr/>
      <dgm:t>
        <a:bodyPr/>
        <a:lstStyle/>
        <a:p>
          <a:endParaRPr lang="zh-CN" altLang="en-US">
            <a:latin typeface="+mj-ea"/>
            <a:ea typeface="+mj-ea"/>
          </a:endParaRPr>
        </a:p>
      </dgm:t>
    </dgm:pt>
    <dgm:pt modelId="{685D314A-8F42-4479-9060-B198FFE9685A}" type="sibTrans" cxnId="{4BB3B23F-C47E-4CC5-AB5C-CA809E9B3EC7}">
      <dgm:prSet/>
      <dgm:spPr/>
      <dgm:t>
        <a:bodyPr/>
        <a:lstStyle/>
        <a:p>
          <a:endParaRPr lang="zh-CN" altLang="en-US">
            <a:latin typeface="+mj-ea"/>
            <a:ea typeface="+mj-ea"/>
          </a:endParaRPr>
        </a:p>
      </dgm:t>
    </dgm:pt>
    <dgm:pt modelId="{50811DD1-7C34-4D97-A017-19E1F6A0EDA3}">
      <dgm:prSet phldrT="[文本]" custT="1"/>
      <dgm:spPr/>
      <dgm:t>
        <a:bodyPr/>
        <a:lstStyle/>
        <a:p>
          <a:r>
            <a:rPr lang="zh-CN" altLang="en-US" sz="2400" dirty="0"/>
            <a:t>数据预处理</a:t>
          </a:r>
          <a:endParaRPr lang="zh-CN" altLang="en-US" sz="2400" dirty="0">
            <a:latin typeface="+mj-ea"/>
            <a:ea typeface="+mj-ea"/>
          </a:endParaRPr>
        </a:p>
      </dgm:t>
    </dgm:pt>
    <dgm:pt modelId="{45CF8FA2-5668-473F-94D6-45FDF17B19F4}" type="parTrans" cxnId="{96A3FBC3-F27A-4474-8393-654182F68878}">
      <dgm:prSet/>
      <dgm:spPr/>
      <dgm:t>
        <a:bodyPr/>
        <a:lstStyle/>
        <a:p>
          <a:endParaRPr lang="zh-CN" altLang="en-US">
            <a:latin typeface="+mj-ea"/>
            <a:ea typeface="+mj-ea"/>
          </a:endParaRPr>
        </a:p>
      </dgm:t>
    </dgm:pt>
    <dgm:pt modelId="{DA0765CA-F151-42C9-9A81-86828EC42798}" type="sibTrans" cxnId="{96A3FBC3-F27A-4474-8393-654182F68878}">
      <dgm:prSet/>
      <dgm:spPr/>
      <dgm:t>
        <a:bodyPr/>
        <a:lstStyle/>
        <a:p>
          <a:endParaRPr lang="zh-CN" altLang="en-US">
            <a:latin typeface="+mj-ea"/>
            <a:ea typeface="+mj-ea"/>
          </a:endParaRPr>
        </a:p>
      </dgm:t>
    </dgm:pt>
    <dgm:pt modelId="{17BB5662-9DFB-44BA-819C-24160B2929B8}">
      <dgm:prSet phldrT="[文本]" custT="1"/>
      <dgm:spPr/>
      <dgm:t>
        <a:bodyPr/>
        <a:lstStyle/>
        <a:p>
          <a:r>
            <a:rPr lang="zh-CN" altLang="en-US" sz="2400" dirty="0">
              <a:latin typeface="+mj-ea"/>
              <a:ea typeface="+mj-ea"/>
            </a:rPr>
            <a:t>特征工程</a:t>
          </a:r>
        </a:p>
      </dgm:t>
    </dgm:pt>
    <dgm:pt modelId="{30F1EA26-7C37-4ECB-99E8-D6E9B3020470}" type="parTrans" cxnId="{EB20DD18-68E2-4231-AC29-EF3CF70F7A27}">
      <dgm:prSet/>
      <dgm:spPr/>
      <dgm:t>
        <a:bodyPr/>
        <a:lstStyle/>
        <a:p>
          <a:endParaRPr lang="zh-CN" altLang="en-US">
            <a:latin typeface="+mj-ea"/>
            <a:ea typeface="+mj-ea"/>
          </a:endParaRPr>
        </a:p>
      </dgm:t>
    </dgm:pt>
    <dgm:pt modelId="{792F140D-6C1C-4D8C-8982-98CDFA88C9FB}" type="sibTrans" cxnId="{EB20DD18-68E2-4231-AC29-EF3CF70F7A27}">
      <dgm:prSet/>
      <dgm:spPr/>
      <dgm:t>
        <a:bodyPr/>
        <a:lstStyle/>
        <a:p>
          <a:endParaRPr lang="zh-CN" altLang="en-US">
            <a:latin typeface="+mj-ea"/>
            <a:ea typeface="+mj-ea"/>
          </a:endParaRPr>
        </a:p>
      </dgm:t>
    </dgm:pt>
    <dgm:pt modelId="{3C62B57E-3B2B-4658-BC2E-A364B9308F83}">
      <dgm:prSet phldrT="[文本]" custT="1"/>
      <dgm:spPr/>
      <dgm:t>
        <a:bodyPr/>
        <a:lstStyle/>
        <a:p>
          <a:r>
            <a:rPr lang="zh-CN" altLang="en-US" sz="2400" dirty="0">
              <a:latin typeface="+mj-ea"/>
              <a:ea typeface="+mj-ea"/>
            </a:rPr>
            <a:t>数据建模</a:t>
          </a:r>
        </a:p>
      </dgm:t>
    </dgm:pt>
    <dgm:pt modelId="{1049E9DB-FFB4-41CF-972D-CC26B1955C02}" type="parTrans" cxnId="{645E863A-F884-49DC-9039-BDD84ECE679D}">
      <dgm:prSet/>
      <dgm:spPr/>
      <dgm:t>
        <a:bodyPr/>
        <a:lstStyle/>
        <a:p>
          <a:endParaRPr lang="zh-CN" altLang="en-US">
            <a:latin typeface="+mj-ea"/>
            <a:ea typeface="+mj-ea"/>
          </a:endParaRPr>
        </a:p>
      </dgm:t>
    </dgm:pt>
    <dgm:pt modelId="{90A69EAA-12E0-41EE-87B2-0463E71DFAB8}" type="sibTrans" cxnId="{645E863A-F884-49DC-9039-BDD84ECE679D}">
      <dgm:prSet/>
      <dgm:spPr/>
      <dgm:t>
        <a:bodyPr/>
        <a:lstStyle/>
        <a:p>
          <a:endParaRPr lang="zh-CN" altLang="en-US">
            <a:latin typeface="+mj-ea"/>
            <a:ea typeface="+mj-ea"/>
          </a:endParaRPr>
        </a:p>
      </dgm:t>
    </dgm:pt>
    <dgm:pt modelId="{C14BFF05-09FC-4F44-9FF9-AB52BA212D9B}" type="pres">
      <dgm:prSet presAssocID="{B169B477-52D3-4177-833F-412723801D5E}" presName="Name0" presStyleCnt="0">
        <dgm:presLayoutVars>
          <dgm:dir/>
          <dgm:resizeHandles val="exact"/>
        </dgm:presLayoutVars>
      </dgm:prSet>
      <dgm:spPr/>
    </dgm:pt>
    <dgm:pt modelId="{95A1DB01-F489-4DD7-AA44-88D3839C61BC}" type="pres">
      <dgm:prSet presAssocID="{E64C5A97-3685-4AB1-864C-75F4B0566B7F}" presName="node" presStyleLbl="node1" presStyleIdx="0" presStyleCnt="4">
        <dgm:presLayoutVars>
          <dgm:bulletEnabled val="1"/>
        </dgm:presLayoutVars>
      </dgm:prSet>
      <dgm:spPr/>
    </dgm:pt>
    <dgm:pt modelId="{9F24E92E-9260-454C-9095-5BA7744FD0E9}" type="pres">
      <dgm:prSet presAssocID="{685D314A-8F42-4479-9060-B198FFE9685A}" presName="sibTrans" presStyleLbl="sibTrans2D1" presStyleIdx="0" presStyleCnt="3"/>
      <dgm:spPr/>
    </dgm:pt>
    <dgm:pt modelId="{8F435A21-42E0-421A-80F9-E07340970BDB}" type="pres">
      <dgm:prSet presAssocID="{685D314A-8F42-4479-9060-B198FFE9685A}" presName="connectorText" presStyleLbl="sibTrans2D1" presStyleIdx="0" presStyleCnt="3"/>
      <dgm:spPr/>
    </dgm:pt>
    <dgm:pt modelId="{A419831D-2C6A-43BF-A1C5-C28655C627BD}" type="pres">
      <dgm:prSet presAssocID="{50811DD1-7C34-4D97-A017-19E1F6A0EDA3}" presName="node" presStyleLbl="node1" presStyleIdx="1" presStyleCnt="4" custScaleX="115970">
        <dgm:presLayoutVars>
          <dgm:bulletEnabled val="1"/>
        </dgm:presLayoutVars>
      </dgm:prSet>
      <dgm:spPr/>
    </dgm:pt>
    <dgm:pt modelId="{8D21F446-C592-443E-B287-9A393A14B94D}" type="pres">
      <dgm:prSet presAssocID="{DA0765CA-F151-42C9-9A81-86828EC42798}" presName="sibTrans" presStyleLbl="sibTrans2D1" presStyleIdx="1" presStyleCnt="3"/>
      <dgm:spPr/>
    </dgm:pt>
    <dgm:pt modelId="{2CD5C2FC-E50B-4AC4-A4E8-C9C0663097B9}" type="pres">
      <dgm:prSet presAssocID="{DA0765CA-F151-42C9-9A81-86828EC42798}" presName="connectorText" presStyleLbl="sibTrans2D1" presStyleIdx="1" presStyleCnt="3"/>
      <dgm:spPr/>
    </dgm:pt>
    <dgm:pt modelId="{04B9E23D-7A95-4ED6-B3DD-D6FDD726260B}" type="pres">
      <dgm:prSet presAssocID="{17BB5662-9DFB-44BA-819C-24160B2929B8}" presName="node" presStyleLbl="node1" presStyleIdx="2" presStyleCnt="4">
        <dgm:presLayoutVars>
          <dgm:bulletEnabled val="1"/>
        </dgm:presLayoutVars>
      </dgm:prSet>
      <dgm:spPr/>
    </dgm:pt>
    <dgm:pt modelId="{FA8BC3A3-2E12-4F76-8975-E19D760A52C8}" type="pres">
      <dgm:prSet presAssocID="{792F140D-6C1C-4D8C-8982-98CDFA88C9FB}" presName="sibTrans" presStyleLbl="sibTrans2D1" presStyleIdx="2" presStyleCnt="3"/>
      <dgm:spPr/>
    </dgm:pt>
    <dgm:pt modelId="{08742478-EC09-4AB2-B0BE-D80F7E4C4096}" type="pres">
      <dgm:prSet presAssocID="{792F140D-6C1C-4D8C-8982-98CDFA88C9FB}" presName="connectorText" presStyleLbl="sibTrans2D1" presStyleIdx="2" presStyleCnt="3"/>
      <dgm:spPr/>
    </dgm:pt>
    <dgm:pt modelId="{F0B9F859-9150-4A7B-90DA-90D4190420E0}" type="pres">
      <dgm:prSet presAssocID="{3C62B57E-3B2B-4658-BC2E-A364B9308F83}" presName="node" presStyleLbl="node1" presStyleIdx="3" presStyleCnt="4">
        <dgm:presLayoutVars>
          <dgm:bulletEnabled val="1"/>
        </dgm:presLayoutVars>
      </dgm:prSet>
      <dgm:spPr/>
    </dgm:pt>
  </dgm:ptLst>
  <dgm:cxnLst>
    <dgm:cxn modelId="{EB20DD18-68E2-4231-AC29-EF3CF70F7A27}" srcId="{B169B477-52D3-4177-833F-412723801D5E}" destId="{17BB5662-9DFB-44BA-819C-24160B2929B8}" srcOrd="2" destOrd="0" parTransId="{30F1EA26-7C37-4ECB-99E8-D6E9B3020470}" sibTransId="{792F140D-6C1C-4D8C-8982-98CDFA88C9FB}"/>
    <dgm:cxn modelId="{6F206C26-C936-4BF1-8A6D-8711A9FD3BC7}" type="presOf" srcId="{B169B477-52D3-4177-833F-412723801D5E}" destId="{C14BFF05-09FC-4F44-9FF9-AB52BA212D9B}" srcOrd="0" destOrd="0" presId="urn:microsoft.com/office/officeart/2005/8/layout/process1"/>
    <dgm:cxn modelId="{645E863A-F884-49DC-9039-BDD84ECE679D}" srcId="{B169B477-52D3-4177-833F-412723801D5E}" destId="{3C62B57E-3B2B-4658-BC2E-A364B9308F83}" srcOrd="3" destOrd="0" parTransId="{1049E9DB-FFB4-41CF-972D-CC26B1955C02}" sibTransId="{90A69EAA-12E0-41EE-87B2-0463E71DFAB8}"/>
    <dgm:cxn modelId="{4BB3B23F-C47E-4CC5-AB5C-CA809E9B3EC7}" srcId="{B169B477-52D3-4177-833F-412723801D5E}" destId="{E64C5A97-3685-4AB1-864C-75F4B0566B7F}" srcOrd="0" destOrd="0" parTransId="{3245DB59-78F0-43C5-AD2D-39C109C8C855}" sibTransId="{685D314A-8F42-4479-9060-B198FFE9685A}"/>
    <dgm:cxn modelId="{83AB4261-C347-461E-8AA5-3AAC737C9576}" type="presOf" srcId="{DA0765CA-F151-42C9-9A81-86828EC42798}" destId="{2CD5C2FC-E50B-4AC4-A4E8-C9C0663097B9}" srcOrd="1" destOrd="0" presId="urn:microsoft.com/office/officeart/2005/8/layout/process1"/>
    <dgm:cxn modelId="{D6410C67-5345-476E-9B43-C280F4E71CA2}" type="presOf" srcId="{685D314A-8F42-4479-9060-B198FFE9685A}" destId="{8F435A21-42E0-421A-80F9-E07340970BDB}" srcOrd="1" destOrd="0" presId="urn:microsoft.com/office/officeart/2005/8/layout/process1"/>
    <dgm:cxn modelId="{6F7A424F-B514-474F-8D56-C90781869218}" type="presOf" srcId="{3C62B57E-3B2B-4658-BC2E-A364B9308F83}" destId="{F0B9F859-9150-4A7B-90DA-90D4190420E0}" srcOrd="0" destOrd="0" presId="urn:microsoft.com/office/officeart/2005/8/layout/process1"/>
    <dgm:cxn modelId="{81FEB182-C592-4BA5-9B40-0D03AA95A3A4}" type="presOf" srcId="{17BB5662-9DFB-44BA-819C-24160B2929B8}" destId="{04B9E23D-7A95-4ED6-B3DD-D6FDD726260B}" srcOrd="0" destOrd="0" presId="urn:microsoft.com/office/officeart/2005/8/layout/process1"/>
    <dgm:cxn modelId="{79B77A87-E490-46E1-A1B4-8DC2B60A5AF3}" type="presOf" srcId="{E64C5A97-3685-4AB1-864C-75F4B0566B7F}" destId="{95A1DB01-F489-4DD7-AA44-88D3839C61BC}" srcOrd="0" destOrd="0" presId="urn:microsoft.com/office/officeart/2005/8/layout/process1"/>
    <dgm:cxn modelId="{21034693-C10F-40DE-A519-E7CA34ABF4E6}" type="presOf" srcId="{50811DD1-7C34-4D97-A017-19E1F6A0EDA3}" destId="{A419831D-2C6A-43BF-A1C5-C28655C627BD}" srcOrd="0" destOrd="0" presId="urn:microsoft.com/office/officeart/2005/8/layout/process1"/>
    <dgm:cxn modelId="{9C6456AC-EAC1-4B2E-AB8F-882A846F77A4}" type="presOf" srcId="{792F140D-6C1C-4D8C-8982-98CDFA88C9FB}" destId="{FA8BC3A3-2E12-4F76-8975-E19D760A52C8}" srcOrd="0" destOrd="0" presId="urn:microsoft.com/office/officeart/2005/8/layout/process1"/>
    <dgm:cxn modelId="{136D7CB2-5AFA-4C1F-B898-9B60D416039E}" type="presOf" srcId="{792F140D-6C1C-4D8C-8982-98CDFA88C9FB}" destId="{08742478-EC09-4AB2-B0BE-D80F7E4C4096}" srcOrd="1" destOrd="0" presId="urn:microsoft.com/office/officeart/2005/8/layout/process1"/>
    <dgm:cxn modelId="{DA3F7DC3-DD46-4837-A3D5-8931E79464EB}" type="presOf" srcId="{DA0765CA-F151-42C9-9A81-86828EC42798}" destId="{8D21F446-C592-443E-B287-9A393A14B94D}" srcOrd="0" destOrd="0" presId="urn:microsoft.com/office/officeart/2005/8/layout/process1"/>
    <dgm:cxn modelId="{96A3FBC3-F27A-4474-8393-654182F68878}" srcId="{B169B477-52D3-4177-833F-412723801D5E}" destId="{50811DD1-7C34-4D97-A017-19E1F6A0EDA3}" srcOrd="1" destOrd="0" parTransId="{45CF8FA2-5668-473F-94D6-45FDF17B19F4}" sibTransId="{DA0765CA-F151-42C9-9A81-86828EC42798}"/>
    <dgm:cxn modelId="{0B25EAE0-C8B7-4260-AC97-4A50E2839129}" type="presOf" srcId="{685D314A-8F42-4479-9060-B198FFE9685A}" destId="{9F24E92E-9260-454C-9095-5BA7744FD0E9}" srcOrd="0" destOrd="0" presId="urn:microsoft.com/office/officeart/2005/8/layout/process1"/>
    <dgm:cxn modelId="{D77B3B4B-59F9-401C-A733-7F4A8FC8FE39}" type="presParOf" srcId="{C14BFF05-09FC-4F44-9FF9-AB52BA212D9B}" destId="{95A1DB01-F489-4DD7-AA44-88D3839C61BC}" srcOrd="0" destOrd="0" presId="urn:microsoft.com/office/officeart/2005/8/layout/process1"/>
    <dgm:cxn modelId="{327098DD-E98C-4F0D-AF16-5E85E23A7504}" type="presParOf" srcId="{C14BFF05-09FC-4F44-9FF9-AB52BA212D9B}" destId="{9F24E92E-9260-454C-9095-5BA7744FD0E9}" srcOrd="1" destOrd="0" presId="urn:microsoft.com/office/officeart/2005/8/layout/process1"/>
    <dgm:cxn modelId="{B3B4CEC5-D52D-4B4D-89CA-8AA7907DD977}" type="presParOf" srcId="{9F24E92E-9260-454C-9095-5BA7744FD0E9}" destId="{8F435A21-42E0-421A-80F9-E07340970BDB}" srcOrd="0" destOrd="0" presId="urn:microsoft.com/office/officeart/2005/8/layout/process1"/>
    <dgm:cxn modelId="{D6EB9EDC-3578-4874-99D1-38C11667CF9B}" type="presParOf" srcId="{C14BFF05-09FC-4F44-9FF9-AB52BA212D9B}" destId="{A419831D-2C6A-43BF-A1C5-C28655C627BD}" srcOrd="2" destOrd="0" presId="urn:microsoft.com/office/officeart/2005/8/layout/process1"/>
    <dgm:cxn modelId="{C7C49566-2EB8-4F54-9BC7-C29DF1B5E7F9}" type="presParOf" srcId="{C14BFF05-09FC-4F44-9FF9-AB52BA212D9B}" destId="{8D21F446-C592-443E-B287-9A393A14B94D}" srcOrd="3" destOrd="0" presId="urn:microsoft.com/office/officeart/2005/8/layout/process1"/>
    <dgm:cxn modelId="{BE837379-C3C5-4BDF-B207-6536FC239858}" type="presParOf" srcId="{8D21F446-C592-443E-B287-9A393A14B94D}" destId="{2CD5C2FC-E50B-4AC4-A4E8-C9C0663097B9}" srcOrd="0" destOrd="0" presId="urn:microsoft.com/office/officeart/2005/8/layout/process1"/>
    <dgm:cxn modelId="{A20BDA7B-1D08-4206-93BB-D186A0ED9B1E}" type="presParOf" srcId="{C14BFF05-09FC-4F44-9FF9-AB52BA212D9B}" destId="{04B9E23D-7A95-4ED6-B3DD-D6FDD726260B}" srcOrd="4" destOrd="0" presId="urn:microsoft.com/office/officeart/2005/8/layout/process1"/>
    <dgm:cxn modelId="{A48820DF-211A-41FD-AB7E-A0B82F0459C0}" type="presParOf" srcId="{C14BFF05-09FC-4F44-9FF9-AB52BA212D9B}" destId="{FA8BC3A3-2E12-4F76-8975-E19D760A52C8}" srcOrd="5" destOrd="0" presId="urn:microsoft.com/office/officeart/2005/8/layout/process1"/>
    <dgm:cxn modelId="{4946BF2C-45CE-4D0B-90AA-122C01E94D1B}" type="presParOf" srcId="{FA8BC3A3-2E12-4F76-8975-E19D760A52C8}" destId="{08742478-EC09-4AB2-B0BE-D80F7E4C4096}" srcOrd="0" destOrd="0" presId="urn:microsoft.com/office/officeart/2005/8/layout/process1"/>
    <dgm:cxn modelId="{B263EF2B-82C1-4262-8BAB-A00840A2994F}" type="presParOf" srcId="{C14BFF05-09FC-4F44-9FF9-AB52BA212D9B}" destId="{F0B9F859-9150-4A7B-90DA-90D4190420E0}"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A1DB01-F489-4DD7-AA44-88D3839C61BC}">
      <dsp:nvSpPr>
        <dsp:cNvPr id="0" name=""/>
        <dsp:cNvSpPr/>
      </dsp:nvSpPr>
      <dsp:spPr bwMode="white">
        <a:xfrm>
          <a:off x="5501" y="0"/>
          <a:ext cx="1618709" cy="6302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mj-ea"/>
              <a:ea typeface="+mj-ea"/>
            </a:rPr>
            <a:t>数据收集</a:t>
          </a:r>
        </a:p>
      </dsp:txBody>
      <dsp:txXfrm>
        <a:off x="23961" y="18460"/>
        <a:ext cx="1581789" cy="593348"/>
      </dsp:txXfrm>
    </dsp:sp>
    <dsp:sp modelId="{9F24E92E-9260-454C-9095-5BA7744FD0E9}">
      <dsp:nvSpPr>
        <dsp:cNvPr id="0" name=""/>
        <dsp:cNvSpPr/>
      </dsp:nvSpPr>
      <dsp:spPr bwMode="white">
        <a:xfrm>
          <a:off x="1786081" y="114414"/>
          <a:ext cx="343166" cy="40143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latin typeface="+mj-ea"/>
            <a:ea typeface="+mj-ea"/>
          </a:endParaRPr>
        </a:p>
      </dsp:txBody>
      <dsp:txXfrm>
        <a:off x="1786081" y="194702"/>
        <a:ext cx="240216" cy="240863"/>
      </dsp:txXfrm>
    </dsp:sp>
    <dsp:sp modelId="{A419831D-2C6A-43BF-A1C5-C28655C627BD}">
      <dsp:nvSpPr>
        <dsp:cNvPr id="0" name=""/>
        <dsp:cNvSpPr/>
      </dsp:nvSpPr>
      <dsp:spPr bwMode="white">
        <a:xfrm>
          <a:off x="2271694" y="0"/>
          <a:ext cx="1877217" cy="6302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数据预处理</a:t>
          </a:r>
          <a:endParaRPr lang="zh-CN" altLang="en-US" sz="2400" kern="1200" dirty="0">
            <a:latin typeface="+mj-ea"/>
            <a:ea typeface="+mj-ea"/>
          </a:endParaRPr>
        </a:p>
      </dsp:txBody>
      <dsp:txXfrm>
        <a:off x="2290154" y="18460"/>
        <a:ext cx="1840297" cy="593348"/>
      </dsp:txXfrm>
    </dsp:sp>
    <dsp:sp modelId="{8D21F446-C592-443E-B287-9A393A14B94D}">
      <dsp:nvSpPr>
        <dsp:cNvPr id="0" name=""/>
        <dsp:cNvSpPr/>
      </dsp:nvSpPr>
      <dsp:spPr bwMode="white">
        <a:xfrm>
          <a:off x="4310783" y="114414"/>
          <a:ext cx="343166" cy="40143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latin typeface="+mj-ea"/>
            <a:ea typeface="+mj-ea"/>
          </a:endParaRPr>
        </a:p>
      </dsp:txBody>
      <dsp:txXfrm>
        <a:off x="4310783" y="194702"/>
        <a:ext cx="240216" cy="240863"/>
      </dsp:txXfrm>
    </dsp:sp>
    <dsp:sp modelId="{04B9E23D-7A95-4ED6-B3DD-D6FDD726260B}">
      <dsp:nvSpPr>
        <dsp:cNvPr id="0" name=""/>
        <dsp:cNvSpPr/>
      </dsp:nvSpPr>
      <dsp:spPr bwMode="white">
        <a:xfrm>
          <a:off x="4796395" y="0"/>
          <a:ext cx="1618709" cy="6302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mj-ea"/>
              <a:ea typeface="+mj-ea"/>
            </a:rPr>
            <a:t>特征工程</a:t>
          </a:r>
        </a:p>
      </dsp:txBody>
      <dsp:txXfrm>
        <a:off x="4814855" y="18460"/>
        <a:ext cx="1581789" cy="593348"/>
      </dsp:txXfrm>
    </dsp:sp>
    <dsp:sp modelId="{FA8BC3A3-2E12-4F76-8975-E19D760A52C8}">
      <dsp:nvSpPr>
        <dsp:cNvPr id="0" name=""/>
        <dsp:cNvSpPr/>
      </dsp:nvSpPr>
      <dsp:spPr bwMode="white">
        <a:xfrm>
          <a:off x="6576976" y="114414"/>
          <a:ext cx="343166" cy="40143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latin typeface="+mj-ea"/>
            <a:ea typeface="+mj-ea"/>
          </a:endParaRPr>
        </a:p>
      </dsp:txBody>
      <dsp:txXfrm>
        <a:off x="6576976" y="194702"/>
        <a:ext cx="240216" cy="240863"/>
      </dsp:txXfrm>
    </dsp:sp>
    <dsp:sp modelId="{F0B9F859-9150-4A7B-90DA-90D4190420E0}">
      <dsp:nvSpPr>
        <dsp:cNvPr id="0" name=""/>
        <dsp:cNvSpPr/>
      </dsp:nvSpPr>
      <dsp:spPr bwMode="white">
        <a:xfrm>
          <a:off x="7062589" y="0"/>
          <a:ext cx="1618709" cy="6302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mj-ea"/>
              <a:ea typeface="+mj-ea"/>
            </a:rPr>
            <a:t>数据建模</a:t>
          </a:r>
        </a:p>
      </dsp:txBody>
      <dsp:txXfrm>
        <a:off x="7081049" y="18460"/>
        <a:ext cx="1581789" cy="59334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a:defRPr sz="1200">
                <a:latin typeface="Calibri" panose="020F0502020204030204" pitchFamily="34" charset="0"/>
              </a:defRPr>
            </a:lvl1pPr>
          </a:lstStyle>
          <a:p>
            <a:pPr>
              <a:defRPr/>
            </a:pPr>
            <a:endParaRPr lang="zh-CN"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Calibri" panose="020F0502020204030204" pitchFamily="34" charset="0"/>
              </a:defRPr>
            </a:lvl1pPr>
          </a:lstStyle>
          <a:p>
            <a:pPr>
              <a:defRPr/>
            </a:pPr>
            <a:fld id="{5D79B2CD-32B3-4D68-8066-9B50AF6F8CB0}" type="datetimeFigureOut">
              <a:rPr lang="zh-CN" altLang="en-US"/>
              <a:t>2025/11/20</a:t>
            </a:fld>
            <a:endParaRPr lang="en-US" altLang="zh-CN"/>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lstStyle>
            <a:lvl1pPr>
              <a:defRPr sz="1200">
                <a:latin typeface="Calibri" panose="020F0502020204030204" pitchFamily="34" charset="0"/>
              </a:defRPr>
            </a:lvl1pPr>
          </a:lstStyle>
          <a:p>
            <a:pPr>
              <a:defRPr/>
            </a:pPr>
            <a:endParaRPr lang="zh-CN"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defRPr>
            </a:lvl1pPr>
          </a:lstStyle>
          <a:p>
            <a:fld id="{0D204975-8325-40A1-8EEE-48AEC6D2C8CD}"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a:defRPr sz="1200">
                <a:latin typeface="Calibri" panose="020F0502020204030204" pitchFamily="34" charset="0"/>
              </a:defRPr>
            </a:lvl1pPr>
          </a:lstStyle>
          <a:p>
            <a:pPr>
              <a:defRPr/>
            </a:pPr>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Calibri" panose="020F0502020204030204" pitchFamily="34" charset="0"/>
              </a:defRPr>
            </a:lvl1pPr>
          </a:lstStyle>
          <a:p>
            <a:pPr>
              <a:defRPr/>
            </a:pPr>
            <a:fld id="{353203D7-0C74-458E-8C0E-0F95570C8AC7}" type="datetimeFigureOut">
              <a:rPr lang="zh-CN" altLang="en-US"/>
              <a:t>2025/11/20</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a:defRPr sz="1200">
                <a:latin typeface="Calibri" panose="020F0502020204030204" pitchFamily="34" charset="0"/>
              </a:defRPr>
            </a:lvl1pPr>
          </a:lstStyle>
          <a:p>
            <a:pPr>
              <a:defRPr/>
            </a:pPr>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defRPr>
            </a:lvl1pPr>
          </a:lstStyle>
          <a:p>
            <a:fld id="{E8B51D7C-D7AA-4964-BAF5-C62E3AF24F6D}" type="slidenum">
              <a:rPr lang="zh-CN" altLang="en-US"/>
              <a:t>‹#›</a:t>
            </a:fld>
            <a:endParaRPr lang="en-US" altLang="zh-CN"/>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40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zh-CN" dirty="0"/>
          </a:p>
        </p:txBody>
      </p:sp>
      <p:sp>
        <p:nvSpPr>
          <p:cNvPr id="440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08A87C0-66E3-45D2-859C-43D30A26F30C}" type="slidenum">
              <a:rPr lang="zh-CN" altLang="en-US">
                <a:latin typeface="Calibri" panose="020F0502020204030204" pitchFamily="34" charset="0"/>
              </a:rPr>
              <a:t>1</a:t>
            </a:fld>
            <a:endParaRPr lang="en-US" altLang="zh-CN">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a:t>
            </a:fld>
            <a:endParaRPr lang="en-US" altLang="zh-CN">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4</a:t>
            </a:fld>
            <a:endParaRPr lang="en-US" altLang="zh-CN">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8B51D7C-D7AA-4964-BAF5-C62E3AF24F6D}" type="slidenum">
              <a:rPr lang="zh-CN" altLang="en-US" smtClean="0"/>
              <a:t>5</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https://mirrors.tuna.tsinghua.edu.cn/help/anaconda/</a:t>
            </a:r>
          </a:p>
          <a:p>
            <a:endParaRPr lang="en-US" altLang="zh-CN" dirty="0"/>
          </a:p>
          <a:p>
            <a:r>
              <a:rPr lang="en-US" altLang="zh-CN" sz="1200" dirty="0">
                <a:latin typeface="Times New Roman" panose="02020603050405020304" pitchFamily="18" charset="0"/>
              </a:rPr>
              <a:t># </a:t>
            </a:r>
            <a:r>
              <a:rPr lang="zh-CN" altLang="en-US" sz="1200" dirty="0">
                <a:latin typeface="Times New Roman" panose="02020603050405020304" pitchFamily="18" charset="0"/>
              </a:rPr>
              <a:t>查看当前配置的镜像源</a:t>
            </a:r>
          </a:p>
          <a:p>
            <a:r>
              <a:rPr lang="en-US" altLang="zh-CN" sz="1200" dirty="0" err="1">
                <a:latin typeface="Times New Roman" panose="02020603050405020304" pitchFamily="18" charset="0"/>
              </a:rPr>
              <a:t>conda</a:t>
            </a:r>
            <a:r>
              <a:rPr lang="en-US" altLang="zh-CN" sz="1200" dirty="0">
                <a:latin typeface="Times New Roman" panose="02020603050405020304" pitchFamily="18" charset="0"/>
              </a:rPr>
              <a:t> config --show channels </a:t>
            </a:r>
          </a:p>
          <a:p>
            <a:r>
              <a:rPr lang="en-US" altLang="zh-CN" sz="1200" dirty="0">
                <a:latin typeface="Times New Roman" panose="02020603050405020304" pitchFamily="18" charset="0"/>
              </a:rPr>
              <a:t># </a:t>
            </a:r>
            <a:r>
              <a:rPr lang="zh-CN" altLang="en-US" sz="1200" dirty="0">
                <a:latin typeface="Times New Roman" panose="02020603050405020304" pitchFamily="18" charset="0"/>
              </a:rPr>
              <a:t>恢复默认配置</a:t>
            </a:r>
          </a:p>
          <a:p>
            <a:r>
              <a:rPr lang="en-US" altLang="zh-CN" sz="1200" dirty="0" err="1">
                <a:latin typeface="Times New Roman" panose="02020603050405020304" pitchFamily="18" charset="0"/>
              </a:rPr>
              <a:t>conda</a:t>
            </a:r>
            <a:r>
              <a:rPr lang="en-US" altLang="zh-CN" sz="1200" dirty="0">
                <a:latin typeface="Times New Roman" panose="02020603050405020304" pitchFamily="18" charset="0"/>
              </a:rPr>
              <a:t> config --remove-key channels</a:t>
            </a:r>
          </a:p>
          <a:p>
            <a:endParaRPr lang="en-US" altLang="zh-CN" dirty="0"/>
          </a:p>
        </p:txBody>
      </p:sp>
      <p:sp>
        <p:nvSpPr>
          <p:cNvPr id="4" name="灯片编号占位符 3"/>
          <p:cNvSpPr>
            <a:spLocks noGrp="1"/>
          </p:cNvSpPr>
          <p:nvPr>
            <p:ph type="sldNum" sz="quarter" idx="5"/>
          </p:nvPr>
        </p:nvSpPr>
        <p:spPr/>
        <p:txBody>
          <a:bodyPr/>
          <a:lstStyle/>
          <a:p>
            <a:fld id="{E8B51D7C-D7AA-4964-BAF5-C62E3AF24F6D}" type="slidenum">
              <a:rPr lang="zh-CN" altLang="en-US" smtClean="0"/>
              <a:t>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函数和面向对象编程思想</a:t>
            </a:r>
          </a:p>
        </p:txBody>
      </p:sp>
      <p:sp>
        <p:nvSpPr>
          <p:cNvPr id="4" name="灯片编号占位符 3"/>
          <p:cNvSpPr>
            <a:spLocks noGrp="1"/>
          </p:cNvSpPr>
          <p:nvPr>
            <p:ph type="sldNum" sz="quarter" idx="5"/>
          </p:nvPr>
        </p:nvSpPr>
        <p:spPr/>
        <p:txBody>
          <a:bodyPr/>
          <a:lstStyle/>
          <a:p>
            <a:fld id="{E8B51D7C-D7AA-4964-BAF5-C62E3AF24F6D}" type="slidenum">
              <a:rPr lang="zh-CN" altLang="en-US" smtClean="0"/>
              <a:t>7</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17CDD-FA83-BEEE-C4DB-59D48827D8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63A4EE-819C-317A-636A-54115B1D12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35B94B-2405-6DB0-57C6-5BD947A49588}"/>
              </a:ext>
            </a:extLst>
          </p:cNvPr>
          <p:cNvSpPr>
            <a:spLocks noGrp="1"/>
          </p:cNvSpPr>
          <p:nvPr>
            <p:ph type="body" idx="1"/>
          </p:nvPr>
        </p:nvSpPr>
        <p:spPr/>
        <p:txBody>
          <a:bodyPr/>
          <a:lstStyle/>
          <a:p>
            <a:pPr algn="l"/>
            <a:r>
              <a:rPr lang="zh-CN" altLang="en-US" b="0" i="0" dirty="0">
                <a:solidFill>
                  <a:srgbClr val="444444"/>
                </a:solidFill>
                <a:effectLst/>
                <a:latin typeface="Tahoma" panose="020B0604030504040204" pitchFamily="34" charset="0"/>
              </a:rPr>
              <a:t>由图中，可以看到库的算法主要有四类：分类，回归，聚类，降维。其中：</a:t>
            </a:r>
          </a:p>
          <a:p>
            <a:pPr algn="l">
              <a:buFont typeface="Arial" panose="020B0604020202020204" pitchFamily="34" charset="0"/>
              <a:buChar char="•"/>
            </a:pPr>
            <a:r>
              <a:rPr lang="zh-CN" altLang="en-US" b="0" i="0" dirty="0">
                <a:solidFill>
                  <a:srgbClr val="444444"/>
                </a:solidFill>
                <a:effectLst/>
                <a:latin typeface="Tahoma" panose="020B0604030504040204" pitchFamily="34" charset="0"/>
              </a:rPr>
              <a:t>常用的回归：线性、决策树、</a:t>
            </a:r>
            <a:r>
              <a:rPr lang="en-US" altLang="zh-CN" b="0" i="0" dirty="0">
                <a:solidFill>
                  <a:srgbClr val="444444"/>
                </a:solidFill>
                <a:effectLst/>
                <a:latin typeface="Tahoma" panose="020B0604030504040204" pitchFamily="34" charset="0"/>
              </a:rPr>
              <a:t>SVM</a:t>
            </a:r>
            <a:r>
              <a:rPr lang="zh-CN" altLang="en-US" b="0" i="0" dirty="0">
                <a:solidFill>
                  <a:srgbClr val="444444"/>
                </a:solidFill>
                <a:effectLst/>
                <a:latin typeface="Tahoma" panose="020B0604030504040204" pitchFamily="34" charset="0"/>
              </a:rPr>
              <a:t>、</a:t>
            </a:r>
            <a:r>
              <a:rPr lang="en-US" altLang="zh-CN" b="0" i="0" dirty="0">
                <a:solidFill>
                  <a:srgbClr val="444444"/>
                </a:solidFill>
                <a:effectLst/>
                <a:latin typeface="Tahoma" panose="020B0604030504040204" pitchFamily="34" charset="0"/>
              </a:rPr>
              <a:t>KNN </a:t>
            </a:r>
            <a:r>
              <a:rPr lang="zh-CN" altLang="en-US" b="0" i="0" dirty="0">
                <a:solidFill>
                  <a:srgbClr val="444444"/>
                </a:solidFill>
                <a:effectLst/>
                <a:latin typeface="Tahoma" panose="020B0604030504040204" pitchFamily="34" charset="0"/>
              </a:rPr>
              <a:t>；集成回归：随机森林、</a:t>
            </a:r>
            <a:r>
              <a:rPr lang="en-US" altLang="zh-CN" b="0" i="0" dirty="0" err="1">
                <a:solidFill>
                  <a:srgbClr val="444444"/>
                </a:solidFill>
                <a:effectLst/>
                <a:latin typeface="Tahoma" panose="020B0604030504040204" pitchFamily="34" charset="0"/>
              </a:rPr>
              <a:t>Adaboost</a:t>
            </a:r>
            <a:r>
              <a:rPr lang="zh-CN" altLang="en-US" b="0" i="0" dirty="0">
                <a:solidFill>
                  <a:srgbClr val="444444"/>
                </a:solidFill>
                <a:effectLst/>
                <a:latin typeface="Tahoma" panose="020B0604030504040204" pitchFamily="34" charset="0"/>
              </a:rPr>
              <a:t>、</a:t>
            </a:r>
            <a:r>
              <a:rPr lang="en-US" altLang="zh-CN" b="0" i="0" dirty="0" err="1">
                <a:solidFill>
                  <a:srgbClr val="444444"/>
                </a:solidFill>
                <a:effectLst/>
                <a:latin typeface="Tahoma" panose="020B0604030504040204" pitchFamily="34" charset="0"/>
              </a:rPr>
              <a:t>GradientBoosting</a:t>
            </a:r>
            <a:r>
              <a:rPr lang="zh-CN" altLang="en-US" b="0" i="0" dirty="0">
                <a:solidFill>
                  <a:srgbClr val="444444"/>
                </a:solidFill>
                <a:effectLst/>
                <a:latin typeface="Tahoma" panose="020B0604030504040204" pitchFamily="34" charset="0"/>
              </a:rPr>
              <a:t>、</a:t>
            </a:r>
            <a:r>
              <a:rPr lang="en-US" altLang="zh-CN" b="0" i="0" dirty="0">
                <a:solidFill>
                  <a:srgbClr val="444444"/>
                </a:solidFill>
                <a:effectLst/>
                <a:latin typeface="Tahoma" panose="020B0604030504040204" pitchFamily="34" charset="0"/>
              </a:rPr>
              <a:t>Bagging</a:t>
            </a:r>
            <a:r>
              <a:rPr lang="zh-CN" altLang="en-US" b="0" i="0" dirty="0">
                <a:solidFill>
                  <a:srgbClr val="444444"/>
                </a:solidFill>
                <a:effectLst/>
                <a:latin typeface="Tahoma" panose="020B0604030504040204" pitchFamily="34" charset="0"/>
              </a:rPr>
              <a:t>、</a:t>
            </a:r>
            <a:r>
              <a:rPr lang="en-US" altLang="zh-CN" b="0" i="0" dirty="0" err="1">
                <a:solidFill>
                  <a:srgbClr val="444444"/>
                </a:solidFill>
                <a:effectLst/>
                <a:latin typeface="Tahoma" panose="020B0604030504040204" pitchFamily="34" charset="0"/>
              </a:rPr>
              <a:t>ExtraTrees</a:t>
            </a:r>
            <a:endParaRPr lang="en-US" altLang="zh-CN" b="0" i="0" dirty="0">
              <a:solidFill>
                <a:srgbClr val="444444"/>
              </a:solidFill>
              <a:effectLst/>
              <a:latin typeface="Tahoma" panose="020B0604030504040204" pitchFamily="34" charset="0"/>
            </a:endParaRPr>
          </a:p>
          <a:p>
            <a:pPr algn="l">
              <a:buFont typeface="Arial" panose="020B0604020202020204" pitchFamily="34" charset="0"/>
              <a:buChar char="•"/>
            </a:pPr>
            <a:r>
              <a:rPr lang="zh-CN" altLang="en-US" b="0" i="0" dirty="0">
                <a:solidFill>
                  <a:srgbClr val="444444"/>
                </a:solidFill>
                <a:effectLst/>
                <a:latin typeface="Tahoma" panose="020B0604030504040204" pitchFamily="34" charset="0"/>
              </a:rPr>
              <a:t>常用的分类：线性、决策树、</a:t>
            </a:r>
            <a:r>
              <a:rPr lang="en-US" altLang="zh-CN" b="0" i="0" dirty="0">
                <a:solidFill>
                  <a:srgbClr val="444444"/>
                </a:solidFill>
                <a:effectLst/>
                <a:latin typeface="Tahoma" panose="020B0604030504040204" pitchFamily="34" charset="0"/>
              </a:rPr>
              <a:t>SVM</a:t>
            </a:r>
            <a:r>
              <a:rPr lang="zh-CN" altLang="en-US" b="0" i="0" dirty="0">
                <a:solidFill>
                  <a:srgbClr val="444444"/>
                </a:solidFill>
                <a:effectLst/>
                <a:latin typeface="Tahoma" panose="020B0604030504040204" pitchFamily="34" charset="0"/>
              </a:rPr>
              <a:t>、</a:t>
            </a:r>
            <a:r>
              <a:rPr lang="en-US" altLang="zh-CN" b="0" i="0" dirty="0">
                <a:solidFill>
                  <a:srgbClr val="444444"/>
                </a:solidFill>
                <a:effectLst/>
                <a:latin typeface="Tahoma" panose="020B0604030504040204" pitchFamily="34" charset="0"/>
              </a:rPr>
              <a:t>KNN</a:t>
            </a:r>
            <a:r>
              <a:rPr lang="zh-CN" altLang="en-US" b="0" i="0" dirty="0">
                <a:solidFill>
                  <a:srgbClr val="444444"/>
                </a:solidFill>
                <a:effectLst/>
                <a:latin typeface="Tahoma" panose="020B0604030504040204" pitchFamily="34" charset="0"/>
              </a:rPr>
              <a:t>，朴素贝叶斯；集成分类：随机森林、</a:t>
            </a:r>
            <a:r>
              <a:rPr lang="en-US" altLang="zh-CN" b="0" i="0" dirty="0" err="1">
                <a:solidFill>
                  <a:srgbClr val="444444"/>
                </a:solidFill>
                <a:effectLst/>
                <a:latin typeface="Tahoma" panose="020B0604030504040204" pitchFamily="34" charset="0"/>
              </a:rPr>
              <a:t>Adaboost</a:t>
            </a:r>
            <a:r>
              <a:rPr lang="zh-CN" altLang="en-US" b="0" i="0" dirty="0">
                <a:solidFill>
                  <a:srgbClr val="444444"/>
                </a:solidFill>
                <a:effectLst/>
                <a:latin typeface="Tahoma" panose="020B0604030504040204" pitchFamily="34" charset="0"/>
              </a:rPr>
              <a:t>、</a:t>
            </a:r>
            <a:r>
              <a:rPr lang="en-US" altLang="zh-CN" b="0" i="0" dirty="0" err="1">
                <a:solidFill>
                  <a:srgbClr val="444444"/>
                </a:solidFill>
                <a:effectLst/>
                <a:latin typeface="Tahoma" panose="020B0604030504040204" pitchFamily="34" charset="0"/>
              </a:rPr>
              <a:t>GradientBoosting</a:t>
            </a:r>
            <a:r>
              <a:rPr lang="zh-CN" altLang="en-US" b="0" i="0" dirty="0">
                <a:solidFill>
                  <a:srgbClr val="444444"/>
                </a:solidFill>
                <a:effectLst/>
                <a:latin typeface="Tahoma" panose="020B0604030504040204" pitchFamily="34" charset="0"/>
              </a:rPr>
              <a:t>、</a:t>
            </a:r>
            <a:r>
              <a:rPr lang="en-US" altLang="zh-CN" b="0" i="0" dirty="0">
                <a:solidFill>
                  <a:srgbClr val="444444"/>
                </a:solidFill>
                <a:effectLst/>
                <a:latin typeface="Tahoma" panose="020B0604030504040204" pitchFamily="34" charset="0"/>
              </a:rPr>
              <a:t>Bagging</a:t>
            </a:r>
            <a:r>
              <a:rPr lang="zh-CN" altLang="en-US" b="0" i="0" dirty="0">
                <a:solidFill>
                  <a:srgbClr val="444444"/>
                </a:solidFill>
                <a:effectLst/>
                <a:latin typeface="Tahoma" panose="020B0604030504040204" pitchFamily="34" charset="0"/>
              </a:rPr>
              <a:t>、</a:t>
            </a:r>
            <a:r>
              <a:rPr lang="en-US" altLang="zh-CN" b="0" i="0" dirty="0" err="1">
                <a:solidFill>
                  <a:srgbClr val="444444"/>
                </a:solidFill>
                <a:effectLst/>
                <a:latin typeface="Tahoma" panose="020B0604030504040204" pitchFamily="34" charset="0"/>
              </a:rPr>
              <a:t>ExtraTrees</a:t>
            </a:r>
            <a:endParaRPr lang="en-US" altLang="zh-CN" b="0" i="0" dirty="0">
              <a:solidFill>
                <a:srgbClr val="444444"/>
              </a:solidFill>
              <a:effectLst/>
              <a:latin typeface="Tahoma" panose="020B0604030504040204" pitchFamily="34" charset="0"/>
            </a:endParaRPr>
          </a:p>
          <a:p>
            <a:pPr algn="l">
              <a:buFont typeface="Arial" panose="020B0604020202020204" pitchFamily="34" charset="0"/>
              <a:buChar char="•"/>
            </a:pPr>
            <a:r>
              <a:rPr lang="zh-CN" altLang="en-US" b="0" i="0" dirty="0">
                <a:solidFill>
                  <a:srgbClr val="444444"/>
                </a:solidFill>
                <a:effectLst/>
                <a:latin typeface="Tahoma" panose="020B0604030504040204" pitchFamily="34" charset="0"/>
              </a:rPr>
              <a:t>常用聚类：</a:t>
            </a:r>
            <a:r>
              <a:rPr lang="en-US" altLang="zh-CN" b="0" i="0" dirty="0">
                <a:solidFill>
                  <a:srgbClr val="444444"/>
                </a:solidFill>
                <a:effectLst/>
                <a:latin typeface="Tahoma" panose="020B0604030504040204" pitchFamily="34" charset="0"/>
              </a:rPr>
              <a:t>k</a:t>
            </a:r>
            <a:r>
              <a:rPr lang="zh-CN" altLang="en-US" b="0" i="0" dirty="0">
                <a:solidFill>
                  <a:srgbClr val="444444"/>
                </a:solidFill>
                <a:effectLst/>
                <a:latin typeface="Tahoma" panose="020B0604030504040204" pitchFamily="34" charset="0"/>
              </a:rPr>
              <a:t>均值（</a:t>
            </a:r>
            <a:r>
              <a:rPr lang="en-US" altLang="zh-CN" b="0" i="0" dirty="0">
                <a:solidFill>
                  <a:srgbClr val="444444"/>
                </a:solidFill>
                <a:effectLst/>
                <a:latin typeface="Tahoma" panose="020B0604030504040204" pitchFamily="34" charset="0"/>
              </a:rPr>
              <a:t>K-means</a:t>
            </a:r>
            <a:r>
              <a:rPr lang="zh-CN" altLang="en-US" b="0" i="0" dirty="0">
                <a:solidFill>
                  <a:srgbClr val="444444"/>
                </a:solidFill>
                <a:effectLst/>
                <a:latin typeface="Tahoma" panose="020B0604030504040204" pitchFamily="34" charset="0"/>
              </a:rPr>
              <a:t>）、层次聚类（</a:t>
            </a:r>
            <a:r>
              <a:rPr lang="en-US" altLang="zh-CN" b="0" i="0" dirty="0">
                <a:solidFill>
                  <a:srgbClr val="444444"/>
                </a:solidFill>
                <a:effectLst/>
                <a:latin typeface="Tahoma" panose="020B0604030504040204" pitchFamily="34" charset="0"/>
              </a:rPr>
              <a:t>Hierarchical clustering</a:t>
            </a:r>
            <a:r>
              <a:rPr lang="zh-CN" altLang="en-US" b="0" i="0" dirty="0">
                <a:solidFill>
                  <a:srgbClr val="444444"/>
                </a:solidFill>
                <a:effectLst/>
                <a:latin typeface="Tahoma" panose="020B0604030504040204" pitchFamily="34" charset="0"/>
              </a:rPr>
              <a:t>）、</a:t>
            </a:r>
            <a:r>
              <a:rPr lang="en-US" altLang="zh-CN" b="0" i="0" dirty="0">
                <a:solidFill>
                  <a:srgbClr val="444444"/>
                </a:solidFill>
                <a:effectLst/>
                <a:latin typeface="Tahoma" panose="020B0604030504040204" pitchFamily="34" charset="0"/>
              </a:rPr>
              <a:t>DBSCAN</a:t>
            </a:r>
          </a:p>
          <a:p>
            <a:pPr algn="l">
              <a:buFont typeface="Arial" panose="020B0604020202020204" pitchFamily="34" charset="0"/>
              <a:buChar char="•"/>
            </a:pPr>
            <a:r>
              <a:rPr lang="zh-CN" altLang="en-US" b="0" i="0" dirty="0">
                <a:solidFill>
                  <a:srgbClr val="444444"/>
                </a:solidFill>
                <a:effectLst/>
                <a:latin typeface="Tahoma" panose="020B0604030504040204" pitchFamily="34" charset="0"/>
              </a:rPr>
              <a:t>常用降维：</a:t>
            </a:r>
            <a:r>
              <a:rPr lang="en-US" altLang="zh-CN" b="0" i="0" dirty="0" err="1">
                <a:solidFill>
                  <a:srgbClr val="444444"/>
                </a:solidFill>
                <a:effectLst/>
                <a:latin typeface="Tahoma" panose="020B0604030504040204" pitchFamily="34" charset="0"/>
              </a:rPr>
              <a:t>LinearDiscriminantAnalysis</a:t>
            </a:r>
            <a:r>
              <a:rPr lang="zh-CN" altLang="en-US" b="0" i="0" dirty="0">
                <a:solidFill>
                  <a:srgbClr val="444444"/>
                </a:solidFill>
                <a:effectLst/>
                <a:latin typeface="Tahoma" panose="020B0604030504040204" pitchFamily="34" charset="0"/>
              </a:rPr>
              <a:t>、</a:t>
            </a:r>
            <a:r>
              <a:rPr lang="en-US" altLang="zh-CN" b="0" i="0" dirty="0">
                <a:solidFill>
                  <a:srgbClr val="444444"/>
                </a:solidFill>
                <a:effectLst/>
                <a:latin typeface="Tahoma" panose="020B0604030504040204" pitchFamily="34" charset="0"/>
              </a:rPr>
              <a:t>PCA</a:t>
            </a:r>
          </a:p>
          <a:p>
            <a:pPr algn="l"/>
            <a:r>
              <a:rPr lang="zh-CN" altLang="en-US" b="0" i="0" dirty="0">
                <a:solidFill>
                  <a:srgbClr val="444444"/>
                </a:solidFill>
                <a:effectLst/>
                <a:latin typeface="Tahoma" panose="020B0604030504040204" pitchFamily="34" charset="0"/>
              </a:rPr>
              <a:t>　　这个流程图代表：蓝色圆圈是判断条件，绿色方框是可以选择的算法，我们可以根据自己的数据特征和任务目标去找一条自己的操作路线。</a:t>
            </a:r>
          </a:p>
          <a:p>
            <a:pPr algn="l"/>
            <a:r>
              <a:rPr lang="zh-CN" altLang="en-US" b="0" i="0" dirty="0">
                <a:solidFill>
                  <a:srgbClr val="444444"/>
                </a:solidFill>
                <a:effectLst/>
                <a:latin typeface="Tahoma" panose="020B0604030504040204" pitchFamily="34" charset="0"/>
              </a:rPr>
              <a:t>　　</a:t>
            </a:r>
            <a:r>
              <a:rPr lang="en-US" altLang="zh-CN" b="0" i="0" dirty="0" err="1">
                <a:solidFill>
                  <a:srgbClr val="444444"/>
                </a:solidFill>
                <a:effectLst/>
                <a:latin typeface="Tahoma" panose="020B0604030504040204" pitchFamily="34" charset="0"/>
              </a:rPr>
              <a:t>sklearn</a:t>
            </a:r>
            <a:r>
              <a:rPr lang="zh-CN" altLang="en-US" b="0" i="0" dirty="0">
                <a:solidFill>
                  <a:srgbClr val="444444"/>
                </a:solidFill>
                <a:effectLst/>
                <a:latin typeface="Tahoma" panose="020B0604030504040204" pitchFamily="34" charset="0"/>
              </a:rPr>
              <a:t>中包含众多数据预处理和特征工程相关的模块，虽然刚接触</a:t>
            </a:r>
            <a:r>
              <a:rPr lang="en-US" altLang="zh-CN" b="0" i="0" dirty="0" err="1">
                <a:solidFill>
                  <a:srgbClr val="444444"/>
                </a:solidFill>
                <a:effectLst/>
                <a:latin typeface="Tahoma" panose="020B0604030504040204" pitchFamily="34" charset="0"/>
              </a:rPr>
              <a:t>sklearn</a:t>
            </a:r>
            <a:r>
              <a:rPr lang="zh-CN" altLang="en-US" b="0" i="0" dirty="0">
                <a:solidFill>
                  <a:srgbClr val="444444"/>
                </a:solidFill>
                <a:effectLst/>
                <a:latin typeface="Tahoma" panose="020B0604030504040204" pitchFamily="34" charset="0"/>
              </a:rPr>
              <a:t>时，大家都会为其中包含的各种算法的广度深度所震惊，但其实</a:t>
            </a:r>
            <a:r>
              <a:rPr lang="en-US" altLang="zh-CN" b="0" i="0" dirty="0" err="1">
                <a:solidFill>
                  <a:srgbClr val="444444"/>
                </a:solidFill>
                <a:effectLst/>
                <a:latin typeface="Tahoma" panose="020B0604030504040204" pitchFamily="34" charset="0"/>
              </a:rPr>
              <a:t>sklearn</a:t>
            </a:r>
            <a:r>
              <a:rPr lang="zh-CN" altLang="en-US" b="0" i="0" dirty="0">
                <a:solidFill>
                  <a:srgbClr val="444444"/>
                </a:solidFill>
                <a:effectLst/>
                <a:latin typeface="Tahoma" panose="020B0604030504040204" pitchFamily="34" charset="0"/>
              </a:rPr>
              <a:t>六大板块中有两块都是关于数据预处理和特征工程的，两个板块互相交互，为建模之前的全部工程打下基础。</a:t>
            </a:r>
          </a:p>
          <a:p>
            <a:endParaRPr lang="zh-CN" altLang="en-US" dirty="0"/>
          </a:p>
        </p:txBody>
      </p:sp>
      <p:sp>
        <p:nvSpPr>
          <p:cNvPr id="4" name="灯片编号占位符 3">
            <a:extLst>
              <a:ext uri="{FF2B5EF4-FFF2-40B4-BE49-F238E27FC236}">
                <a16:creationId xmlns:a16="http://schemas.microsoft.com/office/drawing/2014/main" id="{ED7FDCDD-B605-604C-C48B-D7C66DC78B24}"/>
              </a:ext>
            </a:extLst>
          </p:cNvPr>
          <p:cNvSpPr>
            <a:spLocks noGrp="1"/>
          </p:cNvSpPr>
          <p:nvPr>
            <p:ph type="sldNum" sz="quarter" idx="5"/>
          </p:nvPr>
        </p:nvSpPr>
        <p:spPr/>
        <p:txBody>
          <a:bodyPr/>
          <a:lstStyle/>
          <a:p>
            <a:fld id="{E8B51D7C-D7AA-4964-BAF5-C62E3AF24F6D}" type="slidenum">
              <a:rPr lang="zh-CN" altLang="en-US" smtClean="0"/>
              <a:t>8</a:t>
            </a:fld>
            <a:endParaRPr lang="en-US" altLang="zh-CN"/>
          </a:p>
        </p:txBody>
      </p:sp>
    </p:spTree>
    <p:extLst>
      <p:ext uri="{BB962C8B-B14F-4D97-AF65-F5344CB8AC3E}">
        <p14:creationId xmlns:p14="http://schemas.microsoft.com/office/powerpoint/2010/main" val="750015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9E97-A7A9-3137-0B8D-EE40859239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E56412-04F4-741B-9CDD-67EAE7DD44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B4A993-C4DB-950E-3590-3CB679DCF0CC}"/>
              </a:ext>
            </a:extLst>
          </p:cNvPr>
          <p:cNvSpPr>
            <a:spLocks noGrp="1"/>
          </p:cNvSpPr>
          <p:nvPr>
            <p:ph type="body" idx="1"/>
          </p:nvPr>
        </p:nvSpPr>
        <p:spPr/>
        <p:txBody>
          <a:bodyPr/>
          <a:lstStyle/>
          <a:p>
            <a:r>
              <a:rPr lang="en-US" altLang="zh-CN" b="1" i="0" dirty="0" err="1">
                <a:effectLst/>
                <a:latin typeface="Consolas" panose="020B0609020204030204" pitchFamily="49" charset="0"/>
              </a:rPr>
              <a:t>ValueError</a:t>
            </a:r>
            <a:r>
              <a:rPr lang="en-US" altLang="zh-CN" b="0" i="0" dirty="0">
                <a:solidFill>
                  <a:srgbClr val="CCCCCC"/>
                </a:solidFill>
                <a:effectLst/>
                <a:latin typeface="Consolas" panose="020B0609020204030204" pitchFamily="49" charset="0"/>
              </a:rPr>
              <a:t>: shapes (2,3) and (2,3) not aligned: 3 (dim 1) != 2 (dim 0)</a:t>
            </a:r>
            <a:endParaRPr lang="zh-CN" altLang="en-US" dirty="0"/>
          </a:p>
        </p:txBody>
      </p:sp>
      <p:sp>
        <p:nvSpPr>
          <p:cNvPr id="4" name="灯片编号占位符 3">
            <a:extLst>
              <a:ext uri="{FF2B5EF4-FFF2-40B4-BE49-F238E27FC236}">
                <a16:creationId xmlns:a16="http://schemas.microsoft.com/office/drawing/2014/main" id="{34DD0192-D469-BE31-410B-1B4E0DFD0656}"/>
              </a:ext>
            </a:extLst>
          </p:cNvPr>
          <p:cNvSpPr>
            <a:spLocks noGrp="1"/>
          </p:cNvSpPr>
          <p:nvPr>
            <p:ph type="sldNum" sz="quarter" idx="5"/>
          </p:nvPr>
        </p:nvSpPr>
        <p:spPr/>
        <p:txBody>
          <a:bodyPr/>
          <a:lstStyle/>
          <a:p>
            <a:fld id="{E8B51D7C-D7AA-4964-BAF5-C62E3AF24F6D}" type="slidenum">
              <a:rPr lang="zh-CN" altLang="en-US" smtClean="0"/>
              <a:t>9</a:t>
            </a:fld>
            <a:endParaRPr lang="en-US" altLang="zh-CN"/>
          </a:p>
        </p:txBody>
      </p:sp>
    </p:spTree>
    <p:extLst>
      <p:ext uri="{BB962C8B-B14F-4D97-AF65-F5344CB8AC3E}">
        <p14:creationId xmlns:p14="http://schemas.microsoft.com/office/powerpoint/2010/main" val="417620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5AA9D-2DA1-7944-742B-ADF286C0D6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B9D75C-01BB-FF37-FEEB-C1BFD8F868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55AA55-4CB8-18D8-DEF3-1820B3ED872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4B7A39B-C2CB-CA28-BE3C-60F562A81C19}"/>
              </a:ext>
            </a:extLst>
          </p:cNvPr>
          <p:cNvSpPr>
            <a:spLocks noGrp="1"/>
          </p:cNvSpPr>
          <p:nvPr>
            <p:ph type="sldNum" sz="quarter" idx="5"/>
          </p:nvPr>
        </p:nvSpPr>
        <p:spPr/>
        <p:txBody>
          <a:bodyPr/>
          <a:lstStyle/>
          <a:p>
            <a:fld id="{E8B51D7C-D7AA-4964-BAF5-C62E3AF24F6D}" type="slidenum">
              <a:rPr lang="zh-CN" altLang="en-US" smtClean="0"/>
              <a:t>10</a:t>
            </a:fld>
            <a:endParaRPr lang="en-US" altLang="zh-CN"/>
          </a:p>
        </p:txBody>
      </p:sp>
    </p:spTree>
    <p:extLst>
      <p:ext uri="{BB962C8B-B14F-4D97-AF65-F5344CB8AC3E}">
        <p14:creationId xmlns:p14="http://schemas.microsoft.com/office/powerpoint/2010/main" val="2749179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BEE46-EC84-484E-12C7-C14A8635BE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F4C3B4-79C1-6AF6-2A82-F9FA2E7A03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A30F75-3520-B072-DE9D-FDD95E334D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42E0F41-D019-79B2-93D8-433FE8FB9F46}"/>
              </a:ext>
            </a:extLst>
          </p:cNvPr>
          <p:cNvSpPr>
            <a:spLocks noGrp="1"/>
          </p:cNvSpPr>
          <p:nvPr>
            <p:ph type="sldNum" sz="quarter" idx="5"/>
          </p:nvPr>
        </p:nvSpPr>
        <p:spPr/>
        <p:txBody>
          <a:bodyPr/>
          <a:lstStyle/>
          <a:p>
            <a:fld id="{E8B51D7C-D7AA-4964-BAF5-C62E3AF24F6D}" type="slidenum">
              <a:rPr lang="zh-CN" altLang="en-US" smtClean="0"/>
              <a:t>11</a:t>
            </a:fld>
            <a:endParaRPr lang="en-US" altLang="zh-CN"/>
          </a:p>
        </p:txBody>
      </p:sp>
    </p:spTree>
    <p:extLst>
      <p:ext uri="{BB962C8B-B14F-4D97-AF65-F5344CB8AC3E}">
        <p14:creationId xmlns:p14="http://schemas.microsoft.com/office/powerpoint/2010/main" val="1387382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12</a:t>
            </a:fld>
            <a:endParaRPr lang="en-US" altLang="zh-CN">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dirty="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13</a:t>
            </a:fld>
            <a:endParaRPr lang="en-US" altLang="zh-CN">
              <a:latin typeface="Calibri" panose="020F050202020403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fontScale="92500" lnSpcReduction="20000"/>
          </a:bodyPr>
          <a:lstStyle/>
          <a:p>
            <a:r>
              <a:rPr lang="zh-CN" altLang="en-US" b="1" dirty="0"/>
              <a:t>机器学习界的名言：成功的机器学习应用不是拥有最好的算法，而是拥有最多的数据！</a:t>
            </a:r>
            <a:endParaRPr lang="en-US" altLang="zh-CN" b="1" dirty="0"/>
          </a:p>
          <a:p>
            <a:endParaRPr lang="en-US" altLang="zh-CN" b="1" dirty="0"/>
          </a:p>
          <a:p>
            <a:r>
              <a:rPr lang="zh-CN" altLang="en-US" b="1" dirty="0"/>
              <a:t>结构化数据是以表格形式存储的数据，通常使用行和列的结构表示</a:t>
            </a:r>
            <a:r>
              <a:rPr lang="zh-CN" altLang="en-US" dirty="0"/>
              <a:t>，每一行代表一个样本，每一列代表一个特征。这种数据类型在数据库、电子表格和数据集中广泛存在，例如，关系型数据库中的表格数据、</a:t>
            </a:r>
            <a:r>
              <a:rPr lang="en-US" altLang="zh-CN" dirty="0"/>
              <a:t>CSV</a:t>
            </a:r>
            <a:r>
              <a:rPr lang="zh-CN" altLang="en-US" dirty="0"/>
              <a:t>文件等。结构化数据常见于金融、电子商务、健康医疗等领域。</a:t>
            </a:r>
            <a:endParaRPr lang="en-US" altLang="zh-CN" dirty="0"/>
          </a:p>
          <a:p>
            <a:endParaRPr lang="en-US" altLang="zh-CN" dirty="0"/>
          </a:p>
          <a:p>
            <a:r>
              <a:rPr lang="zh-CN" altLang="en-US" b="1" dirty="0"/>
              <a:t>非结构化数据指的是不以固定结构存储的数据，包括文本、图像、音频、视频等形式</a:t>
            </a:r>
            <a:r>
              <a:rPr lang="zh-CN" altLang="en-US" dirty="0"/>
              <a:t>。这类数据不容易直接用于机器学习模型的训练，需要进行特征提取或者转换成结构化数据的形式。</a:t>
            </a:r>
            <a:endParaRPr lang="en-US" altLang="zh-CN" dirty="0"/>
          </a:p>
          <a:p>
            <a:endParaRPr lang="en-US" altLang="zh-CN" dirty="0"/>
          </a:p>
          <a:p>
            <a:r>
              <a:rPr lang="zh-CN" altLang="en-US" dirty="0"/>
              <a:t>时间序列数据是按照时间顺序排列的数据，每个时间点对应一个或多个变量的观测值。时间序列数据常见于股票价格、气象数据、传感器数据等领域，对于预测未来趋势或分析时间相关性非常重要</a:t>
            </a:r>
            <a:endParaRPr lang="en-US" altLang="zh-CN" dirty="0"/>
          </a:p>
          <a:p>
            <a:endParaRPr lang="en-US" altLang="zh-CN" dirty="0"/>
          </a:p>
          <a:p>
            <a:r>
              <a:rPr lang="zh-CN" altLang="en-US" dirty="0"/>
              <a:t>空间数据是与地理位置相关的数据，包括地图、卫星影像、地理信息系统（</a:t>
            </a:r>
            <a:r>
              <a:rPr lang="en-US" altLang="zh-CN" dirty="0"/>
              <a:t>GIS</a:t>
            </a:r>
            <a:r>
              <a:rPr lang="zh-CN" altLang="en-US" dirty="0"/>
              <a:t>）数据等。这类数据在城市规划、环境监测、地理信息分析等领域有着广泛的应用。</a:t>
            </a:r>
            <a:endParaRPr lang="en-US" altLang="zh-CN" dirty="0"/>
          </a:p>
          <a:p>
            <a:endParaRPr lang="en-US" altLang="zh-CN" dirty="0"/>
          </a:p>
          <a:p>
            <a:r>
              <a:rPr lang="zh-CN" altLang="en-US" dirty="0"/>
              <a:t>通过精心收集和准备数据，我们可以为机器学习模型提供高质量、代表性和可靠的训练样本，从而实现更准确和可靠的预测和决策。</a:t>
            </a:r>
            <a:endParaRPr lang="en-US" altLang="zh-CN" dirty="0"/>
          </a:p>
          <a:p>
            <a:endParaRPr lang="en-US" altLang="zh-CN" dirty="0"/>
          </a:p>
          <a:p>
            <a:r>
              <a:rPr lang="en-US" altLang="zh-CN" dirty="0"/>
              <a:t>9</a:t>
            </a:r>
            <a:r>
              <a:rPr lang="zh-CN" altLang="en-US" dirty="0"/>
              <a:t>个超实用的机器学习数据集网址：</a:t>
            </a:r>
            <a:r>
              <a:rPr lang="en-US" altLang="zh-CN" dirty="0"/>
              <a:t>https://zhuanlan.zhihu.com/p/355916212</a:t>
            </a:r>
            <a:endParaRPr lang="zh-CN" altLang="en-US" dirty="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14</a:t>
            </a:fld>
            <a:endParaRPr lang="en-US" altLang="zh-CN">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lnSpcReduction="1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err="1">
                <a:latin typeface="宋体" panose="02010600030101010101" pitchFamily="2" charset="-122"/>
                <a:cs typeface="Times New Roman" panose="02020603050405020304" pitchFamily="18" charset="0"/>
              </a:rPr>
              <a:t>归一化（最大</a:t>
            </a:r>
            <a:r>
              <a:rPr lang="en-US" altLang="zh-CN" b="1" dirty="0">
                <a:latin typeface="Cambria" panose="02040503050406030204" pitchFamily="18" charset="0"/>
                <a:ea typeface="宋体" panose="02010600030101010101" pitchFamily="2" charset="-122"/>
                <a:cs typeface="Times New Roman" panose="02020603050405020304" pitchFamily="18" charset="0"/>
              </a:rPr>
              <a:t> - </a:t>
            </a:r>
            <a:r>
              <a:rPr lang="en-US" altLang="zh-CN" b="1" dirty="0" err="1">
                <a:latin typeface="宋体" panose="02010600030101010101" pitchFamily="2" charset="-122"/>
                <a:cs typeface="Times New Roman" panose="02020603050405020304" pitchFamily="18" charset="0"/>
              </a:rPr>
              <a:t>最小规范化</a:t>
            </a:r>
            <a:r>
              <a:rPr lang="zh-CN" altLang="en-US" b="1" dirty="0">
                <a:latin typeface="宋体" panose="02010600030101010101" pitchFamily="2" charset="-122"/>
                <a:cs typeface="Times New Roman" panose="02020603050405020304" pitchFamily="18" charset="0"/>
              </a:rPr>
              <a:t>）：</a:t>
            </a:r>
            <a:r>
              <a:rPr lang="zh-CN" altLang="zh-CN" dirty="0">
                <a:latin typeface="+mj-ea"/>
                <a:ea typeface="+mj-ea"/>
                <a:cs typeface="Times New Roman" panose="02020603050405020304" pitchFamily="18" charset="0"/>
              </a:rPr>
              <a:t>数据归一化的目的是使得各特征对目标变量的影响一致，</a:t>
            </a:r>
            <a:r>
              <a:rPr lang="en-US" altLang="zh-CN" dirty="0" err="1">
                <a:latin typeface="宋体" panose="02010600030101010101" pitchFamily="2" charset="-122"/>
                <a:cs typeface="Times New Roman" panose="02020603050405020304" pitchFamily="18" charset="0"/>
              </a:rPr>
              <a:t>将数据映射到</a:t>
            </a:r>
            <a:r>
              <a:rPr lang="en-US" altLang="zh-CN" dirty="0">
                <a:latin typeface="Cambria" panose="02040503050406030204" pitchFamily="18" charset="0"/>
                <a:ea typeface="+mn-ea"/>
                <a:cs typeface="Times New Roman" panose="02020603050405020304" pitchFamily="18" charset="0"/>
              </a:rPr>
              <a:t>[0,1]</a:t>
            </a:r>
            <a:r>
              <a:rPr lang="en-US" altLang="zh-CN" dirty="0" err="1">
                <a:latin typeface="宋体" panose="02010600030101010101" pitchFamily="2" charset="-122"/>
                <a:cs typeface="Times New Roman" panose="02020603050405020304" pitchFamily="18" charset="0"/>
              </a:rPr>
              <a:t>区间</a:t>
            </a:r>
            <a:r>
              <a:rPr lang="zh-CN" altLang="en-US" dirty="0">
                <a:latin typeface="宋体" panose="02010600030101010101" pitchFamily="2" charset="-122"/>
                <a:cs typeface="Times New Roman" panose="02020603050405020304" pitchFamily="18" charset="0"/>
              </a:rPr>
              <a:t>，</a:t>
            </a:r>
            <a:r>
              <a:rPr lang="zh-CN" altLang="zh-CN" dirty="0">
                <a:latin typeface="+mj-ea"/>
                <a:ea typeface="+mj-ea"/>
                <a:cs typeface="Times New Roman" panose="02020603050405020304" pitchFamily="18" charset="0"/>
              </a:rPr>
              <a:t>会将特征数据进行伸缩变化，所以</a:t>
            </a:r>
            <a:r>
              <a:rPr lang="zh-CN" altLang="zh-CN" b="1" dirty="0">
                <a:latin typeface="+mj-ea"/>
                <a:ea typeface="+mj-ea"/>
                <a:cs typeface="Times New Roman" panose="02020603050405020304" pitchFamily="18" charset="0"/>
              </a:rPr>
              <a:t>数据归一化是会</a:t>
            </a:r>
            <a:r>
              <a:rPr lang="zh-CN" altLang="zh-CN" b="1" dirty="0">
                <a:solidFill>
                  <a:srgbClr val="FF0000"/>
                </a:solidFill>
                <a:latin typeface="+mj-ea"/>
                <a:ea typeface="+mj-ea"/>
                <a:cs typeface="Times New Roman" panose="02020603050405020304" pitchFamily="18" charset="0"/>
              </a:rPr>
              <a:t>改变特征数据分布</a:t>
            </a:r>
            <a:r>
              <a:rPr lang="zh-CN" altLang="zh-CN" dirty="0">
                <a:latin typeface="+mj-ea"/>
                <a:ea typeface="+mj-ea"/>
                <a:cs typeface="Times New Roman" panose="02020603050405020304" pitchFamily="18" charset="0"/>
              </a:rPr>
              <a:t>的。</a:t>
            </a:r>
            <a:endParaRPr lang="en-US" altLang="zh-CN" dirty="0">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1" dirty="0">
              <a:latin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latin typeface="+mj-ea"/>
                <a:ea typeface="+mj-ea"/>
                <a:cs typeface="Times New Roman" panose="02020603050405020304" pitchFamily="18" charset="0"/>
              </a:rPr>
              <a:t>Z-Score</a:t>
            </a:r>
            <a:r>
              <a:rPr lang="zh-CN" altLang="zh-CN" b="1" dirty="0">
                <a:latin typeface="+mj-ea"/>
                <a:ea typeface="+mj-ea"/>
                <a:cs typeface="Times New Roman" panose="02020603050405020304" pitchFamily="18" charset="0"/>
              </a:rPr>
              <a:t>标准化</a:t>
            </a:r>
            <a:r>
              <a:rPr lang="zh-CN" altLang="en-US" b="1"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数据标准化为了不同特征之间具备可比性，经过</a:t>
            </a:r>
            <a:r>
              <a:rPr lang="zh-CN" altLang="zh-CN" b="1" dirty="0">
                <a:solidFill>
                  <a:schemeClr val="accent1"/>
                </a:solidFill>
                <a:latin typeface="+mj-ea"/>
                <a:ea typeface="+mj-ea"/>
                <a:cs typeface="Times New Roman" panose="02020603050405020304" pitchFamily="18" charset="0"/>
              </a:rPr>
              <a:t>标准化变换之后的特征</a:t>
            </a:r>
            <a:r>
              <a:rPr lang="zh-CN" altLang="en-US" b="1" dirty="0">
                <a:solidFill>
                  <a:schemeClr val="accent1"/>
                </a:solidFill>
                <a:latin typeface="+mj-ea"/>
                <a:ea typeface="+mj-ea"/>
                <a:cs typeface="Times New Roman" panose="02020603050405020304" pitchFamily="18" charset="0"/>
              </a:rPr>
              <a:t>数据</a:t>
            </a:r>
            <a:r>
              <a:rPr lang="zh-CN" altLang="zh-CN" b="1" dirty="0">
                <a:solidFill>
                  <a:schemeClr val="accent1"/>
                </a:solidFill>
                <a:latin typeface="+mj-ea"/>
                <a:ea typeface="+mj-ea"/>
                <a:cs typeface="Times New Roman" panose="02020603050405020304" pitchFamily="18" charset="0"/>
              </a:rPr>
              <a:t>分布没有发生改变</a:t>
            </a:r>
            <a:r>
              <a:rPr lang="zh-CN" altLang="zh-CN" dirty="0">
                <a:latin typeface="+mj-ea"/>
                <a:ea typeface="+mj-ea"/>
                <a:cs typeface="Times New Roman" panose="02020603050405020304" pitchFamily="18" charset="0"/>
              </a:rPr>
              <a:t>。处理后的数据均值为</a:t>
            </a:r>
            <a:r>
              <a:rPr lang="en-US" altLang="zh-CN" dirty="0">
                <a:latin typeface="+mj-ea"/>
                <a:ea typeface="+mj-ea"/>
                <a:cs typeface="Times New Roman" panose="02020603050405020304" pitchFamily="18" charset="0"/>
              </a:rPr>
              <a:t>0</a:t>
            </a:r>
            <a:r>
              <a:rPr lang="zh-CN" altLang="zh-CN" dirty="0">
                <a:latin typeface="+mj-ea"/>
                <a:ea typeface="+mj-ea"/>
                <a:cs typeface="Times New Roman" panose="02020603050405020304" pitchFamily="18" charset="0"/>
              </a:rPr>
              <a:t>，方差为</a:t>
            </a:r>
            <a:r>
              <a:rPr lang="en-US" altLang="zh-CN" dirty="0">
                <a:latin typeface="+mj-ea"/>
                <a:ea typeface="+mj-ea"/>
                <a:cs typeface="Times New Roman" panose="02020603050405020304" pitchFamily="18" charset="0"/>
              </a:rPr>
              <a:t>1</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mj-ea"/>
              <a:ea typeface="+mj-ea"/>
              <a:cs typeface="Times New Roman" panose="02020603050405020304" pitchFamily="18" charset="0"/>
            </a:endParaRPr>
          </a:p>
          <a:p>
            <a:pPr>
              <a:spcBef>
                <a:spcPts val="900"/>
              </a:spcBef>
              <a:spcAft>
                <a:spcPts val="900"/>
              </a:spcAft>
            </a:pPr>
            <a:r>
              <a:rPr lang="zh-CN" altLang="en-US" b="1" dirty="0">
                <a:latin typeface="+mj-ea"/>
                <a:ea typeface="+mj-ea"/>
                <a:cs typeface="Times New Roman" panose="02020603050405020304" pitchFamily="18" charset="0"/>
              </a:rPr>
              <a:t>需要做数据归一化</a:t>
            </a:r>
            <a:r>
              <a:rPr lang="en-US" altLang="zh-CN" b="1" dirty="0">
                <a:latin typeface="+mj-ea"/>
                <a:ea typeface="+mj-ea"/>
                <a:cs typeface="Times New Roman" panose="02020603050405020304" pitchFamily="18" charset="0"/>
              </a:rPr>
              <a:t>/</a:t>
            </a:r>
            <a:r>
              <a:rPr lang="zh-CN" altLang="en-US" b="1" dirty="0">
                <a:latin typeface="+mj-ea"/>
                <a:ea typeface="+mj-ea"/>
                <a:cs typeface="Times New Roman" panose="02020603050405020304" pitchFamily="18" charset="0"/>
              </a:rPr>
              <a:t>标准化</a:t>
            </a:r>
            <a:endParaRPr lang="en-US" altLang="zh-CN" b="1" dirty="0">
              <a:latin typeface="+mj-ea"/>
              <a:ea typeface="+mj-ea"/>
              <a:cs typeface="Times New Roman" panose="02020603050405020304" pitchFamily="18" charset="0"/>
            </a:endParaRPr>
          </a:p>
          <a:p>
            <a:pPr>
              <a:spcBef>
                <a:spcPts val="900"/>
              </a:spcBef>
              <a:spcAft>
                <a:spcPts val="900"/>
              </a:spcAft>
            </a:pPr>
            <a:r>
              <a:rPr lang="zh-CN" altLang="en-US" dirty="0">
                <a:latin typeface="+mj-ea"/>
                <a:ea typeface="+mj-ea"/>
                <a:cs typeface="Times New Roman" panose="02020603050405020304" pitchFamily="18" charset="0"/>
              </a:rPr>
              <a:t>线性模型，如</a:t>
            </a:r>
            <a:r>
              <a:rPr lang="zh-CN" altLang="zh-CN" dirty="0">
                <a:latin typeface="+mj-ea"/>
                <a:ea typeface="+mj-ea"/>
                <a:cs typeface="Times New Roman" panose="02020603050405020304" pitchFamily="18" charset="0"/>
              </a:rPr>
              <a:t>基于距离度量的模型包括</a:t>
            </a:r>
            <a:r>
              <a:rPr lang="en-US" altLang="zh-CN" dirty="0">
                <a:latin typeface="+mj-ea"/>
                <a:ea typeface="+mj-ea"/>
                <a:cs typeface="Times New Roman" panose="02020603050405020304" pitchFamily="18" charset="0"/>
              </a:rPr>
              <a:t>KNN(K</a:t>
            </a:r>
            <a:r>
              <a:rPr lang="zh-CN" altLang="zh-CN" dirty="0">
                <a:latin typeface="+mj-ea"/>
                <a:ea typeface="+mj-ea"/>
                <a:cs typeface="Times New Roman" panose="02020603050405020304" pitchFamily="18" charset="0"/>
              </a:rPr>
              <a:t>近邻</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K-means</a:t>
            </a:r>
            <a:r>
              <a:rPr lang="zh-CN" altLang="zh-CN" dirty="0">
                <a:latin typeface="+mj-ea"/>
                <a:ea typeface="+mj-ea"/>
                <a:cs typeface="Times New Roman" panose="02020603050405020304" pitchFamily="18" charset="0"/>
              </a:rPr>
              <a:t>聚类、感知机和</a:t>
            </a:r>
            <a:r>
              <a:rPr lang="en-US" altLang="zh-CN" dirty="0">
                <a:latin typeface="+mj-ea"/>
                <a:ea typeface="+mj-ea"/>
                <a:cs typeface="Times New Roman" panose="02020603050405020304" pitchFamily="18" charset="0"/>
              </a:rPr>
              <a:t>SVM</a:t>
            </a:r>
            <a:r>
              <a:rPr lang="zh-CN" altLang="zh-CN" dirty="0">
                <a:latin typeface="+mj-ea"/>
                <a:ea typeface="+mj-ea"/>
                <a:cs typeface="Times New Roman" panose="02020603050405020304" pitchFamily="18" charset="0"/>
              </a:rPr>
              <a:t>。另外，线性回归类的几个模型一般情况下也是</a:t>
            </a:r>
            <a:r>
              <a:rPr lang="zh-CN" altLang="zh-CN" dirty="0">
                <a:solidFill>
                  <a:srgbClr val="FF0000"/>
                </a:solidFill>
                <a:latin typeface="+mj-ea"/>
                <a:ea typeface="+mj-ea"/>
                <a:cs typeface="Times New Roman" panose="02020603050405020304" pitchFamily="18" charset="0"/>
              </a:rPr>
              <a:t>需要</a:t>
            </a:r>
            <a:r>
              <a:rPr lang="zh-CN" altLang="zh-CN" dirty="0">
                <a:latin typeface="+mj-ea"/>
                <a:ea typeface="+mj-ea"/>
                <a:cs typeface="Times New Roman" panose="02020603050405020304" pitchFamily="18" charset="0"/>
              </a:rPr>
              <a:t>做数据</a:t>
            </a:r>
            <a:r>
              <a:rPr lang="zh-CN" altLang="en-US" dirty="0">
                <a:latin typeface="+mj-ea"/>
                <a:ea typeface="+mj-ea"/>
                <a:cs typeface="Times New Roman" panose="02020603050405020304" pitchFamily="18" charset="0"/>
              </a:rPr>
              <a:t>归一化</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标准化处理的。</a:t>
            </a:r>
            <a:endParaRPr lang="en-US" altLang="zh-CN" dirty="0">
              <a:latin typeface="+mj-ea"/>
              <a:ea typeface="+mj-ea"/>
              <a:cs typeface="Times New Roman" panose="02020603050405020304" pitchFamily="18" charset="0"/>
            </a:endParaRPr>
          </a:p>
          <a:p>
            <a:pPr>
              <a:spcBef>
                <a:spcPts val="900"/>
              </a:spcBef>
              <a:spcAft>
                <a:spcPts val="900"/>
              </a:spcAft>
            </a:pPr>
            <a:endParaRPr lang="en-US" altLang="zh-CN" dirty="0">
              <a:latin typeface="+mj-ea"/>
              <a:ea typeface="+mj-ea"/>
              <a:cs typeface="Times New Roman" panose="02020603050405020304" pitchFamily="18" charset="0"/>
            </a:endParaRPr>
          </a:p>
          <a:p>
            <a:pPr>
              <a:spcBef>
                <a:spcPts val="900"/>
              </a:spcBef>
              <a:spcAft>
                <a:spcPts val="900"/>
              </a:spcAft>
            </a:pPr>
            <a:r>
              <a:rPr lang="zh-CN" altLang="en-US" b="1" dirty="0">
                <a:latin typeface="+mj-ea"/>
                <a:cs typeface="Times New Roman" panose="02020603050405020304" pitchFamily="18" charset="0"/>
              </a:rPr>
              <a:t>不需要做数据归一化</a:t>
            </a:r>
            <a:r>
              <a:rPr lang="en-US" altLang="zh-CN" b="1" dirty="0">
                <a:latin typeface="+mj-ea"/>
                <a:cs typeface="Times New Roman" panose="02020603050405020304" pitchFamily="18" charset="0"/>
              </a:rPr>
              <a:t>/</a:t>
            </a:r>
            <a:r>
              <a:rPr lang="zh-CN" altLang="en-US" b="1" dirty="0">
                <a:latin typeface="+mj-ea"/>
                <a:cs typeface="Times New Roman" panose="02020603050405020304" pitchFamily="18" charset="0"/>
              </a:rPr>
              <a:t>标准化</a:t>
            </a:r>
            <a:endParaRPr lang="en-US" altLang="zh-CN" b="1" dirty="0">
              <a:latin typeface="+mj-ea"/>
              <a:cs typeface="Times New Roman" panose="02020603050405020304" pitchFamily="18" charset="0"/>
            </a:endParaRPr>
          </a:p>
          <a:p>
            <a:pPr>
              <a:spcBef>
                <a:spcPts val="900"/>
              </a:spcBef>
              <a:spcAft>
                <a:spcPts val="900"/>
              </a:spcAft>
            </a:pPr>
            <a:r>
              <a:rPr lang="zh-CN" altLang="zh-CN" dirty="0">
                <a:latin typeface="+mj-ea"/>
                <a:ea typeface="+mj-ea"/>
                <a:cs typeface="Times New Roman" panose="02020603050405020304" pitchFamily="18" charset="0"/>
              </a:rPr>
              <a:t>决策树、基于决策树的</a:t>
            </a:r>
            <a:r>
              <a:rPr lang="en-US" altLang="zh-CN" dirty="0">
                <a:latin typeface="+mj-ea"/>
                <a:ea typeface="+mj-ea"/>
                <a:cs typeface="Times New Roman" panose="02020603050405020304" pitchFamily="18" charset="0"/>
              </a:rPr>
              <a:t>Boosting</a:t>
            </a:r>
            <a:r>
              <a:rPr lang="zh-CN" altLang="zh-CN" dirty="0">
                <a:latin typeface="+mj-ea"/>
                <a:ea typeface="+mj-ea"/>
                <a:cs typeface="Times New Roman" panose="02020603050405020304" pitchFamily="18" charset="0"/>
              </a:rPr>
              <a:t>和</a:t>
            </a:r>
            <a:r>
              <a:rPr lang="en-US" altLang="zh-CN" dirty="0">
                <a:latin typeface="+mj-ea"/>
                <a:ea typeface="+mj-ea"/>
                <a:cs typeface="Times New Roman" panose="02020603050405020304" pitchFamily="18" charset="0"/>
              </a:rPr>
              <a:t>Bagging</a:t>
            </a:r>
            <a:r>
              <a:rPr lang="zh-CN" altLang="zh-CN" dirty="0">
                <a:latin typeface="+mj-ea"/>
                <a:ea typeface="+mj-ea"/>
                <a:cs typeface="Times New Roman" panose="02020603050405020304" pitchFamily="18" charset="0"/>
              </a:rPr>
              <a:t>等集成学习模型对于特征取值大小并不敏感</a:t>
            </a:r>
            <a:r>
              <a:rPr lang="zh-CN" altLang="en-US" dirty="0">
                <a:latin typeface="+mj-ea"/>
                <a:ea typeface="+mj-ea"/>
                <a:cs typeface="Times New Roman" panose="02020603050405020304" pitchFamily="18" charset="0"/>
              </a:rPr>
              <a:t>，如随机森林、</a:t>
            </a:r>
            <a:r>
              <a:rPr lang="en-US" altLang="zh-CN" dirty="0" err="1">
                <a:latin typeface="+mj-ea"/>
                <a:ea typeface="+mj-ea"/>
                <a:cs typeface="Times New Roman" panose="02020603050405020304" pitchFamily="18" charset="0"/>
              </a:rPr>
              <a:t>XGBoost</a:t>
            </a:r>
            <a:r>
              <a:rPr lang="zh-CN" altLang="en-US" dirty="0">
                <a:latin typeface="+mj-ea"/>
                <a:ea typeface="+mj-ea"/>
                <a:cs typeface="Times New Roman" panose="02020603050405020304" pitchFamily="18" charset="0"/>
              </a:rPr>
              <a:t>、</a:t>
            </a:r>
            <a:r>
              <a:rPr lang="en-US" altLang="zh-CN" dirty="0" err="1">
                <a:latin typeface="+mj-ea"/>
                <a:ea typeface="+mj-ea"/>
                <a:cs typeface="Times New Roman" panose="02020603050405020304" pitchFamily="18" charset="0"/>
              </a:rPr>
              <a:t>LightGBM</a:t>
            </a:r>
            <a:r>
              <a:rPr lang="zh-CN" altLang="en-US" dirty="0">
                <a:latin typeface="+mj-ea"/>
                <a:ea typeface="+mj-ea"/>
                <a:cs typeface="Times New Roman" panose="02020603050405020304" pitchFamily="18" charset="0"/>
              </a:rPr>
              <a:t>等树模型，以及朴素贝叶斯，以上这些</a:t>
            </a:r>
            <a:r>
              <a:rPr lang="zh-CN" altLang="zh-CN" dirty="0">
                <a:latin typeface="+mj-ea"/>
                <a:ea typeface="+mj-ea"/>
                <a:cs typeface="Times New Roman" panose="02020603050405020304" pitchFamily="18" charset="0"/>
              </a:rPr>
              <a:t>模型一般</a:t>
            </a:r>
            <a:r>
              <a:rPr lang="zh-CN" altLang="zh-CN" dirty="0">
                <a:solidFill>
                  <a:srgbClr val="FF0000"/>
                </a:solidFill>
                <a:latin typeface="+mj-ea"/>
                <a:ea typeface="+mj-ea"/>
                <a:cs typeface="Times New Roman" panose="02020603050405020304" pitchFamily="18" charset="0"/>
              </a:rPr>
              <a:t>不需要</a:t>
            </a:r>
            <a:r>
              <a:rPr lang="zh-CN" altLang="zh-CN" dirty="0">
                <a:latin typeface="+mj-ea"/>
                <a:ea typeface="+mj-ea"/>
                <a:cs typeface="Times New Roman" panose="02020603050405020304" pitchFamily="18" charset="0"/>
              </a:rPr>
              <a:t>做数据</a:t>
            </a:r>
            <a:r>
              <a:rPr lang="zh-CN" altLang="en-US" dirty="0">
                <a:latin typeface="+mj-ea"/>
                <a:ea typeface="+mj-ea"/>
                <a:cs typeface="Times New Roman" panose="02020603050405020304" pitchFamily="18" charset="0"/>
              </a:rPr>
              <a:t>归一化</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标准化处理。</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mj-ea"/>
              <a:ea typeface="+mj-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mj-ea"/>
              <a:ea typeface="+mj-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b="1" dirty="0">
              <a:latin typeface="+mj-ea"/>
              <a:ea typeface="+mj-ea"/>
            </a:endParaRPr>
          </a:p>
          <a:p>
            <a:endParaRPr lang="zh-CN" altLang="en-US" dirty="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15</a:t>
            </a:fld>
            <a:endParaRPr lang="en-US" altLang="zh-CN">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5EB9B-2CE9-B166-A0E8-F2F86A363A03}"/>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B68BF0DF-2F53-CC61-1018-0262F223C71F}"/>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D5E068D0-956D-2FC7-996A-99657742EC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pPr>
              <a:lnSpc>
                <a:spcPct val="150000"/>
              </a:lnSpc>
            </a:pPr>
            <a:r>
              <a:rPr lang="zh-CN" altLang="en-US" dirty="0"/>
              <a:t>IQR = Q3-Q1，即上四分位数与下四分位数之间的差，也就是盒子的长度。</a:t>
            </a:r>
            <a:endParaRPr lang="en-US" altLang="zh-CN" dirty="0"/>
          </a:p>
          <a:p>
            <a:pPr>
              <a:lnSpc>
                <a:spcPct val="150000"/>
              </a:lnSpc>
            </a:pPr>
            <a:r>
              <a:rPr lang="zh-CN" altLang="en-US" dirty="0"/>
              <a:t>最小观测值为min = Q1 - 1.5*IQR，如果存在离群点小于最小观测值，则下限为最小观测值，离群点单独以点汇出。</a:t>
            </a:r>
            <a:endParaRPr lang="en-US" altLang="zh-CN" dirty="0"/>
          </a:p>
          <a:p>
            <a:pPr>
              <a:lnSpc>
                <a:spcPct val="150000"/>
              </a:lnSpc>
            </a:pPr>
            <a:r>
              <a:rPr lang="zh-CN" altLang="en-US" dirty="0"/>
              <a:t>最大观测值为max = Q3 +1.5*IQR，如果存在离群点大于最大观测值，则上限为最大观测值，离群点单独以点汇出。如果没有比最大观测值大的数，则上限为最大值。</a:t>
            </a:r>
            <a:endParaRPr lang="en-US" altLang="zh-CN" dirty="0"/>
          </a:p>
          <a:p>
            <a:pPr>
              <a:lnSpc>
                <a:spcPct val="150000"/>
              </a:lnSpc>
            </a:pPr>
            <a:endParaRPr lang="en-US" altLang="zh-CN" dirty="0"/>
          </a:p>
          <a:p>
            <a:pPr>
              <a:lnSpc>
                <a:spcPct val="150000"/>
              </a:lnSpc>
            </a:pPr>
            <a:r>
              <a:rPr lang="en-US" altLang="zh-CN" dirty="0"/>
              <a:t>density</a:t>
            </a:r>
            <a:r>
              <a:rPr lang="zh-CN" altLang="en-US" dirty="0"/>
              <a:t>：是否将直方图归一化为概率密度函数，即使得直方图面积等于 </a:t>
            </a:r>
            <a:r>
              <a:rPr lang="en-US" altLang="zh-CN" dirty="0"/>
              <a:t>1</a:t>
            </a:r>
            <a:r>
              <a:rPr lang="zh-CN" altLang="en-US" dirty="0"/>
              <a:t>。</a:t>
            </a:r>
          </a:p>
          <a:p>
            <a:pPr>
              <a:lnSpc>
                <a:spcPct val="150000"/>
              </a:lnSpc>
            </a:pPr>
            <a:r>
              <a:rPr lang="en-US" altLang="zh-CN" dirty="0" err="1"/>
              <a:t>histtype</a:t>
            </a:r>
            <a:r>
              <a:rPr lang="zh-CN" altLang="en-US" dirty="0"/>
              <a:t>：直方图的类型，可选项包括 ‘</a:t>
            </a:r>
            <a:r>
              <a:rPr lang="en-US" altLang="zh-CN" dirty="0"/>
              <a:t>bar’</a:t>
            </a:r>
            <a:r>
              <a:rPr lang="zh-CN" altLang="en-US" dirty="0"/>
              <a:t>、‘</a:t>
            </a:r>
            <a:r>
              <a:rPr lang="en-US" altLang="zh-CN" dirty="0" err="1"/>
              <a:t>barstacked</a:t>
            </a:r>
            <a:r>
              <a:rPr lang="en-US" altLang="zh-CN" dirty="0"/>
              <a:t>’</a:t>
            </a:r>
            <a:r>
              <a:rPr lang="zh-CN" altLang="en-US" dirty="0"/>
              <a:t>、‘</a:t>
            </a:r>
            <a:r>
              <a:rPr lang="en-US" altLang="zh-CN" dirty="0"/>
              <a:t>step’</a:t>
            </a:r>
            <a:r>
              <a:rPr lang="zh-CN" altLang="en-US" dirty="0"/>
              <a:t>、‘</a:t>
            </a:r>
            <a:r>
              <a:rPr lang="en-US" altLang="zh-CN" dirty="0" err="1"/>
              <a:t>stepfilled</a:t>
            </a:r>
            <a:r>
              <a:rPr lang="en-US" altLang="zh-CN" dirty="0"/>
              <a:t>’</a:t>
            </a:r>
            <a:r>
              <a:rPr lang="zh-CN" altLang="en-US" dirty="0"/>
              <a:t>。</a:t>
            </a:r>
          </a:p>
          <a:p>
            <a:pPr>
              <a:lnSpc>
                <a:spcPct val="150000"/>
              </a:lnSpc>
            </a:pPr>
            <a:r>
              <a:rPr lang="en-US" altLang="zh-CN" dirty="0"/>
              <a:t>alpha</a:t>
            </a:r>
            <a:r>
              <a:rPr lang="zh-CN" altLang="en-US" dirty="0"/>
              <a:t>：用于控制密度图的透明度，取值范围为 </a:t>
            </a:r>
            <a:r>
              <a:rPr lang="en-US" altLang="zh-CN" dirty="0"/>
              <a:t>0 </a:t>
            </a:r>
            <a:r>
              <a:rPr lang="zh-CN" altLang="en-US" dirty="0"/>
              <a:t>到</a:t>
            </a:r>
            <a:r>
              <a:rPr lang="en-US" altLang="zh-CN" dirty="0"/>
              <a:t>1</a:t>
            </a:r>
            <a:r>
              <a:rPr lang="zh-CN" altLang="en-US" dirty="0"/>
              <a:t>。</a:t>
            </a:r>
          </a:p>
          <a:p>
            <a:pPr>
              <a:lnSpc>
                <a:spcPct val="150000"/>
              </a:lnSpc>
            </a:pPr>
            <a:r>
              <a:rPr lang="en-US" altLang="zh-CN" dirty="0"/>
              <a:t>bins</a:t>
            </a:r>
            <a:r>
              <a:rPr lang="zh-CN" altLang="en-US" dirty="0"/>
              <a:t>：直方图的箱子数量。</a:t>
            </a:r>
          </a:p>
          <a:p>
            <a:endParaRPr lang="zh-CN" altLang="en-US" dirty="0"/>
          </a:p>
        </p:txBody>
      </p:sp>
      <p:sp>
        <p:nvSpPr>
          <p:cNvPr id="45060" name="灯片编号占位符 3">
            <a:extLst>
              <a:ext uri="{FF2B5EF4-FFF2-40B4-BE49-F238E27FC236}">
                <a16:creationId xmlns:a16="http://schemas.microsoft.com/office/drawing/2014/main" id="{DB52C540-B85F-CBD9-0A46-AECD4DF4EF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16</a:t>
            </a:fld>
            <a:endParaRPr lang="en-US" altLang="zh-CN">
              <a:latin typeface="Calibri" panose="020F0502020204030204" pitchFamily="34" charset="0"/>
            </a:endParaRPr>
          </a:p>
        </p:txBody>
      </p:sp>
    </p:spTree>
    <p:extLst>
      <p:ext uri="{BB962C8B-B14F-4D97-AF65-F5344CB8AC3E}">
        <p14:creationId xmlns:p14="http://schemas.microsoft.com/office/powerpoint/2010/main" val="425186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49422-19E4-2659-B3BB-FAD5B3B2EACB}"/>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5B6F07E7-42B8-C947-F6A0-8A6F07803033}"/>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6E716230-6606-BE33-806B-C269850011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pPr>
              <a:lnSpc>
                <a:spcPct val="150000"/>
              </a:lnSpc>
            </a:pPr>
            <a:r>
              <a:rPr lang="en-US" altLang="zh-CN" b="0" i="0" dirty="0">
                <a:solidFill>
                  <a:srgbClr val="000000"/>
                </a:solidFill>
                <a:effectLst/>
                <a:latin typeface="Helvetica Neue"/>
              </a:rPr>
              <a:t>Pairs Plot</a:t>
            </a:r>
            <a:r>
              <a:rPr lang="zh-CN" altLang="en-US" b="0" i="0" dirty="0">
                <a:solidFill>
                  <a:srgbClr val="000000"/>
                </a:solidFill>
                <a:effectLst/>
                <a:latin typeface="Helvetica Neue"/>
              </a:rPr>
              <a:t>是一次检查多个变量的好方法，因为它显示了对角线上的变量对和单个变量直方图之间的散点图。</a:t>
            </a:r>
            <a:endParaRPr lang="zh-CN" altLang="en-US" dirty="0"/>
          </a:p>
          <a:p>
            <a:endParaRPr lang="zh-CN" altLang="en-US" dirty="0"/>
          </a:p>
        </p:txBody>
      </p:sp>
      <p:sp>
        <p:nvSpPr>
          <p:cNvPr id="45060" name="灯片编号占位符 3">
            <a:extLst>
              <a:ext uri="{FF2B5EF4-FFF2-40B4-BE49-F238E27FC236}">
                <a16:creationId xmlns:a16="http://schemas.microsoft.com/office/drawing/2014/main" id="{B8BB4823-9AC7-05B4-74C9-149D3AB6289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17</a:t>
            </a:fld>
            <a:endParaRPr lang="en-US" altLang="zh-CN">
              <a:latin typeface="Calibri" panose="020F0502020204030204" pitchFamily="34" charset="0"/>
            </a:endParaRPr>
          </a:p>
        </p:txBody>
      </p:sp>
    </p:spTree>
    <p:extLst>
      <p:ext uri="{BB962C8B-B14F-4D97-AF65-F5344CB8AC3E}">
        <p14:creationId xmlns:p14="http://schemas.microsoft.com/office/powerpoint/2010/main" val="3384198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mc:AlternateContent xmlns:mc="http://schemas.openxmlformats.org/markup-compatibility/2006" xmlns:a14="http://schemas.microsoft.com/office/drawing/2010/main">
        <mc:Choice Requires="a14">
          <p:sp>
            <p:nvSpPr>
              <p:cNvPr id="45059" name="备注占位符 2"/>
              <p:cNvSpPr>
                <a:spLocks noGrp="1"/>
              </p:cNvSpPr>
              <p:nvPr>
                <p:ph type="body" idx="1"/>
              </p:nvPr>
            </p:nvSpPr>
            <p:spPr bwMode="auto">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numCol="1" anchor="t" anchorCtr="0" compatLnSpc="1">
                <a:normAutofit fontScale="25000" lnSpcReduction="20000"/>
              </a:bodyPr>
              <a:lstStyle/>
              <a:p>
                <a:r>
                  <a:rPr lang="zh-CN" altLang="en-US" dirty="0"/>
                  <a:t>数据预处理过程能保证我们拿到干净整齐准确的数据，但这些数据未必对于建模是最有效的，下一步我们通常会进行特征工程，结合业务场景产生衍生变量来提升数据表达能力和模型建模效果。</a:t>
                </a:r>
                <a:endParaRPr lang="en-US" altLang="zh-CN" dirty="0"/>
              </a:p>
              <a:p>
                <a:r>
                  <a:rPr lang="en-US" altLang="zh-CN" dirty="0"/>
                  <a:t>.</a:t>
                </a:r>
              </a:p>
              <a:p>
                <a:r>
                  <a:rPr lang="zh-CN" altLang="en-US" dirty="0"/>
                  <a:t>特征工程是将原始数据转化为高质量特征的过程，直接影响模型性能和可解释性</a:t>
                </a:r>
                <a:endParaRPr lang="en-US" altLang="zh-CN" dirty="0"/>
              </a:p>
              <a:p>
                <a:pPr algn="l">
                  <a:lnSpc>
                    <a:spcPct val="150000"/>
                  </a:lnSpc>
                  <a:buFont typeface="Arial" panose="020B0604020202020204" pitchFamily="34" charset="0"/>
                  <a:buNone/>
                </a:pPr>
                <a:r>
                  <a:rPr lang="zh-CN" altLang="en-US" b="1" i="0" dirty="0">
                    <a:effectLst/>
                    <a:latin typeface="Helvetica Neue"/>
                  </a:rPr>
                  <a:t>特征工程</a:t>
                </a:r>
                <a:r>
                  <a:rPr lang="en-US" altLang="zh-CN" b="0" i="0" dirty="0">
                    <a:effectLst/>
                    <a:latin typeface="Helvetica Neue"/>
                  </a:rPr>
                  <a:t>: </a:t>
                </a:r>
                <a:r>
                  <a:rPr lang="zh-CN" altLang="en-US" b="0" i="0" dirty="0">
                    <a:effectLst/>
                    <a:latin typeface="Helvetica Neue"/>
                  </a:rPr>
                  <a:t>获取原始数据并提取或创建新特征的过程。这可能意味着需要对变量进行变换，例如自然对数和平方根，或者对分类变量进行</a:t>
                </a:r>
                <a:r>
                  <a:rPr lang="en-US" altLang="zh-CN" b="0" i="0" dirty="0">
                    <a:effectLst/>
                    <a:latin typeface="Helvetica Neue"/>
                  </a:rPr>
                  <a:t>one-hot</a:t>
                </a:r>
                <a:r>
                  <a:rPr lang="zh-CN" altLang="en-US" b="0" i="0" dirty="0">
                    <a:effectLst/>
                    <a:latin typeface="Helvetica Neue"/>
                  </a:rPr>
                  <a:t>编码，以便它们可以在模型中使用。 一般来说，我认为特征工程是从原始数据创建附加特征。</a:t>
                </a:r>
                <a:endParaRPr lang="en-US" altLang="zh-CN" b="0" i="0" dirty="0">
                  <a:effectLst/>
                  <a:latin typeface="Helvetica Neue"/>
                </a:endParaRPr>
              </a:p>
              <a:p>
                <a:pPr algn="l">
                  <a:lnSpc>
                    <a:spcPct val="150000"/>
                  </a:lnSpc>
                  <a:buFont typeface="Arial" panose="020B0604020202020204" pitchFamily="34" charset="0"/>
                  <a:buNone/>
                </a:pPr>
                <a:endParaRPr lang="en-US" altLang="zh-CN" b="0" i="0" dirty="0">
                  <a:effectLst/>
                  <a:latin typeface="Helvetica Neue"/>
                </a:endParaRPr>
              </a:p>
              <a:p>
                <a:pPr marL="0" marR="0" lvl="0" indent="0" algn="l" defTabSz="914400" rtl="0" eaLnBrk="0" fontAlgn="base" latinLnBrk="0" hangingPunct="0">
                  <a:lnSpc>
                    <a:spcPct val="150000"/>
                  </a:lnSpc>
                  <a:spcBef>
                    <a:spcPct val="30000"/>
                  </a:spcBef>
                  <a:spcAft>
                    <a:spcPct val="0"/>
                  </a:spcAft>
                  <a:buClrTx/>
                  <a:buSzTx/>
                  <a:buFont typeface="Arial" panose="020B0604020202020204" pitchFamily="34" charset="0"/>
                  <a:buChar char="•"/>
                  <a:tabLst/>
                  <a:defRPr/>
                </a:pPr>
                <a:r>
                  <a:rPr lang="zh-CN" altLang="en-US" b="1" dirty="0">
                    <a:latin typeface="微软雅黑" panose="020B0503020204020204" pitchFamily="34" charset="-122"/>
                    <a:ea typeface="微软雅黑" panose="020B0503020204020204" pitchFamily="34" charset="-122"/>
                  </a:rPr>
                  <a:t>特征构建：是指从原始数据中人工的找出一些具有物理意义的特征。</a:t>
                </a:r>
                <a:endParaRPr lang="zh-CN" altLang="en-US" b="0" i="0" dirty="0">
                  <a:effectLst/>
                  <a:latin typeface="Helvetica Neue"/>
                </a:endParaRPr>
              </a:p>
              <a:p>
                <a:pPr algn="l">
                  <a:lnSpc>
                    <a:spcPct val="150000"/>
                  </a:lnSpc>
                  <a:buFont typeface="Arial" panose="020B0604020202020204" pitchFamily="34" charset="0"/>
                  <a:buChar char="•"/>
                </a:pPr>
                <a:r>
                  <a:rPr lang="zh-CN" altLang="en-US" b="1" i="0" dirty="0">
                    <a:effectLst/>
                    <a:latin typeface="Helvetica Neue"/>
                  </a:rPr>
                  <a:t>特征选择</a:t>
                </a:r>
                <a:r>
                  <a:rPr lang="en-US" altLang="zh-CN" b="0" i="0" dirty="0">
                    <a:effectLst/>
                    <a:latin typeface="Helvetica Neue"/>
                  </a:rPr>
                  <a:t>: </a:t>
                </a:r>
                <a:r>
                  <a:rPr lang="zh-CN" altLang="en-US" b="0" i="0" dirty="0">
                    <a:effectLst/>
                    <a:latin typeface="Helvetica Neue"/>
                  </a:rPr>
                  <a:t>选择数据中最相关的特征的过程。在特征选择中，我们删除特征以帮助模型更好地总结新数据并创建更具可解释性的模型。一般来说，特征选择是减去特征，所以我们只留下那些最重要的特征。特征选择主要有两个功能：</a:t>
                </a:r>
              </a:p>
              <a:p>
                <a:pPr algn="l">
                  <a:lnSpc>
                    <a:spcPct val="150000"/>
                  </a:lnSpc>
                  <a:buFont typeface="Arial" panose="020B0604020202020204" pitchFamily="34" charset="0"/>
                  <a:buChar char="•"/>
                </a:pPr>
                <a:r>
                  <a:rPr lang="zh-CN" altLang="en-US" b="0" i="0" dirty="0">
                    <a:effectLst/>
                    <a:latin typeface="Helvetica Neue"/>
                  </a:rPr>
                  <a:t>减少特征数量、降维，使模型泛化能力更强，减少过拟合</a:t>
                </a:r>
              </a:p>
              <a:p>
                <a:pPr algn="l">
                  <a:lnSpc>
                    <a:spcPct val="150000"/>
                  </a:lnSpc>
                  <a:buFont typeface="Arial" panose="020B0604020202020204" pitchFamily="34" charset="0"/>
                  <a:buChar char="•"/>
                </a:pPr>
                <a:r>
                  <a:rPr lang="zh-CN" altLang="en-US" b="0" i="0" dirty="0">
                    <a:effectLst/>
                    <a:latin typeface="Helvetica Neue"/>
                  </a:rPr>
                  <a:t>增强对特征和特征值之间的理解</a:t>
                </a:r>
                <a:endParaRPr lang="en-US" altLang="zh-CN" b="0" i="0" dirty="0">
                  <a:effectLst/>
                  <a:latin typeface="Helvetica Neue"/>
                </a:endParaRPr>
              </a:p>
              <a:p>
                <a:pPr algn="l">
                  <a:lnSpc>
                    <a:spcPct val="150000"/>
                  </a:lnSpc>
                  <a:buFont typeface="Arial" panose="020B0604020202020204" pitchFamily="34" charset="0"/>
                  <a:buChar char="•"/>
                </a:pPr>
                <a:endParaRPr lang="en-US" altLang="zh-CN" b="0" i="0" dirty="0">
                  <a:effectLst/>
                  <a:latin typeface="Helvetica Neue"/>
                </a:endParaRPr>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14:m>
                  <m:oMath xmlns:m="http://schemas.openxmlformats.org/officeDocument/2006/math">
                    <m:sSup>
                      <m:sSupPr>
                        <m:ctrlPr>
                          <a:rPr lang="zh-CN" altLang="en-US" sz="1200" i="1" smtClean="0">
                            <a:latin typeface="Cambria Math" panose="02040503050406030204" pitchFamily="18" charset="0"/>
                          </a:rPr>
                        </m:ctrlPr>
                      </m:sSupPr>
                      <m:e>
                        <m:r>
                          <m:rPr>
                            <m:nor/>
                          </m:rPr>
                          <a:rPr lang="en-US" altLang="zh-CN" b="1" dirty="0" smtClean="0">
                            <a:latin typeface="宋体" panose="02010600030101010101" pitchFamily="2" charset="-122"/>
                            <a:cs typeface="Times New Roman" panose="02020603050405020304" pitchFamily="18" charset="0"/>
                          </a:rPr>
                          <m:t>归一化（最大</m:t>
                        </m:r>
                        <m:r>
                          <m:rPr>
                            <m:nor/>
                          </m:rPr>
                          <a:rPr lang="en-US" altLang="zh-CN" b="1" dirty="0" smtClean="0">
                            <a:latin typeface="Cambria" panose="02040503050406030204" pitchFamily="18" charset="0"/>
                            <a:ea typeface="+mn-ea"/>
                            <a:cs typeface="Times New Roman" panose="02020603050405020304" pitchFamily="18" charset="0"/>
                          </a:rPr>
                          <m:t> − </m:t>
                        </m:r>
                        <m:r>
                          <m:rPr>
                            <m:nor/>
                          </m:rPr>
                          <a:rPr lang="en-US" altLang="zh-CN" b="1" dirty="0" smtClean="0">
                            <a:latin typeface="宋体" panose="02010600030101010101" pitchFamily="2" charset="-122"/>
                            <a:cs typeface="Times New Roman" panose="02020603050405020304" pitchFamily="18" charset="0"/>
                          </a:rPr>
                          <m:t>最小规范化）</m:t>
                        </m:r>
                        <m:r>
                          <m:rPr>
                            <m:nor/>
                          </m:rPr>
                          <a:rPr lang="zh-CN" altLang="en-US" b="1" dirty="0" smtClean="0"/>
                          <m:t> </m:t>
                        </m:r>
                        <m:r>
                          <a:rPr lang="zh-CN" altLang="en-US" sz="1200" i="1">
                            <a:latin typeface="Cambria Math" panose="02040503050406030204" pitchFamily="18" charset="0"/>
                          </a:rPr>
                          <m:t>𝑥</m:t>
                        </m:r>
                      </m:e>
                      <m:sup>
                        <m:r>
                          <a:rPr lang="zh-CN" altLang="en-US" sz="1200" i="0">
                            <a:latin typeface="Cambria Math" panose="02040503050406030204" pitchFamily="18" charset="0"/>
                          </a:rPr>
                          <m:t>∗</m:t>
                        </m:r>
                      </m:sup>
                    </m:sSup>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𝑥</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m:rPr>
                                <m:sty m:val="p"/>
                              </m:rPr>
                              <a:rPr lang="zh-CN" altLang="en-US" sz="1200" i="0">
                                <a:latin typeface="Cambria Math" panose="02040503050406030204" pitchFamily="18" charset="0"/>
                              </a:rPr>
                              <m:t>min</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m:rPr>
                                <m:sty m:val="p"/>
                              </m:rPr>
                              <a:rPr lang="zh-CN" altLang="en-US" sz="1200" i="0">
                                <a:latin typeface="Cambria Math" panose="02040503050406030204" pitchFamily="18" charset="0"/>
                              </a:rPr>
                              <m:t>max</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m:rPr>
                                <m:sty m:val="p"/>
                              </m:rPr>
                              <a:rPr lang="zh-CN" altLang="en-US" sz="1200" i="0">
                                <a:latin typeface="Cambria Math" panose="02040503050406030204" pitchFamily="18" charset="0"/>
                              </a:rPr>
                              <m:t>min</m:t>
                            </m:r>
                          </m:sub>
                        </m:sSub>
                      </m:den>
                    </m:f>
                  </m:oMath>
                </a14:m>
                <a:r>
                  <a:rPr lang="en-US" altLang="zh-CN" sz="1200" dirty="0">
                    <a:latin typeface="宋体" panose="02010600030101010101" pitchFamily="2" charset="-122"/>
                    <a:cs typeface="Times New Roman" panose="02020603050405020304" pitchFamily="18" charset="0"/>
                  </a:rPr>
                  <a:t>将数据映射到</a:t>
                </a:r>
                <a:r>
                  <a:rPr lang="en-US" altLang="zh-CN" sz="1200" dirty="0">
                    <a:latin typeface="Cambria" panose="02040503050406030204" pitchFamily="18" charset="0"/>
                    <a:ea typeface="+mn-ea"/>
                    <a:cs typeface="Times New Roman" panose="02020603050405020304" pitchFamily="18" charset="0"/>
                  </a:rPr>
                  <a:t>[0,1]</a:t>
                </a:r>
                <a:r>
                  <a:rPr lang="en-US" altLang="zh-CN" sz="1200" dirty="0" err="1">
                    <a:latin typeface="宋体" panose="02010600030101010101" pitchFamily="2" charset="-122"/>
                    <a:cs typeface="Times New Roman" panose="02020603050405020304" pitchFamily="18" charset="0"/>
                  </a:rPr>
                  <a:t>区间</a:t>
                </a:r>
                <a:endParaRPr lang="zh-CN"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latin typeface="+mj-ea"/>
                    <a:ea typeface="+mj-ea"/>
                    <a:cs typeface="Times New Roman" panose="02020603050405020304" pitchFamily="18" charset="0"/>
                  </a:rPr>
                  <a:t>Z-Score</a:t>
                </a:r>
                <a:r>
                  <a:rPr lang="zh-CN" altLang="zh-CN" b="1" dirty="0">
                    <a:latin typeface="+mj-ea"/>
                    <a:ea typeface="+mj-ea"/>
                    <a:cs typeface="Times New Roman" panose="02020603050405020304" pitchFamily="18" charset="0"/>
                  </a:rPr>
                  <a:t>标准化</a:t>
                </a:r>
                <a14:m>
                  <m:oMath xmlns:m="http://schemas.openxmlformats.org/officeDocument/2006/math">
                    <m:sSup>
                      <m:sSupPr>
                        <m:ctrlPr>
                          <a:rPr lang="zh-CN" altLang="en-US" sz="1200" i="1" smtClean="0">
                            <a:latin typeface="Cambria Math" panose="02040503050406030204" pitchFamily="18" charset="0"/>
                          </a:rPr>
                        </m:ctrlPr>
                      </m:sSupPr>
                      <m:e>
                        <m:r>
                          <a:rPr lang="zh-CN" altLang="en-US" sz="1200" i="1">
                            <a:latin typeface="Cambria Math" panose="02040503050406030204" pitchFamily="18" charset="0"/>
                          </a:rPr>
                          <m:t>𝑥</m:t>
                        </m:r>
                      </m:e>
                      <m:sup>
                        <m:r>
                          <a:rPr lang="zh-CN" altLang="en-US" sz="1200" i="0">
                            <a:latin typeface="Cambria Math" panose="02040503050406030204" pitchFamily="18" charset="0"/>
                          </a:rPr>
                          <m:t>∗</m:t>
                        </m:r>
                      </m:sup>
                    </m:sSup>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𝑥</m:t>
                        </m:r>
                        <m:r>
                          <a:rPr lang="zh-CN" altLang="en-US" sz="1200" i="0">
                            <a:latin typeface="Cambria Math" panose="02040503050406030204" pitchFamily="18" charset="0"/>
                          </a:rPr>
                          <m:t>−</m:t>
                        </m:r>
                        <m:r>
                          <a:rPr lang="zh-CN" altLang="en-US" sz="1200" i="1">
                            <a:latin typeface="Cambria Math" panose="02040503050406030204" pitchFamily="18" charset="0"/>
                          </a:rPr>
                          <m:t>𝜇</m:t>
                        </m:r>
                      </m:num>
                      <m:den>
                        <m:r>
                          <a:rPr lang="zh-CN" altLang="en-US" sz="1200" i="1">
                            <a:latin typeface="Cambria Math" panose="02040503050406030204" pitchFamily="18" charset="0"/>
                          </a:rPr>
                          <m:t>𝜎</m:t>
                        </m:r>
                      </m:den>
                    </m:f>
                  </m:oMath>
                </a14:m>
                <a:r>
                  <a:rPr lang="zh-CN" altLang="en-US" sz="1200" dirty="0"/>
                  <a:t>，</a:t>
                </a:r>
                <a14:m>
                  <m:oMath xmlns:m="http://schemas.openxmlformats.org/officeDocument/2006/math">
                    <m:sSup>
                      <m:sSupPr>
                        <m:ctrlPr>
                          <a:rPr lang="zh-CN" altLang="en-US" sz="1200" i="1" smtClean="0">
                            <a:latin typeface="Cambria Math" panose="02040503050406030204" pitchFamily="18" charset="0"/>
                          </a:rPr>
                        </m:ctrlPr>
                      </m:sSupPr>
                      <m:e>
                        <m:r>
                          <a:rPr lang="zh-CN" altLang="en-US" sz="1200" i="1">
                            <a:latin typeface="Cambria Math" panose="02040503050406030204" pitchFamily="18" charset="0"/>
                          </a:rPr>
                          <m:t>𝜎</m:t>
                        </m:r>
                      </m:e>
                      <m:sup>
                        <m:r>
                          <a:rPr lang="zh-CN" altLang="en-US" sz="1200" i="0">
                            <a:latin typeface="Cambria Math" panose="02040503050406030204" pitchFamily="18" charset="0"/>
                          </a:rPr>
                          <m:t>2</m:t>
                        </m:r>
                      </m:sup>
                    </m:sSup>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1">
                            <a:latin typeface="Cambria Math" panose="02040503050406030204" pitchFamily="18" charset="0"/>
                          </a:rPr>
                          <m:t>𝑚</m:t>
                        </m:r>
                      </m:den>
                    </m:f>
                    <m:nary>
                      <m:naryPr>
                        <m:chr m:val="∑"/>
                        <m:limLoc m:val="undOvr"/>
                        <m:ctrlPr>
                          <a:rPr lang="zh-CN" altLang="en-US" sz="1200" i="1">
                            <a:latin typeface="Cambria Math" panose="02040503050406030204" pitchFamily="18" charset="0"/>
                          </a:rPr>
                        </m:ctrlPr>
                      </m:nary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𝑚</m:t>
                        </m:r>
                      </m:sup>
                      <m:e>
                        <m:r>
                          <a:rPr lang="en-US" altLang="zh-CN" sz="1200" b="0" i="1" smtClean="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𝑥</m:t>
                            </m:r>
                          </m:e>
                          <m:sup>
                            <m:d>
                              <m:dPr>
                                <m:ctrlPr>
                                  <a:rPr lang="zh-CN" altLang="en-US" sz="1200" i="1">
                                    <a:latin typeface="Cambria Math" panose="02040503050406030204" pitchFamily="18" charset="0"/>
                                  </a:rPr>
                                </m:ctrlPr>
                              </m:dPr>
                              <m:e>
                                <m:r>
                                  <a:rPr lang="zh-CN" altLang="en-US" sz="1200" i="1">
                                    <a:latin typeface="Cambria Math" panose="02040503050406030204" pitchFamily="18" charset="0"/>
                                  </a:rPr>
                                  <m:t>𝑖</m:t>
                                </m:r>
                              </m:e>
                            </m:d>
                          </m:sup>
                        </m:sSup>
                        <m:sSup>
                          <m:sSupPr>
                            <m:ctrlPr>
                              <a:rPr lang="zh-CN" altLang="en-US" sz="1200" i="1">
                                <a:latin typeface="Cambria Math" panose="02040503050406030204" pitchFamily="18" charset="0"/>
                              </a:rPr>
                            </m:ctrlPr>
                          </m:sSupPr>
                          <m:e>
                            <m:r>
                              <a:rPr lang="en-US" altLang="zh-CN" sz="1200" i="1">
                                <a:latin typeface="Cambria Math" panose="02040503050406030204" pitchFamily="18" charset="0"/>
                              </a:rPr>
                              <m:t>−</m:t>
                            </m:r>
                            <m:r>
                              <a:rPr lang="zh-CN" altLang="en-US" sz="1200" i="1">
                                <a:latin typeface="Cambria Math" panose="02040503050406030204" pitchFamily="18" charset="0"/>
                              </a:rPr>
                              <m:t>𝜇</m:t>
                            </m:r>
                            <m:r>
                              <a:rPr lang="en-US" altLang="zh-CN" sz="1200" b="0" i="1" smtClean="0">
                                <a:latin typeface="Cambria Math" panose="02040503050406030204" pitchFamily="18" charset="0"/>
                              </a:rPr>
                              <m:t>)</m:t>
                            </m:r>
                          </m:e>
                          <m:sup>
                            <m:r>
                              <a:rPr lang="zh-CN" altLang="en-US" sz="1200">
                                <a:latin typeface="Cambria Math" panose="02040503050406030204" pitchFamily="18" charset="0"/>
                              </a:rPr>
                              <m:t>2</m:t>
                            </m:r>
                          </m:sup>
                        </m:sSup>
                      </m:e>
                    </m:nary>
                  </m:oMath>
                </a14:m>
                <a:r>
                  <a:rPr lang="zh-CN" altLang="en-US" sz="1200" dirty="0"/>
                  <a:t>，</a:t>
                </a:r>
                <a14:m>
                  <m:oMath xmlns:m="http://schemas.openxmlformats.org/officeDocument/2006/math">
                    <m:r>
                      <a:rPr lang="zh-CN" altLang="en-US" sz="1200" i="1" smtClean="0">
                        <a:latin typeface="Cambria Math" panose="02040503050406030204" pitchFamily="18" charset="0"/>
                      </a:rPr>
                      <m:t>𝜇</m:t>
                    </m:r>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1">
                            <a:latin typeface="Cambria Math" panose="02040503050406030204" pitchFamily="18" charset="0"/>
                          </a:rPr>
                          <m:t>𝑚</m:t>
                        </m:r>
                      </m:den>
                    </m:f>
                    <m:nary>
                      <m:naryPr>
                        <m:chr m:val="∑"/>
                        <m:limLoc m:val="undOvr"/>
                        <m:ctrlPr>
                          <a:rPr lang="zh-CN" altLang="en-US" sz="1200" i="1">
                            <a:latin typeface="Cambria Math" panose="02040503050406030204" pitchFamily="18" charset="0"/>
                          </a:rPr>
                        </m:ctrlPr>
                      </m:nary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𝑚</m:t>
                        </m:r>
                      </m:sup>
                      <m:e>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𝑥</m:t>
                            </m:r>
                          </m:e>
                          <m:sup>
                            <m:d>
                              <m:dPr>
                                <m:ctrlPr>
                                  <a:rPr lang="zh-CN" altLang="en-US" sz="1200" i="1">
                                    <a:latin typeface="Cambria Math" panose="02040503050406030204" pitchFamily="18" charset="0"/>
                                  </a:rPr>
                                </m:ctrlPr>
                              </m:dPr>
                              <m:e>
                                <m:r>
                                  <a:rPr lang="zh-CN" altLang="en-US" sz="1200" i="1">
                                    <a:latin typeface="Cambria Math" panose="02040503050406030204" pitchFamily="18" charset="0"/>
                                  </a:rPr>
                                  <m:t>𝑖</m:t>
                                </m:r>
                              </m:e>
                            </m:d>
                          </m:sup>
                        </m:sSup>
                      </m:e>
                    </m:nary>
                  </m:oMath>
                </a14:m>
                <a:endParaRPr lang="zh-CN"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b="1" dirty="0">
                  <a:latin typeface="+mj-ea"/>
                  <a:ea typeface="+mj-ea"/>
                </a:endParaRPr>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FF0000"/>
                    </a:solidFill>
                    <a:latin typeface="Optima-Regular"/>
                  </a:rPr>
                  <a:t>为什么要标准化</a:t>
                </a:r>
                <a:r>
                  <a:rPr lang="en-US" altLang="zh-CN" b="1" dirty="0">
                    <a:solidFill>
                      <a:srgbClr val="FF0000"/>
                    </a:solidFill>
                    <a:latin typeface="Optima-Regular"/>
                  </a:rPr>
                  <a:t>/</a:t>
                </a:r>
                <a:r>
                  <a:rPr lang="zh-CN" altLang="en-US" b="1" dirty="0">
                    <a:solidFill>
                      <a:srgbClr val="FF0000"/>
                    </a:solidFill>
                    <a:latin typeface="Optima-Regular"/>
                  </a:rPr>
                  <a:t>归一化？</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000000"/>
                    </a:solidFill>
                    <a:latin typeface="Optima-Regular"/>
                  </a:rPr>
                  <a:t>提升模型精度</a:t>
                </a:r>
                <a:r>
                  <a:rPr lang="zh-CN" altLang="en-US" dirty="0">
                    <a:solidFill>
                      <a:srgbClr val="000000"/>
                    </a:solidFill>
                    <a:latin typeface="Optima-Regular"/>
                  </a:rPr>
                  <a:t>：不同维度之间的特征在数值上有一定比较性，可以大大提高分类器的准确性。</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000000"/>
                    </a:solidFill>
                    <a:latin typeface="Optima-Regular"/>
                  </a:rPr>
                  <a:t>加速模型收敛</a:t>
                </a:r>
                <a:r>
                  <a:rPr lang="zh-CN" altLang="en-US" dirty="0">
                    <a:solidFill>
                      <a:srgbClr val="000000"/>
                    </a:solidFill>
                    <a:latin typeface="Optima-Regular"/>
                  </a:rPr>
                  <a:t>：最优解的寻优过程明显会变得平缓，更容易正确的收敛到最优解。</a:t>
                </a:r>
              </a:p>
              <a:p>
                <a:endParaRPr lang="en-US" altLang="zh-CN" dirty="0"/>
              </a:p>
              <a:p>
                <a:pPr>
                  <a:spcBef>
                    <a:spcPts val="900"/>
                  </a:spcBef>
                  <a:spcAft>
                    <a:spcPts val="900"/>
                  </a:spcAft>
                </a:pPr>
                <a:r>
                  <a:rPr lang="zh-CN" altLang="en-US" b="1" dirty="0">
                    <a:latin typeface="+mj-ea"/>
                    <a:ea typeface="+mj-ea"/>
                    <a:cs typeface="Times New Roman" panose="02020603050405020304" pitchFamily="18" charset="0"/>
                  </a:rPr>
                  <a:t>需要做数据归一化</a:t>
                </a:r>
                <a:r>
                  <a:rPr lang="en-US" altLang="zh-CN" b="1" dirty="0">
                    <a:latin typeface="+mj-ea"/>
                    <a:ea typeface="+mj-ea"/>
                    <a:cs typeface="Times New Roman" panose="02020603050405020304" pitchFamily="18" charset="0"/>
                  </a:rPr>
                  <a:t>/</a:t>
                </a:r>
                <a:r>
                  <a:rPr lang="zh-CN" altLang="en-US" b="1" dirty="0">
                    <a:latin typeface="+mj-ea"/>
                    <a:ea typeface="+mj-ea"/>
                    <a:cs typeface="Times New Roman" panose="02020603050405020304" pitchFamily="18" charset="0"/>
                  </a:rPr>
                  <a:t>标准化</a:t>
                </a:r>
                <a:endParaRPr lang="en-US" altLang="zh-CN" b="1" dirty="0">
                  <a:latin typeface="+mj-ea"/>
                  <a:ea typeface="+mj-ea"/>
                  <a:cs typeface="Times New Roman" panose="02020603050405020304" pitchFamily="18" charset="0"/>
                </a:endParaRPr>
              </a:p>
              <a:p>
                <a:pPr>
                  <a:spcBef>
                    <a:spcPts val="900"/>
                  </a:spcBef>
                  <a:spcAft>
                    <a:spcPts val="900"/>
                  </a:spcAft>
                </a:pPr>
                <a:r>
                  <a:rPr lang="zh-CN" altLang="en-US" dirty="0">
                    <a:latin typeface="+mj-ea"/>
                    <a:ea typeface="+mj-ea"/>
                    <a:cs typeface="Times New Roman" panose="02020603050405020304" pitchFamily="18" charset="0"/>
                  </a:rPr>
                  <a:t>线性模型，如</a:t>
                </a:r>
                <a:r>
                  <a:rPr lang="zh-CN" altLang="zh-CN" dirty="0">
                    <a:latin typeface="+mj-ea"/>
                    <a:ea typeface="+mj-ea"/>
                    <a:cs typeface="Times New Roman" panose="02020603050405020304" pitchFamily="18" charset="0"/>
                  </a:rPr>
                  <a:t>基于距离度量的模型包括</a:t>
                </a:r>
                <a:r>
                  <a:rPr lang="en-US" altLang="zh-CN" dirty="0">
                    <a:latin typeface="+mj-ea"/>
                    <a:ea typeface="+mj-ea"/>
                    <a:cs typeface="Times New Roman" panose="02020603050405020304" pitchFamily="18" charset="0"/>
                  </a:rPr>
                  <a:t>KNN(K</a:t>
                </a:r>
                <a:r>
                  <a:rPr lang="zh-CN" altLang="zh-CN" dirty="0">
                    <a:latin typeface="+mj-ea"/>
                    <a:ea typeface="+mj-ea"/>
                    <a:cs typeface="Times New Roman" panose="02020603050405020304" pitchFamily="18" charset="0"/>
                  </a:rPr>
                  <a:t>近邻</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K-means</a:t>
                </a:r>
                <a:r>
                  <a:rPr lang="zh-CN" altLang="zh-CN" dirty="0">
                    <a:latin typeface="+mj-ea"/>
                    <a:ea typeface="+mj-ea"/>
                    <a:cs typeface="Times New Roman" panose="02020603050405020304" pitchFamily="18" charset="0"/>
                  </a:rPr>
                  <a:t>聚类、感知机和</a:t>
                </a:r>
                <a:r>
                  <a:rPr lang="en-US" altLang="zh-CN" dirty="0">
                    <a:latin typeface="+mj-ea"/>
                    <a:ea typeface="+mj-ea"/>
                    <a:cs typeface="Times New Roman" panose="02020603050405020304" pitchFamily="18" charset="0"/>
                  </a:rPr>
                  <a:t>SVM</a:t>
                </a:r>
                <a:r>
                  <a:rPr lang="zh-CN" altLang="en-US" dirty="0">
                    <a:latin typeface="+mj-ea"/>
                    <a:ea typeface="+mj-ea"/>
                    <a:cs typeface="Times New Roman" panose="02020603050405020304" pitchFamily="18" charset="0"/>
                  </a:rPr>
                  <a:t>、神经网络</a:t>
                </a:r>
                <a:r>
                  <a:rPr lang="zh-CN" altLang="zh-CN" dirty="0">
                    <a:latin typeface="+mj-ea"/>
                    <a:ea typeface="+mj-ea"/>
                    <a:cs typeface="Times New Roman" panose="02020603050405020304" pitchFamily="18" charset="0"/>
                  </a:rPr>
                  <a:t>。另外，线性回归类的几个模型一般情况下也是</a:t>
                </a:r>
                <a:r>
                  <a:rPr lang="zh-CN" altLang="zh-CN" dirty="0">
                    <a:solidFill>
                      <a:srgbClr val="FF0000"/>
                    </a:solidFill>
                    <a:latin typeface="+mj-ea"/>
                    <a:ea typeface="+mj-ea"/>
                    <a:cs typeface="Times New Roman" panose="02020603050405020304" pitchFamily="18" charset="0"/>
                  </a:rPr>
                  <a:t>需要</a:t>
                </a:r>
                <a:r>
                  <a:rPr lang="zh-CN" altLang="zh-CN" dirty="0">
                    <a:latin typeface="+mj-ea"/>
                    <a:ea typeface="+mj-ea"/>
                    <a:cs typeface="Times New Roman" panose="02020603050405020304" pitchFamily="18" charset="0"/>
                  </a:rPr>
                  <a:t>做数据</a:t>
                </a:r>
                <a:r>
                  <a:rPr lang="zh-CN" altLang="en-US" dirty="0">
                    <a:latin typeface="+mj-ea"/>
                    <a:ea typeface="+mj-ea"/>
                    <a:cs typeface="Times New Roman" panose="02020603050405020304" pitchFamily="18" charset="0"/>
                  </a:rPr>
                  <a:t>归一化</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标准化处理的。</a:t>
                </a:r>
                <a:endParaRPr lang="en-US" altLang="zh-CN" dirty="0">
                  <a:latin typeface="+mj-ea"/>
                  <a:ea typeface="+mj-ea"/>
                  <a:cs typeface="Times New Roman" panose="02020603050405020304" pitchFamily="18" charset="0"/>
                </a:endParaRPr>
              </a:p>
              <a:p>
                <a:pPr>
                  <a:spcBef>
                    <a:spcPts val="900"/>
                  </a:spcBef>
                  <a:spcAft>
                    <a:spcPts val="900"/>
                  </a:spcAft>
                </a:pPr>
                <a:r>
                  <a:rPr lang="zh-CN" altLang="en-US" b="1" dirty="0">
                    <a:latin typeface="+mj-ea"/>
                    <a:cs typeface="Times New Roman" panose="02020603050405020304" pitchFamily="18" charset="0"/>
                  </a:rPr>
                  <a:t>不需要做数据归一化</a:t>
                </a:r>
                <a:r>
                  <a:rPr lang="en-US" altLang="zh-CN" b="1" dirty="0">
                    <a:latin typeface="+mj-ea"/>
                    <a:cs typeface="Times New Roman" panose="02020603050405020304" pitchFamily="18" charset="0"/>
                  </a:rPr>
                  <a:t>/</a:t>
                </a:r>
                <a:r>
                  <a:rPr lang="zh-CN" altLang="en-US" b="1" dirty="0">
                    <a:latin typeface="+mj-ea"/>
                    <a:cs typeface="Times New Roman" panose="02020603050405020304" pitchFamily="18" charset="0"/>
                  </a:rPr>
                  <a:t>标准化</a:t>
                </a:r>
                <a:endParaRPr lang="en-US" altLang="zh-CN" b="1" dirty="0">
                  <a:latin typeface="+mj-ea"/>
                  <a:cs typeface="Times New Roman" panose="02020603050405020304" pitchFamily="18" charset="0"/>
                </a:endParaRPr>
              </a:p>
              <a:p>
                <a:pPr>
                  <a:spcBef>
                    <a:spcPts val="900"/>
                  </a:spcBef>
                  <a:spcAft>
                    <a:spcPts val="900"/>
                  </a:spcAft>
                </a:pPr>
                <a:r>
                  <a:rPr lang="zh-CN" altLang="zh-CN" dirty="0">
                    <a:latin typeface="+mj-ea"/>
                    <a:ea typeface="+mj-ea"/>
                    <a:cs typeface="Times New Roman" panose="02020603050405020304" pitchFamily="18" charset="0"/>
                  </a:rPr>
                  <a:t>决策树、基于决策树的</a:t>
                </a:r>
                <a:r>
                  <a:rPr lang="en-US" altLang="zh-CN" dirty="0">
                    <a:latin typeface="+mj-ea"/>
                    <a:ea typeface="+mj-ea"/>
                    <a:cs typeface="Times New Roman" panose="02020603050405020304" pitchFamily="18" charset="0"/>
                  </a:rPr>
                  <a:t>Boosting</a:t>
                </a:r>
                <a:r>
                  <a:rPr lang="zh-CN" altLang="zh-CN" dirty="0">
                    <a:latin typeface="+mj-ea"/>
                    <a:ea typeface="+mj-ea"/>
                    <a:cs typeface="Times New Roman" panose="02020603050405020304" pitchFamily="18" charset="0"/>
                  </a:rPr>
                  <a:t>和</a:t>
                </a:r>
                <a:r>
                  <a:rPr lang="en-US" altLang="zh-CN" dirty="0">
                    <a:latin typeface="+mj-ea"/>
                    <a:ea typeface="+mj-ea"/>
                    <a:cs typeface="Times New Roman" panose="02020603050405020304" pitchFamily="18" charset="0"/>
                  </a:rPr>
                  <a:t>Bagging</a:t>
                </a:r>
                <a:r>
                  <a:rPr lang="zh-CN" altLang="zh-CN" dirty="0">
                    <a:latin typeface="+mj-ea"/>
                    <a:ea typeface="+mj-ea"/>
                    <a:cs typeface="Times New Roman" panose="02020603050405020304" pitchFamily="18" charset="0"/>
                  </a:rPr>
                  <a:t>等集成学习模型对于特征取值大小并不敏感</a:t>
                </a:r>
                <a:r>
                  <a:rPr lang="zh-CN" altLang="en-US" dirty="0">
                    <a:latin typeface="+mj-ea"/>
                    <a:ea typeface="+mj-ea"/>
                    <a:cs typeface="Times New Roman" panose="02020603050405020304" pitchFamily="18" charset="0"/>
                  </a:rPr>
                  <a:t>，如随机森林、</a:t>
                </a:r>
                <a:r>
                  <a:rPr lang="en-US" altLang="zh-CN" dirty="0" err="1">
                    <a:latin typeface="+mj-ea"/>
                    <a:ea typeface="+mj-ea"/>
                    <a:cs typeface="Times New Roman" panose="02020603050405020304" pitchFamily="18" charset="0"/>
                  </a:rPr>
                  <a:t>XGBoost</a:t>
                </a:r>
                <a:r>
                  <a:rPr lang="zh-CN" altLang="en-US" dirty="0">
                    <a:latin typeface="+mj-ea"/>
                    <a:ea typeface="+mj-ea"/>
                    <a:cs typeface="Times New Roman" panose="02020603050405020304" pitchFamily="18" charset="0"/>
                  </a:rPr>
                  <a:t>、</a:t>
                </a:r>
                <a:r>
                  <a:rPr lang="en-US" altLang="zh-CN" dirty="0" err="1">
                    <a:latin typeface="+mj-ea"/>
                    <a:ea typeface="+mj-ea"/>
                    <a:cs typeface="Times New Roman" panose="02020603050405020304" pitchFamily="18" charset="0"/>
                  </a:rPr>
                  <a:t>LightGBM</a:t>
                </a:r>
                <a:r>
                  <a:rPr lang="zh-CN" altLang="en-US" dirty="0">
                    <a:latin typeface="+mj-ea"/>
                    <a:ea typeface="+mj-ea"/>
                    <a:cs typeface="Times New Roman" panose="02020603050405020304" pitchFamily="18" charset="0"/>
                  </a:rPr>
                  <a:t>等树模型，以及朴素贝叶斯，以上这些</a:t>
                </a:r>
                <a:r>
                  <a:rPr lang="zh-CN" altLang="zh-CN" dirty="0">
                    <a:latin typeface="+mj-ea"/>
                    <a:ea typeface="+mj-ea"/>
                    <a:cs typeface="Times New Roman" panose="02020603050405020304" pitchFamily="18" charset="0"/>
                  </a:rPr>
                  <a:t>模型一般</a:t>
                </a:r>
                <a:r>
                  <a:rPr lang="zh-CN" altLang="zh-CN" dirty="0">
                    <a:solidFill>
                      <a:srgbClr val="FF0000"/>
                    </a:solidFill>
                    <a:latin typeface="+mj-ea"/>
                    <a:ea typeface="+mj-ea"/>
                    <a:cs typeface="Times New Roman" panose="02020603050405020304" pitchFamily="18" charset="0"/>
                  </a:rPr>
                  <a:t>不需要</a:t>
                </a:r>
                <a:r>
                  <a:rPr lang="zh-CN" altLang="zh-CN" dirty="0">
                    <a:latin typeface="+mj-ea"/>
                    <a:ea typeface="+mj-ea"/>
                    <a:cs typeface="Times New Roman" panose="02020603050405020304" pitchFamily="18" charset="0"/>
                  </a:rPr>
                  <a:t>做数据</a:t>
                </a:r>
                <a:r>
                  <a:rPr lang="zh-CN" altLang="en-US" dirty="0">
                    <a:latin typeface="+mj-ea"/>
                    <a:ea typeface="+mj-ea"/>
                    <a:cs typeface="Times New Roman" panose="02020603050405020304" pitchFamily="18" charset="0"/>
                  </a:rPr>
                  <a:t>归一化</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标准化处理。</a:t>
                </a:r>
              </a:p>
              <a:p>
                <a:pPr algn="l">
                  <a:lnSpc>
                    <a:spcPct val="150000"/>
                  </a:lnSpc>
                  <a:buFont typeface="Arial" panose="020B0604020202020204" pitchFamily="34" charset="0"/>
                  <a:buChar char="•"/>
                </a:pPr>
                <a:endParaRPr lang="zh-CN" altLang="en-US" b="0" i="0" dirty="0">
                  <a:effectLst/>
                  <a:latin typeface="Helvetica Neue"/>
                </a:endParaRPr>
              </a:p>
              <a:p>
                <a:pPr algn="l">
                  <a:lnSpc>
                    <a:spcPct val="150000"/>
                  </a:lnSpc>
                  <a:buFont typeface="Arial" panose="020B0604020202020204" pitchFamily="34" charset="0"/>
                  <a:buChar char="•"/>
                </a:pPr>
                <a:endParaRPr lang="zh-CN" altLang="en-US" b="0" i="0" dirty="0">
                  <a:effectLst/>
                  <a:latin typeface="Helvetica Neue"/>
                </a:endParaRPr>
              </a:p>
              <a:p>
                <a:endParaRPr lang="en-US" altLang="zh-CN" dirty="0"/>
              </a:p>
              <a:p>
                <a:endParaRPr lang="en-US" altLang="zh-CN" dirty="0"/>
              </a:p>
              <a:p>
                <a:pPr>
                  <a:lnSpc>
                    <a:spcPct val="150000"/>
                  </a:lnSpc>
                </a:pPr>
                <a:r>
                  <a:rPr lang="zh-CN" altLang="zh-CN" sz="1200" b="1" dirty="0">
                    <a:latin typeface="微软雅黑" panose="020B0503020204020204" pitchFamily="34" charset="-122"/>
                    <a:ea typeface="微软雅黑" panose="020B0503020204020204" pitchFamily="34" charset="-122"/>
                  </a:rPr>
                  <a:t>过滤式</a:t>
                </a:r>
                <a:r>
                  <a:rPr lang="en-US" altLang="zh-CN" sz="1200" b="1" dirty="0">
                    <a:latin typeface="微软雅黑" panose="020B0503020204020204" pitchFamily="34" charset="-122"/>
                    <a:ea typeface="微软雅黑" panose="020B0503020204020204" pitchFamily="34" charset="-122"/>
                  </a:rPr>
                  <a:t>(Filter):</a:t>
                </a:r>
                <a:r>
                  <a:rPr lang="zh-CN" altLang="en-US" sz="1200" dirty="0">
                    <a:latin typeface="微软雅黑" panose="020B0503020204020204" pitchFamily="34" charset="-122"/>
                    <a:ea typeface="微软雅黑" panose="020B0503020204020204" pitchFamily="34" charset="-122"/>
                  </a:rPr>
                  <a:t>先对数据集进行特征选择，其过程与后续学习器无关，即设计一些统计量来过滤特征，并不考虑后续学习器问题；</a:t>
                </a:r>
                <a:r>
                  <a:rPr lang="zh-CN" altLang="en-US" dirty="0">
                    <a:latin typeface="微软雅黑" panose="020B0503020204020204" pitchFamily="34" charset="-122"/>
                  </a:rPr>
                  <a:t>先对数据集进行特征选择，然后再训练学习器，特征选择过程与后续学习器无关，也就是先采用特征选择对初始特征进行过滤，然后用过滤后的特征训练模型；</a:t>
                </a:r>
                <a:endParaRPr lang="en-US" altLang="zh-CN" dirty="0">
                  <a:latin typeface="微软雅黑" panose="020B0503020204020204" pitchFamily="34" charset="-122"/>
                </a:endParaRPr>
              </a:p>
              <a:p>
                <a:pPr>
                  <a:lnSpc>
                    <a:spcPct val="150000"/>
                  </a:lnSpc>
                </a:pPr>
                <a:r>
                  <a:rPr lang="zh-CN" altLang="en-US" dirty="0">
                    <a:latin typeface="微软雅黑" panose="020B0503020204020204" pitchFamily="34" charset="-122"/>
                  </a:rPr>
                  <a:t>常用方法：</a:t>
                </a:r>
              </a:p>
              <a:p>
                <a:pPr>
                  <a:lnSpc>
                    <a:spcPct val="150000"/>
                  </a:lnSpc>
                </a:pPr>
                <a:r>
                  <a:rPr lang="zh-CN" altLang="en-US" dirty="0">
                    <a:latin typeface="微软雅黑" panose="020B0503020204020204" pitchFamily="34" charset="-122"/>
                  </a:rPr>
                  <a:t>方差选择法：移除方差低于阈值的特征（适用于离散型数据）。</a:t>
                </a:r>
              </a:p>
              <a:p>
                <a:pPr>
                  <a:lnSpc>
                    <a:spcPct val="150000"/>
                  </a:lnSpc>
                </a:pPr>
                <a:r>
                  <a:rPr lang="zh-CN" altLang="en-US" dirty="0">
                    <a:latin typeface="微软雅黑" panose="020B0503020204020204" pitchFamily="34" charset="-122"/>
                  </a:rPr>
                  <a:t>​相关性分析：</a:t>
                </a:r>
              </a:p>
              <a:p>
                <a:pPr>
                  <a:lnSpc>
                    <a:spcPct val="150000"/>
                  </a:lnSpc>
                </a:pPr>
                <a:r>
                  <a:rPr lang="zh-CN" altLang="en-US" dirty="0">
                    <a:latin typeface="微软雅黑" panose="020B0503020204020204" pitchFamily="34" charset="-122"/>
                  </a:rPr>
                  <a:t>​卡方检验：检验定性特征与分类目标的相关性。</a:t>
                </a:r>
              </a:p>
              <a:p>
                <a:pPr>
                  <a:lnSpc>
                    <a:spcPct val="150000"/>
                  </a:lnSpc>
                </a:pPr>
                <a:r>
                  <a:rPr lang="zh-CN" altLang="en-US" dirty="0">
                    <a:latin typeface="微软雅黑" panose="020B0503020204020204" pitchFamily="34" charset="-122"/>
                  </a:rPr>
                  <a:t>​皮尔逊相关系数：衡量数值特征与目标的线性相关性。</a:t>
                </a:r>
              </a:p>
              <a:p>
                <a:pPr>
                  <a:lnSpc>
                    <a:spcPct val="150000"/>
                  </a:lnSpc>
                </a:pPr>
                <a:r>
                  <a:rPr lang="zh-CN" altLang="en-US" dirty="0">
                    <a:latin typeface="微软雅黑" panose="020B0503020204020204" pitchFamily="34" charset="-122"/>
                  </a:rPr>
                  <a:t>​互信息（</a:t>
                </a:r>
                <a:r>
                  <a:rPr lang="en-US" altLang="zh-CN" dirty="0">
                    <a:latin typeface="微软雅黑" panose="020B0503020204020204" pitchFamily="34" charset="-122"/>
                  </a:rPr>
                  <a:t>MIC</a:t>
                </a:r>
                <a:r>
                  <a:rPr lang="zh-CN" altLang="en-US" dirty="0">
                    <a:latin typeface="微软雅黑" panose="020B0503020204020204" pitchFamily="34" charset="-122"/>
                  </a:rPr>
                  <a:t>）​：捕捉特征与目标的线性和非线性关系。</a:t>
                </a:r>
              </a:p>
              <a:p>
                <a:pPr>
                  <a:lnSpc>
                    <a:spcPct val="150000"/>
                  </a:lnSpc>
                </a:pPr>
                <a:r>
                  <a:rPr lang="zh-CN" altLang="en-US" dirty="0">
                    <a:latin typeface="微软雅黑" panose="020B0503020204020204" pitchFamily="34" charset="-122"/>
                  </a:rPr>
                  <a:t>​</a:t>
                </a:r>
                <a:r>
                  <a:rPr lang="en-US" altLang="zh-CN" dirty="0">
                    <a:latin typeface="微软雅黑" panose="020B0503020204020204" pitchFamily="34" charset="-122"/>
                  </a:rPr>
                  <a:t>F</a:t>
                </a:r>
                <a:r>
                  <a:rPr lang="zh-CN" altLang="en-US" dirty="0">
                    <a:latin typeface="微软雅黑" panose="020B0503020204020204" pitchFamily="34" charset="-122"/>
                  </a:rPr>
                  <a:t>检验：通过方差齐性分析筛选特征（适用于分类和回归问题）。</a:t>
                </a:r>
              </a:p>
              <a:p>
                <a:pPr lvl="0" algn="l" rtl="0">
                  <a:lnSpc>
                    <a:spcPts val="1500"/>
                  </a:lnSpc>
                  <a:spcAft>
                    <a:spcPts val="300"/>
                  </a:spcAft>
                </a:pPr>
                <a:endParaRPr lang="zh-CN" altLang="zh-CN" sz="1200" dirty="0">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zh-CN" sz="1200" b="1" dirty="0">
                    <a:latin typeface="微软雅黑" panose="020B0503020204020204" pitchFamily="34" charset="-122"/>
                    <a:ea typeface="微软雅黑" panose="020B0503020204020204" pitchFamily="34" charset="-122"/>
                  </a:rPr>
                  <a:t>包裹式</a:t>
                </a:r>
                <a:r>
                  <a:rPr lang="en-US" altLang="zh-CN" sz="1200" b="1" dirty="0">
                    <a:latin typeface="微软雅黑" panose="020B0503020204020204" pitchFamily="34" charset="-122"/>
                    <a:ea typeface="微软雅黑" panose="020B0503020204020204" pitchFamily="34" charset="-122"/>
                  </a:rPr>
                  <a:t>(Wrapper):</a:t>
                </a:r>
                <a:r>
                  <a:rPr lang="zh-CN" altLang="en-US" sz="1200" dirty="0">
                    <a:latin typeface="微软雅黑" panose="020B0503020204020204" pitchFamily="34" charset="-122"/>
                    <a:ea typeface="微软雅黑" panose="020B0503020204020204" pitchFamily="34" charset="-122"/>
                  </a:rPr>
                  <a:t>就是一个分类器，它是将后续的学习器的性能作为特征子集的评价标准；</a:t>
                </a:r>
                <a:r>
                  <a:rPr lang="zh-CN" altLang="en-US" dirty="0">
                    <a:latin typeface="微软雅黑" panose="020B0503020204020204" pitchFamily="34" charset="-122"/>
                  </a:rPr>
                  <a:t>原理：包裹式特征选择</a:t>
                </a:r>
                <a:r>
                  <a:rPr lang="zh-CN" altLang="en-US" b="1" dirty="0">
                    <a:latin typeface="微软雅黑" panose="020B0503020204020204" pitchFamily="34" charset="-122"/>
                  </a:rPr>
                  <a:t>直接把最终将要使用的学习器的性能作为特征子集的评价原则</a:t>
                </a:r>
                <a:r>
                  <a:rPr lang="zh-CN" altLang="en-US" dirty="0">
                    <a:latin typeface="微软雅黑" panose="020B0503020204020204" pitchFamily="34" charset="-122"/>
                  </a:rPr>
                  <a:t>。其目的就是为给定学习器选择最有利于其性能、量身定做的特征子集。</a:t>
                </a:r>
                <a:endParaRPr lang="en-US" altLang="zh-CN" dirty="0">
                  <a:latin typeface="微软雅黑" panose="020B0503020204020204" pitchFamily="34" charset="-122"/>
                </a:endParaRP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en-US" dirty="0">
                    <a:latin typeface="微软雅黑" panose="020B0503020204020204" pitchFamily="34" charset="-122"/>
                  </a:rPr>
                  <a:t>典型算法：</a:t>
                </a: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en-US" dirty="0">
                    <a:latin typeface="微软雅黑" panose="020B0503020204020204" pitchFamily="34" charset="-122"/>
                  </a:rPr>
                  <a:t>​递归特征消除（</a:t>
                </a:r>
                <a:r>
                  <a:rPr lang="en-US" altLang="zh-CN" dirty="0">
                    <a:latin typeface="微软雅黑" panose="020B0503020204020204" pitchFamily="34" charset="-122"/>
                  </a:rPr>
                  <a:t>RFE</a:t>
                </a:r>
                <a:r>
                  <a:rPr lang="zh-CN" altLang="en-US" dirty="0">
                    <a:latin typeface="微软雅黑" panose="020B0503020204020204" pitchFamily="34" charset="-122"/>
                  </a:rPr>
                  <a:t>）​：迭代剔除最不重要的特征（如基于</a:t>
                </a:r>
                <a:r>
                  <a:rPr lang="en-US" altLang="zh-CN" dirty="0">
                    <a:latin typeface="微软雅黑" panose="020B0503020204020204" pitchFamily="34" charset="-122"/>
                  </a:rPr>
                  <a:t>SVM</a:t>
                </a:r>
                <a:r>
                  <a:rPr lang="zh-CN" altLang="en-US" dirty="0">
                    <a:latin typeface="微软雅黑" panose="020B0503020204020204" pitchFamily="34" charset="-122"/>
                  </a:rPr>
                  <a:t>或逻辑回归的权重）。</a:t>
                </a: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en-US" dirty="0">
                    <a:latin typeface="微软雅黑" panose="020B0503020204020204" pitchFamily="34" charset="-122"/>
                  </a:rPr>
                  <a:t>​前向</a:t>
                </a:r>
                <a:r>
                  <a:rPr lang="en-US" altLang="zh-CN" dirty="0">
                    <a:latin typeface="微软雅黑" panose="020B0503020204020204" pitchFamily="34" charset="-122"/>
                  </a:rPr>
                  <a:t>/</a:t>
                </a:r>
                <a:r>
                  <a:rPr lang="zh-CN" altLang="en-US" dirty="0">
                    <a:latin typeface="微软雅黑" panose="020B0503020204020204" pitchFamily="34" charset="-122"/>
                  </a:rPr>
                  <a:t>后向选择：逐步添加或删除特征，直至模型性能最优。</a:t>
                </a: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en-US" dirty="0">
                    <a:latin typeface="微软雅黑" panose="020B0503020204020204" pitchFamily="34" charset="-122"/>
                  </a:rPr>
                  <a:t>​遗传算法：模拟生物进化过程，通过交叉变异生成特征子集</a:t>
                </a:r>
                <a:endParaRPr lang="en-US" altLang="zh-CN" dirty="0">
                  <a:latin typeface="微软雅黑" panose="020B0503020204020204" pitchFamily="34" charset="-122"/>
                </a:endParaRPr>
              </a:p>
              <a:p>
                <a:pPr lvl="0" algn="l" rtl="0">
                  <a:lnSpc>
                    <a:spcPts val="1500"/>
                  </a:lnSpc>
                  <a:spcAft>
                    <a:spcPts val="300"/>
                  </a:spcAft>
                </a:pPr>
                <a:endParaRPr lang="zh-CN" altLang="zh-CN" sz="1200" dirty="0">
                  <a:latin typeface="微软雅黑" panose="020B0503020204020204" pitchFamily="34" charset="-122"/>
                  <a:ea typeface="微软雅黑" panose="020B0503020204020204" pitchFamily="34" charset="-122"/>
                </a:endParaRPr>
              </a:p>
              <a:p>
                <a:pPr lvl="0" algn="l" rtl="0">
                  <a:lnSpc>
                    <a:spcPts val="1500"/>
                  </a:lnSpc>
                  <a:spcAft>
                    <a:spcPts val="300"/>
                  </a:spcAft>
                </a:pPr>
                <a:r>
                  <a:rPr lang="zh-CN" altLang="zh-CN" sz="1200" b="1" dirty="0">
                    <a:latin typeface="微软雅黑" panose="020B0503020204020204" pitchFamily="34" charset="-122"/>
                    <a:ea typeface="微软雅黑" panose="020B0503020204020204" pitchFamily="34" charset="-122"/>
                  </a:rPr>
                  <a:t>嵌入式</a:t>
                </a:r>
                <a:r>
                  <a:rPr lang="en-US" altLang="zh-CN" sz="1200" b="1" dirty="0">
                    <a:latin typeface="微软雅黑" panose="020B0503020204020204" pitchFamily="34" charset="-122"/>
                    <a:ea typeface="微软雅黑" panose="020B0503020204020204" pitchFamily="34" charset="-122"/>
                  </a:rPr>
                  <a:t>(Embedding):</a:t>
                </a:r>
                <a:r>
                  <a:rPr lang="zh-CN" altLang="en-US" sz="1200" dirty="0">
                    <a:latin typeface="微软雅黑" panose="020B0503020204020204" pitchFamily="34" charset="-122"/>
                    <a:ea typeface="微软雅黑" panose="020B0503020204020204" pitchFamily="34" charset="-122"/>
                  </a:rPr>
                  <a:t>是学习器自主选择特征；</a:t>
                </a:r>
                <a:r>
                  <a:rPr lang="zh-CN" altLang="en-US" dirty="0">
                    <a:latin typeface="微软雅黑" panose="020B0503020204020204" pitchFamily="34" charset="-122"/>
                  </a:rPr>
                  <a:t>嵌入式特征选择是将特征选择与学习器训练过程融为一体，两者在同一个优化过程中完成的。即学习器训练过程中自动进行了特征选择。</a:t>
                </a:r>
                <a:endParaRPr lang="en-US" altLang="zh-CN" dirty="0">
                  <a:latin typeface="微软雅黑" panose="020B0503020204020204" pitchFamily="34" charset="-122"/>
                </a:endParaRPr>
              </a:p>
              <a:p>
                <a:pPr lvl="0"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典型方法：</a:t>
                </a:r>
              </a:p>
              <a:p>
                <a:pPr lvl="0"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​正则化方法：</a:t>
                </a:r>
              </a:p>
              <a:p>
                <a:pPr lvl="1"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L1</a:t>
                </a:r>
                <a:r>
                  <a:rPr lang="zh-CN" altLang="en-US" sz="1200" dirty="0">
                    <a:latin typeface="微软雅黑" panose="020B0503020204020204" pitchFamily="34" charset="-122"/>
                    <a:ea typeface="微软雅黑" panose="020B0503020204020204" pitchFamily="34" charset="-122"/>
                  </a:rPr>
                  <a:t>正则化（</a:t>
                </a:r>
                <a:r>
                  <a:rPr lang="en-US" altLang="zh-CN" sz="1200" dirty="0">
                    <a:latin typeface="微软雅黑" panose="020B0503020204020204" pitchFamily="34" charset="-122"/>
                    <a:ea typeface="微软雅黑" panose="020B0503020204020204" pitchFamily="34" charset="-122"/>
                  </a:rPr>
                  <a:t>LASSO</a:t>
                </a:r>
                <a:r>
                  <a:rPr lang="zh-CN" altLang="en-US" sz="1200" dirty="0">
                    <a:latin typeface="微软雅黑" panose="020B0503020204020204" pitchFamily="34" charset="-122"/>
                    <a:ea typeface="微软雅黑" panose="020B0503020204020204" pitchFamily="34" charset="-122"/>
                  </a:rPr>
                  <a:t>）​：通过稀疏化特征系数剔除冗余特征。</a:t>
                </a:r>
              </a:p>
              <a:p>
                <a:pPr lvl="1"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​弹性网络（</a:t>
                </a:r>
                <a:r>
                  <a:rPr lang="en-US" altLang="zh-CN" sz="1200" dirty="0">
                    <a:latin typeface="微软雅黑" panose="020B0503020204020204" pitchFamily="34" charset="-122"/>
                    <a:ea typeface="微软雅黑" panose="020B0503020204020204" pitchFamily="34" charset="-122"/>
                  </a:rPr>
                  <a:t>Elastic Net</a:t>
                </a:r>
                <a:r>
                  <a:rPr lang="zh-CN" altLang="en-US" sz="1200" dirty="0">
                    <a:latin typeface="微软雅黑" panose="020B0503020204020204" pitchFamily="34" charset="-122"/>
                    <a:ea typeface="微软雅黑" panose="020B0503020204020204" pitchFamily="34" charset="-122"/>
                  </a:rPr>
                  <a:t>）​：结合</a:t>
                </a:r>
                <a:r>
                  <a:rPr lang="en-US" altLang="zh-CN" sz="1200" dirty="0">
                    <a:latin typeface="微软雅黑" panose="020B0503020204020204" pitchFamily="34" charset="-122"/>
                    <a:ea typeface="微软雅黑" panose="020B0503020204020204" pitchFamily="34" charset="-122"/>
                  </a:rPr>
                  <a:t>L1</a:t>
                </a:r>
                <a:r>
                  <a:rPr lang="zh-CN" altLang="en-US"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L2</a:t>
                </a:r>
                <a:r>
                  <a:rPr lang="zh-CN" altLang="en-US" sz="1200" dirty="0">
                    <a:latin typeface="微软雅黑" panose="020B0503020204020204" pitchFamily="34" charset="-122"/>
                    <a:ea typeface="微软雅黑" panose="020B0503020204020204" pitchFamily="34" charset="-122"/>
                  </a:rPr>
                  <a:t>正则化，平衡特征选择与共线性。</a:t>
                </a:r>
              </a:p>
              <a:p>
                <a:pPr lvl="0"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​树模型：​随机森林</a:t>
                </a:r>
                <a:r>
                  <a:rPr lang="en-US" altLang="zh-CN"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XGBoost</a:t>
                </a:r>
                <a:r>
                  <a:rPr lang="zh-CN" altLang="en-US" sz="1200" dirty="0">
                    <a:latin typeface="微软雅黑" panose="020B0503020204020204" pitchFamily="34" charset="-122"/>
                    <a:ea typeface="微软雅黑" panose="020B0503020204020204" pitchFamily="34" charset="-122"/>
                  </a:rPr>
                  <a:t>：基于特征重要性（如基尼指数、分裂增益）排序。</a:t>
                </a:r>
              </a:p>
              <a:p>
                <a:pPr lvl="0"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​深度学习：</a:t>
                </a:r>
              </a:p>
              <a:p>
                <a:pPr lvl="1"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​注意力机制：通过权重聚焦关键特征。</a:t>
                </a:r>
              </a:p>
              <a:p>
                <a:pPr lvl="1"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​稀疏自编码器：隐式约束编码层特征稀疏性。</a:t>
                </a:r>
                <a:endParaRPr lang="zh-CN" altLang="zh-CN" sz="1200" dirty="0">
                  <a:latin typeface="微软雅黑" panose="020B0503020204020204" pitchFamily="34" charset="-122"/>
                  <a:ea typeface="微软雅黑" panose="020B0503020204020204" pitchFamily="34" charset="-122"/>
                </a:endParaRPr>
              </a:p>
              <a:p>
                <a:endParaRPr lang="zh-CN" altLang="en-US" dirty="0"/>
              </a:p>
            </p:txBody>
          </p:sp>
        </mc:Choice>
        <mc:Fallback xmlns="">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fontScale="25000" lnSpcReduction="20000"/>
              </a:bodyPr>
              <a:lstStyle/>
              <a:p>
                <a:r>
                  <a:rPr lang="zh-CN" altLang="en-US" dirty="0"/>
                  <a:t>数据预处理过程能保证我们拿到干净整齐准确的数据，但这些数据未必对于建模是最有效的，下一步我们通常会进行特征工程，结合业务场景产生衍生变量来提升数据表达能力和模型建模效果。</a:t>
                </a:r>
                <a:endParaRPr lang="en-US" altLang="zh-CN" dirty="0"/>
              </a:p>
              <a:p>
                <a:r>
                  <a:rPr lang="en-US" altLang="zh-CN" dirty="0"/>
                  <a:t>.</a:t>
                </a:r>
              </a:p>
              <a:p>
                <a:r>
                  <a:rPr lang="zh-CN" altLang="en-US" dirty="0"/>
                  <a:t>特征工程是将原始数据转化为高质量特征的过程，直接影响模型性能和可解释性</a:t>
                </a:r>
                <a:endParaRPr lang="en-US" altLang="zh-CN" dirty="0"/>
              </a:p>
              <a:p>
                <a:pPr algn="l">
                  <a:lnSpc>
                    <a:spcPct val="150000"/>
                  </a:lnSpc>
                  <a:buFont typeface="Arial" panose="020B0604020202020204" pitchFamily="34" charset="0"/>
                  <a:buNone/>
                </a:pPr>
                <a:r>
                  <a:rPr lang="zh-CN" altLang="en-US" b="1" i="0" dirty="0">
                    <a:effectLst/>
                    <a:latin typeface="Helvetica Neue"/>
                  </a:rPr>
                  <a:t>特征工程</a:t>
                </a:r>
                <a:r>
                  <a:rPr lang="en-US" altLang="zh-CN" b="0" i="0" dirty="0">
                    <a:effectLst/>
                    <a:latin typeface="Helvetica Neue"/>
                  </a:rPr>
                  <a:t>: </a:t>
                </a:r>
                <a:r>
                  <a:rPr lang="zh-CN" altLang="en-US" b="0" i="0" dirty="0">
                    <a:effectLst/>
                    <a:latin typeface="Helvetica Neue"/>
                  </a:rPr>
                  <a:t>获取原始数据并提取或创建新特征的过程。这可能意味着需要对变量进行变换，例如自然对数和平方根，或者对分类变量进行</a:t>
                </a:r>
                <a:r>
                  <a:rPr lang="en-US" altLang="zh-CN" b="0" i="0" dirty="0">
                    <a:effectLst/>
                    <a:latin typeface="Helvetica Neue"/>
                  </a:rPr>
                  <a:t>one-hot</a:t>
                </a:r>
                <a:r>
                  <a:rPr lang="zh-CN" altLang="en-US" b="0" i="0" dirty="0">
                    <a:effectLst/>
                    <a:latin typeface="Helvetica Neue"/>
                  </a:rPr>
                  <a:t>编码，以便它们可以在模型中使用。 一般来说，我认为特征工程是从原始数据创建附加特征。</a:t>
                </a:r>
                <a:endParaRPr lang="en-US" altLang="zh-CN" b="0" i="0" dirty="0">
                  <a:effectLst/>
                  <a:latin typeface="Helvetica Neue"/>
                </a:endParaRPr>
              </a:p>
              <a:p>
                <a:pPr algn="l">
                  <a:lnSpc>
                    <a:spcPct val="150000"/>
                  </a:lnSpc>
                  <a:buFont typeface="Arial" panose="020B0604020202020204" pitchFamily="34" charset="0"/>
                  <a:buNone/>
                </a:pPr>
                <a:endParaRPr lang="en-US" altLang="zh-CN" b="0" i="0" dirty="0">
                  <a:effectLst/>
                  <a:latin typeface="Helvetica Neue"/>
                </a:endParaRPr>
              </a:p>
              <a:p>
                <a:pPr marL="0" marR="0" lvl="0" indent="0" algn="l" defTabSz="914400" rtl="0" eaLnBrk="0" fontAlgn="base" latinLnBrk="0" hangingPunct="0">
                  <a:lnSpc>
                    <a:spcPct val="150000"/>
                  </a:lnSpc>
                  <a:spcBef>
                    <a:spcPct val="30000"/>
                  </a:spcBef>
                  <a:spcAft>
                    <a:spcPct val="0"/>
                  </a:spcAft>
                  <a:buClrTx/>
                  <a:buSzTx/>
                  <a:buFont typeface="Arial" panose="020B0604020202020204" pitchFamily="34" charset="0"/>
                  <a:buChar char="•"/>
                  <a:tabLst/>
                  <a:defRPr/>
                </a:pPr>
                <a:r>
                  <a:rPr lang="zh-CN" altLang="en-US" b="1" dirty="0">
                    <a:latin typeface="微软雅黑" panose="020B0503020204020204" pitchFamily="34" charset="-122"/>
                    <a:ea typeface="微软雅黑" panose="020B0503020204020204" pitchFamily="34" charset="-122"/>
                  </a:rPr>
                  <a:t>特征构建：是指从原始数据中人工的找出一些具有物理意义的特征。</a:t>
                </a:r>
                <a:endParaRPr lang="zh-CN" altLang="en-US" b="0" i="0" dirty="0">
                  <a:effectLst/>
                  <a:latin typeface="Helvetica Neue"/>
                </a:endParaRPr>
              </a:p>
              <a:p>
                <a:pPr algn="l">
                  <a:lnSpc>
                    <a:spcPct val="150000"/>
                  </a:lnSpc>
                  <a:buFont typeface="Arial" panose="020B0604020202020204" pitchFamily="34" charset="0"/>
                  <a:buChar char="•"/>
                </a:pPr>
                <a:r>
                  <a:rPr lang="zh-CN" altLang="en-US" b="1" i="0" dirty="0">
                    <a:effectLst/>
                    <a:latin typeface="Helvetica Neue"/>
                  </a:rPr>
                  <a:t>特征选择</a:t>
                </a:r>
                <a:r>
                  <a:rPr lang="en-US" altLang="zh-CN" b="0" i="0" dirty="0">
                    <a:effectLst/>
                    <a:latin typeface="Helvetica Neue"/>
                  </a:rPr>
                  <a:t>: </a:t>
                </a:r>
                <a:r>
                  <a:rPr lang="zh-CN" altLang="en-US" b="0" i="0" dirty="0">
                    <a:effectLst/>
                    <a:latin typeface="Helvetica Neue"/>
                  </a:rPr>
                  <a:t>选择数据中最相关的特征的过程。在特征选择中，我们删除特征以帮助模型更好地总结新数据并创建更具可解释性的模型。一般来说，特征选择是减去特征，所以我们只留下那些最重要的特征。特征选择主要有两个功能：</a:t>
                </a:r>
              </a:p>
              <a:p>
                <a:pPr algn="l">
                  <a:lnSpc>
                    <a:spcPct val="150000"/>
                  </a:lnSpc>
                  <a:buFont typeface="Arial" panose="020B0604020202020204" pitchFamily="34" charset="0"/>
                  <a:buChar char="•"/>
                </a:pPr>
                <a:r>
                  <a:rPr lang="zh-CN" altLang="en-US" b="0" i="0" dirty="0">
                    <a:effectLst/>
                    <a:latin typeface="Helvetica Neue"/>
                  </a:rPr>
                  <a:t>减少特征数量、降维，使模型泛化能力更强，减少过拟合</a:t>
                </a:r>
              </a:p>
              <a:p>
                <a:pPr algn="l">
                  <a:lnSpc>
                    <a:spcPct val="150000"/>
                  </a:lnSpc>
                  <a:buFont typeface="Arial" panose="020B0604020202020204" pitchFamily="34" charset="0"/>
                  <a:buChar char="•"/>
                </a:pPr>
                <a:r>
                  <a:rPr lang="zh-CN" altLang="en-US" b="0" i="0" dirty="0">
                    <a:effectLst/>
                    <a:latin typeface="Helvetica Neue"/>
                  </a:rPr>
                  <a:t>增强对特征和特征值之间的理解</a:t>
                </a:r>
                <a:endParaRPr lang="en-US" altLang="zh-CN" b="0" i="0" dirty="0">
                  <a:effectLst/>
                  <a:latin typeface="Helvetica Neue"/>
                </a:endParaRPr>
              </a:p>
              <a:p>
                <a:pPr algn="l">
                  <a:lnSpc>
                    <a:spcPct val="150000"/>
                  </a:lnSpc>
                  <a:buFont typeface="Arial" panose="020B0604020202020204" pitchFamily="34" charset="0"/>
                  <a:buChar char="•"/>
                </a:pPr>
                <a:endParaRPr lang="en-US" altLang="zh-CN" b="0" i="0" dirty="0">
                  <a:effectLst/>
                  <a:latin typeface="Helvetica Neue"/>
                </a:endParaRPr>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i="0">
                    <a:latin typeface="Cambria Math" panose="02040503050406030204" pitchFamily="18" charset="0"/>
                  </a:rPr>
                  <a:t>〖</a:t>
                </a:r>
                <a:r>
                  <a:rPr lang="en-US" altLang="zh-CN" sz="1200" b="1" i="0" dirty="0">
                    <a:latin typeface="Cambria Math" panose="02040503050406030204" pitchFamily="18" charset="0"/>
                  </a:rPr>
                  <a:t>"</a:t>
                </a:r>
                <a:r>
                  <a:rPr lang="en-US" altLang="zh-CN" b="1" i="0" dirty="0">
                    <a:latin typeface="宋体" panose="02010600030101010101" pitchFamily="2" charset="-122"/>
                    <a:cs typeface="Times New Roman" panose="02020603050405020304" pitchFamily="18" charset="0"/>
                  </a:rPr>
                  <a:t>归一化（最大</a:t>
                </a:r>
                <a:r>
                  <a:rPr lang="en-US" altLang="zh-CN" b="1" i="0" dirty="0">
                    <a:latin typeface="Cambria" panose="02040503050406030204" pitchFamily="18" charset="0"/>
                    <a:ea typeface="+mn-ea"/>
                    <a:cs typeface="Times New Roman" panose="02020603050405020304" pitchFamily="18" charset="0"/>
                  </a:rPr>
                  <a:t> - </a:t>
                </a:r>
                <a:r>
                  <a:rPr lang="en-US" altLang="zh-CN" b="1" i="0" dirty="0">
                    <a:latin typeface="宋体" panose="02010600030101010101" pitchFamily="2" charset="-122"/>
                    <a:cs typeface="Times New Roman" panose="02020603050405020304" pitchFamily="18" charset="0"/>
                  </a:rPr>
                  <a:t>最小规范化）</a:t>
                </a:r>
                <a:r>
                  <a:rPr lang="zh-CN" altLang="en-US" b="1" i="0" dirty="0"/>
                  <a:t> </a:t>
                </a:r>
                <a:r>
                  <a:rPr lang="zh-CN" altLang="en-US" sz="1200" b="1" i="0">
                    <a:latin typeface="Cambria Math" panose="02040503050406030204" pitchFamily="18" charset="0"/>
                  </a:rPr>
                  <a:t>" </a:t>
                </a:r>
                <a:r>
                  <a:rPr lang="zh-CN" altLang="en-US" sz="1200" i="0">
                    <a:latin typeface="Cambria Math" panose="02040503050406030204" pitchFamily="18" charset="0"/>
                  </a:rPr>
                  <a:t>𝑥〗^∗=(𝑥−𝑥_min)/(𝑥_max−𝑥_min )</a:t>
                </a:r>
                <a:r>
                  <a:rPr lang="en-US" altLang="zh-CN" sz="1200" dirty="0">
                    <a:latin typeface="宋体" panose="02010600030101010101" pitchFamily="2" charset="-122"/>
                    <a:cs typeface="Times New Roman" panose="02020603050405020304" pitchFamily="18" charset="0"/>
                  </a:rPr>
                  <a:t>将数据映射到</a:t>
                </a:r>
                <a:r>
                  <a:rPr lang="en-US" altLang="zh-CN" sz="1200" dirty="0">
                    <a:latin typeface="Cambria" panose="02040503050406030204" pitchFamily="18" charset="0"/>
                    <a:ea typeface="+mn-ea"/>
                    <a:cs typeface="Times New Roman" panose="02020603050405020304" pitchFamily="18" charset="0"/>
                  </a:rPr>
                  <a:t>[0,1]</a:t>
                </a:r>
                <a:r>
                  <a:rPr lang="en-US" altLang="zh-CN" sz="1200" dirty="0" err="1">
                    <a:latin typeface="宋体" panose="02010600030101010101" pitchFamily="2" charset="-122"/>
                    <a:cs typeface="Times New Roman" panose="02020603050405020304" pitchFamily="18" charset="0"/>
                  </a:rPr>
                  <a:t>区间</a:t>
                </a:r>
                <a:endParaRPr lang="zh-CN"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latin typeface="+mj-ea"/>
                    <a:ea typeface="+mj-ea"/>
                    <a:cs typeface="Times New Roman" panose="02020603050405020304" pitchFamily="18" charset="0"/>
                  </a:rPr>
                  <a:t>Z-Score</a:t>
                </a:r>
                <a:r>
                  <a:rPr lang="zh-CN" altLang="zh-CN" b="1" dirty="0">
                    <a:latin typeface="+mj-ea"/>
                    <a:ea typeface="+mj-ea"/>
                    <a:cs typeface="Times New Roman" panose="02020603050405020304" pitchFamily="18" charset="0"/>
                  </a:rPr>
                  <a:t>标准化</a:t>
                </a:r>
                <a:r>
                  <a:rPr lang="zh-CN" altLang="en-US" sz="1200" i="0">
                    <a:latin typeface="Cambria Math" panose="02040503050406030204" pitchFamily="18" charset="0"/>
                  </a:rPr>
                  <a:t>𝑥^∗=(𝑥−𝜇)/𝜎</a:t>
                </a:r>
                <a:r>
                  <a:rPr lang="zh-CN" altLang="en-US" sz="1200" dirty="0"/>
                  <a:t>，</a:t>
                </a:r>
                <a:r>
                  <a:rPr lang="zh-CN" altLang="en-US" sz="1200" i="0">
                    <a:latin typeface="Cambria Math" panose="02040503050406030204" pitchFamily="18" charset="0"/>
                  </a:rPr>
                  <a:t>𝜎^2=1/𝑚 ∑1_(𝑖=1)^𝑚▒〖</a:t>
                </a:r>
                <a:r>
                  <a:rPr lang="en-US" altLang="zh-CN" sz="1200" b="0" i="0">
                    <a:latin typeface="Cambria Math" panose="02040503050406030204" pitchFamily="18" charset="0"/>
                  </a:rPr>
                  <a:t>(</a:t>
                </a:r>
                <a:r>
                  <a:rPr lang="zh-CN" altLang="en-US" sz="1200" i="0">
                    <a:latin typeface="Cambria Math" panose="02040503050406030204" pitchFamily="18" charset="0"/>
                  </a:rPr>
                  <a:t>𝑥^((𝑖) ) 〖</a:t>
                </a:r>
                <a:r>
                  <a:rPr lang="en-US" altLang="zh-CN" sz="1200" i="0">
                    <a:latin typeface="Cambria Math" panose="02040503050406030204" pitchFamily="18" charset="0"/>
                  </a:rPr>
                  <a:t>−</a:t>
                </a:r>
                <a:r>
                  <a:rPr lang="zh-CN" altLang="en-US" sz="1200" i="0">
                    <a:latin typeface="Cambria Math" panose="02040503050406030204" pitchFamily="18" charset="0"/>
                  </a:rPr>
                  <a:t>𝜇</a:t>
                </a:r>
                <a:r>
                  <a:rPr lang="en-US" altLang="zh-CN" sz="1200" b="0" i="0">
                    <a:latin typeface="Cambria Math" panose="02040503050406030204" pitchFamily="18" charset="0"/>
                  </a:rPr>
                  <a:t>)</a:t>
                </a:r>
                <a:r>
                  <a:rPr lang="zh-CN" altLang="en-US" sz="1200" b="0" i="0">
                    <a:latin typeface="Cambria Math" panose="02040503050406030204" pitchFamily="18" charset="0"/>
                  </a:rPr>
                  <a:t>〗^</a:t>
                </a:r>
                <a:r>
                  <a:rPr lang="zh-CN" altLang="en-US" sz="1200" i="0">
                    <a:latin typeface="Cambria Math" panose="02040503050406030204" pitchFamily="18" charset="0"/>
                  </a:rPr>
                  <a:t>2 〗</a:t>
                </a:r>
                <a:r>
                  <a:rPr lang="zh-CN" altLang="en-US" sz="1200" dirty="0"/>
                  <a:t>，</a:t>
                </a:r>
                <a:r>
                  <a:rPr lang="zh-CN" altLang="en-US" sz="1200" i="0">
                    <a:latin typeface="Cambria Math" panose="02040503050406030204" pitchFamily="18" charset="0"/>
                  </a:rPr>
                  <a:t>𝜇=1/𝑚 ∑1_(𝑖=1)^𝑚▒𝑥^((𝑖) ) </a:t>
                </a:r>
                <a:endParaRPr lang="zh-CN"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b="1" dirty="0">
                  <a:latin typeface="+mj-ea"/>
                  <a:ea typeface="+mj-ea"/>
                </a:endParaRPr>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FF0000"/>
                    </a:solidFill>
                    <a:latin typeface="Optima-Regular"/>
                  </a:rPr>
                  <a:t>为什么要标准化</a:t>
                </a:r>
                <a:r>
                  <a:rPr lang="en-US" altLang="zh-CN" b="1" dirty="0">
                    <a:solidFill>
                      <a:srgbClr val="FF0000"/>
                    </a:solidFill>
                    <a:latin typeface="Optima-Regular"/>
                  </a:rPr>
                  <a:t>/</a:t>
                </a:r>
                <a:r>
                  <a:rPr lang="zh-CN" altLang="en-US" b="1" dirty="0">
                    <a:solidFill>
                      <a:srgbClr val="FF0000"/>
                    </a:solidFill>
                    <a:latin typeface="Optima-Regular"/>
                  </a:rPr>
                  <a:t>归一化？</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000000"/>
                    </a:solidFill>
                    <a:latin typeface="Optima-Regular"/>
                  </a:rPr>
                  <a:t>提升模型精度</a:t>
                </a:r>
                <a:r>
                  <a:rPr lang="zh-CN" altLang="en-US" dirty="0">
                    <a:solidFill>
                      <a:srgbClr val="000000"/>
                    </a:solidFill>
                    <a:latin typeface="Optima-Regular"/>
                  </a:rPr>
                  <a:t>：不同维度之间的特征在数值上有一定比较性，可以大大提高分类器的准确性。</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000000"/>
                    </a:solidFill>
                    <a:latin typeface="Optima-Regular"/>
                  </a:rPr>
                  <a:t>加速模型收敛</a:t>
                </a:r>
                <a:r>
                  <a:rPr lang="zh-CN" altLang="en-US" dirty="0">
                    <a:solidFill>
                      <a:srgbClr val="000000"/>
                    </a:solidFill>
                    <a:latin typeface="Optima-Regular"/>
                  </a:rPr>
                  <a:t>：最优解的寻优过程明显会变得平缓，更容易正确的收敛到最优解。</a:t>
                </a:r>
              </a:p>
              <a:p>
                <a:endParaRPr lang="en-US" altLang="zh-CN" dirty="0"/>
              </a:p>
              <a:p>
                <a:pPr>
                  <a:spcBef>
                    <a:spcPts val="900"/>
                  </a:spcBef>
                  <a:spcAft>
                    <a:spcPts val="900"/>
                  </a:spcAft>
                </a:pPr>
                <a:r>
                  <a:rPr lang="zh-CN" altLang="en-US" b="1" dirty="0">
                    <a:latin typeface="+mj-ea"/>
                    <a:ea typeface="+mj-ea"/>
                    <a:cs typeface="Times New Roman" panose="02020603050405020304" pitchFamily="18" charset="0"/>
                  </a:rPr>
                  <a:t>需要做数据归一化</a:t>
                </a:r>
                <a:r>
                  <a:rPr lang="en-US" altLang="zh-CN" b="1" dirty="0">
                    <a:latin typeface="+mj-ea"/>
                    <a:ea typeface="+mj-ea"/>
                    <a:cs typeface="Times New Roman" panose="02020603050405020304" pitchFamily="18" charset="0"/>
                  </a:rPr>
                  <a:t>/</a:t>
                </a:r>
                <a:r>
                  <a:rPr lang="zh-CN" altLang="en-US" b="1" dirty="0">
                    <a:latin typeface="+mj-ea"/>
                    <a:ea typeface="+mj-ea"/>
                    <a:cs typeface="Times New Roman" panose="02020603050405020304" pitchFamily="18" charset="0"/>
                  </a:rPr>
                  <a:t>标准化</a:t>
                </a:r>
                <a:endParaRPr lang="en-US" altLang="zh-CN" b="1" dirty="0">
                  <a:latin typeface="+mj-ea"/>
                  <a:ea typeface="+mj-ea"/>
                  <a:cs typeface="Times New Roman" panose="02020603050405020304" pitchFamily="18" charset="0"/>
                </a:endParaRPr>
              </a:p>
              <a:p>
                <a:pPr>
                  <a:spcBef>
                    <a:spcPts val="900"/>
                  </a:spcBef>
                  <a:spcAft>
                    <a:spcPts val="900"/>
                  </a:spcAft>
                </a:pPr>
                <a:r>
                  <a:rPr lang="zh-CN" altLang="en-US" dirty="0">
                    <a:latin typeface="+mj-ea"/>
                    <a:ea typeface="+mj-ea"/>
                    <a:cs typeface="Times New Roman" panose="02020603050405020304" pitchFamily="18" charset="0"/>
                  </a:rPr>
                  <a:t>线性模型，如</a:t>
                </a:r>
                <a:r>
                  <a:rPr lang="zh-CN" altLang="zh-CN" dirty="0">
                    <a:latin typeface="+mj-ea"/>
                    <a:ea typeface="+mj-ea"/>
                    <a:cs typeface="Times New Roman" panose="02020603050405020304" pitchFamily="18" charset="0"/>
                  </a:rPr>
                  <a:t>基于距离度量的模型包括</a:t>
                </a:r>
                <a:r>
                  <a:rPr lang="en-US" altLang="zh-CN" dirty="0">
                    <a:latin typeface="+mj-ea"/>
                    <a:ea typeface="+mj-ea"/>
                    <a:cs typeface="Times New Roman" panose="02020603050405020304" pitchFamily="18" charset="0"/>
                  </a:rPr>
                  <a:t>KNN(K</a:t>
                </a:r>
                <a:r>
                  <a:rPr lang="zh-CN" altLang="zh-CN" dirty="0">
                    <a:latin typeface="+mj-ea"/>
                    <a:ea typeface="+mj-ea"/>
                    <a:cs typeface="Times New Roman" panose="02020603050405020304" pitchFamily="18" charset="0"/>
                  </a:rPr>
                  <a:t>近邻</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K-means</a:t>
                </a:r>
                <a:r>
                  <a:rPr lang="zh-CN" altLang="zh-CN" dirty="0">
                    <a:latin typeface="+mj-ea"/>
                    <a:ea typeface="+mj-ea"/>
                    <a:cs typeface="Times New Roman" panose="02020603050405020304" pitchFamily="18" charset="0"/>
                  </a:rPr>
                  <a:t>聚类、感知机和</a:t>
                </a:r>
                <a:r>
                  <a:rPr lang="en-US" altLang="zh-CN" dirty="0">
                    <a:latin typeface="+mj-ea"/>
                    <a:ea typeface="+mj-ea"/>
                    <a:cs typeface="Times New Roman" panose="02020603050405020304" pitchFamily="18" charset="0"/>
                  </a:rPr>
                  <a:t>SVM</a:t>
                </a:r>
                <a:r>
                  <a:rPr lang="zh-CN" altLang="en-US" dirty="0">
                    <a:latin typeface="+mj-ea"/>
                    <a:ea typeface="+mj-ea"/>
                    <a:cs typeface="Times New Roman" panose="02020603050405020304" pitchFamily="18" charset="0"/>
                  </a:rPr>
                  <a:t>、神经网络</a:t>
                </a:r>
                <a:r>
                  <a:rPr lang="zh-CN" altLang="zh-CN" dirty="0">
                    <a:latin typeface="+mj-ea"/>
                    <a:ea typeface="+mj-ea"/>
                    <a:cs typeface="Times New Roman" panose="02020603050405020304" pitchFamily="18" charset="0"/>
                  </a:rPr>
                  <a:t>。另外，线性回归类的几个模型一般情况下也是</a:t>
                </a:r>
                <a:r>
                  <a:rPr lang="zh-CN" altLang="zh-CN" dirty="0">
                    <a:solidFill>
                      <a:srgbClr val="FF0000"/>
                    </a:solidFill>
                    <a:latin typeface="+mj-ea"/>
                    <a:ea typeface="+mj-ea"/>
                    <a:cs typeface="Times New Roman" panose="02020603050405020304" pitchFamily="18" charset="0"/>
                  </a:rPr>
                  <a:t>需要</a:t>
                </a:r>
                <a:r>
                  <a:rPr lang="zh-CN" altLang="zh-CN" dirty="0">
                    <a:latin typeface="+mj-ea"/>
                    <a:ea typeface="+mj-ea"/>
                    <a:cs typeface="Times New Roman" panose="02020603050405020304" pitchFamily="18" charset="0"/>
                  </a:rPr>
                  <a:t>做数据</a:t>
                </a:r>
                <a:r>
                  <a:rPr lang="zh-CN" altLang="en-US" dirty="0">
                    <a:latin typeface="+mj-ea"/>
                    <a:ea typeface="+mj-ea"/>
                    <a:cs typeface="Times New Roman" panose="02020603050405020304" pitchFamily="18" charset="0"/>
                  </a:rPr>
                  <a:t>归一化</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标准化处理的。</a:t>
                </a:r>
                <a:endParaRPr lang="en-US" altLang="zh-CN" dirty="0">
                  <a:latin typeface="+mj-ea"/>
                  <a:ea typeface="+mj-ea"/>
                  <a:cs typeface="Times New Roman" panose="02020603050405020304" pitchFamily="18" charset="0"/>
                </a:endParaRPr>
              </a:p>
              <a:p>
                <a:pPr>
                  <a:spcBef>
                    <a:spcPts val="900"/>
                  </a:spcBef>
                  <a:spcAft>
                    <a:spcPts val="900"/>
                  </a:spcAft>
                </a:pPr>
                <a:r>
                  <a:rPr lang="zh-CN" altLang="en-US" b="1" dirty="0">
                    <a:latin typeface="+mj-ea"/>
                    <a:cs typeface="Times New Roman" panose="02020603050405020304" pitchFamily="18" charset="0"/>
                  </a:rPr>
                  <a:t>不需要做数据归一化</a:t>
                </a:r>
                <a:r>
                  <a:rPr lang="en-US" altLang="zh-CN" b="1" dirty="0">
                    <a:latin typeface="+mj-ea"/>
                    <a:cs typeface="Times New Roman" panose="02020603050405020304" pitchFamily="18" charset="0"/>
                  </a:rPr>
                  <a:t>/</a:t>
                </a:r>
                <a:r>
                  <a:rPr lang="zh-CN" altLang="en-US" b="1" dirty="0">
                    <a:latin typeface="+mj-ea"/>
                    <a:cs typeface="Times New Roman" panose="02020603050405020304" pitchFamily="18" charset="0"/>
                  </a:rPr>
                  <a:t>标准化</a:t>
                </a:r>
                <a:endParaRPr lang="en-US" altLang="zh-CN" b="1" dirty="0">
                  <a:latin typeface="+mj-ea"/>
                  <a:cs typeface="Times New Roman" panose="02020603050405020304" pitchFamily="18" charset="0"/>
                </a:endParaRPr>
              </a:p>
              <a:p>
                <a:pPr>
                  <a:spcBef>
                    <a:spcPts val="900"/>
                  </a:spcBef>
                  <a:spcAft>
                    <a:spcPts val="900"/>
                  </a:spcAft>
                </a:pPr>
                <a:r>
                  <a:rPr lang="zh-CN" altLang="zh-CN" dirty="0">
                    <a:latin typeface="+mj-ea"/>
                    <a:ea typeface="+mj-ea"/>
                    <a:cs typeface="Times New Roman" panose="02020603050405020304" pitchFamily="18" charset="0"/>
                  </a:rPr>
                  <a:t>决策树、基于决策树的</a:t>
                </a:r>
                <a:r>
                  <a:rPr lang="en-US" altLang="zh-CN" dirty="0">
                    <a:latin typeface="+mj-ea"/>
                    <a:ea typeface="+mj-ea"/>
                    <a:cs typeface="Times New Roman" panose="02020603050405020304" pitchFamily="18" charset="0"/>
                  </a:rPr>
                  <a:t>Boosting</a:t>
                </a:r>
                <a:r>
                  <a:rPr lang="zh-CN" altLang="zh-CN" dirty="0">
                    <a:latin typeface="+mj-ea"/>
                    <a:ea typeface="+mj-ea"/>
                    <a:cs typeface="Times New Roman" panose="02020603050405020304" pitchFamily="18" charset="0"/>
                  </a:rPr>
                  <a:t>和</a:t>
                </a:r>
                <a:r>
                  <a:rPr lang="en-US" altLang="zh-CN" dirty="0">
                    <a:latin typeface="+mj-ea"/>
                    <a:ea typeface="+mj-ea"/>
                    <a:cs typeface="Times New Roman" panose="02020603050405020304" pitchFamily="18" charset="0"/>
                  </a:rPr>
                  <a:t>Bagging</a:t>
                </a:r>
                <a:r>
                  <a:rPr lang="zh-CN" altLang="zh-CN" dirty="0">
                    <a:latin typeface="+mj-ea"/>
                    <a:ea typeface="+mj-ea"/>
                    <a:cs typeface="Times New Roman" panose="02020603050405020304" pitchFamily="18" charset="0"/>
                  </a:rPr>
                  <a:t>等集成学习模型对于特征取值大小并不敏感</a:t>
                </a:r>
                <a:r>
                  <a:rPr lang="zh-CN" altLang="en-US" dirty="0">
                    <a:latin typeface="+mj-ea"/>
                    <a:ea typeface="+mj-ea"/>
                    <a:cs typeface="Times New Roman" panose="02020603050405020304" pitchFamily="18" charset="0"/>
                  </a:rPr>
                  <a:t>，如随机森林、</a:t>
                </a:r>
                <a:r>
                  <a:rPr lang="en-US" altLang="zh-CN" dirty="0" err="1">
                    <a:latin typeface="+mj-ea"/>
                    <a:ea typeface="+mj-ea"/>
                    <a:cs typeface="Times New Roman" panose="02020603050405020304" pitchFamily="18" charset="0"/>
                  </a:rPr>
                  <a:t>XGBoost</a:t>
                </a:r>
                <a:r>
                  <a:rPr lang="zh-CN" altLang="en-US" dirty="0">
                    <a:latin typeface="+mj-ea"/>
                    <a:ea typeface="+mj-ea"/>
                    <a:cs typeface="Times New Roman" panose="02020603050405020304" pitchFamily="18" charset="0"/>
                  </a:rPr>
                  <a:t>、</a:t>
                </a:r>
                <a:r>
                  <a:rPr lang="en-US" altLang="zh-CN" dirty="0" err="1">
                    <a:latin typeface="+mj-ea"/>
                    <a:ea typeface="+mj-ea"/>
                    <a:cs typeface="Times New Roman" panose="02020603050405020304" pitchFamily="18" charset="0"/>
                  </a:rPr>
                  <a:t>LightGBM</a:t>
                </a:r>
                <a:r>
                  <a:rPr lang="zh-CN" altLang="en-US" dirty="0">
                    <a:latin typeface="+mj-ea"/>
                    <a:ea typeface="+mj-ea"/>
                    <a:cs typeface="Times New Roman" panose="02020603050405020304" pitchFamily="18" charset="0"/>
                  </a:rPr>
                  <a:t>等树模型，以及朴素贝叶斯，以上这些</a:t>
                </a:r>
                <a:r>
                  <a:rPr lang="zh-CN" altLang="zh-CN" dirty="0">
                    <a:latin typeface="+mj-ea"/>
                    <a:ea typeface="+mj-ea"/>
                    <a:cs typeface="Times New Roman" panose="02020603050405020304" pitchFamily="18" charset="0"/>
                  </a:rPr>
                  <a:t>模型一般</a:t>
                </a:r>
                <a:r>
                  <a:rPr lang="zh-CN" altLang="zh-CN" dirty="0">
                    <a:solidFill>
                      <a:srgbClr val="FF0000"/>
                    </a:solidFill>
                    <a:latin typeface="+mj-ea"/>
                    <a:ea typeface="+mj-ea"/>
                    <a:cs typeface="Times New Roman" panose="02020603050405020304" pitchFamily="18" charset="0"/>
                  </a:rPr>
                  <a:t>不需要</a:t>
                </a:r>
                <a:r>
                  <a:rPr lang="zh-CN" altLang="zh-CN" dirty="0">
                    <a:latin typeface="+mj-ea"/>
                    <a:ea typeface="+mj-ea"/>
                    <a:cs typeface="Times New Roman" panose="02020603050405020304" pitchFamily="18" charset="0"/>
                  </a:rPr>
                  <a:t>做数据</a:t>
                </a:r>
                <a:r>
                  <a:rPr lang="zh-CN" altLang="en-US" dirty="0">
                    <a:latin typeface="+mj-ea"/>
                    <a:ea typeface="+mj-ea"/>
                    <a:cs typeface="Times New Roman" panose="02020603050405020304" pitchFamily="18" charset="0"/>
                  </a:rPr>
                  <a:t>归一化</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标准化处理。</a:t>
                </a:r>
              </a:p>
              <a:p>
                <a:pPr algn="l">
                  <a:lnSpc>
                    <a:spcPct val="150000"/>
                  </a:lnSpc>
                  <a:buFont typeface="Arial" panose="020B0604020202020204" pitchFamily="34" charset="0"/>
                  <a:buChar char="•"/>
                </a:pPr>
                <a:endParaRPr lang="zh-CN" altLang="en-US" b="0" i="0" dirty="0">
                  <a:effectLst/>
                  <a:latin typeface="Helvetica Neue"/>
                </a:endParaRPr>
              </a:p>
              <a:p>
                <a:pPr algn="l">
                  <a:lnSpc>
                    <a:spcPct val="150000"/>
                  </a:lnSpc>
                  <a:buFont typeface="Arial" panose="020B0604020202020204" pitchFamily="34" charset="0"/>
                  <a:buChar char="•"/>
                </a:pPr>
                <a:endParaRPr lang="zh-CN" altLang="en-US" b="0" i="0" dirty="0">
                  <a:effectLst/>
                  <a:latin typeface="Helvetica Neue"/>
                </a:endParaRPr>
              </a:p>
              <a:p>
                <a:endParaRPr lang="en-US" altLang="zh-CN" dirty="0"/>
              </a:p>
              <a:p>
                <a:endParaRPr lang="en-US" altLang="zh-CN" dirty="0"/>
              </a:p>
              <a:p>
                <a:pPr>
                  <a:lnSpc>
                    <a:spcPct val="150000"/>
                  </a:lnSpc>
                </a:pPr>
                <a:r>
                  <a:rPr lang="zh-CN" altLang="zh-CN" sz="1200" b="1" dirty="0">
                    <a:latin typeface="微软雅黑" panose="020B0503020204020204" pitchFamily="34" charset="-122"/>
                    <a:ea typeface="微软雅黑" panose="020B0503020204020204" pitchFamily="34" charset="-122"/>
                  </a:rPr>
                  <a:t>过滤式</a:t>
                </a:r>
                <a:r>
                  <a:rPr lang="en-US" altLang="zh-CN" sz="1200" b="1" dirty="0">
                    <a:latin typeface="微软雅黑" panose="020B0503020204020204" pitchFamily="34" charset="-122"/>
                    <a:ea typeface="微软雅黑" panose="020B0503020204020204" pitchFamily="34" charset="-122"/>
                  </a:rPr>
                  <a:t>(Filter):</a:t>
                </a:r>
                <a:r>
                  <a:rPr lang="zh-CN" altLang="en-US" sz="1200" dirty="0">
                    <a:latin typeface="微软雅黑" panose="020B0503020204020204" pitchFamily="34" charset="-122"/>
                    <a:ea typeface="微软雅黑" panose="020B0503020204020204" pitchFamily="34" charset="-122"/>
                  </a:rPr>
                  <a:t>先对数据集进行特征选择，其过程与后续学习器无关，即设计一些统计量来过滤特征，并不考虑后续学习器问题；</a:t>
                </a:r>
                <a:r>
                  <a:rPr lang="zh-CN" altLang="en-US" dirty="0">
                    <a:latin typeface="微软雅黑" panose="020B0503020204020204" pitchFamily="34" charset="-122"/>
                  </a:rPr>
                  <a:t>先对数据集进行特征选择，然后再训练学习器，特征选择过程与后续学习器无关，也就是先采用特征选择对初始特征进行过滤，然后用过滤后的特征训练模型；</a:t>
                </a:r>
                <a:endParaRPr lang="en-US" altLang="zh-CN" dirty="0">
                  <a:latin typeface="微软雅黑" panose="020B0503020204020204" pitchFamily="34" charset="-122"/>
                </a:endParaRPr>
              </a:p>
              <a:p>
                <a:pPr>
                  <a:lnSpc>
                    <a:spcPct val="150000"/>
                  </a:lnSpc>
                </a:pPr>
                <a:r>
                  <a:rPr lang="zh-CN" altLang="en-US" dirty="0">
                    <a:latin typeface="微软雅黑" panose="020B0503020204020204" pitchFamily="34" charset="-122"/>
                  </a:rPr>
                  <a:t>常用方法：</a:t>
                </a:r>
              </a:p>
              <a:p>
                <a:pPr>
                  <a:lnSpc>
                    <a:spcPct val="150000"/>
                  </a:lnSpc>
                </a:pPr>
                <a:r>
                  <a:rPr lang="zh-CN" altLang="en-US" dirty="0">
                    <a:latin typeface="微软雅黑" panose="020B0503020204020204" pitchFamily="34" charset="-122"/>
                  </a:rPr>
                  <a:t>方差选择法：移除方差低于阈值的特征（适用于离散型数据）。</a:t>
                </a:r>
              </a:p>
              <a:p>
                <a:pPr>
                  <a:lnSpc>
                    <a:spcPct val="150000"/>
                  </a:lnSpc>
                </a:pPr>
                <a:r>
                  <a:rPr lang="zh-CN" altLang="en-US" dirty="0">
                    <a:latin typeface="微软雅黑" panose="020B0503020204020204" pitchFamily="34" charset="-122"/>
                  </a:rPr>
                  <a:t>​相关性分析：</a:t>
                </a:r>
              </a:p>
              <a:p>
                <a:pPr>
                  <a:lnSpc>
                    <a:spcPct val="150000"/>
                  </a:lnSpc>
                </a:pPr>
                <a:r>
                  <a:rPr lang="zh-CN" altLang="en-US" dirty="0">
                    <a:latin typeface="微软雅黑" panose="020B0503020204020204" pitchFamily="34" charset="-122"/>
                  </a:rPr>
                  <a:t>​卡方检验：检验定性特征与分类目标的相关性。</a:t>
                </a:r>
              </a:p>
              <a:p>
                <a:pPr>
                  <a:lnSpc>
                    <a:spcPct val="150000"/>
                  </a:lnSpc>
                </a:pPr>
                <a:r>
                  <a:rPr lang="zh-CN" altLang="en-US" dirty="0">
                    <a:latin typeface="微软雅黑" panose="020B0503020204020204" pitchFamily="34" charset="-122"/>
                  </a:rPr>
                  <a:t>​皮尔逊相关系数：衡量数值特征与目标的线性相关性。</a:t>
                </a:r>
              </a:p>
              <a:p>
                <a:pPr>
                  <a:lnSpc>
                    <a:spcPct val="150000"/>
                  </a:lnSpc>
                </a:pPr>
                <a:r>
                  <a:rPr lang="zh-CN" altLang="en-US" dirty="0">
                    <a:latin typeface="微软雅黑" panose="020B0503020204020204" pitchFamily="34" charset="-122"/>
                  </a:rPr>
                  <a:t>​互信息（</a:t>
                </a:r>
                <a:r>
                  <a:rPr lang="en-US" altLang="zh-CN" dirty="0">
                    <a:latin typeface="微软雅黑" panose="020B0503020204020204" pitchFamily="34" charset="-122"/>
                  </a:rPr>
                  <a:t>MIC</a:t>
                </a:r>
                <a:r>
                  <a:rPr lang="zh-CN" altLang="en-US" dirty="0">
                    <a:latin typeface="微软雅黑" panose="020B0503020204020204" pitchFamily="34" charset="-122"/>
                  </a:rPr>
                  <a:t>）​：捕捉特征与目标的线性和非线性关系。</a:t>
                </a:r>
              </a:p>
              <a:p>
                <a:pPr>
                  <a:lnSpc>
                    <a:spcPct val="150000"/>
                  </a:lnSpc>
                </a:pPr>
                <a:r>
                  <a:rPr lang="zh-CN" altLang="en-US" dirty="0">
                    <a:latin typeface="微软雅黑" panose="020B0503020204020204" pitchFamily="34" charset="-122"/>
                  </a:rPr>
                  <a:t>​</a:t>
                </a:r>
                <a:r>
                  <a:rPr lang="en-US" altLang="zh-CN" dirty="0">
                    <a:latin typeface="微软雅黑" panose="020B0503020204020204" pitchFamily="34" charset="-122"/>
                  </a:rPr>
                  <a:t>F</a:t>
                </a:r>
                <a:r>
                  <a:rPr lang="zh-CN" altLang="en-US" dirty="0">
                    <a:latin typeface="微软雅黑" panose="020B0503020204020204" pitchFamily="34" charset="-122"/>
                  </a:rPr>
                  <a:t>检验：通过方差齐性分析筛选特征（适用于分类和回归问题）。</a:t>
                </a:r>
              </a:p>
              <a:p>
                <a:pPr lvl="0" algn="l" rtl="0">
                  <a:lnSpc>
                    <a:spcPts val="1500"/>
                  </a:lnSpc>
                  <a:spcAft>
                    <a:spcPts val="300"/>
                  </a:spcAft>
                </a:pPr>
                <a:endParaRPr lang="zh-CN" altLang="zh-CN" sz="1200" dirty="0">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zh-CN" sz="1200" b="1" dirty="0">
                    <a:latin typeface="微软雅黑" panose="020B0503020204020204" pitchFamily="34" charset="-122"/>
                    <a:ea typeface="微软雅黑" panose="020B0503020204020204" pitchFamily="34" charset="-122"/>
                  </a:rPr>
                  <a:t>包裹式</a:t>
                </a:r>
                <a:r>
                  <a:rPr lang="en-US" altLang="zh-CN" sz="1200" b="1" dirty="0">
                    <a:latin typeface="微软雅黑" panose="020B0503020204020204" pitchFamily="34" charset="-122"/>
                    <a:ea typeface="微软雅黑" panose="020B0503020204020204" pitchFamily="34" charset="-122"/>
                  </a:rPr>
                  <a:t>(Wrapper):</a:t>
                </a:r>
                <a:r>
                  <a:rPr lang="zh-CN" altLang="en-US" sz="1200" dirty="0">
                    <a:latin typeface="微软雅黑" panose="020B0503020204020204" pitchFamily="34" charset="-122"/>
                    <a:ea typeface="微软雅黑" panose="020B0503020204020204" pitchFamily="34" charset="-122"/>
                  </a:rPr>
                  <a:t>就是一个分类器，它是将后续的学习器的性能作为特征子集的评价标准；</a:t>
                </a:r>
                <a:r>
                  <a:rPr lang="zh-CN" altLang="en-US" dirty="0">
                    <a:latin typeface="微软雅黑" panose="020B0503020204020204" pitchFamily="34" charset="-122"/>
                  </a:rPr>
                  <a:t>原理：包裹式特征选择</a:t>
                </a:r>
                <a:r>
                  <a:rPr lang="zh-CN" altLang="en-US" b="1" dirty="0">
                    <a:latin typeface="微软雅黑" panose="020B0503020204020204" pitchFamily="34" charset="-122"/>
                  </a:rPr>
                  <a:t>直接把最终将要使用的学习器的性能作为特征子集的评价原则</a:t>
                </a:r>
                <a:r>
                  <a:rPr lang="zh-CN" altLang="en-US" dirty="0">
                    <a:latin typeface="微软雅黑" panose="020B0503020204020204" pitchFamily="34" charset="-122"/>
                  </a:rPr>
                  <a:t>。其目的就是为给定学习器选择最有利于其性能、量身定做的特征子集。</a:t>
                </a:r>
                <a:endParaRPr lang="en-US" altLang="zh-CN" dirty="0">
                  <a:latin typeface="微软雅黑" panose="020B0503020204020204" pitchFamily="34" charset="-122"/>
                </a:endParaRP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en-US" dirty="0">
                    <a:latin typeface="微软雅黑" panose="020B0503020204020204" pitchFamily="34" charset="-122"/>
                  </a:rPr>
                  <a:t>典型算法：</a:t>
                </a: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en-US" dirty="0">
                    <a:latin typeface="微软雅黑" panose="020B0503020204020204" pitchFamily="34" charset="-122"/>
                  </a:rPr>
                  <a:t>​递归特征消除（</a:t>
                </a:r>
                <a:r>
                  <a:rPr lang="en-US" altLang="zh-CN" dirty="0">
                    <a:latin typeface="微软雅黑" panose="020B0503020204020204" pitchFamily="34" charset="-122"/>
                  </a:rPr>
                  <a:t>RFE</a:t>
                </a:r>
                <a:r>
                  <a:rPr lang="zh-CN" altLang="en-US" dirty="0">
                    <a:latin typeface="微软雅黑" panose="020B0503020204020204" pitchFamily="34" charset="-122"/>
                  </a:rPr>
                  <a:t>）​：迭代剔除最不重要的特征（如基于</a:t>
                </a:r>
                <a:r>
                  <a:rPr lang="en-US" altLang="zh-CN" dirty="0">
                    <a:latin typeface="微软雅黑" panose="020B0503020204020204" pitchFamily="34" charset="-122"/>
                  </a:rPr>
                  <a:t>SVM</a:t>
                </a:r>
                <a:r>
                  <a:rPr lang="zh-CN" altLang="en-US" dirty="0">
                    <a:latin typeface="微软雅黑" panose="020B0503020204020204" pitchFamily="34" charset="-122"/>
                  </a:rPr>
                  <a:t>或逻辑回归的权重）。</a:t>
                </a: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en-US" dirty="0">
                    <a:latin typeface="微软雅黑" panose="020B0503020204020204" pitchFamily="34" charset="-122"/>
                  </a:rPr>
                  <a:t>​前向</a:t>
                </a:r>
                <a:r>
                  <a:rPr lang="en-US" altLang="zh-CN" dirty="0">
                    <a:latin typeface="微软雅黑" panose="020B0503020204020204" pitchFamily="34" charset="-122"/>
                  </a:rPr>
                  <a:t>/</a:t>
                </a:r>
                <a:r>
                  <a:rPr lang="zh-CN" altLang="en-US" dirty="0">
                    <a:latin typeface="微软雅黑" panose="020B0503020204020204" pitchFamily="34" charset="-122"/>
                  </a:rPr>
                  <a:t>后向选择：逐步添加或删除特征，直至模型性能最优。</a:t>
                </a:r>
              </a:p>
              <a:p>
                <a:pPr marL="0" marR="0" lvl="0" indent="0" algn="l" defTabSz="914400" rtl="0" eaLnBrk="0" fontAlgn="base" latinLnBrk="0" hangingPunct="0">
                  <a:lnSpc>
                    <a:spcPts val="1500"/>
                  </a:lnSpc>
                  <a:spcBef>
                    <a:spcPct val="30000"/>
                  </a:spcBef>
                  <a:spcAft>
                    <a:spcPts val="300"/>
                  </a:spcAft>
                  <a:buClrTx/>
                  <a:buSzTx/>
                  <a:buFontTx/>
                  <a:buNone/>
                  <a:tabLst/>
                  <a:defRPr/>
                </a:pPr>
                <a:r>
                  <a:rPr lang="zh-CN" altLang="en-US" dirty="0">
                    <a:latin typeface="微软雅黑" panose="020B0503020204020204" pitchFamily="34" charset="-122"/>
                  </a:rPr>
                  <a:t>​遗传算法：模拟生物进化过程，通过交叉变异生成特征子集</a:t>
                </a:r>
                <a:endParaRPr lang="en-US" altLang="zh-CN" dirty="0">
                  <a:latin typeface="微软雅黑" panose="020B0503020204020204" pitchFamily="34" charset="-122"/>
                </a:endParaRPr>
              </a:p>
              <a:p>
                <a:pPr lvl="0" algn="l" rtl="0">
                  <a:lnSpc>
                    <a:spcPts val="1500"/>
                  </a:lnSpc>
                  <a:spcAft>
                    <a:spcPts val="300"/>
                  </a:spcAft>
                </a:pPr>
                <a:endParaRPr lang="zh-CN" altLang="zh-CN" sz="1200" dirty="0">
                  <a:latin typeface="微软雅黑" panose="020B0503020204020204" pitchFamily="34" charset="-122"/>
                  <a:ea typeface="微软雅黑" panose="020B0503020204020204" pitchFamily="34" charset="-122"/>
                </a:endParaRPr>
              </a:p>
              <a:p>
                <a:pPr lvl="0" algn="l" rtl="0">
                  <a:lnSpc>
                    <a:spcPts val="1500"/>
                  </a:lnSpc>
                  <a:spcAft>
                    <a:spcPts val="300"/>
                  </a:spcAft>
                </a:pPr>
                <a:r>
                  <a:rPr lang="zh-CN" altLang="zh-CN" sz="1200" b="1" dirty="0">
                    <a:latin typeface="微软雅黑" panose="020B0503020204020204" pitchFamily="34" charset="-122"/>
                    <a:ea typeface="微软雅黑" panose="020B0503020204020204" pitchFamily="34" charset="-122"/>
                  </a:rPr>
                  <a:t>嵌入式</a:t>
                </a:r>
                <a:r>
                  <a:rPr lang="en-US" altLang="zh-CN" sz="1200" b="1" dirty="0">
                    <a:latin typeface="微软雅黑" panose="020B0503020204020204" pitchFamily="34" charset="-122"/>
                    <a:ea typeface="微软雅黑" panose="020B0503020204020204" pitchFamily="34" charset="-122"/>
                  </a:rPr>
                  <a:t>(Embedding):</a:t>
                </a:r>
                <a:r>
                  <a:rPr lang="zh-CN" altLang="en-US" sz="1200" dirty="0">
                    <a:latin typeface="微软雅黑" panose="020B0503020204020204" pitchFamily="34" charset="-122"/>
                    <a:ea typeface="微软雅黑" panose="020B0503020204020204" pitchFamily="34" charset="-122"/>
                  </a:rPr>
                  <a:t>是学习器自主选择特征；</a:t>
                </a:r>
                <a:r>
                  <a:rPr lang="zh-CN" altLang="en-US" dirty="0">
                    <a:latin typeface="微软雅黑" panose="020B0503020204020204" pitchFamily="34" charset="-122"/>
                  </a:rPr>
                  <a:t>嵌入式特征选择是将特征选择与学习器训练过程融为一体，两者在同一个优化过程中完成的。即学习器训练过程中自动进行了特征选择。</a:t>
                </a:r>
                <a:endParaRPr lang="en-US" altLang="zh-CN" dirty="0">
                  <a:latin typeface="微软雅黑" panose="020B0503020204020204" pitchFamily="34" charset="-122"/>
                </a:endParaRPr>
              </a:p>
              <a:p>
                <a:pPr lvl="0"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典型方法：</a:t>
                </a:r>
              </a:p>
              <a:p>
                <a:pPr lvl="0"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​正则化方法：</a:t>
                </a:r>
              </a:p>
              <a:p>
                <a:pPr lvl="1"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L1</a:t>
                </a:r>
                <a:r>
                  <a:rPr lang="zh-CN" altLang="en-US" sz="1200" dirty="0">
                    <a:latin typeface="微软雅黑" panose="020B0503020204020204" pitchFamily="34" charset="-122"/>
                    <a:ea typeface="微软雅黑" panose="020B0503020204020204" pitchFamily="34" charset="-122"/>
                  </a:rPr>
                  <a:t>正则化（</a:t>
                </a:r>
                <a:r>
                  <a:rPr lang="en-US" altLang="zh-CN" sz="1200" dirty="0">
                    <a:latin typeface="微软雅黑" panose="020B0503020204020204" pitchFamily="34" charset="-122"/>
                    <a:ea typeface="微软雅黑" panose="020B0503020204020204" pitchFamily="34" charset="-122"/>
                  </a:rPr>
                  <a:t>LASSO</a:t>
                </a:r>
                <a:r>
                  <a:rPr lang="zh-CN" altLang="en-US" sz="1200" dirty="0">
                    <a:latin typeface="微软雅黑" panose="020B0503020204020204" pitchFamily="34" charset="-122"/>
                    <a:ea typeface="微软雅黑" panose="020B0503020204020204" pitchFamily="34" charset="-122"/>
                  </a:rPr>
                  <a:t>）​：通过稀疏化特征系数剔除冗余特征。</a:t>
                </a:r>
              </a:p>
              <a:p>
                <a:pPr lvl="1"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​弹性网络（</a:t>
                </a:r>
                <a:r>
                  <a:rPr lang="en-US" altLang="zh-CN" sz="1200" dirty="0">
                    <a:latin typeface="微软雅黑" panose="020B0503020204020204" pitchFamily="34" charset="-122"/>
                    <a:ea typeface="微软雅黑" panose="020B0503020204020204" pitchFamily="34" charset="-122"/>
                  </a:rPr>
                  <a:t>Elastic Net</a:t>
                </a:r>
                <a:r>
                  <a:rPr lang="zh-CN" altLang="en-US" sz="1200" dirty="0">
                    <a:latin typeface="微软雅黑" panose="020B0503020204020204" pitchFamily="34" charset="-122"/>
                    <a:ea typeface="微软雅黑" panose="020B0503020204020204" pitchFamily="34" charset="-122"/>
                  </a:rPr>
                  <a:t>）​：结合</a:t>
                </a:r>
                <a:r>
                  <a:rPr lang="en-US" altLang="zh-CN" sz="1200" dirty="0">
                    <a:latin typeface="微软雅黑" panose="020B0503020204020204" pitchFamily="34" charset="-122"/>
                    <a:ea typeface="微软雅黑" panose="020B0503020204020204" pitchFamily="34" charset="-122"/>
                  </a:rPr>
                  <a:t>L1</a:t>
                </a:r>
                <a:r>
                  <a:rPr lang="zh-CN" altLang="en-US"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L2</a:t>
                </a:r>
                <a:r>
                  <a:rPr lang="zh-CN" altLang="en-US" sz="1200" dirty="0">
                    <a:latin typeface="微软雅黑" panose="020B0503020204020204" pitchFamily="34" charset="-122"/>
                    <a:ea typeface="微软雅黑" panose="020B0503020204020204" pitchFamily="34" charset="-122"/>
                  </a:rPr>
                  <a:t>正则化，平衡特征选择与共线性。</a:t>
                </a:r>
              </a:p>
              <a:p>
                <a:pPr lvl="0"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​树模型：​随机森林</a:t>
                </a:r>
                <a:r>
                  <a:rPr lang="en-US" altLang="zh-CN"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XGBoost</a:t>
                </a:r>
                <a:r>
                  <a:rPr lang="zh-CN" altLang="en-US" sz="1200" dirty="0">
                    <a:latin typeface="微软雅黑" panose="020B0503020204020204" pitchFamily="34" charset="-122"/>
                    <a:ea typeface="微软雅黑" panose="020B0503020204020204" pitchFamily="34" charset="-122"/>
                  </a:rPr>
                  <a:t>：基于特征重要性（如基尼指数、分裂增益）排序。</a:t>
                </a:r>
              </a:p>
              <a:p>
                <a:pPr lvl="0"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​深度学习：</a:t>
                </a:r>
              </a:p>
              <a:p>
                <a:pPr lvl="1"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​注意力机制：通过权重聚焦关键特征。</a:t>
                </a:r>
              </a:p>
              <a:p>
                <a:pPr lvl="1" algn="l" rtl="0">
                  <a:lnSpc>
                    <a:spcPts val="1500"/>
                  </a:lnSpc>
                  <a:spcAft>
                    <a:spcPts val="300"/>
                  </a:spcAft>
                </a:pPr>
                <a:r>
                  <a:rPr lang="zh-CN" altLang="en-US" sz="1200" dirty="0">
                    <a:latin typeface="微软雅黑" panose="020B0503020204020204" pitchFamily="34" charset="-122"/>
                    <a:ea typeface="微软雅黑" panose="020B0503020204020204" pitchFamily="34" charset="-122"/>
                  </a:rPr>
                  <a:t>​稀疏自编码器：隐式约束编码层特征稀疏性。</a:t>
                </a:r>
                <a:endParaRPr lang="zh-CN" altLang="zh-CN" sz="1200" dirty="0">
                  <a:latin typeface="微软雅黑" panose="020B0503020204020204" pitchFamily="34" charset="-122"/>
                  <a:ea typeface="微软雅黑" panose="020B0503020204020204" pitchFamily="34" charset="-122"/>
                </a:endParaRPr>
              </a:p>
              <a:p>
                <a:endParaRPr lang="zh-CN" altLang="en-US" dirty="0"/>
              </a:p>
            </p:txBody>
          </p:sp>
        </mc:Fallback>
      </mc:AlternateContent>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18</a:t>
            </a:fld>
            <a:endParaRPr lang="en-US" altLang="zh-CN">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55328-DFCE-3125-767B-CECAB82E0110}"/>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5340DF93-392E-171B-1B80-5BFE32442A9A}"/>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28752E1C-F390-3A93-E7C5-BE4406D09D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endParaRPr lang="zh-CN" altLang="en-US" baseline="0" dirty="0">
              <a:latin typeface="Times New Roman" panose="02020603050405020304" pitchFamily="18" charset="0"/>
              <a:ea typeface="楷体" panose="02010609060101010101" pitchFamily="49" charset="-122"/>
            </a:endParaRPr>
          </a:p>
        </p:txBody>
      </p:sp>
      <p:sp>
        <p:nvSpPr>
          <p:cNvPr id="45060" name="灯片编号占位符 3">
            <a:extLst>
              <a:ext uri="{FF2B5EF4-FFF2-40B4-BE49-F238E27FC236}">
                <a16:creationId xmlns:a16="http://schemas.microsoft.com/office/drawing/2014/main" id="{A9AE30FE-1526-58BC-BF73-7B61982D3AE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19</a:t>
            </a:fld>
            <a:endParaRPr lang="en-US" altLang="zh-CN">
              <a:latin typeface="Calibri" panose="020F0502020204030204" pitchFamily="34" charset="0"/>
            </a:endParaRPr>
          </a:p>
        </p:txBody>
      </p:sp>
    </p:spTree>
    <p:extLst>
      <p:ext uri="{BB962C8B-B14F-4D97-AF65-F5344CB8AC3E}">
        <p14:creationId xmlns:p14="http://schemas.microsoft.com/office/powerpoint/2010/main" val="4243979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A2A34-74FF-6941-2405-8A5DA5BD7B19}"/>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56298967-1F2A-3B04-D6C9-117C08CD92BC}"/>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91124418-DA6C-46C4-B227-3D33D5DED2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pc="55" dirty="0">
                <a:latin typeface="+mj-ea"/>
                <a:ea typeface="+mj-ea"/>
                <a:cs typeface="仿宋"/>
              </a:rPr>
              <a:t>SMOTE(Synthetic Minority Over-sampling Technique)</a:t>
            </a:r>
            <a:r>
              <a:rPr lang="zh-CN" altLang="en-US" spc="55" dirty="0">
                <a:latin typeface="+mj-ea"/>
                <a:ea typeface="+mj-ea"/>
                <a:cs typeface="仿宋"/>
              </a:rPr>
              <a:t>合成少数过采样技术</a:t>
            </a:r>
            <a:r>
              <a:rPr lang="zh-CN" altLang="en-US" spc="55" dirty="0">
                <a:latin typeface="Microsoft JhengHei Light"/>
                <a:cs typeface="仿宋"/>
              </a:rPr>
              <a:t>算法是过采样中比较常用的一种。通过插值生成新样本（如对少数类样本的</a:t>
            </a:r>
            <a:r>
              <a:rPr lang="en-US" altLang="zh-CN" spc="55" dirty="0">
                <a:latin typeface="Microsoft JhengHei Light"/>
                <a:cs typeface="仿宋"/>
              </a:rPr>
              <a:t>K</a:t>
            </a:r>
            <a:r>
              <a:rPr lang="zh-CN" altLang="en-US" spc="55" dirty="0">
                <a:latin typeface="Microsoft JhengHei Light"/>
                <a:cs typeface="仿宋"/>
              </a:rPr>
              <a:t>近邻进行线性插值），避免重复样本问题</a:t>
            </a:r>
            <a:endParaRPr lang="en-US" altLang="zh-CN" b="0" i="0" dirty="0">
              <a:effectLst/>
              <a:latin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effectLst/>
              <a:latin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effectLst/>
              <a:latin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effectLst/>
                <a:latin typeface="-apple-system"/>
              </a:rPr>
              <a:t>代价敏感学习是指为不同类别的样本提供不同的权重，从而让机器学习模型进行学习的一种方法</a:t>
            </a:r>
            <a:r>
              <a:rPr lang="en-US" altLang="zh-CN" b="0" i="0" dirty="0">
                <a:effectLst/>
                <a:latin typeface="-apple-system"/>
              </a:rPr>
              <a:t>;</a:t>
            </a:r>
            <a:r>
              <a:rPr lang="zh-CN" altLang="en-US" dirty="0"/>
              <a:t>比如风控或者入侵检测，这两类任务都具有严重的数据不平衡问题，可以在算法学习的时候，为少类样本设置更高的学习权重，从而让算法更加专注于少类样本的分类情况，提高对少类样本分类的查全率，但是也会将很多多类样本分类为少类样本，降低少类样本分类的查准率。</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lang="zh-CN" altLang="en-US" dirty="0"/>
          </a:p>
        </p:txBody>
      </p:sp>
      <p:sp>
        <p:nvSpPr>
          <p:cNvPr id="45060" name="灯片编号占位符 3">
            <a:extLst>
              <a:ext uri="{FF2B5EF4-FFF2-40B4-BE49-F238E27FC236}">
                <a16:creationId xmlns:a16="http://schemas.microsoft.com/office/drawing/2014/main" id="{D8BBE8AB-44F2-A5E5-9D27-8943CD1DF5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20</a:t>
            </a:fld>
            <a:endParaRPr lang="en-US" altLang="zh-CN">
              <a:latin typeface="Calibri" panose="020F0502020204030204" pitchFamily="34" charset="0"/>
            </a:endParaRPr>
          </a:p>
        </p:txBody>
      </p:sp>
    </p:spTree>
    <p:extLst>
      <p:ext uri="{BB962C8B-B14F-4D97-AF65-F5344CB8AC3E}">
        <p14:creationId xmlns:p14="http://schemas.microsoft.com/office/powerpoint/2010/main" val="11429504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9142-2194-3F13-6AB2-9CEAF81FC427}"/>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93A76577-E3F1-C71E-8D80-29F32AA87BC6}"/>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B2489D6A-17BB-D738-DC07-1FFAFC1129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endParaRPr lang="zh-CN" altLang="en-US" dirty="0"/>
          </a:p>
          <a:p>
            <a:endParaRPr lang="en-US" altLang="zh-CN" dirty="0"/>
          </a:p>
          <a:p>
            <a:endParaRPr lang="zh-CN" altLang="en-US" dirty="0"/>
          </a:p>
          <a:p>
            <a:endParaRPr lang="zh-CN" altLang="en-US" dirty="0"/>
          </a:p>
        </p:txBody>
      </p:sp>
      <p:sp>
        <p:nvSpPr>
          <p:cNvPr id="45060" name="灯片编号占位符 3">
            <a:extLst>
              <a:ext uri="{FF2B5EF4-FFF2-40B4-BE49-F238E27FC236}">
                <a16:creationId xmlns:a16="http://schemas.microsoft.com/office/drawing/2014/main" id="{F204E810-6616-40A2-DF8E-03BC955B07C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21</a:t>
            </a:fld>
            <a:endParaRPr lang="en-US" altLang="zh-CN">
              <a:latin typeface="Calibri" panose="020F0502020204030204" pitchFamily="34" charset="0"/>
            </a:endParaRPr>
          </a:p>
        </p:txBody>
      </p:sp>
    </p:spTree>
    <p:extLst>
      <p:ext uri="{BB962C8B-B14F-4D97-AF65-F5344CB8AC3E}">
        <p14:creationId xmlns:p14="http://schemas.microsoft.com/office/powerpoint/2010/main" val="14510841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C85F5-044D-50DA-56F6-6FDB6B4F34A2}"/>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B3FD639D-10AC-7382-B4C8-A76E8899539A}"/>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4110B679-A2AF-8B10-7572-09B2DEFFEC4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endParaRPr lang="zh-CN" altLang="en-US" dirty="0"/>
          </a:p>
          <a:p>
            <a:endParaRPr lang="en-US" altLang="zh-CN" dirty="0"/>
          </a:p>
          <a:p>
            <a:endParaRPr lang="zh-CN" altLang="en-US" dirty="0"/>
          </a:p>
          <a:p>
            <a:endParaRPr lang="zh-CN" altLang="en-US" dirty="0"/>
          </a:p>
        </p:txBody>
      </p:sp>
      <p:sp>
        <p:nvSpPr>
          <p:cNvPr id="45060" name="灯片编号占位符 3">
            <a:extLst>
              <a:ext uri="{FF2B5EF4-FFF2-40B4-BE49-F238E27FC236}">
                <a16:creationId xmlns:a16="http://schemas.microsoft.com/office/drawing/2014/main" id="{E832DE74-32D7-9EAC-A5F8-8554A05F54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22</a:t>
            </a:fld>
            <a:endParaRPr lang="en-US" altLang="zh-CN">
              <a:latin typeface="Calibri" panose="020F0502020204030204" pitchFamily="34" charset="0"/>
            </a:endParaRPr>
          </a:p>
        </p:txBody>
      </p:sp>
    </p:spTree>
    <p:extLst>
      <p:ext uri="{BB962C8B-B14F-4D97-AF65-F5344CB8AC3E}">
        <p14:creationId xmlns:p14="http://schemas.microsoft.com/office/powerpoint/2010/main" val="2505310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endParaRPr lang="zh-CN" altLang="en-US" dirty="0"/>
          </a:p>
          <a:p>
            <a:endParaRPr lang="en-US" altLang="zh-CN" dirty="0"/>
          </a:p>
          <a:p>
            <a:endParaRPr lang="zh-CN" altLang="en-US" dirty="0"/>
          </a:p>
          <a:p>
            <a:endParaRPr lang="zh-CN" altLang="en-US" dirty="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23</a:t>
            </a:fld>
            <a:endParaRPr lang="en-US" altLang="zh-CN">
              <a:latin typeface="Calibri" panose="020F050202020403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806A-E429-85D8-7832-CD71CDC762B2}"/>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9DB46AFB-1664-5482-91A9-4EB4DB5A0A40}"/>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77FD265B-6662-42B5-ED10-8924C882DF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endParaRPr lang="zh-CN" altLang="en-US" dirty="0"/>
          </a:p>
          <a:p>
            <a:endParaRPr lang="en-US" altLang="zh-CN" dirty="0"/>
          </a:p>
          <a:p>
            <a:endParaRPr lang="zh-CN" altLang="en-US" dirty="0"/>
          </a:p>
          <a:p>
            <a:endParaRPr lang="zh-CN" altLang="en-US" dirty="0"/>
          </a:p>
        </p:txBody>
      </p:sp>
      <p:sp>
        <p:nvSpPr>
          <p:cNvPr id="45060" name="灯片编号占位符 3">
            <a:extLst>
              <a:ext uri="{FF2B5EF4-FFF2-40B4-BE49-F238E27FC236}">
                <a16:creationId xmlns:a16="http://schemas.microsoft.com/office/drawing/2014/main" id="{8BA78449-68F5-532C-E15E-C37409AA1B0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24</a:t>
            </a:fld>
            <a:endParaRPr lang="en-US" altLang="zh-CN">
              <a:latin typeface="Calibri" panose="020F0502020204030204" pitchFamily="34" charset="0"/>
            </a:endParaRPr>
          </a:p>
        </p:txBody>
      </p:sp>
    </p:spTree>
    <p:extLst>
      <p:ext uri="{BB962C8B-B14F-4D97-AF65-F5344CB8AC3E}">
        <p14:creationId xmlns:p14="http://schemas.microsoft.com/office/powerpoint/2010/main" val="25294109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29983-BDD8-25D8-5203-5968FE330690}"/>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B8F6DA4-D6E5-7CDD-FAF4-35F4449D523E}"/>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63594360-C232-0ACE-FE09-F935F57828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mj-ea"/>
                <a:ea typeface="+mj-ea"/>
                <a:cs typeface="Times New Roman" panose="02020603050405020304" pitchFamily="18" charset="0"/>
              </a:rPr>
              <a:t>右</a:t>
            </a:r>
            <a:r>
              <a:rPr lang="zh-CN" altLang="zh-CN" dirty="0">
                <a:latin typeface="+mj-ea"/>
                <a:ea typeface="+mj-ea"/>
                <a:cs typeface="Times New Roman" panose="02020603050405020304" pitchFamily="18" charset="0"/>
              </a:rPr>
              <a:t>图是模型复杂度与误差的关系，一般来说，随着模型复杂度的增加，方差会逐渐增大，偏差会逐渐减小，在虚线处，差不多是模型复杂度的最恰当的选择，其</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偏差</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和</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方差</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也都适度，才能</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适度拟合</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a:t>
            </a:r>
          </a:p>
          <a:p>
            <a:endParaRPr lang="en-US" altLang="zh-CN" dirty="0"/>
          </a:p>
          <a:p>
            <a:pPr indent="266700" algn="just">
              <a:lnSpc>
                <a:spcPct val="150000"/>
              </a:lnSpc>
            </a:pPr>
            <a:r>
              <a:rPr lang="en-US" altLang="zh-CN" sz="1200" kern="100" dirty="0">
                <a:effectLst/>
                <a:latin typeface="+mj-ea"/>
                <a:ea typeface="+mj-ea"/>
                <a:cs typeface="Times New Roman" panose="02020603050405020304" pitchFamily="18" charset="0"/>
              </a:rPr>
              <a:t>1. </a:t>
            </a:r>
            <a:r>
              <a:rPr lang="zh-CN" altLang="zh-CN" sz="1200" kern="100" dirty="0">
                <a:effectLst/>
                <a:latin typeface="+mj-ea"/>
                <a:ea typeface="+mj-ea"/>
                <a:cs typeface="Times New Roman" panose="02020603050405020304" pitchFamily="18" charset="0"/>
              </a:rPr>
              <a:t>获得更多的训练实例</a:t>
            </a:r>
            <a:r>
              <a:rPr lang="en-US" altLang="zh-CN" sz="1200" kern="100" dirty="0">
                <a:effectLst/>
                <a:latin typeface="+mj-ea"/>
                <a:ea typeface="+mj-ea"/>
                <a:cs typeface="Times New Roman" panose="02020603050405020304" pitchFamily="18" charset="0"/>
              </a:rPr>
              <a:t>——</a:t>
            </a:r>
            <a:r>
              <a:rPr lang="zh-CN" altLang="zh-CN" sz="1200" kern="100" dirty="0">
                <a:effectLst/>
                <a:latin typeface="+mj-ea"/>
                <a:ea typeface="+mj-ea"/>
                <a:cs typeface="Times New Roman" panose="02020603050405020304" pitchFamily="18" charset="0"/>
              </a:rPr>
              <a:t>解决高方差</a:t>
            </a:r>
          </a:p>
          <a:p>
            <a:pPr indent="266700" algn="just">
              <a:lnSpc>
                <a:spcPct val="150000"/>
              </a:lnSpc>
            </a:pPr>
            <a:r>
              <a:rPr lang="en-US" altLang="zh-CN" sz="1200" kern="100" dirty="0">
                <a:effectLst/>
                <a:latin typeface="+mj-ea"/>
                <a:ea typeface="+mj-ea"/>
                <a:cs typeface="Times New Roman" panose="02020603050405020304" pitchFamily="18" charset="0"/>
              </a:rPr>
              <a:t>2. </a:t>
            </a:r>
            <a:r>
              <a:rPr lang="zh-CN" altLang="zh-CN" sz="1200" kern="100" dirty="0">
                <a:effectLst/>
                <a:latin typeface="+mj-ea"/>
                <a:ea typeface="+mj-ea"/>
                <a:cs typeface="Times New Roman" panose="02020603050405020304" pitchFamily="18" charset="0"/>
              </a:rPr>
              <a:t>尝试减少特征的数量</a:t>
            </a:r>
            <a:r>
              <a:rPr lang="en-US" altLang="zh-CN" sz="1200" kern="100" dirty="0">
                <a:effectLst/>
                <a:latin typeface="+mj-ea"/>
                <a:ea typeface="+mj-ea"/>
                <a:cs typeface="Times New Roman" panose="02020603050405020304" pitchFamily="18" charset="0"/>
              </a:rPr>
              <a:t>——</a:t>
            </a:r>
            <a:r>
              <a:rPr lang="zh-CN" altLang="zh-CN" sz="1200" kern="100" dirty="0">
                <a:effectLst/>
                <a:latin typeface="+mj-ea"/>
                <a:ea typeface="+mj-ea"/>
                <a:cs typeface="Times New Roman" panose="02020603050405020304" pitchFamily="18" charset="0"/>
              </a:rPr>
              <a:t>解决高方差</a:t>
            </a:r>
          </a:p>
          <a:p>
            <a:pPr indent="266700" algn="just">
              <a:lnSpc>
                <a:spcPct val="150000"/>
              </a:lnSpc>
            </a:pPr>
            <a:r>
              <a:rPr lang="en-US" altLang="zh-CN" sz="1200" kern="100" dirty="0">
                <a:effectLst/>
                <a:latin typeface="+mj-ea"/>
                <a:ea typeface="+mj-ea"/>
                <a:cs typeface="Times New Roman" panose="02020603050405020304" pitchFamily="18" charset="0"/>
              </a:rPr>
              <a:t>3. </a:t>
            </a:r>
            <a:r>
              <a:rPr lang="zh-CN" altLang="zh-CN" sz="1200" kern="100" dirty="0">
                <a:effectLst/>
                <a:latin typeface="+mj-ea"/>
                <a:ea typeface="+mj-ea"/>
                <a:cs typeface="Times New Roman" panose="02020603050405020304" pitchFamily="18" charset="0"/>
              </a:rPr>
              <a:t>尝试获得更多的特征</a:t>
            </a:r>
            <a:r>
              <a:rPr lang="en-US" altLang="zh-CN" sz="1200" kern="100" dirty="0">
                <a:effectLst/>
                <a:latin typeface="+mj-ea"/>
                <a:ea typeface="+mj-ea"/>
                <a:cs typeface="Times New Roman" panose="02020603050405020304" pitchFamily="18" charset="0"/>
              </a:rPr>
              <a:t>——</a:t>
            </a:r>
            <a:r>
              <a:rPr lang="zh-CN" altLang="zh-CN" sz="1200" kern="100" dirty="0">
                <a:effectLst/>
                <a:latin typeface="+mj-ea"/>
                <a:ea typeface="+mj-ea"/>
                <a:cs typeface="Times New Roman" panose="02020603050405020304" pitchFamily="18" charset="0"/>
              </a:rPr>
              <a:t>解决高偏差</a:t>
            </a:r>
          </a:p>
          <a:p>
            <a:pPr indent="266700" algn="just">
              <a:lnSpc>
                <a:spcPct val="150000"/>
              </a:lnSpc>
            </a:pPr>
            <a:r>
              <a:rPr lang="en-US" altLang="zh-CN" sz="1200" kern="100" dirty="0">
                <a:effectLst/>
                <a:latin typeface="+mj-ea"/>
                <a:ea typeface="+mj-ea"/>
                <a:cs typeface="Times New Roman" panose="02020603050405020304" pitchFamily="18" charset="0"/>
              </a:rPr>
              <a:t>4. </a:t>
            </a:r>
            <a:r>
              <a:rPr lang="zh-CN" altLang="zh-CN" sz="1200" kern="100" dirty="0">
                <a:effectLst/>
                <a:latin typeface="+mj-ea"/>
                <a:ea typeface="+mj-ea"/>
                <a:cs typeface="Times New Roman" panose="02020603050405020304" pitchFamily="18" charset="0"/>
              </a:rPr>
              <a:t>尝试增加多项式特征</a:t>
            </a:r>
            <a:r>
              <a:rPr lang="en-US" altLang="zh-CN" sz="1200" kern="100" dirty="0">
                <a:effectLst/>
                <a:latin typeface="+mj-ea"/>
                <a:ea typeface="+mj-ea"/>
                <a:cs typeface="Times New Roman" panose="02020603050405020304" pitchFamily="18" charset="0"/>
              </a:rPr>
              <a:t>——</a:t>
            </a:r>
            <a:r>
              <a:rPr lang="zh-CN" altLang="zh-CN" sz="1200" kern="100" dirty="0">
                <a:effectLst/>
                <a:latin typeface="+mj-ea"/>
                <a:ea typeface="+mj-ea"/>
                <a:cs typeface="Times New Roman" panose="02020603050405020304" pitchFamily="18" charset="0"/>
              </a:rPr>
              <a:t>解决高偏差</a:t>
            </a:r>
          </a:p>
          <a:p>
            <a:pPr indent="266700" algn="just">
              <a:lnSpc>
                <a:spcPct val="150000"/>
              </a:lnSpc>
            </a:pPr>
            <a:r>
              <a:rPr lang="en-US" altLang="zh-CN" sz="1200" kern="100" dirty="0">
                <a:effectLst/>
                <a:latin typeface="+mj-ea"/>
                <a:ea typeface="+mj-ea"/>
                <a:cs typeface="Times New Roman" panose="02020603050405020304" pitchFamily="18" charset="0"/>
              </a:rPr>
              <a:t>5. </a:t>
            </a:r>
            <a:r>
              <a:rPr lang="zh-CN" altLang="zh-CN" sz="1200" kern="100" dirty="0">
                <a:effectLst/>
                <a:latin typeface="+mj-ea"/>
                <a:ea typeface="+mj-ea"/>
                <a:cs typeface="Times New Roman" panose="02020603050405020304" pitchFamily="18" charset="0"/>
              </a:rPr>
              <a:t>尝试减少正则化程度</a:t>
            </a:r>
            <a:r>
              <a:rPr lang="en-US" altLang="zh-CN" sz="1200" kern="100" dirty="0">
                <a:effectLst/>
                <a:latin typeface="+mj-ea"/>
                <a:ea typeface="+mj-ea"/>
                <a:cs typeface="Times New Roman" panose="02020603050405020304" pitchFamily="18" charset="0"/>
              </a:rPr>
              <a:t>λ——</a:t>
            </a:r>
            <a:r>
              <a:rPr lang="zh-CN" altLang="zh-CN" sz="1200" kern="100" dirty="0">
                <a:effectLst/>
                <a:latin typeface="+mj-ea"/>
                <a:ea typeface="+mj-ea"/>
                <a:cs typeface="Times New Roman" panose="02020603050405020304" pitchFamily="18" charset="0"/>
              </a:rPr>
              <a:t>解决高偏差</a:t>
            </a:r>
          </a:p>
          <a:p>
            <a:pPr indent="266700" algn="just">
              <a:lnSpc>
                <a:spcPct val="150000"/>
              </a:lnSpc>
            </a:pPr>
            <a:r>
              <a:rPr lang="en-US" altLang="zh-CN" sz="1200" kern="100" dirty="0">
                <a:effectLst/>
                <a:latin typeface="+mj-ea"/>
                <a:ea typeface="+mj-ea"/>
                <a:cs typeface="Times New Roman" panose="02020603050405020304" pitchFamily="18" charset="0"/>
              </a:rPr>
              <a:t>6. </a:t>
            </a:r>
            <a:r>
              <a:rPr lang="zh-CN" altLang="zh-CN" sz="1200" kern="100" dirty="0">
                <a:effectLst/>
                <a:latin typeface="+mj-ea"/>
                <a:ea typeface="+mj-ea"/>
                <a:cs typeface="Times New Roman" panose="02020603050405020304" pitchFamily="18" charset="0"/>
              </a:rPr>
              <a:t>尝试增加正则化程度</a:t>
            </a:r>
            <a:r>
              <a:rPr lang="en-US" altLang="zh-CN" sz="1200" kern="100" dirty="0">
                <a:effectLst/>
                <a:latin typeface="+mj-ea"/>
                <a:ea typeface="+mj-ea"/>
                <a:cs typeface="Times New Roman" panose="02020603050405020304" pitchFamily="18" charset="0"/>
              </a:rPr>
              <a:t>λ——</a:t>
            </a:r>
            <a:r>
              <a:rPr lang="zh-CN" altLang="zh-CN" sz="1200" kern="100" dirty="0">
                <a:effectLst/>
                <a:latin typeface="+mj-ea"/>
                <a:ea typeface="+mj-ea"/>
                <a:cs typeface="Times New Roman" panose="02020603050405020304" pitchFamily="18" charset="0"/>
              </a:rPr>
              <a:t>解决高方差</a:t>
            </a:r>
          </a:p>
          <a:p>
            <a:endParaRPr lang="zh-CN" altLang="en-US" dirty="0"/>
          </a:p>
          <a:p>
            <a:endParaRPr lang="en-US" altLang="zh-CN" dirty="0"/>
          </a:p>
          <a:p>
            <a:endParaRPr lang="zh-CN" altLang="en-US" dirty="0"/>
          </a:p>
          <a:p>
            <a:endParaRPr lang="zh-CN" altLang="en-US" dirty="0"/>
          </a:p>
        </p:txBody>
      </p:sp>
      <p:sp>
        <p:nvSpPr>
          <p:cNvPr id="45060" name="灯片编号占位符 3">
            <a:extLst>
              <a:ext uri="{FF2B5EF4-FFF2-40B4-BE49-F238E27FC236}">
                <a16:creationId xmlns:a16="http://schemas.microsoft.com/office/drawing/2014/main" id="{B285EEFD-E40B-CC6F-37CF-AB4BC1CD3E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25</a:t>
            </a:fld>
            <a:endParaRPr lang="en-US" altLang="zh-CN">
              <a:latin typeface="Calibri" panose="020F0502020204030204" pitchFamily="34" charset="0"/>
            </a:endParaRPr>
          </a:p>
        </p:txBody>
      </p:sp>
    </p:spTree>
    <p:extLst>
      <p:ext uri="{BB962C8B-B14F-4D97-AF65-F5344CB8AC3E}">
        <p14:creationId xmlns:p14="http://schemas.microsoft.com/office/powerpoint/2010/main" val="30927176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DCC1-5817-34C7-D0D9-C0E46A2F011F}"/>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6BBEE337-6D75-6490-BAD0-B9DE1611BD5B}"/>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39F59D9B-7B50-565B-A780-ECB64791C6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endParaRPr lang="zh-CN" altLang="en-US" dirty="0"/>
          </a:p>
        </p:txBody>
      </p:sp>
      <p:sp>
        <p:nvSpPr>
          <p:cNvPr id="45060" name="灯片编号占位符 3">
            <a:extLst>
              <a:ext uri="{FF2B5EF4-FFF2-40B4-BE49-F238E27FC236}">
                <a16:creationId xmlns:a16="http://schemas.microsoft.com/office/drawing/2014/main" id="{C12AAF0E-6F68-66D5-EDC5-F2A39651AD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26</a:t>
            </a:fld>
            <a:endParaRPr lang="en-US" altLang="zh-CN">
              <a:latin typeface="Calibri" panose="020F0502020204030204" pitchFamily="34" charset="0"/>
            </a:endParaRPr>
          </a:p>
        </p:txBody>
      </p:sp>
    </p:spTree>
    <p:extLst>
      <p:ext uri="{BB962C8B-B14F-4D97-AF65-F5344CB8AC3E}">
        <p14:creationId xmlns:p14="http://schemas.microsoft.com/office/powerpoint/2010/main" val="33231487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0125-05AD-49A8-C428-990A44D34ED3}"/>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73CD8329-21EB-A4E6-46A1-3E074231313C}"/>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mc:AlternateContent xmlns:mc="http://schemas.openxmlformats.org/markup-compatibility/2006" xmlns:a14="http://schemas.microsoft.com/office/drawing/2010/main">
        <mc:Choice Requires="a14">
          <p:sp>
            <p:nvSpPr>
              <p:cNvPr id="45059" name="备注占位符 2">
                <a:extLst>
                  <a:ext uri="{FF2B5EF4-FFF2-40B4-BE49-F238E27FC236}">
                    <a16:creationId xmlns:a16="http://schemas.microsoft.com/office/drawing/2014/main" id="{43B87FED-CC57-AAD6-C5B8-AF928C5748DC}"/>
                  </a:ext>
                </a:extLst>
              </p:cNvPr>
              <p:cNvSpPr>
                <a:spLocks noGrp="1"/>
              </p:cNvSpPr>
              <p:nvPr>
                <p:ph type="body" idx="1"/>
              </p:nvPr>
            </p:nvSpPr>
            <p:spPr bwMode="auto">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numCol="1" anchor="t" anchorCtr="0" compatLnSpc="1">
                <a:normAutofit fontScale="62500" lnSpcReduction="20000"/>
              </a:bodyPr>
              <a:lstStyle/>
              <a:p>
                <a:r>
                  <a:rPr lang="zh-CN" altLang="en-US" sz="800" b="1" dirty="0"/>
                  <a:t>模型过拟合</a:t>
                </a:r>
                <a:endParaRPr lang="en-US" altLang="zh-CN" sz="800" b="1" dirty="0"/>
              </a:p>
              <a:p>
                <a:pPr marR="0" lvl="0" algn="l" defTabSz="914400" rtl="0" eaLnBrk="0" fontAlgn="base" latinLnBrk="0" hangingPunct="0">
                  <a:lnSpc>
                    <a:spcPct val="150000"/>
                  </a:lnSpc>
                  <a:spcBef>
                    <a:spcPct val="0"/>
                  </a:spcBef>
                  <a:spcAft>
                    <a:spcPct val="0"/>
                  </a:spcAft>
                  <a:buClrTx/>
                  <a:buSzTx/>
                  <a:tabLst/>
                </a:pPr>
                <a:r>
                  <a:rPr kumimoji="0" lang="en-US"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1.</a:t>
                </a:r>
                <a:r>
                  <a:rPr kumimoji="0" lang="zh-CN" altLang="zh-CN" sz="800" b="1" i="0" u="none" strike="noStrike" cap="none" normalizeH="0" baseline="0" dirty="0">
                    <a:ln>
                      <a:noFill/>
                    </a:ln>
                    <a:solidFill>
                      <a:srgbClr val="FF0000"/>
                    </a:solidFill>
                    <a:effectLst/>
                    <a:latin typeface="Open Sans" panose="020B0606030504020204" pitchFamily="34" charset="0"/>
                    <a:cs typeface="Open Sans" panose="020B0606030504020204" pitchFamily="34" charset="0"/>
                  </a:rPr>
                  <a:t>获得更多的训练数据</a:t>
                </a:r>
                <a:endParaRPr kumimoji="0" lang="en-US" altLang="zh-CN" sz="800" b="0" i="0" u="none" strike="noStrike" cap="none" normalizeH="0" baseline="0" dirty="0">
                  <a:ln>
                    <a:noFill/>
                  </a:ln>
                  <a:solidFill>
                    <a:srgbClr val="FF0000"/>
                  </a:solidFill>
                  <a:effectLst/>
                  <a:latin typeface="Open Sans" panose="020B0606030504020204" pitchFamily="34" charset="0"/>
                  <a:cs typeface="Open Sans" panose="020B0606030504020204" pitchFamily="34" charset="0"/>
                </a:endParaRPr>
              </a:p>
              <a:p>
                <a:pPr marR="0" lvl="0" algn="l" defTabSz="914400" rtl="0" eaLnBrk="0" fontAlgn="base" latinLnBrk="0" hangingPunct="0">
                  <a:lnSpc>
                    <a:spcPct val="150000"/>
                  </a:lnSpc>
                  <a:spcBef>
                    <a:spcPct val="0"/>
                  </a:spcBef>
                  <a:spcAft>
                    <a:spcPct val="0"/>
                  </a:spcAft>
                  <a:buClrTx/>
                  <a:buSzTx/>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使用更多的训练数据是解决过拟合问题最有效的手段，因为更多的样本能够让模型学习到更多更有效的特征，减小噪声的影响。</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100" b="0" i="0" u="none" strike="noStrike" cap="none" normalizeH="0" baseline="0" dirty="0">
                  <a:ln>
                    <a:noFill/>
                  </a:ln>
                  <a:solidFill>
                    <a:schemeClr val="tx1"/>
                  </a:solidFill>
                  <a:effectLst/>
                </a:endParaRPr>
              </a:p>
              <a:p>
                <a:pPr marR="0" lvl="0" algn="l" defTabSz="914400" rtl="0" eaLnBrk="0" fontAlgn="base" latinLnBrk="0" hangingPunct="0">
                  <a:lnSpc>
                    <a:spcPct val="150000"/>
                  </a:lnSpc>
                  <a:spcBef>
                    <a:spcPct val="0"/>
                  </a:spcBef>
                  <a:spcAft>
                    <a:spcPct val="0"/>
                  </a:spcAft>
                  <a:buClrTx/>
                  <a:buSzTx/>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2.</a:t>
                </a:r>
                <a:r>
                  <a:rPr kumimoji="0" lang="zh-CN"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降维</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即丢弃一些不能帮助我们正确预测的特征。可以是手工选择保留哪些特征，或者使用一些模型选择的算法来帮忙（例如PCA）</a:t>
                </a:r>
                <a:r>
                  <a:rPr kumimoji="0" lang="zh-CN" altLang="en-US"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3.</a:t>
                </a:r>
                <a:r>
                  <a:rPr kumimoji="0" lang="zh-CN" altLang="zh-CN" sz="800" b="1" i="0" u="none" strike="noStrike" cap="none" normalizeH="0" baseline="0" dirty="0">
                    <a:ln>
                      <a:noFill/>
                    </a:ln>
                    <a:solidFill>
                      <a:srgbClr val="FF0000"/>
                    </a:solidFill>
                    <a:effectLst/>
                    <a:latin typeface="Open Sans" panose="020B0606030504020204" pitchFamily="34" charset="0"/>
                    <a:cs typeface="Open Sans" panose="020B0606030504020204" pitchFamily="34" charset="0"/>
                  </a:rPr>
                  <a:t>正则化</a:t>
                </a:r>
                <a:endParaRPr kumimoji="0" lang="en-US" altLang="zh-CN" sz="800" b="0" i="0" u="none" strike="noStrike" cap="none" normalizeH="0" baseline="0" dirty="0">
                  <a:ln>
                    <a:noFill/>
                  </a:ln>
                  <a:solidFill>
                    <a:srgbClr val="FF0000"/>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正则化(regularization)的技术，保留所有的特征，但是减少参数的大小（magnitude），它可以改善或者减少过拟合问题。</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4.</a:t>
                </a:r>
                <a:r>
                  <a:rPr kumimoji="0" lang="zh-CN"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集成学习方法</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集成学习是把多个模型集成在一起，来降低单一模型的过拟合风险。</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endParaRPr lang="en-US" altLang="zh-CN" sz="800" b="1" dirty="0"/>
              </a:p>
              <a:p>
                <a:endParaRPr lang="en-US" altLang="zh-CN" sz="800" dirty="0"/>
              </a:p>
              <a:p>
                <a:r>
                  <a:rPr lang="zh-CN" altLang="en-US" sz="800" b="1" dirty="0"/>
                  <a:t>模型欠拟合</a:t>
                </a:r>
                <a:endParaRPr lang="en-US" altLang="zh-CN" sz="800" b="1" dirty="0"/>
              </a:p>
              <a:p>
                <a:endParaRPr lang="en-US" altLang="zh-CN" sz="800" b="1" dirty="0"/>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1.</a:t>
                </a:r>
                <a:r>
                  <a:rPr kumimoji="0" lang="zh-CN" altLang="zh-CN" sz="800" b="1" i="0" u="none" strike="noStrike" cap="none" normalizeH="0" baseline="0" dirty="0">
                    <a:ln>
                      <a:noFill/>
                    </a:ln>
                    <a:solidFill>
                      <a:srgbClr val="FF0000"/>
                    </a:solidFill>
                    <a:effectLst/>
                    <a:latin typeface="Open Sans" panose="020B0606030504020204" pitchFamily="34" charset="0"/>
                    <a:cs typeface="Open Sans" panose="020B0606030504020204" pitchFamily="34" charset="0"/>
                  </a:rPr>
                  <a:t>添加新特征</a:t>
                </a:r>
                <a:endParaRPr kumimoji="0" lang="en-US" altLang="zh-CN" sz="800" b="0" i="0" u="none" strike="noStrike" cap="none" normalizeH="0" baseline="0" dirty="0">
                  <a:ln>
                    <a:noFill/>
                  </a:ln>
                  <a:solidFill>
                    <a:srgbClr val="FF0000"/>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当特征不足或者现有特征与样本标签的相关性不强时，模型容易出现欠拟合。通过挖掘组合特征等新的特征，往往能够取得更好的效果。</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2.</a:t>
                </a:r>
                <a:r>
                  <a:rPr kumimoji="0" lang="zh-CN"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增加模型复杂度</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简单模型的学习能力较差，通过增加模型的复杂度可以使模型拥有更强的拟合能力。例如，在线性模型中添加高次项，在神经网络模型中增加网络层数或神经元个数等。</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3.</a:t>
                </a:r>
                <a:r>
                  <a:rPr kumimoji="0" lang="zh-CN"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减小正则化系数</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正则化是用来防止过拟合的，但当模型出现欠拟合现象时，则需要有针对性地减小正则化系数。</a:t>
                </a:r>
                <a:endParaRPr kumimoji="0" lang="zh-CN"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zh-CN" sz="400" b="0" i="0" u="none" strike="noStrike" cap="none" normalizeH="0" baseline="0" dirty="0">
                  <a:ln>
                    <a:noFill/>
                  </a:ln>
                  <a:solidFill>
                    <a:schemeClr val="tx1"/>
                  </a:solidFill>
                  <a:effectLst/>
                </a:endParaRPr>
              </a:p>
              <a:p>
                <a:pPr>
                  <a:lnSpc>
                    <a:spcPct val="150000"/>
                  </a:lnSpc>
                  <a:spcBef>
                    <a:spcPts val="900"/>
                  </a:spcBef>
                  <a:spcAft>
                    <a:spcPts val="900"/>
                  </a:spcAft>
                </a:pPr>
                <a14:m>
                  <m:oMath xmlns:m="http://schemas.openxmlformats.org/officeDocument/2006/math">
                    <m:sSub>
                      <m:sSubPr>
                        <m:ctrlPr>
                          <a:rPr lang="zh-CN" altLang="zh-CN" sz="1200" b="1" i="1" smtClean="0">
                            <a:latin typeface="Cambria Math" panose="02040503050406030204" pitchFamily="18" charset="0"/>
                            <a:ea typeface="+mj-ea"/>
                            <a:cs typeface="Times New Roman" panose="02020603050405020304" pitchFamily="18" charset="0"/>
                          </a:rPr>
                        </m:ctrlPr>
                      </m:sSubPr>
                      <m:e>
                        <m:r>
                          <a:rPr lang="en-US" altLang="zh-CN" sz="1200" b="1" i="1">
                            <a:latin typeface="Cambria Math" panose="02040503050406030204" pitchFamily="18" charset="0"/>
                            <a:ea typeface="+mj-ea"/>
                            <a:cs typeface="Times New Roman" panose="02020603050405020304" pitchFamily="18" charset="0"/>
                          </a:rPr>
                          <m:t>𝑳</m:t>
                        </m:r>
                      </m:e>
                      <m:sub>
                        <m:r>
                          <a:rPr lang="en-US" altLang="zh-CN" sz="1200" b="1" i="1">
                            <a:latin typeface="Cambria Math" panose="02040503050406030204" pitchFamily="18" charset="0"/>
                            <a:ea typeface="+mj-ea"/>
                            <a:cs typeface="Times New Roman" panose="02020603050405020304" pitchFamily="18" charset="0"/>
                          </a:rPr>
                          <m:t>𝟏</m:t>
                        </m:r>
                      </m:sub>
                    </m:sSub>
                  </m:oMath>
                </a14:m>
                <a:r>
                  <a:rPr lang="en-US" altLang="zh-CN" sz="1200" b="1" dirty="0" err="1">
                    <a:latin typeface="+mj-ea"/>
                    <a:ea typeface="+mj-ea"/>
                    <a:cs typeface="Times New Roman" panose="02020603050405020304" pitchFamily="18" charset="0"/>
                  </a:rPr>
                  <a:t>正则化</a:t>
                </a:r>
                <a:r>
                  <a:rPr lang="en-US" altLang="zh-CN" sz="1200" dirty="0">
                    <a:latin typeface="+mj-ea"/>
                    <a:ea typeface="+mj-ea"/>
                    <a:cs typeface="Times New Roman" panose="02020603050405020304" pitchFamily="18" charset="0"/>
                  </a:rPr>
                  <a:t>：</a:t>
                </a:r>
                <a14:m>
                  <m:oMath xmlns:m="http://schemas.openxmlformats.org/officeDocument/2006/math">
                    <m:r>
                      <a:rPr lang="en-US" altLang="zh-CN" sz="1200" i="1">
                        <a:latin typeface="Cambria Math" panose="02040503050406030204" pitchFamily="18" charset="0"/>
                        <a:ea typeface="+mj-ea"/>
                        <a:cs typeface="Times New Roman" panose="02020603050405020304" pitchFamily="18" charset="0"/>
                      </a:rPr>
                      <m:t>𝐽</m:t>
                    </m:r>
                    <m:r>
                      <a:rPr lang="en-US" altLang="zh-CN" sz="1200" i="1">
                        <a:latin typeface="Cambria Math" panose="02040503050406030204" pitchFamily="18" charset="0"/>
                        <a:ea typeface="+mj-ea"/>
                        <a:cs typeface="Times New Roman" panose="02020603050405020304" pitchFamily="18" charset="0"/>
                      </a:rPr>
                      <m:t>(</m:t>
                    </m:r>
                    <m:r>
                      <a:rPr lang="en-US" altLang="zh-CN" sz="1200" i="1">
                        <a:latin typeface="Cambria Math" panose="02040503050406030204" pitchFamily="18" charset="0"/>
                        <a:ea typeface="+mj-ea"/>
                        <a:cs typeface="Times New Roman" panose="02020603050405020304" pitchFamily="18" charset="0"/>
                      </a:rPr>
                      <m:t>𝑤</m:t>
                    </m:r>
                    <m:r>
                      <a:rPr lang="en-US" altLang="zh-CN" sz="1200" i="1">
                        <a:latin typeface="Cambria Math" panose="02040503050406030204" pitchFamily="18" charset="0"/>
                        <a:ea typeface="+mj-ea"/>
                        <a:cs typeface="Times New Roman" panose="02020603050405020304" pitchFamily="18" charset="0"/>
                      </a:rPr>
                      <m:t>)=</m:t>
                    </m:r>
                    <m:f>
                      <m:fPr>
                        <m:ctrlPr>
                          <a:rPr lang="zh-CN" altLang="zh-CN" sz="1200" i="1" kern="100">
                            <a:latin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cs typeface="Times New Roman" panose="02020603050405020304" pitchFamily="18" charset="0"/>
                          </a:rPr>
                          <m:t>1</m:t>
                        </m:r>
                      </m:num>
                      <m:den>
                        <m:r>
                          <a:rPr lang="en-US" altLang="zh-CN" sz="1200" i="1" kern="100">
                            <a:latin typeface="Cambria Math" panose="02040503050406030204" pitchFamily="18" charset="0"/>
                            <a:cs typeface="Times New Roman" panose="02020603050405020304" pitchFamily="18" charset="0"/>
                          </a:rPr>
                          <m:t>𝑚</m:t>
                        </m:r>
                      </m:den>
                    </m:f>
                    <m:nary>
                      <m:naryPr>
                        <m:chr m:val="∑"/>
                        <m:limLoc m:val="undOvr"/>
                        <m:ctrlPr>
                          <a:rPr lang="zh-CN" altLang="zh-CN" sz="1200" i="1" kern="100">
                            <a:latin typeface="Cambria Math" panose="02040503050406030204" pitchFamily="18" charset="0"/>
                            <a:cs typeface="Times New Roman" panose="02020603050405020304" pitchFamily="18" charset="0"/>
                          </a:rPr>
                        </m:ctrlPr>
                      </m:naryPr>
                      <m:sub>
                        <m:r>
                          <a:rPr lang="en-US" altLang="zh-CN" sz="1200" i="1" kern="100">
                            <a:latin typeface="Cambria Math" panose="02040503050406030204" pitchFamily="18" charset="0"/>
                            <a:cs typeface="Times New Roman" panose="02020603050405020304" pitchFamily="18" charset="0"/>
                          </a:rPr>
                          <m:t>𝑖</m:t>
                        </m:r>
                        <m:r>
                          <a:rPr lang="en-US" altLang="zh-CN" sz="1200" i="1" kern="100">
                            <a:latin typeface="Cambria Math" panose="02040503050406030204" pitchFamily="18" charset="0"/>
                            <a:cs typeface="Times New Roman" panose="02020603050405020304" pitchFamily="18" charset="0"/>
                          </a:rPr>
                          <m:t>=1</m:t>
                        </m:r>
                      </m:sub>
                      <m:sup>
                        <m:r>
                          <a:rPr lang="en-US" altLang="zh-CN" sz="1200" i="1" kern="100">
                            <a:latin typeface="Cambria Math" panose="02040503050406030204" pitchFamily="18" charset="0"/>
                            <a:cs typeface="Times New Roman" panose="02020603050405020304" pitchFamily="18" charset="0"/>
                          </a:rPr>
                          <m:t>𝑚</m:t>
                        </m:r>
                      </m:sup>
                      <m:e>
                        <m:r>
                          <a:rPr lang="en-US" altLang="zh-CN" sz="1200" i="1" kern="100">
                            <a:latin typeface="Cambria Math" panose="02040503050406030204" pitchFamily="18" charset="0"/>
                            <a:cs typeface="Times New Roman" panose="02020603050405020304" pitchFamily="18" charset="0"/>
                          </a:rPr>
                          <m:t>𝐿</m:t>
                        </m:r>
                        <m:d>
                          <m:dPr>
                            <m:ctrlPr>
                              <a:rPr lang="zh-CN" altLang="zh-CN" sz="1200" i="1" kern="100">
                                <a:latin typeface="Cambria Math" panose="02040503050406030204" pitchFamily="18" charset="0"/>
                                <a:cs typeface="Times New Roman" panose="02020603050405020304" pitchFamily="18" charset="0"/>
                              </a:rPr>
                            </m:ctrlPr>
                          </m:dPr>
                          <m:e>
                            <m:sSup>
                              <m:sSupPr>
                                <m:ctrlPr>
                                  <a:rPr lang="zh-CN" altLang="zh-CN" sz="1200" i="1" kern="100">
                                    <a:latin typeface="Cambria Math" panose="02040503050406030204" pitchFamily="18" charset="0"/>
                                    <a:cs typeface="Times New Roman" panose="02020603050405020304" pitchFamily="18" charset="0"/>
                                  </a:rPr>
                                </m:ctrlPr>
                              </m:sSupPr>
                              <m:e>
                                <m:groupChr>
                                  <m:groupChrPr>
                                    <m:chr m:val="^"/>
                                    <m:pos m:val="top"/>
                                    <m:vertJc m:val="bot"/>
                                    <m:ctrlPr>
                                      <a:rPr lang="zh-CN" altLang="zh-CN" sz="1200" i="1" kern="100">
                                        <a:latin typeface="Cambria Math" panose="02040503050406030204" pitchFamily="18" charset="0"/>
                                        <a:cs typeface="Times New Roman" panose="02020603050405020304" pitchFamily="18" charset="0"/>
                                      </a:rPr>
                                    </m:ctrlPr>
                                  </m:groupChrPr>
                                  <m:e>
                                    <m:r>
                                      <a:rPr lang="en-US" altLang="zh-CN" sz="1200" i="1" kern="100">
                                        <a:latin typeface="Cambria Math" panose="02040503050406030204" pitchFamily="18" charset="0"/>
                                        <a:cs typeface="Times New Roman" panose="02020603050405020304" pitchFamily="18" charset="0"/>
                                      </a:rPr>
                                      <m:t>𝑦</m:t>
                                    </m:r>
                                  </m:e>
                                </m:groupChr>
                              </m:e>
                              <m:sup>
                                <m:r>
                                  <a:rPr lang="en-US" altLang="zh-CN" sz="1200" i="1" kern="100">
                                    <a:latin typeface="Cambria Math" panose="02040503050406030204" pitchFamily="18" charset="0"/>
                                    <a:cs typeface="Times New Roman" panose="02020603050405020304" pitchFamily="18" charset="0"/>
                                  </a:rPr>
                                  <m:t>(</m:t>
                                </m:r>
                                <m:r>
                                  <a:rPr lang="en-US" altLang="zh-CN" sz="1200" i="1" kern="100">
                                    <a:latin typeface="Cambria Math" panose="02040503050406030204" pitchFamily="18" charset="0"/>
                                    <a:cs typeface="Times New Roman" panose="02020603050405020304" pitchFamily="18" charset="0"/>
                                  </a:rPr>
                                  <m:t>𝑖</m:t>
                                </m:r>
                                <m:r>
                                  <a:rPr lang="en-US" altLang="zh-CN" sz="1200" i="1" kern="100">
                                    <a:latin typeface="Cambria Math" panose="02040503050406030204" pitchFamily="18" charset="0"/>
                                    <a:cs typeface="Times New Roman" panose="02020603050405020304" pitchFamily="18" charset="0"/>
                                  </a:rPr>
                                  <m:t>)</m:t>
                                </m:r>
                              </m:sup>
                            </m:sSup>
                            <m:r>
                              <a:rPr lang="en-US" altLang="zh-CN" sz="1200" i="1" kern="100">
                                <a:latin typeface="Cambria Math" panose="02040503050406030204" pitchFamily="18" charset="0"/>
                                <a:cs typeface="Times New Roman" panose="02020603050405020304" pitchFamily="18" charset="0"/>
                              </a:rPr>
                              <m:t>,</m:t>
                            </m:r>
                            <m:sSup>
                              <m:sSupPr>
                                <m:ctrlPr>
                                  <a:rPr lang="zh-CN" altLang="zh-CN" sz="1200" i="1" kern="100">
                                    <a:latin typeface="Cambria Math" panose="02040503050406030204" pitchFamily="18" charset="0"/>
                                    <a:cs typeface="Times New Roman" panose="02020603050405020304" pitchFamily="18" charset="0"/>
                                  </a:rPr>
                                </m:ctrlPr>
                              </m:sSupPr>
                              <m:e>
                                <m:r>
                                  <a:rPr lang="en-US" altLang="zh-CN" sz="1200" i="1" kern="100">
                                    <a:latin typeface="Cambria Math" panose="02040503050406030204" pitchFamily="18" charset="0"/>
                                    <a:cs typeface="Times New Roman" panose="02020603050405020304" pitchFamily="18" charset="0"/>
                                  </a:rPr>
                                  <m:t>𝑦</m:t>
                                </m:r>
                              </m:e>
                              <m:sup>
                                <m:r>
                                  <a:rPr lang="en-US" altLang="zh-CN" sz="1200" i="1" kern="100">
                                    <a:latin typeface="Cambria Math" panose="02040503050406030204" pitchFamily="18" charset="0"/>
                                    <a:cs typeface="Times New Roman" panose="02020603050405020304" pitchFamily="18" charset="0"/>
                                  </a:rPr>
                                  <m:t>(</m:t>
                                </m:r>
                                <m:r>
                                  <a:rPr lang="en-US" altLang="zh-CN" sz="1200" i="1" kern="100">
                                    <a:latin typeface="Cambria Math" panose="02040503050406030204" pitchFamily="18" charset="0"/>
                                    <a:cs typeface="Times New Roman" panose="02020603050405020304" pitchFamily="18" charset="0"/>
                                  </a:rPr>
                                  <m:t>𝑖</m:t>
                                </m:r>
                                <m:r>
                                  <a:rPr lang="en-US" altLang="zh-CN" sz="1200" i="1" kern="100">
                                    <a:latin typeface="Cambria Math" panose="02040503050406030204" pitchFamily="18" charset="0"/>
                                    <a:cs typeface="Times New Roman" panose="02020603050405020304" pitchFamily="18" charset="0"/>
                                  </a:rPr>
                                  <m:t>)</m:t>
                                </m:r>
                              </m:sup>
                            </m:sSup>
                          </m:e>
                        </m:d>
                      </m:e>
                    </m:nary>
                    <m:r>
                      <a:rPr lang="en-US" altLang="zh-CN" sz="1200" i="1">
                        <a:latin typeface="Cambria Math" panose="02040503050406030204" pitchFamily="18" charset="0"/>
                        <a:ea typeface="+mj-ea"/>
                        <a:cs typeface="Times New Roman" panose="02020603050405020304" pitchFamily="18" charset="0"/>
                      </a:rPr>
                      <m:t>+</m:t>
                    </m:r>
                    <m:f>
                      <m:fPr>
                        <m:ctrlPr>
                          <a:rPr lang="zh-CN" altLang="zh-CN" sz="1200" i="1" kern="100">
                            <a:latin typeface="Cambria Math" panose="02040503050406030204" pitchFamily="18" charset="0"/>
                            <a:cs typeface="Times New Roman" panose="02020603050405020304" pitchFamily="18" charset="0"/>
                          </a:rPr>
                        </m:ctrlPr>
                      </m:fPr>
                      <m:num>
                        <m:r>
                          <a:rPr lang="en-US" altLang="zh-CN" sz="1200" i="1">
                            <a:latin typeface="Cambria Math" panose="02040503050406030204" pitchFamily="18" charset="0"/>
                            <a:ea typeface="+mj-ea"/>
                            <a:cs typeface="Times New Roman" panose="02020603050405020304" pitchFamily="18" charset="0"/>
                          </a:rPr>
                          <m:t>𝜆</m:t>
                        </m:r>
                      </m:num>
                      <m:den>
                        <m:r>
                          <a:rPr lang="en-US" altLang="zh-CN" sz="1200" b="0" i="1" kern="100" smtClean="0">
                            <a:latin typeface="Cambria Math" panose="02040503050406030204" pitchFamily="18" charset="0"/>
                            <a:cs typeface="Times New Roman" panose="02020603050405020304" pitchFamily="18" charset="0"/>
                          </a:rPr>
                          <m:t>2</m:t>
                        </m:r>
                        <m:r>
                          <a:rPr lang="en-US" altLang="zh-CN" sz="1200" i="1" kern="100">
                            <a:latin typeface="Cambria Math" panose="02040503050406030204" pitchFamily="18" charset="0"/>
                            <a:cs typeface="Times New Roman" panose="02020603050405020304" pitchFamily="18" charset="0"/>
                          </a:rPr>
                          <m:t>𝑚</m:t>
                        </m:r>
                      </m:den>
                    </m:f>
                    <m:nary>
                      <m:naryPr>
                        <m:chr m:val="∑"/>
                        <m:limLoc m:val="undOvr"/>
                        <m:ctrlPr>
                          <a:rPr lang="zh-CN" altLang="zh-CN" sz="1200" i="1">
                            <a:latin typeface="Cambria Math" panose="02040503050406030204" pitchFamily="18" charset="0"/>
                            <a:ea typeface="+mj-ea"/>
                            <a:cs typeface="Times New Roman" panose="02020603050405020304" pitchFamily="18" charset="0"/>
                          </a:rPr>
                        </m:ctrlPr>
                      </m:naryPr>
                      <m:sub>
                        <m:r>
                          <a:rPr lang="en-US" altLang="zh-CN" sz="1200" i="1">
                            <a:latin typeface="Cambria Math" panose="02040503050406030204" pitchFamily="18" charset="0"/>
                            <a:ea typeface="+mj-ea"/>
                            <a:cs typeface="Times New Roman" panose="02020603050405020304" pitchFamily="18" charset="0"/>
                          </a:rPr>
                          <m:t>𝑗</m:t>
                        </m:r>
                        <m:r>
                          <a:rPr lang="en-US" altLang="zh-CN" sz="1200" i="1">
                            <a:latin typeface="Cambria Math" panose="02040503050406030204" pitchFamily="18" charset="0"/>
                            <a:ea typeface="+mj-ea"/>
                            <a:cs typeface="Times New Roman" panose="02020603050405020304" pitchFamily="18" charset="0"/>
                          </a:rPr>
                          <m:t>=1</m:t>
                        </m:r>
                      </m:sub>
                      <m:sup>
                        <m:r>
                          <a:rPr lang="en-US" altLang="zh-CN" sz="1200" i="1">
                            <a:latin typeface="Cambria Math" panose="02040503050406030204" pitchFamily="18" charset="0"/>
                            <a:ea typeface="+mj-ea"/>
                            <a:cs typeface="Times New Roman" panose="02020603050405020304" pitchFamily="18" charset="0"/>
                          </a:rPr>
                          <m:t>𝑛</m:t>
                        </m:r>
                      </m:sup>
                      <m:e>
                        <m:r>
                          <a:rPr lang="en-US" altLang="zh-CN" sz="1200" i="1">
                            <a:latin typeface="Cambria Math" panose="02040503050406030204" pitchFamily="18" charset="0"/>
                            <a:ea typeface="+mj-ea"/>
                            <a:cs typeface="Times New Roman" panose="02020603050405020304" pitchFamily="18" charset="0"/>
                          </a:rPr>
                          <m:t>|</m:t>
                        </m:r>
                      </m:e>
                    </m:nary>
                    <m:sSub>
                      <m:sSubPr>
                        <m:ctrlPr>
                          <a:rPr lang="zh-CN" altLang="zh-CN" sz="1200" i="1">
                            <a:latin typeface="Cambria Math" panose="02040503050406030204" pitchFamily="18" charset="0"/>
                            <a:ea typeface="+mj-ea"/>
                            <a:cs typeface="Times New Roman" panose="02020603050405020304" pitchFamily="18" charset="0"/>
                          </a:rPr>
                        </m:ctrlPr>
                      </m:sSubPr>
                      <m:e>
                        <m:r>
                          <a:rPr lang="en-US" altLang="zh-CN" sz="1200" i="1">
                            <a:latin typeface="Cambria Math" panose="02040503050406030204" pitchFamily="18" charset="0"/>
                            <a:ea typeface="+mj-ea"/>
                            <a:cs typeface="Times New Roman" panose="02020603050405020304" pitchFamily="18" charset="0"/>
                          </a:rPr>
                          <m:t>𝑤</m:t>
                        </m:r>
                      </m:e>
                      <m:sub>
                        <m:r>
                          <a:rPr lang="en-US" altLang="zh-CN" sz="1200" i="1">
                            <a:latin typeface="Cambria Math" panose="02040503050406030204" pitchFamily="18" charset="0"/>
                            <a:ea typeface="+mj-ea"/>
                            <a:cs typeface="Times New Roman" panose="02020603050405020304" pitchFamily="18" charset="0"/>
                          </a:rPr>
                          <m:t>𝑗</m:t>
                        </m:r>
                      </m:sub>
                    </m:sSub>
                    <m:r>
                      <a:rPr lang="en-US" altLang="zh-CN" sz="1200" i="1">
                        <a:latin typeface="Cambria Math" panose="02040503050406030204" pitchFamily="18" charset="0"/>
                        <a:ea typeface="+mj-ea"/>
                        <a:cs typeface="Times New Roman" panose="02020603050405020304" pitchFamily="18" charset="0"/>
                      </a:rPr>
                      <m:t>|</m:t>
                    </m:r>
                  </m:oMath>
                </a14:m>
                <a:r>
                  <a:rPr lang="en-US" altLang="zh-CN" sz="1200" dirty="0">
                    <a:latin typeface="+mj-ea"/>
                    <a:ea typeface="+mj-ea"/>
                    <a:cs typeface="Times New Roman" panose="02020603050405020304" pitchFamily="18" charset="0"/>
                  </a:rPr>
                  <a:t>，</a:t>
                </a:r>
                <a14:m>
                  <m:oMath xmlns:m="http://schemas.openxmlformats.org/officeDocument/2006/math">
                    <m:sSub>
                      <m:sSubPr>
                        <m:ctrlPr>
                          <a:rPr lang="zh-CN" altLang="zh-CN" b="1" i="1" smtClean="0">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𝑳</m:t>
                        </m:r>
                      </m:e>
                      <m:sub>
                        <m:r>
                          <a:rPr lang="en-US" altLang="zh-CN" b="1" i="1">
                            <a:latin typeface="Cambria Math" panose="02040503050406030204" pitchFamily="18" charset="0"/>
                            <a:cs typeface="Times New Roman" panose="02020603050405020304" pitchFamily="18" charset="0"/>
                          </a:rPr>
                          <m:t>𝟏</m:t>
                        </m:r>
                      </m:sub>
                    </m:sSub>
                  </m:oMath>
                </a14:m>
                <a:r>
                  <a:rPr lang="en-US" altLang="zh-CN" b="1" dirty="0">
                    <a:latin typeface="+mj-ea"/>
                    <a:cs typeface="Times New Roman" panose="02020603050405020304" pitchFamily="18" charset="0"/>
                  </a:rPr>
                  <a:t>正则化</a:t>
                </a:r>
                <a:r>
                  <a:rPr lang="zh-CN" altLang="en-US" b="1" dirty="0">
                    <a:latin typeface="+mj-ea"/>
                    <a:cs typeface="Times New Roman" panose="02020603050405020304" pitchFamily="18" charset="0"/>
                  </a:rPr>
                  <a:t>可以产生稀疏模型</a:t>
                </a:r>
                <a:endParaRPr lang="zh-CN" altLang="zh-CN" sz="1200" dirty="0">
                  <a:latin typeface="+mj-ea"/>
                  <a:ea typeface="+mj-ea"/>
                  <a:cs typeface="Times New Roman" panose="02020603050405020304" pitchFamily="18" charset="0"/>
                </a:endParaRPr>
              </a:p>
              <a:p>
                <a:pPr marL="0" marR="0" lvl="0" indent="0" algn="l" defTabSz="914400" rtl="0" eaLnBrk="0" fontAlgn="base" latinLnBrk="0" hangingPunct="0">
                  <a:lnSpc>
                    <a:spcPct val="150000"/>
                  </a:lnSpc>
                  <a:spcBef>
                    <a:spcPts val="900"/>
                  </a:spcBef>
                  <a:spcAft>
                    <a:spcPts val="900"/>
                  </a:spcAft>
                  <a:buClrTx/>
                  <a:buSzTx/>
                  <a:buFontTx/>
                  <a:buNone/>
                  <a:tabLst/>
                  <a:defRPr/>
                </a:pPr>
                <a14:m>
                  <m:oMath xmlns:m="http://schemas.openxmlformats.org/officeDocument/2006/math">
                    <m:sSub>
                      <m:sSubPr>
                        <m:ctrlPr>
                          <a:rPr lang="zh-CN" altLang="zh-CN" sz="1200" b="1" i="1">
                            <a:latin typeface="Cambria Math" panose="02040503050406030204" pitchFamily="18" charset="0"/>
                            <a:ea typeface="+mj-ea"/>
                            <a:cs typeface="Times New Roman" panose="02020603050405020304" pitchFamily="18" charset="0"/>
                          </a:rPr>
                        </m:ctrlPr>
                      </m:sSubPr>
                      <m:e>
                        <m:r>
                          <a:rPr lang="en-US" altLang="zh-CN" sz="1200" b="1" i="1">
                            <a:latin typeface="Cambria Math" panose="02040503050406030204" pitchFamily="18" charset="0"/>
                            <a:ea typeface="+mj-ea"/>
                            <a:cs typeface="Times New Roman" panose="02020603050405020304" pitchFamily="18" charset="0"/>
                          </a:rPr>
                          <m:t>𝑳</m:t>
                        </m:r>
                      </m:e>
                      <m:sub>
                        <m:r>
                          <a:rPr lang="en-US" altLang="zh-CN" sz="1200" b="1" i="1">
                            <a:latin typeface="Cambria Math" panose="02040503050406030204" pitchFamily="18" charset="0"/>
                            <a:ea typeface="+mj-ea"/>
                            <a:cs typeface="Times New Roman" panose="02020603050405020304" pitchFamily="18" charset="0"/>
                          </a:rPr>
                          <m:t>𝟐</m:t>
                        </m:r>
                      </m:sub>
                    </m:sSub>
                  </m:oMath>
                </a14:m>
                <a:r>
                  <a:rPr lang="en-US" altLang="zh-CN" sz="1200" b="1" dirty="0" err="1">
                    <a:latin typeface="+mj-ea"/>
                    <a:ea typeface="+mj-ea"/>
                    <a:cs typeface="Times New Roman" panose="02020603050405020304" pitchFamily="18" charset="0"/>
                  </a:rPr>
                  <a:t>正则化</a:t>
                </a:r>
                <a:r>
                  <a:rPr lang="en-US" altLang="zh-CN" sz="1200" dirty="0">
                    <a:latin typeface="+mj-ea"/>
                    <a:ea typeface="+mj-ea"/>
                    <a:cs typeface="Times New Roman" panose="02020603050405020304" pitchFamily="18" charset="0"/>
                  </a:rPr>
                  <a:t>：</a:t>
                </a:r>
                <a14:m>
                  <m:oMath xmlns:m="http://schemas.openxmlformats.org/officeDocument/2006/math">
                    <m:r>
                      <a:rPr lang="en-US" altLang="zh-CN" sz="1200" i="1">
                        <a:latin typeface="Cambria Math" panose="02040503050406030204" pitchFamily="18" charset="0"/>
                        <a:ea typeface="+mj-ea"/>
                        <a:cs typeface="Times New Roman" panose="02020603050405020304" pitchFamily="18" charset="0"/>
                      </a:rPr>
                      <m:t>𝐽</m:t>
                    </m:r>
                    <m:r>
                      <a:rPr lang="en-US" altLang="zh-CN" sz="1200" i="1">
                        <a:latin typeface="Cambria Math" panose="02040503050406030204" pitchFamily="18" charset="0"/>
                        <a:ea typeface="+mj-ea"/>
                        <a:cs typeface="Times New Roman" panose="02020603050405020304" pitchFamily="18" charset="0"/>
                      </a:rPr>
                      <m:t>(</m:t>
                    </m:r>
                    <m:r>
                      <a:rPr lang="en-US" altLang="zh-CN" sz="1200" i="1">
                        <a:latin typeface="Cambria Math" panose="02040503050406030204" pitchFamily="18" charset="0"/>
                        <a:ea typeface="+mj-ea"/>
                        <a:cs typeface="Times New Roman" panose="02020603050405020304" pitchFamily="18" charset="0"/>
                      </a:rPr>
                      <m:t>𝑤</m:t>
                    </m:r>
                    <m:r>
                      <a:rPr lang="en-US" altLang="zh-CN" sz="1200" i="1">
                        <a:latin typeface="Cambria Math" panose="02040503050406030204" pitchFamily="18" charset="0"/>
                        <a:ea typeface="+mj-ea"/>
                        <a:cs typeface="Times New Roman" panose="02020603050405020304" pitchFamily="18" charset="0"/>
                      </a:rPr>
                      <m:t>)=</m:t>
                    </m:r>
                    <m:f>
                      <m:fPr>
                        <m:ctrlPr>
                          <a:rPr lang="zh-CN" altLang="zh-CN" sz="1200" i="1" kern="100">
                            <a:latin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cs typeface="Times New Roman" panose="02020603050405020304" pitchFamily="18" charset="0"/>
                          </a:rPr>
                          <m:t>1</m:t>
                        </m:r>
                      </m:num>
                      <m:den>
                        <m:r>
                          <a:rPr lang="en-US" altLang="zh-CN" sz="1200" i="1" kern="100">
                            <a:latin typeface="Cambria Math" panose="02040503050406030204" pitchFamily="18" charset="0"/>
                            <a:cs typeface="Times New Roman" panose="02020603050405020304" pitchFamily="18" charset="0"/>
                          </a:rPr>
                          <m:t>𝑚</m:t>
                        </m:r>
                      </m:den>
                    </m:f>
                    <m:nary>
                      <m:naryPr>
                        <m:chr m:val="∑"/>
                        <m:limLoc m:val="undOvr"/>
                        <m:ctrlPr>
                          <a:rPr lang="zh-CN" altLang="zh-CN" sz="1200" i="1" kern="100">
                            <a:latin typeface="Cambria Math" panose="02040503050406030204" pitchFamily="18" charset="0"/>
                            <a:cs typeface="Times New Roman" panose="02020603050405020304" pitchFamily="18" charset="0"/>
                          </a:rPr>
                        </m:ctrlPr>
                      </m:naryPr>
                      <m:sub>
                        <m:r>
                          <a:rPr lang="en-US" altLang="zh-CN" sz="1200" i="1" kern="100">
                            <a:latin typeface="Cambria Math" panose="02040503050406030204" pitchFamily="18" charset="0"/>
                            <a:cs typeface="Times New Roman" panose="02020603050405020304" pitchFamily="18" charset="0"/>
                          </a:rPr>
                          <m:t>𝑖</m:t>
                        </m:r>
                        <m:r>
                          <a:rPr lang="en-US" altLang="zh-CN" sz="1200" i="1" kern="100">
                            <a:latin typeface="Cambria Math" panose="02040503050406030204" pitchFamily="18" charset="0"/>
                            <a:cs typeface="Times New Roman" panose="02020603050405020304" pitchFamily="18" charset="0"/>
                          </a:rPr>
                          <m:t>=1</m:t>
                        </m:r>
                      </m:sub>
                      <m:sup>
                        <m:r>
                          <a:rPr lang="en-US" altLang="zh-CN" sz="1200" i="1" kern="100">
                            <a:latin typeface="Cambria Math" panose="02040503050406030204" pitchFamily="18" charset="0"/>
                            <a:cs typeface="Times New Roman" panose="02020603050405020304" pitchFamily="18" charset="0"/>
                          </a:rPr>
                          <m:t>𝑚</m:t>
                        </m:r>
                      </m:sup>
                      <m:e>
                        <m:r>
                          <a:rPr lang="en-US" altLang="zh-CN" sz="1200" i="1" kern="100">
                            <a:latin typeface="Cambria Math" panose="02040503050406030204" pitchFamily="18" charset="0"/>
                            <a:cs typeface="Times New Roman" panose="02020603050405020304" pitchFamily="18" charset="0"/>
                          </a:rPr>
                          <m:t>𝐿</m:t>
                        </m:r>
                        <m:d>
                          <m:dPr>
                            <m:ctrlPr>
                              <a:rPr lang="zh-CN" altLang="zh-CN" sz="1200" i="1" kern="100">
                                <a:latin typeface="Cambria Math" panose="02040503050406030204" pitchFamily="18" charset="0"/>
                                <a:cs typeface="Times New Roman" panose="02020603050405020304" pitchFamily="18" charset="0"/>
                              </a:rPr>
                            </m:ctrlPr>
                          </m:dPr>
                          <m:e>
                            <m:sSup>
                              <m:sSupPr>
                                <m:ctrlPr>
                                  <a:rPr lang="zh-CN" altLang="zh-CN" sz="1200" i="1" kern="100">
                                    <a:latin typeface="Cambria Math" panose="02040503050406030204" pitchFamily="18" charset="0"/>
                                    <a:cs typeface="Times New Roman" panose="02020603050405020304" pitchFamily="18" charset="0"/>
                                  </a:rPr>
                                </m:ctrlPr>
                              </m:sSupPr>
                              <m:e>
                                <m:groupChr>
                                  <m:groupChrPr>
                                    <m:chr m:val="^"/>
                                    <m:pos m:val="top"/>
                                    <m:vertJc m:val="bot"/>
                                    <m:ctrlPr>
                                      <a:rPr lang="zh-CN" altLang="zh-CN" sz="1200" i="1" kern="100">
                                        <a:latin typeface="Cambria Math" panose="02040503050406030204" pitchFamily="18" charset="0"/>
                                        <a:cs typeface="Times New Roman" panose="02020603050405020304" pitchFamily="18" charset="0"/>
                                      </a:rPr>
                                    </m:ctrlPr>
                                  </m:groupChrPr>
                                  <m:e>
                                    <m:r>
                                      <a:rPr lang="en-US" altLang="zh-CN" sz="1200" i="1" kern="100">
                                        <a:latin typeface="Cambria Math" panose="02040503050406030204" pitchFamily="18" charset="0"/>
                                        <a:cs typeface="Times New Roman" panose="02020603050405020304" pitchFamily="18" charset="0"/>
                                      </a:rPr>
                                      <m:t>𝑦</m:t>
                                    </m:r>
                                  </m:e>
                                </m:groupChr>
                              </m:e>
                              <m:sup>
                                <m:r>
                                  <a:rPr lang="en-US" altLang="zh-CN" sz="1200" i="1" kern="100">
                                    <a:latin typeface="Cambria Math" panose="02040503050406030204" pitchFamily="18" charset="0"/>
                                    <a:cs typeface="Times New Roman" panose="02020603050405020304" pitchFamily="18" charset="0"/>
                                  </a:rPr>
                                  <m:t>(</m:t>
                                </m:r>
                                <m:r>
                                  <a:rPr lang="en-US" altLang="zh-CN" sz="1200" i="1" kern="100">
                                    <a:latin typeface="Cambria Math" panose="02040503050406030204" pitchFamily="18" charset="0"/>
                                    <a:cs typeface="Times New Roman" panose="02020603050405020304" pitchFamily="18" charset="0"/>
                                  </a:rPr>
                                  <m:t>𝑖</m:t>
                                </m:r>
                                <m:r>
                                  <a:rPr lang="en-US" altLang="zh-CN" sz="1200" i="1" kern="100">
                                    <a:latin typeface="Cambria Math" panose="02040503050406030204" pitchFamily="18" charset="0"/>
                                    <a:cs typeface="Times New Roman" panose="02020603050405020304" pitchFamily="18" charset="0"/>
                                  </a:rPr>
                                  <m:t>)</m:t>
                                </m:r>
                              </m:sup>
                            </m:sSup>
                            <m:r>
                              <a:rPr lang="en-US" altLang="zh-CN" sz="1200" i="1" kern="100">
                                <a:latin typeface="Cambria Math" panose="02040503050406030204" pitchFamily="18" charset="0"/>
                                <a:cs typeface="Times New Roman" panose="02020603050405020304" pitchFamily="18" charset="0"/>
                              </a:rPr>
                              <m:t>,</m:t>
                            </m:r>
                            <m:sSup>
                              <m:sSupPr>
                                <m:ctrlPr>
                                  <a:rPr lang="zh-CN" altLang="zh-CN" sz="1200" i="1" kern="100">
                                    <a:latin typeface="Cambria Math" panose="02040503050406030204" pitchFamily="18" charset="0"/>
                                    <a:cs typeface="Times New Roman" panose="02020603050405020304" pitchFamily="18" charset="0"/>
                                  </a:rPr>
                                </m:ctrlPr>
                              </m:sSupPr>
                              <m:e>
                                <m:r>
                                  <a:rPr lang="en-US" altLang="zh-CN" sz="1200" i="1" kern="100">
                                    <a:latin typeface="Cambria Math" panose="02040503050406030204" pitchFamily="18" charset="0"/>
                                    <a:cs typeface="Times New Roman" panose="02020603050405020304" pitchFamily="18" charset="0"/>
                                  </a:rPr>
                                  <m:t>𝑦</m:t>
                                </m:r>
                              </m:e>
                              <m:sup>
                                <m:r>
                                  <a:rPr lang="en-US" altLang="zh-CN" sz="1200" i="1" kern="100">
                                    <a:latin typeface="Cambria Math" panose="02040503050406030204" pitchFamily="18" charset="0"/>
                                    <a:cs typeface="Times New Roman" panose="02020603050405020304" pitchFamily="18" charset="0"/>
                                  </a:rPr>
                                  <m:t>(</m:t>
                                </m:r>
                                <m:r>
                                  <a:rPr lang="en-US" altLang="zh-CN" sz="1200" i="1" kern="100">
                                    <a:latin typeface="Cambria Math" panose="02040503050406030204" pitchFamily="18" charset="0"/>
                                    <a:cs typeface="Times New Roman" panose="02020603050405020304" pitchFamily="18" charset="0"/>
                                  </a:rPr>
                                  <m:t>𝑖</m:t>
                                </m:r>
                                <m:r>
                                  <a:rPr lang="en-US" altLang="zh-CN" sz="1200" i="1" kern="100">
                                    <a:latin typeface="Cambria Math" panose="02040503050406030204" pitchFamily="18" charset="0"/>
                                    <a:cs typeface="Times New Roman" panose="02020603050405020304" pitchFamily="18" charset="0"/>
                                  </a:rPr>
                                  <m:t>)</m:t>
                                </m:r>
                              </m:sup>
                            </m:sSup>
                          </m:e>
                        </m:d>
                      </m:e>
                    </m:nary>
                    <m:r>
                      <a:rPr lang="en-US" altLang="zh-CN" sz="1200" i="1">
                        <a:latin typeface="Cambria Math" panose="02040503050406030204" pitchFamily="18" charset="0"/>
                        <a:ea typeface="+mj-ea"/>
                        <a:cs typeface="Times New Roman" panose="02020603050405020304" pitchFamily="18" charset="0"/>
                      </a:rPr>
                      <m:t>+</m:t>
                    </m:r>
                    <m:f>
                      <m:fPr>
                        <m:ctrlPr>
                          <a:rPr lang="zh-CN" altLang="zh-CN" sz="1200" i="1" kern="100">
                            <a:latin typeface="Cambria Math" panose="02040503050406030204" pitchFamily="18" charset="0"/>
                            <a:cs typeface="Times New Roman" panose="02020603050405020304" pitchFamily="18" charset="0"/>
                          </a:rPr>
                        </m:ctrlPr>
                      </m:fPr>
                      <m:num>
                        <m:r>
                          <a:rPr lang="en-US" altLang="zh-CN" sz="1200" i="1">
                            <a:latin typeface="Cambria Math" panose="02040503050406030204" pitchFamily="18" charset="0"/>
                            <a:cs typeface="Times New Roman" panose="02020603050405020304" pitchFamily="18" charset="0"/>
                          </a:rPr>
                          <m:t>𝜆</m:t>
                        </m:r>
                      </m:num>
                      <m:den>
                        <m:r>
                          <a:rPr lang="en-US" altLang="zh-CN" sz="1200" i="1" kern="100">
                            <a:latin typeface="Cambria Math" panose="02040503050406030204" pitchFamily="18" charset="0"/>
                            <a:cs typeface="Times New Roman" panose="02020603050405020304" pitchFamily="18" charset="0"/>
                          </a:rPr>
                          <m:t>2</m:t>
                        </m:r>
                        <m:r>
                          <a:rPr lang="en-US" altLang="zh-CN" sz="1200" i="1" kern="100">
                            <a:latin typeface="Cambria Math" panose="02040503050406030204" pitchFamily="18" charset="0"/>
                            <a:cs typeface="Times New Roman" panose="02020603050405020304" pitchFamily="18" charset="0"/>
                          </a:rPr>
                          <m:t>𝑚</m:t>
                        </m:r>
                      </m:den>
                    </m:f>
                    <m:nary>
                      <m:naryPr>
                        <m:chr m:val="∑"/>
                        <m:limLoc m:val="undOvr"/>
                        <m:ctrlPr>
                          <a:rPr lang="zh-CN" altLang="zh-CN" sz="1200" i="1">
                            <a:latin typeface="Cambria Math" panose="02040503050406030204" pitchFamily="18" charset="0"/>
                            <a:ea typeface="+mj-ea"/>
                            <a:cs typeface="Times New Roman" panose="02020603050405020304" pitchFamily="18" charset="0"/>
                          </a:rPr>
                        </m:ctrlPr>
                      </m:naryPr>
                      <m:sub>
                        <m:r>
                          <a:rPr lang="en-US" altLang="zh-CN" sz="1200" i="1">
                            <a:latin typeface="Cambria Math" panose="02040503050406030204" pitchFamily="18" charset="0"/>
                            <a:ea typeface="+mj-ea"/>
                            <a:cs typeface="Times New Roman" panose="02020603050405020304" pitchFamily="18" charset="0"/>
                          </a:rPr>
                          <m:t>𝑗</m:t>
                        </m:r>
                        <m:r>
                          <a:rPr lang="en-US" altLang="zh-CN" sz="1200" i="1">
                            <a:latin typeface="Cambria Math" panose="02040503050406030204" pitchFamily="18" charset="0"/>
                            <a:ea typeface="+mj-ea"/>
                            <a:cs typeface="Times New Roman" panose="02020603050405020304" pitchFamily="18" charset="0"/>
                          </a:rPr>
                          <m:t>=1</m:t>
                        </m:r>
                      </m:sub>
                      <m:sup>
                        <m:r>
                          <a:rPr lang="en-US" altLang="zh-CN" sz="1200" i="1">
                            <a:latin typeface="Cambria Math" panose="02040503050406030204" pitchFamily="18" charset="0"/>
                            <a:ea typeface="+mj-ea"/>
                            <a:cs typeface="Times New Roman" panose="02020603050405020304" pitchFamily="18" charset="0"/>
                          </a:rPr>
                          <m:t>𝑛</m:t>
                        </m:r>
                      </m:sup>
                      <m:e>
                        <m:sSubSup>
                          <m:sSubSupPr>
                            <m:ctrlPr>
                              <a:rPr lang="zh-CN" altLang="zh-CN" sz="1200" i="1">
                                <a:latin typeface="Cambria Math" panose="02040503050406030204" pitchFamily="18" charset="0"/>
                                <a:ea typeface="+mj-ea"/>
                                <a:cs typeface="Times New Roman" panose="02020603050405020304" pitchFamily="18" charset="0"/>
                              </a:rPr>
                            </m:ctrlPr>
                          </m:sSubSupPr>
                          <m:e>
                            <m:r>
                              <a:rPr lang="en-US" altLang="zh-CN" sz="1200" i="1">
                                <a:latin typeface="Cambria Math" panose="02040503050406030204" pitchFamily="18" charset="0"/>
                                <a:ea typeface="+mj-ea"/>
                                <a:cs typeface="Times New Roman" panose="02020603050405020304" pitchFamily="18" charset="0"/>
                              </a:rPr>
                              <m:t>𝑤</m:t>
                            </m:r>
                          </m:e>
                          <m:sub>
                            <m:r>
                              <a:rPr lang="en-US" altLang="zh-CN" sz="1200" i="1">
                                <a:latin typeface="Cambria Math" panose="02040503050406030204" pitchFamily="18" charset="0"/>
                                <a:ea typeface="+mj-ea"/>
                                <a:cs typeface="Times New Roman" panose="02020603050405020304" pitchFamily="18" charset="0"/>
                              </a:rPr>
                              <m:t>𝑗</m:t>
                            </m:r>
                          </m:sub>
                          <m:sup>
                            <m:r>
                              <a:rPr lang="en-US" altLang="zh-CN" sz="1200" i="1">
                                <a:latin typeface="Cambria Math" panose="02040503050406030204" pitchFamily="18" charset="0"/>
                                <a:ea typeface="+mj-ea"/>
                                <a:cs typeface="Times New Roman" panose="02020603050405020304" pitchFamily="18" charset="0"/>
                              </a:rPr>
                              <m:t>2</m:t>
                            </m:r>
                          </m:sup>
                        </m:sSubSup>
                      </m:e>
                    </m:nary>
                  </m:oMath>
                </a14:m>
                <a:r>
                  <a:rPr lang="zh-CN" altLang="en-US" sz="800" dirty="0">
                    <a:latin typeface="+mj-ea"/>
                    <a:cs typeface="Times New Roman" panose="02020603050405020304" pitchFamily="18" charset="0"/>
                  </a:rPr>
                  <a:t>，</a:t>
                </a:r>
                <a14:m>
                  <m:oMath xmlns:m="http://schemas.openxmlformats.org/officeDocument/2006/math">
                    <m:sSub>
                      <m:sSubPr>
                        <m:ctrlPr>
                          <a:rPr lang="zh-CN" altLang="zh-CN" sz="800" b="1" i="1" kern="1200" smtClean="0">
                            <a:solidFill>
                              <a:schemeClr val="tx1"/>
                            </a:solidFill>
                            <a:latin typeface="Cambria Math" panose="02040503050406030204" pitchFamily="18" charset="0"/>
                            <a:ea typeface="+mn-ea"/>
                            <a:cs typeface="Times New Roman" panose="02020603050405020304" pitchFamily="18" charset="0"/>
                          </a:rPr>
                        </m:ctrlPr>
                      </m:sSubPr>
                      <m:e>
                        <m:r>
                          <a:rPr lang="en-US" altLang="zh-CN" sz="800" b="1" i="1" kern="1200">
                            <a:solidFill>
                              <a:schemeClr val="tx1"/>
                            </a:solidFill>
                            <a:latin typeface="Cambria Math" panose="02040503050406030204" pitchFamily="18" charset="0"/>
                            <a:ea typeface="+mn-ea"/>
                            <a:cs typeface="Times New Roman" panose="02020603050405020304" pitchFamily="18" charset="0"/>
                          </a:rPr>
                          <m:t>𝑳</m:t>
                        </m:r>
                      </m:e>
                      <m:sub>
                        <m:r>
                          <a:rPr lang="en-US" altLang="zh-CN" sz="800" b="1" i="1" kern="1200">
                            <a:solidFill>
                              <a:schemeClr val="tx1"/>
                            </a:solidFill>
                            <a:latin typeface="Cambria Math" panose="02040503050406030204" pitchFamily="18" charset="0"/>
                            <a:ea typeface="+mn-ea"/>
                            <a:cs typeface="Times New Roman" panose="02020603050405020304" pitchFamily="18" charset="0"/>
                          </a:rPr>
                          <m:t>𝟐</m:t>
                        </m:r>
                      </m:sub>
                    </m:sSub>
                  </m:oMath>
                </a14:m>
                <a:r>
                  <a:rPr lang="en-US" altLang="zh-CN" sz="800" b="1" kern="1200" dirty="0">
                    <a:solidFill>
                      <a:schemeClr val="tx1"/>
                    </a:solidFill>
                    <a:latin typeface="+mj-ea"/>
                    <a:ea typeface="+mn-ea"/>
                    <a:cs typeface="Times New Roman" panose="02020603050405020304" pitchFamily="18" charset="0"/>
                  </a:rPr>
                  <a:t>正则化</a:t>
                </a:r>
                <a:r>
                  <a:rPr lang="zh-CN" altLang="en-US" sz="800" b="1" dirty="0">
                    <a:latin typeface="+mj-ea"/>
                    <a:cs typeface="Times New Roman" panose="02020603050405020304" pitchFamily="18" charset="0"/>
                  </a:rPr>
                  <a:t>可以防止过拟合</a:t>
                </a:r>
                <a:endParaRPr lang="en-US" altLang="zh-CN" sz="800" b="1" dirty="0">
                  <a:latin typeface="+mj-ea"/>
                  <a:cs typeface="Times New Roman" panose="02020603050405020304" pitchFamily="18" charset="0"/>
                </a:endParaRPr>
              </a:p>
              <a:p>
                <a:pPr marL="0" marR="0" lvl="0" indent="0" algn="l" defTabSz="914400" rtl="0" eaLnBrk="0" fontAlgn="base" latinLnBrk="0" hangingPunct="0">
                  <a:lnSpc>
                    <a:spcPct val="150000"/>
                  </a:lnSpc>
                  <a:spcBef>
                    <a:spcPts val="900"/>
                  </a:spcBef>
                  <a:spcAft>
                    <a:spcPts val="900"/>
                  </a:spcAft>
                  <a:buClrTx/>
                  <a:buSzTx/>
                  <a:buFontTx/>
                  <a:buNone/>
                  <a:tabLst/>
                  <a:defRPr/>
                </a:pPr>
                <a:r>
                  <a:rPr lang="en-US" altLang="zh-CN" sz="1200" b="1" kern="100" dirty="0">
                    <a:latin typeface="+mj-ea"/>
                    <a:ea typeface="+mj-ea"/>
                    <a:cs typeface="Times New Roman" panose="02020603050405020304" pitchFamily="18" charset="0"/>
                  </a:rPr>
                  <a:t>Dropout</a:t>
                </a:r>
                <a:r>
                  <a:rPr lang="zh-CN" altLang="en-US" sz="1200" b="1" kern="100" dirty="0">
                    <a:latin typeface="+mj-ea"/>
                    <a:ea typeface="+mj-ea"/>
                    <a:cs typeface="Times New Roman" panose="02020603050405020304" pitchFamily="18" charset="0"/>
                  </a:rPr>
                  <a:t>正则化：在训练阶段使用，在测试阶段不使用！</a:t>
                </a:r>
              </a:p>
              <a:p>
                <a:pPr marL="0" marR="0" lvl="0" indent="0" algn="l" defTabSz="914400" rtl="0" eaLnBrk="0" fontAlgn="base" latinLnBrk="0" hangingPunct="0">
                  <a:lnSpc>
                    <a:spcPct val="150000"/>
                  </a:lnSpc>
                  <a:spcBef>
                    <a:spcPts val="900"/>
                  </a:spcBef>
                  <a:spcAft>
                    <a:spcPts val="900"/>
                  </a:spcAft>
                  <a:buClrTx/>
                  <a:buSzTx/>
                  <a:buFontTx/>
                  <a:buNone/>
                  <a:tabLst/>
                  <a:defRPr/>
                </a:pPr>
                <a:r>
                  <a:rPr lang="en-US" altLang="zh-CN" b="1" kern="100" dirty="0">
                    <a:latin typeface="+mj-ea"/>
                    <a:ea typeface="+mj-ea"/>
                    <a:cs typeface="Times New Roman" panose="02020603050405020304" pitchFamily="18" charset="0"/>
                  </a:rPr>
                  <a:t>Early stopping</a:t>
                </a:r>
                <a:r>
                  <a:rPr lang="zh-CN" altLang="zh-CN" kern="100" dirty="0">
                    <a:latin typeface="+mj-ea"/>
                    <a:ea typeface="+mj-ea"/>
                    <a:cs typeface="Times New Roman" panose="02020603050405020304" pitchFamily="18" charset="0"/>
                  </a:rPr>
                  <a:t>代表提早停止训练神经网络</a:t>
                </a:r>
                <a:r>
                  <a:rPr lang="zh-CN" altLang="en-US" kern="100" dirty="0">
                    <a:latin typeface="+mj-ea"/>
                    <a:ea typeface="+mj-ea"/>
                    <a:cs typeface="Times New Roman" panose="02020603050405020304" pitchFamily="18" charset="0"/>
                  </a:rPr>
                  <a:t>：</a:t>
                </a:r>
                <a:r>
                  <a:rPr lang="en-US" altLang="zh-CN" b="1" kern="100" dirty="0">
                    <a:latin typeface="+mj-ea"/>
                    <a:ea typeface="+mj-ea"/>
                    <a:cs typeface="Times New Roman" panose="02020603050405020304" pitchFamily="18" charset="0"/>
                  </a:rPr>
                  <a:t>Early stopping</a:t>
                </a:r>
                <a:r>
                  <a:rPr lang="zh-CN" altLang="zh-CN" kern="100" dirty="0">
                    <a:latin typeface="+mj-ea"/>
                    <a:ea typeface="+mj-ea"/>
                    <a:cs typeface="Times New Roman" panose="02020603050405020304" pitchFamily="18" charset="0"/>
                  </a:rPr>
                  <a:t>的优点是，只运行一次梯度下降，你可以找出</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𝑤</m:t>
                    </m:r>
                  </m:oMath>
                </a14:m>
                <a:r>
                  <a:rPr lang="zh-CN" altLang="zh-CN" kern="100" dirty="0">
                    <a:latin typeface="+mj-ea"/>
                    <a:ea typeface="+mj-ea"/>
                    <a:cs typeface="Times New Roman" panose="02020603050405020304" pitchFamily="18" charset="0"/>
                  </a:rPr>
                  <a:t>的较小值，中间值和较大值，而无需尝试</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𝐿</m:t>
                    </m:r>
                    <m:r>
                      <a:rPr lang="en-US" altLang="zh-CN" i="1" kern="100">
                        <a:latin typeface="Cambria Math" panose="02040503050406030204" pitchFamily="18" charset="0"/>
                        <a:ea typeface="+mj-ea"/>
                        <a:cs typeface="Times New Roman" panose="02020603050405020304" pitchFamily="18" charset="0"/>
                      </a:rPr>
                      <m:t>2</m:t>
                    </m:r>
                  </m:oMath>
                </a14:m>
                <a:r>
                  <a:rPr lang="zh-CN" altLang="zh-CN" kern="100" dirty="0">
                    <a:latin typeface="+mj-ea"/>
                    <a:ea typeface="+mj-ea"/>
                    <a:cs typeface="Times New Roman" panose="02020603050405020304" pitchFamily="18" charset="0"/>
                  </a:rPr>
                  <a:t>正则化超级参数</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𝜆</m:t>
                    </m:r>
                  </m:oMath>
                </a14:m>
                <a:r>
                  <a:rPr lang="zh-CN" altLang="zh-CN" kern="100" dirty="0">
                    <a:latin typeface="+mj-ea"/>
                    <a:ea typeface="+mj-ea"/>
                    <a:cs typeface="Times New Roman" panose="02020603050405020304" pitchFamily="18" charset="0"/>
                  </a:rPr>
                  <a:t>的很多值。</a:t>
                </a:r>
              </a:p>
              <a:p>
                <a:pPr marL="0" marR="0" lvl="0" indent="0" algn="l" defTabSz="914400" rtl="0" eaLnBrk="0" fontAlgn="base" latinLnBrk="0" hangingPunct="0">
                  <a:lnSpc>
                    <a:spcPct val="150000"/>
                  </a:lnSpc>
                  <a:spcBef>
                    <a:spcPts val="900"/>
                  </a:spcBef>
                  <a:spcAft>
                    <a:spcPts val="900"/>
                  </a:spcAft>
                  <a:buClrTx/>
                  <a:buSzTx/>
                  <a:buFontTx/>
                  <a:buNone/>
                  <a:tabLst/>
                  <a:defRPr/>
                </a:pPr>
                <a:endParaRPr lang="zh-CN" altLang="en-US" dirty="0">
                  <a:latin typeface="+mj-ea"/>
                  <a:ea typeface="+mj-ea"/>
                </a:endParaRPr>
              </a:p>
              <a:p>
                <a:pPr marL="0" marR="0" lvl="0" indent="0" algn="l" defTabSz="914400" rtl="0" eaLnBrk="0" fontAlgn="base" latinLnBrk="0" hangingPunct="0">
                  <a:lnSpc>
                    <a:spcPct val="150000"/>
                  </a:lnSpc>
                  <a:spcBef>
                    <a:spcPts val="900"/>
                  </a:spcBef>
                  <a:spcAft>
                    <a:spcPts val="900"/>
                  </a:spcAft>
                  <a:buClrTx/>
                  <a:buSzTx/>
                  <a:buFontTx/>
                  <a:buNone/>
                  <a:tabLst/>
                  <a:defRPr/>
                </a:pPr>
                <a:endParaRPr lang="zh-CN" altLang="en-US" sz="1200" dirty="0">
                  <a:latin typeface="+mj-ea"/>
                  <a:ea typeface="+mj-ea"/>
                </a:endParaRPr>
              </a:p>
              <a:p>
                <a:pPr marL="0" marR="0" lvl="0" indent="0" algn="l" defTabSz="914400" rtl="0" eaLnBrk="0" fontAlgn="base" latinLnBrk="0" hangingPunct="0">
                  <a:lnSpc>
                    <a:spcPct val="150000"/>
                  </a:lnSpc>
                  <a:spcBef>
                    <a:spcPts val="900"/>
                  </a:spcBef>
                  <a:spcAft>
                    <a:spcPts val="900"/>
                  </a:spcAft>
                  <a:buClrTx/>
                  <a:buSzTx/>
                  <a:buFontTx/>
                  <a:buNone/>
                  <a:tabLst/>
                  <a:defRPr/>
                </a:pPr>
                <a:endParaRPr lang="zh-CN" altLang="en-US" sz="800" b="1" dirty="0">
                  <a:latin typeface="+mj-ea"/>
                  <a:cs typeface="Times New Roman" panose="02020603050405020304" pitchFamily="18" charset="0"/>
                </a:endParaRPr>
              </a:p>
              <a:p>
                <a:pPr>
                  <a:lnSpc>
                    <a:spcPct val="150000"/>
                  </a:lnSpc>
                  <a:spcBef>
                    <a:spcPts val="900"/>
                  </a:spcBef>
                  <a:spcAft>
                    <a:spcPts val="900"/>
                  </a:spcAft>
                </a:pPr>
                <a:endParaRPr lang="zh-CN" altLang="zh-CN" sz="800" dirty="0">
                  <a:latin typeface="+mj-ea"/>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05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endParaRPr lang="zh-CN" altLang="en-US" dirty="0"/>
              </a:p>
            </p:txBody>
          </p:sp>
        </mc:Choice>
        <mc:Fallback xmlns="">
          <p:sp>
            <p:nvSpPr>
              <p:cNvPr id="45059" name="备注占位符 2">
                <a:extLst>
                  <a:ext uri="{FF2B5EF4-FFF2-40B4-BE49-F238E27FC236}">
                    <a16:creationId xmlns:a16="http://schemas.microsoft.com/office/drawing/2014/main" id="{43B87FED-CC57-AAD6-C5B8-AF928C5748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fontScale="62500" lnSpcReduction="20000"/>
              </a:bodyPr>
              <a:lstStyle/>
              <a:p>
                <a:r>
                  <a:rPr lang="zh-CN" altLang="en-US" sz="800" b="1" dirty="0"/>
                  <a:t>模型过拟合</a:t>
                </a:r>
                <a:endParaRPr lang="en-US" altLang="zh-CN" sz="800" b="1" dirty="0"/>
              </a:p>
              <a:p>
                <a:pPr marR="0" lvl="0" algn="l" defTabSz="914400" rtl="0" eaLnBrk="0" fontAlgn="base" latinLnBrk="0" hangingPunct="0">
                  <a:lnSpc>
                    <a:spcPct val="150000"/>
                  </a:lnSpc>
                  <a:spcBef>
                    <a:spcPct val="0"/>
                  </a:spcBef>
                  <a:spcAft>
                    <a:spcPct val="0"/>
                  </a:spcAft>
                  <a:buClrTx/>
                  <a:buSzTx/>
                  <a:tabLst/>
                </a:pPr>
                <a:r>
                  <a:rPr kumimoji="0" lang="en-US"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1.</a:t>
                </a:r>
                <a:r>
                  <a:rPr kumimoji="0" lang="zh-CN" altLang="zh-CN" sz="800" b="1" i="0" u="none" strike="noStrike" cap="none" normalizeH="0" baseline="0" dirty="0">
                    <a:ln>
                      <a:noFill/>
                    </a:ln>
                    <a:solidFill>
                      <a:srgbClr val="FF0000"/>
                    </a:solidFill>
                    <a:effectLst/>
                    <a:latin typeface="Open Sans" panose="020B0606030504020204" pitchFamily="34" charset="0"/>
                    <a:cs typeface="Open Sans" panose="020B0606030504020204" pitchFamily="34" charset="0"/>
                  </a:rPr>
                  <a:t>获得更多的训练数据</a:t>
                </a:r>
                <a:endParaRPr kumimoji="0" lang="en-US" altLang="zh-CN" sz="800" b="0" i="0" u="none" strike="noStrike" cap="none" normalizeH="0" baseline="0" dirty="0">
                  <a:ln>
                    <a:noFill/>
                  </a:ln>
                  <a:solidFill>
                    <a:srgbClr val="FF0000"/>
                  </a:solidFill>
                  <a:effectLst/>
                  <a:latin typeface="Open Sans" panose="020B0606030504020204" pitchFamily="34" charset="0"/>
                  <a:cs typeface="Open Sans" panose="020B0606030504020204" pitchFamily="34" charset="0"/>
                </a:endParaRPr>
              </a:p>
              <a:p>
                <a:pPr marR="0" lvl="0" algn="l" defTabSz="914400" rtl="0" eaLnBrk="0" fontAlgn="base" latinLnBrk="0" hangingPunct="0">
                  <a:lnSpc>
                    <a:spcPct val="150000"/>
                  </a:lnSpc>
                  <a:spcBef>
                    <a:spcPct val="0"/>
                  </a:spcBef>
                  <a:spcAft>
                    <a:spcPct val="0"/>
                  </a:spcAft>
                  <a:buClrTx/>
                  <a:buSzTx/>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使用更多的训练数据是解决过拟合问题最有效的手段，因为更多的样本能够让模型学习到更多更有效的特征，减小噪声的影响。</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100" b="0" i="0" u="none" strike="noStrike" cap="none" normalizeH="0" baseline="0" dirty="0">
                  <a:ln>
                    <a:noFill/>
                  </a:ln>
                  <a:solidFill>
                    <a:schemeClr val="tx1"/>
                  </a:solidFill>
                  <a:effectLst/>
                </a:endParaRPr>
              </a:p>
              <a:p>
                <a:pPr marR="0" lvl="0" algn="l" defTabSz="914400" rtl="0" eaLnBrk="0" fontAlgn="base" latinLnBrk="0" hangingPunct="0">
                  <a:lnSpc>
                    <a:spcPct val="150000"/>
                  </a:lnSpc>
                  <a:spcBef>
                    <a:spcPct val="0"/>
                  </a:spcBef>
                  <a:spcAft>
                    <a:spcPct val="0"/>
                  </a:spcAft>
                  <a:buClrTx/>
                  <a:buSzTx/>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2.</a:t>
                </a:r>
                <a:r>
                  <a:rPr kumimoji="0" lang="zh-CN"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降维</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即丢弃一些不能帮助我们正确预测的特征。可以是手工选择保留哪些特征，或者使用一些模型选择的算法来帮忙（例如PCA）</a:t>
                </a:r>
                <a:r>
                  <a:rPr kumimoji="0" lang="zh-CN" altLang="en-US"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3.</a:t>
                </a:r>
                <a:r>
                  <a:rPr kumimoji="0" lang="zh-CN" altLang="zh-CN" sz="800" b="1" i="0" u="none" strike="noStrike" cap="none" normalizeH="0" baseline="0" dirty="0">
                    <a:ln>
                      <a:noFill/>
                    </a:ln>
                    <a:solidFill>
                      <a:srgbClr val="FF0000"/>
                    </a:solidFill>
                    <a:effectLst/>
                    <a:latin typeface="Open Sans" panose="020B0606030504020204" pitchFamily="34" charset="0"/>
                    <a:cs typeface="Open Sans" panose="020B0606030504020204" pitchFamily="34" charset="0"/>
                  </a:rPr>
                  <a:t>正则化</a:t>
                </a:r>
                <a:endParaRPr kumimoji="0" lang="en-US" altLang="zh-CN" sz="800" b="0" i="0" u="none" strike="noStrike" cap="none" normalizeH="0" baseline="0" dirty="0">
                  <a:ln>
                    <a:noFill/>
                  </a:ln>
                  <a:solidFill>
                    <a:srgbClr val="FF0000"/>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正则化(regularization)的技术，保留所有的特征，但是减少参数的大小（magnitude），它可以改善或者减少过拟合问题。</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4.</a:t>
                </a:r>
                <a:r>
                  <a:rPr kumimoji="0" lang="zh-CN"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集成学习方法</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集成学习是把多个模型集成在一起，来降低单一模型的过拟合风险。</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endParaRPr lang="en-US" altLang="zh-CN" sz="800" b="1" dirty="0"/>
              </a:p>
              <a:p>
                <a:endParaRPr lang="en-US" altLang="zh-CN" sz="800" dirty="0"/>
              </a:p>
              <a:p>
                <a:r>
                  <a:rPr lang="zh-CN" altLang="en-US" sz="800" b="1" dirty="0"/>
                  <a:t>模型欠拟合</a:t>
                </a:r>
                <a:endParaRPr lang="en-US" altLang="zh-CN" sz="800" b="1" dirty="0"/>
              </a:p>
              <a:p>
                <a:endParaRPr lang="en-US" altLang="zh-CN" sz="800" b="1" dirty="0"/>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1.</a:t>
                </a:r>
                <a:r>
                  <a:rPr kumimoji="0" lang="zh-CN" altLang="zh-CN" sz="800" b="1" i="0" u="none" strike="noStrike" cap="none" normalizeH="0" baseline="0" dirty="0">
                    <a:ln>
                      <a:noFill/>
                    </a:ln>
                    <a:solidFill>
                      <a:srgbClr val="FF0000"/>
                    </a:solidFill>
                    <a:effectLst/>
                    <a:latin typeface="Open Sans" panose="020B0606030504020204" pitchFamily="34" charset="0"/>
                    <a:cs typeface="Open Sans" panose="020B0606030504020204" pitchFamily="34" charset="0"/>
                  </a:rPr>
                  <a:t>添加新特征</a:t>
                </a:r>
                <a:endParaRPr kumimoji="0" lang="en-US" altLang="zh-CN" sz="800" b="0" i="0" u="none" strike="noStrike" cap="none" normalizeH="0" baseline="0" dirty="0">
                  <a:ln>
                    <a:noFill/>
                  </a:ln>
                  <a:solidFill>
                    <a:srgbClr val="FF0000"/>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当特征不足或者现有特征与样本标签的相关性不强时，模型容易出现欠拟合。通过挖掘组合特征等新的特征，往往能够取得更好的效果。</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2.</a:t>
                </a:r>
                <a:r>
                  <a:rPr kumimoji="0" lang="zh-CN"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增加模型复杂度</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简单模型的学习能力较差，通过增加模型的复杂度可以使模型拥有更强的拟合能力。例如，在线性模型中添加高次项，在神经网络模型中增加网络层数或神经元个数等。</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3.</a:t>
                </a:r>
                <a:r>
                  <a:rPr kumimoji="0" lang="zh-CN" altLang="zh-CN" sz="8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减小正则化系数</a:t>
                </a:r>
                <a:endParaRPr kumimoji="0" lang="en-US"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8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正则化是用来防止过拟合的，但当模型出现欠拟合现象时，则需要有针对性地减小正则化系数。</a:t>
                </a:r>
                <a:endParaRPr kumimoji="0" lang="zh-CN"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zh-CN" sz="400" b="0" i="0" u="none" strike="noStrike" cap="none" normalizeH="0" baseline="0" dirty="0">
                  <a:ln>
                    <a:noFill/>
                  </a:ln>
                  <a:solidFill>
                    <a:schemeClr val="tx1"/>
                  </a:solidFill>
                  <a:effectLst/>
                </a:endParaRPr>
              </a:p>
              <a:p>
                <a:pPr>
                  <a:lnSpc>
                    <a:spcPct val="150000"/>
                  </a:lnSpc>
                  <a:spcBef>
                    <a:spcPts val="900"/>
                  </a:spcBef>
                  <a:spcAft>
                    <a:spcPts val="900"/>
                  </a:spcAft>
                </a:pPr>
                <a:r>
                  <a:rPr lang="en-US" altLang="zh-CN" sz="1200" b="1" i="0">
                    <a:latin typeface="Cambria Math" panose="02040503050406030204" pitchFamily="18" charset="0"/>
                    <a:ea typeface="+mj-ea"/>
                    <a:cs typeface="Times New Roman" panose="02020603050405020304" pitchFamily="18" charset="0"/>
                  </a:rPr>
                  <a:t>𝑳</a:t>
                </a:r>
                <a:r>
                  <a:rPr lang="zh-CN" altLang="zh-CN" sz="1200" b="1" i="0">
                    <a:latin typeface="Cambria Math" panose="02040503050406030204" pitchFamily="18" charset="0"/>
                    <a:ea typeface="+mj-ea"/>
                    <a:cs typeface="Times New Roman" panose="02020603050405020304" pitchFamily="18" charset="0"/>
                  </a:rPr>
                  <a:t>_</a:t>
                </a:r>
                <a:r>
                  <a:rPr lang="en-US" altLang="zh-CN" sz="1200" b="1" i="0">
                    <a:latin typeface="Cambria Math" panose="02040503050406030204" pitchFamily="18" charset="0"/>
                    <a:ea typeface="+mj-ea"/>
                    <a:cs typeface="Times New Roman" panose="02020603050405020304" pitchFamily="18" charset="0"/>
                  </a:rPr>
                  <a:t>𝟏</a:t>
                </a:r>
                <a:r>
                  <a:rPr lang="en-US" altLang="zh-CN" sz="1200" b="1" dirty="0" err="1">
                    <a:latin typeface="+mj-ea"/>
                    <a:ea typeface="+mj-ea"/>
                    <a:cs typeface="Times New Roman" panose="02020603050405020304" pitchFamily="18" charset="0"/>
                  </a:rPr>
                  <a:t>正则化</a:t>
                </a:r>
                <a:r>
                  <a:rPr lang="en-US" altLang="zh-CN" sz="1200" dirty="0">
                    <a:latin typeface="+mj-ea"/>
                    <a:ea typeface="+mj-ea"/>
                    <a:cs typeface="Times New Roman" panose="02020603050405020304" pitchFamily="18" charset="0"/>
                  </a:rPr>
                  <a:t>：</a:t>
                </a:r>
                <a:r>
                  <a:rPr lang="en-US" altLang="zh-CN" sz="1200" i="0">
                    <a:latin typeface="Cambria Math" panose="02040503050406030204" pitchFamily="18" charset="0"/>
                    <a:ea typeface="+mj-ea"/>
                    <a:cs typeface="Times New Roman" panose="02020603050405020304" pitchFamily="18" charset="0"/>
                  </a:rPr>
                  <a:t>𝐽(𝑤)=</a:t>
                </a:r>
                <a:r>
                  <a:rPr lang="en-US" altLang="zh-CN" sz="1200" i="0" kern="100">
                    <a:latin typeface="Cambria Math" panose="02040503050406030204" pitchFamily="18" charset="0"/>
                    <a:cs typeface="Times New Roman" panose="02020603050405020304" pitchFamily="18" charset="0"/>
                  </a:rPr>
                  <a:t>1</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𝑚</a:t>
                </a:r>
                <a:r>
                  <a:rPr lang="zh-CN" altLang="zh-CN" sz="1200" i="0" kern="100">
                    <a:latin typeface="Cambria Math" panose="02040503050406030204" pitchFamily="18" charset="0"/>
                    <a:cs typeface="Times New Roman" panose="02020603050405020304" pitchFamily="18" charset="0"/>
                  </a:rPr>
                  <a:t> ∑1</a:t>
                </a:r>
                <a:r>
                  <a:rPr lang="en-US" altLang="zh-CN" sz="1200" i="0" kern="100">
                    <a:latin typeface="Cambria Math" panose="02040503050406030204" pitchFamily="18" charset="0"/>
                    <a:cs typeface="Times New Roman" panose="02020603050405020304" pitchFamily="18" charset="0"/>
                  </a:rPr>
                  <a:t>_</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𝑖=1</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^𝑚▒𝐿</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𝑦</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(𝑖)</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,𝑦</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(𝑖)</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 ) </a:t>
                </a:r>
                <a:r>
                  <a:rPr lang="en-US" altLang="zh-CN" sz="1200" i="0">
                    <a:latin typeface="Cambria Math" panose="02040503050406030204" pitchFamily="18" charset="0"/>
                    <a:ea typeface="+mj-ea"/>
                    <a:cs typeface="Times New Roman" panose="02020603050405020304" pitchFamily="18" charset="0"/>
                  </a:rPr>
                  <a:t>+𝜆</a:t>
                </a:r>
                <a:r>
                  <a:rPr lang="zh-CN" altLang="zh-CN" sz="1200" i="0" kern="100">
                    <a:latin typeface="Cambria Math" panose="02040503050406030204" pitchFamily="18" charset="0"/>
                    <a:ea typeface="+mj-ea"/>
                    <a:cs typeface="Times New Roman" panose="02020603050405020304" pitchFamily="18" charset="0"/>
                  </a:rPr>
                  <a:t>/</a:t>
                </a:r>
                <a:r>
                  <a:rPr lang="en-US" altLang="zh-CN" sz="1200" b="0" i="0" kern="100">
                    <a:latin typeface="Cambria Math" panose="02040503050406030204" pitchFamily="18" charset="0"/>
                    <a:cs typeface="Times New Roman" panose="02020603050405020304" pitchFamily="18" charset="0"/>
                  </a:rPr>
                  <a:t>2</a:t>
                </a:r>
                <a:r>
                  <a:rPr lang="en-US" altLang="zh-CN" sz="1200" i="0" kern="100">
                    <a:latin typeface="Cambria Math" panose="02040503050406030204" pitchFamily="18" charset="0"/>
                    <a:cs typeface="Times New Roman" panose="02020603050405020304" pitchFamily="18" charset="0"/>
                  </a:rPr>
                  <a:t>𝑚</a:t>
                </a:r>
                <a:r>
                  <a:rPr lang="zh-CN" altLang="zh-CN" sz="1200" i="0" kern="100">
                    <a:latin typeface="Cambria Math" panose="02040503050406030204" pitchFamily="18" charset="0"/>
                    <a:ea typeface="+mj-ea"/>
                    <a:cs typeface="Times New Roman" panose="02020603050405020304" pitchFamily="18" charset="0"/>
                  </a:rPr>
                  <a:t> </a:t>
                </a:r>
                <a:r>
                  <a:rPr lang="zh-CN" altLang="zh-CN" sz="1200" i="0">
                    <a:latin typeface="Cambria Math" panose="02040503050406030204" pitchFamily="18" charset="0"/>
                    <a:ea typeface="+mj-ea"/>
                    <a:cs typeface="Times New Roman" panose="02020603050405020304" pitchFamily="18" charset="0"/>
                  </a:rPr>
                  <a:t>∑1</a:t>
                </a:r>
                <a:r>
                  <a:rPr lang="en-US" altLang="zh-CN" sz="1200" i="0">
                    <a:latin typeface="Cambria Math" panose="02040503050406030204" pitchFamily="18" charset="0"/>
                    <a:ea typeface="+mj-ea"/>
                    <a:cs typeface="Times New Roman" panose="02020603050405020304" pitchFamily="18" charset="0"/>
                  </a:rPr>
                  <a:t>_</a:t>
                </a:r>
                <a:r>
                  <a:rPr lang="zh-CN" altLang="zh-CN" sz="1200" i="0">
                    <a:latin typeface="Cambria Math" panose="02040503050406030204" pitchFamily="18" charset="0"/>
                    <a:ea typeface="+mj-ea"/>
                    <a:cs typeface="Times New Roman" panose="02020603050405020304" pitchFamily="18" charset="0"/>
                  </a:rPr>
                  <a:t>(</a:t>
                </a:r>
                <a:r>
                  <a:rPr lang="en-US" altLang="zh-CN" sz="1200" i="0">
                    <a:latin typeface="Cambria Math" panose="02040503050406030204" pitchFamily="18" charset="0"/>
                    <a:ea typeface="+mj-ea"/>
                    <a:cs typeface="Times New Roman" panose="02020603050405020304" pitchFamily="18" charset="0"/>
                  </a:rPr>
                  <a:t>𝑗=1</a:t>
                </a:r>
                <a:r>
                  <a:rPr lang="zh-CN" altLang="zh-CN" sz="1200" i="0">
                    <a:latin typeface="Cambria Math" panose="02040503050406030204" pitchFamily="18" charset="0"/>
                    <a:ea typeface="+mj-ea"/>
                    <a:cs typeface="Times New Roman" panose="02020603050405020304" pitchFamily="18" charset="0"/>
                  </a:rPr>
                  <a:t>)</a:t>
                </a:r>
                <a:r>
                  <a:rPr lang="en-US" altLang="zh-CN" sz="1200" i="0">
                    <a:latin typeface="Cambria Math" panose="02040503050406030204" pitchFamily="18" charset="0"/>
                    <a:ea typeface="+mj-ea"/>
                    <a:cs typeface="Times New Roman" panose="02020603050405020304" pitchFamily="18" charset="0"/>
                  </a:rPr>
                  <a:t>^𝑛▒|</a:t>
                </a:r>
                <a:r>
                  <a:rPr lang="zh-CN" altLang="zh-CN" sz="1200" i="0">
                    <a:latin typeface="Cambria Math" panose="02040503050406030204" pitchFamily="18" charset="0"/>
                    <a:ea typeface="+mj-ea"/>
                    <a:cs typeface="Times New Roman" panose="02020603050405020304" pitchFamily="18" charset="0"/>
                  </a:rPr>
                  <a:t> </a:t>
                </a:r>
                <a:r>
                  <a:rPr lang="en-US" altLang="zh-CN" sz="1200" i="0">
                    <a:latin typeface="Cambria Math" panose="02040503050406030204" pitchFamily="18" charset="0"/>
                    <a:ea typeface="+mj-ea"/>
                    <a:cs typeface="Times New Roman" panose="02020603050405020304" pitchFamily="18" charset="0"/>
                  </a:rPr>
                  <a:t>𝑤</a:t>
                </a:r>
                <a:r>
                  <a:rPr lang="zh-CN" altLang="zh-CN" sz="1200" i="0">
                    <a:latin typeface="Cambria Math" panose="02040503050406030204" pitchFamily="18" charset="0"/>
                    <a:ea typeface="+mj-ea"/>
                    <a:cs typeface="Times New Roman" panose="02020603050405020304" pitchFamily="18" charset="0"/>
                  </a:rPr>
                  <a:t>_</a:t>
                </a:r>
                <a:r>
                  <a:rPr lang="en-US" altLang="zh-CN" sz="1200" i="0">
                    <a:latin typeface="Cambria Math" panose="02040503050406030204" pitchFamily="18" charset="0"/>
                    <a:ea typeface="+mj-ea"/>
                    <a:cs typeface="Times New Roman" panose="02020603050405020304" pitchFamily="18" charset="0"/>
                  </a:rPr>
                  <a:t>𝑗 |</a:t>
                </a:r>
                <a:r>
                  <a:rPr lang="en-US" altLang="zh-CN" sz="1200" dirty="0">
                    <a:latin typeface="+mj-ea"/>
                    <a:ea typeface="+mj-ea"/>
                    <a:cs typeface="Times New Roman" panose="02020603050405020304" pitchFamily="18" charset="0"/>
                  </a:rPr>
                  <a:t>，</a:t>
                </a:r>
                <a:r>
                  <a:rPr lang="en-US" altLang="zh-CN" b="1" i="0">
                    <a:latin typeface="Cambria Math" panose="02040503050406030204" pitchFamily="18" charset="0"/>
                    <a:cs typeface="Times New Roman" panose="02020603050405020304" pitchFamily="18" charset="0"/>
                  </a:rPr>
                  <a:t>𝑳</a:t>
                </a:r>
                <a:r>
                  <a:rPr lang="zh-CN" altLang="zh-CN" b="1" i="0">
                    <a:latin typeface="Cambria Math" panose="02040503050406030204" pitchFamily="18" charset="0"/>
                    <a:cs typeface="Times New Roman" panose="02020603050405020304" pitchFamily="18" charset="0"/>
                  </a:rPr>
                  <a:t>_</a:t>
                </a:r>
                <a:r>
                  <a:rPr lang="en-US" altLang="zh-CN" b="1" i="0">
                    <a:latin typeface="Cambria Math" panose="02040503050406030204" pitchFamily="18" charset="0"/>
                    <a:cs typeface="Times New Roman" panose="02020603050405020304" pitchFamily="18" charset="0"/>
                  </a:rPr>
                  <a:t>𝟏</a:t>
                </a:r>
                <a:r>
                  <a:rPr lang="en-US" altLang="zh-CN" b="1" dirty="0">
                    <a:latin typeface="+mj-ea"/>
                    <a:cs typeface="Times New Roman" panose="02020603050405020304" pitchFamily="18" charset="0"/>
                  </a:rPr>
                  <a:t>正则化</a:t>
                </a:r>
                <a:r>
                  <a:rPr lang="zh-CN" altLang="en-US" b="1" dirty="0">
                    <a:latin typeface="+mj-ea"/>
                    <a:cs typeface="Times New Roman" panose="02020603050405020304" pitchFamily="18" charset="0"/>
                  </a:rPr>
                  <a:t>可以产生稀疏模型</a:t>
                </a:r>
                <a:endParaRPr lang="zh-CN" altLang="zh-CN" sz="1200" dirty="0">
                  <a:latin typeface="+mj-ea"/>
                  <a:ea typeface="+mj-ea"/>
                  <a:cs typeface="Times New Roman" panose="02020603050405020304" pitchFamily="18" charset="0"/>
                </a:endParaRPr>
              </a:p>
              <a:p>
                <a:pPr marL="0" marR="0" lvl="0" indent="0" algn="l" defTabSz="914400" rtl="0" eaLnBrk="0" fontAlgn="base" latinLnBrk="0" hangingPunct="0">
                  <a:lnSpc>
                    <a:spcPct val="150000"/>
                  </a:lnSpc>
                  <a:spcBef>
                    <a:spcPts val="900"/>
                  </a:spcBef>
                  <a:spcAft>
                    <a:spcPts val="900"/>
                  </a:spcAft>
                  <a:buClrTx/>
                  <a:buSzTx/>
                  <a:buFontTx/>
                  <a:buNone/>
                  <a:tabLst/>
                  <a:defRPr/>
                </a:pPr>
                <a:r>
                  <a:rPr lang="en-US" altLang="zh-CN" sz="1200" b="1" i="0">
                    <a:latin typeface="Cambria Math" panose="02040503050406030204" pitchFamily="18" charset="0"/>
                    <a:ea typeface="+mj-ea"/>
                    <a:cs typeface="Times New Roman" panose="02020603050405020304" pitchFamily="18" charset="0"/>
                  </a:rPr>
                  <a:t>𝑳</a:t>
                </a:r>
                <a:r>
                  <a:rPr lang="zh-CN" altLang="zh-CN" sz="1200" b="1" i="0">
                    <a:latin typeface="Cambria Math" panose="02040503050406030204" pitchFamily="18" charset="0"/>
                    <a:ea typeface="+mj-ea"/>
                    <a:cs typeface="Times New Roman" panose="02020603050405020304" pitchFamily="18" charset="0"/>
                  </a:rPr>
                  <a:t>_</a:t>
                </a:r>
                <a:r>
                  <a:rPr lang="en-US" altLang="zh-CN" sz="1200" b="1" i="0">
                    <a:latin typeface="Cambria Math" panose="02040503050406030204" pitchFamily="18" charset="0"/>
                    <a:ea typeface="+mj-ea"/>
                    <a:cs typeface="Times New Roman" panose="02020603050405020304" pitchFamily="18" charset="0"/>
                  </a:rPr>
                  <a:t>𝟐</a:t>
                </a:r>
                <a:r>
                  <a:rPr lang="en-US" altLang="zh-CN" sz="1200" b="1" dirty="0" err="1">
                    <a:latin typeface="+mj-ea"/>
                    <a:ea typeface="+mj-ea"/>
                    <a:cs typeface="Times New Roman" panose="02020603050405020304" pitchFamily="18" charset="0"/>
                  </a:rPr>
                  <a:t>正则化</a:t>
                </a:r>
                <a:r>
                  <a:rPr lang="en-US" altLang="zh-CN" sz="1200" dirty="0">
                    <a:latin typeface="+mj-ea"/>
                    <a:ea typeface="+mj-ea"/>
                    <a:cs typeface="Times New Roman" panose="02020603050405020304" pitchFamily="18" charset="0"/>
                  </a:rPr>
                  <a:t>：</a:t>
                </a:r>
                <a:r>
                  <a:rPr lang="en-US" altLang="zh-CN" sz="1200" i="0">
                    <a:latin typeface="Cambria Math" panose="02040503050406030204" pitchFamily="18" charset="0"/>
                    <a:ea typeface="+mj-ea"/>
                    <a:cs typeface="Times New Roman" panose="02020603050405020304" pitchFamily="18" charset="0"/>
                  </a:rPr>
                  <a:t>𝐽(𝑤)=</a:t>
                </a:r>
                <a:r>
                  <a:rPr lang="en-US" altLang="zh-CN" sz="1200" i="0" kern="100">
                    <a:latin typeface="Cambria Math" panose="02040503050406030204" pitchFamily="18" charset="0"/>
                    <a:cs typeface="Times New Roman" panose="02020603050405020304" pitchFamily="18" charset="0"/>
                  </a:rPr>
                  <a:t>1</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𝑚</a:t>
                </a:r>
                <a:r>
                  <a:rPr lang="zh-CN" altLang="zh-CN" sz="1200" i="0" kern="100">
                    <a:latin typeface="Cambria Math" panose="02040503050406030204" pitchFamily="18" charset="0"/>
                    <a:cs typeface="Times New Roman" panose="02020603050405020304" pitchFamily="18" charset="0"/>
                  </a:rPr>
                  <a:t> ∑1</a:t>
                </a:r>
                <a:r>
                  <a:rPr lang="en-US" altLang="zh-CN" sz="1200" i="0" kern="100">
                    <a:latin typeface="Cambria Math" panose="02040503050406030204" pitchFamily="18" charset="0"/>
                    <a:cs typeface="Times New Roman" panose="02020603050405020304" pitchFamily="18" charset="0"/>
                  </a:rPr>
                  <a:t>_</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𝑖=1</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^𝑚▒𝐿</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𝑦</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(𝑖)</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,𝑦</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(𝑖)</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 ) </a:t>
                </a:r>
                <a:r>
                  <a:rPr lang="en-US" altLang="zh-CN" sz="1200" i="0">
                    <a:latin typeface="Cambria Math" panose="02040503050406030204" pitchFamily="18" charset="0"/>
                    <a:ea typeface="+mj-ea"/>
                    <a:cs typeface="Times New Roman" panose="02020603050405020304" pitchFamily="18" charset="0"/>
                  </a:rPr>
                  <a:t>+</a:t>
                </a:r>
                <a:r>
                  <a:rPr lang="en-US" altLang="zh-CN" sz="1200" i="0">
                    <a:latin typeface="Cambria Math" panose="02040503050406030204" pitchFamily="18" charset="0"/>
                    <a:cs typeface="Times New Roman" panose="02020603050405020304" pitchFamily="18" charset="0"/>
                  </a:rPr>
                  <a:t>𝜆</a:t>
                </a:r>
                <a:r>
                  <a:rPr lang="zh-CN" altLang="zh-CN" sz="1200" i="0" kern="100">
                    <a:latin typeface="Cambria Math" panose="02040503050406030204" pitchFamily="18" charset="0"/>
                    <a:cs typeface="Times New Roman" panose="02020603050405020304" pitchFamily="18" charset="0"/>
                  </a:rPr>
                  <a:t>/</a:t>
                </a:r>
                <a:r>
                  <a:rPr lang="en-US" altLang="zh-CN" sz="1200" i="0" kern="100">
                    <a:latin typeface="Cambria Math" panose="02040503050406030204" pitchFamily="18" charset="0"/>
                    <a:cs typeface="Times New Roman" panose="02020603050405020304" pitchFamily="18" charset="0"/>
                  </a:rPr>
                  <a:t>2𝑚</a:t>
                </a:r>
                <a:r>
                  <a:rPr lang="zh-CN" altLang="zh-CN" sz="1200" i="0" kern="100">
                    <a:latin typeface="Cambria Math" panose="02040503050406030204" pitchFamily="18" charset="0"/>
                    <a:ea typeface="+mj-ea"/>
                    <a:cs typeface="Times New Roman" panose="02020603050405020304" pitchFamily="18" charset="0"/>
                  </a:rPr>
                  <a:t> </a:t>
                </a:r>
                <a:r>
                  <a:rPr lang="zh-CN" altLang="zh-CN" sz="1200" i="0">
                    <a:latin typeface="Cambria Math" panose="02040503050406030204" pitchFamily="18" charset="0"/>
                    <a:ea typeface="+mj-ea"/>
                    <a:cs typeface="Times New Roman" panose="02020603050405020304" pitchFamily="18" charset="0"/>
                  </a:rPr>
                  <a:t>∑1</a:t>
                </a:r>
                <a:r>
                  <a:rPr lang="en-US" altLang="zh-CN" sz="1200" i="0">
                    <a:latin typeface="Cambria Math" panose="02040503050406030204" pitchFamily="18" charset="0"/>
                    <a:ea typeface="+mj-ea"/>
                    <a:cs typeface="Times New Roman" panose="02020603050405020304" pitchFamily="18" charset="0"/>
                  </a:rPr>
                  <a:t>_</a:t>
                </a:r>
                <a:r>
                  <a:rPr lang="zh-CN" altLang="zh-CN" sz="1200" i="0">
                    <a:latin typeface="Cambria Math" panose="02040503050406030204" pitchFamily="18" charset="0"/>
                    <a:ea typeface="+mj-ea"/>
                    <a:cs typeface="Times New Roman" panose="02020603050405020304" pitchFamily="18" charset="0"/>
                  </a:rPr>
                  <a:t>(</a:t>
                </a:r>
                <a:r>
                  <a:rPr lang="en-US" altLang="zh-CN" sz="1200" i="0">
                    <a:latin typeface="Cambria Math" panose="02040503050406030204" pitchFamily="18" charset="0"/>
                    <a:ea typeface="+mj-ea"/>
                    <a:cs typeface="Times New Roman" panose="02020603050405020304" pitchFamily="18" charset="0"/>
                  </a:rPr>
                  <a:t>𝑗=1</a:t>
                </a:r>
                <a:r>
                  <a:rPr lang="zh-CN" altLang="zh-CN" sz="1200" i="0">
                    <a:latin typeface="Cambria Math" panose="02040503050406030204" pitchFamily="18" charset="0"/>
                    <a:ea typeface="+mj-ea"/>
                    <a:cs typeface="Times New Roman" panose="02020603050405020304" pitchFamily="18" charset="0"/>
                  </a:rPr>
                  <a:t>)</a:t>
                </a:r>
                <a:r>
                  <a:rPr lang="en-US" altLang="zh-CN" sz="1200" i="0">
                    <a:latin typeface="Cambria Math" panose="02040503050406030204" pitchFamily="18" charset="0"/>
                    <a:ea typeface="+mj-ea"/>
                    <a:cs typeface="Times New Roman" panose="02020603050405020304" pitchFamily="18" charset="0"/>
                  </a:rPr>
                  <a:t>^𝑛▒𝑤</a:t>
                </a:r>
                <a:r>
                  <a:rPr lang="zh-CN" altLang="zh-CN" sz="1200" i="0">
                    <a:latin typeface="Cambria Math" panose="02040503050406030204" pitchFamily="18" charset="0"/>
                    <a:ea typeface="+mj-ea"/>
                    <a:cs typeface="Times New Roman" panose="02020603050405020304" pitchFamily="18" charset="0"/>
                  </a:rPr>
                  <a:t>_</a:t>
                </a:r>
                <a:r>
                  <a:rPr lang="en-US" altLang="zh-CN" sz="1200" i="0">
                    <a:latin typeface="Cambria Math" panose="02040503050406030204" pitchFamily="18" charset="0"/>
                    <a:ea typeface="+mj-ea"/>
                    <a:cs typeface="Times New Roman" panose="02020603050405020304" pitchFamily="18" charset="0"/>
                  </a:rPr>
                  <a:t>𝑗^2 </a:t>
                </a:r>
                <a:r>
                  <a:rPr lang="zh-CN" altLang="en-US" sz="800" dirty="0">
                    <a:latin typeface="+mj-ea"/>
                    <a:cs typeface="Times New Roman" panose="02020603050405020304" pitchFamily="18" charset="0"/>
                  </a:rPr>
                  <a:t>，</a:t>
                </a:r>
                <a:r>
                  <a:rPr lang="en-US" altLang="zh-CN" sz="800" b="1" i="0" kern="1200">
                    <a:solidFill>
                      <a:schemeClr val="tx1"/>
                    </a:solidFill>
                    <a:latin typeface="Cambria Math" panose="02040503050406030204" pitchFamily="18" charset="0"/>
                    <a:ea typeface="+mn-ea"/>
                    <a:cs typeface="Times New Roman" panose="02020603050405020304" pitchFamily="18" charset="0"/>
                  </a:rPr>
                  <a:t>𝑳</a:t>
                </a:r>
                <a:r>
                  <a:rPr lang="zh-CN" altLang="zh-CN" sz="800" b="1" i="0" kern="1200">
                    <a:solidFill>
                      <a:schemeClr val="tx1"/>
                    </a:solidFill>
                    <a:latin typeface="Cambria Math" panose="02040503050406030204" pitchFamily="18" charset="0"/>
                    <a:ea typeface="+mn-ea"/>
                    <a:cs typeface="Times New Roman" panose="02020603050405020304" pitchFamily="18" charset="0"/>
                  </a:rPr>
                  <a:t>_</a:t>
                </a:r>
                <a:r>
                  <a:rPr lang="en-US" altLang="zh-CN" sz="800" b="1" i="0" kern="1200">
                    <a:solidFill>
                      <a:schemeClr val="tx1"/>
                    </a:solidFill>
                    <a:latin typeface="Cambria Math" panose="02040503050406030204" pitchFamily="18" charset="0"/>
                    <a:ea typeface="+mn-ea"/>
                    <a:cs typeface="Times New Roman" panose="02020603050405020304" pitchFamily="18" charset="0"/>
                  </a:rPr>
                  <a:t>𝟐</a:t>
                </a:r>
                <a:r>
                  <a:rPr lang="en-US" altLang="zh-CN" sz="800" b="1" kern="1200" dirty="0">
                    <a:solidFill>
                      <a:schemeClr val="tx1"/>
                    </a:solidFill>
                    <a:latin typeface="+mj-ea"/>
                    <a:ea typeface="+mn-ea"/>
                    <a:cs typeface="Times New Roman" panose="02020603050405020304" pitchFamily="18" charset="0"/>
                  </a:rPr>
                  <a:t>正则化</a:t>
                </a:r>
                <a:r>
                  <a:rPr lang="zh-CN" altLang="en-US" sz="800" b="1" dirty="0">
                    <a:latin typeface="+mj-ea"/>
                    <a:cs typeface="Times New Roman" panose="02020603050405020304" pitchFamily="18" charset="0"/>
                  </a:rPr>
                  <a:t>可以防止过拟合</a:t>
                </a:r>
                <a:endParaRPr lang="en-US" altLang="zh-CN" sz="800" b="1" dirty="0">
                  <a:latin typeface="+mj-ea"/>
                  <a:cs typeface="Times New Roman" panose="02020603050405020304" pitchFamily="18" charset="0"/>
                </a:endParaRPr>
              </a:p>
              <a:p>
                <a:pPr marL="0" marR="0" lvl="0" indent="0" algn="l" defTabSz="914400" rtl="0" eaLnBrk="0" fontAlgn="base" latinLnBrk="0" hangingPunct="0">
                  <a:lnSpc>
                    <a:spcPct val="150000"/>
                  </a:lnSpc>
                  <a:spcBef>
                    <a:spcPts val="900"/>
                  </a:spcBef>
                  <a:spcAft>
                    <a:spcPts val="900"/>
                  </a:spcAft>
                  <a:buClrTx/>
                  <a:buSzTx/>
                  <a:buFontTx/>
                  <a:buNone/>
                  <a:tabLst/>
                  <a:defRPr/>
                </a:pPr>
                <a:r>
                  <a:rPr lang="en-US" altLang="zh-CN" sz="1200" b="1" kern="100" dirty="0">
                    <a:latin typeface="+mj-ea"/>
                    <a:ea typeface="+mj-ea"/>
                    <a:cs typeface="Times New Roman" panose="02020603050405020304" pitchFamily="18" charset="0"/>
                  </a:rPr>
                  <a:t>Dropout</a:t>
                </a:r>
                <a:r>
                  <a:rPr lang="zh-CN" altLang="en-US" sz="1200" b="1" kern="100" dirty="0">
                    <a:latin typeface="+mj-ea"/>
                    <a:ea typeface="+mj-ea"/>
                    <a:cs typeface="Times New Roman" panose="02020603050405020304" pitchFamily="18" charset="0"/>
                  </a:rPr>
                  <a:t>正则化：在训练阶段使用，在测试阶段不使用！</a:t>
                </a:r>
              </a:p>
              <a:p>
                <a:pPr marL="0" marR="0" lvl="0" indent="0" algn="l" defTabSz="914400" rtl="0" eaLnBrk="0" fontAlgn="base" latinLnBrk="0" hangingPunct="0">
                  <a:lnSpc>
                    <a:spcPct val="150000"/>
                  </a:lnSpc>
                  <a:spcBef>
                    <a:spcPts val="900"/>
                  </a:spcBef>
                  <a:spcAft>
                    <a:spcPts val="900"/>
                  </a:spcAft>
                  <a:buClrTx/>
                  <a:buSzTx/>
                  <a:buFontTx/>
                  <a:buNone/>
                  <a:tabLst/>
                  <a:defRPr/>
                </a:pPr>
                <a:r>
                  <a:rPr lang="en-US" altLang="zh-CN" b="1" kern="100" dirty="0">
                    <a:latin typeface="+mj-ea"/>
                    <a:ea typeface="+mj-ea"/>
                    <a:cs typeface="Times New Roman" panose="02020603050405020304" pitchFamily="18" charset="0"/>
                  </a:rPr>
                  <a:t>Early stopping</a:t>
                </a:r>
                <a:r>
                  <a:rPr lang="zh-CN" altLang="zh-CN" kern="100" dirty="0">
                    <a:latin typeface="+mj-ea"/>
                    <a:ea typeface="+mj-ea"/>
                    <a:cs typeface="Times New Roman" panose="02020603050405020304" pitchFamily="18" charset="0"/>
                  </a:rPr>
                  <a:t>代表提早停止训练神经网络</a:t>
                </a:r>
                <a:r>
                  <a:rPr lang="zh-CN" altLang="en-US" kern="100" dirty="0">
                    <a:latin typeface="+mj-ea"/>
                    <a:ea typeface="+mj-ea"/>
                    <a:cs typeface="Times New Roman" panose="02020603050405020304" pitchFamily="18" charset="0"/>
                  </a:rPr>
                  <a:t>：</a:t>
                </a:r>
                <a:r>
                  <a:rPr lang="en-US" altLang="zh-CN" b="1" kern="100" dirty="0">
                    <a:latin typeface="+mj-ea"/>
                    <a:ea typeface="+mj-ea"/>
                    <a:cs typeface="Times New Roman" panose="02020603050405020304" pitchFamily="18" charset="0"/>
                  </a:rPr>
                  <a:t>Early stopping</a:t>
                </a:r>
                <a:r>
                  <a:rPr lang="zh-CN" altLang="zh-CN" kern="100" dirty="0">
                    <a:latin typeface="+mj-ea"/>
                    <a:ea typeface="+mj-ea"/>
                    <a:cs typeface="Times New Roman" panose="02020603050405020304" pitchFamily="18" charset="0"/>
                  </a:rPr>
                  <a:t>的优点是，只运行一次梯度下降，你可以找出</a:t>
                </a:r>
                <a:r>
                  <a:rPr lang="en-US" altLang="zh-CN" i="0" kern="100">
                    <a:latin typeface="Cambria Math" panose="02040503050406030204" pitchFamily="18" charset="0"/>
                    <a:ea typeface="+mj-ea"/>
                    <a:cs typeface="Times New Roman" panose="02020603050405020304" pitchFamily="18" charset="0"/>
                  </a:rPr>
                  <a:t>𝑤</a:t>
                </a:r>
                <a:r>
                  <a:rPr lang="zh-CN" altLang="zh-CN" kern="100" dirty="0">
                    <a:latin typeface="+mj-ea"/>
                    <a:ea typeface="+mj-ea"/>
                    <a:cs typeface="Times New Roman" panose="02020603050405020304" pitchFamily="18" charset="0"/>
                  </a:rPr>
                  <a:t>的较小值，中间值和较大值，而无需尝试</a:t>
                </a:r>
                <a:r>
                  <a:rPr lang="en-US" altLang="zh-CN" i="0" kern="100">
                    <a:latin typeface="Cambria Math" panose="02040503050406030204" pitchFamily="18" charset="0"/>
                    <a:ea typeface="+mj-ea"/>
                    <a:cs typeface="Times New Roman" panose="02020603050405020304" pitchFamily="18" charset="0"/>
                  </a:rPr>
                  <a:t>𝐿2</a:t>
                </a:r>
                <a:r>
                  <a:rPr lang="zh-CN" altLang="zh-CN" kern="100" dirty="0">
                    <a:latin typeface="+mj-ea"/>
                    <a:ea typeface="+mj-ea"/>
                    <a:cs typeface="Times New Roman" panose="02020603050405020304" pitchFamily="18" charset="0"/>
                  </a:rPr>
                  <a:t>正则化超级参数</a:t>
                </a:r>
                <a:r>
                  <a:rPr lang="en-US" altLang="zh-CN" i="0" kern="100">
                    <a:latin typeface="Cambria Math" panose="02040503050406030204" pitchFamily="18" charset="0"/>
                    <a:ea typeface="+mj-ea"/>
                    <a:cs typeface="Times New Roman" panose="02020603050405020304" pitchFamily="18" charset="0"/>
                  </a:rPr>
                  <a:t>𝜆</a:t>
                </a:r>
                <a:r>
                  <a:rPr lang="zh-CN" altLang="zh-CN" kern="100" dirty="0">
                    <a:latin typeface="+mj-ea"/>
                    <a:ea typeface="+mj-ea"/>
                    <a:cs typeface="Times New Roman" panose="02020603050405020304" pitchFamily="18" charset="0"/>
                  </a:rPr>
                  <a:t>的很多值。</a:t>
                </a:r>
              </a:p>
              <a:p>
                <a:pPr marL="0" marR="0" lvl="0" indent="0" algn="l" defTabSz="914400" rtl="0" eaLnBrk="0" fontAlgn="base" latinLnBrk="0" hangingPunct="0">
                  <a:lnSpc>
                    <a:spcPct val="150000"/>
                  </a:lnSpc>
                  <a:spcBef>
                    <a:spcPts val="900"/>
                  </a:spcBef>
                  <a:spcAft>
                    <a:spcPts val="900"/>
                  </a:spcAft>
                  <a:buClrTx/>
                  <a:buSzTx/>
                  <a:buFontTx/>
                  <a:buNone/>
                  <a:tabLst/>
                  <a:defRPr/>
                </a:pPr>
                <a:endParaRPr lang="zh-CN" altLang="en-US" dirty="0">
                  <a:latin typeface="+mj-ea"/>
                  <a:ea typeface="+mj-ea"/>
                </a:endParaRPr>
              </a:p>
              <a:p>
                <a:pPr marL="0" marR="0" lvl="0" indent="0" algn="l" defTabSz="914400" rtl="0" eaLnBrk="0" fontAlgn="base" latinLnBrk="0" hangingPunct="0">
                  <a:lnSpc>
                    <a:spcPct val="150000"/>
                  </a:lnSpc>
                  <a:spcBef>
                    <a:spcPts val="900"/>
                  </a:spcBef>
                  <a:spcAft>
                    <a:spcPts val="900"/>
                  </a:spcAft>
                  <a:buClrTx/>
                  <a:buSzTx/>
                  <a:buFontTx/>
                  <a:buNone/>
                  <a:tabLst/>
                  <a:defRPr/>
                </a:pPr>
                <a:endParaRPr lang="zh-CN" altLang="en-US" sz="1200" dirty="0">
                  <a:latin typeface="+mj-ea"/>
                  <a:ea typeface="+mj-ea"/>
                </a:endParaRPr>
              </a:p>
              <a:p>
                <a:pPr marL="0" marR="0" lvl="0" indent="0" algn="l" defTabSz="914400" rtl="0" eaLnBrk="0" fontAlgn="base" latinLnBrk="0" hangingPunct="0">
                  <a:lnSpc>
                    <a:spcPct val="150000"/>
                  </a:lnSpc>
                  <a:spcBef>
                    <a:spcPts val="900"/>
                  </a:spcBef>
                  <a:spcAft>
                    <a:spcPts val="900"/>
                  </a:spcAft>
                  <a:buClrTx/>
                  <a:buSzTx/>
                  <a:buFontTx/>
                  <a:buNone/>
                  <a:tabLst/>
                  <a:defRPr/>
                </a:pPr>
                <a:endParaRPr lang="zh-CN" altLang="en-US" sz="800" b="1" dirty="0">
                  <a:latin typeface="+mj-ea"/>
                  <a:cs typeface="Times New Roman" panose="02020603050405020304" pitchFamily="18" charset="0"/>
                </a:endParaRPr>
              </a:p>
              <a:p>
                <a:pPr>
                  <a:lnSpc>
                    <a:spcPct val="150000"/>
                  </a:lnSpc>
                  <a:spcBef>
                    <a:spcPts val="900"/>
                  </a:spcBef>
                  <a:spcAft>
                    <a:spcPts val="900"/>
                  </a:spcAft>
                </a:pPr>
                <a:endParaRPr lang="zh-CN" altLang="zh-CN" sz="800" dirty="0">
                  <a:latin typeface="+mj-ea"/>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05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endParaRPr lang="zh-CN" altLang="en-US" dirty="0"/>
              </a:p>
            </p:txBody>
          </p:sp>
        </mc:Fallback>
      </mc:AlternateContent>
      <p:sp>
        <p:nvSpPr>
          <p:cNvPr id="45060" name="灯片编号占位符 3">
            <a:extLst>
              <a:ext uri="{FF2B5EF4-FFF2-40B4-BE49-F238E27FC236}">
                <a16:creationId xmlns:a16="http://schemas.microsoft.com/office/drawing/2014/main" id="{8974A973-F19E-7FC7-FF12-59A624D5A5D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27</a:t>
            </a:fld>
            <a:endParaRPr lang="en-US" altLang="zh-CN">
              <a:latin typeface="Calibri" panose="020F0502020204030204" pitchFamily="34" charset="0"/>
            </a:endParaRPr>
          </a:p>
        </p:txBody>
      </p:sp>
    </p:spTree>
    <p:extLst>
      <p:ext uri="{BB962C8B-B14F-4D97-AF65-F5344CB8AC3E}">
        <p14:creationId xmlns:p14="http://schemas.microsoft.com/office/powerpoint/2010/main" val="41587966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C9C92-F469-5B6C-58EC-0B04581BAB1A}"/>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E1C5A374-78DB-C323-71DA-76D78339789E}"/>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C5D1BEA-C311-F910-A11A-7AFEFCCCE9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normAutofit/>
          </a:bodyPr>
          <a:lstStyle/>
          <a:p>
            <a:r>
              <a:rPr lang="zh-CN" altLang="en-US" dirty="0"/>
              <a:t>可解释机器学习可以从三个角度进行分类</a:t>
            </a:r>
            <a:r>
              <a:rPr lang="en-US" altLang="zh-CN" dirty="0"/>
              <a:t>:</a:t>
            </a:r>
          </a:p>
          <a:p>
            <a:endParaRPr lang="en-US" altLang="zh-CN" dirty="0"/>
          </a:p>
          <a:p>
            <a:r>
              <a:rPr lang="zh-CN" altLang="en-US" dirty="0"/>
              <a:t>第一个分类是内置</a:t>
            </a:r>
            <a:r>
              <a:rPr lang="en-US" altLang="zh-CN" dirty="0"/>
              <a:t>/</a:t>
            </a:r>
            <a:r>
              <a:rPr lang="zh-CN" altLang="en-US" dirty="0"/>
              <a:t>内在可解释性以及事后可解释性。内置可解释性是将可解释模块嵌入到模型中，比如说线性模型的权重、决策树的树结构。另外一种是事后可解释性，这是在模型训练结束后使用解释技术去解释模型。</a:t>
            </a:r>
          </a:p>
          <a:p>
            <a:endParaRPr lang="zh-CN" altLang="en-US" dirty="0"/>
          </a:p>
          <a:p>
            <a:r>
              <a:rPr lang="zh-CN" altLang="en-US" dirty="0"/>
              <a:t>第二种分类是特定于模型的解释和模型无关的解释，简单的说，特定于模型的解释这意味着必须将其应用到特定的模型体系结构中。而模型无关的解释意味着解释方法与所用模型无关联，这种解释方法应用范围广。</a:t>
            </a:r>
          </a:p>
          <a:p>
            <a:endParaRPr lang="zh-CN" altLang="en-US" dirty="0"/>
          </a:p>
          <a:p>
            <a:r>
              <a:rPr lang="zh-CN" altLang="en-US" dirty="0"/>
              <a:t>第三种分类是全局解释和局部解释。全局解释是解释模型的全局行为。局部解释是在单条数据或者说单个实例上的解释。</a:t>
            </a:r>
          </a:p>
          <a:p>
            <a:endParaRPr lang="zh-CN" altLang="en-US" dirty="0"/>
          </a:p>
          <a:p>
            <a:r>
              <a:rPr lang="en-US" altLang="zh-CN" dirty="0"/>
              <a:t>《</a:t>
            </a:r>
            <a:r>
              <a:rPr lang="zh-CN" altLang="en-US" dirty="0"/>
              <a:t>可解释机器学习</a:t>
            </a:r>
            <a:r>
              <a:rPr lang="en-US" altLang="zh-CN" dirty="0"/>
              <a:t>》</a:t>
            </a:r>
            <a:r>
              <a:rPr lang="zh-CN" altLang="en-US" dirty="0"/>
              <a:t>书将可解释性方法分为四个模块进行介绍，包括可解释的模型、模型无关的解释方法、基于样本的解释和神经网络解释</a:t>
            </a:r>
          </a:p>
        </p:txBody>
      </p:sp>
      <p:sp>
        <p:nvSpPr>
          <p:cNvPr id="45060" name="灯片编号占位符 3">
            <a:extLst>
              <a:ext uri="{FF2B5EF4-FFF2-40B4-BE49-F238E27FC236}">
                <a16:creationId xmlns:a16="http://schemas.microsoft.com/office/drawing/2014/main" id="{A0A23452-0D3A-EEB1-32D3-E6E170B651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28</a:t>
            </a:fld>
            <a:endParaRPr lang="en-US" altLang="zh-CN">
              <a:latin typeface="Calibri" panose="020F0502020204030204" pitchFamily="34" charset="0"/>
            </a:endParaRPr>
          </a:p>
        </p:txBody>
      </p:sp>
    </p:spTree>
    <p:extLst>
      <p:ext uri="{BB962C8B-B14F-4D97-AF65-F5344CB8AC3E}">
        <p14:creationId xmlns:p14="http://schemas.microsoft.com/office/powerpoint/2010/main" val="23891536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8C7305-F99B-4128-A2F6-BD6D0A41841C}" type="slidenum">
              <a:rPr lang="zh-CN" altLang="en-US">
                <a:latin typeface="Calibri" panose="020F0502020204030204" pitchFamily="34" charset="0"/>
              </a:rPr>
              <a:t>29</a:t>
            </a:fld>
            <a:endParaRPr lang="en-US" altLang="zh-CN">
              <a:latin typeface="Calibri" panose="020F050202020403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FC6D-A512-2858-AA4D-FAFBA97F45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F525A0-B999-B628-AC8C-F96BFE9FB7A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D27AE191-557F-656A-0C07-107EC072E221}"/>
                  </a:ext>
                </a:extLst>
              </p:cNvPr>
              <p:cNvSpPr>
                <a:spLocks noGrp="1"/>
              </p:cNvSpPr>
              <p:nvPr>
                <p:ph type="body" idx="1"/>
              </p:nvPr>
            </p:nvSpPr>
            <p:spPr/>
            <p:txBody>
              <a:bodyPr>
                <a:normAutofit fontScale="25000" lnSpcReduction="20000"/>
              </a:bodyPr>
              <a:lstStyle/>
              <a:p>
                <a:pPr eaLnBrk="1" hangingPunct="1">
                  <a:spcBef>
                    <a:spcPct val="50000"/>
                  </a:spcBef>
                  <a:defRPr/>
                </a:pPr>
                <a:r>
                  <a:rPr lang="zh-CN" altLang="en-US" sz="3200" b="1" dirty="0">
                    <a:solidFill>
                      <a:srgbClr val="FF0000"/>
                    </a:solidFill>
                    <a:ea typeface="微软雅黑" panose="020B0503020204020204" pitchFamily="34" charset="-122"/>
                  </a:rPr>
                  <a:t>监督学习分为回归和分类</a:t>
                </a:r>
                <a:endParaRPr lang="en-US" altLang="zh-CN" sz="3200" b="1" dirty="0">
                  <a:solidFill>
                    <a:srgbClr val="FF0000"/>
                  </a:solidFill>
                  <a:ea typeface="微软雅黑" panose="020B0503020204020204" pitchFamily="34" charset="-122"/>
                </a:endParaRPr>
              </a:p>
              <a:p>
                <a:pPr marL="34290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回归（</a:t>
                </a:r>
                <a:r>
                  <a:rPr lang="en-US" altLang="zh-CN" sz="2800" dirty="0">
                    <a:ea typeface="微软雅黑" panose="020B0503020204020204" pitchFamily="34" charset="-122"/>
                  </a:rPr>
                  <a:t>Regression</a:t>
                </a:r>
                <a:r>
                  <a:rPr lang="zh-CN" altLang="en-US" sz="2800" dirty="0">
                    <a:ea typeface="微软雅黑" panose="020B0503020204020204" pitchFamily="34" charset="-122"/>
                  </a:rPr>
                  <a:t>、</a:t>
                </a:r>
                <a:r>
                  <a:rPr lang="en-US" altLang="zh-CN" sz="2800" dirty="0">
                    <a:ea typeface="微软雅黑" panose="020B0503020204020204" pitchFamily="34" charset="-122"/>
                  </a:rPr>
                  <a:t>Prediction</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如何预测上海浦东的房价？</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未来的股票市场走向？</a:t>
                </a:r>
                <a:endParaRPr lang="en-US" altLang="zh-CN" sz="2800" dirty="0">
                  <a:ea typeface="微软雅黑" panose="020B0503020204020204" pitchFamily="34" charset="-122"/>
                </a:endParaRPr>
              </a:p>
              <a:p>
                <a:pPr marL="342900"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分类（</a:t>
                </a:r>
                <a:r>
                  <a:rPr lang="en-US" altLang="zh-CN" sz="2800" dirty="0">
                    <a:ea typeface="微软雅黑" panose="020B0503020204020204" pitchFamily="34" charset="-122"/>
                  </a:rPr>
                  <a:t>Classification</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身高</a:t>
                </a:r>
                <a:r>
                  <a:rPr lang="en-US" altLang="zh-CN" sz="2800" dirty="0">
                    <a:ea typeface="微软雅黑" panose="020B0503020204020204" pitchFamily="34" charset="-122"/>
                  </a:rPr>
                  <a:t>1.85m</a:t>
                </a:r>
                <a:r>
                  <a:rPr lang="zh-CN" altLang="en-US" sz="2800" dirty="0">
                    <a:ea typeface="微软雅黑" panose="020B0503020204020204" pitchFamily="34" charset="-122"/>
                  </a:rPr>
                  <a:t>，体重</a:t>
                </a:r>
                <a:r>
                  <a:rPr lang="en-US" altLang="zh-CN" sz="2800" dirty="0">
                    <a:ea typeface="微软雅黑" panose="020B0503020204020204" pitchFamily="34" charset="-122"/>
                  </a:rPr>
                  <a:t>100kg</a:t>
                </a:r>
                <a:r>
                  <a:rPr lang="zh-CN" altLang="en-US" sz="2800" dirty="0">
                    <a:ea typeface="微软雅黑" panose="020B0503020204020204" pitchFamily="34" charset="-122"/>
                  </a:rPr>
                  <a:t>的男人穿什么尺码的</a:t>
                </a:r>
                <a:r>
                  <a:rPr lang="en-US" altLang="zh-CN" sz="2800" dirty="0">
                    <a:ea typeface="微软雅黑" panose="020B0503020204020204" pitchFamily="34" charset="-122"/>
                  </a:rPr>
                  <a:t>T</a:t>
                </a:r>
                <a:r>
                  <a:rPr lang="zh-CN" altLang="en-US" sz="2800" dirty="0">
                    <a:ea typeface="微软雅黑" panose="020B0503020204020204" pitchFamily="34" charset="-122"/>
                  </a:rPr>
                  <a:t>恤？</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根据肿瘤的体积、患者的年龄来判断良性或恶性？</a:t>
                </a:r>
                <a:endParaRPr lang="en-US" altLang="zh-CN" sz="2800" dirty="0">
                  <a:ea typeface="微软雅黑" panose="020B0503020204020204" pitchFamily="34" charset="-122"/>
                </a:endParaRPr>
              </a:p>
              <a:p>
                <a:endParaRPr lang="en-US" altLang="zh-CN" sz="1400" b="1" kern="100" dirty="0">
                  <a:solidFill>
                    <a:srgbClr val="FF0000"/>
                  </a:solidFill>
                  <a:latin typeface="+mj-ea"/>
                  <a:ea typeface="+mj-ea"/>
                  <a:cs typeface="Times New Roman" panose="02020603050405020304" pitchFamily="18" charset="0"/>
                </a:endParaRPr>
              </a:p>
              <a:p>
                <a:r>
                  <a:rPr lang="zh-CN" altLang="zh-CN" sz="1400" b="1" kern="100" dirty="0">
                    <a:solidFill>
                      <a:srgbClr val="FF0000"/>
                    </a:solidFill>
                    <a:latin typeface="+mj-ea"/>
                    <a:ea typeface="+mj-ea"/>
                    <a:cs typeface="Times New Roman" panose="02020603050405020304" pitchFamily="18" charset="0"/>
                  </a:rPr>
                  <a:t>线性回归</a:t>
                </a:r>
                <a:r>
                  <a:rPr lang="zh-CN" altLang="zh-CN" sz="1400" kern="100" dirty="0">
                    <a:latin typeface="+mj-ea"/>
                    <a:ea typeface="+mj-ea"/>
                    <a:cs typeface="Times New Roman" panose="02020603050405020304" pitchFamily="18" charset="0"/>
                  </a:rPr>
                  <a:t>（</a:t>
                </a:r>
                <a:r>
                  <a:rPr lang="en-US" altLang="zh-CN" sz="1400" kern="100" dirty="0">
                    <a:latin typeface="+mj-ea"/>
                    <a:ea typeface="+mj-ea"/>
                    <a:cs typeface="Times New Roman" panose="02020603050405020304" pitchFamily="18" charset="0"/>
                  </a:rPr>
                  <a:t>Linear Regression</a:t>
                </a:r>
                <a:r>
                  <a:rPr lang="zh-CN" altLang="zh-CN" sz="1400" kern="100" dirty="0">
                    <a:latin typeface="+mj-ea"/>
                    <a:ea typeface="+mj-ea"/>
                    <a:cs typeface="Times New Roman" panose="02020603050405020304" pitchFamily="18" charset="0"/>
                  </a:rPr>
                  <a:t>）</a:t>
                </a:r>
                <a:r>
                  <a:rPr lang="zh-CN" altLang="zh-CN" kern="100" dirty="0">
                    <a:latin typeface="+mj-ea"/>
                    <a:ea typeface="+mj-ea"/>
                    <a:cs typeface="Times New Roman" panose="02020603050405020304" pitchFamily="18" charset="0"/>
                  </a:rPr>
                  <a:t>是一种通过属性的线性组合来进行预测的</a:t>
                </a:r>
                <a:r>
                  <a:rPr lang="zh-CN" altLang="zh-CN" kern="100" dirty="0">
                    <a:solidFill>
                      <a:srgbClr val="FF0000"/>
                    </a:solidFill>
                    <a:latin typeface="+mj-ea"/>
                    <a:ea typeface="+mj-ea"/>
                    <a:cs typeface="Times New Roman" panose="02020603050405020304" pitchFamily="18" charset="0"/>
                  </a:rPr>
                  <a:t>线性模型</a:t>
                </a:r>
                <a:r>
                  <a:rPr lang="zh-CN" altLang="zh-CN" kern="100" dirty="0">
                    <a:latin typeface="+mj-ea"/>
                    <a:ea typeface="+mj-ea"/>
                    <a:cs typeface="Times New Roman" panose="02020603050405020304" pitchFamily="18" charset="0"/>
                  </a:rPr>
                  <a:t>，其目的是找到一条直线或者一个平面或者更高维的超平面，</a:t>
                </a:r>
                <a:r>
                  <a:rPr lang="zh-CN" altLang="zh-CN" kern="100" dirty="0">
                    <a:solidFill>
                      <a:srgbClr val="FF0000"/>
                    </a:solidFill>
                    <a:latin typeface="+mj-ea"/>
                    <a:ea typeface="+mj-ea"/>
                    <a:cs typeface="Times New Roman" panose="02020603050405020304" pitchFamily="18" charset="0"/>
                  </a:rPr>
                  <a:t>使得预测值与真实值之间的误差最小化。</a:t>
                </a:r>
                <a:endParaRPr lang="en-US" altLang="zh-CN" kern="100" dirty="0">
                  <a:solidFill>
                    <a:srgbClr val="FF0000"/>
                  </a:solidFill>
                  <a:latin typeface="+mj-ea"/>
                  <a:ea typeface="+mj-ea"/>
                  <a:cs typeface="Times New Roman" panose="02020603050405020304" pitchFamily="18" charset="0"/>
                </a:endParaRPr>
              </a:p>
              <a:p>
                <a:endParaRPr lang="en-US" altLang="zh-CN" b="1" dirty="0">
                  <a:solidFill>
                    <a:srgbClr val="FF0000"/>
                  </a:solidFill>
                  <a:latin typeface="PT Sans"/>
                </a:endParaRPr>
              </a:p>
              <a:p>
                <a:r>
                  <a:rPr lang="zh-CN" altLang="en-US" b="1" dirty="0">
                    <a:solidFill>
                      <a:srgbClr val="FF0000"/>
                    </a:solidFill>
                    <a:latin typeface="PT Sans"/>
                  </a:rPr>
                  <a:t>损失函数</a:t>
                </a:r>
                <a:r>
                  <a:rPr lang="en-US" altLang="zh-CN" dirty="0">
                    <a:solidFill>
                      <a:srgbClr val="000000"/>
                    </a:solidFill>
                    <a:latin typeface="PT Sans"/>
                  </a:rPr>
                  <a:t>(Loss Function)</a:t>
                </a:r>
                <a:r>
                  <a:rPr lang="zh-CN" altLang="en-US" dirty="0">
                    <a:solidFill>
                      <a:srgbClr val="000000"/>
                    </a:solidFill>
                    <a:latin typeface="PT Sans"/>
                  </a:rPr>
                  <a:t>度量</a:t>
                </a:r>
                <a:r>
                  <a:rPr lang="zh-CN" altLang="en-US" b="1" dirty="0">
                    <a:solidFill>
                      <a:srgbClr val="000000"/>
                    </a:solidFill>
                    <a:latin typeface="PT Sans"/>
                  </a:rPr>
                  <a:t>单样本预测的错误程度</a:t>
                </a:r>
                <a:r>
                  <a:rPr lang="zh-CN" altLang="en-US" dirty="0">
                    <a:solidFill>
                      <a:srgbClr val="000000"/>
                    </a:solidFill>
                    <a:latin typeface="PT Sans"/>
                  </a:rPr>
                  <a:t>，损失函数值越小，模型就越好。常用的损失函数包括：</a:t>
                </a:r>
                <a:r>
                  <a:rPr lang="en-US" altLang="zh-CN" dirty="0">
                    <a:solidFill>
                      <a:srgbClr val="000000"/>
                    </a:solidFill>
                    <a:latin typeface="PT Sans"/>
                  </a:rPr>
                  <a:t>0-1</a:t>
                </a:r>
                <a:r>
                  <a:rPr lang="zh-CN" altLang="en-US" dirty="0">
                    <a:solidFill>
                      <a:srgbClr val="000000"/>
                    </a:solidFill>
                    <a:latin typeface="PT Sans"/>
                  </a:rPr>
                  <a:t>损失函数、平方损失函数、绝对损失函数、对数损失函数等。</a:t>
                </a:r>
                <a:endParaRPr lang="en-US" altLang="zh-CN" dirty="0">
                  <a:solidFill>
                    <a:srgbClr val="000000"/>
                  </a:solidFill>
                  <a:latin typeface="PT Sans"/>
                </a:endParaRPr>
              </a:p>
              <a:p>
                <a:r>
                  <a:rPr lang="zh-CN" altLang="en-US" b="1" dirty="0">
                    <a:solidFill>
                      <a:srgbClr val="FF0000"/>
                    </a:solidFill>
                    <a:latin typeface="PT Sans"/>
                  </a:rPr>
                  <a:t>代价函数</a:t>
                </a:r>
                <a:r>
                  <a:rPr lang="en-US" altLang="zh-CN" dirty="0">
                    <a:solidFill>
                      <a:srgbClr val="000000"/>
                    </a:solidFill>
                    <a:latin typeface="PT Sans"/>
                  </a:rPr>
                  <a:t>(Cost Function)</a:t>
                </a:r>
                <a:r>
                  <a:rPr lang="zh-CN" altLang="en-US" dirty="0">
                    <a:solidFill>
                      <a:srgbClr val="000000"/>
                    </a:solidFill>
                    <a:latin typeface="PT Sans"/>
                  </a:rPr>
                  <a:t>度量</a:t>
                </a:r>
                <a:r>
                  <a:rPr lang="zh-CN" altLang="en-US" b="1" dirty="0">
                    <a:solidFill>
                      <a:srgbClr val="000000"/>
                    </a:solidFill>
                    <a:latin typeface="PT Sans"/>
                  </a:rPr>
                  <a:t>全部样本集的平均误差</a:t>
                </a:r>
                <a:r>
                  <a:rPr lang="zh-CN" altLang="en-US" dirty="0">
                    <a:solidFill>
                      <a:srgbClr val="000000"/>
                    </a:solidFill>
                    <a:latin typeface="PT Sans"/>
                  </a:rPr>
                  <a:t>。常用的代价函数包括均方误差、均方根误差、平均绝对误差等。</a:t>
                </a:r>
                <a:endParaRPr lang="en-US" altLang="zh-CN" dirty="0">
                  <a:solidFill>
                    <a:srgbClr val="000000"/>
                  </a:solidFill>
                  <a:latin typeface="PT Sans"/>
                </a:endParaRPr>
              </a:p>
              <a:p>
                <a:r>
                  <a:rPr lang="zh-CN" altLang="en-US" b="1" dirty="0">
                    <a:solidFill>
                      <a:srgbClr val="FF0000"/>
                    </a:solidFill>
                    <a:latin typeface="PT Sans"/>
                  </a:rPr>
                  <a:t>目标函数</a:t>
                </a:r>
                <a:r>
                  <a:rPr lang="en-US" altLang="zh-CN" dirty="0">
                    <a:solidFill>
                      <a:srgbClr val="000000"/>
                    </a:solidFill>
                    <a:latin typeface="PT Sans"/>
                  </a:rPr>
                  <a:t>(Object Function)</a:t>
                </a:r>
                <a:r>
                  <a:rPr lang="zh-CN" altLang="en-US" dirty="0">
                    <a:solidFill>
                      <a:srgbClr val="000000"/>
                    </a:solidFill>
                    <a:latin typeface="PT Sans"/>
                  </a:rPr>
                  <a:t>代价函数和正则化函数，最终要优化的函数。</a:t>
                </a:r>
                <a:endParaRPr lang="en-US" altLang="zh-CN" dirty="0">
                  <a:solidFill>
                    <a:srgbClr val="000000"/>
                  </a:solidFill>
                  <a:latin typeface="PT Sans"/>
                </a:endParaRPr>
              </a:p>
              <a:p>
                <a:endParaRPr lang="en-US" altLang="zh-CN" dirty="0">
                  <a:solidFill>
                    <a:srgbClr val="000000"/>
                  </a:solidFill>
                  <a:latin typeface="PT Sans"/>
                </a:endParaRPr>
              </a:p>
              <a:p>
                <a:pPr algn="l" fontAlgn="base">
                  <a:lnSpc>
                    <a:spcPts val="1800"/>
                  </a:lnSpc>
                </a:pPr>
                <a:r>
                  <a:rPr lang="zh-CN" altLang="en-US" b="1" i="0" dirty="0">
                    <a:solidFill>
                      <a:srgbClr val="060607"/>
                    </a:solidFill>
                    <a:effectLst/>
                    <a:latin typeface="inherit"/>
                  </a:rPr>
                  <a:t>梯度下降</a:t>
                </a:r>
                <a:r>
                  <a:rPr lang="zh-CN" altLang="en-US" b="0" i="0" dirty="0">
                    <a:solidFill>
                      <a:srgbClr val="060607"/>
                    </a:solidFill>
                    <a:effectLst/>
                    <a:latin typeface="-apple-system"/>
                  </a:rPr>
                  <a:t>：</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原理</a:t>
                </a:r>
                <a:r>
                  <a:rPr lang="zh-CN" altLang="en-US" b="0" i="0" dirty="0">
                    <a:solidFill>
                      <a:srgbClr val="060607"/>
                    </a:solidFill>
                    <a:effectLst/>
                    <a:latin typeface="inherit"/>
                  </a:rPr>
                  <a:t>：梯度下降是一种迭代优化算法，通过计算损失函数对参数的梯度，然后沿着梯度的反方向更新参数，逐步逼近损失函数的最小值。</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适用问题</a:t>
                </a:r>
                <a:r>
                  <a:rPr lang="zh-CN" altLang="en-US" b="0" i="0" dirty="0">
                    <a:solidFill>
                      <a:srgbClr val="060607"/>
                    </a:solidFill>
                    <a:effectLst/>
                    <a:latin typeface="inherit"/>
                  </a:rPr>
                  <a:t>：广泛应用于各种机器学习模型，包括线性回归、逻辑回归、神经网络等。</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计算方式</a:t>
                </a:r>
                <a:r>
                  <a:rPr lang="zh-CN" altLang="en-US" b="0" i="0" dirty="0">
                    <a:solidFill>
                      <a:srgbClr val="060607"/>
                    </a:solidFill>
                    <a:effectLst/>
                    <a:latin typeface="inherit"/>
                  </a:rPr>
                  <a:t>：需要初始化参数，然后通过多次迭代逐步调整参数。</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优点</a:t>
                </a:r>
                <a:r>
                  <a:rPr lang="zh-CN" altLang="en-US" b="0" i="0" dirty="0">
                    <a:solidFill>
                      <a:srgbClr val="060607"/>
                    </a:solidFill>
                    <a:effectLst/>
                    <a:latin typeface="inherit"/>
                  </a:rPr>
                  <a:t>：计算效率高，尤其适用于大规模数据和复杂模型。</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缺点</a:t>
                </a:r>
                <a:r>
                  <a:rPr lang="zh-CN" altLang="en-US" b="0" i="0" dirty="0">
                    <a:solidFill>
                      <a:srgbClr val="060607"/>
                    </a:solidFill>
                    <a:effectLst/>
                    <a:latin typeface="inherit"/>
                  </a:rPr>
                  <a:t>：需要选择合适的学习率，学习率过大可能导致不收敛，学习率过小则收敛速度慢。此外，梯度下降可能陷入局部最小值，尤其是在非凸优化问题中。</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应用场景</a:t>
                </a:r>
                <a:r>
                  <a:rPr lang="zh-CN" altLang="en-US" b="0" i="0" dirty="0">
                    <a:solidFill>
                      <a:srgbClr val="060607"/>
                    </a:solidFill>
                    <a:effectLst/>
                    <a:latin typeface="inherit"/>
                  </a:rPr>
                  <a:t>：深度学习、线性回归、逻辑回归等。</a:t>
                </a:r>
                <a:endParaRPr lang="en-US" altLang="zh-CN" b="0" i="0" dirty="0">
                  <a:solidFill>
                    <a:srgbClr val="060607"/>
                  </a:solidFill>
                  <a:effectLst/>
                  <a:latin typeface="inherit"/>
                </a:endParaRPr>
              </a:p>
              <a:p>
                <a:pPr algn="l" fontAlgn="base">
                  <a:lnSpc>
                    <a:spcPts val="1800"/>
                  </a:lnSpc>
                  <a:buFont typeface="Arial" panose="020B0604020202020204" pitchFamily="34" charset="0"/>
                  <a:buChar char="•"/>
                </a:pPr>
                <a:endParaRPr lang="zh-CN" altLang="en-US" b="0" i="0" dirty="0">
                  <a:solidFill>
                    <a:srgbClr val="060607"/>
                  </a:solidFill>
                  <a:effectLst/>
                  <a:latin typeface="inherit"/>
                </a:endParaRPr>
              </a:p>
              <a:p>
                <a:pPr algn="l" fontAlgn="base">
                  <a:lnSpc>
                    <a:spcPts val="1800"/>
                  </a:lnSpc>
                </a:pPr>
                <a:r>
                  <a:rPr lang="zh-CN" altLang="en-US" b="1" i="0" dirty="0">
                    <a:solidFill>
                      <a:srgbClr val="060607"/>
                    </a:solidFill>
                    <a:effectLst/>
                    <a:latin typeface="inherit"/>
                  </a:rPr>
                  <a:t>最小二乘法</a:t>
                </a:r>
                <a:r>
                  <a:rPr lang="zh-CN" altLang="en-US" b="0" i="0" dirty="0">
                    <a:solidFill>
                      <a:srgbClr val="060607"/>
                    </a:solidFill>
                    <a:effectLst/>
                    <a:latin typeface="-apple-system"/>
                  </a:rPr>
                  <a:t>：</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原理</a:t>
                </a:r>
                <a:r>
                  <a:rPr lang="zh-CN" altLang="en-US" b="0" i="0" dirty="0">
                    <a:solidFill>
                      <a:srgbClr val="060607"/>
                    </a:solidFill>
                    <a:effectLst/>
                    <a:latin typeface="inherit"/>
                  </a:rPr>
                  <a:t>：最小二乘法通过最小化观测值与模型预测值之间的平方差之和来求解模型参数。对于线性回归问题，最小二乘法可以直接求解闭式解。</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适用问题</a:t>
                </a:r>
                <a:r>
                  <a:rPr lang="zh-CN" altLang="en-US" b="0" i="0" dirty="0">
                    <a:solidFill>
                      <a:srgbClr val="060607"/>
                    </a:solidFill>
                    <a:effectLst/>
                    <a:latin typeface="inherit"/>
                  </a:rPr>
                  <a:t>：主要用于线性回归问题，也可以用于其他可以转化为线性回归的问题。</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计算方式</a:t>
                </a:r>
                <a:r>
                  <a:rPr lang="zh-CN" altLang="en-US" b="0" i="0" dirty="0">
                    <a:solidFill>
                      <a:srgbClr val="060607"/>
                    </a:solidFill>
                    <a:effectLst/>
                    <a:latin typeface="inherit"/>
                  </a:rPr>
                  <a:t>：直接计算闭式解，无需迭代。</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优点</a:t>
                </a:r>
                <a:r>
                  <a:rPr lang="zh-CN" altLang="en-US" b="0" i="0" dirty="0">
                    <a:solidFill>
                      <a:srgbClr val="060607"/>
                    </a:solidFill>
                    <a:effectLst/>
                    <a:latin typeface="inherit"/>
                  </a:rPr>
                  <a:t>：计算简单，有闭式解，适用于小规模数据和简单模型。</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缺点</a:t>
                </a:r>
                <a:r>
                  <a:rPr lang="zh-CN" altLang="en-US" b="0" i="0" dirty="0">
                    <a:solidFill>
                      <a:srgbClr val="060607"/>
                    </a:solidFill>
                    <a:effectLst/>
                    <a:latin typeface="inherit"/>
                  </a:rPr>
                  <a:t>：对于大规模数据，计算复杂度高，因为需要求解矩阵的逆。此外，最小二乘法对异常值非常敏感，因为平方误差会放大异常值的影响。</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应用场景</a:t>
                </a:r>
                <a:r>
                  <a:rPr lang="zh-CN" altLang="en-US" b="0" i="0" dirty="0">
                    <a:solidFill>
                      <a:srgbClr val="060607"/>
                    </a:solidFill>
                    <a:effectLst/>
                    <a:latin typeface="inherit"/>
                  </a:rPr>
                  <a:t>：线性回归、曲线拟合等。</a:t>
                </a:r>
                <a:endParaRPr lang="en-US" altLang="zh-CN" b="0" i="0" dirty="0">
                  <a:solidFill>
                    <a:srgbClr val="060607"/>
                  </a:solidFill>
                  <a:effectLst/>
                  <a:latin typeface="inherit"/>
                </a:endParaRPr>
              </a:p>
              <a:p>
                <a:pPr algn="l" fontAlgn="base">
                  <a:lnSpc>
                    <a:spcPts val="1800"/>
                  </a:lnSpc>
                  <a:buFont typeface="Arial" panose="020B0604020202020204" pitchFamily="34" charset="0"/>
                  <a:buChar char="•"/>
                </a:pPr>
                <a:endParaRPr lang="zh-CN" altLang="en-US" b="0" i="0" dirty="0">
                  <a:solidFill>
                    <a:srgbClr val="060607"/>
                  </a:solidFill>
                  <a:effectLst/>
                  <a:latin typeface="inherit"/>
                </a:endParaRPr>
              </a:p>
              <a:p>
                <a:pPr algn="l" fontAlgn="base">
                  <a:lnSpc>
                    <a:spcPts val="1800"/>
                  </a:lnSpc>
                </a:pPr>
                <a:r>
                  <a:rPr lang="zh-CN" altLang="en-US" b="1" i="0" dirty="0">
                    <a:solidFill>
                      <a:srgbClr val="060607"/>
                    </a:solidFill>
                    <a:effectLst/>
                    <a:latin typeface="-apple-system"/>
                  </a:rPr>
                  <a:t>总结</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梯度下降</a:t>
                </a:r>
                <a:r>
                  <a:rPr lang="zh-CN" altLang="en-US" b="0" i="0" dirty="0">
                    <a:solidFill>
                      <a:srgbClr val="060607"/>
                    </a:solidFill>
                    <a:effectLst/>
                    <a:latin typeface="inherit"/>
                  </a:rPr>
                  <a:t>适用于大规模数据和复杂模型，计算效率高，但需要调整学习率和迭代次数。</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最小二乘法</a:t>
                </a:r>
                <a:r>
                  <a:rPr lang="zh-CN" altLang="en-US" b="0" i="0" dirty="0">
                    <a:solidFill>
                      <a:srgbClr val="060607"/>
                    </a:solidFill>
                    <a:effectLst/>
                    <a:latin typeface="inherit"/>
                  </a:rPr>
                  <a:t>适用于小规模数据和简单模型，计算简单，但对异常值敏感，且在大规模数据时计算复杂度高。</a:t>
                </a:r>
              </a:p>
              <a:p>
                <a:endParaRPr lang="en-US" altLang="zh-CN" dirty="0"/>
              </a:p>
              <a:p>
                <a:r>
                  <a:rPr lang="zh-CN" altLang="en-US" b="1" dirty="0">
                    <a:solidFill>
                      <a:schemeClr val="tx1"/>
                    </a:solidFill>
                  </a:rPr>
                  <a:t>回归的评价指标</a:t>
                </a:r>
                <a:r>
                  <a:rPr lang="en-US" altLang="zh-CN" b="1" dirty="0">
                    <a:solidFill>
                      <a:schemeClr val="tx1"/>
                    </a:solidFill>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err="1">
                    <a:solidFill>
                      <a:srgbClr val="FF0000"/>
                    </a:solidFill>
                    <a:latin typeface="+mj-ea"/>
                    <a:ea typeface="+mj-ea"/>
                    <a:cs typeface="Times New Roman" panose="02020603050405020304" pitchFamily="18" charset="0"/>
                  </a:rPr>
                  <a:t>均方误差</a:t>
                </a:r>
                <a:r>
                  <a:rPr lang="en-US" altLang="zh-CN" sz="1200" dirty="0" err="1">
                    <a:solidFill>
                      <a:srgbClr val="FF0000"/>
                    </a:solidFill>
                    <a:latin typeface="+mj-ea"/>
                    <a:ea typeface="+mj-ea"/>
                    <a:cs typeface="Times New Roman" panose="02020603050405020304" pitchFamily="18" charset="0"/>
                  </a:rPr>
                  <a:t>（Mean</a:t>
                </a:r>
                <a:r>
                  <a:rPr lang="en-US" altLang="zh-CN" sz="1200" dirty="0">
                    <a:solidFill>
                      <a:srgbClr val="FF0000"/>
                    </a:solidFill>
                    <a:latin typeface="+mj-ea"/>
                    <a:ea typeface="+mj-ea"/>
                    <a:cs typeface="Times New Roman" panose="02020603050405020304" pitchFamily="18" charset="0"/>
                  </a:rPr>
                  <a:t> Square </a:t>
                </a:r>
                <a:r>
                  <a:rPr lang="en-US" altLang="zh-CN" sz="1200" dirty="0" err="1">
                    <a:solidFill>
                      <a:srgbClr val="FF0000"/>
                    </a:solidFill>
                    <a:latin typeface="+mj-ea"/>
                    <a:ea typeface="+mj-ea"/>
                    <a:cs typeface="Times New Roman" panose="02020603050405020304" pitchFamily="18" charset="0"/>
                  </a:rPr>
                  <a:t>Error,MSE</a:t>
                </a:r>
                <a:r>
                  <a:rPr lang="en-US" altLang="zh-CN" sz="1200" dirty="0">
                    <a:solidFill>
                      <a:srgbClr val="FF0000"/>
                    </a:solidFill>
                    <a:latin typeface="+mj-ea"/>
                    <a:ea typeface="+mj-ea"/>
                    <a:cs typeface="Times New Roman" panose="02020603050405020304" pitchFamily="18" charset="0"/>
                  </a:rPr>
                  <a:t>）</a:t>
                </a:r>
                <a:endParaRPr lang="zh-CN" altLang="zh-CN" sz="1200" dirty="0">
                  <a:solidFill>
                    <a:srgbClr val="FF0000"/>
                  </a:solidFill>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solidFill>
                      <a:srgbClr val="FF0000"/>
                    </a:solidFill>
                    <a:latin typeface="+mj-ea"/>
                    <a:ea typeface="+mj-ea"/>
                    <a:cs typeface="Times New Roman" panose="02020603050405020304" pitchFamily="18" charset="0"/>
                  </a:rPr>
                  <a:t>均方根误差</a:t>
                </a:r>
                <a:r>
                  <a:rPr lang="en-US" altLang="zh-CN" sz="1200" b="1" dirty="0">
                    <a:solidFill>
                      <a:srgbClr val="FF0000"/>
                    </a:solidFill>
                    <a:latin typeface="+mj-ea"/>
                    <a:ea typeface="+mj-ea"/>
                    <a:cs typeface="Times New Roman" panose="02020603050405020304" pitchFamily="18" charset="0"/>
                  </a:rPr>
                  <a:t> </a:t>
                </a:r>
                <a:r>
                  <a:rPr lang="en-US" altLang="zh-CN" sz="1200" dirty="0">
                    <a:solidFill>
                      <a:srgbClr val="FF0000"/>
                    </a:solidFill>
                    <a:latin typeface="+mj-ea"/>
                    <a:ea typeface="+mj-ea"/>
                    <a:cs typeface="Times New Roman" panose="02020603050405020304" pitchFamily="18" charset="0"/>
                  </a:rPr>
                  <a:t>RMSE(Root Mean Square </a:t>
                </a:r>
                <a:r>
                  <a:rPr lang="en-US" altLang="zh-CN" sz="1200" dirty="0" err="1">
                    <a:solidFill>
                      <a:srgbClr val="FF0000"/>
                    </a:solidFill>
                    <a:latin typeface="+mj-ea"/>
                    <a:ea typeface="+mj-ea"/>
                    <a:cs typeface="Times New Roman" panose="02020603050405020304" pitchFamily="18" charset="0"/>
                  </a:rPr>
                  <a:t>Error,RMSE</a:t>
                </a:r>
                <a:r>
                  <a:rPr lang="en-US" altLang="zh-CN" sz="1200" dirty="0">
                    <a:solidFill>
                      <a:srgbClr val="FF0000"/>
                    </a:solidFill>
                    <a:latin typeface="+mj-ea"/>
                    <a:ea typeface="+mj-ea"/>
                    <a:cs typeface="Times New Roman" panose="02020603050405020304" pitchFamily="18" charset="0"/>
                  </a:rPr>
                  <a:t>)</a:t>
                </a:r>
                <a:endParaRPr lang="zh-CN" altLang="zh-CN" sz="1200" dirty="0">
                  <a:solidFill>
                    <a:srgbClr val="FF0000"/>
                  </a:solidFill>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err="1">
                    <a:solidFill>
                      <a:srgbClr val="FF0000"/>
                    </a:solidFill>
                    <a:latin typeface="+mj-ea"/>
                    <a:ea typeface="+mj-ea"/>
                    <a:cs typeface="Times New Roman" panose="02020603050405020304" pitchFamily="18" charset="0"/>
                  </a:rPr>
                  <a:t>平均绝对误差</a:t>
                </a:r>
                <a:r>
                  <a:rPr lang="en-US" altLang="zh-CN" sz="1200" dirty="0" err="1">
                    <a:solidFill>
                      <a:srgbClr val="FF0000"/>
                    </a:solidFill>
                    <a:latin typeface="+mj-ea"/>
                    <a:ea typeface="+mj-ea"/>
                    <a:cs typeface="Times New Roman" panose="02020603050405020304" pitchFamily="18" charset="0"/>
                  </a:rPr>
                  <a:t>（Mean</a:t>
                </a:r>
                <a:r>
                  <a:rPr lang="en-US" altLang="zh-CN" sz="1200" dirty="0">
                    <a:solidFill>
                      <a:srgbClr val="FF0000"/>
                    </a:solidFill>
                    <a:latin typeface="+mj-ea"/>
                    <a:ea typeface="+mj-ea"/>
                    <a:cs typeface="Times New Roman" panose="02020603050405020304" pitchFamily="18" charset="0"/>
                  </a:rPr>
                  <a:t> Absolute </a:t>
                </a:r>
                <a:r>
                  <a:rPr lang="en-US" altLang="zh-CN" sz="1200" dirty="0" err="1">
                    <a:solidFill>
                      <a:srgbClr val="FF0000"/>
                    </a:solidFill>
                    <a:latin typeface="+mj-ea"/>
                    <a:ea typeface="+mj-ea"/>
                    <a:cs typeface="Times New Roman" panose="02020603050405020304" pitchFamily="18" charset="0"/>
                  </a:rPr>
                  <a:t>Error,MAE</a:t>
                </a:r>
                <a:r>
                  <a:rPr lang="en-US" altLang="zh-CN" sz="1200" dirty="0">
                    <a:solidFill>
                      <a:srgbClr val="FF0000"/>
                    </a:solidFill>
                    <a:latin typeface="+mj-ea"/>
                    <a:ea typeface="+mj-ea"/>
                    <a:cs typeface="Times New Roman" panose="02020603050405020304" pitchFamily="18" charset="0"/>
                  </a:rPr>
                  <a:t>）</a:t>
                </a:r>
                <a:endParaRPr lang="zh-CN" altLang="zh-CN" dirty="0">
                  <a:solidFill>
                    <a:srgbClr val="FF0000"/>
                  </a:solidFill>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0" kern="1200" dirty="0">
                    <a:solidFill>
                      <a:schemeClr val="tx1"/>
                    </a:solidFill>
                    <a:effectLst/>
                    <a:latin typeface="+mn-lt"/>
                    <a:ea typeface="+mn-ea"/>
                    <a:cs typeface="+mn-cs"/>
                  </a:rPr>
                  <a:t>决定系数</a:t>
                </a:r>
                <a:r>
                  <a:rPr lang="en-US" altLang="zh-CN" b="1" dirty="0" err="1">
                    <a:solidFill>
                      <a:srgbClr val="FF0000"/>
                    </a:solidFill>
                    <a:latin typeface="+mj-ea"/>
                    <a:ea typeface="+mj-ea"/>
                    <a:cs typeface="Times New Roman" panose="02020603050405020304" pitchFamily="18" charset="0"/>
                  </a:rPr>
                  <a:t>R方</a:t>
                </a:r>
                <a:r>
                  <a:rPr lang="en-US" altLang="zh-CN" b="1" dirty="0">
                    <a:solidFill>
                      <a:srgbClr val="FF0000"/>
                    </a:solidFill>
                    <a:latin typeface="+mj-ea"/>
                    <a:ea typeface="+mj-ea"/>
                    <a:cs typeface="Times New Roman" panose="02020603050405020304" pitchFamily="18" charset="0"/>
                  </a:rPr>
                  <a:t> [</a:t>
                </a:r>
                <a14:m>
                  <m:oMath xmlns:m="http://schemas.openxmlformats.org/officeDocument/2006/math">
                    <m:r>
                      <a:rPr lang="en-US" altLang="zh-CN" i="1">
                        <a:solidFill>
                          <a:srgbClr val="FF0000"/>
                        </a:solidFill>
                        <a:latin typeface="Cambria Math" panose="02040503050406030204" pitchFamily="18" charset="0"/>
                        <a:ea typeface="+mj-ea"/>
                        <a:cs typeface="Times New Roman" panose="02020603050405020304" pitchFamily="18" charset="0"/>
                      </a:rPr>
                      <m:t>𝑅𝑆𝑞𝑢𝑎𝑟𝑒𝑑</m:t>
                    </m:r>
                  </m:oMath>
                </a14:m>
                <a:r>
                  <a:rPr lang="en-US" altLang="zh-CN" b="1" dirty="0">
                    <a:solidFill>
                      <a:srgbClr val="FF0000"/>
                    </a:solidFill>
                    <a:latin typeface="+mj-ea"/>
                    <a:ea typeface="+mj-ea"/>
                    <a:cs typeface="Times New Roman" panose="02020603050405020304" pitchFamily="18" charset="0"/>
                  </a:rPr>
                  <a:t>(</a:t>
                </a:r>
                <a14:m>
                  <m:oMath xmlns:m="http://schemas.openxmlformats.org/officeDocument/2006/math">
                    <m:r>
                      <a:rPr lang="en-US" altLang="zh-CN" i="1">
                        <a:solidFill>
                          <a:srgbClr val="FF0000"/>
                        </a:solidFill>
                        <a:latin typeface="Cambria Math" panose="02040503050406030204" pitchFamily="18" charset="0"/>
                        <a:ea typeface="+mj-ea"/>
                        <a:cs typeface="Times New Roman" panose="02020603050405020304" pitchFamily="18" charset="0"/>
                      </a:rPr>
                      <m:t>𝑟</m:t>
                    </m:r>
                    <m:r>
                      <a:rPr lang="en-US" altLang="zh-CN" i="1">
                        <a:solidFill>
                          <a:srgbClr val="FF0000"/>
                        </a:solidFill>
                        <a:latin typeface="Cambria Math" panose="02040503050406030204" pitchFamily="18" charset="0"/>
                        <a:ea typeface="+mj-ea"/>
                        <a:cs typeface="Times New Roman" panose="02020603050405020304" pitchFamily="18" charset="0"/>
                      </a:rPr>
                      <m:t>2</m:t>
                    </m:r>
                    <m:r>
                      <a:rPr lang="en-US" altLang="zh-CN" i="1">
                        <a:solidFill>
                          <a:srgbClr val="FF0000"/>
                        </a:solidFill>
                        <a:latin typeface="Cambria Math" panose="02040503050406030204" pitchFamily="18" charset="0"/>
                        <a:ea typeface="+mj-ea"/>
                        <a:cs typeface="Times New Roman" panose="02020603050405020304" pitchFamily="18" charset="0"/>
                      </a:rPr>
                      <m:t>𝑠𝑐𝑜𝑟𝑒</m:t>
                    </m:r>
                  </m:oMath>
                </a14:m>
                <a:r>
                  <a:rPr lang="en-US" altLang="zh-CN" b="1" dirty="0">
                    <a:solidFill>
                      <a:srgbClr val="FF0000"/>
                    </a:solidFill>
                    <a:latin typeface="+mj-ea"/>
                    <a:ea typeface="+mj-ea"/>
                    <a:cs typeface="Times New Roman" panose="02020603050405020304" pitchFamily="18" charset="0"/>
                  </a:rPr>
                  <a:t>)]</a:t>
                </a:r>
                <a:r>
                  <a:rPr lang="zh-CN" altLang="en-US" b="1" dirty="0">
                    <a:solidFill>
                      <a:srgbClr val="FF0000"/>
                    </a:solidFill>
                    <a:latin typeface="+mj-ea"/>
                    <a:ea typeface="+mj-ea"/>
                    <a:cs typeface="Times New Roman" panose="02020603050405020304" pitchFamily="18" charset="0"/>
                  </a:rPr>
                  <a:t>：</a:t>
                </a:r>
                <a:r>
                  <a:rPr lang="en-US" altLang="zh-CN" dirty="0">
                    <a:latin typeface="宋体" panose="02010600030101010101" pitchFamily="2" charset="-122"/>
                    <a:cs typeface="Times New Roman" panose="02020603050405020304" pitchFamily="18" charset="0"/>
                  </a:rPr>
                  <a:t>R^2越接近于</a:t>
                </a:r>
                <a:r>
                  <a:rPr lang="en-US" altLang="zh-CN" dirty="0">
                    <a:latin typeface="Cambria" panose="02040503050406030204" pitchFamily="18" charset="0"/>
                    <a:ea typeface="宋体" panose="02010600030101010101" pitchFamily="2" charset="-122"/>
                    <a:cs typeface="Times New Roman" panose="02020603050405020304" pitchFamily="18" charset="0"/>
                  </a:rPr>
                  <a:t>1,</a:t>
                </a:r>
                <a:r>
                  <a:rPr lang="en-US" altLang="zh-CN" dirty="0">
                    <a:latin typeface="宋体" panose="02010600030101010101" pitchFamily="2" charset="-122"/>
                    <a:cs typeface="Times New Roman" panose="02020603050405020304" pitchFamily="18" charset="0"/>
                  </a:rPr>
                  <a:t>说明模型拟合得越好</a:t>
                </a:r>
                <a:r>
                  <a:rPr lang="zh-CN" altLang="en-US" dirty="0">
                    <a:latin typeface="宋体" panose="02010600030101010101" pitchFamily="2" charset="-122"/>
                    <a:cs typeface="Times New Roman" panose="02020603050405020304" pitchFamily="18" charset="0"/>
                  </a:rPr>
                  <a:t>。表示模型解释的方差比例，</a:t>
                </a:r>
                <a:r>
                  <a:rPr lang="en-US" altLang="zh-CN" dirty="0">
                    <a:latin typeface="宋体" panose="02010600030101010101" pitchFamily="2" charset="-122"/>
                    <a:cs typeface="Times New Roman" panose="02020603050405020304" pitchFamily="18" charset="0"/>
                  </a:rPr>
                  <a:t>0-1</a:t>
                </a:r>
                <a:r>
                  <a:rPr lang="zh-CN" altLang="en-US" dirty="0">
                    <a:latin typeface="宋体" panose="02010600030101010101" pitchFamily="2" charset="-122"/>
                    <a:cs typeface="Times New Roman" panose="02020603050405020304" pitchFamily="18" charset="0"/>
                  </a:rPr>
                  <a:t>之间，越接近</a:t>
                </a:r>
                <a:r>
                  <a:rPr lang="en-US" altLang="zh-CN" dirty="0">
                    <a:latin typeface="宋体" panose="02010600030101010101" pitchFamily="2" charset="-122"/>
                    <a:cs typeface="Times New Roman" panose="02020603050405020304" pitchFamily="18" charset="0"/>
                  </a:rPr>
                  <a:t>1</a:t>
                </a:r>
                <a:r>
                  <a:rPr lang="zh-CN" altLang="en-US" dirty="0">
                    <a:latin typeface="宋体" panose="02010600030101010101" pitchFamily="2" charset="-122"/>
                    <a:cs typeface="Times New Roman" panose="02020603050405020304" pitchFamily="18" charset="0"/>
                  </a:rPr>
                  <a:t>模型越好。但会随变量增加而上升，需结合调整</a:t>
                </a:r>
                <a:r>
                  <a:rPr lang="en-US" altLang="zh-CN" dirty="0">
                    <a:latin typeface="宋体" panose="02010600030101010101" pitchFamily="2" charset="-122"/>
                    <a:cs typeface="Times New Roman" panose="02020603050405020304" pitchFamily="18" charset="0"/>
                  </a:rPr>
                  <a:t>R²</a:t>
                </a:r>
                <a:r>
                  <a:rPr lang="zh-CN" altLang="en-US" dirty="0">
                    <a:latin typeface="宋体" panose="02010600030101010101" pitchFamily="2" charset="-122"/>
                    <a:cs typeface="Times New Roman" panose="02020603050405020304" pitchFamily="18" charset="0"/>
                  </a:rPr>
                  <a:t>（考虑变量数）使用</a:t>
                </a:r>
                <a:endParaRPr lang="zh-CN" altLang="en-US" dirty="0"/>
              </a:p>
              <a:p>
                <a:endParaRPr lang="zh-CN" altLang="en-US" dirty="0"/>
              </a:p>
              <a:p>
                <a:endParaRPr lang="zh-CN" altLang="en-US" dirty="0">
                  <a:solidFill>
                    <a:srgbClr val="FF0000"/>
                  </a:solidFill>
                  <a:latin typeface="+mj-ea"/>
                  <a:ea typeface="+mj-ea"/>
                </a:endParaRPr>
              </a:p>
              <a:p>
                <a:endParaRPr lang="zh-CN" altLang="en-US" dirty="0"/>
              </a:p>
            </p:txBody>
          </p:sp>
        </mc:Choice>
        <mc:Fallback xmlns="">
          <p:sp>
            <p:nvSpPr>
              <p:cNvPr id="3" name="备注占位符 2">
                <a:extLst>
                  <a:ext uri="{FF2B5EF4-FFF2-40B4-BE49-F238E27FC236}">
                    <a16:creationId xmlns:a16="http://schemas.microsoft.com/office/drawing/2014/main" id="{D27AE191-557F-656A-0C07-107EC072E221}"/>
                  </a:ext>
                </a:extLst>
              </p:cNvPr>
              <p:cNvSpPr>
                <a:spLocks noGrp="1"/>
              </p:cNvSpPr>
              <p:nvPr>
                <p:ph type="body" idx="1"/>
              </p:nvPr>
            </p:nvSpPr>
            <p:spPr/>
            <p:txBody>
              <a:bodyPr>
                <a:normAutofit fontScale="25000" lnSpcReduction="20000"/>
              </a:bodyPr>
              <a:lstStyle/>
              <a:p>
                <a:pPr eaLnBrk="1" hangingPunct="1">
                  <a:spcBef>
                    <a:spcPct val="50000"/>
                  </a:spcBef>
                  <a:defRPr/>
                </a:pPr>
                <a:r>
                  <a:rPr lang="zh-CN" altLang="en-US" sz="3200" b="1" dirty="0">
                    <a:solidFill>
                      <a:srgbClr val="FF0000"/>
                    </a:solidFill>
                    <a:ea typeface="微软雅黑" panose="020B0503020204020204" pitchFamily="34" charset="-122"/>
                  </a:rPr>
                  <a:t>监督学习分为回归和分类</a:t>
                </a:r>
                <a:endParaRPr lang="en-US" altLang="zh-CN" sz="3200" b="1" dirty="0">
                  <a:solidFill>
                    <a:srgbClr val="FF0000"/>
                  </a:solidFill>
                  <a:ea typeface="微软雅黑" panose="020B0503020204020204" pitchFamily="34" charset="-122"/>
                </a:endParaRPr>
              </a:p>
              <a:p>
                <a:pPr marL="34290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回归（</a:t>
                </a:r>
                <a:r>
                  <a:rPr lang="en-US" altLang="zh-CN" sz="2800" dirty="0">
                    <a:ea typeface="微软雅黑" panose="020B0503020204020204" pitchFamily="34" charset="-122"/>
                  </a:rPr>
                  <a:t>Regression</a:t>
                </a:r>
                <a:r>
                  <a:rPr lang="zh-CN" altLang="en-US" sz="2800" dirty="0">
                    <a:ea typeface="微软雅黑" panose="020B0503020204020204" pitchFamily="34" charset="-122"/>
                  </a:rPr>
                  <a:t>、</a:t>
                </a:r>
                <a:r>
                  <a:rPr lang="en-US" altLang="zh-CN" sz="2800" dirty="0">
                    <a:ea typeface="微软雅黑" panose="020B0503020204020204" pitchFamily="34" charset="-122"/>
                  </a:rPr>
                  <a:t>Prediction</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如何预测上海浦东的房价？</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未来的股票市场走向？</a:t>
                </a:r>
                <a:endParaRPr lang="en-US" altLang="zh-CN" sz="2800" dirty="0">
                  <a:ea typeface="微软雅黑" panose="020B0503020204020204" pitchFamily="34" charset="-122"/>
                </a:endParaRPr>
              </a:p>
              <a:p>
                <a:pPr marL="342900"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分类（</a:t>
                </a:r>
                <a:r>
                  <a:rPr lang="en-US" altLang="zh-CN" sz="2800" dirty="0">
                    <a:ea typeface="微软雅黑" panose="020B0503020204020204" pitchFamily="34" charset="-122"/>
                  </a:rPr>
                  <a:t>Classification</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身高</a:t>
                </a:r>
                <a:r>
                  <a:rPr lang="en-US" altLang="zh-CN" sz="2800" dirty="0">
                    <a:ea typeface="微软雅黑" panose="020B0503020204020204" pitchFamily="34" charset="-122"/>
                  </a:rPr>
                  <a:t>1.85m</a:t>
                </a:r>
                <a:r>
                  <a:rPr lang="zh-CN" altLang="en-US" sz="2800" dirty="0">
                    <a:ea typeface="微软雅黑" panose="020B0503020204020204" pitchFamily="34" charset="-122"/>
                  </a:rPr>
                  <a:t>，体重</a:t>
                </a:r>
                <a:r>
                  <a:rPr lang="en-US" altLang="zh-CN" sz="2800" dirty="0">
                    <a:ea typeface="微软雅黑" panose="020B0503020204020204" pitchFamily="34" charset="-122"/>
                  </a:rPr>
                  <a:t>100kg</a:t>
                </a:r>
                <a:r>
                  <a:rPr lang="zh-CN" altLang="en-US" sz="2800" dirty="0">
                    <a:ea typeface="微软雅黑" panose="020B0503020204020204" pitchFamily="34" charset="-122"/>
                  </a:rPr>
                  <a:t>的男人穿什么尺码的</a:t>
                </a:r>
                <a:r>
                  <a:rPr lang="en-US" altLang="zh-CN" sz="2800" dirty="0">
                    <a:ea typeface="微软雅黑" panose="020B0503020204020204" pitchFamily="34" charset="-122"/>
                  </a:rPr>
                  <a:t>T</a:t>
                </a:r>
                <a:r>
                  <a:rPr lang="zh-CN" altLang="en-US" sz="2800" dirty="0">
                    <a:ea typeface="微软雅黑" panose="020B0503020204020204" pitchFamily="34" charset="-122"/>
                  </a:rPr>
                  <a:t>恤？</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根据肿瘤的体积、患者的年龄来判断良性或恶性？</a:t>
                </a:r>
                <a:endParaRPr lang="en-US" altLang="zh-CN" sz="2800" dirty="0">
                  <a:ea typeface="微软雅黑" panose="020B0503020204020204" pitchFamily="34" charset="-122"/>
                </a:endParaRPr>
              </a:p>
              <a:p>
                <a:endParaRPr lang="en-US" altLang="zh-CN" sz="1400" b="1" kern="100" dirty="0">
                  <a:solidFill>
                    <a:srgbClr val="FF0000"/>
                  </a:solidFill>
                  <a:latin typeface="+mj-ea"/>
                  <a:ea typeface="+mj-ea"/>
                  <a:cs typeface="Times New Roman" panose="02020603050405020304" pitchFamily="18" charset="0"/>
                </a:endParaRPr>
              </a:p>
              <a:p>
                <a:r>
                  <a:rPr lang="zh-CN" altLang="zh-CN" sz="1400" b="1" kern="100" dirty="0">
                    <a:solidFill>
                      <a:srgbClr val="FF0000"/>
                    </a:solidFill>
                    <a:latin typeface="+mj-ea"/>
                    <a:ea typeface="+mj-ea"/>
                    <a:cs typeface="Times New Roman" panose="02020603050405020304" pitchFamily="18" charset="0"/>
                  </a:rPr>
                  <a:t>线性回归</a:t>
                </a:r>
                <a:r>
                  <a:rPr lang="zh-CN" altLang="zh-CN" sz="1400" kern="100" dirty="0">
                    <a:latin typeface="+mj-ea"/>
                    <a:ea typeface="+mj-ea"/>
                    <a:cs typeface="Times New Roman" panose="02020603050405020304" pitchFamily="18" charset="0"/>
                  </a:rPr>
                  <a:t>（</a:t>
                </a:r>
                <a:r>
                  <a:rPr lang="en-US" altLang="zh-CN" sz="1400" kern="100" dirty="0">
                    <a:latin typeface="+mj-ea"/>
                    <a:ea typeface="+mj-ea"/>
                    <a:cs typeface="Times New Roman" panose="02020603050405020304" pitchFamily="18" charset="0"/>
                  </a:rPr>
                  <a:t>Linear Regression</a:t>
                </a:r>
                <a:r>
                  <a:rPr lang="zh-CN" altLang="zh-CN" sz="1400" kern="100" dirty="0">
                    <a:latin typeface="+mj-ea"/>
                    <a:ea typeface="+mj-ea"/>
                    <a:cs typeface="Times New Roman" panose="02020603050405020304" pitchFamily="18" charset="0"/>
                  </a:rPr>
                  <a:t>）</a:t>
                </a:r>
                <a:r>
                  <a:rPr lang="zh-CN" altLang="zh-CN" kern="100" dirty="0">
                    <a:latin typeface="+mj-ea"/>
                    <a:ea typeface="+mj-ea"/>
                    <a:cs typeface="Times New Roman" panose="02020603050405020304" pitchFamily="18" charset="0"/>
                  </a:rPr>
                  <a:t>是一种通过属性的线性组合来进行预测的</a:t>
                </a:r>
                <a:r>
                  <a:rPr lang="zh-CN" altLang="zh-CN" kern="100" dirty="0">
                    <a:solidFill>
                      <a:srgbClr val="FF0000"/>
                    </a:solidFill>
                    <a:latin typeface="+mj-ea"/>
                    <a:ea typeface="+mj-ea"/>
                    <a:cs typeface="Times New Roman" panose="02020603050405020304" pitchFamily="18" charset="0"/>
                  </a:rPr>
                  <a:t>线性模型</a:t>
                </a:r>
                <a:r>
                  <a:rPr lang="zh-CN" altLang="zh-CN" kern="100" dirty="0">
                    <a:latin typeface="+mj-ea"/>
                    <a:ea typeface="+mj-ea"/>
                    <a:cs typeface="Times New Roman" panose="02020603050405020304" pitchFamily="18" charset="0"/>
                  </a:rPr>
                  <a:t>，其目的是找到一条直线或者一个平面或者更高维的超平面，</a:t>
                </a:r>
                <a:r>
                  <a:rPr lang="zh-CN" altLang="zh-CN" kern="100" dirty="0">
                    <a:solidFill>
                      <a:srgbClr val="FF0000"/>
                    </a:solidFill>
                    <a:latin typeface="+mj-ea"/>
                    <a:ea typeface="+mj-ea"/>
                    <a:cs typeface="Times New Roman" panose="02020603050405020304" pitchFamily="18" charset="0"/>
                  </a:rPr>
                  <a:t>使得预测值与真实值之间的误差最小化。</a:t>
                </a:r>
                <a:endParaRPr lang="en-US" altLang="zh-CN" kern="100" dirty="0">
                  <a:solidFill>
                    <a:srgbClr val="FF0000"/>
                  </a:solidFill>
                  <a:latin typeface="+mj-ea"/>
                  <a:ea typeface="+mj-ea"/>
                  <a:cs typeface="Times New Roman" panose="02020603050405020304" pitchFamily="18" charset="0"/>
                </a:endParaRPr>
              </a:p>
              <a:p>
                <a:endParaRPr lang="en-US" altLang="zh-CN" b="1" dirty="0">
                  <a:solidFill>
                    <a:srgbClr val="FF0000"/>
                  </a:solidFill>
                  <a:latin typeface="PT Sans"/>
                </a:endParaRPr>
              </a:p>
              <a:p>
                <a:r>
                  <a:rPr lang="zh-CN" altLang="en-US" b="1" dirty="0">
                    <a:solidFill>
                      <a:srgbClr val="FF0000"/>
                    </a:solidFill>
                    <a:latin typeface="PT Sans"/>
                  </a:rPr>
                  <a:t>损失函数</a:t>
                </a:r>
                <a:r>
                  <a:rPr lang="en-US" altLang="zh-CN" dirty="0">
                    <a:solidFill>
                      <a:srgbClr val="000000"/>
                    </a:solidFill>
                    <a:latin typeface="PT Sans"/>
                  </a:rPr>
                  <a:t>(Loss Function)</a:t>
                </a:r>
                <a:r>
                  <a:rPr lang="zh-CN" altLang="en-US" dirty="0">
                    <a:solidFill>
                      <a:srgbClr val="000000"/>
                    </a:solidFill>
                    <a:latin typeface="PT Sans"/>
                  </a:rPr>
                  <a:t>度量</a:t>
                </a:r>
                <a:r>
                  <a:rPr lang="zh-CN" altLang="en-US" b="1" dirty="0">
                    <a:solidFill>
                      <a:srgbClr val="000000"/>
                    </a:solidFill>
                    <a:latin typeface="PT Sans"/>
                  </a:rPr>
                  <a:t>单样本预测的错误程度</a:t>
                </a:r>
                <a:r>
                  <a:rPr lang="zh-CN" altLang="en-US" dirty="0">
                    <a:solidFill>
                      <a:srgbClr val="000000"/>
                    </a:solidFill>
                    <a:latin typeface="PT Sans"/>
                  </a:rPr>
                  <a:t>，损失函数值越小，模型就越好。常用的损失函数包括：</a:t>
                </a:r>
                <a:r>
                  <a:rPr lang="en-US" altLang="zh-CN" dirty="0">
                    <a:solidFill>
                      <a:srgbClr val="000000"/>
                    </a:solidFill>
                    <a:latin typeface="PT Sans"/>
                  </a:rPr>
                  <a:t>0-1</a:t>
                </a:r>
                <a:r>
                  <a:rPr lang="zh-CN" altLang="en-US" dirty="0">
                    <a:solidFill>
                      <a:srgbClr val="000000"/>
                    </a:solidFill>
                    <a:latin typeface="PT Sans"/>
                  </a:rPr>
                  <a:t>损失函数、平方损失函数、绝对损失函数、对数损失函数等。</a:t>
                </a:r>
                <a:endParaRPr lang="en-US" altLang="zh-CN" dirty="0">
                  <a:solidFill>
                    <a:srgbClr val="000000"/>
                  </a:solidFill>
                  <a:latin typeface="PT Sans"/>
                </a:endParaRPr>
              </a:p>
              <a:p>
                <a:r>
                  <a:rPr lang="zh-CN" altLang="en-US" b="1" dirty="0">
                    <a:solidFill>
                      <a:srgbClr val="FF0000"/>
                    </a:solidFill>
                    <a:latin typeface="PT Sans"/>
                  </a:rPr>
                  <a:t>代价函数</a:t>
                </a:r>
                <a:r>
                  <a:rPr lang="en-US" altLang="zh-CN" dirty="0">
                    <a:solidFill>
                      <a:srgbClr val="000000"/>
                    </a:solidFill>
                    <a:latin typeface="PT Sans"/>
                  </a:rPr>
                  <a:t>(Cost Function)</a:t>
                </a:r>
                <a:r>
                  <a:rPr lang="zh-CN" altLang="en-US" dirty="0">
                    <a:solidFill>
                      <a:srgbClr val="000000"/>
                    </a:solidFill>
                    <a:latin typeface="PT Sans"/>
                  </a:rPr>
                  <a:t>度量</a:t>
                </a:r>
                <a:r>
                  <a:rPr lang="zh-CN" altLang="en-US" b="1" dirty="0">
                    <a:solidFill>
                      <a:srgbClr val="000000"/>
                    </a:solidFill>
                    <a:latin typeface="PT Sans"/>
                  </a:rPr>
                  <a:t>全部样本集的平均误差</a:t>
                </a:r>
                <a:r>
                  <a:rPr lang="zh-CN" altLang="en-US" dirty="0">
                    <a:solidFill>
                      <a:srgbClr val="000000"/>
                    </a:solidFill>
                    <a:latin typeface="PT Sans"/>
                  </a:rPr>
                  <a:t>。常用的代价函数包括均方误差、均方根误差、平均绝对误差等。</a:t>
                </a:r>
                <a:endParaRPr lang="en-US" altLang="zh-CN" dirty="0">
                  <a:solidFill>
                    <a:srgbClr val="000000"/>
                  </a:solidFill>
                  <a:latin typeface="PT Sans"/>
                </a:endParaRPr>
              </a:p>
              <a:p>
                <a:r>
                  <a:rPr lang="zh-CN" altLang="en-US" b="1" dirty="0">
                    <a:solidFill>
                      <a:srgbClr val="FF0000"/>
                    </a:solidFill>
                    <a:latin typeface="PT Sans"/>
                  </a:rPr>
                  <a:t>目标函数</a:t>
                </a:r>
                <a:r>
                  <a:rPr lang="en-US" altLang="zh-CN" dirty="0">
                    <a:solidFill>
                      <a:srgbClr val="000000"/>
                    </a:solidFill>
                    <a:latin typeface="PT Sans"/>
                  </a:rPr>
                  <a:t>(Object Function)</a:t>
                </a:r>
                <a:r>
                  <a:rPr lang="zh-CN" altLang="en-US" dirty="0">
                    <a:solidFill>
                      <a:srgbClr val="000000"/>
                    </a:solidFill>
                    <a:latin typeface="PT Sans"/>
                  </a:rPr>
                  <a:t>代价函数和正则化函数，最终要优化的函数。</a:t>
                </a:r>
                <a:endParaRPr lang="en-US" altLang="zh-CN" dirty="0">
                  <a:solidFill>
                    <a:srgbClr val="000000"/>
                  </a:solidFill>
                  <a:latin typeface="PT Sans"/>
                </a:endParaRPr>
              </a:p>
              <a:p>
                <a:endParaRPr lang="en-US" altLang="zh-CN" dirty="0">
                  <a:solidFill>
                    <a:srgbClr val="000000"/>
                  </a:solidFill>
                  <a:latin typeface="PT Sans"/>
                </a:endParaRPr>
              </a:p>
              <a:p>
                <a:pPr algn="l" fontAlgn="base">
                  <a:lnSpc>
                    <a:spcPts val="1800"/>
                  </a:lnSpc>
                </a:pPr>
                <a:r>
                  <a:rPr lang="zh-CN" altLang="en-US" b="1" i="0" dirty="0">
                    <a:solidFill>
                      <a:srgbClr val="060607"/>
                    </a:solidFill>
                    <a:effectLst/>
                    <a:latin typeface="inherit"/>
                  </a:rPr>
                  <a:t>梯度下降</a:t>
                </a:r>
                <a:r>
                  <a:rPr lang="zh-CN" altLang="en-US" b="0" i="0" dirty="0">
                    <a:solidFill>
                      <a:srgbClr val="060607"/>
                    </a:solidFill>
                    <a:effectLst/>
                    <a:latin typeface="-apple-system"/>
                  </a:rPr>
                  <a:t>：</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原理</a:t>
                </a:r>
                <a:r>
                  <a:rPr lang="zh-CN" altLang="en-US" b="0" i="0" dirty="0">
                    <a:solidFill>
                      <a:srgbClr val="060607"/>
                    </a:solidFill>
                    <a:effectLst/>
                    <a:latin typeface="inherit"/>
                  </a:rPr>
                  <a:t>：梯度下降是一种迭代优化算法，通过计算损失函数对参数的梯度，然后沿着梯度的反方向更新参数，逐步逼近损失函数的最小值。</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适用问题</a:t>
                </a:r>
                <a:r>
                  <a:rPr lang="zh-CN" altLang="en-US" b="0" i="0" dirty="0">
                    <a:solidFill>
                      <a:srgbClr val="060607"/>
                    </a:solidFill>
                    <a:effectLst/>
                    <a:latin typeface="inherit"/>
                  </a:rPr>
                  <a:t>：广泛应用于各种机器学习模型，包括线性回归、逻辑回归、神经网络等。</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计算方式</a:t>
                </a:r>
                <a:r>
                  <a:rPr lang="zh-CN" altLang="en-US" b="0" i="0" dirty="0">
                    <a:solidFill>
                      <a:srgbClr val="060607"/>
                    </a:solidFill>
                    <a:effectLst/>
                    <a:latin typeface="inherit"/>
                  </a:rPr>
                  <a:t>：需要初始化参数，然后通过多次迭代逐步调整参数。</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优点</a:t>
                </a:r>
                <a:r>
                  <a:rPr lang="zh-CN" altLang="en-US" b="0" i="0" dirty="0">
                    <a:solidFill>
                      <a:srgbClr val="060607"/>
                    </a:solidFill>
                    <a:effectLst/>
                    <a:latin typeface="inherit"/>
                  </a:rPr>
                  <a:t>：计算效率高，尤其适用于大规模数据和复杂模型。</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缺点</a:t>
                </a:r>
                <a:r>
                  <a:rPr lang="zh-CN" altLang="en-US" b="0" i="0" dirty="0">
                    <a:solidFill>
                      <a:srgbClr val="060607"/>
                    </a:solidFill>
                    <a:effectLst/>
                    <a:latin typeface="inherit"/>
                  </a:rPr>
                  <a:t>：需要选择合适的学习率，学习率过大可能导致不收敛，学习率过小则收敛速度慢。此外，梯度下降可能陷入局部最小值，尤其是在非凸优化问题中。</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应用场景</a:t>
                </a:r>
                <a:r>
                  <a:rPr lang="zh-CN" altLang="en-US" b="0" i="0" dirty="0">
                    <a:solidFill>
                      <a:srgbClr val="060607"/>
                    </a:solidFill>
                    <a:effectLst/>
                    <a:latin typeface="inherit"/>
                  </a:rPr>
                  <a:t>：深度学习、线性回归、逻辑回归等。</a:t>
                </a:r>
                <a:endParaRPr lang="en-US" altLang="zh-CN" b="0" i="0" dirty="0">
                  <a:solidFill>
                    <a:srgbClr val="060607"/>
                  </a:solidFill>
                  <a:effectLst/>
                  <a:latin typeface="inherit"/>
                </a:endParaRPr>
              </a:p>
              <a:p>
                <a:pPr algn="l" fontAlgn="base">
                  <a:lnSpc>
                    <a:spcPts val="1800"/>
                  </a:lnSpc>
                  <a:buFont typeface="Arial" panose="020B0604020202020204" pitchFamily="34" charset="0"/>
                  <a:buChar char="•"/>
                </a:pPr>
                <a:endParaRPr lang="zh-CN" altLang="en-US" b="0" i="0" dirty="0">
                  <a:solidFill>
                    <a:srgbClr val="060607"/>
                  </a:solidFill>
                  <a:effectLst/>
                  <a:latin typeface="inherit"/>
                </a:endParaRPr>
              </a:p>
              <a:p>
                <a:pPr algn="l" fontAlgn="base">
                  <a:lnSpc>
                    <a:spcPts val="1800"/>
                  </a:lnSpc>
                </a:pPr>
                <a:r>
                  <a:rPr lang="zh-CN" altLang="en-US" b="1" i="0" dirty="0">
                    <a:solidFill>
                      <a:srgbClr val="060607"/>
                    </a:solidFill>
                    <a:effectLst/>
                    <a:latin typeface="inherit"/>
                  </a:rPr>
                  <a:t>最小二乘法</a:t>
                </a:r>
                <a:r>
                  <a:rPr lang="zh-CN" altLang="en-US" b="0" i="0" dirty="0">
                    <a:solidFill>
                      <a:srgbClr val="060607"/>
                    </a:solidFill>
                    <a:effectLst/>
                    <a:latin typeface="-apple-system"/>
                  </a:rPr>
                  <a:t>：</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原理</a:t>
                </a:r>
                <a:r>
                  <a:rPr lang="zh-CN" altLang="en-US" b="0" i="0" dirty="0">
                    <a:solidFill>
                      <a:srgbClr val="060607"/>
                    </a:solidFill>
                    <a:effectLst/>
                    <a:latin typeface="inherit"/>
                  </a:rPr>
                  <a:t>：最小二乘法通过最小化观测值与模型预测值之间的平方差之和来求解模型参数。对于线性回归问题，最小二乘法可以直接求解闭式解。</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适用问题</a:t>
                </a:r>
                <a:r>
                  <a:rPr lang="zh-CN" altLang="en-US" b="0" i="0" dirty="0">
                    <a:solidFill>
                      <a:srgbClr val="060607"/>
                    </a:solidFill>
                    <a:effectLst/>
                    <a:latin typeface="inherit"/>
                  </a:rPr>
                  <a:t>：主要用于线性回归问题，也可以用于其他可以转化为线性回归的问题。</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计算方式</a:t>
                </a:r>
                <a:r>
                  <a:rPr lang="zh-CN" altLang="en-US" b="0" i="0" dirty="0">
                    <a:solidFill>
                      <a:srgbClr val="060607"/>
                    </a:solidFill>
                    <a:effectLst/>
                    <a:latin typeface="inherit"/>
                  </a:rPr>
                  <a:t>：直接计算闭式解，无需迭代。</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优点</a:t>
                </a:r>
                <a:r>
                  <a:rPr lang="zh-CN" altLang="en-US" b="0" i="0" dirty="0">
                    <a:solidFill>
                      <a:srgbClr val="060607"/>
                    </a:solidFill>
                    <a:effectLst/>
                    <a:latin typeface="inherit"/>
                  </a:rPr>
                  <a:t>：计算简单，有闭式解，适用于小规模数据和简单模型。</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缺点</a:t>
                </a:r>
                <a:r>
                  <a:rPr lang="zh-CN" altLang="en-US" b="0" i="0" dirty="0">
                    <a:solidFill>
                      <a:srgbClr val="060607"/>
                    </a:solidFill>
                    <a:effectLst/>
                    <a:latin typeface="inherit"/>
                  </a:rPr>
                  <a:t>：对于大规模数据，计算复杂度高，因为需要求解矩阵的逆。此外，最小二乘法对异常值非常敏感，因为平方误差会放大异常值的影响。</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应用场景</a:t>
                </a:r>
                <a:r>
                  <a:rPr lang="zh-CN" altLang="en-US" b="0" i="0" dirty="0">
                    <a:solidFill>
                      <a:srgbClr val="060607"/>
                    </a:solidFill>
                    <a:effectLst/>
                    <a:latin typeface="inherit"/>
                  </a:rPr>
                  <a:t>：线性回归、曲线拟合等。</a:t>
                </a:r>
                <a:endParaRPr lang="en-US" altLang="zh-CN" b="0" i="0" dirty="0">
                  <a:solidFill>
                    <a:srgbClr val="060607"/>
                  </a:solidFill>
                  <a:effectLst/>
                  <a:latin typeface="inherit"/>
                </a:endParaRPr>
              </a:p>
              <a:p>
                <a:pPr algn="l" fontAlgn="base">
                  <a:lnSpc>
                    <a:spcPts val="1800"/>
                  </a:lnSpc>
                  <a:buFont typeface="Arial" panose="020B0604020202020204" pitchFamily="34" charset="0"/>
                  <a:buChar char="•"/>
                </a:pPr>
                <a:endParaRPr lang="zh-CN" altLang="en-US" b="0" i="0" dirty="0">
                  <a:solidFill>
                    <a:srgbClr val="060607"/>
                  </a:solidFill>
                  <a:effectLst/>
                  <a:latin typeface="inherit"/>
                </a:endParaRPr>
              </a:p>
              <a:p>
                <a:pPr algn="l" fontAlgn="base">
                  <a:lnSpc>
                    <a:spcPts val="1800"/>
                  </a:lnSpc>
                </a:pPr>
                <a:r>
                  <a:rPr lang="zh-CN" altLang="en-US" b="1" i="0" dirty="0">
                    <a:solidFill>
                      <a:srgbClr val="060607"/>
                    </a:solidFill>
                    <a:effectLst/>
                    <a:latin typeface="-apple-system"/>
                  </a:rPr>
                  <a:t>总结</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梯度下降</a:t>
                </a:r>
                <a:r>
                  <a:rPr lang="zh-CN" altLang="en-US" b="0" i="0" dirty="0">
                    <a:solidFill>
                      <a:srgbClr val="060607"/>
                    </a:solidFill>
                    <a:effectLst/>
                    <a:latin typeface="inherit"/>
                  </a:rPr>
                  <a:t>适用于大规模数据和复杂模型，计算效率高，但需要调整学习率和迭代次数。</a:t>
                </a:r>
              </a:p>
              <a:p>
                <a:pPr algn="l" fontAlgn="base">
                  <a:lnSpc>
                    <a:spcPts val="1800"/>
                  </a:lnSpc>
                  <a:buFont typeface="Arial" panose="020B0604020202020204" pitchFamily="34" charset="0"/>
                  <a:buChar char="•"/>
                </a:pPr>
                <a:r>
                  <a:rPr lang="zh-CN" altLang="en-US" b="1" i="0" dirty="0">
                    <a:solidFill>
                      <a:srgbClr val="060607"/>
                    </a:solidFill>
                    <a:effectLst/>
                    <a:latin typeface="inherit"/>
                  </a:rPr>
                  <a:t>最小二乘法</a:t>
                </a:r>
                <a:r>
                  <a:rPr lang="zh-CN" altLang="en-US" b="0" i="0" dirty="0">
                    <a:solidFill>
                      <a:srgbClr val="060607"/>
                    </a:solidFill>
                    <a:effectLst/>
                    <a:latin typeface="inherit"/>
                  </a:rPr>
                  <a:t>适用于小规模数据和简单模型，计算简单，但对异常值敏感，且在大规模数据时计算复杂度高。</a:t>
                </a:r>
              </a:p>
              <a:p>
                <a:endParaRPr lang="en-US" altLang="zh-CN" dirty="0"/>
              </a:p>
              <a:p>
                <a:r>
                  <a:rPr lang="zh-CN" altLang="en-US" b="1" dirty="0">
                    <a:solidFill>
                      <a:schemeClr val="tx1"/>
                    </a:solidFill>
                  </a:rPr>
                  <a:t>回归的评价指标</a:t>
                </a:r>
                <a:r>
                  <a:rPr lang="en-US" altLang="zh-CN" b="1" dirty="0">
                    <a:solidFill>
                      <a:schemeClr val="tx1"/>
                    </a:solidFill>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err="1">
                    <a:solidFill>
                      <a:srgbClr val="FF0000"/>
                    </a:solidFill>
                    <a:latin typeface="+mj-ea"/>
                    <a:ea typeface="+mj-ea"/>
                    <a:cs typeface="Times New Roman" panose="02020603050405020304" pitchFamily="18" charset="0"/>
                  </a:rPr>
                  <a:t>均方误差</a:t>
                </a:r>
                <a:r>
                  <a:rPr lang="en-US" altLang="zh-CN" sz="1200" dirty="0" err="1">
                    <a:solidFill>
                      <a:srgbClr val="FF0000"/>
                    </a:solidFill>
                    <a:latin typeface="+mj-ea"/>
                    <a:ea typeface="+mj-ea"/>
                    <a:cs typeface="Times New Roman" panose="02020603050405020304" pitchFamily="18" charset="0"/>
                  </a:rPr>
                  <a:t>（Mean</a:t>
                </a:r>
                <a:r>
                  <a:rPr lang="en-US" altLang="zh-CN" sz="1200" dirty="0">
                    <a:solidFill>
                      <a:srgbClr val="FF0000"/>
                    </a:solidFill>
                    <a:latin typeface="+mj-ea"/>
                    <a:ea typeface="+mj-ea"/>
                    <a:cs typeface="Times New Roman" panose="02020603050405020304" pitchFamily="18" charset="0"/>
                  </a:rPr>
                  <a:t> Square </a:t>
                </a:r>
                <a:r>
                  <a:rPr lang="en-US" altLang="zh-CN" sz="1200" dirty="0" err="1">
                    <a:solidFill>
                      <a:srgbClr val="FF0000"/>
                    </a:solidFill>
                    <a:latin typeface="+mj-ea"/>
                    <a:ea typeface="+mj-ea"/>
                    <a:cs typeface="Times New Roman" panose="02020603050405020304" pitchFamily="18" charset="0"/>
                  </a:rPr>
                  <a:t>Error,MSE</a:t>
                </a:r>
                <a:r>
                  <a:rPr lang="en-US" altLang="zh-CN" sz="1200" dirty="0">
                    <a:solidFill>
                      <a:srgbClr val="FF0000"/>
                    </a:solidFill>
                    <a:latin typeface="+mj-ea"/>
                    <a:ea typeface="+mj-ea"/>
                    <a:cs typeface="Times New Roman" panose="02020603050405020304" pitchFamily="18" charset="0"/>
                  </a:rPr>
                  <a:t>）</a:t>
                </a:r>
                <a:endParaRPr lang="zh-CN" altLang="zh-CN" sz="1200" dirty="0">
                  <a:solidFill>
                    <a:srgbClr val="FF0000"/>
                  </a:solidFill>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solidFill>
                      <a:srgbClr val="FF0000"/>
                    </a:solidFill>
                    <a:latin typeface="+mj-ea"/>
                    <a:ea typeface="+mj-ea"/>
                    <a:cs typeface="Times New Roman" panose="02020603050405020304" pitchFamily="18" charset="0"/>
                  </a:rPr>
                  <a:t>均方根误差</a:t>
                </a:r>
                <a:r>
                  <a:rPr lang="en-US" altLang="zh-CN" sz="1200" b="1" dirty="0">
                    <a:solidFill>
                      <a:srgbClr val="FF0000"/>
                    </a:solidFill>
                    <a:latin typeface="+mj-ea"/>
                    <a:ea typeface="+mj-ea"/>
                    <a:cs typeface="Times New Roman" panose="02020603050405020304" pitchFamily="18" charset="0"/>
                  </a:rPr>
                  <a:t> </a:t>
                </a:r>
                <a:r>
                  <a:rPr lang="en-US" altLang="zh-CN" sz="1200" dirty="0">
                    <a:solidFill>
                      <a:srgbClr val="FF0000"/>
                    </a:solidFill>
                    <a:latin typeface="+mj-ea"/>
                    <a:ea typeface="+mj-ea"/>
                    <a:cs typeface="Times New Roman" panose="02020603050405020304" pitchFamily="18" charset="0"/>
                  </a:rPr>
                  <a:t>RMSE(Root Mean Square </a:t>
                </a:r>
                <a:r>
                  <a:rPr lang="en-US" altLang="zh-CN" sz="1200" dirty="0" err="1">
                    <a:solidFill>
                      <a:srgbClr val="FF0000"/>
                    </a:solidFill>
                    <a:latin typeface="+mj-ea"/>
                    <a:ea typeface="+mj-ea"/>
                    <a:cs typeface="Times New Roman" panose="02020603050405020304" pitchFamily="18" charset="0"/>
                  </a:rPr>
                  <a:t>Error,RMSE</a:t>
                </a:r>
                <a:r>
                  <a:rPr lang="en-US" altLang="zh-CN" sz="1200" dirty="0">
                    <a:solidFill>
                      <a:srgbClr val="FF0000"/>
                    </a:solidFill>
                    <a:latin typeface="+mj-ea"/>
                    <a:ea typeface="+mj-ea"/>
                    <a:cs typeface="Times New Roman" panose="02020603050405020304" pitchFamily="18" charset="0"/>
                  </a:rPr>
                  <a:t>)</a:t>
                </a:r>
                <a:endParaRPr lang="zh-CN" altLang="zh-CN" sz="1200" dirty="0">
                  <a:solidFill>
                    <a:srgbClr val="FF0000"/>
                  </a:solidFill>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err="1">
                    <a:solidFill>
                      <a:srgbClr val="FF0000"/>
                    </a:solidFill>
                    <a:latin typeface="+mj-ea"/>
                    <a:ea typeface="+mj-ea"/>
                    <a:cs typeface="Times New Roman" panose="02020603050405020304" pitchFamily="18" charset="0"/>
                  </a:rPr>
                  <a:t>平均绝对误差</a:t>
                </a:r>
                <a:r>
                  <a:rPr lang="en-US" altLang="zh-CN" sz="1200" dirty="0" err="1">
                    <a:solidFill>
                      <a:srgbClr val="FF0000"/>
                    </a:solidFill>
                    <a:latin typeface="+mj-ea"/>
                    <a:ea typeface="+mj-ea"/>
                    <a:cs typeface="Times New Roman" panose="02020603050405020304" pitchFamily="18" charset="0"/>
                  </a:rPr>
                  <a:t>（Mean</a:t>
                </a:r>
                <a:r>
                  <a:rPr lang="en-US" altLang="zh-CN" sz="1200" dirty="0">
                    <a:solidFill>
                      <a:srgbClr val="FF0000"/>
                    </a:solidFill>
                    <a:latin typeface="+mj-ea"/>
                    <a:ea typeface="+mj-ea"/>
                    <a:cs typeface="Times New Roman" panose="02020603050405020304" pitchFamily="18" charset="0"/>
                  </a:rPr>
                  <a:t> Absolute </a:t>
                </a:r>
                <a:r>
                  <a:rPr lang="en-US" altLang="zh-CN" sz="1200" dirty="0" err="1">
                    <a:solidFill>
                      <a:srgbClr val="FF0000"/>
                    </a:solidFill>
                    <a:latin typeface="+mj-ea"/>
                    <a:ea typeface="+mj-ea"/>
                    <a:cs typeface="Times New Roman" panose="02020603050405020304" pitchFamily="18" charset="0"/>
                  </a:rPr>
                  <a:t>Error,MAE</a:t>
                </a:r>
                <a:r>
                  <a:rPr lang="en-US" altLang="zh-CN" sz="1200" dirty="0">
                    <a:solidFill>
                      <a:srgbClr val="FF0000"/>
                    </a:solidFill>
                    <a:latin typeface="+mj-ea"/>
                    <a:ea typeface="+mj-ea"/>
                    <a:cs typeface="Times New Roman" panose="02020603050405020304" pitchFamily="18" charset="0"/>
                  </a:rPr>
                  <a:t>）</a:t>
                </a:r>
                <a:endParaRPr lang="zh-CN" altLang="zh-CN" dirty="0">
                  <a:solidFill>
                    <a:srgbClr val="FF0000"/>
                  </a:solidFill>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0" kern="1200" dirty="0">
                    <a:solidFill>
                      <a:schemeClr val="tx1"/>
                    </a:solidFill>
                    <a:effectLst/>
                    <a:latin typeface="+mn-lt"/>
                    <a:ea typeface="+mn-ea"/>
                    <a:cs typeface="+mn-cs"/>
                  </a:rPr>
                  <a:t>决定系数</a:t>
                </a:r>
                <a:r>
                  <a:rPr lang="en-US" altLang="zh-CN" b="1" dirty="0" err="1">
                    <a:solidFill>
                      <a:srgbClr val="FF0000"/>
                    </a:solidFill>
                    <a:latin typeface="+mj-ea"/>
                    <a:ea typeface="+mj-ea"/>
                    <a:cs typeface="Times New Roman" panose="02020603050405020304" pitchFamily="18" charset="0"/>
                  </a:rPr>
                  <a:t>R方</a:t>
                </a:r>
                <a:r>
                  <a:rPr lang="en-US" altLang="zh-CN" b="1" dirty="0">
                    <a:solidFill>
                      <a:srgbClr val="FF0000"/>
                    </a:solidFill>
                    <a:latin typeface="+mj-ea"/>
                    <a:ea typeface="+mj-ea"/>
                    <a:cs typeface="Times New Roman" panose="02020603050405020304" pitchFamily="18" charset="0"/>
                  </a:rPr>
                  <a:t> [</a:t>
                </a:r>
                <a:r>
                  <a:rPr lang="en-US" altLang="zh-CN" i="0">
                    <a:solidFill>
                      <a:srgbClr val="FF0000"/>
                    </a:solidFill>
                    <a:latin typeface="Cambria Math" panose="02040503050406030204" pitchFamily="18" charset="0"/>
                    <a:ea typeface="+mj-ea"/>
                    <a:cs typeface="Times New Roman" panose="02020603050405020304" pitchFamily="18" charset="0"/>
                  </a:rPr>
                  <a:t>𝑅𝑆𝑞𝑢𝑎𝑟𝑒𝑑</a:t>
                </a:r>
                <a:r>
                  <a:rPr lang="en-US" altLang="zh-CN" b="1" dirty="0">
                    <a:solidFill>
                      <a:srgbClr val="FF0000"/>
                    </a:solidFill>
                    <a:latin typeface="+mj-ea"/>
                    <a:ea typeface="+mj-ea"/>
                    <a:cs typeface="Times New Roman" panose="02020603050405020304" pitchFamily="18" charset="0"/>
                  </a:rPr>
                  <a:t>(</a:t>
                </a:r>
                <a:r>
                  <a:rPr lang="en-US" altLang="zh-CN" i="0">
                    <a:solidFill>
                      <a:srgbClr val="FF0000"/>
                    </a:solidFill>
                    <a:latin typeface="Cambria Math" panose="02040503050406030204" pitchFamily="18" charset="0"/>
                    <a:ea typeface="+mj-ea"/>
                    <a:cs typeface="Times New Roman" panose="02020603050405020304" pitchFamily="18" charset="0"/>
                  </a:rPr>
                  <a:t>𝑟2𝑠𝑐𝑜𝑟𝑒</a:t>
                </a:r>
                <a:r>
                  <a:rPr lang="en-US" altLang="zh-CN" b="1" dirty="0">
                    <a:solidFill>
                      <a:srgbClr val="FF0000"/>
                    </a:solidFill>
                    <a:latin typeface="+mj-ea"/>
                    <a:ea typeface="+mj-ea"/>
                    <a:cs typeface="Times New Roman" panose="02020603050405020304" pitchFamily="18" charset="0"/>
                  </a:rPr>
                  <a:t>)]</a:t>
                </a:r>
                <a:r>
                  <a:rPr lang="zh-CN" altLang="en-US" b="1" dirty="0">
                    <a:solidFill>
                      <a:srgbClr val="FF0000"/>
                    </a:solidFill>
                    <a:latin typeface="+mj-ea"/>
                    <a:ea typeface="+mj-ea"/>
                    <a:cs typeface="Times New Roman" panose="02020603050405020304" pitchFamily="18" charset="0"/>
                  </a:rPr>
                  <a:t>：</a:t>
                </a:r>
                <a:r>
                  <a:rPr lang="en-US" altLang="zh-CN" dirty="0">
                    <a:latin typeface="宋体" panose="02010600030101010101" pitchFamily="2" charset="-122"/>
                    <a:cs typeface="Times New Roman" panose="02020603050405020304" pitchFamily="18" charset="0"/>
                  </a:rPr>
                  <a:t>R^2越接近于</a:t>
                </a:r>
                <a:r>
                  <a:rPr lang="en-US" altLang="zh-CN" dirty="0">
                    <a:latin typeface="Cambria" panose="02040503050406030204" pitchFamily="18" charset="0"/>
                    <a:ea typeface="宋体" panose="02010600030101010101" pitchFamily="2" charset="-122"/>
                    <a:cs typeface="Times New Roman" panose="02020603050405020304" pitchFamily="18" charset="0"/>
                  </a:rPr>
                  <a:t>1,</a:t>
                </a:r>
                <a:r>
                  <a:rPr lang="en-US" altLang="zh-CN" dirty="0">
                    <a:latin typeface="宋体" panose="02010600030101010101" pitchFamily="2" charset="-122"/>
                    <a:cs typeface="Times New Roman" panose="02020603050405020304" pitchFamily="18" charset="0"/>
                  </a:rPr>
                  <a:t>说明模型拟合得越好</a:t>
                </a:r>
                <a:r>
                  <a:rPr lang="zh-CN" altLang="en-US" dirty="0">
                    <a:latin typeface="宋体" panose="02010600030101010101" pitchFamily="2" charset="-122"/>
                    <a:cs typeface="Times New Roman" panose="02020603050405020304" pitchFamily="18" charset="0"/>
                  </a:rPr>
                  <a:t>。表示模型解释的方差比例，</a:t>
                </a:r>
                <a:r>
                  <a:rPr lang="en-US" altLang="zh-CN" dirty="0">
                    <a:latin typeface="宋体" panose="02010600030101010101" pitchFamily="2" charset="-122"/>
                    <a:cs typeface="Times New Roman" panose="02020603050405020304" pitchFamily="18" charset="0"/>
                  </a:rPr>
                  <a:t>0-1</a:t>
                </a:r>
                <a:r>
                  <a:rPr lang="zh-CN" altLang="en-US" dirty="0">
                    <a:latin typeface="宋体" panose="02010600030101010101" pitchFamily="2" charset="-122"/>
                    <a:cs typeface="Times New Roman" panose="02020603050405020304" pitchFamily="18" charset="0"/>
                  </a:rPr>
                  <a:t>之间，越接近</a:t>
                </a:r>
                <a:r>
                  <a:rPr lang="en-US" altLang="zh-CN" dirty="0">
                    <a:latin typeface="宋体" panose="02010600030101010101" pitchFamily="2" charset="-122"/>
                    <a:cs typeface="Times New Roman" panose="02020603050405020304" pitchFamily="18" charset="0"/>
                  </a:rPr>
                  <a:t>1</a:t>
                </a:r>
                <a:r>
                  <a:rPr lang="zh-CN" altLang="en-US" dirty="0">
                    <a:latin typeface="宋体" panose="02010600030101010101" pitchFamily="2" charset="-122"/>
                    <a:cs typeface="Times New Roman" panose="02020603050405020304" pitchFamily="18" charset="0"/>
                  </a:rPr>
                  <a:t>模型越好。但会随变量增加而上升，需结合调整</a:t>
                </a:r>
                <a:r>
                  <a:rPr lang="en-US" altLang="zh-CN" dirty="0">
                    <a:latin typeface="宋体" panose="02010600030101010101" pitchFamily="2" charset="-122"/>
                    <a:cs typeface="Times New Roman" panose="02020603050405020304" pitchFamily="18" charset="0"/>
                  </a:rPr>
                  <a:t>R²</a:t>
                </a:r>
                <a:r>
                  <a:rPr lang="zh-CN" altLang="en-US" dirty="0">
                    <a:latin typeface="宋体" panose="02010600030101010101" pitchFamily="2" charset="-122"/>
                    <a:cs typeface="Times New Roman" panose="02020603050405020304" pitchFamily="18" charset="0"/>
                  </a:rPr>
                  <a:t>（考虑变量数）使用</a:t>
                </a:r>
                <a:endParaRPr lang="zh-CN" altLang="en-US" dirty="0"/>
              </a:p>
              <a:p>
                <a:endParaRPr lang="zh-CN" altLang="en-US" dirty="0"/>
              </a:p>
              <a:p>
                <a:endParaRPr lang="zh-CN" altLang="en-US" dirty="0">
                  <a:solidFill>
                    <a:srgbClr val="FF0000"/>
                  </a:solidFill>
                  <a:latin typeface="+mj-ea"/>
                  <a:ea typeface="+mj-ea"/>
                </a:endParaRPr>
              </a:p>
              <a:p>
                <a:endParaRPr lang="zh-CN" altLang="en-US" dirty="0"/>
              </a:p>
            </p:txBody>
          </p:sp>
        </mc:Fallback>
      </mc:AlternateContent>
      <p:sp>
        <p:nvSpPr>
          <p:cNvPr id="4" name="灯片编号占位符 3">
            <a:extLst>
              <a:ext uri="{FF2B5EF4-FFF2-40B4-BE49-F238E27FC236}">
                <a16:creationId xmlns:a16="http://schemas.microsoft.com/office/drawing/2014/main" id="{7716F0EC-C87F-1B1B-889C-CD0B5F76FBD1}"/>
              </a:ext>
            </a:extLst>
          </p:cNvPr>
          <p:cNvSpPr>
            <a:spLocks noGrp="1"/>
          </p:cNvSpPr>
          <p:nvPr>
            <p:ph type="sldNum" sz="quarter" idx="5"/>
          </p:nvPr>
        </p:nvSpPr>
        <p:spPr/>
        <p:txBody>
          <a:bodyPr/>
          <a:lstStyle/>
          <a:p>
            <a:fld id="{E8B51D7C-D7AA-4964-BAF5-C62E3AF24F6D}" type="slidenum">
              <a:rPr lang="zh-CN" altLang="en-US" smtClean="0"/>
              <a:t>30</a:t>
            </a:fld>
            <a:endParaRPr lang="en-US" altLang="zh-CN"/>
          </a:p>
        </p:txBody>
      </p:sp>
    </p:spTree>
    <p:extLst>
      <p:ext uri="{BB962C8B-B14F-4D97-AF65-F5344CB8AC3E}">
        <p14:creationId xmlns:p14="http://schemas.microsoft.com/office/powerpoint/2010/main" val="28626440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83F74-27AB-EB02-70FC-D9E8C4ACBD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02A385-86E7-B58A-5AB8-50167498484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38BBE908-6B1A-685E-A6B8-BC33A3E04B4C}"/>
                  </a:ext>
                </a:extLst>
              </p:cNvPr>
              <p:cNvSpPr>
                <a:spLocks noGrp="1"/>
              </p:cNvSpPr>
              <p:nvPr>
                <p:ph type="body" idx="1"/>
              </p:nvPr>
            </p:nvSpPr>
            <p:spPr/>
            <p:txBody>
              <a:bodyPr/>
              <a:lstStyle/>
              <a:p>
                <a:pPr>
                  <a:lnSpc>
                    <a:spcPct val="150000"/>
                  </a:lnSpc>
                  <a:spcAft>
                    <a:spcPts val="0"/>
                  </a:spcAft>
                </a:pPr>
                <a:r>
                  <a:rPr lang="zh-CN" altLang="zh-CN" dirty="0">
                    <a:latin typeface="+mj-ea"/>
                    <a:ea typeface="+mj-ea"/>
                    <a:cs typeface="Euclid" panose="02020503060505020303" pitchFamily="18" charset="0"/>
                  </a:rPr>
                  <a:t>假设一个二分类模型</a:t>
                </a:r>
                <a:r>
                  <a:rPr lang="zh-CN" altLang="en-US" dirty="0">
                    <a:latin typeface="+mj-ea"/>
                    <a:ea typeface="+mj-ea"/>
                    <a:cs typeface="Euclid" panose="02020503060505020303" pitchFamily="18" charset="0"/>
                  </a:rPr>
                  <a:t>：</a:t>
                </a:r>
                <a:endParaRPr lang="zh-CN" altLang="zh-CN" dirty="0">
                  <a:latin typeface="+mj-ea"/>
                  <a:ea typeface="+mj-ea"/>
                  <a:cs typeface="Euclid" panose="02020503060505020303"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j-ea"/>
                          <a:cs typeface="Euclid" panose="02020503060505020303" pitchFamily="18" charset="0"/>
                        </a:rPr>
                        <m:t>𝑝</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𝑦</m:t>
                      </m:r>
                      <m:r>
                        <a:rPr lang="en-US" altLang="zh-CN" i="1">
                          <a:latin typeface="Cambria Math" panose="02040503050406030204" pitchFamily="18" charset="0"/>
                          <a:ea typeface="+mj-ea"/>
                          <a:cs typeface="Euclid" panose="02020503060505020303" pitchFamily="18" charset="0"/>
                        </a:rPr>
                        <m:t>=1|</m:t>
                      </m:r>
                      <m:r>
                        <a:rPr lang="en-US" altLang="zh-CN" i="1">
                          <a:latin typeface="Cambria Math" panose="02040503050406030204" pitchFamily="18" charset="0"/>
                          <a:ea typeface="+mj-ea"/>
                          <a:cs typeface="Euclid" panose="02020503060505020303" pitchFamily="18" charset="0"/>
                        </a:rPr>
                        <m:t>𝑥</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𝑤</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h</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𝑥</m:t>
                      </m:r>
                      <m:r>
                        <a:rPr lang="en-US" altLang="zh-CN" i="1">
                          <a:latin typeface="Cambria Math" panose="02040503050406030204" pitchFamily="18" charset="0"/>
                          <a:ea typeface="+mj-ea"/>
                          <a:cs typeface="Euclid" panose="02020503060505020303" pitchFamily="18" charset="0"/>
                        </a:rPr>
                        <m:t>)</m:t>
                      </m:r>
                    </m:oMath>
                  </m:oMathPara>
                </a14:m>
                <a:endParaRPr lang="zh-CN" altLang="zh-CN" dirty="0">
                  <a:latin typeface="+mj-ea"/>
                  <a:ea typeface="+mj-ea"/>
                  <a:cs typeface="Euclid" panose="02020503060505020303"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j-ea"/>
                          <a:cs typeface="Euclid" panose="02020503060505020303" pitchFamily="18" charset="0"/>
                        </a:rPr>
                        <m:t>𝑝</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𝑦</m:t>
                      </m:r>
                      <m:r>
                        <a:rPr lang="en-US" altLang="zh-CN" i="1">
                          <a:latin typeface="Cambria Math" panose="02040503050406030204" pitchFamily="18" charset="0"/>
                          <a:ea typeface="+mj-ea"/>
                          <a:cs typeface="Euclid" panose="02020503060505020303" pitchFamily="18" charset="0"/>
                        </a:rPr>
                        <m:t>=0|</m:t>
                      </m:r>
                      <m:r>
                        <a:rPr lang="en-US" altLang="zh-CN" i="1">
                          <a:latin typeface="Cambria Math" panose="02040503050406030204" pitchFamily="18" charset="0"/>
                          <a:ea typeface="+mj-ea"/>
                          <a:cs typeface="Euclid" panose="02020503060505020303" pitchFamily="18" charset="0"/>
                        </a:rPr>
                        <m:t>𝑥</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𝑤</m:t>
                      </m:r>
                      <m:r>
                        <a:rPr lang="en-US" altLang="zh-CN" i="1">
                          <a:latin typeface="Cambria Math" panose="02040503050406030204" pitchFamily="18" charset="0"/>
                          <a:ea typeface="+mj-ea"/>
                          <a:cs typeface="Euclid" panose="02020503060505020303" pitchFamily="18" charset="0"/>
                        </a:rPr>
                        <m:t>)=1−</m:t>
                      </m:r>
                      <m:r>
                        <a:rPr lang="en-US" altLang="zh-CN" i="1">
                          <a:latin typeface="Cambria Math" panose="02040503050406030204" pitchFamily="18" charset="0"/>
                          <a:ea typeface="+mj-ea"/>
                          <a:cs typeface="Euclid" panose="02020503060505020303" pitchFamily="18" charset="0"/>
                        </a:rPr>
                        <m:t>h</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𝑥</m:t>
                      </m:r>
                      <m:r>
                        <a:rPr lang="en-US" altLang="zh-CN" i="1">
                          <a:latin typeface="Cambria Math" panose="02040503050406030204" pitchFamily="18" charset="0"/>
                          <a:ea typeface="+mj-ea"/>
                          <a:cs typeface="Euclid" panose="02020503060505020303" pitchFamily="18" charset="0"/>
                        </a:rPr>
                        <m:t>)</m:t>
                      </m:r>
                    </m:oMath>
                  </m:oMathPara>
                </a14:m>
                <a:endParaRPr lang="zh-CN" altLang="zh-CN" dirty="0">
                  <a:latin typeface="+mj-ea"/>
                  <a:ea typeface="+mj-ea"/>
                  <a:cs typeface="Euclid" panose="02020503060505020303" pitchFamily="18" charset="0"/>
                </a:endParaRPr>
              </a:p>
              <a:p>
                <a:pPr>
                  <a:lnSpc>
                    <a:spcPct val="150000"/>
                  </a:lnSpc>
                  <a:spcAft>
                    <a:spcPts val="0"/>
                  </a:spcAft>
                </a:pPr>
                <a:r>
                  <a:rPr lang="en-US" altLang="zh-CN" dirty="0">
                    <a:latin typeface="+mj-ea"/>
                    <a:ea typeface="+mj-ea"/>
                    <a:cs typeface="Euclid" panose="02020503060505020303" pitchFamily="18" charset="0"/>
                  </a:rPr>
                  <a:t>则：</a:t>
                </a:r>
                <a:endParaRPr lang="zh-CN" altLang="zh-CN" dirty="0">
                  <a:latin typeface="+mj-ea"/>
                  <a:ea typeface="+mj-ea"/>
                  <a:cs typeface="Euclid" panose="02020503060505020303"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j-ea"/>
                          <a:cs typeface="Euclid" panose="02020503060505020303" pitchFamily="18" charset="0"/>
                        </a:rPr>
                        <m:t>𝑝</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𝑦</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𝑥</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𝑤</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h</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𝑥</m:t>
                      </m:r>
                      <m:r>
                        <a:rPr lang="en-US" altLang="zh-CN" i="1">
                          <a:latin typeface="Cambria Math" panose="02040503050406030204" pitchFamily="18" charset="0"/>
                          <a:ea typeface="+mj-ea"/>
                          <a:cs typeface="Euclid" panose="02020503060505020303" pitchFamily="18" charset="0"/>
                        </a:rPr>
                        <m:t>)</m:t>
                      </m:r>
                      <m:sSup>
                        <m:sSupPr>
                          <m:ctrlPr>
                            <a:rPr lang="zh-CN" altLang="zh-CN" i="1">
                              <a:latin typeface="Cambria Math" panose="02040503050406030204" pitchFamily="18" charset="0"/>
                              <a:ea typeface="+mj-ea"/>
                              <a:cs typeface="Euclid" panose="02020503060505020303" pitchFamily="18" charset="0"/>
                            </a:rPr>
                          </m:ctrlPr>
                        </m:sSupPr>
                        <m:e>
                          <m:r>
                            <a:rPr lang="en-US" altLang="zh-CN" i="1">
                              <a:latin typeface="Cambria Math" panose="02040503050406030204" pitchFamily="18" charset="0"/>
                              <a:ea typeface="+mj-ea"/>
                              <a:cs typeface="Euclid" panose="02020503060505020303" pitchFamily="18" charset="0"/>
                            </a:rPr>
                            <m:t>)</m:t>
                          </m:r>
                        </m:e>
                        <m:sup>
                          <m:r>
                            <a:rPr lang="en-US" altLang="zh-CN" i="1">
                              <a:latin typeface="Cambria Math" panose="02040503050406030204" pitchFamily="18" charset="0"/>
                              <a:ea typeface="+mj-ea"/>
                              <a:cs typeface="Euclid" panose="02020503060505020303" pitchFamily="18" charset="0"/>
                            </a:rPr>
                            <m:t>𝑦</m:t>
                          </m:r>
                        </m:sup>
                      </m:sSup>
                      <m:r>
                        <a:rPr lang="en-US" altLang="zh-CN" i="1">
                          <a:latin typeface="Cambria Math" panose="02040503050406030204" pitchFamily="18" charset="0"/>
                          <a:ea typeface="+mj-ea"/>
                          <a:cs typeface="Euclid" panose="02020503060505020303" pitchFamily="18" charset="0"/>
                        </a:rPr>
                        <m:t>(1−</m:t>
                      </m:r>
                      <m:r>
                        <a:rPr lang="en-US" altLang="zh-CN" i="1">
                          <a:latin typeface="Cambria Math" panose="02040503050406030204" pitchFamily="18" charset="0"/>
                          <a:ea typeface="+mj-ea"/>
                          <a:cs typeface="Euclid" panose="02020503060505020303" pitchFamily="18" charset="0"/>
                        </a:rPr>
                        <m:t>h</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𝑥</m:t>
                      </m:r>
                      <m:r>
                        <a:rPr lang="en-US" altLang="zh-CN" i="1">
                          <a:latin typeface="Cambria Math" panose="02040503050406030204" pitchFamily="18" charset="0"/>
                          <a:ea typeface="+mj-ea"/>
                          <a:cs typeface="Euclid" panose="02020503060505020303" pitchFamily="18" charset="0"/>
                        </a:rPr>
                        <m:t>)</m:t>
                      </m:r>
                      <m:sSup>
                        <m:sSupPr>
                          <m:ctrlPr>
                            <a:rPr lang="zh-CN" altLang="zh-CN" i="1">
                              <a:latin typeface="Cambria Math" panose="02040503050406030204" pitchFamily="18" charset="0"/>
                              <a:ea typeface="+mj-ea"/>
                              <a:cs typeface="Euclid" panose="02020503060505020303" pitchFamily="18" charset="0"/>
                            </a:rPr>
                          </m:ctrlPr>
                        </m:sSupPr>
                        <m:e>
                          <m:r>
                            <a:rPr lang="en-US" altLang="zh-CN" i="1">
                              <a:latin typeface="Cambria Math" panose="02040503050406030204" pitchFamily="18" charset="0"/>
                              <a:ea typeface="+mj-ea"/>
                              <a:cs typeface="Euclid" panose="02020503060505020303" pitchFamily="18" charset="0"/>
                            </a:rPr>
                            <m:t>)</m:t>
                          </m:r>
                        </m:e>
                        <m:sup>
                          <m:r>
                            <a:rPr lang="en-US" altLang="zh-CN" i="1">
                              <a:latin typeface="Cambria Math" panose="02040503050406030204" pitchFamily="18" charset="0"/>
                              <a:ea typeface="+mj-ea"/>
                              <a:cs typeface="Euclid" panose="02020503060505020303" pitchFamily="18" charset="0"/>
                            </a:rPr>
                            <m:t>1−</m:t>
                          </m:r>
                          <m:r>
                            <a:rPr lang="en-US" altLang="zh-CN" i="1">
                              <a:latin typeface="Cambria Math" panose="02040503050406030204" pitchFamily="18" charset="0"/>
                              <a:ea typeface="+mj-ea"/>
                              <a:cs typeface="Euclid" panose="02020503060505020303" pitchFamily="18" charset="0"/>
                            </a:rPr>
                            <m:t>𝑦</m:t>
                          </m:r>
                        </m:sup>
                      </m:sSup>
                    </m:oMath>
                  </m:oMathPara>
                </a14:m>
                <a:endParaRPr lang="zh-CN"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逻辑回归模型的假设是： </a:t>
                </a:r>
                <a14:m>
                  <m:oMath xmlns:m="http://schemas.openxmlformats.org/officeDocument/2006/math">
                    <m:r>
                      <a:rPr lang="en-US" altLang="zh-CN" i="1">
                        <a:latin typeface="Cambria Math" panose="02040503050406030204" pitchFamily="18" charset="0"/>
                        <a:ea typeface="+mj-ea"/>
                        <a:cs typeface="Euclid" panose="02020503060505020303" pitchFamily="18" charset="0"/>
                      </a:rPr>
                      <m:t>h</m:t>
                    </m:r>
                    <m:d>
                      <m:dPr>
                        <m:ctrlPr>
                          <a:rPr lang="zh-CN" altLang="zh-CN" i="1">
                            <a:latin typeface="Cambria Math" panose="02040503050406030204" pitchFamily="18" charset="0"/>
                            <a:ea typeface="+mj-ea"/>
                            <a:cs typeface="Euclid" panose="02020503060505020303" pitchFamily="18" charset="0"/>
                          </a:rPr>
                        </m:ctrlPr>
                      </m:dPr>
                      <m:e>
                        <m:r>
                          <a:rPr lang="en-US" altLang="zh-CN" i="1">
                            <a:latin typeface="Cambria Math" panose="02040503050406030204" pitchFamily="18" charset="0"/>
                            <a:ea typeface="+mj-ea"/>
                            <a:cs typeface="Euclid" panose="02020503060505020303" pitchFamily="18" charset="0"/>
                          </a:rPr>
                          <m:t>𝑥</m:t>
                        </m:r>
                      </m:e>
                    </m:d>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𝑔</m:t>
                    </m:r>
                    <m:d>
                      <m:dPr>
                        <m:ctrlPr>
                          <a:rPr lang="zh-CN" altLang="zh-CN" i="1">
                            <a:latin typeface="Cambria Math" panose="02040503050406030204" pitchFamily="18" charset="0"/>
                            <a:ea typeface="+mj-ea"/>
                            <a:cs typeface="Euclid" panose="02020503060505020303" pitchFamily="18" charset="0"/>
                          </a:rPr>
                        </m:ctrlPr>
                      </m:dPr>
                      <m:e>
                        <m:sSup>
                          <m:sSupPr>
                            <m:ctrlPr>
                              <a:rPr lang="zh-CN" altLang="zh-CN" i="1">
                                <a:latin typeface="Cambria Math" panose="02040503050406030204" pitchFamily="18" charset="0"/>
                                <a:ea typeface="+mj-ea"/>
                                <a:cs typeface="Euclid" panose="02020503060505020303" pitchFamily="18" charset="0"/>
                              </a:rPr>
                            </m:ctrlPr>
                          </m:sSupPr>
                          <m:e>
                            <m:r>
                              <a:rPr lang="en-US" altLang="zh-CN" i="1">
                                <a:latin typeface="Cambria Math" panose="02040503050406030204" pitchFamily="18" charset="0"/>
                                <a:ea typeface="+mj-ea"/>
                                <a:cs typeface="Euclid" panose="02020503060505020303" pitchFamily="18" charset="0"/>
                              </a:rPr>
                              <m:t>𝑤</m:t>
                            </m:r>
                          </m:e>
                          <m:sup>
                            <m:r>
                              <m:rPr>
                                <m:sty m:val="p"/>
                              </m:rPr>
                              <a:rPr lang="en-US" altLang="zh-CN" i="0">
                                <a:latin typeface="Cambria Math" panose="02040503050406030204" pitchFamily="18" charset="0"/>
                                <a:ea typeface="+mj-ea"/>
                                <a:cs typeface="Euclid" panose="02020503060505020303" pitchFamily="18" charset="0"/>
                              </a:rPr>
                              <m:t>T</m:t>
                            </m:r>
                          </m:sup>
                        </m:sSup>
                        <m:r>
                          <a:rPr lang="en-US" altLang="zh-CN" i="1">
                            <a:latin typeface="Cambria Math" panose="02040503050406030204" pitchFamily="18" charset="0"/>
                            <a:ea typeface="+mj-ea"/>
                            <a:cs typeface="Euclid" panose="02020503060505020303" pitchFamily="18" charset="0"/>
                          </a:rPr>
                          <m:t>𝑥</m:t>
                        </m:r>
                      </m:e>
                    </m:d>
                    <m:r>
                      <a:rPr lang="en-US" altLang="zh-CN" b="0" i="1" smtClean="0">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cs typeface="Euclid" panose="02020503060505020303" pitchFamily="18" charset="0"/>
                      </a:rPr>
                      <m:t>𝑔</m:t>
                    </m:r>
                    <m:d>
                      <m:dPr>
                        <m:ctrlPr>
                          <a:rPr lang="zh-CN" altLang="zh-CN" i="1">
                            <a:latin typeface="Cambria Math" panose="02040503050406030204" pitchFamily="18" charset="0"/>
                            <a:cs typeface="Euclid" panose="02020503060505020303" pitchFamily="18" charset="0"/>
                          </a:rPr>
                        </m:ctrlPr>
                      </m:dPr>
                      <m:e>
                        <m:r>
                          <a:rPr lang="en-US" altLang="zh-CN" b="0" i="1" smtClean="0">
                            <a:latin typeface="Cambria Math" panose="02040503050406030204" pitchFamily="18" charset="0"/>
                            <a:cs typeface="Euclid" panose="02020503060505020303" pitchFamily="18" charset="0"/>
                          </a:rPr>
                          <m:t>𝑧</m:t>
                        </m:r>
                      </m:e>
                    </m:d>
                  </m:oMath>
                </a14:m>
                <a:endParaRPr lang="zh-CN" altLang="zh-CN" dirty="0">
                  <a:latin typeface="+mj-ea"/>
                  <a:ea typeface="+mj-ea"/>
                  <a:cs typeface="Euclid" panose="02020503060505020303" pitchFamily="18" charset="0"/>
                </a:endParaRPr>
              </a:p>
              <a:p>
                <a:pPr>
                  <a:lnSpc>
                    <a:spcPct val="150000"/>
                  </a:lnSpc>
                  <a:spcAft>
                    <a:spcPts val="0"/>
                  </a:spcAft>
                </a:pPr>
                <a:r>
                  <a:rPr lang="zh-CN" altLang="en-US" dirty="0">
                    <a:latin typeface="+mj-ea"/>
                    <a:ea typeface="+mj-ea"/>
                    <a:cs typeface="Euclid" panose="02020503060505020303" pitchFamily="18" charset="0"/>
                  </a:rPr>
                  <a:t>其中</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𝑧</m:t>
                    </m:r>
                    <m:r>
                      <a:rPr lang="en-US" altLang="zh-CN" i="1">
                        <a:latin typeface="Cambria Math" panose="02040503050406030204" pitchFamily="18" charset="0"/>
                        <a:ea typeface="+mj-ea"/>
                        <a:cs typeface="Euclid" panose="02020503060505020303" pitchFamily="18" charset="0"/>
                      </a:rPr>
                      <m:t>=</m:t>
                    </m:r>
                    <m:sSup>
                      <m:sSupPr>
                        <m:ctrlPr>
                          <a:rPr lang="zh-CN" altLang="zh-CN" i="1">
                            <a:latin typeface="Cambria Math" panose="02040503050406030204" pitchFamily="18" charset="0"/>
                            <a:cs typeface="Euclid" panose="02020503060505020303" pitchFamily="18" charset="0"/>
                          </a:rPr>
                        </m:ctrlPr>
                      </m:sSupPr>
                      <m:e>
                        <m:r>
                          <a:rPr lang="en-US" altLang="zh-CN" i="1">
                            <a:latin typeface="Cambria Math" panose="02040503050406030204" pitchFamily="18" charset="0"/>
                            <a:cs typeface="Euclid" panose="02020503060505020303" pitchFamily="18" charset="0"/>
                          </a:rPr>
                          <m:t>𝑤</m:t>
                        </m:r>
                      </m:e>
                      <m:sup>
                        <m:r>
                          <m:rPr>
                            <m:sty m:val="p"/>
                          </m:rPr>
                          <a:rPr lang="en-US" altLang="zh-CN">
                            <a:latin typeface="Cambria Math" panose="02040503050406030204" pitchFamily="18" charset="0"/>
                            <a:cs typeface="Euclid" panose="02020503060505020303" pitchFamily="18" charset="0"/>
                          </a:rPr>
                          <m:t>T</m:t>
                        </m:r>
                      </m:sup>
                    </m:sSup>
                    <m:r>
                      <a:rPr lang="en-US" altLang="zh-CN" i="1">
                        <a:latin typeface="Cambria Math" panose="02040503050406030204" pitchFamily="18" charset="0"/>
                        <a:ea typeface="+mj-ea"/>
                        <a:cs typeface="Euclid" panose="02020503060505020303" pitchFamily="18" charset="0"/>
                      </a:rPr>
                      <m:t>𝑥</m:t>
                    </m:r>
                  </m:oMath>
                </a14:m>
                <a:r>
                  <a:rPr lang="en-US" altLang="zh-CN" sz="800" kern="1200" dirty="0">
                    <a:solidFill>
                      <a:schemeClr val="tx1"/>
                    </a:solidFill>
                    <a:latin typeface="+mj-ea"/>
                    <a:ea typeface="+mn-ea"/>
                    <a:cs typeface="Euclid" panose="02020503060505020303" pitchFamily="18" charset="0"/>
                  </a:rPr>
                  <a:t>，</a:t>
                </a:r>
                <a:r>
                  <a:rPr lang="zh-CN" altLang="zh-CN" sz="800" kern="100" dirty="0">
                    <a:solidFill>
                      <a:schemeClr val="tx1"/>
                    </a:solidFill>
                    <a:latin typeface="+mj-ea"/>
                    <a:ea typeface="+mn-ea"/>
                    <a:cs typeface="Times New Roman" panose="02020603050405020304" pitchFamily="18" charset="0"/>
                  </a:rPr>
                  <a:t>逻辑函数（</a:t>
                </a:r>
                <a:r>
                  <a:rPr lang="en-US" altLang="zh-CN" sz="800" b="1" kern="100" dirty="0">
                    <a:solidFill>
                      <a:schemeClr val="tx1"/>
                    </a:solidFill>
                    <a:latin typeface="+mj-ea"/>
                    <a:ea typeface="+mn-ea"/>
                    <a:cs typeface="Times New Roman" panose="02020603050405020304" pitchFamily="18" charset="0"/>
                  </a:rPr>
                  <a:t>logistic function</a:t>
                </a:r>
                <a:r>
                  <a:rPr lang="en-US" altLang="zh-CN" sz="800" kern="100" dirty="0">
                    <a:solidFill>
                      <a:schemeClr val="tx1"/>
                    </a:solidFill>
                    <a:latin typeface="+mj-ea"/>
                    <a:ea typeface="+mn-ea"/>
                    <a:cs typeface="Times New Roman" panose="02020603050405020304" pitchFamily="18" charset="0"/>
                  </a:rPr>
                  <a:t>)</a:t>
                </a:r>
                <a:r>
                  <a:rPr lang="en-US" altLang="zh-CN" sz="800" kern="1200" dirty="0" err="1">
                    <a:solidFill>
                      <a:schemeClr val="tx1"/>
                    </a:solidFill>
                    <a:latin typeface="+mj-ea"/>
                    <a:ea typeface="+mn-ea"/>
                    <a:cs typeface="Euclid" panose="02020503060505020303" pitchFamily="18" charset="0"/>
                  </a:rPr>
                  <a:t>公式为</a:t>
                </a:r>
                <a:r>
                  <a:rPr lang="en-US" altLang="zh-CN" sz="800" kern="1200" dirty="0">
                    <a:solidFill>
                      <a:schemeClr val="tx1"/>
                    </a:solidFill>
                    <a:latin typeface="+mj-ea"/>
                    <a:ea typeface="+mn-ea"/>
                    <a:cs typeface="Euclid" panose="02020503060505020303" pitchFamily="18" charset="0"/>
                  </a:rPr>
                  <a:t>：</a:t>
                </a:r>
              </a:p>
              <a:p>
                <a:pPr>
                  <a:lnSpc>
                    <a:spcPct val="150000"/>
                  </a:lnSpc>
                  <a:spcAft>
                    <a:spcPts val="0"/>
                  </a:spcAft>
                </a:pPr>
                <a:r>
                  <a:rPr lang="en-US" altLang="zh-CN" sz="800" kern="1200" dirty="0">
                    <a:solidFill>
                      <a:schemeClr val="tx1"/>
                    </a:solidFill>
                    <a:latin typeface="+mj-ea"/>
                    <a:ea typeface="+mn-ea"/>
                    <a:cs typeface="Euclid" panose="02020503060505020303" pitchFamily="18" charset="0"/>
                  </a:rPr>
                  <a:t> </a:t>
                </a:r>
                <a14:m>
                  <m:oMath xmlns:m="http://schemas.openxmlformats.org/officeDocument/2006/math">
                    <m:r>
                      <a:rPr lang="en-US" altLang="zh-CN" sz="800" i="1" kern="1200">
                        <a:solidFill>
                          <a:schemeClr val="tx1"/>
                        </a:solidFill>
                        <a:latin typeface="Cambria Math" panose="02040503050406030204" pitchFamily="18" charset="0"/>
                        <a:ea typeface="+mn-ea"/>
                        <a:cs typeface="Euclid" panose="02020503060505020303" pitchFamily="18" charset="0"/>
                      </a:rPr>
                      <m:t>𝑔</m:t>
                    </m:r>
                    <m:d>
                      <m:dPr>
                        <m:ctrlPr>
                          <a:rPr lang="zh-CN" altLang="zh-CN" sz="800" i="1" kern="1200">
                            <a:solidFill>
                              <a:schemeClr val="tx1"/>
                            </a:solidFill>
                            <a:latin typeface="Cambria Math" panose="02040503050406030204" pitchFamily="18" charset="0"/>
                            <a:ea typeface="+mn-ea"/>
                            <a:cs typeface="Euclid" panose="02020503060505020303" pitchFamily="18" charset="0"/>
                          </a:rPr>
                        </m:ctrlPr>
                      </m:dPr>
                      <m:e>
                        <m:r>
                          <a:rPr lang="en-US" altLang="zh-CN" sz="800" i="1" kern="1200">
                            <a:solidFill>
                              <a:schemeClr val="tx1"/>
                            </a:solidFill>
                            <a:latin typeface="Cambria Math" panose="02040503050406030204" pitchFamily="18" charset="0"/>
                            <a:ea typeface="+mn-ea"/>
                            <a:cs typeface="Euclid" panose="02020503060505020303" pitchFamily="18" charset="0"/>
                          </a:rPr>
                          <m:t>𝑧</m:t>
                        </m:r>
                      </m:e>
                    </m:d>
                    <m:r>
                      <a:rPr lang="en-US" altLang="zh-CN" sz="800" i="1" kern="1200">
                        <a:solidFill>
                          <a:schemeClr val="tx1"/>
                        </a:solidFill>
                        <a:latin typeface="Cambria Math" panose="02040503050406030204" pitchFamily="18" charset="0"/>
                        <a:ea typeface="+mn-ea"/>
                        <a:cs typeface="Euclid" panose="02020503060505020303" pitchFamily="18" charset="0"/>
                      </a:rPr>
                      <m:t>=</m:t>
                    </m:r>
                    <m:f>
                      <m:fPr>
                        <m:ctrlPr>
                          <a:rPr lang="zh-CN" altLang="zh-CN" sz="800" i="1" kern="1200">
                            <a:solidFill>
                              <a:schemeClr val="tx1"/>
                            </a:solidFill>
                            <a:latin typeface="Cambria Math" panose="02040503050406030204" pitchFamily="18" charset="0"/>
                            <a:ea typeface="+mn-ea"/>
                            <a:cs typeface="Euclid" panose="02020503060505020303" pitchFamily="18" charset="0"/>
                          </a:rPr>
                        </m:ctrlPr>
                      </m:fPr>
                      <m:num>
                        <m:r>
                          <a:rPr lang="en-US" altLang="zh-CN" sz="800" i="1" kern="1200">
                            <a:solidFill>
                              <a:schemeClr val="tx1"/>
                            </a:solidFill>
                            <a:latin typeface="Cambria Math" panose="02040503050406030204" pitchFamily="18" charset="0"/>
                            <a:ea typeface="+mn-ea"/>
                            <a:cs typeface="Euclid" panose="02020503060505020303" pitchFamily="18" charset="0"/>
                          </a:rPr>
                          <m:t>1</m:t>
                        </m:r>
                      </m:num>
                      <m:den>
                        <m:r>
                          <a:rPr lang="en-US" altLang="zh-CN" sz="800" i="1" kern="1200">
                            <a:solidFill>
                              <a:schemeClr val="tx1"/>
                            </a:solidFill>
                            <a:latin typeface="Cambria Math" panose="02040503050406030204" pitchFamily="18" charset="0"/>
                            <a:ea typeface="+mn-ea"/>
                            <a:cs typeface="Euclid" panose="02020503060505020303" pitchFamily="18" charset="0"/>
                          </a:rPr>
                          <m:t>1+</m:t>
                        </m:r>
                        <m:sSup>
                          <m:sSupPr>
                            <m:ctrlPr>
                              <a:rPr lang="zh-CN" altLang="zh-CN" sz="800" i="1" kern="1200">
                                <a:solidFill>
                                  <a:schemeClr val="tx1"/>
                                </a:solidFill>
                                <a:latin typeface="Cambria Math" panose="02040503050406030204" pitchFamily="18" charset="0"/>
                                <a:ea typeface="+mn-ea"/>
                                <a:cs typeface="Euclid" panose="02020503060505020303" pitchFamily="18" charset="0"/>
                              </a:rPr>
                            </m:ctrlPr>
                          </m:sSupPr>
                          <m:e>
                            <m:r>
                              <a:rPr lang="en-US" altLang="zh-CN" sz="800" i="1" kern="1200">
                                <a:solidFill>
                                  <a:schemeClr val="tx1"/>
                                </a:solidFill>
                                <a:latin typeface="Cambria Math" panose="02040503050406030204" pitchFamily="18" charset="0"/>
                                <a:ea typeface="+mn-ea"/>
                                <a:cs typeface="Euclid" panose="02020503060505020303" pitchFamily="18" charset="0"/>
                              </a:rPr>
                              <m:t>𝑒</m:t>
                            </m:r>
                          </m:e>
                          <m:sup>
                            <m:r>
                              <a:rPr lang="en-US" altLang="zh-CN" sz="800" i="1" kern="1200">
                                <a:solidFill>
                                  <a:schemeClr val="tx1"/>
                                </a:solidFill>
                                <a:latin typeface="Cambria Math" panose="02040503050406030204" pitchFamily="18" charset="0"/>
                                <a:ea typeface="+mn-ea"/>
                                <a:cs typeface="Euclid" panose="02020503060505020303" pitchFamily="18" charset="0"/>
                              </a:rPr>
                              <m:t>−</m:t>
                            </m:r>
                            <m:r>
                              <a:rPr lang="en-US" altLang="zh-CN" sz="800" i="1" kern="1200">
                                <a:solidFill>
                                  <a:schemeClr val="tx1"/>
                                </a:solidFill>
                                <a:latin typeface="Cambria Math" panose="02040503050406030204" pitchFamily="18" charset="0"/>
                                <a:ea typeface="+mn-ea"/>
                                <a:cs typeface="Euclid" panose="02020503060505020303" pitchFamily="18" charset="0"/>
                              </a:rPr>
                              <m:t>𝑧</m:t>
                            </m:r>
                          </m:sup>
                        </m:sSup>
                      </m:den>
                    </m:f>
                  </m:oMath>
                </a14:m>
                <a:r>
                  <a:rPr lang="zh-CN" altLang="en-US" sz="800" kern="1200" dirty="0">
                    <a:solidFill>
                      <a:schemeClr val="tx1"/>
                    </a:solidFill>
                    <a:latin typeface="+mj-ea"/>
                    <a:ea typeface="+mn-ea"/>
                    <a:cs typeface="Euclid" panose="02020503060505020303" pitchFamily="18" charset="0"/>
                  </a:rPr>
                  <a:t>，</a:t>
                </a:r>
                <a14:m>
                  <m:oMath xmlns:m="http://schemas.openxmlformats.org/officeDocument/2006/math">
                    <m:r>
                      <a:rPr lang="en-US" altLang="zh-CN" sz="800" i="1" kern="1200">
                        <a:solidFill>
                          <a:schemeClr val="tx1"/>
                        </a:solidFill>
                        <a:latin typeface="Cambria Math" panose="02040503050406030204" pitchFamily="18" charset="0"/>
                        <a:ea typeface="+mn-ea"/>
                        <a:cs typeface="Euclid" panose="02020503060505020303" pitchFamily="18" charset="0"/>
                      </a:rPr>
                      <m:t>𝑔</m:t>
                    </m:r>
                    <m:r>
                      <a:rPr lang="en-US" altLang="zh-CN" sz="800" i="1" kern="1200">
                        <a:solidFill>
                          <a:schemeClr val="tx1"/>
                        </a:solidFill>
                        <a:latin typeface="Cambria Math" panose="02040503050406030204" pitchFamily="18" charset="0"/>
                        <a:ea typeface="+mn-ea"/>
                        <a:cs typeface="Euclid" panose="02020503060505020303" pitchFamily="18" charset="0"/>
                      </a:rPr>
                      <m:t>′(</m:t>
                    </m:r>
                    <m:r>
                      <a:rPr lang="en-US" altLang="zh-CN" sz="800" i="1" kern="1200">
                        <a:solidFill>
                          <a:schemeClr val="tx1"/>
                        </a:solidFill>
                        <a:latin typeface="Cambria Math" panose="02040503050406030204" pitchFamily="18" charset="0"/>
                        <a:ea typeface="+mn-ea"/>
                        <a:cs typeface="Euclid" panose="02020503060505020303" pitchFamily="18" charset="0"/>
                      </a:rPr>
                      <m:t>𝑧</m:t>
                    </m:r>
                    <m:r>
                      <a:rPr lang="en-US" altLang="zh-CN" sz="800" i="1" kern="1200">
                        <a:solidFill>
                          <a:schemeClr val="tx1"/>
                        </a:solidFill>
                        <a:latin typeface="Cambria Math" panose="02040503050406030204" pitchFamily="18" charset="0"/>
                        <a:ea typeface="+mn-ea"/>
                        <a:cs typeface="Euclid" panose="02020503060505020303" pitchFamily="18" charset="0"/>
                      </a:rPr>
                      <m:t>)=</m:t>
                    </m:r>
                    <m:r>
                      <a:rPr lang="en-US" altLang="zh-CN" sz="800" i="1" kern="1200">
                        <a:solidFill>
                          <a:schemeClr val="tx1"/>
                        </a:solidFill>
                        <a:latin typeface="Cambria Math" panose="02040503050406030204" pitchFamily="18" charset="0"/>
                        <a:ea typeface="+mn-ea"/>
                        <a:cs typeface="Euclid" panose="02020503060505020303" pitchFamily="18" charset="0"/>
                      </a:rPr>
                      <m:t>𝑔</m:t>
                    </m:r>
                    <m:r>
                      <a:rPr lang="en-US" altLang="zh-CN" sz="800" i="1" kern="1200">
                        <a:solidFill>
                          <a:schemeClr val="tx1"/>
                        </a:solidFill>
                        <a:latin typeface="Cambria Math" panose="02040503050406030204" pitchFamily="18" charset="0"/>
                        <a:ea typeface="+mn-ea"/>
                        <a:cs typeface="Euclid" panose="02020503060505020303" pitchFamily="18" charset="0"/>
                      </a:rPr>
                      <m:t>(</m:t>
                    </m:r>
                    <m:r>
                      <a:rPr lang="en-US" altLang="zh-CN" sz="800" i="1" kern="1200">
                        <a:solidFill>
                          <a:schemeClr val="tx1"/>
                        </a:solidFill>
                        <a:latin typeface="Cambria Math" panose="02040503050406030204" pitchFamily="18" charset="0"/>
                        <a:ea typeface="+mn-ea"/>
                        <a:cs typeface="Euclid" panose="02020503060505020303" pitchFamily="18" charset="0"/>
                      </a:rPr>
                      <m:t>𝑧</m:t>
                    </m:r>
                    <m:r>
                      <a:rPr lang="en-US" altLang="zh-CN" sz="800" i="1" kern="1200">
                        <a:solidFill>
                          <a:schemeClr val="tx1"/>
                        </a:solidFill>
                        <a:latin typeface="Cambria Math" panose="02040503050406030204" pitchFamily="18" charset="0"/>
                        <a:ea typeface="+mn-ea"/>
                        <a:cs typeface="Euclid" panose="02020503060505020303" pitchFamily="18" charset="0"/>
                      </a:rPr>
                      <m:t>)(1−</m:t>
                    </m:r>
                    <m:r>
                      <a:rPr lang="en-US" altLang="zh-CN" sz="800" i="1" kern="1200">
                        <a:solidFill>
                          <a:schemeClr val="tx1"/>
                        </a:solidFill>
                        <a:latin typeface="Cambria Math" panose="02040503050406030204" pitchFamily="18" charset="0"/>
                        <a:ea typeface="+mn-ea"/>
                        <a:cs typeface="Euclid" panose="02020503060505020303" pitchFamily="18" charset="0"/>
                      </a:rPr>
                      <m:t>𝑔</m:t>
                    </m:r>
                    <m:r>
                      <a:rPr lang="en-US" altLang="zh-CN" sz="800" i="1" kern="1200">
                        <a:solidFill>
                          <a:schemeClr val="tx1"/>
                        </a:solidFill>
                        <a:latin typeface="Cambria Math" panose="02040503050406030204" pitchFamily="18" charset="0"/>
                        <a:ea typeface="+mn-ea"/>
                        <a:cs typeface="Euclid" panose="02020503060505020303" pitchFamily="18" charset="0"/>
                      </a:rPr>
                      <m:t>(</m:t>
                    </m:r>
                    <m:r>
                      <a:rPr lang="en-US" altLang="zh-CN" sz="800" i="1" kern="1200">
                        <a:solidFill>
                          <a:schemeClr val="tx1"/>
                        </a:solidFill>
                        <a:latin typeface="Cambria Math" panose="02040503050406030204" pitchFamily="18" charset="0"/>
                        <a:ea typeface="+mn-ea"/>
                        <a:cs typeface="Euclid" panose="02020503060505020303" pitchFamily="18" charset="0"/>
                      </a:rPr>
                      <m:t>𝑧</m:t>
                    </m:r>
                    <m:r>
                      <a:rPr lang="en-US" altLang="zh-CN" sz="800" i="1" kern="1200">
                        <a:solidFill>
                          <a:schemeClr val="tx1"/>
                        </a:solidFill>
                        <a:latin typeface="Cambria Math" panose="02040503050406030204" pitchFamily="18" charset="0"/>
                        <a:ea typeface="+mn-ea"/>
                        <a:cs typeface="Euclid" panose="02020503060505020303" pitchFamily="18" charset="0"/>
                      </a:rPr>
                      <m:t>))</m:t>
                    </m:r>
                  </m:oMath>
                </a14:m>
                <a:endParaRPr lang="zh-CN" altLang="zh-CN" sz="800" kern="1200" dirty="0">
                  <a:solidFill>
                    <a:schemeClr val="tx1"/>
                  </a:solidFill>
                  <a:latin typeface="+mj-ea"/>
                  <a:ea typeface="+mn-ea"/>
                  <a:cs typeface="Euclid" panose="02020503060505020303" pitchFamily="18" charset="0"/>
                </a:endParaRPr>
              </a:p>
              <a:p>
                <a:pPr>
                  <a:lnSpc>
                    <a:spcPct val="150000"/>
                  </a:lnSpc>
                  <a:spcAft>
                    <a:spcPts val="0"/>
                  </a:spcAft>
                </a:pPr>
                <a:endParaRPr lang="zh-CN" altLang="zh-CN" dirty="0">
                  <a:latin typeface="+mj-ea"/>
                  <a:ea typeface="+mj-ea"/>
                  <a:cs typeface="Euclid" panose="02020503060505020303" pitchFamily="18" charset="0"/>
                </a:endParaRPr>
              </a:p>
              <a:p>
                <a:endParaRPr lang="zh-CN" altLang="en-US" dirty="0"/>
              </a:p>
            </p:txBody>
          </p:sp>
        </mc:Choice>
        <mc:Fallback xmlns="">
          <p:sp>
            <p:nvSpPr>
              <p:cNvPr id="3" name="备注占位符 2">
                <a:extLst>
                  <a:ext uri="{FF2B5EF4-FFF2-40B4-BE49-F238E27FC236}">
                    <a16:creationId xmlns:a16="http://schemas.microsoft.com/office/drawing/2014/main" id="{38BBE908-6B1A-685E-A6B8-BC33A3E04B4C}"/>
                  </a:ext>
                </a:extLst>
              </p:cNvPr>
              <p:cNvSpPr>
                <a:spLocks noGrp="1"/>
              </p:cNvSpPr>
              <p:nvPr>
                <p:ph type="body" idx="1"/>
              </p:nvPr>
            </p:nvSpPr>
            <p:spPr/>
            <p:txBody>
              <a:bodyPr/>
              <a:lstStyle/>
              <a:p>
                <a:pPr>
                  <a:lnSpc>
                    <a:spcPct val="150000"/>
                  </a:lnSpc>
                  <a:spcAft>
                    <a:spcPts val="0"/>
                  </a:spcAft>
                </a:pPr>
                <a:r>
                  <a:rPr lang="zh-CN" altLang="zh-CN" dirty="0">
                    <a:latin typeface="+mj-ea"/>
                    <a:ea typeface="+mj-ea"/>
                    <a:cs typeface="Euclid" panose="02020503060505020303" pitchFamily="18" charset="0"/>
                  </a:rPr>
                  <a:t>假设一个二分类模型</a:t>
                </a:r>
                <a:r>
                  <a:rPr lang="zh-CN" altLang="en-US" dirty="0">
                    <a:latin typeface="+mj-ea"/>
                    <a:ea typeface="+mj-ea"/>
                    <a:cs typeface="Euclid" panose="02020503060505020303" pitchFamily="18" charset="0"/>
                  </a:rPr>
                  <a:t>：</a:t>
                </a:r>
                <a:endParaRPr lang="zh-CN" altLang="zh-CN" dirty="0">
                  <a:latin typeface="+mj-ea"/>
                  <a:ea typeface="+mj-ea"/>
                  <a:cs typeface="Euclid" panose="02020503060505020303" pitchFamily="18" charset="0"/>
                </a:endParaRPr>
              </a:p>
              <a:p>
                <a:pPr>
                  <a:lnSpc>
                    <a:spcPct val="150000"/>
                  </a:lnSpc>
                  <a:spcAft>
                    <a:spcPts val="0"/>
                  </a:spcAft>
                </a:pPr>
                <a:r>
                  <a:rPr lang="en-US" altLang="zh-CN" i="0">
                    <a:latin typeface="Cambria Math" panose="02040503050406030204" pitchFamily="18" charset="0"/>
                    <a:ea typeface="+mj-ea"/>
                    <a:cs typeface="Euclid" panose="02020503060505020303" pitchFamily="18" charset="0"/>
                  </a:rPr>
                  <a:t>𝑝(𝑦=1|𝑥;𝑤)=ℎ(𝑥)</a:t>
                </a:r>
                <a:endParaRPr lang="zh-CN" altLang="zh-CN" dirty="0">
                  <a:latin typeface="+mj-ea"/>
                  <a:ea typeface="+mj-ea"/>
                  <a:cs typeface="Euclid" panose="02020503060505020303" pitchFamily="18" charset="0"/>
                </a:endParaRPr>
              </a:p>
              <a:p>
                <a:pPr>
                  <a:lnSpc>
                    <a:spcPct val="150000"/>
                  </a:lnSpc>
                  <a:spcAft>
                    <a:spcPts val="0"/>
                  </a:spcAft>
                </a:pPr>
                <a:r>
                  <a:rPr lang="en-US" altLang="zh-CN" i="0">
                    <a:latin typeface="Cambria Math" panose="02040503050406030204" pitchFamily="18" charset="0"/>
                    <a:ea typeface="+mj-ea"/>
                    <a:cs typeface="Euclid" panose="02020503060505020303" pitchFamily="18" charset="0"/>
                  </a:rPr>
                  <a:t>𝑝(𝑦=0|𝑥;𝑤)=1−ℎ(𝑥)</a:t>
                </a:r>
                <a:endParaRPr lang="zh-CN" altLang="zh-CN" dirty="0">
                  <a:latin typeface="+mj-ea"/>
                  <a:ea typeface="+mj-ea"/>
                  <a:cs typeface="Euclid" panose="02020503060505020303" pitchFamily="18" charset="0"/>
                </a:endParaRPr>
              </a:p>
              <a:p>
                <a:pPr>
                  <a:lnSpc>
                    <a:spcPct val="150000"/>
                  </a:lnSpc>
                  <a:spcAft>
                    <a:spcPts val="0"/>
                  </a:spcAft>
                </a:pPr>
                <a:r>
                  <a:rPr lang="en-US" altLang="zh-CN" dirty="0">
                    <a:latin typeface="+mj-ea"/>
                    <a:ea typeface="+mj-ea"/>
                    <a:cs typeface="Euclid" panose="02020503060505020303" pitchFamily="18" charset="0"/>
                  </a:rPr>
                  <a:t>则：</a:t>
                </a:r>
                <a:endParaRPr lang="zh-CN" altLang="zh-CN" dirty="0">
                  <a:latin typeface="+mj-ea"/>
                  <a:ea typeface="+mj-ea"/>
                  <a:cs typeface="Euclid" panose="02020503060505020303" pitchFamily="18" charset="0"/>
                </a:endParaRPr>
              </a:p>
              <a:p>
                <a:pPr>
                  <a:lnSpc>
                    <a:spcPct val="150000"/>
                  </a:lnSpc>
                  <a:spcAft>
                    <a:spcPts val="0"/>
                  </a:spcAft>
                </a:pPr>
                <a:r>
                  <a:rPr lang="en-US" altLang="zh-CN" i="0">
                    <a:latin typeface="Cambria Math" panose="02040503050406030204" pitchFamily="18" charset="0"/>
                    <a:ea typeface="+mj-ea"/>
                    <a:cs typeface="Euclid" panose="02020503060505020303" pitchFamily="18" charset="0"/>
                  </a:rPr>
                  <a:t>𝑝(𝑦|𝑥;𝑤)=(ℎ(𝑥))</a:t>
                </a:r>
                <a:r>
                  <a:rPr lang="zh-CN" altLang="zh-CN" i="0">
                    <a:latin typeface="Cambria Math" panose="02040503050406030204" pitchFamily="18" charset="0"/>
                    <a:ea typeface="+mj-ea"/>
                    <a:cs typeface="Euclid" panose="02020503060505020303" pitchFamily="18" charset="0"/>
                  </a:rPr>
                  <a:t>^</a:t>
                </a:r>
                <a:r>
                  <a:rPr lang="en-US" altLang="zh-CN" i="0">
                    <a:latin typeface="Cambria Math" panose="02040503050406030204" pitchFamily="18" charset="0"/>
                    <a:ea typeface="+mj-ea"/>
                    <a:cs typeface="Euclid" panose="02020503060505020303" pitchFamily="18" charset="0"/>
                  </a:rPr>
                  <a:t>𝑦 (1−ℎ(𝑥))</a:t>
                </a:r>
                <a:r>
                  <a:rPr lang="zh-CN" altLang="zh-CN" i="0">
                    <a:latin typeface="Cambria Math" panose="02040503050406030204" pitchFamily="18" charset="0"/>
                    <a:ea typeface="+mj-ea"/>
                    <a:cs typeface="Euclid" panose="02020503060505020303" pitchFamily="18" charset="0"/>
                  </a:rPr>
                  <a:t>^(</a:t>
                </a:r>
                <a:r>
                  <a:rPr lang="en-US" altLang="zh-CN" i="0">
                    <a:latin typeface="Cambria Math" panose="02040503050406030204" pitchFamily="18" charset="0"/>
                    <a:ea typeface="+mj-ea"/>
                    <a:cs typeface="Euclid" panose="02020503060505020303" pitchFamily="18" charset="0"/>
                  </a:rPr>
                  <a:t>1−𝑦</a:t>
                </a:r>
                <a:r>
                  <a:rPr lang="zh-CN" altLang="zh-CN" i="0">
                    <a:latin typeface="Cambria Math" panose="02040503050406030204" pitchFamily="18" charset="0"/>
                    <a:ea typeface="+mj-ea"/>
                    <a:cs typeface="Euclid" panose="02020503060505020303" pitchFamily="18" charset="0"/>
                  </a:rPr>
                  <a:t>)</a:t>
                </a:r>
                <a:endParaRPr lang="zh-CN"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逻辑回归模型的假设是： </a:t>
                </a:r>
                <a:r>
                  <a:rPr lang="en-US" altLang="zh-CN" i="0">
                    <a:latin typeface="Cambria Math" panose="02040503050406030204" pitchFamily="18" charset="0"/>
                    <a:ea typeface="+mj-ea"/>
                    <a:cs typeface="Euclid" panose="02020503060505020303" pitchFamily="18" charset="0"/>
                  </a:rPr>
                  <a:t>ℎ</a:t>
                </a:r>
                <a:r>
                  <a:rPr lang="zh-CN" altLang="zh-CN" i="0">
                    <a:latin typeface="Cambria Math" panose="02040503050406030204" pitchFamily="18" charset="0"/>
                    <a:ea typeface="+mj-ea"/>
                  </a:rPr>
                  <a:t>(</a:t>
                </a:r>
                <a:r>
                  <a:rPr lang="en-US" altLang="zh-CN" i="0">
                    <a:latin typeface="Cambria Math" panose="02040503050406030204" pitchFamily="18" charset="0"/>
                    <a:ea typeface="+mj-ea"/>
                    <a:cs typeface="Euclid" panose="02020503060505020303" pitchFamily="18" charset="0"/>
                  </a:rPr>
                  <a:t>𝑥)=𝑔</a:t>
                </a:r>
                <a:r>
                  <a:rPr lang="zh-CN" altLang="zh-CN" i="0">
                    <a:latin typeface="Cambria Math" panose="02040503050406030204" pitchFamily="18" charset="0"/>
                    <a:ea typeface="+mj-ea"/>
                  </a:rPr>
                  <a:t>(</a:t>
                </a:r>
                <a:r>
                  <a:rPr lang="en-US" altLang="zh-CN" i="0">
                    <a:latin typeface="Cambria Math" panose="02040503050406030204" pitchFamily="18" charset="0"/>
                    <a:ea typeface="+mj-ea"/>
                    <a:cs typeface="Euclid" panose="02020503060505020303" pitchFamily="18" charset="0"/>
                  </a:rPr>
                  <a:t>𝑤</a:t>
                </a:r>
                <a:r>
                  <a:rPr lang="zh-CN" altLang="zh-CN" i="0">
                    <a:latin typeface="Cambria Math" panose="02040503050406030204" pitchFamily="18" charset="0"/>
                    <a:ea typeface="+mj-ea"/>
                    <a:cs typeface="Euclid" panose="02020503060505020303" pitchFamily="18" charset="0"/>
                  </a:rPr>
                  <a:t>^</a:t>
                </a:r>
                <a:r>
                  <a:rPr lang="en-US" altLang="zh-CN" i="0">
                    <a:latin typeface="Cambria Math" panose="02040503050406030204" pitchFamily="18" charset="0"/>
                    <a:ea typeface="+mj-ea"/>
                    <a:cs typeface="Euclid" panose="02020503060505020303" pitchFamily="18" charset="0"/>
                  </a:rPr>
                  <a:t>T 𝑥)</a:t>
                </a:r>
                <a:r>
                  <a:rPr lang="en-US" altLang="zh-CN" b="0" i="0">
                    <a:latin typeface="Cambria Math" panose="02040503050406030204" pitchFamily="18" charset="0"/>
                    <a:ea typeface="+mj-ea"/>
                    <a:cs typeface="Euclid" panose="02020503060505020303" pitchFamily="18" charset="0"/>
                  </a:rPr>
                  <a:t>=</a:t>
                </a:r>
                <a:r>
                  <a:rPr lang="en-US" altLang="zh-CN" i="0">
                    <a:latin typeface="Cambria Math" panose="02040503050406030204" pitchFamily="18" charset="0"/>
                    <a:cs typeface="Euclid" panose="02020503060505020303" pitchFamily="18" charset="0"/>
                  </a:rPr>
                  <a:t>𝑔</a:t>
                </a:r>
                <a:r>
                  <a:rPr lang="zh-CN" altLang="zh-CN" i="0">
                    <a:latin typeface="Cambria Math" panose="02040503050406030204" pitchFamily="18" charset="0"/>
                  </a:rPr>
                  <a:t>(</a:t>
                </a:r>
                <a:r>
                  <a:rPr lang="en-US" altLang="zh-CN" b="0" i="0">
                    <a:latin typeface="Cambria Math" panose="02040503050406030204" pitchFamily="18" charset="0"/>
                    <a:cs typeface="Euclid" panose="02020503060505020303" pitchFamily="18" charset="0"/>
                  </a:rPr>
                  <a:t>𝑧)</a:t>
                </a:r>
                <a:endParaRPr lang="zh-CN" altLang="zh-CN" dirty="0">
                  <a:latin typeface="+mj-ea"/>
                  <a:ea typeface="+mj-ea"/>
                  <a:cs typeface="Euclid" panose="02020503060505020303" pitchFamily="18" charset="0"/>
                </a:endParaRPr>
              </a:p>
              <a:p>
                <a:pPr>
                  <a:lnSpc>
                    <a:spcPct val="150000"/>
                  </a:lnSpc>
                  <a:spcAft>
                    <a:spcPts val="0"/>
                  </a:spcAft>
                </a:pPr>
                <a:r>
                  <a:rPr lang="zh-CN" altLang="en-US" dirty="0">
                    <a:latin typeface="+mj-ea"/>
                    <a:ea typeface="+mj-ea"/>
                    <a:cs typeface="Euclid" panose="02020503060505020303" pitchFamily="18" charset="0"/>
                  </a:rPr>
                  <a:t>其中</a:t>
                </a:r>
                <a:r>
                  <a:rPr lang="en-US" altLang="zh-CN" i="0">
                    <a:latin typeface="Cambria Math" panose="02040503050406030204" pitchFamily="18" charset="0"/>
                    <a:ea typeface="+mj-ea"/>
                    <a:cs typeface="Euclid" panose="02020503060505020303" pitchFamily="18" charset="0"/>
                  </a:rPr>
                  <a:t>𝑧=</a:t>
                </a:r>
                <a:r>
                  <a:rPr lang="en-US" altLang="zh-CN" i="0">
                    <a:latin typeface="Cambria Math" panose="02040503050406030204" pitchFamily="18" charset="0"/>
                    <a:cs typeface="Euclid" panose="02020503060505020303" pitchFamily="18" charset="0"/>
                  </a:rPr>
                  <a:t>𝑤</a:t>
                </a:r>
                <a:r>
                  <a:rPr lang="zh-CN" altLang="zh-CN" i="0">
                    <a:latin typeface="Cambria Math" panose="02040503050406030204" pitchFamily="18" charset="0"/>
                    <a:cs typeface="Euclid" panose="02020503060505020303" pitchFamily="18" charset="0"/>
                  </a:rPr>
                  <a:t>^</a:t>
                </a:r>
                <a:r>
                  <a:rPr lang="en-US" altLang="zh-CN" i="0">
                    <a:latin typeface="Cambria Math" panose="02040503050406030204" pitchFamily="18" charset="0"/>
                    <a:cs typeface="Euclid" panose="02020503060505020303" pitchFamily="18" charset="0"/>
                  </a:rPr>
                  <a:t>T</a:t>
                </a:r>
                <a:r>
                  <a:rPr lang="en-US" altLang="zh-CN" i="0">
                    <a:latin typeface="Cambria Math" panose="02040503050406030204" pitchFamily="18" charset="0"/>
                    <a:ea typeface="+mj-ea"/>
                    <a:cs typeface="Euclid" panose="02020503060505020303" pitchFamily="18" charset="0"/>
                  </a:rPr>
                  <a:t> 𝑥</a:t>
                </a:r>
                <a:r>
                  <a:rPr lang="en-US" altLang="zh-CN" sz="800" kern="1200" dirty="0">
                    <a:solidFill>
                      <a:schemeClr val="tx1"/>
                    </a:solidFill>
                    <a:latin typeface="+mj-ea"/>
                    <a:ea typeface="+mn-ea"/>
                    <a:cs typeface="Euclid" panose="02020503060505020303" pitchFamily="18" charset="0"/>
                  </a:rPr>
                  <a:t>，</a:t>
                </a:r>
                <a:r>
                  <a:rPr lang="zh-CN" altLang="zh-CN" sz="800" kern="100" dirty="0">
                    <a:solidFill>
                      <a:schemeClr val="tx1"/>
                    </a:solidFill>
                    <a:latin typeface="+mj-ea"/>
                    <a:ea typeface="+mn-ea"/>
                    <a:cs typeface="Times New Roman" panose="02020603050405020304" pitchFamily="18" charset="0"/>
                  </a:rPr>
                  <a:t>逻辑函数（</a:t>
                </a:r>
                <a:r>
                  <a:rPr lang="en-US" altLang="zh-CN" sz="800" b="1" kern="100" dirty="0">
                    <a:solidFill>
                      <a:schemeClr val="tx1"/>
                    </a:solidFill>
                    <a:latin typeface="+mj-ea"/>
                    <a:ea typeface="+mn-ea"/>
                    <a:cs typeface="Times New Roman" panose="02020603050405020304" pitchFamily="18" charset="0"/>
                  </a:rPr>
                  <a:t>logistic function</a:t>
                </a:r>
                <a:r>
                  <a:rPr lang="en-US" altLang="zh-CN" sz="800" kern="100" dirty="0">
                    <a:solidFill>
                      <a:schemeClr val="tx1"/>
                    </a:solidFill>
                    <a:latin typeface="+mj-ea"/>
                    <a:ea typeface="+mn-ea"/>
                    <a:cs typeface="Times New Roman" panose="02020603050405020304" pitchFamily="18" charset="0"/>
                  </a:rPr>
                  <a:t>)</a:t>
                </a:r>
                <a:r>
                  <a:rPr lang="en-US" altLang="zh-CN" sz="800" kern="1200" dirty="0" err="1">
                    <a:solidFill>
                      <a:schemeClr val="tx1"/>
                    </a:solidFill>
                    <a:latin typeface="+mj-ea"/>
                    <a:ea typeface="+mn-ea"/>
                    <a:cs typeface="Euclid" panose="02020503060505020303" pitchFamily="18" charset="0"/>
                  </a:rPr>
                  <a:t>公式为</a:t>
                </a:r>
                <a:r>
                  <a:rPr lang="en-US" altLang="zh-CN" sz="800" kern="1200" dirty="0">
                    <a:solidFill>
                      <a:schemeClr val="tx1"/>
                    </a:solidFill>
                    <a:latin typeface="+mj-ea"/>
                    <a:ea typeface="+mn-ea"/>
                    <a:cs typeface="Euclid" panose="02020503060505020303" pitchFamily="18" charset="0"/>
                  </a:rPr>
                  <a:t>：</a:t>
                </a:r>
              </a:p>
              <a:p>
                <a:pPr>
                  <a:lnSpc>
                    <a:spcPct val="150000"/>
                  </a:lnSpc>
                  <a:spcAft>
                    <a:spcPts val="0"/>
                  </a:spcAft>
                </a:pPr>
                <a:r>
                  <a:rPr lang="en-US" altLang="zh-CN" sz="800" kern="1200" dirty="0">
                    <a:solidFill>
                      <a:schemeClr val="tx1"/>
                    </a:solidFill>
                    <a:latin typeface="+mj-ea"/>
                    <a:ea typeface="+mn-ea"/>
                    <a:cs typeface="Euclid" panose="02020503060505020303" pitchFamily="18" charset="0"/>
                  </a:rPr>
                  <a:t> </a:t>
                </a:r>
                <a:r>
                  <a:rPr lang="en-US" altLang="zh-CN" sz="800" i="0" kern="1200">
                    <a:solidFill>
                      <a:schemeClr val="tx1"/>
                    </a:solidFill>
                    <a:latin typeface="Cambria Math" panose="02040503050406030204" pitchFamily="18" charset="0"/>
                    <a:ea typeface="+mn-ea"/>
                    <a:cs typeface="Euclid" panose="02020503060505020303" pitchFamily="18" charset="0"/>
                  </a:rPr>
                  <a:t>𝑔</a:t>
                </a:r>
                <a:r>
                  <a:rPr lang="zh-CN" altLang="zh-CN" sz="800" i="0" kern="1200">
                    <a:solidFill>
                      <a:schemeClr val="tx1"/>
                    </a:solidFill>
                    <a:latin typeface="Cambria Math" panose="02040503050406030204" pitchFamily="18" charset="0"/>
                    <a:ea typeface="+mn-ea"/>
                  </a:rPr>
                  <a:t>(</a:t>
                </a:r>
                <a:r>
                  <a:rPr lang="en-US" altLang="zh-CN" sz="800" i="0" kern="1200">
                    <a:solidFill>
                      <a:schemeClr val="tx1"/>
                    </a:solidFill>
                    <a:latin typeface="Cambria Math" panose="02040503050406030204" pitchFamily="18" charset="0"/>
                    <a:ea typeface="+mn-ea"/>
                    <a:cs typeface="Euclid" panose="02020503060505020303" pitchFamily="18" charset="0"/>
                  </a:rPr>
                  <a:t>𝑧)=1</a:t>
                </a:r>
                <a:r>
                  <a:rPr lang="zh-CN" altLang="zh-CN" sz="800" i="0" kern="1200">
                    <a:solidFill>
                      <a:schemeClr val="tx1"/>
                    </a:solidFill>
                    <a:latin typeface="Cambria Math" panose="02040503050406030204" pitchFamily="18" charset="0"/>
                    <a:ea typeface="+mn-ea"/>
                    <a:cs typeface="Euclid" panose="02020503060505020303" pitchFamily="18" charset="0"/>
                  </a:rPr>
                  <a:t>/(</a:t>
                </a:r>
                <a:r>
                  <a:rPr lang="en-US" altLang="zh-CN" sz="800" i="0" kern="1200">
                    <a:solidFill>
                      <a:schemeClr val="tx1"/>
                    </a:solidFill>
                    <a:latin typeface="Cambria Math" panose="02040503050406030204" pitchFamily="18" charset="0"/>
                    <a:ea typeface="+mn-ea"/>
                    <a:cs typeface="Euclid" panose="02020503060505020303" pitchFamily="18" charset="0"/>
                  </a:rPr>
                  <a:t>1+𝑒</a:t>
                </a:r>
                <a:r>
                  <a:rPr lang="zh-CN" altLang="zh-CN" sz="800" i="0" kern="1200">
                    <a:solidFill>
                      <a:schemeClr val="tx1"/>
                    </a:solidFill>
                    <a:latin typeface="Cambria Math" panose="02040503050406030204" pitchFamily="18" charset="0"/>
                    <a:ea typeface="+mn-ea"/>
                    <a:cs typeface="Euclid" panose="02020503060505020303" pitchFamily="18" charset="0"/>
                  </a:rPr>
                  <a:t>^(</a:t>
                </a:r>
                <a:r>
                  <a:rPr lang="en-US" altLang="zh-CN" sz="800" i="0" kern="1200">
                    <a:solidFill>
                      <a:schemeClr val="tx1"/>
                    </a:solidFill>
                    <a:latin typeface="Cambria Math" panose="02040503050406030204" pitchFamily="18" charset="0"/>
                    <a:ea typeface="+mn-ea"/>
                    <a:cs typeface="Euclid" panose="02020503060505020303" pitchFamily="18" charset="0"/>
                  </a:rPr>
                  <a:t>−𝑧</a:t>
                </a:r>
                <a:r>
                  <a:rPr lang="zh-CN" altLang="zh-CN" sz="800" i="0" kern="1200">
                    <a:solidFill>
                      <a:schemeClr val="tx1"/>
                    </a:solidFill>
                    <a:latin typeface="Cambria Math" panose="02040503050406030204" pitchFamily="18" charset="0"/>
                    <a:ea typeface="+mn-ea"/>
                    <a:cs typeface="Euclid" panose="02020503060505020303" pitchFamily="18" charset="0"/>
                  </a:rPr>
                  <a:t>)</a:t>
                </a:r>
                <a:r>
                  <a:rPr lang="en-US" altLang="zh-CN" sz="800" i="0" kern="1200">
                    <a:solidFill>
                      <a:schemeClr val="tx1"/>
                    </a:solidFill>
                    <a:latin typeface="Cambria Math" panose="02040503050406030204" pitchFamily="18" charset="0"/>
                    <a:ea typeface="+mn-ea"/>
                    <a:cs typeface="Euclid" panose="02020503060505020303" pitchFamily="18" charset="0"/>
                  </a:rPr>
                  <a:t> </a:t>
                </a:r>
                <a:r>
                  <a:rPr lang="zh-CN" altLang="zh-CN" sz="800" i="0" kern="1200">
                    <a:solidFill>
                      <a:schemeClr val="tx1"/>
                    </a:solidFill>
                    <a:latin typeface="Cambria Math" panose="02040503050406030204" pitchFamily="18" charset="0"/>
                    <a:ea typeface="+mn-ea"/>
                    <a:cs typeface="Euclid" panose="02020503060505020303" pitchFamily="18" charset="0"/>
                  </a:rPr>
                  <a:t>)</a:t>
                </a:r>
                <a:r>
                  <a:rPr lang="zh-CN" altLang="en-US" sz="800" kern="1200" dirty="0">
                    <a:solidFill>
                      <a:schemeClr val="tx1"/>
                    </a:solidFill>
                    <a:latin typeface="+mj-ea"/>
                    <a:ea typeface="+mn-ea"/>
                    <a:cs typeface="Euclid" panose="02020503060505020303" pitchFamily="18" charset="0"/>
                  </a:rPr>
                  <a:t>，</a:t>
                </a:r>
                <a:r>
                  <a:rPr lang="en-US" altLang="zh-CN" sz="800" i="0" kern="1200">
                    <a:solidFill>
                      <a:schemeClr val="tx1"/>
                    </a:solidFill>
                    <a:latin typeface="Cambria Math" panose="02040503050406030204" pitchFamily="18" charset="0"/>
                    <a:ea typeface="+mn-ea"/>
                    <a:cs typeface="Euclid" panose="02020503060505020303" pitchFamily="18" charset="0"/>
                  </a:rPr>
                  <a:t>𝑔′(𝑧)=𝑔(𝑧)(1−𝑔(𝑧))</a:t>
                </a:r>
                <a:endParaRPr lang="zh-CN" altLang="zh-CN" sz="800" kern="1200" dirty="0">
                  <a:solidFill>
                    <a:schemeClr val="tx1"/>
                  </a:solidFill>
                  <a:latin typeface="+mj-ea"/>
                  <a:ea typeface="+mn-ea"/>
                  <a:cs typeface="Euclid" panose="02020503060505020303" pitchFamily="18" charset="0"/>
                </a:endParaRPr>
              </a:p>
              <a:p>
                <a:pPr>
                  <a:lnSpc>
                    <a:spcPct val="150000"/>
                  </a:lnSpc>
                  <a:spcAft>
                    <a:spcPts val="0"/>
                  </a:spcAft>
                </a:pPr>
                <a:endParaRPr lang="zh-CN" altLang="zh-CN" dirty="0">
                  <a:latin typeface="+mj-ea"/>
                  <a:ea typeface="+mj-ea"/>
                  <a:cs typeface="Euclid" panose="02020503060505020303" pitchFamily="18" charset="0"/>
                </a:endParaRPr>
              </a:p>
              <a:p>
                <a:endParaRPr lang="zh-CN" altLang="en-US" dirty="0"/>
              </a:p>
            </p:txBody>
          </p:sp>
        </mc:Fallback>
      </mc:AlternateContent>
      <p:sp>
        <p:nvSpPr>
          <p:cNvPr id="4" name="灯片编号占位符 3">
            <a:extLst>
              <a:ext uri="{FF2B5EF4-FFF2-40B4-BE49-F238E27FC236}">
                <a16:creationId xmlns:a16="http://schemas.microsoft.com/office/drawing/2014/main" id="{C7EFD671-37C4-13BA-98D7-9B0703C72F11}"/>
              </a:ext>
            </a:extLst>
          </p:cNvPr>
          <p:cNvSpPr>
            <a:spLocks noGrp="1"/>
          </p:cNvSpPr>
          <p:nvPr>
            <p:ph type="sldNum" sz="quarter" idx="5"/>
          </p:nvPr>
        </p:nvSpPr>
        <p:spPr/>
        <p:txBody>
          <a:bodyPr/>
          <a:lstStyle/>
          <a:p>
            <a:fld id="{E8B51D7C-D7AA-4964-BAF5-C62E3AF24F6D}" type="slidenum">
              <a:rPr lang="zh-CN" altLang="en-US" smtClean="0"/>
              <a:t>31</a:t>
            </a:fld>
            <a:endParaRPr lang="en-US" altLang="zh-CN"/>
          </a:p>
        </p:txBody>
      </p:sp>
    </p:spTree>
    <p:extLst>
      <p:ext uri="{BB962C8B-B14F-4D97-AF65-F5344CB8AC3E}">
        <p14:creationId xmlns:p14="http://schemas.microsoft.com/office/powerpoint/2010/main" val="11311453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C336C-42C1-6F49-AB00-8D3702537B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07777C-E178-F44E-EDC7-6362CEE33C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2426AE-51A4-66E3-AB03-12CCE54D559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62CC1BD-5A5B-9A15-1E2A-A05374E901DA}"/>
              </a:ext>
            </a:extLst>
          </p:cNvPr>
          <p:cNvSpPr>
            <a:spLocks noGrp="1"/>
          </p:cNvSpPr>
          <p:nvPr>
            <p:ph type="sldNum" sz="quarter" idx="5"/>
          </p:nvPr>
        </p:nvSpPr>
        <p:spPr/>
        <p:txBody>
          <a:bodyPr/>
          <a:lstStyle/>
          <a:p>
            <a:fld id="{E8B51D7C-D7AA-4964-BAF5-C62E3AF24F6D}" type="slidenum">
              <a:rPr lang="zh-CN" altLang="en-US" smtClean="0"/>
              <a:t>32</a:t>
            </a:fld>
            <a:endParaRPr lang="en-US" altLang="zh-CN"/>
          </a:p>
        </p:txBody>
      </p:sp>
    </p:spTree>
    <p:extLst>
      <p:ext uri="{BB962C8B-B14F-4D97-AF65-F5344CB8AC3E}">
        <p14:creationId xmlns:p14="http://schemas.microsoft.com/office/powerpoint/2010/main" val="12894159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164C5-E4AD-1FC3-CF41-745AB7C708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A929F4-6423-0C40-C706-7C8D7829C8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020DA8-CA85-2501-6FF6-19CC00C0FC3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4943D61-FC38-6EA5-CA03-5A91C6CB2FF3}"/>
              </a:ext>
            </a:extLst>
          </p:cNvPr>
          <p:cNvSpPr>
            <a:spLocks noGrp="1"/>
          </p:cNvSpPr>
          <p:nvPr>
            <p:ph type="sldNum" sz="quarter" idx="5"/>
          </p:nvPr>
        </p:nvSpPr>
        <p:spPr/>
        <p:txBody>
          <a:bodyPr/>
          <a:lstStyle/>
          <a:p>
            <a:fld id="{E8B51D7C-D7AA-4964-BAF5-C62E3AF24F6D}" type="slidenum">
              <a:rPr lang="zh-CN" altLang="en-US" smtClean="0"/>
              <a:t>33</a:t>
            </a:fld>
            <a:endParaRPr lang="en-US" altLang="zh-CN"/>
          </a:p>
        </p:txBody>
      </p:sp>
    </p:spTree>
    <p:extLst>
      <p:ext uri="{BB962C8B-B14F-4D97-AF65-F5344CB8AC3E}">
        <p14:creationId xmlns:p14="http://schemas.microsoft.com/office/powerpoint/2010/main" val="14894545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0537D-AA66-BA20-9FCE-00A9DCE5A8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99F13B-03DC-FD67-6160-1F532A012A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33DDC0-5C63-C208-134B-4B117BA52F3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3A408A2-7749-32E0-1F96-6F356A5022F6}"/>
              </a:ext>
            </a:extLst>
          </p:cNvPr>
          <p:cNvSpPr>
            <a:spLocks noGrp="1"/>
          </p:cNvSpPr>
          <p:nvPr>
            <p:ph type="sldNum" sz="quarter" idx="5"/>
          </p:nvPr>
        </p:nvSpPr>
        <p:spPr/>
        <p:txBody>
          <a:bodyPr/>
          <a:lstStyle/>
          <a:p>
            <a:fld id="{E8B51D7C-D7AA-4964-BAF5-C62E3AF24F6D}" type="slidenum">
              <a:rPr lang="zh-CN" altLang="en-US" smtClean="0"/>
              <a:t>34</a:t>
            </a:fld>
            <a:endParaRPr lang="en-US" altLang="zh-CN"/>
          </a:p>
        </p:txBody>
      </p:sp>
    </p:spTree>
    <p:extLst>
      <p:ext uri="{BB962C8B-B14F-4D97-AF65-F5344CB8AC3E}">
        <p14:creationId xmlns:p14="http://schemas.microsoft.com/office/powerpoint/2010/main" val="15078315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1C2BF-59BF-A397-0D2B-5A4764E6A8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F08487-3824-1C33-FBD9-4BAAD70E73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5E2F05-E8F0-523C-1FF6-B2FCEB334E04}"/>
              </a:ext>
            </a:extLst>
          </p:cNvPr>
          <p:cNvSpPr>
            <a:spLocks noGrp="1"/>
          </p:cNvSpPr>
          <p:nvPr>
            <p:ph type="body" idx="1"/>
          </p:nvPr>
        </p:nvSpPr>
        <p:spPr/>
        <p:txBody>
          <a:bodyPr>
            <a:normAutofit fontScale="92500" lnSpcReduction="10000"/>
          </a:bodyPr>
          <a:lstStyle/>
          <a:p>
            <a:pPr indent="266700" algn="just">
              <a:lnSpc>
                <a:spcPct val="150000"/>
              </a:lnSpc>
            </a:pPr>
            <a:r>
              <a:rPr lang="zh-CN" altLang="zh-CN" sz="1400" b="1" kern="100" dirty="0">
                <a:effectLst/>
                <a:latin typeface="+mj-ea"/>
                <a:ea typeface="+mj-ea"/>
                <a:cs typeface="Times New Roman" panose="02020603050405020304" pitchFamily="18" charset="0"/>
              </a:rPr>
              <a:t>优点</a:t>
            </a:r>
          </a:p>
          <a:p>
            <a:pPr algn="just">
              <a:lnSpc>
                <a:spcPct val="150000"/>
              </a:lnSpc>
            </a:pPr>
            <a:r>
              <a:rPr lang="en-US" altLang="zh-CN" sz="1200" kern="100" dirty="0">
                <a:effectLst/>
                <a:latin typeface="+mj-ea"/>
                <a:ea typeface="+mj-ea"/>
                <a:cs typeface="Times New Roman" panose="02020603050405020304" pitchFamily="18" charset="0"/>
              </a:rPr>
              <a:t>1</a:t>
            </a:r>
            <a:r>
              <a:rPr lang="zh-CN" altLang="zh-CN" sz="1200" kern="100" dirty="0">
                <a:effectLst/>
                <a:latin typeface="+mj-ea"/>
                <a:ea typeface="+mj-ea"/>
                <a:cs typeface="Times New Roman" panose="02020603050405020304" pitchFamily="18" charset="0"/>
              </a:rPr>
              <a:t>、</a:t>
            </a:r>
            <a:r>
              <a:rPr lang="en-US" altLang="zh-CN" sz="1200" kern="100" dirty="0">
                <a:effectLst/>
                <a:latin typeface="+mj-ea"/>
                <a:ea typeface="+mj-ea"/>
                <a:cs typeface="Times New Roman" panose="02020603050405020304" pitchFamily="18" charset="0"/>
              </a:rPr>
              <a:t>KNN</a:t>
            </a:r>
            <a:r>
              <a:rPr lang="zh-CN" altLang="zh-CN" sz="1200" kern="100" dirty="0">
                <a:effectLst/>
                <a:latin typeface="+mj-ea"/>
                <a:ea typeface="+mj-ea"/>
                <a:cs typeface="Times New Roman" panose="02020603050405020304" pitchFamily="18" charset="0"/>
              </a:rPr>
              <a:t>可以处理分类问题，同时天然可以处理多分类问题。</a:t>
            </a:r>
          </a:p>
          <a:p>
            <a:pPr algn="just">
              <a:lnSpc>
                <a:spcPct val="150000"/>
              </a:lnSpc>
            </a:pPr>
            <a:r>
              <a:rPr lang="en-US" altLang="zh-CN" sz="1200" kern="100" dirty="0">
                <a:effectLst/>
                <a:latin typeface="+mj-ea"/>
                <a:ea typeface="+mj-ea"/>
                <a:cs typeface="Times New Roman" panose="02020603050405020304" pitchFamily="18" charset="0"/>
              </a:rPr>
              <a:t>2</a:t>
            </a:r>
            <a:r>
              <a:rPr lang="zh-CN" altLang="zh-CN" sz="1200" kern="100" dirty="0">
                <a:effectLst/>
                <a:latin typeface="+mj-ea"/>
                <a:ea typeface="+mj-ea"/>
                <a:cs typeface="Times New Roman" panose="02020603050405020304" pitchFamily="18" charset="0"/>
              </a:rPr>
              <a:t>、和朴素贝叶斯之类的算法比，对数据没有假设，准确度高，对异常点不敏感</a:t>
            </a:r>
          </a:p>
          <a:p>
            <a:pPr algn="just">
              <a:lnSpc>
                <a:spcPct val="150000"/>
              </a:lnSpc>
            </a:pPr>
            <a:r>
              <a:rPr lang="en-US" altLang="zh-CN" sz="1200" kern="100" dirty="0">
                <a:effectLst/>
                <a:latin typeface="+mj-ea"/>
                <a:ea typeface="+mj-ea"/>
                <a:cs typeface="Times New Roman" panose="02020603050405020304" pitchFamily="18" charset="0"/>
              </a:rPr>
              <a:t>3</a:t>
            </a:r>
            <a:r>
              <a:rPr lang="zh-CN" altLang="zh-CN" sz="1200" kern="100" dirty="0">
                <a:effectLst/>
                <a:latin typeface="+mj-ea"/>
                <a:ea typeface="+mj-ea"/>
                <a:cs typeface="Times New Roman" panose="02020603050405020304" pitchFamily="18" charset="0"/>
              </a:rPr>
              <a:t>、既可以处理分类问题，也可以处理回归问题</a:t>
            </a:r>
          </a:p>
          <a:p>
            <a:pPr algn="just">
              <a:lnSpc>
                <a:spcPct val="150000"/>
              </a:lnSpc>
            </a:pPr>
            <a:r>
              <a:rPr lang="en-US" altLang="zh-CN" sz="1200" kern="100" dirty="0">
                <a:effectLst/>
                <a:latin typeface="+mj-ea"/>
                <a:ea typeface="+mj-ea"/>
                <a:cs typeface="Times New Roman" panose="02020603050405020304" pitchFamily="18" charset="0"/>
              </a:rPr>
              <a:t>4</a:t>
            </a:r>
            <a:r>
              <a:rPr lang="zh-CN" altLang="en-US" sz="1200" kern="100" dirty="0">
                <a:effectLst/>
                <a:latin typeface="+mj-ea"/>
                <a:ea typeface="+mj-ea"/>
                <a:cs typeface="Times New Roman" panose="02020603050405020304" pitchFamily="18" charset="0"/>
              </a:rPr>
              <a:t>、</a:t>
            </a:r>
            <a:r>
              <a:rPr lang="zh-CN" altLang="zh-CN" sz="1200" kern="100" dirty="0">
                <a:effectLst/>
                <a:latin typeface="+mj-ea"/>
                <a:ea typeface="+mj-ea"/>
                <a:cs typeface="Times New Roman" panose="02020603050405020304" pitchFamily="18" charset="0"/>
              </a:rPr>
              <a:t>简单，易于理解，易于实现</a:t>
            </a:r>
          </a:p>
          <a:p>
            <a:endParaRPr lang="en-US" altLang="zh-CN" dirty="0"/>
          </a:p>
          <a:p>
            <a:pPr indent="266700" algn="just">
              <a:lnSpc>
                <a:spcPct val="150000"/>
              </a:lnSpc>
            </a:pPr>
            <a:r>
              <a:rPr lang="zh-CN" altLang="zh-CN" sz="1400" b="1" kern="100" dirty="0">
                <a:effectLst/>
                <a:latin typeface="+mj-ea"/>
                <a:ea typeface="+mj-ea"/>
                <a:cs typeface="Times New Roman" panose="02020603050405020304" pitchFamily="18" charset="0"/>
              </a:rPr>
              <a:t>缺点</a:t>
            </a:r>
          </a:p>
          <a:p>
            <a:pPr algn="just">
              <a:lnSpc>
                <a:spcPct val="150000"/>
              </a:lnSpc>
            </a:pPr>
            <a:r>
              <a:rPr lang="en-US" altLang="zh-CN" sz="1200" kern="100" dirty="0">
                <a:effectLst/>
                <a:latin typeface="+mj-ea"/>
                <a:ea typeface="+mj-ea"/>
                <a:cs typeface="Times New Roman" panose="02020603050405020304" pitchFamily="18" charset="0"/>
              </a:rPr>
              <a:t>1</a:t>
            </a:r>
            <a:r>
              <a:rPr lang="zh-CN" altLang="zh-CN" sz="1200" kern="100" dirty="0">
                <a:effectLst/>
                <a:latin typeface="+mj-ea"/>
                <a:ea typeface="+mj-ea"/>
                <a:cs typeface="Times New Roman" panose="02020603050405020304" pitchFamily="18" charset="0"/>
              </a:rPr>
              <a:t>、可解释性差，无法给出决策树那样的规则</a:t>
            </a:r>
          </a:p>
          <a:p>
            <a:pPr algn="just">
              <a:lnSpc>
                <a:spcPct val="150000"/>
              </a:lnSpc>
            </a:pPr>
            <a:r>
              <a:rPr lang="en-US" altLang="zh-CN" sz="1200" kern="100" dirty="0">
                <a:effectLst/>
                <a:latin typeface="+mj-ea"/>
                <a:ea typeface="+mj-ea"/>
                <a:cs typeface="Times New Roman" panose="02020603050405020304" pitchFamily="18" charset="0"/>
              </a:rPr>
              <a:t>2</a:t>
            </a:r>
            <a:r>
              <a:rPr lang="zh-CN" altLang="zh-CN" sz="1200" kern="100" dirty="0">
                <a:effectLst/>
                <a:latin typeface="+mj-ea"/>
                <a:ea typeface="+mj-ea"/>
                <a:cs typeface="Times New Roman" panose="02020603050405020304" pitchFamily="18" charset="0"/>
              </a:rPr>
              <a:t>、对训练数据依赖度特别大，当样本不平衡的时候，对少数类的预测准确率低</a:t>
            </a:r>
          </a:p>
          <a:p>
            <a:r>
              <a:rPr lang="en-US" altLang="zh-CN" sz="1200" kern="100" dirty="0">
                <a:effectLst/>
                <a:latin typeface="+mj-ea"/>
                <a:ea typeface="+mj-ea"/>
                <a:cs typeface="等线" panose="02010600030101010101" pitchFamily="2" charset="-122"/>
              </a:rPr>
              <a:t>3</a:t>
            </a:r>
            <a:r>
              <a:rPr lang="zh-CN" altLang="zh-CN" sz="1200" kern="100" dirty="0">
                <a:effectLst/>
                <a:latin typeface="+mj-ea"/>
                <a:ea typeface="+mj-ea"/>
                <a:cs typeface="等线" panose="02010600030101010101" pitchFamily="2" charset="-122"/>
              </a:rPr>
              <a:t>、计算复杂性高；空间复杂性高，尤其是特征数非常多的时候</a:t>
            </a:r>
            <a:endParaRPr lang="en-US" altLang="zh-CN" sz="1200" kern="100" dirty="0">
              <a:effectLst/>
              <a:latin typeface="+mj-ea"/>
              <a:ea typeface="+mj-ea"/>
              <a:cs typeface="等线" panose="02010600030101010101" pitchFamily="2" charset="-122"/>
            </a:endParaRPr>
          </a:p>
          <a:p>
            <a:endParaRPr lang="en-US" altLang="zh-CN" sz="1200" kern="100" dirty="0">
              <a:effectLst/>
              <a:latin typeface="+mj-ea"/>
              <a:ea typeface="+mj-ea"/>
            </a:endParaRPr>
          </a:p>
          <a:p>
            <a:r>
              <a:rPr lang="zh-CN" altLang="en-US" dirty="0">
                <a:latin typeface="+mj-ea"/>
                <a:ea typeface="+mj-ea"/>
              </a:rPr>
              <a:t>思考：</a:t>
            </a:r>
          </a:p>
          <a:p>
            <a:endParaRPr lang="zh-CN" altLang="en-US" dirty="0">
              <a:latin typeface="+mj-ea"/>
              <a:ea typeface="+mj-ea"/>
            </a:endParaRPr>
          </a:p>
          <a:p>
            <a:r>
              <a:rPr lang="zh-CN" altLang="en-US" dirty="0">
                <a:latin typeface="+mj-ea"/>
                <a:ea typeface="+mj-ea"/>
              </a:rPr>
              <a:t>如何选择最优的</a:t>
            </a:r>
            <a:r>
              <a:rPr lang="en-US" altLang="zh-CN" dirty="0">
                <a:latin typeface="+mj-ea"/>
                <a:ea typeface="+mj-ea"/>
              </a:rPr>
              <a:t>K</a:t>
            </a:r>
            <a:r>
              <a:rPr lang="zh-CN" altLang="en-US" dirty="0">
                <a:latin typeface="+mj-ea"/>
                <a:ea typeface="+mj-ea"/>
              </a:rPr>
              <a:t>值？</a:t>
            </a:r>
          </a:p>
          <a:p>
            <a:endParaRPr lang="zh-CN" altLang="en-US" dirty="0">
              <a:latin typeface="+mj-ea"/>
              <a:ea typeface="+mj-ea"/>
            </a:endParaRPr>
          </a:p>
          <a:p>
            <a:r>
              <a:rPr lang="zh-CN" altLang="en-US" dirty="0">
                <a:latin typeface="+mj-ea"/>
                <a:ea typeface="+mj-ea"/>
              </a:rPr>
              <a:t>不同的距离度量（曼哈顿、欧氏）对结果有何影响？</a:t>
            </a:r>
          </a:p>
          <a:p>
            <a:endParaRPr lang="zh-CN" altLang="en-US" dirty="0"/>
          </a:p>
        </p:txBody>
      </p:sp>
      <p:sp>
        <p:nvSpPr>
          <p:cNvPr id="4" name="灯片编号占位符 3">
            <a:extLst>
              <a:ext uri="{FF2B5EF4-FFF2-40B4-BE49-F238E27FC236}">
                <a16:creationId xmlns:a16="http://schemas.microsoft.com/office/drawing/2014/main" id="{7382CA15-0728-DC80-A231-87F69366A7C5}"/>
              </a:ext>
            </a:extLst>
          </p:cNvPr>
          <p:cNvSpPr>
            <a:spLocks noGrp="1"/>
          </p:cNvSpPr>
          <p:nvPr>
            <p:ph type="sldNum" sz="quarter" idx="5"/>
          </p:nvPr>
        </p:nvSpPr>
        <p:spPr/>
        <p:txBody>
          <a:bodyPr/>
          <a:lstStyle/>
          <a:p>
            <a:fld id="{E8B51D7C-D7AA-4964-BAF5-C62E3AF24F6D}" type="slidenum">
              <a:rPr lang="zh-CN" altLang="en-US" smtClean="0"/>
              <a:t>35</a:t>
            </a:fld>
            <a:endParaRPr lang="en-US" altLang="zh-CN"/>
          </a:p>
        </p:txBody>
      </p:sp>
    </p:spTree>
    <p:extLst>
      <p:ext uri="{BB962C8B-B14F-4D97-AF65-F5344CB8AC3E}">
        <p14:creationId xmlns:p14="http://schemas.microsoft.com/office/powerpoint/2010/main" val="37263597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83771-788A-9795-00F4-F6087994C8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74D0CA-2790-46E5-D17C-7414FFF16E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7E2167-EBFE-A1C8-B005-FC7058F12D04}"/>
              </a:ext>
            </a:extLst>
          </p:cNvPr>
          <p:cNvSpPr>
            <a:spLocks noGrp="1"/>
          </p:cNvSpPr>
          <p:nvPr>
            <p:ph type="body" idx="1"/>
          </p:nvPr>
        </p:nvSpPr>
        <p:spPr/>
        <p:txBody>
          <a:bodyPr>
            <a:normAutofit fontScale="70000" lnSpcReduction="20000"/>
          </a:bodyPr>
          <a:lstStyle/>
          <a:p>
            <a:r>
              <a:rPr lang="en-US" altLang="zh-CN" dirty="0" err="1"/>
              <a:t>sklearn.tree.DecisionTreeClassifier</a:t>
            </a:r>
            <a:r>
              <a:rPr lang="en-US" altLang="zh-CN" dirty="0"/>
              <a:t> ​</a:t>
            </a:r>
            <a:r>
              <a:rPr lang="zh-CN" altLang="en-US" dirty="0"/>
              <a:t>默认采用 </a:t>
            </a:r>
            <a:r>
              <a:rPr lang="en-US" altLang="zh-CN" dirty="0"/>
              <a:t>CART</a:t>
            </a:r>
            <a:r>
              <a:rPr lang="zh-CN" altLang="en-US" dirty="0"/>
              <a:t>（</a:t>
            </a:r>
            <a:r>
              <a:rPr lang="en-US" altLang="zh-CN" dirty="0"/>
              <a:t>Classification and Regression Trees</a:t>
            </a:r>
            <a:r>
              <a:rPr lang="zh-CN" altLang="en-US" dirty="0"/>
              <a:t>）算法，这是一种基于二叉树结构的决策树构建方法，适用于分类和回归任务</a:t>
            </a:r>
            <a:endParaRPr lang="en-US" altLang="zh-CN" dirty="0"/>
          </a:p>
          <a:p>
            <a:r>
              <a:rPr lang="en-US" altLang="zh-CN" dirty="0"/>
              <a:t>CART </a:t>
            </a:r>
            <a:r>
              <a:rPr lang="zh-CN" altLang="en-US" dirty="0"/>
              <a:t>算法的核心逻辑：</a:t>
            </a:r>
          </a:p>
          <a:p>
            <a:r>
              <a:rPr lang="zh-CN" altLang="en-US" dirty="0"/>
              <a:t>​分裂标准：默认使用 ​基尼系数（</a:t>
            </a:r>
            <a:r>
              <a:rPr lang="en-US" altLang="zh-CN" dirty="0"/>
              <a:t>Gini Index</a:t>
            </a:r>
            <a:r>
              <a:rPr lang="zh-CN" altLang="en-US" dirty="0"/>
              <a:t>）​ 衡量节点不纯度，公式为：</a:t>
            </a:r>
            <a:endParaRPr lang="en-US" altLang="zh-CN" dirty="0"/>
          </a:p>
          <a:p>
            <a:r>
              <a:rPr lang="zh-CN" altLang="en-US" dirty="0"/>
              <a:t>其中 </a:t>
            </a:r>
            <a:r>
              <a:rPr lang="en-US" altLang="zh-CN" dirty="0"/>
              <a:t>p(</a:t>
            </a:r>
            <a:r>
              <a:rPr lang="en-US" altLang="zh-CN" dirty="0" err="1"/>
              <a:t>i∣t</a:t>
            </a:r>
            <a:r>
              <a:rPr lang="en-US" altLang="zh-CN" dirty="0"/>
              <a:t>) </a:t>
            </a:r>
            <a:r>
              <a:rPr lang="zh-CN" altLang="en-US" dirty="0"/>
              <a:t>表示节点 </a:t>
            </a:r>
            <a:r>
              <a:rPr lang="en-US" altLang="zh-CN" dirty="0"/>
              <a:t>t </a:t>
            </a:r>
            <a:r>
              <a:rPr lang="zh-CN" altLang="en-US" dirty="0"/>
              <a:t>中类别 </a:t>
            </a:r>
            <a:r>
              <a:rPr lang="en-US" altLang="zh-CN" dirty="0" err="1"/>
              <a:t>i</a:t>
            </a:r>
            <a:r>
              <a:rPr lang="en-US" altLang="zh-CN" dirty="0"/>
              <a:t> </a:t>
            </a:r>
            <a:r>
              <a:rPr lang="zh-CN" altLang="en-US" dirty="0"/>
              <a:t>的样本比例。基尼系数越小，节点纯度越高</a:t>
            </a:r>
            <a:r>
              <a:rPr lang="en-US" altLang="zh-CN" dirty="0"/>
              <a:t>257</a:t>
            </a:r>
            <a:r>
              <a:rPr lang="zh-CN" altLang="en-US" dirty="0"/>
              <a:t>。</a:t>
            </a:r>
          </a:p>
          <a:p>
            <a:r>
              <a:rPr lang="zh-CN" altLang="en-US" dirty="0"/>
              <a:t>​二叉树结构：每次分裂生成两个子节点，支持处理连续值和离散值特征（如通过二分法离散化连续特征）</a:t>
            </a:r>
            <a:r>
              <a:rPr lang="en-US" altLang="zh-CN" dirty="0"/>
              <a:t>7</a:t>
            </a:r>
            <a:r>
              <a:rPr lang="zh-CN" altLang="en-US" dirty="0"/>
              <a:t>。</a:t>
            </a:r>
          </a:p>
          <a:p>
            <a:r>
              <a:rPr lang="zh-CN" altLang="en-US" dirty="0"/>
              <a:t>​递归分割：从根节点开始，选择使子节点加权不纯度下降最大的特征和阈值进行分裂，直到满足停止条件（如最大深度、最小样本数）</a:t>
            </a:r>
            <a:r>
              <a:rPr lang="en-US" altLang="zh-CN" dirty="0"/>
              <a:t>17</a:t>
            </a:r>
            <a:r>
              <a:rPr lang="zh-CN" altLang="en-US" dirty="0"/>
              <a:t>。</a:t>
            </a:r>
          </a:p>
          <a:p>
            <a:r>
              <a:rPr lang="zh-CN" altLang="en-US" dirty="0"/>
              <a:t>信息熵对噪声更敏感，可能导致更精细的分裂（适合低维清晰数据</a:t>
            </a:r>
            <a:endParaRPr lang="en-US" altLang="zh-CN" dirty="0"/>
          </a:p>
          <a:p>
            <a:endParaRPr lang="en-US" altLang="zh-CN" dirty="0"/>
          </a:p>
          <a:p>
            <a:r>
              <a:rPr lang="zh-CN" altLang="en-US" dirty="0"/>
              <a:t>如何防止决策树过拟合？</a:t>
            </a:r>
          </a:p>
          <a:p>
            <a:r>
              <a:rPr lang="zh-CN" altLang="en-US" dirty="0"/>
              <a:t>决策树过拟合的防止方法主要围绕模型复杂度控制和数据优化展开，以下是核心策略及原理：</a:t>
            </a:r>
            <a:endParaRPr lang="en-US" altLang="zh-CN" dirty="0"/>
          </a:p>
          <a:p>
            <a:endParaRPr lang="zh-CN" altLang="en-US" dirty="0"/>
          </a:p>
          <a:p>
            <a:r>
              <a:rPr lang="zh-CN" altLang="en-US" dirty="0"/>
              <a:t>剪枝技术（核心方法）</a:t>
            </a:r>
          </a:p>
          <a:p>
            <a:endParaRPr lang="zh-CN" altLang="en-US" dirty="0"/>
          </a:p>
          <a:p>
            <a:r>
              <a:rPr lang="zh-CN" altLang="en-US" dirty="0"/>
              <a:t>​增加样本量：通过扩充数据集减少模型对噪声的依赖（如网页</a:t>
            </a:r>
            <a:r>
              <a:rPr lang="en-US" altLang="zh-CN" dirty="0"/>
              <a:t>2</a:t>
            </a:r>
            <a:r>
              <a:rPr lang="zh-CN" altLang="en-US" dirty="0"/>
              <a:t>中样本量对泛化的影响）</a:t>
            </a:r>
            <a:r>
              <a:rPr lang="en-US" altLang="zh-CN" dirty="0"/>
              <a:t>23</a:t>
            </a:r>
            <a:r>
              <a:rPr lang="zh-CN" altLang="en-US" dirty="0"/>
              <a:t>。</a:t>
            </a:r>
          </a:p>
          <a:p>
            <a:r>
              <a:rPr lang="zh-CN" altLang="en-US" dirty="0"/>
              <a:t>​交叉验证：采用</a:t>
            </a:r>
            <a:r>
              <a:rPr lang="en-US" altLang="zh-CN" dirty="0"/>
              <a:t>K</a:t>
            </a:r>
            <a:r>
              <a:rPr lang="zh-CN" altLang="en-US" dirty="0"/>
              <a:t>折交叉验证选择最优超参数，避免单次划分的偏差（如网页</a:t>
            </a:r>
            <a:r>
              <a:rPr lang="en-US" altLang="zh-CN" dirty="0"/>
              <a:t>3</a:t>
            </a:r>
            <a:r>
              <a:rPr lang="zh-CN" altLang="en-US" dirty="0"/>
              <a:t>中</a:t>
            </a:r>
            <a:r>
              <a:rPr lang="en-US" altLang="zh-CN" dirty="0"/>
              <a:t>K-Fold</a:t>
            </a:r>
            <a:r>
              <a:rPr lang="zh-CN" altLang="en-US" dirty="0"/>
              <a:t>验证流程）</a:t>
            </a:r>
            <a:r>
              <a:rPr lang="en-US" altLang="zh-CN" dirty="0"/>
              <a:t>34</a:t>
            </a:r>
            <a:r>
              <a:rPr lang="zh-CN" altLang="en-US" dirty="0"/>
              <a:t>。</a:t>
            </a:r>
          </a:p>
          <a:p>
            <a:r>
              <a:rPr lang="zh-CN" altLang="en-US" dirty="0"/>
              <a:t>​正则化与超参数调节</a:t>
            </a:r>
          </a:p>
          <a:p>
            <a:endParaRPr lang="zh-CN" altLang="en-US" dirty="0"/>
          </a:p>
          <a:p>
            <a:r>
              <a:rPr lang="zh-CN" altLang="en-US" dirty="0"/>
              <a:t>​特征选择：通过卡方检验、信息增益比等筛选高价值特征，降低输入维度（如网页</a:t>
            </a:r>
            <a:r>
              <a:rPr lang="en-US" altLang="zh-CN" dirty="0"/>
              <a:t>3</a:t>
            </a:r>
            <a:r>
              <a:rPr lang="zh-CN" altLang="en-US" dirty="0"/>
              <a:t>中基于统计检验的优化）</a:t>
            </a:r>
            <a:r>
              <a:rPr lang="en-US" altLang="zh-CN" dirty="0"/>
              <a:t>36</a:t>
            </a:r>
            <a:r>
              <a:rPr lang="zh-CN" altLang="en-US" dirty="0"/>
              <a:t>。</a:t>
            </a:r>
          </a:p>
          <a:p>
            <a:r>
              <a:rPr lang="zh-CN" altLang="en-US" dirty="0"/>
              <a:t>​节点样本约束：设置节点最小样本数（如</a:t>
            </a:r>
            <a:r>
              <a:rPr lang="en-US" altLang="zh-CN" dirty="0" err="1"/>
              <a:t>min_samples_split</a:t>
            </a:r>
            <a:r>
              <a:rPr lang="zh-CN" altLang="en-US" dirty="0"/>
              <a:t>和</a:t>
            </a:r>
            <a:r>
              <a:rPr lang="en-US" altLang="zh-CN" dirty="0" err="1"/>
              <a:t>min_samples_leaf</a:t>
            </a:r>
            <a:r>
              <a:rPr lang="zh-CN" altLang="en-US" dirty="0"/>
              <a:t>），避免小样本节点导致过拟合</a:t>
            </a:r>
            <a:r>
              <a:rPr lang="en-US" altLang="zh-CN" dirty="0"/>
              <a:t>37</a:t>
            </a:r>
            <a:r>
              <a:rPr lang="zh-CN" altLang="en-US" dirty="0"/>
              <a:t>。</a:t>
            </a:r>
          </a:p>
          <a:p>
            <a:r>
              <a:rPr lang="zh-CN" altLang="en-US" dirty="0"/>
              <a:t>​集成学习</a:t>
            </a:r>
          </a:p>
          <a:p>
            <a:endParaRPr lang="zh-CN" altLang="en-US" dirty="0"/>
          </a:p>
          <a:p>
            <a:r>
              <a:rPr lang="zh-CN" altLang="en-US" dirty="0"/>
              <a:t>​随机森林：通过</a:t>
            </a:r>
            <a:r>
              <a:rPr lang="en-US" altLang="zh-CN" dirty="0"/>
              <a:t>Bagging</a:t>
            </a:r>
            <a:r>
              <a:rPr lang="zh-CN" altLang="en-US" dirty="0"/>
              <a:t>和随机特征选择降低单棵树过拟合风险（如网页</a:t>
            </a:r>
            <a:r>
              <a:rPr lang="en-US" altLang="zh-CN" dirty="0"/>
              <a:t>2</a:t>
            </a:r>
            <a:r>
              <a:rPr lang="zh-CN" altLang="en-US" dirty="0"/>
              <a:t>中集成方法的应用）</a:t>
            </a:r>
            <a:r>
              <a:rPr lang="en-US" altLang="zh-CN" dirty="0"/>
              <a:t>23</a:t>
            </a:r>
            <a:r>
              <a:rPr lang="zh-CN" altLang="en-US" dirty="0"/>
              <a:t>。</a:t>
            </a:r>
          </a:p>
          <a:p>
            <a:r>
              <a:rPr lang="zh-CN" altLang="en-US" dirty="0"/>
              <a:t>​梯度提升树（</a:t>
            </a:r>
            <a:r>
              <a:rPr lang="en-US" altLang="zh-CN" dirty="0"/>
              <a:t>GBDT</a:t>
            </a:r>
            <a:r>
              <a:rPr lang="zh-CN" altLang="en-US" dirty="0"/>
              <a:t>）​：以加权方式组合多棵弱树，通过残差学习提升泛化性（如网页</a:t>
            </a:r>
            <a:r>
              <a:rPr lang="en-US" altLang="zh-CN" dirty="0"/>
              <a:t>7</a:t>
            </a:r>
            <a:r>
              <a:rPr lang="zh-CN" altLang="en-US" dirty="0"/>
              <a:t>中</a:t>
            </a:r>
            <a:r>
              <a:rPr lang="en-US" altLang="zh-CN" dirty="0" err="1"/>
              <a:t>XGBoost</a:t>
            </a:r>
            <a:r>
              <a:rPr lang="zh-CN" altLang="en-US" dirty="0"/>
              <a:t>的增益计算）</a:t>
            </a:r>
            <a:r>
              <a:rPr lang="en-US" altLang="zh-CN" dirty="0"/>
              <a:t>78</a:t>
            </a:r>
            <a:r>
              <a:rPr lang="zh-CN" altLang="en-US" dirty="0"/>
              <a:t>。</a:t>
            </a:r>
            <a:endParaRPr lang="en-US" altLang="zh-CN" dirty="0"/>
          </a:p>
          <a:p>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4471C748-88BD-94BF-3F05-841B6E201686}"/>
              </a:ext>
            </a:extLst>
          </p:cNvPr>
          <p:cNvSpPr>
            <a:spLocks noGrp="1"/>
          </p:cNvSpPr>
          <p:nvPr>
            <p:ph type="sldNum" sz="quarter" idx="5"/>
          </p:nvPr>
        </p:nvSpPr>
        <p:spPr/>
        <p:txBody>
          <a:bodyPr/>
          <a:lstStyle/>
          <a:p>
            <a:fld id="{E8B51D7C-D7AA-4964-BAF5-C62E3AF24F6D}" type="slidenum">
              <a:rPr lang="zh-CN" altLang="en-US" smtClean="0"/>
              <a:t>36</a:t>
            </a:fld>
            <a:endParaRPr lang="en-US" altLang="zh-CN"/>
          </a:p>
        </p:txBody>
      </p:sp>
    </p:spTree>
    <p:extLst>
      <p:ext uri="{BB962C8B-B14F-4D97-AF65-F5344CB8AC3E}">
        <p14:creationId xmlns:p14="http://schemas.microsoft.com/office/powerpoint/2010/main" val="17501143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C7B6-57F2-C14B-E203-4012FFA775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5C4554-C91C-1F74-55F2-56718B18F6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960E4D-5EAF-F221-3DD1-25E1CE579391}"/>
              </a:ext>
            </a:extLst>
          </p:cNvPr>
          <p:cNvSpPr>
            <a:spLocks noGrp="1"/>
          </p:cNvSpPr>
          <p:nvPr>
            <p:ph type="body" idx="1"/>
          </p:nvPr>
        </p:nvSpPr>
        <p:spPr/>
        <p:txBody>
          <a:bodyPr>
            <a:normAutofit/>
          </a:bodyPr>
          <a:lstStyle/>
          <a:p>
            <a:endParaRPr lang="zh-CN" altLang="en-US" dirty="0"/>
          </a:p>
        </p:txBody>
      </p:sp>
      <p:sp>
        <p:nvSpPr>
          <p:cNvPr id="4" name="灯片编号占位符 3">
            <a:extLst>
              <a:ext uri="{FF2B5EF4-FFF2-40B4-BE49-F238E27FC236}">
                <a16:creationId xmlns:a16="http://schemas.microsoft.com/office/drawing/2014/main" id="{6EE1AA06-B4B0-FA34-D3BB-89F5CC793C2A}"/>
              </a:ext>
            </a:extLst>
          </p:cNvPr>
          <p:cNvSpPr>
            <a:spLocks noGrp="1"/>
          </p:cNvSpPr>
          <p:nvPr>
            <p:ph type="sldNum" sz="quarter" idx="5"/>
          </p:nvPr>
        </p:nvSpPr>
        <p:spPr/>
        <p:txBody>
          <a:bodyPr/>
          <a:lstStyle/>
          <a:p>
            <a:fld id="{E8B51D7C-D7AA-4964-BAF5-C62E3AF24F6D}" type="slidenum">
              <a:rPr lang="zh-CN" altLang="en-US" smtClean="0"/>
              <a:t>37</a:t>
            </a:fld>
            <a:endParaRPr lang="en-US" altLang="zh-CN"/>
          </a:p>
        </p:txBody>
      </p:sp>
    </p:spTree>
    <p:extLst>
      <p:ext uri="{BB962C8B-B14F-4D97-AF65-F5344CB8AC3E}">
        <p14:creationId xmlns:p14="http://schemas.microsoft.com/office/powerpoint/2010/main" val="2290408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C5668-23C9-382D-ABF2-069A383CD7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911DC3-278F-6152-6E48-028D7FB139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10C1FF-9C33-1758-B63B-1432EA51E2C1}"/>
              </a:ext>
            </a:extLst>
          </p:cNvPr>
          <p:cNvSpPr>
            <a:spLocks noGrp="1"/>
          </p:cNvSpPr>
          <p:nvPr>
            <p:ph type="body" idx="1"/>
          </p:nvPr>
        </p:nvSpPr>
        <p:spPr/>
        <p:txBody>
          <a:bodyPr>
            <a:normAutofit/>
          </a:bodyPr>
          <a:lstStyle/>
          <a:p>
            <a:endParaRPr lang="zh-CN" altLang="en-US" dirty="0"/>
          </a:p>
        </p:txBody>
      </p:sp>
      <p:sp>
        <p:nvSpPr>
          <p:cNvPr id="4" name="灯片编号占位符 3">
            <a:extLst>
              <a:ext uri="{FF2B5EF4-FFF2-40B4-BE49-F238E27FC236}">
                <a16:creationId xmlns:a16="http://schemas.microsoft.com/office/drawing/2014/main" id="{D1905D82-D8C6-2916-7C5F-8DCFA17AB888}"/>
              </a:ext>
            </a:extLst>
          </p:cNvPr>
          <p:cNvSpPr>
            <a:spLocks noGrp="1"/>
          </p:cNvSpPr>
          <p:nvPr>
            <p:ph type="sldNum" sz="quarter" idx="5"/>
          </p:nvPr>
        </p:nvSpPr>
        <p:spPr/>
        <p:txBody>
          <a:bodyPr/>
          <a:lstStyle/>
          <a:p>
            <a:fld id="{E8B51D7C-D7AA-4964-BAF5-C62E3AF24F6D}" type="slidenum">
              <a:rPr lang="zh-CN" altLang="en-US" smtClean="0"/>
              <a:t>38</a:t>
            </a:fld>
            <a:endParaRPr lang="en-US" altLang="zh-CN"/>
          </a:p>
        </p:txBody>
      </p:sp>
    </p:spTree>
    <p:extLst>
      <p:ext uri="{BB962C8B-B14F-4D97-AF65-F5344CB8AC3E}">
        <p14:creationId xmlns:p14="http://schemas.microsoft.com/office/powerpoint/2010/main" val="22811595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81000" y="76200"/>
            <a:ext cx="8229600" cy="533400"/>
          </a:xfrm>
        </p:spPr>
        <p:txBody>
          <a:bodyPr vert="horz" lIns="91440" tIns="45720" rIns="91440" bIns="45720" rtlCol="0" anchor="ctr">
            <a:noAutofit/>
          </a:bodyPr>
          <a:lstStyle>
            <a:lvl1pPr>
              <a:defRPr lang="zh-CN" altLang="en-US" sz="2800" b="1">
                <a:solidFill>
                  <a:srgbClr val="3674A8"/>
                </a:solidFill>
              </a:defRPr>
            </a:lvl1pPr>
          </a:lstStyle>
          <a:p>
            <a:pPr lvl="0"/>
            <a:r>
              <a:rPr lang="zh-CN" altLang="en-US" dirty="0"/>
              <a:t>单击此处编辑母版标题样式</a:t>
            </a:r>
          </a:p>
        </p:txBody>
      </p:sp>
      <p:cxnSp>
        <p:nvCxnSpPr>
          <p:cNvPr id="10" name="直接连接符 9"/>
          <p:cNvCxnSpPr/>
          <p:nvPr userDrawn="1"/>
        </p:nvCxnSpPr>
        <p:spPr>
          <a:xfrm>
            <a:off x="1090612" y="559680"/>
            <a:ext cx="7513836" cy="0"/>
          </a:xfrm>
          <a:prstGeom prst="line">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灯片编号占位符 5"/>
          <p:cNvSpPr txBox="1"/>
          <p:nvPr userDrawn="1"/>
        </p:nvSpPr>
        <p:spPr>
          <a:xfrm>
            <a:off x="8604448" y="0"/>
            <a:ext cx="539552" cy="576064"/>
          </a:xfrm>
          <a:prstGeom prst="rect">
            <a:avLst/>
          </a:prstGeom>
          <a:solidFill>
            <a:schemeClr val="accent6"/>
          </a:solidFill>
          <a:ln w="25400" cap="flat" cmpd="sng" algn="ctr">
            <a:noFill/>
            <a:prstDash val="solid"/>
          </a:ln>
        </p:spPr>
        <p:style>
          <a:lnRef idx="2">
            <a:schemeClr val="accent1">
              <a:shade val="50000"/>
            </a:schemeClr>
          </a:lnRef>
          <a:fillRef idx="1">
            <a:schemeClr val="accent1"/>
          </a:fillRef>
          <a:effectRef idx="0">
            <a:schemeClr val="accent1"/>
          </a:effectRef>
          <a:fontRef idx="none"/>
        </p:style>
        <p:txBody>
          <a:bodyPr vert="horz" lIns="0" tIns="45720" rIns="0" bIns="45720" rtlCol="0" anchor="ctr"/>
          <a:lstStyle>
            <a:defPPr>
              <a:defRPr lang="zh-CN"/>
            </a:defPPr>
            <a:lvl1pPr marL="0" algn="ctr" defTabSz="914400" rtl="0" eaLnBrk="1" latinLnBrk="0" hangingPunct="1">
              <a:defRPr sz="1400" b="1"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8B1CCC-5B4E-41DC-9FD8-30B8F0069F97}" type="slidenum">
              <a:rPr lang="zh-CN" altLang="en-US" sz="1400" smtClean="0"/>
              <a:t>‹#›</a:t>
            </a:fld>
            <a:endParaRPr lang="zh-CN" alt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3563897" y="1316765"/>
            <a:ext cx="5127109" cy="4632515"/>
          </a:xfrm>
        </p:spPr>
        <p:txBody>
          <a:bodyPr/>
          <a:lstStyle>
            <a:lvl1pPr>
              <a:defRPr b="1">
                <a:solidFill>
                  <a:schemeClr val="accent6"/>
                </a:solidFill>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图片占位符 2"/>
          <p:cNvSpPr>
            <a:spLocks noGrp="1"/>
          </p:cNvSpPr>
          <p:nvPr>
            <p:ph type="pic" idx="10"/>
          </p:nvPr>
        </p:nvSpPr>
        <p:spPr>
          <a:xfrm>
            <a:off x="452995" y="1371765"/>
            <a:ext cx="2880320" cy="463251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12" name="灯片编号占位符 5"/>
          <p:cNvSpPr txBox="1"/>
          <p:nvPr userDrawn="1"/>
        </p:nvSpPr>
        <p:spPr>
          <a:xfrm>
            <a:off x="8604448" y="0"/>
            <a:ext cx="539552" cy="576064"/>
          </a:xfrm>
          <a:prstGeom prst="rect">
            <a:avLst/>
          </a:prstGeom>
          <a:solidFill>
            <a:schemeClr val="accent6"/>
          </a:solidFill>
          <a:ln w="25400" cap="flat" cmpd="sng" algn="ctr">
            <a:noFill/>
            <a:prstDash val="solid"/>
          </a:ln>
        </p:spPr>
        <p:style>
          <a:lnRef idx="2">
            <a:schemeClr val="accent1">
              <a:shade val="50000"/>
            </a:schemeClr>
          </a:lnRef>
          <a:fillRef idx="1">
            <a:schemeClr val="accent1"/>
          </a:fillRef>
          <a:effectRef idx="0">
            <a:schemeClr val="accent1"/>
          </a:effectRef>
          <a:fontRef idx="none"/>
        </p:style>
        <p:txBody>
          <a:bodyPr vert="horz" lIns="0" tIns="45720" rIns="0" bIns="45720" rtlCol="0" anchor="ctr"/>
          <a:lstStyle>
            <a:defPPr>
              <a:defRPr lang="zh-CN"/>
            </a:defPPr>
            <a:lvl1pPr marL="0" algn="ctr" defTabSz="914400" rtl="0" eaLnBrk="1" latinLnBrk="0" hangingPunct="1">
              <a:defRPr sz="1400" b="1"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8B1CCC-5B4E-41DC-9FD8-30B8F0069F97}" type="slidenum">
              <a:rPr lang="zh-CN" altLang="en-US" sz="1400" smtClean="0"/>
              <a:t>‹#›</a:t>
            </a:fld>
            <a:endParaRPr lang="zh-CN" altLang="en-US" sz="1400" dirty="0"/>
          </a:p>
        </p:txBody>
      </p:sp>
      <p:sp>
        <p:nvSpPr>
          <p:cNvPr id="4" name="标题 1"/>
          <p:cNvSpPr txBox="1"/>
          <p:nvPr userDrawn="1"/>
        </p:nvSpPr>
        <p:spPr>
          <a:xfrm>
            <a:off x="381000" y="76200"/>
            <a:ext cx="8229600" cy="5334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lang="zh-CN" altLang="en-US" sz="2800" b="1" kern="1200">
                <a:solidFill>
                  <a:srgbClr val="3674A8"/>
                </a:solidFill>
                <a:latin typeface="微软雅黑" panose="020B0503020204020204" pitchFamily="34" charset="-122"/>
                <a:ea typeface="微软雅黑" panose="020B0503020204020204" pitchFamily="34" charset="-122"/>
                <a:cs typeface="+mj-cs"/>
              </a:defRPr>
            </a:lvl1pPr>
          </a:lstStyle>
          <a:p>
            <a:pPr fontAlgn="auto">
              <a:spcAft>
                <a:spcPts val="0"/>
              </a:spcAft>
            </a:pPr>
            <a:r>
              <a:rPr lang="zh-CN" altLang="en-US" dirty="0"/>
              <a:t>单击此处编辑母版标题样式</a:t>
            </a:r>
          </a:p>
        </p:txBody>
      </p:sp>
      <p:cxnSp>
        <p:nvCxnSpPr>
          <p:cNvPr id="5" name="直接连接符 4"/>
          <p:cNvCxnSpPr/>
          <p:nvPr userDrawn="1"/>
        </p:nvCxnSpPr>
        <p:spPr>
          <a:xfrm>
            <a:off x="1090612" y="559680"/>
            <a:ext cx="7513836" cy="0"/>
          </a:xfrm>
          <a:prstGeom prst="line">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2" name="灯片编号占位符 5"/>
          <p:cNvSpPr txBox="1"/>
          <p:nvPr userDrawn="1"/>
        </p:nvSpPr>
        <p:spPr>
          <a:xfrm>
            <a:off x="8604448" y="0"/>
            <a:ext cx="539552" cy="576064"/>
          </a:xfrm>
          <a:prstGeom prst="rect">
            <a:avLst/>
          </a:prstGeom>
          <a:solidFill>
            <a:schemeClr val="accent6"/>
          </a:solidFill>
          <a:ln w="25400" cap="flat" cmpd="sng" algn="ctr">
            <a:noFill/>
            <a:prstDash val="solid"/>
          </a:ln>
        </p:spPr>
        <p:style>
          <a:lnRef idx="2">
            <a:schemeClr val="accent1">
              <a:shade val="50000"/>
            </a:schemeClr>
          </a:lnRef>
          <a:fillRef idx="1">
            <a:schemeClr val="accent1"/>
          </a:fillRef>
          <a:effectRef idx="0">
            <a:schemeClr val="accent1"/>
          </a:effectRef>
          <a:fontRef idx="none"/>
        </p:style>
        <p:txBody>
          <a:bodyPr vert="horz" lIns="0" tIns="45720" rIns="0" bIns="45720" rtlCol="0" anchor="ctr"/>
          <a:lstStyle>
            <a:defPPr>
              <a:defRPr lang="zh-CN"/>
            </a:defPPr>
            <a:lvl1pPr marL="0" algn="ctr" defTabSz="914400" rtl="0" eaLnBrk="1" latinLnBrk="0" hangingPunct="1">
              <a:defRPr sz="1400" b="1"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8B1CCC-5B4E-41DC-9FD8-30B8F0069F97}" type="slidenum">
              <a:rPr lang="zh-CN" altLang="en-US" sz="1400" smtClean="0"/>
              <a:t>‹#›</a:t>
            </a:fld>
            <a:endParaRPr lang="zh-CN" altLang="en-US" sz="1400" dirty="0"/>
          </a:p>
        </p:txBody>
      </p:sp>
      <p:sp>
        <p:nvSpPr>
          <p:cNvPr id="2" name="标题 1"/>
          <p:cNvSpPr>
            <a:spLocks noGrp="1"/>
          </p:cNvSpPr>
          <p:nvPr>
            <p:ph type="title"/>
          </p:nvPr>
        </p:nvSpPr>
        <p:spPr>
          <a:xfrm>
            <a:off x="381000" y="76200"/>
            <a:ext cx="8229600" cy="533400"/>
          </a:xfrm>
        </p:spPr>
        <p:txBody>
          <a:bodyPr vert="horz" lIns="91440" tIns="45720" rIns="91440" bIns="45720" rtlCol="0" anchor="ctr">
            <a:noAutofit/>
          </a:bodyPr>
          <a:lstStyle>
            <a:lvl1pPr>
              <a:defRPr lang="zh-CN" altLang="en-US" sz="2800" b="1">
                <a:solidFill>
                  <a:srgbClr val="3674A8"/>
                </a:solidFill>
              </a:defRPr>
            </a:lvl1pPr>
          </a:lstStyle>
          <a:p>
            <a:pPr lvl="0"/>
            <a:r>
              <a:rPr lang="zh-CN" altLang="en-US" dirty="0"/>
              <a:t>单击此处编辑母版标题样式</a:t>
            </a:r>
          </a:p>
        </p:txBody>
      </p:sp>
      <p:cxnSp>
        <p:nvCxnSpPr>
          <p:cNvPr id="3" name="直接连接符 2"/>
          <p:cNvCxnSpPr/>
          <p:nvPr userDrawn="1"/>
        </p:nvCxnSpPr>
        <p:spPr>
          <a:xfrm>
            <a:off x="1090612" y="559680"/>
            <a:ext cx="7513836" cy="0"/>
          </a:xfrm>
          <a:prstGeom prst="line">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cxnSp>
        <p:nvCxnSpPr>
          <p:cNvPr id="10" name="直接连接符 9"/>
          <p:cNvCxnSpPr/>
          <p:nvPr userDrawn="1"/>
        </p:nvCxnSpPr>
        <p:spPr>
          <a:xfrm flipV="1">
            <a:off x="1051064" y="1027907"/>
            <a:ext cx="7464287"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灯片编号占位符 5"/>
          <p:cNvSpPr txBox="1"/>
          <p:nvPr userDrawn="1"/>
        </p:nvSpPr>
        <p:spPr>
          <a:xfrm>
            <a:off x="8604448" y="-26609"/>
            <a:ext cx="539552" cy="576064"/>
          </a:xfrm>
          <a:prstGeom prst="rect">
            <a:avLst/>
          </a:prstGeom>
          <a:solidFill>
            <a:schemeClr val="accent6"/>
          </a:solidFill>
          <a:ln w="25400" cap="flat" cmpd="sng" algn="ctr">
            <a:noFill/>
            <a:prstDash val="solid"/>
          </a:ln>
        </p:spPr>
        <p:style>
          <a:lnRef idx="2">
            <a:schemeClr val="accent1">
              <a:shade val="50000"/>
            </a:schemeClr>
          </a:lnRef>
          <a:fillRef idx="1">
            <a:schemeClr val="accent1"/>
          </a:fillRef>
          <a:effectRef idx="0">
            <a:schemeClr val="accent1"/>
          </a:effectRef>
          <a:fontRef idx="none"/>
        </p:style>
        <p:txBody>
          <a:bodyPr vert="horz" lIns="0" tIns="45720" rIns="0" bIns="45720" rtlCol="0" anchor="ctr"/>
          <a:lstStyle>
            <a:defPPr>
              <a:defRPr lang="zh-CN"/>
            </a:defPPr>
            <a:lvl1pPr marL="0" algn="ctr" defTabSz="914400" rtl="0" eaLnBrk="1" latinLnBrk="0" hangingPunct="1">
              <a:defRPr sz="1400" b="1"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8B1CCC-5B4E-41DC-9FD8-30B8F0069F97}" type="slidenum">
              <a:rPr lang="zh-CN" altLang="en-US" sz="1400" smtClean="0"/>
              <a:t>‹#›</a:t>
            </a:fld>
            <a:endParaRPr lang="zh-CN" altLang="en-US" sz="1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cxnSp>
        <p:nvCxnSpPr>
          <p:cNvPr id="10" name="直接连接符 9"/>
          <p:cNvCxnSpPr/>
          <p:nvPr userDrawn="1"/>
        </p:nvCxnSpPr>
        <p:spPr>
          <a:xfrm flipV="1">
            <a:off x="1051064" y="1027907"/>
            <a:ext cx="7464287"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灯片编号占位符 5"/>
          <p:cNvSpPr txBox="1"/>
          <p:nvPr userDrawn="1"/>
        </p:nvSpPr>
        <p:spPr>
          <a:xfrm>
            <a:off x="8604448" y="0"/>
            <a:ext cx="539552" cy="576064"/>
          </a:xfrm>
          <a:prstGeom prst="rect">
            <a:avLst/>
          </a:prstGeom>
          <a:solidFill>
            <a:schemeClr val="accent6"/>
          </a:solidFill>
          <a:ln w="25400" cap="flat" cmpd="sng" algn="ctr">
            <a:noFill/>
            <a:prstDash val="solid"/>
          </a:ln>
        </p:spPr>
        <p:style>
          <a:lnRef idx="2">
            <a:schemeClr val="accent1">
              <a:shade val="50000"/>
            </a:schemeClr>
          </a:lnRef>
          <a:fillRef idx="1">
            <a:schemeClr val="accent1"/>
          </a:fillRef>
          <a:effectRef idx="0">
            <a:schemeClr val="accent1"/>
          </a:effectRef>
          <a:fontRef idx="none"/>
        </p:style>
        <p:txBody>
          <a:bodyPr vert="horz" lIns="0" tIns="45720" rIns="0" bIns="45720" rtlCol="0" anchor="ctr"/>
          <a:lstStyle>
            <a:defPPr>
              <a:defRPr lang="zh-CN"/>
            </a:defPPr>
            <a:lvl1pPr marL="0" algn="ctr" defTabSz="914400" rtl="0" eaLnBrk="1" latinLnBrk="0" hangingPunct="1">
              <a:defRPr sz="1400" b="1"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8B1CCC-5B4E-41DC-9FD8-30B8F0069F97}" type="slidenum">
              <a:rPr lang="zh-CN" altLang="en-US" sz="1400" smtClean="0"/>
              <a:t>‹#›</a:t>
            </a:fld>
            <a:endParaRPr lang="zh-CN" altLang="en-US" sz="14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7" name="文本框 6"/>
          <p:cNvSpPr txBox="1"/>
          <p:nvPr userDrawn="1"/>
        </p:nvSpPr>
        <p:spPr>
          <a:xfrm>
            <a:off x="3238500" y="2971800"/>
            <a:ext cx="2667000" cy="196208"/>
          </a:xfrm>
          <a:prstGeom prst="rect">
            <a:avLst/>
          </a:prstGeom>
          <a:noFill/>
        </p:spPr>
        <p:txBody>
          <a:bodyPr wrap="square" rtlCol="0">
            <a:spAutoFit/>
          </a:bodyPr>
          <a:lstStyle/>
          <a:p>
            <a:r>
              <a:rPr lang="zh-CN" altLang="en-US" sz="225" dirty="0">
                <a:solidFill>
                  <a:schemeClr val="bg1">
                    <a:lumMod val="95000"/>
                  </a:schemeClr>
                </a:solidFill>
                <a:latin typeface="微软雅黑" panose="020B0503020204020204" pitchFamily="34" charset="-122"/>
                <a:ea typeface="微软雅黑" panose="020B0503020204020204" pitchFamily="34" charset="-122"/>
                <a:sym typeface="+mn-ea"/>
              </a:rPr>
              <a:t>感谢您下载小木头平台上提供的</a:t>
            </a:r>
            <a:r>
              <a:rPr lang="en-US" altLang="zh-CN" sz="225" dirty="0">
                <a:solidFill>
                  <a:schemeClr val="bg1">
                    <a:lumMod val="95000"/>
                  </a:schemeClr>
                </a:solidFill>
                <a:latin typeface="微软雅黑" panose="020B0503020204020204" pitchFamily="34" charset="-122"/>
                <a:ea typeface="微软雅黑" panose="020B0503020204020204" pitchFamily="34" charset="-122"/>
                <a:sym typeface="+mn-ea"/>
              </a:rPr>
              <a:t>PPT</a:t>
            </a:r>
            <a:r>
              <a:rPr lang="zh-CN" altLang="en-US" sz="225" dirty="0">
                <a:solidFill>
                  <a:schemeClr val="bg1">
                    <a:lumMod val="95000"/>
                  </a:schemeClr>
                </a:solidFill>
                <a:latin typeface="微软雅黑" panose="020B0503020204020204" pitchFamily="34" charset="-122"/>
                <a:ea typeface="微软雅黑" panose="020B0503020204020204" pitchFamily="34" charset="-122"/>
                <a:sym typeface="+mn-ea"/>
              </a:rPr>
              <a:t>作品，为了您和小木头以及原创作者的利益，请勿复制、传播、销售，否则将承担法律责任！小木头将对作品进行维权，按照传播下载次数进行十倍的索取赔偿！</a:t>
            </a:r>
          </a:p>
          <a:p>
            <a:r>
              <a:rPr lang="en-US" altLang="zh-CN" sz="450" dirty="0">
                <a:solidFill>
                  <a:schemeClr val="bg1">
                    <a:lumMod val="95000"/>
                  </a:schemeClr>
                </a:solidFill>
                <a:latin typeface="微软雅黑" panose="020B0503020204020204" pitchFamily="34" charset="-122"/>
                <a:ea typeface="微软雅黑" panose="020B0503020204020204" pitchFamily="34" charset="-122"/>
                <a:sym typeface="+mn-ea"/>
              </a:rPr>
              <a:t>ibaotu.com</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692702"/>
            <a:ext cx="8229600" cy="724943"/>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3" name="文本占位符 2"/>
          <p:cNvSpPr>
            <a:spLocks noGrp="1"/>
          </p:cNvSpPr>
          <p:nvPr>
            <p:ph type="body" idx="1"/>
          </p:nvPr>
        </p:nvSpPr>
        <p:spPr>
          <a:xfrm>
            <a:off x="461397" y="1700808"/>
            <a:ext cx="8229600" cy="427707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文本框 11"/>
          <p:cNvSpPr txBox="1"/>
          <p:nvPr userDrawn="1"/>
        </p:nvSpPr>
        <p:spPr>
          <a:xfrm>
            <a:off x="2" y="6553200"/>
            <a:ext cx="9143999" cy="300082"/>
          </a:xfrm>
          <a:prstGeom prst="rect">
            <a:avLst/>
          </a:prstGeom>
          <a:solidFill>
            <a:schemeClr val="accent1">
              <a:lumMod val="75000"/>
            </a:schemeClr>
          </a:solidFill>
        </p:spPr>
        <p:txBody>
          <a:bodyPr wrap="square" rtlCol="0">
            <a:spAutoFit/>
          </a:bodyPr>
          <a:lstStyle/>
          <a:p>
            <a:pPr algn="r"/>
            <a:r>
              <a:rPr lang="zh-CN" altLang="en-US" sz="1350" dirty="0">
                <a:solidFill>
                  <a:schemeClr val="bg1"/>
                </a:solidFill>
                <a:latin typeface="黑体" panose="02010609060101010101" pitchFamily="49" charset="-122"/>
                <a:ea typeface="黑体" panose="02010609060101010101" pitchFamily="49" charset="-122"/>
              </a:rPr>
              <a:t>广东石油化工学院</a:t>
            </a:r>
          </a:p>
        </p:txBody>
      </p:sp>
      <p:graphicFrame>
        <p:nvGraphicFramePr>
          <p:cNvPr id="5" name="对象 4"/>
          <p:cNvGraphicFramePr/>
          <p:nvPr userDrawn="1">
            <p:custDataLst>
              <p:tags r:id="rId9"/>
            </p:custDataLst>
          </p:nvPr>
        </p:nvGraphicFramePr>
        <p:xfrm>
          <a:off x="0" y="0"/>
          <a:ext cx="1090612" cy="1100138"/>
        </p:xfrm>
        <a:graphic>
          <a:graphicData uri="http://schemas.openxmlformats.org/presentationml/2006/ole">
            <mc:AlternateContent xmlns:mc="http://schemas.openxmlformats.org/markup-compatibility/2006">
              <mc:Choice xmlns:v="urn:schemas-microsoft-com:vml" Requires="v">
                <p:oleObj r:id="rId11" imgW="3187065" imgH="3174365" progId="">
                  <p:embed/>
                </p:oleObj>
              </mc:Choice>
              <mc:Fallback>
                <p:oleObj r:id="rId11" imgW="3187065" imgH="3174365" progId="">
                  <p:embed/>
                  <p:pic>
                    <p:nvPicPr>
                      <p:cNvPr id="0" name="对象 4"/>
                      <p:cNvPicPr/>
                      <p:nvPr/>
                    </p:nvPicPr>
                    <p:blipFill>
                      <a:blip r:embed="rId12"/>
                      <a:stretch>
                        <a:fillRect/>
                      </a:stretch>
                    </p:blipFill>
                    <p:spPr>
                      <a:xfrm>
                        <a:off x="0" y="0"/>
                        <a:ext cx="1090612" cy="1100138"/>
                      </a:xfrm>
                      <a:prstGeom prst="rect">
                        <a:avLst/>
                      </a:prstGeom>
                    </p:spPr>
                  </p:pic>
                </p:oleObj>
              </mc:Fallback>
            </mc:AlternateContent>
          </a:graphicData>
        </a:graphic>
      </p:graphicFrame>
      <p:sp>
        <p:nvSpPr>
          <p:cNvPr id="6" name="文本框 5"/>
          <p:cNvSpPr txBox="1"/>
          <p:nvPr userDrawn="1"/>
        </p:nvSpPr>
        <p:spPr>
          <a:xfrm>
            <a:off x="1" y="6553200"/>
            <a:ext cx="3806183" cy="300082"/>
          </a:xfrm>
          <a:prstGeom prst="rect">
            <a:avLst/>
          </a:prstGeom>
          <a:noFill/>
        </p:spPr>
        <p:txBody>
          <a:bodyPr wrap="square" rtlCol="0">
            <a:spAutoFit/>
          </a:bodyPr>
          <a:lstStyle/>
          <a:p>
            <a:pPr marL="0" algn="l" defTabSz="914400" rtl="0" eaLnBrk="1" latinLnBrk="0" hangingPunct="1"/>
            <a:r>
              <a:rPr lang="en-US" altLang="zh-CN" sz="1350" kern="1200" dirty="0">
                <a:solidFill>
                  <a:schemeClr val="bg1"/>
                </a:solidFill>
                <a:latin typeface="黑体" panose="02010609060101010101" pitchFamily="49" charset="-122"/>
                <a:ea typeface="黑体" panose="02010609060101010101" pitchFamily="49" charset="-122"/>
                <a:cs typeface="+mn-cs"/>
              </a:rPr>
              <a:t>《</a:t>
            </a:r>
            <a:r>
              <a:rPr lang="zh-CN" altLang="en-US" sz="1350" kern="1200" dirty="0">
                <a:solidFill>
                  <a:schemeClr val="bg1"/>
                </a:solidFill>
                <a:latin typeface="黑体" panose="02010609060101010101" pitchFamily="49" charset="-122"/>
                <a:ea typeface="黑体" panose="02010609060101010101" pitchFamily="49" charset="-122"/>
                <a:cs typeface="+mn-cs"/>
              </a:rPr>
              <a:t>机器学习</a:t>
            </a:r>
            <a:r>
              <a:rPr lang="en-US" altLang="zh-CN" sz="1350" kern="1200" dirty="0">
                <a:solidFill>
                  <a:schemeClr val="bg1"/>
                </a:solidFill>
                <a:latin typeface="黑体" panose="02010609060101010101" pitchFamily="49" charset="-122"/>
                <a:ea typeface="黑体" panose="02010609060101010101" pitchFamily="49" charset="-122"/>
                <a:cs typeface="+mn-cs"/>
              </a:rPr>
              <a:t>》</a:t>
            </a:r>
            <a:endParaRPr lang="zh-CN" altLang="en-US" sz="1350" kern="1200" dirty="0">
              <a:solidFill>
                <a:schemeClr val="bg1"/>
              </a:solidFill>
              <a:latin typeface="黑体" panose="02010609060101010101" pitchFamily="49" charset="-122"/>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ctr" defTabSz="914400" rtl="0" eaLnBrk="1" latinLnBrk="0" hangingPunct="1">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lnSpc>
          <a:spcPct val="150000"/>
        </a:lnSpc>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naconda.com/download/succes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code.visualstudio.com/Download"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mirrors.tuna.tsinghua.edu.cn/help/anaconda/"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866900" y="2293304"/>
            <a:ext cx="5410200" cy="2271391"/>
          </a:xfrm>
          <a:prstGeom prst="rect">
            <a:avLst/>
          </a:prstGeom>
        </p:spPr>
        <p:txBody>
          <a:bodyPr wrap="square" lIns="0" tIns="0" rIns="0" bIns="0" anchor="b">
            <a:spAutoFit/>
          </a:bodyPr>
          <a:lstStyle/>
          <a:p>
            <a:pPr algn="ctr" defTabSz="913130" eaLnBrk="0" hangingPunct="0">
              <a:lnSpc>
                <a:spcPct val="90000"/>
              </a:lnSpc>
              <a:defRPr/>
            </a:pPr>
            <a:r>
              <a:rPr lang="zh-CN" altLang="en-US" sz="8000" b="1" spc="-125" dirty="0">
                <a:latin typeface="楷体" panose="02010609060101010101" pitchFamily="49" charset="-122"/>
                <a:ea typeface="楷体" panose="02010609060101010101" pitchFamily="49" charset="-122"/>
                <a:cs typeface="+mj-cs"/>
              </a:rPr>
              <a:t>机器学习</a:t>
            </a:r>
            <a:endParaRPr lang="en-US" altLang="zh-CN" sz="8000" b="1" spc="-125" dirty="0">
              <a:latin typeface="楷体" panose="02010609060101010101" pitchFamily="49" charset="-122"/>
              <a:ea typeface="楷体" panose="02010609060101010101" pitchFamily="49" charset="-122"/>
              <a:cs typeface="+mj-cs"/>
            </a:endParaRPr>
          </a:p>
          <a:p>
            <a:pPr algn="ctr" defTabSz="913130" eaLnBrk="0" hangingPunct="0">
              <a:lnSpc>
                <a:spcPct val="90000"/>
              </a:lnSpc>
              <a:defRPr/>
            </a:pPr>
            <a:endParaRPr lang="en-US" altLang="zh-CN" sz="4400" b="1" spc="-125" dirty="0">
              <a:latin typeface="楷体" panose="02010609060101010101" pitchFamily="49" charset="-122"/>
              <a:ea typeface="楷体" panose="02010609060101010101" pitchFamily="49" charset="-122"/>
              <a:cs typeface="+mj-cs"/>
            </a:endParaRPr>
          </a:p>
          <a:p>
            <a:pPr algn="ctr" defTabSz="913130" eaLnBrk="0" hangingPunct="0">
              <a:lnSpc>
                <a:spcPct val="90000"/>
              </a:lnSpc>
              <a:defRPr/>
            </a:pPr>
            <a:r>
              <a:rPr lang="zh-CN" altLang="en-US" sz="4000" b="1" spc="-125" dirty="0">
                <a:latin typeface="楷体" panose="02010609060101010101" pitchFamily="49" charset="-122"/>
                <a:ea typeface="楷体" panose="02010609060101010101" pitchFamily="49" charset="-122"/>
                <a:cs typeface="+mj-cs"/>
              </a:rPr>
              <a:t>上机实践课</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numCol="1" anchorCtr="0" compatLnSpc="1"/>
          <a:lstStyle/>
          <a:p>
            <a:pPr>
              <a:defRPr/>
            </a:pPr>
            <a:r>
              <a:rPr lang="zh-CN" altLang="en-US" sz="3200" b="1" dirty="0">
                <a:ln>
                  <a:noFill/>
                </a:ln>
                <a:solidFill>
                  <a:schemeClr val="tx2"/>
                </a:solidFill>
                <a:latin typeface="楷体" panose="02010609060101010101" pitchFamily="49" charset="-122"/>
                <a:ea typeface="楷体" panose="02010609060101010101" pitchFamily="49" charset="-122"/>
              </a:rPr>
              <a:t>目 录</a:t>
            </a:r>
          </a:p>
        </p:txBody>
      </p:sp>
      <p:sp>
        <p:nvSpPr>
          <p:cNvPr id="24579" name="矩形 9"/>
          <p:cNvSpPr>
            <a:spLocks noChangeArrowheads="1"/>
          </p:cNvSpPr>
          <p:nvPr/>
        </p:nvSpPr>
        <p:spPr bwMode="auto">
          <a:xfrm>
            <a:off x="1329358" y="1755321"/>
            <a:ext cx="7535516" cy="366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机器学习概念</a:t>
            </a:r>
            <a:endParaRPr lang="en-US" altLang="zh-CN" sz="4000" dirty="0">
              <a:latin typeface="Times New Roman" panose="02020603050405020304" pitchFamily="18" charset="0"/>
              <a:ea typeface="楷体" panose="02010609060101010101" pitchFamily="49" charset="-122"/>
            </a:endParaRP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机器学习编程基础</a:t>
            </a:r>
            <a:r>
              <a:rPr lang="en-US" altLang="zh-CN" sz="4000" dirty="0">
                <a:latin typeface="Times New Roman" panose="02020603050405020304" pitchFamily="18" charset="0"/>
                <a:ea typeface="楷体" panose="02010609060101010101" pitchFamily="49" charset="-122"/>
              </a:rPr>
              <a:t>——Python</a:t>
            </a: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机器学习算法开发流程</a:t>
            </a:r>
            <a:endParaRPr lang="en-US" altLang="zh-CN" sz="4000" dirty="0">
              <a:latin typeface="Times New Roman" panose="02020603050405020304" pitchFamily="18" charset="0"/>
              <a:ea typeface="楷体" panose="02010609060101010101" pitchFamily="49" charset="-122"/>
            </a:endParaRP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经典机器学习算法及其案例</a:t>
            </a:r>
          </a:p>
        </p:txBody>
      </p:sp>
      <p:sp>
        <p:nvSpPr>
          <p:cNvPr id="24581" name="矩形 13"/>
          <p:cNvSpPr>
            <a:spLocks noChangeArrowheads="1"/>
          </p:cNvSpPr>
          <p:nvPr/>
        </p:nvSpPr>
        <p:spPr bwMode="auto">
          <a:xfrm>
            <a:off x="1295400" y="1752600"/>
            <a:ext cx="3733800" cy="914400"/>
          </a:xfrm>
          <a:prstGeom prst="rect">
            <a:avLst/>
          </a:prstGeom>
          <a:noFill/>
          <a:ln w="34925" algn="ctr">
            <a:solidFill>
              <a:srgbClr val="0070C0"/>
            </a:solidFill>
            <a:round/>
          </a:ln>
          <a:extLst>
            <a:ext uri="{909E8E84-426E-40DD-AFC4-6F175D3DCCD1}">
              <a14:hiddenFill xmlns:a14="http://schemas.microsoft.com/office/drawing/2010/main">
                <a:solidFill>
                  <a:srgbClr val="FFFFFF"/>
                </a:solidFill>
              </a14:hiddenFill>
            </a:ext>
          </a:extLst>
        </p:spPr>
        <p:txBody>
          <a:bodyPr lIns="89545" tIns="0" rIns="0" bIns="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10000"/>
              </a:spcBef>
              <a:buClr>
                <a:srgbClr val="0000CC"/>
              </a:buClr>
              <a:buFont typeface="Wingdings" panose="05000000000000000000" pitchFamily="2" charset="2"/>
              <a:buChar char="u"/>
            </a:pPr>
            <a:endParaRPr lang="zh-CN" altLang="en-US" sz="4000">
              <a:latin typeface="楷体_GB2312" pitchFamily="49" charset="-122"/>
              <a:ea typeface="楷体_GB2312"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numCol="1" anchorCtr="0" compatLnSpc="1"/>
          <a:lstStyle/>
          <a:p>
            <a:pPr>
              <a:defRPr/>
            </a:pPr>
            <a:r>
              <a:rPr lang="zh-CN" altLang="en-US" dirty="0">
                <a:ln>
                  <a:noFill/>
                </a:ln>
                <a:solidFill>
                  <a:schemeClr val="tx2"/>
                </a:solidFill>
                <a:latin typeface="楷体" panose="02010609060101010101" pitchFamily="49" charset="-122"/>
                <a:ea typeface="楷体" panose="02010609060101010101" pitchFamily="49" charset="-122"/>
              </a:rPr>
              <a:t>机器学习概念</a:t>
            </a:r>
            <a:r>
              <a:rPr lang="en-US" altLang="zh-CN" dirty="0">
                <a:ln>
                  <a:noFill/>
                </a:ln>
                <a:solidFill>
                  <a:schemeClr val="tx2"/>
                </a:solidFill>
                <a:latin typeface="楷体" panose="02010609060101010101" pitchFamily="49" charset="-122"/>
                <a:ea typeface="楷体" panose="02010609060101010101" pitchFamily="49" charset="-122"/>
              </a:rPr>
              <a:t>——</a:t>
            </a:r>
            <a:r>
              <a:rPr lang="zh-CN" altLang="en-US" dirty="0">
                <a:ln>
                  <a:noFill/>
                </a:ln>
                <a:solidFill>
                  <a:schemeClr val="tx2"/>
                </a:solidFill>
                <a:latin typeface="楷体" panose="02010609060101010101" pitchFamily="49" charset="-122"/>
                <a:ea typeface="楷体" panose="02010609060101010101" pitchFamily="49" charset="-122"/>
              </a:rPr>
              <a:t>基础类型</a:t>
            </a:r>
          </a:p>
        </p:txBody>
      </p:sp>
      <p:pic>
        <p:nvPicPr>
          <p:cNvPr id="5" name="图片 4"/>
          <p:cNvPicPr>
            <a:picLocks noChangeAspect="1"/>
          </p:cNvPicPr>
          <p:nvPr/>
        </p:nvPicPr>
        <p:blipFill rotWithShape="1">
          <a:blip r:embed="rId2"/>
          <a:srcRect t="3732" b="6490"/>
          <a:stretch>
            <a:fillRect/>
          </a:stretch>
        </p:blipFill>
        <p:spPr>
          <a:xfrm>
            <a:off x="1076738" y="801691"/>
            <a:ext cx="7533862" cy="525461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numCol="1" anchorCtr="0" compatLnSpc="1"/>
          <a:lstStyle/>
          <a:p>
            <a:pPr>
              <a:defRPr/>
            </a:pPr>
            <a:r>
              <a:rPr lang="zh-CN" altLang="en-US" sz="3200" b="1" dirty="0">
                <a:ln>
                  <a:noFill/>
                </a:ln>
                <a:solidFill>
                  <a:schemeClr val="tx2"/>
                </a:solidFill>
                <a:latin typeface="楷体" panose="02010609060101010101" pitchFamily="49" charset="-122"/>
                <a:ea typeface="楷体" panose="02010609060101010101" pitchFamily="49" charset="-122"/>
              </a:rPr>
              <a:t>目 录</a:t>
            </a:r>
          </a:p>
        </p:txBody>
      </p:sp>
      <p:sp>
        <p:nvSpPr>
          <p:cNvPr id="24579" name="矩形 9"/>
          <p:cNvSpPr>
            <a:spLocks noChangeArrowheads="1"/>
          </p:cNvSpPr>
          <p:nvPr/>
        </p:nvSpPr>
        <p:spPr bwMode="auto">
          <a:xfrm>
            <a:off x="1329358" y="1755321"/>
            <a:ext cx="7535516" cy="366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机器学习概念</a:t>
            </a:r>
            <a:endParaRPr lang="en-US" altLang="zh-CN" sz="4000" dirty="0">
              <a:latin typeface="Times New Roman" panose="02020603050405020304" pitchFamily="18" charset="0"/>
              <a:ea typeface="楷体" panose="02010609060101010101" pitchFamily="49" charset="-122"/>
            </a:endParaRP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机器学习编程基础</a:t>
            </a:r>
            <a:r>
              <a:rPr lang="en-US" altLang="zh-CN" sz="4000" dirty="0">
                <a:latin typeface="Times New Roman" panose="02020603050405020304" pitchFamily="18" charset="0"/>
                <a:ea typeface="楷体" panose="02010609060101010101" pitchFamily="49" charset="-122"/>
              </a:rPr>
              <a:t>——Python</a:t>
            </a: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机器学习开发流程</a:t>
            </a:r>
            <a:endParaRPr lang="en-US" altLang="zh-CN" sz="4000" dirty="0">
              <a:latin typeface="Times New Roman" panose="02020603050405020304" pitchFamily="18" charset="0"/>
              <a:ea typeface="楷体" panose="02010609060101010101" pitchFamily="49" charset="-122"/>
            </a:endParaRP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经典机器学习算法及其案例</a:t>
            </a:r>
          </a:p>
        </p:txBody>
      </p:sp>
      <p:sp>
        <p:nvSpPr>
          <p:cNvPr id="24581" name="矩形 13"/>
          <p:cNvSpPr>
            <a:spLocks noChangeArrowheads="1"/>
          </p:cNvSpPr>
          <p:nvPr/>
        </p:nvSpPr>
        <p:spPr bwMode="auto">
          <a:xfrm>
            <a:off x="1299422" y="2743200"/>
            <a:ext cx="7158778" cy="914400"/>
          </a:xfrm>
          <a:prstGeom prst="rect">
            <a:avLst/>
          </a:prstGeom>
          <a:noFill/>
          <a:ln w="34925" algn="ctr">
            <a:solidFill>
              <a:srgbClr val="0070C0"/>
            </a:solidFill>
            <a:round/>
          </a:ln>
          <a:extLst>
            <a:ext uri="{909E8E84-426E-40DD-AFC4-6F175D3DCCD1}">
              <a14:hiddenFill xmlns:a14="http://schemas.microsoft.com/office/drawing/2010/main">
                <a:solidFill>
                  <a:srgbClr val="FFFFFF"/>
                </a:solidFill>
              </a14:hiddenFill>
            </a:ext>
          </a:extLst>
        </p:spPr>
        <p:txBody>
          <a:bodyPr lIns="89545" tIns="0" rIns="0" bIns="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10000"/>
              </a:spcBef>
              <a:buClr>
                <a:srgbClr val="0000CC"/>
              </a:buClr>
              <a:buFont typeface="Wingdings" panose="05000000000000000000" pitchFamily="2" charset="2"/>
              <a:buChar char="u"/>
            </a:pPr>
            <a:endParaRPr lang="zh-CN" altLang="en-US" sz="4000">
              <a:latin typeface="楷体_GB2312" pitchFamily="49" charset="-122"/>
              <a:ea typeface="楷体_GB2312"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68036" y="1070882"/>
            <a:ext cx="4724400" cy="107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ctr">
              <a:spcBef>
                <a:spcPct val="20000"/>
              </a:spcBef>
              <a:buClr>
                <a:schemeClr val="hlink"/>
              </a:buClr>
              <a:buSzPts val="1600"/>
            </a:pPr>
            <a:r>
              <a:rPr lang="zh-CN" altLang="en-US" sz="2000" dirty="0">
                <a:latin typeface="Times New Roman" panose="02020603050405020304" pitchFamily="18" charset="0"/>
                <a:ea typeface="楷体" panose="02010609060101010101" pitchFamily="49" charset="-122"/>
                <a:cs typeface="Arial Unicode MS" pitchFamily="34" charset="-122"/>
              </a:rPr>
              <a:t>①开源集成的</a:t>
            </a:r>
            <a:r>
              <a:rPr lang="en-US" altLang="zh-CN" sz="2000" dirty="0">
                <a:latin typeface="Times New Roman" panose="02020603050405020304" pitchFamily="18" charset="0"/>
                <a:ea typeface="楷体" panose="02010609060101010101" pitchFamily="49" charset="-122"/>
                <a:cs typeface="Arial Unicode MS" pitchFamily="34" charset="-122"/>
              </a:rPr>
              <a:t>Python</a:t>
            </a:r>
            <a:r>
              <a:rPr lang="zh-CN" altLang="en-US" sz="2000" dirty="0">
                <a:latin typeface="Times New Roman" panose="02020603050405020304" pitchFamily="18" charset="0"/>
                <a:ea typeface="楷体" panose="02010609060101010101" pitchFamily="49" charset="-122"/>
                <a:cs typeface="Arial Unicode MS" pitchFamily="34" charset="-122"/>
              </a:rPr>
              <a:t>环境</a:t>
            </a:r>
            <a:r>
              <a:rPr lang="en-US" altLang="zh-CN" sz="2000" dirty="0">
                <a:latin typeface="Times New Roman" panose="02020603050405020304" pitchFamily="18" charset="0"/>
                <a:ea typeface="楷体" panose="02010609060101010101" pitchFamily="49" charset="-122"/>
                <a:cs typeface="Arial Unicode MS" pitchFamily="34" charset="-122"/>
              </a:rPr>
              <a:t>Anaconda</a:t>
            </a:r>
            <a:r>
              <a:rPr lang="zh-CN" altLang="en-US" sz="2000" dirty="0">
                <a:latin typeface="Times New Roman" panose="02020603050405020304" pitchFamily="18" charset="0"/>
                <a:ea typeface="楷体" panose="02010609060101010101" pitchFamily="49" charset="-122"/>
                <a:cs typeface="Arial Unicode MS" pitchFamily="34" charset="-122"/>
              </a:rPr>
              <a:t>：</a:t>
            </a:r>
            <a:r>
              <a:rPr lang="en-US" altLang="zh-CN" sz="2000" dirty="0">
                <a:latin typeface="Times New Roman" panose="02020603050405020304" pitchFamily="18" charset="0"/>
                <a:ea typeface="楷体" panose="02010609060101010101" pitchFamily="49" charset="-122"/>
                <a:cs typeface="Arial Unicode MS" pitchFamily="34" charset="-122"/>
                <a:hlinkClick r:id="rId3"/>
              </a:rPr>
              <a:t>https://www.anaconda.com/download/success</a:t>
            </a:r>
            <a:endParaRPr lang="en-US" altLang="zh-CN" sz="2000" dirty="0">
              <a:latin typeface="Times New Roman" panose="02020603050405020304" pitchFamily="18" charset="0"/>
              <a:ea typeface="楷体" panose="02010609060101010101" pitchFamily="49" charset="-122"/>
              <a:cs typeface="Arial Unicode MS" pitchFamily="34" charset="-122"/>
            </a:endParaRPr>
          </a:p>
          <a:p>
            <a:pPr marL="0" indent="0" algn="ctr">
              <a:spcBef>
                <a:spcPct val="20000"/>
              </a:spcBef>
              <a:buClr>
                <a:schemeClr val="hlink"/>
              </a:buClr>
              <a:buSzPts val="1600"/>
            </a:pPr>
            <a:endParaRPr lang="en-US" altLang="zh-CN" sz="2000" dirty="0">
              <a:latin typeface="Times New Roman" panose="02020603050405020304" pitchFamily="18" charset="0"/>
              <a:ea typeface="楷体" panose="02010609060101010101" pitchFamily="49" charset="-122"/>
              <a:cs typeface="Arial Unicode MS" pitchFamily="34" charset="-122"/>
            </a:endParaRPr>
          </a:p>
        </p:txBody>
      </p:sp>
      <p:sp>
        <p:nvSpPr>
          <p:cNvPr id="4" name="文本框 3"/>
          <p:cNvSpPr txBox="1"/>
          <p:nvPr/>
        </p:nvSpPr>
        <p:spPr>
          <a:xfrm>
            <a:off x="4615543" y="1100138"/>
            <a:ext cx="4419600" cy="707886"/>
          </a:xfrm>
          <a:prstGeom prst="rect">
            <a:avLst/>
          </a:prstGeom>
          <a:noFill/>
        </p:spPr>
        <p:txBody>
          <a:bodyPr wrap="square">
            <a:spAutoFit/>
          </a:bodyPr>
          <a:lstStyle/>
          <a:p>
            <a:pPr marL="0" algn="ctr">
              <a:spcBef>
                <a:spcPct val="20000"/>
              </a:spcBef>
              <a:buClr>
                <a:schemeClr val="hlink"/>
              </a:buClr>
              <a:buSzPts val="1600"/>
            </a:pPr>
            <a:r>
              <a:rPr lang="zh-CN" altLang="en-US" sz="2000" dirty="0">
                <a:latin typeface="Times New Roman" panose="02020603050405020304" pitchFamily="18" charset="0"/>
                <a:ea typeface="楷体" panose="02010609060101010101" pitchFamily="49" charset="-122"/>
                <a:cs typeface="Arial Unicode MS" pitchFamily="34" charset="-122"/>
              </a:rPr>
              <a:t>②代码编辑器</a:t>
            </a:r>
            <a:r>
              <a:rPr lang="en-US" altLang="zh-CN" sz="2000" dirty="0">
                <a:latin typeface="Times New Roman" panose="02020603050405020304" pitchFamily="18" charset="0"/>
                <a:ea typeface="楷体" panose="02010609060101010101" pitchFamily="49" charset="-122"/>
                <a:cs typeface="Arial Unicode MS" pitchFamily="34" charset="-122"/>
              </a:rPr>
              <a:t>Visual Studio Code: </a:t>
            </a:r>
            <a:r>
              <a:rPr lang="en-US" altLang="zh-CN" sz="2000" dirty="0">
                <a:latin typeface="Times New Roman" panose="02020603050405020304" pitchFamily="18" charset="0"/>
                <a:ea typeface="楷体" panose="02010609060101010101" pitchFamily="49" charset="-122"/>
                <a:cs typeface="Arial Unicode MS" pitchFamily="34" charset="-122"/>
                <a:hlinkClick r:id="rId4"/>
              </a:rPr>
              <a:t>https://code.visualstudio.com/Download</a:t>
            </a:r>
            <a:endParaRPr lang="en-US" altLang="zh-CN" sz="2000" dirty="0">
              <a:latin typeface="Times New Roman" panose="02020603050405020304" pitchFamily="18" charset="0"/>
              <a:ea typeface="楷体" panose="02010609060101010101" pitchFamily="49" charset="-122"/>
              <a:cs typeface="Arial Unicode MS" pitchFamily="34" charset="-122"/>
            </a:endParaRPr>
          </a:p>
        </p:txBody>
      </p:sp>
      <p:pic>
        <p:nvPicPr>
          <p:cNvPr id="5" name="图片 4"/>
          <p:cNvPicPr>
            <a:picLocks noChangeAspect="1"/>
          </p:cNvPicPr>
          <p:nvPr/>
        </p:nvPicPr>
        <p:blipFill>
          <a:blip r:embed="rId5"/>
          <a:stretch>
            <a:fillRect/>
          </a:stretch>
        </p:blipFill>
        <p:spPr>
          <a:xfrm>
            <a:off x="4615543" y="1981200"/>
            <a:ext cx="4478645" cy="3424918"/>
          </a:xfrm>
          <a:prstGeom prst="rect">
            <a:avLst/>
          </a:prstGeom>
        </p:spPr>
      </p:pic>
      <p:pic>
        <p:nvPicPr>
          <p:cNvPr id="6" name="图片 5"/>
          <p:cNvPicPr>
            <a:picLocks noChangeAspect="1"/>
          </p:cNvPicPr>
          <p:nvPr/>
        </p:nvPicPr>
        <p:blipFill>
          <a:blip r:embed="rId6"/>
          <a:stretch>
            <a:fillRect/>
          </a:stretch>
        </p:blipFill>
        <p:spPr>
          <a:xfrm>
            <a:off x="76200" y="1981200"/>
            <a:ext cx="4346718" cy="3424918"/>
          </a:xfrm>
          <a:prstGeom prst="rect">
            <a:avLst/>
          </a:prstGeom>
        </p:spPr>
      </p:pic>
      <p:sp>
        <p:nvSpPr>
          <p:cNvPr id="8" name="文本框 7"/>
          <p:cNvSpPr txBox="1"/>
          <p:nvPr/>
        </p:nvSpPr>
        <p:spPr>
          <a:xfrm>
            <a:off x="87086" y="5792560"/>
            <a:ext cx="9296400" cy="461665"/>
          </a:xfrm>
          <a:prstGeom prst="rect">
            <a:avLst/>
          </a:prstGeom>
          <a:noFill/>
        </p:spPr>
        <p:txBody>
          <a:bodyPr wrap="square">
            <a:spAutoFit/>
          </a:bodyPr>
          <a:lstStyle/>
          <a:p>
            <a:r>
              <a:rPr lang="zh-CN" altLang="en-US" sz="2400" dirty="0">
                <a:latin typeface="Times New Roman" panose="02020603050405020304" pitchFamily="18" charset="0"/>
              </a:rPr>
              <a:t>③基于</a:t>
            </a:r>
            <a:r>
              <a:rPr lang="en-US" altLang="zh-CN" sz="2400" dirty="0">
                <a:latin typeface="Times New Roman" panose="02020603050405020304" pitchFamily="18" charset="0"/>
              </a:rPr>
              <a:t>Web</a:t>
            </a:r>
            <a:r>
              <a:rPr lang="zh-CN" altLang="en-US" sz="2400" dirty="0">
                <a:latin typeface="Times New Roman" panose="02020603050405020304" pitchFamily="18" charset="0"/>
              </a:rPr>
              <a:t>的交互式笔记本应用</a:t>
            </a:r>
            <a:r>
              <a:rPr lang="en-US" altLang="zh-CN" sz="2400" dirty="0" err="1">
                <a:latin typeface="Times New Roman" panose="02020603050405020304" pitchFamily="18" charset="0"/>
              </a:rPr>
              <a:t>Jupyter</a:t>
            </a:r>
            <a:r>
              <a:rPr lang="en-US" altLang="zh-CN" sz="2400" dirty="0">
                <a:latin typeface="Times New Roman" panose="02020603050405020304" pitchFamily="18" charset="0"/>
              </a:rPr>
              <a:t> notebook</a:t>
            </a:r>
            <a:r>
              <a:rPr lang="zh-CN" altLang="en-US" sz="2400" dirty="0">
                <a:latin typeface="Times New Roman" panose="02020603050405020304" pitchFamily="18" charset="0"/>
              </a:rPr>
              <a:t>：</a:t>
            </a:r>
            <a:r>
              <a:rPr lang="en-US" altLang="zh-CN" sz="2400" dirty="0">
                <a:latin typeface="Times New Roman" panose="02020603050405020304" pitchFamily="18" charset="0"/>
              </a:rPr>
              <a:t>pip install </a:t>
            </a:r>
            <a:r>
              <a:rPr lang="en-US" altLang="zh-CN" sz="2400" dirty="0" err="1">
                <a:latin typeface="Times New Roman" panose="02020603050405020304" pitchFamily="18" charset="0"/>
              </a:rPr>
              <a:t>Jupyter</a:t>
            </a:r>
            <a:endParaRPr lang="en-US" altLang="zh-CN" sz="2400" dirty="0">
              <a:latin typeface="Times New Roman" panose="02020603050405020304" pitchFamily="18" charset="0"/>
            </a:endParaRPr>
          </a:p>
        </p:txBody>
      </p:sp>
      <p:sp>
        <p:nvSpPr>
          <p:cNvPr id="10" name="Rectangle 2">
            <a:extLst>
              <a:ext uri="{FF2B5EF4-FFF2-40B4-BE49-F238E27FC236}">
                <a16:creationId xmlns:a16="http://schemas.microsoft.com/office/drawing/2014/main" id="{09A48A4E-AFAA-C743-FA77-9E9E0A1586E3}"/>
              </a:ext>
            </a:extLst>
          </p:cNvPr>
          <p:cNvSpPr>
            <a:spLocks noGrp="1"/>
          </p:cNvSpPr>
          <p:nvPr>
            <p:ph type="title"/>
          </p:nvPr>
        </p:nvSpPr>
        <p:spPr bwMode="auto">
          <a:xfrm>
            <a:off x="381000" y="76200"/>
            <a:ext cx="8229600" cy="533400"/>
          </a:xfrm>
        </p:spPr>
        <p:txBody>
          <a:bodyPr numCol="1" anchorCtr="0" compatLnSpc="1"/>
          <a:lstStyle/>
          <a:p>
            <a:pPr algn="ctr">
              <a:defRPr/>
            </a:pPr>
            <a:r>
              <a:rPr lang="en-US" altLang="zh-CN" dirty="0">
                <a:ln>
                  <a:noFill/>
                </a:ln>
                <a:solidFill>
                  <a:schemeClr val="tx2"/>
                </a:solidFill>
                <a:latin typeface="Times New Roman" panose="02020603050405020304" pitchFamily="18" charset="0"/>
                <a:ea typeface="楷体" panose="02010609060101010101" pitchFamily="49" charset="-122"/>
              </a:rPr>
              <a:t>Python</a:t>
            </a:r>
            <a:r>
              <a:rPr lang="zh-CN" altLang="en-US" dirty="0">
                <a:ln>
                  <a:noFill/>
                </a:ln>
                <a:solidFill>
                  <a:schemeClr val="tx2"/>
                </a:solidFill>
                <a:latin typeface="Times New Roman" panose="02020603050405020304" pitchFamily="18" charset="0"/>
                <a:ea typeface="楷体" panose="02010609060101010101" pitchFamily="49" charset="-122"/>
              </a:rPr>
              <a:t>环境搭建与编程工具</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bwMode="auto"/>
        <p:txBody>
          <a:bodyPr numCol="1" anchorCtr="0" compatLnSpc="1"/>
          <a:lstStyle/>
          <a:p>
            <a:pPr algn="ctr">
              <a:defRPr/>
            </a:pPr>
            <a:r>
              <a:rPr lang="en-US" altLang="zh-CN" dirty="0">
                <a:ln>
                  <a:noFill/>
                </a:ln>
                <a:solidFill>
                  <a:schemeClr val="tx2"/>
                </a:solidFill>
                <a:latin typeface="Times New Roman" panose="02020603050405020304" pitchFamily="18" charset="0"/>
                <a:ea typeface="楷体" panose="02010609060101010101" pitchFamily="49" charset="-122"/>
              </a:rPr>
              <a:t>Python</a:t>
            </a:r>
            <a:r>
              <a:rPr lang="zh-CN" altLang="en-US" dirty="0">
                <a:ln>
                  <a:noFill/>
                </a:ln>
                <a:solidFill>
                  <a:schemeClr val="tx2"/>
                </a:solidFill>
                <a:latin typeface="Times New Roman" panose="02020603050405020304" pitchFamily="18" charset="0"/>
                <a:ea typeface="楷体" panose="02010609060101010101" pitchFamily="49" charset="-122"/>
              </a:rPr>
              <a:t>环境搭建与编程工具</a:t>
            </a:r>
          </a:p>
        </p:txBody>
      </p:sp>
      <p:sp>
        <p:nvSpPr>
          <p:cNvPr id="9" name="Rectangle 2"/>
          <p:cNvSpPr>
            <a:spLocks noChangeArrowheads="1"/>
          </p:cNvSpPr>
          <p:nvPr/>
        </p:nvSpPr>
        <p:spPr bwMode="auto">
          <a:xfrm>
            <a:off x="835480" y="735915"/>
            <a:ext cx="5078185" cy="1326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ctr">
              <a:spcBef>
                <a:spcPct val="20000"/>
              </a:spcBef>
              <a:buClr>
                <a:schemeClr val="hlink"/>
              </a:buClr>
              <a:buSzPts val="1600"/>
            </a:pPr>
            <a:r>
              <a:rPr lang="zh-CN" altLang="en-US" sz="2400" b="1" dirty="0">
                <a:latin typeface="Times New Roman" panose="02020603050405020304" pitchFamily="18" charset="0"/>
                <a:ea typeface="楷体" panose="02010609060101010101" pitchFamily="49" charset="-122"/>
                <a:cs typeface="Arial Unicode MS" pitchFamily="34" charset="-122"/>
              </a:rPr>
              <a:t>更换</a:t>
            </a:r>
            <a:r>
              <a:rPr lang="en-US" altLang="zh-CN" sz="2400" b="1" dirty="0">
                <a:latin typeface="Times New Roman" panose="02020603050405020304" pitchFamily="18" charset="0"/>
                <a:ea typeface="楷体" panose="02010609060101010101" pitchFamily="49" charset="-122"/>
                <a:cs typeface="Arial Unicode MS" pitchFamily="34" charset="-122"/>
              </a:rPr>
              <a:t>Anaconda</a:t>
            </a:r>
            <a:r>
              <a:rPr lang="zh-CN" altLang="en-US" sz="2400" b="1" dirty="0">
                <a:latin typeface="Times New Roman" panose="02020603050405020304" pitchFamily="18" charset="0"/>
                <a:ea typeface="楷体" panose="02010609060101010101" pitchFamily="49" charset="-122"/>
                <a:cs typeface="Arial Unicode MS" pitchFamily="34" charset="-122"/>
              </a:rPr>
              <a:t>官方下载源为国内源</a:t>
            </a:r>
            <a:r>
              <a:rPr lang="en-US" altLang="zh-CN" sz="2400" b="1" dirty="0">
                <a:latin typeface="Times New Roman" panose="02020603050405020304" pitchFamily="18" charset="0"/>
                <a:ea typeface="楷体" panose="02010609060101010101" pitchFamily="49" charset="-122"/>
                <a:cs typeface="Arial Unicode MS" pitchFamily="34" charset="-122"/>
              </a:rPr>
              <a:t>:</a:t>
            </a:r>
          </a:p>
          <a:p>
            <a:pPr marL="0" indent="0" algn="ctr">
              <a:spcBef>
                <a:spcPct val="20000"/>
              </a:spcBef>
              <a:buClr>
                <a:schemeClr val="hlink"/>
              </a:buClr>
              <a:buSzPts val="1600"/>
            </a:pPr>
            <a:r>
              <a:rPr lang="zh-CN" altLang="en-US" b="1" dirty="0">
                <a:solidFill>
                  <a:schemeClr val="accent1"/>
                </a:solidFill>
                <a:latin typeface="Times New Roman" panose="02020603050405020304" pitchFamily="18" charset="0"/>
                <a:ea typeface="楷体" panose="02010609060101010101" pitchFamily="49" charset="-122"/>
                <a:cs typeface="Arial Unicode MS" pitchFamily="34" charset="-122"/>
              </a:rPr>
              <a:t>打开</a:t>
            </a:r>
            <a:r>
              <a:rPr lang="en-US" altLang="zh-CN" b="1" dirty="0">
                <a:solidFill>
                  <a:schemeClr val="accent1"/>
                </a:solidFill>
                <a:latin typeface="Times New Roman" panose="02020603050405020304" pitchFamily="18" charset="0"/>
                <a:ea typeface="楷体" panose="02010609060101010101" pitchFamily="49" charset="-122"/>
                <a:cs typeface="Arial Unicode MS" pitchFamily="34" charset="-122"/>
              </a:rPr>
              <a:t>Anaconda Navigator</a:t>
            </a:r>
            <a:r>
              <a:rPr lang="zh-CN" altLang="en-US" b="1" dirty="0">
                <a:solidFill>
                  <a:schemeClr val="accent1"/>
                </a:solidFill>
                <a:latin typeface="Times New Roman" panose="02020603050405020304" pitchFamily="18" charset="0"/>
                <a:ea typeface="楷体" panose="02010609060101010101" pitchFamily="49" charset="-122"/>
                <a:cs typeface="Arial Unicode MS" pitchFamily="34" charset="-122"/>
              </a:rPr>
              <a:t>的首选项（</a:t>
            </a:r>
            <a:r>
              <a:rPr lang="en-US" altLang="zh-CN" b="1" dirty="0">
                <a:solidFill>
                  <a:schemeClr val="accent1"/>
                </a:solidFill>
                <a:latin typeface="Times New Roman" panose="02020603050405020304" pitchFamily="18" charset="0"/>
                <a:ea typeface="楷体" panose="02010609060101010101" pitchFamily="49" charset="-122"/>
                <a:cs typeface="Arial Unicode MS" pitchFamily="34" charset="-122"/>
              </a:rPr>
              <a:t>Preferences</a:t>
            </a:r>
            <a:r>
              <a:rPr lang="zh-CN" altLang="en-US" b="1" dirty="0">
                <a:solidFill>
                  <a:schemeClr val="accent1"/>
                </a:solidFill>
                <a:latin typeface="Times New Roman" panose="02020603050405020304" pitchFamily="18" charset="0"/>
                <a:ea typeface="楷体" panose="02010609060101010101" pitchFamily="49" charset="-122"/>
                <a:cs typeface="Arial Unicode MS" pitchFamily="34" charset="-122"/>
              </a:rPr>
              <a:t>）设置</a:t>
            </a:r>
            <a:r>
              <a:rPr lang="en-US" altLang="zh-CN" b="1" dirty="0">
                <a:solidFill>
                  <a:schemeClr val="accent1"/>
                </a:solidFill>
                <a:latin typeface="Times New Roman" panose="02020603050405020304" pitchFamily="18" charset="0"/>
                <a:ea typeface="楷体" panose="02010609060101010101" pitchFamily="49" charset="-122"/>
                <a:cs typeface="Arial Unicode MS" pitchFamily="34" charset="-122"/>
              </a:rPr>
              <a:t>,</a:t>
            </a:r>
            <a:r>
              <a:rPr lang="zh-CN" altLang="en-US" b="1" dirty="0">
                <a:solidFill>
                  <a:schemeClr val="accent1"/>
                </a:solidFill>
                <a:latin typeface="Times New Roman" panose="02020603050405020304" pitchFamily="18" charset="0"/>
                <a:ea typeface="楷体" panose="02010609060101010101" pitchFamily="49" charset="-122"/>
                <a:cs typeface="Arial Unicode MS" pitchFamily="34" charset="-122"/>
              </a:rPr>
              <a:t>选择</a:t>
            </a:r>
            <a:r>
              <a:rPr lang="en-US" altLang="zh-CN" b="1" dirty="0">
                <a:solidFill>
                  <a:schemeClr val="accent1"/>
                </a:solidFill>
                <a:latin typeface="Times New Roman" panose="02020603050405020304" pitchFamily="18" charset="0"/>
                <a:ea typeface="楷体" panose="02010609060101010101" pitchFamily="49" charset="-122"/>
                <a:cs typeface="Arial Unicode MS" pitchFamily="34" charset="-122"/>
              </a:rPr>
              <a:t>configure </a:t>
            </a:r>
            <a:r>
              <a:rPr lang="en-US" altLang="zh-CN" b="1" dirty="0" err="1">
                <a:solidFill>
                  <a:schemeClr val="accent1"/>
                </a:solidFill>
                <a:latin typeface="Times New Roman" panose="02020603050405020304" pitchFamily="18" charset="0"/>
                <a:ea typeface="楷体" panose="02010609060101010101" pitchFamily="49" charset="-122"/>
                <a:cs typeface="Arial Unicode MS" pitchFamily="34" charset="-122"/>
              </a:rPr>
              <a:t>conda</a:t>
            </a:r>
            <a:r>
              <a:rPr lang="zh-CN" altLang="en-US" b="1" dirty="0">
                <a:solidFill>
                  <a:schemeClr val="accent1"/>
                </a:solidFill>
                <a:latin typeface="Times New Roman" panose="02020603050405020304" pitchFamily="18" charset="0"/>
                <a:ea typeface="楷体" panose="02010609060101010101" pitchFamily="49" charset="-122"/>
                <a:cs typeface="Arial Unicode MS" pitchFamily="34" charset="-122"/>
              </a:rPr>
              <a:t>配置</a:t>
            </a:r>
            <a:endParaRPr lang="en-US" altLang="zh-CN" b="1" dirty="0">
              <a:solidFill>
                <a:schemeClr val="accent1"/>
              </a:solidFill>
              <a:latin typeface="Times New Roman" panose="02020603050405020304" pitchFamily="18" charset="0"/>
              <a:ea typeface="楷体" panose="02010609060101010101" pitchFamily="49" charset="-122"/>
              <a:cs typeface="Arial Unicode MS" pitchFamily="34" charset="-122"/>
            </a:endParaRPr>
          </a:p>
        </p:txBody>
      </p:sp>
      <p:sp>
        <p:nvSpPr>
          <p:cNvPr id="3" name="文本框 2"/>
          <p:cNvSpPr txBox="1"/>
          <p:nvPr/>
        </p:nvSpPr>
        <p:spPr>
          <a:xfrm>
            <a:off x="152400" y="1940379"/>
            <a:ext cx="8763000" cy="4572000"/>
          </a:xfrm>
          <a:prstGeom prst="rect">
            <a:avLst/>
          </a:prstGeom>
          <a:noFill/>
        </p:spPr>
        <p:txBody>
          <a:bodyPr wrap="square">
            <a:noAutofit/>
          </a:bodyPr>
          <a:lstStyle/>
          <a:p>
            <a:r>
              <a:rPr lang="en-US" altLang="zh-CN" sz="2000" b="1" dirty="0">
                <a:solidFill>
                  <a:schemeClr val="accent1"/>
                </a:solidFill>
                <a:latin typeface="Times New Roman" panose="02020603050405020304" pitchFamily="18" charset="0"/>
              </a:rPr>
              <a:t># </a:t>
            </a:r>
            <a:r>
              <a:rPr lang="zh-CN" altLang="en-US" sz="2000" b="1" dirty="0">
                <a:solidFill>
                  <a:schemeClr val="accent1"/>
                </a:solidFill>
                <a:latin typeface="Times New Roman" panose="02020603050405020304" pitchFamily="18" charset="0"/>
              </a:rPr>
              <a:t>向</a:t>
            </a:r>
            <a:r>
              <a:rPr lang="en-US" altLang="zh-CN" sz="2000" b="1" dirty="0" err="1">
                <a:solidFill>
                  <a:schemeClr val="accent1"/>
                </a:solidFill>
                <a:latin typeface="Times New Roman" panose="02020603050405020304" pitchFamily="18" charset="0"/>
              </a:rPr>
              <a:t>conda</a:t>
            </a:r>
            <a:r>
              <a:rPr lang="zh-CN" altLang="en-US" sz="2000" b="1" dirty="0">
                <a:solidFill>
                  <a:schemeClr val="accent1"/>
                </a:solidFill>
                <a:latin typeface="Times New Roman" panose="02020603050405020304" pitchFamily="18" charset="0"/>
              </a:rPr>
              <a:t>的配置中添加清华大学镜像源</a:t>
            </a:r>
            <a:endParaRPr lang="en-US" altLang="zh-CN" sz="2000" b="1" dirty="0">
              <a:solidFill>
                <a:schemeClr val="accent1"/>
              </a:solidFill>
              <a:latin typeface="Times New Roman" panose="02020603050405020304" pitchFamily="18" charset="0"/>
            </a:endParaRPr>
          </a:p>
          <a:p>
            <a:r>
              <a:rPr lang="zh-CN" altLang="en-US" sz="1600" b="1" dirty="0">
                <a:solidFill>
                  <a:schemeClr val="accent1"/>
                </a:solidFill>
                <a:latin typeface="Times New Roman" panose="02020603050405020304" pitchFamily="18" charset="0"/>
              </a:rPr>
              <a:t>（</a:t>
            </a:r>
            <a:r>
              <a:rPr lang="en-US" altLang="zh-CN" sz="1600" b="1" dirty="0">
                <a:solidFill>
                  <a:schemeClr val="accent1"/>
                </a:solidFill>
                <a:latin typeface="Times New Roman" panose="02020603050405020304" pitchFamily="18" charset="0"/>
                <a:hlinkClick r:id="rId3"/>
              </a:rPr>
              <a:t>https://mirrors.tuna.tsinghua.edu.cn/help/anaconda/</a:t>
            </a:r>
            <a:r>
              <a:rPr lang="zh-CN" altLang="en-US" sz="1600" b="1" dirty="0">
                <a:solidFill>
                  <a:schemeClr val="accent1"/>
                </a:solidFill>
                <a:latin typeface="Times New Roman" panose="02020603050405020304" pitchFamily="18" charset="0"/>
              </a:rPr>
              <a:t>）</a:t>
            </a:r>
            <a:endParaRPr lang="en-US" altLang="zh-CN" sz="1600" b="1" dirty="0">
              <a:solidFill>
                <a:schemeClr val="accent1"/>
              </a:solidFill>
              <a:latin typeface="Times New Roman" panose="02020603050405020304" pitchFamily="18" charset="0"/>
            </a:endParaRPr>
          </a:p>
          <a:p>
            <a:endParaRPr lang="en-US" altLang="zh-CN" sz="1600" b="1" dirty="0">
              <a:solidFill>
                <a:schemeClr val="accent1"/>
              </a:solidFill>
              <a:latin typeface="Times New Roman" panose="02020603050405020304" pitchFamily="18" charset="0"/>
            </a:endParaRPr>
          </a:p>
          <a:p>
            <a:r>
              <a:rPr lang="en-US" altLang="zh-CN" sz="2000" dirty="0">
                <a:latin typeface="Times New Roman" panose="02020603050405020304" pitchFamily="18" charset="0"/>
              </a:rPr>
              <a:t>channels:</a:t>
            </a:r>
          </a:p>
          <a:p>
            <a:r>
              <a:rPr lang="en-US" altLang="zh-CN" sz="2000" dirty="0">
                <a:latin typeface="Times New Roman" panose="02020603050405020304" pitchFamily="18" charset="0"/>
              </a:rPr>
              <a:t>  - defaults</a:t>
            </a:r>
          </a:p>
          <a:p>
            <a:r>
              <a:rPr lang="en-US" altLang="zh-CN" sz="2000" dirty="0" err="1">
                <a:latin typeface="Times New Roman" panose="02020603050405020304" pitchFamily="18" charset="0"/>
              </a:rPr>
              <a:t>show_channel_urls</a:t>
            </a:r>
            <a:r>
              <a:rPr lang="en-US" altLang="zh-CN" sz="2000" dirty="0">
                <a:latin typeface="Times New Roman" panose="02020603050405020304" pitchFamily="18" charset="0"/>
              </a:rPr>
              <a:t>: true</a:t>
            </a:r>
          </a:p>
          <a:p>
            <a:r>
              <a:rPr lang="en-US" altLang="zh-CN" sz="2000" dirty="0" err="1">
                <a:latin typeface="Times New Roman" panose="02020603050405020304" pitchFamily="18" charset="0"/>
              </a:rPr>
              <a:t>default_channels</a:t>
            </a:r>
            <a:r>
              <a:rPr lang="en-US" altLang="zh-CN" sz="2000" dirty="0">
                <a:latin typeface="Times New Roman" panose="02020603050405020304" pitchFamily="18" charset="0"/>
              </a:rPr>
              <a:t>:</a:t>
            </a:r>
          </a:p>
          <a:p>
            <a:r>
              <a:rPr lang="en-US" altLang="zh-CN" sz="2000" dirty="0">
                <a:latin typeface="Times New Roman" panose="02020603050405020304" pitchFamily="18" charset="0"/>
              </a:rPr>
              <a:t>  - https://mirrors.tuna.tsinghua.edu.cn/anaconda/pkgs/main</a:t>
            </a:r>
          </a:p>
          <a:p>
            <a:r>
              <a:rPr lang="en-US" altLang="zh-CN" sz="2000" dirty="0">
                <a:latin typeface="Times New Roman" panose="02020603050405020304" pitchFamily="18" charset="0"/>
              </a:rPr>
              <a:t>  - https://mirrors.tuna.tsinghua.edu.cn/anaconda/pkgs/r</a:t>
            </a:r>
          </a:p>
          <a:p>
            <a:r>
              <a:rPr lang="en-US" altLang="zh-CN" sz="2000" dirty="0">
                <a:latin typeface="Times New Roman" panose="02020603050405020304" pitchFamily="18" charset="0"/>
              </a:rPr>
              <a:t>  - https://mirrors.tuna.tsinghua.edu.cn/anaconda/pkgs/msys2</a:t>
            </a:r>
          </a:p>
          <a:p>
            <a:r>
              <a:rPr lang="en-US" altLang="zh-CN" sz="2000" dirty="0" err="1">
                <a:latin typeface="Times New Roman" panose="02020603050405020304" pitchFamily="18" charset="0"/>
              </a:rPr>
              <a:t>custom_channels</a:t>
            </a:r>
            <a:r>
              <a:rPr lang="en-US" altLang="zh-CN" sz="2000" dirty="0">
                <a:latin typeface="Times New Roman" panose="02020603050405020304" pitchFamily="18" charset="0"/>
              </a:rPr>
              <a:t>:</a:t>
            </a:r>
          </a:p>
          <a:p>
            <a:r>
              <a:rPr lang="en-US" altLang="zh-CN" sz="2000" dirty="0">
                <a:latin typeface="Times New Roman" panose="02020603050405020304" pitchFamily="18" charset="0"/>
              </a:rPr>
              <a:t>  </a:t>
            </a:r>
            <a:r>
              <a:rPr lang="en-US" altLang="zh-CN" sz="2000" dirty="0" err="1">
                <a:latin typeface="Times New Roman" panose="02020603050405020304" pitchFamily="18" charset="0"/>
              </a:rPr>
              <a:t>conda</a:t>
            </a:r>
            <a:r>
              <a:rPr lang="en-US" altLang="zh-CN" sz="2000" dirty="0">
                <a:latin typeface="Times New Roman" panose="02020603050405020304" pitchFamily="18" charset="0"/>
              </a:rPr>
              <a:t>-forge: https://mirrors.tuna.tsinghua.edu.cn/anaconda/cloud</a:t>
            </a:r>
          </a:p>
          <a:p>
            <a:r>
              <a:rPr lang="en-US" altLang="zh-CN" sz="2000" dirty="0">
                <a:latin typeface="Times New Roman" panose="02020603050405020304" pitchFamily="18" charset="0"/>
              </a:rPr>
              <a:t>  </a:t>
            </a:r>
            <a:r>
              <a:rPr lang="en-US" altLang="zh-CN" sz="2000" dirty="0" err="1">
                <a:latin typeface="Times New Roman" panose="02020603050405020304" pitchFamily="18" charset="0"/>
              </a:rPr>
              <a:t>pytorch</a:t>
            </a:r>
            <a:r>
              <a:rPr lang="en-US" altLang="zh-CN" sz="2000" dirty="0">
                <a:latin typeface="Times New Roman" panose="02020603050405020304" pitchFamily="18" charset="0"/>
              </a:rPr>
              <a:t>: https://mirrors.tuna.tsinghua.edu.cn/anaconda/cloud</a:t>
            </a:r>
          </a:p>
          <a:p>
            <a:endParaRPr lang="en-US" altLang="zh-CN" sz="2000" dirty="0">
              <a:latin typeface="Times New Roman" panose="02020603050405020304" pitchFamily="18" charset="0"/>
            </a:endParaRPr>
          </a:p>
          <a:p>
            <a:r>
              <a:rPr lang="zh-CN" altLang="en-US" sz="2000" dirty="0">
                <a:latin typeface="Times New Roman" panose="02020603050405020304" pitchFamily="18" charset="0"/>
              </a:rPr>
              <a:t>创建属于自己的虚拟环境：</a:t>
            </a:r>
            <a:r>
              <a:rPr lang="en-US" altLang="zh-CN" sz="2000" dirty="0">
                <a:latin typeface="Times New Roman" panose="02020603050405020304" pitchFamily="18" charset="0"/>
              </a:rPr>
              <a:t>conda create -n ML python=3.12</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6561" y="1032513"/>
            <a:ext cx="3156553" cy="30771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bwMode="auto"/>
        <p:txBody>
          <a:bodyPr numCol="1" anchorCtr="0" compatLnSpc="1"/>
          <a:lstStyle/>
          <a:p>
            <a:pPr algn="ctr">
              <a:defRPr/>
            </a:pPr>
            <a:r>
              <a:rPr lang="en-US" altLang="zh-CN" dirty="0">
                <a:ln>
                  <a:noFill/>
                </a:ln>
                <a:solidFill>
                  <a:schemeClr val="tx2"/>
                </a:solidFill>
                <a:latin typeface="楷体" panose="02010609060101010101" pitchFamily="49" charset="-122"/>
                <a:ea typeface="楷体" panose="02010609060101010101" pitchFamily="49" charset="-122"/>
              </a:rPr>
              <a:t>Python</a:t>
            </a:r>
            <a:r>
              <a:rPr lang="zh-CN" altLang="en-US" dirty="0">
                <a:ln>
                  <a:noFill/>
                </a:ln>
                <a:solidFill>
                  <a:schemeClr val="tx2"/>
                </a:solidFill>
                <a:latin typeface="楷体" panose="02010609060101010101" pitchFamily="49" charset="-122"/>
                <a:ea typeface="楷体" panose="02010609060101010101" pitchFamily="49" charset="-122"/>
              </a:rPr>
              <a:t>语言基础以及第三方库</a:t>
            </a:r>
          </a:p>
        </p:txBody>
      </p:sp>
      <p:pic>
        <p:nvPicPr>
          <p:cNvPr id="2" name="图片 1"/>
          <p:cNvPicPr>
            <a:picLocks noChangeAspect="1"/>
          </p:cNvPicPr>
          <p:nvPr/>
        </p:nvPicPr>
        <p:blipFill>
          <a:blip r:embed="rId3"/>
          <a:stretch>
            <a:fillRect/>
          </a:stretch>
        </p:blipFill>
        <p:spPr>
          <a:xfrm>
            <a:off x="1090612" y="745562"/>
            <a:ext cx="7620000" cy="3354917"/>
          </a:xfrm>
          <a:prstGeom prst="rect">
            <a:avLst/>
          </a:prstGeom>
        </p:spPr>
      </p:pic>
      <p:pic>
        <p:nvPicPr>
          <p:cNvPr id="4" name="图片 3"/>
          <p:cNvPicPr>
            <a:picLocks noChangeAspect="1"/>
          </p:cNvPicPr>
          <p:nvPr/>
        </p:nvPicPr>
        <p:blipFill>
          <a:blip r:embed="rId4"/>
          <a:stretch>
            <a:fillRect/>
          </a:stretch>
        </p:blipFill>
        <p:spPr>
          <a:xfrm>
            <a:off x="555171" y="3291479"/>
            <a:ext cx="3368040" cy="1219200"/>
          </a:xfrm>
          <a:prstGeom prst="rect">
            <a:avLst/>
          </a:prstGeom>
        </p:spPr>
      </p:pic>
      <p:pic>
        <p:nvPicPr>
          <p:cNvPr id="5" name="图片 4"/>
          <p:cNvPicPr>
            <a:picLocks noChangeAspect="1"/>
          </p:cNvPicPr>
          <p:nvPr/>
        </p:nvPicPr>
        <p:blipFill>
          <a:blip r:embed="rId5"/>
          <a:stretch>
            <a:fillRect/>
          </a:stretch>
        </p:blipFill>
        <p:spPr>
          <a:xfrm>
            <a:off x="4569279" y="3428807"/>
            <a:ext cx="4090308" cy="1343343"/>
          </a:xfrm>
          <a:prstGeom prst="rect">
            <a:avLst/>
          </a:prstGeom>
        </p:spPr>
      </p:pic>
      <p:pic>
        <p:nvPicPr>
          <p:cNvPr id="6" name="图片 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502918" y="4648200"/>
            <a:ext cx="4114800" cy="1169377"/>
          </a:xfrm>
          <a:prstGeom prst="rect">
            <a:avLst/>
          </a:prstGeom>
        </p:spPr>
      </p:pic>
      <p:pic>
        <p:nvPicPr>
          <p:cNvPr id="8" name="图片 7"/>
          <p:cNvPicPr>
            <a:picLocks noChangeAspect="1"/>
          </p:cNvPicPr>
          <p:nvPr/>
        </p:nvPicPr>
        <p:blipFill>
          <a:blip r:embed="rId7"/>
          <a:stretch>
            <a:fillRect/>
          </a:stretch>
        </p:blipFill>
        <p:spPr>
          <a:xfrm>
            <a:off x="5533752" y="4637108"/>
            <a:ext cx="2209800" cy="1191559"/>
          </a:xfrm>
          <a:prstGeom prst="rect">
            <a:avLst/>
          </a:prstGeom>
        </p:spPr>
      </p:pic>
      <p:sp>
        <p:nvSpPr>
          <p:cNvPr id="11" name="文本框 10"/>
          <p:cNvSpPr txBox="1"/>
          <p:nvPr/>
        </p:nvSpPr>
        <p:spPr>
          <a:xfrm>
            <a:off x="1442357" y="5954213"/>
            <a:ext cx="6248400" cy="523220"/>
          </a:xfrm>
          <a:prstGeom prst="rect">
            <a:avLst/>
          </a:prstGeom>
          <a:noFill/>
        </p:spPr>
        <p:txBody>
          <a:bodyPr wrap="square">
            <a:spAutoFit/>
          </a:bodyPr>
          <a:lstStyle/>
          <a:p>
            <a:pPr algn="ctr"/>
            <a:r>
              <a:rPr lang="zh-CN" altLang="en-US" sz="2800" b="1" dirty="0">
                <a:solidFill>
                  <a:schemeClr val="accent2"/>
                </a:solidFill>
                <a:latin typeface="Times New Roman" panose="02020603050405020304" pitchFamily="18" charset="0"/>
              </a:rPr>
              <a:t>主要思想：函数和面向对象程序设计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7406C-719F-6E10-0B2D-A118AAA2CE5F}"/>
            </a:ext>
          </a:extLst>
        </p:cNvPr>
        <p:cNvGrpSpPr/>
        <p:nvPr/>
      </p:nvGrpSpPr>
      <p:grpSpPr>
        <a:xfrm>
          <a:off x="0" y="0"/>
          <a:ext cx="0" cy="0"/>
          <a:chOff x="0" y="0"/>
          <a:chExt cx="0" cy="0"/>
        </a:xfrm>
      </p:grpSpPr>
      <p:sp>
        <p:nvSpPr>
          <p:cNvPr id="27650" name="Rectangle 2">
            <a:extLst>
              <a:ext uri="{FF2B5EF4-FFF2-40B4-BE49-F238E27FC236}">
                <a16:creationId xmlns:a16="http://schemas.microsoft.com/office/drawing/2014/main" id="{A4D5B5E0-E705-196F-DB08-172A5A3D2B60}"/>
              </a:ext>
            </a:extLst>
          </p:cNvPr>
          <p:cNvSpPr>
            <a:spLocks noGrp="1"/>
          </p:cNvSpPr>
          <p:nvPr>
            <p:ph type="title"/>
          </p:nvPr>
        </p:nvSpPr>
        <p:spPr bwMode="auto"/>
        <p:txBody>
          <a:bodyPr numCol="1" anchorCtr="0" compatLnSpc="1"/>
          <a:lstStyle/>
          <a:p>
            <a:pPr algn="ctr">
              <a:defRPr/>
            </a:pPr>
            <a:r>
              <a:rPr lang="en-US" altLang="zh-CN" dirty="0">
                <a:ln>
                  <a:noFill/>
                </a:ln>
                <a:solidFill>
                  <a:schemeClr val="tx2"/>
                </a:solidFill>
                <a:latin typeface="Times New Roman" panose="02020603050405020304" pitchFamily="18" charset="0"/>
                <a:ea typeface="楷体" panose="02010609060101010101" pitchFamily="49" charset="-122"/>
              </a:rPr>
              <a:t>Scikit-learn</a:t>
            </a:r>
            <a:r>
              <a:rPr lang="zh-CN" altLang="en-US" dirty="0">
                <a:ln>
                  <a:noFill/>
                </a:ln>
                <a:solidFill>
                  <a:schemeClr val="tx2"/>
                </a:solidFill>
                <a:latin typeface="Times New Roman" panose="02020603050405020304" pitchFamily="18" charset="0"/>
                <a:ea typeface="楷体" panose="02010609060101010101" pitchFamily="49" charset="-122"/>
              </a:rPr>
              <a:t>库</a:t>
            </a:r>
          </a:p>
        </p:txBody>
      </p:sp>
      <p:pic>
        <p:nvPicPr>
          <p:cNvPr id="3" name="图片 2" descr="图片包含 图示&#10;&#10;描述已自动生成">
            <a:extLst>
              <a:ext uri="{FF2B5EF4-FFF2-40B4-BE49-F238E27FC236}">
                <a16:creationId xmlns:a16="http://schemas.microsoft.com/office/drawing/2014/main" id="{9638FA7A-5399-491E-1EE1-899659AF89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100" y="1070202"/>
            <a:ext cx="7543800" cy="4052748"/>
          </a:xfrm>
          <a:prstGeom prst="rect">
            <a:avLst/>
          </a:prstGeom>
        </p:spPr>
      </p:pic>
      <p:sp>
        <p:nvSpPr>
          <p:cNvPr id="9" name="文本框 8">
            <a:extLst>
              <a:ext uri="{FF2B5EF4-FFF2-40B4-BE49-F238E27FC236}">
                <a16:creationId xmlns:a16="http://schemas.microsoft.com/office/drawing/2014/main" id="{67F714FC-F0F7-63BC-638F-A6DD9722793B}"/>
              </a:ext>
            </a:extLst>
          </p:cNvPr>
          <p:cNvSpPr txBox="1"/>
          <p:nvPr/>
        </p:nvSpPr>
        <p:spPr>
          <a:xfrm>
            <a:off x="323850" y="5279966"/>
            <a:ext cx="8343900" cy="1015663"/>
          </a:xfrm>
          <a:prstGeom prst="rect">
            <a:avLst/>
          </a:prstGeom>
          <a:noFill/>
        </p:spPr>
        <p:txBody>
          <a:bodyPr wrap="square">
            <a:spAutoFit/>
          </a:bodyPr>
          <a:lstStyle/>
          <a:p>
            <a:r>
              <a:rPr lang="en-US" altLang="zh-CN" sz="2000" dirty="0">
                <a:latin typeface="Times New Roman" panose="02020603050405020304" pitchFamily="18" charset="0"/>
              </a:rPr>
              <a:t>Scikit-learn</a:t>
            </a:r>
            <a:r>
              <a:rPr lang="zh-CN" altLang="en-US" sz="2000" dirty="0">
                <a:latin typeface="Times New Roman" panose="02020603050405020304" pitchFamily="18" charset="0"/>
              </a:rPr>
              <a:t>是基于</a:t>
            </a:r>
            <a:r>
              <a:rPr lang="en-US" altLang="zh-CN" sz="2000" dirty="0">
                <a:latin typeface="Times New Roman" panose="02020603050405020304" pitchFamily="18" charset="0"/>
              </a:rPr>
              <a:t>NumPy</a:t>
            </a:r>
            <a:r>
              <a:rPr lang="zh-CN" altLang="en-US" sz="2000" dirty="0">
                <a:latin typeface="Times New Roman" panose="02020603050405020304" pitchFamily="18" charset="0"/>
              </a:rPr>
              <a:t>、 </a:t>
            </a:r>
            <a:r>
              <a:rPr lang="en-US" altLang="zh-CN" sz="2000" dirty="0">
                <a:latin typeface="Times New Roman" panose="02020603050405020304" pitchFamily="18" charset="0"/>
              </a:rPr>
              <a:t>SciPy</a:t>
            </a:r>
            <a:r>
              <a:rPr lang="zh-CN" altLang="en-US" sz="2000" dirty="0">
                <a:latin typeface="Times New Roman" panose="02020603050405020304" pitchFamily="18" charset="0"/>
              </a:rPr>
              <a:t>和 </a:t>
            </a:r>
            <a:r>
              <a:rPr lang="en-US" altLang="zh-CN" sz="2000" dirty="0">
                <a:latin typeface="Times New Roman" panose="02020603050405020304" pitchFamily="18" charset="0"/>
              </a:rPr>
              <a:t>Matplotlib</a:t>
            </a:r>
            <a:r>
              <a:rPr lang="zh-CN" altLang="en-US" sz="2000" dirty="0">
                <a:latin typeface="Times New Roman" panose="02020603050405020304" pitchFamily="18" charset="0"/>
              </a:rPr>
              <a:t>的开源</a:t>
            </a:r>
            <a:r>
              <a:rPr lang="en-US" altLang="zh-CN" sz="2000" dirty="0">
                <a:latin typeface="Times New Roman" panose="02020603050405020304" pitchFamily="18" charset="0"/>
              </a:rPr>
              <a:t>Python</a:t>
            </a:r>
            <a:r>
              <a:rPr lang="zh-CN" altLang="en-US" sz="2000" dirty="0">
                <a:latin typeface="Times New Roman" panose="02020603050405020304" pitchFamily="18" charset="0"/>
              </a:rPr>
              <a:t>机器学习包</a:t>
            </a:r>
            <a:r>
              <a:rPr lang="en-US" altLang="zh-CN" sz="2000" dirty="0">
                <a:latin typeface="Times New Roman" panose="02020603050405020304" pitchFamily="18" charset="0"/>
              </a:rPr>
              <a:t>,</a:t>
            </a:r>
            <a:r>
              <a:rPr lang="zh-CN" altLang="en-US" sz="2000" dirty="0">
                <a:latin typeface="Times New Roman" panose="02020603050405020304" pitchFamily="18" charset="0"/>
              </a:rPr>
              <a:t>它封装了一系列数据预处理、机器学习算法、模型选择等工具</a:t>
            </a:r>
            <a:r>
              <a:rPr lang="en-US" altLang="zh-CN" sz="2000" dirty="0">
                <a:latin typeface="Times New Roman" panose="02020603050405020304" pitchFamily="18" charset="0"/>
              </a:rPr>
              <a:t>,</a:t>
            </a:r>
            <a:r>
              <a:rPr lang="zh-CN" altLang="en-US" sz="2000" dirty="0">
                <a:latin typeface="Times New Roman" panose="02020603050405020304" pitchFamily="18" charset="0"/>
              </a:rPr>
              <a:t>是数据分析师首选的机器学习工具包。</a:t>
            </a:r>
          </a:p>
        </p:txBody>
      </p:sp>
    </p:spTree>
    <p:extLst>
      <p:ext uri="{BB962C8B-B14F-4D97-AF65-F5344CB8AC3E}">
        <p14:creationId xmlns:p14="http://schemas.microsoft.com/office/powerpoint/2010/main" val="4290655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28DE6-D6C4-AF9B-1B5D-C23BB7BDD88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237391B-4C78-7E1B-2AE7-91BF889E0BB7}"/>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代码实践</a:t>
            </a:r>
            <a:r>
              <a:rPr lang="en-US" altLang="zh-CN" dirty="0">
                <a:latin typeface="Times New Roman" panose="02020603050405020304" pitchFamily="18" charset="0"/>
                <a:ea typeface="楷体" panose="02010609060101010101" pitchFamily="49" charset="-122"/>
              </a:rPr>
              <a:t>1</a:t>
            </a:r>
            <a:r>
              <a:rPr lang="zh-CN" altLang="en-US" dirty="0">
                <a:latin typeface="Times New Roman" panose="02020603050405020304" pitchFamily="18" charset="0"/>
                <a:ea typeface="楷体" panose="02010609060101010101" pitchFamily="49" charset="-122"/>
              </a:rPr>
              <a:t>：</a:t>
            </a:r>
            <a:r>
              <a:rPr lang="en-US" altLang="zh-CN" dirty="0">
                <a:latin typeface="Times New Roman" panose="02020603050405020304" pitchFamily="18" charset="0"/>
                <a:ea typeface="楷体" panose="02010609060101010101" pitchFamily="49" charset="-122"/>
              </a:rPr>
              <a:t>NumPy</a:t>
            </a:r>
            <a:r>
              <a:rPr lang="zh-CN" altLang="en-US" dirty="0">
                <a:latin typeface="Times New Roman" panose="02020603050405020304" pitchFamily="18" charset="0"/>
                <a:ea typeface="楷体" panose="02010609060101010101" pitchFamily="49" charset="-122"/>
              </a:rPr>
              <a:t>向量运算</a:t>
            </a:r>
          </a:p>
        </p:txBody>
      </p:sp>
      <p:sp>
        <p:nvSpPr>
          <p:cNvPr id="10" name="文本框 9">
            <a:extLst>
              <a:ext uri="{FF2B5EF4-FFF2-40B4-BE49-F238E27FC236}">
                <a16:creationId xmlns:a16="http://schemas.microsoft.com/office/drawing/2014/main" id="{FCF3242F-0FF6-5102-D2A4-DD4AE6FF619F}"/>
              </a:ext>
            </a:extLst>
          </p:cNvPr>
          <p:cNvSpPr txBox="1"/>
          <p:nvPr/>
        </p:nvSpPr>
        <p:spPr>
          <a:xfrm>
            <a:off x="1090612" y="609600"/>
            <a:ext cx="7672388" cy="830997"/>
          </a:xfrm>
          <a:prstGeom prst="rect">
            <a:avLst/>
          </a:prstGeom>
          <a:noFill/>
        </p:spPr>
        <p:txBody>
          <a:bodyPr wrap="square">
            <a:spAutoFit/>
          </a:bodyPr>
          <a:lstStyle/>
          <a:p>
            <a:pPr algn="ctr"/>
            <a:r>
              <a:rPr lang="zh-CN" altLang="en-US" sz="2400" b="1" dirty="0">
                <a:latin typeface="Times New Roman" panose="02020603050405020304" pitchFamily="18" charset="0"/>
              </a:rPr>
              <a:t>目标：掌握</a:t>
            </a:r>
            <a:r>
              <a:rPr lang="en-US" altLang="zh-CN" sz="2400" b="1" dirty="0">
                <a:latin typeface="Times New Roman" panose="02020603050405020304" pitchFamily="18" charset="0"/>
              </a:rPr>
              <a:t>NumPy</a:t>
            </a:r>
            <a:r>
              <a:rPr lang="zh-CN" altLang="en-US" sz="2400" b="1" dirty="0">
                <a:latin typeface="Times New Roman" panose="02020603050405020304" pitchFamily="18" charset="0"/>
              </a:rPr>
              <a:t>向量的基本运算，包括创建、加法、减法、乘法和点积。</a:t>
            </a:r>
          </a:p>
        </p:txBody>
      </p:sp>
      <p:sp>
        <p:nvSpPr>
          <p:cNvPr id="13" name="文本框 12">
            <a:extLst>
              <a:ext uri="{FF2B5EF4-FFF2-40B4-BE49-F238E27FC236}">
                <a16:creationId xmlns:a16="http://schemas.microsoft.com/office/drawing/2014/main" id="{7E94D125-6418-B7BF-D1CF-BAAFC8159AA9}"/>
              </a:ext>
            </a:extLst>
          </p:cNvPr>
          <p:cNvSpPr txBox="1"/>
          <p:nvPr/>
        </p:nvSpPr>
        <p:spPr>
          <a:xfrm>
            <a:off x="896709" y="1447452"/>
            <a:ext cx="3775303" cy="3970318"/>
          </a:xfrm>
          <a:prstGeom prst="rect">
            <a:avLst/>
          </a:prstGeom>
          <a:noFill/>
        </p:spPr>
        <p:txBody>
          <a:bodyPr wrap="square">
            <a:spAutoFit/>
          </a:bodyPr>
          <a:lstStyle/>
          <a:p>
            <a:r>
              <a:rPr lang="en-US" altLang="zh-CN" dirty="0">
                <a:latin typeface="+mj-lt"/>
              </a:rPr>
              <a:t>import </a:t>
            </a:r>
            <a:r>
              <a:rPr lang="en-US" altLang="zh-CN" dirty="0" err="1">
                <a:latin typeface="Times New Roman" panose="02020603050405020304" pitchFamily="18" charset="0"/>
              </a:rPr>
              <a:t>numpy</a:t>
            </a:r>
            <a:r>
              <a:rPr lang="en-US" altLang="zh-CN" dirty="0">
                <a:latin typeface="+mj-lt"/>
              </a:rPr>
              <a:t> as np</a:t>
            </a:r>
          </a:p>
          <a:p>
            <a:endParaRPr lang="en-US" altLang="zh-CN" dirty="0">
              <a:latin typeface="+mj-lt"/>
            </a:endParaRPr>
          </a:p>
          <a:p>
            <a:r>
              <a:rPr lang="en-US" altLang="zh-CN" dirty="0">
                <a:latin typeface="+mj-lt"/>
              </a:rPr>
              <a:t># </a:t>
            </a:r>
            <a:r>
              <a:rPr lang="zh-CN" altLang="en-US" dirty="0">
                <a:latin typeface="+mj-lt"/>
              </a:rPr>
              <a:t>创建两个向量</a:t>
            </a:r>
            <a:endParaRPr lang="en-US" altLang="zh-CN" dirty="0">
              <a:latin typeface="+mj-lt"/>
            </a:endParaRPr>
          </a:p>
          <a:p>
            <a:r>
              <a:rPr lang="en-US" altLang="zh-CN" dirty="0" err="1">
                <a:latin typeface="+mj-lt"/>
              </a:rPr>
              <a:t>vector_a</a:t>
            </a:r>
            <a:r>
              <a:rPr lang="en-US" altLang="zh-CN" dirty="0">
                <a:latin typeface="+mj-lt"/>
              </a:rPr>
              <a:t> = </a:t>
            </a:r>
            <a:r>
              <a:rPr lang="en-US" altLang="zh-CN" dirty="0" err="1">
                <a:latin typeface="+mj-lt"/>
              </a:rPr>
              <a:t>np.array</a:t>
            </a:r>
            <a:r>
              <a:rPr lang="en-US" altLang="zh-CN" dirty="0">
                <a:latin typeface="+mj-lt"/>
              </a:rPr>
              <a:t>([1, 2, 3])</a:t>
            </a:r>
          </a:p>
          <a:p>
            <a:r>
              <a:rPr lang="en-US" altLang="zh-CN" dirty="0" err="1">
                <a:latin typeface="+mj-lt"/>
              </a:rPr>
              <a:t>vector_b</a:t>
            </a:r>
            <a:r>
              <a:rPr lang="en-US" altLang="zh-CN" dirty="0">
                <a:latin typeface="+mj-lt"/>
              </a:rPr>
              <a:t> = </a:t>
            </a:r>
            <a:r>
              <a:rPr lang="en-US" altLang="zh-CN" dirty="0" err="1">
                <a:latin typeface="+mj-lt"/>
              </a:rPr>
              <a:t>np.array</a:t>
            </a:r>
            <a:r>
              <a:rPr lang="en-US" altLang="zh-CN" dirty="0">
                <a:latin typeface="+mj-lt"/>
              </a:rPr>
              <a:t>([4, 5, 6])</a:t>
            </a:r>
          </a:p>
          <a:p>
            <a:endParaRPr lang="en-US" altLang="zh-CN" dirty="0">
              <a:latin typeface="+mj-lt"/>
            </a:endParaRPr>
          </a:p>
          <a:p>
            <a:r>
              <a:rPr lang="en-US" altLang="zh-CN" dirty="0">
                <a:latin typeface="+mj-lt"/>
              </a:rPr>
              <a:t># </a:t>
            </a:r>
            <a:r>
              <a:rPr lang="zh-CN" altLang="en-US" dirty="0">
                <a:latin typeface="+mj-lt"/>
              </a:rPr>
              <a:t>向量加法</a:t>
            </a:r>
            <a:endParaRPr lang="en-US" altLang="zh-CN" dirty="0">
              <a:latin typeface="+mj-lt"/>
            </a:endParaRPr>
          </a:p>
          <a:p>
            <a:r>
              <a:rPr lang="en-US" altLang="zh-CN" dirty="0">
                <a:latin typeface="+mj-lt"/>
              </a:rPr>
              <a:t>addition = </a:t>
            </a:r>
            <a:r>
              <a:rPr lang="en-US" altLang="zh-CN" dirty="0" err="1">
                <a:latin typeface="+mj-lt"/>
              </a:rPr>
              <a:t>vector_a</a:t>
            </a:r>
            <a:r>
              <a:rPr lang="en-US" altLang="zh-CN" dirty="0">
                <a:latin typeface="+mj-lt"/>
              </a:rPr>
              <a:t> + </a:t>
            </a:r>
            <a:r>
              <a:rPr lang="en-US" altLang="zh-CN" dirty="0" err="1">
                <a:latin typeface="+mj-lt"/>
              </a:rPr>
              <a:t>vector_b</a:t>
            </a:r>
            <a:endParaRPr lang="en-US" altLang="zh-CN" dirty="0">
              <a:latin typeface="+mj-lt"/>
            </a:endParaRPr>
          </a:p>
          <a:p>
            <a:r>
              <a:rPr lang="en-US" altLang="zh-CN" dirty="0">
                <a:latin typeface="+mj-lt"/>
              </a:rPr>
              <a:t>print("</a:t>
            </a:r>
            <a:r>
              <a:rPr lang="zh-CN" altLang="en-US" dirty="0">
                <a:latin typeface="+mj-lt"/>
              </a:rPr>
              <a:t>向量加法结果：</a:t>
            </a:r>
            <a:r>
              <a:rPr lang="en-US" altLang="zh-CN" dirty="0">
                <a:latin typeface="+mj-lt"/>
              </a:rPr>
              <a:t>", addition)</a:t>
            </a:r>
          </a:p>
          <a:p>
            <a:endParaRPr lang="en-US" altLang="zh-CN" dirty="0">
              <a:latin typeface="+mj-lt"/>
            </a:endParaRPr>
          </a:p>
          <a:p>
            <a:r>
              <a:rPr lang="en-US" altLang="zh-CN" dirty="0">
                <a:latin typeface="+mj-lt"/>
              </a:rPr>
              <a:t># </a:t>
            </a:r>
            <a:r>
              <a:rPr lang="zh-CN" altLang="en-US" dirty="0">
                <a:latin typeface="+mj-lt"/>
              </a:rPr>
              <a:t>向量减法</a:t>
            </a:r>
            <a:endParaRPr lang="en-US" altLang="zh-CN" dirty="0">
              <a:latin typeface="+mj-lt"/>
            </a:endParaRPr>
          </a:p>
          <a:p>
            <a:r>
              <a:rPr lang="en-US" altLang="zh-CN" dirty="0">
                <a:latin typeface="+mj-lt"/>
              </a:rPr>
              <a:t>subtraction = </a:t>
            </a:r>
            <a:r>
              <a:rPr lang="en-US" altLang="zh-CN" dirty="0" err="1">
                <a:latin typeface="+mj-lt"/>
              </a:rPr>
              <a:t>vector_a</a:t>
            </a:r>
            <a:r>
              <a:rPr lang="en-US" altLang="zh-CN" dirty="0">
                <a:latin typeface="+mj-lt"/>
              </a:rPr>
              <a:t> - </a:t>
            </a:r>
            <a:r>
              <a:rPr lang="en-US" altLang="zh-CN" dirty="0" err="1">
                <a:latin typeface="+mj-lt"/>
              </a:rPr>
              <a:t>vector_b</a:t>
            </a:r>
            <a:endParaRPr lang="en-US" altLang="zh-CN" dirty="0">
              <a:latin typeface="+mj-lt"/>
            </a:endParaRPr>
          </a:p>
          <a:p>
            <a:r>
              <a:rPr lang="en-US" altLang="zh-CN" dirty="0">
                <a:latin typeface="+mj-lt"/>
              </a:rPr>
              <a:t>print("</a:t>
            </a:r>
            <a:r>
              <a:rPr lang="zh-CN" altLang="en-US" dirty="0">
                <a:latin typeface="+mj-lt"/>
              </a:rPr>
              <a:t>向量减法结果：</a:t>
            </a:r>
            <a:r>
              <a:rPr lang="en-US" altLang="zh-CN" dirty="0">
                <a:latin typeface="+mj-lt"/>
              </a:rPr>
              <a:t>", subtraction)</a:t>
            </a:r>
          </a:p>
          <a:p>
            <a:endParaRPr lang="en-US" altLang="zh-CN" dirty="0">
              <a:latin typeface="+mj-lt"/>
            </a:endParaRPr>
          </a:p>
        </p:txBody>
      </p:sp>
      <p:sp>
        <p:nvSpPr>
          <p:cNvPr id="15" name="文本框 14">
            <a:extLst>
              <a:ext uri="{FF2B5EF4-FFF2-40B4-BE49-F238E27FC236}">
                <a16:creationId xmlns:a16="http://schemas.microsoft.com/office/drawing/2014/main" id="{966846D1-878C-7A16-D94E-BE80F3A95784}"/>
              </a:ext>
            </a:extLst>
          </p:cNvPr>
          <p:cNvSpPr txBox="1"/>
          <p:nvPr/>
        </p:nvSpPr>
        <p:spPr>
          <a:xfrm>
            <a:off x="5029200" y="3149262"/>
            <a:ext cx="3916817" cy="2031325"/>
          </a:xfrm>
          <a:prstGeom prst="rect">
            <a:avLst/>
          </a:prstGeom>
          <a:noFill/>
        </p:spPr>
        <p:txBody>
          <a:bodyPr wrap="square">
            <a:spAutoFit/>
          </a:bodyPr>
          <a:lstStyle/>
          <a:p>
            <a:r>
              <a:rPr lang="en-US" altLang="zh-CN" dirty="0">
                <a:latin typeface="+mj-lt"/>
              </a:rPr>
              <a:t># </a:t>
            </a:r>
            <a:r>
              <a:rPr lang="zh-CN" altLang="en-US" dirty="0">
                <a:latin typeface="+mj-lt"/>
              </a:rPr>
              <a:t>向量乘法</a:t>
            </a:r>
          </a:p>
          <a:p>
            <a:r>
              <a:rPr lang="en-US" altLang="zh-CN" dirty="0">
                <a:latin typeface="+mj-lt"/>
              </a:rPr>
              <a:t>multiplication = </a:t>
            </a:r>
            <a:r>
              <a:rPr lang="en-US" altLang="zh-CN" dirty="0" err="1">
                <a:latin typeface="+mj-lt"/>
              </a:rPr>
              <a:t>vector_a</a:t>
            </a:r>
            <a:r>
              <a:rPr lang="en-US" altLang="zh-CN" dirty="0">
                <a:latin typeface="+mj-lt"/>
              </a:rPr>
              <a:t> * </a:t>
            </a:r>
            <a:r>
              <a:rPr lang="en-US" altLang="zh-CN" dirty="0" err="1">
                <a:latin typeface="+mj-lt"/>
              </a:rPr>
              <a:t>vector_b</a:t>
            </a:r>
            <a:endParaRPr lang="en-US" altLang="zh-CN" dirty="0">
              <a:latin typeface="+mj-lt"/>
            </a:endParaRPr>
          </a:p>
          <a:p>
            <a:r>
              <a:rPr lang="en-US" altLang="zh-CN" dirty="0">
                <a:latin typeface="+mj-lt"/>
              </a:rPr>
              <a:t>print("</a:t>
            </a:r>
            <a:r>
              <a:rPr lang="zh-CN" altLang="en-US" dirty="0">
                <a:latin typeface="+mj-lt"/>
              </a:rPr>
              <a:t>向量乘法结果：</a:t>
            </a:r>
            <a:r>
              <a:rPr lang="en-US" altLang="zh-CN" dirty="0">
                <a:latin typeface="+mj-lt"/>
              </a:rPr>
              <a:t>", multiplication)</a:t>
            </a:r>
          </a:p>
          <a:p>
            <a:endParaRPr lang="en-US" altLang="zh-CN" dirty="0">
              <a:latin typeface="+mj-lt"/>
            </a:endParaRPr>
          </a:p>
          <a:p>
            <a:r>
              <a:rPr lang="en-US" altLang="zh-CN" dirty="0">
                <a:latin typeface="+mj-lt"/>
              </a:rPr>
              <a:t># </a:t>
            </a:r>
            <a:r>
              <a:rPr lang="zh-CN" altLang="en-US" dirty="0">
                <a:latin typeface="+mj-lt"/>
              </a:rPr>
              <a:t>向量点积</a:t>
            </a:r>
            <a:endParaRPr lang="en-US" altLang="zh-CN" dirty="0">
              <a:latin typeface="+mj-lt"/>
            </a:endParaRPr>
          </a:p>
          <a:p>
            <a:r>
              <a:rPr lang="en-US" altLang="zh-CN" dirty="0" err="1">
                <a:latin typeface="+mj-lt"/>
              </a:rPr>
              <a:t>dot_product</a:t>
            </a:r>
            <a:r>
              <a:rPr lang="en-US" altLang="zh-CN" dirty="0">
                <a:latin typeface="+mj-lt"/>
              </a:rPr>
              <a:t> = np.dot(</a:t>
            </a:r>
            <a:r>
              <a:rPr lang="en-US" altLang="zh-CN" dirty="0" err="1">
                <a:latin typeface="+mj-lt"/>
              </a:rPr>
              <a:t>vector_a</a:t>
            </a:r>
            <a:r>
              <a:rPr lang="en-US" altLang="zh-CN" dirty="0">
                <a:latin typeface="+mj-lt"/>
              </a:rPr>
              <a:t>, </a:t>
            </a:r>
            <a:r>
              <a:rPr lang="en-US" altLang="zh-CN" dirty="0" err="1">
                <a:latin typeface="+mj-lt"/>
              </a:rPr>
              <a:t>vector_b</a:t>
            </a:r>
            <a:r>
              <a:rPr lang="en-US" altLang="zh-CN" dirty="0">
                <a:latin typeface="+mj-lt"/>
              </a:rPr>
              <a:t>)</a:t>
            </a:r>
          </a:p>
          <a:p>
            <a:r>
              <a:rPr lang="en-US" altLang="zh-CN" dirty="0">
                <a:latin typeface="+mj-lt"/>
              </a:rPr>
              <a:t>print("</a:t>
            </a:r>
            <a:r>
              <a:rPr lang="zh-CN" altLang="en-US" dirty="0">
                <a:latin typeface="+mj-lt"/>
              </a:rPr>
              <a:t>向量点积结果：</a:t>
            </a:r>
            <a:r>
              <a:rPr lang="en-US" altLang="zh-CN" dirty="0">
                <a:latin typeface="+mj-lt"/>
              </a:rPr>
              <a:t>", </a:t>
            </a:r>
            <a:r>
              <a:rPr lang="en-US" altLang="zh-CN" dirty="0" err="1">
                <a:latin typeface="+mj-lt"/>
              </a:rPr>
              <a:t>dot_product</a:t>
            </a:r>
            <a:r>
              <a:rPr lang="en-US" altLang="zh-CN" dirty="0">
                <a:latin typeface="+mj-lt"/>
              </a:rPr>
              <a:t>)</a:t>
            </a:r>
          </a:p>
        </p:txBody>
      </p:sp>
      <p:sp>
        <p:nvSpPr>
          <p:cNvPr id="17" name="文本框 16">
            <a:extLst>
              <a:ext uri="{FF2B5EF4-FFF2-40B4-BE49-F238E27FC236}">
                <a16:creationId xmlns:a16="http://schemas.microsoft.com/office/drawing/2014/main" id="{6053A0AA-95BE-0670-A770-4CDF104E48EA}"/>
              </a:ext>
            </a:extLst>
          </p:cNvPr>
          <p:cNvSpPr txBox="1"/>
          <p:nvPr/>
        </p:nvSpPr>
        <p:spPr>
          <a:xfrm>
            <a:off x="1765696" y="5180587"/>
            <a:ext cx="6527008" cy="1323439"/>
          </a:xfrm>
          <a:prstGeom prst="rect">
            <a:avLst/>
          </a:prstGeom>
          <a:noFill/>
        </p:spPr>
        <p:txBody>
          <a:bodyPr wrap="square">
            <a:spAutoFit/>
          </a:bodyPr>
          <a:lstStyle/>
          <a:p>
            <a:r>
              <a:rPr lang="zh-CN" altLang="en-US" sz="2000" b="1" dirty="0">
                <a:solidFill>
                  <a:schemeClr val="accent1"/>
                </a:solidFill>
              </a:rPr>
              <a:t>思考问题</a:t>
            </a:r>
          </a:p>
          <a:p>
            <a:pPr marL="285750" indent="-285750">
              <a:buFont typeface="Wingdings" panose="05000000000000000000" pitchFamily="2" charset="2"/>
              <a:buChar char="l"/>
            </a:pPr>
            <a:r>
              <a:rPr lang="zh-CN" altLang="en-US" sz="2000" b="1" dirty="0">
                <a:solidFill>
                  <a:schemeClr val="accent1"/>
                </a:solidFill>
              </a:rPr>
              <a:t>向量加法和减法的运算规则是什么？</a:t>
            </a:r>
            <a:endParaRPr lang="en-US" altLang="zh-CN" sz="2000" b="1" dirty="0">
              <a:solidFill>
                <a:schemeClr val="accent1"/>
              </a:solidFill>
            </a:endParaRPr>
          </a:p>
          <a:p>
            <a:pPr marL="285750" indent="-285750">
              <a:buFont typeface="Wingdings" panose="05000000000000000000" pitchFamily="2" charset="2"/>
              <a:buChar char="l"/>
            </a:pPr>
            <a:r>
              <a:rPr lang="zh-CN" altLang="en-US" sz="2000" b="1" dirty="0">
                <a:solidFill>
                  <a:schemeClr val="accent1"/>
                </a:solidFill>
              </a:rPr>
              <a:t>向量乘法和点积有什么区别？</a:t>
            </a:r>
          </a:p>
          <a:p>
            <a:pPr marL="285750" indent="-285750">
              <a:buFont typeface="Wingdings" panose="05000000000000000000" pitchFamily="2" charset="2"/>
              <a:buChar char="l"/>
            </a:pPr>
            <a:r>
              <a:rPr lang="zh-CN" altLang="en-US" sz="2000" b="1" dirty="0">
                <a:solidFill>
                  <a:schemeClr val="accent1"/>
                </a:solidFill>
              </a:rPr>
              <a:t>在机器学习中，向量运算有哪些应用场景？</a:t>
            </a:r>
          </a:p>
        </p:txBody>
      </p:sp>
    </p:spTree>
    <p:extLst>
      <p:ext uri="{BB962C8B-B14F-4D97-AF65-F5344CB8AC3E}">
        <p14:creationId xmlns:p14="http://schemas.microsoft.com/office/powerpoint/2010/main" val="2799965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1213D-6B1C-4678-73C5-96DA91DF1B35}"/>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F3CA6347-14D3-8C62-89DD-B79DC839F4B4}"/>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代码实践</a:t>
            </a:r>
            <a:r>
              <a:rPr lang="en-US" altLang="zh-CN" dirty="0">
                <a:latin typeface="Times New Roman" panose="02020603050405020304" pitchFamily="18" charset="0"/>
                <a:ea typeface="楷体" panose="02010609060101010101" pitchFamily="49" charset="-122"/>
              </a:rPr>
              <a:t>2</a:t>
            </a:r>
            <a:r>
              <a:rPr lang="zh-CN" altLang="en-US" dirty="0">
                <a:latin typeface="Times New Roman" panose="02020603050405020304" pitchFamily="18" charset="0"/>
                <a:ea typeface="楷体" panose="02010609060101010101" pitchFamily="49" charset="-122"/>
              </a:rPr>
              <a:t>： </a:t>
            </a:r>
            <a:r>
              <a:rPr lang="en-US" altLang="zh-CN" dirty="0">
                <a:latin typeface="Times New Roman" panose="02020603050405020304" pitchFamily="18" charset="0"/>
                <a:ea typeface="楷体" panose="02010609060101010101" pitchFamily="49" charset="-122"/>
              </a:rPr>
              <a:t>pandas</a:t>
            </a:r>
            <a:r>
              <a:rPr lang="zh-CN" altLang="en-US" dirty="0">
                <a:latin typeface="Times New Roman" panose="02020603050405020304" pitchFamily="18" charset="0"/>
                <a:ea typeface="楷体" panose="02010609060101010101" pitchFamily="49" charset="-122"/>
              </a:rPr>
              <a:t>数据处理</a:t>
            </a:r>
          </a:p>
        </p:txBody>
      </p:sp>
      <p:sp>
        <p:nvSpPr>
          <p:cNvPr id="10" name="文本框 9">
            <a:extLst>
              <a:ext uri="{FF2B5EF4-FFF2-40B4-BE49-F238E27FC236}">
                <a16:creationId xmlns:a16="http://schemas.microsoft.com/office/drawing/2014/main" id="{1FF0866D-0B78-0AAE-DA66-19F029D6591F}"/>
              </a:ext>
            </a:extLst>
          </p:cNvPr>
          <p:cNvSpPr txBox="1"/>
          <p:nvPr/>
        </p:nvSpPr>
        <p:spPr>
          <a:xfrm>
            <a:off x="1143000" y="609600"/>
            <a:ext cx="7202092" cy="830997"/>
          </a:xfrm>
          <a:prstGeom prst="rect">
            <a:avLst/>
          </a:prstGeom>
          <a:noFill/>
        </p:spPr>
        <p:txBody>
          <a:bodyPr wrap="square">
            <a:spAutoFit/>
          </a:bodyPr>
          <a:lstStyle/>
          <a:p>
            <a:pPr algn="ctr"/>
            <a:r>
              <a:rPr lang="zh-CN" altLang="en-US" sz="2400" b="1" dirty="0">
                <a:latin typeface="Times New Roman" panose="02020603050405020304" pitchFamily="18" charset="0"/>
              </a:rPr>
              <a:t>目标：学会使用</a:t>
            </a:r>
            <a:r>
              <a:rPr lang="en-US" altLang="zh-CN" sz="2400" b="1" dirty="0">
                <a:latin typeface="Times New Roman" panose="02020603050405020304" pitchFamily="18" charset="0"/>
              </a:rPr>
              <a:t>pandas</a:t>
            </a:r>
            <a:r>
              <a:rPr lang="zh-CN" altLang="en-US" sz="2400" b="1" dirty="0">
                <a:latin typeface="Times New Roman" panose="02020603050405020304" pitchFamily="18" charset="0"/>
              </a:rPr>
              <a:t>进行数据读取、筛选、排序和分组操作。</a:t>
            </a:r>
          </a:p>
        </p:txBody>
      </p:sp>
      <p:sp>
        <p:nvSpPr>
          <p:cNvPr id="13" name="文本框 12">
            <a:extLst>
              <a:ext uri="{FF2B5EF4-FFF2-40B4-BE49-F238E27FC236}">
                <a16:creationId xmlns:a16="http://schemas.microsoft.com/office/drawing/2014/main" id="{6EF77277-4949-0DF1-5F90-ADC7DE094749}"/>
              </a:ext>
            </a:extLst>
          </p:cNvPr>
          <p:cNvSpPr txBox="1"/>
          <p:nvPr/>
        </p:nvSpPr>
        <p:spPr>
          <a:xfrm>
            <a:off x="851296" y="1440597"/>
            <a:ext cx="3775303" cy="3693319"/>
          </a:xfrm>
          <a:prstGeom prst="rect">
            <a:avLst/>
          </a:prstGeom>
          <a:noFill/>
        </p:spPr>
        <p:txBody>
          <a:bodyPr wrap="square">
            <a:spAutoFit/>
          </a:bodyPr>
          <a:lstStyle/>
          <a:p>
            <a:r>
              <a:rPr lang="en-US" altLang="zh-CN" dirty="0">
                <a:latin typeface="+mj-lt"/>
              </a:rPr>
              <a:t>import pandas as pd</a:t>
            </a:r>
          </a:p>
          <a:p>
            <a:endParaRPr lang="en-US" altLang="zh-CN" dirty="0">
              <a:latin typeface="+mj-lt"/>
            </a:endParaRPr>
          </a:p>
          <a:p>
            <a:r>
              <a:rPr lang="en-US" altLang="zh-CN" dirty="0">
                <a:latin typeface="+mj-lt"/>
              </a:rPr>
              <a:t># </a:t>
            </a:r>
            <a:r>
              <a:rPr lang="zh-CN" altLang="en-US" dirty="0">
                <a:latin typeface="+mj-lt"/>
              </a:rPr>
              <a:t>读取数据</a:t>
            </a:r>
          </a:p>
          <a:p>
            <a:r>
              <a:rPr lang="en-US" altLang="zh-CN" dirty="0">
                <a:latin typeface="+mj-lt"/>
              </a:rPr>
              <a:t>data = </a:t>
            </a:r>
            <a:r>
              <a:rPr lang="en-US" altLang="zh-CN" dirty="0" err="1">
                <a:latin typeface="+mj-lt"/>
              </a:rPr>
              <a:t>pd.read_csv</a:t>
            </a:r>
            <a:r>
              <a:rPr lang="en-US" altLang="zh-CN" dirty="0">
                <a:latin typeface="+mj-lt"/>
              </a:rPr>
              <a:t>('data.csv')</a:t>
            </a:r>
          </a:p>
          <a:p>
            <a:endParaRPr lang="en-US" altLang="zh-CN" dirty="0">
              <a:latin typeface="+mj-lt"/>
            </a:endParaRPr>
          </a:p>
          <a:p>
            <a:r>
              <a:rPr lang="en-US" altLang="zh-CN" dirty="0">
                <a:latin typeface="+mj-lt"/>
              </a:rPr>
              <a:t># </a:t>
            </a:r>
            <a:r>
              <a:rPr lang="zh-CN" altLang="en-US" dirty="0">
                <a:latin typeface="+mj-lt"/>
              </a:rPr>
              <a:t>查看数据前</a:t>
            </a:r>
            <a:r>
              <a:rPr lang="en-US" altLang="zh-CN" dirty="0">
                <a:latin typeface="+mj-lt"/>
              </a:rPr>
              <a:t>5</a:t>
            </a:r>
            <a:r>
              <a:rPr lang="zh-CN" altLang="en-US" dirty="0">
                <a:latin typeface="+mj-lt"/>
              </a:rPr>
              <a:t>行</a:t>
            </a:r>
          </a:p>
          <a:p>
            <a:r>
              <a:rPr lang="en-US" altLang="zh-CN" dirty="0">
                <a:latin typeface="+mj-lt"/>
              </a:rPr>
              <a:t>print("</a:t>
            </a:r>
            <a:r>
              <a:rPr lang="zh-CN" altLang="en-US" dirty="0">
                <a:latin typeface="+mj-lt"/>
              </a:rPr>
              <a:t>数据前</a:t>
            </a:r>
            <a:r>
              <a:rPr lang="en-US" altLang="zh-CN" dirty="0">
                <a:latin typeface="+mj-lt"/>
              </a:rPr>
              <a:t>5</a:t>
            </a:r>
            <a:r>
              <a:rPr lang="zh-CN" altLang="en-US" dirty="0">
                <a:latin typeface="+mj-lt"/>
              </a:rPr>
              <a:t>行：</a:t>
            </a:r>
            <a:r>
              <a:rPr lang="en-US" altLang="zh-CN" dirty="0">
                <a:latin typeface="+mj-lt"/>
              </a:rPr>
              <a:t>")</a:t>
            </a:r>
          </a:p>
          <a:p>
            <a:r>
              <a:rPr lang="en-US" altLang="zh-CN" dirty="0">
                <a:latin typeface="+mj-lt"/>
              </a:rPr>
              <a:t>print(</a:t>
            </a:r>
            <a:r>
              <a:rPr lang="en-US" altLang="zh-CN" dirty="0" err="1">
                <a:latin typeface="+mj-lt"/>
              </a:rPr>
              <a:t>data.head</a:t>
            </a:r>
            <a:r>
              <a:rPr lang="en-US" altLang="zh-CN" dirty="0">
                <a:latin typeface="+mj-lt"/>
              </a:rPr>
              <a:t>())</a:t>
            </a:r>
          </a:p>
          <a:p>
            <a:endParaRPr lang="en-US" altLang="zh-CN" dirty="0">
              <a:latin typeface="+mj-lt"/>
            </a:endParaRPr>
          </a:p>
          <a:p>
            <a:r>
              <a:rPr lang="en-US" altLang="zh-CN" dirty="0">
                <a:latin typeface="+mj-lt"/>
              </a:rPr>
              <a:t># </a:t>
            </a:r>
            <a:r>
              <a:rPr lang="zh-CN" altLang="en-US" dirty="0">
                <a:latin typeface="+mj-lt"/>
              </a:rPr>
              <a:t>数据筛选</a:t>
            </a:r>
          </a:p>
          <a:p>
            <a:r>
              <a:rPr lang="en-US" altLang="zh-CN" dirty="0" err="1">
                <a:latin typeface="+mj-lt"/>
              </a:rPr>
              <a:t>filtered_data</a:t>
            </a:r>
            <a:r>
              <a:rPr lang="en-US" altLang="zh-CN" dirty="0">
                <a:latin typeface="+mj-lt"/>
              </a:rPr>
              <a:t> = data[data['age'] &gt; 30]</a:t>
            </a:r>
          </a:p>
          <a:p>
            <a:r>
              <a:rPr lang="en-US" altLang="zh-CN" dirty="0">
                <a:latin typeface="+mj-lt"/>
              </a:rPr>
              <a:t>print("\n</a:t>
            </a:r>
            <a:r>
              <a:rPr lang="zh-CN" altLang="en-US" dirty="0">
                <a:latin typeface="+mj-lt"/>
              </a:rPr>
              <a:t>年龄大于</a:t>
            </a:r>
            <a:r>
              <a:rPr lang="en-US" altLang="zh-CN" dirty="0">
                <a:latin typeface="+mj-lt"/>
              </a:rPr>
              <a:t>30</a:t>
            </a:r>
            <a:r>
              <a:rPr lang="zh-CN" altLang="en-US" dirty="0">
                <a:latin typeface="+mj-lt"/>
              </a:rPr>
              <a:t>的数据：</a:t>
            </a:r>
            <a:r>
              <a:rPr lang="en-US" altLang="zh-CN" dirty="0">
                <a:latin typeface="+mj-lt"/>
              </a:rPr>
              <a:t>")</a:t>
            </a:r>
          </a:p>
          <a:p>
            <a:r>
              <a:rPr lang="en-US" altLang="zh-CN" dirty="0">
                <a:latin typeface="+mj-lt"/>
              </a:rPr>
              <a:t>print(</a:t>
            </a:r>
            <a:r>
              <a:rPr lang="en-US" altLang="zh-CN" dirty="0" err="1">
                <a:latin typeface="+mj-lt"/>
              </a:rPr>
              <a:t>filtered_data</a:t>
            </a:r>
            <a:r>
              <a:rPr lang="en-US" altLang="zh-CN" dirty="0">
                <a:latin typeface="+mj-lt"/>
              </a:rPr>
              <a:t>)</a:t>
            </a:r>
          </a:p>
        </p:txBody>
      </p:sp>
      <p:sp>
        <p:nvSpPr>
          <p:cNvPr id="15" name="文本框 14">
            <a:extLst>
              <a:ext uri="{FF2B5EF4-FFF2-40B4-BE49-F238E27FC236}">
                <a16:creationId xmlns:a16="http://schemas.microsoft.com/office/drawing/2014/main" id="{856B77F8-5926-DFC6-06B9-D721C3A6B87D}"/>
              </a:ext>
            </a:extLst>
          </p:cNvPr>
          <p:cNvSpPr txBox="1"/>
          <p:nvPr/>
        </p:nvSpPr>
        <p:spPr>
          <a:xfrm>
            <a:off x="4688340" y="1972466"/>
            <a:ext cx="4450217" cy="3139321"/>
          </a:xfrm>
          <a:prstGeom prst="rect">
            <a:avLst/>
          </a:prstGeom>
          <a:noFill/>
        </p:spPr>
        <p:txBody>
          <a:bodyPr wrap="square">
            <a:spAutoFit/>
          </a:bodyPr>
          <a:lstStyle/>
          <a:p>
            <a:r>
              <a:rPr lang="en-US" altLang="zh-CN" dirty="0">
                <a:latin typeface="+mj-lt"/>
              </a:rPr>
              <a:t># </a:t>
            </a:r>
            <a:r>
              <a:rPr lang="zh-CN" altLang="en-US" dirty="0">
                <a:latin typeface="+mj-lt"/>
              </a:rPr>
              <a:t>数据排序</a:t>
            </a:r>
          </a:p>
          <a:p>
            <a:r>
              <a:rPr lang="en-US" altLang="zh-CN" dirty="0" err="1">
                <a:latin typeface="+mj-lt"/>
              </a:rPr>
              <a:t>sorted_data</a:t>
            </a:r>
            <a:r>
              <a:rPr lang="en-US" altLang="zh-CN" dirty="0">
                <a:latin typeface="+mj-lt"/>
              </a:rPr>
              <a:t> = </a:t>
            </a:r>
            <a:r>
              <a:rPr lang="en-US" altLang="zh-CN" dirty="0" err="1">
                <a:latin typeface="+mj-lt"/>
              </a:rPr>
              <a:t>data.sort_values</a:t>
            </a:r>
            <a:r>
              <a:rPr lang="en-US" altLang="zh-CN" dirty="0">
                <a:latin typeface="+mj-lt"/>
              </a:rPr>
              <a:t>(by='salary', ascending=False)</a:t>
            </a:r>
          </a:p>
          <a:p>
            <a:r>
              <a:rPr lang="en-US" altLang="zh-CN" dirty="0">
                <a:latin typeface="+mj-lt"/>
              </a:rPr>
              <a:t>print("\n</a:t>
            </a:r>
            <a:r>
              <a:rPr lang="zh-CN" altLang="en-US" dirty="0">
                <a:latin typeface="+mj-lt"/>
              </a:rPr>
              <a:t>按工资降序排列的数据：</a:t>
            </a:r>
            <a:r>
              <a:rPr lang="en-US" altLang="zh-CN" dirty="0">
                <a:latin typeface="+mj-lt"/>
              </a:rPr>
              <a:t>")</a:t>
            </a:r>
          </a:p>
          <a:p>
            <a:r>
              <a:rPr lang="en-US" altLang="zh-CN" dirty="0">
                <a:latin typeface="+mj-lt"/>
              </a:rPr>
              <a:t>print(</a:t>
            </a:r>
            <a:r>
              <a:rPr lang="en-US" altLang="zh-CN" dirty="0" err="1">
                <a:latin typeface="+mj-lt"/>
              </a:rPr>
              <a:t>sorted_data</a:t>
            </a:r>
            <a:r>
              <a:rPr lang="en-US" altLang="zh-CN" dirty="0">
                <a:latin typeface="+mj-lt"/>
              </a:rPr>
              <a:t>)</a:t>
            </a:r>
          </a:p>
          <a:p>
            <a:endParaRPr lang="en-US" altLang="zh-CN" dirty="0">
              <a:latin typeface="+mj-lt"/>
            </a:endParaRPr>
          </a:p>
          <a:p>
            <a:r>
              <a:rPr lang="en-US" altLang="zh-CN" dirty="0">
                <a:latin typeface="+mj-lt"/>
              </a:rPr>
              <a:t># </a:t>
            </a:r>
            <a:r>
              <a:rPr lang="zh-CN" altLang="en-US" dirty="0">
                <a:latin typeface="+mj-lt"/>
              </a:rPr>
              <a:t>数据分组</a:t>
            </a:r>
          </a:p>
          <a:p>
            <a:r>
              <a:rPr lang="en-US" altLang="zh-CN" dirty="0" err="1">
                <a:latin typeface="+mj-lt"/>
              </a:rPr>
              <a:t>grouped_data</a:t>
            </a:r>
            <a:r>
              <a:rPr lang="en-US" altLang="zh-CN" dirty="0">
                <a:latin typeface="+mj-lt"/>
              </a:rPr>
              <a:t> = </a:t>
            </a:r>
            <a:r>
              <a:rPr lang="en-US" altLang="zh-CN" dirty="0" err="1">
                <a:latin typeface="+mj-lt"/>
              </a:rPr>
              <a:t>data.groupby</a:t>
            </a:r>
            <a:r>
              <a:rPr lang="en-US" altLang="zh-CN" dirty="0">
                <a:latin typeface="+mj-lt"/>
              </a:rPr>
              <a:t>('department')['salary'].mean()</a:t>
            </a:r>
          </a:p>
          <a:p>
            <a:r>
              <a:rPr lang="en-US" altLang="zh-CN" dirty="0">
                <a:latin typeface="+mj-lt"/>
              </a:rPr>
              <a:t>print("\n</a:t>
            </a:r>
            <a:r>
              <a:rPr lang="zh-CN" altLang="en-US" dirty="0">
                <a:latin typeface="+mj-lt"/>
              </a:rPr>
              <a:t>各部门工资平均值：</a:t>
            </a:r>
            <a:r>
              <a:rPr lang="en-US" altLang="zh-CN" dirty="0">
                <a:latin typeface="+mj-lt"/>
              </a:rPr>
              <a:t>")</a:t>
            </a:r>
          </a:p>
          <a:p>
            <a:r>
              <a:rPr lang="en-US" altLang="zh-CN" dirty="0">
                <a:latin typeface="+mj-lt"/>
              </a:rPr>
              <a:t>print(</a:t>
            </a:r>
            <a:r>
              <a:rPr lang="en-US" altLang="zh-CN" dirty="0" err="1">
                <a:latin typeface="+mj-lt"/>
              </a:rPr>
              <a:t>grouped_data</a:t>
            </a:r>
            <a:r>
              <a:rPr lang="en-US" altLang="zh-CN" dirty="0">
                <a:latin typeface="+mj-lt"/>
              </a:rPr>
              <a:t>)</a:t>
            </a:r>
          </a:p>
        </p:txBody>
      </p:sp>
      <p:sp>
        <p:nvSpPr>
          <p:cNvPr id="17" name="文本框 16">
            <a:extLst>
              <a:ext uri="{FF2B5EF4-FFF2-40B4-BE49-F238E27FC236}">
                <a16:creationId xmlns:a16="http://schemas.microsoft.com/office/drawing/2014/main" id="{83ABC111-5281-C06F-C70B-D1D34F18EA0A}"/>
              </a:ext>
            </a:extLst>
          </p:cNvPr>
          <p:cNvSpPr txBox="1"/>
          <p:nvPr/>
        </p:nvSpPr>
        <p:spPr>
          <a:xfrm>
            <a:off x="1371600" y="5180587"/>
            <a:ext cx="7302104" cy="1323439"/>
          </a:xfrm>
          <a:prstGeom prst="rect">
            <a:avLst/>
          </a:prstGeom>
          <a:noFill/>
        </p:spPr>
        <p:txBody>
          <a:bodyPr wrap="square">
            <a:spAutoFit/>
          </a:bodyPr>
          <a:lstStyle/>
          <a:p>
            <a:r>
              <a:rPr lang="zh-CN" altLang="en-US" sz="2000" b="1" dirty="0">
                <a:solidFill>
                  <a:schemeClr val="accent1"/>
                </a:solidFill>
              </a:rPr>
              <a:t>思考问题</a:t>
            </a:r>
          </a:p>
          <a:p>
            <a:pPr marL="342900" indent="-342900">
              <a:buFont typeface="Wingdings" panose="05000000000000000000" pitchFamily="2" charset="2"/>
              <a:buChar char="l"/>
            </a:pPr>
            <a:r>
              <a:rPr lang="zh-CN" altLang="en-US" sz="2000" b="1" dirty="0">
                <a:solidFill>
                  <a:schemeClr val="accent1"/>
                </a:solidFill>
              </a:rPr>
              <a:t>如何处理数据中的缺失值？</a:t>
            </a:r>
            <a:endParaRPr lang="en-US" altLang="zh-CN" sz="2000" b="1" dirty="0">
              <a:solidFill>
                <a:schemeClr val="accent1"/>
              </a:solidFill>
            </a:endParaRPr>
          </a:p>
          <a:p>
            <a:pPr marL="342900" indent="-342900">
              <a:buFont typeface="Wingdings" panose="05000000000000000000" pitchFamily="2" charset="2"/>
              <a:buChar char="l"/>
            </a:pPr>
            <a:r>
              <a:rPr lang="zh-CN" altLang="en-US" sz="2000" b="1" dirty="0">
                <a:solidFill>
                  <a:schemeClr val="accent1"/>
                </a:solidFill>
              </a:rPr>
              <a:t>在数据筛选时，如何同时满足多个条件？</a:t>
            </a:r>
            <a:endParaRPr lang="en-US" altLang="zh-CN" sz="2000" b="1" dirty="0">
              <a:solidFill>
                <a:schemeClr val="accent1"/>
              </a:solidFill>
            </a:endParaRPr>
          </a:p>
          <a:p>
            <a:pPr marL="342900" indent="-342900">
              <a:buFont typeface="Wingdings" panose="05000000000000000000" pitchFamily="2" charset="2"/>
              <a:buChar char="l"/>
            </a:pPr>
            <a:r>
              <a:rPr lang="zh-CN" altLang="en-US" sz="2000" b="1" dirty="0">
                <a:solidFill>
                  <a:schemeClr val="accent1"/>
                </a:solidFill>
              </a:rPr>
              <a:t>数据分组后，除了计算平均值，还可以进行哪些统计分析？</a:t>
            </a:r>
          </a:p>
        </p:txBody>
      </p:sp>
    </p:spTree>
    <p:extLst>
      <p:ext uri="{BB962C8B-B14F-4D97-AF65-F5344CB8AC3E}">
        <p14:creationId xmlns:p14="http://schemas.microsoft.com/office/powerpoint/2010/main" val="344845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9448A-D1BB-61AB-5E14-173DB17FB912}"/>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64187DDA-74A8-6347-5CD2-FE625412FA61}"/>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代码实践</a:t>
            </a:r>
            <a:r>
              <a:rPr lang="en-US" altLang="zh-CN" dirty="0">
                <a:latin typeface="Times New Roman" panose="02020603050405020304" pitchFamily="18" charset="0"/>
                <a:ea typeface="楷体" panose="02010609060101010101" pitchFamily="49" charset="-122"/>
              </a:rPr>
              <a:t>3</a:t>
            </a:r>
            <a:r>
              <a:rPr lang="zh-CN" altLang="en-US" dirty="0">
                <a:latin typeface="Times New Roman" panose="02020603050405020304" pitchFamily="18" charset="0"/>
                <a:ea typeface="楷体" panose="02010609060101010101" pitchFamily="49" charset="-122"/>
              </a:rPr>
              <a:t>： </a:t>
            </a:r>
            <a:r>
              <a:rPr lang="en-US" altLang="zh-CN" dirty="0">
                <a:latin typeface="Times New Roman" panose="02020603050405020304" pitchFamily="18" charset="0"/>
                <a:ea typeface="楷体" panose="02010609060101010101" pitchFamily="49" charset="-122"/>
              </a:rPr>
              <a:t>Matplotlib</a:t>
            </a:r>
            <a:r>
              <a:rPr lang="zh-CN" altLang="en-US" dirty="0">
                <a:latin typeface="Times New Roman" panose="02020603050405020304" pitchFamily="18" charset="0"/>
                <a:ea typeface="楷体" panose="02010609060101010101" pitchFamily="49" charset="-122"/>
              </a:rPr>
              <a:t>绘图</a:t>
            </a:r>
          </a:p>
        </p:txBody>
      </p:sp>
      <p:sp>
        <p:nvSpPr>
          <p:cNvPr id="10" name="文本框 9">
            <a:extLst>
              <a:ext uri="{FF2B5EF4-FFF2-40B4-BE49-F238E27FC236}">
                <a16:creationId xmlns:a16="http://schemas.microsoft.com/office/drawing/2014/main" id="{5151458C-E71C-333D-EEF3-63E5158318CB}"/>
              </a:ext>
            </a:extLst>
          </p:cNvPr>
          <p:cNvSpPr txBox="1"/>
          <p:nvPr/>
        </p:nvSpPr>
        <p:spPr>
          <a:xfrm>
            <a:off x="1143000" y="664709"/>
            <a:ext cx="7748588" cy="461665"/>
          </a:xfrm>
          <a:prstGeom prst="rect">
            <a:avLst/>
          </a:prstGeom>
          <a:noFill/>
        </p:spPr>
        <p:txBody>
          <a:bodyPr wrap="square">
            <a:spAutoFit/>
          </a:bodyPr>
          <a:lstStyle/>
          <a:p>
            <a:pPr algn="ctr"/>
            <a:r>
              <a:rPr lang="zh-CN" altLang="en-US" sz="2400" b="1" dirty="0">
                <a:latin typeface="Times New Roman" panose="02020603050405020304" pitchFamily="18" charset="0"/>
              </a:rPr>
              <a:t>目标：学会使用</a:t>
            </a:r>
            <a:r>
              <a:rPr lang="en-US" altLang="zh-CN" sz="2400" b="1" dirty="0">
                <a:latin typeface="Times New Roman" panose="02020603050405020304" pitchFamily="18" charset="0"/>
              </a:rPr>
              <a:t>Matplotlib</a:t>
            </a:r>
            <a:r>
              <a:rPr lang="zh-CN" altLang="en-US" sz="2400" b="1" dirty="0">
                <a:latin typeface="Times New Roman" panose="02020603050405020304" pitchFamily="18" charset="0"/>
              </a:rPr>
              <a:t>绘制折线图、柱状图和散点图。</a:t>
            </a:r>
          </a:p>
        </p:txBody>
      </p:sp>
      <p:sp>
        <p:nvSpPr>
          <p:cNvPr id="13" name="文本框 12">
            <a:extLst>
              <a:ext uri="{FF2B5EF4-FFF2-40B4-BE49-F238E27FC236}">
                <a16:creationId xmlns:a16="http://schemas.microsoft.com/office/drawing/2014/main" id="{76165F8A-22B1-18CD-7DFB-DC99271ECAB6}"/>
              </a:ext>
            </a:extLst>
          </p:cNvPr>
          <p:cNvSpPr txBox="1"/>
          <p:nvPr/>
        </p:nvSpPr>
        <p:spPr>
          <a:xfrm>
            <a:off x="381000" y="1436115"/>
            <a:ext cx="4528031" cy="3139321"/>
          </a:xfrm>
          <a:prstGeom prst="rect">
            <a:avLst/>
          </a:prstGeom>
          <a:noFill/>
        </p:spPr>
        <p:txBody>
          <a:bodyPr wrap="square">
            <a:spAutoFit/>
          </a:bodyPr>
          <a:lstStyle/>
          <a:p>
            <a:r>
              <a:rPr lang="en-US" altLang="zh-CN" dirty="0">
                <a:latin typeface="+mj-lt"/>
              </a:rPr>
              <a:t>import </a:t>
            </a:r>
            <a:r>
              <a:rPr lang="en-US" altLang="zh-CN" dirty="0" err="1">
                <a:latin typeface="+mj-lt"/>
              </a:rPr>
              <a:t>matplotlib.pyplot</a:t>
            </a:r>
            <a:r>
              <a:rPr lang="en-US" altLang="zh-CN" dirty="0">
                <a:latin typeface="+mj-lt"/>
              </a:rPr>
              <a:t> as </a:t>
            </a:r>
            <a:r>
              <a:rPr lang="en-US" altLang="zh-CN" dirty="0" err="1">
                <a:latin typeface="+mj-lt"/>
              </a:rPr>
              <a:t>plt</a:t>
            </a:r>
            <a:endParaRPr lang="en-US" altLang="zh-CN" dirty="0">
              <a:latin typeface="+mj-lt"/>
            </a:endParaRPr>
          </a:p>
          <a:p>
            <a:endParaRPr lang="en-US" altLang="zh-CN" dirty="0">
              <a:latin typeface="+mj-lt"/>
            </a:endParaRPr>
          </a:p>
          <a:p>
            <a:r>
              <a:rPr lang="en-US" altLang="zh-CN" dirty="0">
                <a:latin typeface="+mj-lt"/>
              </a:rPr>
              <a:t># </a:t>
            </a:r>
            <a:r>
              <a:rPr lang="zh-CN" altLang="en-US" dirty="0">
                <a:latin typeface="+mj-lt"/>
              </a:rPr>
              <a:t>折线图</a:t>
            </a:r>
          </a:p>
          <a:p>
            <a:r>
              <a:rPr lang="en-US" altLang="zh-CN" dirty="0">
                <a:latin typeface="+mj-lt"/>
              </a:rPr>
              <a:t>x = [1, 2, 3, 4, 5]</a:t>
            </a:r>
          </a:p>
          <a:p>
            <a:r>
              <a:rPr lang="en-US" altLang="zh-CN" dirty="0">
                <a:latin typeface="+mj-lt"/>
              </a:rPr>
              <a:t>y = [2, 4, 6, 8, 10]</a:t>
            </a:r>
          </a:p>
          <a:p>
            <a:r>
              <a:rPr lang="en-US" altLang="zh-CN" b="1" dirty="0" err="1">
                <a:solidFill>
                  <a:schemeClr val="accent1"/>
                </a:solidFill>
                <a:latin typeface="+mj-lt"/>
              </a:rPr>
              <a:t>plt.plot</a:t>
            </a:r>
            <a:r>
              <a:rPr lang="en-US" altLang="zh-CN" b="1" dirty="0">
                <a:solidFill>
                  <a:schemeClr val="accent1"/>
                </a:solidFill>
                <a:latin typeface="+mj-lt"/>
              </a:rPr>
              <a:t>(x, y)</a:t>
            </a:r>
          </a:p>
          <a:p>
            <a:r>
              <a:rPr lang="en-US" altLang="zh-CN" dirty="0" err="1">
                <a:latin typeface="+mj-lt"/>
              </a:rPr>
              <a:t>plt.title</a:t>
            </a:r>
            <a:r>
              <a:rPr lang="en-US" altLang="zh-CN" dirty="0">
                <a:latin typeface="+mj-lt"/>
              </a:rPr>
              <a:t>("</a:t>
            </a:r>
            <a:r>
              <a:rPr lang="zh-CN" altLang="en-US" dirty="0">
                <a:latin typeface="+mj-lt"/>
              </a:rPr>
              <a:t>折线图</a:t>
            </a:r>
            <a:r>
              <a:rPr lang="en-US" altLang="zh-CN" dirty="0">
                <a:latin typeface="+mj-lt"/>
              </a:rPr>
              <a:t>",</a:t>
            </a:r>
            <a:r>
              <a:rPr lang="en-US" altLang="zh-CN" b="1" dirty="0" err="1">
                <a:solidFill>
                  <a:schemeClr val="accent2"/>
                </a:solidFill>
                <a:latin typeface="+mj-lt"/>
              </a:rPr>
              <a:t>fontproperties</a:t>
            </a:r>
            <a:r>
              <a:rPr lang="en-US" altLang="zh-CN" b="1" dirty="0">
                <a:solidFill>
                  <a:schemeClr val="accent2"/>
                </a:solidFill>
                <a:latin typeface="+mj-lt"/>
              </a:rPr>
              <a:t>='</a:t>
            </a:r>
            <a:r>
              <a:rPr lang="en-US" altLang="zh-CN" b="1" dirty="0" err="1">
                <a:solidFill>
                  <a:schemeClr val="accent2"/>
                </a:solidFill>
                <a:latin typeface="+mj-lt"/>
              </a:rPr>
              <a:t>SimHei</a:t>
            </a:r>
            <a:r>
              <a:rPr lang="en-US" altLang="zh-CN" b="1" dirty="0">
                <a:solidFill>
                  <a:schemeClr val="accent2"/>
                </a:solidFill>
                <a:latin typeface="+mj-lt"/>
              </a:rPr>
              <a:t>'</a:t>
            </a:r>
            <a:r>
              <a:rPr lang="en-US" altLang="zh-CN" dirty="0">
                <a:latin typeface="+mj-lt"/>
              </a:rPr>
              <a:t>)</a:t>
            </a:r>
          </a:p>
          <a:p>
            <a:r>
              <a:rPr lang="en-US" altLang="zh-CN" dirty="0" err="1">
                <a:latin typeface="+mj-lt"/>
              </a:rPr>
              <a:t>plt.xlabel</a:t>
            </a:r>
            <a:r>
              <a:rPr lang="en-US" altLang="zh-CN" dirty="0">
                <a:latin typeface="+mj-lt"/>
              </a:rPr>
              <a:t>("X</a:t>
            </a:r>
            <a:r>
              <a:rPr lang="zh-CN" altLang="en-US" dirty="0">
                <a:latin typeface="+mj-lt"/>
              </a:rPr>
              <a:t>轴</a:t>
            </a:r>
            <a:r>
              <a:rPr lang="en-US" altLang="zh-CN" dirty="0">
                <a:latin typeface="+mj-lt"/>
              </a:rPr>
              <a:t>",</a:t>
            </a:r>
            <a:r>
              <a:rPr lang="en-US" altLang="zh-CN" b="1" dirty="0" err="1">
                <a:solidFill>
                  <a:schemeClr val="accent2"/>
                </a:solidFill>
                <a:latin typeface="+mj-lt"/>
              </a:rPr>
              <a:t>fontproperties</a:t>
            </a:r>
            <a:r>
              <a:rPr lang="en-US" altLang="zh-CN" b="1" dirty="0">
                <a:solidFill>
                  <a:schemeClr val="accent2"/>
                </a:solidFill>
                <a:latin typeface="+mj-lt"/>
              </a:rPr>
              <a:t>='</a:t>
            </a:r>
            <a:r>
              <a:rPr lang="en-US" altLang="zh-CN" b="1" dirty="0" err="1">
                <a:solidFill>
                  <a:schemeClr val="accent2"/>
                </a:solidFill>
                <a:latin typeface="+mj-lt"/>
              </a:rPr>
              <a:t>SimHei</a:t>
            </a:r>
            <a:r>
              <a:rPr lang="en-US" altLang="zh-CN" b="1" dirty="0">
                <a:solidFill>
                  <a:schemeClr val="accent2"/>
                </a:solidFill>
                <a:latin typeface="+mj-lt"/>
              </a:rPr>
              <a:t>')</a:t>
            </a:r>
          </a:p>
          <a:p>
            <a:r>
              <a:rPr lang="en-US" altLang="zh-CN" dirty="0" err="1">
                <a:latin typeface="+mj-lt"/>
              </a:rPr>
              <a:t>plt.ylabel</a:t>
            </a:r>
            <a:r>
              <a:rPr lang="en-US" altLang="zh-CN" dirty="0">
                <a:latin typeface="+mj-lt"/>
              </a:rPr>
              <a:t>("Y</a:t>
            </a:r>
            <a:r>
              <a:rPr lang="zh-CN" altLang="en-US" dirty="0">
                <a:latin typeface="+mj-lt"/>
              </a:rPr>
              <a:t>轴</a:t>
            </a:r>
            <a:r>
              <a:rPr lang="en-US" altLang="zh-CN" dirty="0">
                <a:latin typeface="+mj-lt"/>
              </a:rPr>
              <a:t>",</a:t>
            </a:r>
            <a:r>
              <a:rPr lang="en-US" altLang="zh-CN" b="1" dirty="0" err="1">
                <a:solidFill>
                  <a:schemeClr val="accent2"/>
                </a:solidFill>
                <a:latin typeface="+mj-lt"/>
              </a:rPr>
              <a:t>fontproperties</a:t>
            </a:r>
            <a:r>
              <a:rPr lang="en-US" altLang="zh-CN" b="1" dirty="0">
                <a:solidFill>
                  <a:schemeClr val="accent2"/>
                </a:solidFill>
                <a:latin typeface="+mj-lt"/>
              </a:rPr>
              <a:t>='</a:t>
            </a:r>
            <a:r>
              <a:rPr lang="en-US" altLang="zh-CN" b="1" dirty="0" err="1">
                <a:solidFill>
                  <a:schemeClr val="accent2"/>
                </a:solidFill>
                <a:latin typeface="+mj-lt"/>
              </a:rPr>
              <a:t>SimHei</a:t>
            </a:r>
            <a:r>
              <a:rPr lang="en-US" altLang="zh-CN" b="1" dirty="0">
                <a:solidFill>
                  <a:schemeClr val="accent2"/>
                </a:solidFill>
                <a:latin typeface="+mj-lt"/>
              </a:rPr>
              <a:t>')</a:t>
            </a:r>
          </a:p>
          <a:p>
            <a:r>
              <a:rPr lang="en-US" altLang="zh-CN" dirty="0" err="1">
                <a:latin typeface="+mj-lt"/>
              </a:rPr>
              <a:t>plt.show</a:t>
            </a:r>
            <a:r>
              <a:rPr lang="en-US" altLang="zh-CN" dirty="0">
                <a:latin typeface="+mj-lt"/>
              </a:rPr>
              <a:t>()</a:t>
            </a:r>
          </a:p>
          <a:p>
            <a:endParaRPr lang="en-US" altLang="zh-CN" dirty="0">
              <a:latin typeface="+mj-lt"/>
            </a:endParaRPr>
          </a:p>
        </p:txBody>
      </p:sp>
      <p:sp>
        <p:nvSpPr>
          <p:cNvPr id="15" name="文本框 14">
            <a:extLst>
              <a:ext uri="{FF2B5EF4-FFF2-40B4-BE49-F238E27FC236}">
                <a16:creationId xmlns:a16="http://schemas.microsoft.com/office/drawing/2014/main" id="{16215059-7950-D6B5-DC58-5D1253D62D74}"/>
              </a:ext>
            </a:extLst>
          </p:cNvPr>
          <p:cNvSpPr txBox="1"/>
          <p:nvPr/>
        </p:nvSpPr>
        <p:spPr>
          <a:xfrm>
            <a:off x="4926806" y="1452529"/>
            <a:ext cx="4297817" cy="4801314"/>
          </a:xfrm>
          <a:prstGeom prst="rect">
            <a:avLst/>
          </a:prstGeom>
          <a:noFill/>
        </p:spPr>
        <p:txBody>
          <a:bodyPr wrap="square">
            <a:spAutoFit/>
          </a:bodyPr>
          <a:lstStyle/>
          <a:p>
            <a:r>
              <a:rPr lang="en-US" altLang="zh-CN" dirty="0">
                <a:latin typeface="+mj-lt"/>
              </a:rPr>
              <a:t># </a:t>
            </a:r>
            <a:r>
              <a:rPr lang="zh-CN" altLang="en-US" dirty="0">
                <a:latin typeface="+mj-lt"/>
              </a:rPr>
              <a:t>柱状图</a:t>
            </a:r>
          </a:p>
          <a:p>
            <a:r>
              <a:rPr lang="en-US" altLang="zh-CN" dirty="0">
                <a:latin typeface="+mj-lt"/>
              </a:rPr>
              <a:t>categories = ['A', 'B', 'C', 'D']</a:t>
            </a:r>
          </a:p>
          <a:p>
            <a:r>
              <a:rPr lang="en-US" altLang="zh-CN" dirty="0">
                <a:latin typeface="+mj-lt"/>
              </a:rPr>
              <a:t>values = [3, 7, 8, 5]</a:t>
            </a:r>
          </a:p>
          <a:p>
            <a:r>
              <a:rPr lang="en-US" altLang="zh-CN" b="1" dirty="0" err="1">
                <a:solidFill>
                  <a:schemeClr val="accent1"/>
                </a:solidFill>
                <a:latin typeface="+mj-lt"/>
              </a:rPr>
              <a:t>plt.bar</a:t>
            </a:r>
            <a:r>
              <a:rPr lang="en-US" altLang="zh-CN" b="1" dirty="0">
                <a:solidFill>
                  <a:schemeClr val="accent1"/>
                </a:solidFill>
                <a:latin typeface="+mj-lt"/>
              </a:rPr>
              <a:t>(categories, values)</a:t>
            </a:r>
          </a:p>
          <a:p>
            <a:r>
              <a:rPr lang="en-US" altLang="zh-CN" dirty="0" err="1">
                <a:latin typeface="+mj-lt"/>
              </a:rPr>
              <a:t>plt.title</a:t>
            </a:r>
            <a:r>
              <a:rPr lang="en-US" altLang="zh-CN" dirty="0">
                <a:latin typeface="+mj-lt"/>
              </a:rPr>
              <a:t>("</a:t>
            </a:r>
            <a:r>
              <a:rPr lang="zh-CN" altLang="en-US" dirty="0">
                <a:latin typeface="+mj-lt"/>
              </a:rPr>
              <a:t>柱状图</a:t>
            </a:r>
            <a:r>
              <a:rPr lang="en-US" altLang="zh-CN" dirty="0">
                <a:latin typeface="+mj-lt"/>
              </a:rPr>
              <a:t>",</a:t>
            </a:r>
            <a:r>
              <a:rPr lang="en-US" altLang="zh-CN" b="1" dirty="0" err="1">
                <a:solidFill>
                  <a:schemeClr val="accent2"/>
                </a:solidFill>
                <a:latin typeface="+mj-lt"/>
              </a:rPr>
              <a:t>fontproperties</a:t>
            </a:r>
            <a:r>
              <a:rPr lang="en-US" altLang="zh-CN" b="1" dirty="0">
                <a:solidFill>
                  <a:schemeClr val="accent2"/>
                </a:solidFill>
                <a:latin typeface="+mj-lt"/>
              </a:rPr>
              <a:t>='</a:t>
            </a:r>
            <a:r>
              <a:rPr lang="en-US" altLang="zh-CN" b="1" dirty="0" err="1">
                <a:solidFill>
                  <a:schemeClr val="accent2"/>
                </a:solidFill>
                <a:latin typeface="+mj-lt"/>
              </a:rPr>
              <a:t>SimHei</a:t>
            </a:r>
            <a:r>
              <a:rPr lang="en-US" altLang="zh-CN" b="1" dirty="0">
                <a:solidFill>
                  <a:schemeClr val="accent2"/>
                </a:solidFill>
                <a:latin typeface="+mj-lt"/>
              </a:rPr>
              <a:t>')</a:t>
            </a:r>
          </a:p>
          <a:p>
            <a:r>
              <a:rPr lang="en-US" altLang="zh-CN" dirty="0" err="1">
                <a:latin typeface="+mj-lt"/>
              </a:rPr>
              <a:t>plt.xlabel</a:t>
            </a:r>
            <a:r>
              <a:rPr lang="en-US" altLang="zh-CN" dirty="0">
                <a:latin typeface="+mj-lt"/>
              </a:rPr>
              <a:t>("</a:t>
            </a:r>
            <a:r>
              <a:rPr lang="zh-CN" altLang="en-US" dirty="0">
                <a:latin typeface="+mj-lt"/>
              </a:rPr>
              <a:t>类别</a:t>
            </a:r>
            <a:r>
              <a:rPr lang="en-US" altLang="zh-CN" dirty="0">
                <a:latin typeface="+mj-lt"/>
              </a:rPr>
              <a:t>",</a:t>
            </a:r>
            <a:r>
              <a:rPr lang="en-US" altLang="zh-CN" b="1" dirty="0" err="1">
                <a:solidFill>
                  <a:schemeClr val="accent2"/>
                </a:solidFill>
                <a:latin typeface="+mj-lt"/>
              </a:rPr>
              <a:t>fontproperties</a:t>
            </a:r>
            <a:r>
              <a:rPr lang="en-US" altLang="zh-CN" b="1" dirty="0">
                <a:solidFill>
                  <a:schemeClr val="accent2"/>
                </a:solidFill>
                <a:latin typeface="+mj-lt"/>
              </a:rPr>
              <a:t>='</a:t>
            </a:r>
            <a:r>
              <a:rPr lang="en-US" altLang="zh-CN" b="1" dirty="0" err="1">
                <a:solidFill>
                  <a:schemeClr val="accent2"/>
                </a:solidFill>
                <a:latin typeface="+mj-lt"/>
              </a:rPr>
              <a:t>SimHei</a:t>
            </a:r>
            <a:r>
              <a:rPr lang="en-US" altLang="zh-CN" b="1" dirty="0">
                <a:solidFill>
                  <a:schemeClr val="accent2"/>
                </a:solidFill>
                <a:latin typeface="+mj-lt"/>
              </a:rPr>
              <a:t>')</a:t>
            </a:r>
          </a:p>
          <a:p>
            <a:r>
              <a:rPr lang="en-US" altLang="zh-CN" dirty="0" err="1">
                <a:latin typeface="+mj-lt"/>
              </a:rPr>
              <a:t>plt.ylabel</a:t>
            </a:r>
            <a:r>
              <a:rPr lang="en-US" altLang="zh-CN" dirty="0">
                <a:latin typeface="+mj-lt"/>
              </a:rPr>
              <a:t>("</a:t>
            </a:r>
            <a:r>
              <a:rPr lang="zh-CN" altLang="en-US" dirty="0">
                <a:latin typeface="+mj-lt"/>
              </a:rPr>
              <a:t>数值</a:t>
            </a:r>
            <a:r>
              <a:rPr lang="en-US" altLang="zh-CN" dirty="0">
                <a:latin typeface="+mj-lt"/>
              </a:rPr>
              <a:t>",</a:t>
            </a:r>
            <a:r>
              <a:rPr lang="en-US" altLang="zh-CN" b="1" dirty="0" err="1">
                <a:solidFill>
                  <a:schemeClr val="accent2"/>
                </a:solidFill>
                <a:latin typeface="+mj-lt"/>
              </a:rPr>
              <a:t>fontproperties</a:t>
            </a:r>
            <a:r>
              <a:rPr lang="en-US" altLang="zh-CN" b="1" dirty="0">
                <a:solidFill>
                  <a:schemeClr val="accent2"/>
                </a:solidFill>
                <a:latin typeface="+mj-lt"/>
              </a:rPr>
              <a:t>='</a:t>
            </a:r>
            <a:r>
              <a:rPr lang="en-US" altLang="zh-CN" b="1" dirty="0" err="1">
                <a:solidFill>
                  <a:schemeClr val="accent2"/>
                </a:solidFill>
                <a:latin typeface="+mj-lt"/>
              </a:rPr>
              <a:t>SimHei</a:t>
            </a:r>
            <a:r>
              <a:rPr lang="en-US" altLang="zh-CN" b="1" dirty="0">
                <a:solidFill>
                  <a:schemeClr val="accent2"/>
                </a:solidFill>
                <a:latin typeface="+mj-lt"/>
              </a:rPr>
              <a:t>')</a:t>
            </a:r>
          </a:p>
          <a:p>
            <a:r>
              <a:rPr lang="en-US" altLang="zh-CN" dirty="0" err="1">
                <a:latin typeface="+mj-lt"/>
              </a:rPr>
              <a:t>plt.show</a:t>
            </a:r>
            <a:r>
              <a:rPr lang="en-US" altLang="zh-CN" dirty="0">
                <a:latin typeface="+mj-lt"/>
              </a:rPr>
              <a:t>()</a:t>
            </a:r>
          </a:p>
          <a:p>
            <a:endParaRPr lang="en-US" altLang="zh-CN" dirty="0">
              <a:latin typeface="+mj-lt"/>
            </a:endParaRPr>
          </a:p>
          <a:p>
            <a:r>
              <a:rPr lang="en-US" altLang="zh-CN" dirty="0">
                <a:latin typeface="+mj-lt"/>
              </a:rPr>
              <a:t># </a:t>
            </a:r>
            <a:r>
              <a:rPr lang="zh-CN" altLang="en-US" dirty="0">
                <a:latin typeface="+mj-lt"/>
              </a:rPr>
              <a:t>散点图</a:t>
            </a:r>
          </a:p>
          <a:p>
            <a:r>
              <a:rPr lang="en-US" altLang="zh-CN" dirty="0">
                <a:latin typeface="+mj-lt"/>
              </a:rPr>
              <a:t>x = [1, 2, 3, 4, 5]</a:t>
            </a:r>
          </a:p>
          <a:p>
            <a:r>
              <a:rPr lang="en-US" altLang="zh-CN" dirty="0">
                <a:latin typeface="+mj-lt"/>
              </a:rPr>
              <a:t>y = [2, 4, 1, 5, 3]</a:t>
            </a:r>
          </a:p>
          <a:p>
            <a:r>
              <a:rPr lang="en-US" altLang="zh-CN" b="1" dirty="0" err="1">
                <a:solidFill>
                  <a:schemeClr val="accent1"/>
                </a:solidFill>
                <a:latin typeface="+mj-lt"/>
              </a:rPr>
              <a:t>plt.scatter</a:t>
            </a:r>
            <a:r>
              <a:rPr lang="en-US" altLang="zh-CN" b="1" dirty="0">
                <a:solidFill>
                  <a:schemeClr val="accent1"/>
                </a:solidFill>
                <a:latin typeface="+mj-lt"/>
              </a:rPr>
              <a:t>(x, y)</a:t>
            </a:r>
          </a:p>
          <a:p>
            <a:r>
              <a:rPr lang="en-US" altLang="zh-CN" dirty="0" err="1">
                <a:latin typeface="+mj-lt"/>
              </a:rPr>
              <a:t>plt.title</a:t>
            </a:r>
            <a:r>
              <a:rPr lang="en-US" altLang="zh-CN" dirty="0">
                <a:latin typeface="+mj-lt"/>
              </a:rPr>
              <a:t>("</a:t>
            </a:r>
            <a:r>
              <a:rPr lang="zh-CN" altLang="en-US" dirty="0">
                <a:latin typeface="+mj-lt"/>
              </a:rPr>
              <a:t>散点图</a:t>
            </a:r>
            <a:r>
              <a:rPr lang="en-US" altLang="zh-CN" dirty="0">
                <a:latin typeface="+mj-lt"/>
              </a:rPr>
              <a:t>",</a:t>
            </a:r>
            <a:r>
              <a:rPr lang="en-US" altLang="zh-CN" b="1" dirty="0" err="1">
                <a:solidFill>
                  <a:schemeClr val="accent2"/>
                </a:solidFill>
                <a:latin typeface="+mj-lt"/>
              </a:rPr>
              <a:t>fontproperties</a:t>
            </a:r>
            <a:r>
              <a:rPr lang="en-US" altLang="zh-CN" b="1" dirty="0">
                <a:solidFill>
                  <a:schemeClr val="accent2"/>
                </a:solidFill>
                <a:latin typeface="+mj-lt"/>
              </a:rPr>
              <a:t>='</a:t>
            </a:r>
            <a:r>
              <a:rPr lang="en-US" altLang="zh-CN" b="1" dirty="0" err="1">
                <a:solidFill>
                  <a:schemeClr val="accent2"/>
                </a:solidFill>
                <a:latin typeface="+mj-lt"/>
              </a:rPr>
              <a:t>SimHei</a:t>
            </a:r>
            <a:r>
              <a:rPr lang="en-US" altLang="zh-CN" b="1" dirty="0">
                <a:solidFill>
                  <a:schemeClr val="accent2"/>
                </a:solidFill>
                <a:latin typeface="+mj-lt"/>
              </a:rPr>
              <a:t>')</a:t>
            </a:r>
          </a:p>
          <a:p>
            <a:r>
              <a:rPr lang="en-US" altLang="zh-CN" dirty="0" err="1">
                <a:latin typeface="+mj-lt"/>
              </a:rPr>
              <a:t>plt.xlabel</a:t>
            </a:r>
            <a:r>
              <a:rPr lang="en-US" altLang="zh-CN" dirty="0">
                <a:latin typeface="+mj-lt"/>
              </a:rPr>
              <a:t>("X</a:t>
            </a:r>
            <a:r>
              <a:rPr lang="zh-CN" altLang="en-US" dirty="0">
                <a:latin typeface="+mj-lt"/>
              </a:rPr>
              <a:t>轴</a:t>
            </a:r>
            <a:r>
              <a:rPr lang="en-US" altLang="zh-CN" dirty="0">
                <a:latin typeface="+mj-lt"/>
              </a:rPr>
              <a:t>",</a:t>
            </a:r>
            <a:r>
              <a:rPr lang="en-US" altLang="zh-CN" b="1" dirty="0" err="1">
                <a:solidFill>
                  <a:schemeClr val="accent2"/>
                </a:solidFill>
                <a:latin typeface="+mj-lt"/>
              </a:rPr>
              <a:t>fontproperties</a:t>
            </a:r>
            <a:r>
              <a:rPr lang="en-US" altLang="zh-CN" b="1" dirty="0">
                <a:solidFill>
                  <a:schemeClr val="accent2"/>
                </a:solidFill>
                <a:latin typeface="+mj-lt"/>
              </a:rPr>
              <a:t>='</a:t>
            </a:r>
            <a:r>
              <a:rPr lang="en-US" altLang="zh-CN" b="1" dirty="0" err="1">
                <a:solidFill>
                  <a:schemeClr val="accent2"/>
                </a:solidFill>
                <a:latin typeface="+mj-lt"/>
              </a:rPr>
              <a:t>SimHei</a:t>
            </a:r>
            <a:r>
              <a:rPr lang="en-US" altLang="zh-CN" b="1" dirty="0">
                <a:solidFill>
                  <a:schemeClr val="accent2"/>
                </a:solidFill>
                <a:latin typeface="+mj-lt"/>
              </a:rPr>
              <a:t>')</a:t>
            </a:r>
          </a:p>
          <a:p>
            <a:r>
              <a:rPr lang="en-US" altLang="zh-CN" dirty="0" err="1">
                <a:latin typeface="+mj-lt"/>
              </a:rPr>
              <a:t>plt.ylabel</a:t>
            </a:r>
            <a:r>
              <a:rPr lang="en-US" altLang="zh-CN" dirty="0">
                <a:latin typeface="+mj-lt"/>
              </a:rPr>
              <a:t>("Y</a:t>
            </a:r>
            <a:r>
              <a:rPr lang="zh-CN" altLang="en-US" dirty="0">
                <a:latin typeface="+mj-lt"/>
              </a:rPr>
              <a:t>轴</a:t>
            </a:r>
            <a:r>
              <a:rPr lang="en-US" altLang="zh-CN" dirty="0">
                <a:latin typeface="+mj-lt"/>
              </a:rPr>
              <a:t>",</a:t>
            </a:r>
            <a:r>
              <a:rPr lang="en-US" altLang="zh-CN" b="1" dirty="0" err="1">
                <a:solidFill>
                  <a:schemeClr val="accent2"/>
                </a:solidFill>
                <a:latin typeface="+mj-lt"/>
              </a:rPr>
              <a:t>fontproperties</a:t>
            </a:r>
            <a:r>
              <a:rPr lang="en-US" altLang="zh-CN" b="1" dirty="0">
                <a:solidFill>
                  <a:schemeClr val="accent2"/>
                </a:solidFill>
                <a:latin typeface="+mj-lt"/>
              </a:rPr>
              <a:t>='</a:t>
            </a:r>
            <a:r>
              <a:rPr lang="en-US" altLang="zh-CN" b="1" dirty="0" err="1">
                <a:solidFill>
                  <a:schemeClr val="accent2"/>
                </a:solidFill>
                <a:latin typeface="+mj-lt"/>
              </a:rPr>
              <a:t>SimHei</a:t>
            </a:r>
            <a:r>
              <a:rPr lang="en-US" altLang="zh-CN" b="1" dirty="0">
                <a:solidFill>
                  <a:schemeClr val="accent2"/>
                </a:solidFill>
                <a:latin typeface="+mj-lt"/>
              </a:rPr>
              <a:t>')</a:t>
            </a:r>
          </a:p>
          <a:p>
            <a:r>
              <a:rPr lang="en-US" altLang="zh-CN" dirty="0" err="1">
                <a:latin typeface="+mj-lt"/>
              </a:rPr>
              <a:t>plt.show</a:t>
            </a:r>
            <a:r>
              <a:rPr lang="en-US" altLang="zh-CN" dirty="0">
                <a:latin typeface="+mj-lt"/>
              </a:rPr>
              <a:t>()</a:t>
            </a:r>
          </a:p>
        </p:txBody>
      </p:sp>
      <p:sp>
        <p:nvSpPr>
          <p:cNvPr id="17" name="文本框 16">
            <a:extLst>
              <a:ext uri="{FF2B5EF4-FFF2-40B4-BE49-F238E27FC236}">
                <a16:creationId xmlns:a16="http://schemas.microsoft.com/office/drawing/2014/main" id="{A7C352B7-EA7A-0EFA-2D49-87960A212660}"/>
              </a:ext>
            </a:extLst>
          </p:cNvPr>
          <p:cNvSpPr txBox="1"/>
          <p:nvPr/>
        </p:nvSpPr>
        <p:spPr>
          <a:xfrm>
            <a:off x="228600" y="4565643"/>
            <a:ext cx="4528032" cy="1938992"/>
          </a:xfrm>
          <a:prstGeom prst="rect">
            <a:avLst/>
          </a:prstGeom>
          <a:noFill/>
        </p:spPr>
        <p:txBody>
          <a:bodyPr wrap="square">
            <a:spAutoFit/>
          </a:bodyPr>
          <a:lstStyle/>
          <a:p>
            <a:r>
              <a:rPr lang="zh-CN" altLang="en-US" sz="2000" b="1" dirty="0">
                <a:solidFill>
                  <a:schemeClr val="accent1"/>
                </a:solidFill>
              </a:rPr>
              <a:t>思考问题</a:t>
            </a:r>
          </a:p>
          <a:p>
            <a:pPr marL="342900" indent="-342900">
              <a:buFont typeface="Wingdings" panose="05000000000000000000" pitchFamily="2" charset="2"/>
              <a:buChar char="l"/>
            </a:pPr>
            <a:r>
              <a:rPr lang="zh-CN" altLang="en-US" sz="2000" b="1" dirty="0">
                <a:solidFill>
                  <a:schemeClr val="accent1"/>
                </a:solidFill>
              </a:rPr>
              <a:t>如何自定义图表的颜色、线条样式和标记？</a:t>
            </a:r>
          </a:p>
          <a:p>
            <a:pPr marL="342900" indent="-342900">
              <a:buFont typeface="Wingdings" panose="05000000000000000000" pitchFamily="2" charset="2"/>
              <a:buChar char="l"/>
            </a:pPr>
            <a:r>
              <a:rPr lang="zh-CN" altLang="en-US" sz="2000" b="1" dirty="0">
                <a:solidFill>
                  <a:schemeClr val="accent1"/>
                </a:solidFill>
              </a:rPr>
              <a:t>在绘制多子图时，如何布局和调整间距？</a:t>
            </a:r>
          </a:p>
          <a:p>
            <a:pPr marL="342900" indent="-342900">
              <a:buFont typeface="Wingdings" panose="05000000000000000000" pitchFamily="2" charset="2"/>
              <a:buChar char="l"/>
            </a:pPr>
            <a:r>
              <a:rPr lang="zh-CN" altLang="en-US" sz="2000" b="1" dirty="0">
                <a:solidFill>
                  <a:schemeClr val="accent1"/>
                </a:solidFill>
              </a:rPr>
              <a:t>如何为图表添加图例和注释？</a:t>
            </a:r>
          </a:p>
        </p:txBody>
      </p:sp>
    </p:spTree>
    <p:extLst>
      <p:ext uri="{BB962C8B-B14F-4D97-AF65-F5344CB8AC3E}">
        <p14:creationId xmlns:p14="http://schemas.microsoft.com/office/powerpoint/2010/main" val="3726952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numCol="1" anchorCtr="0" compatLnSpc="1"/>
          <a:lstStyle/>
          <a:p>
            <a:pPr>
              <a:defRPr/>
            </a:pPr>
            <a:r>
              <a:rPr lang="zh-CN" altLang="en-US" sz="3200" b="1" dirty="0">
                <a:ln>
                  <a:noFill/>
                </a:ln>
                <a:solidFill>
                  <a:schemeClr val="tx2"/>
                </a:solidFill>
                <a:latin typeface="楷体" panose="02010609060101010101" pitchFamily="49" charset="-122"/>
                <a:ea typeface="楷体" panose="02010609060101010101" pitchFamily="49" charset="-122"/>
              </a:rPr>
              <a:t>目 录</a:t>
            </a:r>
          </a:p>
        </p:txBody>
      </p:sp>
      <p:sp>
        <p:nvSpPr>
          <p:cNvPr id="24579" name="矩形 9"/>
          <p:cNvSpPr>
            <a:spLocks noChangeArrowheads="1"/>
          </p:cNvSpPr>
          <p:nvPr/>
        </p:nvSpPr>
        <p:spPr bwMode="auto">
          <a:xfrm>
            <a:off x="1329358" y="1755321"/>
            <a:ext cx="7535516" cy="366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机器学习概念</a:t>
            </a:r>
            <a:endParaRPr lang="en-US" altLang="zh-CN" sz="4000" dirty="0">
              <a:latin typeface="Times New Roman" panose="02020603050405020304" pitchFamily="18" charset="0"/>
              <a:ea typeface="楷体" panose="02010609060101010101" pitchFamily="49" charset="-122"/>
            </a:endParaRP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机器学习编程基础</a:t>
            </a:r>
            <a:r>
              <a:rPr lang="en-US" altLang="zh-CN" sz="4000" dirty="0">
                <a:latin typeface="Times New Roman" panose="02020603050405020304" pitchFamily="18" charset="0"/>
                <a:ea typeface="楷体" panose="02010609060101010101" pitchFamily="49" charset="-122"/>
              </a:rPr>
              <a:t>——Python</a:t>
            </a: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机器学习开发流程</a:t>
            </a:r>
            <a:endParaRPr lang="en-US" altLang="zh-CN" sz="4000" dirty="0">
              <a:latin typeface="Times New Roman" panose="02020603050405020304" pitchFamily="18" charset="0"/>
              <a:ea typeface="楷体" panose="02010609060101010101" pitchFamily="49" charset="-122"/>
            </a:endParaRP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经典机器学习算法及其案例</a:t>
            </a:r>
          </a:p>
        </p:txBody>
      </p:sp>
      <p:sp>
        <p:nvSpPr>
          <p:cNvPr id="24581" name="矩形 13"/>
          <p:cNvSpPr>
            <a:spLocks noChangeArrowheads="1"/>
          </p:cNvSpPr>
          <p:nvPr/>
        </p:nvSpPr>
        <p:spPr bwMode="auto">
          <a:xfrm>
            <a:off x="1274929" y="3633107"/>
            <a:ext cx="4821071" cy="914400"/>
          </a:xfrm>
          <a:prstGeom prst="rect">
            <a:avLst/>
          </a:prstGeom>
          <a:noFill/>
          <a:ln w="34925" algn="ctr">
            <a:solidFill>
              <a:srgbClr val="0070C0"/>
            </a:solidFill>
            <a:round/>
          </a:ln>
          <a:extLst>
            <a:ext uri="{909E8E84-426E-40DD-AFC4-6F175D3DCCD1}">
              <a14:hiddenFill xmlns:a14="http://schemas.microsoft.com/office/drawing/2010/main">
                <a:solidFill>
                  <a:srgbClr val="FFFFFF"/>
                </a:solidFill>
              </a14:hiddenFill>
            </a:ext>
          </a:extLst>
        </p:spPr>
        <p:txBody>
          <a:bodyPr lIns="89545" tIns="0" rIns="0" bIns="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10000"/>
              </a:spcBef>
              <a:buClr>
                <a:srgbClr val="0000CC"/>
              </a:buClr>
              <a:buFont typeface="Wingdings" panose="05000000000000000000" pitchFamily="2" charset="2"/>
              <a:buChar char="u"/>
            </a:pPr>
            <a:endParaRPr lang="zh-CN" altLang="en-US" sz="4000">
              <a:latin typeface="楷体_GB2312" pitchFamily="49" charset="-122"/>
              <a:ea typeface="楷体_GB2312"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numCol="1" anchorCtr="0" compatLnSpc="1"/>
          <a:lstStyle/>
          <a:p>
            <a:pPr fontAlgn="auto">
              <a:spcAft>
                <a:spcPts val="0"/>
              </a:spcAft>
              <a:defRPr/>
            </a:pPr>
            <a:r>
              <a:rPr lang="zh-CN" altLang="en-US" dirty="0">
                <a:solidFill>
                  <a:schemeClr val="tx2"/>
                </a:solidFill>
                <a:latin typeface="Times New Roman" panose="02020603050405020304" pitchFamily="18" charset="0"/>
                <a:ea typeface="楷体" panose="02010609060101010101" pitchFamily="49" charset="-122"/>
              </a:rPr>
              <a:t>机器学习的一般步骤</a:t>
            </a:r>
          </a:p>
        </p:txBody>
      </p:sp>
      <p:graphicFrame>
        <p:nvGraphicFramePr>
          <p:cNvPr id="3" name="图示 2"/>
          <p:cNvGraphicFramePr/>
          <p:nvPr>
            <p:extLst>
              <p:ext uri="{D42A27DB-BD31-4B8C-83A1-F6EECF244321}">
                <p14:modId xmlns:p14="http://schemas.microsoft.com/office/powerpoint/2010/main" val="902678664"/>
              </p:ext>
            </p:extLst>
          </p:nvPr>
        </p:nvGraphicFramePr>
        <p:xfrm>
          <a:off x="228600" y="1746315"/>
          <a:ext cx="8686800" cy="6302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文本框 3"/>
          <p:cNvSpPr txBox="1"/>
          <p:nvPr/>
        </p:nvSpPr>
        <p:spPr>
          <a:xfrm>
            <a:off x="6629400" y="3113800"/>
            <a:ext cx="2640505" cy="336252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dirty="0">
                <a:latin typeface="Times New Roman" panose="02020603050405020304" pitchFamily="18" charset="0"/>
              </a:rPr>
              <a:t>基于性能指标比较几种机器学习模型</a:t>
            </a: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对最佳模型执行超参数调整</a:t>
            </a: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在测试集上评估最佳模型</a:t>
            </a: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解释模型结果</a:t>
            </a: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得出结论</a:t>
            </a:r>
          </a:p>
        </p:txBody>
      </p:sp>
      <p:sp>
        <p:nvSpPr>
          <p:cNvPr id="5" name="文本框 4"/>
          <p:cNvSpPr txBox="1"/>
          <p:nvPr/>
        </p:nvSpPr>
        <p:spPr>
          <a:xfrm>
            <a:off x="2032125" y="3124200"/>
            <a:ext cx="2768475" cy="86953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dirty="0">
                <a:latin typeface="Times New Roman" panose="02020603050405020304" pitchFamily="18" charset="0"/>
              </a:rPr>
              <a:t>探索性数据分析</a:t>
            </a:r>
            <a:r>
              <a:rPr lang="en-US" altLang="zh-CN" dirty="0">
                <a:latin typeface="Times New Roman" panose="02020603050405020304" pitchFamily="18" charset="0"/>
              </a:rPr>
              <a:t>(EDA)</a:t>
            </a:r>
            <a:endParaRPr lang="zh-CN" altLang="en-US"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数据清洗和格式化</a:t>
            </a:r>
            <a:endParaRPr lang="en-US" altLang="zh-CN" dirty="0">
              <a:latin typeface="Times New Roman" panose="02020603050405020304" pitchFamily="18" charset="0"/>
            </a:endParaRPr>
          </a:p>
        </p:txBody>
      </p:sp>
      <p:sp>
        <p:nvSpPr>
          <p:cNvPr id="6" name="文本框 5"/>
          <p:cNvSpPr txBox="1"/>
          <p:nvPr/>
        </p:nvSpPr>
        <p:spPr>
          <a:xfrm>
            <a:off x="4953000" y="3124200"/>
            <a:ext cx="1780643" cy="128503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dirty="0">
                <a:latin typeface="Times New Roman" panose="02020603050405020304" pitchFamily="18" charset="0"/>
              </a:rPr>
              <a:t>特征构建</a:t>
            </a: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特征提取</a:t>
            </a: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特征选择</a:t>
            </a:r>
          </a:p>
        </p:txBody>
      </p:sp>
      <p:sp>
        <p:nvSpPr>
          <p:cNvPr id="7" name="文本框 6"/>
          <p:cNvSpPr txBox="1"/>
          <p:nvPr/>
        </p:nvSpPr>
        <p:spPr>
          <a:xfrm>
            <a:off x="186484" y="3124200"/>
            <a:ext cx="1965412" cy="294952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dirty="0">
                <a:latin typeface="Times New Roman" panose="02020603050405020304" pitchFamily="18" charset="0"/>
              </a:rPr>
              <a:t>网络下载</a:t>
            </a:r>
            <a:endParaRPr lang="en-US" altLang="zh-CN"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网络爬虫</a:t>
            </a:r>
            <a:endParaRPr lang="en-US" altLang="zh-CN"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数据库读取</a:t>
            </a:r>
            <a:endParaRPr lang="en-US" altLang="zh-CN"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公开数据集</a:t>
            </a:r>
            <a:endParaRPr lang="en-US" altLang="zh-CN"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dirty="0">
                <a:latin typeface="Times New Roman" panose="02020603050405020304" pitchFamily="18" charset="0"/>
              </a:rPr>
              <a:t>第三方数据服务商</a:t>
            </a:r>
            <a:endParaRPr lang="en-US" altLang="zh-CN" dirty="0">
              <a:latin typeface="Times New Roman" panose="02020603050405020304" pitchFamily="18" charset="0"/>
            </a:endParaRPr>
          </a:p>
          <a:p>
            <a:pPr marL="342900" indent="-342900">
              <a:lnSpc>
                <a:spcPct val="150000"/>
              </a:lnSpc>
              <a:buFont typeface="Arial" panose="020B0604020202020204" pitchFamily="34" charset="0"/>
              <a:buChar char="•"/>
            </a:pP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6250" y="49460"/>
            <a:ext cx="8229600" cy="533400"/>
          </a:xfrm>
        </p:spPr>
        <p:txBody>
          <a:bodyPr numCol="1" anchorCtr="0" compatLnSpc="1"/>
          <a:lstStyle/>
          <a:p>
            <a:pPr fontAlgn="auto">
              <a:spcAft>
                <a:spcPts val="0"/>
              </a:spcAft>
              <a:defRPr/>
            </a:pPr>
            <a:r>
              <a:rPr lang="zh-CN" altLang="en-US" sz="2400" dirty="0">
                <a:solidFill>
                  <a:schemeClr val="tx2"/>
                </a:solidFill>
                <a:latin typeface="楷体" panose="02010609060101010101" pitchFamily="49" charset="-122"/>
                <a:ea typeface="楷体" panose="02010609060101010101" pitchFamily="49" charset="-122"/>
              </a:rPr>
              <a:t>机器学习步骤一：数据收集</a:t>
            </a:r>
            <a:r>
              <a:rPr lang="en-US" altLang="zh-CN" sz="2400" dirty="0">
                <a:solidFill>
                  <a:schemeClr val="tx2"/>
                </a:solidFill>
                <a:latin typeface="楷体" panose="02010609060101010101" pitchFamily="49" charset="-122"/>
                <a:ea typeface="楷体" panose="02010609060101010101" pitchFamily="49" charset="-122"/>
              </a:rPr>
              <a:t>(</a:t>
            </a:r>
            <a:r>
              <a:rPr lang="zh-CN" altLang="en-US" sz="2400" dirty="0">
                <a:solidFill>
                  <a:schemeClr val="tx2"/>
                </a:solidFill>
                <a:latin typeface="楷体" panose="02010609060101010101" pitchFamily="49" charset="-122"/>
                <a:ea typeface="楷体" panose="02010609060101010101" pitchFamily="49" charset="-122"/>
              </a:rPr>
              <a:t>结构化与非结构化</a:t>
            </a:r>
            <a:r>
              <a:rPr lang="en-US" altLang="zh-CN" sz="2400" dirty="0">
                <a:solidFill>
                  <a:schemeClr val="tx2"/>
                </a:solidFill>
                <a:latin typeface="楷体" panose="02010609060101010101" pitchFamily="49" charset="-122"/>
                <a:ea typeface="楷体" panose="02010609060101010101" pitchFamily="49" charset="-122"/>
              </a:rPr>
              <a:t>)</a:t>
            </a:r>
            <a:endParaRPr lang="zh-CN" altLang="en-US" sz="2400" dirty="0">
              <a:solidFill>
                <a:schemeClr val="tx2"/>
              </a:solidFill>
              <a:latin typeface="楷体" panose="02010609060101010101" pitchFamily="49" charset="-122"/>
              <a:ea typeface="楷体" panose="02010609060101010101" pitchFamily="49" charset="-122"/>
            </a:endParaRPr>
          </a:p>
        </p:txBody>
      </p:sp>
      <p:grpSp>
        <p:nvGrpSpPr>
          <p:cNvPr id="5" name="组合 4">
            <a:extLst>
              <a:ext uri="{FF2B5EF4-FFF2-40B4-BE49-F238E27FC236}">
                <a16:creationId xmlns:a16="http://schemas.microsoft.com/office/drawing/2014/main" id="{23D1A028-4592-07AB-63FE-469D3B736124}"/>
              </a:ext>
            </a:extLst>
          </p:cNvPr>
          <p:cNvGrpSpPr/>
          <p:nvPr/>
        </p:nvGrpSpPr>
        <p:grpSpPr>
          <a:xfrm>
            <a:off x="756132" y="685800"/>
            <a:ext cx="7886103" cy="5128094"/>
            <a:chOff x="756132" y="1040931"/>
            <a:chExt cx="7886103" cy="5128094"/>
          </a:xfrm>
        </p:grpSpPr>
        <p:sp>
          <p:nvSpPr>
            <p:cNvPr id="11" name="文本框 10"/>
            <p:cNvSpPr txBox="1"/>
            <p:nvPr/>
          </p:nvSpPr>
          <p:spPr>
            <a:xfrm>
              <a:off x="1600200" y="1055226"/>
              <a:ext cx="1558358" cy="461665"/>
            </a:xfrm>
            <a:prstGeom prst="rect">
              <a:avLst/>
            </a:prstGeom>
            <a:noFill/>
          </p:spPr>
          <p:txBody>
            <a:bodyPr wrap="square">
              <a:spAutoFit/>
            </a:bodyPr>
            <a:lstStyle/>
            <a:p>
              <a:pPr algn="ctr"/>
              <a:r>
                <a:rPr lang="zh-CN" altLang="en-US" sz="2400" dirty="0"/>
                <a:t>文本数据</a:t>
              </a:r>
            </a:p>
          </p:txBody>
        </p:sp>
        <p:sp>
          <p:nvSpPr>
            <p:cNvPr id="13" name="文本框 12"/>
            <p:cNvSpPr txBox="1"/>
            <p:nvPr/>
          </p:nvSpPr>
          <p:spPr>
            <a:xfrm>
              <a:off x="6172200" y="1040931"/>
              <a:ext cx="1558358" cy="461665"/>
            </a:xfrm>
            <a:prstGeom prst="rect">
              <a:avLst/>
            </a:prstGeom>
            <a:noFill/>
          </p:spPr>
          <p:txBody>
            <a:bodyPr wrap="square">
              <a:spAutoFit/>
            </a:bodyPr>
            <a:lstStyle/>
            <a:p>
              <a:pPr algn="ctr"/>
              <a:r>
                <a:rPr lang="zh-CN" altLang="en-US" sz="2400" dirty="0"/>
                <a:t>音频数据</a:t>
              </a:r>
            </a:p>
          </p:txBody>
        </p:sp>
        <p:sp>
          <p:nvSpPr>
            <p:cNvPr id="15" name="文本框 14"/>
            <p:cNvSpPr txBox="1"/>
            <p:nvPr/>
          </p:nvSpPr>
          <p:spPr>
            <a:xfrm>
              <a:off x="1600200" y="3633140"/>
              <a:ext cx="1600200" cy="461665"/>
            </a:xfrm>
            <a:prstGeom prst="rect">
              <a:avLst/>
            </a:prstGeom>
            <a:noFill/>
          </p:spPr>
          <p:txBody>
            <a:bodyPr wrap="square">
              <a:spAutoFit/>
            </a:bodyPr>
            <a:lstStyle/>
            <a:p>
              <a:pPr algn="ctr"/>
              <a:r>
                <a:rPr lang="zh-CN" altLang="en-US" sz="2400" dirty="0"/>
                <a:t>图片数据</a:t>
              </a:r>
            </a:p>
          </p:txBody>
        </p:sp>
        <p:sp>
          <p:nvSpPr>
            <p:cNvPr id="17" name="文本框 16"/>
            <p:cNvSpPr txBox="1"/>
            <p:nvPr/>
          </p:nvSpPr>
          <p:spPr>
            <a:xfrm>
              <a:off x="6151279" y="3661749"/>
              <a:ext cx="1600200" cy="461665"/>
            </a:xfrm>
            <a:prstGeom prst="rect">
              <a:avLst/>
            </a:prstGeom>
            <a:noFill/>
          </p:spPr>
          <p:txBody>
            <a:bodyPr wrap="square">
              <a:spAutoFit/>
            </a:bodyPr>
            <a:lstStyle/>
            <a:p>
              <a:pPr algn="ctr"/>
              <a:r>
                <a:rPr lang="zh-CN" altLang="en-US" sz="2400" dirty="0"/>
                <a:t>视频数据</a:t>
              </a:r>
            </a:p>
          </p:txBody>
        </p:sp>
        <p:pic>
          <p:nvPicPr>
            <p:cNvPr id="19" name="图片 18"/>
            <p:cNvPicPr>
              <a:picLocks noChangeAspect="1"/>
            </p:cNvPicPr>
            <p:nvPr/>
          </p:nvPicPr>
          <p:blipFill>
            <a:blip r:embed="rId3"/>
            <a:stretch>
              <a:fillRect/>
            </a:stretch>
          </p:blipFill>
          <p:spPr>
            <a:xfrm>
              <a:off x="838200" y="1613977"/>
              <a:ext cx="3188664" cy="1771480"/>
            </a:xfrm>
            <a:prstGeom prst="rect">
              <a:avLst/>
            </a:prstGeom>
          </p:spPr>
        </p:pic>
        <p:pic>
          <p:nvPicPr>
            <p:cNvPr id="20" name="图片 19"/>
            <p:cNvPicPr>
              <a:picLocks noChangeAspect="1"/>
            </p:cNvPicPr>
            <p:nvPr/>
          </p:nvPicPr>
          <p:blipFill>
            <a:blip r:embed="rId4"/>
            <a:stretch>
              <a:fillRect/>
            </a:stretch>
          </p:blipFill>
          <p:spPr>
            <a:xfrm>
              <a:off x="5213409" y="1635570"/>
              <a:ext cx="3389027" cy="1882792"/>
            </a:xfrm>
            <a:prstGeom prst="rect">
              <a:avLst/>
            </a:prstGeom>
          </p:spPr>
        </p:pic>
        <p:pic>
          <p:nvPicPr>
            <p:cNvPr id="21" name="图片 20"/>
            <p:cNvPicPr>
              <a:picLocks noChangeAspect="1"/>
            </p:cNvPicPr>
            <p:nvPr/>
          </p:nvPicPr>
          <p:blipFill>
            <a:blip r:embed="rId5"/>
            <a:stretch>
              <a:fillRect/>
            </a:stretch>
          </p:blipFill>
          <p:spPr>
            <a:xfrm>
              <a:off x="756132" y="4286232"/>
              <a:ext cx="3341064" cy="1856146"/>
            </a:xfrm>
            <a:prstGeom prst="rect">
              <a:avLst/>
            </a:prstGeom>
          </p:spPr>
        </p:pic>
        <p:pic>
          <p:nvPicPr>
            <p:cNvPr id="22" name="图片 21"/>
            <p:cNvPicPr>
              <a:picLocks noChangeAspect="1"/>
            </p:cNvPicPr>
            <p:nvPr/>
          </p:nvPicPr>
          <p:blipFill>
            <a:blip r:embed="rId6"/>
            <a:stretch>
              <a:fillRect/>
            </a:stretch>
          </p:blipFill>
          <p:spPr>
            <a:xfrm>
              <a:off x="5253208" y="4286232"/>
              <a:ext cx="3389027" cy="1882793"/>
            </a:xfrm>
            <a:prstGeom prst="rect">
              <a:avLst/>
            </a:prstGeom>
          </p:spPr>
        </p:pic>
      </p:grpSp>
      <p:sp>
        <p:nvSpPr>
          <p:cNvPr id="7" name="文本框 6">
            <a:extLst>
              <a:ext uri="{FF2B5EF4-FFF2-40B4-BE49-F238E27FC236}">
                <a16:creationId xmlns:a16="http://schemas.microsoft.com/office/drawing/2014/main" id="{F9186B17-2094-9EA3-06C4-5B37ADEEB0A4}"/>
              </a:ext>
            </a:extLst>
          </p:cNvPr>
          <p:cNvSpPr txBox="1"/>
          <p:nvPr/>
        </p:nvSpPr>
        <p:spPr>
          <a:xfrm>
            <a:off x="57150" y="6065303"/>
            <a:ext cx="9067800" cy="400110"/>
          </a:xfrm>
          <a:prstGeom prst="rect">
            <a:avLst/>
          </a:prstGeom>
          <a:noFill/>
        </p:spPr>
        <p:txBody>
          <a:bodyPr wrap="square">
            <a:spAutoFit/>
          </a:bodyPr>
          <a:lstStyle/>
          <a:p>
            <a:pPr algn="ctr"/>
            <a:r>
              <a:rPr lang="en-US" altLang="zh-CN" sz="2000" b="1" dirty="0">
                <a:solidFill>
                  <a:schemeClr val="accent1"/>
                </a:solidFill>
                <a:latin typeface="Times New Roman" panose="02020603050405020304" pitchFamily="18" charset="0"/>
              </a:rPr>
              <a:t>9</a:t>
            </a:r>
            <a:r>
              <a:rPr lang="zh-CN" altLang="en-US" sz="2000" b="1" dirty="0">
                <a:solidFill>
                  <a:schemeClr val="accent1"/>
                </a:solidFill>
                <a:latin typeface="Times New Roman" panose="02020603050405020304" pitchFamily="18" charset="0"/>
              </a:rPr>
              <a:t>个超实用的机器学习数据集网址：</a:t>
            </a:r>
            <a:r>
              <a:rPr lang="en-US" altLang="zh-CN" sz="2000" b="1" dirty="0">
                <a:solidFill>
                  <a:schemeClr val="accent1"/>
                </a:solidFill>
                <a:latin typeface="Times New Roman" panose="02020603050405020304" pitchFamily="18" charset="0"/>
              </a:rPr>
              <a:t>https://zhuanlan.zhihu.com/p/355916212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numCol="1" anchorCtr="0" compatLnSpc="1"/>
          <a:lstStyle/>
          <a:p>
            <a:pPr fontAlgn="auto">
              <a:spcAft>
                <a:spcPts val="0"/>
              </a:spcAft>
              <a:defRPr/>
            </a:pPr>
            <a:r>
              <a:rPr lang="zh-CN" altLang="en-US" sz="2400" dirty="0">
                <a:solidFill>
                  <a:schemeClr val="tx2"/>
                </a:solidFill>
                <a:latin typeface="楷体" panose="02010609060101010101" pitchFamily="49" charset="-122"/>
                <a:ea typeface="楷体" panose="02010609060101010101" pitchFamily="49" charset="-122"/>
              </a:rPr>
              <a:t>机器学习步骤二：数据预处理</a:t>
            </a:r>
            <a:r>
              <a:rPr lang="en-US" altLang="zh-CN" sz="2400" dirty="0">
                <a:solidFill>
                  <a:schemeClr val="tx2"/>
                </a:solidFill>
                <a:latin typeface="楷体" panose="02010609060101010101" pitchFamily="49" charset="-122"/>
                <a:ea typeface="楷体" panose="02010609060101010101" pitchFamily="49" charset="-122"/>
              </a:rPr>
              <a:t>——</a:t>
            </a:r>
            <a:r>
              <a:rPr lang="zh-CN" altLang="en-US" sz="2400" dirty="0">
                <a:solidFill>
                  <a:schemeClr val="tx2"/>
                </a:solidFill>
                <a:latin typeface="楷体" panose="02010609060101010101" pitchFamily="49" charset="-122"/>
                <a:ea typeface="楷体" panose="02010609060101010101" pitchFamily="49" charset="-122"/>
              </a:rPr>
              <a:t>数据清洗</a:t>
            </a:r>
          </a:p>
        </p:txBody>
      </p:sp>
      <p:sp>
        <p:nvSpPr>
          <p:cNvPr id="11" name="文本框 10"/>
          <p:cNvSpPr txBox="1"/>
          <p:nvPr/>
        </p:nvSpPr>
        <p:spPr>
          <a:xfrm>
            <a:off x="1228247" y="943441"/>
            <a:ext cx="6719888" cy="830997"/>
          </a:xfrm>
          <a:prstGeom prst="rect">
            <a:avLst/>
          </a:prstGeom>
          <a:noFill/>
        </p:spPr>
        <p:txBody>
          <a:bodyPr wrap="square">
            <a:spAutoFit/>
          </a:bodyPr>
          <a:lstStyle/>
          <a:p>
            <a:pPr algn="ctr"/>
            <a:r>
              <a:rPr lang="zh-CN" altLang="en-US" sz="2400" dirty="0"/>
              <a:t>数据预处理过程包括数据对齐、缺失值处理、异常值处理、</a:t>
            </a:r>
            <a:r>
              <a:rPr lang="en-US" altLang="zh-CN" sz="2400" dirty="0"/>
              <a:t> </a:t>
            </a:r>
            <a:r>
              <a:rPr lang="zh-CN" altLang="en-US" sz="2400" dirty="0"/>
              <a:t>数据转化等数据处理方法</a:t>
            </a:r>
          </a:p>
        </p:txBody>
      </p:sp>
      <p:grpSp>
        <p:nvGrpSpPr>
          <p:cNvPr id="51" name="组合 50"/>
          <p:cNvGrpSpPr/>
          <p:nvPr/>
        </p:nvGrpSpPr>
        <p:grpSpPr>
          <a:xfrm>
            <a:off x="-212156" y="2247984"/>
            <a:ext cx="9600693" cy="3857896"/>
            <a:chOff x="71973" y="2538342"/>
            <a:chExt cx="9600693" cy="3857896"/>
          </a:xfrm>
        </p:grpSpPr>
        <p:sp>
          <p:nvSpPr>
            <p:cNvPr id="29" name="文本框 28"/>
            <p:cNvSpPr txBox="1"/>
            <p:nvPr/>
          </p:nvSpPr>
          <p:spPr>
            <a:xfrm>
              <a:off x="7382667" y="2597220"/>
              <a:ext cx="2261937" cy="369332"/>
            </a:xfrm>
            <a:prstGeom prst="rect">
              <a:avLst/>
            </a:prstGeom>
            <a:noFill/>
          </p:spPr>
          <p:txBody>
            <a:bodyPr wrap="square" rtlCol="0">
              <a:spAutoFit/>
            </a:bodyPr>
            <a:lstStyle/>
            <a:p>
              <a:pPr algn="ctr"/>
              <a:r>
                <a:rPr lang="zh-CN" altLang="en-US" dirty="0"/>
                <a:t>不合法值</a:t>
              </a:r>
            </a:p>
          </p:txBody>
        </p:sp>
        <p:sp>
          <p:nvSpPr>
            <p:cNvPr id="30" name="文本框 29"/>
            <p:cNvSpPr txBox="1"/>
            <p:nvPr/>
          </p:nvSpPr>
          <p:spPr>
            <a:xfrm>
              <a:off x="7410729" y="3039321"/>
              <a:ext cx="2261937" cy="369332"/>
            </a:xfrm>
            <a:prstGeom prst="rect">
              <a:avLst/>
            </a:prstGeom>
            <a:noFill/>
          </p:spPr>
          <p:txBody>
            <a:bodyPr wrap="square" rtlCol="0">
              <a:spAutoFit/>
            </a:bodyPr>
            <a:lstStyle/>
            <a:p>
              <a:pPr algn="ctr"/>
              <a:r>
                <a:rPr lang="zh-CN" altLang="en-US" dirty="0"/>
                <a:t>空       值</a:t>
              </a:r>
            </a:p>
          </p:txBody>
        </p:sp>
        <p:sp>
          <p:nvSpPr>
            <p:cNvPr id="31" name="文本框 30"/>
            <p:cNvSpPr txBox="1"/>
            <p:nvPr/>
          </p:nvSpPr>
          <p:spPr>
            <a:xfrm>
              <a:off x="7390685" y="4176932"/>
              <a:ext cx="2261937" cy="369332"/>
            </a:xfrm>
            <a:prstGeom prst="rect">
              <a:avLst/>
            </a:prstGeom>
            <a:noFill/>
          </p:spPr>
          <p:txBody>
            <a:bodyPr wrap="square" rtlCol="0">
              <a:spAutoFit/>
            </a:bodyPr>
            <a:lstStyle/>
            <a:p>
              <a:pPr algn="ctr"/>
              <a:r>
                <a:rPr lang="zh-CN" altLang="en-US" dirty="0"/>
                <a:t>异常检测</a:t>
              </a:r>
            </a:p>
          </p:txBody>
        </p:sp>
        <p:sp>
          <p:nvSpPr>
            <p:cNvPr id="32" name="文本框 31"/>
            <p:cNvSpPr txBox="1"/>
            <p:nvPr/>
          </p:nvSpPr>
          <p:spPr>
            <a:xfrm>
              <a:off x="7410729" y="4638597"/>
              <a:ext cx="2261937" cy="369332"/>
            </a:xfrm>
            <a:prstGeom prst="rect">
              <a:avLst/>
            </a:prstGeom>
            <a:noFill/>
          </p:spPr>
          <p:txBody>
            <a:bodyPr wrap="square" rtlCol="0">
              <a:spAutoFit/>
            </a:bodyPr>
            <a:lstStyle/>
            <a:p>
              <a:pPr algn="ctr"/>
              <a:r>
                <a:rPr lang="zh-CN" altLang="en-US" dirty="0"/>
                <a:t>重复处理</a:t>
              </a:r>
            </a:p>
          </p:txBody>
        </p:sp>
        <p:sp>
          <p:nvSpPr>
            <p:cNvPr id="33" name="文本框 32"/>
            <p:cNvSpPr txBox="1"/>
            <p:nvPr/>
          </p:nvSpPr>
          <p:spPr>
            <a:xfrm>
              <a:off x="261684" y="2538342"/>
              <a:ext cx="2261937" cy="369332"/>
            </a:xfrm>
            <a:prstGeom prst="rect">
              <a:avLst/>
            </a:prstGeom>
            <a:noFill/>
          </p:spPr>
          <p:txBody>
            <a:bodyPr wrap="square" rtlCol="0">
              <a:spAutoFit/>
            </a:bodyPr>
            <a:lstStyle/>
            <a:p>
              <a:pPr algn="ctr"/>
              <a:r>
                <a:rPr lang="zh-CN" altLang="en-US" dirty="0"/>
                <a:t>拼写错误</a:t>
              </a:r>
            </a:p>
          </p:txBody>
        </p:sp>
        <p:sp>
          <p:nvSpPr>
            <p:cNvPr id="34" name="文本框 33"/>
            <p:cNvSpPr txBox="1"/>
            <p:nvPr/>
          </p:nvSpPr>
          <p:spPr>
            <a:xfrm>
              <a:off x="277314" y="2966552"/>
              <a:ext cx="2261937" cy="369332"/>
            </a:xfrm>
            <a:prstGeom prst="rect">
              <a:avLst/>
            </a:prstGeom>
            <a:noFill/>
          </p:spPr>
          <p:txBody>
            <a:bodyPr wrap="square" rtlCol="0">
              <a:spAutoFit/>
            </a:bodyPr>
            <a:lstStyle/>
            <a:p>
              <a:pPr algn="ctr"/>
              <a:r>
                <a:rPr lang="zh-CN" altLang="en-US" dirty="0"/>
                <a:t>命名习惯</a:t>
              </a:r>
            </a:p>
          </p:txBody>
        </p:sp>
        <p:sp>
          <p:nvSpPr>
            <p:cNvPr id="35" name="文本框 34"/>
            <p:cNvSpPr txBox="1"/>
            <p:nvPr/>
          </p:nvSpPr>
          <p:spPr>
            <a:xfrm>
              <a:off x="71973" y="4140440"/>
              <a:ext cx="2261937" cy="369332"/>
            </a:xfrm>
            <a:prstGeom prst="rect">
              <a:avLst/>
            </a:prstGeom>
            <a:noFill/>
          </p:spPr>
          <p:txBody>
            <a:bodyPr wrap="square" rtlCol="0">
              <a:spAutoFit/>
            </a:bodyPr>
            <a:lstStyle/>
            <a:p>
              <a:pPr algn="ctr"/>
              <a:r>
                <a:rPr lang="zh-CN" altLang="en-US" dirty="0"/>
                <a:t>数理统计技术</a:t>
              </a:r>
            </a:p>
          </p:txBody>
        </p:sp>
        <p:sp>
          <p:nvSpPr>
            <p:cNvPr id="36" name="文本框 35"/>
            <p:cNvSpPr txBox="1"/>
            <p:nvPr/>
          </p:nvSpPr>
          <p:spPr>
            <a:xfrm>
              <a:off x="71973" y="4643423"/>
              <a:ext cx="2261937" cy="369332"/>
            </a:xfrm>
            <a:prstGeom prst="rect">
              <a:avLst/>
            </a:prstGeom>
            <a:noFill/>
          </p:spPr>
          <p:txBody>
            <a:bodyPr wrap="square" rtlCol="0">
              <a:spAutoFit/>
            </a:bodyPr>
            <a:lstStyle/>
            <a:p>
              <a:pPr algn="ctr"/>
              <a:r>
                <a:rPr lang="zh-CN" altLang="en-US" dirty="0"/>
                <a:t>数据挖掘技术</a:t>
              </a:r>
            </a:p>
          </p:txBody>
        </p:sp>
        <p:sp>
          <p:nvSpPr>
            <p:cNvPr id="37" name="矩形 36"/>
            <p:cNvSpPr/>
            <p:nvPr/>
          </p:nvSpPr>
          <p:spPr>
            <a:xfrm>
              <a:off x="2955901" y="2621688"/>
              <a:ext cx="3994487" cy="677863"/>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脏数据</a:t>
              </a:r>
            </a:p>
          </p:txBody>
        </p:sp>
        <p:sp>
          <p:nvSpPr>
            <p:cNvPr id="38" name="矩形 37"/>
            <p:cNvSpPr/>
            <p:nvPr/>
          </p:nvSpPr>
          <p:spPr>
            <a:xfrm>
              <a:off x="2955900" y="4241980"/>
              <a:ext cx="3994487" cy="677863"/>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数据清理策略、规则</a:t>
              </a:r>
            </a:p>
          </p:txBody>
        </p:sp>
        <p:sp>
          <p:nvSpPr>
            <p:cNvPr id="39" name="矩形 38"/>
            <p:cNvSpPr/>
            <p:nvPr/>
          </p:nvSpPr>
          <p:spPr>
            <a:xfrm>
              <a:off x="2955900" y="5718375"/>
              <a:ext cx="3994487" cy="677863"/>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满足数据质量要求的数据</a:t>
              </a:r>
            </a:p>
          </p:txBody>
        </p:sp>
        <p:sp>
          <p:nvSpPr>
            <p:cNvPr id="40" name="箭头: 下 39"/>
            <p:cNvSpPr/>
            <p:nvPr/>
          </p:nvSpPr>
          <p:spPr>
            <a:xfrm>
              <a:off x="4461263" y="3322957"/>
              <a:ext cx="756578" cy="919023"/>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41" name="箭头: 下 40"/>
            <p:cNvSpPr/>
            <p:nvPr/>
          </p:nvSpPr>
          <p:spPr>
            <a:xfrm>
              <a:off x="4454537" y="4919843"/>
              <a:ext cx="756578" cy="798532"/>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cxnSp>
          <p:nvCxnSpPr>
            <p:cNvPr id="43" name="直接箭头连接符 42"/>
            <p:cNvCxnSpPr/>
            <p:nvPr/>
          </p:nvCxnSpPr>
          <p:spPr>
            <a:xfrm>
              <a:off x="2029470" y="2778201"/>
              <a:ext cx="9144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直接箭头连接符 43"/>
            <p:cNvCxnSpPr/>
            <p:nvPr/>
          </p:nvCxnSpPr>
          <p:spPr>
            <a:xfrm>
              <a:off x="2041499" y="3191870"/>
              <a:ext cx="9144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直接箭头连接符 44"/>
            <p:cNvCxnSpPr/>
            <p:nvPr/>
          </p:nvCxnSpPr>
          <p:spPr>
            <a:xfrm>
              <a:off x="2041499" y="4821934"/>
              <a:ext cx="9144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直接箭头连接符 45"/>
            <p:cNvCxnSpPr/>
            <p:nvPr/>
          </p:nvCxnSpPr>
          <p:spPr>
            <a:xfrm>
              <a:off x="2041499" y="4390240"/>
              <a:ext cx="9144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直接箭头连接符 46"/>
            <p:cNvCxnSpPr/>
            <p:nvPr/>
          </p:nvCxnSpPr>
          <p:spPr>
            <a:xfrm flipH="1">
              <a:off x="6962414" y="2778201"/>
              <a:ext cx="9304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直接箭头连接符 47"/>
            <p:cNvCxnSpPr/>
            <p:nvPr/>
          </p:nvCxnSpPr>
          <p:spPr>
            <a:xfrm flipH="1">
              <a:off x="6970432" y="3186361"/>
              <a:ext cx="9304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直接箭头连接符 48"/>
            <p:cNvCxnSpPr/>
            <p:nvPr/>
          </p:nvCxnSpPr>
          <p:spPr>
            <a:xfrm flipH="1">
              <a:off x="6954390" y="4686568"/>
              <a:ext cx="9304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直接箭头连接符 49"/>
            <p:cNvCxnSpPr/>
            <p:nvPr/>
          </p:nvCxnSpPr>
          <p:spPr>
            <a:xfrm flipH="1">
              <a:off x="6962414" y="4390556"/>
              <a:ext cx="9304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D78D-A02B-185C-6B8F-15715EF4456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C71CEDD-C0B0-155C-E772-34DE6E5AE6EA}"/>
              </a:ext>
            </a:extLst>
          </p:cNvPr>
          <p:cNvSpPr>
            <a:spLocks noGrp="1"/>
          </p:cNvSpPr>
          <p:nvPr>
            <p:ph type="title"/>
          </p:nvPr>
        </p:nvSpPr>
        <p:spPr>
          <a:xfrm>
            <a:off x="685800" y="30682"/>
            <a:ext cx="8229600" cy="533400"/>
          </a:xfrm>
        </p:spPr>
        <p:txBody>
          <a:bodyPr numCol="1" anchorCtr="0" compatLnSpc="1"/>
          <a:lstStyle/>
          <a:p>
            <a:pPr fontAlgn="auto">
              <a:spcAft>
                <a:spcPts val="0"/>
              </a:spcAft>
              <a:defRPr/>
            </a:pPr>
            <a:r>
              <a:rPr lang="zh-CN" altLang="en-US" sz="2400" dirty="0">
                <a:solidFill>
                  <a:schemeClr val="tx2"/>
                </a:solidFill>
                <a:latin typeface="Times New Roman" panose="02020603050405020304" pitchFamily="18" charset="0"/>
                <a:ea typeface="楷体" panose="02010609060101010101" pitchFamily="49" charset="-122"/>
              </a:rPr>
              <a:t>机器学习步骤二：数据预处理</a:t>
            </a:r>
            <a:r>
              <a:rPr lang="en-US" altLang="zh-CN" sz="2400" dirty="0">
                <a:solidFill>
                  <a:schemeClr val="tx2"/>
                </a:solidFill>
                <a:latin typeface="Times New Roman" panose="02020603050405020304" pitchFamily="18" charset="0"/>
                <a:ea typeface="楷体" panose="02010609060101010101" pitchFamily="49" charset="-122"/>
              </a:rPr>
              <a:t>——</a:t>
            </a:r>
            <a:r>
              <a:rPr lang="zh-CN" altLang="en-US" sz="2400" dirty="0">
                <a:solidFill>
                  <a:schemeClr val="tx2"/>
                </a:solidFill>
                <a:latin typeface="Times New Roman" panose="02020603050405020304" pitchFamily="18" charset="0"/>
                <a:ea typeface="楷体" panose="02010609060101010101" pitchFamily="49" charset="-122"/>
              </a:rPr>
              <a:t>探索性数据分析</a:t>
            </a:r>
            <a:r>
              <a:rPr lang="en-US" altLang="zh-CN" sz="2400" dirty="0">
                <a:solidFill>
                  <a:schemeClr val="tx2"/>
                </a:solidFill>
                <a:latin typeface="Times New Roman" panose="02020603050405020304" pitchFamily="18" charset="0"/>
                <a:ea typeface="楷体" panose="02010609060101010101" pitchFamily="49" charset="-122"/>
              </a:rPr>
              <a:t>(EDA)</a:t>
            </a:r>
            <a:endParaRPr lang="zh-CN" altLang="en-US" sz="2400" dirty="0">
              <a:solidFill>
                <a:schemeClr val="tx2"/>
              </a:solidFill>
              <a:latin typeface="Times New Roman" panose="02020603050405020304" pitchFamily="18" charset="0"/>
              <a:ea typeface="楷体" panose="02010609060101010101" pitchFamily="49" charset="-122"/>
            </a:endParaRPr>
          </a:p>
        </p:txBody>
      </p:sp>
      <p:sp>
        <p:nvSpPr>
          <p:cNvPr id="4" name="文本框 3">
            <a:extLst>
              <a:ext uri="{FF2B5EF4-FFF2-40B4-BE49-F238E27FC236}">
                <a16:creationId xmlns:a16="http://schemas.microsoft.com/office/drawing/2014/main" id="{F90CE941-3905-20A9-9A20-69B30E143764}"/>
              </a:ext>
            </a:extLst>
          </p:cNvPr>
          <p:cNvSpPr txBox="1"/>
          <p:nvPr/>
        </p:nvSpPr>
        <p:spPr>
          <a:xfrm>
            <a:off x="685800" y="685800"/>
            <a:ext cx="8001000" cy="1323439"/>
          </a:xfrm>
          <a:prstGeom prst="rect">
            <a:avLst/>
          </a:prstGeom>
          <a:noFill/>
        </p:spPr>
        <p:txBody>
          <a:bodyPr wrap="square">
            <a:spAutoFit/>
          </a:bodyPr>
          <a:lstStyle/>
          <a:p>
            <a:pPr indent="457200"/>
            <a:r>
              <a:rPr lang="zh-CN" altLang="en-US" sz="2000" dirty="0">
                <a:latin typeface="Times New Roman" panose="02020603050405020304" pitchFamily="18" charset="0"/>
              </a:rPr>
              <a:t>探索性数据分析（</a:t>
            </a:r>
            <a:r>
              <a:rPr lang="en-US" altLang="zh-CN" sz="2000" dirty="0">
                <a:latin typeface="Times New Roman" panose="02020603050405020304" pitchFamily="18" charset="0"/>
              </a:rPr>
              <a:t>EDA</a:t>
            </a:r>
            <a:r>
              <a:rPr lang="zh-CN" altLang="en-US" sz="2000" dirty="0">
                <a:latin typeface="Times New Roman" panose="02020603050405020304" pitchFamily="18" charset="0"/>
              </a:rPr>
              <a:t>）是一个制作绘图并计算统计数据的流程，</a:t>
            </a:r>
            <a:r>
              <a:rPr lang="zh-CN" altLang="en-US" sz="2000" b="1" dirty="0">
                <a:solidFill>
                  <a:schemeClr val="accent2"/>
                </a:solidFill>
                <a:latin typeface="Times New Roman" panose="02020603050405020304" pitchFamily="18" charset="0"/>
              </a:rPr>
              <a:t>目的是找到异常，模式，趋势或关系</a:t>
            </a:r>
            <a:r>
              <a:rPr lang="zh-CN" altLang="en-US" sz="2000" dirty="0">
                <a:latin typeface="Times New Roman" panose="02020603050405020304" pitchFamily="18" charset="0"/>
              </a:rPr>
              <a:t>。 这些可能是有趣的（例如，找到两个变量之间的相关性），或者它们可用于建模决策，例如使用哪些特征。</a:t>
            </a:r>
          </a:p>
        </p:txBody>
      </p:sp>
      <p:pic>
        <p:nvPicPr>
          <p:cNvPr id="5" name="图片 4">
            <a:extLst>
              <a:ext uri="{FF2B5EF4-FFF2-40B4-BE49-F238E27FC236}">
                <a16:creationId xmlns:a16="http://schemas.microsoft.com/office/drawing/2014/main" id="{D960C312-2619-B4C3-20AB-AE26FA2E9BE2}"/>
              </a:ext>
            </a:extLst>
          </p:cNvPr>
          <p:cNvPicPr>
            <a:picLocks noChangeAspect="1"/>
          </p:cNvPicPr>
          <p:nvPr/>
        </p:nvPicPr>
        <p:blipFill>
          <a:blip r:embed="rId3"/>
          <a:stretch>
            <a:fillRect/>
          </a:stretch>
        </p:blipFill>
        <p:spPr>
          <a:xfrm>
            <a:off x="103414" y="2270431"/>
            <a:ext cx="2133600" cy="2023525"/>
          </a:xfrm>
          <a:prstGeom prst="rect">
            <a:avLst/>
          </a:prstGeom>
        </p:spPr>
      </p:pic>
      <p:sp>
        <p:nvSpPr>
          <p:cNvPr id="7" name="文本框 6">
            <a:extLst>
              <a:ext uri="{FF2B5EF4-FFF2-40B4-BE49-F238E27FC236}">
                <a16:creationId xmlns:a16="http://schemas.microsoft.com/office/drawing/2014/main" id="{2DC4D5FE-6EED-6284-FE47-0284E6FC7DFB}"/>
              </a:ext>
            </a:extLst>
          </p:cNvPr>
          <p:cNvSpPr txBox="1"/>
          <p:nvPr/>
        </p:nvSpPr>
        <p:spPr>
          <a:xfrm>
            <a:off x="-16329" y="4436733"/>
            <a:ext cx="2332263" cy="923330"/>
          </a:xfrm>
          <a:prstGeom prst="rect">
            <a:avLst/>
          </a:prstGeom>
          <a:noFill/>
        </p:spPr>
        <p:txBody>
          <a:bodyPr wrap="square">
            <a:spAutoFit/>
          </a:bodyPr>
          <a:lstStyle/>
          <a:p>
            <a:pPr algn="ctr"/>
            <a:r>
              <a:rPr lang="en-US" altLang="zh-CN" b="1" dirty="0" err="1">
                <a:latin typeface="Times New Roman" panose="02020603050405020304" pitchFamily="18" charset="0"/>
              </a:rPr>
              <a:t>plt.hist</a:t>
            </a:r>
            <a:r>
              <a:rPr lang="en-US" altLang="zh-CN" b="1" dirty="0">
                <a:latin typeface="Times New Roman" panose="02020603050405020304" pitchFamily="18" charset="0"/>
              </a:rPr>
              <a:t>()</a:t>
            </a:r>
            <a:r>
              <a:rPr lang="zh-CN" altLang="en-US" dirty="0">
                <a:latin typeface="Times New Roman" panose="02020603050405020304" pitchFamily="18" charset="0"/>
              </a:rPr>
              <a:t>可以显示单变量图</a:t>
            </a:r>
            <a:endParaRPr lang="en-US" altLang="zh-CN" dirty="0">
              <a:latin typeface="Times New Roman" panose="02020603050405020304" pitchFamily="18" charset="0"/>
            </a:endParaRPr>
          </a:p>
          <a:p>
            <a:pPr algn="just"/>
            <a:r>
              <a:rPr lang="zh-CN" altLang="en-US" dirty="0">
                <a:latin typeface="Times New Roman" panose="02020603050405020304" pitchFamily="18" charset="0"/>
              </a:rPr>
              <a:t>（显示此变量的分布）</a:t>
            </a:r>
          </a:p>
        </p:txBody>
      </p:sp>
      <p:pic>
        <p:nvPicPr>
          <p:cNvPr id="8" name="图片 7">
            <a:extLst>
              <a:ext uri="{FF2B5EF4-FFF2-40B4-BE49-F238E27FC236}">
                <a16:creationId xmlns:a16="http://schemas.microsoft.com/office/drawing/2014/main" id="{76E41DD7-3752-F440-B9F6-1106DF3D9C10}"/>
              </a:ext>
            </a:extLst>
          </p:cNvPr>
          <p:cNvPicPr>
            <a:picLocks noChangeAspect="1"/>
          </p:cNvPicPr>
          <p:nvPr/>
        </p:nvPicPr>
        <p:blipFill>
          <a:blip r:embed="rId4"/>
          <a:stretch>
            <a:fillRect/>
          </a:stretch>
        </p:blipFill>
        <p:spPr>
          <a:xfrm>
            <a:off x="2590800" y="2265701"/>
            <a:ext cx="2873058" cy="2028255"/>
          </a:xfrm>
          <a:prstGeom prst="rect">
            <a:avLst/>
          </a:prstGeom>
        </p:spPr>
      </p:pic>
      <p:sp>
        <p:nvSpPr>
          <p:cNvPr id="10" name="文本框 9">
            <a:extLst>
              <a:ext uri="{FF2B5EF4-FFF2-40B4-BE49-F238E27FC236}">
                <a16:creationId xmlns:a16="http://schemas.microsoft.com/office/drawing/2014/main" id="{ABA5CD47-ACCF-E051-339D-5D7E16D07CCA}"/>
              </a:ext>
            </a:extLst>
          </p:cNvPr>
          <p:cNvSpPr txBox="1"/>
          <p:nvPr/>
        </p:nvSpPr>
        <p:spPr>
          <a:xfrm>
            <a:off x="2670697" y="4350362"/>
            <a:ext cx="2713264" cy="2031325"/>
          </a:xfrm>
          <a:prstGeom prst="rect">
            <a:avLst/>
          </a:prstGeom>
          <a:noFill/>
        </p:spPr>
        <p:txBody>
          <a:bodyPr wrap="square">
            <a:spAutoFit/>
          </a:bodyPr>
          <a:lstStyle/>
          <a:p>
            <a:r>
              <a:rPr lang="en-US" altLang="zh-CN" b="1" dirty="0">
                <a:latin typeface="Times New Roman" panose="02020603050405020304" pitchFamily="18" charset="0"/>
              </a:rPr>
              <a:t>boxplot </a:t>
            </a:r>
            <a:r>
              <a:rPr lang="zh-CN" altLang="en-US" dirty="0">
                <a:latin typeface="Times New Roman" panose="02020603050405020304" pitchFamily="18" charset="0"/>
              </a:rPr>
              <a:t>：箱型图又称为盒须图、盒式图或箱线图，是一种用作显示一组数据分散情况资料的统计图。它能显示出一组数据的最大值、最小值、中位数及上下四分位数。</a:t>
            </a:r>
          </a:p>
        </p:txBody>
      </p:sp>
      <p:sp>
        <p:nvSpPr>
          <p:cNvPr id="13" name="文本框 12">
            <a:extLst>
              <a:ext uri="{FF2B5EF4-FFF2-40B4-BE49-F238E27FC236}">
                <a16:creationId xmlns:a16="http://schemas.microsoft.com/office/drawing/2014/main" id="{B8275348-19C2-E08A-8BF2-43CA3D271B2C}"/>
              </a:ext>
            </a:extLst>
          </p:cNvPr>
          <p:cNvSpPr txBox="1"/>
          <p:nvPr/>
        </p:nvSpPr>
        <p:spPr>
          <a:xfrm>
            <a:off x="5621850" y="4488861"/>
            <a:ext cx="3633729" cy="1754326"/>
          </a:xfrm>
          <a:prstGeom prst="rect">
            <a:avLst/>
          </a:prstGeom>
          <a:noFill/>
        </p:spPr>
        <p:txBody>
          <a:bodyPr wrap="square">
            <a:spAutoFit/>
          </a:bodyPr>
          <a:lstStyle/>
          <a:p>
            <a:r>
              <a:rPr lang="en-US" altLang="zh-CN" b="1" dirty="0" err="1">
                <a:latin typeface="Times New Roman" panose="02020603050405020304" pitchFamily="18" charset="0"/>
              </a:rPr>
              <a:t>plt.hist</a:t>
            </a:r>
            <a:r>
              <a:rPr lang="en-US" altLang="zh-CN" dirty="0">
                <a:latin typeface="Times New Roman" panose="02020603050405020304" pitchFamily="18" charset="0"/>
              </a:rPr>
              <a:t>(data['column'], density=True, </a:t>
            </a:r>
          </a:p>
          <a:p>
            <a:r>
              <a:rPr lang="en-US" altLang="zh-CN" dirty="0" err="1">
                <a:latin typeface="Times New Roman" panose="02020603050405020304" pitchFamily="18" charset="0"/>
              </a:rPr>
              <a:t>histtype</a:t>
            </a:r>
            <a:r>
              <a:rPr lang="en-US" altLang="zh-CN" dirty="0">
                <a:latin typeface="Times New Roman" panose="02020603050405020304" pitchFamily="18" charset="0"/>
              </a:rPr>
              <a:t>='</a:t>
            </a:r>
            <a:r>
              <a:rPr lang="en-US" altLang="zh-CN" dirty="0" err="1">
                <a:latin typeface="Times New Roman" panose="02020603050405020304" pitchFamily="18" charset="0"/>
              </a:rPr>
              <a:t>stepfilled</a:t>
            </a:r>
            <a:r>
              <a:rPr lang="en-US" altLang="zh-CN" dirty="0">
                <a:latin typeface="Times New Roman" panose="02020603050405020304" pitchFamily="18" charset="0"/>
              </a:rPr>
              <a:t>', alpha=0.5, bins=30)</a:t>
            </a:r>
          </a:p>
          <a:p>
            <a:r>
              <a:rPr lang="zh-CN" altLang="en-US" dirty="0">
                <a:latin typeface="Times New Roman" panose="02020603050405020304" pitchFamily="18" charset="0"/>
              </a:rPr>
              <a:t>通过分类变量的值来绘制密度图。 密度图还显示单个变量的分布，可以认为是平滑的直方图</a:t>
            </a:r>
          </a:p>
        </p:txBody>
      </p:sp>
      <p:pic>
        <p:nvPicPr>
          <p:cNvPr id="14" name="图片 13">
            <a:extLst>
              <a:ext uri="{FF2B5EF4-FFF2-40B4-BE49-F238E27FC236}">
                <a16:creationId xmlns:a16="http://schemas.microsoft.com/office/drawing/2014/main" id="{119737D6-0E3A-5337-ED36-65E081E974A7}"/>
              </a:ext>
            </a:extLst>
          </p:cNvPr>
          <p:cNvPicPr>
            <a:picLocks noChangeAspect="1"/>
          </p:cNvPicPr>
          <p:nvPr/>
        </p:nvPicPr>
        <p:blipFill>
          <a:blip r:embed="rId5"/>
          <a:stretch>
            <a:fillRect/>
          </a:stretch>
        </p:blipFill>
        <p:spPr>
          <a:xfrm>
            <a:off x="5848554" y="2113912"/>
            <a:ext cx="2959262" cy="2341080"/>
          </a:xfrm>
          <a:prstGeom prst="rect">
            <a:avLst/>
          </a:prstGeom>
        </p:spPr>
      </p:pic>
    </p:spTree>
    <p:extLst>
      <p:ext uri="{BB962C8B-B14F-4D97-AF65-F5344CB8AC3E}">
        <p14:creationId xmlns:p14="http://schemas.microsoft.com/office/powerpoint/2010/main" val="2037421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6635-B846-FC6C-88CC-66F23ADA7FB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EA98396-9BEB-72AB-8CE3-BE67711F428E}"/>
              </a:ext>
            </a:extLst>
          </p:cNvPr>
          <p:cNvSpPr>
            <a:spLocks noGrp="1"/>
          </p:cNvSpPr>
          <p:nvPr>
            <p:ph type="title"/>
          </p:nvPr>
        </p:nvSpPr>
        <p:spPr>
          <a:xfrm>
            <a:off x="685800" y="30682"/>
            <a:ext cx="8229600" cy="533400"/>
          </a:xfrm>
        </p:spPr>
        <p:txBody>
          <a:bodyPr numCol="1" anchorCtr="0" compatLnSpc="1"/>
          <a:lstStyle/>
          <a:p>
            <a:pPr fontAlgn="auto">
              <a:spcAft>
                <a:spcPts val="0"/>
              </a:spcAft>
              <a:defRPr/>
            </a:pPr>
            <a:r>
              <a:rPr lang="zh-CN" altLang="en-US" sz="2400" dirty="0">
                <a:solidFill>
                  <a:schemeClr val="tx2"/>
                </a:solidFill>
                <a:latin typeface="Times New Roman" panose="02020603050405020304" pitchFamily="18" charset="0"/>
                <a:ea typeface="楷体" panose="02010609060101010101" pitchFamily="49" charset="-122"/>
              </a:rPr>
              <a:t>机器学习步骤二：数据预处理</a:t>
            </a:r>
            <a:r>
              <a:rPr lang="en-US" altLang="zh-CN" sz="2400" dirty="0">
                <a:solidFill>
                  <a:schemeClr val="tx2"/>
                </a:solidFill>
                <a:latin typeface="Times New Roman" panose="02020603050405020304" pitchFamily="18" charset="0"/>
                <a:ea typeface="楷体" panose="02010609060101010101" pitchFamily="49" charset="-122"/>
              </a:rPr>
              <a:t>——</a:t>
            </a:r>
            <a:r>
              <a:rPr lang="zh-CN" altLang="en-US" sz="2400" dirty="0">
                <a:solidFill>
                  <a:schemeClr val="tx2"/>
                </a:solidFill>
                <a:latin typeface="Times New Roman" panose="02020603050405020304" pitchFamily="18" charset="0"/>
                <a:ea typeface="楷体" panose="02010609060101010101" pitchFamily="49" charset="-122"/>
              </a:rPr>
              <a:t>探索性数据分析</a:t>
            </a:r>
            <a:r>
              <a:rPr lang="en-US" altLang="zh-CN" sz="2400" dirty="0">
                <a:solidFill>
                  <a:schemeClr val="tx2"/>
                </a:solidFill>
                <a:latin typeface="Times New Roman" panose="02020603050405020304" pitchFamily="18" charset="0"/>
                <a:ea typeface="楷体" panose="02010609060101010101" pitchFamily="49" charset="-122"/>
              </a:rPr>
              <a:t>(EDA)</a:t>
            </a:r>
            <a:endParaRPr lang="zh-CN" altLang="en-US" sz="2400" dirty="0">
              <a:solidFill>
                <a:schemeClr val="tx2"/>
              </a:solidFill>
              <a:latin typeface="Times New Roman" panose="02020603050405020304" pitchFamily="18" charset="0"/>
              <a:ea typeface="楷体" panose="02010609060101010101" pitchFamily="49" charset="-122"/>
            </a:endParaRPr>
          </a:p>
        </p:txBody>
      </p:sp>
      <p:pic>
        <p:nvPicPr>
          <p:cNvPr id="3" name="图片 2">
            <a:extLst>
              <a:ext uri="{FF2B5EF4-FFF2-40B4-BE49-F238E27FC236}">
                <a16:creationId xmlns:a16="http://schemas.microsoft.com/office/drawing/2014/main" id="{40A4D7CE-F9B3-C982-9F01-A5EA0636DDF5}"/>
              </a:ext>
            </a:extLst>
          </p:cNvPr>
          <p:cNvPicPr>
            <a:picLocks noChangeAspect="1"/>
          </p:cNvPicPr>
          <p:nvPr/>
        </p:nvPicPr>
        <p:blipFill>
          <a:blip r:embed="rId3"/>
          <a:stretch>
            <a:fillRect/>
          </a:stretch>
        </p:blipFill>
        <p:spPr>
          <a:xfrm>
            <a:off x="114300" y="1075645"/>
            <a:ext cx="5867400" cy="5267081"/>
          </a:xfrm>
          <a:prstGeom prst="rect">
            <a:avLst/>
          </a:prstGeom>
        </p:spPr>
      </p:pic>
      <p:sp>
        <p:nvSpPr>
          <p:cNvPr id="9" name="文本框 8">
            <a:extLst>
              <a:ext uri="{FF2B5EF4-FFF2-40B4-BE49-F238E27FC236}">
                <a16:creationId xmlns:a16="http://schemas.microsoft.com/office/drawing/2014/main" id="{FBD92A5B-03EC-23E3-BFE3-C8B8FE59784D}"/>
              </a:ext>
            </a:extLst>
          </p:cNvPr>
          <p:cNvSpPr txBox="1"/>
          <p:nvPr/>
        </p:nvSpPr>
        <p:spPr>
          <a:xfrm>
            <a:off x="6090557" y="1166842"/>
            <a:ext cx="3053443" cy="4524315"/>
          </a:xfrm>
          <a:prstGeom prst="rect">
            <a:avLst/>
          </a:prstGeom>
          <a:noFill/>
        </p:spPr>
        <p:txBody>
          <a:bodyPr wrap="square">
            <a:spAutoFit/>
          </a:bodyPr>
          <a:lstStyle/>
          <a:p>
            <a:r>
              <a:rPr lang="zh-CN" altLang="en-US" b="1" dirty="0">
                <a:solidFill>
                  <a:schemeClr val="accent1"/>
                </a:solidFill>
                <a:latin typeface="Times New Roman" panose="02020603050405020304" pitchFamily="18" charset="0"/>
              </a:rPr>
              <a:t>散点图矩阵（</a:t>
            </a:r>
            <a:r>
              <a:rPr lang="en-US" altLang="zh-CN" b="1" dirty="0">
                <a:solidFill>
                  <a:schemeClr val="accent1"/>
                </a:solidFill>
                <a:latin typeface="Times New Roman" panose="02020603050405020304" pitchFamily="18" charset="0"/>
              </a:rPr>
              <a:t>scatterplot matrix</a:t>
            </a:r>
            <a:r>
              <a:rPr lang="zh-CN" altLang="en-US" b="1" dirty="0">
                <a:solidFill>
                  <a:schemeClr val="accent1"/>
                </a:solidFill>
                <a:latin typeface="Times New Roman" panose="02020603050405020304" pitchFamily="18" charset="0"/>
              </a:rPr>
              <a:t>）</a:t>
            </a:r>
            <a:r>
              <a:rPr lang="zh-CN" altLang="en-US" b="1" dirty="0">
                <a:solidFill>
                  <a:schemeClr val="accent2"/>
                </a:solidFill>
                <a:latin typeface="Times New Roman" panose="02020603050405020304" pitchFamily="18" charset="0"/>
              </a:rPr>
              <a:t>展示原始数据中所有变量两两之间关系</a:t>
            </a:r>
            <a:r>
              <a:rPr lang="zh-CN" altLang="en-US" dirty="0">
                <a:latin typeface="Times New Roman" panose="02020603050405020304" pitchFamily="18" charset="0"/>
              </a:rPr>
              <a:t>，可以规避单一统计指标的偏差，可以在平面上快速优雅的探索高维数据。散点图矩阵可在每个子图中显示不同变量之间的关系（上三角形和下三角形中的图表互为镜像），格子中也可以使用不同的图形。</a:t>
            </a:r>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r>
              <a:rPr lang="en-US" altLang="zh-CN" dirty="0">
                <a:latin typeface="Times New Roman" panose="02020603050405020304" pitchFamily="18" charset="0"/>
              </a:rPr>
              <a:t>seaborn</a:t>
            </a:r>
            <a:r>
              <a:rPr lang="zh-CN" altLang="en-US" dirty="0">
                <a:latin typeface="Times New Roman" panose="02020603050405020304" pitchFamily="18" charset="0"/>
              </a:rPr>
              <a:t>通过</a:t>
            </a:r>
            <a:r>
              <a:rPr lang="en-US" altLang="zh-CN" dirty="0" err="1">
                <a:latin typeface="Times New Roman" panose="02020603050405020304" pitchFamily="18" charset="0"/>
              </a:rPr>
              <a:t>pairplot</a:t>
            </a:r>
            <a:r>
              <a:rPr lang="zh-CN" altLang="en-US" dirty="0">
                <a:latin typeface="Times New Roman" panose="02020603050405020304" pitchFamily="18" charset="0"/>
              </a:rPr>
              <a:t>和</a:t>
            </a:r>
            <a:r>
              <a:rPr lang="en-US" altLang="zh-CN" dirty="0" err="1">
                <a:latin typeface="Times New Roman" panose="02020603050405020304" pitchFamily="18" charset="0"/>
              </a:rPr>
              <a:t>PairGrid</a:t>
            </a:r>
            <a:r>
              <a:rPr lang="zh-CN" altLang="en-US" dirty="0">
                <a:latin typeface="Times New Roman" panose="02020603050405020304" pitchFamily="18" charset="0"/>
              </a:rPr>
              <a:t>轻松实现散点图矩阵。</a:t>
            </a:r>
          </a:p>
          <a:p>
            <a:r>
              <a:rPr lang="en-US" altLang="zh-CN" b="1" dirty="0" err="1">
                <a:solidFill>
                  <a:schemeClr val="accent1"/>
                </a:solidFill>
                <a:latin typeface="Times New Roman" panose="02020603050405020304" pitchFamily="18" charset="0"/>
              </a:rPr>
              <a:t>sns.pairplot</a:t>
            </a:r>
            <a:r>
              <a:rPr lang="en-US" altLang="zh-CN" b="1" dirty="0">
                <a:solidFill>
                  <a:schemeClr val="accent1"/>
                </a:solidFill>
                <a:latin typeface="Times New Roman" panose="02020603050405020304" pitchFamily="18" charset="0"/>
              </a:rPr>
              <a:t>(data=penguins, ).</a:t>
            </a:r>
            <a:r>
              <a:rPr lang="en-US" altLang="zh-CN" b="1" dirty="0" err="1">
                <a:solidFill>
                  <a:schemeClr val="accent1"/>
                </a:solidFill>
                <a:latin typeface="Times New Roman" panose="02020603050405020304" pitchFamily="18" charset="0"/>
              </a:rPr>
              <a:t>fig.set_dpi</a:t>
            </a:r>
            <a:r>
              <a:rPr lang="en-US" altLang="zh-CN" b="1" dirty="0">
                <a:solidFill>
                  <a:schemeClr val="accent1"/>
                </a:solidFill>
                <a:latin typeface="Times New Roman" panose="02020603050405020304" pitchFamily="18" charset="0"/>
              </a:rPr>
              <a:t>(150)  #</a:t>
            </a:r>
            <a:r>
              <a:rPr lang="zh-CN" altLang="en-US" b="1" dirty="0">
                <a:solidFill>
                  <a:schemeClr val="accent1"/>
                </a:solidFill>
                <a:latin typeface="Times New Roman" panose="02020603050405020304" pitchFamily="18" charset="0"/>
              </a:rPr>
              <a:t>一行代码</a:t>
            </a:r>
          </a:p>
        </p:txBody>
      </p:sp>
    </p:spTree>
    <p:extLst>
      <p:ext uri="{BB962C8B-B14F-4D97-AF65-F5344CB8AC3E}">
        <p14:creationId xmlns:p14="http://schemas.microsoft.com/office/powerpoint/2010/main" val="4048789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numCol="1" anchorCtr="0" compatLnSpc="1"/>
          <a:lstStyle/>
          <a:p>
            <a:pPr fontAlgn="auto">
              <a:spcAft>
                <a:spcPts val="0"/>
              </a:spcAft>
              <a:defRPr/>
            </a:pPr>
            <a:r>
              <a:rPr lang="zh-CN" altLang="en-US" sz="2400" dirty="0">
                <a:solidFill>
                  <a:schemeClr val="tx2"/>
                </a:solidFill>
                <a:latin typeface="楷体" panose="02010609060101010101" pitchFamily="49" charset="-122"/>
                <a:ea typeface="楷体" panose="02010609060101010101" pitchFamily="49" charset="-122"/>
              </a:rPr>
              <a:t>机器学习步骤三：特征工程</a:t>
            </a:r>
          </a:p>
        </p:txBody>
      </p:sp>
      <p:sp>
        <p:nvSpPr>
          <p:cNvPr id="11" name="文本框 10"/>
          <p:cNvSpPr txBox="1"/>
          <p:nvPr/>
        </p:nvSpPr>
        <p:spPr>
          <a:xfrm>
            <a:off x="957563" y="661216"/>
            <a:ext cx="7610953" cy="830997"/>
          </a:xfrm>
          <a:prstGeom prst="rect">
            <a:avLst/>
          </a:prstGeom>
          <a:noFill/>
        </p:spPr>
        <p:txBody>
          <a:bodyPr wrap="square">
            <a:spAutoFit/>
          </a:bodyPr>
          <a:lstStyle/>
          <a:p>
            <a:pPr algn="ctr"/>
            <a:r>
              <a:rPr lang="zh-CN" altLang="en-US" sz="2400" dirty="0"/>
              <a:t>特征工程：是把</a:t>
            </a:r>
            <a:r>
              <a:rPr lang="zh-CN" altLang="en-US" sz="2400" b="1" dirty="0">
                <a:solidFill>
                  <a:schemeClr val="accent1"/>
                </a:solidFill>
              </a:rPr>
              <a:t>原始数据</a:t>
            </a:r>
            <a:r>
              <a:rPr lang="zh-CN" altLang="en-US" sz="2400" dirty="0"/>
              <a:t>转变为</a:t>
            </a:r>
            <a:r>
              <a:rPr lang="zh-CN" altLang="en-US" sz="2400" b="1" dirty="0">
                <a:solidFill>
                  <a:schemeClr val="accent2"/>
                </a:solidFill>
              </a:rPr>
              <a:t>模型的训练数据（高质量特征）</a:t>
            </a:r>
            <a:r>
              <a:rPr lang="zh-CN" altLang="en-US" sz="2400" dirty="0"/>
              <a:t>的过程</a:t>
            </a:r>
          </a:p>
        </p:txBody>
      </p:sp>
      <p:sp>
        <p:nvSpPr>
          <p:cNvPr id="3" name="矩形 2"/>
          <p:cNvSpPr/>
          <p:nvPr/>
        </p:nvSpPr>
        <p:spPr>
          <a:xfrm>
            <a:off x="435908" y="2825975"/>
            <a:ext cx="1384892" cy="71063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lnSpc>
                <a:spcPct val="130000"/>
              </a:lnSpc>
              <a:spcBef>
                <a:spcPts val="1200"/>
              </a:spcBef>
            </a:pPr>
            <a:r>
              <a:rPr lang="zh-CN" altLang="en-US" sz="2000" b="1" dirty="0">
                <a:latin typeface="微软雅黑" panose="020B0503020204020204" pitchFamily="34" charset="-122"/>
                <a:ea typeface="微软雅黑" panose="020B0503020204020204" pitchFamily="34" charset="-122"/>
              </a:rPr>
              <a:t>特征构建</a:t>
            </a:r>
          </a:p>
        </p:txBody>
      </p:sp>
      <p:sp>
        <p:nvSpPr>
          <p:cNvPr id="4" name="矩形 3"/>
          <p:cNvSpPr/>
          <p:nvPr/>
        </p:nvSpPr>
        <p:spPr>
          <a:xfrm>
            <a:off x="435908" y="4237456"/>
            <a:ext cx="1384892" cy="71129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lnSpc>
                <a:spcPct val="130000"/>
              </a:lnSpc>
              <a:spcBef>
                <a:spcPts val="1200"/>
              </a:spcBef>
            </a:pPr>
            <a:r>
              <a:rPr lang="zh-CN" altLang="en-US" sz="2000" b="1" dirty="0">
                <a:latin typeface="微软雅黑" panose="020B0503020204020204" pitchFamily="34" charset="-122"/>
                <a:ea typeface="微软雅黑" panose="020B0503020204020204" pitchFamily="34" charset="-122"/>
              </a:rPr>
              <a:t>特征提取</a:t>
            </a:r>
          </a:p>
        </p:txBody>
      </p:sp>
      <p:sp>
        <p:nvSpPr>
          <p:cNvPr id="5" name="矩形 4"/>
          <p:cNvSpPr/>
          <p:nvPr/>
        </p:nvSpPr>
        <p:spPr>
          <a:xfrm>
            <a:off x="435908" y="5769114"/>
            <a:ext cx="1384892" cy="707886"/>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lnSpc>
                <a:spcPct val="130000"/>
              </a:lnSpc>
              <a:spcBef>
                <a:spcPts val="1200"/>
              </a:spcBef>
            </a:pPr>
            <a:r>
              <a:rPr lang="zh-CN" altLang="en-US" sz="2000" b="1" dirty="0">
                <a:latin typeface="微软雅黑" panose="020B0503020204020204" pitchFamily="34" charset="-122"/>
                <a:ea typeface="微软雅黑" panose="020B0503020204020204" pitchFamily="34" charset="-122"/>
              </a:rPr>
              <a:t>特征选择</a:t>
            </a:r>
          </a:p>
        </p:txBody>
      </p:sp>
      <p:sp>
        <p:nvSpPr>
          <p:cNvPr id="6" name="矩形 5"/>
          <p:cNvSpPr/>
          <p:nvPr/>
        </p:nvSpPr>
        <p:spPr>
          <a:xfrm>
            <a:off x="2934593" y="2365684"/>
            <a:ext cx="5773499" cy="1477328"/>
          </a:xfrm>
          <a:prstGeom prst="rect">
            <a:avLst/>
          </a:prstGeom>
          <a:ln w="28575">
            <a:solidFill>
              <a:srgbClr val="0070C0"/>
            </a:solidFill>
            <a:prstDash val="dash"/>
          </a:ln>
        </p:spPr>
        <p:txBody>
          <a:bodyPr wrap="square">
            <a:spAutoFit/>
          </a:bodyPr>
          <a:lstStyle/>
          <a:p>
            <a:r>
              <a:rPr lang="zh-CN" altLang="en-US" b="1" dirty="0">
                <a:solidFill>
                  <a:schemeClr val="accent2"/>
                </a:solidFill>
                <a:latin typeface="Times New Roman" panose="02020603050405020304" pitchFamily="18" charset="0"/>
              </a:rPr>
              <a:t>数据归一化（最大 </a:t>
            </a:r>
            <a:r>
              <a:rPr lang="en-US" altLang="zh-CN" b="1" dirty="0">
                <a:solidFill>
                  <a:schemeClr val="accent2"/>
                </a:solidFill>
                <a:latin typeface="Times New Roman" panose="02020603050405020304" pitchFamily="18" charset="0"/>
              </a:rPr>
              <a:t>- </a:t>
            </a:r>
            <a:r>
              <a:rPr lang="zh-CN" altLang="en-US" b="1" dirty="0">
                <a:solidFill>
                  <a:schemeClr val="accent2"/>
                </a:solidFill>
                <a:latin typeface="Times New Roman" panose="02020603050405020304" pitchFamily="18" charset="0"/>
              </a:rPr>
              <a:t>最小规范化）</a:t>
            </a:r>
            <a:r>
              <a:rPr lang="en-US" altLang="zh-CN" b="1" dirty="0">
                <a:solidFill>
                  <a:schemeClr val="accent2"/>
                </a:solidFill>
                <a:latin typeface="Times New Roman" panose="02020603050405020304" pitchFamily="18" charset="0"/>
              </a:rPr>
              <a:t>/</a:t>
            </a:r>
            <a:r>
              <a:rPr lang="zh-CN" altLang="en-US" b="1" dirty="0">
                <a:solidFill>
                  <a:schemeClr val="accent2"/>
                </a:solidFill>
                <a:latin typeface="Times New Roman" panose="02020603050405020304" pitchFamily="18" charset="0"/>
              </a:rPr>
              <a:t>标准化</a:t>
            </a:r>
            <a:r>
              <a:rPr lang="zh-CN" altLang="en-US" dirty="0">
                <a:latin typeface="Times New Roman" panose="02020603050405020304" pitchFamily="18" charset="0"/>
              </a:rPr>
              <a:t>、统计特征（中位数、平均值、标准差等）、周期性、定量特征二值化、定性特征哑编码、数据分箱或离散化、特征聚合和转换（幂变换、</a:t>
            </a:r>
            <a:r>
              <a:rPr lang="en-US" altLang="zh-CN" dirty="0">
                <a:latin typeface="Times New Roman" panose="02020603050405020304" pitchFamily="18" charset="0"/>
              </a:rPr>
              <a:t>log</a:t>
            </a:r>
            <a:r>
              <a:rPr lang="zh-CN" altLang="en-US" dirty="0">
                <a:latin typeface="Times New Roman" panose="02020603050405020304" pitchFamily="18" charset="0"/>
              </a:rPr>
              <a:t>变换、绝对值、线性</a:t>
            </a:r>
            <a:r>
              <a:rPr lang="en-US" altLang="zh-CN" dirty="0">
                <a:latin typeface="Times New Roman" panose="02020603050405020304" pitchFamily="18" charset="0"/>
              </a:rPr>
              <a:t>/</a:t>
            </a:r>
            <a:r>
              <a:rPr lang="zh-CN" altLang="en-US" dirty="0">
                <a:latin typeface="Times New Roman" panose="02020603050405020304" pitchFamily="18" charset="0"/>
              </a:rPr>
              <a:t>多项式组合、比例排名或者基于业务理解）</a:t>
            </a:r>
            <a:endParaRPr lang="en-US" altLang="zh-CN" dirty="0">
              <a:latin typeface="Times New Roman" panose="02020603050405020304" pitchFamily="18" charset="0"/>
            </a:endParaRPr>
          </a:p>
        </p:txBody>
      </p:sp>
      <p:sp>
        <p:nvSpPr>
          <p:cNvPr id="7" name="矩形 6"/>
          <p:cNvSpPr/>
          <p:nvPr/>
        </p:nvSpPr>
        <p:spPr>
          <a:xfrm>
            <a:off x="2934593" y="4085272"/>
            <a:ext cx="5773499" cy="1477328"/>
          </a:xfrm>
          <a:prstGeom prst="rect">
            <a:avLst/>
          </a:prstGeom>
          <a:ln w="28575">
            <a:solidFill>
              <a:srgbClr val="0070C0"/>
            </a:solidFill>
            <a:prstDash val="dash"/>
          </a:ln>
        </p:spPr>
        <p:txBody>
          <a:bodyPr wrap="square">
            <a:spAutoFit/>
          </a:bodyPr>
          <a:lstStyle/>
          <a:p>
            <a:r>
              <a:rPr lang="zh-CN" altLang="en-US" dirty="0">
                <a:latin typeface="Times New Roman" panose="02020603050405020304" pitchFamily="18" charset="0"/>
              </a:rPr>
              <a:t>自动地构建新的特征，将原始数据转换为一组具有明显物理意义（比如</a:t>
            </a:r>
            <a:r>
              <a:rPr lang="zh-CN" altLang="en-US" b="1" dirty="0">
                <a:solidFill>
                  <a:schemeClr val="accent2"/>
                </a:solidFill>
                <a:latin typeface="Times New Roman" panose="02020603050405020304" pitchFamily="18" charset="0"/>
              </a:rPr>
              <a:t>几何特征、纹理特征</a:t>
            </a:r>
            <a:r>
              <a:rPr lang="zh-CN" altLang="en-US" dirty="0">
                <a:latin typeface="Times New Roman" panose="02020603050405020304" pitchFamily="18" charset="0"/>
              </a:rPr>
              <a:t>）或者统计意义的特征（代表性方法</a:t>
            </a:r>
            <a:r>
              <a:rPr lang="en-US" altLang="zh-CN" dirty="0">
                <a:latin typeface="Times New Roman" panose="02020603050405020304" pitchFamily="18" charset="0"/>
              </a:rPr>
              <a:t>——</a:t>
            </a:r>
            <a:r>
              <a:rPr lang="zh-CN" altLang="en-US" dirty="0">
                <a:latin typeface="Times New Roman" panose="02020603050405020304" pitchFamily="18" charset="0"/>
              </a:rPr>
              <a:t>降维方面的</a:t>
            </a:r>
            <a:r>
              <a:rPr lang="en-US" altLang="zh-CN" dirty="0">
                <a:latin typeface="Times New Roman" panose="02020603050405020304" pitchFamily="18" charset="0"/>
              </a:rPr>
              <a:t>PCA</a:t>
            </a:r>
            <a:r>
              <a:rPr lang="zh-CN" altLang="en-US" dirty="0">
                <a:latin typeface="Times New Roman" panose="02020603050405020304" pitchFamily="18" charset="0"/>
              </a:rPr>
              <a:t>、</a:t>
            </a:r>
            <a:r>
              <a:rPr lang="en-US" altLang="zh-CN" dirty="0">
                <a:latin typeface="Times New Roman" panose="02020603050405020304" pitchFamily="18" charset="0"/>
              </a:rPr>
              <a:t>ICA</a:t>
            </a:r>
            <a:r>
              <a:rPr lang="zh-CN" altLang="en-US" dirty="0">
                <a:latin typeface="Times New Roman" panose="02020603050405020304" pitchFamily="18" charset="0"/>
              </a:rPr>
              <a:t>、</a:t>
            </a:r>
            <a:r>
              <a:rPr lang="en-US" altLang="zh-CN" dirty="0">
                <a:latin typeface="Times New Roman" panose="02020603050405020304" pitchFamily="18" charset="0"/>
              </a:rPr>
              <a:t>LDA</a:t>
            </a:r>
            <a:r>
              <a:rPr lang="zh-CN" altLang="en-US" dirty="0">
                <a:latin typeface="Times New Roman" panose="02020603050405020304" pitchFamily="18" charset="0"/>
              </a:rPr>
              <a:t>等、图像方面的</a:t>
            </a:r>
            <a:r>
              <a:rPr lang="en-US" altLang="zh-CN" dirty="0">
                <a:latin typeface="Times New Roman" panose="02020603050405020304" pitchFamily="18" charset="0"/>
              </a:rPr>
              <a:t>SIFT</a:t>
            </a:r>
            <a:r>
              <a:rPr lang="zh-CN" altLang="en-US" dirty="0">
                <a:latin typeface="Times New Roman" panose="02020603050405020304" pitchFamily="18" charset="0"/>
              </a:rPr>
              <a:t>、</a:t>
            </a:r>
            <a:r>
              <a:rPr lang="en-US" altLang="zh-CN" dirty="0">
                <a:latin typeface="Times New Roman" panose="02020603050405020304" pitchFamily="18" charset="0"/>
              </a:rPr>
              <a:t>Gabor</a:t>
            </a:r>
            <a:r>
              <a:rPr lang="zh-CN" altLang="en-US" dirty="0">
                <a:latin typeface="Times New Roman" panose="02020603050405020304" pitchFamily="18" charset="0"/>
              </a:rPr>
              <a:t>、</a:t>
            </a:r>
            <a:r>
              <a:rPr lang="en-US" altLang="zh-CN" dirty="0">
                <a:latin typeface="Times New Roman" panose="02020603050405020304" pitchFamily="18" charset="0"/>
              </a:rPr>
              <a:t>HOG</a:t>
            </a:r>
            <a:r>
              <a:rPr lang="zh-CN" altLang="en-US" dirty="0">
                <a:latin typeface="Times New Roman" panose="02020603050405020304" pitchFamily="18" charset="0"/>
              </a:rPr>
              <a:t>等、文本方面的词袋模型、词嵌入模型等）</a:t>
            </a:r>
            <a:endParaRPr lang="en-US" altLang="zh-CN" dirty="0">
              <a:latin typeface="Times New Roman" panose="02020603050405020304" pitchFamily="18" charset="0"/>
            </a:endParaRPr>
          </a:p>
        </p:txBody>
      </p:sp>
      <p:sp>
        <p:nvSpPr>
          <p:cNvPr id="8" name="矩形 7"/>
          <p:cNvSpPr/>
          <p:nvPr/>
        </p:nvSpPr>
        <p:spPr>
          <a:xfrm>
            <a:off x="2934592" y="5769114"/>
            <a:ext cx="5773499" cy="646331"/>
          </a:xfrm>
          <a:prstGeom prst="rect">
            <a:avLst/>
          </a:prstGeom>
          <a:ln w="28575">
            <a:solidFill>
              <a:srgbClr val="0070C0"/>
            </a:solidFill>
            <a:prstDash val="dash"/>
          </a:ln>
        </p:spPr>
        <p:txBody>
          <a:bodyPr wrap="square">
            <a:spAutoFit/>
          </a:bodyPr>
          <a:lstStyle/>
          <a:p>
            <a:r>
              <a:rPr lang="zh-CN" altLang="en-US" dirty="0">
                <a:latin typeface="Times New Roman" panose="02020603050405020304" pitchFamily="18" charset="0"/>
              </a:rPr>
              <a:t>从给定的特征集合中选出相关特征子集的过程，过滤式</a:t>
            </a:r>
            <a:r>
              <a:rPr lang="en-US" altLang="zh-CN" dirty="0">
                <a:latin typeface="Times New Roman" panose="02020603050405020304" pitchFamily="18" charset="0"/>
              </a:rPr>
              <a:t>(Filter)</a:t>
            </a:r>
            <a:r>
              <a:rPr lang="zh-CN" altLang="en-US" dirty="0">
                <a:latin typeface="Times New Roman" panose="02020603050405020304" pitchFamily="18" charset="0"/>
              </a:rPr>
              <a:t>、包裹式</a:t>
            </a:r>
            <a:r>
              <a:rPr lang="en-US" altLang="zh-CN" dirty="0">
                <a:latin typeface="Times New Roman" panose="02020603050405020304" pitchFamily="18" charset="0"/>
              </a:rPr>
              <a:t>(Wrapper)</a:t>
            </a:r>
            <a:r>
              <a:rPr lang="zh-CN" altLang="en-US" dirty="0">
                <a:latin typeface="Times New Roman" panose="02020603050405020304" pitchFamily="18" charset="0"/>
              </a:rPr>
              <a:t>、嵌入式</a:t>
            </a:r>
            <a:r>
              <a:rPr lang="en-US" altLang="zh-CN" dirty="0">
                <a:latin typeface="Times New Roman" panose="02020603050405020304" pitchFamily="18" charset="0"/>
              </a:rPr>
              <a:t>(Embedding)</a:t>
            </a:r>
          </a:p>
        </p:txBody>
      </p:sp>
      <p:sp>
        <p:nvSpPr>
          <p:cNvPr id="12" name="右箭头 1"/>
          <p:cNvSpPr/>
          <p:nvPr/>
        </p:nvSpPr>
        <p:spPr>
          <a:xfrm>
            <a:off x="2194930" y="3003392"/>
            <a:ext cx="432048" cy="360040"/>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3" name="右箭头 24"/>
          <p:cNvSpPr/>
          <p:nvPr/>
        </p:nvSpPr>
        <p:spPr>
          <a:xfrm>
            <a:off x="2194930" y="4413084"/>
            <a:ext cx="432048" cy="360040"/>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右箭头 25"/>
          <p:cNvSpPr/>
          <p:nvPr/>
        </p:nvSpPr>
        <p:spPr>
          <a:xfrm>
            <a:off x="2194930" y="5943037"/>
            <a:ext cx="432048" cy="360040"/>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矩形 8"/>
          <p:cNvSpPr/>
          <p:nvPr/>
        </p:nvSpPr>
        <p:spPr>
          <a:xfrm>
            <a:off x="435908" y="1600200"/>
            <a:ext cx="1384892" cy="707886"/>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lnSpc>
                <a:spcPct val="130000"/>
              </a:lnSpc>
              <a:spcBef>
                <a:spcPts val="1200"/>
              </a:spcBef>
            </a:pPr>
            <a:r>
              <a:rPr lang="zh-CN" altLang="en-US" sz="2000" b="1" dirty="0">
                <a:latin typeface="微软雅黑" panose="020B0503020204020204" pitchFamily="34" charset="-122"/>
                <a:ea typeface="微软雅黑" panose="020B0503020204020204" pitchFamily="34" charset="-122"/>
              </a:rPr>
              <a:t>数据分集</a:t>
            </a:r>
          </a:p>
        </p:txBody>
      </p:sp>
      <p:sp>
        <p:nvSpPr>
          <p:cNvPr id="10" name="矩形 9"/>
          <p:cNvSpPr/>
          <p:nvPr/>
        </p:nvSpPr>
        <p:spPr>
          <a:xfrm>
            <a:off x="2921310" y="1740467"/>
            <a:ext cx="5773498" cy="369332"/>
          </a:xfrm>
          <a:prstGeom prst="rect">
            <a:avLst/>
          </a:prstGeom>
          <a:ln w="28575">
            <a:solidFill>
              <a:srgbClr val="0070C0"/>
            </a:solidFill>
            <a:prstDash val="dash"/>
          </a:ln>
        </p:spPr>
        <p:txBody>
          <a:bodyPr wrap="square">
            <a:spAutoFit/>
          </a:bodyPr>
          <a:lstStyle/>
          <a:p>
            <a:r>
              <a:rPr lang="zh-CN" altLang="en-US" dirty="0">
                <a:latin typeface="Times New Roman" panose="02020603050405020304" pitchFamily="18" charset="0"/>
              </a:rPr>
              <a:t>分为训练集、验证集和测试集，进行不平衡处理</a:t>
            </a:r>
            <a:endParaRPr lang="en-US" altLang="zh-CN" dirty="0">
              <a:latin typeface="Times New Roman" panose="02020603050405020304" pitchFamily="18" charset="0"/>
            </a:endParaRPr>
          </a:p>
        </p:txBody>
      </p:sp>
      <p:sp>
        <p:nvSpPr>
          <p:cNvPr id="15" name="右箭头 25"/>
          <p:cNvSpPr/>
          <p:nvPr/>
        </p:nvSpPr>
        <p:spPr>
          <a:xfrm>
            <a:off x="2189289" y="1768423"/>
            <a:ext cx="432048" cy="360040"/>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EF57B-1D62-CFEA-F34B-62763B308C8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88E9908-1680-0D9D-E10A-7C7DBEB01295}"/>
              </a:ext>
            </a:extLst>
          </p:cNvPr>
          <p:cNvSpPr>
            <a:spLocks noGrp="1"/>
          </p:cNvSpPr>
          <p:nvPr>
            <p:ph type="title"/>
          </p:nvPr>
        </p:nvSpPr>
        <p:spPr>
          <a:xfrm>
            <a:off x="609600" y="76200"/>
            <a:ext cx="8001000" cy="533400"/>
          </a:xfrm>
        </p:spPr>
        <p:txBody>
          <a:bodyPr numCol="1" anchorCtr="0" compatLnSpc="1"/>
          <a:lstStyle/>
          <a:p>
            <a:pPr fontAlgn="auto">
              <a:spcAft>
                <a:spcPts val="0"/>
              </a:spcAft>
              <a:defRPr/>
            </a:pPr>
            <a:r>
              <a:rPr lang="zh-CN" altLang="en-US" sz="2400" dirty="0">
                <a:solidFill>
                  <a:schemeClr val="tx2"/>
                </a:solidFill>
                <a:latin typeface="楷体" panose="02010609060101010101" pitchFamily="49" charset="-122"/>
                <a:ea typeface="楷体" panose="02010609060101010101" pitchFamily="49" charset="-122"/>
              </a:rPr>
              <a:t>机器学习步骤三：特征工程</a:t>
            </a:r>
            <a:r>
              <a:rPr lang="en-US" altLang="zh-CN" sz="2400" dirty="0">
                <a:solidFill>
                  <a:schemeClr val="tx2"/>
                </a:solidFill>
                <a:latin typeface="楷体" panose="02010609060101010101" pitchFamily="49" charset="-122"/>
                <a:ea typeface="楷体" panose="02010609060101010101" pitchFamily="49" charset="-122"/>
              </a:rPr>
              <a:t>——</a:t>
            </a:r>
            <a:r>
              <a:rPr lang="zh-CN" altLang="en-US" sz="2400" dirty="0">
                <a:solidFill>
                  <a:schemeClr val="tx2"/>
                </a:solidFill>
                <a:latin typeface="楷体" panose="02010609060101010101" pitchFamily="49" charset="-122"/>
                <a:ea typeface="楷体" panose="02010609060101010101" pitchFamily="49" charset="-122"/>
              </a:rPr>
              <a:t>数据集划分</a:t>
            </a:r>
          </a:p>
        </p:txBody>
      </p:sp>
      <p:sp>
        <p:nvSpPr>
          <p:cNvPr id="11" name="文本框 10">
            <a:extLst>
              <a:ext uri="{FF2B5EF4-FFF2-40B4-BE49-F238E27FC236}">
                <a16:creationId xmlns:a16="http://schemas.microsoft.com/office/drawing/2014/main" id="{24547CA2-634F-3ACF-6BCE-C97369C2A448}"/>
              </a:ext>
            </a:extLst>
          </p:cNvPr>
          <p:cNvSpPr txBox="1"/>
          <p:nvPr/>
        </p:nvSpPr>
        <p:spPr>
          <a:xfrm>
            <a:off x="486600" y="827433"/>
            <a:ext cx="8200199" cy="1754326"/>
          </a:xfrm>
          <a:prstGeom prst="rect">
            <a:avLst/>
          </a:prstGeom>
          <a:noFill/>
        </p:spPr>
        <p:txBody>
          <a:bodyPr wrap="square">
            <a:spAutoFit/>
          </a:bodyPr>
          <a:lstStyle/>
          <a:p>
            <a:pPr indent="457200" algn="just"/>
            <a:r>
              <a:rPr lang="zh-CN" altLang="en-US" b="1" dirty="0">
                <a:solidFill>
                  <a:schemeClr val="accent2"/>
                </a:solidFill>
                <a:latin typeface="Times New Roman" panose="02020603050405020304" pitchFamily="18" charset="0"/>
              </a:rPr>
              <a:t>训练集（</a:t>
            </a:r>
            <a:r>
              <a:rPr lang="en-US" altLang="zh-CN" b="1" dirty="0">
                <a:solidFill>
                  <a:schemeClr val="accent2"/>
                </a:solidFill>
                <a:latin typeface="Times New Roman" panose="02020603050405020304" pitchFamily="18" charset="0"/>
              </a:rPr>
              <a:t>Training Set</a:t>
            </a:r>
            <a:r>
              <a:rPr lang="zh-CN" altLang="en-US" b="1" dirty="0">
                <a:solidFill>
                  <a:schemeClr val="accent2"/>
                </a:solidFill>
                <a:latin typeface="Times New Roman" panose="02020603050405020304" pitchFamily="18" charset="0"/>
              </a:rPr>
              <a:t>）</a:t>
            </a:r>
            <a:r>
              <a:rPr lang="zh-CN" altLang="en-US" dirty="0">
                <a:latin typeface="Times New Roman" panose="02020603050405020304" pitchFamily="18" charset="0"/>
              </a:rPr>
              <a:t>：帮助我们训练模型，简单的说就是通过训练集的数据让我们确定拟合曲线的参数。</a:t>
            </a:r>
          </a:p>
          <a:p>
            <a:pPr indent="457200" algn="just"/>
            <a:r>
              <a:rPr lang="zh-CN" altLang="en-US" b="1" dirty="0">
                <a:solidFill>
                  <a:schemeClr val="accent2"/>
                </a:solidFill>
                <a:latin typeface="Times New Roman" panose="02020603050405020304" pitchFamily="18" charset="0"/>
              </a:rPr>
              <a:t>验证集（</a:t>
            </a:r>
            <a:r>
              <a:rPr lang="en-US" altLang="zh-CN" b="1" dirty="0">
                <a:solidFill>
                  <a:schemeClr val="accent2"/>
                </a:solidFill>
                <a:latin typeface="Times New Roman" panose="02020603050405020304" pitchFamily="18" charset="0"/>
              </a:rPr>
              <a:t>Validation Set</a:t>
            </a:r>
            <a:r>
              <a:rPr lang="zh-CN" altLang="en-US" b="1" dirty="0">
                <a:solidFill>
                  <a:schemeClr val="accent2"/>
                </a:solidFill>
                <a:latin typeface="Times New Roman" panose="02020603050405020304" pitchFamily="18" charset="0"/>
              </a:rPr>
              <a:t>）</a:t>
            </a:r>
            <a:r>
              <a:rPr lang="zh-CN" altLang="en-US" dirty="0">
                <a:latin typeface="Times New Roman" panose="02020603050405020304" pitchFamily="18" charset="0"/>
              </a:rPr>
              <a:t>：也叫做开发集（ </a:t>
            </a:r>
            <a:r>
              <a:rPr lang="en-US" altLang="zh-CN" dirty="0">
                <a:latin typeface="Times New Roman" panose="02020603050405020304" pitchFamily="18" charset="0"/>
              </a:rPr>
              <a:t>Dev Set </a:t>
            </a:r>
            <a:r>
              <a:rPr lang="zh-CN" altLang="en-US" dirty="0">
                <a:latin typeface="Times New Roman" panose="02020603050405020304" pitchFamily="18" charset="0"/>
              </a:rPr>
              <a:t>），用来做模型选择（</a:t>
            </a:r>
            <a:r>
              <a:rPr lang="en-US" altLang="zh-CN" dirty="0">
                <a:latin typeface="Times New Roman" panose="02020603050405020304" pitchFamily="18" charset="0"/>
              </a:rPr>
              <a:t>model selection</a:t>
            </a:r>
            <a:r>
              <a:rPr lang="zh-CN" altLang="en-US" dirty="0">
                <a:latin typeface="Times New Roman" panose="02020603050405020304" pitchFamily="18" charset="0"/>
              </a:rPr>
              <a:t>），即做模型的最终优化及确定的，用来</a:t>
            </a:r>
            <a:r>
              <a:rPr lang="zh-CN" altLang="en-US" b="1" dirty="0">
                <a:solidFill>
                  <a:schemeClr val="accent1"/>
                </a:solidFill>
                <a:latin typeface="Times New Roman" panose="02020603050405020304" pitchFamily="18" charset="0"/>
              </a:rPr>
              <a:t>辅助我们的模型的构建，即训练超参数</a:t>
            </a:r>
            <a:r>
              <a:rPr lang="zh-CN" altLang="en-US" dirty="0">
                <a:latin typeface="Times New Roman" panose="02020603050405020304" pitchFamily="18" charset="0"/>
              </a:rPr>
              <a:t>，可选； </a:t>
            </a:r>
          </a:p>
          <a:p>
            <a:pPr indent="457200" algn="just"/>
            <a:r>
              <a:rPr lang="zh-CN" altLang="en-US" b="1" dirty="0">
                <a:solidFill>
                  <a:schemeClr val="accent2"/>
                </a:solidFill>
                <a:latin typeface="Times New Roman" panose="02020603050405020304" pitchFamily="18" charset="0"/>
              </a:rPr>
              <a:t>测试集（</a:t>
            </a:r>
            <a:r>
              <a:rPr lang="en-US" altLang="zh-CN" b="1" dirty="0">
                <a:solidFill>
                  <a:schemeClr val="accent2"/>
                </a:solidFill>
                <a:latin typeface="Times New Roman" panose="02020603050405020304" pitchFamily="18" charset="0"/>
              </a:rPr>
              <a:t>Test Set</a:t>
            </a:r>
            <a:r>
              <a:rPr lang="zh-CN" altLang="en-US" b="1" dirty="0">
                <a:solidFill>
                  <a:schemeClr val="accent2"/>
                </a:solidFill>
                <a:latin typeface="Times New Roman" panose="02020603050405020304" pitchFamily="18" charset="0"/>
              </a:rPr>
              <a:t>）</a:t>
            </a:r>
            <a:r>
              <a:rPr lang="zh-CN" altLang="en-US" dirty="0">
                <a:latin typeface="Times New Roman" panose="02020603050405020304" pitchFamily="18" charset="0"/>
              </a:rPr>
              <a:t>： 为了测试已经训练好的模型的精确度。</a:t>
            </a:r>
          </a:p>
        </p:txBody>
      </p:sp>
      <p:grpSp>
        <p:nvGrpSpPr>
          <p:cNvPr id="17" name="组合 16">
            <a:extLst>
              <a:ext uri="{FF2B5EF4-FFF2-40B4-BE49-F238E27FC236}">
                <a16:creationId xmlns:a16="http://schemas.microsoft.com/office/drawing/2014/main" id="{CAB3FB9F-C244-F2DF-95AC-15F24B1330FB}"/>
              </a:ext>
            </a:extLst>
          </p:cNvPr>
          <p:cNvGrpSpPr/>
          <p:nvPr/>
        </p:nvGrpSpPr>
        <p:grpSpPr>
          <a:xfrm>
            <a:off x="645390" y="2836645"/>
            <a:ext cx="7874991" cy="2669902"/>
            <a:chOff x="732400" y="3016334"/>
            <a:chExt cx="7874991" cy="2669902"/>
          </a:xfrm>
        </p:grpSpPr>
        <p:sp>
          <p:nvSpPr>
            <p:cNvPr id="6" name="矩形 5">
              <a:extLst>
                <a:ext uri="{FF2B5EF4-FFF2-40B4-BE49-F238E27FC236}">
                  <a16:creationId xmlns:a16="http://schemas.microsoft.com/office/drawing/2014/main" id="{B14EE4C8-BD1E-16D6-3BD3-5A61E22505A9}"/>
                </a:ext>
              </a:extLst>
            </p:cNvPr>
            <p:cNvSpPr/>
            <p:nvPr/>
          </p:nvSpPr>
          <p:spPr>
            <a:xfrm>
              <a:off x="735609" y="3531656"/>
              <a:ext cx="4157233" cy="401138"/>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latin typeface="+mj-ea"/>
                  <a:ea typeface="+mj-ea"/>
                </a:rPr>
                <a:t>训练集</a:t>
              </a:r>
            </a:p>
          </p:txBody>
        </p:sp>
        <p:sp>
          <p:nvSpPr>
            <p:cNvPr id="7" name="矩形 6">
              <a:extLst>
                <a:ext uri="{FF2B5EF4-FFF2-40B4-BE49-F238E27FC236}">
                  <a16:creationId xmlns:a16="http://schemas.microsoft.com/office/drawing/2014/main" id="{8015A6CA-6AA6-D2E8-20C7-E99EE56EC2D3}"/>
                </a:ext>
              </a:extLst>
            </p:cNvPr>
            <p:cNvSpPr/>
            <p:nvPr/>
          </p:nvSpPr>
          <p:spPr>
            <a:xfrm>
              <a:off x="6685547" y="3531656"/>
              <a:ext cx="1795914" cy="401138"/>
            </a:xfrm>
            <a:prstGeom prst="rect">
              <a:avLst/>
            </a:prstGeom>
            <a:solidFill>
              <a:srgbClr val="A3D6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测试集</a:t>
              </a:r>
            </a:p>
          </p:txBody>
        </p:sp>
        <p:sp>
          <p:nvSpPr>
            <p:cNvPr id="8" name="矩形 7">
              <a:extLst>
                <a:ext uri="{FF2B5EF4-FFF2-40B4-BE49-F238E27FC236}">
                  <a16:creationId xmlns:a16="http://schemas.microsoft.com/office/drawing/2014/main" id="{1C8E2D9B-7D20-B14E-9F1C-051BD5245F13}"/>
                </a:ext>
              </a:extLst>
            </p:cNvPr>
            <p:cNvSpPr/>
            <p:nvPr/>
          </p:nvSpPr>
          <p:spPr>
            <a:xfrm>
              <a:off x="735609" y="3016334"/>
              <a:ext cx="7745852" cy="401138"/>
            </a:xfrm>
            <a:prstGeom prst="rect">
              <a:avLst/>
            </a:prstGeom>
            <a:solidFill>
              <a:srgbClr val="FF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数据集</a:t>
              </a:r>
            </a:p>
          </p:txBody>
        </p:sp>
        <p:sp>
          <p:nvSpPr>
            <p:cNvPr id="9" name="矩形 8">
              <a:extLst>
                <a:ext uri="{FF2B5EF4-FFF2-40B4-BE49-F238E27FC236}">
                  <a16:creationId xmlns:a16="http://schemas.microsoft.com/office/drawing/2014/main" id="{15F1C971-0075-D71E-8A03-B91DC85F3385}"/>
                </a:ext>
              </a:extLst>
            </p:cNvPr>
            <p:cNvSpPr/>
            <p:nvPr/>
          </p:nvSpPr>
          <p:spPr>
            <a:xfrm>
              <a:off x="4886424" y="3534358"/>
              <a:ext cx="1795914" cy="40113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验证集</a:t>
              </a:r>
            </a:p>
          </p:txBody>
        </p:sp>
        <p:sp>
          <p:nvSpPr>
            <p:cNvPr id="10" name="矩形 9">
              <a:extLst>
                <a:ext uri="{FF2B5EF4-FFF2-40B4-BE49-F238E27FC236}">
                  <a16:creationId xmlns:a16="http://schemas.microsoft.com/office/drawing/2014/main" id="{A63BBAD5-B21B-ADE6-A3F5-AF84AF698EBB}"/>
                </a:ext>
              </a:extLst>
            </p:cNvPr>
            <p:cNvSpPr/>
            <p:nvPr/>
          </p:nvSpPr>
          <p:spPr>
            <a:xfrm>
              <a:off x="732400" y="4648200"/>
              <a:ext cx="4157233" cy="401138"/>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latin typeface="+mj-ea"/>
                  <a:ea typeface="+mj-ea"/>
                </a:rPr>
                <a:t>训练集</a:t>
              </a:r>
            </a:p>
          </p:txBody>
        </p:sp>
        <p:sp>
          <p:nvSpPr>
            <p:cNvPr id="12" name="矩形 11">
              <a:extLst>
                <a:ext uri="{FF2B5EF4-FFF2-40B4-BE49-F238E27FC236}">
                  <a16:creationId xmlns:a16="http://schemas.microsoft.com/office/drawing/2014/main" id="{70739251-6728-2527-C2F4-F6303AFA09CC}"/>
                </a:ext>
              </a:extLst>
            </p:cNvPr>
            <p:cNvSpPr/>
            <p:nvPr/>
          </p:nvSpPr>
          <p:spPr>
            <a:xfrm>
              <a:off x="6682338" y="4648200"/>
              <a:ext cx="1795914" cy="401138"/>
            </a:xfrm>
            <a:prstGeom prst="rect">
              <a:avLst/>
            </a:prstGeom>
            <a:solidFill>
              <a:srgbClr val="A3D6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测试集</a:t>
              </a:r>
            </a:p>
          </p:txBody>
        </p:sp>
        <p:sp>
          <p:nvSpPr>
            <p:cNvPr id="13" name="矩形 12">
              <a:extLst>
                <a:ext uri="{FF2B5EF4-FFF2-40B4-BE49-F238E27FC236}">
                  <a16:creationId xmlns:a16="http://schemas.microsoft.com/office/drawing/2014/main" id="{B34A1B15-1814-C281-8F72-AF8EB9F3327B}"/>
                </a:ext>
              </a:extLst>
            </p:cNvPr>
            <p:cNvSpPr/>
            <p:nvPr/>
          </p:nvSpPr>
          <p:spPr>
            <a:xfrm>
              <a:off x="4886424" y="4645498"/>
              <a:ext cx="1795914" cy="40113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验证集</a:t>
              </a:r>
            </a:p>
          </p:txBody>
        </p:sp>
        <p:cxnSp>
          <p:nvCxnSpPr>
            <p:cNvPr id="14" name="直接箭头连接符 13">
              <a:extLst>
                <a:ext uri="{FF2B5EF4-FFF2-40B4-BE49-F238E27FC236}">
                  <a16:creationId xmlns:a16="http://schemas.microsoft.com/office/drawing/2014/main" id="{BD0F807A-469C-5BCA-9B2F-4119CC1C4F70}"/>
                </a:ext>
              </a:extLst>
            </p:cNvPr>
            <p:cNvCxnSpPr>
              <a:cxnSpLocks/>
            </p:cNvCxnSpPr>
            <p:nvPr/>
          </p:nvCxnSpPr>
          <p:spPr>
            <a:xfrm>
              <a:off x="943275" y="5686236"/>
              <a:ext cx="7664116"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5" name="文本框 14">
              <a:extLst>
                <a:ext uri="{FF2B5EF4-FFF2-40B4-BE49-F238E27FC236}">
                  <a16:creationId xmlns:a16="http://schemas.microsoft.com/office/drawing/2014/main" id="{DA1B4B42-9EA9-6170-EA52-8C294080F2EE}"/>
                </a:ext>
              </a:extLst>
            </p:cNvPr>
            <p:cNvSpPr txBox="1"/>
            <p:nvPr/>
          </p:nvSpPr>
          <p:spPr>
            <a:xfrm>
              <a:off x="1414512" y="5203080"/>
              <a:ext cx="6765758" cy="369332"/>
            </a:xfrm>
            <a:prstGeom prst="rect">
              <a:avLst/>
            </a:prstGeom>
            <a:noFill/>
          </p:spPr>
          <p:txBody>
            <a:bodyPr wrap="square" rtlCol="0">
              <a:spAutoFit/>
            </a:bodyPr>
            <a:lstStyle/>
            <a:p>
              <a:r>
                <a:rPr lang="zh-CN" altLang="en-US" dirty="0"/>
                <a:t>时间序列数据集：只能按照时间顺序划分，不能打乱其周期性</a:t>
              </a:r>
            </a:p>
          </p:txBody>
        </p:sp>
        <p:sp>
          <p:nvSpPr>
            <p:cNvPr id="16" name="文本框 15">
              <a:extLst>
                <a:ext uri="{FF2B5EF4-FFF2-40B4-BE49-F238E27FC236}">
                  <a16:creationId xmlns:a16="http://schemas.microsoft.com/office/drawing/2014/main" id="{D5E424FE-C4E4-1193-647F-11507A33BFCE}"/>
                </a:ext>
              </a:extLst>
            </p:cNvPr>
            <p:cNvSpPr txBox="1"/>
            <p:nvPr/>
          </p:nvSpPr>
          <p:spPr>
            <a:xfrm>
              <a:off x="1643857" y="4042610"/>
              <a:ext cx="6269370" cy="369332"/>
            </a:xfrm>
            <a:prstGeom prst="rect">
              <a:avLst/>
            </a:prstGeom>
            <a:noFill/>
          </p:spPr>
          <p:txBody>
            <a:bodyPr wrap="square" rtlCol="0">
              <a:spAutoFit/>
            </a:bodyPr>
            <a:lstStyle/>
            <a:p>
              <a:pPr algn="ctr"/>
              <a:r>
                <a:rPr lang="zh-CN" altLang="en-US" dirty="0"/>
                <a:t>一般数据集：不考虑时间因素，通常先打乱数据再划分</a:t>
              </a:r>
            </a:p>
          </p:txBody>
        </p:sp>
      </p:grpSp>
      <p:sp>
        <p:nvSpPr>
          <p:cNvPr id="19" name="文本框 18">
            <a:extLst>
              <a:ext uri="{FF2B5EF4-FFF2-40B4-BE49-F238E27FC236}">
                <a16:creationId xmlns:a16="http://schemas.microsoft.com/office/drawing/2014/main" id="{AB9B5888-B7E5-D8BF-2362-495CD7A3756A}"/>
              </a:ext>
            </a:extLst>
          </p:cNvPr>
          <p:cNvSpPr txBox="1"/>
          <p:nvPr/>
        </p:nvSpPr>
        <p:spPr>
          <a:xfrm>
            <a:off x="486601" y="5546465"/>
            <a:ext cx="8048076" cy="1015663"/>
          </a:xfrm>
          <a:prstGeom prst="rect">
            <a:avLst/>
          </a:prstGeom>
          <a:noFill/>
        </p:spPr>
        <p:txBody>
          <a:bodyPr wrap="square">
            <a:spAutoFit/>
          </a:bodyPr>
          <a:lstStyle/>
          <a:p>
            <a:r>
              <a:rPr lang="zh-CN" altLang="en-US" sz="2000" dirty="0">
                <a:latin typeface="Times New Roman" panose="02020603050405020304" pitchFamily="18" charset="0"/>
              </a:rPr>
              <a:t>一般数据集划分比例：</a:t>
            </a:r>
            <a:endParaRPr lang="en-US" altLang="zh-CN" sz="2000" dirty="0">
              <a:latin typeface="Times New Roman" panose="02020603050405020304" pitchFamily="18" charset="0"/>
            </a:endParaRPr>
          </a:p>
          <a:p>
            <a:pPr marL="342900" indent="-342900">
              <a:buFont typeface="Wingdings" panose="05000000000000000000" pitchFamily="2" charset="2"/>
              <a:buChar char="n"/>
            </a:pPr>
            <a:r>
              <a:rPr lang="zh-CN" altLang="en-US" sz="2000" dirty="0">
                <a:latin typeface="Times New Roman" panose="02020603050405020304" pitchFamily="18" charset="0"/>
              </a:rPr>
              <a:t>机器学习：</a:t>
            </a:r>
            <a:r>
              <a:rPr lang="en-US" altLang="zh-CN" sz="2000" dirty="0">
                <a:latin typeface="Times New Roman" panose="02020603050405020304" pitchFamily="18" charset="0"/>
              </a:rPr>
              <a:t>60%</a:t>
            </a:r>
            <a:r>
              <a:rPr lang="zh-CN" altLang="en-US" sz="2000" dirty="0">
                <a:latin typeface="Times New Roman" panose="02020603050405020304" pitchFamily="18" charset="0"/>
              </a:rPr>
              <a:t>，</a:t>
            </a:r>
            <a:r>
              <a:rPr lang="en-US" altLang="zh-CN" sz="2000" dirty="0">
                <a:latin typeface="Times New Roman" panose="02020603050405020304" pitchFamily="18" charset="0"/>
              </a:rPr>
              <a:t>20%</a:t>
            </a:r>
            <a:r>
              <a:rPr lang="zh-CN" altLang="en-US" sz="2000" dirty="0">
                <a:latin typeface="Times New Roman" panose="02020603050405020304" pitchFamily="18" charset="0"/>
              </a:rPr>
              <a:t>，</a:t>
            </a:r>
            <a:r>
              <a:rPr lang="en-US" altLang="zh-CN" sz="2000" dirty="0">
                <a:latin typeface="Times New Roman" panose="02020603050405020304" pitchFamily="18" charset="0"/>
              </a:rPr>
              <a:t>20%</a:t>
            </a:r>
            <a:r>
              <a:rPr lang="zh-CN" altLang="en-US" sz="2000" dirty="0">
                <a:latin typeface="Times New Roman" panose="02020603050405020304" pitchFamily="18" charset="0"/>
              </a:rPr>
              <a:t>；</a:t>
            </a:r>
            <a:r>
              <a:rPr lang="en-US" altLang="zh-CN" sz="2000" dirty="0">
                <a:latin typeface="Times New Roman" panose="02020603050405020304" pitchFamily="18" charset="0"/>
              </a:rPr>
              <a:t>70%</a:t>
            </a:r>
            <a:r>
              <a:rPr lang="zh-CN" altLang="en-US" sz="2000" dirty="0">
                <a:latin typeface="Times New Roman" panose="02020603050405020304" pitchFamily="18" charset="0"/>
              </a:rPr>
              <a:t>，</a:t>
            </a:r>
            <a:r>
              <a:rPr lang="en-US" altLang="zh-CN" sz="2000" dirty="0">
                <a:latin typeface="Times New Roman" panose="02020603050405020304" pitchFamily="18" charset="0"/>
              </a:rPr>
              <a:t>10%</a:t>
            </a:r>
            <a:r>
              <a:rPr lang="zh-CN" altLang="en-US" sz="2000" dirty="0">
                <a:latin typeface="Times New Roman" panose="02020603050405020304" pitchFamily="18" charset="0"/>
              </a:rPr>
              <a:t>，</a:t>
            </a:r>
            <a:r>
              <a:rPr lang="en-US" altLang="zh-CN" sz="2000" dirty="0">
                <a:latin typeface="Times New Roman" panose="02020603050405020304" pitchFamily="18" charset="0"/>
              </a:rPr>
              <a:t>20%</a:t>
            </a:r>
          </a:p>
          <a:p>
            <a:pPr marL="342900" indent="-342900">
              <a:buFont typeface="Wingdings" panose="05000000000000000000" pitchFamily="2" charset="2"/>
              <a:buChar char="n"/>
            </a:pPr>
            <a:r>
              <a:rPr lang="zh-CN" altLang="en-US" sz="2000" dirty="0">
                <a:latin typeface="Times New Roman" panose="02020603050405020304" pitchFamily="18" charset="0"/>
              </a:rPr>
              <a:t>深度学习：</a:t>
            </a:r>
            <a:r>
              <a:rPr lang="en-US" altLang="zh-CN" sz="2000" dirty="0">
                <a:latin typeface="Times New Roman" panose="02020603050405020304" pitchFamily="18" charset="0"/>
              </a:rPr>
              <a:t>98%</a:t>
            </a:r>
            <a:r>
              <a:rPr lang="zh-CN" altLang="en-US" sz="2000" dirty="0">
                <a:latin typeface="Times New Roman" panose="02020603050405020304" pitchFamily="18" charset="0"/>
              </a:rPr>
              <a:t>，</a:t>
            </a:r>
            <a:r>
              <a:rPr lang="en-US" altLang="zh-CN" sz="2000" dirty="0">
                <a:latin typeface="Times New Roman" panose="02020603050405020304" pitchFamily="18" charset="0"/>
              </a:rPr>
              <a:t>1%</a:t>
            </a:r>
            <a:r>
              <a:rPr lang="zh-CN" altLang="en-US" sz="2000" dirty="0">
                <a:latin typeface="Times New Roman" panose="02020603050405020304" pitchFamily="18" charset="0"/>
              </a:rPr>
              <a:t>，</a:t>
            </a:r>
            <a:r>
              <a:rPr lang="en-US" altLang="zh-CN" sz="2000" dirty="0">
                <a:latin typeface="Times New Roman" panose="02020603050405020304" pitchFamily="18" charset="0"/>
              </a:rPr>
              <a:t>1% </a:t>
            </a:r>
            <a:r>
              <a:rPr lang="zh-CN" altLang="en-US" sz="2000" dirty="0">
                <a:latin typeface="Times New Roman" panose="02020603050405020304" pitchFamily="18" charset="0"/>
              </a:rPr>
              <a:t>（假设百万条数据）</a:t>
            </a:r>
          </a:p>
        </p:txBody>
      </p:sp>
    </p:spTree>
    <p:extLst>
      <p:ext uri="{BB962C8B-B14F-4D97-AF65-F5344CB8AC3E}">
        <p14:creationId xmlns:p14="http://schemas.microsoft.com/office/powerpoint/2010/main" val="191368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E2956-1FAB-A4B2-037A-57FA2A2332A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662745-479C-5091-7CCB-C65B00E5C762}"/>
              </a:ext>
            </a:extLst>
          </p:cNvPr>
          <p:cNvSpPr>
            <a:spLocks noGrp="1"/>
          </p:cNvSpPr>
          <p:nvPr>
            <p:ph type="title"/>
          </p:nvPr>
        </p:nvSpPr>
        <p:spPr>
          <a:xfrm>
            <a:off x="609600" y="76200"/>
            <a:ext cx="8001000" cy="533400"/>
          </a:xfrm>
        </p:spPr>
        <p:txBody>
          <a:bodyPr numCol="1" anchorCtr="0" compatLnSpc="1"/>
          <a:lstStyle/>
          <a:p>
            <a:pPr fontAlgn="auto">
              <a:spcAft>
                <a:spcPts val="0"/>
              </a:spcAft>
              <a:defRPr/>
            </a:pPr>
            <a:r>
              <a:rPr lang="zh-CN" altLang="en-US" sz="2400" dirty="0">
                <a:solidFill>
                  <a:schemeClr val="tx2"/>
                </a:solidFill>
                <a:latin typeface="楷体" panose="02010609060101010101" pitchFamily="49" charset="-122"/>
                <a:ea typeface="楷体" panose="02010609060101010101" pitchFamily="49" charset="-122"/>
              </a:rPr>
              <a:t>机器学习步骤三：特征工程</a:t>
            </a:r>
            <a:r>
              <a:rPr lang="en-US" altLang="zh-CN" sz="2400" dirty="0">
                <a:solidFill>
                  <a:schemeClr val="tx2"/>
                </a:solidFill>
                <a:latin typeface="楷体" panose="02010609060101010101" pitchFamily="49" charset="-122"/>
                <a:ea typeface="楷体" panose="02010609060101010101" pitchFamily="49" charset="-122"/>
              </a:rPr>
              <a:t>——</a:t>
            </a:r>
            <a:r>
              <a:rPr lang="zh-CN" altLang="en-US" sz="2400" dirty="0">
                <a:solidFill>
                  <a:schemeClr val="tx2"/>
                </a:solidFill>
                <a:latin typeface="楷体" panose="02010609060101010101" pitchFamily="49" charset="-122"/>
                <a:ea typeface="楷体" panose="02010609060101010101" pitchFamily="49" charset="-122"/>
              </a:rPr>
              <a:t>不平衡数据处理</a:t>
            </a:r>
          </a:p>
        </p:txBody>
      </p:sp>
      <p:sp>
        <p:nvSpPr>
          <p:cNvPr id="11" name="文本框 10">
            <a:extLst>
              <a:ext uri="{FF2B5EF4-FFF2-40B4-BE49-F238E27FC236}">
                <a16:creationId xmlns:a16="http://schemas.microsoft.com/office/drawing/2014/main" id="{EE7EE384-9280-57D3-0A30-60B2C5582B68}"/>
              </a:ext>
            </a:extLst>
          </p:cNvPr>
          <p:cNvSpPr txBox="1"/>
          <p:nvPr/>
        </p:nvSpPr>
        <p:spPr>
          <a:xfrm>
            <a:off x="930729" y="533400"/>
            <a:ext cx="7620000" cy="1015663"/>
          </a:xfrm>
          <a:prstGeom prst="rect">
            <a:avLst/>
          </a:prstGeom>
          <a:noFill/>
        </p:spPr>
        <p:txBody>
          <a:bodyPr wrap="square">
            <a:spAutoFit/>
          </a:bodyPr>
          <a:lstStyle/>
          <a:p>
            <a:pPr indent="457200" algn="just"/>
            <a:r>
              <a:rPr lang="zh-CN" altLang="en-US" sz="2000" dirty="0">
                <a:latin typeface="Times New Roman" panose="02020603050405020304" pitchFamily="18" charset="0"/>
              </a:rPr>
              <a:t>数据不平衡是指数据集中</a:t>
            </a:r>
            <a:r>
              <a:rPr lang="zh-CN" altLang="en-US" sz="2000" b="1" dirty="0">
                <a:solidFill>
                  <a:schemeClr val="accent1"/>
                </a:solidFill>
                <a:latin typeface="Times New Roman" panose="02020603050405020304" pitchFamily="18" charset="0"/>
              </a:rPr>
              <a:t>各类样本数量不均衡的</a:t>
            </a:r>
            <a:r>
              <a:rPr lang="zh-CN" altLang="en-US" sz="2000" dirty="0">
                <a:latin typeface="Times New Roman" panose="02020603050405020304" pitchFamily="18" charset="0"/>
              </a:rPr>
              <a:t>情况，尤其在分类任务中，多数类样本远多于少数类时，模型容易偏向多数类，导致对少数类的识别能力下降。</a:t>
            </a:r>
            <a:endParaRPr lang="en-US" altLang="zh-CN" sz="2000" dirty="0">
              <a:latin typeface="Times New Roman" panose="02020603050405020304" pitchFamily="18" charset="0"/>
            </a:endParaRPr>
          </a:p>
        </p:txBody>
      </p:sp>
      <p:sp>
        <p:nvSpPr>
          <p:cNvPr id="4" name="文本框 3">
            <a:extLst>
              <a:ext uri="{FF2B5EF4-FFF2-40B4-BE49-F238E27FC236}">
                <a16:creationId xmlns:a16="http://schemas.microsoft.com/office/drawing/2014/main" id="{0FE2D569-BF8D-8BEC-C547-2B6E23D69388}"/>
              </a:ext>
            </a:extLst>
          </p:cNvPr>
          <p:cNvSpPr txBox="1"/>
          <p:nvPr/>
        </p:nvSpPr>
        <p:spPr>
          <a:xfrm>
            <a:off x="29936" y="4343400"/>
            <a:ext cx="9220200" cy="2123658"/>
          </a:xfrm>
          <a:prstGeom prst="rect">
            <a:avLst/>
          </a:prstGeom>
          <a:noFill/>
        </p:spPr>
        <p:txBody>
          <a:bodyPr wrap="square">
            <a:spAutoFit/>
          </a:bodyPr>
          <a:lstStyle/>
          <a:p>
            <a:r>
              <a:rPr lang="zh-CN" altLang="en-US" sz="2000" dirty="0">
                <a:latin typeface="Times New Roman" panose="02020603050405020304" pitchFamily="18" charset="0"/>
              </a:rPr>
              <a:t>常用不平衡处理方法：</a:t>
            </a:r>
            <a:endParaRPr lang="en-US" altLang="zh-CN" sz="2000" dirty="0">
              <a:latin typeface="Times New Roman" panose="02020603050405020304" pitchFamily="18" charset="0"/>
            </a:endParaRPr>
          </a:p>
          <a:p>
            <a:r>
              <a:rPr lang="zh-CN" altLang="en-US" sz="2000" b="1" dirty="0">
                <a:latin typeface="Times New Roman" panose="02020603050405020304" pitchFamily="18" charset="0"/>
              </a:rPr>
              <a:t>一、数据层面的处理方法</a:t>
            </a:r>
            <a:r>
              <a:rPr lang="zh-CN" altLang="en-US" sz="2000" dirty="0">
                <a:latin typeface="Times New Roman" panose="02020603050405020304" pitchFamily="18" charset="0"/>
              </a:rPr>
              <a:t>：欠采样、过采样和混合采样，典型为</a:t>
            </a:r>
            <a:r>
              <a:rPr lang="en-US" altLang="zh-CN" sz="2000" dirty="0">
                <a:latin typeface="Times New Roman" panose="02020603050405020304" pitchFamily="18" charset="0"/>
              </a:rPr>
              <a:t>SMOTE</a:t>
            </a:r>
          </a:p>
          <a:p>
            <a:r>
              <a:rPr lang="zh-CN" altLang="en-US" sz="2000" b="1" dirty="0">
                <a:latin typeface="Times New Roman" panose="02020603050405020304" pitchFamily="18" charset="0"/>
              </a:rPr>
              <a:t>二、算法层面的优化策略：</a:t>
            </a:r>
            <a:endParaRPr lang="en-US" altLang="zh-CN" sz="2000" b="1" dirty="0">
              <a:latin typeface="Times New Roman" panose="02020603050405020304" pitchFamily="18" charset="0"/>
            </a:endParaRPr>
          </a:p>
          <a:p>
            <a:pPr marL="342900" indent="-342900">
              <a:buFont typeface="Wingdings" panose="05000000000000000000" pitchFamily="2" charset="2"/>
              <a:buChar char="u"/>
            </a:pPr>
            <a:r>
              <a:rPr lang="zh-CN" altLang="en-US" dirty="0">
                <a:latin typeface="Times New Roman" panose="02020603050405020304" pitchFamily="18" charset="0"/>
              </a:rPr>
              <a:t>代价敏感学习（</a:t>
            </a:r>
            <a:r>
              <a:rPr lang="en-US" altLang="zh-CN" dirty="0">
                <a:latin typeface="Times New Roman" panose="02020603050405020304" pitchFamily="18" charset="0"/>
              </a:rPr>
              <a:t>Cost-Sensitive Learning</a:t>
            </a:r>
            <a:r>
              <a:rPr lang="zh-CN" altLang="en-US" dirty="0">
                <a:latin typeface="Times New Roman" panose="02020603050405020304" pitchFamily="18" charset="0"/>
              </a:rPr>
              <a:t>）​</a:t>
            </a:r>
            <a:r>
              <a:rPr lang="en-US" altLang="zh-CN" dirty="0">
                <a:latin typeface="Times New Roman" panose="02020603050405020304" pitchFamily="18" charset="0"/>
              </a:rPr>
              <a:t>——</a:t>
            </a:r>
            <a:r>
              <a:rPr lang="zh-CN" altLang="en-US" dirty="0">
                <a:latin typeface="Times New Roman" panose="02020603050405020304" pitchFamily="18" charset="0"/>
              </a:rPr>
              <a:t>调整模型对不同类别误分类的惩罚权重。</a:t>
            </a:r>
            <a:endParaRPr lang="en-US" altLang="zh-CN" dirty="0">
              <a:latin typeface="Times New Roman" panose="02020603050405020304" pitchFamily="18" charset="0"/>
            </a:endParaRPr>
          </a:p>
          <a:p>
            <a:pPr marL="342900" indent="-342900">
              <a:buFont typeface="Wingdings" panose="05000000000000000000" pitchFamily="2" charset="2"/>
              <a:buChar char="u"/>
            </a:pPr>
            <a:r>
              <a:rPr lang="zh-CN" altLang="en-US" dirty="0">
                <a:latin typeface="Times New Roman" panose="02020603050405020304" pitchFamily="18" charset="0"/>
              </a:rPr>
              <a:t>集成学习（</a:t>
            </a:r>
            <a:r>
              <a:rPr lang="en-US" altLang="zh-CN" dirty="0">
                <a:latin typeface="Times New Roman" panose="02020603050405020304" pitchFamily="18" charset="0"/>
              </a:rPr>
              <a:t>Ensemble Learning</a:t>
            </a:r>
            <a:r>
              <a:rPr lang="zh-CN" altLang="en-US" dirty="0">
                <a:latin typeface="Times New Roman" panose="02020603050405020304" pitchFamily="18" charset="0"/>
              </a:rPr>
              <a:t>）</a:t>
            </a:r>
            <a:r>
              <a:rPr lang="en-US" altLang="zh-CN" dirty="0">
                <a:latin typeface="Times New Roman" panose="02020603050405020304" pitchFamily="18" charset="0"/>
              </a:rPr>
              <a:t>——​</a:t>
            </a:r>
            <a:r>
              <a:rPr lang="zh-CN" altLang="en-US" dirty="0">
                <a:latin typeface="Times New Roman" panose="02020603050405020304" pitchFamily="18" charset="0"/>
              </a:rPr>
              <a:t>“三个臭皮匠，顶个诸葛亮”，即多个弱学习器（</a:t>
            </a:r>
            <a:r>
              <a:rPr lang="en-US" altLang="zh-CN" dirty="0">
                <a:latin typeface="Times New Roman" panose="02020603050405020304" pitchFamily="18" charset="0"/>
              </a:rPr>
              <a:t>weak learners</a:t>
            </a:r>
            <a:r>
              <a:rPr lang="zh-CN" altLang="en-US" dirty="0">
                <a:latin typeface="Times New Roman" panose="02020603050405020304" pitchFamily="18" charset="0"/>
              </a:rPr>
              <a:t>）的组合可以形成一个强学习器（</a:t>
            </a:r>
            <a:r>
              <a:rPr lang="en-US" altLang="zh-CN" dirty="0">
                <a:latin typeface="Times New Roman" panose="02020603050405020304" pitchFamily="18" charset="0"/>
              </a:rPr>
              <a:t>strong learner</a:t>
            </a:r>
            <a:r>
              <a:rPr lang="zh-CN" altLang="en-US" dirty="0">
                <a:latin typeface="Times New Roman" panose="02020603050405020304" pitchFamily="18" charset="0"/>
              </a:rPr>
              <a:t>），例如</a:t>
            </a:r>
            <a:r>
              <a:rPr lang="en-US" altLang="zh-CN" dirty="0">
                <a:latin typeface="Times New Roman" panose="02020603050405020304" pitchFamily="18" charset="0"/>
              </a:rPr>
              <a:t>Bagging</a:t>
            </a:r>
            <a:r>
              <a:rPr lang="zh-CN" altLang="en-US" dirty="0">
                <a:latin typeface="Times New Roman" panose="02020603050405020304" pitchFamily="18" charset="0"/>
              </a:rPr>
              <a:t>算法（随机森林（</a:t>
            </a:r>
            <a:r>
              <a:rPr lang="en-US" altLang="zh-CN" dirty="0">
                <a:latin typeface="Times New Roman" panose="02020603050405020304" pitchFamily="18" charset="0"/>
              </a:rPr>
              <a:t>Random Forest</a:t>
            </a:r>
            <a:r>
              <a:rPr lang="zh-CN" altLang="en-US" dirty="0">
                <a:latin typeface="Times New Roman" panose="02020603050405020304" pitchFamily="18" charset="0"/>
              </a:rPr>
              <a:t>））。</a:t>
            </a:r>
            <a:r>
              <a:rPr lang="en-US" altLang="zh-CN" dirty="0">
                <a:latin typeface="Times New Roman" panose="02020603050405020304" pitchFamily="18" charset="0"/>
              </a:rPr>
              <a:t>Boosting</a:t>
            </a:r>
            <a:r>
              <a:rPr lang="zh-CN" altLang="en-US" dirty="0">
                <a:latin typeface="Times New Roman" panose="02020603050405020304" pitchFamily="18" charset="0"/>
              </a:rPr>
              <a:t>算法（</a:t>
            </a:r>
            <a:r>
              <a:rPr lang="en-US" altLang="zh-CN" dirty="0">
                <a:latin typeface="Times New Roman" panose="02020603050405020304" pitchFamily="18" charset="0"/>
              </a:rPr>
              <a:t>AdaBoost</a:t>
            </a:r>
            <a:r>
              <a:rPr lang="zh-CN" altLang="en-US" dirty="0">
                <a:latin typeface="Times New Roman" panose="02020603050405020304" pitchFamily="18" charset="0"/>
              </a:rPr>
              <a:t>、</a:t>
            </a:r>
            <a:r>
              <a:rPr lang="en-US" altLang="zh-CN" dirty="0" err="1">
                <a:latin typeface="Times New Roman" panose="02020603050405020304" pitchFamily="18" charset="0"/>
              </a:rPr>
              <a:t>XGBoost</a:t>
            </a:r>
            <a:r>
              <a:rPr lang="zh-CN" altLang="en-US" dirty="0">
                <a:latin typeface="Times New Roman" panose="02020603050405020304" pitchFamily="18" charset="0"/>
              </a:rPr>
              <a:t>）</a:t>
            </a:r>
          </a:p>
        </p:txBody>
      </p:sp>
      <p:pic>
        <p:nvPicPr>
          <p:cNvPr id="5" name="图片 4">
            <a:extLst>
              <a:ext uri="{FF2B5EF4-FFF2-40B4-BE49-F238E27FC236}">
                <a16:creationId xmlns:a16="http://schemas.microsoft.com/office/drawing/2014/main" id="{899BA89A-7693-AC04-C607-34DDB8869EF9}"/>
              </a:ext>
            </a:extLst>
          </p:cNvPr>
          <p:cNvPicPr>
            <a:picLocks noChangeAspect="1"/>
          </p:cNvPicPr>
          <p:nvPr/>
        </p:nvPicPr>
        <p:blipFill>
          <a:blip r:embed="rId3"/>
          <a:stretch>
            <a:fillRect/>
          </a:stretch>
        </p:blipFill>
        <p:spPr>
          <a:xfrm>
            <a:off x="372835" y="1611763"/>
            <a:ext cx="8398329" cy="2567674"/>
          </a:xfrm>
          <a:prstGeom prst="rect">
            <a:avLst/>
          </a:prstGeom>
        </p:spPr>
      </p:pic>
    </p:spTree>
    <p:extLst>
      <p:ext uri="{BB962C8B-B14F-4D97-AF65-F5344CB8AC3E}">
        <p14:creationId xmlns:p14="http://schemas.microsoft.com/office/powerpoint/2010/main" val="3319202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4D69A-5259-4158-B92C-49103CE75C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FAE502C-2794-F6F3-D1D2-B19ED8EBBF72}"/>
              </a:ext>
            </a:extLst>
          </p:cNvPr>
          <p:cNvSpPr>
            <a:spLocks noGrp="1"/>
          </p:cNvSpPr>
          <p:nvPr>
            <p:ph type="title"/>
          </p:nvPr>
        </p:nvSpPr>
        <p:spPr/>
        <p:txBody>
          <a:bodyPr numCol="1" anchorCtr="0" compatLnSpc="1"/>
          <a:lstStyle/>
          <a:p>
            <a:pPr fontAlgn="auto">
              <a:spcAft>
                <a:spcPts val="0"/>
              </a:spcAft>
              <a:defRPr/>
            </a:pPr>
            <a:r>
              <a:rPr lang="zh-CN" altLang="en-US" sz="2400" dirty="0">
                <a:solidFill>
                  <a:schemeClr val="tx2"/>
                </a:solidFill>
                <a:latin typeface="楷体" panose="02010609060101010101" pitchFamily="49" charset="-122"/>
                <a:ea typeface="楷体" panose="02010609060101010101" pitchFamily="49" charset="-122"/>
              </a:rPr>
              <a:t>机器学习步骤四：数据建模</a:t>
            </a:r>
          </a:p>
        </p:txBody>
      </p:sp>
      <p:pic>
        <p:nvPicPr>
          <p:cNvPr id="19" name="图片 18">
            <a:extLst>
              <a:ext uri="{FF2B5EF4-FFF2-40B4-BE49-F238E27FC236}">
                <a16:creationId xmlns:a16="http://schemas.microsoft.com/office/drawing/2014/main" id="{BB499778-68F5-347D-FD96-6E1E58448CB6}"/>
              </a:ext>
            </a:extLst>
          </p:cNvPr>
          <p:cNvPicPr>
            <a:picLocks noChangeAspect="1"/>
          </p:cNvPicPr>
          <p:nvPr/>
        </p:nvPicPr>
        <p:blipFill>
          <a:blip r:embed="rId3"/>
          <a:stretch>
            <a:fillRect/>
          </a:stretch>
        </p:blipFill>
        <p:spPr>
          <a:xfrm>
            <a:off x="54429" y="1524000"/>
            <a:ext cx="6107124" cy="4648200"/>
          </a:xfrm>
          <a:prstGeom prst="rect">
            <a:avLst/>
          </a:prstGeom>
        </p:spPr>
      </p:pic>
      <p:sp>
        <p:nvSpPr>
          <p:cNvPr id="20" name="文本框 19">
            <a:extLst>
              <a:ext uri="{FF2B5EF4-FFF2-40B4-BE49-F238E27FC236}">
                <a16:creationId xmlns:a16="http://schemas.microsoft.com/office/drawing/2014/main" id="{B0CB420D-E78A-DDD4-0394-6695CA15D377}"/>
              </a:ext>
            </a:extLst>
          </p:cNvPr>
          <p:cNvSpPr txBox="1"/>
          <p:nvPr/>
        </p:nvSpPr>
        <p:spPr>
          <a:xfrm>
            <a:off x="5837463" y="1905000"/>
            <a:ext cx="3254829" cy="3725892"/>
          </a:xfrm>
          <a:prstGeom prst="rect">
            <a:avLst/>
          </a:prstGeom>
          <a:noFill/>
        </p:spPr>
        <p:txBody>
          <a:bodyPr wrap="square">
            <a:spAutoFit/>
          </a:bodyPr>
          <a:lstStyle/>
          <a:p>
            <a:pPr marL="457200" indent="-457200">
              <a:lnSpc>
                <a:spcPct val="150000"/>
              </a:lnSpc>
              <a:buFont typeface="+mj-ea"/>
              <a:buAutoNum type="circleNumDbPlain"/>
            </a:pPr>
            <a:r>
              <a:rPr lang="zh-CN" altLang="en-US" sz="2000" dirty="0"/>
              <a:t>基于</a:t>
            </a:r>
            <a:r>
              <a:rPr lang="zh-CN" altLang="en-US" sz="2000" b="1" dirty="0">
                <a:solidFill>
                  <a:schemeClr val="accent1"/>
                </a:solidFill>
              </a:rPr>
              <a:t>性能指标</a:t>
            </a:r>
            <a:r>
              <a:rPr lang="zh-CN" altLang="en-US" sz="2000" dirty="0"/>
              <a:t>比较几种机器学习模型</a:t>
            </a:r>
            <a:endParaRPr lang="en-US" altLang="zh-CN" sz="2000" dirty="0"/>
          </a:p>
          <a:p>
            <a:pPr marL="457200" indent="-457200">
              <a:lnSpc>
                <a:spcPct val="150000"/>
              </a:lnSpc>
              <a:buFont typeface="+mj-ea"/>
              <a:buAutoNum type="circleNumDbPlain"/>
            </a:pPr>
            <a:r>
              <a:rPr lang="zh-CN" altLang="en-US" sz="2000" dirty="0"/>
              <a:t>对最佳模型执行超参数调整（</a:t>
            </a:r>
            <a:r>
              <a:rPr lang="zh-CN" altLang="en-US" sz="2000" b="1" dirty="0">
                <a:solidFill>
                  <a:schemeClr val="accent1"/>
                </a:solidFill>
              </a:rPr>
              <a:t>过拟合和欠拟合</a:t>
            </a:r>
            <a:r>
              <a:rPr lang="zh-CN" altLang="en-US" sz="2000" dirty="0"/>
              <a:t>）</a:t>
            </a:r>
            <a:endParaRPr lang="en-US" altLang="zh-CN" sz="2000" dirty="0"/>
          </a:p>
          <a:p>
            <a:pPr marL="457200" indent="-457200">
              <a:lnSpc>
                <a:spcPct val="150000"/>
              </a:lnSpc>
              <a:buFont typeface="+mj-ea"/>
              <a:buAutoNum type="circleNumDbPlain"/>
            </a:pPr>
            <a:r>
              <a:rPr lang="zh-CN" altLang="en-US" sz="2000" dirty="0"/>
              <a:t>在测试集上评估最佳模型</a:t>
            </a:r>
            <a:endParaRPr lang="en-US" altLang="zh-CN" sz="2000" dirty="0"/>
          </a:p>
          <a:p>
            <a:pPr marL="457200" indent="-457200">
              <a:lnSpc>
                <a:spcPct val="150000"/>
              </a:lnSpc>
              <a:buFont typeface="+mj-ea"/>
              <a:buAutoNum type="circleNumDbPlain"/>
            </a:pPr>
            <a:r>
              <a:rPr lang="zh-CN" altLang="en-US" sz="2000" b="1" dirty="0">
                <a:solidFill>
                  <a:schemeClr val="accent2"/>
                </a:solidFill>
              </a:rPr>
              <a:t>解释模型结果</a:t>
            </a:r>
            <a:endParaRPr lang="en-US" altLang="zh-CN" sz="2000" b="1" dirty="0">
              <a:solidFill>
                <a:schemeClr val="accent2"/>
              </a:solidFill>
            </a:endParaRPr>
          </a:p>
          <a:p>
            <a:pPr marL="457200" indent="-457200">
              <a:lnSpc>
                <a:spcPct val="150000"/>
              </a:lnSpc>
              <a:buFont typeface="+mj-ea"/>
              <a:buAutoNum type="circleNumDbPlain"/>
            </a:pPr>
            <a:r>
              <a:rPr lang="zh-CN" altLang="en-US" sz="2000" dirty="0"/>
              <a:t>得出结论</a:t>
            </a:r>
          </a:p>
        </p:txBody>
      </p:sp>
    </p:spTree>
    <p:extLst>
      <p:ext uri="{BB962C8B-B14F-4D97-AF65-F5344CB8AC3E}">
        <p14:creationId xmlns:p14="http://schemas.microsoft.com/office/powerpoint/2010/main" val="643545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4F844-1E7F-B59D-4434-4D7B015B586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8D8D055-395A-7C19-7C96-5A3BA92B6FCA}"/>
              </a:ext>
            </a:extLst>
          </p:cNvPr>
          <p:cNvSpPr>
            <a:spLocks noGrp="1"/>
          </p:cNvSpPr>
          <p:nvPr>
            <p:ph type="title"/>
          </p:nvPr>
        </p:nvSpPr>
        <p:spPr/>
        <p:txBody>
          <a:bodyPr numCol="1" anchorCtr="0" compatLnSpc="1"/>
          <a:lstStyle/>
          <a:p>
            <a:pPr fontAlgn="auto">
              <a:spcAft>
                <a:spcPts val="0"/>
              </a:spcAft>
              <a:defRPr/>
            </a:pPr>
            <a:r>
              <a:rPr lang="zh-CN" altLang="en-US" sz="2400" dirty="0">
                <a:solidFill>
                  <a:schemeClr val="tx2"/>
                </a:solidFill>
                <a:latin typeface="Times New Roman" panose="02020603050405020304" pitchFamily="18" charset="0"/>
                <a:ea typeface="楷体" panose="02010609060101010101" pitchFamily="49" charset="-122"/>
              </a:rPr>
              <a:t>机器学习步骤四：数据建模</a:t>
            </a:r>
            <a:r>
              <a:rPr lang="en-US" altLang="zh-CN" sz="2400" dirty="0">
                <a:solidFill>
                  <a:schemeClr val="tx2"/>
                </a:solidFill>
                <a:latin typeface="Times New Roman" panose="02020603050405020304" pitchFamily="18" charset="0"/>
                <a:ea typeface="楷体" panose="02010609060101010101" pitchFamily="49" charset="-122"/>
              </a:rPr>
              <a:t>——</a:t>
            </a:r>
            <a:r>
              <a:rPr lang="zh-CN" altLang="en-US" sz="2400" dirty="0">
                <a:solidFill>
                  <a:schemeClr val="tx2"/>
                </a:solidFill>
                <a:latin typeface="Times New Roman" panose="02020603050405020304" pitchFamily="18" charset="0"/>
                <a:ea typeface="楷体" panose="02010609060101010101" pitchFamily="49" charset="-122"/>
              </a:rPr>
              <a:t>分类评价指标</a:t>
            </a:r>
          </a:p>
        </p:txBody>
      </p:sp>
      <p:graphicFrame>
        <p:nvGraphicFramePr>
          <p:cNvPr id="3" name="表格 2">
            <a:extLst>
              <a:ext uri="{FF2B5EF4-FFF2-40B4-BE49-F238E27FC236}">
                <a16:creationId xmlns:a16="http://schemas.microsoft.com/office/drawing/2014/main" id="{E4B2C201-E3FD-1B65-CFBF-13D5FADC7225}"/>
              </a:ext>
            </a:extLst>
          </p:cNvPr>
          <p:cNvGraphicFramePr>
            <a:graphicFrameLocks noGrp="1"/>
          </p:cNvGraphicFramePr>
          <p:nvPr>
            <p:extLst>
              <p:ext uri="{D42A27DB-BD31-4B8C-83A1-F6EECF244321}">
                <p14:modId xmlns:p14="http://schemas.microsoft.com/office/powerpoint/2010/main" val="1419101440"/>
              </p:ext>
            </p:extLst>
          </p:nvPr>
        </p:nvGraphicFramePr>
        <p:xfrm>
          <a:off x="524885" y="1156835"/>
          <a:ext cx="4478770" cy="1857138"/>
        </p:xfrm>
        <a:graphic>
          <a:graphicData uri="http://schemas.openxmlformats.org/drawingml/2006/table">
            <a:tbl>
              <a:tblPr firstRow="1" firstCol="1" lastRow="1" lastCol="1">
                <a:tableStyleId>{8A107856-5554-42FB-B03E-39F5DBC370BA}</a:tableStyleId>
              </a:tblPr>
              <a:tblGrid>
                <a:gridCol w="1108393">
                  <a:extLst>
                    <a:ext uri="{9D8B030D-6E8A-4147-A177-3AD203B41FA5}">
                      <a16:colId xmlns:a16="http://schemas.microsoft.com/office/drawing/2014/main" val="1806163844"/>
                    </a:ext>
                  </a:extLst>
                </a:gridCol>
                <a:gridCol w="1130991">
                  <a:extLst>
                    <a:ext uri="{9D8B030D-6E8A-4147-A177-3AD203B41FA5}">
                      <a16:colId xmlns:a16="http://schemas.microsoft.com/office/drawing/2014/main" val="2202083762"/>
                    </a:ext>
                  </a:extLst>
                </a:gridCol>
                <a:gridCol w="1119693">
                  <a:extLst>
                    <a:ext uri="{9D8B030D-6E8A-4147-A177-3AD203B41FA5}">
                      <a16:colId xmlns:a16="http://schemas.microsoft.com/office/drawing/2014/main" val="3857944060"/>
                    </a:ext>
                  </a:extLst>
                </a:gridCol>
                <a:gridCol w="1119693">
                  <a:extLst>
                    <a:ext uri="{9D8B030D-6E8A-4147-A177-3AD203B41FA5}">
                      <a16:colId xmlns:a16="http://schemas.microsoft.com/office/drawing/2014/main" val="3110448570"/>
                    </a:ext>
                  </a:extLst>
                </a:gridCol>
              </a:tblGrid>
              <a:tr h="450558">
                <a:tc rowSpan="2" gridSpan="2">
                  <a:txBody>
                    <a:bodyPr/>
                    <a:lstStyle/>
                    <a:p>
                      <a:pPr marL="0" indent="0" algn="ctr" defTabSz="914400" rtl="0" eaLnBrk="1" latinLnBrk="0" hangingPunct="1">
                        <a:spcBef>
                          <a:spcPts val="180"/>
                        </a:spcBef>
                        <a:spcAft>
                          <a:spcPts val="180"/>
                        </a:spcAft>
                      </a:pPr>
                      <a:endParaRPr lang="zh-CN" altLang="en-US" sz="1600"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tc rowSpan="2" hMerge="1">
                  <a:txBody>
                    <a:bodyPr/>
                    <a:lstStyle/>
                    <a:p>
                      <a:endParaRPr lang="zh-CN" altLang="en-US"/>
                    </a:p>
                  </a:txBody>
                  <a:tcPr/>
                </a:tc>
                <a:tc gridSpan="2">
                  <a:txBody>
                    <a:bodyPr/>
                    <a:lstStyle/>
                    <a:p>
                      <a:pPr marL="0" indent="0" algn="ctr" defTabSz="914400" rtl="0" eaLnBrk="1" latinLnBrk="0" hangingPunct="1">
                        <a:spcBef>
                          <a:spcPts val="180"/>
                        </a:spcBef>
                        <a:spcAft>
                          <a:spcPts val="180"/>
                        </a:spcAft>
                      </a:pPr>
                      <a:r>
                        <a:rPr lang="en-US" sz="1600" kern="1200" baseline="0" dirty="0" err="1">
                          <a:solidFill>
                            <a:schemeClr val="tx1"/>
                          </a:solidFill>
                          <a:effectLst/>
                          <a:latin typeface="Times New Roman" panose="02020603050405020304" pitchFamily="18" charset="0"/>
                          <a:ea typeface="+mj-ea"/>
                          <a:cs typeface="+mn-cs"/>
                        </a:rPr>
                        <a:t>预测值</a:t>
                      </a:r>
                      <a:endParaRPr lang="zh-CN" altLang="en-US" sz="1600"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tc hMerge="1">
                  <a:txBody>
                    <a:bodyPr/>
                    <a:lstStyle/>
                    <a:p>
                      <a:endParaRPr lang="zh-CN" altLang="en-US"/>
                    </a:p>
                  </a:txBody>
                  <a:tcPr/>
                </a:tc>
                <a:extLst>
                  <a:ext uri="{0D108BD9-81ED-4DB2-BD59-A6C34878D82A}">
                    <a16:rowId xmlns:a16="http://schemas.microsoft.com/office/drawing/2014/main" val="2155779665"/>
                  </a:ext>
                </a:extLst>
              </a:tr>
              <a:tr h="486893">
                <a:tc gridSpan="2" vMerge="1">
                  <a:txBody>
                    <a:bodyPr/>
                    <a:lstStyle/>
                    <a:p>
                      <a:endParaRPr lang="zh-CN" altLang="en-US"/>
                    </a:p>
                  </a:txBody>
                  <a:tcPr/>
                </a:tc>
                <a:tc hMerge="1" vMerge="1">
                  <a:txBody>
                    <a:bodyPr/>
                    <a:lstStyle/>
                    <a:p>
                      <a:endParaRPr lang="zh-CN" altLang="en-US"/>
                    </a:p>
                  </a:txBody>
                  <a:tcPr/>
                </a:tc>
                <a:tc>
                  <a:txBody>
                    <a:bodyPr/>
                    <a:lstStyle/>
                    <a:p>
                      <a:pPr marL="0" indent="0" algn="ctr" defTabSz="914400" rtl="0" eaLnBrk="1" latinLnBrk="0" hangingPunct="1">
                        <a:spcBef>
                          <a:spcPts val="180"/>
                        </a:spcBef>
                        <a:spcAft>
                          <a:spcPts val="180"/>
                        </a:spcAft>
                      </a:pPr>
                      <a:r>
                        <a:rPr lang="en-US" sz="1600" b="1" kern="1200" baseline="0" dirty="0">
                          <a:solidFill>
                            <a:schemeClr val="tx1"/>
                          </a:solidFill>
                          <a:effectLst/>
                          <a:latin typeface="Times New Roman" panose="02020603050405020304" pitchFamily="18" charset="0"/>
                          <a:ea typeface="+mj-ea"/>
                          <a:cs typeface="+mn-cs"/>
                        </a:rPr>
                        <a:t>Positive</a:t>
                      </a:r>
                      <a:endParaRPr lang="zh-CN" altLang="en-US" sz="1600" b="1"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tc>
                  <a:txBody>
                    <a:bodyPr/>
                    <a:lstStyle/>
                    <a:p>
                      <a:pPr marL="0" indent="0" algn="ctr" defTabSz="914400" rtl="0" eaLnBrk="1" latinLnBrk="0" hangingPunct="1">
                        <a:spcBef>
                          <a:spcPts val="180"/>
                        </a:spcBef>
                        <a:spcAft>
                          <a:spcPts val="180"/>
                        </a:spcAft>
                      </a:pPr>
                      <a:r>
                        <a:rPr lang="en-US" sz="1600" kern="1200" baseline="0" dirty="0" err="1">
                          <a:solidFill>
                            <a:schemeClr val="tx1"/>
                          </a:solidFill>
                          <a:effectLst/>
                          <a:latin typeface="Times New Roman" panose="02020603050405020304" pitchFamily="18" charset="0"/>
                          <a:ea typeface="+mj-ea"/>
                          <a:cs typeface="+mn-cs"/>
                        </a:rPr>
                        <a:t>Negtive</a:t>
                      </a:r>
                      <a:endParaRPr lang="zh-CN" altLang="en-US" sz="1600"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extLst>
                  <a:ext uri="{0D108BD9-81ED-4DB2-BD59-A6C34878D82A}">
                    <a16:rowId xmlns:a16="http://schemas.microsoft.com/office/drawing/2014/main" val="1689687978"/>
                  </a:ext>
                </a:extLst>
              </a:tr>
              <a:tr h="450558">
                <a:tc rowSpan="2">
                  <a:txBody>
                    <a:bodyPr/>
                    <a:lstStyle/>
                    <a:p>
                      <a:pPr marL="0" indent="0" algn="ctr" defTabSz="914400" rtl="0" eaLnBrk="1" latinLnBrk="0" hangingPunct="1">
                        <a:spcBef>
                          <a:spcPts val="180"/>
                        </a:spcBef>
                        <a:spcAft>
                          <a:spcPts val="180"/>
                        </a:spcAft>
                      </a:pPr>
                      <a:r>
                        <a:rPr lang="en-US" sz="1600" kern="1200" baseline="0" dirty="0" err="1">
                          <a:solidFill>
                            <a:schemeClr val="tx1"/>
                          </a:solidFill>
                          <a:effectLst/>
                          <a:latin typeface="Times New Roman" panose="02020603050405020304" pitchFamily="18" charset="0"/>
                          <a:ea typeface="+mj-ea"/>
                          <a:cs typeface="+mn-cs"/>
                        </a:rPr>
                        <a:t>实际值</a:t>
                      </a:r>
                      <a:endParaRPr lang="zh-CN" altLang="en-US" sz="1600"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tc>
                  <a:txBody>
                    <a:bodyPr/>
                    <a:lstStyle/>
                    <a:p>
                      <a:pPr marL="0" indent="0" algn="ctr" defTabSz="914400" rtl="0" eaLnBrk="1" latinLnBrk="0" hangingPunct="1">
                        <a:spcBef>
                          <a:spcPts val="180"/>
                        </a:spcBef>
                        <a:spcAft>
                          <a:spcPts val="180"/>
                        </a:spcAft>
                      </a:pPr>
                      <a:r>
                        <a:rPr lang="en-US" sz="1600" b="1" kern="1200" baseline="0" dirty="0">
                          <a:solidFill>
                            <a:schemeClr val="tx1"/>
                          </a:solidFill>
                          <a:effectLst/>
                          <a:latin typeface="Times New Roman" panose="02020603050405020304" pitchFamily="18" charset="0"/>
                          <a:ea typeface="+mj-ea"/>
                          <a:cs typeface="+mn-cs"/>
                        </a:rPr>
                        <a:t>Positive</a:t>
                      </a:r>
                      <a:endParaRPr lang="zh-CN" altLang="en-US" sz="1600" b="1"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tc>
                  <a:txBody>
                    <a:bodyPr/>
                    <a:lstStyle/>
                    <a:p>
                      <a:pPr marL="0" indent="0" algn="ctr" defTabSz="914400" rtl="0" eaLnBrk="1" latinLnBrk="0" hangingPunct="1">
                        <a:spcBef>
                          <a:spcPts val="180"/>
                        </a:spcBef>
                        <a:spcAft>
                          <a:spcPts val="180"/>
                        </a:spcAft>
                      </a:pPr>
                      <a:r>
                        <a:rPr lang="en-US" sz="1600" b="1" kern="1200" baseline="0" dirty="0" err="1">
                          <a:solidFill>
                            <a:schemeClr val="tx1"/>
                          </a:solidFill>
                          <a:effectLst/>
                          <a:latin typeface="Times New Roman" panose="02020603050405020304" pitchFamily="18" charset="0"/>
                          <a:ea typeface="+mj-ea"/>
                          <a:cs typeface="+mn-cs"/>
                        </a:rPr>
                        <a:t>TP</a:t>
                      </a:r>
                      <a:endParaRPr lang="zh-CN" altLang="en-US" sz="1600" b="1"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tc>
                  <a:txBody>
                    <a:bodyPr/>
                    <a:lstStyle/>
                    <a:p>
                      <a:pPr marL="0" indent="0" algn="ctr" defTabSz="914400" rtl="0" eaLnBrk="1" latinLnBrk="0" hangingPunct="1">
                        <a:spcBef>
                          <a:spcPts val="180"/>
                        </a:spcBef>
                        <a:spcAft>
                          <a:spcPts val="180"/>
                        </a:spcAft>
                      </a:pPr>
                      <a:r>
                        <a:rPr lang="en-US" sz="1600" kern="1200" baseline="0" dirty="0">
                          <a:solidFill>
                            <a:schemeClr val="tx1"/>
                          </a:solidFill>
                          <a:effectLst/>
                          <a:latin typeface="Times New Roman" panose="02020603050405020304" pitchFamily="18" charset="0"/>
                          <a:ea typeface="+mj-ea"/>
                          <a:cs typeface="+mn-cs"/>
                        </a:rPr>
                        <a:t>FN</a:t>
                      </a:r>
                      <a:endParaRPr lang="zh-CN" altLang="en-US" sz="1600"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extLst>
                  <a:ext uri="{0D108BD9-81ED-4DB2-BD59-A6C34878D82A}">
                    <a16:rowId xmlns:a16="http://schemas.microsoft.com/office/drawing/2014/main" val="1775348197"/>
                  </a:ext>
                </a:extLst>
              </a:tr>
              <a:tr h="469129">
                <a:tc vMerge="1">
                  <a:txBody>
                    <a:bodyPr/>
                    <a:lstStyle/>
                    <a:p>
                      <a:endParaRPr lang="zh-CN" altLang="en-US"/>
                    </a:p>
                  </a:txBody>
                  <a:tcPr/>
                </a:tc>
                <a:tc>
                  <a:txBody>
                    <a:bodyPr/>
                    <a:lstStyle/>
                    <a:p>
                      <a:pPr marL="0" indent="0" algn="ctr" defTabSz="914400" rtl="0" eaLnBrk="1" latinLnBrk="0" hangingPunct="1">
                        <a:spcBef>
                          <a:spcPts val="180"/>
                        </a:spcBef>
                        <a:spcAft>
                          <a:spcPts val="180"/>
                        </a:spcAft>
                      </a:pPr>
                      <a:r>
                        <a:rPr lang="en-US" sz="1600" kern="1200" baseline="0" dirty="0" err="1">
                          <a:solidFill>
                            <a:schemeClr val="tx1"/>
                          </a:solidFill>
                          <a:effectLst/>
                          <a:latin typeface="Times New Roman" panose="02020603050405020304" pitchFamily="18" charset="0"/>
                          <a:ea typeface="+mj-ea"/>
                          <a:cs typeface="+mn-cs"/>
                        </a:rPr>
                        <a:t>Negtive</a:t>
                      </a:r>
                      <a:endParaRPr lang="zh-CN" altLang="en-US" sz="1600"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tc>
                  <a:txBody>
                    <a:bodyPr/>
                    <a:lstStyle/>
                    <a:p>
                      <a:pPr marL="0" indent="0" algn="ctr" defTabSz="914400" rtl="0" eaLnBrk="1" latinLnBrk="0" hangingPunct="1">
                        <a:spcBef>
                          <a:spcPts val="180"/>
                        </a:spcBef>
                        <a:spcAft>
                          <a:spcPts val="180"/>
                        </a:spcAft>
                      </a:pPr>
                      <a:r>
                        <a:rPr lang="en-US" sz="1600" kern="1200" baseline="0" dirty="0">
                          <a:solidFill>
                            <a:schemeClr val="tx1"/>
                          </a:solidFill>
                          <a:effectLst/>
                          <a:latin typeface="Times New Roman" panose="02020603050405020304" pitchFamily="18" charset="0"/>
                          <a:ea typeface="+mj-ea"/>
                          <a:cs typeface="+mn-cs"/>
                        </a:rPr>
                        <a:t>FP</a:t>
                      </a:r>
                      <a:endParaRPr lang="zh-CN" altLang="en-US" sz="1600"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tc>
                  <a:txBody>
                    <a:bodyPr/>
                    <a:lstStyle/>
                    <a:p>
                      <a:pPr marL="0" indent="0" algn="ctr" defTabSz="914400" rtl="0" eaLnBrk="1" latinLnBrk="0" hangingPunct="1">
                        <a:spcBef>
                          <a:spcPts val="180"/>
                        </a:spcBef>
                        <a:spcAft>
                          <a:spcPts val="180"/>
                        </a:spcAft>
                      </a:pPr>
                      <a:r>
                        <a:rPr lang="en-US" sz="1600" kern="1200" baseline="0" dirty="0">
                          <a:solidFill>
                            <a:schemeClr val="tx1"/>
                          </a:solidFill>
                          <a:effectLst/>
                          <a:latin typeface="Times New Roman" panose="02020603050405020304" pitchFamily="18" charset="0"/>
                          <a:ea typeface="+mj-ea"/>
                          <a:cs typeface="+mn-cs"/>
                        </a:rPr>
                        <a:t>TN</a:t>
                      </a:r>
                      <a:endParaRPr lang="zh-CN" altLang="en-US" sz="1600" kern="1200" baseline="0" dirty="0">
                        <a:solidFill>
                          <a:schemeClr val="tx1"/>
                        </a:solidFill>
                        <a:effectLst/>
                        <a:latin typeface="Times New Roman" panose="02020603050405020304" pitchFamily="18" charset="0"/>
                        <a:ea typeface="+mj-ea"/>
                        <a:cs typeface="+mn-cs"/>
                      </a:endParaRPr>
                    </a:p>
                  </a:txBody>
                  <a:tcPr marL="68580" marR="68580" marT="0" marB="0" anchor="ctr">
                    <a:noFill/>
                  </a:tcPr>
                </a:tc>
                <a:extLst>
                  <a:ext uri="{0D108BD9-81ED-4DB2-BD59-A6C34878D82A}">
                    <a16:rowId xmlns:a16="http://schemas.microsoft.com/office/drawing/2014/main" val="3189960408"/>
                  </a:ext>
                </a:extLst>
              </a:tr>
            </a:tbl>
          </a:graphicData>
        </a:graphic>
      </p:graphicFrame>
      <p:sp>
        <p:nvSpPr>
          <p:cNvPr id="4" name="矩形 3">
            <a:extLst>
              <a:ext uri="{FF2B5EF4-FFF2-40B4-BE49-F238E27FC236}">
                <a16:creationId xmlns:a16="http://schemas.microsoft.com/office/drawing/2014/main" id="{51BD0B28-11EA-5B37-8888-DFFEE7B8FD2A}"/>
              </a:ext>
            </a:extLst>
          </p:cNvPr>
          <p:cNvSpPr/>
          <p:nvPr/>
        </p:nvSpPr>
        <p:spPr>
          <a:xfrm>
            <a:off x="5173085" y="1028814"/>
            <a:ext cx="3810000" cy="2308324"/>
          </a:xfrm>
          <a:prstGeom prst="rect">
            <a:avLst/>
          </a:prstGeom>
        </p:spPr>
        <p:txBody>
          <a:bodyPr wrap="square">
            <a:spAutoFit/>
          </a:bodyPr>
          <a:lstStyle/>
          <a:p>
            <a:pPr marL="342900" indent="-342900" algn="just">
              <a:spcAft>
                <a:spcPts val="0"/>
              </a:spcAft>
              <a:buFont typeface="Wingdings" panose="05000000000000000000" pitchFamily="2" charset="2"/>
              <a:buChar char="l"/>
            </a:pP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正确肯定</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kern="100" dirty="0">
                <a:latin typeface="Times New Roman" panose="02020603050405020304" pitchFamily="18" charset="0"/>
                <a:ea typeface="楷体" panose="02010609060101010101" pitchFamily="49" charset="-122"/>
                <a:cs typeface="Times New Roman" panose="02020603050405020304" pitchFamily="18" charset="0"/>
              </a:rPr>
              <a:t>True </a:t>
            </a:r>
            <a:r>
              <a:rPr lang="en-US" altLang="zh-CN" b="1" kern="100" dirty="0" err="1">
                <a:latin typeface="Times New Roman" panose="02020603050405020304" pitchFamily="18" charset="0"/>
                <a:ea typeface="楷体" panose="02010609060101010101" pitchFamily="49" charset="-122"/>
                <a:cs typeface="Times New Roman" panose="02020603050405020304" pitchFamily="18" charset="0"/>
              </a:rPr>
              <a:t>Positive,TP</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预测为真，实际为真</a:t>
            </a:r>
            <a:endParaRPr lang="en-US" altLang="zh-CN" kern="1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spcAft>
                <a:spcPts val="0"/>
              </a:spcAft>
              <a:buFont typeface="Wingdings" panose="05000000000000000000" pitchFamily="2" charset="2"/>
              <a:buChar char="l"/>
            </a:pP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正确否定</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kern="100" dirty="0">
                <a:latin typeface="Times New Roman" panose="02020603050405020304" pitchFamily="18" charset="0"/>
                <a:ea typeface="楷体" panose="02010609060101010101" pitchFamily="49" charset="-122"/>
                <a:cs typeface="Times New Roman" panose="02020603050405020304" pitchFamily="18" charset="0"/>
              </a:rPr>
              <a:t>True </a:t>
            </a:r>
            <a:r>
              <a:rPr lang="en-US" altLang="zh-CN" b="1" kern="100" dirty="0" err="1">
                <a:latin typeface="Times New Roman" panose="02020603050405020304" pitchFamily="18" charset="0"/>
                <a:ea typeface="楷体" panose="02010609060101010101" pitchFamily="49" charset="-122"/>
                <a:cs typeface="Times New Roman" panose="02020603050405020304" pitchFamily="18" charset="0"/>
              </a:rPr>
              <a:t>Negative,TN</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）：预测为假，实际为假</a:t>
            </a:r>
            <a:endParaRPr lang="en-US" altLang="zh-CN" kern="1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spcAft>
                <a:spcPts val="0"/>
              </a:spcAft>
              <a:buFont typeface="Wingdings" panose="05000000000000000000" pitchFamily="2" charset="2"/>
              <a:buChar char="l"/>
            </a:pP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错误肯定</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kern="100" dirty="0">
                <a:latin typeface="Times New Roman" panose="02020603050405020304" pitchFamily="18" charset="0"/>
                <a:ea typeface="楷体" panose="02010609060101010101" pitchFamily="49" charset="-122"/>
                <a:cs typeface="Times New Roman" panose="02020603050405020304" pitchFamily="18" charset="0"/>
              </a:rPr>
              <a:t>False </a:t>
            </a:r>
            <a:r>
              <a:rPr lang="en-US" altLang="zh-CN" b="1" kern="100" dirty="0" err="1">
                <a:latin typeface="Times New Roman" panose="02020603050405020304" pitchFamily="18" charset="0"/>
                <a:ea typeface="楷体" panose="02010609060101010101" pitchFamily="49" charset="-122"/>
                <a:cs typeface="Times New Roman" panose="02020603050405020304" pitchFamily="18" charset="0"/>
              </a:rPr>
              <a:t>Positive,FP</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预测为真，实际为假</a:t>
            </a:r>
            <a:endParaRPr lang="en-US" altLang="zh-CN" kern="1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spcAft>
                <a:spcPts val="0"/>
              </a:spcAft>
              <a:buFont typeface="Wingdings" panose="05000000000000000000" pitchFamily="2" charset="2"/>
              <a:buChar char="l"/>
            </a:pPr>
            <a:r>
              <a:rPr lang="en-US" altLang="zh-CN" kern="1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kern="100" dirty="0">
                <a:latin typeface="Times New Roman" panose="02020603050405020304" pitchFamily="18" charset="0"/>
                <a:ea typeface="楷体" panose="02010609060101010101" pitchFamily="49" charset="-122"/>
                <a:cs typeface="Times New Roman" panose="02020603050405020304" pitchFamily="18" charset="0"/>
              </a:rPr>
              <a:t>错误否定</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kern="100" dirty="0">
                <a:latin typeface="Times New Roman" panose="02020603050405020304" pitchFamily="18" charset="0"/>
                <a:ea typeface="楷体" panose="02010609060101010101" pitchFamily="49" charset="-122"/>
                <a:cs typeface="Times New Roman" panose="02020603050405020304" pitchFamily="18" charset="0"/>
              </a:rPr>
              <a:t>False </a:t>
            </a:r>
            <a:r>
              <a:rPr lang="en-US" altLang="zh-CN" b="1" kern="100" dirty="0" err="1">
                <a:latin typeface="Times New Roman" panose="02020603050405020304" pitchFamily="18" charset="0"/>
                <a:ea typeface="楷体" panose="02010609060101010101" pitchFamily="49" charset="-122"/>
                <a:cs typeface="Times New Roman" panose="02020603050405020304" pitchFamily="18" charset="0"/>
              </a:rPr>
              <a:t>Negative,FN</a:t>
            </a:r>
            <a:r>
              <a:rPr lang="zh-CN" altLang="zh-CN" kern="100" dirty="0">
                <a:latin typeface="Times New Roman" panose="02020603050405020304" pitchFamily="18" charset="0"/>
                <a:ea typeface="楷体" panose="02010609060101010101" pitchFamily="49" charset="-122"/>
                <a:cs typeface="Times New Roman" panose="02020603050405020304" pitchFamily="18" charset="0"/>
              </a:rPr>
              <a:t>）：预测为假，实际为真</a:t>
            </a:r>
            <a:endParaRPr lang="en-US" altLang="zh-CN" kern="1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558BC821-8E19-C7D7-73C0-0BB5C12DEA11}"/>
              </a:ext>
            </a:extLst>
          </p:cNvPr>
          <p:cNvSpPr/>
          <p:nvPr/>
        </p:nvSpPr>
        <p:spPr>
          <a:xfrm>
            <a:off x="562985" y="1245685"/>
            <a:ext cx="2286000" cy="646331"/>
          </a:xfrm>
          <a:prstGeom prst="rect">
            <a:avLst/>
          </a:prstGeom>
        </p:spPr>
        <p:txBody>
          <a:bodyPr wrap="square">
            <a:spAutoFit/>
          </a:bodyPr>
          <a:lstStyle/>
          <a:p>
            <a:pPr algn="ctr">
              <a:spcBef>
                <a:spcPts val="180"/>
              </a:spcBef>
              <a:spcAft>
                <a:spcPts val="180"/>
              </a:spcAft>
            </a:pPr>
            <a:r>
              <a:rPr lang="zh-CN" altLang="zh-CN" dirty="0">
                <a:latin typeface="Times New Roman" panose="02020603050405020304" pitchFamily="18" charset="0"/>
                <a:ea typeface="楷体" panose="02010609060101010101" pitchFamily="49" charset="-122"/>
              </a:rPr>
              <a:t>混淆矩阵</a:t>
            </a:r>
            <a:r>
              <a:rPr lang="zh-CN" altLang="en-US" b="1" dirty="0">
                <a:latin typeface="Times New Roman" panose="02020603050405020304" pitchFamily="18" charset="0"/>
                <a:ea typeface="楷体" panose="02010609060101010101" pitchFamily="49" charset="-122"/>
              </a:rPr>
              <a:t>（</a:t>
            </a:r>
            <a:r>
              <a:rPr lang="en-US" altLang="zh-CN" b="1" dirty="0" err="1">
                <a:latin typeface="Times New Roman" panose="02020603050405020304" pitchFamily="18" charset="0"/>
                <a:ea typeface="楷体" panose="02010609060101010101" pitchFamily="49" charset="-122"/>
              </a:rPr>
              <a:t>confusion_matrix</a:t>
            </a:r>
            <a:r>
              <a:rPr lang="zh-CN" altLang="en-US" b="1" dirty="0">
                <a:latin typeface="Times New Roman" panose="02020603050405020304" pitchFamily="18" charset="0"/>
                <a:ea typeface="楷体" panose="02010609060101010101" pitchFamily="49" charset="-122"/>
              </a:rPr>
              <a:t>）</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EC6EB58-BCFC-F352-FF33-7576F5D3AC48}"/>
                  </a:ext>
                </a:extLst>
              </p:cNvPr>
              <p:cNvSpPr txBox="1"/>
              <p:nvPr/>
            </p:nvSpPr>
            <p:spPr>
              <a:xfrm>
                <a:off x="1143000" y="3408759"/>
                <a:ext cx="6858000" cy="302339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zh-CN" altLang="en-US" i="1">
                              <a:latin typeface="Cambria Math" panose="02040503050406030204" pitchFamily="18" charset="0"/>
                            </a:rPr>
                            <m:t>准确率</m:t>
                          </m:r>
                        </m:e>
                      </m:d>
                      <m:r>
                        <a:rPr lang="en-US" altLang="zh-CN" b="0" i="0" smtClean="0">
                          <a:latin typeface="Cambria Math" panose="02040503050406030204" pitchFamily="18" charset="0"/>
                        </a:rPr>
                        <m:t> </m:t>
                      </m:r>
                      <m:r>
                        <m:rPr>
                          <m:sty m:val="p"/>
                        </m:rPr>
                        <a:rPr lang="zh-CN" altLang="en-US" smtClean="0">
                          <a:latin typeface="Cambria Math" panose="02040503050406030204" pitchFamily="18" charset="0"/>
                        </a:rPr>
                        <m:t>A</m:t>
                      </m:r>
                      <m:r>
                        <m:rPr>
                          <m:sty m:val="p"/>
                        </m:rPr>
                        <a:rPr lang="zh-CN" altLang="en-US" i="0">
                          <a:latin typeface="Cambria Math" panose="02040503050406030204" pitchFamily="18" charset="0"/>
                        </a:rPr>
                        <m:t>ccuracy</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m:rPr>
                              <m:sty m:val="p"/>
                            </m:rPr>
                            <a:rPr lang="zh-CN" altLang="en-US" i="0">
                              <a:latin typeface="Cambria Math" panose="02040503050406030204" pitchFamily="18" charset="0"/>
                            </a:rPr>
                            <m:t>TP</m:t>
                          </m:r>
                          <m:r>
                            <a:rPr lang="zh-CN" altLang="en-US" i="0">
                              <a:latin typeface="Cambria Math" panose="02040503050406030204" pitchFamily="18" charset="0"/>
                            </a:rPr>
                            <m:t>+</m:t>
                          </m:r>
                          <m:r>
                            <m:rPr>
                              <m:sty m:val="p"/>
                            </m:rPr>
                            <a:rPr lang="zh-CN" altLang="en-US" i="0">
                              <a:latin typeface="Cambria Math" panose="02040503050406030204" pitchFamily="18" charset="0"/>
                            </a:rPr>
                            <m:t>TN</m:t>
                          </m:r>
                        </m:num>
                        <m:den>
                          <m:r>
                            <m:rPr>
                              <m:sty m:val="p"/>
                            </m:rPr>
                            <a:rPr lang="zh-CN" altLang="en-US" i="0">
                              <a:latin typeface="Cambria Math" panose="02040503050406030204" pitchFamily="18" charset="0"/>
                            </a:rPr>
                            <m:t>TP</m:t>
                          </m:r>
                          <m:r>
                            <a:rPr lang="zh-CN" altLang="en-US" i="0">
                              <a:latin typeface="Cambria Math" panose="02040503050406030204" pitchFamily="18" charset="0"/>
                            </a:rPr>
                            <m:t>+</m:t>
                          </m:r>
                          <m:r>
                            <m:rPr>
                              <m:sty m:val="p"/>
                            </m:rPr>
                            <a:rPr lang="zh-CN" altLang="en-US" i="0">
                              <a:latin typeface="Cambria Math" panose="02040503050406030204" pitchFamily="18" charset="0"/>
                            </a:rPr>
                            <m:t>TN</m:t>
                          </m:r>
                          <m:r>
                            <a:rPr lang="zh-CN" altLang="en-US" i="0">
                              <a:latin typeface="Cambria Math" panose="02040503050406030204" pitchFamily="18" charset="0"/>
                            </a:rPr>
                            <m:t>+</m:t>
                          </m:r>
                          <m:r>
                            <m:rPr>
                              <m:sty m:val="p"/>
                            </m:rPr>
                            <a:rPr lang="zh-CN" altLang="en-US" i="0">
                              <a:latin typeface="Cambria Math" panose="02040503050406030204" pitchFamily="18" charset="0"/>
                            </a:rPr>
                            <m:t>FP</m:t>
                          </m:r>
                          <m:r>
                            <a:rPr lang="zh-CN" altLang="en-US" i="0">
                              <a:latin typeface="Cambria Math" panose="02040503050406030204" pitchFamily="18" charset="0"/>
                            </a:rPr>
                            <m:t>+</m:t>
                          </m:r>
                          <m:r>
                            <m:rPr>
                              <m:sty m:val="p"/>
                            </m:rPr>
                            <a:rPr lang="zh-CN" altLang="en-US" i="0">
                              <a:latin typeface="Cambria Math" panose="02040503050406030204" pitchFamily="18" charset="0"/>
                            </a:rPr>
                            <m:t>FN</m:t>
                          </m:r>
                        </m:den>
                      </m:f>
                    </m:oMath>
                  </m:oMathPara>
                </a14:m>
                <a:endParaRPr lang="en-US" altLang="zh-CN" i="1" dirty="0">
                  <a:latin typeface="Times New Roman" panose="02020603050405020304" pitchFamily="18" charset="0"/>
                  <a:ea typeface="楷体" panose="02010609060101010101" pitchFamily="49" charset="-122"/>
                </a:endParaRPr>
              </a:p>
              <a:p>
                <a:pPr algn="ctr"/>
                <a:endParaRPr lang="en-US" altLang="zh-CN" i="1" dirty="0">
                  <a:latin typeface="Times New Roman" panose="02020603050405020304" pitchFamily="18" charset="0"/>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d>
                        <m:dPr>
                          <m:ctrlPr>
                            <a:rPr lang="en-US" altLang="zh-CN" i="1" smtClean="0">
                              <a:latin typeface="Cambria Math" panose="02040503050406030204" pitchFamily="18" charset="0"/>
                            </a:rPr>
                          </m:ctrlPr>
                        </m:dPr>
                        <m:e>
                          <m:r>
                            <a:rPr lang="zh-CN" altLang="en-US" i="1">
                              <a:latin typeface="Cambria Math" panose="02040503050406030204" pitchFamily="18" charset="0"/>
                            </a:rPr>
                            <m:t>精确率</m:t>
                          </m:r>
                        </m:e>
                      </m:d>
                      <m:r>
                        <a:rPr lang="en-US" altLang="zh-CN" b="0" i="1" smtClean="0">
                          <a:latin typeface="Cambria Math" panose="02040503050406030204" pitchFamily="18" charset="0"/>
                        </a:rPr>
                        <m:t> </m:t>
                      </m:r>
                      <m:r>
                        <m:rPr>
                          <m:sty m:val="p"/>
                        </m:rPr>
                        <a:rPr lang="zh-CN" altLang="en-US" smtClean="0">
                          <a:latin typeface="Cambria Math" panose="02040503050406030204" pitchFamily="18" charset="0"/>
                        </a:rPr>
                        <m:t>P</m:t>
                      </m:r>
                      <m:r>
                        <m:rPr>
                          <m:sty m:val="p"/>
                        </m:rPr>
                        <a:rPr lang="zh-CN" altLang="en-US" i="0">
                          <a:latin typeface="Cambria Math" panose="02040503050406030204" pitchFamily="18" charset="0"/>
                        </a:rPr>
                        <m:t>recision</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m:rPr>
                              <m:sty m:val="p"/>
                            </m:rPr>
                            <a:rPr lang="zh-CN" altLang="en-US" i="0">
                              <a:latin typeface="Cambria Math" panose="02040503050406030204" pitchFamily="18" charset="0"/>
                            </a:rPr>
                            <m:t>TP</m:t>
                          </m:r>
                        </m:num>
                        <m:den>
                          <m:r>
                            <m:rPr>
                              <m:sty m:val="p"/>
                            </m:rPr>
                            <a:rPr lang="zh-CN" altLang="en-US" i="0">
                              <a:latin typeface="Cambria Math" panose="02040503050406030204" pitchFamily="18" charset="0"/>
                            </a:rPr>
                            <m:t>TP</m:t>
                          </m:r>
                          <m:r>
                            <a:rPr lang="zh-CN" altLang="en-US" i="0">
                              <a:latin typeface="Cambria Math" panose="02040503050406030204" pitchFamily="18" charset="0"/>
                            </a:rPr>
                            <m:t>+</m:t>
                          </m:r>
                          <m:r>
                            <m:rPr>
                              <m:sty m:val="p"/>
                            </m:rPr>
                            <a:rPr lang="zh-CN" altLang="en-US" i="0">
                              <a:latin typeface="Cambria Math" panose="02040503050406030204" pitchFamily="18" charset="0"/>
                            </a:rPr>
                            <m:t>FP</m:t>
                          </m:r>
                        </m:den>
                      </m:f>
                    </m:oMath>
                  </m:oMathPara>
                </a14:m>
                <a:endParaRPr lang="en-US" altLang="zh-CN" dirty="0">
                  <a:latin typeface="Times New Roman" panose="02020603050405020304" pitchFamily="18" charset="0"/>
                  <a:ea typeface="楷体" panose="02010609060101010101" pitchFamily="49" charset="-122"/>
                </a:endParaRPr>
              </a:p>
              <a:p>
                <a:pPr algn="ctr"/>
                <a:endParaRPr lang="en-US" altLang="zh-CN" dirty="0">
                  <a:latin typeface="Times New Roman" panose="02020603050405020304" pitchFamily="18" charset="0"/>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d>
                        <m:dPr>
                          <m:ctrlPr>
                            <a:rPr lang="en-US" altLang="zh-CN" i="1" smtClean="0">
                              <a:latin typeface="Cambria Math" panose="02040503050406030204" pitchFamily="18" charset="0"/>
                            </a:rPr>
                          </m:ctrlPr>
                        </m:dPr>
                        <m:e>
                          <m:r>
                            <a:rPr lang="zh-CN" altLang="en-US" i="1">
                              <a:latin typeface="Cambria Math" panose="02040503050406030204" pitchFamily="18" charset="0"/>
                            </a:rPr>
                            <m:t>召回率</m:t>
                          </m:r>
                        </m:e>
                      </m:d>
                      <m:r>
                        <a:rPr lang="en-US" altLang="zh-CN" b="0" i="1" smtClean="0">
                          <a:latin typeface="Cambria Math" panose="02040503050406030204" pitchFamily="18" charset="0"/>
                        </a:rPr>
                        <m:t>       </m:t>
                      </m:r>
                      <m:r>
                        <m:rPr>
                          <m:sty m:val="p"/>
                        </m:rPr>
                        <a:rPr lang="zh-CN" altLang="en-US" smtClean="0">
                          <a:latin typeface="Cambria Math" panose="02040503050406030204" pitchFamily="18" charset="0"/>
                        </a:rPr>
                        <m:t>R</m:t>
                      </m:r>
                      <m:r>
                        <m:rPr>
                          <m:sty m:val="p"/>
                        </m:rPr>
                        <a:rPr lang="zh-CN" altLang="en-US" i="0">
                          <a:latin typeface="Cambria Math" panose="02040503050406030204" pitchFamily="18" charset="0"/>
                        </a:rPr>
                        <m:t>ecall</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m:rPr>
                              <m:sty m:val="p"/>
                            </m:rPr>
                            <a:rPr lang="zh-CN" altLang="en-US" i="0">
                              <a:latin typeface="Cambria Math" panose="02040503050406030204" pitchFamily="18" charset="0"/>
                            </a:rPr>
                            <m:t>TP</m:t>
                          </m:r>
                        </m:num>
                        <m:den>
                          <m:r>
                            <m:rPr>
                              <m:sty m:val="p"/>
                            </m:rPr>
                            <a:rPr lang="zh-CN" altLang="en-US" i="0">
                              <a:latin typeface="Cambria Math" panose="02040503050406030204" pitchFamily="18" charset="0"/>
                            </a:rPr>
                            <m:t>TP</m:t>
                          </m:r>
                          <m:r>
                            <a:rPr lang="zh-CN" altLang="en-US" i="0">
                              <a:latin typeface="Cambria Math" panose="02040503050406030204" pitchFamily="18" charset="0"/>
                            </a:rPr>
                            <m:t>+</m:t>
                          </m:r>
                          <m:r>
                            <m:rPr>
                              <m:sty m:val="p"/>
                            </m:rPr>
                            <a:rPr lang="zh-CN" altLang="en-US" i="0">
                              <a:latin typeface="Cambria Math" panose="02040503050406030204" pitchFamily="18" charset="0"/>
                            </a:rPr>
                            <m:t>FN</m:t>
                          </m:r>
                        </m:den>
                      </m:f>
                    </m:oMath>
                  </m:oMathPara>
                </a14:m>
                <a:endParaRPr lang="en-US" altLang="zh-CN" dirty="0">
                  <a:latin typeface="Times New Roman" panose="02020603050405020304" pitchFamily="18" charset="0"/>
                  <a:ea typeface="楷体" panose="02010609060101010101" pitchFamily="49" charset="-122"/>
                </a:endParaRPr>
              </a:p>
              <a:p>
                <a:pPr algn="ctr"/>
                <a:endParaRPr lang="en-US" altLang="zh-CN" dirty="0">
                  <a:latin typeface="Times New Roman" panose="02020603050405020304" pitchFamily="18" charset="0"/>
                  <a:ea typeface="楷体" panose="02010609060101010101" pitchFamily="49" charset="-122"/>
                </a:endParaRPr>
              </a:p>
              <a:p>
                <a:pPr algn="ctr"/>
                <a14:m>
                  <m:oMathPara xmlns:m="http://schemas.openxmlformats.org/officeDocument/2006/math">
                    <m:oMathParaPr>
                      <m:jc m:val="centerGroup"/>
                    </m:oMathParaPr>
                    <m:oMath xmlns:m="http://schemas.openxmlformats.org/officeDocument/2006/math">
                      <m:d>
                        <m:dPr>
                          <m:ctrlPr>
                            <a:rPr lang="en-US" altLang="zh-CN" i="1" smtClean="0">
                              <a:latin typeface="Cambria Math" panose="02040503050406030204" pitchFamily="18" charset="0"/>
                            </a:rPr>
                          </m:ctrlPr>
                        </m:dPr>
                        <m:e>
                          <m:r>
                            <m:rPr>
                              <m:sty m:val="p"/>
                            </m:rPr>
                            <a:rPr lang="zh-CN" altLang="en-US">
                              <a:latin typeface="Cambria Math" panose="02040503050406030204" pitchFamily="18" charset="0"/>
                            </a:rPr>
                            <m:t>F</m:t>
                          </m:r>
                          <m:r>
                            <a:rPr lang="zh-CN" altLang="en-US">
                              <a:latin typeface="Cambria Math" panose="02040503050406030204" pitchFamily="18" charset="0"/>
                            </a:rPr>
                            <m:t>1 </m:t>
                          </m:r>
                          <m:r>
                            <m:rPr>
                              <m:sty m:val="p"/>
                            </m:rPr>
                            <a:rPr lang="en-US" altLang="zh-CN" i="1">
                              <a:latin typeface="Cambria Math" panose="02040503050406030204" pitchFamily="18" charset="0"/>
                            </a:rPr>
                            <m:t>score</m:t>
                          </m:r>
                        </m:e>
                      </m:d>
                      <m:r>
                        <a:rPr lang="en-US" altLang="zh-CN" b="0" i="1" smtClean="0">
                          <a:latin typeface="Cambria Math" panose="02040503050406030204" pitchFamily="18" charset="0"/>
                        </a:rPr>
                        <m:t>            </m:t>
                      </m:r>
                      <m:r>
                        <m:rPr>
                          <m:sty m:val="p"/>
                        </m:rPr>
                        <a:rPr lang="zh-CN" altLang="en-US" smtClean="0">
                          <a:latin typeface="Cambria Math" panose="02040503050406030204" pitchFamily="18" charset="0"/>
                        </a:rPr>
                        <m:t>F</m:t>
                      </m:r>
                      <m:r>
                        <a:rPr lang="zh-CN" altLang="en-US" i="0">
                          <a:latin typeface="Cambria Math" panose="02040503050406030204" pitchFamily="18" charset="0"/>
                        </a:rPr>
                        <m:t>1=</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2×</m:t>
                          </m:r>
                          <m:r>
                            <m:rPr>
                              <m:sty m:val="p"/>
                            </m:rPr>
                            <a:rPr lang="zh-CN" altLang="en-US" i="0">
                              <a:latin typeface="Cambria Math" panose="02040503050406030204" pitchFamily="18" charset="0"/>
                            </a:rPr>
                            <m:t>Precision</m:t>
                          </m:r>
                          <m:r>
                            <a:rPr lang="zh-CN" altLang="en-US" i="0">
                              <a:latin typeface="Cambria Math" panose="02040503050406030204" pitchFamily="18" charset="0"/>
                            </a:rPr>
                            <m:t>×</m:t>
                          </m:r>
                          <m:r>
                            <m:rPr>
                              <m:sty m:val="p"/>
                            </m:rPr>
                            <a:rPr lang="zh-CN" altLang="en-US" i="0">
                              <a:latin typeface="Cambria Math" panose="02040503050406030204" pitchFamily="18" charset="0"/>
                            </a:rPr>
                            <m:t>Recall</m:t>
                          </m:r>
                        </m:num>
                        <m:den>
                          <m:r>
                            <m:rPr>
                              <m:sty m:val="p"/>
                            </m:rPr>
                            <a:rPr lang="zh-CN" altLang="en-US" i="0">
                              <a:latin typeface="Cambria Math" panose="02040503050406030204" pitchFamily="18" charset="0"/>
                            </a:rPr>
                            <m:t>Precision</m:t>
                          </m:r>
                          <m:r>
                            <a:rPr lang="zh-CN" altLang="en-US" i="0">
                              <a:latin typeface="Cambria Math" panose="02040503050406030204" pitchFamily="18" charset="0"/>
                            </a:rPr>
                            <m:t>+</m:t>
                          </m:r>
                          <m:r>
                            <m:rPr>
                              <m:sty m:val="p"/>
                            </m:rPr>
                            <a:rPr lang="zh-CN" altLang="en-US" i="0">
                              <a:latin typeface="Cambria Math" panose="02040503050406030204" pitchFamily="18" charset="0"/>
                            </a:rPr>
                            <m:t>Recall</m:t>
                          </m:r>
                        </m:den>
                      </m:f>
                    </m:oMath>
                  </m:oMathPara>
                </a14:m>
                <a:endParaRPr lang="zh-CN" altLang="en-US" dirty="0">
                  <a:latin typeface="Times New Roman" panose="02020603050405020304" pitchFamily="18" charset="0"/>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4EC6EB58-BCFC-F352-FF33-7576F5D3AC48}"/>
                  </a:ext>
                </a:extLst>
              </p:cNvPr>
              <p:cNvSpPr txBox="1">
                <a:spLocks noRot="1" noChangeAspect="1" noMove="1" noResize="1" noEditPoints="1" noAdjustHandles="1" noChangeArrowheads="1" noChangeShapeType="1" noTextEdit="1"/>
              </p:cNvSpPr>
              <p:nvPr/>
            </p:nvSpPr>
            <p:spPr>
              <a:xfrm>
                <a:off x="1143000" y="3408759"/>
                <a:ext cx="6858000" cy="3023392"/>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63651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numCol="1" anchorCtr="0" compatLnSpc="1"/>
          <a:lstStyle/>
          <a:p>
            <a:pPr fontAlgn="auto">
              <a:spcAft>
                <a:spcPts val="0"/>
              </a:spcAft>
              <a:defRPr/>
            </a:pPr>
            <a:r>
              <a:rPr lang="zh-CN" altLang="en-US" sz="2400" dirty="0">
                <a:solidFill>
                  <a:schemeClr val="tx2"/>
                </a:solidFill>
                <a:latin typeface="Times New Roman" panose="02020603050405020304" pitchFamily="18" charset="0"/>
                <a:ea typeface="楷体" panose="02010609060101010101" pitchFamily="49" charset="-122"/>
              </a:rPr>
              <a:t>机器学习步骤四：数据建模</a:t>
            </a:r>
            <a:r>
              <a:rPr lang="en-US" altLang="zh-CN" sz="2400" dirty="0">
                <a:solidFill>
                  <a:schemeClr val="tx2"/>
                </a:solidFill>
                <a:latin typeface="Times New Roman" panose="02020603050405020304" pitchFamily="18" charset="0"/>
                <a:ea typeface="楷体" panose="02010609060101010101" pitchFamily="49" charset="-122"/>
              </a:rPr>
              <a:t>——</a:t>
            </a:r>
            <a:r>
              <a:rPr lang="zh-CN" altLang="en-US" sz="2400" dirty="0">
                <a:solidFill>
                  <a:schemeClr val="tx2"/>
                </a:solidFill>
                <a:latin typeface="Times New Roman" panose="02020603050405020304" pitchFamily="18" charset="0"/>
                <a:ea typeface="楷体" panose="02010609060101010101" pitchFamily="49" charset="-122"/>
              </a:rPr>
              <a:t>回归评价指标</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882BFCE2-4846-C3D7-B503-6CDA8C3CF611}"/>
                  </a:ext>
                </a:extLst>
              </p:cNvPr>
              <p:cNvSpPr/>
              <p:nvPr/>
            </p:nvSpPr>
            <p:spPr>
              <a:xfrm>
                <a:off x="102578" y="3771554"/>
                <a:ext cx="4553622" cy="2831288"/>
              </a:xfrm>
              <a:prstGeom prst="rect">
                <a:avLst/>
              </a:prstGeom>
            </p:spPr>
            <p:txBody>
              <a:bodyPr wrap="square">
                <a:spAutoFit/>
              </a:bodyPr>
              <a:lstStyle/>
              <a:p>
                <a:pPr>
                  <a:spcBef>
                    <a:spcPts val="900"/>
                  </a:spcBef>
                  <a:spcAft>
                    <a:spcPts val="900"/>
                  </a:spcAft>
                </a:pPr>
                <a:r>
                  <a:rPr lang="en-US" altLang="zh-CN" sz="1600" dirty="0" err="1">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sSup>
                      <m:sSupPr>
                        <m:ctrlPr>
                          <a:rPr lang="zh-CN" altLang="zh-CN" sz="1600" i="1">
                            <a:latin typeface="Cambria Math" panose="02040503050406030204" pitchFamily="18" charset="0"/>
                            <a:ea typeface="+mj-ea"/>
                            <a:cs typeface="Times New Roman" panose="02020603050405020304" pitchFamily="18" charset="0"/>
                          </a:rPr>
                        </m:ctrlPr>
                      </m:sSupPr>
                      <m:e>
                        <m:r>
                          <a:rPr lang="en-US" altLang="zh-CN" sz="1600" i="1">
                            <a:latin typeface="Cambria Math" panose="02040503050406030204" pitchFamily="18" charset="0"/>
                            <a:ea typeface="+mj-ea"/>
                            <a:cs typeface="Times New Roman" panose="02020603050405020304" pitchFamily="18" charset="0"/>
                          </a:rPr>
                          <m:t>𝑦</m:t>
                        </m:r>
                      </m:e>
                      <m:sup>
                        <m:r>
                          <a:rPr lang="en-US" altLang="zh-CN" sz="1600" i="1">
                            <a:latin typeface="Cambria Math" panose="02040503050406030204" pitchFamily="18" charset="0"/>
                            <a:ea typeface="+mj-ea"/>
                            <a:cs typeface="Times New Roman" panose="02020603050405020304" pitchFamily="18" charset="0"/>
                          </a:rPr>
                          <m:t>(</m:t>
                        </m:r>
                        <m:r>
                          <a:rPr lang="en-US" altLang="zh-CN" sz="1600" i="1">
                            <a:latin typeface="Cambria Math" panose="02040503050406030204" pitchFamily="18" charset="0"/>
                            <a:ea typeface="+mj-ea"/>
                            <a:cs typeface="Times New Roman" panose="02020603050405020304" pitchFamily="18" charset="0"/>
                          </a:rPr>
                          <m:t>𝑖</m:t>
                        </m:r>
                        <m:r>
                          <a:rPr lang="en-US" altLang="zh-CN" sz="1600" i="1">
                            <a:latin typeface="Cambria Math" panose="02040503050406030204" pitchFamily="18" charset="0"/>
                            <a:ea typeface="+mj-ea"/>
                            <a:cs typeface="Times New Roman" panose="02020603050405020304" pitchFamily="18" charset="0"/>
                          </a:rPr>
                          <m:t>)</m:t>
                        </m:r>
                      </m:sup>
                    </m:sSup>
                  </m:oMath>
                </a14:m>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 和</a:t>
                </a:r>
                <a14:m>
                  <m:oMath xmlns:m="http://schemas.openxmlformats.org/officeDocument/2006/math">
                    <m:sSup>
                      <m:sSupPr>
                        <m:ctrlPr>
                          <a:rPr lang="zh-CN" altLang="zh-CN" sz="1600" i="1">
                            <a:latin typeface="Cambria Math" panose="02040503050406030204" pitchFamily="18" charset="0"/>
                            <a:ea typeface="+mj-ea"/>
                            <a:cs typeface="Times New Roman" panose="02020603050405020304" pitchFamily="18" charset="0"/>
                          </a:rPr>
                        </m:ctrlPr>
                      </m:sSupPr>
                      <m:e>
                        <m:groupChr>
                          <m:groupChrPr>
                            <m:chr m:val="̂"/>
                            <m:pos m:val="top"/>
                            <m:vertJc m:val="bot"/>
                            <m:ctrlPr>
                              <a:rPr lang="zh-CN" altLang="zh-CN" sz="1600" i="1">
                                <a:latin typeface="Cambria Math" panose="02040503050406030204" pitchFamily="18" charset="0"/>
                                <a:ea typeface="+mj-ea"/>
                                <a:cs typeface="Times New Roman" panose="02020603050405020304" pitchFamily="18" charset="0"/>
                              </a:rPr>
                            </m:ctrlPr>
                          </m:groupChrPr>
                          <m:e>
                            <m:r>
                              <a:rPr lang="en-US" altLang="zh-CN" sz="1600" i="1">
                                <a:latin typeface="Cambria Math" panose="02040503050406030204" pitchFamily="18" charset="0"/>
                                <a:ea typeface="+mj-ea"/>
                                <a:cs typeface="Times New Roman" panose="02020603050405020304" pitchFamily="18" charset="0"/>
                              </a:rPr>
                              <m:t>𝑦</m:t>
                            </m:r>
                          </m:e>
                        </m:groupChr>
                      </m:e>
                      <m:sup>
                        <m:r>
                          <a:rPr lang="en-US" altLang="zh-CN" sz="1600" i="1">
                            <a:latin typeface="Cambria Math" panose="02040503050406030204" pitchFamily="18" charset="0"/>
                            <a:ea typeface="+mj-ea"/>
                            <a:cs typeface="Times New Roman" panose="02020603050405020304" pitchFamily="18" charset="0"/>
                          </a:rPr>
                          <m:t>(</m:t>
                        </m:r>
                        <m:r>
                          <a:rPr lang="en-US" altLang="zh-CN" sz="1600" i="1">
                            <a:latin typeface="Cambria Math" panose="02040503050406030204" pitchFamily="18" charset="0"/>
                            <a:ea typeface="+mj-ea"/>
                            <a:cs typeface="Times New Roman" panose="02020603050405020304" pitchFamily="18" charset="0"/>
                          </a:rPr>
                          <m:t>𝑖</m:t>
                        </m:r>
                        <m:r>
                          <a:rPr lang="en-US" altLang="zh-CN" sz="1600" i="1">
                            <a:latin typeface="Cambria Math" panose="02040503050406030204" pitchFamily="18" charset="0"/>
                            <a:ea typeface="+mj-ea"/>
                            <a:cs typeface="Times New Roman" panose="02020603050405020304" pitchFamily="18" charset="0"/>
                          </a:rPr>
                          <m:t>)</m:t>
                        </m:r>
                      </m:sup>
                    </m:sSup>
                  </m:oMath>
                </a14:m>
                <a:r>
                  <a:rPr lang="en-US" altLang="zh-CN" sz="1600" dirty="0" err="1">
                    <a:latin typeface="Times New Roman" panose="02020603050405020304" pitchFamily="18" charset="0"/>
                    <a:ea typeface="楷体" panose="02010609060101010101" pitchFamily="49" charset="-122"/>
                    <a:cs typeface="Times New Roman" panose="02020603050405020304" pitchFamily="18" charset="0"/>
                  </a:rPr>
                  <a:t>分别表示第</a:t>
                </a:r>
                <a14:m>
                  <m:oMath xmlns:m="http://schemas.openxmlformats.org/officeDocument/2006/math">
                    <m:r>
                      <a:rPr lang="en-US" altLang="zh-CN" sz="1600" i="1">
                        <a:latin typeface="Cambria Math" panose="02040503050406030204" pitchFamily="18" charset="0"/>
                        <a:ea typeface="+mj-ea"/>
                        <a:cs typeface="Times New Roman" panose="02020603050405020304" pitchFamily="18" charset="0"/>
                      </a:rPr>
                      <m:t>𝑖</m:t>
                    </m:r>
                  </m:oMath>
                </a14:m>
                <a:r>
                  <a:rPr lang="en-US" altLang="zh-CN" sz="1600" dirty="0" err="1">
                    <a:latin typeface="Times New Roman" panose="02020603050405020304" pitchFamily="18" charset="0"/>
                    <a:ea typeface="楷体" panose="02010609060101010101" pitchFamily="49" charset="-122"/>
                    <a:cs typeface="Times New Roman" panose="02020603050405020304" pitchFamily="18" charset="0"/>
                  </a:rPr>
                  <a:t>个样本的真实值和预测值</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ea typeface="+mj-ea"/>
                        <a:cs typeface="Times New Roman" panose="02020603050405020304" pitchFamily="18" charset="0"/>
                      </a:rPr>
                      <m:t>𝑚</m:t>
                    </m:r>
                  </m:oMath>
                </a14:m>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dirty="0" err="1">
                    <a:latin typeface="Times New Roman" panose="02020603050405020304" pitchFamily="18" charset="0"/>
                    <a:ea typeface="楷体" panose="02010609060101010101" pitchFamily="49" charset="-122"/>
                    <a:cs typeface="Times New Roman" panose="02020603050405020304" pitchFamily="18" charset="0"/>
                  </a:rPr>
                  <a:t>为样本个数</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a:t>
                </a:r>
              </a:p>
              <a:p>
                <a:pPr>
                  <a:spcBef>
                    <a:spcPts val="180"/>
                  </a:spcBef>
                  <a:spcAft>
                    <a:spcPts val="180"/>
                  </a:spcAft>
                </a:pPr>
                <a14:m>
                  <m:oMathPara xmlns:m="http://schemas.openxmlformats.org/officeDocument/2006/math">
                    <m:oMathParaPr>
                      <m:jc m:val="centerGroup"/>
                    </m:oMathParaPr>
                    <m:oMath xmlns:m="http://schemas.openxmlformats.org/officeDocument/2006/math">
                      <m:r>
                        <m:rPr>
                          <m:sty m:val="p"/>
                        </m:rPr>
                        <a:rPr lang="en-US" altLang="zh-CN" sz="1600" i="0" smtClean="0">
                          <a:latin typeface="Cambria Math" panose="02040503050406030204" pitchFamily="18" charset="0"/>
                          <a:ea typeface="宋体" panose="02010600030101010101" pitchFamily="2" charset="-122"/>
                          <a:cs typeface="Times New Roman" panose="02020603050405020304" pitchFamily="18" charset="0"/>
                        </a:rPr>
                        <m:t>SSR</m:t>
                      </m:r>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nary>
                        <m:naryPr>
                          <m:chr m:val="∑"/>
                          <m:limLoc m:val="undOv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600" i="1">
                              <a:latin typeface="Cambria Math" panose="02040503050406030204" pitchFamily="18" charset="0"/>
                              <a:ea typeface="宋体" panose="02010600030101010101" pitchFamily="2" charset="-122"/>
                              <a:cs typeface="Times New Roman" panose="02020603050405020304" pitchFamily="18" charset="0"/>
                            </a:rPr>
                            <m:t>𝑚</m:t>
                          </m:r>
                        </m:sup>
                        <m:e>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e>
                      </m:nary>
                      <m:sSup>
                        <m:sSupP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sSupPr>
                        <m:e>
                          <m:groupChr>
                            <m:groupChrPr>
                              <m:chr m:val="̂"/>
                              <m:pos m:val="top"/>
                              <m:vertJc m:val="bot"/>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600" i="1">
                                  <a:latin typeface="Cambria Math" panose="02040503050406030204" pitchFamily="18" charset="0"/>
                                  <a:ea typeface="宋体" panose="02010600030101010101" pitchFamily="2" charset="-122"/>
                                  <a:cs typeface="Times New Roman" panose="02020603050405020304" pitchFamily="18" charset="0"/>
                                </a:rPr>
                                <m:t>𝑦</m:t>
                              </m:r>
                            </m:e>
                          </m:groupChr>
                        </m:e>
                        <m:sup>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r>
                            <a:rPr lang="en-US" altLang="zh-CN" sz="16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bar>
                        <m:barPr>
                          <m:pos m:val="top"/>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sz="1600" i="1">
                              <a:latin typeface="Cambria Math" panose="02040503050406030204" pitchFamily="18" charset="0"/>
                              <a:ea typeface="宋体" panose="02010600030101010101" pitchFamily="2" charset="-122"/>
                              <a:cs typeface="Times New Roman" panose="02020603050405020304" pitchFamily="18" charset="0"/>
                            </a:rPr>
                            <m:t>𝑦</m:t>
                          </m:r>
                        </m:e>
                      </m:bar>
                      <m:sSup>
                        <m:sSupP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e>
                        <m:sup>
                          <m:r>
                            <a:rPr lang="en-US" altLang="zh-CN" sz="1600" i="1">
                              <a:latin typeface="Cambria Math" panose="02040503050406030204" pitchFamily="18" charset="0"/>
                              <a:ea typeface="宋体" panose="02010600030101010101" pitchFamily="2" charset="-122"/>
                              <a:cs typeface="Times New Roman" panose="02020603050405020304" pitchFamily="18" charset="0"/>
                            </a:rPr>
                            <m:t>2</m:t>
                          </m:r>
                        </m:sup>
                      </m:sSup>
                    </m:oMath>
                  </m:oMathPara>
                </a14:m>
                <a:endParaRPr lang="zh-CN" altLang="zh-CN" sz="1600" dirty="0">
                  <a:latin typeface="Cambria" panose="02040503050406030204" pitchFamily="18" charset="0"/>
                  <a:ea typeface="宋体" panose="02010600030101010101" pitchFamily="2" charset="-122"/>
                  <a:cs typeface="Times New Roman" panose="02020603050405020304" pitchFamily="18" charset="0"/>
                </a:endParaRPr>
              </a:p>
              <a:p>
                <a:pPr>
                  <a:spcBef>
                    <a:spcPts val="180"/>
                  </a:spcBef>
                  <a:spcAft>
                    <a:spcPts val="180"/>
                  </a:spcAft>
                </a:pPr>
                <a14:m>
                  <m:oMathPara xmlns:m="http://schemas.openxmlformats.org/officeDocument/2006/math">
                    <m:oMathParaPr>
                      <m:jc m:val="centerGroup"/>
                    </m:oMathParaPr>
                    <m:oMath xmlns:m="http://schemas.openxmlformats.org/officeDocument/2006/math">
                      <m:r>
                        <m:rPr>
                          <m:sty m:val="p"/>
                        </m:rPr>
                        <a:rPr lang="en-US" altLang="zh-CN" sz="1600" i="0">
                          <a:latin typeface="Cambria Math" panose="02040503050406030204" pitchFamily="18" charset="0"/>
                          <a:ea typeface="宋体" panose="02010600030101010101" pitchFamily="2" charset="-122"/>
                          <a:cs typeface="Times New Roman" panose="02020603050405020304" pitchFamily="18" charset="0"/>
                        </a:rPr>
                        <m:t>SSE</m:t>
                      </m:r>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nary>
                        <m:naryPr>
                          <m:chr m:val="∑"/>
                          <m:limLoc m:val="undOv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600" i="1">
                              <a:latin typeface="Cambria Math" panose="02040503050406030204" pitchFamily="18" charset="0"/>
                              <a:ea typeface="宋体" panose="02010600030101010101" pitchFamily="2" charset="-122"/>
                              <a:cs typeface="Times New Roman" panose="02020603050405020304" pitchFamily="18" charset="0"/>
                            </a:rPr>
                            <m:t>𝑚</m:t>
                          </m:r>
                        </m:sup>
                        <m:e>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e>
                      </m:nary>
                      <m:sSup>
                        <m:sSupP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ea typeface="宋体" panose="02010600030101010101" pitchFamily="2" charset="-122"/>
                              <a:cs typeface="Times New Roman" panose="02020603050405020304" pitchFamily="18" charset="0"/>
                            </a:rPr>
                            <m:t>𝑦</m:t>
                          </m:r>
                        </m:e>
                        <m:sup>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r>
                            <a:rPr lang="en-US" altLang="zh-CN" sz="16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sSupPr>
                        <m:e>
                          <m:groupChr>
                            <m:groupChrPr>
                              <m:chr m:val="̂"/>
                              <m:pos m:val="top"/>
                              <m:vertJc m:val="bot"/>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600" i="1">
                                  <a:latin typeface="Cambria Math" panose="02040503050406030204" pitchFamily="18" charset="0"/>
                                  <a:ea typeface="宋体" panose="02010600030101010101" pitchFamily="2" charset="-122"/>
                                  <a:cs typeface="Times New Roman" panose="02020603050405020304" pitchFamily="18" charset="0"/>
                                </a:rPr>
                                <m:t>𝑦</m:t>
                              </m:r>
                            </m:e>
                          </m:groupChr>
                        </m:e>
                        <m:sup>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r>
                            <a:rPr lang="en-US" altLang="zh-CN" sz="16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sup>
                      </m:sSup>
                      <m:sSup>
                        <m:sSupP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e>
                        <m:sup>
                          <m:r>
                            <a:rPr lang="en-US" altLang="zh-CN" sz="1600" i="1">
                              <a:latin typeface="Cambria Math" panose="02040503050406030204" pitchFamily="18" charset="0"/>
                              <a:ea typeface="宋体" panose="02010600030101010101" pitchFamily="2" charset="-122"/>
                              <a:cs typeface="Times New Roman" panose="02020603050405020304" pitchFamily="18" charset="0"/>
                            </a:rPr>
                            <m:t>2</m:t>
                          </m:r>
                        </m:sup>
                      </m:sSup>
                    </m:oMath>
                  </m:oMathPara>
                </a14:m>
                <a:endParaRPr lang="zh-CN" altLang="zh-CN" sz="1600" dirty="0">
                  <a:latin typeface="Cambria" panose="02040503050406030204" pitchFamily="18" charset="0"/>
                  <a:ea typeface="宋体" panose="02010600030101010101" pitchFamily="2" charset="-122"/>
                  <a:cs typeface="Times New Roman" panose="02020603050405020304" pitchFamily="18" charset="0"/>
                </a:endParaRPr>
              </a:p>
              <a:p>
                <a:pPr>
                  <a:spcBef>
                    <a:spcPts val="180"/>
                  </a:spcBef>
                  <a:spcAft>
                    <a:spcPts val="180"/>
                  </a:spcAft>
                </a:pPr>
                <a14:m>
                  <m:oMathPara xmlns:m="http://schemas.openxmlformats.org/officeDocument/2006/math">
                    <m:oMathParaPr>
                      <m:jc m:val="centerGroup"/>
                    </m:oMathParaPr>
                    <m:oMath xmlns:m="http://schemas.openxmlformats.org/officeDocument/2006/math">
                      <m:r>
                        <m:rPr>
                          <m:sty m:val="p"/>
                        </m:rPr>
                        <a:rPr lang="en-US" altLang="zh-CN" sz="1600" i="0">
                          <a:latin typeface="Cambria Math" panose="02040503050406030204" pitchFamily="18" charset="0"/>
                          <a:ea typeface="宋体" panose="02010600030101010101" pitchFamily="2" charset="-122"/>
                          <a:cs typeface="Times New Roman" panose="02020603050405020304" pitchFamily="18" charset="0"/>
                        </a:rPr>
                        <m:t>SST</m:t>
                      </m:r>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nary>
                        <m:naryPr>
                          <m:chr m:val="∑"/>
                          <m:limLoc m:val="undOv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600" i="1">
                              <a:latin typeface="Cambria Math" panose="02040503050406030204" pitchFamily="18" charset="0"/>
                              <a:ea typeface="宋体" panose="02010600030101010101" pitchFamily="2" charset="-122"/>
                              <a:cs typeface="Times New Roman" panose="02020603050405020304" pitchFamily="18" charset="0"/>
                            </a:rPr>
                            <m:t>𝑚</m:t>
                          </m:r>
                        </m:sup>
                        <m:e>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e>
                      </m:nary>
                      <m:sSup>
                        <m:sSupP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ea typeface="宋体" panose="02010600030101010101" pitchFamily="2" charset="-122"/>
                              <a:cs typeface="Times New Roman" panose="02020603050405020304" pitchFamily="18" charset="0"/>
                            </a:rPr>
                            <m:t>𝑦</m:t>
                          </m:r>
                        </m:e>
                        <m:sup>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r>
                            <a:rPr lang="en-US" altLang="zh-CN" sz="16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bar>
                        <m:barPr>
                          <m:pos m:val="top"/>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sz="1600" i="1">
                              <a:latin typeface="Cambria Math" panose="02040503050406030204" pitchFamily="18" charset="0"/>
                              <a:ea typeface="宋体" panose="02010600030101010101" pitchFamily="2" charset="-122"/>
                              <a:cs typeface="Times New Roman" panose="02020603050405020304" pitchFamily="18" charset="0"/>
                            </a:rPr>
                            <m:t>𝑦</m:t>
                          </m:r>
                        </m:e>
                      </m:bar>
                      <m:sSup>
                        <m:sSupP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ea typeface="宋体" panose="02010600030101010101" pitchFamily="2" charset="-122"/>
                              <a:cs typeface="Times New Roman" panose="02020603050405020304" pitchFamily="18" charset="0"/>
                            </a:rPr>
                            <m:t>)</m:t>
                          </m:r>
                        </m:e>
                        <m:sup>
                          <m:r>
                            <a:rPr lang="en-US" altLang="zh-CN" sz="1600" i="1">
                              <a:latin typeface="Cambria Math" panose="02040503050406030204" pitchFamily="18" charset="0"/>
                              <a:ea typeface="宋体" panose="02010600030101010101" pitchFamily="2" charset="-122"/>
                              <a:cs typeface="Times New Roman" panose="02020603050405020304" pitchFamily="18" charset="0"/>
                            </a:rPr>
                            <m:t>2</m:t>
                          </m:r>
                        </m:sup>
                      </m:sSup>
                    </m:oMath>
                  </m:oMathPara>
                </a14:m>
                <a:endParaRPr lang="zh-CN"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882BFCE2-4846-C3D7-B503-6CDA8C3CF611}"/>
                  </a:ext>
                </a:extLst>
              </p:cNvPr>
              <p:cNvSpPr>
                <a:spLocks noRot="1" noChangeAspect="1" noMove="1" noResize="1" noEditPoints="1" noAdjustHandles="1" noChangeArrowheads="1" noChangeShapeType="1" noTextEdit="1"/>
              </p:cNvSpPr>
              <p:nvPr/>
            </p:nvSpPr>
            <p:spPr>
              <a:xfrm>
                <a:off x="102578" y="3771554"/>
                <a:ext cx="4553622" cy="2831288"/>
              </a:xfrm>
              <a:prstGeom prst="rect">
                <a:avLst/>
              </a:prstGeom>
              <a:blipFill>
                <a:blip r:embed="rId3"/>
                <a:stretch>
                  <a:fillRect l="-8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D7B9C132-1D5C-B82C-C8A3-BFF6E3E6D77C}"/>
                  </a:ext>
                </a:extLst>
              </p:cNvPr>
              <p:cNvSpPr/>
              <p:nvPr/>
            </p:nvSpPr>
            <p:spPr>
              <a:xfrm>
                <a:off x="415707" y="1037317"/>
                <a:ext cx="3929054" cy="1387175"/>
              </a:xfrm>
              <a:prstGeom prst="rect">
                <a:avLst/>
              </a:prstGeom>
            </p:spPr>
            <p:txBody>
              <a:bodyPr wrap="square">
                <a:spAutoFit/>
              </a:bodyPr>
              <a:lstStyle/>
              <a:p>
                <a:pPr>
                  <a:spcBef>
                    <a:spcPts val="900"/>
                  </a:spcBef>
                  <a:spcAft>
                    <a:spcPts val="900"/>
                  </a:spcAft>
                </a:pPr>
                <a:r>
                  <a:rPr lang="en-US" altLang="zh-CN"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均方误差</a:t>
                </a:r>
                <a:r>
                  <a:rPr lang="en-US" altLang="zh-CN" sz="200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（Mean</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Square </a:t>
                </a:r>
                <a:r>
                  <a:rPr lang="en-US" altLang="zh-CN" sz="200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Error,MSE</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m:rPr>
                          <m:sty m:val="p"/>
                        </m:rPr>
                        <a:rPr lang="en-US" altLang="zh-CN" i="0">
                          <a:latin typeface="Cambria Math" panose="02040503050406030204" pitchFamily="18" charset="0"/>
                          <a:ea typeface="宋体" panose="02010600030101010101" pitchFamily="2" charset="-122"/>
                          <a:cs typeface="Times New Roman" panose="02020603050405020304" pitchFamily="18" charset="0"/>
                        </a:rPr>
                        <m:t>MSE</m:t>
                      </m:r>
                      <m:r>
                        <a:rPr lang="en-US" altLang="zh-CN" i="1">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i="1">
                              <a:latin typeface="Cambria Math" panose="02040503050406030204" pitchFamily="18" charset="0"/>
                              <a:ea typeface="宋体" panose="02010600030101010101" pitchFamily="2" charset="-122"/>
                              <a:cs typeface="Times New Roman" panose="02020603050405020304" pitchFamily="18" charset="0"/>
                            </a:rPr>
                            <m:t>𝑚</m:t>
                          </m:r>
                        </m:den>
                      </m:f>
                      <m:nary>
                        <m:naryPr>
                          <m:chr m:val="∑"/>
                          <m:limLoc m:val="undOv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a:latin typeface="Cambria Math" panose="02040503050406030204" pitchFamily="18" charset="0"/>
                              <a:ea typeface="宋体" panose="02010600030101010101" pitchFamily="2" charset="-122"/>
                              <a:cs typeface="Times New Roman" panose="02020603050405020304" pitchFamily="18" charset="0"/>
                            </a:rPr>
                            <m:t>𝑚</m:t>
                          </m:r>
                        </m:sup>
                        <m:e>
                          <m:r>
                            <a:rPr lang="en-US" altLang="zh-CN" i="1">
                              <a:latin typeface="Cambria Math" panose="02040503050406030204" pitchFamily="18" charset="0"/>
                              <a:ea typeface="宋体" panose="02010600030101010101" pitchFamily="2" charset="-122"/>
                              <a:cs typeface="Times New Roman" panose="02020603050405020304" pitchFamily="18" charset="0"/>
                            </a:rPr>
                            <m:t>(</m:t>
                          </m:r>
                        </m:e>
                      </m:nary>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groupChr>
                            <m:groupChrPr>
                              <m:chr m:val="̂"/>
                              <m:pos m:val="top"/>
                              <m:vertJc m:val="bot"/>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groupChr>
                        </m:e>
                        <m: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m:t>
                          </m:r>
                        </m:sup>
                      </m:sSup>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m:t>
                          </m:r>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oMath>
                  </m:oMathPara>
                </a14:m>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D7B9C132-1D5C-B82C-C8A3-BFF6E3E6D77C}"/>
                  </a:ext>
                </a:extLst>
              </p:cNvPr>
              <p:cNvSpPr>
                <a:spLocks noRot="1" noChangeAspect="1" noMove="1" noResize="1" noEditPoints="1" noAdjustHandles="1" noChangeArrowheads="1" noChangeShapeType="1" noTextEdit="1"/>
              </p:cNvSpPr>
              <p:nvPr/>
            </p:nvSpPr>
            <p:spPr>
              <a:xfrm>
                <a:off x="415707" y="1037317"/>
                <a:ext cx="3929054" cy="1387175"/>
              </a:xfrm>
              <a:prstGeom prst="rect">
                <a:avLst/>
              </a:prstGeom>
              <a:blipFill>
                <a:blip r:embed="rId4"/>
                <a:stretch>
                  <a:fillRect l="-1240" t="-3070" r="-68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23705492-6BFA-9489-A769-12C86B34A575}"/>
                  </a:ext>
                </a:extLst>
              </p:cNvPr>
              <p:cNvSpPr/>
              <p:nvPr/>
            </p:nvSpPr>
            <p:spPr>
              <a:xfrm>
                <a:off x="-76363" y="2384379"/>
                <a:ext cx="4913194" cy="1297406"/>
              </a:xfrm>
              <a:prstGeom prst="rect">
                <a:avLst/>
              </a:prstGeom>
            </p:spPr>
            <p:txBody>
              <a:bodyPr wrap="square">
                <a:spAutoFit/>
              </a:bodyPr>
              <a:lstStyle/>
              <a:p>
                <a:pPr>
                  <a:spcBef>
                    <a:spcPts val="900"/>
                  </a:spcBef>
                  <a:spcAft>
                    <a:spcPts val="900"/>
                  </a:spcAft>
                </a:pP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平均绝对误差</a:t>
                </a:r>
                <a:r>
                  <a:rPr lang="en-US" altLang="zh-CN" sz="200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（Mean</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Absolute </a:t>
                </a:r>
                <a:r>
                  <a:rPr lang="en-US" altLang="zh-CN" sz="200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Error,MAE</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spcBef>
                    <a:spcPts val="180"/>
                  </a:spcBef>
                  <a:spcAft>
                    <a:spcPts val="180"/>
                  </a:spcAft>
                </a:pPr>
                <a14:m>
                  <m:oMathPara xmlns:m="http://schemas.openxmlformats.org/officeDocument/2006/math">
                    <m:oMathParaPr>
                      <m:jc m:val="centerGroup"/>
                    </m:oMathParaPr>
                    <m:oMath xmlns:m="http://schemas.openxmlformats.org/officeDocument/2006/math">
                      <m:r>
                        <m:rPr>
                          <m:sty m:val="p"/>
                        </m:rPr>
                        <a:rPr lang="en-US" altLang="zh-CN" i="0">
                          <a:latin typeface="Cambria Math" panose="02040503050406030204" pitchFamily="18" charset="0"/>
                          <a:ea typeface="宋体" panose="02010600030101010101" pitchFamily="2" charset="-122"/>
                          <a:cs typeface="Times New Roman" panose="02020603050405020304" pitchFamily="18" charset="0"/>
                        </a:rPr>
                        <m:t>MAE</m:t>
                      </m:r>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𝑦</m:t>
                      </m:r>
                      <m:r>
                        <a:rPr lang="en-US" altLang="zh-CN" i="1">
                          <a:latin typeface="Cambria Math" panose="02040503050406030204" pitchFamily="18" charset="0"/>
                          <a:ea typeface="宋体" panose="02010600030101010101" pitchFamily="2" charset="-122"/>
                          <a:cs typeface="Times New Roman" panose="02020603050405020304" pitchFamily="18" charset="0"/>
                        </a:rPr>
                        <m:t>,</m:t>
                      </m:r>
                      <m:groupChr>
                        <m:groupChrPr>
                          <m:chr m:val="̂"/>
                          <m:pos m:val="top"/>
                          <m:vertJc m:val="bot"/>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groupChr>
                      <m:r>
                        <a:rPr lang="en-US" altLang="zh-CN" i="1">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i="1">
                              <a:latin typeface="Cambria Math" panose="02040503050406030204" pitchFamily="18" charset="0"/>
                              <a:ea typeface="宋体" panose="02010600030101010101" pitchFamily="2" charset="-122"/>
                              <a:cs typeface="Times New Roman" panose="02020603050405020304" pitchFamily="18" charset="0"/>
                            </a:rPr>
                            <m:t>𝑚</m:t>
                          </m:r>
                        </m:den>
                      </m:f>
                      <m:nary>
                        <m:naryPr>
                          <m:chr m:val="∑"/>
                          <m:limLoc m:val="undOv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𝑚</m:t>
                          </m:r>
                        </m:sup>
                        <m:e>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groupChr>
                                    <m:groupChrPr>
                                      <m:chr m:val="̂"/>
                                      <m:pos m:val="top"/>
                                      <m:vertJc m:val="bot"/>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groupChr>
                                </m:e>
                                <m: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m:t>
                                  </m:r>
                                </m:sup>
                              </m:sSup>
                            </m:e>
                          </m:d>
                        </m:e>
                      </m:nary>
                    </m:oMath>
                  </m:oMathPara>
                </a14:m>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23705492-6BFA-9489-A769-12C86B34A575}"/>
                  </a:ext>
                </a:extLst>
              </p:cNvPr>
              <p:cNvSpPr>
                <a:spLocks noRot="1" noChangeAspect="1" noMove="1" noResize="1" noEditPoints="1" noAdjustHandles="1" noChangeArrowheads="1" noChangeShapeType="1" noTextEdit="1"/>
              </p:cNvSpPr>
              <p:nvPr/>
            </p:nvSpPr>
            <p:spPr>
              <a:xfrm>
                <a:off x="-76363" y="2384379"/>
                <a:ext cx="4913194" cy="1297406"/>
              </a:xfrm>
              <a:prstGeom prst="rect">
                <a:avLst/>
              </a:prstGeom>
              <a:blipFill>
                <a:blip r:embed="rId5"/>
                <a:stretch>
                  <a:fillRect l="-993" t="-3286" r="-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FCB6F0C4-05E6-EE67-E748-B0D16566658E}"/>
                  </a:ext>
                </a:extLst>
              </p:cNvPr>
              <p:cNvSpPr/>
              <p:nvPr/>
            </p:nvSpPr>
            <p:spPr>
              <a:xfrm>
                <a:off x="4638510" y="666896"/>
                <a:ext cx="4455995" cy="1926553"/>
              </a:xfrm>
              <a:prstGeom prst="rect">
                <a:avLst/>
              </a:prstGeom>
            </p:spPr>
            <p:txBody>
              <a:bodyPr wrap="square">
                <a:spAutoFit/>
              </a:bodyPr>
              <a:lstStyle/>
              <a:p>
                <a:pPr>
                  <a:spcBef>
                    <a:spcPts val="900"/>
                  </a:spcBef>
                  <a:spcAft>
                    <a:spcPts val="900"/>
                  </a:spcAft>
                </a:pPr>
                <a:r>
                  <a:rPr lang="en-US" altLang="zh-CN" sz="2000"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均方根误差</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RMSE(Root Mean Square </a:t>
                </a:r>
                <a:r>
                  <a:rPr lang="en-US" altLang="zh-CN" sz="200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Error,RMSE</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spcBef>
                    <a:spcPts val="180"/>
                  </a:spcBef>
                  <a:spcAft>
                    <a:spcPts val="180"/>
                  </a:spcAft>
                </a:pPr>
                <a14:m>
                  <m:oMathPara xmlns:m="http://schemas.openxmlformats.org/officeDocument/2006/math">
                    <m:oMathParaPr>
                      <m:jc m:val="centerGroup"/>
                    </m:oMathParaPr>
                    <m:oMath xmlns:m="http://schemas.openxmlformats.org/officeDocument/2006/math">
                      <m:r>
                        <m:rPr>
                          <m:sty m:val="p"/>
                        </m:rPr>
                        <a:rPr lang="en-US" altLang="zh-CN" i="0">
                          <a:latin typeface="Cambria Math" panose="02040503050406030204" pitchFamily="18" charset="0"/>
                          <a:ea typeface="宋体" panose="02010600030101010101" pitchFamily="2" charset="-122"/>
                          <a:cs typeface="Times New Roman" panose="02020603050405020304" pitchFamily="18" charset="0"/>
                        </a:rPr>
                        <m:t>RMSE</m:t>
                      </m:r>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𝑦</m:t>
                      </m:r>
                      <m:r>
                        <a:rPr lang="en-US" altLang="zh-CN" i="1">
                          <a:latin typeface="Cambria Math" panose="02040503050406030204" pitchFamily="18" charset="0"/>
                          <a:ea typeface="宋体" panose="02010600030101010101" pitchFamily="2" charset="-122"/>
                          <a:cs typeface="Times New Roman" panose="02020603050405020304" pitchFamily="18" charset="0"/>
                        </a:rPr>
                        <m:t>,</m:t>
                      </m:r>
                      <m:groupChr>
                        <m:groupChrPr>
                          <m:chr m:val="̂"/>
                          <m:pos m:val="top"/>
                          <m:vertJc m:val="bot"/>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groupChr>
                      <m:r>
                        <a:rPr lang="en-US" altLang="zh-CN" i="1">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i="1">
                                  <a:latin typeface="Cambria Math" panose="02040503050406030204" pitchFamily="18" charset="0"/>
                                  <a:ea typeface="宋体" panose="02010600030101010101" pitchFamily="2" charset="-122"/>
                                  <a:cs typeface="Times New Roman" panose="02020603050405020304" pitchFamily="18" charset="0"/>
                                </a:rPr>
                                <m:t>𝑚</m:t>
                              </m:r>
                            </m:den>
                          </m:f>
                          <m:nary>
                            <m:naryPr>
                              <m:chr m:val="∑"/>
                              <m:limLoc m:val="undOv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a:latin typeface="Cambria Math" panose="02040503050406030204" pitchFamily="18" charset="0"/>
                                  <a:ea typeface="宋体" panose="02010600030101010101" pitchFamily="2" charset="-122"/>
                                  <a:cs typeface="Times New Roman" panose="02020603050405020304" pitchFamily="18" charset="0"/>
                                </a:rPr>
                                <m:t>𝑚</m:t>
                              </m:r>
                            </m:sup>
                            <m:e>
                              <m:r>
                                <a:rPr lang="en-US" altLang="zh-CN" i="1">
                                  <a:latin typeface="Cambria Math" panose="02040503050406030204" pitchFamily="18" charset="0"/>
                                  <a:ea typeface="宋体" panose="02010600030101010101" pitchFamily="2" charset="-122"/>
                                  <a:cs typeface="Times New Roman" panose="02020603050405020304" pitchFamily="18" charset="0"/>
                                </a:rPr>
                                <m:t>(</m:t>
                              </m:r>
                            </m:e>
                          </m:nary>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groupChr>
                                <m:groupChrPr>
                                  <m:chr m:val="̂"/>
                                  <m:pos m:val="top"/>
                                  <m:vertJc m:val="bot"/>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groupChr>
                            </m:e>
                            <m: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m:t>
                              </m:r>
                            </m:sup>
                          </m:sSup>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m:t>
                              </m:r>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r>
                            <m:rPr>
                              <m:nor/>
                            </m:rPr>
                            <a:rPr lang="zh-CN" altLang="zh-CN" dirty="0">
                              <a:latin typeface="Times New Roman" panose="02020603050405020304" pitchFamily="18" charset="0"/>
                              <a:ea typeface="楷体" panose="02010609060101010101" pitchFamily="49" charset="-122"/>
                              <a:cs typeface="Times New Roman" panose="02020603050405020304" pitchFamily="18" charset="0"/>
                            </a:rPr>
                            <m:t> </m:t>
                          </m:r>
                        </m:e>
                      </m:rad>
                    </m:oMath>
                  </m:oMathPara>
                </a14:m>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5" name="矩形 14">
                <a:extLst>
                  <a:ext uri="{FF2B5EF4-FFF2-40B4-BE49-F238E27FC236}">
                    <a16:creationId xmlns:a16="http://schemas.microsoft.com/office/drawing/2014/main" id="{FCB6F0C4-05E6-EE67-E748-B0D16566658E}"/>
                  </a:ext>
                </a:extLst>
              </p:cNvPr>
              <p:cNvSpPr>
                <a:spLocks noRot="1" noChangeAspect="1" noMove="1" noResize="1" noEditPoints="1" noAdjustHandles="1" noChangeArrowheads="1" noChangeShapeType="1" noTextEdit="1"/>
              </p:cNvSpPr>
              <p:nvPr/>
            </p:nvSpPr>
            <p:spPr>
              <a:xfrm>
                <a:off x="4638510" y="666896"/>
                <a:ext cx="4455995" cy="1926553"/>
              </a:xfrm>
              <a:prstGeom prst="rect">
                <a:avLst/>
              </a:prstGeom>
              <a:blipFill>
                <a:blip r:embed="rId6"/>
                <a:stretch>
                  <a:fillRect l="-1505" t="-2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528698D5-B9A5-CA35-DDAE-D971E143DD9D}"/>
                  </a:ext>
                </a:extLst>
              </p:cNvPr>
              <p:cNvSpPr/>
              <p:nvPr/>
            </p:nvSpPr>
            <p:spPr>
              <a:xfrm>
                <a:off x="4836831" y="3078791"/>
                <a:ext cx="4257674" cy="3229795"/>
              </a:xfrm>
              <a:prstGeom prst="rect">
                <a:avLst/>
              </a:prstGeom>
            </p:spPr>
            <p:txBody>
              <a:bodyPr wrap="square">
                <a:spAutoFit/>
              </a:bodyPr>
              <a:lstStyle/>
              <a:p>
                <a:pPr>
                  <a:spcBef>
                    <a:spcPts val="900"/>
                  </a:spcBef>
                  <a:spcAft>
                    <a:spcPts val="900"/>
                  </a:spcAft>
                </a:pP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R方 [</a:t>
                </a:r>
                <a14:m>
                  <m:oMath xmlns:m="http://schemas.openxmlformats.org/officeDocument/2006/math">
                    <m:r>
                      <a:rPr lang="en-US" altLang="zh-CN" i="1">
                        <a:solidFill>
                          <a:srgbClr val="FF0000"/>
                        </a:solidFill>
                        <a:latin typeface="Cambria Math" panose="02040503050406030204" pitchFamily="18" charset="0"/>
                        <a:ea typeface="+mj-ea"/>
                        <a:cs typeface="Times New Roman" panose="02020603050405020304" pitchFamily="18" charset="0"/>
                      </a:rPr>
                      <m:t>𝑅𝑆𝑞𝑢𝑎𝑟𝑒𝑑</m:t>
                    </m:r>
                  </m:oMath>
                </a14:m>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lang="en-US" altLang="zh-CN" i="1">
                        <a:solidFill>
                          <a:srgbClr val="FF0000"/>
                        </a:solidFill>
                        <a:latin typeface="Cambria Math" panose="02040503050406030204" pitchFamily="18" charset="0"/>
                        <a:ea typeface="+mj-ea"/>
                        <a:cs typeface="Times New Roman" panose="02020603050405020304" pitchFamily="18" charset="0"/>
                      </a:rPr>
                      <m:t>𝑟</m:t>
                    </m:r>
                    <m:r>
                      <a:rPr lang="en-US" altLang="zh-CN" i="1">
                        <a:solidFill>
                          <a:srgbClr val="FF0000"/>
                        </a:solidFill>
                        <a:latin typeface="Cambria Math" panose="02040503050406030204" pitchFamily="18" charset="0"/>
                        <a:ea typeface="+mj-ea"/>
                        <a:cs typeface="Times New Roman" panose="02020603050405020304" pitchFamily="18" charset="0"/>
                      </a:rPr>
                      <m:t>2</m:t>
                    </m:r>
                    <m:r>
                      <a:rPr lang="en-US" altLang="zh-CN" i="1">
                        <a:solidFill>
                          <a:srgbClr val="FF0000"/>
                        </a:solidFill>
                        <a:latin typeface="Cambria Math" panose="02040503050406030204" pitchFamily="18" charset="0"/>
                        <a:ea typeface="+mj-ea"/>
                        <a:cs typeface="Times New Roman" panose="02020603050405020304" pitchFamily="18" charset="0"/>
                      </a:rPr>
                      <m:t>𝑠𝑐𝑜𝑟𝑒</m:t>
                    </m:r>
                  </m:oMath>
                </a14:m>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spcBef>
                    <a:spcPts val="180"/>
                  </a:spcBef>
                  <a:spcAft>
                    <a:spcPts val="180"/>
                  </a:spcAft>
                </a:pPr>
                <a14:m>
                  <m:oMathPara xmlns:m="http://schemas.openxmlformats.org/officeDocument/2006/math">
                    <m:oMathParaPr>
                      <m:jc m:val="left"/>
                    </m:oMathParaPr>
                    <m:oMath xmlns:m="http://schemas.openxmlformats.org/officeDocument/2006/math">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0">
                              <a:latin typeface="Cambria Math" panose="02040503050406030204" pitchFamily="18" charset="0"/>
                              <a:ea typeface="宋体" panose="02010600030101010101" pitchFamily="2" charset="-122"/>
                              <a:cs typeface="Times New Roman" panose="02020603050405020304" pitchFamily="18" charset="0"/>
                            </a:rPr>
                            <m:t>R</m:t>
                          </m:r>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d>
                        <m:d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r>
                            <a:rPr lang="en-US" altLang="zh-CN" i="1">
                              <a:latin typeface="Cambria Math" panose="02040503050406030204" pitchFamily="18" charset="0"/>
                              <a:ea typeface="宋体" panose="02010600030101010101" pitchFamily="2" charset="-122"/>
                              <a:cs typeface="Times New Roman" panose="02020603050405020304" pitchFamily="18" charset="0"/>
                            </a:rPr>
                            <m:t>,</m:t>
                          </m:r>
                          <m:groupChr>
                            <m:groupChrPr>
                              <m:chr m:val="̂"/>
                              <m:pos m:val="top"/>
                              <m:vertJc m:val="bot"/>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groupChr>
                        </m:e>
                      </m:d>
                      <m:r>
                        <a:rPr lang="en-US" altLang="zh-CN" i="1">
                          <a:latin typeface="Cambria Math" panose="02040503050406030204" pitchFamily="18" charset="0"/>
                          <a:ea typeface="宋体" panose="02010600030101010101" pitchFamily="2" charset="-122"/>
                          <a:cs typeface="Times New Roman" panose="02020603050405020304" pitchFamily="18" charset="0"/>
                        </a:rPr>
                        <m:t>=1−</m:t>
                      </m:r>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undOv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a:latin typeface="Cambria Math" panose="02040503050406030204" pitchFamily="18" charset="0"/>
                                  <a:ea typeface="宋体" panose="02010600030101010101" pitchFamily="2" charset="-122"/>
                                  <a:cs typeface="Times New Roman" panose="02020603050405020304" pitchFamily="18" charset="0"/>
                                </a:rPr>
                                <m:t>𝑚</m:t>
                              </m:r>
                            </m:sup>
                            <m:e>
                              <m:r>
                                <a:rPr lang="en-US" altLang="zh-CN" i="1">
                                  <a:latin typeface="Cambria Math" panose="02040503050406030204" pitchFamily="18" charset="0"/>
                                  <a:ea typeface="宋体" panose="02010600030101010101" pitchFamily="2" charset="-122"/>
                                  <a:cs typeface="Times New Roman" panose="02020603050405020304" pitchFamily="18" charset="0"/>
                                </a:rPr>
                                <m:t>(</m:t>
                              </m:r>
                            </m:e>
                          </m:nary>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sup>
                              <m:d>
                                <m:d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i="1">
                                      <a:latin typeface="Cambria Math" panose="02040503050406030204" pitchFamily="18" charset="0"/>
                                      <a:ea typeface="宋体" panose="02010600030101010101" pitchFamily="2" charset="-122"/>
                                      <a:cs typeface="Times New Roman" panose="02020603050405020304" pitchFamily="18" charset="0"/>
                                    </a:rPr>
                                    <m:t>𝑖</m:t>
                                  </m:r>
                                </m:e>
                              </m:d>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groupChr>
                                <m:groupChrPr>
                                  <m:chr m:val="̂"/>
                                  <m:pos m:val="top"/>
                                  <m:vertJc m:val="bot"/>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groupChr>
                            </m:e>
                            <m:sup>
                              <m:d>
                                <m:d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i="1">
                                      <a:latin typeface="Cambria Math" panose="02040503050406030204" pitchFamily="18" charset="0"/>
                                      <a:ea typeface="宋体" panose="02010600030101010101" pitchFamily="2" charset="-122"/>
                                      <a:cs typeface="Times New Roman" panose="02020603050405020304" pitchFamily="18" charset="0"/>
                                    </a:rPr>
                                    <m:t>𝑖</m:t>
                                  </m:r>
                                </m:e>
                              </m:d>
                            </m:sup>
                          </m:sSup>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m:t>
                              </m:r>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num>
                        <m:den>
                          <m:nary>
                            <m:naryPr>
                              <m:chr m:val="∑"/>
                              <m:limLoc m:val="undOv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a:latin typeface="Cambria Math" panose="02040503050406030204" pitchFamily="18" charset="0"/>
                                  <a:ea typeface="宋体" panose="02010600030101010101" pitchFamily="2" charset="-122"/>
                                  <a:cs typeface="Times New Roman" panose="02020603050405020304" pitchFamily="18" charset="0"/>
                                </a:rPr>
                                <m:t>𝑚</m:t>
                              </m:r>
                            </m:sup>
                            <m:e>
                              <m:r>
                                <a:rPr lang="en-US" altLang="zh-CN" i="1">
                                  <a:latin typeface="Cambria Math" panose="02040503050406030204" pitchFamily="18" charset="0"/>
                                  <a:ea typeface="宋体" panose="02010600030101010101" pitchFamily="2" charset="-122"/>
                                  <a:cs typeface="Times New Roman" panose="02020603050405020304" pitchFamily="18" charset="0"/>
                                </a:rPr>
                                <m:t>(</m:t>
                              </m:r>
                            </m:e>
                          </m:nary>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sup>
                              <m:d>
                                <m:d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i="1">
                                      <a:latin typeface="Cambria Math" panose="02040503050406030204" pitchFamily="18" charset="0"/>
                                      <a:ea typeface="宋体" panose="02010600030101010101" pitchFamily="2" charset="-122"/>
                                      <a:cs typeface="Times New Roman" panose="02020603050405020304" pitchFamily="18" charset="0"/>
                                    </a:rPr>
                                    <m:t>𝑖</m:t>
                                  </m:r>
                                </m:e>
                              </m:d>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bar>
                            <m:barPr>
                              <m:pos m:val="top"/>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bar>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m:t>
                              </m:r>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den>
                      </m:f>
                      <m:r>
                        <a:rPr lang="en-US" altLang="zh-CN" i="1">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latin typeface="Cambria Math" panose="02040503050406030204" pitchFamily="18" charset="0"/>
                              <a:ea typeface="宋体" panose="02010600030101010101" pitchFamily="2" charset="-122"/>
                              <a:cs typeface="Times New Roman" panose="02020603050405020304" pitchFamily="18" charset="0"/>
                            </a:rPr>
                            <m:t>SSR</m:t>
                          </m:r>
                        </m:num>
                        <m:den>
                          <m:r>
                            <m:rPr>
                              <m:sty m:val="p"/>
                            </m:rPr>
                            <a:rPr lang="en-US" altLang="zh-CN">
                              <a:latin typeface="Cambria Math" panose="02040503050406030204" pitchFamily="18" charset="0"/>
                              <a:ea typeface="宋体" panose="02010600030101010101" pitchFamily="2" charset="-122"/>
                              <a:cs typeface="Times New Roman" panose="02020603050405020304" pitchFamily="18" charset="0"/>
                            </a:rPr>
                            <m:t>SST</m:t>
                          </m:r>
                        </m:den>
                      </m:f>
                      <m:r>
                        <a:rPr lang="en-US" altLang="zh-CN" i="1">
                          <a:latin typeface="Cambria Math" panose="02040503050406030204" pitchFamily="18" charset="0"/>
                          <a:ea typeface="宋体" panose="02010600030101010101" pitchFamily="2" charset="-122"/>
                          <a:cs typeface="Times New Roman" panose="02020603050405020304" pitchFamily="18" charset="0"/>
                        </a:rPr>
                        <m:t>=1−</m:t>
                      </m:r>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latin typeface="Cambria Math" panose="02040503050406030204" pitchFamily="18" charset="0"/>
                              <a:ea typeface="宋体" panose="02010600030101010101" pitchFamily="2" charset="-122"/>
                              <a:cs typeface="Times New Roman" panose="02020603050405020304" pitchFamily="18" charset="0"/>
                            </a:rPr>
                            <m:t>SSE</m:t>
                          </m:r>
                        </m:num>
                        <m:den>
                          <m:r>
                            <m:rPr>
                              <m:sty m:val="p"/>
                            </m:rPr>
                            <a:rPr lang="en-US" altLang="zh-CN">
                              <a:latin typeface="Cambria Math" panose="02040503050406030204" pitchFamily="18" charset="0"/>
                              <a:ea typeface="宋体" panose="02010600030101010101" pitchFamily="2" charset="-122"/>
                              <a:cs typeface="Times New Roman" panose="02020603050405020304" pitchFamily="18" charset="0"/>
                            </a:rPr>
                            <m:t>SST</m:t>
                          </m:r>
                        </m:den>
                      </m:f>
                    </m:oMath>
                  </m:oMathPara>
                </a14:m>
                <a:endParaRPr lang="en-US" altLang="zh-CN" i="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180"/>
                  </a:spcBef>
                  <a:spcAft>
                    <a:spcPts val="180"/>
                  </a:spcAft>
                </a:pPr>
                <a14:m>
                  <m:oMathPara xmlns:m="http://schemas.openxmlformats.org/officeDocument/2006/math">
                    <m:oMathParaPr>
                      <m:jc m:val="left"/>
                    </m:oMathParaPr>
                    <m:oMath xmlns:m="http://schemas.openxmlformats.org/officeDocument/2006/math">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0">
                              <a:latin typeface="Cambria Math" panose="02040503050406030204" pitchFamily="18" charset="0"/>
                              <a:ea typeface="宋体" panose="02010600030101010101" pitchFamily="2" charset="-122"/>
                              <a:cs typeface="Times New Roman" panose="02020603050405020304" pitchFamily="18" charset="0"/>
                            </a:rPr>
                            <m:t>R</m:t>
                          </m:r>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𝑦</m:t>
                      </m:r>
                      <m:r>
                        <a:rPr lang="en-US" altLang="zh-CN" i="1">
                          <a:latin typeface="Cambria Math" panose="02040503050406030204" pitchFamily="18" charset="0"/>
                          <a:ea typeface="宋体" panose="02010600030101010101" pitchFamily="2" charset="-122"/>
                          <a:cs typeface="Times New Roman" panose="02020603050405020304" pitchFamily="18" charset="0"/>
                        </a:rPr>
                        <m:t>,</m:t>
                      </m:r>
                      <m:groupChr>
                        <m:groupChrPr>
                          <m:chr m:val="̂"/>
                          <m:pos m:val="top"/>
                          <m:vertJc m:val="bot"/>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groupChr>
                      <m:r>
                        <a:rPr lang="en-US" altLang="zh-CN" i="1">
                          <a:latin typeface="Cambria Math" panose="02040503050406030204" pitchFamily="18" charset="0"/>
                          <a:ea typeface="宋体" panose="02010600030101010101" pitchFamily="2" charset="-122"/>
                          <a:cs typeface="Times New Roman" panose="02020603050405020304" pitchFamily="18" charset="0"/>
                        </a:rPr>
                        <m:t>)=1−</m:t>
                      </m:r>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undOv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a:latin typeface="Cambria Math" panose="02040503050406030204" pitchFamily="18" charset="0"/>
                                  <a:ea typeface="宋体" panose="02010600030101010101" pitchFamily="2" charset="-122"/>
                                  <a:cs typeface="Times New Roman" panose="02020603050405020304" pitchFamily="18" charset="0"/>
                                </a:rPr>
                                <m:t>𝑚</m:t>
                              </m:r>
                            </m:sup>
                            <m:e>
                              <m:r>
                                <a:rPr lang="en-US" altLang="zh-CN" i="1">
                                  <a:latin typeface="Cambria Math" panose="02040503050406030204" pitchFamily="18" charset="0"/>
                                  <a:ea typeface="宋体" panose="02010600030101010101" pitchFamily="2" charset="-122"/>
                                  <a:cs typeface="Times New Roman" panose="02020603050405020304" pitchFamily="18" charset="0"/>
                                </a:rPr>
                                <m:t>(</m:t>
                              </m:r>
                            </m:e>
                          </m:nary>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groupChr>
                                <m:groupChrPr>
                                  <m:chr m:val="̂"/>
                                  <m:pos m:val="top"/>
                                  <m:vertJc m:val="bot"/>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groupChr>
                            </m:e>
                            <m: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m:t>
                              </m:r>
                            </m:sup>
                          </m:sSup>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m:t>
                              </m:r>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𝑚</m:t>
                          </m:r>
                        </m:num>
                        <m:den>
                          <m:nary>
                            <m:naryPr>
                              <m:chr m:val="∑"/>
                              <m:limLoc m:val="undOv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a:latin typeface="Cambria Math" panose="02040503050406030204" pitchFamily="18" charset="0"/>
                                  <a:ea typeface="宋体" panose="02010600030101010101" pitchFamily="2" charset="-122"/>
                                  <a:cs typeface="Times New Roman" panose="02020603050405020304" pitchFamily="18" charset="0"/>
                                </a:rPr>
                                <m:t>𝑚</m:t>
                              </m:r>
                            </m:sup>
                            <m:e>
                              <m:r>
                                <a:rPr lang="en-US" altLang="zh-CN" i="1">
                                  <a:latin typeface="Cambria Math" panose="02040503050406030204" pitchFamily="18" charset="0"/>
                                  <a:ea typeface="宋体" panose="02010600030101010101" pitchFamily="2" charset="-122"/>
                                  <a:cs typeface="Times New Roman" panose="02020603050405020304" pitchFamily="18" charset="0"/>
                                </a:rPr>
                                <m:t>(</m:t>
                              </m:r>
                            </m:e>
                          </m:nary>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𝑖</m:t>
                              </m:r>
                              <m:r>
                                <a:rPr lang="en-US" altLang="zh-CN"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bar>
                            <m:barPr>
                              <m:pos m:val="top"/>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i="1">
                                  <a:latin typeface="Cambria Math" panose="02040503050406030204" pitchFamily="18" charset="0"/>
                                  <a:ea typeface="宋体" panose="02010600030101010101" pitchFamily="2" charset="-122"/>
                                  <a:cs typeface="Times New Roman" panose="02020603050405020304" pitchFamily="18" charset="0"/>
                                </a:rPr>
                                <m:t>𝑦</m:t>
                              </m:r>
                            </m:e>
                          </m:bar>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m:t>
                              </m:r>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𝑚</m:t>
                          </m:r>
                        </m:den>
                      </m:f>
                      <m:r>
                        <a:rPr lang="en-US" altLang="zh-CN" i="1">
                          <a:latin typeface="Cambria Math" panose="02040503050406030204" pitchFamily="18" charset="0"/>
                          <a:ea typeface="宋体" panose="02010600030101010101" pitchFamily="2" charset="-122"/>
                          <a:cs typeface="Times New Roman" panose="02020603050405020304" pitchFamily="18" charset="0"/>
                        </a:rPr>
                        <m:t>=1−</m:t>
                      </m:r>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latin typeface="Cambria Math" panose="02040503050406030204" pitchFamily="18" charset="0"/>
                              <a:ea typeface="宋体" panose="02010600030101010101" pitchFamily="2" charset="-122"/>
                              <a:cs typeface="Times New Roman" panose="02020603050405020304" pitchFamily="18" charset="0"/>
                            </a:rPr>
                            <m:t>MSE</m:t>
                          </m:r>
                        </m:num>
                        <m:den>
                          <m:r>
                            <m:rPr>
                              <m:sty m:val="p"/>
                            </m:rPr>
                            <a:rPr lang="en-US" altLang="zh-CN">
                              <a:latin typeface="Cambria Math" panose="02040503050406030204" pitchFamily="18" charset="0"/>
                              <a:ea typeface="宋体" panose="02010600030101010101" pitchFamily="2" charset="-122"/>
                              <a:cs typeface="Times New Roman" panose="02020603050405020304" pitchFamily="18" charset="0"/>
                            </a:rPr>
                            <m:t>Var</m:t>
                          </m:r>
                        </m:den>
                      </m:f>
                    </m:oMath>
                  </m:oMathPara>
                </a14:m>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180"/>
                  </a:spcBef>
                  <a:spcAft>
                    <a:spcPts val="180"/>
                  </a:spcAft>
                </a:pPr>
                <a:r>
                  <a:rPr lang="zh-CN" altLang="en-US"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越接近于</a:t>
                </a:r>
                <a:r>
                  <a:rPr lang="en-US" altLang="zh-CN"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说明模型拟合得越好</a:t>
                </a:r>
              </a:p>
            </p:txBody>
          </p:sp>
        </mc:Choice>
        <mc:Fallback xmlns="">
          <p:sp>
            <p:nvSpPr>
              <p:cNvPr id="16" name="矩形 15">
                <a:extLst>
                  <a:ext uri="{FF2B5EF4-FFF2-40B4-BE49-F238E27FC236}">
                    <a16:creationId xmlns:a16="http://schemas.microsoft.com/office/drawing/2014/main" id="{528698D5-B9A5-CA35-DDAE-D971E143DD9D}"/>
                  </a:ext>
                </a:extLst>
              </p:cNvPr>
              <p:cNvSpPr>
                <a:spLocks noRot="1" noChangeAspect="1" noMove="1" noResize="1" noEditPoints="1" noAdjustHandles="1" noChangeArrowheads="1" noChangeShapeType="1" noTextEdit="1"/>
              </p:cNvSpPr>
              <p:nvPr/>
            </p:nvSpPr>
            <p:spPr>
              <a:xfrm>
                <a:off x="4836831" y="3078791"/>
                <a:ext cx="4257674" cy="3229795"/>
              </a:xfrm>
              <a:prstGeom prst="rect">
                <a:avLst/>
              </a:prstGeom>
              <a:blipFill>
                <a:blip r:embed="rId7"/>
                <a:stretch>
                  <a:fillRect l="-1144" t="-1321" b="-2075"/>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731EA-2125-7C5C-5CDF-A4256DFBB80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62B3F87-82C9-D7CB-AC92-DF1ABF839202}"/>
              </a:ext>
            </a:extLst>
          </p:cNvPr>
          <p:cNvSpPr>
            <a:spLocks noGrp="1"/>
          </p:cNvSpPr>
          <p:nvPr>
            <p:ph type="title"/>
          </p:nvPr>
        </p:nvSpPr>
        <p:spPr/>
        <p:txBody>
          <a:bodyPr numCol="1" anchorCtr="0" compatLnSpc="1"/>
          <a:lstStyle/>
          <a:p>
            <a:pPr fontAlgn="auto">
              <a:spcAft>
                <a:spcPts val="0"/>
              </a:spcAft>
              <a:defRPr/>
            </a:pPr>
            <a:r>
              <a:rPr lang="zh-CN" altLang="en-US" sz="2400" dirty="0">
                <a:solidFill>
                  <a:schemeClr val="tx2"/>
                </a:solidFill>
                <a:latin typeface="Times New Roman" panose="02020603050405020304" pitchFamily="18" charset="0"/>
                <a:ea typeface="楷体" panose="02010609060101010101" pitchFamily="49" charset="-122"/>
              </a:rPr>
              <a:t>机器学习步骤四：数据建模</a:t>
            </a:r>
            <a:r>
              <a:rPr lang="en-US" altLang="zh-CN" sz="2400" dirty="0">
                <a:solidFill>
                  <a:schemeClr val="tx2"/>
                </a:solidFill>
                <a:latin typeface="Times New Roman" panose="02020603050405020304" pitchFamily="18" charset="0"/>
                <a:ea typeface="楷体" panose="02010609060101010101" pitchFamily="49" charset="-122"/>
              </a:rPr>
              <a:t>——</a:t>
            </a:r>
            <a:r>
              <a:rPr lang="zh-CN" altLang="en-US" sz="2400" dirty="0">
                <a:solidFill>
                  <a:schemeClr val="tx2"/>
                </a:solidFill>
                <a:latin typeface="Times New Roman" panose="02020603050405020304" pitchFamily="18" charset="0"/>
                <a:ea typeface="楷体" panose="02010609060101010101" pitchFamily="49" charset="-122"/>
              </a:rPr>
              <a:t>分类评价指标</a:t>
            </a:r>
          </a:p>
        </p:txBody>
      </p:sp>
      <p:pic>
        <p:nvPicPr>
          <p:cNvPr id="5" name="图片 4">
            <a:extLst>
              <a:ext uri="{FF2B5EF4-FFF2-40B4-BE49-F238E27FC236}">
                <a16:creationId xmlns:a16="http://schemas.microsoft.com/office/drawing/2014/main" id="{32F46E0D-86D8-B489-781F-951F106D7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283101"/>
            <a:ext cx="4093298" cy="3365099"/>
          </a:xfrm>
          <a:prstGeom prst="rect">
            <a:avLst/>
          </a:prstGeom>
        </p:spPr>
      </p:pic>
      <p:pic>
        <p:nvPicPr>
          <p:cNvPr id="6" name="图片 5">
            <a:extLst>
              <a:ext uri="{FF2B5EF4-FFF2-40B4-BE49-F238E27FC236}">
                <a16:creationId xmlns:a16="http://schemas.microsoft.com/office/drawing/2014/main" id="{96D11D4F-8E02-B3F2-F4D0-06EB1247CA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1275" y="1283101"/>
            <a:ext cx="4058980" cy="3365099"/>
          </a:xfrm>
          <a:prstGeom prst="rect">
            <a:avLst/>
          </a:prstGeom>
        </p:spPr>
      </p:pic>
      <p:sp>
        <p:nvSpPr>
          <p:cNvPr id="8" name="文本框 7">
            <a:extLst>
              <a:ext uri="{FF2B5EF4-FFF2-40B4-BE49-F238E27FC236}">
                <a16:creationId xmlns:a16="http://schemas.microsoft.com/office/drawing/2014/main" id="{E05DDFD1-8A97-D44A-2909-BDBA763CD40C}"/>
              </a:ext>
            </a:extLst>
          </p:cNvPr>
          <p:cNvSpPr txBox="1"/>
          <p:nvPr/>
        </p:nvSpPr>
        <p:spPr>
          <a:xfrm>
            <a:off x="1600200" y="784554"/>
            <a:ext cx="1631195" cy="461665"/>
          </a:xfrm>
          <a:prstGeom prst="rect">
            <a:avLst/>
          </a:prstGeom>
          <a:noFill/>
        </p:spPr>
        <p:txBody>
          <a:bodyPr wrap="square">
            <a:spAutoFit/>
          </a:bodyPr>
          <a:lstStyle/>
          <a:p>
            <a:pPr algn="ctr"/>
            <a:r>
              <a:rPr lang="en-US" altLang="zh-CN" sz="2400" dirty="0">
                <a:latin typeface="Times New Roman" panose="02020603050405020304" pitchFamily="18" charset="0"/>
              </a:rPr>
              <a:t>ROC</a:t>
            </a:r>
            <a:r>
              <a:rPr lang="zh-CN" altLang="en-US" sz="2400" dirty="0">
                <a:latin typeface="Times New Roman" panose="02020603050405020304" pitchFamily="18" charset="0"/>
              </a:rPr>
              <a:t>曲线</a:t>
            </a:r>
          </a:p>
        </p:txBody>
      </p:sp>
      <p:sp>
        <p:nvSpPr>
          <p:cNvPr id="10" name="文本框 9">
            <a:extLst>
              <a:ext uri="{FF2B5EF4-FFF2-40B4-BE49-F238E27FC236}">
                <a16:creationId xmlns:a16="http://schemas.microsoft.com/office/drawing/2014/main" id="{D32B845B-6B4B-7E25-48C9-8DDC4C19B5FB}"/>
              </a:ext>
            </a:extLst>
          </p:cNvPr>
          <p:cNvSpPr txBox="1"/>
          <p:nvPr/>
        </p:nvSpPr>
        <p:spPr>
          <a:xfrm>
            <a:off x="6400800" y="784554"/>
            <a:ext cx="1494882" cy="461665"/>
          </a:xfrm>
          <a:prstGeom prst="rect">
            <a:avLst/>
          </a:prstGeom>
          <a:noFill/>
        </p:spPr>
        <p:txBody>
          <a:bodyPr wrap="square">
            <a:spAutoFit/>
          </a:bodyPr>
          <a:lstStyle/>
          <a:p>
            <a:pPr algn="ctr"/>
            <a:r>
              <a:rPr lang="en-US" altLang="zh-CN" sz="2400" dirty="0">
                <a:latin typeface="Times New Roman" panose="02020603050405020304" pitchFamily="18" charset="0"/>
              </a:rPr>
              <a:t>PR</a:t>
            </a:r>
            <a:r>
              <a:rPr lang="zh-CN" altLang="en-US" sz="2400" dirty="0">
                <a:latin typeface="Times New Roman" panose="02020603050405020304" pitchFamily="18" charset="0"/>
              </a:rPr>
              <a:t>曲线</a:t>
            </a:r>
          </a:p>
        </p:txBody>
      </p:sp>
      <p:sp>
        <p:nvSpPr>
          <p:cNvPr id="17" name="文本框 16">
            <a:extLst>
              <a:ext uri="{FF2B5EF4-FFF2-40B4-BE49-F238E27FC236}">
                <a16:creationId xmlns:a16="http://schemas.microsoft.com/office/drawing/2014/main" id="{8063C336-E7E0-D433-B071-427E9DB03C80}"/>
              </a:ext>
            </a:extLst>
          </p:cNvPr>
          <p:cNvSpPr txBox="1"/>
          <p:nvPr/>
        </p:nvSpPr>
        <p:spPr>
          <a:xfrm>
            <a:off x="-32198" y="4730171"/>
            <a:ext cx="5013473" cy="1754326"/>
          </a:xfrm>
          <a:prstGeom prst="rect">
            <a:avLst/>
          </a:prstGeom>
          <a:noFill/>
        </p:spPr>
        <p:txBody>
          <a:bodyPr wrap="square">
            <a:spAutoFit/>
          </a:bodyPr>
          <a:lstStyle/>
          <a:p>
            <a:r>
              <a:rPr lang="en-US" altLang="zh-CN" b="1" dirty="0">
                <a:latin typeface="Times New Roman" panose="02020603050405020304" pitchFamily="18" charset="0"/>
              </a:rPr>
              <a:t>​ROC</a:t>
            </a:r>
            <a:r>
              <a:rPr lang="zh-CN" altLang="en-US" b="1" dirty="0">
                <a:latin typeface="Times New Roman" panose="02020603050405020304" pitchFamily="18" charset="0"/>
              </a:rPr>
              <a:t>曲线（</a:t>
            </a:r>
            <a:r>
              <a:rPr lang="en-US" altLang="zh-CN" b="1" dirty="0">
                <a:latin typeface="Times New Roman" panose="02020603050405020304" pitchFamily="18" charset="0"/>
              </a:rPr>
              <a:t>Receiver Operating Characteristic</a:t>
            </a:r>
            <a:r>
              <a:rPr lang="zh-CN" altLang="en-US" b="1" dirty="0">
                <a:latin typeface="Times New Roman" panose="02020603050405020304" pitchFamily="18" charset="0"/>
              </a:rPr>
              <a:t>）</a:t>
            </a:r>
            <a:r>
              <a:rPr lang="zh-CN" altLang="en-US" dirty="0">
                <a:latin typeface="Times New Roman" panose="02020603050405020304" pitchFamily="18" charset="0"/>
              </a:rPr>
              <a:t>​</a:t>
            </a:r>
          </a:p>
          <a:p>
            <a:r>
              <a:rPr lang="zh-CN" altLang="en-US" dirty="0">
                <a:latin typeface="Times New Roman" panose="02020603050405020304" pitchFamily="18" charset="0"/>
              </a:rPr>
              <a:t>横轴为假阳性率（</a:t>
            </a:r>
            <a:r>
              <a:rPr lang="en-US" altLang="zh-CN" dirty="0">
                <a:latin typeface="Times New Roman" panose="02020603050405020304" pitchFamily="18" charset="0"/>
              </a:rPr>
              <a:t>FPR=FP/(FP+TN)</a:t>
            </a:r>
            <a:r>
              <a:rPr lang="zh-CN" altLang="en-US" dirty="0">
                <a:latin typeface="Times New Roman" panose="02020603050405020304" pitchFamily="18" charset="0"/>
              </a:rPr>
              <a:t>），纵轴为真阳性率（</a:t>
            </a:r>
            <a:r>
              <a:rPr lang="en-US" altLang="zh-CN" dirty="0">
                <a:latin typeface="Times New Roman" panose="02020603050405020304" pitchFamily="18" charset="0"/>
              </a:rPr>
              <a:t>TPR=TP/(TP+FN)</a:t>
            </a:r>
            <a:r>
              <a:rPr lang="zh-CN" altLang="en-US" dirty="0">
                <a:latin typeface="Times New Roman" panose="02020603050405020304" pitchFamily="18" charset="0"/>
              </a:rPr>
              <a:t>）。</a:t>
            </a:r>
          </a:p>
          <a:p>
            <a:r>
              <a:rPr lang="zh-CN" altLang="en-US" b="1" dirty="0">
                <a:solidFill>
                  <a:schemeClr val="accent1"/>
                </a:solidFill>
                <a:latin typeface="Times New Roman" panose="02020603050405020304" pitchFamily="18" charset="0"/>
              </a:rPr>
              <a:t>​作用：反映模型在不同阈值下的整体分类能力</a:t>
            </a:r>
            <a:r>
              <a:rPr lang="zh-CN" altLang="en-US" dirty="0">
                <a:latin typeface="Times New Roman" panose="02020603050405020304" pitchFamily="18" charset="0"/>
              </a:rPr>
              <a:t>，</a:t>
            </a:r>
            <a:r>
              <a:rPr lang="en-US" altLang="zh-CN" dirty="0">
                <a:latin typeface="Times New Roman" panose="02020603050405020304" pitchFamily="18" charset="0"/>
              </a:rPr>
              <a:t>AUC-ROC</a:t>
            </a:r>
            <a:r>
              <a:rPr lang="zh-CN" altLang="en-US" dirty="0">
                <a:latin typeface="Times New Roman" panose="02020603050405020304" pitchFamily="18" charset="0"/>
              </a:rPr>
              <a:t>（曲线下面积）衡量模型的全局区分度，理想值为</a:t>
            </a:r>
            <a:r>
              <a:rPr lang="en-US" altLang="zh-CN" dirty="0">
                <a:latin typeface="Times New Roman" panose="02020603050405020304" pitchFamily="18" charset="0"/>
              </a:rPr>
              <a:t>1</a:t>
            </a:r>
            <a:r>
              <a:rPr lang="zh-CN" altLang="en-US" dirty="0">
                <a:latin typeface="Times New Roman" panose="02020603050405020304" pitchFamily="18" charset="0"/>
              </a:rPr>
              <a:t>（完美分类），随机猜测为</a:t>
            </a:r>
            <a:r>
              <a:rPr lang="en-US" altLang="zh-CN" dirty="0">
                <a:latin typeface="Times New Roman" panose="02020603050405020304" pitchFamily="18" charset="0"/>
              </a:rPr>
              <a:t>0.535</a:t>
            </a:r>
            <a:r>
              <a:rPr lang="zh-CN" altLang="en-US" dirty="0">
                <a:latin typeface="Times New Roman" panose="02020603050405020304" pitchFamily="18" charset="0"/>
              </a:rPr>
              <a:t>。</a:t>
            </a:r>
          </a:p>
        </p:txBody>
      </p:sp>
      <p:sp>
        <p:nvSpPr>
          <p:cNvPr id="19" name="文本框 18">
            <a:extLst>
              <a:ext uri="{FF2B5EF4-FFF2-40B4-BE49-F238E27FC236}">
                <a16:creationId xmlns:a16="http://schemas.microsoft.com/office/drawing/2014/main" id="{CD447899-8AA8-15BD-8336-90DBF6C9523F}"/>
              </a:ext>
            </a:extLst>
          </p:cNvPr>
          <p:cNvSpPr txBox="1"/>
          <p:nvPr/>
        </p:nvSpPr>
        <p:spPr>
          <a:xfrm>
            <a:off x="5055084" y="4730171"/>
            <a:ext cx="4088916" cy="1754326"/>
          </a:xfrm>
          <a:prstGeom prst="rect">
            <a:avLst/>
          </a:prstGeom>
          <a:noFill/>
        </p:spPr>
        <p:txBody>
          <a:bodyPr wrap="square">
            <a:spAutoFit/>
          </a:bodyPr>
          <a:lstStyle/>
          <a:p>
            <a:r>
              <a:rPr lang="zh-CN" altLang="en-US" dirty="0">
                <a:latin typeface="Times New Roman" panose="02020603050405020304" pitchFamily="18" charset="0"/>
              </a:rPr>
              <a:t>​</a:t>
            </a:r>
            <a:r>
              <a:rPr lang="en-US" altLang="zh-CN" b="1" dirty="0">
                <a:latin typeface="Times New Roman" panose="02020603050405020304" pitchFamily="18" charset="0"/>
              </a:rPr>
              <a:t>PR</a:t>
            </a:r>
            <a:r>
              <a:rPr lang="zh-CN" altLang="en-US" b="1" dirty="0">
                <a:latin typeface="Times New Roman" panose="02020603050405020304" pitchFamily="18" charset="0"/>
              </a:rPr>
              <a:t>曲线（</a:t>
            </a:r>
            <a:r>
              <a:rPr lang="en-US" altLang="zh-CN" b="1" dirty="0">
                <a:latin typeface="Times New Roman" panose="02020603050405020304" pitchFamily="18" charset="0"/>
              </a:rPr>
              <a:t>Precision-Recall</a:t>
            </a:r>
            <a:r>
              <a:rPr lang="zh-CN" altLang="en-US" b="1" dirty="0">
                <a:latin typeface="Times New Roman" panose="02020603050405020304" pitchFamily="18" charset="0"/>
              </a:rPr>
              <a:t>）</a:t>
            </a:r>
            <a:r>
              <a:rPr lang="zh-CN" altLang="en-US" dirty="0">
                <a:latin typeface="Times New Roman" panose="02020603050405020304" pitchFamily="18" charset="0"/>
              </a:rPr>
              <a:t>​</a:t>
            </a:r>
          </a:p>
          <a:p>
            <a:r>
              <a:rPr lang="zh-CN" altLang="en-US" dirty="0">
                <a:latin typeface="Times New Roman" panose="02020603050405020304" pitchFamily="18" charset="0"/>
              </a:rPr>
              <a:t>横轴为召回率（</a:t>
            </a:r>
            <a:r>
              <a:rPr lang="en-US" altLang="zh-CN" dirty="0">
                <a:latin typeface="Times New Roman" panose="02020603050405020304" pitchFamily="18" charset="0"/>
              </a:rPr>
              <a:t>Recall=TPR</a:t>
            </a:r>
            <a:r>
              <a:rPr lang="zh-CN" altLang="en-US" dirty="0">
                <a:latin typeface="Times New Roman" panose="02020603050405020304" pitchFamily="18" charset="0"/>
              </a:rPr>
              <a:t>），纵轴为精确率（</a:t>
            </a:r>
            <a:r>
              <a:rPr lang="en-US" altLang="zh-CN" dirty="0">
                <a:latin typeface="Times New Roman" panose="02020603050405020304" pitchFamily="18" charset="0"/>
              </a:rPr>
              <a:t>Precision=TP/(TP+FP)</a:t>
            </a:r>
            <a:r>
              <a:rPr lang="zh-CN" altLang="en-US" dirty="0">
                <a:latin typeface="Times New Roman" panose="02020603050405020304" pitchFamily="18" charset="0"/>
              </a:rPr>
              <a:t>）。</a:t>
            </a:r>
          </a:p>
          <a:p>
            <a:r>
              <a:rPr lang="zh-CN" altLang="en-US" b="1" dirty="0">
                <a:solidFill>
                  <a:schemeClr val="accent1"/>
                </a:solidFill>
                <a:latin typeface="Times New Roman" panose="02020603050405020304" pitchFamily="18" charset="0"/>
              </a:rPr>
              <a:t>​作用：聚焦正类样本的预测效果</a:t>
            </a:r>
            <a:r>
              <a:rPr lang="zh-CN" altLang="en-US" dirty="0">
                <a:latin typeface="Times New Roman" panose="02020603050405020304" pitchFamily="18" charset="0"/>
              </a:rPr>
              <a:t>，</a:t>
            </a:r>
            <a:r>
              <a:rPr lang="en-US" altLang="zh-CN" dirty="0">
                <a:latin typeface="Times New Roman" panose="02020603050405020304" pitchFamily="18" charset="0"/>
              </a:rPr>
              <a:t>AUC-PR</a:t>
            </a:r>
            <a:r>
              <a:rPr lang="zh-CN" altLang="en-US" dirty="0">
                <a:latin typeface="Times New Roman" panose="02020603050405020304" pitchFamily="18" charset="0"/>
              </a:rPr>
              <a:t>（曲线下面积）衡量模型在正类上的综合表现，</a:t>
            </a:r>
            <a:r>
              <a:rPr lang="zh-CN" altLang="en-US" b="1" dirty="0">
                <a:solidFill>
                  <a:schemeClr val="accent1"/>
                </a:solidFill>
                <a:latin typeface="Times New Roman" panose="02020603050405020304" pitchFamily="18" charset="0"/>
              </a:rPr>
              <a:t>尤其适合不平衡数据</a:t>
            </a:r>
            <a:r>
              <a:rPr lang="zh-CN" altLang="en-US" dirty="0">
                <a:latin typeface="Times New Roman" panose="02020603050405020304" pitchFamily="18" charset="0"/>
              </a:rPr>
              <a:t>。</a:t>
            </a:r>
          </a:p>
        </p:txBody>
      </p:sp>
    </p:spTree>
    <p:extLst>
      <p:ext uri="{BB962C8B-B14F-4D97-AF65-F5344CB8AC3E}">
        <p14:creationId xmlns:p14="http://schemas.microsoft.com/office/powerpoint/2010/main" val="228960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23631-C60A-4613-D2DF-4A7004B4B6F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9BF8F3-563F-0C1A-6436-21C778D0FBA5}"/>
              </a:ext>
            </a:extLst>
          </p:cNvPr>
          <p:cNvSpPr>
            <a:spLocks noGrp="1"/>
          </p:cNvSpPr>
          <p:nvPr>
            <p:ph type="title"/>
          </p:nvPr>
        </p:nvSpPr>
        <p:spPr>
          <a:xfrm>
            <a:off x="459921" y="56269"/>
            <a:ext cx="8229600" cy="533400"/>
          </a:xfrm>
        </p:spPr>
        <p:txBody>
          <a:bodyPr numCol="1" anchorCtr="0" compatLnSpc="1"/>
          <a:lstStyle/>
          <a:p>
            <a:pPr fontAlgn="auto">
              <a:spcAft>
                <a:spcPts val="0"/>
              </a:spcAft>
              <a:defRPr/>
            </a:pPr>
            <a:r>
              <a:rPr lang="zh-CN" altLang="en-US" sz="2400" dirty="0">
                <a:solidFill>
                  <a:schemeClr val="tx2"/>
                </a:solidFill>
                <a:latin typeface="Times New Roman" panose="02020603050405020304" pitchFamily="18" charset="0"/>
                <a:ea typeface="楷体" panose="02010609060101010101" pitchFamily="49" charset="-122"/>
              </a:rPr>
              <a:t>机器学习步骤四：数据建模</a:t>
            </a:r>
            <a:r>
              <a:rPr lang="en-US" altLang="zh-CN" sz="2400" dirty="0">
                <a:solidFill>
                  <a:schemeClr val="tx2"/>
                </a:solidFill>
                <a:latin typeface="Times New Roman" panose="02020603050405020304" pitchFamily="18" charset="0"/>
                <a:ea typeface="楷体" panose="02010609060101010101" pitchFamily="49" charset="-122"/>
              </a:rPr>
              <a:t>——</a:t>
            </a:r>
            <a:r>
              <a:rPr lang="zh-CN" altLang="en-US" sz="2400" dirty="0">
                <a:solidFill>
                  <a:schemeClr val="tx2"/>
                </a:solidFill>
                <a:latin typeface="Times New Roman" panose="02020603050405020304" pitchFamily="18" charset="0"/>
                <a:ea typeface="楷体" panose="02010609060101010101" pitchFamily="49" charset="-122"/>
              </a:rPr>
              <a:t>泛化性能评价指标</a:t>
            </a:r>
          </a:p>
        </p:txBody>
      </p:sp>
      <p:sp>
        <p:nvSpPr>
          <p:cNvPr id="4" name="文本框 3">
            <a:extLst>
              <a:ext uri="{FF2B5EF4-FFF2-40B4-BE49-F238E27FC236}">
                <a16:creationId xmlns:a16="http://schemas.microsoft.com/office/drawing/2014/main" id="{4AF6D282-816C-7C1A-D901-9FDE30C8DC9E}"/>
              </a:ext>
            </a:extLst>
          </p:cNvPr>
          <p:cNvSpPr txBox="1"/>
          <p:nvPr/>
        </p:nvSpPr>
        <p:spPr>
          <a:xfrm>
            <a:off x="457200" y="685800"/>
            <a:ext cx="8229600" cy="1200329"/>
          </a:xfrm>
          <a:prstGeom prst="rect">
            <a:avLst/>
          </a:prstGeom>
          <a:noFill/>
        </p:spPr>
        <p:txBody>
          <a:bodyPr wrap="square">
            <a:spAutoFit/>
          </a:bodyPr>
          <a:lstStyle/>
          <a:p>
            <a:pPr indent="457200"/>
            <a:r>
              <a:rPr lang="zh-CN" altLang="en-US" b="1" dirty="0">
                <a:latin typeface="Times New Roman" panose="02020603050405020304" pitchFamily="18" charset="0"/>
              </a:rPr>
              <a:t>方差</a:t>
            </a:r>
            <a:r>
              <a:rPr lang="en-US" altLang="zh-CN" b="1" dirty="0">
                <a:latin typeface="Times New Roman" panose="02020603050405020304" pitchFamily="18" charset="0"/>
              </a:rPr>
              <a:t>Variance</a:t>
            </a:r>
            <a:r>
              <a:rPr lang="zh-CN" altLang="en-US" b="1" dirty="0">
                <a:latin typeface="Times New Roman" panose="02020603050405020304" pitchFamily="18" charset="0"/>
              </a:rPr>
              <a:t>：</a:t>
            </a:r>
            <a:r>
              <a:rPr lang="zh-CN" altLang="en-US" dirty="0">
                <a:latin typeface="Times New Roman" panose="02020603050405020304" pitchFamily="18" charset="0"/>
              </a:rPr>
              <a:t>描述的是预测值的变化范围，离散程度，也就是离其期望值的距离。方差越大，数据的分布越分散。</a:t>
            </a:r>
          </a:p>
          <a:p>
            <a:pPr indent="457200"/>
            <a:r>
              <a:rPr lang="zh-CN" altLang="en-US" b="1" dirty="0">
                <a:latin typeface="Times New Roman" panose="02020603050405020304" pitchFamily="18" charset="0"/>
              </a:rPr>
              <a:t>偏差</a:t>
            </a:r>
            <a:r>
              <a:rPr lang="en-US" altLang="zh-CN" b="1" dirty="0">
                <a:latin typeface="Times New Roman" panose="02020603050405020304" pitchFamily="18" charset="0"/>
              </a:rPr>
              <a:t>Bias</a:t>
            </a:r>
            <a:r>
              <a:rPr lang="zh-CN" altLang="en-US" b="1" dirty="0">
                <a:latin typeface="Times New Roman" panose="02020603050405020304" pitchFamily="18" charset="0"/>
              </a:rPr>
              <a:t>：</a:t>
            </a:r>
            <a:r>
              <a:rPr lang="zh-CN" altLang="en-US" dirty="0">
                <a:latin typeface="Times New Roman" panose="02020603050405020304" pitchFamily="18" charset="0"/>
              </a:rPr>
              <a:t>描述的是预测值（估计值）的期望与真实值之间的差距。偏差越大，越偏离真实数据。</a:t>
            </a:r>
          </a:p>
        </p:txBody>
      </p:sp>
      <p:grpSp>
        <p:nvGrpSpPr>
          <p:cNvPr id="7" name="组合 6">
            <a:extLst>
              <a:ext uri="{FF2B5EF4-FFF2-40B4-BE49-F238E27FC236}">
                <a16:creationId xmlns:a16="http://schemas.microsoft.com/office/drawing/2014/main" id="{32DCF967-FFBC-2A67-BF40-A252A4FA3684}"/>
              </a:ext>
            </a:extLst>
          </p:cNvPr>
          <p:cNvGrpSpPr/>
          <p:nvPr/>
        </p:nvGrpSpPr>
        <p:grpSpPr>
          <a:xfrm>
            <a:off x="3124200" y="1554799"/>
            <a:ext cx="6022554" cy="5078044"/>
            <a:chOff x="3888631" y="1600200"/>
            <a:chExt cx="6096000" cy="5078044"/>
          </a:xfrm>
        </p:grpSpPr>
        <p:sp>
          <p:nvSpPr>
            <p:cNvPr id="5" name="矩形: 圆角 4">
              <a:extLst>
                <a:ext uri="{FF2B5EF4-FFF2-40B4-BE49-F238E27FC236}">
                  <a16:creationId xmlns:a16="http://schemas.microsoft.com/office/drawing/2014/main" id="{62AE796D-2620-E6FA-3592-6FF230784768}"/>
                </a:ext>
              </a:extLst>
            </p:cNvPr>
            <p:cNvSpPr/>
            <p:nvPr/>
          </p:nvSpPr>
          <p:spPr>
            <a:xfrm>
              <a:off x="3888631" y="1600200"/>
              <a:ext cx="6096000" cy="4953000"/>
            </a:xfrm>
            <a:prstGeom prst="roundRect">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97F45BF-5363-D71E-90D5-1943C1A99A75}"/>
                    </a:ext>
                  </a:extLst>
                </p:cNvPr>
                <p:cNvSpPr txBox="1"/>
                <p:nvPr/>
              </p:nvSpPr>
              <p:spPr>
                <a:xfrm>
                  <a:off x="4117231" y="1761898"/>
                  <a:ext cx="5867400" cy="4916346"/>
                </a:xfrm>
                <a:prstGeom prst="rect">
                  <a:avLst/>
                </a:prstGeom>
                <a:noFill/>
              </p:spPr>
              <p:txBody>
                <a:bodyPr wrap="square">
                  <a:spAutoFit/>
                </a:bodyPr>
                <a:lstStyle/>
                <a:p>
                  <a:pPr>
                    <a:spcBef>
                      <a:spcPts val="900"/>
                    </a:spcBef>
                    <a:spcAft>
                      <a:spcPts val="900"/>
                    </a:spcAft>
                  </a:pPr>
                  <a:r>
                    <a:rPr lang="en-US" altLang="zh-CN" sz="2000" dirty="0" err="1">
                      <a:effectLst/>
                      <a:latin typeface="Times New Roman" panose="02020603050405020304" pitchFamily="18" charset="0"/>
                      <a:ea typeface="+mj-ea"/>
                      <a:cs typeface="Times New Roman" panose="02020603050405020304" pitchFamily="18" charset="0"/>
                    </a:rPr>
                    <a:t>学习算法的期望预测为</a:t>
                  </a:r>
                  <a:r>
                    <a:rPr lang="zh-CN" altLang="en-US" sz="2000" dirty="0">
                      <a:effectLst/>
                      <a:latin typeface="Times New Roman" panose="02020603050405020304" pitchFamily="18" charset="0"/>
                      <a:ea typeface="+mj-ea"/>
                      <a:cs typeface="Times New Roman" panose="02020603050405020304" pitchFamily="18" charset="0"/>
                    </a:rPr>
                    <a:t>：</a:t>
                  </a:r>
                  <a:endParaRPr lang="zh-CN" altLang="zh-CN" sz="2000" dirty="0">
                    <a:effectLst/>
                    <a:latin typeface="Times New Roman" panose="02020603050405020304" pitchFamily="18" charset="0"/>
                    <a:ea typeface="+mj-ea"/>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bar>
                          <m:barPr>
                            <m:pos m:val="top"/>
                            <m:ctrlPr>
                              <a:rPr lang="zh-CN" altLang="zh-CN" sz="2000" i="1">
                                <a:effectLst/>
                                <a:latin typeface="Cambria Math" panose="02040503050406030204" pitchFamily="18" charset="0"/>
                                <a:ea typeface="+mj-ea"/>
                                <a:cs typeface="Times New Roman" panose="02020603050405020304" pitchFamily="18" charset="0"/>
                              </a:rPr>
                            </m:ctrlPr>
                          </m:barPr>
                          <m:e>
                            <m:r>
                              <a:rPr lang="en-US" altLang="zh-CN" sz="2000" i="1">
                                <a:effectLst/>
                                <a:latin typeface="Cambria Math" panose="02040503050406030204" pitchFamily="18" charset="0"/>
                                <a:ea typeface="+mj-ea"/>
                                <a:cs typeface="Times New Roman" panose="02020603050405020304" pitchFamily="18" charset="0"/>
                              </a:rPr>
                              <m:t>𝑓</m:t>
                            </m:r>
                          </m:e>
                        </m:ba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𝑥</m:t>
                        </m:r>
                        <m:r>
                          <a:rPr lang="en-US" altLang="zh-CN" sz="2000" i="1">
                            <a:effectLst/>
                            <a:latin typeface="Cambria Math" panose="02040503050406030204" pitchFamily="18" charset="0"/>
                            <a:ea typeface="+mj-ea"/>
                            <a:cs typeface="Times New Roman" panose="02020603050405020304" pitchFamily="18" charset="0"/>
                          </a:rPr>
                          <m:t>)=</m:t>
                        </m:r>
                        <m:sSub>
                          <m:sSubPr>
                            <m:ctrlPr>
                              <a:rPr lang="zh-CN" altLang="zh-CN" sz="2000" i="1">
                                <a:effectLst/>
                                <a:latin typeface="Cambria Math" panose="02040503050406030204" pitchFamily="18" charset="0"/>
                                <a:ea typeface="+mj-ea"/>
                                <a:cs typeface="Times New Roman" panose="02020603050405020304" pitchFamily="18" charset="0"/>
                              </a:rPr>
                            </m:ctrlPr>
                          </m:sSubPr>
                          <m:e>
                            <m:r>
                              <a:rPr lang="en-US" altLang="zh-CN" sz="2000" i="1">
                                <a:effectLst/>
                                <a:latin typeface="Cambria Math" panose="02040503050406030204" pitchFamily="18" charset="0"/>
                                <a:ea typeface="+mj-ea"/>
                                <a:cs typeface="Times New Roman" panose="02020603050405020304" pitchFamily="18" charset="0"/>
                              </a:rPr>
                              <m:t>𝐸</m:t>
                            </m:r>
                          </m:e>
                          <m:sub>
                            <m:r>
                              <a:rPr lang="en-US" altLang="zh-CN" sz="2000" i="1">
                                <a:effectLst/>
                                <a:latin typeface="Cambria Math" panose="02040503050406030204" pitchFamily="18" charset="0"/>
                                <a:ea typeface="+mj-ea"/>
                                <a:cs typeface="Times New Roman" panose="02020603050405020304" pitchFamily="18" charset="0"/>
                              </a:rPr>
                              <m:t>𝐷</m:t>
                            </m:r>
                          </m:sub>
                        </m:sSub>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𝑓</m:t>
                        </m: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𝑥</m:t>
                        </m: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𝐷</m:t>
                        </m:r>
                        <m:r>
                          <a:rPr lang="en-US" altLang="zh-CN" sz="2000" i="1">
                            <a:effectLst/>
                            <a:latin typeface="Cambria Math" panose="02040503050406030204" pitchFamily="18" charset="0"/>
                            <a:ea typeface="+mj-ea"/>
                            <a:cs typeface="Times New Roman" panose="02020603050405020304" pitchFamily="18" charset="0"/>
                          </a:rPr>
                          <m:t>)]</m:t>
                        </m:r>
                      </m:oMath>
                    </m:oMathPara>
                  </a14:m>
                  <a:endParaRPr lang="zh-CN" altLang="zh-CN" sz="2000" dirty="0">
                    <a:effectLst/>
                    <a:latin typeface="Times New Roman" panose="02020603050405020304" pitchFamily="18" charset="0"/>
                    <a:ea typeface="+mj-ea"/>
                    <a:cs typeface="Times New Roman" panose="02020603050405020304" pitchFamily="18" charset="0"/>
                  </a:endParaRPr>
                </a:p>
                <a:p>
                  <a:pPr>
                    <a:spcBef>
                      <a:spcPts val="900"/>
                    </a:spcBef>
                    <a:spcAft>
                      <a:spcPts val="900"/>
                    </a:spcAft>
                  </a:pPr>
                  <a:r>
                    <a:rPr lang="zh-CN" altLang="zh-CN" sz="2000" dirty="0">
                      <a:effectLst/>
                      <a:latin typeface="Times New Roman" panose="02020603050405020304" pitchFamily="18" charset="0"/>
                      <a:ea typeface="+mj-ea"/>
                      <a:cs typeface="Times New Roman" panose="02020603050405020304" pitchFamily="18" charset="0"/>
                    </a:rPr>
                    <a:t>期望输出与真实标记的差别称为偏差（</a:t>
                  </a:r>
                  <a:r>
                    <a:rPr lang="en-US" altLang="zh-CN" sz="2000" dirty="0">
                      <a:effectLst/>
                      <a:latin typeface="Times New Roman" panose="02020603050405020304" pitchFamily="18" charset="0"/>
                      <a:ea typeface="+mj-ea"/>
                      <a:cs typeface="Times New Roman" panose="02020603050405020304" pitchFamily="18" charset="0"/>
                    </a:rPr>
                    <a:t>bias</a:t>
                  </a:r>
                  <a:r>
                    <a:rPr lang="zh-CN" altLang="zh-CN" sz="2000" dirty="0">
                      <a:effectLst/>
                      <a:latin typeface="Times New Roman" panose="02020603050405020304" pitchFamily="18" charset="0"/>
                      <a:ea typeface="+mj-ea"/>
                      <a:cs typeface="Times New Roman" panose="02020603050405020304" pitchFamily="18" charset="0"/>
                    </a:rPr>
                    <a:t>），即：</a:t>
                  </a:r>
                </a:p>
                <a:p>
                  <a:pPr>
                    <a:spcBef>
                      <a:spcPts val="900"/>
                    </a:spcBef>
                    <a:spcAft>
                      <a:spcPts val="900"/>
                    </a:spcAft>
                  </a:pPr>
                  <a14:m>
                    <m:oMathPara xmlns:m="http://schemas.openxmlformats.org/officeDocument/2006/math">
                      <m:oMathParaPr>
                        <m:jc m:val="centerGroup"/>
                      </m:oMathParaPr>
                      <m:oMath xmlns:m="http://schemas.openxmlformats.org/officeDocument/2006/math">
                        <m:sSup>
                          <m:sSupPr>
                            <m:ctrlPr>
                              <a:rPr lang="zh-CN" altLang="zh-CN" sz="2000" i="1">
                                <a:effectLst/>
                                <a:latin typeface="Cambria Math" panose="02040503050406030204" pitchFamily="18" charset="0"/>
                                <a:ea typeface="+mj-ea"/>
                                <a:cs typeface="Times New Roman" panose="02020603050405020304" pitchFamily="18" charset="0"/>
                              </a:rPr>
                            </m:ctrlPr>
                          </m:sSupPr>
                          <m:e>
                            <m:r>
                              <m:rPr>
                                <m:sty m:val="p"/>
                              </m:rPr>
                              <a:rPr lang="en-US" altLang="zh-CN" sz="2000">
                                <a:effectLst/>
                                <a:latin typeface="Cambria Math" panose="02040503050406030204" pitchFamily="18" charset="0"/>
                                <a:ea typeface="+mj-ea"/>
                                <a:cs typeface="Times New Roman" panose="02020603050405020304" pitchFamily="18" charset="0"/>
                              </a:rPr>
                              <m:t>bias</m:t>
                            </m:r>
                          </m:e>
                          <m:sup>
                            <m:r>
                              <a:rPr lang="en-US" altLang="zh-CN" sz="2000" i="1">
                                <a:effectLst/>
                                <a:latin typeface="Cambria Math" panose="02040503050406030204" pitchFamily="18" charset="0"/>
                                <a:ea typeface="+mj-ea"/>
                                <a:cs typeface="Times New Roman" panose="02020603050405020304" pitchFamily="18" charset="0"/>
                              </a:rPr>
                              <m:t>2</m:t>
                            </m:r>
                          </m:sup>
                        </m:sSup>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𝑥</m:t>
                        </m:r>
                        <m:r>
                          <a:rPr lang="en-US" altLang="zh-CN" sz="2000" i="1">
                            <a:effectLst/>
                            <a:latin typeface="Cambria Math" panose="02040503050406030204" pitchFamily="18" charset="0"/>
                            <a:ea typeface="+mj-ea"/>
                            <a:cs typeface="Times New Roman" panose="02020603050405020304" pitchFamily="18" charset="0"/>
                          </a:rPr>
                          <m:t>)=(</m:t>
                        </m:r>
                        <m:bar>
                          <m:barPr>
                            <m:pos m:val="top"/>
                            <m:ctrlPr>
                              <a:rPr lang="zh-CN" altLang="zh-CN" sz="2000" i="1">
                                <a:effectLst/>
                                <a:latin typeface="Cambria Math" panose="02040503050406030204" pitchFamily="18" charset="0"/>
                                <a:ea typeface="+mj-ea"/>
                                <a:cs typeface="Times New Roman" panose="02020603050405020304" pitchFamily="18" charset="0"/>
                              </a:rPr>
                            </m:ctrlPr>
                          </m:barPr>
                          <m:e>
                            <m:r>
                              <a:rPr lang="en-US" altLang="zh-CN" sz="2000" i="1">
                                <a:effectLst/>
                                <a:latin typeface="Cambria Math" panose="02040503050406030204" pitchFamily="18" charset="0"/>
                                <a:ea typeface="+mj-ea"/>
                                <a:cs typeface="Times New Roman" panose="02020603050405020304" pitchFamily="18" charset="0"/>
                              </a:rPr>
                              <m:t>𝑓</m:t>
                            </m:r>
                          </m:e>
                        </m:ba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𝑥</m:t>
                        </m: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𝑦</m:t>
                        </m:r>
                        <m:sSup>
                          <m:sSupPr>
                            <m:ctrlPr>
                              <a:rPr lang="zh-CN" altLang="zh-CN" sz="2000" i="1">
                                <a:effectLst/>
                                <a:latin typeface="Cambria Math" panose="02040503050406030204" pitchFamily="18" charset="0"/>
                                <a:ea typeface="+mj-ea"/>
                                <a:cs typeface="Times New Roman" panose="02020603050405020304" pitchFamily="18" charset="0"/>
                              </a:rPr>
                            </m:ctrlPr>
                          </m:sSupPr>
                          <m:e>
                            <m:r>
                              <a:rPr lang="en-US" altLang="zh-CN" sz="2000" i="1">
                                <a:effectLst/>
                                <a:latin typeface="Cambria Math" panose="02040503050406030204" pitchFamily="18" charset="0"/>
                                <a:ea typeface="+mj-ea"/>
                                <a:cs typeface="Times New Roman" panose="02020603050405020304" pitchFamily="18" charset="0"/>
                              </a:rPr>
                              <m:t>)</m:t>
                            </m:r>
                          </m:e>
                          <m:sup>
                            <m:r>
                              <a:rPr lang="en-US" altLang="zh-CN" sz="2000" i="1">
                                <a:effectLst/>
                                <a:latin typeface="Cambria Math" panose="02040503050406030204" pitchFamily="18" charset="0"/>
                                <a:ea typeface="+mj-ea"/>
                                <a:cs typeface="Times New Roman" panose="02020603050405020304" pitchFamily="18" charset="0"/>
                              </a:rPr>
                              <m:t>2</m:t>
                            </m:r>
                          </m:sup>
                        </m:sSup>
                      </m:oMath>
                    </m:oMathPara>
                  </a14:m>
                  <a:endParaRPr lang="zh-CN" altLang="zh-CN" sz="2000" dirty="0">
                    <a:effectLst/>
                    <a:latin typeface="Times New Roman" panose="02020603050405020304" pitchFamily="18" charset="0"/>
                    <a:ea typeface="+mj-ea"/>
                    <a:cs typeface="Times New Roman" panose="02020603050405020304" pitchFamily="18" charset="0"/>
                  </a:endParaRPr>
                </a:p>
                <a:p>
                  <a:pPr>
                    <a:spcBef>
                      <a:spcPts val="900"/>
                    </a:spcBef>
                    <a:spcAft>
                      <a:spcPts val="900"/>
                    </a:spcAft>
                  </a:pPr>
                  <a:r>
                    <a:rPr lang="zh-CN" altLang="zh-CN" sz="2000" dirty="0">
                      <a:effectLst/>
                      <a:latin typeface="Times New Roman" panose="02020603050405020304" pitchFamily="18" charset="0"/>
                      <a:ea typeface="+mj-ea"/>
                      <a:cs typeface="Times New Roman" panose="02020603050405020304" pitchFamily="18" charset="0"/>
                    </a:rPr>
                    <a:t>使用样本数相同的不同训练集产生的方差为：</a:t>
                  </a:r>
                </a:p>
                <a:p>
                  <a:pPr>
                    <a:spcBef>
                      <a:spcPts val="900"/>
                    </a:spcBef>
                    <a:spcAft>
                      <a:spcPts val="900"/>
                    </a:spcAft>
                  </a:pPr>
                  <a14:m>
                    <m:oMathPara xmlns:m="http://schemas.openxmlformats.org/officeDocument/2006/math">
                      <m:oMathParaPr>
                        <m:jc m:val="centerGroup"/>
                      </m:oMathParaPr>
                      <m:oMath xmlns:m="http://schemas.openxmlformats.org/officeDocument/2006/math">
                        <m:r>
                          <m:rPr>
                            <m:sty m:val="p"/>
                          </m:rPr>
                          <a:rPr lang="en-US" altLang="zh-CN" sz="2000">
                            <a:effectLst/>
                            <a:latin typeface="Cambria Math" panose="02040503050406030204" pitchFamily="18" charset="0"/>
                            <a:ea typeface="+mj-ea"/>
                            <a:cs typeface="Times New Roman" panose="02020603050405020304" pitchFamily="18" charset="0"/>
                          </a:rPr>
                          <m:t>var</m:t>
                        </m: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𝑥</m:t>
                        </m:r>
                        <m:r>
                          <a:rPr lang="en-US" altLang="zh-CN" sz="2000" i="1">
                            <a:effectLst/>
                            <a:latin typeface="Cambria Math" panose="02040503050406030204" pitchFamily="18" charset="0"/>
                            <a:ea typeface="+mj-ea"/>
                            <a:cs typeface="Times New Roman" panose="02020603050405020304" pitchFamily="18" charset="0"/>
                          </a:rPr>
                          <m:t>)=</m:t>
                        </m:r>
                        <m:sSub>
                          <m:sSubPr>
                            <m:ctrlPr>
                              <a:rPr lang="zh-CN" altLang="zh-CN" sz="2000" i="1">
                                <a:effectLst/>
                                <a:latin typeface="Cambria Math" panose="02040503050406030204" pitchFamily="18" charset="0"/>
                                <a:ea typeface="+mj-ea"/>
                                <a:cs typeface="Times New Roman" panose="02020603050405020304" pitchFamily="18" charset="0"/>
                              </a:rPr>
                            </m:ctrlPr>
                          </m:sSubPr>
                          <m:e>
                            <m:r>
                              <a:rPr lang="en-US" altLang="zh-CN" sz="2000" i="1">
                                <a:effectLst/>
                                <a:latin typeface="Cambria Math" panose="02040503050406030204" pitchFamily="18" charset="0"/>
                                <a:ea typeface="+mj-ea"/>
                                <a:cs typeface="Times New Roman" panose="02020603050405020304" pitchFamily="18" charset="0"/>
                              </a:rPr>
                              <m:t>𝐸</m:t>
                            </m:r>
                          </m:e>
                          <m:sub>
                            <m:r>
                              <a:rPr lang="en-US" altLang="zh-CN" sz="2000" i="1">
                                <a:effectLst/>
                                <a:latin typeface="Cambria Math" panose="02040503050406030204" pitchFamily="18" charset="0"/>
                                <a:ea typeface="+mj-ea"/>
                                <a:cs typeface="Times New Roman" panose="02020603050405020304" pitchFamily="18" charset="0"/>
                              </a:rPr>
                              <m:t>𝐷</m:t>
                            </m:r>
                          </m:sub>
                        </m:sSub>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𝑓</m:t>
                        </m: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𝑥</m:t>
                        </m: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𝐷</m:t>
                        </m:r>
                        <m:r>
                          <a:rPr lang="en-US" altLang="zh-CN" sz="2000" i="1">
                            <a:effectLst/>
                            <a:latin typeface="Cambria Math" panose="02040503050406030204" pitchFamily="18" charset="0"/>
                            <a:ea typeface="+mj-ea"/>
                            <a:cs typeface="Times New Roman" panose="02020603050405020304" pitchFamily="18" charset="0"/>
                          </a:rPr>
                          <m:t>)−</m:t>
                        </m:r>
                        <m:bar>
                          <m:barPr>
                            <m:pos m:val="top"/>
                            <m:ctrlPr>
                              <a:rPr lang="zh-CN" altLang="zh-CN" sz="2000" i="1">
                                <a:effectLst/>
                                <a:latin typeface="Cambria Math" panose="02040503050406030204" pitchFamily="18" charset="0"/>
                                <a:ea typeface="+mj-ea"/>
                                <a:cs typeface="Times New Roman" panose="02020603050405020304" pitchFamily="18" charset="0"/>
                              </a:rPr>
                            </m:ctrlPr>
                          </m:barPr>
                          <m:e>
                            <m:r>
                              <a:rPr lang="en-US" altLang="zh-CN" sz="2000" i="1">
                                <a:effectLst/>
                                <a:latin typeface="Cambria Math" panose="02040503050406030204" pitchFamily="18" charset="0"/>
                                <a:ea typeface="+mj-ea"/>
                                <a:cs typeface="Times New Roman" panose="02020603050405020304" pitchFamily="18" charset="0"/>
                              </a:rPr>
                              <m:t>𝑓</m:t>
                            </m:r>
                          </m:e>
                        </m:ba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𝑥</m:t>
                        </m:r>
                        <m:r>
                          <a:rPr lang="en-US" altLang="zh-CN" sz="2000" i="1">
                            <a:effectLst/>
                            <a:latin typeface="Cambria Math" panose="02040503050406030204" pitchFamily="18" charset="0"/>
                            <a:ea typeface="+mj-ea"/>
                            <a:cs typeface="Times New Roman" panose="02020603050405020304" pitchFamily="18" charset="0"/>
                          </a:rPr>
                          <m:t>)</m:t>
                        </m:r>
                        <m:sSup>
                          <m:sSupPr>
                            <m:ctrlPr>
                              <a:rPr lang="zh-CN" altLang="zh-CN" sz="2000" i="1">
                                <a:effectLst/>
                                <a:latin typeface="Cambria Math" panose="02040503050406030204" pitchFamily="18" charset="0"/>
                                <a:ea typeface="+mj-ea"/>
                                <a:cs typeface="Times New Roman" panose="02020603050405020304" pitchFamily="18" charset="0"/>
                              </a:rPr>
                            </m:ctrlPr>
                          </m:sSupPr>
                          <m:e>
                            <m:r>
                              <a:rPr lang="en-US" altLang="zh-CN" sz="2000" i="1">
                                <a:effectLst/>
                                <a:latin typeface="Cambria Math" panose="02040503050406030204" pitchFamily="18" charset="0"/>
                                <a:ea typeface="+mj-ea"/>
                                <a:cs typeface="Times New Roman" panose="02020603050405020304" pitchFamily="18" charset="0"/>
                              </a:rPr>
                              <m:t>)</m:t>
                            </m:r>
                          </m:e>
                          <m:sup>
                            <m:r>
                              <a:rPr lang="en-US" altLang="zh-CN" sz="2000" i="1">
                                <a:effectLst/>
                                <a:latin typeface="Cambria Math" panose="02040503050406030204" pitchFamily="18" charset="0"/>
                                <a:ea typeface="+mj-ea"/>
                                <a:cs typeface="Times New Roman" panose="02020603050405020304" pitchFamily="18" charset="0"/>
                              </a:rPr>
                              <m:t>2</m:t>
                            </m:r>
                          </m:sup>
                        </m:sSup>
                        <m:r>
                          <a:rPr lang="en-US" altLang="zh-CN" sz="2000" i="1">
                            <a:effectLst/>
                            <a:latin typeface="Cambria Math" panose="02040503050406030204" pitchFamily="18" charset="0"/>
                            <a:ea typeface="+mj-ea"/>
                            <a:cs typeface="Times New Roman" panose="02020603050405020304" pitchFamily="18" charset="0"/>
                          </a:rPr>
                          <m:t>]</m:t>
                        </m:r>
                      </m:oMath>
                    </m:oMathPara>
                  </a14:m>
                  <a:endParaRPr lang="zh-CN" altLang="zh-CN" sz="2000" dirty="0">
                    <a:effectLst/>
                    <a:latin typeface="Times New Roman" panose="02020603050405020304" pitchFamily="18" charset="0"/>
                    <a:ea typeface="+mj-ea"/>
                    <a:cs typeface="Times New Roman" panose="02020603050405020304" pitchFamily="18" charset="0"/>
                  </a:endParaRPr>
                </a:p>
                <a:p>
                  <a:pPr>
                    <a:spcBef>
                      <a:spcPts val="900"/>
                    </a:spcBef>
                    <a:spcAft>
                      <a:spcPts val="900"/>
                    </a:spcAft>
                  </a:pPr>
                  <a:r>
                    <a:rPr lang="en-US" altLang="zh-CN" sz="2000" dirty="0" err="1">
                      <a:effectLst/>
                      <a:latin typeface="Times New Roman" panose="02020603050405020304" pitchFamily="18" charset="0"/>
                      <a:ea typeface="+mj-ea"/>
                      <a:cs typeface="Times New Roman" panose="02020603050405020304" pitchFamily="18" charset="0"/>
                    </a:rPr>
                    <a:t>噪声为</a:t>
                  </a:r>
                  <a:r>
                    <a:rPr lang="en-US" altLang="zh-CN" sz="2000" dirty="0">
                      <a:effectLst/>
                      <a:latin typeface="Times New Roman" panose="02020603050405020304" pitchFamily="18" charset="0"/>
                      <a:ea typeface="+mj-ea"/>
                      <a:cs typeface="Times New Roman" panose="02020603050405020304" pitchFamily="18" charset="0"/>
                    </a:rPr>
                    <a:t>：</a:t>
                  </a:r>
                  <a:endParaRPr lang="zh-CN" altLang="zh-CN" sz="2000" dirty="0">
                    <a:effectLst/>
                    <a:latin typeface="Times New Roman" panose="02020603050405020304" pitchFamily="18" charset="0"/>
                    <a:ea typeface="+mj-ea"/>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sSup>
                          <m:sSupPr>
                            <m:ctrlPr>
                              <a:rPr lang="zh-CN" altLang="zh-CN" sz="2000" i="1">
                                <a:effectLst/>
                                <a:latin typeface="Cambria Math" panose="02040503050406030204" pitchFamily="18" charset="0"/>
                                <a:ea typeface="+mj-ea"/>
                                <a:cs typeface="Times New Roman" panose="02020603050405020304" pitchFamily="18" charset="0"/>
                              </a:rPr>
                            </m:ctrlPr>
                          </m:sSupPr>
                          <m:e>
                            <m:r>
                              <a:rPr lang="en-US" altLang="zh-CN" sz="2000" i="1">
                                <a:effectLst/>
                                <a:latin typeface="Cambria Math" panose="02040503050406030204" pitchFamily="18" charset="0"/>
                                <a:ea typeface="+mj-ea"/>
                                <a:cs typeface="Times New Roman" panose="02020603050405020304" pitchFamily="18" charset="0"/>
                              </a:rPr>
                              <m:t>𝜀</m:t>
                            </m:r>
                          </m:e>
                          <m:sup>
                            <m:r>
                              <a:rPr lang="en-US" altLang="zh-CN" sz="2000" i="1">
                                <a:effectLst/>
                                <a:latin typeface="Cambria Math" panose="02040503050406030204" pitchFamily="18" charset="0"/>
                                <a:ea typeface="+mj-ea"/>
                                <a:cs typeface="Times New Roman" panose="02020603050405020304" pitchFamily="18" charset="0"/>
                              </a:rPr>
                              <m:t>2</m:t>
                            </m:r>
                          </m:sup>
                        </m:sSup>
                        <m:r>
                          <a:rPr lang="en-US" altLang="zh-CN" sz="2000" i="1">
                            <a:effectLst/>
                            <a:latin typeface="Cambria Math" panose="02040503050406030204" pitchFamily="18" charset="0"/>
                            <a:ea typeface="+mj-ea"/>
                            <a:cs typeface="Times New Roman" panose="02020603050405020304" pitchFamily="18" charset="0"/>
                          </a:rPr>
                          <m:t>=</m:t>
                        </m:r>
                        <m:sSub>
                          <m:sSubPr>
                            <m:ctrlPr>
                              <a:rPr lang="zh-CN" altLang="zh-CN" sz="2000" i="1">
                                <a:effectLst/>
                                <a:latin typeface="Cambria Math" panose="02040503050406030204" pitchFamily="18" charset="0"/>
                                <a:ea typeface="+mj-ea"/>
                                <a:cs typeface="Times New Roman" panose="02020603050405020304" pitchFamily="18" charset="0"/>
                              </a:rPr>
                            </m:ctrlPr>
                          </m:sSubPr>
                          <m:e>
                            <m:r>
                              <a:rPr lang="en-US" altLang="zh-CN" sz="2000" i="1">
                                <a:effectLst/>
                                <a:latin typeface="Cambria Math" panose="02040503050406030204" pitchFamily="18" charset="0"/>
                                <a:ea typeface="+mj-ea"/>
                                <a:cs typeface="Times New Roman" panose="02020603050405020304" pitchFamily="18" charset="0"/>
                              </a:rPr>
                              <m:t>𝐸</m:t>
                            </m:r>
                          </m:e>
                          <m:sub>
                            <m:r>
                              <a:rPr lang="en-US" altLang="zh-CN" sz="2000" i="1">
                                <a:effectLst/>
                                <a:latin typeface="Cambria Math" panose="02040503050406030204" pitchFamily="18" charset="0"/>
                                <a:ea typeface="+mj-ea"/>
                                <a:cs typeface="Times New Roman" panose="02020603050405020304" pitchFamily="18" charset="0"/>
                              </a:rPr>
                              <m:t>𝐷</m:t>
                            </m:r>
                          </m:sub>
                        </m:sSub>
                        <m:r>
                          <a:rPr lang="en-US" altLang="zh-CN" sz="2000" i="1">
                            <a:effectLst/>
                            <a:latin typeface="Cambria Math" panose="02040503050406030204" pitchFamily="18" charset="0"/>
                            <a:ea typeface="+mj-ea"/>
                            <a:cs typeface="Times New Roman" panose="02020603050405020304" pitchFamily="18" charset="0"/>
                          </a:rPr>
                          <m:t>[(</m:t>
                        </m:r>
                        <m:sSub>
                          <m:sSubPr>
                            <m:ctrlPr>
                              <a:rPr lang="zh-CN" altLang="zh-CN" sz="2000" i="1">
                                <a:effectLst/>
                                <a:latin typeface="Cambria Math" panose="02040503050406030204" pitchFamily="18" charset="0"/>
                                <a:ea typeface="+mj-ea"/>
                                <a:cs typeface="Times New Roman" panose="02020603050405020304" pitchFamily="18" charset="0"/>
                              </a:rPr>
                            </m:ctrlPr>
                          </m:sSubPr>
                          <m:e>
                            <m:r>
                              <a:rPr lang="en-US" altLang="zh-CN" sz="2000" i="1">
                                <a:effectLst/>
                                <a:latin typeface="Cambria Math" panose="02040503050406030204" pitchFamily="18" charset="0"/>
                                <a:ea typeface="+mj-ea"/>
                                <a:cs typeface="Times New Roman" panose="02020603050405020304" pitchFamily="18" charset="0"/>
                              </a:rPr>
                              <m:t>𝑦</m:t>
                            </m:r>
                          </m:e>
                          <m:sub>
                            <m:r>
                              <a:rPr lang="en-US" altLang="zh-CN" sz="2000" i="1">
                                <a:effectLst/>
                                <a:latin typeface="Cambria Math" panose="02040503050406030204" pitchFamily="18" charset="0"/>
                                <a:ea typeface="+mj-ea"/>
                                <a:cs typeface="Times New Roman" panose="02020603050405020304" pitchFamily="18" charset="0"/>
                              </a:rPr>
                              <m:t>𝐷</m:t>
                            </m:r>
                          </m:sub>
                        </m:sSub>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𝑦</m:t>
                        </m:r>
                        <m:sSup>
                          <m:sSupPr>
                            <m:ctrlPr>
                              <a:rPr lang="zh-CN" altLang="zh-CN" sz="2000" i="1">
                                <a:effectLst/>
                                <a:latin typeface="Cambria Math" panose="02040503050406030204" pitchFamily="18" charset="0"/>
                                <a:ea typeface="+mj-ea"/>
                                <a:cs typeface="Times New Roman" panose="02020603050405020304" pitchFamily="18" charset="0"/>
                              </a:rPr>
                            </m:ctrlPr>
                          </m:sSupPr>
                          <m:e>
                            <m:r>
                              <a:rPr lang="en-US" altLang="zh-CN" sz="2000" i="1">
                                <a:effectLst/>
                                <a:latin typeface="Cambria Math" panose="02040503050406030204" pitchFamily="18" charset="0"/>
                                <a:ea typeface="+mj-ea"/>
                                <a:cs typeface="Times New Roman" panose="02020603050405020304" pitchFamily="18" charset="0"/>
                              </a:rPr>
                              <m:t>)</m:t>
                            </m:r>
                          </m:e>
                          <m:sup>
                            <m:r>
                              <a:rPr lang="en-US" altLang="zh-CN" sz="2000" i="1">
                                <a:effectLst/>
                                <a:latin typeface="Cambria Math" panose="02040503050406030204" pitchFamily="18" charset="0"/>
                                <a:ea typeface="+mj-ea"/>
                                <a:cs typeface="Times New Roman" panose="02020603050405020304" pitchFamily="18" charset="0"/>
                              </a:rPr>
                              <m:t>2</m:t>
                            </m:r>
                          </m:sup>
                        </m:sSup>
                        <m:r>
                          <a:rPr lang="en-US" altLang="zh-CN" sz="2000" i="1">
                            <a:effectLst/>
                            <a:latin typeface="Cambria Math" panose="02040503050406030204" pitchFamily="18" charset="0"/>
                            <a:ea typeface="+mj-ea"/>
                            <a:cs typeface="Times New Roman" panose="02020603050405020304" pitchFamily="18" charset="0"/>
                          </a:rPr>
                          <m:t>]</m:t>
                        </m:r>
                      </m:oMath>
                    </m:oMathPara>
                  </a14:m>
                  <a:endParaRPr lang="zh-CN" altLang="zh-CN" sz="2000" dirty="0">
                    <a:effectLst/>
                    <a:latin typeface="Times New Roman" panose="02020603050405020304" pitchFamily="18" charset="0"/>
                    <a:ea typeface="+mj-ea"/>
                    <a:cs typeface="Times New Roman" panose="02020603050405020304" pitchFamily="18" charset="0"/>
                  </a:endParaRPr>
                </a:p>
                <a:p>
                  <a:pPr>
                    <a:spcBef>
                      <a:spcPts val="900"/>
                    </a:spcBef>
                    <a:spcAft>
                      <a:spcPts val="900"/>
                    </a:spcAft>
                  </a:pPr>
                  <a:r>
                    <a:rPr lang="zh-CN" altLang="zh-CN" sz="2000" dirty="0">
                      <a:effectLst/>
                      <a:latin typeface="Times New Roman" panose="02020603050405020304" pitchFamily="18" charset="0"/>
                      <a:ea typeface="+mj-ea"/>
                      <a:cs typeface="Times New Roman" panose="02020603050405020304" pitchFamily="18" charset="0"/>
                    </a:rPr>
                    <a:t>则泛化误差可分解为偏差、方差与噪声之和。</a:t>
                  </a: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2000" i="1">
                            <a:effectLst/>
                            <a:latin typeface="Cambria Math" panose="02040503050406030204" pitchFamily="18" charset="0"/>
                            <a:ea typeface="+mj-ea"/>
                            <a:cs typeface="Times New Roman" panose="02020603050405020304" pitchFamily="18" charset="0"/>
                          </a:rPr>
                          <m:t>𝐸</m:t>
                        </m: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𝑓</m:t>
                        </m: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𝐷</m:t>
                        </m:r>
                        <m:r>
                          <a:rPr lang="en-US" altLang="zh-CN" sz="2000" i="1">
                            <a:effectLst/>
                            <a:latin typeface="Cambria Math" panose="02040503050406030204" pitchFamily="18" charset="0"/>
                            <a:ea typeface="+mj-ea"/>
                            <a:cs typeface="Times New Roman" panose="02020603050405020304" pitchFamily="18" charset="0"/>
                          </a:rPr>
                          <m:t>)=</m:t>
                        </m:r>
                        <m:sSup>
                          <m:sSupPr>
                            <m:ctrlPr>
                              <a:rPr lang="zh-CN" altLang="zh-CN" sz="2000" i="1">
                                <a:effectLst/>
                                <a:latin typeface="Cambria Math" panose="02040503050406030204" pitchFamily="18" charset="0"/>
                                <a:ea typeface="+mj-ea"/>
                                <a:cs typeface="Times New Roman" panose="02020603050405020304" pitchFamily="18" charset="0"/>
                              </a:rPr>
                            </m:ctrlPr>
                          </m:sSupPr>
                          <m:e>
                            <m:r>
                              <m:rPr>
                                <m:sty m:val="p"/>
                              </m:rPr>
                              <a:rPr lang="en-US" altLang="zh-CN" sz="2000">
                                <a:effectLst/>
                                <a:latin typeface="Cambria Math" panose="02040503050406030204" pitchFamily="18" charset="0"/>
                                <a:ea typeface="+mj-ea"/>
                                <a:cs typeface="Times New Roman" panose="02020603050405020304" pitchFamily="18" charset="0"/>
                              </a:rPr>
                              <m:t>bias</m:t>
                            </m:r>
                          </m:e>
                          <m:sup>
                            <m:r>
                              <a:rPr lang="en-US" altLang="zh-CN" sz="2000" i="1">
                                <a:effectLst/>
                                <a:latin typeface="Cambria Math" panose="02040503050406030204" pitchFamily="18" charset="0"/>
                                <a:ea typeface="+mj-ea"/>
                                <a:cs typeface="Times New Roman" panose="02020603050405020304" pitchFamily="18" charset="0"/>
                              </a:rPr>
                              <m:t>2</m:t>
                            </m:r>
                          </m:sup>
                        </m:sSup>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𝑥</m:t>
                        </m:r>
                        <m:r>
                          <a:rPr lang="en-US" altLang="zh-CN" sz="2000" i="1">
                            <a:effectLst/>
                            <a:latin typeface="Cambria Math" panose="02040503050406030204" pitchFamily="18" charset="0"/>
                            <a:ea typeface="+mj-ea"/>
                            <a:cs typeface="Times New Roman" panose="02020603050405020304" pitchFamily="18" charset="0"/>
                          </a:rPr>
                          <m:t>)+</m:t>
                        </m:r>
                        <m:r>
                          <m:rPr>
                            <m:sty m:val="p"/>
                          </m:rPr>
                          <a:rPr lang="en-US" altLang="zh-CN" sz="2000">
                            <a:effectLst/>
                            <a:latin typeface="Cambria Math" panose="02040503050406030204" pitchFamily="18" charset="0"/>
                            <a:ea typeface="+mj-ea"/>
                            <a:cs typeface="Times New Roman" panose="02020603050405020304" pitchFamily="18" charset="0"/>
                          </a:rPr>
                          <m:t>var</m:t>
                        </m:r>
                        <m:r>
                          <a:rPr lang="en-US" altLang="zh-CN" sz="2000" i="1">
                            <a:effectLst/>
                            <a:latin typeface="Cambria Math" panose="02040503050406030204" pitchFamily="18" charset="0"/>
                            <a:ea typeface="+mj-ea"/>
                            <a:cs typeface="Times New Roman" panose="02020603050405020304" pitchFamily="18" charset="0"/>
                          </a:rPr>
                          <m:t>(</m:t>
                        </m:r>
                        <m:r>
                          <a:rPr lang="en-US" altLang="zh-CN" sz="2000" i="1">
                            <a:effectLst/>
                            <a:latin typeface="Cambria Math" panose="02040503050406030204" pitchFamily="18" charset="0"/>
                            <a:ea typeface="+mj-ea"/>
                            <a:cs typeface="Times New Roman" panose="02020603050405020304" pitchFamily="18" charset="0"/>
                          </a:rPr>
                          <m:t>𝑥</m:t>
                        </m:r>
                        <m:r>
                          <a:rPr lang="en-US" altLang="zh-CN" sz="2000" i="1">
                            <a:effectLst/>
                            <a:latin typeface="Cambria Math" panose="02040503050406030204" pitchFamily="18" charset="0"/>
                            <a:ea typeface="+mj-ea"/>
                            <a:cs typeface="Times New Roman" panose="02020603050405020304" pitchFamily="18" charset="0"/>
                          </a:rPr>
                          <m:t>)+</m:t>
                        </m:r>
                        <m:sSup>
                          <m:sSupPr>
                            <m:ctrlPr>
                              <a:rPr lang="zh-CN" altLang="zh-CN" sz="2000" i="1">
                                <a:effectLst/>
                                <a:latin typeface="Cambria Math" panose="02040503050406030204" pitchFamily="18" charset="0"/>
                                <a:ea typeface="+mj-ea"/>
                                <a:cs typeface="Times New Roman" panose="02020603050405020304" pitchFamily="18" charset="0"/>
                              </a:rPr>
                            </m:ctrlPr>
                          </m:sSupPr>
                          <m:e>
                            <m:r>
                              <a:rPr lang="en-US" altLang="zh-CN" sz="2000" i="1">
                                <a:effectLst/>
                                <a:latin typeface="Cambria Math" panose="02040503050406030204" pitchFamily="18" charset="0"/>
                                <a:ea typeface="+mj-ea"/>
                                <a:cs typeface="Times New Roman" panose="02020603050405020304" pitchFamily="18" charset="0"/>
                              </a:rPr>
                              <m:t>𝜀</m:t>
                            </m:r>
                          </m:e>
                          <m:sup>
                            <m:r>
                              <a:rPr lang="en-US" altLang="zh-CN" sz="2000" i="1">
                                <a:effectLst/>
                                <a:latin typeface="Cambria Math" panose="02040503050406030204" pitchFamily="18" charset="0"/>
                                <a:ea typeface="+mj-ea"/>
                                <a:cs typeface="Times New Roman" panose="02020603050405020304" pitchFamily="18" charset="0"/>
                              </a:rPr>
                              <m:t>2</m:t>
                            </m:r>
                          </m:sup>
                        </m:sSup>
                      </m:oMath>
                    </m:oMathPara>
                  </a14:m>
                  <a:endParaRPr lang="zh-CN" altLang="zh-CN" sz="2000" dirty="0">
                    <a:effectLst/>
                    <a:latin typeface="Times New Roman" panose="02020603050405020304" pitchFamily="18" charset="0"/>
                    <a:ea typeface="+mj-ea"/>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D97F45BF-5363-D71E-90D5-1943C1A99A75}"/>
                    </a:ext>
                  </a:extLst>
                </p:cNvPr>
                <p:cNvSpPr txBox="1">
                  <a:spLocks noRot="1" noChangeAspect="1" noMove="1" noResize="1" noEditPoints="1" noAdjustHandles="1" noChangeArrowheads="1" noChangeShapeType="1" noTextEdit="1"/>
                </p:cNvSpPr>
                <p:nvPr/>
              </p:nvSpPr>
              <p:spPr>
                <a:xfrm>
                  <a:off x="4117231" y="1761898"/>
                  <a:ext cx="5867400" cy="4916346"/>
                </a:xfrm>
                <a:prstGeom prst="rect">
                  <a:avLst/>
                </a:prstGeom>
                <a:blipFill>
                  <a:blip r:embed="rId3"/>
                  <a:stretch>
                    <a:fillRect l="-1158" t="-993" r="-336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3F98BC9-CB5B-884B-9302-2EEE809CF49B}"/>
                  </a:ext>
                </a:extLst>
              </p:cNvPr>
              <p:cNvSpPr txBox="1"/>
              <p:nvPr/>
            </p:nvSpPr>
            <p:spPr>
              <a:xfrm>
                <a:off x="10886" y="2078391"/>
                <a:ext cx="3124200" cy="4192558"/>
              </a:xfrm>
              <a:prstGeom prst="rect">
                <a:avLst/>
              </a:prstGeom>
              <a:noFill/>
            </p:spPr>
            <p:txBody>
              <a:bodyPr wrap="square">
                <a:spAutoFit/>
              </a:bodyPr>
              <a:lstStyle/>
              <a:p>
                <a:pPr>
                  <a:lnSpc>
                    <a:spcPct val="150000"/>
                  </a:lnSpc>
                  <a:spcBef>
                    <a:spcPts val="900"/>
                  </a:spcBef>
                  <a:spcAft>
                    <a:spcPts val="900"/>
                  </a:spcAft>
                </a:pPr>
                <a:r>
                  <a:rPr lang="zh-CN" altLang="zh-CN" sz="1800" b="1" dirty="0">
                    <a:solidFill>
                      <a:schemeClr val="accent1"/>
                    </a:solidFill>
                    <a:effectLst/>
                    <a:latin typeface="+mj-ea"/>
                    <a:ea typeface="+mj-ea"/>
                    <a:cs typeface="Times New Roman" panose="02020603050405020304" pitchFamily="18" charset="0"/>
                  </a:rPr>
                  <a:t>测试集的期望泛化误差是评价模型泛化性能的重要标准</a:t>
                </a:r>
                <a:r>
                  <a:rPr lang="zh-CN" altLang="zh-CN" sz="1800" dirty="0">
                    <a:effectLst/>
                    <a:latin typeface="+mj-ea"/>
                    <a:ea typeface="+mj-ea"/>
                    <a:cs typeface="Times New Roman" panose="02020603050405020304" pitchFamily="18" charset="0"/>
                  </a:rPr>
                  <a:t>，已知训练数据集</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𝐷</m:t>
                    </m:r>
                  </m:oMath>
                </a14:m>
                <a:r>
                  <a:rPr lang="zh-CN" altLang="zh-CN" sz="1800" dirty="0">
                    <a:effectLst/>
                    <a:latin typeface="+mj-ea"/>
                    <a:ea typeface="+mj-ea"/>
                    <a:cs typeface="Times New Roman" panose="02020603050405020304" pitchFamily="18" charset="0"/>
                  </a:rPr>
                  <a:t>的概率分布，对测试样本</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𝑥</m:t>
                    </m:r>
                  </m:oMath>
                </a14:m>
                <a:r>
                  <a:rPr lang="zh-CN" altLang="zh-CN" sz="1800" dirty="0">
                    <a:effectLst/>
                    <a:latin typeface="+mj-ea"/>
                    <a:ea typeface="+mj-ea"/>
                    <a:cs typeface="Times New Roman" panose="02020603050405020304" pitchFamily="18" charset="0"/>
                  </a:rPr>
                  <a:t>，令</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𝑦</m:t>
                    </m:r>
                  </m:oMath>
                </a14:m>
                <a:r>
                  <a:rPr lang="zh-CN" altLang="zh-CN" sz="1800" dirty="0">
                    <a:effectLst/>
                    <a:latin typeface="+mj-ea"/>
                    <a:ea typeface="+mj-ea"/>
                    <a:cs typeface="Times New Roman" panose="02020603050405020304" pitchFamily="18" charset="0"/>
                  </a:rPr>
                  <a:t>为</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𝑥</m:t>
                    </m:r>
                  </m:oMath>
                </a14:m>
                <a:r>
                  <a:rPr lang="zh-CN" altLang="zh-CN" sz="1800" dirty="0">
                    <a:effectLst/>
                    <a:latin typeface="+mj-ea"/>
                    <a:ea typeface="+mj-ea"/>
                    <a:cs typeface="Times New Roman" panose="02020603050405020304" pitchFamily="18" charset="0"/>
                  </a:rPr>
                  <a:t>在数据集中的标记，</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𝑦𝐷</m:t>
                    </m:r>
                  </m:oMath>
                </a14:m>
                <a:r>
                  <a:rPr lang="zh-CN" altLang="zh-CN" sz="1800" dirty="0">
                    <a:effectLst/>
                    <a:latin typeface="+mj-ea"/>
                    <a:ea typeface="+mj-ea"/>
                    <a:cs typeface="Times New Roman" panose="02020603050405020304" pitchFamily="18" charset="0"/>
                  </a:rPr>
                  <a:t>为</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𝑥</m:t>
                    </m:r>
                  </m:oMath>
                </a14:m>
                <a:r>
                  <a:rPr lang="zh-CN" altLang="zh-CN" sz="1800" dirty="0">
                    <a:effectLst/>
                    <a:latin typeface="+mj-ea"/>
                    <a:ea typeface="+mj-ea"/>
                    <a:cs typeface="Times New Roman" panose="02020603050405020304" pitchFamily="18" charset="0"/>
                  </a:rPr>
                  <a:t>的真实标记，</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𝑓</m:t>
                    </m:r>
                    <m:r>
                      <a:rPr lang="en-US" altLang="zh-CN" sz="1800" i="1">
                        <a:effectLst/>
                        <a:latin typeface="Cambria Math" panose="02040503050406030204" pitchFamily="18" charset="0"/>
                        <a:ea typeface="+mj-ea"/>
                        <a:cs typeface="Times New Roman" panose="02020603050405020304" pitchFamily="18" charset="0"/>
                      </a:rPr>
                      <m:t>(</m:t>
                    </m:r>
                    <m:r>
                      <a:rPr lang="en-US" altLang="zh-CN" sz="1800" i="1">
                        <a:effectLst/>
                        <a:latin typeface="Cambria Math" panose="02040503050406030204" pitchFamily="18" charset="0"/>
                        <a:ea typeface="+mj-ea"/>
                        <a:cs typeface="Times New Roman" panose="02020603050405020304" pitchFamily="18" charset="0"/>
                      </a:rPr>
                      <m:t>𝑥</m:t>
                    </m:r>
                    <m:r>
                      <a:rPr lang="en-US" altLang="zh-CN" sz="1800" i="1">
                        <a:effectLst/>
                        <a:latin typeface="Cambria Math" panose="02040503050406030204" pitchFamily="18" charset="0"/>
                        <a:ea typeface="+mj-ea"/>
                        <a:cs typeface="Times New Roman" panose="02020603050405020304" pitchFamily="18" charset="0"/>
                      </a:rPr>
                      <m:t>;</m:t>
                    </m:r>
                    <m:r>
                      <a:rPr lang="en-US" altLang="zh-CN" sz="1800" i="1">
                        <a:effectLst/>
                        <a:latin typeface="Cambria Math" panose="02040503050406030204" pitchFamily="18" charset="0"/>
                        <a:ea typeface="+mj-ea"/>
                        <a:cs typeface="Times New Roman" panose="02020603050405020304" pitchFamily="18" charset="0"/>
                      </a:rPr>
                      <m:t>𝐷</m:t>
                    </m:r>
                    <m:r>
                      <a:rPr lang="en-US" altLang="zh-CN" sz="1800" i="1">
                        <a:effectLst/>
                        <a:latin typeface="Cambria Math" panose="02040503050406030204" pitchFamily="18" charset="0"/>
                        <a:ea typeface="+mj-ea"/>
                        <a:cs typeface="Times New Roman" panose="02020603050405020304" pitchFamily="18" charset="0"/>
                      </a:rPr>
                      <m:t>)</m:t>
                    </m:r>
                  </m:oMath>
                </a14:m>
                <a:r>
                  <a:rPr lang="zh-CN" altLang="zh-CN" sz="1800" dirty="0">
                    <a:effectLst/>
                    <a:latin typeface="+mj-ea"/>
                    <a:ea typeface="+mj-ea"/>
                    <a:cs typeface="Times New Roman" panose="02020603050405020304" pitchFamily="18" charset="0"/>
                  </a:rPr>
                  <a:t>为训练集</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𝐷</m:t>
                    </m:r>
                  </m:oMath>
                </a14:m>
                <a:r>
                  <a:rPr lang="zh-CN" altLang="zh-CN" sz="1800" dirty="0">
                    <a:effectLst/>
                    <a:latin typeface="+mj-ea"/>
                    <a:ea typeface="+mj-ea"/>
                    <a:cs typeface="Times New Roman" panose="02020603050405020304" pitchFamily="18" charset="0"/>
                  </a:rPr>
                  <a:t>上学得模型</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𝑓</m:t>
                    </m:r>
                  </m:oMath>
                </a14:m>
                <a:r>
                  <a:rPr lang="zh-CN" altLang="zh-CN" sz="1800" dirty="0">
                    <a:effectLst/>
                    <a:latin typeface="+mj-ea"/>
                    <a:ea typeface="+mj-ea"/>
                    <a:cs typeface="Times New Roman" panose="02020603050405020304" pitchFamily="18" charset="0"/>
                  </a:rPr>
                  <a:t>在</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𝑥</m:t>
                    </m:r>
                  </m:oMath>
                </a14:m>
                <a:r>
                  <a:rPr lang="zh-CN" altLang="zh-CN" sz="1800" dirty="0">
                    <a:effectLst/>
                    <a:latin typeface="+mj-ea"/>
                    <a:ea typeface="+mj-ea"/>
                    <a:cs typeface="Times New Roman" panose="02020603050405020304" pitchFamily="18" charset="0"/>
                  </a:rPr>
                  <a:t>上的预测输出，不同的训练集</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𝐷</m:t>
                    </m:r>
                  </m:oMath>
                </a14:m>
                <a:r>
                  <a:rPr lang="zh-CN" altLang="zh-CN" sz="1800" dirty="0">
                    <a:effectLst/>
                    <a:latin typeface="+mj-ea"/>
                    <a:ea typeface="+mj-ea"/>
                    <a:cs typeface="Times New Roman" panose="02020603050405020304" pitchFamily="18" charset="0"/>
                  </a:rPr>
                  <a:t>构建不同的最优模型</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𝑓</m:t>
                    </m:r>
                  </m:oMath>
                </a14:m>
                <a:r>
                  <a:rPr lang="zh-CN" altLang="zh-CN" sz="1800" dirty="0">
                    <a:effectLst/>
                    <a:latin typeface="+mj-ea"/>
                    <a:ea typeface="+mj-ea"/>
                    <a:cs typeface="Times New Roman" panose="02020603050405020304" pitchFamily="18" charset="0"/>
                  </a:rPr>
                  <a:t>以回归任务为例，模型的泛化能力用</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𝐸</m:t>
                    </m:r>
                    <m:r>
                      <a:rPr lang="en-US" altLang="zh-CN" sz="1800" i="1">
                        <a:effectLst/>
                        <a:latin typeface="Cambria Math" panose="02040503050406030204" pitchFamily="18" charset="0"/>
                        <a:ea typeface="+mj-ea"/>
                        <a:cs typeface="Times New Roman" panose="02020603050405020304" pitchFamily="18" charset="0"/>
                      </a:rPr>
                      <m:t>(</m:t>
                    </m:r>
                    <m:r>
                      <a:rPr lang="en-US" altLang="zh-CN" sz="1800" i="1">
                        <a:effectLst/>
                        <a:latin typeface="Cambria Math" panose="02040503050406030204" pitchFamily="18" charset="0"/>
                        <a:ea typeface="+mj-ea"/>
                        <a:cs typeface="Times New Roman" panose="02020603050405020304" pitchFamily="18" charset="0"/>
                      </a:rPr>
                      <m:t>𝑓</m:t>
                    </m:r>
                    <m:r>
                      <a:rPr lang="en-US" altLang="zh-CN" sz="1800" i="1">
                        <a:effectLst/>
                        <a:latin typeface="Cambria Math" panose="02040503050406030204" pitchFamily="18" charset="0"/>
                        <a:ea typeface="+mj-ea"/>
                        <a:cs typeface="Times New Roman" panose="02020603050405020304" pitchFamily="18" charset="0"/>
                      </a:rPr>
                      <m:t>;</m:t>
                    </m:r>
                    <m:r>
                      <a:rPr lang="en-US" altLang="zh-CN" sz="1800" i="1">
                        <a:effectLst/>
                        <a:latin typeface="Cambria Math" panose="02040503050406030204" pitchFamily="18" charset="0"/>
                        <a:ea typeface="+mj-ea"/>
                        <a:cs typeface="Times New Roman" panose="02020603050405020304" pitchFamily="18" charset="0"/>
                      </a:rPr>
                      <m:t>𝐷</m:t>
                    </m:r>
                    <m:r>
                      <a:rPr lang="en-US" altLang="zh-CN" sz="1800" i="1">
                        <a:effectLst/>
                        <a:latin typeface="Cambria Math" panose="02040503050406030204" pitchFamily="18" charset="0"/>
                        <a:ea typeface="+mj-ea"/>
                        <a:cs typeface="Times New Roman" panose="02020603050405020304" pitchFamily="18" charset="0"/>
                      </a:rPr>
                      <m:t>)</m:t>
                    </m:r>
                  </m:oMath>
                </a14:m>
                <a:r>
                  <a:rPr lang="zh-CN" altLang="zh-CN" sz="1800" dirty="0">
                    <a:effectLst/>
                    <a:latin typeface="+mj-ea"/>
                    <a:ea typeface="+mj-ea"/>
                    <a:cs typeface="Times New Roman" panose="02020603050405020304" pitchFamily="18" charset="0"/>
                  </a:rPr>
                  <a:t>表示。</a:t>
                </a:r>
              </a:p>
            </p:txBody>
          </p:sp>
        </mc:Choice>
        <mc:Fallback xmlns="">
          <p:sp>
            <p:nvSpPr>
              <p:cNvPr id="9" name="文本框 8">
                <a:extLst>
                  <a:ext uri="{FF2B5EF4-FFF2-40B4-BE49-F238E27FC236}">
                    <a16:creationId xmlns:a16="http://schemas.microsoft.com/office/drawing/2014/main" id="{E3F98BC9-CB5B-884B-9302-2EEE809CF49B}"/>
                  </a:ext>
                </a:extLst>
              </p:cNvPr>
              <p:cNvSpPr txBox="1">
                <a:spLocks noRot="1" noChangeAspect="1" noMove="1" noResize="1" noEditPoints="1" noAdjustHandles="1" noChangeArrowheads="1" noChangeShapeType="1" noTextEdit="1"/>
              </p:cNvSpPr>
              <p:nvPr/>
            </p:nvSpPr>
            <p:spPr>
              <a:xfrm>
                <a:off x="10886" y="2078391"/>
                <a:ext cx="3124200" cy="4192558"/>
              </a:xfrm>
              <a:prstGeom prst="rect">
                <a:avLst/>
              </a:prstGeom>
              <a:blipFill>
                <a:blip r:embed="rId4"/>
                <a:stretch>
                  <a:fillRect l="-1758" r="-8789" b="-10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63734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B2B8D-688E-B4DC-8748-6F58DDA4424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E649FA-B362-B18A-A097-7400D8ED2A2D}"/>
              </a:ext>
            </a:extLst>
          </p:cNvPr>
          <p:cNvSpPr>
            <a:spLocks noGrp="1"/>
          </p:cNvSpPr>
          <p:nvPr>
            <p:ph type="title"/>
          </p:nvPr>
        </p:nvSpPr>
        <p:spPr/>
        <p:txBody>
          <a:bodyPr numCol="1" anchorCtr="0" compatLnSpc="1"/>
          <a:lstStyle/>
          <a:p>
            <a:pPr fontAlgn="auto">
              <a:spcAft>
                <a:spcPts val="0"/>
              </a:spcAft>
              <a:defRPr/>
            </a:pPr>
            <a:r>
              <a:rPr lang="zh-CN" altLang="en-US" sz="2400" dirty="0">
                <a:solidFill>
                  <a:schemeClr val="tx2"/>
                </a:solidFill>
                <a:latin typeface="楷体" panose="02010609060101010101" pitchFamily="49" charset="-122"/>
                <a:ea typeface="楷体" panose="02010609060101010101" pitchFamily="49" charset="-122"/>
              </a:rPr>
              <a:t>机器学习步骤四：数据建模</a:t>
            </a:r>
            <a:r>
              <a:rPr lang="en-US" altLang="zh-CN" sz="2400" dirty="0">
                <a:solidFill>
                  <a:schemeClr val="tx2"/>
                </a:solidFill>
                <a:latin typeface="楷体" panose="02010609060101010101" pitchFamily="49" charset="-122"/>
                <a:ea typeface="楷体" panose="02010609060101010101" pitchFamily="49" charset="-122"/>
              </a:rPr>
              <a:t>——</a:t>
            </a:r>
            <a:r>
              <a:rPr lang="zh-CN" altLang="en-US" sz="2400" dirty="0">
                <a:solidFill>
                  <a:schemeClr val="tx2"/>
                </a:solidFill>
                <a:latin typeface="楷体" panose="02010609060101010101" pitchFamily="49" charset="-122"/>
                <a:ea typeface="楷体" panose="02010609060101010101" pitchFamily="49" charset="-122"/>
              </a:rPr>
              <a:t>超参数调整</a:t>
            </a:r>
          </a:p>
        </p:txBody>
      </p:sp>
      <p:sp>
        <p:nvSpPr>
          <p:cNvPr id="3" name="文本框 2">
            <a:extLst>
              <a:ext uri="{FF2B5EF4-FFF2-40B4-BE49-F238E27FC236}">
                <a16:creationId xmlns:a16="http://schemas.microsoft.com/office/drawing/2014/main" id="{050C392C-9008-C3E6-5D2E-BF8F5A6C90A1}"/>
              </a:ext>
            </a:extLst>
          </p:cNvPr>
          <p:cNvSpPr txBox="1"/>
          <p:nvPr/>
        </p:nvSpPr>
        <p:spPr>
          <a:xfrm>
            <a:off x="359229" y="4419600"/>
            <a:ext cx="8613321" cy="1866858"/>
          </a:xfrm>
          <a:prstGeom prst="rect">
            <a:avLst/>
          </a:prstGeom>
          <a:noFill/>
        </p:spPr>
        <p:txBody>
          <a:bodyPr wrap="square">
            <a:spAutoFit/>
          </a:bodyPr>
          <a:lstStyle/>
          <a:p>
            <a:pPr algn="just">
              <a:lnSpc>
                <a:spcPct val="150000"/>
              </a:lnSpc>
            </a:pPr>
            <a:r>
              <a:rPr lang="en-US" altLang="zh-CN" sz="2000" kern="100" dirty="0">
                <a:effectLst/>
                <a:latin typeface="Times New Roman" panose="02020603050405020304" pitchFamily="18" charset="0"/>
                <a:ea typeface="+mj-ea"/>
                <a:cs typeface="Times New Roman" panose="02020603050405020304" pitchFamily="18" charset="0"/>
              </a:rPr>
              <a:t>1. </a:t>
            </a:r>
            <a:r>
              <a:rPr lang="zh-CN" altLang="zh-CN" sz="2000" kern="100" dirty="0">
                <a:effectLst/>
                <a:latin typeface="Times New Roman" panose="02020603050405020304" pitchFamily="18" charset="0"/>
                <a:ea typeface="+mj-ea"/>
                <a:cs typeface="Times New Roman" panose="02020603050405020304" pitchFamily="18" charset="0"/>
              </a:rPr>
              <a:t>使用训练集训练出</a:t>
            </a:r>
            <a:r>
              <a:rPr lang="en-US" altLang="zh-CN" sz="2000" i="1" kern="100" dirty="0">
                <a:effectLst/>
                <a:latin typeface="Times New Roman" panose="02020603050405020304" pitchFamily="18" charset="0"/>
                <a:ea typeface="+mj-ea"/>
                <a:cs typeface="Times New Roman" panose="02020603050405020304" pitchFamily="18" charset="0"/>
              </a:rPr>
              <a:t>k</a:t>
            </a:r>
            <a:r>
              <a:rPr lang="zh-CN" altLang="zh-CN" sz="2000" kern="100" dirty="0">
                <a:effectLst/>
                <a:latin typeface="Times New Roman" panose="02020603050405020304" pitchFamily="18" charset="0"/>
                <a:ea typeface="+mj-ea"/>
                <a:cs typeface="Times New Roman" panose="02020603050405020304" pitchFamily="18" charset="0"/>
              </a:rPr>
              <a:t>个模型</a:t>
            </a:r>
          </a:p>
          <a:p>
            <a:pPr algn="just">
              <a:lnSpc>
                <a:spcPct val="150000"/>
              </a:lnSpc>
            </a:pPr>
            <a:r>
              <a:rPr lang="en-US" altLang="zh-CN" sz="2000" kern="100" dirty="0">
                <a:effectLst/>
                <a:latin typeface="Times New Roman" panose="02020603050405020304" pitchFamily="18" charset="0"/>
                <a:ea typeface="+mj-ea"/>
                <a:cs typeface="Times New Roman" panose="02020603050405020304" pitchFamily="18" charset="0"/>
              </a:rPr>
              <a:t>2. </a:t>
            </a:r>
            <a:r>
              <a:rPr lang="zh-CN" altLang="zh-CN" sz="2000" kern="100" dirty="0">
                <a:effectLst/>
                <a:latin typeface="Times New Roman" panose="02020603050405020304" pitchFamily="18" charset="0"/>
                <a:ea typeface="+mj-ea"/>
                <a:cs typeface="Times New Roman" panose="02020603050405020304" pitchFamily="18" charset="0"/>
              </a:rPr>
              <a:t>用</a:t>
            </a:r>
            <a:r>
              <a:rPr lang="en-US" altLang="zh-CN" sz="2000" i="1" kern="100" dirty="0">
                <a:effectLst/>
                <a:latin typeface="Times New Roman" panose="02020603050405020304" pitchFamily="18" charset="0"/>
                <a:ea typeface="+mj-ea"/>
                <a:cs typeface="Times New Roman" panose="02020603050405020304" pitchFamily="18" charset="0"/>
              </a:rPr>
              <a:t>k</a:t>
            </a:r>
            <a:r>
              <a:rPr lang="zh-CN" altLang="zh-CN" sz="2000" kern="100" dirty="0">
                <a:effectLst/>
                <a:latin typeface="Times New Roman" panose="02020603050405020304" pitchFamily="18" charset="0"/>
                <a:ea typeface="+mj-ea"/>
                <a:cs typeface="Times New Roman" panose="02020603050405020304" pitchFamily="18" charset="0"/>
              </a:rPr>
              <a:t>个模型分别对交叉验证集计算得出交叉验证误差（代价函数的值）</a:t>
            </a:r>
            <a:endParaRPr lang="en-US" altLang="zh-CN" sz="2000" kern="100" dirty="0">
              <a:effectLst/>
              <a:latin typeface="Times New Roman" panose="02020603050405020304" pitchFamily="18" charset="0"/>
              <a:ea typeface="+mj-ea"/>
              <a:cs typeface="Times New Roman" panose="02020603050405020304" pitchFamily="18" charset="0"/>
            </a:endParaRPr>
          </a:p>
          <a:p>
            <a:pPr algn="just">
              <a:lnSpc>
                <a:spcPct val="150000"/>
              </a:lnSpc>
            </a:pPr>
            <a:r>
              <a:rPr lang="en-US" altLang="zh-CN" sz="2000" kern="100" dirty="0">
                <a:effectLst/>
                <a:latin typeface="Times New Roman" panose="02020603050405020304" pitchFamily="18" charset="0"/>
                <a:ea typeface="+mj-ea"/>
                <a:cs typeface="Times New Roman" panose="02020603050405020304" pitchFamily="18" charset="0"/>
              </a:rPr>
              <a:t>3. </a:t>
            </a:r>
            <a:r>
              <a:rPr lang="zh-CN" altLang="zh-CN" sz="2000" kern="100" dirty="0">
                <a:effectLst/>
                <a:latin typeface="Times New Roman" panose="02020603050405020304" pitchFamily="18" charset="0"/>
                <a:ea typeface="+mj-ea"/>
                <a:cs typeface="Times New Roman" panose="02020603050405020304" pitchFamily="18" charset="0"/>
              </a:rPr>
              <a:t>选取代价函数值最小的模型</a:t>
            </a:r>
          </a:p>
          <a:p>
            <a:pPr algn="just">
              <a:lnSpc>
                <a:spcPct val="150000"/>
              </a:lnSpc>
            </a:pPr>
            <a:r>
              <a:rPr lang="en-US" altLang="zh-CN" sz="2000" kern="100" dirty="0">
                <a:effectLst/>
                <a:latin typeface="Times New Roman" panose="02020603050405020304" pitchFamily="18" charset="0"/>
                <a:ea typeface="+mj-ea"/>
                <a:cs typeface="Times New Roman" panose="02020603050405020304" pitchFamily="18" charset="0"/>
              </a:rPr>
              <a:t>4. </a:t>
            </a:r>
            <a:r>
              <a:rPr lang="zh-CN" altLang="zh-CN" sz="2000" kern="100" dirty="0">
                <a:effectLst/>
                <a:latin typeface="Times New Roman" panose="02020603050405020304" pitchFamily="18" charset="0"/>
                <a:ea typeface="+mj-ea"/>
                <a:cs typeface="Times New Roman" panose="02020603050405020304" pitchFamily="18" charset="0"/>
              </a:rPr>
              <a:t>用步骤</a:t>
            </a:r>
            <a:r>
              <a:rPr lang="en-US" altLang="zh-CN" sz="2000" kern="100" dirty="0">
                <a:effectLst/>
                <a:latin typeface="Times New Roman" panose="02020603050405020304" pitchFamily="18" charset="0"/>
                <a:ea typeface="+mj-ea"/>
                <a:cs typeface="Times New Roman" panose="02020603050405020304" pitchFamily="18" charset="0"/>
              </a:rPr>
              <a:t>3</a:t>
            </a:r>
            <a:r>
              <a:rPr lang="zh-CN" altLang="zh-CN" sz="2000" kern="100" dirty="0">
                <a:effectLst/>
                <a:latin typeface="Times New Roman" panose="02020603050405020304" pitchFamily="18" charset="0"/>
                <a:ea typeface="+mj-ea"/>
                <a:cs typeface="Times New Roman" panose="02020603050405020304" pitchFamily="18" charset="0"/>
              </a:rPr>
              <a:t>中选出的模型对测试集计算得出推广误差（代价函数的值）</a:t>
            </a:r>
          </a:p>
        </p:txBody>
      </p:sp>
      <p:pic>
        <p:nvPicPr>
          <p:cNvPr id="4" name="image6.png">
            <a:extLst>
              <a:ext uri="{FF2B5EF4-FFF2-40B4-BE49-F238E27FC236}">
                <a16:creationId xmlns:a16="http://schemas.microsoft.com/office/drawing/2014/main" id="{9C652768-0124-7B43-981B-6FF7842249C9}"/>
              </a:ext>
            </a:extLst>
          </p:cNvPr>
          <p:cNvPicPr/>
          <p:nvPr/>
        </p:nvPicPr>
        <p:blipFill>
          <a:blip r:embed="rId3" cstate="print">
            <a:clrChange>
              <a:clrFrom>
                <a:srgbClr val="FFFFFF"/>
              </a:clrFrom>
              <a:clrTo>
                <a:srgbClr val="FFFFFF">
                  <a:alpha val="0"/>
                </a:srgbClr>
              </a:clrTo>
            </a:clrChange>
          </a:blip>
          <a:stretch>
            <a:fillRect/>
          </a:stretch>
        </p:blipFill>
        <p:spPr>
          <a:xfrm>
            <a:off x="523874" y="1184502"/>
            <a:ext cx="8262257" cy="3071812"/>
          </a:xfrm>
          <a:prstGeom prst="rect">
            <a:avLst/>
          </a:prstGeom>
        </p:spPr>
      </p:pic>
    </p:spTree>
    <p:extLst>
      <p:ext uri="{BB962C8B-B14F-4D97-AF65-F5344CB8AC3E}">
        <p14:creationId xmlns:p14="http://schemas.microsoft.com/office/powerpoint/2010/main" val="3966127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36333-D304-C7E1-76BF-B0829778DF0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E09EF4-D777-A9D2-3285-D8C9EF91A5F0}"/>
              </a:ext>
            </a:extLst>
          </p:cNvPr>
          <p:cNvSpPr>
            <a:spLocks noGrp="1"/>
          </p:cNvSpPr>
          <p:nvPr>
            <p:ph type="title"/>
          </p:nvPr>
        </p:nvSpPr>
        <p:spPr>
          <a:xfrm>
            <a:off x="685800" y="38142"/>
            <a:ext cx="8229600" cy="533400"/>
          </a:xfrm>
        </p:spPr>
        <p:txBody>
          <a:bodyPr numCol="1" anchorCtr="0" compatLnSpc="1"/>
          <a:lstStyle/>
          <a:p>
            <a:pPr fontAlgn="auto">
              <a:spcAft>
                <a:spcPts val="0"/>
              </a:spcAft>
              <a:defRPr/>
            </a:pPr>
            <a:r>
              <a:rPr lang="zh-CN" altLang="en-US" sz="2400" dirty="0">
                <a:solidFill>
                  <a:schemeClr val="tx2"/>
                </a:solidFill>
                <a:latin typeface="楷体" panose="02010609060101010101" pitchFamily="49" charset="-122"/>
                <a:ea typeface="楷体" panose="02010609060101010101" pitchFamily="49" charset="-122"/>
              </a:rPr>
              <a:t>机器学习步骤四：数据建模</a:t>
            </a:r>
            <a:r>
              <a:rPr lang="en-US" altLang="zh-CN" sz="2400" dirty="0">
                <a:solidFill>
                  <a:schemeClr val="tx2"/>
                </a:solidFill>
                <a:latin typeface="楷体" panose="02010609060101010101" pitchFamily="49" charset="-122"/>
                <a:ea typeface="楷体" panose="02010609060101010101" pitchFamily="49" charset="-122"/>
              </a:rPr>
              <a:t>——</a:t>
            </a:r>
            <a:r>
              <a:rPr lang="zh-CN" altLang="en-US" sz="2400" dirty="0">
                <a:solidFill>
                  <a:schemeClr val="tx2"/>
                </a:solidFill>
                <a:latin typeface="楷体" panose="02010609060101010101" pitchFamily="49" charset="-122"/>
                <a:ea typeface="楷体" panose="02010609060101010101" pitchFamily="49" charset="-122"/>
              </a:rPr>
              <a:t>模型过拟合与欠拟合</a:t>
            </a:r>
          </a:p>
        </p:txBody>
      </p:sp>
      <p:sp>
        <p:nvSpPr>
          <p:cNvPr id="3" name="文本框 2">
            <a:extLst>
              <a:ext uri="{FF2B5EF4-FFF2-40B4-BE49-F238E27FC236}">
                <a16:creationId xmlns:a16="http://schemas.microsoft.com/office/drawing/2014/main" id="{FF751C7B-75D8-EBD0-A9B3-FAB307445F8C}"/>
              </a:ext>
            </a:extLst>
          </p:cNvPr>
          <p:cNvSpPr txBox="1"/>
          <p:nvPr/>
        </p:nvSpPr>
        <p:spPr>
          <a:xfrm>
            <a:off x="832764" y="4113656"/>
            <a:ext cx="3646951" cy="2342244"/>
          </a:xfrm>
          <a:prstGeom prst="rect">
            <a:avLst/>
          </a:prstGeom>
          <a:noFill/>
        </p:spPr>
        <p:txBody>
          <a:bodyPr wrap="square">
            <a:spAutoFit/>
          </a:bodyPr>
          <a:lstStyle/>
          <a:p>
            <a:pPr algn="just">
              <a:lnSpc>
                <a:spcPct val="150000"/>
              </a:lnSpc>
            </a:pPr>
            <a:r>
              <a:rPr lang="zh-CN" altLang="en-US" sz="2000" b="1" kern="100" dirty="0">
                <a:effectLst/>
                <a:latin typeface="Times New Roman" panose="02020603050405020304" pitchFamily="18" charset="0"/>
                <a:ea typeface="楷体" panose="02010609060101010101" pitchFamily="49" charset="-122"/>
                <a:cs typeface="Times New Roman" panose="02020603050405020304" pitchFamily="18" charset="0"/>
              </a:rPr>
              <a:t>模型过拟合：</a:t>
            </a:r>
            <a:endParaRPr lang="en-US" altLang="zh-CN" sz="2000" b="1"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gn="just">
              <a:lnSpc>
                <a:spcPct val="150000"/>
              </a:lnSpc>
              <a:buFont typeface="+mj-ea"/>
              <a:buAutoNum type="circleNumDbPlain"/>
            </a:pP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获得更多的训练数据；</a:t>
            </a:r>
            <a:endParaRPr lang="en-US" altLang="zh-CN" sz="2000" kern="1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gn="just">
              <a:lnSpc>
                <a:spcPct val="150000"/>
              </a:lnSpc>
              <a:buFont typeface="+mj-ea"/>
              <a:buAutoNum type="circleNumDbPlain"/>
            </a:pP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降维；</a:t>
            </a:r>
            <a:endParaRPr lang="en-US" altLang="zh-CN" sz="2000" kern="1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gn="just">
              <a:lnSpc>
                <a:spcPct val="150000"/>
              </a:lnSpc>
              <a:buFont typeface="+mj-ea"/>
              <a:buAutoNum type="circleNumDbPlain"/>
            </a:pP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正则化；</a:t>
            </a:r>
            <a:endParaRPr lang="en-US" altLang="zh-CN" sz="2000" kern="1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gn="just">
              <a:lnSpc>
                <a:spcPct val="150000"/>
              </a:lnSpc>
              <a:buFont typeface="+mj-ea"/>
              <a:buAutoNum type="circleNumDbPlain"/>
            </a:pP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集成学习方法</a:t>
            </a: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1" name="组合 10">
            <a:extLst>
              <a:ext uri="{FF2B5EF4-FFF2-40B4-BE49-F238E27FC236}">
                <a16:creationId xmlns:a16="http://schemas.microsoft.com/office/drawing/2014/main" id="{0BD81BC6-F055-DA8A-3BDD-AB2B4695AEE8}"/>
              </a:ext>
            </a:extLst>
          </p:cNvPr>
          <p:cNvGrpSpPr/>
          <p:nvPr/>
        </p:nvGrpSpPr>
        <p:grpSpPr>
          <a:xfrm>
            <a:off x="580445" y="912332"/>
            <a:ext cx="8003723" cy="3242678"/>
            <a:chOff x="553573" y="1089045"/>
            <a:chExt cx="8003723" cy="3242678"/>
          </a:xfrm>
        </p:grpSpPr>
        <p:pic>
          <p:nvPicPr>
            <p:cNvPr id="5" name="Picture 2" descr="https://gimg2.baidu.com/image_search/src=http%3A%2F%2Fwx3.sinaimg.cn%2Fmw690%2Fec98cc4agy1fpr4btdk6vj21380ft446.jpg&amp;refer=http%3A%2F%2Fwx3.sinaimg.cn&amp;app=2002&amp;size=f9999,10000&amp;q=a80&amp;n=0&amp;g=0n&amp;fmt=jpeg?sec=1618238381&amp;t=fdffed15e66eb8be01decfe99d47fd11">
              <a:extLst>
                <a:ext uri="{FF2B5EF4-FFF2-40B4-BE49-F238E27FC236}">
                  <a16:creationId xmlns:a16="http://schemas.microsoft.com/office/drawing/2014/main" id="{29F5F080-67B3-B39B-7D77-A01BB95B31A1}"/>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16311"/>
            <a:stretch/>
          </p:blipFill>
          <p:spPr bwMode="auto">
            <a:xfrm>
              <a:off x="553573" y="1089045"/>
              <a:ext cx="8003723" cy="269871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3C2A81B8-9501-FAD5-E1B0-A32A15384DC3}"/>
                </a:ext>
              </a:extLst>
            </p:cNvPr>
            <p:cNvSpPr/>
            <p:nvPr/>
          </p:nvSpPr>
          <p:spPr>
            <a:xfrm>
              <a:off x="1090612" y="3782038"/>
              <a:ext cx="1538756" cy="523220"/>
            </a:xfrm>
            <a:prstGeom prst="rect">
              <a:avLst/>
            </a:prstGeom>
          </p:spPr>
          <p:txBody>
            <a:bodyPr wrap="square">
              <a:spAutoFit/>
            </a:bodyPr>
            <a:lstStyle/>
            <a:p>
              <a:pPr algn="ctr"/>
              <a:r>
                <a:rPr lang="zh-CN" altLang="en-US" sz="2800" b="1" dirty="0">
                  <a:latin typeface="+mj-ea"/>
                  <a:cs typeface="Times New Roman" panose="02020603050405020304" pitchFamily="18" charset="0"/>
                </a:rPr>
                <a:t>欠拟合</a:t>
              </a:r>
              <a:endParaRPr lang="zh-CN" altLang="en-US" sz="2800" dirty="0"/>
            </a:p>
          </p:txBody>
        </p:sp>
        <p:sp>
          <p:nvSpPr>
            <p:cNvPr id="7" name="矩形 6">
              <a:extLst>
                <a:ext uri="{FF2B5EF4-FFF2-40B4-BE49-F238E27FC236}">
                  <a16:creationId xmlns:a16="http://schemas.microsoft.com/office/drawing/2014/main" id="{1B921B79-6ED7-8F1D-3F17-CE3055F1CD9C}"/>
                </a:ext>
              </a:extLst>
            </p:cNvPr>
            <p:cNvSpPr/>
            <p:nvPr/>
          </p:nvSpPr>
          <p:spPr>
            <a:xfrm>
              <a:off x="4166165" y="3776553"/>
              <a:ext cx="1307438" cy="523220"/>
            </a:xfrm>
            <a:prstGeom prst="rect">
              <a:avLst/>
            </a:prstGeom>
          </p:spPr>
          <p:txBody>
            <a:bodyPr wrap="square">
              <a:spAutoFit/>
            </a:bodyPr>
            <a:lstStyle/>
            <a:p>
              <a:r>
                <a:rPr lang="zh-CN" altLang="en-US" sz="2800" b="1" dirty="0">
                  <a:latin typeface="+mj-ea"/>
                  <a:cs typeface="Times New Roman" panose="02020603050405020304" pitchFamily="18" charset="0"/>
                </a:rPr>
                <a:t>过拟合</a:t>
              </a:r>
              <a:endParaRPr lang="zh-CN" altLang="en-US" sz="2800" dirty="0"/>
            </a:p>
          </p:txBody>
        </p:sp>
        <p:sp>
          <p:nvSpPr>
            <p:cNvPr id="8" name="矩形 7">
              <a:extLst>
                <a:ext uri="{FF2B5EF4-FFF2-40B4-BE49-F238E27FC236}">
                  <a16:creationId xmlns:a16="http://schemas.microsoft.com/office/drawing/2014/main" id="{AA15AB18-19D9-CFC9-8A5A-B780700918AA}"/>
                </a:ext>
              </a:extLst>
            </p:cNvPr>
            <p:cNvSpPr/>
            <p:nvPr/>
          </p:nvSpPr>
          <p:spPr>
            <a:xfrm>
              <a:off x="7010400" y="3808503"/>
              <a:ext cx="1325596" cy="523220"/>
            </a:xfrm>
            <a:prstGeom prst="rect">
              <a:avLst/>
            </a:prstGeom>
          </p:spPr>
          <p:txBody>
            <a:bodyPr wrap="square">
              <a:spAutoFit/>
            </a:bodyPr>
            <a:lstStyle/>
            <a:p>
              <a:r>
                <a:rPr lang="zh-CN" altLang="en-US" sz="2800" b="1" dirty="0">
                  <a:latin typeface="+mj-ea"/>
                  <a:cs typeface="Times New Roman" panose="02020603050405020304" pitchFamily="18" charset="0"/>
                </a:rPr>
                <a:t>正合适</a:t>
              </a:r>
              <a:endParaRPr lang="zh-CN" altLang="en-US" sz="2800" dirty="0"/>
            </a:p>
          </p:txBody>
        </p:sp>
      </p:grpSp>
      <p:sp>
        <p:nvSpPr>
          <p:cNvPr id="10" name="文本框 9">
            <a:extLst>
              <a:ext uri="{FF2B5EF4-FFF2-40B4-BE49-F238E27FC236}">
                <a16:creationId xmlns:a16="http://schemas.microsoft.com/office/drawing/2014/main" id="{B91D5C04-F28F-D320-4407-054E9D740450}"/>
              </a:ext>
            </a:extLst>
          </p:cNvPr>
          <p:cNvSpPr txBox="1"/>
          <p:nvPr/>
        </p:nvSpPr>
        <p:spPr>
          <a:xfrm>
            <a:off x="5500475" y="4218977"/>
            <a:ext cx="3193832" cy="1726691"/>
          </a:xfrm>
          <a:prstGeom prst="rect">
            <a:avLst/>
          </a:prstGeom>
          <a:noFill/>
        </p:spPr>
        <p:txBody>
          <a:bodyPr wrap="square">
            <a:spAutoFit/>
          </a:bodyPr>
          <a:lstStyle/>
          <a:p>
            <a:r>
              <a:rPr lang="zh-CN" altLang="en-US" sz="2000" b="1" dirty="0"/>
              <a:t>模型欠拟合：</a:t>
            </a:r>
            <a:endParaRPr lang="en-US" altLang="zh-CN" sz="2000" b="1" dirty="0"/>
          </a:p>
          <a:p>
            <a:pPr marL="457200" indent="-457200" algn="just">
              <a:lnSpc>
                <a:spcPct val="150000"/>
              </a:lnSpc>
              <a:buFont typeface="+mj-ea"/>
              <a:buAutoNum type="circleNumDbPlain"/>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添加新特征；</a:t>
            </a:r>
            <a:endParaRPr lang="en-US" altLang="zh-CN" sz="2000" kern="1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gn="just">
              <a:lnSpc>
                <a:spcPct val="150000"/>
              </a:lnSpc>
              <a:buFont typeface="+mj-ea"/>
              <a:buAutoNum type="circleNumDbPlain"/>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增加模型复杂度；</a:t>
            </a:r>
            <a:endParaRPr lang="en-US" altLang="zh-CN" sz="2000" kern="1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gn="just">
              <a:lnSpc>
                <a:spcPct val="150000"/>
              </a:lnSpc>
              <a:buFont typeface="+mj-ea"/>
              <a:buAutoNum type="circleNumDbPlain"/>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减小正则化系数</a:t>
            </a:r>
          </a:p>
        </p:txBody>
      </p:sp>
    </p:spTree>
    <p:extLst>
      <p:ext uri="{BB962C8B-B14F-4D97-AF65-F5344CB8AC3E}">
        <p14:creationId xmlns:p14="http://schemas.microsoft.com/office/powerpoint/2010/main" val="3546112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13CF-C06A-026E-D666-656720FDA2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9C6CFC-AA5B-CCE5-8AAA-3FDDF82178FA}"/>
              </a:ext>
            </a:extLst>
          </p:cNvPr>
          <p:cNvSpPr>
            <a:spLocks noGrp="1"/>
          </p:cNvSpPr>
          <p:nvPr>
            <p:ph type="title"/>
          </p:nvPr>
        </p:nvSpPr>
        <p:spPr>
          <a:xfrm>
            <a:off x="685800" y="38142"/>
            <a:ext cx="8229600" cy="533400"/>
          </a:xfrm>
        </p:spPr>
        <p:txBody>
          <a:bodyPr numCol="1" anchorCtr="0" compatLnSpc="1"/>
          <a:lstStyle/>
          <a:p>
            <a:pPr fontAlgn="auto">
              <a:spcAft>
                <a:spcPts val="0"/>
              </a:spcAft>
              <a:defRPr/>
            </a:pPr>
            <a:r>
              <a:rPr lang="zh-CN" altLang="en-US" sz="2400" dirty="0">
                <a:solidFill>
                  <a:schemeClr val="tx2"/>
                </a:solidFill>
                <a:latin typeface="楷体" panose="02010609060101010101" pitchFamily="49" charset="-122"/>
                <a:ea typeface="楷体" panose="02010609060101010101" pitchFamily="49" charset="-122"/>
              </a:rPr>
              <a:t>机器学习步骤四：数据建模</a:t>
            </a:r>
            <a:r>
              <a:rPr lang="en-US" altLang="zh-CN" sz="2400" dirty="0">
                <a:solidFill>
                  <a:schemeClr val="tx2"/>
                </a:solidFill>
                <a:latin typeface="楷体" panose="02010609060101010101" pitchFamily="49" charset="-122"/>
                <a:ea typeface="楷体" panose="02010609060101010101" pitchFamily="49" charset="-122"/>
              </a:rPr>
              <a:t>——</a:t>
            </a:r>
            <a:r>
              <a:rPr lang="zh-CN" altLang="en-US" sz="2400" dirty="0">
                <a:solidFill>
                  <a:schemeClr val="tx2"/>
                </a:solidFill>
                <a:latin typeface="楷体" panose="02010609060101010101" pitchFamily="49" charset="-122"/>
                <a:ea typeface="楷体" panose="02010609060101010101" pitchFamily="49" charset="-122"/>
              </a:rPr>
              <a:t>可解释性</a:t>
            </a:r>
          </a:p>
        </p:txBody>
      </p:sp>
      <p:pic>
        <p:nvPicPr>
          <p:cNvPr id="4" name="图片 3">
            <a:extLst>
              <a:ext uri="{FF2B5EF4-FFF2-40B4-BE49-F238E27FC236}">
                <a16:creationId xmlns:a16="http://schemas.microsoft.com/office/drawing/2014/main" id="{1904FB5E-026E-B257-B9D4-6A6A07052A3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97847" y="693965"/>
            <a:ext cx="6208176" cy="4995641"/>
          </a:xfrm>
          <a:prstGeom prst="rect">
            <a:avLst/>
          </a:prstGeom>
        </p:spPr>
      </p:pic>
      <p:sp>
        <p:nvSpPr>
          <p:cNvPr id="12" name="文本框 11">
            <a:extLst>
              <a:ext uri="{FF2B5EF4-FFF2-40B4-BE49-F238E27FC236}">
                <a16:creationId xmlns:a16="http://schemas.microsoft.com/office/drawing/2014/main" id="{3602D57A-8144-C593-929F-29DA98B4DABF}"/>
              </a:ext>
            </a:extLst>
          </p:cNvPr>
          <p:cNvSpPr txBox="1"/>
          <p:nvPr/>
        </p:nvSpPr>
        <p:spPr>
          <a:xfrm>
            <a:off x="383721" y="5810092"/>
            <a:ext cx="8398329" cy="707886"/>
          </a:xfrm>
          <a:prstGeom prst="rect">
            <a:avLst/>
          </a:prstGeom>
          <a:noFill/>
        </p:spPr>
        <p:txBody>
          <a:bodyPr wrap="square">
            <a:spAutoFit/>
          </a:bodyPr>
          <a:lstStyle/>
          <a:p>
            <a:r>
              <a:rPr lang="zh-CN" altLang="en-US" sz="2000" dirty="0"/>
              <a:t>可解释性指模型以人类可理解的方式展示其决策依据，涵盖模型内部机制透明性（如特征权重）和预测结果的局部解释（如单样本归因）</a:t>
            </a:r>
          </a:p>
        </p:txBody>
      </p:sp>
    </p:spTree>
    <p:extLst>
      <p:ext uri="{BB962C8B-B14F-4D97-AF65-F5344CB8AC3E}">
        <p14:creationId xmlns:p14="http://schemas.microsoft.com/office/powerpoint/2010/main" val="1370013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numCol="1" anchorCtr="0" compatLnSpc="1"/>
          <a:lstStyle/>
          <a:p>
            <a:pPr>
              <a:defRPr/>
            </a:pPr>
            <a:r>
              <a:rPr lang="zh-CN" altLang="en-US" sz="3200" b="1" dirty="0">
                <a:ln>
                  <a:noFill/>
                </a:ln>
                <a:solidFill>
                  <a:schemeClr val="tx2"/>
                </a:solidFill>
                <a:latin typeface="楷体" panose="02010609060101010101" pitchFamily="49" charset="-122"/>
                <a:ea typeface="楷体" panose="02010609060101010101" pitchFamily="49" charset="-122"/>
              </a:rPr>
              <a:t>目 录</a:t>
            </a:r>
          </a:p>
        </p:txBody>
      </p:sp>
      <p:sp>
        <p:nvSpPr>
          <p:cNvPr id="24579" name="矩形 9"/>
          <p:cNvSpPr>
            <a:spLocks noChangeArrowheads="1"/>
          </p:cNvSpPr>
          <p:nvPr/>
        </p:nvSpPr>
        <p:spPr bwMode="auto">
          <a:xfrm>
            <a:off x="1329358" y="1755321"/>
            <a:ext cx="7535516" cy="366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机器学习概念</a:t>
            </a:r>
            <a:endParaRPr lang="en-US" altLang="zh-CN" sz="4000" dirty="0">
              <a:latin typeface="Times New Roman" panose="02020603050405020304" pitchFamily="18" charset="0"/>
              <a:ea typeface="楷体" panose="02010609060101010101" pitchFamily="49" charset="-122"/>
            </a:endParaRP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机器学习编程基础</a:t>
            </a:r>
            <a:r>
              <a:rPr lang="en-US" altLang="zh-CN" sz="4000" dirty="0">
                <a:latin typeface="Times New Roman" panose="02020603050405020304" pitchFamily="18" charset="0"/>
                <a:ea typeface="楷体" panose="02010609060101010101" pitchFamily="49" charset="-122"/>
              </a:rPr>
              <a:t>——Python</a:t>
            </a: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机器学习开发流程</a:t>
            </a:r>
            <a:endParaRPr lang="en-US" altLang="zh-CN" sz="4000" dirty="0">
              <a:latin typeface="Times New Roman" panose="02020603050405020304" pitchFamily="18" charset="0"/>
              <a:ea typeface="楷体" panose="02010609060101010101" pitchFamily="49" charset="-122"/>
            </a:endParaRPr>
          </a:p>
          <a:p>
            <a:pPr eaLnBrk="1" hangingPunct="1">
              <a:lnSpc>
                <a:spcPct val="150000"/>
              </a:lnSpc>
              <a:buFont typeface="Wingdings" panose="05000000000000000000" pitchFamily="2" charset="2"/>
              <a:buChar char="Ø"/>
            </a:pPr>
            <a:r>
              <a:rPr lang="zh-CN" altLang="en-US" sz="4000" dirty="0">
                <a:latin typeface="Times New Roman" panose="02020603050405020304" pitchFamily="18" charset="0"/>
                <a:ea typeface="楷体" panose="02010609060101010101" pitchFamily="49" charset="-122"/>
              </a:rPr>
              <a:t>经典机器学习算法及其案例</a:t>
            </a:r>
          </a:p>
        </p:txBody>
      </p:sp>
      <p:sp>
        <p:nvSpPr>
          <p:cNvPr id="24581" name="矩形 13"/>
          <p:cNvSpPr>
            <a:spLocks noChangeArrowheads="1"/>
          </p:cNvSpPr>
          <p:nvPr/>
        </p:nvSpPr>
        <p:spPr bwMode="auto">
          <a:xfrm>
            <a:off x="1274929" y="4547507"/>
            <a:ext cx="6802271" cy="914400"/>
          </a:xfrm>
          <a:prstGeom prst="rect">
            <a:avLst/>
          </a:prstGeom>
          <a:noFill/>
          <a:ln w="34925" algn="ctr">
            <a:solidFill>
              <a:srgbClr val="0070C0"/>
            </a:solidFill>
            <a:round/>
          </a:ln>
          <a:extLst>
            <a:ext uri="{909E8E84-426E-40DD-AFC4-6F175D3DCCD1}">
              <a14:hiddenFill xmlns:a14="http://schemas.microsoft.com/office/drawing/2010/main">
                <a:solidFill>
                  <a:srgbClr val="FFFFFF"/>
                </a:solidFill>
              </a14:hiddenFill>
            </a:ext>
          </a:extLst>
        </p:spPr>
        <p:txBody>
          <a:bodyPr lIns="89545" tIns="0" rIns="0" bIns="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10000"/>
              </a:spcBef>
              <a:buClr>
                <a:srgbClr val="0000CC"/>
              </a:buClr>
              <a:buFont typeface="Wingdings" panose="05000000000000000000" pitchFamily="2" charset="2"/>
              <a:buChar char="u"/>
            </a:pPr>
            <a:endParaRPr lang="zh-CN" altLang="en-US" sz="4000">
              <a:latin typeface="楷体_GB2312" pitchFamily="49" charset="-122"/>
              <a:ea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070A4-EE5B-6BA3-DB86-B7333FB8B6C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CEBCD226-5D41-136D-C898-874417A3CFD1}"/>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代码实践</a:t>
            </a:r>
            <a:r>
              <a:rPr lang="en-US" altLang="zh-CN" dirty="0">
                <a:latin typeface="Times New Roman" panose="02020603050405020304" pitchFamily="18" charset="0"/>
                <a:ea typeface="楷体" panose="02010609060101010101" pitchFamily="49" charset="-122"/>
              </a:rPr>
              <a:t>4</a:t>
            </a:r>
            <a:r>
              <a:rPr lang="zh-CN" altLang="en-US" dirty="0">
                <a:latin typeface="Times New Roman" panose="02020603050405020304" pitchFamily="18" charset="0"/>
                <a:ea typeface="楷体" panose="02010609060101010101" pitchFamily="49" charset="-122"/>
              </a:rPr>
              <a:t>： 线性回归</a:t>
            </a:r>
          </a:p>
        </p:txBody>
      </p:sp>
      <p:sp>
        <p:nvSpPr>
          <p:cNvPr id="10" name="文本框 9">
            <a:extLst>
              <a:ext uri="{FF2B5EF4-FFF2-40B4-BE49-F238E27FC236}">
                <a16:creationId xmlns:a16="http://schemas.microsoft.com/office/drawing/2014/main" id="{07056DFD-E819-64AF-31A6-F60D450BEEEC}"/>
              </a:ext>
            </a:extLst>
          </p:cNvPr>
          <p:cNvSpPr txBox="1"/>
          <p:nvPr/>
        </p:nvSpPr>
        <p:spPr>
          <a:xfrm>
            <a:off x="990600" y="664709"/>
            <a:ext cx="7748588" cy="461665"/>
          </a:xfrm>
          <a:prstGeom prst="rect">
            <a:avLst/>
          </a:prstGeom>
          <a:noFill/>
        </p:spPr>
        <p:txBody>
          <a:bodyPr wrap="square">
            <a:spAutoFit/>
          </a:bodyPr>
          <a:lstStyle/>
          <a:p>
            <a:pPr algn="ctr"/>
            <a:r>
              <a:rPr lang="zh-CN" altLang="en-US" sz="2400" b="1" dirty="0">
                <a:latin typeface="Times New Roman" panose="02020603050405020304" pitchFamily="18" charset="0"/>
              </a:rPr>
              <a:t>目标：学会实现线性回归模型，预测房屋价格。</a:t>
            </a:r>
          </a:p>
        </p:txBody>
      </p:sp>
      <p:sp>
        <p:nvSpPr>
          <p:cNvPr id="13" name="文本框 12">
            <a:extLst>
              <a:ext uri="{FF2B5EF4-FFF2-40B4-BE49-F238E27FC236}">
                <a16:creationId xmlns:a16="http://schemas.microsoft.com/office/drawing/2014/main" id="{BB1B6E31-1C7A-FA78-3C49-D3BA4C28CE40}"/>
              </a:ext>
            </a:extLst>
          </p:cNvPr>
          <p:cNvSpPr txBox="1"/>
          <p:nvPr/>
        </p:nvSpPr>
        <p:spPr>
          <a:xfrm>
            <a:off x="35718" y="1188848"/>
            <a:ext cx="5069682" cy="3970318"/>
          </a:xfrm>
          <a:prstGeom prst="rect">
            <a:avLst/>
          </a:prstGeom>
          <a:noFill/>
        </p:spPr>
        <p:txBody>
          <a:bodyPr wrap="square">
            <a:spAutoFit/>
          </a:bodyPr>
          <a:lstStyle/>
          <a:p>
            <a:r>
              <a:rPr lang="en-US" altLang="zh-CN" dirty="0">
                <a:latin typeface="+mj-lt"/>
              </a:rPr>
              <a:t>from </a:t>
            </a:r>
            <a:r>
              <a:rPr lang="en-US" altLang="zh-CN" dirty="0" err="1">
                <a:latin typeface="+mj-lt"/>
              </a:rPr>
              <a:t>sklearn.datasets</a:t>
            </a:r>
            <a:r>
              <a:rPr lang="en-US" altLang="zh-CN" dirty="0">
                <a:latin typeface="+mj-lt"/>
              </a:rPr>
              <a:t> import </a:t>
            </a:r>
            <a:r>
              <a:rPr lang="en-US" altLang="zh-CN" dirty="0" err="1">
                <a:latin typeface="+mj-lt"/>
              </a:rPr>
              <a:t>fetch_openml</a:t>
            </a:r>
            <a:endParaRPr lang="en-US" altLang="zh-CN" dirty="0">
              <a:latin typeface="+mj-lt"/>
            </a:endParaRPr>
          </a:p>
          <a:p>
            <a:r>
              <a:rPr lang="en-US" altLang="zh-CN" dirty="0">
                <a:latin typeface="+mj-lt"/>
              </a:rPr>
              <a:t>from </a:t>
            </a:r>
            <a:r>
              <a:rPr lang="en-US" altLang="zh-CN" dirty="0" err="1">
                <a:latin typeface="+mj-lt"/>
              </a:rPr>
              <a:t>sklearn.linear_model</a:t>
            </a:r>
            <a:r>
              <a:rPr lang="en-US" altLang="zh-CN" dirty="0">
                <a:latin typeface="+mj-lt"/>
              </a:rPr>
              <a:t> import </a:t>
            </a:r>
            <a:r>
              <a:rPr lang="en-US" altLang="zh-CN" dirty="0" err="1">
                <a:latin typeface="+mj-lt"/>
              </a:rPr>
              <a:t>LinearRegression</a:t>
            </a:r>
            <a:endParaRPr lang="en-US" altLang="zh-CN" dirty="0">
              <a:latin typeface="+mj-lt"/>
            </a:endParaRPr>
          </a:p>
          <a:p>
            <a:r>
              <a:rPr lang="en-US" altLang="zh-CN" dirty="0">
                <a:latin typeface="+mj-lt"/>
              </a:rPr>
              <a:t>from </a:t>
            </a:r>
            <a:r>
              <a:rPr lang="en-US" altLang="zh-CN" dirty="0" err="1">
                <a:latin typeface="+mj-lt"/>
              </a:rPr>
              <a:t>sklearn.metrics</a:t>
            </a:r>
            <a:r>
              <a:rPr lang="en-US" altLang="zh-CN" dirty="0">
                <a:latin typeface="+mj-lt"/>
              </a:rPr>
              <a:t> import r2_score</a:t>
            </a:r>
          </a:p>
          <a:p>
            <a:r>
              <a:rPr lang="en-US" altLang="zh-CN" dirty="0">
                <a:latin typeface="+mj-lt"/>
              </a:rPr>
              <a:t>import </a:t>
            </a:r>
            <a:r>
              <a:rPr lang="en-US" altLang="zh-CN" dirty="0" err="1">
                <a:latin typeface="+mj-lt"/>
              </a:rPr>
              <a:t>matplotlib.pyplot</a:t>
            </a:r>
            <a:r>
              <a:rPr lang="en-US" altLang="zh-CN" dirty="0">
                <a:latin typeface="+mj-lt"/>
              </a:rPr>
              <a:t> as </a:t>
            </a:r>
            <a:r>
              <a:rPr lang="en-US" altLang="zh-CN" dirty="0" err="1">
                <a:latin typeface="+mj-lt"/>
              </a:rPr>
              <a:t>plt</a:t>
            </a:r>
            <a:endParaRPr lang="en-US" altLang="zh-CN" dirty="0">
              <a:latin typeface="+mj-lt"/>
            </a:endParaRPr>
          </a:p>
          <a:p>
            <a:endParaRPr lang="en-US" altLang="zh-CN" dirty="0">
              <a:latin typeface="+mj-lt"/>
            </a:endParaRPr>
          </a:p>
          <a:p>
            <a:r>
              <a:rPr lang="en-US" altLang="zh-CN" dirty="0">
                <a:latin typeface="+mj-lt"/>
              </a:rPr>
              <a:t># </a:t>
            </a:r>
            <a:r>
              <a:rPr lang="zh-CN" altLang="en-US" dirty="0">
                <a:latin typeface="+mj-lt"/>
              </a:rPr>
              <a:t>加载数据</a:t>
            </a:r>
          </a:p>
          <a:p>
            <a:r>
              <a:rPr lang="en-US" altLang="zh-CN" dirty="0" err="1">
                <a:latin typeface="+mj-lt"/>
              </a:rPr>
              <a:t>boston</a:t>
            </a:r>
            <a:r>
              <a:rPr lang="en-US" altLang="zh-CN" dirty="0">
                <a:latin typeface="+mj-lt"/>
              </a:rPr>
              <a:t> = </a:t>
            </a:r>
            <a:r>
              <a:rPr lang="en-US" altLang="zh-CN" dirty="0" err="1">
                <a:latin typeface="+mj-lt"/>
              </a:rPr>
              <a:t>fetch_openml</a:t>
            </a:r>
            <a:r>
              <a:rPr lang="en-US" altLang="zh-CN" dirty="0">
                <a:latin typeface="+mj-lt"/>
              </a:rPr>
              <a:t>(name='</a:t>
            </a:r>
            <a:r>
              <a:rPr lang="en-US" altLang="zh-CN" dirty="0" err="1">
                <a:latin typeface="+mj-lt"/>
              </a:rPr>
              <a:t>boston</a:t>
            </a:r>
            <a:r>
              <a:rPr lang="en-US" altLang="zh-CN" dirty="0">
                <a:latin typeface="+mj-lt"/>
              </a:rPr>
              <a:t>')</a:t>
            </a:r>
          </a:p>
          <a:p>
            <a:r>
              <a:rPr lang="en-US" altLang="zh-CN" dirty="0">
                <a:latin typeface="+mj-lt"/>
              </a:rPr>
              <a:t>X = </a:t>
            </a:r>
            <a:r>
              <a:rPr lang="en-US" altLang="zh-CN" dirty="0" err="1">
                <a:latin typeface="+mj-lt"/>
              </a:rPr>
              <a:t>boston.data</a:t>
            </a:r>
            <a:r>
              <a:rPr lang="en-US" altLang="zh-CN" dirty="0">
                <a:latin typeface="+mj-lt"/>
              </a:rPr>
              <a:t>[['RM', 'LSTAT']]  # </a:t>
            </a:r>
            <a:r>
              <a:rPr lang="zh-CN" altLang="en-US" dirty="0">
                <a:latin typeface="+mj-lt"/>
              </a:rPr>
              <a:t>房间数和低收入比例</a:t>
            </a:r>
          </a:p>
          <a:p>
            <a:r>
              <a:rPr lang="en-US" altLang="zh-CN" dirty="0">
                <a:latin typeface="+mj-lt"/>
              </a:rPr>
              <a:t>y = </a:t>
            </a:r>
            <a:r>
              <a:rPr lang="en-US" altLang="zh-CN" dirty="0" err="1">
                <a:latin typeface="+mj-lt"/>
              </a:rPr>
              <a:t>boston.target</a:t>
            </a:r>
            <a:endParaRPr lang="en-US" altLang="zh-CN" dirty="0">
              <a:latin typeface="+mj-lt"/>
            </a:endParaRPr>
          </a:p>
          <a:p>
            <a:endParaRPr lang="en-US" altLang="zh-CN" dirty="0">
              <a:latin typeface="+mj-lt"/>
            </a:endParaRPr>
          </a:p>
          <a:p>
            <a:r>
              <a:rPr lang="en-US" altLang="zh-CN" dirty="0">
                <a:latin typeface="+mj-lt"/>
              </a:rPr>
              <a:t># </a:t>
            </a:r>
            <a:r>
              <a:rPr lang="zh-CN" altLang="en-US" dirty="0">
                <a:latin typeface="+mj-lt"/>
              </a:rPr>
              <a:t>训练模型</a:t>
            </a:r>
          </a:p>
          <a:p>
            <a:r>
              <a:rPr lang="en-US" altLang="zh-CN" dirty="0">
                <a:latin typeface="+mj-lt"/>
              </a:rPr>
              <a:t>model = </a:t>
            </a:r>
            <a:r>
              <a:rPr lang="en-US" altLang="zh-CN" dirty="0" err="1">
                <a:latin typeface="+mj-lt"/>
              </a:rPr>
              <a:t>LinearRegression</a:t>
            </a:r>
            <a:r>
              <a:rPr lang="en-US" altLang="zh-CN" dirty="0">
                <a:latin typeface="+mj-lt"/>
              </a:rPr>
              <a:t>()</a:t>
            </a:r>
          </a:p>
          <a:p>
            <a:r>
              <a:rPr lang="en-US" altLang="zh-CN" dirty="0" err="1">
                <a:latin typeface="+mj-lt"/>
              </a:rPr>
              <a:t>model.fit</a:t>
            </a:r>
            <a:r>
              <a:rPr lang="en-US" altLang="zh-CN" dirty="0">
                <a:latin typeface="+mj-lt"/>
              </a:rPr>
              <a:t>(X, y)</a:t>
            </a:r>
          </a:p>
        </p:txBody>
      </p:sp>
      <p:sp>
        <p:nvSpPr>
          <p:cNvPr id="15" name="文本框 14">
            <a:extLst>
              <a:ext uri="{FF2B5EF4-FFF2-40B4-BE49-F238E27FC236}">
                <a16:creationId xmlns:a16="http://schemas.microsoft.com/office/drawing/2014/main" id="{461492F3-7E2B-1332-8A8D-4D9EDE80D445}"/>
              </a:ext>
            </a:extLst>
          </p:cNvPr>
          <p:cNvSpPr txBox="1"/>
          <p:nvPr/>
        </p:nvSpPr>
        <p:spPr>
          <a:xfrm>
            <a:off x="4890294" y="1828800"/>
            <a:ext cx="4297817" cy="3693319"/>
          </a:xfrm>
          <a:prstGeom prst="rect">
            <a:avLst/>
          </a:prstGeom>
          <a:noFill/>
        </p:spPr>
        <p:txBody>
          <a:bodyPr wrap="square">
            <a:spAutoFit/>
          </a:bodyPr>
          <a:lstStyle/>
          <a:p>
            <a:r>
              <a:rPr lang="en-US" altLang="zh-CN" dirty="0">
                <a:latin typeface="+mj-lt"/>
              </a:rPr>
              <a:t># </a:t>
            </a:r>
            <a:r>
              <a:rPr lang="zh-CN" altLang="en-US" dirty="0">
                <a:latin typeface="+mj-lt"/>
              </a:rPr>
              <a:t>预测与评估</a:t>
            </a:r>
          </a:p>
          <a:p>
            <a:r>
              <a:rPr lang="en-US" altLang="zh-CN" dirty="0" err="1">
                <a:latin typeface="+mj-lt"/>
              </a:rPr>
              <a:t>y_pred</a:t>
            </a:r>
            <a:r>
              <a:rPr lang="en-US" altLang="zh-CN" dirty="0">
                <a:latin typeface="+mj-lt"/>
              </a:rPr>
              <a:t> = </a:t>
            </a:r>
            <a:r>
              <a:rPr lang="en-US" altLang="zh-CN" dirty="0" err="1">
                <a:latin typeface="+mj-lt"/>
              </a:rPr>
              <a:t>model.predict</a:t>
            </a:r>
            <a:r>
              <a:rPr lang="en-US" altLang="zh-CN" dirty="0">
                <a:latin typeface="+mj-lt"/>
              </a:rPr>
              <a:t>(X)</a:t>
            </a:r>
          </a:p>
          <a:p>
            <a:r>
              <a:rPr lang="en-US" altLang="zh-CN" dirty="0">
                <a:latin typeface="+mj-lt"/>
              </a:rPr>
              <a:t>print(f"R²</a:t>
            </a:r>
            <a:r>
              <a:rPr lang="zh-CN" altLang="en-US" dirty="0">
                <a:latin typeface="+mj-lt"/>
              </a:rPr>
              <a:t>分数：</a:t>
            </a:r>
            <a:r>
              <a:rPr lang="en-US" altLang="zh-CN" dirty="0">
                <a:latin typeface="+mj-lt"/>
              </a:rPr>
              <a:t>{r2_score(y, </a:t>
            </a:r>
            <a:r>
              <a:rPr lang="en-US" altLang="zh-CN" dirty="0" err="1">
                <a:latin typeface="+mj-lt"/>
              </a:rPr>
              <a:t>y_pred</a:t>
            </a:r>
            <a:r>
              <a:rPr lang="en-US" altLang="zh-CN" dirty="0">
                <a:latin typeface="+mj-lt"/>
              </a:rPr>
              <a:t>):.3f}")</a:t>
            </a:r>
          </a:p>
          <a:p>
            <a:r>
              <a:rPr lang="en-US" altLang="zh-CN" dirty="0">
                <a:latin typeface="+mj-lt"/>
              </a:rPr>
              <a:t>print(f"</a:t>
            </a:r>
            <a:r>
              <a:rPr lang="zh-CN" altLang="en-US" dirty="0">
                <a:latin typeface="+mj-lt"/>
              </a:rPr>
              <a:t>系数：</a:t>
            </a:r>
            <a:r>
              <a:rPr lang="en-US" altLang="zh-CN" dirty="0">
                <a:latin typeface="+mj-lt"/>
              </a:rPr>
              <a:t>{</a:t>
            </a:r>
            <a:r>
              <a:rPr lang="en-US" altLang="zh-CN" dirty="0" err="1">
                <a:latin typeface="+mj-lt"/>
              </a:rPr>
              <a:t>model.coef</a:t>
            </a:r>
            <a:r>
              <a:rPr lang="en-US" altLang="zh-CN" dirty="0">
                <a:latin typeface="+mj-lt"/>
              </a:rPr>
              <a:t>_} </a:t>
            </a:r>
            <a:r>
              <a:rPr lang="zh-CN" altLang="en-US" dirty="0">
                <a:latin typeface="+mj-lt"/>
              </a:rPr>
              <a:t>截距：</a:t>
            </a:r>
            <a:r>
              <a:rPr lang="en-US" altLang="zh-CN" dirty="0">
                <a:latin typeface="+mj-lt"/>
              </a:rPr>
              <a:t>{model.intercept_:.2f}")</a:t>
            </a:r>
          </a:p>
          <a:p>
            <a:endParaRPr lang="en-US" altLang="zh-CN" dirty="0">
              <a:latin typeface="+mj-lt"/>
            </a:endParaRPr>
          </a:p>
          <a:p>
            <a:r>
              <a:rPr lang="en-US" altLang="zh-CN" dirty="0">
                <a:latin typeface="+mj-lt"/>
              </a:rPr>
              <a:t># </a:t>
            </a:r>
            <a:r>
              <a:rPr lang="zh-CN" altLang="en-US" dirty="0">
                <a:latin typeface="+mj-lt"/>
              </a:rPr>
              <a:t>可视化预测结果</a:t>
            </a:r>
          </a:p>
          <a:p>
            <a:r>
              <a:rPr lang="en-US" altLang="zh-CN" dirty="0" err="1">
                <a:latin typeface="+mj-lt"/>
              </a:rPr>
              <a:t>plt.scatter</a:t>
            </a:r>
            <a:r>
              <a:rPr lang="en-US" altLang="zh-CN" dirty="0">
                <a:latin typeface="+mj-lt"/>
              </a:rPr>
              <a:t>(y, </a:t>
            </a:r>
            <a:r>
              <a:rPr lang="en-US" altLang="zh-CN" dirty="0" err="1">
                <a:latin typeface="+mj-lt"/>
              </a:rPr>
              <a:t>y_pred</a:t>
            </a:r>
            <a:r>
              <a:rPr lang="en-US" altLang="zh-CN" dirty="0">
                <a:latin typeface="+mj-lt"/>
              </a:rPr>
              <a:t>, </a:t>
            </a:r>
            <a:r>
              <a:rPr lang="en-US" altLang="zh-CN" dirty="0" err="1">
                <a:latin typeface="+mj-lt"/>
              </a:rPr>
              <a:t>edgecolors</a:t>
            </a:r>
            <a:r>
              <a:rPr lang="en-US" altLang="zh-CN" dirty="0">
                <a:latin typeface="+mj-lt"/>
              </a:rPr>
              <a:t>='k')</a:t>
            </a:r>
          </a:p>
          <a:p>
            <a:r>
              <a:rPr lang="en-US" altLang="zh-CN" dirty="0" err="1">
                <a:latin typeface="+mj-lt"/>
              </a:rPr>
              <a:t>plt.plot</a:t>
            </a:r>
            <a:r>
              <a:rPr lang="en-US" altLang="zh-CN" dirty="0">
                <a:latin typeface="+mj-lt"/>
              </a:rPr>
              <a:t>([</a:t>
            </a:r>
            <a:r>
              <a:rPr lang="en-US" altLang="zh-CN" dirty="0" err="1">
                <a:latin typeface="+mj-lt"/>
              </a:rPr>
              <a:t>y.min</a:t>
            </a:r>
            <a:r>
              <a:rPr lang="en-US" altLang="zh-CN" dirty="0">
                <a:latin typeface="+mj-lt"/>
              </a:rPr>
              <a:t>(), </a:t>
            </a:r>
            <a:r>
              <a:rPr lang="en-US" altLang="zh-CN" dirty="0" err="1">
                <a:latin typeface="+mj-lt"/>
              </a:rPr>
              <a:t>y.max</a:t>
            </a:r>
            <a:r>
              <a:rPr lang="en-US" altLang="zh-CN" dirty="0">
                <a:latin typeface="+mj-lt"/>
              </a:rPr>
              <a:t>()], [</a:t>
            </a:r>
            <a:r>
              <a:rPr lang="en-US" altLang="zh-CN" dirty="0" err="1">
                <a:latin typeface="+mj-lt"/>
              </a:rPr>
              <a:t>y.min</a:t>
            </a:r>
            <a:r>
              <a:rPr lang="en-US" altLang="zh-CN" dirty="0">
                <a:latin typeface="+mj-lt"/>
              </a:rPr>
              <a:t>(), </a:t>
            </a:r>
            <a:r>
              <a:rPr lang="en-US" altLang="zh-CN" dirty="0" err="1">
                <a:latin typeface="+mj-lt"/>
              </a:rPr>
              <a:t>y.max</a:t>
            </a:r>
            <a:r>
              <a:rPr lang="en-US" altLang="zh-CN" dirty="0">
                <a:latin typeface="+mj-lt"/>
              </a:rPr>
              <a:t>()], 'r--')</a:t>
            </a:r>
          </a:p>
          <a:p>
            <a:r>
              <a:rPr lang="en-US" altLang="zh-CN" dirty="0" err="1">
                <a:latin typeface="+mj-lt"/>
              </a:rPr>
              <a:t>plt.xlabel</a:t>
            </a:r>
            <a:r>
              <a:rPr lang="en-US" altLang="zh-CN" dirty="0">
                <a:latin typeface="+mj-lt"/>
              </a:rPr>
              <a:t>('</a:t>
            </a:r>
            <a:r>
              <a:rPr lang="zh-CN" altLang="en-US" dirty="0">
                <a:latin typeface="+mj-lt"/>
              </a:rPr>
              <a:t>真实价格</a:t>
            </a:r>
            <a:r>
              <a:rPr lang="en-US" altLang="zh-CN" dirty="0">
                <a:latin typeface="+mj-lt"/>
              </a:rPr>
              <a:t>')</a:t>
            </a:r>
          </a:p>
          <a:p>
            <a:r>
              <a:rPr lang="en-US" altLang="zh-CN" dirty="0" err="1">
                <a:latin typeface="+mj-lt"/>
              </a:rPr>
              <a:t>plt.ylabel</a:t>
            </a:r>
            <a:r>
              <a:rPr lang="en-US" altLang="zh-CN" dirty="0">
                <a:latin typeface="+mj-lt"/>
              </a:rPr>
              <a:t>('</a:t>
            </a:r>
            <a:r>
              <a:rPr lang="zh-CN" altLang="en-US" dirty="0">
                <a:latin typeface="+mj-lt"/>
              </a:rPr>
              <a:t>预测价格</a:t>
            </a:r>
            <a:r>
              <a:rPr lang="en-US" altLang="zh-CN" dirty="0">
                <a:latin typeface="+mj-lt"/>
              </a:rPr>
              <a:t>')</a:t>
            </a:r>
          </a:p>
          <a:p>
            <a:r>
              <a:rPr lang="en-US" altLang="zh-CN" dirty="0" err="1">
                <a:latin typeface="+mj-lt"/>
              </a:rPr>
              <a:t>plt.show</a:t>
            </a:r>
            <a:r>
              <a:rPr lang="en-US" altLang="zh-CN" dirty="0">
                <a:latin typeface="+mj-lt"/>
              </a:rPr>
              <a:t>()</a:t>
            </a:r>
          </a:p>
        </p:txBody>
      </p:sp>
      <p:sp>
        <p:nvSpPr>
          <p:cNvPr id="2" name="文本框 1">
            <a:extLst>
              <a:ext uri="{FF2B5EF4-FFF2-40B4-BE49-F238E27FC236}">
                <a16:creationId xmlns:a16="http://schemas.microsoft.com/office/drawing/2014/main" id="{769C0E3B-6B3C-804E-E182-91AD3699AC99}"/>
              </a:ext>
            </a:extLst>
          </p:cNvPr>
          <p:cNvSpPr txBox="1"/>
          <p:nvPr/>
        </p:nvSpPr>
        <p:spPr>
          <a:xfrm>
            <a:off x="1931194" y="5352774"/>
            <a:ext cx="5867400" cy="1200329"/>
          </a:xfrm>
          <a:prstGeom prst="rect">
            <a:avLst/>
          </a:prstGeom>
          <a:noFill/>
        </p:spPr>
        <p:txBody>
          <a:bodyPr wrap="square">
            <a:spAutoFit/>
          </a:bodyPr>
          <a:lstStyle/>
          <a:p>
            <a:r>
              <a:rPr lang="zh-CN" altLang="en-US" b="1" dirty="0">
                <a:solidFill>
                  <a:schemeClr val="accent1"/>
                </a:solidFill>
              </a:rPr>
              <a:t>思考问题</a:t>
            </a:r>
          </a:p>
          <a:p>
            <a:pPr marL="342900" indent="-342900">
              <a:buFont typeface="Wingdings" panose="05000000000000000000" pitchFamily="2" charset="2"/>
              <a:buChar char="l"/>
            </a:pPr>
            <a:r>
              <a:rPr lang="zh-CN" altLang="en-US" b="1" dirty="0">
                <a:solidFill>
                  <a:schemeClr val="accent1"/>
                </a:solidFill>
              </a:rPr>
              <a:t>如何处理多特征的线性回归问题？</a:t>
            </a:r>
          </a:p>
          <a:p>
            <a:pPr marL="342900" indent="-342900">
              <a:buFont typeface="Wingdings" panose="05000000000000000000" pitchFamily="2" charset="2"/>
              <a:buChar char="l"/>
            </a:pPr>
            <a:r>
              <a:rPr lang="zh-CN" altLang="en-US" b="1" dirty="0">
                <a:solidFill>
                  <a:schemeClr val="accent1"/>
                </a:solidFill>
              </a:rPr>
              <a:t>在模型训练中，如何调整超参数以提高模型性能？</a:t>
            </a:r>
          </a:p>
          <a:p>
            <a:pPr marL="342900" indent="-342900">
              <a:buFont typeface="Wingdings" panose="05000000000000000000" pitchFamily="2" charset="2"/>
              <a:buChar char="l"/>
            </a:pPr>
            <a:r>
              <a:rPr lang="zh-CN" altLang="en-US" b="1" dirty="0">
                <a:solidFill>
                  <a:schemeClr val="accent1"/>
                </a:solidFill>
              </a:rPr>
              <a:t>如何对非线性数据进行线性回归建模？</a:t>
            </a:r>
          </a:p>
        </p:txBody>
      </p:sp>
    </p:spTree>
    <p:extLst>
      <p:ext uri="{BB962C8B-B14F-4D97-AF65-F5344CB8AC3E}">
        <p14:creationId xmlns:p14="http://schemas.microsoft.com/office/powerpoint/2010/main" val="4229476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B8BDA-F7B5-5D8F-8BD0-77461E237618}"/>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87ABF91-BFCE-F468-BBB4-074C36C15C80}"/>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代码实践</a:t>
            </a:r>
            <a:r>
              <a:rPr lang="en-US" altLang="zh-CN" dirty="0">
                <a:latin typeface="Times New Roman" panose="02020603050405020304" pitchFamily="18" charset="0"/>
                <a:ea typeface="楷体" panose="02010609060101010101" pitchFamily="49" charset="-122"/>
              </a:rPr>
              <a:t>5</a:t>
            </a:r>
            <a:r>
              <a:rPr lang="zh-CN" altLang="en-US" dirty="0">
                <a:latin typeface="Times New Roman" panose="02020603050405020304" pitchFamily="18" charset="0"/>
                <a:ea typeface="楷体" panose="02010609060101010101" pitchFamily="49" charset="-122"/>
              </a:rPr>
              <a:t>：逻辑回归</a:t>
            </a:r>
          </a:p>
        </p:txBody>
      </p:sp>
      <p:sp>
        <p:nvSpPr>
          <p:cNvPr id="10" name="文本框 9">
            <a:extLst>
              <a:ext uri="{FF2B5EF4-FFF2-40B4-BE49-F238E27FC236}">
                <a16:creationId xmlns:a16="http://schemas.microsoft.com/office/drawing/2014/main" id="{AE25E175-2DE9-ADEB-2400-A2CC6D0675A6}"/>
              </a:ext>
            </a:extLst>
          </p:cNvPr>
          <p:cNvSpPr txBox="1"/>
          <p:nvPr/>
        </p:nvSpPr>
        <p:spPr>
          <a:xfrm>
            <a:off x="990600" y="664709"/>
            <a:ext cx="7748588" cy="461665"/>
          </a:xfrm>
          <a:prstGeom prst="rect">
            <a:avLst/>
          </a:prstGeom>
          <a:noFill/>
        </p:spPr>
        <p:txBody>
          <a:bodyPr wrap="square">
            <a:spAutoFit/>
          </a:bodyPr>
          <a:lstStyle/>
          <a:p>
            <a:pPr algn="ctr"/>
            <a:r>
              <a:rPr lang="zh-CN" altLang="en-US" sz="2400" b="1" dirty="0">
                <a:latin typeface="Times New Roman" panose="02020603050405020304" pitchFamily="18" charset="0"/>
              </a:rPr>
              <a:t>目标：学会实现逻辑回归模型，对鸢尾花进行分类。</a:t>
            </a:r>
          </a:p>
        </p:txBody>
      </p:sp>
      <p:sp>
        <p:nvSpPr>
          <p:cNvPr id="13" name="文本框 12">
            <a:extLst>
              <a:ext uri="{FF2B5EF4-FFF2-40B4-BE49-F238E27FC236}">
                <a16:creationId xmlns:a16="http://schemas.microsoft.com/office/drawing/2014/main" id="{D7C95C39-2467-B31D-7525-0FD846969758}"/>
              </a:ext>
            </a:extLst>
          </p:cNvPr>
          <p:cNvSpPr txBox="1"/>
          <p:nvPr/>
        </p:nvSpPr>
        <p:spPr>
          <a:xfrm>
            <a:off x="20327" y="1100138"/>
            <a:ext cx="5770873" cy="4247317"/>
          </a:xfrm>
          <a:prstGeom prst="rect">
            <a:avLst/>
          </a:prstGeom>
          <a:noFill/>
        </p:spPr>
        <p:txBody>
          <a:bodyPr wrap="square">
            <a:spAutoFit/>
          </a:bodyPr>
          <a:lstStyle/>
          <a:p>
            <a:r>
              <a:rPr lang="en-US" altLang="zh-CN" dirty="0">
                <a:latin typeface="+mj-lt"/>
              </a:rPr>
              <a:t>from </a:t>
            </a:r>
            <a:r>
              <a:rPr lang="en-US" altLang="zh-CN" dirty="0" err="1">
                <a:latin typeface="+mj-lt"/>
              </a:rPr>
              <a:t>sklearn.datasets</a:t>
            </a:r>
            <a:r>
              <a:rPr lang="en-US" altLang="zh-CN" dirty="0">
                <a:latin typeface="+mj-lt"/>
              </a:rPr>
              <a:t> import </a:t>
            </a:r>
            <a:r>
              <a:rPr lang="en-US" altLang="zh-CN" dirty="0" err="1">
                <a:latin typeface="+mj-lt"/>
              </a:rPr>
              <a:t>load_iris</a:t>
            </a:r>
            <a:endParaRPr lang="en-US" altLang="zh-CN" dirty="0">
              <a:latin typeface="+mj-lt"/>
            </a:endParaRPr>
          </a:p>
          <a:p>
            <a:r>
              <a:rPr lang="en-US" altLang="zh-CN" dirty="0">
                <a:latin typeface="+mj-lt"/>
              </a:rPr>
              <a:t>from </a:t>
            </a:r>
            <a:r>
              <a:rPr lang="en-US" altLang="zh-CN" dirty="0" err="1">
                <a:latin typeface="+mj-lt"/>
              </a:rPr>
              <a:t>sklearn.linear_model</a:t>
            </a:r>
            <a:r>
              <a:rPr lang="en-US" altLang="zh-CN" dirty="0">
                <a:latin typeface="+mj-lt"/>
              </a:rPr>
              <a:t> import </a:t>
            </a:r>
            <a:r>
              <a:rPr lang="en-US" altLang="zh-CN" dirty="0" err="1">
                <a:latin typeface="+mj-lt"/>
              </a:rPr>
              <a:t>LogisticRegression</a:t>
            </a:r>
            <a:endParaRPr lang="en-US" altLang="zh-CN" dirty="0">
              <a:latin typeface="+mj-lt"/>
            </a:endParaRPr>
          </a:p>
          <a:p>
            <a:r>
              <a:rPr lang="en-US" altLang="zh-CN" dirty="0">
                <a:latin typeface="+mj-lt"/>
              </a:rPr>
              <a:t>from </a:t>
            </a:r>
            <a:r>
              <a:rPr lang="en-US" altLang="zh-CN" dirty="0" err="1">
                <a:latin typeface="+mj-lt"/>
              </a:rPr>
              <a:t>sklearn.metrics</a:t>
            </a:r>
            <a:r>
              <a:rPr lang="en-US" altLang="zh-CN" dirty="0">
                <a:latin typeface="+mj-lt"/>
              </a:rPr>
              <a:t> import </a:t>
            </a:r>
            <a:r>
              <a:rPr lang="en-US" altLang="zh-CN" dirty="0" err="1">
                <a:latin typeface="+mj-lt"/>
              </a:rPr>
              <a:t>confusion_matrix</a:t>
            </a:r>
            <a:r>
              <a:rPr lang="en-US" altLang="zh-CN" dirty="0">
                <a:latin typeface="+mj-lt"/>
              </a:rPr>
              <a:t>, </a:t>
            </a:r>
            <a:r>
              <a:rPr lang="en-US" altLang="zh-CN" dirty="0" err="1">
                <a:latin typeface="+mj-lt"/>
              </a:rPr>
              <a:t>ConfusionMatrixDisplay</a:t>
            </a:r>
            <a:endParaRPr lang="en-US" altLang="zh-CN" dirty="0">
              <a:latin typeface="+mj-lt"/>
            </a:endParaRPr>
          </a:p>
          <a:p>
            <a:r>
              <a:rPr lang="en-US" altLang="zh-CN" dirty="0">
                <a:latin typeface="+mj-lt"/>
              </a:rPr>
              <a:t>import </a:t>
            </a:r>
            <a:r>
              <a:rPr lang="en-US" altLang="zh-CN" dirty="0" err="1">
                <a:latin typeface="+mj-lt"/>
              </a:rPr>
              <a:t>numpy</a:t>
            </a:r>
            <a:r>
              <a:rPr lang="en-US" altLang="zh-CN" dirty="0">
                <a:latin typeface="+mj-lt"/>
              </a:rPr>
              <a:t> as np</a:t>
            </a:r>
          </a:p>
          <a:p>
            <a:r>
              <a:rPr lang="en-US" altLang="zh-CN" dirty="0">
                <a:latin typeface="+mj-lt"/>
              </a:rPr>
              <a:t>import </a:t>
            </a:r>
            <a:r>
              <a:rPr lang="en-US" altLang="zh-CN" dirty="0" err="1">
                <a:latin typeface="+mj-lt"/>
              </a:rPr>
              <a:t>matplotlib.pyplot</a:t>
            </a:r>
            <a:r>
              <a:rPr lang="en-US" altLang="zh-CN" dirty="0">
                <a:latin typeface="+mj-lt"/>
              </a:rPr>
              <a:t> as </a:t>
            </a:r>
            <a:r>
              <a:rPr lang="en-US" altLang="zh-CN" dirty="0" err="1">
                <a:latin typeface="+mj-lt"/>
              </a:rPr>
              <a:t>plt</a:t>
            </a:r>
            <a:endParaRPr lang="en-US" altLang="zh-CN" dirty="0">
              <a:latin typeface="+mj-lt"/>
            </a:endParaRPr>
          </a:p>
          <a:p>
            <a:endParaRPr lang="en-US" altLang="zh-CN" dirty="0">
              <a:latin typeface="+mj-lt"/>
            </a:endParaRPr>
          </a:p>
          <a:p>
            <a:r>
              <a:rPr lang="en-US" altLang="zh-CN" dirty="0">
                <a:latin typeface="+mj-lt"/>
              </a:rPr>
              <a:t># </a:t>
            </a:r>
            <a:r>
              <a:rPr lang="zh-CN" altLang="en-US" dirty="0">
                <a:latin typeface="+mj-lt"/>
              </a:rPr>
              <a:t>加载数据</a:t>
            </a:r>
          </a:p>
          <a:p>
            <a:r>
              <a:rPr lang="en-US" altLang="zh-CN" dirty="0">
                <a:latin typeface="+mj-lt"/>
              </a:rPr>
              <a:t>iris = </a:t>
            </a:r>
            <a:r>
              <a:rPr lang="en-US" altLang="zh-CN" dirty="0" err="1">
                <a:latin typeface="+mj-lt"/>
              </a:rPr>
              <a:t>load_iris</a:t>
            </a:r>
            <a:r>
              <a:rPr lang="en-US" altLang="zh-CN" dirty="0">
                <a:latin typeface="+mj-lt"/>
              </a:rPr>
              <a:t>()</a:t>
            </a:r>
          </a:p>
          <a:p>
            <a:r>
              <a:rPr lang="en-US" altLang="zh-CN" dirty="0">
                <a:latin typeface="+mj-lt"/>
              </a:rPr>
              <a:t>X = </a:t>
            </a:r>
            <a:r>
              <a:rPr lang="en-US" altLang="zh-CN" dirty="0" err="1">
                <a:latin typeface="+mj-lt"/>
              </a:rPr>
              <a:t>iris.data</a:t>
            </a:r>
            <a:r>
              <a:rPr lang="en-US" altLang="zh-CN" dirty="0">
                <a:latin typeface="+mj-lt"/>
              </a:rPr>
              <a:t>[:, :2]  # </a:t>
            </a:r>
            <a:r>
              <a:rPr lang="zh-CN" altLang="en-US" dirty="0">
                <a:latin typeface="+mj-lt"/>
              </a:rPr>
              <a:t>只使用前两个特征</a:t>
            </a:r>
          </a:p>
          <a:p>
            <a:r>
              <a:rPr lang="en-US" altLang="zh-CN" dirty="0">
                <a:latin typeface="+mj-lt"/>
              </a:rPr>
              <a:t>y = (</a:t>
            </a:r>
            <a:r>
              <a:rPr lang="en-US" altLang="zh-CN" dirty="0" err="1">
                <a:latin typeface="+mj-lt"/>
              </a:rPr>
              <a:t>iris.target</a:t>
            </a:r>
            <a:r>
              <a:rPr lang="en-US" altLang="zh-CN" dirty="0">
                <a:latin typeface="+mj-lt"/>
              </a:rPr>
              <a:t> != 0).</a:t>
            </a:r>
            <a:r>
              <a:rPr lang="en-US" altLang="zh-CN" dirty="0" err="1">
                <a:latin typeface="+mj-lt"/>
              </a:rPr>
              <a:t>astype</a:t>
            </a:r>
            <a:r>
              <a:rPr lang="en-US" altLang="zh-CN" dirty="0">
                <a:latin typeface="+mj-lt"/>
              </a:rPr>
              <a:t>(int)  # </a:t>
            </a:r>
            <a:r>
              <a:rPr lang="zh-CN" altLang="en-US" dirty="0">
                <a:latin typeface="+mj-lt"/>
              </a:rPr>
              <a:t>二分类问题</a:t>
            </a:r>
            <a:endParaRPr lang="en-US" altLang="zh-CN" dirty="0">
              <a:latin typeface="+mj-lt"/>
            </a:endParaRPr>
          </a:p>
          <a:p>
            <a:endParaRPr lang="en-US" altLang="zh-CN" dirty="0">
              <a:latin typeface="+mj-lt"/>
            </a:endParaRPr>
          </a:p>
          <a:p>
            <a:r>
              <a:rPr lang="en-US" altLang="zh-CN" dirty="0">
                <a:latin typeface="+mj-lt"/>
              </a:rPr>
              <a:t># </a:t>
            </a:r>
            <a:r>
              <a:rPr lang="zh-CN" altLang="en-US" dirty="0">
                <a:latin typeface="+mj-lt"/>
              </a:rPr>
              <a:t>训练模型</a:t>
            </a:r>
          </a:p>
          <a:p>
            <a:r>
              <a:rPr lang="en-US" altLang="zh-CN" dirty="0" err="1">
                <a:latin typeface="+mj-lt"/>
              </a:rPr>
              <a:t>clf</a:t>
            </a:r>
            <a:r>
              <a:rPr lang="en-US" altLang="zh-CN" dirty="0">
                <a:latin typeface="+mj-lt"/>
              </a:rPr>
              <a:t> = </a:t>
            </a:r>
            <a:r>
              <a:rPr lang="en-US" altLang="zh-CN" dirty="0" err="1">
                <a:latin typeface="+mj-lt"/>
              </a:rPr>
              <a:t>LogisticRegression</a:t>
            </a:r>
            <a:r>
              <a:rPr lang="en-US" altLang="zh-CN" dirty="0">
                <a:latin typeface="+mj-lt"/>
              </a:rPr>
              <a:t>()</a:t>
            </a:r>
          </a:p>
          <a:p>
            <a:r>
              <a:rPr lang="en-US" altLang="zh-CN" dirty="0" err="1">
                <a:latin typeface="+mj-lt"/>
              </a:rPr>
              <a:t>clf.fit</a:t>
            </a:r>
            <a:r>
              <a:rPr lang="en-US" altLang="zh-CN" dirty="0">
                <a:latin typeface="+mj-lt"/>
              </a:rPr>
              <a:t>(X, y)</a:t>
            </a:r>
          </a:p>
        </p:txBody>
      </p:sp>
      <p:sp>
        <p:nvSpPr>
          <p:cNvPr id="15" name="文本框 14">
            <a:extLst>
              <a:ext uri="{FF2B5EF4-FFF2-40B4-BE49-F238E27FC236}">
                <a16:creationId xmlns:a16="http://schemas.microsoft.com/office/drawing/2014/main" id="{D9FC498F-477C-393B-1F6B-5F09EAB706FB}"/>
              </a:ext>
            </a:extLst>
          </p:cNvPr>
          <p:cNvSpPr txBox="1"/>
          <p:nvPr/>
        </p:nvSpPr>
        <p:spPr>
          <a:xfrm>
            <a:off x="4572000" y="1918781"/>
            <a:ext cx="4736306" cy="4524315"/>
          </a:xfrm>
          <a:prstGeom prst="rect">
            <a:avLst/>
          </a:prstGeom>
          <a:noFill/>
        </p:spPr>
        <p:txBody>
          <a:bodyPr wrap="square">
            <a:spAutoFit/>
          </a:bodyPr>
          <a:lstStyle/>
          <a:p>
            <a:r>
              <a:rPr lang="en-US" altLang="zh-CN" dirty="0">
                <a:latin typeface="+mj-lt"/>
              </a:rPr>
              <a:t># </a:t>
            </a:r>
            <a:r>
              <a:rPr lang="zh-CN" altLang="en-US" dirty="0">
                <a:latin typeface="+mj-lt"/>
              </a:rPr>
              <a:t>可视化决策边界</a:t>
            </a:r>
          </a:p>
          <a:p>
            <a:r>
              <a:rPr lang="en-US" altLang="zh-CN" dirty="0">
                <a:latin typeface="+mj-lt"/>
              </a:rPr>
              <a:t>xx, </a:t>
            </a:r>
            <a:r>
              <a:rPr lang="en-US" altLang="zh-CN" dirty="0" err="1">
                <a:latin typeface="+mj-lt"/>
              </a:rPr>
              <a:t>yy</a:t>
            </a:r>
            <a:r>
              <a:rPr lang="en-US" altLang="zh-CN" dirty="0">
                <a:latin typeface="+mj-lt"/>
              </a:rPr>
              <a:t> = </a:t>
            </a:r>
            <a:r>
              <a:rPr lang="en-US" altLang="zh-CN" dirty="0" err="1">
                <a:latin typeface="+mj-lt"/>
              </a:rPr>
              <a:t>np.meshgrid</a:t>
            </a:r>
            <a:r>
              <a:rPr lang="en-US" altLang="zh-CN" dirty="0">
                <a:latin typeface="+mj-lt"/>
              </a:rPr>
              <a:t>(</a:t>
            </a:r>
            <a:r>
              <a:rPr lang="en-US" altLang="zh-CN" dirty="0" err="1">
                <a:latin typeface="+mj-lt"/>
              </a:rPr>
              <a:t>np.linspace</a:t>
            </a:r>
            <a:r>
              <a:rPr lang="en-US" altLang="zh-CN" dirty="0">
                <a:latin typeface="+mj-lt"/>
              </a:rPr>
              <a:t>(4,8,100), </a:t>
            </a:r>
            <a:r>
              <a:rPr lang="en-US" altLang="zh-CN" dirty="0" err="1">
                <a:latin typeface="+mj-lt"/>
              </a:rPr>
              <a:t>np.linspace</a:t>
            </a:r>
            <a:r>
              <a:rPr lang="en-US" altLang="zh-CN" dirty="0">
                <a:latin typeface="+mj-lt"/>
              </a:rPr>
              <a:t>(2,5,100))</a:t>
            </a:r>
          </a:p>
          <a:p>
            <a:r>
              <a:rPr lang="en-US" altLang="zh-CN" dirty="0">
                <a:latin typeface="+mj-lt"/>
              </a:rPr>
              <a:t>Z = </a:t>
            </a:r>
            <a:r>
              <a:rPr lang="en-US" altLang="zh-CN" dirty="0" err="1">
                <a:latin typeface="+mj-lt"/>
              </a:rPr>
              <a:t>clf.predict</a:t>
            </a:r>
            <a:r>
              <a:rPr lang="en-US" altLang="zh-CN" dirty="0">
                <a:latin typeface="+mj-lt"/>
              </a:rPr>
              <a:t>(</a:t>
            </a:r>
            <a:r>
              <a:rPr lang="en-US" altLang="zh-CN" dirty="0" err="1">
                <a:latin typeface="+mj-lt"/>
              </a:rPr>
              <a:t>np.c</a:t>
            </a:r>
            <a:r>
              <a:rPr lang="en-US" altLang="zh-CN" dirty="0">
                <a:latin typeface="+mj-lt"/>
              </a:rPr>
              <a:t>_[</a:t>
            </a:r>
            <a:r>
              <a:rPr lang="en-US" altLang="zh-CN" dirty="0" err="1">
                <a:latin typeface="+mj-lt"/>
              </a:rPr>
              <a:t>xx.ravel</a:t>
            </a:r>
            <a:r>
              <a:rPr lang="en-US" altLang="zh-CN" dirty="0">
                <a:latin typeface="+mj-lt"/>
              </a:rPr>
              <a:t>(), </a:t>
            </a:r>
            <a:r>
              <a:rPr lang="en-US" altLang="zh-CN" dirty="0" err="1">
                <a:latin typeface="+mj-lt"/>
              </a:rPr>
              <a:t>yy.ravel</a:t>
            </a:r>
            <a:r>
              <a:rPr lang="en-US" altLang="zh-CN" dirty="0">
                <a:latin typeface="+mj-lt"/>
              </a:rPr>
              <a:t>()]).reshape(</a:t>
            </a:r>
            <a:r>
              <a:rPr lang="en-US" altLang="zh-CN" dirty="0" err="1">
                <a:latin typeface="+mj-lt"/>
              </a:rPr>
              <a:t>xx.shape</a:t>
            </a:r>
            <a:r>
              <a:rPr lang="en-US" altLang="zh-CN" dirty="0">
                <a:latin typeface="+mj-lt"/>
              </a:rPr>
              <a:t>)</a:t>
            </a:r>
          </a:p>
          <a:p>
            <a:r>
              <a:rPr lang="en-US" altLang="zh-CN" dirty="0" err="1">
                <a:latin typeface="+mj-lt"/>
              </a:rPr>
              <a:t>plt.contourf</a:t>
            </a:r>
            <a:r>
              <a:rPr lang="en-US" altLang="zh-CN" dirty="0">
                <a:latin typeface="+mj-lt"/>
              </a:rPr>
              <a:t>(xx, </a:t>
            </a:r>
            <a:r>
              <a:rPr lang="en-US" altLang="zh-CN" dirty="0" err="1">
                <a:latin typeface="+mj-lt"/>
              </a:rPr>
              <a:t>yy</a:t>
            </a:r>
            <a:r>
              <a:rPr lang="en-US" altLang="zh-CN" dirty="0">
                <a:latin typeface="+mj-lt"/>
              </a:rPr>
              <a:t>, Z, alpha=0.3)</a:t>
            </a:r>
          </a:p>
          <a:p>
            <a:r>
              <a:rPr lang="en-US" altLang="zh-CN" dirty="0" err="1">
                <a:latin typeface="+mj-lt"/>
              </a:rPr>
              <a:t>plt.scatter</a:t>
            </a:r>
            <a:r>
              <a:rPr lang="en-US" altLang="zh-CN" dirty="0">
                <a:latin typeface="+mj-lt"/>
              </a:rPr>
              <a:t>(X[:,0], X[:,1], c=y, </a:t>
            </a:r>
            <a:r>
              <a:rPr lang="en-US" altLang="zh-CN" dirty="0" err="1">
                <a:latin typeface="+mj-lt"/>
              </a:rPr>
              <a:t>edgecolors</a:t>
            </a:r>
            <a:r>
              <a:rPr lang="en-US" altLang="zh-CN" dirty="0">
                <a:latin typeface="+mj-lt"/>
              </a:rPr>
              <a:t>='k')</a:t>
            </a:r>
          </a:p>
          <a:p>
            <a:r>
              <a:rPr lang="en-US" altLang="zh-CN" dirty="0" err="1">
                <a:latin typeface="+mj-lt"/>
              </a:rPr>
              <a:t>plt.xlabel</a:t>
            </a:r>
            <a:r>
              <a:rPr lang="en-US" altLang="zh-CN" dirty="0">
                <a:latin typeface="+mj-lt"/>
              </a:rPr>
              <a:t>('</a:t>
            </a:r>
            <a:r>
              <a:rPr lang="zh-CN" altLang="en-US" dirty="0">
                <a:latin typeface="+mj-lt"/>
              </a:rPr>
              <a:t>花萼长度</a:t>
            </a:r>
            <a:r>
              <a:rPr lang="en-US" altLang="zh-CN" dirty="0">
                <a:latin typeface="+mj-lt"/>
              </a:rPr>
              <a:t>',</a:t>
            </a:r>
            <a:r>
              <a:rPr lang="en-US" altLang="zh-CN" dirty="0" err="1">
                <a:latin typeface="+mj-lt"/>
              </a:rPr>
              <a:t>fontproperties</a:t>
            </a:r>
            <a:r>
              <a:rPr lang="en-US" altLang="zh-CN" dirty="0">
                <a:latin typeface="+mj-lt"/>
              </a:rPr>
              <a:t>='</a:t>
            </a:r>
            <a:r>
              <a:rPr lang="en-US" altLang="zh-CN" dirty="0" err="1">
                <a:latin typeface="+mj-lt"/>
              </a:rPr>
              <a:t>SimHei</a:t>
            </a:r>
            <a:r>
              <a:rPr lang="en-US" altLang="zh-CN" dirty="0">
                <a:latin typeface="+mj-lt"/>
              </a:rPr>
              <a:t>')</a:t>
            </a:r>
          </a:p>
          <a:p>
            <a:r>
              <a:rPr lang="en-US" altLang="zh-CN" dirty="0" err="1">
                <a:latin typeface="+mj-lt"/>
              </a:rPr>
              <a:t>plt.ylabel</a:t>
            </a:r>
            <a:r>
              <a:rPr lang="en-US" altLang="zh-CN" dirty="0">
                <a:latin typeface="+mj-lt"/>
              </a:rPr>
              <a:t>('</a:t>
            </a:r>
            <a:r>
              <a:rPr lang="zh-CN" altLang="en-US" dirty="0">
                <a:latin typeface="+mj-lt"/>
              </a:rPr>
              <a:t>花萼宽度</a:t>
            </a:r>
            <a:r>
              <a:rPr lang="en-US" altLang="zh-CN" dirty="0">
                <a:latin typeface="+mj-lt"/>
              </a:rPr>
              <a:t>',</a:t>
            </a:r>
            <a:r>
              <a:rPr lang="en-US" altLang="zh-CN" dirty="0" err="1">
                <a:latin typeface="+mj-lt"/>
              </a:rPr>
              <a:t>fontproperties</a:t>
            </a:r>
            <a:r>
              <a:rPr lang="en-US" altLang="zh-CN" dirty="0">
                <a:latin typeface="+mj-lt"/>
              </a:rPr>
              <a:t>='</a:t>
            </a:r>
            <a:r>
              <a:rPr lang="en-US" altLang="zh-CN" dirty="0" err="1">
                <a:latin typeface="+mj-lt"/>
              </a:rPr>
              <a:t>SimHei</a:t>
            </a:r>
            <a:r>
              <a:rPr lang="en-US" altLang="zh-CN" dirty="0">
                <a:latin typeface="+mj-lt"/>
              </a:rPr>
              <a:t>')</a:t>
            </a:r>
          </a:p>
          <a:p>
            <a:r>
              <a:rPr lang="en-US" altLang="zh-CN" dirty="0" err="1">
                <a:latin typeface="+mj-lt"/>
              </a:rPr>
              <a:t>plt.show</a:t>
            </a:r>
            <a:r>
              <a:rPr lang="en-US" altLang="zh-CN" dirty="0">
                <a:latin typeface="+mj-lt"/>
              </a:rPr>
              <a:t>()</a:t>
            </a:r>
          </a:p>
          <a:p>
            <a:endParaRPr lang="en-US" altLang="zh-CN" dirty="0">
              <a:latin typeface="+mj-lt"/>
            </a:endParaRPr>
          </a:p>
          <a:p>
            <a:r>
              <a:rPr lang="en-US" altLang="zh-CN" dirty="0">
                <a:latin typeface="+mj-lt"/>
              </a:rPr>
              <a:t># </a:t>
            </a:r>
            <a:r>
              <a:rPr lang="zh-CN" altLang="en-US" dirty="0">
                <a:latin typeface="+mj-lt"/>
              </a:rPr>
              <a:t>混淆矩阵</a:t>
            </a:r>
          </a:p>
          <a:p>
            <a:r>
              <a:rPr lang="en-US" altLang="zh-CN" dirty="0">
                <a:latin typeface="+mj-lt"/>
              </a:rPr>
              <a:t>cm = </a:t>
            </a:r>
            <a:r>
              <a:rPr lang="en-US" altLang="zh-CN" dirty="0" err="1">
                <a:latin typeface="+mj-lt"/>
              </a:rPr>
              <a:t>confusion_matrix</a:t>
            </a:r>
            <a:r>
              <a:rPr lang="en-US" altLang="zh-CN" dirty="0">
                <a:latin typeface="+mj-lt"/>
              </a:rPr>
              <a:t>(y, </a:t>
            </a:r>
            <a:r>
              <a:rPr lang="en-US" altLang="zh-CN" dirty="0" err="1">
                <a:latin typeface="+mj-lt"/>
              </a:rPr>
              <a:t>clf.predict</a:t>
            </a:r>
            <a:r>
              <a:rPr lang="en-US" altLang="zh-CN" dirty="0">
                <a:latin typeface="+mj-lt"/>
              </a:rPr>
              <a:t>(X))</a:t>
            </a:r>
          </a:p>
          <a:p>
            <a:r>
              <a:rPr lang="en-US" altLang="zh-CN" dirty="0" err="1">
                <a:latin typeface="+mj-lt"/>
              </a:rPr>
              <a:t>ConfusionMatrixDisplay</a:t>
            </a:r>
            <a:r>
              <a:rPr lang="en-US" altLang="zh-CN" dirty="0">
                <a:latin typeface="+mj-lt"/>
              </a:rPr>
              <a:t>(cm).plot()</a:t>
            </a:r>
          </a:p>
          <a:p>
            <a:r>
              <a:rPr lang="en-US" altLang="zh-CN" dirty="0" err="1">
                <a:latin typeface="+mj-lt"/>
              </a:rPr>
              <a:t>plt.show</a:t>
            </a:r>
            <a:r>
              <a:rPr lang="en-US" altLang="zh-CN" dirty="0">
                <a:latin typeface="+mj-lt"/>
              </a:rPr>
              <a:t>()</a:t>
            </a:r>
          </a:p>
          <a:p>
            <a:endParaRPr lang="en-US" altLang="zh-CN" dirty="0">
              <a:latin typeface="+mj-lt"/>
            </a:endParaRPr>
          </a:p>
        </p:txBody>
      </p:sp>
      <p:sp>
        <p:nvSpPr>
          <p:cNvPr id="17" name="文本框 16">
            <a:extLst>
              <a:ext uri="{FF2B5EF4-FFF2-40B4-BE49-F238E27FC236}">
                <a16:creationId xmlns:a16="http://schemas.microsoft.com/office/drawing/2014/main" id="{F3EBF4A3-C7ED-5F45-733D-E6C7CF498DB2}"/>
              </a:ext>
            </a:extLst>
          </p:cNvPr>
          <p:cNvSpPr txBox="1"/>
          <p:nvPr/>
        </p:nvSpPr>
        <p:spPr>
          <a:xfrm>
            <a:off x="609600" y="5460257"/>
            <a:ext cx="4820926" cy="1015663"/>
          </a:xfrm>
          <a:prstGeom prst="rect">
            <a:avLst/>
          </a:prstGeom>
          <a:noFill/>
        </p:spPr>
        <p:txBody>
          <a:bodyPr wrap="square">
            <a:spAutoFit/>
          </a:bodyPr>
          <a:lstStyle/>
          <a:p>
            <a:r>
              <a:rPr lang="zh-CN" altLang="en-US" sz="2000" b="1" dirty="0">
                <a:solidFill>
                  <a:schemeClr val="accent1"/>
                </a:solidFill>
              </a:rPr>
              <a:t>思考问题</a:t>
            </a:r>
          </a:p>
          <a:p>
            <a:pPr marL="342900" indent="-342900">
              <a:buFont typeface="Wingdings" panose="05000000000000000000" pitchFamily="2" charset="2"/>
              <a:buChar char="l"/>
            </a:pPr>
            <a:r>
              <a:rPr lang="zh-CN" altLang="en-US" sz="2000" b="1" dirty="0">
                <a:solidFill>
                  <a:schemeClr val="accent1"/>
                </a:solidFill>
              </a:rPr>
              <a:t>如何扩展为多分类问题？</a:t>
            </a:r>
          </a:p>
          <a:p>
            <a:pPr marL="342900" indent="-342900">
              <a:buFont typeface="Wingdings" panose="05000000000000000000" pitchFamily="2" charset="2"/>
              <a:buChar char="l"/>
            </a:pPr>
            <a:r>
              <a:rPr lang="zh-CN" altLang="en-US" sz="2000" b="1" dirty="0">
                <a:solidFill>
                  <a:schemeClr val="accent1"/>
                </a:solidFill>
              </a:rPr>
              <a:t>为什么选择前两个特征？</a:t>
            </a:r>
          </a:p>
        </p:txBody>
      </p:sp>
    </p:spTree>
    <p:extLst>
      <p:ext uri="{BB962C8B-B14F-4D97-AF65-F5344CB8AC3E}">
        <p14:creationId xmlns:p14="http://schemas.microsoft.com/office/powerpoint/2010/main" val="1287091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CD71B-D8A7-FE65-3384-51226EA425C4}"/>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DB4B11A-F0B2-A0BE-E928-983C7F02D679}"/>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代码实践</a:t>
            </a:r>
            <a:r>
              <a:rPr lang="en-US" altLang="zh-CN" dirty="0">
                <a:latin typeface="Times New Roman" panose="02020603050405020304" pitchFamily="18" charset="0"/>
                <a:ea typeface="楷体" panose="02010609060101010101" pitchFamily="49" charset="-122"/>
              </a:rPr>
              <a:t>6</a:t>
            </a:r>
            <a:r>
              <a:rPr lang="zh-CN" altLang="en-US" dirty="0">
                <a:latin typeface="Times New Roman" panose="02020603050405020304" pitchFamily="18" charset="0"/>
                <a:ea typeface="楷体" panose="02010609060101010101" pitchFamily="49" charset="-122"/>
              </a:rPr>
              <a:t>：朴素贝叶斯</a:t>
            </a:r>
          </a:p>
        </p:txBody>
      </p:sp>
      <p:sp>
        <p:nvSpPr>
          <p:cNvPr id="10" name="文本框 9">
            <a:extLst>
              <a:ext uri="{FF2B5EF4-FFF2-40B4-BE49-F238E27FC236}">
                <a16:creationId xmlns:a16="http://schemas.microsoft.com/office/drawing/2014/main" id="{64D22394-78AE-4346-F791-9D3E54AA8EA0}"/>
              </a:ext>
            </a:extLst>
          </p:cNvPr>
          <p:cNvSpPr txBox="1"/>
          <p:nvPr/>
        </p:nvSpPr>
        <p:spPr>
          <a:xfrm>
            <a:off x="990600" y="664709"/>
            <a:ext cx="7748588" cy="461665"/>
          </a:xfrm>
          <a:prstGeom prst="rect">
            <a:avLst/>
          </a:prstGeom>
          <a:noFill/>
        </p:spPr>
        <p:txBody>
          <a:bodyPr wrap="square">
            <a:spAutoFit/>
          </a:bodyPr>
          <a:lstStyle/>
          <a:p>
            <a:pPr algn="ctr"/>
            <a:r>
              <a:rPr lang="zh-CN" altLang="en-US" sz="2400" b="1" dirty="0">
                <a:latin typeface="Times New Roman" panose="02020603050405020304" pitchFamily="18" charset="0"/>
              </a:rPr>
              <a:t>目标：学会实现朴素贝叶斯模型，对新闻进行分类。</a:t>
            </a:r>
          </a:p>
        </p:txBody>
      </p:sp>
      <p:sp>
        <p:nvSpPr>
          <p:cNvPr id="13" name="文本框 12">
            <a:extLst>
              <a:ext uri="{FF2B5EF4-FFF2-40B4-BE49-F238E27FC236}">
                <a16:creationId xmlns:a16="http://schemas.microsoft.com/office/drawing/2014/main" id="{7BA931FB-5334-E897-7C19-A393DF763007}"/>
              </a:ext>
            </a:extLst>
          </p:cNvPr>
          <p:cNvSpPr txBox="1"/>
          <p:nvPr/>
        </p:nvSpPr>
        <p:spPr>
          <a:xfrm>
            <a:off x="402771" y="1172519"/>
            <a:ext cx="8512629" cy="5355312"/>
          </a:xfrm>
          <a:prstGeom prst="rect">
            <a:avLst/>
          </a:prstGeom>
          <a:noFill/>
        </p:spPr>
        <p:txBody>
          <a:bodyPr wrap="square">
            <a:spAutoFit/>
          </a:bodyPr>
          <a:lstStyle/>
          <a:p>
            <a:r>
              <a:rPr lang="en-US" altLang="zh-CN" dirty="0">
                <a:latin typeface="+mj-lt"/>
              </a:rPr>
              <a:t>from </a:t>
            </a:r>
            <a:r>
              <a:rPr lang="en-US" altLang="zh-CN" dirty="0" err="1">
                <a:latin typeface="+mj-lt"/>
              </a:rPr>
              <a:t>sklearn.datasets</a:t>
            </a:r>
            <a:r>
              <a:rPr lang="en-US" altLang="zh-CN" dirty="0">
                <a:latin typeface="+mj-lt"/>
              </a:rPr>
              <a:t> import </a:t>
            </a:r>
            <a:r>
              <a:rPr lang="en-US" altLang="zh-CN" dirty="0" err="1">
                <a:latin typeface="+mj-lt"/>
              </a:rPr>
              <a:t>load_files</a:t>
            </a:r>
            <a:endParaRPr lang="en-US" altLang="zh-CN" dirty="0">
              <a:latin typeface="+mj-lt"/>
            </a:endParaRPr>
          </a:p>
          <a:p>
            <a:r>
              <a:rPr lang="en-US" altLang="zh-CN" dirty="0">
                <a:latin typeface="+mj-lt"/>
              </a:rPr>
              <a:t>from </a:t>
            </a:r>
            <a:r>
              <a:rPr lang="en-US" altLang="zh-CN" dirty="0" err="1">
                <a:latin typeface="+mj-lt"/>
              </a:rPr>
              <a:t>sklearn.feature_extraction.text</a:t>
            </a:r>
            <a:r>
              <a:rPr lang="en-US" altLang="zh-CN" dirty="0">
                <a:latin typeface="+mj-lt"/>
              </a:rPr>
              <a:t> import </a:t>
            </a:r>
            <a:r>
              <a:rPr lang="en-US" altLang="zh-CN" dirty="0" err="1">
                <a:latin typeface="+mj-lt"/>
              </a:rPr>
              <a:t>TfidfVectorizer</a:t>
            </a:r>
            <a:endParaRPr lang="en-US" altLang="zh-CN" dirty="0">
              <a:latin typeface="+mj-lt"/>
            </a:endParaRPr>
          </a:p>
          <a:p>
            <a:r>
              <a:rPr lang="en-US" altLang="zh-CN" dirty="0">
                <a:latin typeface="+mj-lt"/>
              </a:rPr>
              <a:t>from </a:t>
            </a:r>
            <a:r>
              <a:rPr lang="en-US" altLang="zh-CN" dirty="0" err="1">
                <a:latin typeface="+mj-lt"/>
              </a:rPr>
              <a:t>sklearn.naive_bayes</a:t>
            </a:r>
            <a:r>
              <a:rPr lang="en-US" altLang="zh-CN" dirty="0">
                <a:latin typeface="+mj-lt"/>
              </a:rPr>
              <a:t> import </a:t>
            </a:r>
            <a:r>
              <a:rPr lang="en-US" altLang="zh-CN" dirty="0" err="1">
                <a:latin typeface="+mj-lt"/>
              </a:rPr>
              <a:t>MultinomialNB</a:t>
            </a:r>
            <a:endParaRPr lang="en-US" altLang="zh-CN" dirty="0">
              <a:latin typeface="+mj-lt"/>
            </a:endParaRPr>
          </a:p>
          <a:p>
            <a:r>
              <a:rPr lang="en-US" altLang="zh-CN" dirty="0">
                <a:latin typeface="+mj-lt"/>
              </a:rPr>
              <a:t>from </a:t>
            </a:r>
            <a:r>
              <a:rPr lang="en-US" altLang="zh-CN" dirty="0" err="1">
                <a:latin typeface="+mj-lt"/>
              </a:rPr>
              <a:t>sklearn.model_selection</a:t>
            </a:r>
            <a:r>
              <a:rPr lang="en-US" altLang="zh-CN" dirty="0">
                <a:latin typeface="+mj-lt"/>
              </a:rPr>
              <a:t> import </a:t>
            </a:r>
            <a:r>
              <a:rPr lang="en-US" altLang="zh-CN" dirty="0" err="1">
                <a:latin typeface="+mj-lt"/>
              </a:rPr>
              <a:t>train_test_split</a:t>
            </a:r>
            <a:endParaRPr lang="en-US" altLang="zh-CN" dirty="0">
              <a:latin typeface="+mj-lt"/>
            </a:endParaRPr>
          </a:p>
          <a:p>
            <a:r>
              <a:rPr lang="en-US" altLang="zh-CN" dirty="0">
                <a:latin typeface="+mj-lt"/>
              </a:rPr>
              <a:t>from </a:t>
            </a:r>
            <a:r>
              <a:rPr lang="en-US" altLang="zh-CN" dirty="0" err="1">
                <a:latin typeface="+mj-lt"/>
              </a:rPr>
              <a:t>sklearn.metrics</a:t>
            </a:r>
            <a:r>
              <a:rPr lang="en-US" altLang="zh-CN" dirty="0">
                <a:latin typeface="+mj-lt"/>
              </a:rPr>
              <a:t> import </a:t>
            </a:r>
            <a:r>
              <a:rPr lang="en-US" altLang="zh-CN" dirty="0" err="1">
                <a:latin typeface="+mj-lt"/>
              </a:rPr>
              <a:t>classification_report</a:t>
            </a:r>
            <a:endParaRPr lang="en-US" altLang="zh-CN" dirty="0">
              <a:latin typeface="+mj-lt"/>
            </a:endParaRPr>
          </a:p>
          <a:p>
            <a:endParaRPr lang="en-US" altLang="zh-CN" dirty="0">
              <a:latin typeface="+mj-lt"/>
            </a:endParaRPr>
          </a:p>
          <a:p>
            <a:r>
              <a:rPr lang="en-US" altLang="zh-CN" dirty="0">
                <a:latin typeface="+mj-lt"/>
              </a:rPr>
              <a:t># </a:t>
            </a:r>
            <a:r>
              <a:rPr lang="zh-CN" altLang="en-US" dirty="0">
                <a:latin typeface="+mj-lt"/>
              </a:rPr>
              <a:t>指定本地数据集路径</a:t>
            </a:r>
          </a:p>
          <a:p>
            <a:r>
              <a:rPr lang="en-US" altLang="zh-CN" dirty="0" err="1">
                <a:latin typeface="+mj-lt"/>
              </a:rPr>
              <a:t>data_path</a:t>
            </a:r>
            <a:r>
              <a:rPr lang="en-US" altLang="zh-CN" dirty="0">
                <a:latin typeface="+mj-lt"/>
              </a:rPr>
              <a:t> = '20_newsgroups'</a:t>
            </a:r>
          </a:p>
          <a:p>
            <a:r>
              <a:rPr lang="en-US" altLang="zh-CN" dirty="0">
                <a:latin typeface="+mj-lt"/>
              </a:rPr>
              <a:t># </a:t>
            </a:r>
            <a:r>
              <a:rPr lang="zh-CN" altLang="en-US" dirty="0">
                <a:latin typeface="+mj-lt"/>
              </a:rPr>
              <a:t>加载本地数据集</a:t>
            </a:r>
          </a:p>
          <a:p>
            <a:r>
              <a:rPr lang="en-US" altLang="zh-CN" dirty="0">
                <a:latin typeface="+mj-lt"/>
              </a:rPr>
              <a:t>newsgroups = </a:t>
            </a:r>
            <a:r>
              <a:rPr lang="en-US" altLang="zh-CN" dirty="0" err="1">
                <a:latin typeface="+mj-lt"/>
              </a:rPr>
              <a:t>load_files</a:t>
            </a:r>
            <a:r>
              <a:rPr lang="en-US" altLang="zh-CN" dirty="0">
                <a:latin typeface="+mj-lt"/>
              </a:rPr>
              <a:t>(</a:t>
            </a:r>
            <a:r>
              <a:rPr lang="en-US" altLang="zh-CN" dirty="0" err="1">
                <a:latin typeface="+mj-lt"/>
              </a:rPr>
              <a:t>data_path</a:t>
            </a:r>
            <a:r>
              <a:rPr lang="en-US" altLang="zh-CN" dirty="0">
                <a:latin typeface="+mj-lt"/>
              </a:rPr>
              <a:t>, categories=['</a:t>
            </a:r>
            <a:r>
              <a:rPr lang="en-US" altLang="zh-CN" dirty="0" err="1">
                <a:latin typeface="+mj-lt"/>
              </a:rPr>
              <a:t>comp.graphics</a:t>
            </a:r>
            <a:r>
              <a:rPr lang="en-US" altLang="zh-CN" dirty="0">
                <a:latin typeface="+mj-lt"/>
              </a:rPr>
              <a:t>', '</a:t>
            </a:r>
            <a:r>
              <a:rPr lang="en-US" altLang="zh-CN" dirty="0" err="1">
                <a:latin typeface="+mj-lt"/>
              </a:rPr>
              <a:t>sci.space</a:t>
            </a:r>
            <a:r>
              <a:rPr lang="en-US" altLang="zh-CN" dirty="0">
                <a:latin typeface="+mj-lt"/>
              </a:rPr>
              <a:t>'], encoding='latin-1')</a:t>
            </a:r>
          </a:p>
          <a:p>
            <a:r>
              <a:rPr lang="en-US" altLang="zh-CN" dirty="0">
                <a:latin typeface="+mj-lt"/>
              </a:rPr>
              <a:t>X = </a:t>
            </a:r>
            <a:r>
              <a:rPr lang="en-US" altLang="zh-CN" dirty="0" err="1">
                <a:latin typeface="+mj-lt"/>
              </a:rPr>
              <a:t>newsgroups.data</a:t>
            </a:r>
            <a:endParaRPr lang="en-US" altLang="zh-CN" dirty="0">
              <a:latin typeface="+mj-lt"/>
            </a:endParaRPr>
          </a:p>
          <a:p>
            <a:r>
              <a:rPr lang="en-US" altLang="zh-CN" dirty="0">
                <a:latin typeface="+mj-lt"/>
              </a:rPr>
              <a:t>y = </a:t>
            </a:r>
            <a:r>
              <a:rPr lang="en-US" altLang="zh-CN" dirty="0" err="1">
                <a:latin typeface="+mj-lt"/>
              </a:rPr>
              <a:t>newsgroups.target</a:t>
            </a:r>
            <a:endParaRPr lang="en-US" altLang="zh-CN" dirty="0">
              <a:latin typeface="+mj-lt"/>
            </a:endParaRPr>
          </a:p>
          <a:p>
            <a:r>
              <a:rPr lang="en-US" altLang="zh-CN" dirty="0">
                <a:latin typeface="+mj-lt"/>
              </a:rPr>
              <a:t># </a:t>
            </a:r>
            <a:r>
              <a:rPr lang="zh-CN" altLang="en-US" dirty="0">
                <a:latin typeface="+mj-lt"/>
              </a:rPr>
              <a:t>文本向量化</a:t>
            </a:r>
          </a:p>
          <a:p>
            <a:r>
              <a:rPr lang="en-US" altLang="zh-CN" dirty="0">
                <a:latin typeface="+mj-lt"/>
              </a:rPr>
              <a:t>vectorizer = </a:t>
            </a:r>
            <a:r>
              <a:rPr lang="en-US" altLang="zh-CN" dirty="0" err="1">
                <a:latin typeface="+mj-lt"/>
              </a:rPr>
              <a:t>TfidfVectorizer</a:t>
            </a:r>
            <a:r>
              <a:rPr lang="en-US" altLang="zh-CN" dirty="0">
                <a:latin typeface="+mj-lt"/>
              </a:rPr>
              <a:t>()</a:t>
            </a:r>
          </a:p>
          <a:p>
            <a:r>
              <a:rPr lang="en-US" altLang="zh-CN" dirty="0" err="1">
                <a:latin typeface="+mj-lt"/>
              </a:rPr>
              <a:t>X_vectorized</a:t>
            </a:r>
            <a:r>
              <a:rPr lang="en-US" altLang="zh-CN" dirty="0">
                <a:latin typeface="+mj-lt"/>
              </a:rPr>
              <a:t> = </a:t>
            </a:r>
            <a:r>
              <a:rPr lang="en-US" altLang="zh-CN" dirty="0" err="1">
                <a:latin typeface="+mj-lt"/>
              </a:rPr>
              <a:t>vectorizer.fit_transform</a:t>
            </a:r>
            <a:r>
              <a:rPr lang="en-US" altLang="zh-CN" dirty="0">
                <a:latin typeface="+mj-lt"/>
              </a:rPr>
              <a:t>(X)</a:t>
            </a:r>
          </a:p>
          <a:p>
            <a:r>
              <a:rPr lang="en-US" altLang="zh-CN" dirty="0">
                <a:latin typeface="+mj-lt"/>
              </a:rPr>
              <a:t># </a:t>
            </a:r>
            <a:r>
              <a:rPr lang="zh-CN" altLang="en-US" dirty="0">
                <a:latin typeface="+mj-lt"/>
              </a:rPr>
              <a:t>划分训练集和测试集</a:t>
            </a:r>
          </a:p>
          <a:p>
            <a:r>
              <a:rPr lang="en-US" altLang="zh-CN" dirty="0" err="1">
                <a:latin typeface="+mj-lt"/>
              </a:rPr>
              <a:t>X_train</a:t>
            </a:r>
            <a:r>
              <a:rPr lang="en-US" altLang="zh-CN" dirty="0">
                <a:latin typeface="+mj-lt"/>
              </a:rPr>
              <a:t>, </a:t>
            </a:r>
            <a:r>
              <a:rPr lang="en-US" altLang="zh-CN" dirty="0" err="1">
                <a:latin typeface="+mj-lt"/>
              </a:rPr>
              <a:t>X_test</a:t>
            </a:r>
            <a:r>
              <a:rPr lang="en-US" altLang="zh-CN" dirty="0">
                <a:latin typeface="+mj-lt"/>
              </a:rPr>
              <a:t>, </a:t>
            </a:r>
            <a:r>
              <a:rPr lang="en-US" altLang="zh-CN" dirty="0" err="1">
                <a:latin typeface="+mj-lt"/>
              </a:rPr>
              <a:t>y_train</a:t>
            </a:r>
            <a:r>
              <a:rPr lang="en-US" altLang="zh-CN" dirty="0">
                <a:latin typeface="+mj-lt"/>
              </a:rPr>
              <a:t>, </a:t>
            </a:r>
            <a:r>
              <a:rPr lang="en-US" altLang="zh-CN" dirty="0" err="1">
                <a:latin typeface="+mj-lt"/>
              </a:rPr>
              <a:t>y_test</a:t>
            </a:r>
            <a:r>
              <a:rPr lang="en-US" altLang="zh-CN" dirty="0">
                <a:latin typeface="+mj-lt"/>
              </a:rPr>
              <a:t> = </a:t>
            </a:r>
            <a:r>
              <a:rPr lang="en-US" altLang="zh-CN" dirty="0" err="1">
                <a:latin typeface="+mj-lt"/>
              </a:rPr>
              <a:t>train_test_split</a:t>
            </a:r>
            <a:r>
              <a:rPr lang="en-US" altLang="zh-CN" dirty="0">
                <a:latin typeface="+mj-lt"/>
              </a:rPr>
              <a:t>(</a:t>
            </a:r>
            <a:r>
              <a:rPr lang="en-US" altLang="zh-CN" dirty="0" err="1">
                <a:latin typeface="+mj-lt"/>
              </a:rPr>
              <a:t>X_vectorized</a:t>
            </a:r>
            <a:r>
              <a:rPr lang="en-US" altLang="zh-CN" dirty="0">
                <a:latin typeface="+mj-lt"/>
              </a:rPr>
              <a:t>, y, </a:t>
            </a:r>
            <a:r>
              <a:rPr lang="en-US" altLang="zh-CN" dirty="0" err="1">
                <a:latin typeface="+mj-lt"/>
              </a:rPr>
              <a:t>test_size</a:t>
            </a:r>
            <a:r>
              <a:rPr lang="en-US" altLang="zh-CN" dirty="0">
                <a:latin typeface="+mj-lt"/>
              </a:rPr>
              <a:t>=0.3, </a:t>
            </a:r>
            <a:r>
              <a:rPr lang="en-US" altLang="zh-CN" dirty="0" err="1">
                <a:latin typeface="+mj-lt"/>
              </a:rPr>
              <a:t>random_state</a:t>
            </a:r>
            <a:r>
              <a:rPr lang="en-US" altLang="zh-CN" dirty="0">
                <a:latin typeface="+mj-lt"/>
              </a:rPr>
              <a:t>=42)</a:t>
            </a:r>
          </a:p>
        </p:txBody>
      </p:sp>
    </p:spTree>
    <p:extLst>
      <p:ext uri="{BB962C8B-B14F-4D97-AF65-F5344CB8AC3E}">
        <p14:creationId xmlns:p14="http://schemas.microsoft.com/office/powerpoint/2010/main" val="26942566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C88BB-3513-14BB-ECE0-BC9DB6B6DBA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3D218AE3-7AEF-00E8-5D98-BD177C6093FC}"/>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代码实践</a:t>
            </a:r>
            <a:r>
              <a:rPr lang="en-US" altLang="zh-CN" dirty="0">
                <a:latin typeface="Times New Roman" panose="02020603050405020304" pitchFamily="18" charset="0"/>
                <a:ea typeface="楷体" panose="02010609060101010101" pitchFamily="49" charset="-122"/>
              </a:rPr>
              <a:t>6</a:t>
            </a:r>
            <a:r>
              <a:rPr lang="zh-CN" altLang="en-US" dirty="0">
                <a:latin typeface="Times New Roman" panose="02020603050405020304" pitchFamily="18" charset="0"/>
                <a:ea typeface="楷体" panose="02010609060101010101" pitchFamily="49" charset="-122"/>
              </a:rPr>
              <a:t>：朴素贝叶斯</a:t>
            </a:r>
          </a:p>
        </p:txBody>
      </p:sp>
      <p:sp>
        <p:nvSpPr>
          <p:cNvPr id="10" name="文本框 9">
            <a:extLst>
              <a:ext uri="{FF2B5EF4-FFF2-40B4-BE49-F238E27FC236}">
                <a16:creationId xmlns:a16="http://schemas.microsoft.com/office/drawing/2014/main" id="{C6C15D71-F6F7-E175-F771-D0776CF4C308}"/>
              </a:ext>
            </a:extLst>
          </p:cNvPr>
          <p:cNvSpPr txBox="1"/>
          <p:nvPr/>
        </p:nvSpPr>
        <p:spPr>
          <a:xfrm>
            <a:off x="990600" y="664709"/>
            <a:ext cx="7748588" cy="461665"/>
          </a:xfrm>
          <a:prstGeom prst="rect">
            <a:avLst/>
          </a:prstGeom>
          <a:noFill/>
        </p:spPr>
        <p:txBody>
          <a:bodyPr wrap="square">
            <a:spAutoFit/>
          </a:bodyPr>
          <a:lstStyle/>
          <a:p>
            <a:pPr algn="ctr"/>
            <a:r>
              <a:rPr lang="zh-CN" altLang="en-US" sz="2400" b="1" dirty="0">
                <a:latin typeface="Times New Roman" panose="02020603050405020304" pitchFamily="18" charset="0"/>
              </a:rPr>
              <a:t>目标：学会实现朴素贝叶斯模型，对新闻进行分类。</a:t>
            </a:r>
          </a:p>
        </p:txBody>
      </p:sp>
      <p:sp>
        <p:nvSpPr>
          <p:cNvPr id="13" name="文本框 12">
            <a:extLst>
              <a:ext uri="{FF2B5EF4-FFF2-40B4-BE49-F238E27FC236}">
                <a16:creationId xmlns:a16="http://schemas.microsoft.com/office/drawing/2014/main" id="{0537C457-5A5E-30ED-8E86-71EDD7FA40BA}"/>
              </a:ext>
            </a:extLst>
          </p:cNvPr>
          <p:cNvSpPr txBox="1"/>
          <p:nvPr/>
        </p:nvSpPr>
        <p:spPr>
          <a:xfrm>
            <a:off x="239485" y="1447800"/>
            <a:ext cx="8512629" cy="4524315"/>
          </a:xfrm>
          <a:prstGeom prst="rect">
            <a:avLst/>
          </a:prstGeom>
          <a:noFill/>
        </p:spPr>
        <p:txBody>
          <a:bodyPr wrap="square">
            <a:spAutoFit/>
          </a:bodyPr>
          <a:lstStyle/>
          <a:p>
            <a:r>
              <a:rPr lang="en-US" altLang="zh-CN" dirty="0">
                <a:latin typeface="+mj-lt"/>
              </a:rPr>
              <a:t># </a:t>
            </a:r>
            <a:r>
              <a:rPr lang="zh-CN" altLang="en-US" dirty="0">
                <a:latin typeface="+mj-lt"/>
              </a:rPr>
              <a:t>创建并训练模型</a:t>
            </a:r>
          </a:p>
          <a:p>
            <a:r>
              <a:rPr lang="en-US" altLang="zh-CN" dirty="0">
                <a:latin typeface="+mj-lt"/>
              </a:rPr>
              <a:t>model = </a:t>
            </a:r>
            <a:r>
              <a:rPr lang="en-US" altLang="zh-CN" dirty="0" err="1">
                <a:latin typeface="+mj-lt"/>
              </a:rPr>
              <a:t>MultinomialNB</a:t>
            </a:r>
            <a:r>
              <a:rPr lang="en-US" altLang="zh-CN" dirty="0">
                <a:latin typeface="+mj-lt"/>
              </a:rPr>
              <a:t>()</a:t>
            </a:r>
          </a:p>
          <a:p>
            <a:r>
              <a:rPr lang="en-US" altLang="zh-CN" dirty="0" err="1">
                <a:latin typeface="+mj-lt"/>
              </a:rPr>
              <a:t>model.fit</a:t>
            </a:r>
            <a:r>
              <a:rPr lang="en-US" altLang="zh-CN" dirty="0">
                <a:latin typeface="+mj-lt"/>
              </a:rPr>
              <a:t>(</a:t>
            </a:r>
            <a:r>
              <a:rPr lang="en-US" altLang="zh-CN" dirty="0" err="1">
                <a:latin typeface="+mj-lt"/>
              </a:rPr>
              <a:t>X_train</a:t>
            </a:r>
            <a:r>
              <a:rPr lang="en-US" altLang="zh-CN" dirty="0">
                <a:latin typeface="+mj-lt"/>
              </a:rPr>
              <a:t>, </a:t>
            </a:r>
            <a:r>
              <a:rPr lang="en-US" altLang="zh-CN" dirty="0" err="1">
                <a:latin typeface="+mj-lt"/>
              </a:rPr>
              <a:t>y_train</a:t>
            </a:r>
            <a:r>
              <a:rPr lang="en-US" altLang="zh-CN" dirty="0">
                <a:latin typeface="+mj-lt"/>
              </a:rPr>
              <a:t>)</a:t>
            </a:r>
          </a:p>
          <a:p>
            <a:endParaRPr lang="en-US" altLang="zh-CN" dirty="0">
              <a:latin typeface="+mj-lt"/>
            </a:endParaRPr>
          </a:p>
          <a:p>
            <a:r>
              <a:rPr lang="en-US" altLang="zh-CN" dirty="0">
                <a:latin typeface="+mj-lt"/>
              </a:rPr>
              <a:t># </a:t>
            </a:r>
            <a:r>
              <a:rPr lang="zh-CN" altLang="en-US" dirty="0">
                <a:latin typeface="+mj-lt"/>
              </a:rPr>
              <a:t>预测</a:t>
            </a:r>
          </a:p>
          <a:p>
            <a:r>
              <a:rPr lang="en-US" altLang="zh-CN" dirty="0" err="1">
                <a:latin typeface="+mj-lt"/>
              </a:rPr>
              <a:t>y_pred</a:t>
            </a:r>
            <a:r>
              <a:rPr lang="en-US" altLang="zh-CN" dirty="0">
                <a:latin typeface="+mj-lt"/>
              </a:rPr>
              <a:t> = </a:t>
            </a:r>
            <a:r>
              <a:rPr lang="en-US" altLang="zh-CN" dirty="0" err="1">
                <a:latin typeface="+mj-lt"/>
              </a:rPr>
              <a:t>model.predict</a:t>
            </a:r>
            <a:r>
              <a:rPr lang="en-US" altLang="zh-CN" dirty="0">
                <a:latin typeface="+mj-lt"/>
              </a:rPr>
              <a:t>(</a:t>
            </a:r>
            <a:r>
              <a:rPr lang="en-US" altLang="zh-CN" dirty="0" err="1">
                <a:latin typeface="+mj-lt"/>
              </a:rPr>
              <a:t>X_test</a:t>
            </a:r>
            <a:r>
              <a:rPr lang="en-US" altLang="zh-CN" dirty="0">
                <a:latin typeface="+mj-lt"/>
              </a:rPr>
              <a:t>)</a:t>
            </a:r>
          </a:p>
          <a:p>
            <a:endParaRPr lang="en-US" altLang="zh-CN" dirty="0">
              <a:latin typeface="+mj-lt"/>
            </a:endParaRPr>
          </a:p>
          <a:p>
            <a:r>
              <a:rPr lang="en-US" altLang="zh-CN" dirty="0">
                <a:latin typeface="+mj-lt"/>
              </a:rPr>
              <a:t># </a:t>
            </a:r>
            <a:r>
              <a:rPr lang="zh-CN" altLang="en-US" dirty="0">
                <a:latin typeface="+mj-lt"/>
              </a:rPr>
              <a:t>评估</a:t>
            </a:r>
          </a:p>
          <a:p>
            <a:r>
              <a:rPr lang="en-US" altLang="zh-CN" dirty="0">
                <a:latin typeface="+mj-lt"/>
              </a:rPr>
              <a:t>report = </a:t>
            </a:r>
            <a:r>
              <a:rPr lang="en-US" altLang="zh-CN" dirty="0" err="1">
                <a:latin typeface="+mj-lt"/>
              </a:rPr>
              <a:t>classification_report</a:t>
            </a:r>
            <a:r>
              <a:rPr lang="en-US" altLang="zh-CN" dirty="0">
                <a:latin typeface="+mj-lt"/>
              </a:rPr>
              <a:t>(</a:t>
            </a:r>
            <a:r>
              <a:rPr lang="en-US" altLang="zh-CN" dirty="0" err="1">
                <a:latin typeface="+mj-lt"/>
              </a:rPr>
              <a:t>y_test</a:t>
            </a:r>
            <a:r>
              <a:rPr lang="en-US" altLang="zh-CN" dirty="0">
                <a:latin typeface="+mj-lt"/>
              </a:rPr>
              <a:t>, </a:t>
            </a:r>
            <a:r>
              <a:rPr lang="en-US" altLang="zh-CN" dirty="0" err="1">
                <a:latin typeface="+mj-lt"/>
              </a:rPr>
              <a:t>y_pred</a:t>
            </a:r>
            <a:r>
              <a:rPr lang="en-US" altLang="zh-CN" dirty="0">
                <a:latin typeface="+mj-lt"/>
              </a:rPr>
              <a:t>)</a:t>
            </a:r>
          </a:p>
          <a:p>
            <a:r>
              <a:rPr lang="en-US" altLang="zh-CN" dirty="0">
                <a:latin typeface="+mj-lt"/>
              </a:rPr>
              <a:t>print("</a:t>
            </a:r>
            <a:r>
              <a:rPr lang="zh-CN" altLang="en-US" dirty="0">
                <a:latin typeface="+mj-lt"/>
              </a:rPr>
              <a:t>分类报告：</a:t>
            </a:r>
            <a:r>
              <a:rPr lang="en-US" altLang="zh-CN" dirty="0">
                <a:latin typeface="+mj-lt"/>
              </a:rPr>
              <a:t>")</a:t>
            </a:r>
          </a:p>
          <a:p>
            <a:r>
              <a:rPr lang="en-US" altLang="zh-CN" dirty="0">
                <a:latin typeface="+mj-lt"/>
              </a:rPr>
              <a:t>print(report)</a:t>
            </a:r>
          </a:p>
          <a:p>
            <a:endParaRPr lang="en-US" altLang="zh-CN" dirty="0">
              <a:latin typeface="+mj-lt"/>
            </a:endParaRPr>
          </a:p>
          <a:p>
            <a:r>
              <a:rPr lang="en-US" altLang="zh-CN" dirty="0">
                <a:latin typeface="+mj-lt"/>
              </a:rPr>
              <a:t># </a:t>
            </a:r>
            <a:r>
              <a:rPr lang="zh-CN" altLang="en-US" dirty="0">
                <a:latin typeface="+mj-lt"/>
              </a:rPr>
              <a:t>预测单个样本类别</a:t>
            </a:r>
            <a:endParaRPr lang="en-US" altLang="zh-CN" dirty="0">
              <a:latin typeface="+mj-lt"/>
            </a:endParaRPr>
          </a:p>
          <a:p>
            <a:r>
              <a:rPr lang="en-US" altLang="zh-CN" dirty="0" err="1">
                <a:latin typeface="+mj-lt"/>
              </a:rPr>
              <a:t>test_text</a:t>
            </a:r>
            <a:r>
              <a:rPr lang="en-US" altLang="zh-CN" dirty="0">
                <a:latin typeface="+mj-lt"/>
              </a:rPr>
              <a:t> = ["3D rendering algorithm improves graphics quality"]</a:t>
            </a:r>
          </a:p>
          <a:p>
            <a:r>
              <a:rPr lang="en-US" altLang="zh-CN" dirty="0" err="1">
                <a:latin typeface="+mj-lt"/>
              </a:rPr>
              <a:t>test_vec</a:t>
            </a:r>
            <a:r>
              <a:rPr lang="en-US" altLang="zh-CN" dirty="0">
                <a:latin typeface="+mj-lt"/>
              </a:rPr>
              <a:t> = </a:t>
            </a:r>
            <a:r>
              <a:rPr lang="en-US" altLang="zh-CN" dirty="0" err="1">
                <a:latin typeface="+mj-lt"/>
              </a:rPr>
              <a:t>vectorizer.transform</a:t>
            </a:r>
            <a:r>
              <a:rPr lang="en-US" altLang="zh-CN" dirty="0">
                <a:latin typeface="+mj-lt"/>
              </a:rPr>
              <a:t>(</a:t>
            </a:r>
            <a:r>
              <a:rPr lang="en-US" altLang="zh-CN" dirty="0" err="1">
                <a:latin typeface="+mj-lt"/>
              </a:rPr>
              <a:t>test_text</a:t>
            </a:r>
            <a:r>
              <a:rPr lang="en-US" altLang="zh-CN" dirty="0">
                <a:latin typeface="+mj-lt"/>
              </a:rPr>
              <a:t>)</a:t>
            </a:r>
          </a:p>
          <a:p>
            <a:r>
              <a:rPr lang="en-US" altLang="zh-CN" dirty="0">
                <a:latin typeface="+mj-lt"/>
              </a:rPr>
              <a:t>print(f"</a:t>
            </a:r>
            <a:r>
              <a:rPr lang="zh-CN" altLang="en-US" dirty="0">
                <a:latin typeface="+mj-lt"/>
              </a:rPr>
              <a:t>预测类别：</a:t>
            </a:r>
            <a:r>
              <a:rPr lang="en-US" altLang="zh-CN" dirty="0">
                <a:latin typeface="+mj-lt"/>
              </a:rPr>
              <a:t>{</a:t>
            </a:r>
            <a:r>
              <a:rPr lang="en-US" altLang="zh-CN" dirty="0" err="1">
                <a:latin typeface="+mj-lt"/>
              </a:rPr>
              <a:t>newsgroups.target_names</a:t>
            </a:r>
            <a:r>
              <a:rPr lang="en-US" altLang="zh-CN" dirty="0">
                <a:latin typeface="+mj-lt"/>
              </a:rPr>
              <a:t>[</a:t>
            </a:r>
            <a:r>
              <a:rPr lang="en-US" altLang="zh-CN" dirty="0" err="1">
                <a:latin typeface="+mj-lt"/>
              </a:rPr>
              <a:t>model.predict</a:t>
            </a:r>
            <a:r>
              <a:rPr lang="en-US" altLang="zh-CN" dirty="0">
                <a:latin typeface="+mj-lt"/>
              </a:rPr>
              <a:t>(</a:t>
            </a:r>
            <a:r>
              <a:rPr lang="en-US" altLang="zh-CN" dirty="0" err="1">
                <a:latin typeface="+mj-lt"/>
              </a:rPr>
              <a:t>test_vec</a:t>
            </a:r>
            <a:r>
              <a:rPr lang="en-US" altLang="zh-CN" dirty="0">
                <a:latin typeface="+mj-lt"/>
              </a:rPr>
              <a:t>)[0]]}")</a:t>
            </a:r>
          </a:p>
        </p:txBody>
      </p:sp>
      <p:sp>
        <p:nvSpPr>
          <p:cNvPr id="2" name="文本框 1">
            <a:extLst>
              <a:ext uri="{FF2B5EF4-FFF2-40B4-BE49-F238E27FC236}">
                <a16:creationId xmlns:a16="http://schemas.microsoft.com/office/drawing/2014/main" id="{D8B8C1AB-6558-866B-AF35-584685CB0BDE}"/>
              </a:ext>
            </a:extLst>
          </p:cNvPr>
          <p:cNvSpPr txBox="1"/>
          <p:nvPr/>
        </p:nvSpPr>
        <p:spPr>
          <a:xfrm>
            <a:off x="4950278" y="2151727"/>
            <a:ext cx="3810000" cy="2246769"/>
          </a:xfrm>
          <a:prstGeom prst="rect">
            <a:avLst/>
          </a:prstGeom>
          <a:noFill/>
        </p:spPr>
        <p:txBody>
          <a:bodyPr wrap="square">
            <a:spAutoFit/>
          </a:bodyPr>
          <a:lstStyle/>
          <a:p>
            <a:r>
              <a:rPr lang="zh-CN" altLang="en-US" sz="2000" b="1" dirty="0">
                <a:solidFill>
                  <a:schemeClr val="accent1"/>
                </a:solidFill>
              </a:rPr>
              <a:t>思考问题</a:t>
            </a:r>
          </a:p>
          <a:p>
            <a:pPr marL="342900" indent="-342900">
              <a:buFont typeface="Wingdings" panose="05000000000000000000" pitchFamily="2" charset="2"/>
              <a:buChar char="l"/>
            </a:pPr>
            <a:r>
              <a:rPr lang="zh-CN" altLang="en-US" sz="2000" b="1" dirty="0">
                <a:solidFill>
                  <a:schemeClr val="accent1"/>
                </a:solidFill>
              </a:rPr>
              <a:t>如何处理文本数据中的停用词？</a:t>
            </a:r>
          </a:p>
          <a:p>
            <a:pPr marL="342900" indent="-342900">
              <a:buFont typeface="Wingdings" panose="05000000000000000000" pitchFamily="2" charset="2"/>
              <a:buChar char="l"/>
            </a:pPr>
            <a:r>
              <a:rPr lang="zh-CN" altLang="en-US" sz="2000" b="1" dirty="0">
                <a:solidFill>
                  <a:schemeClr val="accent1"/>
                </a:solidFill>
              </a:rPr>
              <a:t>在朴素贝叶斯中，如何选择合适的平滑参数？</a:t>
            </a:r>
          </a:p>
          <a:p>
            <a:pPr marL="342900" indent="-342900">
              <a:buFont typeface="Wingdings" panose="05000000000000000000" pitchFamily="2" charset="2"/>
              <a:buChar char="l"/>
            </a:pPr>
            <a:r>
              <a:rPr lang="zh-CN" altLang="en-US" sz="2000" b="1" dirty="0">
                <a:solidFill>
                  <a:schemeClr val="accent1"/>
                </a:solidFill>
              </a:rPr>
              <a:t>如何对高维文本数据进行降维处理？</a:t>
            </a:r>
          </a:p>
        </p:txBody>
      </p:sp>
    </p:spTree>
    <p:extLst>
      <p:ext uri="{BB962C8B-B14F-4D97-AF65-F5344CB8AC3E}">
        <p14:creationId xmlns:p14="http://schemas.microsoft.com/office/powerpoint/2010/main" val="934021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4AD89-D50F-A4A2-4A2C-8D8AEF070982}"/>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E7D174A4-EC6B-7F52-41CE-3AC61A091F7C}"/>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算法比较</a:t>
            </a:r>
          </a:p>
        </p:txBody>
      </p:sp>
      <p:graphicFrame>
        <p:nvGraphicFramePr>
          <p:cNvPr id="5" name="表格 4">
            <a:extLst>
              <a:ext uri="{FF2B5EF4-FFF2-40B4-BE49-F238E27FC236}">
                <a16:creationId xmlns:a16="http://schemas.microsoft.com/office/drawing/2014/main" id="{D0B8D84A-9A9F-2FA2-65A4-FE45E4932C26}"/>
              </a:ext>
            </a:extLst>
          </p:cNvPr>
          <p:cNvGraphicFramePr>
            <a:graphicFrameLocks noGrp="1"/>
          </p:cNvGraphicFramePr>
          <p:nvPr>
            <p:extLst>
              <p:ext uri="{D42A27DB-BD31-4B8C-83A1-F6EECF244321}">
                <p14:modId xmlns:p14="http://schemas.microsoft.com/office/powerpoint/2010/main" val="663015326"/>
              </p:ext>
            </p:extLst>
          </p:nvPr>
        </p:nvGraphicFramePr>
        <p:xfrm>
          <a:off x="100693" y="629822"/>
          <a:ext cx="8929008" cy="5943600"/>
        </p:xfrm>
        <a:graphic>
          <a:graphicData uri="http://schemas.openxmlformats.org/drawingml/2006/table">
            <a:tbl>
              <a:tblPr firstRow="1" bandRow="1">
                <a:tableStyleId>{5C22544A-7EE6-4342-B048-85BDC9FD1C3A}</a:tableStyleId>
              </a:tblPr>
              <a:tblGrid>
                <a:gridCol w="2232252">
                  <a:extLst>
                    <a:ext uri="{9D8B030D-6E8A-4147-A177-3AD203B41FA5}">
                      <a16:colId xmlns:a16="http://schemas.microsoft.com/office/drawing/2014/main" val="1190432438"/>
                    </a:ext>
                  </a:extLst>
                </a:gridCol>
                <a:gridCol w="2232252">
                  <a:extLst>
                    <a:ext uri="{9D8B030D-6E8A-4147-A177-3AD203B41FA5}">
                      <a16:colId xmlns:a16="http://schemas.microsoft.com/office/drawing/2014/main" val="1682984722"/>
                    </a:ext>
                  </a:extLst>
                </a:gridCol>
                <a:gridCol w="2232252">
                  <a:extLst>
                    <a:ext uri="{9D8B030D-6E8A-4147-A177-3AD203B41FA5}">
                      <a16:colId xmlns:a16="http://schemas.microsoft.com/office/drawing/2014/main" val="1240616674"/>
                    </a:ext>
                  </a:extLst>
                </a:gridCol>
                <a:gridCol w="2232252">
                  <a:extLst>
                    <a:ext uri="{9D8B030D-6E8A-4147-A177-3AD203B41FA5}">
                      <a16:colId xmlns:a16="http://schemas.microsoft.com/office/drawing/2014/main" val="414296648"/>
                    </a:ext>
                  </a:extLst>
                </a:gridCol>
              </a:tblGrid>
              <a:tr h="318796">
                <a:tc>
                  <a:txBody>
                    <a:bodyPr/>
                    <a:lstStyle/>
                    <a:p>
                      <a:pPr algn="ctr" fontAlgn="auto">
                        <a:lnSpc>
                          <a:spcPts val="1800"/>
                        </a:lnSpc>
                      </a:pPr>
                      <a:r>
                        <a:rPr lang="zh-CN" altLang="en-US" sz="1600" b="1">
                          <a:effectLst/>
                          <a:latin typeface="inherit"/>
                        </a:rPr>
                        <a:t>特点</a:t>
                      </a:r>
                    </a:p>
                  </a:txBody>
                  <a:tcPr marL="101600" marR="101600" marT="76200" marB="76200" anchor="ctr"/>
                </a:tc>
                <a:tc>
                  <a:txBody>
                    <a:bodyPr/>
                    <a:lstStyle/>
                    <a:p>
                      <a:pPr algn="ctr" fontAlgn="auto">
                        <a:lnSpc>
                          <a:spcPts val="1800"/>
                        </a:lnSpc>
                      </a:pPr>
                      <a:r>
                        <a:rPr lang="zh-CN" altLang="en-US" sz="1600" b="1">
                          <a:effectLst/>
                          <a:latin typeface="inherit"/>
                        </a:rPr>
                        <a:t>线性回归</a:t>
                      </a:r>
                    </a:p>
                  </a:txBody>
                  <a:tcPr marL="101600" marR="101600" marT="76200" marB="76200" anchor="ctr"/>
                </a:tc>
                <a:tc>
                  <a:txBody>
                    <a:bodyPr/>
                    <a:lstStyle/>
                    <a:p>
                      <a:pPr algn="ctr" fontAlgn="auto">
                        <a:lnSpc>
                          <a:spcPts val="1800"/>
                        </a:lnSpc>
                      </a:pPr>
                      <a:r>
                        <a:rPr lang="zh-CN" altLang="en-US" sz="1600" b="1">
                          <a:effectLst/>
                          <a:latin typeface="inherit"/>
                        </a:rPr>
                        <a:t>逻辑回归</a:t>
                      </a:r>
                    </a:p>
                  </a:txBody>
                  <a:tcPr marL="101600" marR="101600" marT="76200" marB="76200" anchor="ctr"/>
                </a:tc>
                <a:tc>
                  <a:txBody>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lang="zh-CN" altLang="en-US" sz="1800" b="1" i="0" kern="1200" dirty="0">
                          <a:solidFill>
                            <a:schemeClr val="lt1"/>
                          </a:solidFill>
                          <a:effectLst/>
                          <a:latin typeface="+mn-lt"/>
                          <a:ea typeface="+mn-ea"/>
                          <a:cs typeface="+mn-cs"/>
                        </a:rPr>
                        <a:t>朴素</a:t>
                      </a:r>
                      <a:r>
                        <a:rPr lang="zh-CN" altLang="en-US" sz="1600" b="1" dirty="0">
                          <a:effectLst/>
                          <a:latin typeface="inherit"/>
                        </a:rPr>
                        <a:t>贝叶斯算法</a:t>
                      </a:r>
                    </a:p>
                  </a:txBody>
                  <a:tcPr marL="101600" marR="101600" marT="76200" marB="76200" anchor="ctr"/>
                </a:tc>
                <a:extLst>
                  <a:ext uri="{0D108BD9-81ED-4DB2-BD59-A6C34878D82A}">
                    <a16:rowId xmlns:a16="http://schemas.microsoft.com/office/drawing/2014/main" val="1411927700"/>
                  </a:ext>
                </a:extLst>
              </a:tr>
              <a:tr h="510074">
                <a:tc>
                  <a:txBody>
                    <a:bodyPr/>
                    <a:lstStyle/>
                    <a:p>
                      <a:pPr algn="ctr" fontAlgn="auto">
                        <a:lnSpc>
                          <a:spcPts val="1800"/>
                        </a:lnSpc>
                      </a:pPr>
                      <a:r>
                        <a:rPr lang="zh-CN" altLang="en-US" sz="1600" b="1">
                          <a:effectLst/>
                          <a:latin typeface="inherit"/>
                        </a:rPr>
                        <a:t>算法类型</a:t>
                      </a:r>
                      <a:endParaRPr lang="zh-CN" altLang="en-US" sz="1600">
                        <a:effectLst/>
                        <a:latin typeface="inherit"/>
                      </a:endParaRPr>
                    </a:p>
                  </a:txBody>
                  <a:tcPr marL="101600" marR="101600" marT="76200" marB="76200" anchor="ctr"/>
                </a:tc>
                <a:tc>
                  <a:txBody>
                    <a:bodyPr/>
                    <a:lstStyle/>
                    <a:p>
                      <a:pPr algn="ctr" fontAlgn="auto">
                        <a:lnSpc>
                          <a:spcPts val="1800"/>
                        </a:lnSpc>
                      </a:pPr>
                      <a:r>
                        <a:rPr lang="zh-CN" altLang="en-US" sz="1600" dirty="0">
                          <a:effectLst/>
                          <a:latin typeface="inherit"/>
                        </a:rPr>
                        <a:t>监督学习算法，用于回归问题</a:t>
                      </a:r>
                    </a:p>
                  </a:txBody>
                  <a:tcPr marL="101600" marR="101600" marT="76200" marB="76200" anchor="ctr"/>
                </a:tc>
                <a:tc>
                  <a:txBody>
                    <a:bodyPr/>
                    <a:lstStyle/>
                    <a:p>
                      <a:pPr algn="ctr" fontAlgn="auto">
                        <a:lnSpc>
                          <a:spcPts val="1800"/>
                        </a:lnSpc>
                      </a:pPr>
                      <a:r>
                        <a:rPr lang="zh-CN" altLang="en-US" sz="1600">
                          <a:effectLst/>
                          <a:latin typeface="inherit"/>
                        </a:rPr>
                        <a:t>监督学习算法，用于分类问题</a:t>
                      </a:r>
                    </a:p>
                  </a:txBody>
                  <a:tcPr marL="101600" marR="101600" marT="76200" marB="76200" anchor="ctr"/>
                </a:tc>
                <a:tc>
                  <a:txBody>
                    <a:bodyPr/>
                    <a:lstStyle/>
                    <a:p>
                      <a:pPr algn="ctr" fontAlgn="auto">
                        <a:lnSpc>
                          <a:spcPts val="1800"/>
                        </a:lnSpc>
                      </a:pPr>
                      <a:r>
                        <a:rPr lang="zh-CN" altLang="en-US" sz="1600">
                          <a:effectLst/>
                          <a:latin typeface="inherit"/>
                        </a:rPr>
                        <a:t>监督学习算法，可用于分类和回归问题</a:t>
                      </a:r>
                    </a:p>
                  </a:txBody>
                  <a:tcPr marL="101600" marR="101600" marT="76200" marB="76200" anchor="ctr"/>
                </a:tc>
                <a:extLst>
                  <a:ext uri="{0D108BD9-81ED-4DB2-BD59-A6C34878D82A}">
                    <a16:rowId xmlns:a16="http://schemas.microsoft.com/office/drawing/2014/main" val="413822733"/>
                  </a:ext>
                </a:extLst>
              </a:tr>
              <a:tr h="701352">
                <a:tc>
                  <a:txBody>
                    <a:bodyPr/>
                    <a:lstStyle/>
                    <a:p>
                      <a:pPr algn="ctr" fontAlgn="auto">
                        <a:lnSpc>
                          <a:spcPts val="1800"/>
                        </a:lnSpc>
                      </a:pPr>
                      <a:r>
                        <a:rPr lang="zh-CN" altLang="en-US" sz="1600" b="1">
                          <a:effectLst/>
                          <a:latin typeface="inherit"/>
                        </a:rPr>
                        <a:t>模型形式</a:t>
                      </a:r>
                      <a:endParaRPr lang="zh-CN" altLang="en-US" sz="1600">
                        <a:effectLst/>
                        <a:latin typeface="inherit"/>
                      </a:endParaRPr>
                    </a:p>
                  </a:txBody>
                  <a:tcPr marL="101600" marR="101600" marT="76200" marB="76200" anchor="ctr"/>
                </a:tc>
                <a:tc>
                  <a:txBody>
                    <a:bodyPr/>
                    <a:lstStyle/>
                    <a:p>
                      <a:pPr algn="ctr" fontAlgn="auto">
                        <a:lnSpc>
                          <a:spcPts val="1800"/>
                        </a:lnSpc>
                      </a:pPr>
                      <a:r>
                        <a:rPr lang="zh-CN" altLang="en-US" sz="1600" dirty="0">
                          <a:effectLst/>
                          <a:latin typeface="inherit"/>
                        </a:rPr>
                        <a:t>线性模型，假设输出是输入的线性组合</a:t>
                      </a:r>
                    </a:p>
                  </a:txBody>
                  <a:tcPr marL="101600" marR="101600" marT="76200" marB="76200" anchor="ctr"/>
                </a:tc>
                <a:tc>
                  <a:txBody>
                    <a:bodyPr/>
                    <a:lstStyle/>
                    <a:p>
                      <a:pPr algn="ctr" fontAlgn="auto">
                        <a:lnSpc>
                          <a:spcPts val="1800"/>
                        </a:lnSpc>
                      </a:pPr>
                      <a:r>
                        <a:rPr lang="zh-CN" altLang="en-US" sz="1600">
                          <a:effectLst/>
                          <a:latin typeface="inherit"/>
                        </a:rPr>
                        <a:t>线性模型，假设输出是输入的线性组合经过逻辑函数转换</a:t>
                      </a:r>
                    </a:p>
                  </a:txBody>
                  <a:tcPr marL="101600" marR="101600" marT="76200" marB="76200" anchor="ctr"/>
                </a:tc>
                <a:tc>
                  <a:txBody>
                    <a:bodyPr/>
                    <a:lstStyle/>
                    <a:p>
                      <a:pPr algn="ctr" fontAlgn="auto">
                        <a:lnSpc>
                          <a:spcPts val="1800"/>
                        </a:lnSpc>
                      </a:pPr>
                      <a:r>
                        <a:rPr lang="zh-CN" altLang="en-US" sz="1600">
                          <a:effectLst/>
                          <a:latin typeface="inherit"/>
                        </a:rPr>
                        <a:t>基于贝叶斯定理的概率模型</a:t>
                      </a:r>
                    </a:p>
                  </a:txBody>
                  <a:tcPr marL="101600" marR="101600" marT="76200" marB="76200" anchor="ctr"/>
                </a:tc>
                <a:extLst>
                  <a:ext uri="{0D108BD9-81ED-4DB2-BD59-A6C34878D82A}">
                    <a16:rowId xmlns:a16="http://schemas.microsoft.com/office/drawing/2014/main" val="1221481307"/>
                  </a:ext>
                </a:extLst>
              </a:tr>
              <a:tr h="318796">
                <a:tc>
                  <a:txBody>
                    <a:bodyPr/>
                    <a:lstStyle/>
                    <a:p>
                      <a:pPr algn="ctr" fontAlgn="auto">
                        <a:lnSpc>
                          <a:spcPts val="1800"/>
                        </a:lnSpc>
                      </a:pPr>
                      <a:r>
                        <a:rPr lang="zh-CN" altLang="en-US" sz="1600" b="1">
                          <a:effectLst/>
                          <a:latin typeface="inherit"/>
                        </a:rPr>
                        <a:t>输出</a:t>
                      </a:r>
                      <a:endParaRPr lang="zh-CN" altLang="en-US" sz="1600">
                        <a:effectLst/>
                        <a:latin typeface="inherit"/>
                      </a:endParaRPr>
                    </a:p>
                  </a:txBody>
                  <a:tcPr marL="101600" marR="101600" marT="76200" marB="76200" anchor="ctr"/>
                </a:tc>
                <a:tc>
                  <a:txBody>
                    <a:bodyPr/>
                    <a:lstStyle/>
                    <a:p>
                      <a:pPr algn="ctr" fontAlgn="auto">
                        <a:lnSpc>
                          <a:spcPts val="1800"/>
                        </a:lnSpc>
                      </a:pPr>
                      <a:r>
                        <a:rPr lang="zh-CN" altLang="en-US" sz="1600">
                          <a:effectLst/>
                          <a:latin typeface="inherit"/>
                        </a:rPr>
                        <a:t>连续数值</a:t>
                      </a:r>
                    </a:p>
                  </a:txBody>
                  <a:tcPr marL="101600" marR="101600" marT="76200" marB="76200" anchor="ctr"/>
                </a:tc>
                <a:tc>
                  <a:txBody>
                    <a:bodyPr/>
                    <a:lstStyle/>
                    <a:p>
                      <a:pPr algn="ctr" fontAlgn="auto">
                        <a:lnSpc>
                          <a:spcPts val="1800"/>
                        </a:lnSpc>
                      </a:pPr>
                      <a:r>
                        <a:rPr lang="zh-CN" altLang="en-US" sz="1600">
                          <a:effectLst/>
                          <a:latin typeface="inherit"/>
                        </a:rPr>
                        <a:t>概率值（</a:t>
                      </a:r>
                      <a:r>
                        <a:rPr lang="en-US" altLang="zh-CN" sz="1600">
                          <a:effectLst/>
                          <a:latin typeface="inherit"/>
                        </a:rPr>
                        <a:t>0</a:t>
                      </a:r>
                      <a:r>
                        <a:rPr lang="zh-CN" altLang="en-US" sz="1600">
                          <a:effectLst/>
                          <a:latin typeface="inherit"/>
                        </a:rPr>
                        <a:t>到</a:t>
                      </a:r>
                      <a:r>
                        <a:rPr lang="en-US" altLang="zh-CN" sz="1600">
                          <a:effectLst/>
                          <a:latin typeface="inherit"/>
                        </a:rPr>
                        <a:t>1</a:t>
                      </a:r>
                      <a:r>
                        <a:rPr lang="zh-CN" altLang="en-US" sz="1600">
                          <a:effectLst/>
                          <a:latin typeface="inherit"/>
                        </a:rPr>
                        <a:t>之间）</a:t>
                      </a:r>
                    </a:p>
                  </a:txBody>
                  <a:tcPr marL="101600" marR="101600" marT="76200" marB="76200" anchor="ctr"/>
                </a:tc>
                <a:tc>
                  <a:txBody>
                    <a:bodyPr/>
                    <a:lstStyle/>
                    <a:p>
                      <a:pPr algn="ctr" fontAlgn="auto">
                        <a:lnSpc>
                          <a:spcPts val="1800"/>
                        </a:lnSpc>
                      </a:pPr>
                      <a:r>
                        <a:rPr lang="zh-CN" altLang="en-US" sz="1600">
                          <a:effectLst/>
                          <a:latin typeface="inherit"/>
                        </a:rPr>
                        <a:t>概率值或类别标签</a:t>
                      </a:r>
                    </a:p>
                  </a:txBody>
                  <a:tcPr marL="101600" marR="101600" marT="76200" marB="76200" anchor="ctr"/>
                </a:tc>
                <a:extLst>
                  <a:ext uri="{0D108BD9-81ED-4DB2-BD59-A6C34878D82A}">
                    <a16:rowId xmlns:a16="http://schemas.microsoft.com/office/drawing/2014/main" val="22516737"/>
                  </a:ext>
                </a:extLst>
              </a:tr>
              <a:tr h="510074">
                <a:tc>
                  <a:txBody>
                    <a:bodyPr/>
                    <a:lstStyle/>
                    <a:p>
                      <a:pPr algn="ctr" fontAlgn="auto">
                        <a:lnSpc>
                          <a:spcPts val="1800"/>
                        </a:lnSpc>
                      </a:pPr>
                      <a:r>
                        <a:rPr lang="zh-CN" altLang="en-US" sz="1600" b="1">
                          <a:effectLst/>
                          <a:latin typeface="inherit"/>
                        </a:rPr>
                        <a:t>损失函数</a:t>
                      </a:r>
                      <a:endParaRPr lang="zh-CN" altLang="en-US" sz="1600">
                        <a:effectLst/>
                        <a:latin typeface="inherit"/>
                      </a:endParaRPr>
                    </a:p>
                  </a:txBody>
                  <a:tcPr marL="101600" marR="101600" marT="76200" marB="76200" anchor="ctr"/>
                </a:tc>
                <a:tc>
                  <a:txBody>
                    <a:bodyPr/>
                    <a:lstStyle/>
                    <a:p>
                      <a:pPr algn="ctr" fontAlgn="auto">
                        <a:lnSpc>
                          <a:spcPts val="1800"/>
                        </a:lnSpc>
                      </a:pPr>
                      <a:r>
                        <a:rPr lang="zh-CN" altLang="en-US" sz="1600">
                          <a:effectLst/>
                          <a:latin typeface="inherit"/>
                        </a:rPr>
                        <a:t>均方误差（</a:t>
                      </a:r>
                      <a:r>
                        <a:rPr lang="en-US" altLang="zh-CN" sz="1600">
                          <a:effectLst/>
                          <a:latin typeface="inherit"/>
                        </a:rPr>
                        <a:t>MSE</a:t>
                      </a:r>
                      <a:r>
                        <a:rPr lang="zh-CN" altLang="en-US" sz="1600">
                          <a:effectLst/>
                          <a:latin typeface="inherit"/>
                        </a:rPr>
                        <a:t>）</a:t>
                      </a:r>
                    </a:p>
                  </a:txBody>
                  <a:tcPr marL="101600" marR="101600" marT="76200" marB="76200" anchor="ctr"/>
                </a:tc>
                <a:tc>
                  <a:txBody>
                    <a:bodyPr/>
                    <a:lstStyle/>
                    <a:p>
                      <a:pPr algn="ctr" fontAlgn="auto">
                        <a:lnSpc>
                          <a:spcPts val="1800"/>
                        </a:lnSpc>
                      </a:pPr>
                      <a:r>
                        <a:rPr lang="zh-CN" altLang="en-US" sz="1600">
                          <a:effectLst/>
                          <a:latin typeface="inherit"/>
                        </a:rPr>
                        <a:t>交叉熵损失（</a:t>
                      </a:r>
                      <a:r>
                        <a:rPr lang="en-US" sz="1600">
                          <a:effectLst/>
                          <a:latin typeface="inherit"/>
                        </a:rPr>
                        <a:t>Cross-Entropy Loss）</a:t>
                      </a:r>
                    </a:p>
                  </a:txBody>
                  <a:tcPr marL="101600" marR="101600" marT="76200" marB="76200" anchor="ctr"/>
                </a:tc>
                <a:tc>
                  <a:txBody>
                    <a:bodyPr/>
                    <a:lstStyle/>
                    <a:p>
                      <a:pPr algn="ctr" fontAlgn="auto">
                        <a:lnSpc>
                          <a:spcPts val="1800"/>
                        </a:lnSpc>
                      </a:pPr>
                      <a:r>
                        <a:rPr lang="zh-CN" altLang="en-US" sz="1600">
                          <a:effectLst/>
                          <a:latin typeface="inherit"/>
                        </a:rPr>
                        <a:t>负对数似然函数等</a:t>
                      </a:r>
                    </a:p>
                  </a:txBody>
                  <a:tcPr marL="101600" marR="101600" marT="76200" marB="76200" anchor="ctr"/>
                </a:tc>
                <a:extLst>
                  <a:ext uri="{0D108BD9-81ED-4DB2-BD59-A6C34878D82A}">
                    <a16:rowId xmlns:a16="http://schemas.microsoft.com/office/drawing/2014/main" val="4258938745"/>
                  </a:ext>
                </a:extLst>
              </a:tr>
              <a:tr h="701352">
                <a:tc>
                  <a:txBody>
                    <a:bodyPr/>
                    <a:lstStyle/>
                    <a:p>
                      <a:pPr algn="ctr" fontAlgn="auto">
                        <a:lnSpc>
                          <a:spcPts val="1800"/>
                        </a:lnSpc>
                      </a:pPr>
                      <a:r>
                        <a:rPr lang="zh-CN" altLang="en-US" sz="1600" b="1">
                          <a:effectLst/>
                          <a:latin typeface="inherit"/>
                        </a:rPr>
                        <a:t>假设</a:t>
                      </a:r>
                      <a:endParaRPr lang="zh-CN" altLang="en-US" sz="1600">
                        <a:effectLst/>
                        <a:latin typeface="inherit"/>
                      </a:endParaRPr>
                    </a:p>
                  </a:txBody>
                  <a:tcPr marL="101600" marR="101600" marT="76200" marB="76200" anchor="ctr"/>
                </a:tc>
                <a:tc>
                  <a:txBody>
                    <a:bodyPr/>
                    <a:lstStyle/>
                    <a:p>
                      <a:pPr algn="ctr" fontAlgn="auto">
                        <a:lnSpc>
                          <a:spcPts val="1800"/>
                        </a:lnSpc>
                      </a:pPr>
                      <a:r>
                        <a:rPr lang="zh-CN" altLang="en-US" sz="1600">
                          <a:effectLst/>
                          <a:latin typeface="inherit"/>
                        </a:rPr>
                        <a:t>假设输入和输出之间存在线性关系</a:t>
                      </a:r>
                    </a:p>
                  </a:txBody>
                  <a:tcPr marL="101600" marR="101600" marT="76200" marB="76200" anchor="ctr"/>
                </a:tc>
                <a:tc>
                  <a:txBody>
                    <a:bodyPr/>
                    <a:lstStyle/>
                    <a:p>
                      <a:pPr algn="ctr" fontAlgn="auto">
                        <a:lnSpc>
                          <a:spcPts val="1800"/>
                        </a:lnSpc>
                      </a:pPr>
                      <a:r>
                        <a:rPr lang="zh-CN" altLang="en-US" sz="1600">
                          <a:effectLst/>
                          <a:latin typeface="inherit"/>
                        </a:rPr>
                        <a:t>假设输入和输出之间存在线性关系，且输出服从二项分布</a:t>
                      </a:r>
                    </a:p>
                  </a:txBody>
                  <a:tcPr marL="101600" marR="101600" marT="76200" marB="76200" anchor="ctr"/>
                </a:tc>
                <a:tc>
                  <a:txBody>
                    <a:bodyPr/>
                    <a:lstStyle/>
                    <a:p>
                      <a:pPr algn="ctr" fontAlgn="auto">
                        <a:lnSpc>
                          <a:spcPts val="1800"/>
                        </a:lnSpc>
                      </a:pPr>
                      <a:r>
                        <a:rPr lang="zh-CN" altLang="en-US" sz="1600">
                          <a:effectLst/>
                          <a:latin typeface="inherit"/>
                        </a:rPr>
                        <a:t>假设特征之间条件独立</a:t>
                      </a:r>
                    </a:p>
                  </a:txBody>
                  <a:tcPr marL="101600" marR="101600" marT="76200" marB="76200" anchor="ctr"/>
                </a:tc>
                <a:extLst>
                  <a:ext uri="{0D108BD9-81ED-4DB2-BD59-A6C34878D82A}">
                    <a16:rowId xmlns:a16="http://schemas.microsoft.com/office/drawing/2014/main" val="640066789"/>
                  </a:ext>
                </a:extLst>
              </a:tr>
              <a:tr h="701352">
                <a:tc>
                  <a:txBody>
                    <a:bodyPr/>
                    <a:lstStyle/>
                    <a:p>
                      <a:pPr algn="ctr" fontAlgn="auto">
                        <a:lnSpc>
                          <a:spcPts val="1800"/>
                        </a:lnSpc>
                      </a:pPr>
                      <a:r>
                        <a:rPr lang="zh-CN" altLang="en-US" sz="1600" b="1">
                          <a:effectLst/>
                          <a:latin typeface="inherit"/>
                        </a:rPr>
                        <a:t>优点</a:t>
                      </a:r>
                      <a:endParaRPr lang="zh-CN" altLang="en-US" sz="1600">
                        <a:effectLst/>
                        <a:latin typeface="inherit"/>
                      </a:endParaRPr>
                    </a:p>
                  </a:txBody>
                  <a:tcPr marL="101600" marR="101600" marT="76200" marB="76200" anchor="ctr"/>
                </a:tc>
                <a:tc>
                  <a:txBody>
                    <a:bodyPr/>
                    <a:lstStyle/>
                    <a:p>
                      <a:pPr algn="ctr" fontAlgn="auto">
                        <a:lnSpc>
                          <a:spcPts val="1800"/>
                        </a:lnSpc>
                      </a:pPr>
                      <a:r>
                        <a:rPr lang="zh-CN" altLang="en-US" sz="1600">
                          <a:effectLst/>
                          <a:latin typeface="inherit"/>
                        </a:rPr>
                        <a:t>简单直观，计算效率高</a:t>
                      </a:r>
                    </a:p>
                  </a:txBody>
                  <a:tcPr marL="101600" marR="101600" marT="76200" marB="76200" anchor="ctr"/>
                </a:tc>
                <a:tc>
                  <a:txBody>
                    <a:bodyPr/>
                    <a:lstStyle/>
                    <a:p>
                      <a:pPr algn="ctr" fontAlgn="auto">
                        <a:lnSpc>
                          <a:spcPts val="1800"/>
                        </a:lnSpc>
                      </a:pPr>
                      <a:r>
                        <a:rPr lang="zh-CN" altLang="en-US" sz="1600">
                          <a:effectLst/>
                          <a:latin typeface="inherit"/>
                        </a:rPr>
                        <a:t>输出概率值，便于解释，适用于二分类问题</a:t>
                      </a:r>
                    </a:p>
                  </a:txBody>
                  <a:tcPr marL="101600" marR="101600" marT="76200" marB="76200" anchor="ctr"/>
                </a:tc>
                <a:tc>
                  <a:txBody>
                    <a:bodyPr/>
                    <a:lstStyle/>
                    <a:p>
                      <a:pPr algn="ctr" fontAlgn="auto">
                        <a:lnSpc>
                          <a:spcPts val="1800"/>
                        </a:lnSpc>
                      </a:pPr>
                      <a:r>
                        <a:rPr lang="zh-CN" altLang="en-US" sz="1600">
                          <a:effectLst/>
                          <a:latin typeface="inherit"/>
                        </a:rPr>
                        <a:t>能够处理不确定性，适用于小数据集</a:t>
                      </a:r>
                    </a:p>
                  </a:txBody>
                  <a:tcPr marL="101600" marR="101600" marT="76200" marB="76200" anchor="ctr"/>
                </a:tc>
                <a:extLst>
                  <a:ext uri="{0D108BD9-81ED-4DB2-BD59-A6C34878D82A}">
                    <a16:rowId xmlns:a16="http://schemas.microsoft.com/office/drawing/2014/main" val="1311434264"/>
                  </a:ext>
                </a:extLst>
              </a:tr>
              <a:tr h="701352">
                <a:tc>
                  <a:txBody>
                    <a:bodyPr/>
                    <a:lstStyle/>
                    <a:p>
                      <a:pPr algn="ctr" fontAlgn="auto">
                        <a:lnSpc>
                          <a:spcPts val="1800"/>
                        </a:lnSpc>
                      </a:pPr>
                      <a:r>
                        <a:rPr lang="zh-CN" altLang="en-US" sz="1600" b="1">
                          <a:effectLst/>
                          <a:latin typeface="inherit"/>
                        </a:rPr>
                        <a:t>缺点</a:t>
                      </a:r>
                      <a:endParaRPr lang="zh-CN" altLang="en-US" sz="1600">
                        <a:effectLst/>
                        <a:latin typeface="inherit"/>
                      </a:endParaRPr>
                    </a:p>
                  </a:txBody>
                  <a:tcPr marL="101600" marR="101600" marT="76200" marB="76200" anchor="ctr"/>
                </a:tc>
                <a:tc>
                  <a:txBody>
                    <a:bodyPr/>
                    <a:lstStyle/>
                    <a:p>
                      <a:pPr algn="ctr" fontAlgn="auto">
                        <a:lnSpc>
                          <a:spcPts val="1800"/>
                        </a:lnSpc>
                      </a:pPr>
                      <a:r>
                        <a:rPr lang="zh-CN" altLang="en-US" sz="1600">
                          <a:effectLst/>
                          <a:latin typeface="inherit"/>
                        </a:rPr>
                        <a:t>对非线性关系拟合效果差，对异常值敏感</a:t>
                      </a:r>
                    </a:p>
                  </a:txBody>
                  <a:tcPr marL="101600" marR="101600" marT="76200" marB="76200" anchor="ctr"/>
                </a:tc>
                <a:tc>
                  <a:txBody>
                    <a:bodyPr/>
                    <a:lstStyle/>
                    <a:p>
                      <a:pPr algn="ctr" fontAlgn="auto">
                        <a:lnSpc>
                          <a:spcPts val="1800"/>
                        </a:lnSpc>
                      </a:pPr>
                      <a:r>
                        <a:rPr lang="zh-CN" altLang="en-US" sz="1600" dirty="0">
                          <a:effectLst/>
                          <a:latin typeface="inherit"/>
                        </a:rPr>
                        <a:t>对特征的线性关系假设可能不成立，对多重共线性敏感</a:t>
                      </a:r>
                    </a:p>
                  </a:txBody>
                  <a:tcPr marL="101600" marR="101600" marT="76200" marB="76200" anchor="ctr"/>
                </a:tc>
                <a:tc>
                  <a:txBody>
                    <a:bodyPr/>
                    <a:lstStyle/>
                    <a:p>
                      <a:pPr algn="ctr" fontAlgn="auto">
                        <a:lnSpc>
                          <a:spcPts val="1800"/>
                        </a:lnSpc>
                      </a:pPr>
                      <a:r>
                        <a:rPr lang="zh-CN" altLang="en-US" sz="1600">
                          <a:effectLst/>
                          <a:latin typeface="inherit"/>
                        </a:rPr>
                        <a:t>需要先验知识，计算复杂度可能较高</a:t>
                      </a:r>
                    </a:p>
                  </a:txBody>
                  <a:tcPr marL="101600" marR="101600" marT="76200" marB="76200" anchor="ctr"/>
                </a:tc>
                <a:extLst>
                  <a:ext uri="{0D108BD9-81ED-4DB2-BD59-A6C34878D82A}">
                    <a16:rowId xmlns:a16="http://schemas.microsoft.com/office/drawing/2014/main" val="1719869734"/>
                  </a:ext>
                </a:extLst>
              </a:tr>
              <a:tr h="510074">
                <a:tc>
                  <a:txBody>
                    <a:bodyPr/>
                    <a:lstStyle/>
                    <a:p>
                      <a:pPr algn="ctr" fontAlgn="auto">
                        <a:lnSpc>
                          <a:spcPts val="1800"/>
                        </a:lnSpc>
                      </a:pPr>
                      <a:r>
                        <a:rPr lang="zh-CN" altLang="en-US" sz="1600" b="1">
                          <a:effectLst/>
                          <a:latin typeface="inherit"/>
                        </a:rPr>
                        <a:t>应用场景</a:t>
                      </a:r>
                      <a:endParaRPr lang="zh-CN" altLang="en-US" sz="1600">
                        <a:effectLst/>
                        <a:latin typeface="inherit"/>
                      </a:endParaRPr>
                    </a:p>
                  </a:txBody>
                  <a:tcPr marL="101600" marR="101600" marT="76200" marB="76200" anchor="ctr"/>
                </a:tc>
                <a:tc>
                  <a:txBody>
                    <a:bodyPr/>
                    <a:lstStyle/>
                    <a:p>
                      <a:pPr algn="ctr" fontAlgn="auto">
                        <a:lnSpc>
                          <a:spcPts val="1800"/>
                        </a:lnSpc>
                      </a:pPr>
                      <a:r>
                        <a:rPr lang="zh-CN" altLang="en-US" sz="1600">
                          <a:effectLst/>
                          <a:latin typeface="inherit"/>
                        </a:rPr>
                        <a:t>房价预测、销售预测等</a:t>
                      </a:r>
                    </a:p>
                  </a:txBody>
                  <a:tcPr marL="101600" marR="101600" marT="76200" marB="76200" anchor="ctr"/>
                </a:tc>
                <a:tc>
                  <a:txBody>
                    <a:bodyPr/>
                    <a:lstStyle/>
                    <a:p>
                      <a:pPr algn="ctr" fontAlgn="auto">
                        <a:lnSpc>
                          <a:spcPts val="1800"/>
                        </a:lnSpc>
                      </a:pPr>
                      <a:r>
                        <a:rPr lang="zh-CN" altLang="en-US" sz="1600">
                          <a:effectLst/>
                          <a:latin typeface="inherit"/>
                        </a:rPr>
                        <a:t>信用评分、垃圾邮件分类等</a:t>
                      </a:r>
                    </a:p>
                  </a:txBody>
                  <a:tcPr marL="101600" marR="101600" marT="76200" marB="76200" anchor="ctr"/>
                </a:tc>
                <a:tc>
                  <a:txBody>
                    <a:bodyPr/>
                    <a:lstStyle/>
                    <a:p>
                      <a:pPr algn="ctr" fontAlgn="auto">
                        <a:lnSpc>
                          <a:spcPts val="1800"/>
                        </a:lnSpc>
                      </a:pPr>
                      <a:r>
                        <a:rPr lang="zh-CN" altLang="en-US" sz="1600" dirty="0">
                          <a:effectLst/>
                          <a:latin typeface="inherit"/>
                        </a:rPr>
                        <a:t>文本分类、疾病诊断等</a:t>
                      </a:r>
                    </a:p>
                  </a:txBody>
                  <a:tcPr marL="101600" marR="101600" marT="76200" marB="76200" anchor="ctr"/>
                </a:tc>
                <a:extLst>
                  <a:ext uri="{0D108BD9-81ED-4DB2-BD59-A6C34878D82A}">
                    <a16:rowId xmlns:a16="http://schemas.microsoft.com/office/drawing/2014/main" val="1231491727"/>
                  </a:ext>
                </a:extLst>
              </a:tr>
            </a:tbl>
          </a:graphicData>
        </a:graphic>
      </p:graphicFrame>
    </p:spTree>
    <p:extLst>
      <p:ext uri="{BB962C8B-B14F-4D97-AF65-F5344CB8AC3E}">
        <p14:creationId xmlns:p14="http://schemas.microsoft.com/office/powerpoint/2010/main" val="6523963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C231-5744-09F3-0D40-7E88C0E04BA5}"/>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FD8A1D0D-DEB7-2E34-FC68-DCE92AC5FB1D}"/>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代码实践</a:t>
            </a:r>
            <a:r>
              <a:rPr lang="en-US" altLang="zh-CN" dirty="0">
                <a:latin typeface="Times New Roman" panose="02020603050405020304" pitchFamily="18" charset="0"/>
                <a:ea typeface="楷体" panose="02010609060101010101" pitchFamily="49" charset="-122"/>
              </a:rPr>
              <a:t>7</a:t>
            </a:r>
            <a:r>
              <a:rPr lang="zh-CN" altLang="en-US" dirty="0">
                <a:latin typeface="Times New Roman" panose="02020603050405020304" pitchFamily="18" charset="0"/>
                <a:ea typeface="楷体" panose="02010609060101010101" pitchFamily="49" charset="-122"/>
              </a:rPr>
              <a:t>：</a:t>
            </a:r>
            <a:r>
              <a:rPr lang="en-US" altLang="zh-CN" dirty="0">
                <a:latin typeface="Times New Roman" panose="02020603050405020304" pitchFamily="18" charset="0"/>
                <a:ea typeface="楷体" panose="02010609060101010101" pitchFamily="49" charset="-122"/>
              </a:rPr>
              <a:t>K</a:t>
            </a:r>
            <a:r>
              <a:rPr lang="zh-CN" altLang="en-US" dirty="0">
                <a:latin typeface="Times New Roman" panose="02020603050405020304" pitchFamily="18" charset="0"/>
                <a:ea typeface="楷体" panose="02010609060101010101" pitchFamily="49" charset="-122"/>
              </a:rPr>
              <a:t>近邻算法（</a:t>
            </a:r>
            <a:r>
              <a:rPr lang="en-US" altLang="zh-CN" dirty="0">
                <a:latin typeface="Times New Roman" panose="02020603050405020304" pitchFamily="18" charset="0"/>
                <a:ea typeface="楷体" panose="02010609060101010101" pitchFamily="49" charset="-122"/>
              </a:rPr>
              <a:t>KNN</a:t>
            </a:r>
            <a:r>
              <a:rPr lang="zh-CN" altLang="en-US" dirty="0">
                <a:latin typeface="Times New Roman" panose="02020603050405020304" pitchFamily="18" charset="0"/>
                <a:ea typeface="楷体" panose="02010609060101010101" pitchFamily="49" charset="-122"/>
              </a:rPr>
              <a:t>）</a:t>
            </a:r>
          </a:p>
        </p:txBody>
      </p:sp>
      <p:sp>
        <p:nvSpPr>
          <p:cNvPr id="10" name="文本框 9">
            <a:extLst>
              <a:ext uri="{FF2B5EF4-FFF2-40B4-BE49-F238E27FC236}">
                <a16:creationId xmlns:a16="http://schemas.microsoft.com/office/drawing/2014/main" id="{EBF079BD-0D25-DEC0-F77E-8E353A2AF74F}"/>
              </a:ext>
            </a:extLst>
          </p:cNvPr>
          <p:cNvSpPr txBox="1"/>
          <p:nvPr/>
        </p:nvSpPr>
        <p:spPr>
          <a:xfrm>
            <a:off x="990600" y="664709"/>
            <a:ext cx="8001000" cy="461665"/>
          </a:xfrm>
          <a:prstGeom prst="rect">
            <a:avLst/>
          </a:prstGeom>
          <a:noFill/>
        </p:spPr>
        <p:txBody>
          <a:bodyPr wrap="square">
            <a:spAutoFit/>
          </a:bodyPr>
          <a:lstStyle/>
          <a:p>
            <a:pPr algn="just"/>
            <a:r>
              <a:rPr lang="zh-CN" altLang="en-US" sz="2400" b="1" dirty="0">
                <a:latin typeface="Times New Roman" panose="02020603050405020304" pitchFamily="18" charset="0"/>
              </a:rPr>
              <a:t>目标：掌握距离度量与</a:t>
            </a:r>
            <a:r>
              <a:rPr lang="en-US" altLang="zh-CN" sz="2400" b="1" dirty="0">
                <a:latin typeface="Times New Roman" panose="02020603050405020304" pitchFamily="18" charset="0"/>
              </a:rPr>
              <a:t>KNN</a:t>
            </a:r>
            <a:r>
              <a:rPr lang="zh-CN" altLang="en-US" sz="2400" b="1" dirty="0">
                <a:latin typeface="Times New Roman" panose="02020603050405020304" pitchFamily="18" charset="0"/>
              </a:rPr>
              <a:t>模型决策，实现手写数字识别</a:t>
            </a:r>
          </a:p>
        </p:txBody>
      </p:sp>
      <p:sp>
        <p:nvSpPr>
          <p:cNvPr id="13" name="文本框 12">
            <a:extLst>
              <a:ext uri="{FF2B5EF4-FFF2-40B4-BE49-F238E27FC236}">
                <a16:creationId xmlns:a16="http://schemas.microsoft.com/office/drawing/2014/main" id="{6E697BFE-B81C-562A-E3E7-14C7A8FC7977}"/>
              </a:ext>
            </a:extLst>
          </p:cNvPr>
          <p:cNvSpPr txBox="1"/>
          <p:nvPr/>
        </p:nvSpPr>
        <p:spPr>
          <a:xfrm>
            <a:off x="152400" y="1126374"/>
            <a:ext cx="5257800" cy="5355312"/>
          </a:xfrm>
          <a:prstGeom prst="rect">
            <a:avLst/>
          </a:prstGeom>
          <a:noFill/>
        </p:spPr>
        <p:txBody>
          <a:bodyPr wrap="square">
            <a:spAutoFit/>
          </a:bodyPr>
          <a:lstStyle/>
          <a:p>
            <a:r>
              <a:rPr lang="en-US" altLang="zh-CN" dirty="0">
                <a:latin typeface="+mj-lt"/>
              </a:rPr>
              <a:t>from </a:t>
            </a:r>
            <a:r>
              <a:rPr lang="en-US" altLang="zh-CN" dirty="0" err="1">
                <a:latin typeface="+mj-lt"/>
              </a:rPr>
              <a:t>sklearn.datasets</a:t>
            </a:r>
            <a:r>
              <a:rPr lang="en-US" altLang="zh-CN" dirty="0">
                <a:latin typeface="+mj-lt"/>
              </a:rPr>
              <a:t> import </a:t>
            </a:r>
            <a:r>
              <a:rPr lang="en-US" altLang="zh-CN" dirty="0" err="1">
                <a:latin typeface="+mj-lt"/>
              </a:rPr>
              <a:t>load_digits</a:t>
            </a:r>
            <a:endParaRPr lang="en-US" altLang="zh-CN" dirty="0">
              <a:latin typeface="+mj-lt"/>
            </a:endParaRPr>
          </a:p>
          <a:p>
            <a:r>
              <a:rPr lang="en-US" altLang="zh-CN" dirty="0">
                <a:latin typeface="+mj-lt"/>
              </a:rPr>
              <a:t>from </a:t>
            </a:r>
            <a:r>
              <a:rPr lang="en-US" altLang="zh-CN" dirty="0" err="1">
                <a:latin typeface="+mj-lt"/>
              </a:rPr>
              <a:t>sklearn.neighbors</a:t>
            </a:r>
            <a:r>
              <a:rPr lang="en-US" altLang="zh-CN" dirty="0">
                <a:latin typeface="+mj-lt"/>
              </a:rPr>
              <a:t> import </a:t>
            </a:r>
            <a:r>
              <a:rPr lang="en-US" altLang="zh-CN" dirty="0" err="1">
                <a:latin typeface="+mj-lt"/>
              </a:rPr>
              <a:t>KNeighborsClassifier</a:t>
            </a:r>
            <a:endParaRPr lang="en-US" altLang="zh-CN" dirty="0">
              <a:latin typeface="+mj-lt"/>
            </a:endParaRPr>
          </a:p>
          <a:p>
            <a:r>
              <a:rPr lang="en-US" altLang="zh-CN" dirty="0">
                <a:latin typeface="+mj-lt"/>
              </a:rPr>
              <a:t>from </a:t>
            </a:r>
            <a:r>
              <a:rPr lang="en-US" altLang="zh-CN" dirty="0" err="1">
                <a:latin typeface="+mj-lt"/>
              </a:rPr>
              <a:t>sklearn.model_selection</a:t>
            </a:r>
            <a:r>
              <a:rPr lang="en-US" altLang="zh-CN" dirty="0">
                <a:latin typeface="+mj-lt"/>
              </a:rPr>
              <a:t> import </a:t>
            </a:r>
            <a:r>
              <a:rPr lang="en-US" altLang="zh-CN" dirty="0" err="1">
                <a:latin typeface="+mj-lt"/>
              </a:rPr>
              <a:t>train_test_split</a:t>
            </a:r>
            <a:endParaRPr lang="en-US" altLang="zh-CN" dirty="0">
              <a:latin typeface="+mj-lt"/>
            </a:endParaRPr>
          </a:p>
          <a:p>
            <a:r>
              <a:rPr lang="en-US" altLang="zh-CN" dirty="0">
                <a:latin typeface="+mj-lt"/>
              </a:rPr>
              <a:t>from </a:t>
            </a:r>
            <a:r>
              <a:rPr lang="en-US" altLang="zh-CN" dirty="0" err="1">
                <a:latin typeface="+mj-lt"/>
              </a:rPr>
              <a:t>sklearn.preprocessing</a:t>
            </a:r>
            <a:r>
              <a:rPr lang="en-US" altLang="zh-CN" dirty="0">
                <a:latin typeface="+mj-lt"/>
              </a:rPr>
              <a:t> import </a:t>
            </a:r>
            <a:r>
              <a:rPr lang="en-US" altLang="zh-CN" dirty="0" err="1">
                <a:latin typeface="+mj-lt"/>
              </a:rPr>
              <a:t>StandardScaler</a:t>
            </a:r>
            <a:endParaRPr lang="en-US" altLang="zh-CN" dirty="0">
              <a:latin typeface="+mj-lt"/>
            </a:endParaRPr>
          </a:p>
          <a:p>
            <a:r>
              <a:rPr lang="en-US" altLang="zh-CN" dirty="0">
                <a:latin typeface="+mj-lt"/>
              </a:rPr>
              <a:t>import </a:t>
            </a:r>
            <a:r>
              <a:rPr lang="en-US" altLang="zh-CN" dirty="0" err="1">
                <a:latin typeface="+mj-lt"/>
              </a:rPr>
              <a:t>matplotlib.pyplot</a:t>
            </a:r>
            <a:r>
              <a:rPr lang="en-US" altLang="zh-CN" dirty="0">
                <a:latin typeface="+mj-lt"/>
              </a:rPr>
              <a:t> as </a:t>
            </a:r>
            <a:r>
              <a:rPr lang="en-US" altLang="zh-CN" dirty="0" err="1">
                <a:latin typeface="+mj-lt"/>
              </a:rPr>
              <a:t>plt</a:t>
            </a:r>
            <a:endParaRPr lang="en-US" altLang="zh-CN" dirty="0">
              <a:latin typeface="+mj-lt"/>
            </a:endParaRPr>
          </a:p>
          <a:p>
            <a:endParaRPr lang="en-US" altLang="zh-CN" dirty="0">
              <a:latin typeface="+mj-lt"/>
            </a:endParaRPr>
          </a:p>
          <a:p>
            <a:r>
              <a:rPr lang="en-US" altLang="zh-CN" dirty="0">
                <a:latin typeface="+mj-lt"/>
              </a:rPr>
              <a:t># </a:t>
            </a:r>
            <a:r>
              <a:rPr lang="zh-CN" altLang="en-US" dirty="0">
                <a:latin typeface="+mj-lt"/>
              </a:rPr>
              <a:t>加载数据</a:t>
            </a:r>
          </a:p>
          <a:p>
            <a:r>
              <a:rPr lang="en-US" altLang="zh-CN" dirty="0">
                <a:latin typeface="+mj-lt"/>
              </a:rPr>
              <a:t>digits = </a:t>
            </a:r>
            <a:r>
              <a:rPr lang="en-US" altLang="zh-CN" dirty="0" err="1">
                <a:latin typeface="+mj-lt"/>
              </a:rPr>
              <a:t>load_digits</a:t>
            </a:r>
            <a:r>
              <a:rPr lang="en-US" altLang="zh-CN" dirty="0">
                <a:latin typeface="+mj-lt"/>
              </a:rPr>
              <a:t>()</a:t>
            </a:r>
          </a:p>
          <a:p>
            <a:r>
              <a:rPr lang="en-US" altLang="zh-CN" dirty="0">
                <a:latin typeface="+mj-lt"/>
              </a:rPr>
              <a:t>X, y = </a:t>
            </a:r>
            <a:r>
              <a:rPr lang="en-US" altLang="zh-CN" dirty="0" err="1">
                <a:latin typeface="+mj-lt"/>
              </a:rPr>
              <a:t>digits.data</a:t>
            </a:r>
            <a:r>
              <a:rPr lang="en-US" altLang="zh-CN" dirty="0">
                <a:latin typeface="+mj-lt"/>
              </a:rPr>
              <a:t>, </a:t>
            </a:r>
            <a:r>
              <a:rPr lang="en-US" altLang="zh-CN" dirty="0" err="1">
                <a:latin typeface="+mj-lt"/>
              </a:rPr>
              <a:t>digits.target</a:t>
            </a:r>
            <a:endParaRPr lang="en-US" altLang="zh-CN" dirty="0">
              <a:latin typeface="+mj-lt"/>
            </a:endParaRPr>
          </a:p>
          <a:p>
            <a:endParaRPr lang="en-US" altLang="zh-CN" dirty="0">
              <a:latin typeface="+mj-lt"/>
            </a:endParaRPr>
          </a:p>
          <a:p>
            <a:r>
              <a:rPr lang="en-US" altLang="zh-CN" dirty="0">
                <a:latin typeface="+mj-lt"/>
              </a:rPr>
              <a:t># </a:t>
            </a:r>
            <a:r>
              <a:rPr lang="zh-CN" altLang="en-US" dirty="0">
                <a:latin typeface="+mj-lt"/>
              </a:rPr>
              <a:t>数据预处理</a:t>
            </a:r>
          </a:p>
          <a:p>
            <a:r>
              <a:rPr lang="en-US" altLang="zh-CN" dirty="0">
                <a:latin typeface="+mj-lt"/>
              </a:rPr>
              <a:t>X = </a:t>
            </a:r>
            <a:r>
              <a:rPr lang="en-US" altLang="zh-CN" dirty="0" err="1">
                <a:latin typeface="+mj-lt"/>
              </a:rPr>
              <a:t>StandardScaler</a:t>
            </a:r>
            <a:r>
              <a:rPr lang="en-US" altLang="zh-CN" dirty="0">
                <a:latin typeface="+mj-lt"/>
              </a:rPr>
              <a:t>().</a:t>
            </a:r>
            <a:r>
              <a:rPr lang="en-US" altLang="zh-CN" dirty="0" err="1">
                <a:latin typeface="+mj-lt"/>
              </a:rPr>
              <a:t>fit_transform</a:t>
            </a:r>
            <a:r>
              <a:rPr lang="en-US" altLang="zh-CN" dirty="0">
                <a:latin typeface="+mj-lt"/>
              </a:rPr>
              <a:t>(X)</a:t>
            </a:r>
          </a:p>
          <a:p>
            <a:r>
              <a:rPr lang="en-US" altLang="zh-CN" dirty="0" err="1">
                <a:latin typeface="+mj-lt"/>
              </a:rPr>
              <a:t>X_train</a:t>
            </a:r>
            <a:r>
              <a:rPr lang="en-US" altLang="zh-CN" dirty="0">
                <a:latin typeface="+mj-lt"/>
              </a:rPr>
              <a:t>, </a:t>
            </a:r>
            <a:r>
              <a:rPr lang="en-US" altLang="zh-CN" dirty="0" err="1">
                <a:latin typeface="+mj-lt"/>
              </a:rPr>
              <a:t>X_test</a:t>
            </a:r>
            <a:r>
              <a:rPr lang="en-US" altLang="zh-CN" dirty="0">
                <a:latin typeface="+mj-lt"/>
              </a:rPr>
              <a:t>, </a:t>
            </a:r>
            <a:r>
              <a:rPr lang="en-US" altLang="zh-CN" dirty="0" err="1">
                <a:latin typeface="+mj-lt"/>
              </a:rPr>
              <a:t>y_train</a:t>
            </a:r>
            <a:r>
              <a:rPr lang="en-US" altLang="zh-CN" dirty="0">
                <a:latin typeface="+mj-lt"/>
              </a:rPr>
              <a:t>, </a:t>
            </a:r>
            <a:r>
              <a:rPr lang="en-US" altLang="zh-CN" dirty="0" err="1">
                <a:latin typeface="+mj-lt"/>
              </a:rPr>
              <a:t>y_test</a:t>
            </a:r>
            <a:r>
              <a:rPr lang="en-US" altLang="zh-CN" dirty="0">
                <a:latin typeface="+mj-lt"/>
              </a:rPr>
              <a:t> = </a:t>
            </a:r>
            <a:r>
              <a:rPr lang="en-US" altLang="zh-CN" dirty="0" err="1">
                <a:latin typeface="+mj-lt"/>
              </a:rPr>
              <a:t>train_test_split</a:t>
            </a:r>
            <a:r>
              <a:rPr lang="en-US" altLang="zh-CN" dirty="0">
                <a:latin typeface="+mj-lt"/>
              </a:rPr>
              <a:t>(X, y, </a:t>
            </a:r>
            <a:r>
              <a:rPr lang="en-US" altLang="zh-CN" dirty="0" err="1">
                <a:latin typeface="+mj-lt"/>
              </a:rPr>
              <a:t>test_size</a:t>
            </a:r>
            <a:r>
              <a:rPr lang="en-US" altLang="zh-CN" dirty="0">
                <a:latin typeface="+mj-lt"/>
              </a:rPr>
              <a:t>=0.3)</a:t>
            </a:r>
          </a:p>
          <a:p>
            <a:endParaRPr lang="en-US" altLang="zh-CN" dirty="0">
              <a:latin typeface="+mj-lt"/>
            </a:endParaRPr>
          </a:p>
          <a:p>
            <a:r>
              <a:rPr lang="en-US" altLang="zh-CN" dirty="0">
                <a:latin typeface="+mj-lt"/>
              </a:rPr>
              <a:t># </a:t>
            </a:r>
            <a:r>
              <a:rPr lang="zh-CN" altLang="en-US" dirty="0">
                <a:latin typeface="+mj-lt"/>
              </a:rPr>
              <a:t>训练模型</a:t>
            </a:r>
          </a:p>
          <a:p>
            <a:r>
              <a:rPr lang="en-US" altLang="zh-CN" dirty="0" err="1">
                <a:latin typeface="+mj-lt"/>
              </a:rPr>
              <a:t>knn</a:t>
            </a:r>
            <a:r>
              <a:rPr lang="en-US" altLang="zh-CN" dirty="0">
                <a:latin typeface="+mj-lt"/>
              </a:rPr>
              <a:t> = </a:t>
            </a:r>
            <a:r>
              <a:rPr lang="en-US" altLang="zh-CN" dirty="0" err="1">
                <a:latin typeface="+mj-lt"/>
              </a:rPr>
              <a:t>KNeighborsClassifier</a:t>
            </a:r>
            <a:r>
              <a:rPr lang="en-US" altLang="zh-CN" dirty="0">
                <a:latin typeface="+mj-lt"/>
              </a:rPr>
              <a:t>(</a:t>
            </a:r>
            <a:r>
              <a:rPr lang="en-US" altLang="zh-CN" dirty="0" err="1">
                <a:latin typeface="+mj-lt"/>
              </a:rPr>
              <a:t>n_neighbors</a:t>
            </a:r>
            <a:r>
              <a:rPr lang="en-US" altLang="zh-CN" dirty="0">
                <a:latin typeface="+mj-lt"/>
              </a:rPr>
              <a:t>=5, metric='</a:t>
            </a:r>
            <a:r>
              <a:rPr lang="en-US" altLang="zh-CN" dirty="0" err="1">
                <a:latin typeface="+mj-lt"/>
              </a:rPr>
              <a:t>minkowski</a:t>
            </a:r>
            <a:r>
              <a:rPr lang="en-US" altLang="zh-CN" dirty="0">
                <a:latin typeface="+mj-lt"/>
              </a:rPr>
              <a:t>')</a:t>
            </a:r>
          </a:p>
          <a:p>
            <a:r>
              <a:rPr lang="en-US" altLang="zh-CN" dirty="0" err="1">
                <a:latin typeface="+mj-lt"/>
              </a:rPr>
              <a:t>knn.fit</a:t>
            </a:r>
            <a:r>
              <a:rPr lang="en-US" altLang="zh-CN" dirty="0">
                <a:latin typeface="+mj-lt"/>
              </a:rPr>
              <a:t>(</a:t>
            </a:r>
            <a:r>
              <a:rPr lang="en-US" altLang="zh-CN" dirty="0" err="1">
                <a:latin typeface="+mj-lt"/>
              </a:rPr>
              <a:t>X_train</a:t>
            </a:r>
            <a:r>
              <a:rPr lang="en-US" altLang="zh-CN" dirty="0">
                <a:latin typeface="+mj-lt"/>
              </a:rPr>
              <a:t>, </a:t>
            </a:r>
            <a:r>
              <a:rPr lang="en-US" altLang="zh-CN" dirty="0" err="1">
                <a:latin typeface="+mj-lt"/>
              </a:rPr>
              <a:t>y_train</a:t>
            </a:r>
            <a:r>
              <a:rPr lang="en-US" altLang="zh-CN" dirty="0">
                <a:latin typeface="+mj-lt"/>
              </a:rPr>
              <a:t>)</a:t>
            </a:r>
          </a:p>
        </p:txBody>
      </p:sp>
      <p:sp>
        <p:nvSpPr>
          <p:cNvPr id="3" name="文本框 2">
            <a:extLst>
              <a:ext uri="{FF2B5EF4-FFF2-40B4-BE49-F238E27FC236}">
                <a16:creationId xmlns:a16="http://schemas.microsoft.com/office/drawing/2014/main" id="{87810D47-E773-7327-5F5C-C742E6716432}"/>
              </a:ext>
            </a:extLst>
          </p:cNvPr>
          <p:cNvSpPr txBox="1"/>
          <p:nvPr/>
        </p:nvSpPr>
        <p:spPr>
          <a:xfrm>
            <a:off x="5276850" y="2010698"/>
            <a:ext cx="3886200" cy="4524315"/>
          </a:xfrm>
          <a:prstGeom prst="rect">
            <a:avLst/>
          </a:prstGeom>
          <a:noFill/>
        </p:spPr>
        <p:txBody>
          <a:bodyPr wrap="square">
            <a:spAutoFit/>
          </a:bodyPr>
          <a:lstStyle/>
          <a:p>
            <a:endParaRPr lang="en-US" altLang="zh-CN" dirty="0">
              <a:latin typeface="+mj-lt"/>
            </a:endParaRPr>
          </a:p>
          <a:p>
            <a:r>
              <a:rPr lang="en-US" altLang="zh-CN" dirty="0">
                <a:latin typeface="+mj-lt"/>
              </a:rPr>
              <a:t># </a:t>
            </a:r>
            <a:r>
              <a:rPr lang="zh-CN" altLang="en-US" dirty="0">
                <a:latin typeface="+mj-lt"/>
              </a:rPr>
              <a:t>预测与评估</a:t>
            </a:r>
          </a:p>
          <a:p>
            <a:r>
              <a:rPr lang="en-US" altLang="zh-CN" dirty="0">
                <a:latin typeface="+mj-lt"/>
              </a:rPr>
              <a:t>print(f"</a:t>
            </a:r>
            <a:r>
              <a:rPr lang="zh-CN" altLang="en-US" dirty="0">
                <a:latin typeface="+mj-lt"/>
              </a:rPr>
              <a:t>测试集准确率：</a:t>
            </a:r>
            <a:r>
              <a:rPr lang="en-US" altLang="zh-CN" dirty="0">
                <a:latin typeface="+mj-lt"/>
              </a:rPr>
              <a:t>{</a:t>
            </a:r>
            <a:r>
              <a:rPr lang="en-US" altLang="zh-CN" dirty="0" err="1">
                <a:latin typeface="+mj-lt"/>
              </a:rPr>
              <a:t>knn.score</a:t>
            </a:r>
            <a:r>
              <a:rPr lang="en-US" altLang="zh-CN" dirty="0">
                <a:latin typeface="+mj-lt"/>
              </a:rPr>
              <a:t>(</a:t>
            </a:r>
            <a:r>
              <a:rPr lang="en-US" altLang="zh-CN" dirty="0" err="1">
                <a:latin typeface="+mj-lt"/>
              </a:rPr>
              <a:t>X_test</a:t>
            </a:r>
            <a:r>
              <a:rPr lang="en-US" altLang="zh-CN" dirty="0">
                <a:latin typeface="+mj-lt"/>
              </a:rPr>
              <a:t>, </a:t>
            </a:r>
            <a:r>
              <a:rPr lang="en-US" altLang="zh-CN" dirty="0" err="1">
                <a:latin typeface="+mj-lt"/>
              </a:rPr>
              <a:t>y_test</a:t>
            </a:r>
            <a:r>
              <a:rPr lang="en-US" altLang="zh-CN" dirty="0">
                <a:latin typeface="+mj-lt"/>
              </a:rPr>
              <a:t>):.2%}")</a:t>
            </a:r>
          </a:p>
          <a:p>
            <a:endParaRPr lang="en-US" altLang="zh-CN" dirty="0">
              <a:latin typeface="+mj-lt"/>
            </a:endParaRPr>
          </a:p>
          <a:p>
            <a:r>
              <a:rPr lang="en-US" altLang="zh-CN" dirty="0">
                <a:latin typeface="+mj-lt"/>
              </a:rPr>
              <a:t># </a:t>
            </a:r>
            <a:r>
              <a:rPr lang="zh-CN" altLang="en-US" dirty="0">
                <a:latin typeface="+mj-lt"/>
              </a:rPr>
              <a:t>可视化预测结果</a:t>
            </a:r>
          </a:p>
          <a:p>
            <a:r>
              <a:rPr lang="en-US" altLang="zh-CN" dirty="0">
                <a:latin typeface="+mj-lt"/>
              </a:rPr>
              <a:t>fig, axes = </a:t>
            </a:r>
            <a:r>
              <a:rPr lang="en-US" altLang="zh-CN" dirty="0" err="1">
                <a:latin typeface="+mj-lt"/>
              </a:rPr>
              <a:t>plt.subplots</a:t>
            </a:r>
            <a:r>
              <a:rPr lang="en-US" altLang="zh-CN" dirty="0">
                <a:latin typeface="+mj-lt"/>
              </a:rPr>
              <a:t>(3, 5, </a:t>
            </a:r>
            <a:r>
              <a:rPr lang="en-US" altLang="zh-CN" dirty="0" err="1">
                <a:latin typeface="+mj-lt"/>
              </a:rPr>
              <a:t>figsize</a:t>
            </a:r>
            <a:r>
              <a:rPr lang="en-US" altLang="zh-CN" dirty="0">
                <a:latin typeface="+mj-lt"/>
              </a:rPr>
              <a:t>=(10,7))</a:t>
            </a:r>
          </a:p>
          <a:p>
            <a:r>
              <a:rPr lang="en-US" altLang="zh-CN" dirty="0">
                <a:latin typeface="+mj-lt"/>
              </a:rPr>
              <a:t>for </a:t>
            </a:r>
            <a:r>
              <a:rPr lang="en-US" altLang="zh-CN" dirty="0" err="1">
                <a:latin typeface="+mj-lt"/>
              </a:rPr>
              <a:t>i</a:t>
            </a:r>
            <a:r>
              <a:rPr lang="en-US" altLang="zh-CN" dirty="0">
                <a:latin typeface="+mj-lt"/>
              </a:rPr>
              <a:t>, ax in enumerate(</a:t>
            </a:r>
            <a:r>
              <a:rPr lang="en-US" altLang="zh-CN" dirty="0" err="1">
                <a:latin typeface="+mj-lt"/>
              </a:rPr>
              <a:t>axes.flat</a:t>
            </a:r>
            <a:r>
              <a:rPr lang="en-US" altLang="zh-CN" dirty="0">
                <a:latin typeface="+mj-lt"/>
              </a:rPr>
              <a:t>):</a:t>
            </a:r>
          </a:p>
          <a:p>
            <a:r>
              <a:rPr lang="en-US" altLang="zh-CN" dirty="0">
                <a:latin typeface="+mj-lt"/>
              </a:rPr>
              <a:t>    </a:t>
            </a:r>
            <a:r>
              <a:rPr lang="en-US" altLang="zh-CN" dirty="0" err="1">
                <a:latin typeface="+mj-lt"/>
              </a:rPr>
              <a:t>ax.imshow</a:t>
            </a:r>
            <a:r>
              <a:rPr lang="en-US" altLang="zh-CN" dirty="0">
                <a:latin typeface="+mj-lt"/>
              </a:rPr>
              <a:t>(</a:t>
            </a:r>
            <a:r>
              <a:rPr lang="en-US" altLang="zh-CN" dirty="0" err="1">
                <a:latin typeface="+mj-lt"/>
              </a:rPr>
              <a:t>X_test</a:t>
            </a:r>
            <a:r>
              <a:rPr lang="en-US" altLang="zh-CN" dirty="0">
                <a:latin typeface="+mj-lt"/>
              </a:rPr>
              <a:t>[</a:t>
            </a:r>
            <a:r>
              <a:rPr lang="en-US" altLang="zh-CN" dirty="0" err="1">
                <a:latin typeface="+mj-lt"/>
              </a:rPr>
              <a:t>i</a:t>
            </a:r>
            <a:r>
              <a:rPr lang="en-US" altLang="zh-CN" dirty="0">
                <a:latin typeface="+mj-lt"/>
              </a:rPr>
              <a:t>].reshape(8,8), </a:t>
            </a:r>
            <a:r>
              <a:rPr lang="en-US" altLang="zh-CN" dirty="0" err="1">
                <a:latin typeface="+mj-lt"/>
              </a:rPr>
              <a:t>cmap</a:t>
            </a:r>
            <a:r>
              <a:rPr lang="en-US" altLang="zh-CN" dirty="0">
                <a:latin typeface="+mj-lt"/>
              </a:rPr>
              <a:t>='gray')</a:t>
            </a:r>
          </a:p>
          <a:p>
            <a:r>
              <a:rPr lang="en-US" altLang="zh-CN" dirty="0">
                <a:latin typeface="+mj-lt"/>
              </a:rPr>
              <a:t>    </a:t>
            </a:r>
            <a:r>
              <a:rPr lang="en-US" altLang="zh-CN" dirty="0" err="1">
                <a:latin typeface="+mj-lt"/>
              </a:rPr>
              <a:t>ax.set_title</a:t>
            </a:r>
            <a:r>
              <a:rPr lang="en-US" altLang="zh-CN" dirty="0">
                <a:latin typeface="+mj-lt"/>
              </a:rPr>
              <a:t>(</a:t>
            </a:r>
            <a:r>
              <a:rPr lang="en-US" altLang="zh-CN" dirty="0" err="1">
                <a:latin typeface="+mj-lt"/>
              </a:rPr>
              <a:t>f"Pred</a:t>
            </a:r>
            <a:r>
              <a:rPr lang="en-US" altLang="zh-CN" dirty="0">
                <a:latin typeface="+mj-lt"/>
              </a:rPr>
              <a:t>: {</a:t>
            </a:r>
            <a:r>
              <a:rPr lang="en-US" altLang="zh-CN" dirty="0" err="1">
                <a:latin typeface="+mj-lt"/>
              </a:rPr>
              <a:t>knn.predict</a:t>
            </a:r>
            <a:r>
              <a:rPr lang="en-US" altLang="zh-CN" dirty="0">
                <a:latin typeface="+mj-lt"/>
              </a:rPr>
              <a:t>([</a:t>
            </a:r>
            <a:r>
              <a:rPr lang="en-US" altLang="zh-CN" dirty="0" err="1">
                <a:latin typeface="+mj-lt"/>
              </a:rPr>
              <a:t>X_test</a:t>
            </a:r>
            <a:r>
              <a:rPr lang="en-US" altLang="zh-CN" dirty="0">
                <a:latin typeface="+mj-lt"/>
              </a:rPr>
              <a:t>[</a:t>
            </a:r>
            <a:r>
              <a:rPr lang="en-US" altLang="zh-CN" dirty="0" err="1">
                <a:latin typeface="+mj-lt"/>
              </a:rPr>
              <a:t>i</a:t>
            </a:r>
            <a:r>
              <a:rPr lang="en-US" altLang="zh-CN" dirty="0">
                <a:latin typeface="+mj-lt"/>
              </a:rPr>
              <a:t>]])[0]}")</a:t>
            </a:r>
          </a:p>
          <a:p>
            <a:r>
              <a:rPr lang="en-US" altLang="zh-CN" dirty="0">
                <a:latin typeface="+mj-lt"/>
              </a:rPr>
              <a:t>    </a:t>
            </a:r>
            <a:r>
              <a:rPr lang="en-US" altLang="zh-CN" dirty="0" err="1">
                <a:latin typeface="+mj-lt"/>
              </a:rPr>
              <a:t>ax.axis</a:t>
            </a:r>
            <a:r>
              <a:rPr lang="en-US" altLang="zh-CN" dirty="0">
                <a:latin typeface="+mj-lt"/>
              </a:rPr>
              <a:t>('off')</a:t>
            </a:r>
          </a:p>
          <a:p>
            <a:r>
              <a:rPr lang="en-US" altLang="zh-CN" dirty="0" err="1">
                <a:latin typeface="+mj-lt"/>
              </a:rPr>
              <a:t>plt.tight_layout</a:t>
            </a:r>
            <a:r>
              <a:rPr lang="en-US" altLang="zh-CN" dirty="0">
                <a:latin typeface="+mj-lt"/>
              </a:rPr>
              <a:t>()</a:t>
            </a:r>
          </a:p>
          <a:p>
            <a:r>
              <a:rPr lang="en-US" altLang="zh-CN" dirty="0" err="1">
                <a:latin typeface="+mj-lt"/>
              </a:rPr>
              <a:t>plt.show</a:t>
            </a:r>
            <a:r>
              <a:rPr lang="en-US" altLang="zh-CN" dirty="0">
                <a:latin typeface="+mj-lt"/>
              </a:rPr>
              <a:t>()</a:t>
            </a:r>
          </a:p>
        </p:txBody>
      </p:sp>
      <p:sp>
        <p:nvSpPr>
          <p:cNvPr id="4" name="文本框 3">
            <a:extLst>
              <a:ext uri="{FF2B5EF4-FFF2-40B4-BE49-F238E27FC236}">
                <a16:creationId xmlns:a16="http://schemas.microsoft.com/office/drawing/2014/main" id="{36EEF7D1-A3A0-3231-C3D9-463FB2E98651}"/>
              </a:ext>
            </a:extLst>
          </p:cNvPr>
          <p:cNvSpPr txBox="1"/>
          <p:nvPr/>
        </p:nvSpPr>
        <p:spPr>
          <a:xfrm>
            <a:off x="5562600" y="1071265"/>
            <a:ext cx="3810000" cy="1323439"/>
          </a:xfrm>
          <a:prstGeom prst="rect">
            <a:avLst/>
          </a:prstGeom>
          <a:noFill/>
        </p:spPr>
        <p:txBody>
          <a:bodyPr wrap="square">
            <a:spAutoFit/>
          </a:bodyPr>
          <a:lstStyle/>
          <a:p>
            <a:r>
              <a:rPr lang="zh-CN" altLang="en-US" sz="2000" b="1" dirty="0">
                <a:solidFill>
                  <a:schemeClr val="accent1"/>
                </a:solidFill>
              </a:rPr>
              <a:t>思考问题</a:t>
            </a:r>
          </a:p>
          <a:p>
            <a:pPr marL="342900" indent="-342900">
              <a:buFont typeface="Wingdings" panose="05000000000000000000" pitchFamily="2" charset="2"/>
              <a:buChar char="l"/>
            </a:pPr>
            <a:r>
              <a:rPr lang="zh-CN" altLang="en-US" sz="2000" b="1" dirty="0">
                <a:solidFill>
                  <a:schemeClr val="accent1"/>
                </a:solidFill>
              </a:rPr>
              <a:t>如何选择最优的</a:t>
            </a:r>
            <a:r>
              <a:rPr lang="en-US" altLang="zh-CN" sz="2000" b="1" dirty="0">
                <a:solidFill>
                  <a:schemeClr val="accent1"/>
                </a:solidFill>
              </a:rPr>
              <a:t>K</a:t>
            </a:r>
            <a:r>
              <a:rPr lang="zh-CN" altLang="en-US" sz="2000" b="1" dirty="0">
                <a:solidFill>
                  <a:schemeClr val="accent1"/>
                </a:solidFill>
              </a:rPr>
              <a:t>值？</a:t>
            </a:r>
          </a:p>
          <a:p>
            <a:pPr marL="342900" indent="-342900">
              <a:buFont typeface="Wingdings" panose="05000000000000000000" pitchFamily="2" charset="2"/>
              <a:buChar char="l"/>
            </a:pPr>
            <a:r>
              <a:rPr lang="zh-CN" altLang="en-US" sz="2000" b="1" dirty="0">
                <a:solidFill>
                  <a:schemeClr val="accent1"/>
                </a:solidFill>
              </a:rPr>
              <a:t>不同的距离度量（曼哈顿、欧氏）对结果有何影响？</a:t>
            </a:r>
          </a:p>
        </p:txBody>
      </p:sp>
    </p:spTree>
    <p:extLst>
      <p:ext uri="{BB962C8B-B14F-4D97-AF65-F5344CB8AC3E}">
        <p14:creationId xmlns:p14="http://schemas.microsoft.com/office/powerpoint/2010/main" val="1723049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8EB7F-3D0C-3296-8036-0A41F1BE71D0}"/>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6425EBF-DBF5-EFFE-1CDE-7ACF6138026E}"/>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代码实践</a:t>
            </a:r>
            <a:r>
              <a:rPr lang="en-US" altLang="zh-CN" dirty="0">
                <a:latin typeface="Times New Roman" panose="02020603050405020304" pitchFamily="18" charset="0"/>
                <a:ea typeface="楷体" panose="02010609060101010101" pitchFamily="49" charset="-122"/>
              </a:rPr>
              <a:t>8</a:t>
            </a:r>
            <a:r>
              <a:rPr lang="zh-CN" altLang="en-US" dirty="0">
                <a:latin typeface="Times New Roman" panose="02020603050405020304" pitchFamily="18" charset="0"/>
                <a:ea typeface="楷体" panose="02010609060101010101" pitchFamily="49" charset="-122"/>
              </a:rPr>
              <a:t>：决策树</a:t>
            </a:r>
          </a:p>
        </p:txBody>
      </p:sp>
      <p:sp>
        <p:nvSpPr>
          <p:cNvPr id="10" name="文本框 9">
            <a:extLst>
              <a:ext uri="{FF2B5EF4-FFF2-40B4-BE49-F238E27FC236}">
                <a16:creationId xmlns:a16="http://schemas.microsoft.com/office/drawing/2014/main" id="{31594BCC-827C-1FFD-7DE1-7F9F7AAE7773}"/>
              </a:ext>
            </a:extLst>
          </p:cNvPr>
          <p:cNvSpPr txBox="1"/>
          <p:nvPr/>
        </p:nvSpPr>
        <p:spPr>
          <a:xfrm>
            <a:off x="990600" y="664709"/>
            <a:ext cx="8153400" cy="461665"/>
          </a:xfrm>
          <a:prstGeom prst="rect">
            <a:avLst/>
          </a:prstGeom>
          <a:noFill/>
        </p:spPr>
        <p:txBody>
          <a:bodyPr wrap="square">
            <a:spAutoFit/>
          </a:bodyPr>
          <a:lstStyle/>
          <a:p>
            <a:pPr algn="ctr"/>
            <a:r>
              <a:rPr lang="zh-CN" altLang="en-US" sz="2400" b="1" dirty="0">
                <a:latin typeface="Times New Roman" panose="02020603050405020304" pitchFamily="18" charset="0"/>
              </a:rPr>
              <a:t>目标：理解决策树分裂规则与特征重要性，对红酒进行分类。</a:t>
            </a:r>
          </a:p>
        </p:txBody>
      </p:sp>
      <p:sp>
        <p:nvSpPr>
          <p:cNvPr id="13" name="文本框 12">
            <a:extLst>
              <a:ext uri="{FF2B5EF4-FFF2-40B4-BE49-F238E27FC236}">
                <a16:creationId xmlns:a16="http://schemas.microsoft.com/office/drawing/2014/main" id="{AF316402-36DB-D71E-AB9F-89731BF72248}"/>
              </a:ext>
            </a:extLst>
          </p:cNvPr>
          <p:cNvSpPr txBox="1"/>
          <p:nvPr/>
        </p:nvSpPr>
        <p:spPr>
          <a:xfrm>
            <a:off x="-13607" y="1139564"/>
            <a:ext cx="4863193" cy="5355312"/>
          </a:xfrm>
          <a:prstGeom prst="rect">
            <a:avLst/>
          </a:prstGeom>
          <a:noFill/>
        </p:spPr>
        <p:txBody>
          <a:bodyPr wrap="square">
            <a:spAutoFit/>
          </a:bodyPr>
          <a:lstStyle/>
          <a:p>
            <a:r>
              <a:rPr lang="en-US" altLang="zh-CN" dirty="0">
                <a:latin typeface="+mj-lt"/>
              </a:rPr>
              <a:t>from </a:t>
            </a:r>
            <a:r>
              <a:rPr lang="en-US" altLang="zh-CN" dirty="0" err="1">
                <a:latin typeface="+mj-lt"/>
              </a:rPr>
              <a:t>sklearn.datasets</a:t>
            </a:r>
            <a:r>
              <a:rPr lang="en-US" altLang="zh-CN" dirty="0">
                <a:latin typeface="+mj-lt"/>
              </a:rPr>
              <a:t> import </a:t>
            </a:r>
            <a:r>
              <a:rPr lang="en-US" altLang="zh-CN" dirty="0" err="1">
                <a:latin typeface="+mj-lt"/>
              </a:rPr>
              <a:t>load_wine</a:t>
            </a:r>
            <a:endParaRPr lang="en-US" altLang="zh-CN" dirty="0">
              <a:latin typeface="+mj-lt"/>
            </a:endParaRPr>
          </a:p>
          <a:p>
            <a:r>
              <a:rPr lang="en-US" altLang="zh-CN" dirty="0">
                <a:latin typeface="+mj-lt"/>
              </a:rPr>
              <a:t>from </a:t>
            </a:r>
            <a:r>
              <a:rPr lang="en-US" altLang="zh-CN" dirty="0" err="1">
                <a:latin typeface="+mj-lt"/>
              </a:rPr>
              <a:t>sklearn.tree</a:t>
            </a:r>
            <a:r>
              <a:rPr lang="en-US" altLang="zh-CN" dirty="0">
                <a:latin typeface="+mj-lt"/>
              </a:rPr>
              <a:t> import </a:t>
            </a:r>
            <a:r>
              <a:rPr lang="en-US" altLang="zh-CN" dirty="0" err="1">
                <a:latin typeface="+mj-lt"/>
              </a:rPr>
              <a:t>DecisionTreeClassifier</a:t>
            </a:r>
            <a:r>
              <a:rPr lang="en-US" altLang="zh-CN" dirty="0">
                <a:latin typeface="+mj-lt"/>
              </a:rPr>
              <a:t>, </a:t>
            </a:r>
            <a:r>
              <a:rPr lang="en-US" altLang="zh-CN" dirty="0" err="1">
                <a:latin typeface="+mj-lt"/>
              </a:rPr>
              <a:t>plot_tree</a:t>
            </a:r>
            <a:endParaRPr lang="en-US" altLang="zh-CN" dirty="0">
              <a:latin typeface="+mj-lt"/>
            </a:endParaRPr>
          </a:p>
          <a:p>
            <a:r>
              <a:rPr lang="en-US" altLang="zh-CN" dirty="0">
                <a:latin typeface="+mj-lt"/>
              </a:rPr>
              <a:t>from </a:t>
            </a:r>
            <a:r>
              <a:rPr lang="en-US" altLang="zh-CN" dirty="0" err="1">
                <a:latin typeface="+mj-lt"/>
              </a:rPr>
              <a:t>sklearn.metrics</a:t>
            </a:r>
            <a:r>
              <a:rPr lang="en-US" altLang="zh-CN" dirty="0">
                <a:latin typeface="+mj-lt"/>
              </a:rPr>
              <a:t> import </a:t>
            </a:r>
            <a:r>
              <a:rPr lang="en-US" altLang="zh-CN" dirty="0" err="1">
                <a:latin typeface="+mj-lt"/>
              </a:rPr>
              <a:t>classification_report</a:t>
            </a:r>
            <a:endParaRPr lang="en-US" altLang="zh-CN" dirty="0">
              <a:latin typeface="+mj-lt"/>
            </a:endParaRPr>
          </a:p>
          <a:p>
            <a:r>
              <a:rPr lang="en-US" altLang="zh-CN" dirty="0">
                <a:latin typeface="+mj-lt"/>
              </a:rPr>
              <a:t>from </a:t>
            </a:r>
            <a:r>
              <a:rPr lang="en-US" altLang="zh-CN" dirty="0" err="1">
                <a:latin typeface="+mj-lt"/>
              </a:rPr>
              <a:t>sklearn.model_selection</a:t>
            </a:r>
            <a:r>
              <a:rPr lang="en-US" altLang="zh-CN" dirty="0">
                <a:latin typeface="+mj-lt"/>
              </a:rPr>
              <a:t> import </a:t>
            </a:r>
            <a:r>
              <a:rPr lang="en-US" altLang="zh-CN" dirty="0" err="1">
                <a:latin typeface="+mj-lt"/>
              </a:rPr>
              <a:t>train_test_split</a:t>
            </a:r>
            <a:endParaRPr lang="en-US" altLang="zh-CN" dirty="0">
              <a:latin typeface="+mj-lt"/>
            </a:endParaRPr>
          </a:p>
          <a:p>
            <a:r>
              <a:rPr lang="en-US" altLang="zh-CN" dirty="0">
                <a:latin typeface="+mj-lt"/>
              </a:rPr>
              <a:t>import </a:t>
            </a:r>
            <a:r>
              <a:rPr lang="en-US" altLang="zh-CN" dirty="0" err="1">
                <a:latin typeface="+mj-lt"/>
              </a:rPr>
              <a:t>matplotlib.pyplot</a:t>
            </a:r>
            <a:r>
              <a:rPr lang="en-US" altLang="zh-CN" dirty="0">
                <a:latin typeface="+mj-lt"/>
              </a:rPr>
              <a:t> as </a:t>
            </a:r>
            <a:r>
              <a:rPr lang="en-US" altLang="zh-CN" dirty="0" err="1">
                <a:latin typeface="+mj-lt"/>
              </a:rPr>
              <a:t>plt</a:t>
            </a:r>
            <a:endParaRPr lang="en-US" altLang="zh-CN" dirty="0">
              <a:latin typeface="+mj-lt"/>
            </a:endParaRPr>
          </a:p>
          <a:p>
            <a:endParaRPr lang="en-US" altLang="zh-CN" dirty="0">
              <a:latin typeface="+mj-lt"/>
            </a:endParaRPr>
          </a:p>
          <a:p>
            <a:r>
              <a:rPr lang="en-US" altLang="zh-CN" dirty="0">
                <a:latin typeface="+mj-lt"/>
              </a:rPr>
              <a:t># </a:t>
            </a:r>
            <a:r>
              <a:rPr lang="zh-CN" altLang="en-US" dirty="0">
                <a:latin typeface="+mj-lt"/>
              </a:rPr>
              <a:t>加载数据</a:t>
            </a:r>
          </a:p>
          <a:p>
            <a:r>
              <a:rPr lang="en-US" altLang="zh-CN" dirty="0">
                <a:latin typeface="+mj-lt"/>
              </a:rPr>
              <a:t>wine = </a:t>
            </a:r>
            <a:r>
              <a:rPr lang="en-US" altLang="zh-CN" dirty="0" err="1">
                <a:latin typeface="+mj-lt"/>
              </a:rPr>
              <a:t>load_wine</a:t>
            </a:r>
            <a:r>
              <a:rPr lang="en-US" altLang="zh-CN" dirty="0">
                <a:latin typeface="+mj-lt"/>
              </a:rPr>
              <a:t>()</a:t>
            </a:r>
          </a:p>
          <a:p>
            <a:r>
              <a:rPr lang="en-US" altLang="zh-CN" dirty="0" err="1">
                <a:latin typeface="+mj-lt"/>
              </a:rPr>
              <a:t>X_train</a:t>
            </a:r>
            <a:r>
              <a:rPr lang="en-US" altLang="zh-CN" dirty="0">
                <a:latin typeface="+mj-lt"/>
              </a:rPr>
              <a:t>, </a:t>
            </a:r>
            <a:r>
              <a:rPr lang="en-US" altLang="zh-CN" dirty="0" err="1">
                <a:latin typeface="+mj-lt"/>
              </a:rPr>
              <a:t>X_test</a:t>
            </a:r>
            <a:r>
              <a:rPr lang="en-US" altLang="zh-CN" dirty="0">
                <a:latin typeface="+mj-lt"/>
              </a:rPr>
              <a:t>, </a:t>
            </a:r>
            <a:r>
              <a:rPr lang="en-US" altLang="zh-CN" dirty="0" err="1">
                <a:latin typeface="+mj-lt"/>
              </a:rPr>
              <a:t>y_train</a:t>
            </a:r>
            <a:r>
              <a:rPr lang="en-US" altLang="zh-CN" dirty="0">
                <a:latin typeface="+mj-lt"/>
              </a:rPr>
              <a:t>, </a:t>
            </a:r>
            <a:r>
              <a:rPr lang="en-US" altLang="zh-CN" dirty="0" err="1">
                <a:latin typeface="+mj-lt"/>
              </a:rPr>
              <a:t>y_test</a:t>
            </a:r>
            <a:r>
              <a:rPr lang="en-US" altLang="zh-CN" dirty="0">
                <a:latin typeface="+mj-lt"/>
              </a:rPr>
              <a:t> = </a:t>
            </a:r>
            <a:r>
              <a:rPr lang="en-US" altLang="zh-CN" dirty="0" err="1">
                <a:latin typeface="+mj-lt"/>
              </a:rPr>
              <a:t>train_test_split</a:t>
            </a:r>
            <a:r>
              <a:rPr lang="en-US" altLang="zh-CN" dirty="0">
                <a:latin typeface="+mj-lt"/>
              </a:rPr>
              <a:t>(</a:t>
            </a:r>
            <a:r>
              <a:rPr lang="en-US" altLang="zh-CN" dirty="0" err="1">
                <a:latin typeface="+mj-lt"/>
              </a:rPr>
              <a:t>wine.data</a:t>
            </a:r>
            <a:r>
              <a:rPr lang="en-US" altLang="zh-CN" dirty="0">
                <a:latin typeface="+mj-lt"/>
              </a:rPr>
              <a:t>, </a:t>
            </a:r>
            <a:r>
              <a:rPr lang="en-US" altLang="zh-CN" dirty="0" err="1">
                <a:latin typeface="+mj-lt"/>
              </a:rPr>
              <a:t>wine.target</a:t>
            </a:r>
            <a:r>
              <a:rPr lang="en-US" altLang="zh-CN" dirty="0">
                <a:latin typeface="+mj-lt"/>
              </a:rPr>
              <a:t>, </a:t>
            </a:r>
            <a:r>
              <a:rPr lang="en-US" altLang="zh-CN" dirty="0" err="1">
                <a:latin typeface="+mj-lt"/>
              </a:rPr>
              <a:t>test_size</a:t>
            </a:r>
            <a:r>
              <a:rPr lang="en-US" altLang="zh-CN" dirty="0">
                <a:latin typeface="+mj-lt"/>
              </a:rPr>
              <a:t>=0.2)</a:t>
            </a:r>
          </a:p>
          <a:p>
            <a:endParaRPr lang="en-US" altLang="zh-CN" dirty="0">
              <a:latin typeface="+mj-lt"/>
            </a:endParaRPr>
          </a:p>
          <a:p>
            <a:r>
              <a:rPr lang="en-US" altLang="zh-CN" dirty="0">
                <a:latin typeface="+mj-lt"/>
              </a:rPr>
              <a:t># </a:t>
            </a:r>
            <a:r>
              <a:rPr lang="zh-CN" altLang="en-US" dirty="0">
                <a:latin typeface="+mj-lt"/>
              </a:rPr>
              <a:t>训练模型</a:t>
            </a:r>
          </a:p>
          <a:p>
            <a:r>
              <a:rPr lang="en-US" altLang="zh-CN" dirty="0">
                <a:latin typeface="+mj-lt"/>
              </a:rPr>
              <a:t>tree = </a:t>
            </a:r>
            <a:r>
              <a:rPr lang="en-US" altLang="zh-CN" dirty="0" err="1">
                <a:latin typeface="+mj-lt"/>
              </a:rPr>
              <a:t>DecisionTreeClassifier</a:t>
            </a:r>
            <a:r>
              <a:rPr lang="en-US" altLang="zh-CN" dirty="0">
                <a:latin typeface="+mj-lt"/>
              </a:rPr>
              <a:t>(</a:t>
            </a:r>
            <a:r>
              <a:rPr lang="en-US" altLang="zh-CN" dirty="0" err="1">
                <a:latin typeface="+mj-lt"/>
              </a:rPr>
              <a:t>max_depth</a:t>
            </a:r>
            <a:r>
              <a:rPr lang="en-US" altLang="zh-CN" dirty="0">
                <a:latin typeface="+mj-lt"/>
              </a:rPr>
              <a:t>=3, </a:t>
            </a:r>
            <a:r>
              <a:rPr lang="en-US" altLang="zh-CN" dirty="0" err="1">
                <a:latin typeface="+mj-lt"/>
              </a:rPr>
              <a:t>random_state</a:t>
            </a:r>
            <a:r>
              <a:rPr lang="en-US" altLang="zh-CN" dirty="0">
                <a:latin typeface="+mj-lt"/>
              </a:rPr>
              <a:t>=42)</a:t>
            </a:r>
          </a:p>
          <a:p>
            <a:r>
              <a:rPr lang="en-US" altLang="zh-CN" dirty="0" err="1">
                <a:latin typeface="+mj-lt"/>
              </a:rPr>
              <a:t>tree.fit</a:t>
            </a:r>
            <a:r>
              <a:rPr lang="en-US" altLang="zh-CN" dirty="0">
                <a:latin typeface="+mj-lt"/>
              </a:rPr>
              <a:t>(</a:t>
            </a:r>
            <a:r>
              <a:rPr lang="en-US" altLang="zh-CN" dirty="0" err="1">
                <a:latin typeface="+mj-lt"/>
              </a:rPr>
              <a:t>X_train</a:t>
            </a:r>
            <a:r>
              <a:rPr lang="en-US" altLang="zh-CN" dirty="0">
                <a:latin typeface="+mj-lt"/>
              </a:rPr>
              <a:t>, </a:t>
            </a:r>
            <a:r>
              <a:rPr lang="en-US" altLang="zh-CN" dirty="0" err="1">
                <a:latin typeface="+mj-lt"/>
              </a:rPr>
              <a:t>y_train</a:t>
            </a:r>
            <a:r>
              <a:rPr lang="en-US" altLang="zh-CN" dirty="0">
                <a:latin typeface="+mj-lt"/>
              </a:rPr>
              <a:t>)</a:t>
            </a:r>
          </a:p>
          <a:p>
            <a:endParaRPr lang="en-US" altLang="zh-CN" dirty="0">
              <a:latin typeface="+mj-lt"/>
            </a:endParaRPr>
          </a:p>
        </p:txBody>
      </p:sp>
      <p:sp>
        <p:nvSpPr>
          <p:cNvPr id="5" name="文本框 4">
            <a:extLst>
              <a:ext uri="{FF2B5EF4-FFF2-40B4-BE49-F238E27FC236}">
                <a16:creationId xmlns:a16="http://schemas.microsoft.com/office/drawing/2014/main" id="{42BD6F36-4E35-A198-72F0-6640ECF6C54F}"/>
              </a:ext>
            </a:extLst>
          </p:cNvPr>
          <p:cNvSpPr txBox="1"/>
          <p:nvPr/>
        </p:nvSpPr>
        <p:spPr>
          <a:xfrm>
            <a:off x="4495800" y="2209800"/>
            <a:ext cx="4661807" cy="4247317"/>
          </a:xfrm>
          <a:prstGeom prst="rect">
            <a:avLst/>
          </a:prstGeom>
          <a:noFill/>
        </p:spPr>
        <p:txBody>
          <a:bodyPr wrap="square">
            <a:spAutoFit/>
          </a:bodyPr>
          <a:lstStyle/>
          <a:p>
            <a:r>
              <a:rPr lang="en-US" altLang="zh-CN" dirty="0">
                <a:latin typeface="+mj-lt"/>
              </a:rPr>
              <a:t># </a:t>
            </a:r>
            <a:r>
              <a:rPr lang="zh-CN" altLang="en-US" dirty="0">
                <a:latin typeface="+mj-lt"/>
              </a:rPr>
              <a:t>可视化决策树</a:t>
            </a:r>
          </a:p>
          <a:p>
            <a:r>
              <a:rPr lang="en-US" altLang="zh-CN" dirty="0" err="1">
                <a:latin typeface="+mj-lt"/>
              </a:rPr>
              <a:t>plt.figure</a:t>
            </a:r>
            <a:r>
              <a:rPr lang="en-US" altLang="zh-CN" dirty="0">
                <a:latin typeface="+mj-lt"/>
              </a:rPr>
              <a:t>(</a:t>
            </a:r>
            <a:r>
              <a:rPr lang="en-US" altLang="zh-CN" dirty="0" err="1">
                <a:latin typeface="+mj-lt"/>
              </a:rPr>
              <a:t>figsize</a:t>
            </a:r>
            <a:r>
              <a:rPr lang="en-US" altLang="zh-CN" dirty="0">
                <a:latin typeface="+mj-lt"/>
              </a:rPr>
              <a:t>=(15,10))</a:t>
            </a:r>
          </a:p>
          <a:p>
            <a:r>
              <a:rPr lang="en-US" altLang="zh-CN" dirty="0" err="1">
                <a:latin typeface="+mj-lt"/>
              </a:rPr>
              <a:t>plot_tree</a:t>
            </a:r>
            <a:r>
              <a:rPr lang="en-US" altLang="zh-CN" dirty="0">
                <a:latin typeface="+mj-lt"/>
              </a:rPr>
              <a:t>(tree, </a:t>
            </a:r>
          </a:p>
          <a:p>
            <a:r>
              <a:rPr lang="en-US" altLang="zh-CN" dirty="0">
                <a:latin typeface="+mj-lt"/>
              </a:rPr>
              <a:t>         </a:t>
            </a:r>
            <a:r>
              <a:rPr lang="en-US" altLang="zh-CN" dirty="0" err="1">
                <a:latin typeface="+mj-lt"/>
              </a:rPr>
              <a:t>feature_names</a:t>
            </a:r>
            <a:r>
              <a:rPr lang="en-US" altLang="zh-CN" dirty="0">
                <a:latin typeface="+mj-lt"/>
              </a:rPr>
              <a:t>=</a:t>
            </a:r>
            <a:r>
              <a:rPr lang="en-US" altLang="zh-CN" dirty="0" err="1">
                <a:latin typeface="+mj-lt"/>
              </a:rPr>
              <a:t>wine.feature_names</a:t>
            </a:r>
            <a:r>
              <a:rPr lang="en-US" altLang="zh-CN" dirty="0">
                <a:latin typeface="+mj-lt"/>
              </a:rPr>
              <a:t>,</a:t>
            </a:r>
          </a:p>
          <a:p>
            <a:r>
              <a:rPr lang="en-US" altLang="zh-CN" dirty="0">
                <a:latin typeface="+mj-lt"/>
              </a:rPr>
              <a:t>         </a:t>
            </a:r>
            <a:r>
              <a:rPr lang="en-US" altLang="zh-CN" dirty="0" err="1">
                <a:latin typeface="+mj-lt"/>
              </a:rPr>
              <a:t>class_names</a:t>
            </a:r>
            <a:r>
              <a:rPr lang="en-US" altLang="zh-CN" dirty="0">
                <a:latin typeface="+mj-lt"/>
              </a:rPr>
              <a:t>=</a:t>
            </a:r>
            <a:r>
              <a:rPr lang="en-US" altLang="zh-CN" dirty="0" err="1">
                <a:latin typeface="+mj-lt"/>
              </a:rPr>
              <a:t>wine.target_names</a:t>
            </a:r>
            <a:r>
              <a:rPr lang="en-US" altLang="zh-CN" dirty="0">
                <a:latin typeface="+mj-lt"/>
              </a:rPr>
              <a:t>,</a:t>
            </a:r>
          </a:p>
          <a:p>
            <a:r>
              <a:rPr lang="en-US" altLang="zh-CN" dirty="0">
                <a:latin typeface="+mj-lt"/>
              </a:rPr>
              <a:t>         filled=True)</a:t>
            </a:r>
          </a:p>
          <a:p>
            <a:r>
              <a:rPr lang="en-US" altLang="zh-CN" dirty="0" err="1">
                <a:latin typeface="+mj-lt"/>
              </a:rPr>
              <a:t>plt.show</a:t>
            </a:r>
            <a:r>
              <a:rPr lang="en-US" altLang="zh-CN" dirty="0">
                <a:latin typeface="+mj-lt"/>
              </a:rPr>
              <a:t>()</a:t>
            </a:r>
          </a:p>
          <a:p>
            <a:endParaRPr lang="en-US" altLang="zh-CN" dirty="0">
              <a:latin typeface="+mj-lt"/>
            </a:endParaRPr>
          </a:p>
          <a:p>
            <a:r>
              <a:rPr lang="en-US" altLang="zh-CN" dirty="0">
                <a:latin typeface="+mj-lt"/>
              </a:rPr>
              <a:t># </a:t>
            </a:r>
            <a:r>
              <a:rPr lang="zh-CN" altLang="en-US" dirty="0">
                <a:latin typeface="+mj-lt"/>
              </a:rPr>
              <a:t>评估模型</a:t>
            </a:r>
          </a:p>
          <a:p>
            <a:r>
              <a:rPr lang="en-US" altLang="zh-CN" dirty="0">
                <a:latin typeface="+mj-lt"/>
              </a:rPr>
              <a:t>print(</a:t>
            </a:r>
            <a:r>
              <a:rPr lang="en-US" altLang="zh-CN" dirty="0" err="1">
                <a:latin typeface="+mj-lt"/>
              </a:rPr>
              <a:t>classification_report</a:t>
            </a:r>
            <a:r>
              <a:rPr lang="en-US" altLang="zh-CN" dirty="0">
                <a:latin typeface="+mj-lt"/>
              </a:rPr>
              <a:t>(</a:t>
            </a:r>
            <a:r>
              <a:rPr lang="en-US" altLang="zh-CN" dirty="0" err="1">
                <a:latin typeface="+mj-lt"/>
              </a:rPr>
              <a:t>y_test</a:t>
            </a:r>
            <a:r>
              <a:rPr lang="en-US" altLang="zh-CN" dirty="0">
                <a:latin typeface="+mj-lt"/>
              </a:rPr>
              <a:t>, </a:t>
            </a:r>
            <a:r>
              <a:rPr lang="en-US" altLang="zh-CN" dirty="0" err="1">
                <a:latin typeface="+mj-lt"/>
              </a:rPr>
              <a:t>tree.predict</a:t>
            </a:r>
            <a:r>
              <a:rPr lang="en-US" altLang="zh-CN" dirty="0">
                <a:latin typeface="+mj-lt"/>
              </a:rPr>
              <a:t>(</a:t>
            </a:r>
            <a:r>
              <a:rPr lang="en-US" altLang="zh-CN" dirty="0" err="1">
                <a:latin typeface="+mj-lt"/>
              </a:rPr>
              <a:t>X_test</a:t>
            </a:r>
            <a:r>
              <a:rPr lang="en-US" altLang="zh-CN" dirty="0">
                <a:latin typeface="+mj-lt"/>
              </a:rPr>
              <a:t>)))</a:t>
            </a:r>
          </a:p>
          <a:p>
            <a:r>
              <a:rPr lang="en-US" altLang="zh-CN" dirty="0">
                <a:latin typeface="+mj-lt"/>
              </a:rPr>
              <a:t>print("</a:t>
            </a:r>
            <a:r>
              <a:rPr lang="zh-CN" altLang="en-US" dirty="0">
                <a:latin typeface="+mj-lt"/>
              </a:rPr>
              <a:t>特征重要性：</a:t>
            </a:r>
            <a:r>
              <a:rPr lang="en-US" altLang="zh-CN" dirty="0">
                <a:latin typeface="+mj-lt"/>
              </a:rPr>
              <a:t>")</a:t>
            </a:r>
          </a:p>
          <a:p>
            <a:r>
              <a:rPr lang="en-US" altLang="zh-CN" dirty="0">
                <a:latin typeface="+mj-lt"/>
              </a:rPr>
              <a:t>for name, importance in zip(</a:t>
            </a:r>
            <a:r>
              <a:rPr lang="en-US" altLang="zh-CN" dirty="0" err="1">
                <a:latin typeface="+mj-lt"/>
              </a:rPr>
              <a:t>wine.feature_names</a:t>
            </a:r>
            <a:r>
              <a:rPr lang="en-US" altLang="zh-CN" dirty="0">
                <a:latin typeface="+mj-lt"/>
              </a:rPr>
              <a:t>, </a:t>
            </a:r>
            <a:r>
              <a:rPr lang="en-US" altLang="zh-CN" dirty="0" err="1">
                <a:latin typeface="+mj-lt"/>
              </a:rPr>
              <a:t>tree.feature_importances</a:t>
            </a:r>
            <a:r>
              <a:rPr lang="en-US" altLang="zh-CN" dirty="0">
                <a:latin typeface="+mj-lt"/>
              </a:rPr>
              <a:t>_):</a:t>
            </a:r>
          </a:p>
          <a:p>
            <a:r>
              <a:rPr lang="en-US" altLang="zh-CN" dirty="0">
                <a:latin typeface="+mj-lt"/>
              </a:rPr>
              <a:t>    print(f"{name}: {importance:.3f}")</a:t>
            </a:r>
          </a:p>
        </p:txBody>
      </p:sp>
      <p:sp>
        <p:nvSpPr>
          <p:cNvPr id="8" name="文本框 7">
            <a:extLst>
              <a:ext uri="{FF2B5EF4-FFF2-40B4-BE49-F238E27FC236}">
                <a16:creationId xmlns:a16="http://schemas.microsoft.com/office/drawing/2014/main" id="{3E7FDDCD-6010-85D3-28CA-A769E762FF03}"/>
              </a:ext>
            </a:extLst>
          </p:cNvPr>
          <p:cNvSpPr txBox="1"/>
          <p:nvPr/>
        </p:nvSpPr>
        <p:spPr>
          <a:xfrm>
            <a:off x="4849586" y="1100138"/>
            <a:ext cx="4142014" cy="1015663"/>
          </a:xfrm>
          <a:prstGeom prst="rect">
            <a:avLst/>
          </a:prstGeom>
          <a:noFill/>
        </p:spPr>
        <p:txBody>
          <a:bodyPr wrap="square">
            <a:spAutoFit/>
          </a:bodyPr>
          <a:lstStyle/>
          <a:p>
            <a:r>
              <a:rPr lang="zh-CN" altLang="en-US" sz="2000" b="1" dirty="0">
                <a:solidFill>
                  <a:schemeClr val="accent1"/>
                </a:solidFill>
              </a:rPr>
              <a:t>思考：</a:t>
            </a:r>
          </a:p>
          <a:p>
            <a:pPr marL="342900" indent="-342900">
              <a:buFont typeface="Wingdings" panose="05000000000000000000" pitchFamily="2" charset="2"/>
              <a:buChar char="l"/>
            </a:pPr>
            <a:r>
              <a:rPr lang="zh-CN" altLang="en-US" sz="2000" b="1" dirty="0">
                <a:solidFill>
                  <a:schemeClr val="accent1"/>
                </a:solidFill>
              </a:rPr>
              <a:t>如何防止决策树过拟合？</a:t>
            </a:r>
            <a:endParaRPr lang="en-US" altLang="zh-CN" sz="2000" b="1" dirty="0">
              <a:solidFill>
                <a:schemeClr val="accent1"/>
              </a:solidFill>
            </a:endParaRPr>
          </a:p>
          <a:p>
            <a:pPr marL="342900" indent="-342900">
              <a:buFont typeface="Wingdings" panose="05000000000000000000" pitchFamily="2" charset="2"/>
              <a:buChar char="l"/>
            </a:pPr>
            <a:r>
              <a:rPr lang="zh-CN" altLang="en-US" sz="2000" b="1" dirty="0">
                <a:solidFill>
                  <a:schemeClr val="accent1"/>
                </a:solidFill>
              </a:rPr>
              <a:t>特征重要性计算原理是什么？</a:t>
            </a:r>
          </a:p>
        </p:txBody>
      </p:sp>
    </p:spTree>
    <p:extLst>
      <p:ext uri="{BB962C8B-B14F-4D97-AF65-F5344CB8AC3E}">
        <p14:creationId xmlns:p14="http://schemas.microsoft.com/office/powerpoint/2010/main" val="30974129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70A93-997F-B50E-8E6B-50F61089C0EC}"/>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570222F-3871-AC78-9550-B49AB098BBD4}"/>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其他算法练习</a:t>
            </a:r>
          </a:p>
        </p:txBody>
      </p:sp>
      <p:pic>
        <p:nvPicPr>
          <p:cNvPr id="2" name="图片 1">
            <a:extLst>
              <a:ext uri="{FF2B5EF4-FFF2-40B4-BE49-F238E27FC236}">
                <a16:creationId xmlns:a16="http://schemas.microsoft.com/office/drawing/2014/main" id="{AA3DF947-2361-7E58-9735-AFA1BAC7053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209800" y="1219200"/>
            <a:ext cx="4284594" cy="4818859"/>
          </a:xfrm>
          <a:prstGeom prst="rect">
            <a:avLst/>
          </a:prstGeom>
        </p:spPr>
      </p:pic>
    </p:spTree>
    <p:extLst>
      <p:ext uri="{BB962C8B-B14F-4D97-AF65-F5344CB8AC3E}">
        <p14:creationId xmlns:p14="http://schemas.microsoft.com/office/powerpoint/2010/main" val="1803565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0E4E5-B418-A786-2B18-3AD0CDD59F9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D76FA86-C50F-662C-88DF-A3EC51375500}"/>
              </a:ext>
            </a:extLst>
          </p:cNvPr>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rPr>
              <a:t>完整项目实现：人脸识别</a:t>
            </a:r>
          </a:p>
        </p:txBody>
      </p:sp>
      <p:pic>
        <p:nvPicPr>
          <p:cNvPr id="3" name="图片 2">
            <a:extLst>
              <a:ext uri="{FF2B5EF4-FFF2-40B4-BE49-F238E27FC236}">
                <a16:creationId xmlns:a16="http://schemas.microsoft.com/office/drawing/2014/main" id="{CAEF9BCC-FAA8-90B8-1FFC-62613C242568}"/>
              </a:ext>
            </a:extLst>
          </p:cNvPr>
          <p:cNvPicPr>
            <a:picLocks noChangeAspect="1"/>
          </p:cNvPicPr>
          <p:nvPr/>
        </p:nvPicPr>
        <p:blipFill>
          <a:blip r:embed="rId3"/>
          <a:stretch>
            <a:fillRect/>
          </a:stretch>
        </p:blipFill>
        <p:spPr>
          <a:xfrm>
            <a:off x="1676400" y="685800"/>
            <a:ext cx="6018028" cy="5764794"/>
          </a:xfrm>
          <a:prstGeom prst="rect">
            <a:avLst/>
          </a:prstGeom>
        </p:spPr>
      </p:pic>
    </p:spTree>
    <p:extLst>
      <p:ext uri="{BB962C8B-B14F-4D97-AF65-F5344CB8AC3E}">
        <p14:creationId xmlns:p14="http://schemas.microsoft.com/office/powerpoint/2010/main" val="4224529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76701" y="1331119"/>
            <a:ext cx="8590598" cy="4030504"/>
          </a:xfrm>
          <a:prstGeom prst="rect">
            <a:avLst/>
          </a:prstGeom>
          <a:solidFill>
            <a:schemeClr val="bg1">
              <a:lumMod val="9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1453039" y="2510314"/>
            <a:ext cx="6236494" cy="1107996"/>
          </a:xfrm>
          <a:prstGeom prst="rect">
            <a:avLst/>
          </a:prstGeom>
          <a:noFill/>
          <a:effectLst/>
        </p:spPr>
        <p:txBody>
          <a:bodyPr wrap="square" rtlCol="0">
            <a:spAutoFit/>
          </a:bodyPr>
          <a:lstStyle/>
          <a:p>
            <a:pPr algn="ctr"/>
            <a:r>
              <a:rPr lang="en-US" altLang="zh-CN" sz="6600" b="1" dirty="0">
                <a:solidFill>
                  <a:schemeClr val="tx1">
                    <a:lumMod val="75000"/>
                    <a:lumOff val="25000"/>
                  </a:schemeClr>
                </a:solidFill>
                <a:cs typeface="+mn-ea"/>
                <a:sym typeface="+mn-lt"/>
              </a:rPr>
              <a:t>THANK YOU</a:t>
            </a:r>
          </a:p>
        </p:txBody>
      </p:sp>
      <p:cxnSp>
        <p:nvCxnSpPr>
          <p:cNvPr id="11" name="直接连接符 10"/>
          <p:cNvCxnSpPr/>
          <p:nvPr/>
        </p:nvCxnSpPr>
        <p:spPr>
          <a:xfrm>
            <a:off x="276702" y="3052286"/>
            <a:ext cx="1273016" cy="0"/>
          </a:xfrm>
          <a:prstGeom prst="line">
            <a:avLst/>
          </a:prstGeom>
          <a:ln w="254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594283" y="3052286"/>
            <a:ext cx="1273016" cy="0"/>
          </a:xfrm>
          <a:prstGeom prst="line">
            <a:avLst/>
          </a:prstGeom>
          <a:ln w="254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4542949" y="1331119"/>
            <a:ext cx="57150" cy="33337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500"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anim calcmode="lin" valueType="num">
                                      <p:cBhvr>
                                        <p:cTn id="12" dur="500" fill="hold"/>
                                        <p:tgtEl>
                                          <p:spTgt spid="14"/>
                                        </p:tgtEl>
                                        <p:attrNameLst>
                                          <p:attrName>ppt_x</p:attrName>
                                        </p:attrNameLst>
                                      </p:cBhvr>
                                      <p:tavLst>
                                        <p:tav tm="0">
                                          <p:val>
                                            <p:strVal val="#ppt_x"/>
                                          </p:val>
                                        </p:tav>
                                        <p:tav tm="100000">
                                          <p:val>
                                            <p:strVal val="#ppt_x"/>
                                          </p:val>
                                        </p:tav>
                                      </p:tavLst>
                                    </p:anim>
                                    <p:anim calcmode="lin" valueType="num">
                                      <p:cBhvr>
                                        <p:cTn id="13" dur="500" fill="hold"/>
                                        <p:tgtEl>
                                          <p:spTgt spid="14"/>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0-#ppt_w/2"/>
                                          </p:val>
                                        </p:tav>
                                        <p:tav tm="100000">
                                          <p:val>
                                            <p:strVal val="#ppt_x"/>
                                          </p:val>
                                        </p:tav>
                                      </p:tavLst>
                                    </p:anim>
                                    <p:anim calcmode="lin" valueType="num">
                                      <p:cBhvr additive="base">
                                        <p:cTn id="18" dur="500" fill="hold"/>
                                        <p:tgtEl>
                                          <p:spTgt spid="23"/>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par>
                                <p:cTn id="23" presetID="22" presetClass="entr" presetSubtype="2"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23" grpId="0" bldLvl="0" animBg="1"/>
      <p:bldP spid="14"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教学PPT字体">
      <a:majorFont>
        <a:latin typeface="Times New Roman"/>
        <a:ea typeface="楷体"/>
        <a:cs typeface=""/>
      </a:majorFont>
      <a:minorFont>
        <a:latin typeface="Times New Roman"/>
        <a:ea typeface="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8467</Words>
  <Application>Microsoft Office PowerPoint</Application>
  <PresentationFormat>全屏显示(4:3)</PresentationFormat>
  <Paragraphs>807</Paragraphs>
  <Slides>39</Slides>
  <Notes>38</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0</vt:i4>
      </vt:variant>
      <vt:variant>
        <vt:lpstr>幻灯片标题</vt:lpstr>
      </vt:variant>
      <vt:variant>
        <vt:i4>39</vt:i4>
      </vt:variant>
    </vt:vector>
  </HeadingPairs>
  <TitlesOfParts>
    <vt:vector size="60" baseType="lpstr">
      <vt:lpstr>-apple-system</vt:lpstr>
      <vt:lpstr>Helvetica Neue</vt:lpstr>
      <vt:lpstr>inherit</vt:lpstr>
      <vt:lpstr>Microsoft JhengHei Light</vt:lpstr>
      <vt:lpstr>Optima-Regular</vt:lpstr>
      <vt:lpstr>黑体</vt:lpstr>
      <vt:lpstr>楷体</vt:lpstr>
      <vt:lpstr>楷体_GB2312</vt:lpstr>
      <vt:lpstr>宋体</vt:lpstr>
      <vt:lpstr>微软雅黑</vt:lpstr>
      <vt:lpstr>Arial</vt:lpstr>
      <vt:lpstr>Calibri</vt:lpstr>
      <vt:lpstr>Cambria</vt:lpstr>
      <vt:lpstr>Cambria Math</vt:lpstr>
      <vt:lpstr>Consolas</vt:lpstr>
      <vt:lpstr>Open Sans</vt:lpstr>
      <vt:lpstr>PT Sans</vt:lpstr>
      <vt:lpstr>Tahoma</vt:lpstr>
      <vt:lpstr>Times New Roman</vt:lpstr>
      <vt:lpstr>Wingdings</vt:lpstr>
      <vt:lpstr>Office 主题​​</vt:lpstr>
      <vt:lpstr>PowerPoint 演示文稿</vt:lpstr>
      <vt:lpstr>目 录</vt:lpstr>
      <vt:lpstr>机器学习概念——基础类型</vt:lpstr>
      <vt:lpstr>目 录</vt:lpstr>
      <vt:lpstr>Python环境搭建与编程工具</vt:lpstr>
      <vt:lpstr>Python环境搭建与编程工具</vt:lpstr>
      <vt:lpstr>Python语言基础以及第三方库</vt:lpstr>
      <vt:lpstr>Scikit-learn库</vt:lpstr>
      <vt:lpstr>代码实践1：NumPy向量运算</vt:lpstr>
      <vt:lpstr>代码实践2： pandas数据处理</vt:lpstr>
      <vt:lpstr>代码实践3： Matplotlib绘图</vt:lpstr>
      <vt:lpstr>目 录</vt:lpstr>
      <vt:lpstr>机器学习的一般步骤</vt:lpstr>
      <vt:lpstr>机器学习步骤一：数据收集(结构化与非结构化)</vt:lpstr>
      <vt:lpstr>机器学习步骤二：数据预处理——数据清洗</vt:lpstr>
      <vt:lpstr>机器学习步骤二：数据预处理——探索性数据分析(EDA)</vt:lpstr>
      <vt:lpstr>机器学习步骤二：数据预处理——探索性数据分析(EDA)</vt:lpstr>
      <vt:lpstr>机器学习步骤三：特征工程</vt:lpstr>
      <vt:lpstr>机器学习步骤三：特征工程——数据集划分</vt:lpstr>
      <vt:lpstr>机器学习步骤三：特征工程——不平衡数据处理</vt:lpstr>
      <vt:lpstr>机器学习步骤四：数据建模</vt:lpstr>
      <vt:lpstr>机器学习步骤四：数据建模——分类评价指标</vt:lpstr>
      <vt:lpstr>机器学习步骤四：数据建模——回归评价指标</vt:lpstr>
      <vt:lpstr>机器学习步骤四：数据建模——分类评价指标</vt:lpstr>
      <vt:lpstr>机器学习步骤四：数据建模——泛化性能评价指标</vt:lpstr>
      <vt:lpstr>机器学习步骤四：数据建模——超参数调整</vt:lpstr>
      <vt:lpstr>机器学习步骤四：数据建模——模型过拟合与欠拟合</vt:lpstr>
      <vt:lpstr>机器学习步骤四：数据建模——可解释性</vt:lpstr>
      <vt:lpstr>目 录</vt:lpstr>
      <vt:lpstr>代码实践4： 线性回归</vt:lpstr>
      <vt:lpstr>代码实践5：逻辑回归</vt:lpstr>
      <vt:lpstr>代码实践6：朴素贝叶斯</vt:lpstr>
      <vt:lpstr>代码实践6：朴素贝叶斯</vt:lpstr>
      <vt:lpstr>算法比较</vt:lpstr>
      <vt:lpstr>代码实践7：K近邻算法（KNN）</vt:lpstr>
      <vt:lpstr>代码实践8：决策树</vt:lpstr>
      <vt:lpstr>其他算法练习</vt:lpstr>
      <vt:lpstr>完整项目实现：人脸识别</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Silverlight Briefing - MIX07</dc:title>
  <dc:subject>Silverlight</dc:subject>
  <dc:creator/>
  <dc:description>COPYRIGHT, Microsoft 2007.  All rights reserved.  No permission is granted to reproduce or re-use materials from this document in other documents.  All rights reserved._x000d_
_x000d_
3rd party company names and logos are used with permission and are subject to their own copyrights and trademarks.</dc:description>
  <cp:lastModifiedBy/>
  <cp:revision>41</cp:revision>
  <dcterms:created xsi:type="dcterms:W3CDTF">2007-08-03T18:56:00Z</dcterms:created>
  <dcterms:modified xsi:type="dcterms:W3CDTF">2025-11-19T23:12:25Z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61AE675672AD42339E95A6E7700C8586_12</vt:lpwstr>
  </property>
  <property fmtid="{D5CDD505-2E9C-101B-9397-08002B2CF9AE}" pid="3" name="KSOProductBuildVer">
    <vt:lpwstr>2052-12.1.0.20305</vt:lpwstr>
  </property>
</Properties>
</file>