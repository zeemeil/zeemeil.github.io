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71" r:id="rId16"/>
    <p:sldId id="272" r:id="rId17"/>
    <p:sldId id="293" r:id="rId18"/>
    <p:sldId id="294" r:id="rId19"/>
    <p:sldId id="295" r:id="rId20"/>
    <p:sldId id="296" r:id="rId21"/>
    <p:sldId id="273" r:id="rId22"/>
    <p:sldId id="274" r:id="rId23"/>
    <p:sldId id="297" r:id="rId24"/>
    <p:sldId id="298" r:id="rId25"/>
    <p:sldId id="275" r:id="rId26"/>
    <p:sldId id="299" r:id="rId27"/>
    <p:sldId id="276" r:id="rId28"/>
    <p:sldId id="300" r:id="rId29"/>
    <p:sldId id="277" r:id="rId30"/>
    <p:sldId id="278" r:id="rId31"/>
    <p:sldId id="301" r:id="rId32"/>
    <p:sldId id="281" r:id="rId33"/>
    <p:sldId id="282" r:id="rId34"/>
    <p:sldId id="283" r:id="rId35"/>
    <p:sldId id="284" r:id="rId36"/>
    <p:sldId id="285" r:id="rId37"/>
    <p:sldId id="303" r:id="rId38"/>
    <p:sldId id="304" r:id="rId39"/>
    <p:sldId id="305" r:id="rId40"/>
    <p:sldId id="302" r:id="rId41"/>
    <p:sldId id="286" r:id="rId42"/>
    <p:sldId id="287" r:id="rId43"/>
    <p:sldId id="288" r:id="rId44"/>
    <p:sldId id="289" r:id="rId45"/>
    <p:sldId id="290" r:id="rId46"/>
    <p:sldId id="291" r:id="rId47"/>
    <p:sldId id="292" r:id="rId4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notesMaster" Target="notesMasters/notesMaster1.xml"/><Relationship Id="rId49" Type="http://schemas.openxmlformats.org/officeDocument/2006/relationships/presProps" Target="presProps.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尊敬的各位来宾：大家好！在这个知识与科技日新月异的时代，我们汇聚一堂，共同探讨一个至关重要的课题——《提示词工程与教育心理学》。想象一下，当AI技术遇上教育心理，将擦出怎样的火花？今天，我们将一同揭开这一创新领域的神秘面纱，探索如何通过精准的提示词设计，激发学习者内在的潜能，构建更加高效、个性化的学习体验。让我们携手踏入这场智慧与心灵的交融之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在这次的演讲中，我会从提示词工程概述到Prompt技术的应用与实践，再深入探讨教育心理学研究，随机抽签器设计，结构化Prompt模板及有效创建方法。同时介绍LangGPT工具和Prompt生成的最佳实践。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这段我将以提示词工程概述为核心，深入探讨如何改善模型性能、控制输出结果及提高使用效率，旨在揭示其内在逻辑与实践路径，为后续应用与研究奠定基石。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改善模型性能为主题，阐述三个关键策略。首先，使用结构化的Prompt。通过定义角色、行动、结果和示例等关键要素，使Prompt具有明确的目的和结构，从而让大模型能够更有效地理解和回应用户请求。接下来，定向唤醒大模型的深度能力。通过使用特定的属性词，如Role（角色）、Expert（专家）、Master（大师）等，可以确保定向唤醒模型的深层能力，缓解长期记忆缺失的问题。最后，像代码开发一样构建生产级Prompt。将Prompt视为调用大模型能力的工具，使其开发过程像代码开发一样有规范。结构化的Prompt便于维护升级和多人协同开发设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以控制输出结果为主题展开阐述。提示词工程至关重要，它是引导生成式人工智能执行任务的关键所在，能限制模型输入范围助力机器更好理解任务。而有效提示词的设计原则要求其清晰、简洁且包含足够信息以指导模型准确完成任务。此外，使用结构化模板，像功能CARE模板和RACE模板，可更准确定义相关要素，从而提高输出质量与相关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以提升预训练模型使用效率为核心展开。通过引入Prompt范式，利用同一预训练模型构建多样下游任务，规避微调复杂流程，实现高效运用。同时，使下游任务适配预训练模型，充分发挥已训练模型效能，极大提高其使用效率。二者结合，有效节省时间与资源，为预训练模型应用开辟高效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这部分我将围绕Prompt技术应用展开，着重探讨如何改造下游任务，巧妙增加专家知识，使其更好地适应语言模型，从而充分发挥Prompt技术在各领域的强大效能。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介绍提示学习技术如何改造下游任务。首先，提示学习是一种调整任务输入和输出以适应原始语言模型的技术。它在零样本或少样本场景下表现出色，能高效完成任务。其次，通过提示学习技术，我们能够改造下游任务，使其在原语言模型的基础上，更好地满足特定的应用场景和需求。最后，提示学习的主要优势在于其能在极少数据情况下迅速有效地执行任务，显著提升了任务的执行效率和准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专家知识在提升任务特定模型表现中的核心作用为核心展开。首先，我们定义了专家知识作为特定领域深厚的专业知识与经验总和，其集成到Prompt技术中，显著提升了模型针对特定任务的性能。随后，探讨如何通过精心构建的Prompt模板，将此类知识融入模型训练流程，赋予模型高效处理专业复杂问题的能力，进而提升任务执行的准确性。最后，强调了零样本与少样本学习情境下，借助融合了专家知识的Prompt技术的优势——即便在缺乏海量标注数据的条件下，也能实现高效学习与推理，拓宽了模型应用的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适应语言模型”为核心，展开详细论述。适应语言模型是一种通过精心设计提示词，引导生成式AI执行任务的过程，其目标是显著提升模型的性能和输出结果的质量。Prompt工程在其中扮演了关键角色。通过将问题转换为特定格式的输入，它限制了AI模型的输入范围，使机器能更精准地理解任务，从而有效控制模型的输出。接下来，我们要强调结构化提示词的优势。这类提示词以其模块化、标准化的设计，不仅提升了Prompt的质量与效率，更使得理解和操作变得简便易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这段我将以教育心理学研究为核心，探索学习的深层性质与特点，剖析如何优化教育系统以适应个体差异，并阐述理论与实践相结合的指导方法，旨在提升教学效果和学习效率。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需求功能。抽奖活动适用场景广泛，涵盖商场促销与公司年会等。其核心功能特色包括随机数字生成、结果展示及防重复抽取机制，保障公平透明，提升用户体验。技术实现支持多平台，界面简洁直观，便于用户上手且信息展示清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下面我将阐述界面设计简洁所带来的优势：- 用户友好性得以提升。去除多余元素，减轻认知负担，操作直观易懂，进而提高用户接受度与满意度。- 功能突出且可用性增强。核心功能突出展示，避免用户迷失，专注主要任务，提升界面效率。- 多平台兼容性优化。简洁设计适配多种设备与屏幕尺寸，保障各系统、浏览器上体验的一致性与优质性，增强普适性与可访问性。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下面我将阐述界面设计简洁所带来的优势：- 用户友好性得以提升。去除多余元素，减轻认知负担，操作直观易懂，进而提高用户接受度与满意度。- 功能突出且可用性增强。核心功能突出展示，避免用户迷失，专注主要任务，提升界面效率。- 多平台兼容性优化。简洁设计适配多种设备与屏幕尺寸，保障各系统、浏览器上体验的一致性与优质性，增强普适性与可访问性。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下面我将阐述界面设计简洁所带来的优势：- 用户友好性得以提升。去除多余元素，减轻认知负担，操作直观易懂，进而提高用户接受度与满意度。- 功能突出且可用性增强。核心功能突出展示，避免用户迷失，专注主要任务，提升界面效率。- 多平台兼容性优化。简洁设计适配多种设备与屏幕尺寸，保障各系统、浏览器上体验的一致性与优质性，增强普适性与可访问性。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下面我将阐述界面设计简洁所带来的优势：- 用户友好性得以提升。去除多余元素，减轻认知负担，操作直观易懂，进而提高用户接受度与满意度。- 功能突出且可用性增强。核心功能突出展示，避免用户迷失，专注主要任务，提升界面效率。- 多平台兼容性优化。简洁设计适配多种设备与屏幕尺寸，保障各系统、浏览器上体验的一致性与优质性，增强普适性与可访问性。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下面我将阐述界面设计简洁所带来的优势：- 用户友好性得以提升。去除多余元素，减轻认知负担，操作直观易懂，进而提高用户接受度与满意度。- 功能突出且可用性增强。核心功能突出展示，避免用户迷失，专注主要任务，提升界面效率。- 多平台兼容性优化。简洁设计适配多种设备与屏幕尺寸，保障各系统、浏览器上体验的一致性与优质性，增强普适性与可访问性。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聚焦技术实现的多样性。软件应用凭借跨平台运行、支持多系统和浏览器的优势，提升用户可访问性与便利性；网页工具无需安装且即点即用，兼容性良好，保障不同设备和浏览器下的统一体验；物理设备如智能硬件等，为技术实现提供实体支撑，针对特定功能优化，性能高效稳定，满足专业需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这段我将以结构化Prompt模板为核心，深入剖析CARE、RACE、COAST、CRISPE四大二级模板。它们如同精密的导航仪，引领我们在复杂信息中迅速定位、精准提炼，构建高效、有条理的思考与沟通框架。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深入探讨的三大核心组成部分。首先是“上下文指导”，它着重于在教育和培训情境中，通过提供针对性的背景信息引导学习者，以便他们能够更有效地把握复杂的概念和流程，进而提高学习效率。接下来是“行动导向”原则。这一环节聚焦于激励用户将所学知识转化为实际行动，比如在数学基础教育中，通过教授加减法原理，促使学习成果的实践应用。最后，“示例增强理解”则是通过具体实例，如简单算数问题的解决过程，使抽象概念具体化，不仅加深了学习者对理论的理解，还让学习过程更加生动有趣，增强了互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深入探讨的三大核心组成部分。首先是“上下文指导”，它着重于在教育和培训情境中，通过提供针对性的背景信息引导学习者，以便他们能够更有效地把握复杂的概念和流程，进而提高学习效率。接下来是“行动导向”原则。这一环节聚焦于激励用户将所学知识转化为实际行动，比如在数学基础教育中，通过教授加减法原理，促使学习成果的实践应用。最后，“示例增强理解”则是通过具体实例，如简单算数问题的解决过程，使抽象概念具体化，不仅加深了学习者对理论的理解，还让学习过程更加生动有趣，增强了互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深入探讨的三大核心组成部分。首先是“上下文指导”，它着重于在教育和培训情境中，通过提供针对性的背景信息引导学习者，以便他们能够更有效地把握复杂的概念和流程，进而提高学习效率。接下来是“行动导向”原则。这一环节聚焦于激励用户将所学知识转化为实际行动，比如在数学基础教育中，通过教授加减法原理，促使学习成果的实践应用。最后，“示例增强理解”则是通过具体实例，如简单算数问题的解决过程，使抽象概念具体化，不仅加深了学习者对理论的理解，还让学习过程更加生动有趣，增强了互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RACE模板为核心，深入探讨其在内容创作领域的应用及价值。那么这一页首先概述了RACE模板，这是一个创新的内容创作工具，它通过精准定义角色、行动、结果以及提供具体示例的方式，极大地增强了用户回应的准确性与针对性。该模板特别适用于那些需求模型能够提供结构化、目标导向输出的场景，为创作者提供了一种高效而清晰的思路框架。紧接着我们将讨论RACE模板的显著优点，其核心在于显著提升了内容产出的质量与相关性。通过引导用户遵循这一框架，不仅促进了信息的深度理解与有效应用，还直接带动了工作效率与成果质量的双重提升，为内容创作领域带来了实质性的变革。最后，为了更直观地展示RACE模板的实际效能，我们引入了一个具体的应用实例。设想一位旅行博主利用此模板撰写关于最新旅行目的地的文章，他的角色设定明确，行动指向是创建一篇包含目的地详细介绍和实用旅行建议的博文。预期结果是文章内容丰富且具有指导意义，同时借鉴先前热门旅行地的文章作为参考，这样的实操案例充分展现了RACE模板在实际操作中的实用性与有效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RACE模板为核心，深入探讨其在内容创作领域的应用及价值。那么这一页首先概述了RACE模板，这是一个创新的内容创作工具，它通过精准定义角色、行动、结果以及提供具体示例的方式，极大地增强了用户回应的准确性与针对性。该模板特别适用于那些需求模型能够提供结构化、目标导向输出的场景，为创作者提供了一种高效而清晰的思路框架。紧接着我们将讨论RACE模板的显著优点，其核心在于显著提升了内容产出的质量与相关性。通过引导用户遵循这一框架，不仅促进了信息的深度理解与有效应用，还直接带动了工作效率与成果质量的双重提升，为内容创作领域带来了实质性的变革。最后，为了更直观地展示RACE模板的实际效能，我们引入了一个具体的应用实例。设想一位旅行博主利用此模板撰写关于最新旅行目的地的文章，他的角色设定明确，行动指向是创建一篇包含目的地详细介绍和实用旅行建议的博文。预期结果是文章内容丰富且具有指导意义，同时借鉴先前热门旅行地的文章作为参考，这样的实操案例充分展现了RACE模板在实际操作中的实用性与有效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COAST模板。COAST模板提供了一种全面的方法，用于理解和应对问题与挑战。它包含背景、目标、行动、场景和任务五个方面，适用于需系统分析与解决的场景。那么这一页我们来看COAST模板的优点。其优点在于综合性强，能应对复杂情境，确保考虑问题的所有关键方面，从而提升解决方案的有效性和实施计划的成功率。下面我将说明COAST模板的缺点。尽管具有诸多优点，但该模板对简单或直观的问题可能显得过于复杂。此外，用户若不熟悉此模板，可能需要花费时间来学习与适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COAST模板。COAST模板提供了一种全面的方法，用于理解和应对问题与挑战。它包含背景、目标、行动、场景和任务五个方面，适用于需系统分析与解决的场景。那么这一页我们来看COAST模板的优点。其优点在于综合性强，能应对复杂情境，确保考虑问题的所有关键方面，从而提升解决方案的有效性和实施计划的成功率。下面我将说明COAST模板的缺点。尽管具有诸多优点，但该模板对简单或直观的问题可能显得过于复杂。此外，用户若不熟悉此模板，可能需要花费时间来学习与适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CRISPE模板相关内容。首先来看定义，它是一种结构化的Prompt创建方法，通过多个关键要素构建，使大模型更有效地理解和回应用户请求。再谈功能，其功能是确保Prompt目的和结构明确，助力创建优质Prompt，不过构思和细化各部分需较多时间精力。最后讲应用，适用于内容创作和决策支持场景，在需要模型提供多样化解决方案时优势明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CRISPE模板相关内容。首先来看定义，它是一种结构化的Prompt创建方法，通过多个关键要素构建，使大模型更有效地理解和回应用户请求。再谈功能，其功能是确保Prompt目的和结构明确，助力创建优质Prompt，不过构思和细化各部分需较多时间精力。最后讲应用，适用于内容创作和决策支持场景，在需要模型提供多样化解决方案时优势明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RISE模板为核心，阐述其构成、功能及优缺点。RISE模板包含角色、输入、步骤和期望四部分，这种结构设计助力用户系统规划与执行复杂任务，例如项目策划或工作流程设计。其适用于需详细规划执行的任务，尤其在项目管理中，能明确各步骤预期结果，提高成功率。不过，该模板虽有助于提升任务执行成功率，但前期需用户投入较多时间精力详细规划步骤，工作量相对较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TRACE模板为核心进行阐述。TRACE模板涵盖任务、请求、行动、上下文和示例五个关键部分，通过明确各要素助力用户构建完整清晰指令。其适用场景包括内容生成、智能问答、数据分析等需对AI模型提出明确具体任务请求的情况，能显著提升交互效率。该模板的优点在于结构化与清晰性，助用户系统思考组织需求、减少误解；不足之处在于可能使简单问题处理显得繁琐，且用户需时间去学习适应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ROSES模板为核心，展开对其核心构成、使用场景与功能以及优缺点分析的介绍。首先，ROSES模板的核心构成包括角色、目标、场景、预期解决方案和步骤这五个部分。这种结构化的设计旨在确保交流的清晰性和目的性，从而帮助用户明确他们的需求。接下来，关于ROSES模板的使用场景与功能，它主要适用于需要进行深入分析和寻找解决方案的场合。无论是在商业咨询还是策略制定中，通过详细的角色定义和目标描述，ROSES模板都能有效地指导问题的解决过程。最后，我们来看一下ROSES模板的优缺点。其优点在于提供了一种全面且深入的分析框架，有助于形成综合性的解决方案。然而，缺点也同样明显，那就是它需要较多的信息输入和处理，这可能会增加前期的工作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这段我将以LangGPT工具的介绍为主题，详细探讨其结构清晰可读的特点、提升语义认知的能力，以及它如何有效降低用户的认知负担，帮助大家更深入地了解并运用这一强大的工具。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LangGPT的Prompt设计为核心，详细阐述其三大特点：结构化设计、角色统摄全局和关键词引导细节。首先，LangGPT通过结构化方式编写Prompt，使得层级结构清晰，将形式和内容统一起来，显著提高了可读性。这种设计不仅符合人类的阅读习惯，也契合ChatGPT的认知习惯。其次，在LangGPT中，Role作为Prompt标题统摄全局内容，而Profile和Rules作为二级标题则统摄相应的局部内容。这种设计使得信息层次分明，逻辑清晰，便于读者理解。最后，Language和Description作为关键词，分别统摄相应句子、段落。这种设计突出了关键信息，有助于读者快速抓住重点，从而有效提高阅读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LangGPT的Prompt设计为核心，详细阐述其三大特点：结构化设计、角色统摄全局和关键词引导细节。首先，LangGPT通过结构化方式编写Prompt，使得层级结构清晰，将形式和内容统一起来，显著提高了可读性。这种设计不仅符合人类的阅读习惯，也契合ChatGPT的认知习惯。其次，在LangGPT中，Role作为Prompt标题统摄全局内容，而Profile和Rules作为二级标题则统摄相应的局部内容。这种设计使得信息层次分明，逻辑清晰，便于读者理解。最后，Language和Description作为关键词，分别统摄相应句子、段落。这种设计突出了关键信息，有助于读者快速抓住重点，从而有效提高阅读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LangGPT的Prompt设计为核心，详细阐述其三大特点：结构化设计、角色统摄全局和关键词引导细节。首先，LangGPT通过结构化方式编写Prompt，使得层级结构清晰，将形式和内容统一起来，显著提高了可读性。这种设计不仅符合人类的阅读习惯，也契合ChatGPT的认知习惯。其次，在LangGPT中，Role作为Prompt标题统摄全局内容，而Profile和Rules作为二级标题则统摄相应的局部内容。这种设计使得信息层次分明，逻辑清晰，便于读者理解。最后，Language和Description作为关键词，分别统摄相应句子、段落。这种设计突出了关键信息，有助于读者快速抓住重点，从而有效提高阅读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LangGPT的Prompt设计为核心，详细阐述其三大特点：结构化设计、角色统摄全局和关键词引导细节。首先，LangGPT通过结构化方式编写Prompt，使得层级结构清晰，将形式和内容统一起来，显著提高了可读性。这种设计不仅符合人类的阅读习惯，也契合ChatGPT的认知习惯。其次，在LangGPT中，Role作为Prompt标题统摄全局内容，而Profile和Rules作为二级标题则统摄相应的局部内容。这种设计使得信息层次分明，逻辑清晰，便于读者理解。最后，Language和Description作为关键词，分别统摄相应句子、段落。这种设计突出了关键信息，有助于读者快速抓住重点，从而有效提高阅读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LangGPT的Prompt设计为核心，详细阐述其三大特点：结构化设计、角色统摄全局和关键词引导细节。首先，LangGPT通过结构化方式编写Prompt，使得层级结构清晰，将形式和内容统一起来，显著提高了可读性。这种设计不仅符合人类的阅读习惯，也契合ChatGPT的认知习惯。其次，在LangGPT中，Role作为Prompt标题统摄全局内容，而Profile和Rules作为二级标题则统摄相应的局部内容。这种设计使得信息层次分明，逻辑清晰，便于读者理解。最后，Language和Description作为关键词，分别统摄相应句子、段落。这种设计突出了关键信息，有助于读者快速抓住重点，从而有效提高阅读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聚焦于如何有效提升语义认知。首先，结构化表达以其清晰的层级和明确的语义标识，显著降低了信息解读的复杂度，不仅优化了人类的理解过程，也极大增强了GPT模型的处理效率。接下来，通过LangGPT的Prompt生成助手，我们能迅速产出高质量的初版Prompt框架，这一工具极大地简化了创作流程，并在后续应用中支持持续迭代与精细化调整。最后，将属性词融入Prompt设计，构建局部而有序的结构体系，这一策略强化了模型对整体语义的把握能力，直接促进了理解与响应的准确性飞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探讨如何通过降低认知负担来提升信息处理效率。首先，结构化表达的优势在于其明确的层级划分与语义标示，这确保了提示内容（Prompt）的直观性，有效减少了用户的认知负荷。紧接着，LangGPT所提供的Prompt生成助手功能，能够自动产出高质量初版提示，极大地减轻了用户的编写压力，加速日常应用场景下的响应速度，显著提升工作效率。最后，属性词在提示中的作用不可忽视，它们不仅作为语义线索引导理解，还助力模型更精确地掌握提示核心，排除冗余信息的干扰，从而全面增强模型对提示的理解与执行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这部分我将介绍Prompt生成的最佳实践，涵盖定向唤醒能力，构建生产级Prompt以及全局思维链的关键策略，助力提升交互质量与效率。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定向唤醒能力为主题进行阐述。首先，我会介绍定向唤醒能力的概述，它通过特定属性词确保模型调用深层能力，解决长期记忆缺失问题。例如，我们可以设置一个角色属性词，将Prompt固定为特定角色。随后，我将探讨规则与约束的应用，通过规定模型必须遵守的规则，如添加积极健康输出内容规则等，来缓解大模型的幻觉问题。最后，我将讲述专家提示词的替代作用，使用专家（Expert）、大师（Master）等提示词替代角色，将Prompt固定为某一领域的专家，以提高模型在特定领域回答的准确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以构建生产级Prompt为主题展开。采用统一模板构建，能保障提示词质量与一致性，便于修改复用，提升效率；结构化表达可增强语义认知，让内容清晰；通过设置特定属性词，如Role，能定向唤醒大模型深度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为核心，阐述其重要性与实施策略。首先，结构化的Prompt模板对于高效思考至关重要，它通过预设的思维框架减少认知负担，加速问题解决过程。紧接着，LangGPT中的模板设计精妙融合了角色、技能与规则等关键要素，构建出一条紧密相连的全局思维路径，显著提升了工作流程的顺畅性和任务完成的效率。最后，我们强调，将成熟的逻辑思维链路整合至结构之中，是简化复杂任务并促进工作有序进行的关键所在，它有效降低了思维建构的复杂度，为高效执行奠定了坚实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尊敬的各位听众，感谢大家的聆听。本次演讲探讨了提示词工程与教育心理学的结合点及其在教育领域的应用。希望通过这些研究和技术分享，能够帮助大家更好地利用AI工具提高教学效率，为教育事业贡献一份力量。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2.xml"/><Relationship Id="rId18" Type="http://schemas.openxmlformats.org/officeDocument/2006/relationships/slideLayout" Target="../slideLayouts/slideLayout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2" Type="http://schemas.openxmlformats.org/officeDocument/2006/relationships/notesSlide" Target="../notesSlides/notesSlide9.xml"/><Relationship Id="rId11" Type="http://schemas.openxmlformats.org/officeDocument/2006/relationships/slideLayout" Target="../slideLayouts/slideLayout1.xml"/><Relationship Id="rId10" Type="http://schemas.openxmlformats.org/officeDocument/2006/relationships/tags" Target="../tags/tag25.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oleObject" Target="../embeddings/oleObject1.bin"/><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20.jpe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3.xml"/><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27.jpeg"/><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1.xml"/><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image" Target="../media/image32.jpeg"/><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1.xml"/><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80396" y="1540323"/>
            <a:ext cx="3768559" cy="79184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3455" b="1" kern="0" spc="144"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提示词工程</a:t>
            </a:r>
            <a:endParaRPr lang="en-US" sz="1440" dirty="0"/>
          </a:p>
        </p:txBody>
      </p:sp>
      <p:sp>
        <p:nvSpPr>
          <p:cNvPr id="4" name="Text 1"/>
          <p:cNvSpPr/>
          <p:nvPr/>
        </p:nvSpPr>
        <p:spPr>
          <a:xfrm>
            <a:off x="780396" y="3039939"/>
            <a:ext cx="4322586" cy="46672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提升AI模型性能</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2415396" y="424488"/>
            <a:ext cx="4313208" cy="108813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750" b="1" dirty="0">
                <a:solidFill>
                  <a:srgbClr val="1859AE">
                    <a:alpha val="10000"/>
                  </a:srgbClr>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1440" dirty="0"/>
          </a:p>
        </p:txBody>
      </p:sp>
      <p:sp>
        <p:nvSpPr>
          <p:cNvPr id="4" name="Text 1"/>
          <p:cNvSpPr/>
          <p:nvPr/>
        </p:nvSpPr>
        <p:spPr>
          <a:xfrm>
            <a:off x="3734023" y="685104"/>
            <a:ext cx="1675953" cy="73152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5" name="Text 2"/>
          <p:cNvSpPr/>
          <p:nvPr>
            <p:custDataLst>
              <p:tags r:id="rId2"/>
            </p:custDataLst>
          </p:nvPr>
        </p:nvSpPr>
        <p:spPr>
          <a:xfrm>
            <a:off x="1520202" y="1810315"/>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提示词工程概述</a:t>
            </a:r>
            <a:endParaRPr lang="en-US" sz="1440" dirty="0"/>
          </a:p>
        </p:txBody>
      </p:sp>
      <p:sp>
        <p:nvSpPr>
          <p:cNvPr id="6" name="Text 3"/>
          <p:cNvSpPr/>
          <p:nvPr>
            <p:custDataLst>
              <p:tags r:id="rId3"/>
            </p:custDataLst>
          </p:nvPr>
        </p:nvSpPr>
        <p:spPr>
          <a:xfrm>
            <a:off x="966844" y="175545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Text 4"/>
          <p:cNvSpPr/>
          <p:nvPr>
            <p:custDataLst>
              <p:tags r:id="rId4"/>
            </p:custDataLst>
          </p:nvPr>
        </p:nvSpPr>
        <p:spPr>
          <a:xfrm>
            <a:off x="5334968" y="1810315"/>
            <a:ext cx="3236855" cy="49085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Prompt技术</a:t>
            </a:r>
            <a:endParaRPr lang="en-US" sz="1440" dirty="0"/>
          </a:p>
        </p:txBody>
      </p:sp>
      <p:sp>
        <p:nvSpPr>
          <p:cNvPr id="8" name="Text 5"/>
          <p:cNvSpPr/>
          <p:nvPr>
            <p:custDataLst>
              <p:tags r:id="rId5"/>
            </p:custDataLst>
          </p:nvPr>
        </p:nvSpPr>
        <p:spPr>
          <a:xfrm>
            <a:off x="4781610" y="175545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9" name="Text 6"/>
          <p:cNvSpPr/>
          <p:nvPr>
            <p:custDataLst>
              <p:tags r:id="rId6"/>
            </p:custDataLst>
          </p:nvPr>
        </p:nvSpPr>
        <p:spPr>
          <a:xfrm>
            <a:off x="1520354" y="2438812"/>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教育心理学研究</a:t>
            </a:r>
            <a:endParaRPr lang="en-US" sz="1440" dirty="0"/>
          </a:p>
        </p:txBody>
      </p:sp>
      <p:sp>
        <p:nvSpPr>
          <p:cNvPr id="10" name="Text 7"/>
          <p:cNvSpPr/>
          <p:nvPr>
            <p:custDataLst>
              <p:tags r:id="rId7"/>
            </p:custDataLst>
          </p:nvPr>
        </p:nvSpPr>
        <p:spPr>
          <a:xfrm>
            <a:off x="966996" y="2383948"/>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1" name="Text 8"/>
          <p:cNvSpPr/>
          <p:nvPr>
            <p:custDataLst>
              <p:tags r:id="rId8"/>
            </p:custDataLst>
          </p:nvPr>
        </p:nvSpPr>
        <p:spPr>
          <a:xfrm>
            <a:off x="5334846" y="2438812"/>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随机抽签器设计</a:t>
            </a:r>
            <a:endParaRPr lang="en-US" sz="1440" dirty="0"/>
          </a:p>
        </p:txBody>
      </p:sp>
      <p:sp>
        <p:nvSpPr>
          <p:cNvPr id="12" name="Text 9"/>
          <p:cNvSpPr/>
          <p:nvPr>
            <p:custDataLst>
              <p:tags r:id="rId9"/>
            </p:custDataLst>
          </p:nvPr>
        </p:nvSpPr>
        <p:spPr>
          <a:xfrm>
            <a:off x="4781488" y="2383948"/>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3" name="Text 10"/>
          <p:cNvSpPr/>
          <p:nvPr>
            <p:custDataLst>
              <p:tags r:id="rId10"/>
            </p:custDataLst>
          </p:nvPr>
        </p:nvSpPr>
        <p:spPr>
          <a:xfrm>
            <a:off x="1520281" y="3067310"/>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结构化Prompt模板</a:t>
            </a:r>
            <a:endParaRPr lang="en-US" sz="1440" dirty="0"/>
          </a:p>
        </p:txBody>
      </p:sp>
      <p:sp>
        <p:nvSpPr>
          <p:cNvPr id="14" name="Text 11"/>
          <p:cNvSpPr/>
          <p:nvPr>
            <p:custDataLst>
              <p:tags r:id="rId11"/>
            </p:custDataLst>
          </p:nvPr>
        </p:nvSpPr>
        <p:spPr>
          <a:xfrm>
            <a:off x="966924" y="301244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5" name="Text 12"/>
          <p:cNvSpPr/>
          <p:nvPr>
            <p:custDataLst>
              <p:tags r:id="rId12"/>
            </p:custDataLst>
          </p:nvPr>
        </p:nvSpPr>
        <p:spPr>
          <a:xfrm>
            <a:off x="5334846" y="3067310"/>
            <a:ext cx="3236976" cy="49085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sym typeface="+mn-ea"/>
              </a:rPr>
              <a:t>LangGPT</a:t>
            </a:r>
            <a:endParaRPr lang="en-US" sz="1440" dirty="0"/>
          </a:p>
        </p:txBody>
      </p:sp>
      <p:sp>
        <p:nvSpPr>
          <p:cNvPr id="16" name="Text 13"/>
          <p:cNvSpPr/>
          <p:nvPr>
            <p:custDataLst>
              <p:tags r:id="rId13"/>
            </p:custDataLst>
          </p:nvPr>
        </p:nvSpPr>
        <p:spPr>
          <a:xfrm>
            <a:off x="4781488" y="301244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7" name="Text 14"/>
          <p:cNvSpPr/>
          <p:nvPr>
            <p:custDataLst>
              <p:tags r:id="rId14"/>
            </p:custDataLst>
          </p:nvPr>
        </p:nvSpPr>
        <p:spPr>
          <a:xfrm>
            <a:off x="1520091" y="3695808"/>
            <a:ext cx="3236976" cy="49085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sym typeface="+mn-ea"/>
              </a:rPr>
              <a:t>Prompt生成最佳实践</a:t>
            </a:r>
            <a:endParaRPr lang="en-US" sz="1440" dirty="0"/>
          </a:p>
        </p:txBody>
      </p:sp>
      <p:sp>
        <p:nvSpPr>
          <p:cNvPr id="18" name="Text 15"/>
          <p:cNvSpPr/>
          <p:nvPr>
            <p:custDataLst>
              <p:tags r:id="rId15"/>
            </p:custDataLst>
          </p:nvPr>
        </p:nvSpPr>
        <p:spPr>
          <a:xfrm>
            <a:off x="966733" y="3640944"/>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19" name="Text 16"/>
          <p:cNvSpPr/>
          <p:nvPr>
            <p:custDataLst>
              <p:tags r:id="rId16"/>
            </p:custDataLst>
          </p:nvPr>
        </p:nvSpPr>
        <p:spPr>
          <a:xfrm>
            <a:off x="5334846" y="3695808"/>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Prompt生成最佳实践</a:t>
            </a:r>
            <a:endParaRPr lang="en-US" sz="1440" dirty="0"/>
          </a:p>
        </p:txBody>
      </p:sp>
      <p:sp>
        <p:nvSpPr>
          <p:cNvPr id="20" name="Text 17"/>
          <p:cNvSpPr/>
          <p:nvPr>
            <p:custDataLst>
              <p:tags r:id="rId17"/>
            </p:custDataLst>
          </p:nvPr>
        </p:nvSpPr>
        <p:spPr>
          <a:xfrm>
            <a:off x="4781488" y="3640944"/>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08</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提示词工程概述</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8" name="图片 9"/>
          <p:cNvPicPr>
            <a:picLocks noChangeAspect="1"/>
          </p:cNvPicPr>
          <p:nvPr/>
        </p:nvPicPr>
        <p:blipFill>
          <a:blip r:embed="rId2"/>
          <a:stretch>
            <a:fillRect/>
          </a:stretch>
        </p:blipFill>
        <p:spPr>
          <a:xfrm>
            <a:off x="1989455" y="3107373"/>
            <a:ext cx="5270500" cy="1071245"/>
          </a:xfrm>
          <a:prstGeom prst="rect">
            <a:avLst/>
          </a:prstGeom>
          <a:noFill/>
          <a:ln>
            <a:noFill/>
          </a:ln>
        </p:spPr>
      </p:pic>
      <p:pic>
        <p:nvPicPr>
          <p:cNvPr id="153" name="图片 8"/>
          <p:cNvPicPr>
            <a:picLocks noChangeAspect="1"/>
          </p:cNvPicPr>
          <p:nvPr/>
        </p:nvPicPr>
        <p:blipFill>
          <a:blip r:embed="rId3"/>
          <a:stretch>
            <a:fillRect/>
          </a:stretch>
        </p:blipFill>
        <p:spPr>
          <a:xfrm>
            <a:off x="2744788" y="1768475"/>
            <a:ext cx="3305175" cy="3771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改善模型性能</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778586782d20c1e2ce4ea1a0f4a31adf670cd4.jpg?authorization=c2ltcGxlLWp3dCBhaz1zcGFya2Rlc2s4MDAwMDAwMDAwMDE7ZXhwPTMzMTY4NTQ3Nzg7YWxnbz1obWFjLXNoYTI1NjtzaWc9QTM5dE81MEhUWTg1UDBTT3VtZ1VVdmFzQllCZjB3NVpZVnNLWnptbjh5MD0=&amp;x_location=7YfmxI7B7uKO7jlRxIftd60uePD="/>
          <p:cNvPicPr>
            <a:picLocks noChangeAspect="1"/>
          </p:cNvPicPr>
          <p:nvPr/>
        </p:nvPicPr>
        <p:blipFill>
          <a:blip r:embed="rId2"/>
          <a:stretch>
            <a:fillRect/>
          </a:stretch>
        </p:blipFill>
        <p:spPr>
          <a:xfrm>
            <a:off x="445242" y="1227435"/>
            <a:ext cx="2831634" cy="2831634"/>
          </a:xfrm>
          <a:prstGeom prst="rect">
            <a:avLst/>
          </a:prstGeom>
        </p:spPr>
      </p:pic>
      <p:sp>
        <p:nvSpPr>
          <p:cNvPr id="8" name="Text 4"/>
          <p:cNvSpPr/>
          <p:nvPr/>
        </p:nvSpPr>
        <p:spPr>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使用结构化的Prompt</a:t>
            </a:r>
            <a:endParaRPr lang="en-US" sz="1440" dirty="0"/>
          </a:p>
        </p:txBody>
      </p:sp>
      <p:sp>
        <p:nvSpPr>
          <p:cNvPr id="9" name="Text 5"/>
          <p:cNvSpPr/>
          <p:nvPr/>
        </p:nvSpPr>
        <p:spPr>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通过定义角色、行动、结果和示例等关键要素，使Prompt具有明确的目的和结构，从而让大模型能够更有效地理解和回应用户请求。</a:t>
            </a:r>
            <a:endParaRPr lang="en-US" sz="1440" dirty="0"/>
          </a:p>
        </p:txBody>
      </p:sp>
      <p:sp>
        <p:nvSpPr>
          <p:cNvPr id="10" name="Text 6"/>
          <p:cNvSpPr/>
          <p:nvPr/>
        </p:nvSpPr>
        <p:spPr>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定向唤醒大模型深度能力</a:t>
            </a:r>
            <a:endParaRPr lang="en-US" sz="1440" dirty="0"/>
          </a:p>
        </p:txBody>
      </p:sp>
      <p:sp>
        <p:nvSpPr>
          <p:cNvPr id="11" name="Text 7"/>
          <p:cNvSpPr/>
          <p:nvPr/>
        </p:nvSpPr>
        <p:spPr>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使用特定的属性词，如Role（角色）、Expert（专家）、Master（大师）等，确保定向唤醒模型的深层能力，缓解长期记忆缺失问题。</a:t>
            </a:r>
            <a:endParaRPr lang="en-US" sz="1440" dirty="0"/>
          </a:p>
        </p:txBody>
      </p:sp>
      <p:sp>
        <p:nvSpPr>
          <p:cNvPr id="12" name="Text 8"/>
          <p:cNvSpPr/>
          <p:nvPr/>
        </p:nvSpPr>
        <p:spPr>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像代码开发一样构建生产级Prompt</a:t>
            </a:r>
            <a:endParaRPr lang="en-US" sz="1440" dirty="0"/>
          </a:p>
        </p:txBody>
      </p:sp>
      <p:sp>
        <p:nvSpPr>
          <p:cNvPr id="13" name="Text 9"/>
          <p:cNvSpPr/>
          <p:nvPr/>
        </p:nvSpPr>
        <p:spPr>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将Prompt视为调用大模型能力的工具，使其开发过程像代码开发一样有规范。结构化的Prompt便于维护升级和多人协同开发设计。</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控制输出结果</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Text 4"/>
          <p:cNvSpPr/>
          <p:nvPr/>
        </p:nvSpPr>
        <p:spPr>
          <a:xfrm>
            <a:off x="886148" y="1536231"/>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提示词工程的重要性</a:t>
            </a:r>
            <a:endParaRPr lang="en-US" sz="1440" dirty="0"/>
          </a:p>
        </p:txBody>
      </p:sp>
      <p:sp>
        <p:nvSpPr>
          <p:cNvPr id="8" name="Text 5"/>
          <p:cNvSpPr/>
          <p:nvPr/>
        </p:nvSpPr>
        <p:spPr>
          <a:xfrm>
            <a:off x="886148" y="1920279"/>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提示词工程是引导生成式人工智能执行任务的关键，通过将问题转换为特定格式的输入，可以限制人工智能模型的输入范围，让机器更好地理解任务。</a:t>
            </a:r>
            <a:endParaRPr lang="en-US" sz="1440" dirty="0"/>
          </a:p>
        </p:txBody>
      </p:sp>
      <p:sp>
        <p:nvSpPr>
          <p:cNvPr id="9" name="Shape 6"/>
          <p:cNvSpPr/>
          <p:nvPr/>
        </p:nvSpPr>
        <p:spPr>
          <a:xfrm>
            <a:off x="886489"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0" name="Text 7"/>
          <p:cNvSpPr/>
          <p:nvPr/>
        </p:nvSpPr>
        <p:spPr>
          <a:xfrm>
            <a:off x="813116" y="1076047"/>
            <a:ext cx="554470"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Text 8"/>
          <p:cNvSpPr/>
          <p:nvPr/>
        </p:nvSpPr>
        <p:spPr>
          <a:xfrm>
            <a:off x="3502092" y="1527087"/>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有效提示词的设计原则</a:t>
            </a:r>
            <a:endParaRPr lang="en-US" sz="1440" dirty="0"/>
          </a:p>
        </p:txBody>
      </p:sp>
      <p:sp>
        <p:nvSpPr>
          <p:cNvPr id="12" name="Text 9"/>
          <p:cNvSpPr/>
          <p:nvPr/>
        </p:nvSpPr>
        <p:spPr>
          <a:xfrm>
            <a:off x="3502092"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一个有效的提示词应该清晰、简洁，并且包含足够的信息来指导模型生成期望的输出，这样才能确保人工智能模型能够准确地完成任务。</a:t>
            </a:r>
            <a:endParaRPr lang="en-US" sz="1440" dirty="0"/>
          </a:p>
        </p:txBody>
      </p:sp>
      <p:sp>
        <p:nvSpPr>
          <p:cNvPr id="13" name="Shape 10"/>
          <p:cNvSpPr/>
          <p:nvPr/>
        </p:nvSpPr>
        <p:spPr>
          <a:xfrm>
            <a:off x="3502092"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4" name="Text 11"/>
          <p:cNvSpPr/>
          <p:nvPr/>
        </p:nvSpPr>
        <p:spPr>
          <a:xfrm>
            <a:off x="3447228" y="1076047"/>
            <a:ext cx="517553"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5" name="Text 12"/>
          <p:cNvSpPr/>
          <p:nvPr/>
        </p:nvSpPr>
        <p:spPr>
          <a:xfrm>
            <a:off x="6118036" y="1527087"/>
            <a:ext cx="2212848" cy="6035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使用结构化模板提高输出质量</a:t>
            </a:r>
            <a:endParaRPr lang="en-US" sz="1440" dirty="0"/>
          </a:p>
        </p:txBody>
      </p:sp>
      <p:sp>
        <p:nvSpPr>
          <p:cNvPr id="16" name="Text 13"/>
          <p:cNvSpPr/>
          <p:nvPr/>
        </p:nvSpPr>
        <p:spPr>
          <a:xfrm>
            <a:off x="6118036"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使用结构化的模板，如功能CARE模板和RACE模板，可以帮助更准确地定义角色、行动、结果和示例，从而提高输出的质量和相关性。</a:t>
            </a:r>
            <a:endParaRPr lang="en-US" sz="1440" dirty="0"/>
          </a:p>
        </p:txBody>
      </p:sp>
      <p:sp>
        <p:nvSpPr>
          <p:cNvPr id="17" name="Shape 14"/>
          <p:cNvSpPr/>
          <p:nvPr/>
        </p:nvSpPr>
        <p:spPr>
          <a:xfrm>
            <a:off x="6118036"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8" name="Text 15"/>
          <p:cNvSpPr/>
          <p:nvPr/>
        </p:nvSpPr>
        <p:spPr>
          <a:xfrm>
            <a:off x="6090604" y="1076047"/>
            <a:ext cx="479885"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提高使用效率</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801601" y="1138322"/>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8" name="Shape 5"/>
          <p:cNvSpPr/>
          <p:nvPr/>
        </p:nvSpPr>
        <p:spPr>
          <a:xfrm>
            <a:off x="1330124" y="1132915"/>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9" name="Shape 6"/>
          <p:cNvSpPr/>
          <p:nvPr/>
        </p:nvSpPr>
        <p:spPr>
          <a:xfrm>
            <a:off x="5495514" y="1529844"/>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0" name="Shape 7"/>
          <p:cNvSpPr/>
          <p:nvPr/>
        </p:nvSpPr>
        <p:spPr>
          <a:xfrm>
            <a:off x="2206032" y="3066458"/>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1" name="Text 8"/>
          <p:cNvSpPr/>
          <p:nvPr/>
        </p:nvSpPr>
        <p:spPr>
          <a:xfrm>
            <a:off x="703661" y="1129178"/>
            <a:ext cx="68819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2" name="Text 9"/>
          <p:cNvSpPr/>
          <p:nvPr/>
        </p:nvSpPr>
        <p:spPr>
          <a:xfrm>
            <a:off x="1330491" y="1187779"/>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采用Prompt范式</a:t>
            </a:r>
            <a:endParaRPr lang="en-US" sz="1440" dirty="0"/>
          </a:p>
        </p:txBody>
      </p:sp>
      <p:sp>
        <p:nvSpPr>
          <p:cNvPr id="13" name="Text 10"/>
          <p:cNvSpPr/>
          <p:nvPr/>
        </p:nvSpPr>
        <p:spPr>
          <a:xfrm>
            <a:off x="1330491" y="1489531"/>
            <a:ext cx="2944368"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Prompt范式通过使用同一个预训练模型来构建不同的下游任务，避免了微调的繁琐步骤，从而显著提高了模型的使用效率。</a:t>
            </a:r>
            <a:endParaRPr lang="en-US" sz="1440" dirty="0"/>
          </a:p>
        </p:txBody>
      </p:sp>
      <p:sp>
        <p:nvSpPr>
          <p:cNvPr id="14" name="Text 11"/>
          <p:cNvSpPr/>
          <p:nvPr/>
        </p:nvSpPr>
        <p:spPr>
          <a:xfrm>
            <a:off x="5495971" y="1584691"/>
            <a:ext cx="294436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适配预训练模型</a:t>
            </a:r>
            <a:endParaRPr lang="en-US" sz="1440" dirty="0"/>
          </a:p>
        </p:txBody>
      </p:sp>
      <p:sp>
        <p:nvSpPr>
          <p:cNvPr id="15" name="Text 12"/>
          <p:cNvSpPr/>
          <p:nvPr/>
        </p:nvSpPr>
        <p:spPr>
          <a:xfrm>
            <a:off x="5495514" y="1886460"/>
            <a:ext cx="2944368"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让下游任务来适配预训练模型，可以充分利用已经训练好的预训练模型，大大提升了预训练模型的使用效率。</a:t>
            </a:r>
            <a:endParaRPr lang="en-US" sz="1440" dirty="0"/>
          </a:p>
        </p:txBody>
      </p:sp>
      <p:sp>
        <p:nvSpPr>
          <p:cNvPr id="16" name="Text 13"/>
          <p:cNvSpPr/>
          <p:nvPr/>
        </p:nvSpPr>
        <p:spPr>
          <a:xfrm>
            <a:off x="2206075" y="3120882"/>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提升使用效率</a:t>
            </a:r>
            <a:endParaRPr lang="en-US" sz="1440" dirty="0"/>
          </a:p>
        </p:txBody>
      </p:sp>
      <p:sp>
        <p:nvSpPr>
          <p:cNvPr id="17" name="Text 14"/>
          <p:cNvSpPr/>
          <p:nvPr/>
        </p:nvSpPr>
        <p:spPr>
          <a:xfrm>
            <a:off x="2206075" y="3422634"/>
            <a:ext cx="2944368"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通过采用Prompt范式和适配预训练模型的方法，我们可以有效地提高预训练模型的使用效率，节省了大量的时间和资源。</a:t>
            </a:r>
            <a:endParaRPr lang="en-US" sz="1440" dirty="0"/>
          </a:p>
        </p:txBody>
      </p:sp>
      <p:sp>
        <p:nvSpPr>
          <p:cNvPr id="18" name="Shape 15"/>
          <p:cNvSpPr/>
          <p:nvPr/>
        </p:nvSpPr>
        <p:spPr>
          <a:xfrm>
            <a:off x="1677184" y="3071780"/>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19" name="Text 16"/>
          <p:cNvSpPr/>
          <p:nvPr/>
        </p:nvSpPr>
        <p:spPr>
          <a:xfrm>
            <a:off x="1604032" y="3066373"/>
            <a:ext cx="650309"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20" name="Shape 17"/>
          <p:cNvSpPr/>
          <p:nvPr/>
        </p:nvSpPr>
        <p:spPr>
          <a:xfrm>
            <a:off x="4966302" y="1535251"/>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21" name="Text 18"/>
          <p:cNvSpPr/>
          <p:nvPr/>
        </p:nvSpPr>
        <p:spPr>
          <a:xfrm>
            <a:off x="4847430" y="1529844"/>
            <a:ext cx="73952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5" name="Text 2"/>
          <p:cNvSpPr/>
          <p:nvPr/>
        </p:nvSpPr>
        <p:spPr>
          <a:xfrm>
            <a:off x="865937" y="2437790"/>
            <a:ext cx="7518197" cy="69088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Prompt技术</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改造下游任务</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提示学习技术概述</a:t>
            </a:r>
            <a:endParaRPr lang="en-US" sz="1440" dirty="0"/>
          </a:p>
        </p:txBody>
      </p:sp>
      <p:pic>
        <p:nvPicPr>
          <p:cNvPr id="11" name="Image 0" descr="https://sgw-dx.xf-yun.com/api/v1/sparkdesk/_1740054777880780e2565991c480d80c0a0de09b1bba1.jpg?authorization=c2ltcGxlLWp3dCBhaz1zcGFya2Rlc2s4MDAwMDAwMDAwMDE7ZXhwPTMzMTY4NTQ3Nzc7YWxnbz1obWFjLXNoYTI1NjtzaWc9SmowNHFGbmtoNDZORmlHMS9zNFZaNUhPZWxEWm9SbVZmRkc4d3Y5T2pVQT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提示学习技术是一种通过调整任务输入和输出来适应原始语言模型的方法，它能够在零样本或少样本的场景中获得良好的任务效果。</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改造下游任务的实现</a:t>
            </a:r>
            <a:endParaRPr lang="en-US" sz="1440" dirty="0"/>
          </a:p>
        </p:txBody>
      </p:sp>
      <p:pic>
        <p:nvPicPr>
          <p:cNvPr id="14" name="Image 1" descr="https://sgw-dx.xf-yun.com/api/v1/sparkdesk/_1740054781031665aa357171949ce93f7ef251ba8fc25.jpg?authorization=c2ltcGxlLWp3dCBhaz1zcGFya2Rlc2s4MDAwMDAwMDAwMDE7ZXhwPTMzMTY4NTQ3ODE7YWxnbz1obWFjLXNoYTI1NjtzaWc9V0xmUk9zVWNWUGE2ZzdTa2M4M1EwT05BZ2RGekdGSkRRTDRHWHhsMG95ND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通过提示学习技术，我们可以对下游任务进行改造，使其在原始语言模型的基础上，更好地适应特定的应用场景和需求。</a:t>
            </a:r>
            <a:endParaRPr lang="en-US" sz="1440" dirty="0"/>
          </a:p>
        </p:txBody>
      </p:sp>
      <p:sp>
        <p:nvSpPr>
          <p:cNvPr id="16" name="Text 11"/>
          <p:cNvSpPr/>
          <p:nvPr/>
        </p:nvSpPr>
        <p:spPr>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提示学习技术的优势</a:t>
            </a:r>
            <a:endParaRPr lang="en-US" sz="1440" dirty="0"/>
          </a:p>
        </p:txBody>
      </p:sp>
      <p:pic>
        <p:nvPicPr>
          <p:cNvPr id="17" name="Image 2" descr="https://sgw-dx.xf-yun.com/api/v1/sparkdesk/_17400547842538988fb3fca2f4dbab4042ab4dc9c08da.jpg?authorization=c2ltcGxlLWp3dCBhaz1zcGFya2Rlc2s4MDAwMDAwMDAwMDE7ZXhwPTMzMTY4NTQ3ODQ7YWxnbz1obWFjLXNoYTI1NjtzaWc9RWs2a2J1VTZWalJyakcrT3Z6OHZKaStWcmVUdHFKTjVuWVpnS1IvNDlqOD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提示学习技术的主要优势在于其能够在零样本或少样本的情况下，快速有效地完成任务，大大提高了任务执行的效率和准确性。</a:t>
            </a:r>
            <a:endParaRPr lang="en-US" sz="14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增加专家知识</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Text 4"/>
          <p:cNvSpPr/>
          <p:nvPr>
            <p:custDataLst>
              <p:tags r:id="rId2"/>
            </p:custDataLst>
          </p:nvPr>
        </p:nvSpPr>
        <p:spPr>
          <a:xfrm>
            <a:off x="886148" y="1536231"/>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专家知识的定义与作用</a:t>
            </a:r>
            <a:endParaRPr lang="en-US" sz="1440" dirty="0"/>
          </a:p>
        </p:txBody>
      </p:sp>
      <p:sp>
        <p:nvSpPr>
          <p:cNvPr id="8" name="Text 5"/>
          <p:cNvSpPr/>
          <p:nvPr>
            <p:custDataLst>
              <p:tags r:id="rId3"/>
            </p:custDataLst>
          </p:nvPr>
        </p:nvSpPr>
        <p:spPr>
          <a:xfrm>
            <a:off x="886148"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专家知识指的是特定领域内深厚的专业知识和经验，通过整合这些知识到Prompt技术中，可以显著提升模型在特定任务上的表现。</a:t>
            </a:r>
            <a:endParaRPr lang="en-US" sz="1440" dirty="0"/>
          </a:p>
        </p:txBody>
      </p:sp>
      <p:sp>
        <p:nvSpPr>
          <p:cNvPr id="9" name="Shape 6"/>
          <p:cNvSpPr/>
          <p:nvPr>
            <p:custDataLst>
              <p:tags r:id="rId4"/>
            </p:custDataLst>
          </p:nvPr>
        </p:nvSpPr>
        <p:spPr>
          <a:xfrm>
            <a:off x="886489"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0" name="Text 7"/>
          <p:cNvSpPr/>
          <p:nvPr>
            <p:custDataLst>
              <p:tags r:id="rId5"/>
            </p:custDataLst>
          </p:nvPr>
        </p:nvSpPr>
        <p:spPr>
          <a:xfrm>
            <a:off x="813116" y="1076047"/>
            <a:ext cx="554470"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3" name="Shape 10"/>
          <p:cNvSpPr/>
          <p:nvPr>
            <p:custDataLst>
              <p:tags r:id="rId6"/>
            </p:custDataLst>
          </p:nvPr>
        </p:nvSpPr>
        <p:spPr>
          <a:xfrm>
            <a:off x="3502092"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4" name="Text 11"/>
          <p:cNvSpPr/>
          <p:nvPr>
            <p:custDataLst>
              <p:tags r:id="rId7"/>
            </p:custDataLst>
          </p:nvPr>
        </p:nvSpPr>
        <p:spPr>
          <a:xfrm>
            <a:off x="3447228" y="1076047"/>
            <a:ext cx="517553"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5" name="Text 12"/>
          <p:cNvSpPr/>
          <p:nvPr>
            <p:custDataLst>
              <p:tags r:id="rId8"/>
            </p:custDataLst>
          </p:nvPr>
        </p:nvSpPr>
        <p:spPr>
          <a:xfrm>
            <a:off x="3447226" y="1584872"/>
            <a:ext cx="2212848" cy="43434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零样本与少样本学习</a:t>
            </a:r>
            <a:endParaRPr lang="en-US" sz="1440" dirty="0"/>
          </a:p>
        </p:txBody>
      </p:sp>
      <p:sp>
        <p:nvSpPr>
          <p:cNvPr id="16" name="Text 13"/>
          <p:cNvSpPr/>
          <p:nvPr>
            <p:custDataLst>
              <p:tags r:id="rId9"/>
            </p:custDataLst>
          </p:nvPr>
        </p:nvSpPr>
        <p:spPr>
          <a:xfrm>
            <a:off x="3501836" y="201933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利用专家知识增强的Prompt技术，在无需大量标注数据的情况下，仍能实现高效的学习和推理，极大地扩展了模型的应用范围。</a:t>
            </a:r>
            <a:endParaRPr lang="en-US" sz="1440" dirty="0"/>
          </a:p>
        </p:txBody>
      </p:sp>
      <p:sp>
        <p:nvSpPr>
          <p:cNvPr id="18" name="Text 15"/>
          <p:cNvSpPr/>
          <p:nvPr>
            <p:custDataLst>
              <p:tags r:id="rId10"/>
            </p:custDataLst>
          </p:nvPr>
        </p:nvSpPr>
        <p:spPr>
          <a:xfrm>
            <a:off x="6090604" y="1076047"/>
            <a:ext cx="479885"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适应语言模型</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7956249f2a075939634416a89c244dc60af53c.jpg?authorization=c2ltcGxlLWp3dCBhaz1zcGFya2Rlc2s4MDAwMDAwMDAwMDE7ZXhwPTMzMTY4NTQ3OTU7YWxnbz1obWFjLXNoYTI1NjtzaWc9MFZBak9FTzkzNE8rUnlpMGRHM3FPd0UyRVlBZDlFZVV4YkRhdTJhdk01az0=&amp;x_location=7YfmxI7B7uKO7jlRxIftd60uePD="/>
          <p:cNvPicPr>
            <a:picLocks noChangeAspect="1"/>
          </p:cNvPicPr>
          <p:nvPr/>
        </p:nvPicPr>
        <p:blipFill>
          <a:blip r:embed="rId2"/>
          <a:stretch>
            <a:fillRect/>
          </a:stretch>
        </p:blipFill>
        <p:spPr>
          <a:xfrm>
            <a:off x="445242" y="1227435"/>
            <a:ext cx="2831634" cy="2831634"/>
          </a:xfrm>
          <a:prstGeom prst="rect">
            <a:avLst/>
          </a:prstGeom>
        </p:spPr>
      </p:pic>
      <p:sp>
        <p:nvSpPr>
          <p:cNvPr id="8" name="Text 4"/>
          <p:cNvSpPr/>
          <p:nvPr/>
        </p:nvSpPr>
        <p:spPr>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适应语言模型的定义</a:t>
            </a:r>
            <a:endParaRPr lang="en-US" sz="1440" dirty="0"/>
          </a:p>
        </p:txBody>
      </p:sp>
      <p:sp>
        <p:nvSpPr>
          <p:cNvPr id="9" name="Text 5"/>
          <p:cNvSpPr/>
          <p:nvPr/>
        </p:nvSpPr>
        <p:spPr>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适应语言模型是一种通过精心设计提示词，引导生成式人工智能执行任务的过程，旨在显著改善模型的性能和输出结果。</a:t>
            </a:r>
            <a:endParaRPr lang="en-US" sz="1440" dirty="0"/>
          </a:p>
        </p:txBody>
      </p:sp>
      <p:sp>
        <p:nvSpPr>
          <p:cNvPr id="10" name="Text 6"/>
          <p:cNvSpPr/>
          <p:nvPr/>
        </p:nvSpPr>
        <p:spPr>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Prompt工程的作用</a:t>
            </a:r>
            <a:endParaRPr lang="en-US" sz="1440" dirty="0"/>
          </a:p>
        </p:txBody>
      </p:sp>
      <p:sp>
        <p:nvSpPr>
          <p:cNvPr id="11" name="Text 7"/>
          <p:cNvSpPr/>
          <p:nvPr/>
        </p:nvSpPr>
        <p:spPr>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Prompt工程通过将问题转换为特定格式的输入，限制人工智能模型的输入范围，使机器能够更好地理解任务，控制模型的输出。</a:t>
            </a:r>
            <a:endParaRPr lang="en-US" sz="1440" dirty="0"/>
          </a:p>
        </p:txBody>
      </p:sp>
      <p:sp>
        <p:nvSpPr>
          <p:cNvPr id="12" name="Text 8"/>
          <p:cNvSpPr/>
          <p:nvPr/>
        </p:nvSpPr>
        <p:spPr>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结构化提示词的优势</a:t>
            </a:r>
            <a:endParaRPr lang="en-US" sz="1440" dirty="0"/>
          </a:p>
        </p:txBody>
      </p:sp>
      <p:sp>
        <p:nvSpPr>
          <p:cNvPr id="13" name="Text 9"/>
          <p:cNvSpPr/>
          <p:nvPr/>
        </p:nvSpPr>
        <p:spPr>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使用结构化提示词可以提高Prompt的质量和效率，这些提示词被设计为模块化、标准化，以便于理解和操作。</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5" name="Text 2"/>
          <p:cNvSpPr/>
          <p:nvPr/>
        </p:nvSpPr>
        <p:spPr>
          <a:xfrm>
            <a:off x="865937" y="2437790"/>
            <a:ext cx="7518197" cy="69088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非结构化Prompt</a:t>
            </a:r>
            <a:endPar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一般</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公式</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3" name="图片 16"/>
          <p:cNvPicPr>
            <a:picLocks noChangeAspect="1"/>
          </p:cNvPicPr>
          <p:nvPr/>
        </p:nvPicPr>
        <p:blipFill>
          <a:blip r:embed="rId2"/>
          <a:stretch>
            <a:fillRect/>
          </a:stretch>
        </p:blipFill>
        <p:spPr>
          <a:xfrm>
            <a:off x="2366963" y="375603"/>
            <a:ext cx="4410075" cy="43922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直接指定任务</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4" name="图片 17"/>
          <p:cNvPicPr>
            <a:picLocks noChangeAspect="1"/>
          </p:cNvPicPr>
          <p:nvPr/>
        </p:nvPicPr>
        <p:blipFill>
          <a:blip r:embed="rId2"/>
          <a:stretch>
            <a:fillRect/>
          </a:stretch>
        </p:blipFill>
        <p:spPr>
          <a:xfrm>
            <a:off x="1939608" y="2164715"/>
            <a:ext cx="5264785" cy="8140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任务+</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背景</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信息</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6" name="图片 7"/>
          <p:cNvPicPr>
            <a:picLocks noChangeAspect="1"/>
          </p:cNvPicPr>
          <p:nvPr/>
        </p:nvPicPr>
        <p:blipFill>
          <a:blip r:embed="rId2"/>
          <a:stretch>
            <a:fillRect/>
          </a:stretch>
        </p:blipFill>
        <p:spPr>
          <a:xfrm>
            <a:off x="1936433" y="1983105"/>
            <a:ext cx="5271135" cy="11772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任务+</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背景信息</a:t>
            </a:r>
            <a:r>
              <a:rPr lang="en-US" altLang="zh-CN"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任务</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细节</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5" name="图片 6"/>
          <p:cNvPicPr>
            <a:picLocks noChangeAspect="1"/>
          </p:cNvPicPr>
          <p:nvPr/>
        </p:nvPicPr>
        <p:blipFill>
          <a:blip r:embed="rId2"/>
          <a:stretch>
            <a:fillRect/>
          </a:stretch>
        </p:blipFill>
        <p:spPr>
          <a:xfrm>
            <a:off x="1940560" y="1922780"/>
            <a:ext cx="5262880" cy="12979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定义角色</a:t>
            </a:r>
            <a:r>
              <a:rPr lang="en-US" altLang="zh-CN"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指定任务</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背景</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信息</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97" name="图片 8"/>
          <p:cNvPicPr>
            <a:picLocks noChangeAspect="1"/>
          </p:cNvPicPr>
          <p:nvPr/>
        </p:nvPicPr>
        <p:blipFill>
          <a:blip r:embed="rId2"/>
          <a:stretch>
            <a:fillRect/>
          </a:stretch>
        </p:blipFill>
        <p:spPr>
          <a:xfrm>
            <a:off x="1939925" y="1751648"/>
            <a:ext cx="5264150" cy="16402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示例</a:t>
            </a:r>
            <a:r>
              <a:rPr lang="en-US" altLang="zh-CN"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指定</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任务</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102" name="图片 13"/>
          <p:cNvPicPr>
            <a:picLocks noChangeAspect="1"/>
          </p:cNvPicPr>
          <p:nvPr/>
        </p:nvPicPr>
        <p:blipFill>
          <a:blip r:embed="rId2"/>
          <a:stretch>
            <a:fillRect/>
          </a:stretch>
        </p:blipFill>
        <p:spPr>
          <a:xfrm>
            <a:off x="1939608" y="1644333"/>
            <a:ext cx="5264785" cy="18548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遵守的法则</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graphicFrame>
        <p:nvGraphicFramePr>
          <p:cNvPr id="-2147482623" name="对象 -2147482624"/>
          <p:cNvGraphicFramePr/>
          <p:nvPr/>
        </p:nvGraphicFramePr>
        <p:xfrm>
          <a:off x="2559050" y="480695"/>
          <a:ext cx="4940935" cy="4399915"/>
        </p:xfrm>
        <a:graphic>
          <a:graphicData uri="http://schemas.openxmlformats.org/presentationml/2006/ole">
            <mc:AlternateContent xmlns:mc="http://schemas.openxmlformats.org/markup-compatibility/2006">
              <mc:Choice xmlns:v="urn:schemas-microsoft-com:vml" Requires="v">
                <p:oleObj spid="_x0000_s3076" name="" r:id="rId2" imgW="6772275" imgH="6457950" progId="PBrush">
                  <p:embed/>
                </p:oleObj>
              </mc:Choice>
              <mc:Fallback>
                <p:oleObj name="" r:id="rId2" imgW="6772275" imgH="6457950" progId="PBrush">
                  <p:embed/>
                  <p:pic>
                    <p:nvPicPr>
                      <p:cNvPr id="0" name="图片 3075"/>
                      <p:cNvPicPr/>
                      <p:nvPr/>
                    </p:nvPicPr>
                    <p:blipFill>
                      <a:blip r:embed="rId3"/>
                      <a:stretch>
                        <a:fillRect/>
                      </a:stretch>
                    </p:blipFill>
                    <p:spPr>
                      <a:xfrm>
                        <a:off x="2559050" y="480695"/>
                        <a:ext cx="4940935" cy="4399915"/>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63309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5" name="Text 2"/>
          <p:cNvSpPr/>
          <p:nvPr/>
        </p:nvSpPr>
        <p:spPr>
          <a:xfrm>
            <a:off x="865937" y="2437790"/>
            <a:ext cx="7518197" cy="69088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结构化Prompt</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449" name="图片 31"/>
          <p:cNvPicPr>
            <a:picLocks noChangeAspect="1"/>
          </p:cNvPicPr>
          <p:nvPr/>
        </p:nvPicPr>
        <p:blipFill>
          <a:blip r:embed="rId2"/>
          <a:stretch>
            <a:fillRect/>
          </a:stretch>
        </p:blipFill>
        <p:spPr>
          <a:xfrm>
            <a:off x="672465" y="1213485"/>
            <a:ext cx="7416165" cy="286194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CARE模板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854710" y="1120775"/>
            <a:ext cx="6526530" cy="2799715"/>
          </a:xfrm>
          <a:prstGeom prst="rect">
            <a:avLst/>
          </a:prstGeom>
        </p:spPr>
        <p:txBody>
          <a:bodyPr wrap="square">
            <a:spAutoFit/>
          </a:bodyPr>
          <a:p>
            <a:pPr marL="0" indent="266700" algn="just" defTabSz="266700">
              <a:spcBef>
                <a:spcPct val="0"/>
              </a:spcBef>
              <a:spcAft>
                <a:spcPct val="0"/>
              </a:spcAft>
            </a:pPr>
            <a:r>
              <a:rPr lang="zh-CN" altLang="en-US" sz="1600">
                <a:latin typeface="Calibri" panose="020F0502020204030204"/>
                <a:ea typeface="宋体" panose="02010600030101010101" pitchFamily="2" charset="-122"/>
              </a:rPr>
              <a:t>原理：</a:t>
            </a:r>
            <a:r>
              <a:rPr lang="en-US" altLang="zh-CN" sz="1600">
                <a:latin typeface="Calibri" panose="020F0502020204030204"/>
                <a:ea typeface="Calibri" panose="020F0502020204030204"/>
              </a:rPr>
              <a:t>CARE</a:t>
            </a:r>
            <a:r>
              <a:rPr lang="zh-CN" altLang="en-US" sz="1600">
                <a:latin typeface="Calibri" panose="020F0502020204030204"/>
                <a:ea typeface="宋体" panose="02010600030101010101" pitchFamily="2" charset="-122"/>
              </a:rPr>
              <a:t>模板强调：上下文指导、行动、结果和示例四个关键要素。</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功能</a:t>
            </a:r>
            <a:r>
              <a:rPr lang="en-US" altLang="zh-CN" sz="1600">
                <a:latin typeface="Calibri" panose="020F0502020204030204"/>
                <a:ea typeface="Calibri" panose="020F0502020204030204"/>
              </a:rPr>
              <a:t>CARE</a:t>
            </a:r>
            <a:r>
              <a:rPr lang="zh-CN" altLang="en-US" sz="1600">
                <a:latin typeface="Calibri" panose="020F0502020204030204"/>
                <a:ea typeface="宋体" panose="02010600030101010101" pitchFamily="2" charset="-122"/>
              </a:rPr>
              <a:t>模板帮助大模型更好地理解用户的需求。</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使用场景：适用于教育和培训，帮助用户理解复杂概念或流程。</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优点：通过示例增强理解，使交互更加直观。</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缺点：可能需要额外的时间提供示例。</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示例：</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Context: </a:t>
            </a:r>
            <a:r>
              <a:rPr lang="zh-CN" altLang="en-US" sz="1600">
                <a:latin typeface="Calibri" panose="020F0502020204030204"/>
                <a:ea typeface="宋体" panose="02010600030101010101" pitchFamily="2" charset="-122"/>
              </a:rPr>
              <a:t>学生正在学习基础数学概念。</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Action: </a:t>
            </a:r>
            <a:r>
              <a:rPr lang="zh-CN" altLang="en-US" sz="1600">
                <a:latin typeface="Calibri" panose="020F0502020204030204"/>
                <a:ea typeface="宋体" panose="02010600030101010101" pitchFamily="2" charset="-122"/>
              </a:rPr>
              <a:t>教授加法和减法的基本原理。</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Result: </a:t>
            </a:r>
            <a:r>
              <a:rPr lang="zh-CN" altLang="en-US" sz="1600">
                <a:latin typeface="Calibri" panose="020F0502020204030204"/>
                <a:ea typeface="宋体" panose="02010600030101010101" pitchFamily="2" charset="-122"/>
              </a:rPr>
              <a:t>学生能够解决简单的算术问题。</a:t>
            </a:r>
            <a:endParaRPr lang="zh-CN" altLang="en-US" sz="1600">
              <a:latin typeface="Calibri" panose="020F0502020204030204"/>
              <a:ea typeface="宋体" panose="02010600030101010101" pitchFamily="2" charset="-122"/>
            </a:endParaRPr>
          </a:p>
          <a:p>
            <a:pPr marL="0" indent="0" algn="just" defTabSz="266700">
              <a:spcBef>
                <a:spcPct val="0"/>
              </a:spcBef>
              <a:spcAft>
                <a:spcPct val="0"/>
              </a:spcAft>
            </a:pP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Example: </a:t>
            </a:r>
            <a:r>
              <a:rPr lang="zh-CN" altLang="en-US" sz="1600">
                <a:latin typeface="Calibri" panose="020F0502020204030204"/>
                <a:ea typeface="宋体" panose="02010600030101010101" pitchFamily="2" charset="-122"/>
              </a:rPr>
              <a:t>给出几个加减法的实际问题和解决方案。</a:t>
            </a:r>
            <a:endParaRPr lang="zh-CN" altLang="en-US" sz="1600">
              <a:latin typeface="Calibri" panose="020F0502020204030204"/>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CARE模板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801601" y="1138322"/>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8" name="Shape 5"/>
          <p:cNvSpPr/>
          <p:nvPr/>
        </p:nvSpPr>
        <p:spPr>
          <a:xfrm>
            <a:off x="1330124" y="1132915"/>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9" name="Shape 6"/>
          <p:cNvSpPr/>
          <p:nvPr/>
        </p:nvSpPr>
        <p:spPr>
          <a:xfrm>
            <a:off x="5495514" y="1529844"/>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0" name="Shape 7"/>
          <p:cNvSpPr/>
          <p:nvPr/>
        </p:nvSpPr>
        <p:spPr>
          <a:xfrm>
            <a:off x="2206032" y="3066458"/>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1" name="Text 8"/>
          <p:cNvSpPr/>
          <p:nvPr/>
        </p:nvSpPr>
        <p:spPr>
          <a:xfrm>
            <a:off x="703661" y="1129178"/>
            <a:ext cx="68819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2" name="Text 9"/>
          <p:cNvSpPr/>
          <p:nvPr/>
        </p:nvSpPr>
        <p:spPr>
          <a:xfrm>
            <a:off x="1330491" y="1187779"/>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上下文指导</a:t>
            </a:r>
            <a:endParaRPr lang="en-US" sz="1440" dirty="0"/>
          </a:p>
        </p:txBody>
      </p:sp>
      <p:sp>
        <p:nvSpPr>
          <p:cNvPr id="13" name="Text 10"/>
          <p:cNvSpPr/>
          <p:nvPr/>
        </p:nvSpPr>
        <p:spPr>
          <a:xfrm>
            <a:off x="1330491" y="1489531"/>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CARE模板强调在教育和培训中，通过提供具体的上下文信息来指导用户，帮助他们更好地理解复杂概念或流程，从而提升学习效率。</a:t>
            </a:r>
            <a:endParaRPr lang="en-US" sz="1440" dirty="0"/>
          </a:p>
        </p:txBody>
      </p:sp>
      <p:sp>
        <p:nvSpPr>
          <p:cNvPr id="14" name="Text 11"/>
          <p:cNvSpPr/>
          <p:nvPr/>
        </p:nvSpPr>
        <p:spPr>
          <a:xfrm>
            <a:off x="5495971" y="1584691"/>
            <a:ext cx="294436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行动导向</a:t>
            </a:r>
            <a:endParaRPr lang="en-US" sz="1440" dirty="0"/>
          </a:p>
        </p:txBody>
      </p:sp>
      <p:sp>
        <p:nvSpPr>
          <p:cNvPr id="15" name="Text 12"/>
          <p:cNvSpPr/>
          <p:nvPr/>
        </p:nvSpPr>
        <p:spPr>
          <a:xfrm>
            <a:off x="5495514" y="1886460"/>
            <a:ext cx="2944368"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在使用CARE模板时，重点在于引导用户采取实际行动，如教授基础数学概念中的加法和减法原理，以实现预期的学习结果。</a:t>
            </a:r>
            <a:endParaRPr lang="en-US" sz="1440" dirty="0"/>
          </a:p>
        </p:txBody>
      </p:sp>
      <p:sp>
        <p:nvSpPr>
          <p:cNvPr id="16" name="Text 13"/>
          <p:cNvSpPr/>
          <p:nvPr/>
        </p:nvSpPr>
        <p:spPr>
          <a:xfrm>
            <a:off x="2206075" y="3120882"/>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示例增强理解</a:t>
            </a:r>
            <a:endParaRPr lang="en-US" sz="1440" dirty="0"/>
          </a:p>
        </p:txBody>
      </p:sp>
      <p:sp>
        <p:nvSpPr>
          <p:cNvPr id="17" name="Text 14"/>
          <p:cNvSpPr/>
          <p:nvPr/>
        </p:nvSpPr>
        <p:spPr>
          <a:xfrm>
            <a:off x="2206075" y="3422634"/>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CARE模板通过提供具体示例，如解决简单算术问题的实际案例，帮助用户更直观地理解抽象概念，使交互过程更加生动有趣。</a:t>
            </a:r>
            <a:endParaRPr lang="en-US" sz="1440" dirty="0"/>
          </a:p>
        </p:txBody>
      </p:sp>
      <p:sp>
        <p:nvSpPr>
          <p:cNvPr id="18" name="Shape 15"/>
          <p:cNvSpPr/>
          <p:nvPr/>
        </p:nvSpPr>
        <p:spPr>
          <a:xfrm>
            <a:off x="1677184" y="3071780"/>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19" name="Text 16"/>
          <p:cNvSpPr/>
          <p:nvPr/>
        </p:nvSpPr>
        <p:spPr>
          <a:xfrm>
            <a:off x="1604032" y="3066373"/>
            <a:ext cx="650309"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20" name="Shape 17"/>
          <p:cNvSpPr/>
          <p:nvPr/>
        </p:nvSpPr>
        <p:spPr>
          <a:xfrm>
            <a:off x="4966302" y="1535251"/>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21" name="Text 18"/>
          <p:cNvSpPr/>
          <p:nvPr/>
        </p:nvSpPr>
        <p:spPr>
          <a:xfrm>
            <a:off x="4847430" y="1529844"/>
            <a:ext cx="73952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RACE模板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1140460" y="1172210"/>
            <a:ext cx="6765925" cy="2799715"/>
          </a:xfrm>
          <a:prstGeom prst="rect">
            <a:avLst/>
          </a:prstGeom>
        </p:spPr>
        <p:txBody>
          <a:bodyPr wrap="square">
            <a:spAutoFit/>
          </a:bodyPr>
          <a:p>
            <a:pPr marL="0" indent="266700" algn="just" defTabSz="266700">
              <a:spcBef>
                <a:spcPct val="0"/>
              </a:spcBef>
              <a:spcAft>
                <a:spcPct val="0"/>
              </a:spcAft>
            </a:pPr>
            <a:r>
              <a:rPr lang="zh-CN" altLang="en-US" sz="1600">
                <a:latin typeface="Calibri" panose="020F0502020204030204"/>
                <a:ea typeface="宋体" panose="02010600030101010101" pitchFamily="2" charset="-122"/>
              </a:rPr>
              <a:t>原理：</a:t>
            </a:r>
            <a:r>
              <a:rPr lang="en-US" altLang="zh-CN" sz="1600">
                <a:latin typeface="Calibri" panose="020F0502020204030204"/>
                <a:ea typeface="Calibri" panose="020F0502020204030204"/>
              </a:rPr>
              <a:t>RACE</a:t>
            </a:r>
            <a:r>
              <a:rPr lang="zh-CN" altLang="en-US" sz="1600">
                <a:latin typeface="Calibri" panose="020F0502020204030204"/>
                <a:ea typeface="宋体" panose="02010600030101010101" pitchFamily="2" charset="-122"/>
              </a:rPr>
              <a:t>模板通过定义角色、行动、结果和示例。</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功能：更准确地回应。</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使用场景：适用于内容创作和文案撰写，尤其是在需要模型提供结构化和目标导向的输出时。</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优点：有助于提高输出的质量和相关性。</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缺点：可能需要更多的前期规划来定义角色和行动。</a:t>
            </a:r>
            <a:endParaRPr lang="zh-CN" altLang="en-US" sz="16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600">
                <a:latin typeface="Calibri" panose="020F0502020204030204"/>
                <a:ea typeface="宋体" panose="02010600030101010101" pitchFamily="2" charset="-122"/>
              </a:rPr>
              <a:t>示例：</a:t>
            </a:r>
            <a:endParaRPr lang="zh-CN" altLang="en-US" sz="1600">
              <a:latin typeface="Calibri" panose="020F0502020204030204"/>
              <a:ea typeface="宋体" panose="02010600030101010101" pitchFamily="2" charset="-122"/>
            </a:endParaRPr>
          </a:p>
          <a:p>
            <a:pPr marL="266700" indent="266700" algn="just" defTabSz="266700">
              <a:spcBef>
                <a:spcPct val="0"/>
              </a:spcBef>
              <a:spcAft>
                <a:spcPct val="0"/>
              </a:spcAft>
            </a:pPr>
            <a:r>
              <a:rPr lang="en-US" altLang="zh-CN" sz="1600">
                <a:latin typeface="Calibri" panose="020F0502020204030204"/>
                <a:ea typeface="Calibri" panose="020F0502020204030204"/>
              </a:rPr>
              <a:t>Role: </a:t>
            </a:r>
            <a:r>
              <a:rPr lang="zh-CN" altLang="en-US" sz="1600">
                <a:latin typeface="Calibri" panose="020F0502020204030204"/>
                <a:ea typeface="宋体" panose="02010600030101010101" pitchFamily="2" charset="-122"/>
              </a:rPr>
              <a:t>旅行博主。</a:t>
            </a:r>
            <a:endParaRPr lang="zh-CN" altLang="en-US" sz="1600">
              <a:latin typeface="Calibri" panose="020F0502020204030204"/>
              <a:ea typeface="宋体" panose="02010600030101010101" pitchFamily="2" charset="-122"/>
            </a:endParaRPr>
          </a:p>
          <a:p>
            <a:pPr marL="266700" indent="266700" algn="just" defTabSz="266700">
              <a:spcBef>
                <a:spcPct val="0"/>
              </a:spcBef>
              <a:spcAft>
                <a:spcPct val="0"/>
              </a:spcAft>
            </a:pPr>
            <a:r>
              <a:rPr lang="en-US" altLang="zh-CN" sz="1600">
                <a:latin typeface="Calibri" panose="020F0502020204030204"/>
                <a:ea typeface="Calibri" panose="020F0502020204030204"/>
              </a:rPr>
              <a:t>Action: </a:t>
            </a:r>
            <a:r>
              <a:rPr lang="zh-CN" altLang="en-US" sz="1600">
                <a:latin typeface="Calibri" panose="020F0502020204030204"/>
                <a:ea typeface="宋体" panose="02010600030101010101" pitchFamily="2" charset="-122"/>
              </a:rPr>
              <a:t>写一篇关于最新旅行目的地的博文。</a:t>
            </a:r>
            <a:endParaRPr lang="zh-CN" altLang="en-US" sz="1600">
              <a:latin typeface="Calibri" panose="020F0502020204030204"/>
              <a:ea typeface="宋体" panose="02010600030101010101" pitchFamily="2" charset="-122"/>
            </a:endParaRPr>
          </a:p>
          <a:p>
            <a:pPr marL="266700" indent="266700" algn="just" defTabSz="266700">
              <a:spcBef>
                <a:spcPct val="0"/>
              </a:spcBef>
              <a:spcAft>
                <a:spcPct val="0"/>
              </a:spcAft>
            </a:pPr>
            <a:r>
              <a:rPr lang="en-US" altLang="zh-CN" sz="1600">
                <a:latin typeface="Calibri" panose="020F0502020204030204"/>
                <a:ea typeface="Calibri" panose="020F0502020204030204"/>
              </a:rPr>
              <a:t>Result: </a:t>
            </a:r>
            <a:r>
              <a:rPr lang="zh-CN" altLang="en-US" sz="1600">
                <a:latin typeface="Calibri" panose="020F0502020204030204"/>
                <a:ea typeface="宋体" panose="02010600030101010101" pitchFamily="2" charset="-122"/>
              </a:rPr>
              <a:t>博文应包含目的地的详细介绍和旅行建议。</a:t>
            </a:r>
            <a:endParaRPr lang="zh-CN" altLang="en-US" sz="1600">
              <a:latin typeface="Calibri" panose="020F0502020204030204"/>
              <a:ea typeface="宋体" panose="02010600030101010101" pitchFamily="2" charset="-122"/>
            </a:endParaRPr>
          </a:p>
          <a:p>
            <a:pPr marL="266700" indent="266700" algn="just" defTabSz="266700">
              <a:spcBef>
                <a:spcPct val="0"/>
              </a:spcBef>
              <a:spcAft>
                <a:spcPct val="0"/>
              </a:spcAft>
            </a:pPr>
            <a:r>
              <a:rPr lang="en-US" altLang="zh-CN" sz="1600">
                <a:latin typeface="Calibri" panose="020F0502020204030204"/>
                <a:ea typeface="Calibri" panose="020F0502020204030204"/>
              </a:rPr>
              <a:t>Example: </a:t>
            </a:r>
            <a:r>
              <a:rPr lang="zh-CN" altLang="en-US" sz="1600">
                <a:latin typeface="Calibri" panose="020F0502020204030204"/>
                <a:ea typeface="宋体" panose="02010600030101010101" pitchFamily="2" charset="-122"/>
              </a:rPr>
              <a:t>参考之前关于热门旅行地的博文。</a:t>
            </a:r>
            <a:endParaRPr lang="zh-CN" altLang="en-US" sz="1600">
              <a:latin typeface="Calibri" panose="020F0502020204030204"/>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RACE模板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8343851498caaf57a74e45aa1839180209ae38.jpg?authorization=c2ltcGxlLWp3dCBhaz1zcGFya2Rlc2s4MDAwMDAwMDAwMDE7ZXhwPTMzMTY4NTQ4MzQ7YWxnbz1obWFjLXNoYTI1NjtzaWc9RlVCUE5rMDE1bzMvczNFQzFGZ1h1OVE1bGpZR29iK0k3OHNvajM2cWl0MD0=&amp;x_location=7YfmxI7B7uKO7jlRxIftd60uePD="/>
          <p:cNvPicPr>
            <a:picLocks noChangeAspect="1"/>
          </p:cNvPicPr>
          <p:nvPr/>
        </p:nvPicPr>
        <p:blipFill>
          <a:blip r:embed="rId2"/>
          <a:stretch>
            <a:fillRect/>
          </a:stretch>
        </p:blipFill>
        <p:spPr>
          <a:xfrm>
            <a:off x="445242" y="1227435"/>
            <a:ext cx="2831634" cy="2831634"/>
          </a:xfrm>
          <a:prstGeom prst="rect">
            <a:avLst/>
          </a:prstGeom>
        </p:spPr>
      </p:pic>
      <p:sp>
        <p:nvSpPr>
          <p:cNvPr id="8" name="Text 4"/>
          <p:cNvSpPr/>
          <p:nvPr/>
        </p:nvSpPr>
        <p:spPr>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RACE模板概述</a:t>
            </a:r>
            <a:endParaRPr lang="en-US" sz="1440" dirty="0"/>
          </a:p>
        </p:txBody>
      </p:sp>
      <p:sp>
        <p:nvSpPr>
          <p:cNvPr id="9" name="Text 5"/>
          <p:cNvSpPr/>
          <p:nvPr/>
        </p:nvSpPr>
        <p:spPr>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RACE模板是一种内容创作工具，通过定义角色、行动、结果和示例来帮助用户更准确地回应。它适用于需要模型提供结构化和目标导向的输出的场景。</a:t>
            </a:r>
            <a:endParaRPr lang="en-US" sz="1440" dirty="0"/>
          </a:p>
        </p:txBody>
      </p:sp>
      <p:sp>
        <p:nvSpPr>
          <p:cNvPr id="10" name="Text 6"/>
          <p:cNvSpPr/>
          <p:nvPr/>
        </p:nvSpPr>
        <p:spPr>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RACE模板的优点</a:t>
            </a:r>
            <a:endParaRPr lang="en-US" sz="1440" dirty="0"/>
          </a:p>
        </p:txBody>
      </p:sp>
      <p:sp>
        <p:nvSpPr>
          <p:cNvPr id="11" name="Text 7"/>
          <p:cNvSpPr/>
          <p:nvPr/>
        </p:nvSpPr>
        <p:spPr>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RACE模板的优点在于提高输出的质量和相关性，有助于用户更好地理解和应用信息，从而提升工作效率和效果。</a:t>
            </a:r>
            <a:endParaRPr lang="en-US" sz="1440" dirty="0"/>
          </a:p>
        </p:txBody>
      </p:sp>
      <p:sp>
        <p:nvSpPr>
          <p:cNvPr id="12" name="Text 8"/>
          <p:cNvSpPr/>
          <p:nvPr/>
        </p:nvSpPr>
        <p:spPr>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RACE模板的应用实例</a:t>
            </a:r>
            <a:endParaRPr lang="en-US" sz="1440" dirty="0"/>
          </a:p>
        </p:txBody>
      </p:sp>
      <p:sp>
        <p:nvSpPr>
          <p:cNvPr id="13" name="Text 9"/>
          <p:cNvSpPr/>
          <p:nvPr/>
        </p:nvSpPr>
        <p:spPr>
          <a:xfrm>
            <a:off x="3485040" y="3491058"/>
            <a:ext cx="5213718" cy="841248"/>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例如，如果角色是旅行博主，行动是写一篇关于最新旅行目的地的博文，那么结果应该是博文包含目的地的详细介绍和旅行建议，同时可以参考之前关于热门旅行地的博文作为示例。</a:t>
            </a:r>
            <a:endParaRPr lang="en-US" sz="14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COAST模板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399415" y="984885"/>
            <a:ext cx="8133715" cy="3753485"/>
          </a:xfrm>
          <a:prstGeom prst="rect">
            <a:avLst/>
          </a:prstGeom>
        </p:spPr>
        <p:txBody>
          <a:bodyPr wrap="square">
            <a:spAutoFit/>
          </a:bodyPr>
          <a:p>
            <a:pPr marL="0" indent="266700" algn="just" defTabSz="266700">
              <a:spcBef>
                <a:spcPct val="0"/>
              </a:spcBef>
              <a:spcAft>
                <a:spcPct val="0"/>
              </a:spcAft>
            </a:pPr>
            <a:r>
              <a:rPr lang="zh-CN" altLang="en-US" sz="1400">
                <a:latin typeface="Calibri" panose="020F0502020204030204"/>
                <a:ea typeface="宋体" panose="02010600030101010101" pitchFamily="2" charset="-122"/>
              </a:rPr>
              <a:t>原理：涵盖了背景（</a:t>
            </a:r>
            <a:r>
              <a:rPr lang="en-US" altLang="zh-CN" sz="1400">
                <a:latin typeface="Calibri" panose="020F0502020204030204"/>
                <a:ea typeface="Calibri" panose="020F0502020204030204"/>
              </a:rPr>
              <a:t>Context</a:t>
            </a:r>
            <a:r>
              <a:rPr lang="zh-CN" altLang="en-US" sz="1400">
                <a:latin typeface="Calibri" panose="020F0502020204030204"/>
                <a:ea typeface="宋体" panose="02010600030101010101" pitchFamily="2" charset="-122"/>
              </a:rPr>
              <a:t>）、目标（</a:t>
            </a:r>
            <a:r>
              <a:rPr lang="en-US" altLang="zh-CN" sz="1400">
                <a:latin typeface="Calibri" panose="020F0502020204030204"/>
                <a:ea typeface="Calibri" panose="020F0502020204030204"/>
              </a:rPr>
              <a:t>Objective</a:t>
            </a:r>
            <a:r>
              <a:rPr lang="zh-CN" altLang="en-US" sz="1400">
                <a:latin typeface="Calibri" panose="020F0502020204030204"/>
                <a:ea typeface="宋体" panose="02010600030101010101" pitchFamily="2" charset="-122"/>
              </a:rPr>
              <a:t>）、行动（</a:t>
            </a:r>
            <a:r>
              <a:rPr lang="en-US" altLang="zh-CN" sz="1400">
                <a:latin typeface="Calibri" panose="020F0502020204030204"/>
                <a:ea typeface="Calibri" panose="020F0502020204030204"/>
              </a:rPr>
              <a:t>Actions</a:t>
            </a:r>
            <a:r>
              <a:rPr lang="zh-CN" altLang="en-US" sz="1400">
                <a:latin typeface="Calibri" panose="020F0502020204030204"/>
                <a:ea typeface="宋体" panose="02010600030101010101" pitchFamily="2" charset="-122"/>
              </a:rPr>
              <a:t>）、场景（</a:t>
            </a:r>
            <a:r>
              <a:rPr lang="en-US" altLang="zh-CN" sz="1400">
                <a:latin typeface="Calibri" panose="020F0502020204030204"/>
                <a:ea typeface="Calibri" panose="020F0502020204030204"/>
              </a:rPr>
              <a:t>Scenario</a:t>
            </a:r>
            <a:r>
              <a:rPr lang="zh-CN" altLang="en-US" sz="1400">
                <a:latin typeface="Calibri" panose="020F0502020204030204"/>
                <a:ea typeface="宋体" panose="02010600030101010101" pitchFamily="2" charset="-122"/>
              </a:rPr>
              <a:t>）和任务（</a:t>
            </a:r>
            <a:r>
              <a:rPr lang="en-US" altLang="zh-CN" sz="1400">
                <a:latin typeface="Calibri" panose="020F0502020204030204"/>
                <a:ea typeface="Calibri" panose="020F0502020204030204"/>
              </a:rPr>
              <a:t>Task</a:t>
            </a:r>
            <a:r>
              <a:rPr lang="zh-CN" altLang="en-US" sz="1400">
                <a:latin typeface="Calibri" panose="020F0502020204030204"/>
                <a:ea typeface="宋体" panose="02010600030101010101" pitchFamily="2" charset="-122"/>
              </a:rPr>
              <a:t>）五个方面。</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400">
                <a:latin typeface="Calibri" panose="020F0502020204030204"/>
                <a:ea typeface="宋体" panose="02010600030101010101" pitchFamily="2" charset="-122"/>
              </a:rPr>
              <a:t>功能：</a:t>
            </a:r>
            <a:r>
              <a:rPr lang="en-US" altLang="zh-CN" sz="1400">
                <a:latin typeface="Calibri" panose="020F0502020204030204"/>
                <a:ea typeface="Calibri" panose="020F0502020204030204"/>
              </a:rPr>
              <a:t>COAST</a:t>
            </a:r>
            <a:r>
              <a:rPr lang="zh-CN" altLang="en-US" sz="1400">
                <a:latin typeface="Calibri" panose="020F0502020204030204"/>
                <a:ea typeface="宋体" panose="02010600030101010101" pitchFamily="2" charset="-122"/>
              </a:rPr>
              <a:t>模板提供了一种全面的方法来理解和应对各种问题和挑战。它有助于用户将复杂的问题或任务分解为更小的、可管理的部分，从而更好地进行规划和执行。</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400">
                <a:latin typeface="Calibri" panose="020F0502020204030204"/>
                <a:ea typeface="宋体" panose="02010600030101010101" pitchFamily="2" charset="-122"/>
              </a:rPr>
              <a:t>使用场景：</a:t>
            </a:r>
            <a:r>
              <a:rPr lang="en-US" altLang="zh-CN" sz="1400">
                <a:latin typeface="Calibri" panose="020F0502020204030204"/>
                <a:ea typeface="Calibri" panose="020F0502020204030204"/>
              </a:rPr>
              <a:t>COAST</a:t>
            </a:r>
            <a:r>
              <a:rPr lang="zh-CN" altLang="en-US" sz="1400">
                <a:latin typeface="Calibri" panose="020F0502020204030204"/>
                <a:ea typeface="宋体" panose="02010600030101010101" pitchFamily="2" charset="-122"/>
              </a:rPr>
              <a:t>模板适用于需要全面、系统地分析和解决问题的场景。无论是在个人生活还是工作环境中，当用户面临一个复杂项目、决策制定或问题解决时，都可以使用这个模板来辅助思考和规划。</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400">
                <a:latin typeface="Calibri" panose="020F0502020204030204"/>
                <a:ea typeface="宋体" panose="02010600030101010101" pitchFamily="2" charset="-122"/>
              </a:rPr>
              <a:t>优点：</a:t>
            </a:r>
            <a:r>
              <a:rPr lang="en-US" altLang="zh-CN" sz="1400">
                <a:latin typeface="Calibri" panose="020F0502020204030204"/>
                <a:ea typeface="Calibri" panose="020F0502020204030204"/>
              </a:rPr>
              <a:t>COAST</a:t>
            </a:r>
            <a:r>
              <a:rPr lang="zh-CN" altLang="en-US" sz="1400">
                <a:latin typeface="Calibri" panose="020F0502020204030204"/>
                <a:ea typeface="宋体" panose="02010600030101010101" pitchFamily="2" charset="-122"/>
              </a:rPr>
              <a:t>模板的综合性使得它能够应对各种复杂情境，确保考虑到问题的所有关键方面。通过明确各个组成部分，它有助于提高解决方案的有效性和实施计划的成功率。</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400">
                <a:latin typeface="Calibri" panose="020F0502020204030204"/>
                <a:ea typeface="宋体" panose="02010600030101010101" pitchFamily="2" charset="-122"/>
              </a:rPr>
              <a:t>缺点：虽然</a:t>
            </a:r>
            <a:r>
              <a:rPr lang="en-US" altLang="zh-CN" sz="1400">
                <a:latin typeface="Calibri" panose="020F0502020204030204"/>
                <a:ea typeface="Calibri" panose="020F0502020204030204"/>
              </a:rPr>
              <a:t>COAST</a:t>
            </a:r>
            <a:r>
              <a:rPr lang="zh-CN" altLang="en-US" sz="1400">
                <a:latin typeface="Calibri" panose="020F0502020204030204"/>
                <a:ea typeface="宋体" panose="02010600030101010101" pitchFamily="2" charset="-122"/>
              </a:rPr>
              <a:t>模板提供了全面的视角，但对于某些简单或直观的问题，使用这一模板可能会显得过于复杂。此外，如果用户不熟悉该模板，可能需要一些时间来学习和适应。</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zh-CN" altLang="en-US" sz="1400">
                <a:latin typeface="Calibri" panose="020F0502020204030204"/>
                <a:ea typeface="宋体" panose="02010600030101010101" pitchFamily="2" charset="-122"/>
              </a:rPr>
              <a:t>示例：</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400">
                <a:latin typeface="Calibri" panose="020F0502020204030204"/>
                <a:ea typeface="宋体" panose="02010600030101010101" pitchFamily="2" charset="-122"/>
              </a:rPr>
              <a:t>   </a:t>
            </a:r>
            <a:r>
              <a:rPr lang="zh-CN" altLang="en-US" sz="1400">
                <a:latin typeface="Calibri" panose="020F0502020204030204"/>
                <a:ea typeface="宋体" panose="02010600030101010101" pitchFamily="2" charset="-122"/>
              </a:rPr>
              <a:t>背景（</a:t>
            </a:r>
            <a:r>
              <a:rPr lang="en-US" altLang="zh-CN" sz="1400">
                <a:latin typeface="Calibri" panose="020F0502020204030204"/>
                <a:ea typeface="Calibri" panose="020F0502020204030204"/>
              </a:rPr>
              <a:t>Context</a:t>
            </a:r>
            <a:r>
              <a:rPr lang="zh-CN" altLang="en-US" sz="1400">
                <a:latin typeface="Calibri" panose="020F0502020204030204"/>
                <a:ea typeface="宋体" panose="02010600030101010101" pitchFamily="2" charset="-122"/>
              </a:rPr>
              <a:t>）</a:t>
            </a:r>
            <a:r>
              <a:rPr lang="en-US" altLang="zh-CN" sz="1400">
                <a:latin typeface="Calibri" panose="020F0502020204030204"/>
                <a:ea typeface="Calibri" panose="020F0502020204030204"/>
              </a:rPr>
              <a:t>: </a:t>
            </a:r>
            <a:r>
              <a:rPr lang="zh-CN" altLang="en-US" sz="1400">
                <a:latin typeface="Calibri" panose="020F0502020204030204"/>
                <a:ea typeface="宋体" panose="02010600030101010101" pitchFamily="2" charset="-122"/>
              </a:rPr>
              <a:t>一家公司计划推出新产品，并希望进行市场调研来了解潜在客户的意见和反馈。</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400">
                <a:latin typeface="Calibri" panose="020F0502020204030204"/>
                <a:ea typeface="宋体" panose="02010600030101010101" pitchFamily="2" charset="-122"/>
              </a:rPr>
              <a:t>   </a:t>
            </a:r>
            <a:r>
              <a:rPr lang="zh-CN" altLang="en-US" sz="1400">
                <a:latin typeface="Calibri" panose="020F0502020204030204"/>
                <a:ea typeface="宋体" panose="02010600030101010101" pitchFamily="2" charset="-122"/>
              </a:rPr>
              <a:t>目标（</a:t>
            </a:r>
            <a:r>
              <a:rPr lang="en-US" altLang="zh-CN" sz="1400">
                <a:latin typeface="Calibri" panose="020F0502020204030204"/>
                <a:ea typeface="Calibri" panose="020F0502020204030204"/>
              </a:rPr>
              <a:t>Objective</a:t>
            </a:r>
            <a:r>
              <a:rPr lang="zh-CN" altLang="en-US" sz="1400">
                <a:latin typeface="Calibri" panose="020F0502020204030204"/>
                <a:ea typeface="宋体" panose="02010600030101010101" pitchFamily="2" charset="-122"/>
              </a:rPr>
              <a:t>）</a:t>
            </a:r>
            <a:r>
              <a:rPr lang="en-US" altLang="zh-CN" sz="1400">
                <a:latin typeface="Calibri" panose="020F0502020204030204"/>
                <a:ea typeface="Calibri" panose="020F0502020204030204"/>
              </a:rPr>
              <a:t>: </a:t>
            </a:r>
            <a:r>
              <a:rPr lang="zh-CN" altLang="en-US" sz="1400">
                <a:latin typeface="Calibri" panose="020F0502020204030204"/>
                <a:ea typeface="宋体" panose="02010600030101010101" pitchFamily="2" charset="-122"/>
              </a:rPr>
              <a:t>收集目标受众对新产品的看法，评估市场接受度，以便调整产品策略。</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400">
                <a:latin typeface="Calibri" panose="020F0502020204030204"/>
                <a:ea typeface="宋体" panose="02010600030101010101" pitchFamily="2" charset="-122"/>
              </a:rPr>
              <a:t>   </a:t>
            </a:r>
            <a:r>
              <a:rPr lang="zh-CN" altLang="en-US" sz="1400">
                <a:latin typeface="Calibri" panose="020F0502020204030204"/>
                <a:ea typeface="宋体" panose="02010600030101010101" pitchFamily="2" charset="-122"/>
              </a:rPr>
              <a:t>行动（</a:t>
            </a:r>
            <a:r>
              <a:rPr lang="en-US" altLang="zh-CN" sz="1400">
                <a:latin typeface="Calibri" panose="020F0502020204030204"/>
                <a:ea typeface="Calibri" panose="020F0502020204030204"/>
              </a:rPr>
              <a:t>Actions</a:t>
            </a:r>
            <a:r>
              <a:rPr lang="zh-CN" altLang="en-US" sz="1400">
                <a:latin typeface="Calibri" panose="020F0502020204030204"/>
                <a:ea typeface="宋体" panose="02010600030101010101" pitchFamily="2" charset="-122"/>
              </a:rPr>
              <a:t>）</a:t>
            </a:r>
            <a:r>
              <a:rPr lang="en-US" altLang="zh-CN" sz="1400">
                <a:latin typeface="Calibri" panose="020F0502020204030204"/>
                <a:ea typeface="Calibri" panose="020F0502020204030204"/>
              </a:rPr>
              <a:t>: </a:t>
            </a:r>
            <a:r>
              <a:rPr lang="zh-CN" altLang="en-US" sz="1400">
                <a:latin typeface="Calibri" panose="020F0502020204030204"/>
                <a:ea typeface="宋体" panose="02010600030101010101" pitchFamily="2" charset="-122"/>
              </a:rPr>
              <a:t>设计并发放调查问卷，收集和分析数据，组织焦点小组讨论。</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400">
                <a:latin typeface="Calibri" panose="020F0502020204030204"/>
                <a:ea typeface="宋体" panose="02010600030101010101" pitchFamily="2" charset="-122"/>
              </a:rPr>
              <a:t>   </a:t>
            </a:r>
            <a:r>
              <a:rPr lang="zh-CN" altLang="en-US" sz="1400">
                <a:latin typeface="Calibri" panose="020F0502020204030204"/>
                <a:ea typeface="宋体" panose="02010600030101010101" pitchFamily="2" charset="-122"/>
              </a:rPr>
              <a:t>场景（</a:t>
            </a:r>
            <a:r>
              <a:rPr lang="en-US" altLang="zh-CN" sz="1400">
                <a:latin typeface="Calibri" panose="020F0502020204030204"/>
                <a:ea typeface="Calibri" panose="020F0502020204030204"/>
              </a:rPr>
              <a:t>Scenario</a:t>
            </a:r>
            <a:r>
              <a:rPr lang="zh-CN" altLang="en-US" sz="1400">
                <a:latin typeface="Calibri" panose="020F0502020204030204"/>
                <a:ea typeface="宋体" panose="02010600030101010101" pitchFamily="2" charset="-122"/>
              </a:rPr>
              <a:t>）</a:t>
            </a:r>
            <a:r>
              <a:rPr lang="en-US" altLang="zh-CN" sz="1400">
                <a:latin typeface="Calibri" panose="020F0502020204030204"/>
                <a:ea typeface="Calibri" panose="020F0502020204030204"/>
              </a:rPr>
              <a:t>: </a:t>
            </a:r>
            <a:r>
              <a:rPr lang="zh-CN" altLang="en-US" sz="1400">
                <a:latin typeface="Calibri" panose="020F0502020204030204"/>
                <a:ea typeface="宋体" panose="02010600030101010101" pitchFamily="2" charset="-122"/>
              </a:rPr>
              <a:t>在新产品发布前的几个月内，在不同的市场细分中进行调研活动。</a:t>
            </a:r>
            <a:endParaRPr lang="zh-CN" altLang="en-US" sz="1400">
              <a:latin typeface="Calibri" panose="020F0502020204030204"/>
              <a:ea typeface="宋体" panose="02010600030101010101" pitchFamily="2" charset="-122"/>
            </a:endParaRPr>
          </a:p>
          <a:p>
            <a:pPr marL="0" indent="266700" algn="just" defTabSz="266700">
              <a:spcBef>
                <a:spcPct val="0"/>
              </a:spcBef>
              <a:spcAft>
                <a:spcPct val="0"/>
              </a:spcAft>
            </a:pPr>
            <a:r>
              <a:rPr lang="en-US" altLang="zh-CN" sz="1400">
                <a:latin typeface="Calibri" panose="020F0502020204030204"/>
                <a:ea typeface="宋体" panose="02010600030101010101" pitchFamily="2" charset="-122"/>
              </a:rPr>
              <a:t>   </a:t>
            </a:r>
            <a:r>
              <a:rPr lang="zh-CN" altLang="en-US" sz="1400">
                <a:latin typeface="Calibri" panose="020F0502020204030204"/>
                <a:ea typeface="宋体" panose="02010600030101010101" pitchFamily="2" charset="-122"/>
              </a:rPr>
              <a:t>任务（</a:t>
            </a:r>
            <a:r>
              <a:rPr lang="en-US" altLang="zh-CN" sz="1400">
                <a:latin typeface="Calibri" panose="020F0502020204030204"/>
                <a:ea typeface="Calibri" panose="020F0502020204030204"/>
              </a:rPr>
              <a:t>Task</a:t>
            </a:r>
            <a:r>
              <a:rPr lang="zh-CN" altLang="en-US" sz="1400">
                <a:latin typeface="Calibri" panose="020F0502020204030204"/>
                <a:ea typeface="宋体" panose="02010600030101010101" pitchFamily="2" charset="-122"/>
              </a:rPr>
              <a:t>）</a:t>
            </a:r>
            <a:r>
              <a:rPr lang="en-US" altLang="zh-CN" sz="1400">
                <a:latin typeface="Calibri" panose="020F0502020204030204"/>
                <a:ea typeface="Calibri" panose="020F0502020204030204"/>
              </a:rPr>
              <a:t>: </a:t>
            </a:r>
            <a:r>
              <a:rPr lang="zh-CN" altLang="en-US" sz="1400">
                <a:latin typeface="Calibri" panose="020F0502020204030204"/>
                <a:ea typeface="宋体" panose="02010600030101010101" pitchFamily="2" charset="-122"/>
              </a:rPr>
              <a:t>制定调研计划，明确调研目标、设计问卷、确定样本规模、分析数据并撰写报告。</a:t>
            </a:r>
            <a:endParaRPr lang="zh-CN" altLang="en-US" sz="1400">
              <a:latin typeface="Calibri" panose="020F0502020204030204"/>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COAST模板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801601" y="1138322"/>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8" name="Shape 5"/>
          <p:cNvSpPr/>
          <p:nvPr/>
        </p:nvSpPr>
        <p:spPr>
          <a:xfrm>
            <a:off x="1330124" y="1132915"/>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9" name="Shape 6"/>
          <p:cNvSpPr/>
          <p:nvPr/>
        </p:nvSpPr>
        <p:spPr>
          <a:xfrm>
            <a:off x="5495514" y="1529844"/>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0" name="Shape 7"/>
          <p:cNvSpPr/>
          <p:nvPr/>
        </p:nvSpPr>
        <p:spPr>
          <a:xfrm>
            <a:off x="2206032" y="3066458"/>
            <a:ext cx="2944368" cy="1645920"/>
          </a:xfrm>
          <a:custGeom>
            <a:avLst/>
            <a:gdLst/>
            <a:ahLst/>
            <a:cxnLst/>
            <a:rect l="l" t="t" r="r" b="b"/>
            <a:pathLst>
              <a:path w="2944368" h="1645920">
                <a:moveTo>
                  <a:pt x="0" y="0"/>
                </a:moveTo>
                <a:moveTo>
                  <a:pt x="0" y="0"/>
                </a:moveTo>
                <a:lnTo>
                  <a:pt x="2944368" y="0"/>
                </a:lnTo>
                <a:lnTo>
                  <a:pt x="2944368" y="1645920"/>
                </a:lnTo>
                <a:lnTo>
                  <a:pt x="0" y="1645920"/>
                </a:lnTo>
                <a:close/>
              </a:path>
            </a:pathLst>
          </a:custGeom>
          <a:solidFill>
            <a:srgbClr val="1859AE">
              <a:alpha val="10000"/>
            </a:srgbClr>
          </a:solidFill>
        </p:spPr>
      </p:sp>
      <p:sp>
        <p:nvSpPr>
          <p:cNvPr id="11" name="Text 8"/>
          <p:cNvSpPr/>
          <p:nvPr/>
        </p:nvSpPr>
        <p:spPr>
          <a:xfrm>
            <a:off x="703661" y="1129178"/>
            <a:ext cx="68819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2" name="Text 9"/>
          <p:cNvSpPr/>
          <p:nvPr/>
        </p:nvSpPr>
        <p:spPr>
          <a:xfrm>
            <a:off x="1330491" y="1187779"/>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COAST模板概述</a:t>
            </a:r>
            <a:endParaRPr lang="en-US" sz="1440" dirty="0"/>
          </a:p>
        </p:txBody>
      </p:sp>
      <p:sp>
        <p:nvSpPr>
          <p:cNvPr id="13" name="Text 10"/>
          <p:cNvSpPr/>
          <p:nvPr/>
        </p:nvSpPr>
        <p:spPr>
          <a:xfrm>
            <a:off x="1330491" y="1489531"/>
            <a:ext cx="2944368" cy="123444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COAST模板是一种全面的方法，用于理解和应对各种问题和挑战。它涵盖了背景、目标、行动、场景和任务五个方面，适用于需要全面、系统地分析和解决问题的场景。</a:t>
            </a:r>
            <a:endParaRPr lang="en-US" sz="1440" dirty="0"/>
          </a:p>
        </p:txBody>
      </p:sp>
      <p:sp>
        <p:nvSpPr>
          <p:cNvPr id="14" name="Text 11"/>
          <p:cNvSpPr/>
          <p:nvPr/>
        </p:nvSpPr>
        <p:spPr>
          <a:xfrm>
            <a:off x="5495971" y="1584691"/>
            <a:ext cx="294436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COAST模板的优点</a:t>
            </a:r>
            <a:endParaRPr lang="en-US" sz="1440" dirty="0"/>
          </a:p>
        </p:txBody>
      </p:sp>
      <p:sp>
        <p:nvSpPr>
          <p:cNvPr id="15" name="Text 12"/>
          <p:cNvSpPr/>
          <p:nvPr/>
        </p:nvSpPr>
        <p:spPr>
          <a:xfrm>
            <a:off x="5495514" y="1886460"/>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COAST模板的优点是其综合性能够应对各种复杂情境，确保考虑到问题的所有关键方面，提高解决方案的有效性和实施计划的成功率。</a:t>
            </a:r>
            <a:endParaRPr lang="en-US" sz="1440" dirty="0"/>
          </a:p>
        </p:txBody>
      </p:sp>
      <p:sp>
        <p:nvSpPr>
          <p:cNvPr id="16" name="Text 13"/>
          <p:cNvSpPr/>
          <p:nvPr/>
        </p:nvSpPr>
        <p:spPr>
          <a:xfrm>
            <a:off x="2206075" y="3120882"/>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COAST模板的缺点</a:t>
            </a:r>
            <a:endParaRPr lang="en-US" sz="1440" dirty="0"/>
          </a:p>
        </p:txBody>
      </p:sp>
      <p:sp>
        <p:nvSpPr>
          <p:cNvPr id="17" name="Text 14"/>
          <p:cNvSpPr/>
          <p:nvPr/>
        </p:nvSpPr>
        <p:spPr>
          <a:xfrm>
            <a:off x="2206075" y="3422634"/>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COAST模板的缺点是对于某些简单或直观的问题，使用这一模板可能会显得过于复杂，且如果用户不熟悉该模板，可能需要一些时间来学习和适应。</a:t>
            </a:r>
            <a:endParaRPr lang="en-US" sz="1440" dirty="0"/>
          </a:p>
        </p:txBody>
      </p:sp>
      <p:sp>
        <p:nvSpPr>
          <p:cNvPr id="18" name="Shape 15"/>
          <p:cNvSpPr/>
          <p:nvPr/>
        </p:nvSpPr>
        <p:spPr>
          <a:xfrm>
            <a:off x="1677184" y="3071780"/>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19" name="Text 16"/>
          <p:cNvSpPr/>
          <p:nvPr/>
        </p:nvSpPr>
        <p:spPr>
          <a:xfrm>
            <a:off x="1604032" y="3066373"/>
            <a:ext cx="650309"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20" name="Shape 17"/>
          <p:cNvSpPr/>
          <p:nvPr/>
        </p:nvSpPr>
        <p:spPr>
          <a:xfrm>
            <a:off x="4966302" y="1535251"/>
            <a:ext cx="528891" cy="391522"/>
          </a:xfrm>
          <a:custGeom>
            <a:avLst/>
            <a:gdLst/>
            <a:ahLst/>
            <a:cxnLst/>
            <a:rect l="l" t="t" r="r" b="b"/>
            <a:pathLst>
              <a:path w="528891" h="391522">
                <a:moveTo>
                  <a:pt x="0" y="0"/>
                </a:moveTo>
                <a:moveTo>
                  <a:pt x="0" y="0"/>
                </a:moveTo>
                <a:lnTo>
                  <a:pt x="528891" y="0"/>
                </a:lnTo>
                <a:lnTo>
                  <a:pt x="528891" y="391522"/>
                </a:lnTo>
                <a:lnTo>
                  <a:pt x="0" y="391522"/>
                </a:lnTo>
                <a:close/>
              </a:path>
            </a:pathLst>
          </a:custGeom>
          <a:solidFill>
            <a:srgbClr val="1859AE"/>
          </a:solidFill>
        </p:spPr>
      </p:sp>
      <p:sp>
        <p:nvSpPr>
          <p:cNvPr id="21" name="Text 18"/>
          <p:cNvSpPr/>
          <p:nvPr/>
        </p:nvSpPr>
        <p:spPr>
          <a:xfrm>
            <a:off x="4847430" y="1529844"/>
            <a:ext cx="73952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CRISPE模板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817880" y="984885"/>
            <a:ext cx="7297420" cy="3538220"/>
          </a:xfrm>
          <a:prstGeom prst="rect">
            <a:avLst/>
          </a:prstGeom>
        </p:spPr>
        <p:txBody>
          <a:bodyPr wrap="square">
            <a:spAutoFit/>
          </a:bodyPr>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原理：</a:t>
            </a:r>
            <a:r>
              <a:rPr lang="en-US" altLang="zh-CN" sz="1600">
                <a:latin typeface="Calibri" panose="020F0502020204030204"/>
                <a:ea typeface="宋体" panose="02010600030101010101" pitchFamily="2" charset="-122"/>
              </a:rPr>
              <a:t>CRISPE</a:t>
            </a:r>
            <a:r>
              <a:rPr lang="zh-CN" altLang="en-US" sz="1600">
                <a:latin typeface="Calibri" panose="020F0502020204030204"/>
                <a:ea typeface="宋体" panose="02010600030101010101" pitchFamily="2" charset="-122"/>
              </a:rPr>
              <a:t>模板</a:t>
            </a:r>
            <a:r>
              <a:rPr lang="zh-CN" altLang="en-US" sz="1600">
                <a:latin typeface="宋体" panose="02010600030101010101" pitchFamily="2" charset="-122"/>
                <a:ea typeface="宋体" panose="02010600030101010101" pitchFamily="2" charset="-122"/>
              </a:rPr>
              <a:t>通过定义能力和角色、提供洞察（背景简介和上下文）、明确声明（你要求</a:t>
            </a:r>
            <a:r>
              <a:rPr lang="en-US" altLang="zh-CN" sz="1600">
                <a:latin typeface="Calibri" panose="020F0502020204030204"/>
                <a:ea typeface="宋体" panose="02010600030101010101" pitchFamily="2" charset="-122"/>
              </a:rPr>
              <a:t>GPT</a:t>
            </a:r>
            <a:r>
              <a:rPr lang="zh-CN" altLang="en-US" sz="1600">
                <a:latin typeface="宋体" panose="02010600030101010101" pitchFamily="2" charset="-122"/>
                <a:ea typeface="宋体" panose="02010600030101010101" pitchFamily="2" charset="-122"/>
              </a:rPr>
              <a:t>做什么）、设定个性（你希望</a:t>
            </a:r>
            <a:r>
              <a:rPr lang="en-US" altLang="zh-CN" sz="1600">
                <a:latin typeface="Calibri" panose="020F0502020204030204"/>
                <a:ea typeface="宋体" panose="02010600030101010101" pitchFamily="2" charset="-122"/>
              </a:rPr>
              <a:t>GPT</a:t>
            </a:r>
            <a:r>
              <a:rPr lang="zh-CN" altLang="en-US" sz="1600">
                <a:latin typeface="宋体" panose="02010600030101010101" pitchFamily="2" charset="-122"/>
                <a:ea typeface="宋体" panose="02010600030101010101" pitchFamily="2" charset="-122"/>
              </a:rPr>
              <a:t>以何种风格、个性或方式回应）和进行实验</a:t>
            </a:r>
            <a:r>
              <a:rPr lang="en-US" altLang="zh-CN" sz="1600">
                <a:latin typeface="Calibri" panose="020F0502020204030204"/>
                <a:ea typeface="宋体" panose="02010600030101010101" pitchFamily="2" charset="-122"/>
              </a:rPr>
              <a:t>(</a:t>
            </a:r>
            <a:r>
              <a:rPr lang="zh-CN" altLang="en-US" sz="1600">
                <a:latin typeface="宋体" panose="02010600030101010101" pitchFamily="2" charset="-122"/>
                <a:ea typeface="宋体" panose="02010600030101010101" pitchFamily="2" charset="-122"/>
              </a:rPr>
              <a:t>请求</a:t>
            </a:r>
            <a:r>
              <a:rPr lang="en-US" altLang="zh-CN" sz="1600">
                <a:latin typeface="Calibri" panose="020F0502020204030204"/>
                <a:ea typeface="宋体" panose="02010600030101010101" pitchFamily="2" charset="-122"/>
              </a:rPr>
              <a:t>GPT</a:t>
            </a:r>
            <a:r>
              <a:rPr lang="zh-CN" altLang="en-US" sz="1600">
                <a:latin typeface="宋体" panose="02010600030101010101" pitchFamily="2" charset="-122"/>
                <a:ea typeface="宋体" panose="02010600030101010101" pitchFamily="2" charset="-122"/>
              </a:rPr>
              <a:t>为你回复多个示例</a:t>
            </a:r>
            <a:r>
              <a:rPr lang="en-US" altLang="zh-CN" sz="1600">
                <a:latin typeface="Calibri" panose="020F0502020204030204"/>
                <a:ea typeface="宋体" panose="02010600030101010101" pitchFamily="2" charset="-122"/>
              </a:rPr>
              <a:t>)</a:t>
            </a:r>
            <a:r>
              <a:rPr lang="zh-CN" altLang="en-US" sz="1600">
                <a:latin typeface="宋体" panose="02010600030101010101" pitchFamily="2" charset="-122"/>
                <a:ea typeface="宋体" panose="02010600030101010101" pitchFamily="2" charset="-122"/>
              </a:rPr>
              <a:t>来创建结构化的</a:t>
            </a:r>
            <a:r>
              <a:rPr lang="en-US" altLang="zh-CN" sz="1600">
                <a:latin typeface="Calibri" panose="020F0502020204030204"/>
                <a:ea typeface="宋体" panose="02010600030101010101" pitchFamily="2" charset="-122"/>
              </a:rPr>
              <a:t>Prompt</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功能：确保</a:t>
            </a:r>
            <a:r>
              <a:rPr lang="en-US" altLang="zh-CN" sz="1600">
                <a:latin typeface="Calibri" panose="020F0502020204030204"/>
                <a:ea typeface="宋体" panose="02010600030101010101" pitchFamily="2" charset="-122"/>
              </a:rPr>
              <a:t>Prompt</a:t>
            </a:r>
            <a:r>
              <a:rPr lang="zh-CN" altLang="en-US" sz="1600">
                <a:latin typeface="宋体" panose="02010600030101010101" pitchFamily="2" charset="-122"/>
                <a:ea typeface="宋体" panose="02010600030101010101" pitchFamily="2" charset="-122"/>
              </a:rPr>
              <a:t>具有明确的目的和结构，使大模型能够更有效地理解和回应用户请求。</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使用场景：适用于内容创作和决策支持，尤其是在需要模型提供多样化解决方案时。</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优点：有助于创建内容丰富、结构清晰的</a:t>
            </a:r>
            <a:r>
              <a:rPr lang="en-US" altLang="zh-CN" sz="1600">
                <a:latin typeface="Calibri" panose="020F0502020204030204"/>
                <a:ea typeface="宋体" panose="02010600030101010101" pitchFamily="2" charset="-122"/>
              </a:rPr>
              <a:t>Prompt</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缺点可能需要较多的时间和精力来构思和细化每个部分。</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zh-CN" altLang="en-US" sz="1600">
                <a:latin typeface="宋体" panose="02010600030101010101" pitchFamily="2" charset="-122"/>
                <a:ea typeface="宋体" panose="02010600030101010101" pitchFamily="2" charset="-122"/>
              </a:rPr>
              <a:t>示例：</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Capacity and Role: </a:t>
            </a:r>
            <a:r>
              <a:rPr lang="zh-CN" altLang="en-US" sz="1600">
                <a:latin typeface="宋体" panose="02010600030101010101" pitchFamily="2" charset="-122"/>
                <a:ea typeface="宋体" panose="02010600030101010101" pitchFamily="2" charset="-122"/>
              </a:rPr>
              <a:t>作为市场分析师，分析最新消费趋势。</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Insight: </a:t>
            </a:r>
            <a:r>
              <a:rPr lang="zh-CN" altLang="en-US" sz="1600">
                <a:latin typeface="宋体" panose="02010600030101010101" pitchFamily="2" charset="-122"/>
                <a:ea typeface="宋体" panose="02010600030101010101" pitchFamily="2" charset="-122"/>
              </a:rPr>
              <a:t>目标受众是年轻消费者，对可持续产品感兴趣。</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Statement: </a:t>
            </a:r>
            <a:r>
              <a:rPr lang="zh-CN" altLang="en-US" sz="1600">
                <a:latin typeface="宋体" panose="02010600030101010101" pitchFamily="2" charset="-122"/>
                <a:ea typeface="宋体" panose="02010600030101010101" pitchFamily="2" charset="-122"/>
              </a:rPr>
              <a:t>提供关于可持续消费趋势的分析报告。</a:t>
            </a:r>
            <a:endParaRPr lang="zh-CN" altLang="en-US" sz="1600">
              <a:latin typeface="宋体" panose="02010600030101010101" pitchFamily="2" charset="-122"/>
              <a:ea typeface="宋体" panose="02010600030101010101" pitchFamily="2" charset="-122"/>
            </a:endParaRPr>
          </a:p>
          <a:p>
            <a:pPr marL="0" indent="266700" algn="just" defTabSz="266700">
              <a:spcBef>
                <a:spcPct val="0"/>
              </a:spcBef>
              <a:spcAft>
                <a:spcPct val="0"/>
              </a:spcAft>
            </a:pPr>
            <a:r>
              <a:rPr lang="en-US" altLang="zh-CN" sz="1600">
                <a:latin typeface="Calibri" panose="020F0502020204030204"/>
                <a:ea typeface="宋体" panose="02010600030101010101" pitchFamily="2" charset="-122"/>
              </a:rPr>
              <a:t>    Personality: </a:t>
            </a:r>
            <a:r>
              <a:rPr lang="zh-CN" altLang="en-US" sz="1600">
                <a:latin typeface="宋体" panose="02010600030101010101" pitchFamily="2" charset="-122"/>
                <a:ea typeface="宋体" panose="02010600030101010101" pitchFamily="2" charset="-122"/>
              </a:rPr>
              <a:t>报告应包含数据图表和清晰结论。</a:t>
            </a:r>
            <a:endParaRPr lang="zh-CN" altLang="en-US" sz="1600">
              <a:latin typeface="宋体" panose="02010600030101010101" pitchFamily="2" charset="-122"/>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CRISPE模板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CRISPE模板定义</a:t>
            </a:r>
            <a:endParaRPr lang="en-US" sz="1440" dirty="0"/>
          </a:p>
        </p:txBody>
      </p:sp>
      <p:pic>
        <p:nvPicPr>
          <p:cNvPr id="11" name="Image 0" descr="https://sgw-dx.xf-yun.com/api/v1/sparkdesk/_174005485114429f547661dd749db8aeea15f6011b4c2.jpg?authorization=c2ltcGxlLWp3dCBhaz1zcGFya2Rlc2s4MDAwMDAwMDAwMDE7ZXhwPTMzMTY4NTQ4NTE7YWxnbz1obWFjLXNoYTI1NjtzaWc9eUpwWUh0eFVaeEtSdS9hYiszeVVybmgyS2ExYVl6b2xqS1pyV2dxSk03Zz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499616"/>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CRISPE模板是一种结构化的Prompt创建方法，通过定义能力、角色、提供洞察、明确声明、设定个性和进行实验来构建，使大模型更有效地理解和回应用户请求。</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CRISPE模板功能</a:t>
            </a:r>
            <a:endParaRPr lang="en-US" sz="1440" dirty="0"/>
          </a:p>
        </p:txBody>
      </p:sp>
      <p:pic>
        <p:nvPicPr>
          <p:cNvPr id="14" name="Image 1" descr="https://sgw-dx.xf-yun.com/api/v1/sparkdesk/_1740054854551dec94b5fbcfc451ba5910c63a44d38d2.jpg?authorization=c2ltcGxlLWp3dCBhaz1zcGFya2Rlc2s4MDAwMDAwMDAwMDE7ZXhwPTMzMTY4NTQ4NTQ7YWxnbz1obWFjLXNoYTI1NjtzaWc9dXdDTkhnVU13OXVxdTJiVDJSVXJ4ZDF5WnZsWmNQNWZTZlBLUWVWbDgxTT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CRISPE模板的功能是确保Prompt具有明确的目的和结构，有助于创建内容丰富、结构清晰的Prompt，但需要较多的时间和精力来构思和细化每个部分。</a:t>
            </a:r>
            <a:endParaRPr lang="en-US" sz="1440" dirty="0"/>
          </a:p>
        </p:txBody>
      </p:sp>
      <p:sp>
        <p:nvSpPr>
          <p:cNvPr id="16" name="Text 11"/>
          <p:cNvSpPr/>
          <p:nvPr/>
        </p:nvSpPr>
        <p:spPr>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CRISPE模板应用</a:t>
            </a:r>
            <a:endParaRPr lang="en-US" sz="1440" dirty="0"/>
          </a:p>
        </p:txBody>
      </p:sp>
      <p:pic>
        <p:nvPicPr>
          <p:cNvPr id="17" name="Image 2" descr="https://sgw-dx.xf-yun.com/api/v1/sparkdesk/_174005485741384409d481e9941a48d9eda5ae277ec0d.jpg?authorization=c2ltcGxlLWp3dCBhaz1zcGFya2Rlc2s4MDAwMDAwMDAwMDE7ZXhwPTMzMTY4NTQ4NTc7YWxnbz1obWFjLXNoYTI1NjtzaWc9cHNOdWY3K2c0RHE4bFZJR0lLL1gyUUY4eDJNWXc2Z3FsTjBja05USEs2RT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CRISPE模板适用于内容创作和决策支持场景，尤其是在需要模型提供多样化解决方案时，其优点在于有助于创建内容丰富、结构清晰的Prompt。</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RISE模板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859817317a184d5bf047aa9cf6c55ab7d6e70c.jpg?authorization=c2ltcGxlLWp3dCBhaz1zcGFya2Rlc2s4MDAwMDAwMDAwMDE7ZXhwPTMzMTY4NTQ4NTk7YWxnbz1obWFjLXNoYTI1NjtzaWc9TG1ZdTI5aEJvSGJ4ejZGM1V4WUZMSytVU29uR1RJLy9SK1lRTmhlV0VXQT0=&amp;x_location=7YfmxI7B7uKO7jlRxIftd60uePD="/>
          <p:cNvPicPr>
            <a:picLocks noChangeAspect="1"/>
          </p:cNvPicPr>
          <p:nvPr/>
        </p:nvPicPr>
        <p:blipFill>
          <a:blip r:embed="rId2"/>
          <a:srcRect/>
          <a:stretch>
            <a:fillRect/>
          </a:stretch>
        </p:blipFill>
        <p:spPr>
          <a:xfrm>
            <a:off x="505361" y="2646298"/>
            <a:ext cx="2516140" cy="1415329"/>
          </a:xfrm>
          <a:prstGeom prst="rect">
            <a:avLst/>
          </a:prstGeom>
        </p:spPr>
      </p:pic>
      <p:sp>
        <p:nvSpPr>
          <p:cNvPr id="8" name="Text 4"/>
          <p:cNvSpPr/>
          <p:nvPr/>
        </p:nvSpPr>
        <p:spPr>
          <a:xfrm>
            <a:off x="455940"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RISE模板的构成</a:t>
            </a:r>
            <a:endParaRPr lang="en-US" sz="1440" dirty="0"/>
          </a:p>
        </p:txBody>
      </p:sp>
      <p:sp>
        <p:nvSpPr>
          <p:cNvPr id="9" name="Text 5"/>
          <p:cNvSpPr/>
          <p:nvPr/>
        </p:nvSpPr>
        <p:spPr>
          <a:xfrm>
            <a:off x="3247889" y="1290078"/>
            <a:ext cx="2614983"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RISE模板适用于需要详细规划和执行的任务，它帮助用户明确每个步骤的预期结果，从而提高任务完成的成功率，尤其在项目管理中表现突出。</a:t>
            </a:r>
            <a:endParaRPr lang="en-US" sz="1440" dirty="0"/>
          </a:p>
        </p:txBody>
      </p:sp>
      <p:pic>
        <p:nvPicPr>
          <p:cNvPr id="10" name="Image 1" descr="https://sgw-dx.xf-yun.com/api/v1/sparkdesk/_1740054862957832720492fce4016873feca1f83a5716.jpg?authorization=c2ltcGxlLWp3dCBhaz1zcGFya2Rlc2s4MDAwMDAwMDAwMDE7ZXhwPTMzMTY4NTQ4NjI7YWxnbz1obWFjLXNoYTI1NjtzaWc9VjVZWjYwQ1dGVVpwKzVrVWxQeWpEbmRkK08zZzF2UmlWNTRLNXF5dTJtUT0=&amp;x_location=7YfmxI7B7uKO7jlRxIftd60uePD="/>
          <p:cNvPicPr>
            <a:picLocks noChangeAspect="1"/>
          </p:cNvPicPr>
          <p:nvPr/>
        </p:nvPicPr>
        <p:blipFill>
          <a:blip r:embed="rId3"/>
          <a:srcRect l="154" r="154"/>
          <a:stretch>
            <a:fillRect/>
          </a:stretch>
        </p:blipFill>
        <p:spPr>
          <a:xfrm>
            <a:off x="3297311" y="2646298"/>
            <a:ext cx="2516140" cy="1415329"/>
          </a:xfrm>
          <a:prstGeom prst="rect">
            <a:avLst/>
          </a:prstGeom>
        </p:spPr>
      </p:pic>
      <p:sp>
        <p:nvSpPr>
          <p:cNvPr id="11" name="Text 6"/>
          <p:cNvSpPr/>
          <p:nvPr/>
        </p:nvSpPr>
        <p:spPr>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使用场景与功能</a:t>
            </a:r>
            <a:endParaRPr lang="en-US" sz="1440" dirty="0"/>
          </a:p>
        </p:txBody>
      </p:sp>
      <p:sp>
        <p:nvSpPr>
          <p:cNvPr id="12" name="Text 7"/>
          <p:cNvSpPr/>
          <p:nvPr/>
        </p:nvSpPr>
        <p:spPr>
          <a:xfrm>
            <a:off x="6031158" y="1290078"/>
            <a:ext cx="2656902"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虽然RISE模板有助于提高任务执行的成功率，但它也要求用户投入较多的时间和精力来详细规划每个步骤，这可能会增加前期的工作量。</a:t>
            </a:r>
            <a:endParaRPr lang="en-US" sz="1440" dirty="0"/>
          </a:p>
        </p:txBody>
      </p:sp>
      <p:pic>
        <p:nvPicPr>
          <p:cNvPr id="13" name="Image 2" descr="https://sgw-dx.xf-yun.com/api/v1/sparkdesk/_1740054865623515352b258d844bdb67836ae7c30b5e5.jpg?authorization=c2ltcGxlLWp3dCBhaz1zcGFya2Rlc2s4MDAwMDAwMDAwMDE7ZXhwPTMzMTY4NTQ4NjU7YWxnbz1obWFjLXNoYTI1NjtzaWc9Q2YzV2VJcnhrZTVDcmVNdVBXaFZiQ3BRa21ibFNEeW92RWl1aGJ1eDJRTT0=&amp;x_location=7YfmxI7B7uKO7jlRxIftd60uePD="/>
          <p:cNvPicPr>
            <a:picLocks noChangeAspect="1"/>
          </p:cNvPicPr>
          <p:nvPr/>
        </p:nvPicPr>
        <p:blipFill>
          <a:blip r:embed="rId4"/>
          <a:srcRect l="154" r="154"/>
          <a:stretch>
            <a:fillRect/>
          </a:stretch>
        </p:blipFill>
        <p:spPr>
          <a:xfrm>
            <a:off x="6101539" y="2646298"/>
            <a:ext cx="2516140" cy="1415329"/>
          </a:xfrm>
          <a:prstGeom prst="rect">
            <a:avLst/>
          </a:prstGeom>
        </p:spPr>
      </p:pic>
      <p:sp>
        <p:nvSpPr>
          <p:cNvPr id="14" name="Text 8"/>
          <p:cNvSpPr/>
          <p:nvPr/>
        </p:nvSpPr>
        <p:spPr>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优缺点分析</a:t>
            </a:r>
            <a:endParaRPr lang="en-US" sz="1440" dirty="0"/>
          </a:p>
        </p:txBody>
      </p:sp>
      <p:sp>
        <p:nvSpPr>
          <p:cNvPr id="15" name="Text 9"/>
          <p:cNvSpPr/>
          <p:nvPr/>
        </p:nvSpPr>
        <p:spPr>
          <a:xfrm>
            <a:off x="455940" y="1290078"/>
            <a:ext cx="2614983"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RISE模板由角色、输入、步骤和期望四个部分组成，这种结构设计使得用户能够系统地规划和执行复杂任务，如项目策划或工作流程设计。</a:t>
            </a:r>
            <a:endParaRPr lang="en-US" sz="144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TRACE模板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8651442d787f8a845f4f7589590a539b89ffc2.jpg?authorization=c2ltcGxlLWp3dCBhaz1zcGFya2Rlc2s4MDAwMDAwMDAwMDE7ZXhwPTMzMTY4NTQ4NjU7YWxnbz1obWFjLXNoYTI1NjtzaWc9S041Nkx5NHdKam16SWl3RTRIZnl6Z3BkMW81dEtXSlE3eGZzMzNxR1EvUT0=&amp;x_location=7YfmxI7B7uKO7jlRxIftd60uePD="/>
          <p:cNvPicPr>
            <a:picLocks noChangeAspect="1"/>
          </p:cNvPicPr>
          <p:nvPr/>
        </p:nvPicPr>
        <p:blipFill>
          <a:blip r:embed="rId2"/>
          <a:stretch>
            <a:fillRect/>
          </a:stretch>
        </p:blipFill>
        <p:spPr>
          <a:xfrm>
            <a:off x="445242" y="1227435"/>
            <a:ext cx="2831634" cy="2831634"/>
          </a:xfrm>
          <a:prstGeom prst="rect">
            <a:avLst/>
          </a:prstGeom>
        </p:spPr>
      </p:pic>
      <p:sp>
        <p:nvSpPr>
          <p:cNvPr id="8" name="Text 4"/>
          <p:cNvSpPr/>
          <p:nvPr/>
        </p:nvSpPr>
        <p:spPr>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TRACE模板的关键部分</a:t>
            </a:r>
            <a:endParaRPr lang="en-US" sz="1440" dirty="0"/>
          </a:p>
        </p:txBody>
      </p:sp>
      <p:sp>
        <p:nvSpPr>
          <p:cNvPr id="9" name="Text 5"/>
          <p:cNvSpPr/>
          <p:nvPr/>
        </p:nvSpPr>
        <p:spPr>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TRACE模板包括任务、请求、行动、上下文和示例五个关键部分，通过明确这些要素，帮助用户构建完整、明确的指令。</a:t>
            </a:r>
            <a:endParaRPr lang="en-US" sz="1440" dirty="0"/>
          </a:p>
        </p:txBody>
      </p:sp>
      <p:sp>
        <p:nvSpPr>
          <p:cNvPr id="10" name="Text 6"/>
          <p:cNvSpPr/>
          <p:nvPr/>
        </p:nvSpPr>
        <p:spPr>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TRACE模板的使用场景</a:t>
            </a:r>
            <a:endParaRPr lang="en-US" sz="1440" dirty="0"/>
          </a:p>
        </p:txBody>
      </p:sp>
      <p:sp>
        <p:nvSpPr>
          <p:cNvPr id="11" name="Text 7"/>
          <p:cNvSpPr/>
          <p:nvPr/>
        </p:nvSpPr>
        <p:spPr>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TRACE模板适用于需要向AI模型提出明确、具体的任务请求的场景，如内容生成、智能问答、数据分析等，能有效提升交互效率。</a:t>
            </a:r>
            <a:endParaRPr lang="en-US" sz="1440" dirty="0"/>
          </a:p>
        </p:txBody>
      </p:sp>
      <p:sp>
        <p:nvSpPr>
          <p:cNvPr id="12" name="Text 8"/>
          <p:cNvSpPr/>
          <p:nvPr/>
        </p:nvSpPr>
        <p:spPr>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TRACE模板的优点与缺点</a:t>
            </a:r>
            <a:endParaRPr lang="en-US" sz="1440" dirty="0"/>
          </a:p>
        </p:txBody>
      </p:sp>
      <p:sp>
        <p:nvSpPr>
          <p:cNvPr id="13" name="Text 9"/>
          <p:cNvSpPr/>
          <p:nvPr/>
        </p:nvSpPr>
        <p:spPr>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TRACE模板的优点在于其结构化和清晰性，能帮助用户系统地思考和组织需求，减少误解；但也可能对简单问题显得繁琐，且需时间学习适应。</a:t>
            </a:r>
            <a:endParaRPr lang="en-US" sz="14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ROSES模板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4148425" y="2215286"/>
            <a:ext cx="576615" cy="834888"/>
          </a:xfrm>
          <a:custGeom>
            <a:avLst/>
            <a:gdLst/>
            <a:ahLst/>
            <a:cxnLst/>
            <a:rect l="l" t="t" r="r" b="b"/>
            <a:pathLst>
              <a:path w="576615" h="834888">
                <a:moveTo>
                  <a:pt x="576615" y="0"/>
                </a:moveTo>
                <a:moveTo>
                  <a:pt x="576615" y="0"/>
                </a:moveTo>
                <a:lnTo>
                  <a:pt x="0" y="834888"/>
                </a:lnTo>
              </a:path>
            </a:pathLst>
          </a:custGeom>
          <a:noFill/>
          <a:ln w="19050">
            <a:solidFill>
              <a:srgbClr val="1859AE"/>
            </a:solidFill>
            <a:prstDash val="solid"/>
            <a:headEnd type="none"/>
            <a:tailEnd type="none"/>
          </a:ln>
        </p:spPr>
      </p:sp>
      <p:sp>
        <p:nvSpPr>
          <p:cNvPr id="8" name="Shape 5"/>
          <p:cNvSpPr/>
          <p:nvPr/>
        </p:nvSpPr>
        <p:spPr>
          <a:xfrm>
            <a:off x="4160714" y="1450417"/>
            <a:ext cx="564612" cy="751974"/>
          </a:xfrm>
          <a:custGeom>
            <a:avLst/>
            <a:gdLst/>
            <a:ahLst/>
            <a:cxnLst/>
            <a:rect l="l" t="t" r="r" b="b"/>
            <a:pathLst>
              <a:path w="564612" h="751974">
                <a:moveTo>
                  <a:pt x="0" y="0"/>
                </a:moveTo>
                <a:moveTo>
                  <a:pt x="0" y="0"/>
                </a:moveTo>
                <a:lnTo>
                  <a:pt x="564612" y="751974"/>
                </a:lnTo>
              </a:path>
            </a:pathLst>
          </a:custGeom>
          <a:noFill/>
          <a:ln w="19050">
            <a:solidFill>
              <a:srgbClr val="1859AE"/>
            </a:solidFill>
            <a:prstDash val="solid"/>
            <a:headEnd type="none"/>
            <a:tailEnd type="none"/>
          </a:ln>
        </p:spPr>
      </p:sp>
      <p:sp>
        <p:nvSpPr>
          <p:cNvPr id="9" name="Shape 6"/>
          <p:cNvSpPr/>
          <p:nvPr/>
        </p:nvSpPr>
        <p:spPr>
          <a:xfrm>
            <a:off x="646624" y="1078530"/>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0" name="Shape 7"/>
          <p:cNvSpPr/>
          <p:nvPr/>
        </p:nvSpPr>
        <p:spPr>
          <a:xfrm>
            <a:off x="1203141" y="1359276"/>
            <a:ext cx="2868202" cy="0"/>
          </a:xfrm>
          <a:custGeom>
            <a:avLst/>
            <a:gdLst/>
            <a:ahLst/>
            <a:cxnLst/>
            <a:rect l="l" t="t" r="r" b="b"/>
            <a:pathLst>
              <a:path w="2868202">
                <a:moveTo>
                  <a:pt x="0" y="0"/>
                </a:moveTo>
                <a:moveTo>
                  <a:pt x="0" y="0"/>
                </a:moveTo>
                <a:lnTo>
                  <a:pt x="2868202" y="0"/>
                </a:lnTo>
              </a:path>
            </a:pathLst>
          </a:custGeom>
          <a:noFill/>
          <a:ln w="19050">
            <a:solidFill>
              <a:srgbClr val="1859AE"/>
            </a:solidFill>
            <a:prstDash val="solid"/>
            <a:headEnd type="none"/>
            <a:tailEnd type="none"/>
          </a:ln>
        </p:spPr>
      </p:sp>
      <p:sp>
        <p:nvSpPr>
          <p:cNvPr id="11" name="Shape 8"/>
          <p:cNvSpPr/>
          <p:nvPr/>
        </p:nvSpPr>
        <p:spPr>
          <a:xfrm>
            <a:off x="4056069" y="135013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
        <p:nvSpPr>
          <p:cNvPr id="12" name="Shape 9"/>
          <p:cNvSpPr/>
          <p:nvPr/>
        </p:nvSpPr>
        <p:spPr>
          <a:xfrm>
            <a:off x="4056069" y="293287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
        <p:nvSpPr>
          <p:cNvPr id="13" name="Shape 10"/>
          <p:cNvSpPr/>
          <p:nvPr/>
        </p:nvSpPr>
        <p:spPr>
          <a:xfrm>
            <a:off x="4838991" y="2211190"/>
            <a:ext cx="3224944" cy="0"/>
          </a:xfrm>
          <a:custGeom>
            <a:avLst/>
            <a:gdLst/>
            <a:ahLst/>
            <a:cxnLst/>
            <a:rect l="l" t="t" r="r" b="b"/>
            <a:pathLst>
              <a:path w="3224944">
                <a:moveTo>
                  <a:pt x="0" y="0"/>
                </a:moveTo>
                <a:moveTo>
                  <a:pt x="0" y="0"/>
                </a:moveTo>
                <a:lnTo>
                  <a:pt x="3224944" y="0"/>
                </a:lnTo>
              </a:path>
            </a:pathLst>
          </a:custGeom>
          <a:noFill/>
          <a:ln w="19050">
            <a:solidFill>
              <a:srgbClr val="1859AE"/>
            </a:solidFill>
            <a:prstDash val="solid"/>
            <a:headEnd type="none"/>
            <a:tailEnd type="none"/>
          </a:ln>
        </p:spPr>
      </p:sp>
      <p:sp>
        <p:nvSpPr>
          <p:cNvPr id="14" name="Shape 11"/>
          <p:cNvSpPr/>
          <p:nvPr/>
        </p:nvSpPr>
        <p:spPr>
          <a:xfrm>
            <a:off x="7940859" y="1957076"/>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5" name="Shape 12"/>
          <p:cNvSpPr/>
          <p:nvPr/>
        </p:nvSpPr>
        <p:spPr>
          <a:xfrm>
            <a:off x="1203141" y="3113881"/>
            <a:ext cx="2886490" cy="2488"/>
          </a:xfrm>
          <a:custGeom>
            <a:avLst/>
            <a:gdLst/>
            <a:ahLst/>
            <a:cxnLst/>
            <a:rect l="l" t="t" r="r" b="b"/>
            <a:pathLst>
              <a:path w="2886490" h="2488">
                <a:moveTo>
                  <a:pt x="0" y="0"/>
                </a:moveTo>
                <a:moveTo>
                  <a:pt x="0" y="0"/>
                </a:moveTo>
                <a:lnTo>
                  <a:pt x="2886490" y="2488"/>
                </a:lnTo>
              </a:path>
            </a:pathLst>
          </a:custGeom>
          <a:noFill/>
          <a:ln w="19050">
            <a:solidFill>
              <a:srgbClr val="1859AE"/>
            </a:solidFill>
            <a:prstDash val="solid"/>
            <a:headEnd type="none"/>
            <a:tailEnd type="none"/>
          </a:ln>
        </p:spPr>
      </p:sp>
      <p:sp>
        <p:nvSpPr>
          <p:cNvPr id="16" name="Shape 13"/>
          <p:cNvSpPr/>
          <p:nvPr/>
        </p:nvSpPr>
        <p:spPr>
          <a:xfrm>
            <a:off x="646624" y="2835622"/>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7" name="Text 14"/>
          <p:cNvSpPr/>
          <p:nvPr/>
        </p:nvSpPr>
        <p:spPr>
          <a:xfrm>
            <a:off x="646624" y="1105962"/>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8" name="Text 15"/>
          <p:cNvSpPr/>
          <p:nvPr/>
        </p:nvSpPr>
        <p:spPr>
          <a:xfrm>
            <a:off x="7940859" y="1984508"/>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9" name="Text 16"/>
          <p:cNvSpPr/>
          <p:nvPr/>
        </p:nvSpPr>
        <p:spPr>
          <a:xfrm>
            <a:off x="646624" y="2862421"/>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20" name="Text 17"/>
          <p:cNvSpPr/>
          <p:nvPr/>
        </p:nvSpPr>
        <p:spPr>
          <a:xfrm>
            <a:off x="1203141" y="957284"/>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ROSES模板核心构成</a:t>
            </a:r>
            <a:endParaRPr lang="en-US" sz="1440" dirty="0"/>
          </a:p>
        </p:txBody>
      </p:sp>
      <p:sp>
        <p:nvSpPr>
          <p:cNvPr id="21" name="Text 18"/>
          <p:cNvSpPr/>
          <p:nvPr/>
        </p:nvSpPr>
        <p:spPr>
          <a:xfrm>
            <a:off x="1203665" y="1359620"/>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ROSES模板由角色、目标、场景、预期解决方案和步骤五个核心部分构成，这种结构确保了交流的清晰性和目的性，帮助用户明确需求。</a:t>
            </a:r>
            <a:endParaRPr lang="en-US" sz="1440" dirty="0"/>
          </a:p>
        </p:txBody>
      </p:sp>
      <p:sp>
        <p:nvSpPr>
          <p:cNvPr id="22" name="Text 19"/>
          <p:cNvSpPr/>
          <p:nvPr/>
        </p:nvSpPr>
        <p:spPr>
          <a:xfrm>
            <a:off x="4838690" y="1808486"/>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使用场景与功能</a:t>
            </a:r>
            <a:endParaRPr lang="en-US" sz="1440" dirty="0"/>
          </a:p>
        </p:txBody>
      </p:sp>
      <p:sp>
        <p:nvSpPr>
          <p:cNvPr id="23" name="Text 20"/>
          <p:cNvSpPr/>
          <p:nvPr/>
        </p:nvSpPr>
        <p:spPr>
          <a:xfrm>
            <a:off x="4838405" y="2210926"/>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ROSES模板适用于需要深入分析和解决方案的场合，如商业咨询、策略制定等，通过详细的角色定义和目标描述，有效指导问题的解决过程。</a:t>
            </a:r>
            <a:endParaRPr lang="en-US" sz="1440" dirty="0"/>
          </a:p>
        </p:txBody>
      </p:sp>
      <p:sp>
        <p:nvSpPr>
          <p:cNvPr id="24" name="Text 21"/>
          <p:cNvSpPr/>
          <p:nvPr/>
        </p:nvSpPr>
        <p:spPr>
          <a:xfrm>
            <a:off x="1203141" y="2704702"/>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优缺点分析</a:t>
            </a:r>
            <a:endParaRPr lang="en-US" sz="1440" dirty="0"/>
          </a:p>
        </p:txBody>
      </p:sp>
      <p:sp>
        <p:nvSpPr>
          <p:cNvPr id="25" name="Text 22"/>
          <p:cNvSpPr/>
          <p:nvPr/>
        </p:nvSpPr>
        <p:spPr>
          <a:xfrm>
            <a:off x="1203141" y="3125512"/>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ROSES模板的优点在于其全面且深入的分析框架，有助于提供综合性的解决方案；缺点是需要较多的信息输入和处理，可能会增加前期的工作量。</a:t>
            </a:r>
            <a:endParaRPr lang="en-US" sz="1440" dirty="0"/>
          </a:p>
        </p:txBody>
      </p:sp>
      <p:sp>
        <p:nvSpPr>
          <p:cNvPr id="26" name="Shape 23"/>
          <p:cNvSpPr/>
          <p:nvPr/>
        </p:nvSpPr>
        <p:spPr>
          <a:xfrm>
            <a:off x="4646351" y="2114870"/>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107632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067</a:t>
            </a:r>
            <a:endParaRPr lang="en-US" sz="1440" dirty="0"/>
          </a:p>
        </p:txBody>
      </p:sp>
      <p:sp>
        <p:nvSpPr>
          <p:cNvPr id="5" name="Text 2"/>
          <p:cNvSpPr/>
          <p:nvPr/>
        </p:nvSpPr>
        <p:spPr>
          <a:xfrm>
            <a:off x="865937" y="2437790"/>
            <a:ext cx="7518197" cy="69088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LangGPT</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模板</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1519555" y="556260"/>
            <a:ext cx="7102475" cy="4030980"/>
          </a:xfrm>
          <a:prstGeom prst="rect">
            <a:avLst/>
          </a:prstGeom>
        </p:spPr>
        <p:txBody>
          <a:bodyPr wrap="square">
            <a:spAutoFit/>
          </a:bodyPr>
          <a:p>
            <a:pPr marL="0" indent="0" algn="just" defTabSz="266700">
              <a:spcBef>
                <a:spcPct val="0"/>
              </a:spcBef>
              <a:spcAft>
                <a:spcPct val="0"/>
              </a:spcAft>
            </a:pPr>
            <a:r>
              <a:rPr lang="en-US" altLang="zh-CN" sz="1600" i="1">
                <a:solidFill>
                  <a:schemeClr val="tx1"/>
                </a:solidFill>
                <a:latin typeface="Consolas" panose="020B0609020204030204"/>
                <a:ea typeface="Consolas" panose="020B0609020204030204"/>
              </a:rPr>
              <a:t># Role: </a:t>
            </a:r>
            <a:r>
              <a:rPr lang="zh-CN" altLang="en-US" sz="1600" i="1">
                <a:solidFill>
                  <a:schemeClr val="tx1"/>
                </a:solidFill>
                <a:latin typeface="Consolas" panose="020B0609020204030204"/>
                <a:ea typeface="Consolas" panose="020B0609020204030204"/>
              </a:rPr>
              <a:t>诗人</a:t>
            </a:r>
            <a:endParaRPr lang="zh-CN" altLang="en-US" sz="1600" i="1">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i="1">
                <a:solidFill>
                  <a:schemeClr val="tx1"/>
                </a:solidFill>
                <a:latin typeface="Consolas" panose="020B0609020204030204"/>
                <a:ea typeface="Consolas" panose="020B0609020204030204"/>
              </a:rPr>
              <a:t>## Profile</a:t>
            </a:r>
            <a:endParaRPr lang="en-US" altLang="zh-CN" sz="1600" i="1">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 Author: YZFly</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 Version: 0.1</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 Language: </a:t>
            </a:r>
            <a:r>
              <a:rPr lang="zh-CN" altLang="en-US" sz="1600">
                <a:solidFill>
                  <a:schemeClr val="tx1"/>
                </a:solidFill>
                <a:latin typeface="Consolas" panose="020B0609020204030204"/>
                <a:ea typeface="Consolas" panose="020B0609020204030204"/>
              </a:rPr>
              <a:t>中文</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 Description: </a:t>
            </a:r>
            <a:r>
              <a:rPr lang="zh-CN" altLang="en-US" sz="1600">
                <a:solidFill>
                  <a:schemeClr val="tx1"/>
                </a:solidFill>
                <a:latin typeface="Consolas" panose="020B0609020204030204"/>
                <a:ea typeface="Consolas" panose="020B0609020204030204"/>
              </a:rPr>
              <a:t>诗人是创作诗歌的艺术家，擅长通过诗歌来表达情感、描绘景象、讲述故事，具有丰富的想象力和对文字的独特驾驭能力。诗人创作的作品可以是纪事性的，描述人物或故事，如荷马的史诗；也可以是比喻性的，隐含多种解读的可能，如但丁的</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神曲</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、歌德的</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浮士德</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i="1">
                <a:solidFill>
                  <a:schemeClr val="tx1"/>
                </a:solidFill>
                <a:latin typeface="Consolas" panose="020B0609020204030204"/>
                <a:ea typeface="Consolas" panose="020B0609020204030204"/>
              </a:rPr>
              <a:t>### </a:t>
            </a:r>
            <a:r>
              <a:rPr lang="zh-CN" altLang="en-US" sz="1600" i="1">
                <a:solidFill>
                  <a:schemeClr val="tx1"/>
                </a:solidFill>
                <a:latin typeface="Consolas" panose="020B0609020204030204"/>
                <a:ea typeface="Consolas" panose="020B0609020204030204"/>
              </a:rPr>
              <a:t>擅长写现代诗</a:t>
            </a:r>
            <a:endParaRPr lang="zh-CN" altLang="en-US" sz="1600" i="1">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1. </a:t>
            </a:r>
            <a:r>
              <a:rPr lang="zh-CN" altLang="en-US" sz="1600">
                <a:solidFill>
                  <a:schemeClr val="tx1"/>
                </a:solidFill>
                <a:latin typeface="Consolas" panose="020B0609020204030204"/>
                <a:ea typeface="Consolas" panose="020B0609020204030204"/>
              </a:rPr>
              <a:t>现代诗形式自由，意涵丰富，意象经营重于修辞运用，是心灵的映现</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2. </a:t>
            </a:r>
            <a:r>
              <a:rPr lang="zh-CN" altLang="en-US" sz="1600">
                <a:solidFill>
                  <a:schemeClr val="tx1"/>
                </a:solidFill>
                <a:latin typeface="Consolas" panose="020B0609020204030204"/>
                <a:ea typeface="Consolas" panose="020B0609020204030204"/>
              </a:rPr>
              <a:t>更加强调自由开放和直率陈述与进行“可感与不可感之间”的沟通。</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i="1">
                <a:solidFill>
                  <a:schemeClr val="tx1"/>
                </a:solidFill>
                <a:latin typeface="Consolas" panose="020B0609020204030204"/>
                <a:ea typeface="Consolas" panose="020B0609020204030204"/>
              </a:rPr>
              <a:t>### </a:t>
            </a:r>
            <a:r>
              <a:rPr lang="zh-CN" altLang="en-US" sz="1600" i="1">
                <a:solidFill>
                  <a:schemeClr val="tx1"/>
                </a:solidFill>
                <a:latin typeface="Consolas" panose="020B0609020204030204"/>
                <a:ea typeface="Consolas" panose="020B0609020204030204"/>
              </a:rPr>
              <a:t>擅长写七言律诗</a:t>
            </a:r>
            <a:endParaRPr lang="zh-CN" altLang="en-US" sz="1600" i="1">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1. </a:t>
            </a:r>
            <a:r>
              <a:rPr lang="zh-CN" altLang="en-US" sz="1600">
                <a:solidFill>
                  <a:schemeClr val="tx1"/>
                </a:solidFill>
                <a:latin typeface="Consolas" panose="020B0609020204030204"/>
                <a:ea typeface="Consolas" panose="020B0609020204030204"/>
              </a:rPr>
              <a:t>七言体是古代诗歌体裁</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2. </a:t>
            </a:r>
            <a:r>
              <a:rPr lang="zh-CN" altLang="en-US" sz="1600">
                <a:solidFill>
                  <a:schemeClr val="tx1"/>
                </a:solidFill>
                <a:latin typeface="Consolas" panose="020B0609020204030204"/>
                <a:ea typeface="Consolas" panose="020B0609020204030204"/>
              </a:rPr>
              <a:t>全篇每句七字或以七字句为主的诗体</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宋体" panose="02010600030101010101" pitchFamily="2" charset="-122"/>
              </a:rPr>
              <a:t>    </a:t>
            </a:r>
            <a:r>
              <a:rPr lang="en-US" altLang="zh-CN" sz="1600">
                <a:solidFill>
                  <a:schemeClr val="tx1"/>
                </a:solidFill>
                <a:latin typeface="Consolas" panose="020B0609020204030204"/>
                <a:ea typeface="Consolas" panose="020B0609020204030204"/>
              </a:rPr>
              <a:t>3. </a:t>
            </a:r>
            <a:r>
              <a:rPr lang="zh-CN" altLang="en-US" sz="1600">
                <a:solidFill>
                  <a:schemeClr val="tx1"/>
                </a:solidFill>
                <a:latin typeface="Consolas" panose="020B0609020204030204"/>
                <a:ea typeface="Consolas" panose="020B0609020204030204"/>
              </a:rPr>
              <a:t>它起于汉族民间歌谣</a:t>
            </a:r>
            <a:endParaRPr lang="zh-CN" altLang="en-US" sz="1600">
              <a:solidFill>
                <a:schemeClr val="tx1"/>
              </a:solidFill>
              <a:latin typeface="Consolas" panose="020B0609020204030204"/>
              <a:ea typeface="Consolas" panose="020B0609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模板</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1519555" y="556260"/>
            <a:ext cx="7102475" cy="4030980"/>
          </a:xfrm>
          <a:prstGeom prst="rect">
            <a:avLst/>
          </a:prstGeom>
        </p:spPr>
        <p:txBody>
          <a:bodyPr wrap="square">
            <a:spAutoFit/>
          </a:bodyPr>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擅长写五言诗</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1.</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全篇由五字句构成的诗</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2.</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能够更灵活细致地抒情和叙事</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3.</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在音节上，奇偶相配，富于音乐美</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Rules</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1.</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内容健康，积极向上</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2.</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七言律诗和五言诗要押韵</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Workflow</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1.</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让用户以</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形式：</a:t>
            </a: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主题：</a:t>
            </a:r>
            <a:r>
              <a:rPr lang="en-US" altLang="zh-CN" sz="1600">
                <a:solidFill>
                  <a:schemeClr val="tx1"/>
                </a:solidFill>
                <a:latin typeface="Consolas" panose="020B0609020204030204"/>
                <a:ea typeface="Consolas" panose="020B0609020204030204"/>
              </a:rPr>
              <a:t>[]"</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的方式指定诗歌形式，主题。</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2. </a:t>
            </a:r>
            <a:r>
              <a:rPr lang="zh-CN" altLang="en-US" sz="1600">
                <a:solidFill>
                  <a:schemeClr val="tx1"/>
                </a:solidFill>
                <a:latin typeface="Consolas" panose="020B0609020204030204"/>
                <a:ea typeface="Consolas" panose="020B0609020204030204"/>
              </a:rPr>
              <a:t>针对用户给定的主题，创作诗歌，包括题目和诗句。</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Initialization</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作为角色</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&lt;Role&gt;, </a:t>
            </a:r>
            <a:r>
              <a:rPr lang="zh-CN" altLang="en-US" sz="1600">
                <a:solidFill>
                  <a:schemeClr val="tx1"/>
                </a:solidFill>
                <a:latin typeface="Consolas" panose="020B0609020204030204"/>
                <a:ea typeface="Consolas" panose="020B0609020204030204"/>
              </a:rPr>
              <a:t>严格遵守</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&lt;Rules&gt;, </a:t>
            </a:r>
            <a:r>
              <a:rPr lang="zh-CN" altLang="en-US" sz="1600">
                <a:solidFill>
                  <a:schemeClr val="tx1"/>
                </a:solidFill>
                <a:latin typeface="Consolas" panose="020B0609020204030204"/>
                <a:ea typeface="Consolas" panose="020B0609020204030204"/>
              </a:rPr>
              <a:t>使用默认</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&lt;Language&gt;</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与用户对话，友好的欢迎用户。然后介绍自己，并告诉用户</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&lt;Workflow&gt;</a:t>
            </a:r>
            <a:r>
              <a:rPr lang="zh-CN" altLang="en-US" sz="1600">
                <a:solidFill>
                  <a:schemeClr val="tx1"/>
                </a:solidFill>
                <a:latin typeface="Consolas" panose="020B0609020204030204"/>
                <a:ea typeface="Consolas" panose="020B0609020204030204"/>
              </a:rPr>
              <a:t>。</a:t>
            </a:r>
            <a:endParaRPr lang="zh-CN" altLang="en-US" sz="1600">
              <a:solidFill>
                <a:schemeClr val="tx1"/>
              </a:solidFill>
              <a:latin typeface="Consolas" panose="020B0609020204030204"/>
              <a:ea typeface="Consolas" panose="020B0609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模板</a:t>
            </a: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说明</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915035" y="1072515"/>
            <a:ext cx="7102475" cy="2061210"/>
          </a:xfrm>
          <a:prstGeom prst="rect">
            <a:avLst/>
          </a:prstGeom>
        </p:spPr>
        <p:txBody>
          <a:bodyPr wrap="square">
            <a:spAutoFit/>
          </a:bodyPr>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1</a:t>
            </a:r>
            <a:r>
              <a:rPr lang="zh-CN" altLang="en-US" sz="1600">
                <a:solidFill>
                  <a:schemeClr val="tx1"/>
                </a:solidFill>
                <a:latin typeface="Consolas" panose="020B0609020204030204"/>
                <a:ea typeface="宋体" panose="02010600030101010101" pitchFamily="2" charset="-122"/>
              </a:rPr>
              <a:t>、</a:t>
            </a:r>
            <a:r>
              <a:rPr lang="zh-CN" altLang="en-US" sz="1600">
                <a:solidFill>
                  <a:schemeClr val="tx1"/>
                </a:solidFill>
                <a:latin typeface="Consolas" panose="020B0609020204030204"/>
                <a:ea typeface="Consolas" panose="020B0609020204030204"/>
              </a:rPr>
              <a:t>标识符：</a:t>
            </a:r>
            <a:r>
              <a:rPr lang="en-US" altLang="zh-CN" sz="1600">
                <a:solidFill>
                  <a:schemeClr val="tx1"/>
                </a:solidFill>
                <a:latin typeface="Consolas" panose="020B0609020204030204"/>
                <a:ea typeface="Consolas" panose="020B0609020204030204"/>
              </a:rPr>
              <a:t>#,</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&lt;&gt;</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等符号</a:t>
            </a:r>
            <a:r>
              <a:rPr lang="en-US" altLang="zh-CN" sz="1600">
                <a:solidFill>
                  <a:schemeClr val="tx1"/>
                </a:solidFill>
                <a:latin typeface="Consolas" panose="020B0609020204030204"/>
                <a:ea typeface="Consolas" panose="020B0609020204030204"/>
              </a:rPr>
              <a:t>(-,</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也是</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，这两个符号依次标识标题</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变量，控制内容层级，用于标识层次结构。</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2</a:t>
            </a:r>
            <a:r>
              <a:rPr lang="zh-CN" altLang="en-US" sz="1600">
                <a:solidFill>
                  <a:schemeClr val="tx1"/>
                </a:solidFill>
                <a:latin typeface="Consolas" panose="020B0609020204030204"/>
                <a:ea typeface="宋体" panose="02010600030101010101" pitchFamily="2" charset="-122"/>
              </a:rPr>
              <a:t>、</a:t>
            </a:r>
            <a:r>
              <a:rPr lang="zh-CN" altLang="en-US" sz="1600">
                <a:solidFill>
                  <a:schemeClr val="tx1"/>
                </a:solidFill>
                <a:latin typeface="Consolas" panose="020B0609020204030204"/>
                <a:ea typeface="Consolas" panose="020B0609020204030204"/>
              </a:rPr>
              <a:t>属性词：</a:t>
            </a:r>
            <a:r>
              <a:rPr lang="en-US" altLang="zh-CN" sz="1600">
                <a:solidFill>
                  <a:schemeClr val="tx1"/>
                </a:solidFill>
                <a:latin typeface="Consolas" panose="020B0609020204030204"/>
                <a:ea typeface="Consolas" panose="020B0609020204030204"/>
              </a:rPr>
              <a:t>Role,</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Profile,</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Initialization</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等等，属性词包含语义，是对模块下内容的总结和提示，用于标识语义结构。</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3</a:t>
            </a:r>
            <a:r>
              <a:rPr lang="zh-CN" altLang="en-US" sz="1600">
                <a:solidFill>
                  <a:schemeClr val="tx1"/>
                </a:solidFill>
                <a:latin typeface="Consolas" panose="020B0609020204030204"/>
                <a:ea typeface="宋体" panose="02010600030101010101" pitchFamily="2" charset="-122"/>
              </a:rPr>
              <a:t>、标识符</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zh-CN" altLang="en-US" sz="1600">
                <a:solidFill>
                  <a:schemeClr val="tx1"/>
                </a:solidFill>
                <a:latin typeface="Consolas" panose="020B0609020204030204"/>
                <a:ea typeface="Consolas" panose="020B0609020204030204"/>
              </a:rPr>
              <a:t>借鉴</a:t>
            </a:r>
            <a:r>
              <a:rPr lang="en-US" altLang="zh-CN" sz="1600">
                <a:solidFill>
                  <a:schemeClr val="tx1"/>
                </a:solidFill>
                <a:latin typeface="Consolas" panose="020B0609020204030204"/>
                <a:ea typeface="Consolas" panose="020B0609020204030204"/>
              </a:rPr>
              <a:t> markdown</a:t>
            </a:r>
            <a:r>
              <a:rPr lang="zh-CN" altLang="en-US" sz="1600">
                <a:solidFill>
                  <a:schemeClr val="tx1"/>
                </a:solidFill>
                <a:latin typeface="Consolas" panose="020B0609020204030204"/>
                <a:ea typeface="Consolas" panose="020B0609020204030204"/>
              </a:rPr>
              <a:t>标记语言的方法实现</a:t>
            </a:r>
            <a:r>
              <a:rPr lang="en-US" altLang="zh-CN" sz="1600">
                <a:solidFill>
                  <a:schemeClr val="tx1"/>
                </a:solidFill>
                <a:latin typeface="Consolas" panose="020B0609020204030204"/>
                <a:ea typeface="Consolas" panose="020B0609020204030204"/>
              </a:rPr>
              <a:t> Prompt </a:t>
            </a:r>
            <a:r>
              <a:rPr lang="zh-CN" altLang="en-US" sz="1600">
                <a:solidFill>
                  <a:schemeClr val="tx1"/>
                </a:solidFill>
                <a:latin typeface="Consolas" panose="020B0609020204030204"/>
                <a:ea typeface="Consolas" panose="020B0609020204030204"/>
              </a:rPr>
              <a:t>的结构表达，例如用标识符</a:t>
            </a:r>
            <a:r>
              <a:rPr lang="" altLang="en-US" sz="1600">
                <a:solidFill>
                  <a:schemeClr val="tx1"/>
                </a:solidFill>
                <a:latin typeface="Consolas" panose="020B0609020204030204"/>
                <a:ea typeface="Consolas" panose="020B0609020204030204"/>
              </a:rPr>
              <a:t> </a:t>
            </a:r>
            <a:r>
              <a:rPr lang="en-US" altLang="zh-CN" sz="1600">
                <a:solidFill>
                  <a:schemeClr val="tx1"/>
                </a:solidFill>
                <a:latin typeface="Consolas" panose="020B0609020204030204"/>
                <a:ea typeface="Consolas" panose="020B0609020204030204"/>
              </a:rPr>
              <a:t>#</a:t>
            </a:r>
            <a:r>
              <a:rPr lang="" altLang="en-US"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标识一级标题，</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标识二级标题，以此类推。</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4</a:t>
            </a:r>
            <a:r>
              <a:rPr lang="zh-CN" altLang="en-US" sz="1600">
                <a:solidFill>
                  <a:schemeClr val="tx1"/>
                </a:solidFill>
                <a:latin typeface="Consolas" panose="020B0609020204030204"/>
                <a:ea typeface="宋体" panose="02010600030101010101" pitchFamily="2" charset="-122"/>
              </a:rPr>
              <a:t>、</a:t>
            </a:r>
            <a:r>
              <a:rPr lang="zh-CN" altLang="en-US" sz="1600">
                <a:solidFill>
                  <a:schemeClr val="tx1"/>
                </a:solidFill>
                <a:latin typeface="Consolas" panose="020B0609020204030204"/>
                <a:ea typeface="Consolas" panose="020B0609020204030204"/>
              </a:rPr>
              <a:t>标识符，属性词都是可替换的，可以替换为你喜欢的符号和内容。</a:t>
            </a:r>
            <a:endParaRPr lang="zh-CN" altLang="en-US" sz="1600">
              <a:solidFill>
                <a:schemeClr val="tx1"/>
              </a:solidFill>
              <a:latin typeface="Consolas" panose="020B0609020204030204"/>
              <a:ea typeface="Consolas" panose="020B0609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属性词</a:t>
            </a:r>
            <a:endPar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2" name="文本框 1"/>
          <p:cNvSpPr txBox="1"/>
          <p:nvPr/>
        </p:nvSpPr>
        <p:spPr>
          <a:xfrm>
            <a:off x="915035" y="1072515"/>
            <a:ext cx="7102475" cy="3046095"/>
          </a:xfrm>
          <a:prstGeom prst="rect">
            <a:avLst/>
          </a:prstGeom>
        </p:spPr>
        <p:txBody>
          <a:bodyPr wrap="square">
            <a:spAutoFit/>
          </a:bodyPr>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Role </a:t>
            </a:r>
            <a:r>
              <a:rPr lang="zh-CN" altLang="en-US" sz="1600">
                <a:solidFill>
                  <a:schemeClr val="tx1"/>
                </a:solidFill>
                <a:latin typeface="Consolas" panose="020B0609020204030204"/>
                <a:ea typeface="Consolas" panose="020B0609020204030204"/>
              </a:rPr>
              <a:t>角色</a:t>
            </a: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告诉大模型应该扮演什么样的角色。</a:t>
            </a:r>
            <a:r>
              <a:rPr lang="en-US" altLang="zh-CN" sz="1600">
                <a:solidFill>
                  <a:schemeClr val="tx1"/>
                </a:solidFill>
                <a:latin typeface="Consolas" panose="020B0609020204030204"/>
                <a:ea typeface="Consolas" panose="020B0609020204030204"/>
              </a:rPr>
              <a:t> </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Profile </a:t>
            </a:r>
            <a:r>
              <a:rPr lang="zh-CN" altLang="en-US" sz="1600">
                <a:solidFill>
                  <a:schemeClr val="tx1"/>
                </a:solidFill>
                <a:latin typeface="Consolas" panose="020B0609020204030204"/>
                <a:ea typeface="Consolas" panose="020B0609020204030204"/>
              </a:rPr>
              <a:t>简介</a:t>
            </a: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提供关于提示词作者、版本、语言等基础信息。这有助于其他人了解提示词的来源、版本更新等信息。</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Skills </a:t>
            </a:r>
            <a:r>
              <a:rPr lang="zh-CN" altLang="en-US" sz="1600">
                <a:solidFill>
                  <a:schemeClr val="tx1"/>
                </a:solidFill>
                <a:latin typeface="Consolas" panose="020B0609020204030204"/>
                <a:ea typeface="Consolas" panose="020B0609020204030204"/>
              </a:rPr>
              <a:t>技能：</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Goals </a:t>
            </a:r>
            <a:r>
              <a:rPr lang="zh-CN" altLang="en-US" sz="1600">
                <a:solidFill>
                  <a:schemeClr val="tx1"/>
                </a:solidFill>
                <a:latin typeface="Consolas" panose="020B0609020204030204"/>
                <a:ea typeface="Consolas" panose="020B0609020204030204"/>
              </a:rPr>
              <a:t>目标：列出此任务的主要目标或希望达到的效果。</a:t>
            </a:r>
            <a:r>
              <a:rPr lang="en-US" altLang="zh-CN" sz="1600">
                <a:solidFill>
                  <a:schemeClr val="tx1"/>
                </a:solidFill>
                <a:latin typeface="Consolas" panose="020B0609020204030204"/>
                <a:ea typeface="Consolas" panose="020B0609020204030204"/>
              </a:rPr>
              <a:t> </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Constrains </a:t>
            </a:r>
            <a:r>
              <a:rPr lang="zh-CN" altLang="en-US" sz="1600">
                <a:solidFill>
                  <a:schemeClr val="tx1"/>
                </a:solidFill>
                <a:latin typeface="Consolas" panose="020B0609020204030204"/>
                <a:ea typeface="Consolas" panose="020B0609020204030204"/>
              </a:rPr>
              <a:t>（约束条件）</a:t>
            </a: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指明执行任务时需要遵守的规则或约束</a:t>
            </a:r>
            <a:r>
              <a:rPr lang="en-US" altLang="zh-CN" sz="1600">
                <a:solidFill>
                  <a:schemeClr val="tx1"/>
                </a:solidFill>
                <a:latin typeface="Consolas" panose="020B0609020204030204"/>
                <a:ea typeface="Consolas" panose="020B0609020204030204"/>
              </a:rPr>
              <a:t> </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Background </a:t>
            </a:r>
            <a:r>
              <a:rPr lang="zh-CN" altLang="en-US" sz="1600">
                <a:solidFill>
                  <a:schemeClr val="tx1"/>
                </a:solidFill>
                <a:latin typeface="Consolas" panose="020B0609020204030204"/>
                <a:ea typeface="Consolas" panose="020B0609020204030204"/>
              </a:rPr>
              <a:t>背景</a:t>
            </a:r>
            <a:r>
              <a:rPr lang="en-US" altLang="zh-CN" sz="1600">
                <a:solidFill>
                  <a:schemeClr val="tx1"/>
                </a:solidFill>
                <a:latin typeface="Consolas" panose="020B0609020204030204"/>
                <a:ea typeface="Consolas" panose="020B0609020204030204"/>
              </a:rPr>
              <a:t>: </a:t>
            </a:r>
            <a:r>
              <a:rPr lang="zh-CN" altLang="en-US" sz="1600">
                <a:solidFill>
                  <a:schemeClr val="tx1"/>
                </a:solidFill>
                <a:latin typeface="Consolas" panose="020B0609020204030204"/>
                <a:ea typeface="Consolas" panose="020B0609020204030204"/>
              </a:rPr>
              <a:t>对角色或任务进行详细描述，帮助大模型了解他们即将扮演的角色的背景知识。</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Initialization </a:t>
            </a:r>
            <a:r>
              <a:rPr lang="zh-CN" altLang="en-US" sz="1600">
                <a:solidFill>
                  <a:schemeClr val="tx1"/>
                </a:solidFill>
                <a:latin typeface="Consolas" panose="020B0609020204030204"/>
                <a:ea typeface="Consolas" panose="020B0609020204030204"/>
              </a:rPr>
              <a:t>开场白：</a:t>
            </a:r>
            <a:endParaRPr lang="zh-CN" altLang="en-US"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Definition </a:t>
            </a:r>
            <a:r>
              <a:rPr lang="zh-CN" altLang="en-US" sz="1600">
                <a:solidFill>
                  <a:schemeClr val="tx1"/>
                </a:solidFill>
                <a:latin typeface="Consolas" panose="020B0609020204030204"/>
                <a:ea typeface="Consolas" panose="020B0609020204030204"/>
              </a:rPr>
              <a:t>详细描述任务中涉及到的特定概念或名词，确保概念对齐。</a:t>
            </a:r>
            <a:r>
              <a:rPr lang="en-US" altLang="zh-CN" sz="1600">
                <a:solidFill>
                  <a:schemeClr val="tx1"/>
                </a:solidFill>
                <a:latin typeface="Consolas" panose="020B0609020204030204"/>
                <a:ea typeface="Consolas" panose="020B0609020204030204"/>
              </a:rPr>
              <a:t> </a:t>
            </a:r>
            <a:endParaRPr lang="en-US" altLang="zh-CN" sz="1600">
              <a:solidFill>
                <a:schemeClr val="tx1"/>
              </a:solidFill>
              <a:latin typeface="Consolas" panose="020B0609020204030204"/>
              <a:ea typeface="Consolas" panose="020B0609020204030204"/>
            </a:endParaRPr>
          </a:p>
          <a:p>
            <a:pPr marL="0" indent="0" algn="just" defTabSz="266700">
              <a:spcBef>
                <a:spcPct val="0"/>
              </a:spcBef>
              <a:spcAft>
                <a:spcPct val="0"/>
              </a:spcAft>
            </a:pPr>
            <a:r>
              <a:rPr lang="en-US" altLang="zh-CN" sz="1600">
                <a:solidFill>
                  <a:schemeClr val="tx1"/>
                </a:solidFill>
                <a:latin typeface="Consolas" panose="020B0609020204030204"/>
                <a:ea typeface="Consolas" panose="020B0609020204030204"/>
              </a:rPr>
              <a:t>Tone </a:t>
            </a:r>
            <a:r>
              <a:rPr lang="zh-CN" altLang="en-US" sz="1600">
                <a:solidFill>
                  <a:schemeClr val="tx1"/>
                </a:solidFill>
                <a:latin typeface="Consolas" panose="020B0609020204030204"/>
                <a:ea typeface="Consolas" panose="020B0609020204030204"/>
              </a:rPr>
              <a:t>语气风格：描述完成任务时应采取的语言风格或情感基调，例如</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正式</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随意</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幽默</a:t>
            </a:r>
            <a:r>
              <a:rPr lang="en-US" altLang="zh-CN" sz="1600">
                <a:solidFill>
                  <a:schemeClr val="tx1"/>
                </a:solidFill>
                <a:latin typeface="Consolas" panose="020B0609020204030204"/>
                <a:ea typeface="Consolas" panose="020B0609020204030204"/>
              </a:rPr>
              <a:t>”</a:t>
            </a:r>
            <a:r>
              <a:rPr lang="zh-CN" altLang="en-US" sz="1600">
                <a:solidFill>
                  <a:schemeClr val="tx1"/>
                </a:solidFill>
                <a:latin typeface="Consolas" panose="020B0609020204030204"/>
                <a:ea typeface="Consolas" panose="020B0609020204030204"/>
              </a:rPr>
              <a:t>等。</a:t>
            </a:r>
            <a:endParaRPr lang="zh-CN" altLang="en-US" sz="1600">
              <a:solidFill>
                <a:schemeClr val="tx1"/>
              </a:solidFill>
              <a:latin typeface="Consolas" panose="020B0609020204030204"/>
              <a:ea typeface="Consolas" panose="020B0609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结构清晰可读</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4148425" y="2215286"/>
            <a:ext cx="576615" cy="834888"/>
          </a:xfrm>
          <a:custGeom>
            <a:avLst/>
            <a:gdLst/>
            <a:ahLst/>
            <a:cxnLst/>
            <a:rect l="l" t="t" r="r" b="b"/>
            <a:pathLst>
              <a:path w="576615" h="834888">
                <a:moveTo>
                  <a:pt x="576615" y="0"/>
                </a:moveTo>
                <a:moveTo>
                  <a:pt x="576615" y="0"/>
                </a:moveTo>
                <a:lnTo>
                  <a:pt x="0" y="834888"/>
                </a:lnTo>
              </a:path>
            </a:pathLst>
          </a:custGeom>
          <a:noFill/>
          <a:ln w="19050">
            <a:solidFill>
              <a:srgbClr val="1859AE"/>
            </a:solidFill>
            <a:prstDash val="solid"/>
            <a:headEnd type="none"/>
            <a:tailEnd type="none"/>
          </a:ln>
        </p:spPr>
      </p:sp>
      <p:sp>
        <p:nvSpPr>
          <p:cNvPr id="8" name="Shape 5"/>
          <p:cNvSpPr/>
          <p:nvPr/>
        </p:nvSpPr>
        <p:spPr>
          <a:xfrm>
            <a:off x="4160714" y="1450417"/>
            <a:ext cx="564612" cy="751974"/>
          </a:xfrm>
          <a:custGeom>
            <a:avLst/>
            <a:gdLst/>
            <a:ahLst/>
            <a:cxnLst/>
            <a:rect l="l" t="t" r="r" b="b"/>
            <a:pathLst>
              <a:path w="564612" h="751974">
                <a:moveTo>
                  <a:pt x="0" y="0"/>
                </a:moveTo>
                <a:moveTo>
                  <a:pt x="0" y="0"/>
                </a:moveTo>
                <a:lnTo>
                  <a:pt x="564612" y="751974"/>
                </a:lnTo>
              </a:path>
            </a:pathLst>
          </a:custGeom>
          <a:noFill/>
          <a:ln w="19050">
            <a:solidFill>
              <a:srgbClr val="1859AE"/>
            </a:solidFill>
            <a:prstDash val="solid"/>
            <a:headEnd type="none"/>
            <a:tailEnd type="none"/>
          </a:ln>
        </p:spPr>
      </p:sp>
      <p:sp>
        <p:nvSpPr>
          <p:cNvPr id="9" name="Shape 6"/>
          <p:cNvSpPr/>
          <p:nvPr/>
        </p:nvSpPr>
        <p:spPr>
          <a:xfrm>
            <a:off x="646624" y="1078530"/>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0" name="Shape 7"/>
          <p:cNvSpPr/>
          <p:nvPr/>
        </p:nvSpPr>
        <p:spPr>
          <a:xfrm>
            <a:off x="1203141" y="1359276"/>
            <a:ext cx="2868202" cy="0"/>
          </a:xfrm>
          <a:custGeom>
            <a:avLst/>
            <a:gdLst/>
            <a:ahLst/>
            <a:cxnLst/>
            <a:rect l="l" t="t" r="r" b="b"/>
            <a:pathLst>
              <a:path w="2868202">
                <a:moveTo>
                  <a:pt x="0" y="0"/>
                </a:moveTo>
                <a:moveTo>
                  <a:pt x="0" y="0"/>
                </a:moveTo>
                <a:lnTo>
                  <a:pt x="2868202" y="0"/>
                </a:lnTo>
              </a:path>
            </a:pathLst>
          </a:custGeom>
          <a:noFill/>
          <a:ln w="19050">
            <a:solidFill>
              <a:srgbClr val="1859AE"/>
            </a:solidFill>
            <a:prstDash val="solid"/>
            <a:headEnd type="none"/>
            <a:tailEnd type="none"/>
          </a:ln>
        </p:spPr>
      </p:sp>
      <p:sp>
        <p:nvSpPr>
          <p:cNvPr id="11" name="Shape 8"/>
          <p:cNvSpPr/>
          <p:nvPr/>
        </p:nvSpPr>
        <p:spPr>
          <a:xfrm>
            <a:off x="4056069" y="135013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
        <p:nvSpPr>
          <p:cNvPr id="12" name="Shape 9"/>
          <p:cNvSpPr/>
          <p:nvPr/>
        </p:nvSpPr>
        <p:spPr>
          <a:xfrm>
            <a:off x="4056069" y="2932872"/>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
        <p:nvSpPr>
          <p:cNvPr id="13" name="Shape 10"/>
          <p:cNvSpPr/>
          <p:nvPr/>
        </p:nvSpPr>
        <p:spPr>
          <a:xfrm>
            <a:off x="4838991" y="2211190"/>
            <a:ext cx="3224944" cy="0"/>
          </a:xfrm>
          <a:custGeom>
            <a:avLst/>
            <a:gdLst/>
            <a:ahLst/>
            <a:cxnLst/>
            <a:rect l="l" t="t" r="r" b="b"/>
            <a:pathLst>
              <a:path w="3224944">
                <a:moveTo>
                  <a:pt x="0" y="0"/>
                </a:moveTo>
                <a:moveTo>
                  <a:pt x="0" y="0"/>
                </a:moveTo>
                <a:lnTo>
                  <a:pt x="3224944" y="0"/>
                </a:lnTo>
              </a:path>
            </a:pathLst>
          </a:custGeom>
          <a:noFill/>
          <a:ln w="19050">
            <a:solidFill>
              <a:srgbClr val="1859AE"/>
            </a:solidFill>
            <a:prstDash val="solid"/>
            <a:headEnd type="none"/>
            <a:tailEnd type="none"/>
          </a:ln>
        </p:spPr>
      </p:sp>
      <p:sp>
        <p:nvSpPr>
          <p:cNvPr id="14" name="Shape 11"/>
          <p:cNvSpPr/>
          <p:nvPr/>
        </p:nvSpPr>
        <p:spPr>
          <a:xfrm>
            <a:off x="7940859" y="1957076"/>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5" name="Shape 12"/>
          <p:cNvSpPr/>
          <p:nvPr/>
        </p:nvSpPr>
        <p:spPr>
          <a:xfrm>
            <a:off x="1203141" y="3113881"/>
            <a:ext cx="2886490" cy="2488"/>
          </a:xfrm>
          <a:custGeom>
            <a:avLst/>
            <a:gdLst/>
            <a:ahLst/>
            <a:cxnLst/>
            <a:rect l="l" t="t" r="r" b="b"/>
            <a:pathLst>
              <a:path w="2886490" h="2488">
                <a:moveTo>
                  <a:pt x="0" y="0"/>
                </a:moveTo>
                <a:moveTo>
                  <a:pt x="0" y="0"/>
                </a:moveTo>
                <a:lnTo>
                  <a:pt x="2886490" y="2488"/>
                </a:lnTo>
              </a:path>
            </a:pathLst>
          </a:custGeom>
          <a:noFill/>
          <a:ln w="19050">
            <a:solidFill>
              <a:srgbClr val="1859AE"/>
            </a:solidFill>
            <a:prstDash val="solid"/>
            <a:headEnd type="none"/>
            <a:tailEnd type="none"/>
          </a:ln>
        </p:spPr>
      </p:sp>
      <p:sp>
        <p:nvSpPr>
          <p:cNvPr id="16" name="Shape 13"/>
          <p:cNvSpPr/>
          <p:nvPr/>
        </p:nvSpPr>
        <p:spPr>
          <a:xfrm>
            <a:off x="646624" y="2835622"/>
            <a:ext cx="556517" cy="556517"/>
          </a:xfrm>
          <a:custGeom>
            <a:avLst/>
            <a:gdLst/>
            <a:ahLst/>
            <a:cxnLst/>
            <a:rect l="l" t="t" r="r" b="b"/>
            <a:pathLst>
              <a:path w="556517" h="556517">
                <a:moveTo>
                  <a:pt x="0" y="0"/>
                </a:moveTo>
                <a:moveTo>
                  <a:pt x="0" y="0"/>
                </a:moveTo>
                <a:lnTo>
                  <a:pt x="556517" y="0"/>
                </a:lnTo>
                <a:lnTo>
                  <a:pt x="556517" y="556517"/>
                </a:lnTo>
                <a:lnTo>
                  <a:pt x="0" y="556517"/>
                </a:lnTo>
                <a:close/>
              </a:path>
            </a:pathLst>
          </a:custGeom>
          <a:solidFill>
            <a:srgbClr val="1859AE"/>
          </a:solidFill>
        </p:spPr>
      </p:sp>
      <p:sp>
        <p:nvSpPr>
          <p:cNvPr id="17" name="Text 14"/>
          <p:cNvSpPr/>
          <p:nvPr/>
        </p:nvSpPr>
        <p:spPr>
          <a:xfrm>
            <a:off x="646624" y="1105962"/>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8" name="Text 15"/>
          <p:cNvSpPr/>
          <p:nvPr/>
        </p:nvSpPr>
        <p:spPr>
          <a:xfrm>
            <a:off x="7940859" y="1984508"/>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9" name="Text 16"/>
          <p:cNvSpPr/>
          <p:nvPr/>
        </p:nvSpPr>
        <p:spPr>
          <a:xfrm>
            <a:off x="646624" y="2862421"/>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1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20" name="Text 17"/>
          <p:cNvSpPr/>
          <p:nvPr/>
        </p:nvSpPr>
        <p:spPr>
          <a:xfrm>
            <a:off x="1203141" y="957284"/>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结构化Prompt设计</a:t>
            </a:r>
            <a:endParaRPr lang="en-US" sz="1440" dirty="0"/>
          </a:p>
        </p:txBody>
      </p:sp>
      <p:sp>
        <p:nvSpPr>
          <p:cNvPr id="21" name="Text 18"/>
          <p:cNvSpPr/>
          <p:nvPr/>
        </p:nvSpPr>
        <p:spPr>
          <a:xfrm>
            <a:off x="1203665" y="1359620"/>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LangGPT通过结构化方式编写Prompt，使得层级结构清晰，将形式和内容统一起来，提高了可读性。这种设计符合人类的阅读习惯，也符合ChatGPT的认知习惯。</a:t>
            </a:r>
            <a:endParaRPr lang="en-US" sz="1440" dirty="0"/>
          </a:p>
        </p:txBody>
      </p:sp>
      <p:sp>
        <p:nvSpPr>
          <p:cNvPr id="22" name="Text 19"/>
          <p:cNvSpPr/>
          <p:nvPr/>
        </p:nvSpPr>
        <p:spPr>
          <a:xfrm>
            <a:off x="4838690" y="1808486"/>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角色统摄全局</a:t>
            </a:r>
            <a:endParaRPr lang="en-US" sz="1440" dirty="0"/>
          </a:p>
        </p:txBody>
      </p:sp>
      <p:sp>
        <p:nvSpPr>
          <p:cNvPr id="23" name="Text 20"/>
          <p:cNvSpPr/>
          <p:nvPr/>
        </p:nvSpPr>
        <p:spPr>
          <a:xfrm>
            <a:off x="4838405" y="2210926"/>
            <a:ext cx="2852928" cy="128016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在LangGPT中，Role（角色）作为Prompt标题统摄全局内容，Profile（简介）和Rules（规则）作为二级标题统摄相应的局部内容，这种设计使得信息层次分明，易于理解。</a:t>
            </a:r>
            <a:endParaRPr lang="en-US" sz="1440" dirty="0"/>
          </a:p>
        </p:txBody>
      </p:sp>
      <p:sp>
        <p:nvSpPr>
          <p:cNvPr id="24" name="Text 21"/>
          <p:cNvSpPr/>
          <p:nvPr/>
        </p:nvSpPr>
        <p:spPr>
          <a:xfrm>
            <a:off x="1203141" y="2704702"/>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关键词引导细节</a:t>
            </a:r>
            <a:endParaRPr lang="en-US" sz="1440" dirty="0"/>
          </a:p>
        </p:txBody>
      </p:sp>
      <p:sp>
        <p:nvSpPr>
          <p:cNvPr id="25" name="Text 22"/>
          <p:cNvSpPr/>
          <p:nvPr/>
        </p:nvSpPr>
        <p:spPr>
          <a:xfrm>
            <a:off x="1203141" y="3125512"/>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Language（语言）和Description（描述）作为关键词统摄相应句子、段落，这种设计使得关键信息突出，有助于读者快速抓住重点，提高阅读效率。</a:t>
            </a:r>
            <a:endParaRPr lang="en-US" sz="1440" dirty="0"/>
          </a:p>
        </p:txBody>
      </p:sp>
      <p:sp>
        <p:nvSpPr>
          <p:cNvPr id="26" name="Shape 23"/>
          <p:cNvSpPr/>
          <p:nvPr/>
        </p:nvSpPr>
        <p:spPr>
          <a:xfrm>
            <a:off x="4646351" y="2114870"/>
            <a:ext cx="192640" cy="192640"/>
          </a:xfrm>
          <a:custGeom>
            <a:avLst/>
            <a:gdLst/>
            <a:ahLst/>
            <a:cxnLst/>
            <a:rect l="l" t="t" r="r" b="b"/>
            <a:pathLst>
              <a:path w="192640" h="192640">
                <a:moveTo>
                  <a:pt x="0" y="0"/>
                </a:moveTo>
                <a:moveTo>
                  <a:pt x="0" y="0"/>
                </a:moveTo>
                <a:lnTo>
                  <a:pt x="192640" y="0"/>
                </a:lnTo>
                <a:lnTo>
                  <a:pt x="192640" y="192640"/>
                </a:lnTo>
                <a:lnTo>
                  <a:pt x="0" y="192640"/>
                </a:lnTo>
                <a:close/>
              </a:path>
            </a:pathLst>
          </a:custGeom>
          <a:solidFill>
            <a:srgbClr val="1859AE"/>
          </a:solidFill>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提升语义认知</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8840314c6384d48c834b8d91b8054faf81c739.jpg?authorization=c2ltcGxlLWp3dCBhaz1zcGFya2Rlc2s4MDAwMDAwMDAwMDE7ZXhwPTMzMTY4NTQ4ODQ7YWxnbz1obWFjLXNoYTI1NjtzaWc9c1FETXVVOU1Oa3lKVHpjckNMdUdUcTBFalVjRy9zS3NYdTRPa1RDRVl1cz0=&amp;x_location=7YfmxI7B7uKO7jlRxIftd60uePD="/>
          <p:cNvPicPr>
            <a:picLocks noChangeAspect="1"/>
          </p:cNvPicPr>
          <p:nvPr/>
        </p:nvPicPr>
        <p:blipFill>
          <a:blip r:embed="rId2"/>
          <a:stretch>
            <a:fillRect/>
          </a:stretch>
        </p:blipFill>
        <p:spPr>
          <a:xfrm>
            <a:off x="888372" y="1088132"/>
            <a:ext cx="2283193" cy="1282693"/>
          </a:xfrm>
          <a:prstGeom prst="rect">
            <a:avLst/>
          </a:prstGeom>
        </p:spPr>
      </p:pic>
      <p:sp>
        <p:nvSpPr>
          <p:cNvPr id="8" name="Text 4"/>
          <p:cNvSpPr/>
          <p:nvPr/>
        </p:nvSpPr>
        <p:spPr>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结构化表达的优势</a:t>
            </a:r>
            <a:endParaRPr lang="en-US" sz="1440" dirty="0"/>
          </a:p>
        </p:txBody>
      </p:sp>
      <p:sp>
        <p:nvSpPr>
          <p:cNvPr id="9" name="Text 5"/>
          <p:cNvSpPr/>
          <p:nvPr/>
        </p:nvSpPr>
        <p:spPr>
          <a:xfrm>
            <a:off x="822960" y="2773736"/>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结构化表达通过清晰的层级和语义标识，使得Prompt内容对人和GPT模型都更加易于理解，有效降低了认知负担，提高了交流效率。</a:t>
            </a:r>
            <a:endParaRPr lang="en-US" sz="1440" dirty="0"/>
          </a:p>
        </p:txBody>
      </p:sp>
      <p:pic>
        <p:nvPicPr>
          <p:cNvPr id="10" name="Image 1" descr="https://sgw-dx.xf-yun.com/api/v1/sparkdesk/_17400548871638e2a349d2d5242a6b9e01880f217092e.jpg?authorization=c2ltcGxlLWp3dCBhaz1zcGFya2Rlc2s4MDAwMDAwMDAwMDE7ZXhwPTMzMTY4NTQ4ODc7YWxnbz1obWFjLXNoYTI1NjtzaWc9VU54UDFaUzVPdlpWbHdvZ1NFNGd3cFZ3MTdpc1c1aTIwdUVFQnNkVnlMaz0=&amp;x_location=7YfmxI7B7uKO7jlRxIftd60uePD="/>
          <p:cNvPicPr>
            <a:picLocks noChangeAspect="1"/>
          </p:cNvPicPr>
          <p:nvPr/>
        </p:nvPicPr>
        <p:blipFill>
          <a:blip r:embed="rId3"/>
          <a:stretch>
            <a:fillRect/>
          </a:stretch>
        </p:blipFill>
        <p:spPr>
          <a:xfrm>
            <a:off x="3466980" y="1088132"/>
            <a:ext cx="2283193" cy="1282693"/>
          </a:xfrm>
          <a:prstGeom prst="rect">
            <a:avLst/>
          </a:prstGeom>
        </p:spPr>
      </p:pic>
      <p:sp>
        <p:nvSpPr>
          <p:cNvPr id="11" name="Text 6"/>
          <p:cNvSpPr/>
          <p:nvPr/>
        </p:nvSpPr>
        <p:spPr>
          <a:xfrm>
            <a:off x="3328416" y="2446016"/>
            <a:ext cx="2487168" cy="45656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Prompt生成助手</a:t>
            </a:r>
            <a:endParaRPr lang="en-US" sz="1440" dirty="0"/>
          </a:p>
        </p:txBody>
      </p:sp>
      <p:sp>
        <p:nvSpPr>
          <p:cNvPr id="12" name="Text 7"/>
          <p:cNvSpPr/>
          <p:nvPr/>
        </p:nvSpPr>
        <p:spPr>
          <a:xfrm>
            <a:off x="3401568" y="2773736"/>
            <a:ext cx="2414016" cy="1075055"/>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Kimi</a:t>
            </a:r>
            <a:r>
              <a:rPr lang="zh-CN" alt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提供了</a:t>
            </a: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LangGPT</a:t>
            </a:r>
            <a:r>
              <a:rPr lang="zh-CN" alt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提示词专家</a:t>
            </a: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，可以快速生成高质量的初版Prompt，这不仅简化了编写过程，还能在生产级应用中进一步迭代优化。</a:t>
            </a:r>
            <a:endParaRPr lang="en-US" sz="1440" dirty="0"/>
          </a:p>
        </p:txBody>
      </p:sp>
      <p:pic>
        <p:nvPicPr>
          <p:cNvPr id="13" name="Image 2" descr="https://sgw-dx.xf-yun.com/api/v1/sparkdesk/_174005489038507133b9eec3c444389a0228aff1fc724.jpg?authorization=c2ltcGxlLWp3dCBhaz1zcGFya2Rlc2s4MDAwMDAwMDAwMDE7ZXhwPTMzMTY4NTQ4OTA7YWxnbz1obWFjLXNoYTI1NjtzaWc9Y1RZL01IekFROVVPWEFBMUxGR1lOTDQ4YlBFUWFqc1k4RnREMFhPd3A2OD0=&amp;x_location=7YfmxI7B7uKO7jlRxIftd60uePD="/>
          <p:cNvPicPr>
            <a:picLocks noChangeAspect="1"/>
          </p:cNvPicPr>
          <p:nvPr/>
        </p:nvPicPr>
        <p:blipFill>
          <a:blip r:embed="rId4"/>
          <a:stretch>
            <a:fillRect/>
          </a:stretch>
        </p:blipFill>
        <p:spPr>
          <a:xfrm>
            <a:off x="6009012" y="1088132"/>
            <a:ext cx="2283193" cy="1282693"/>
          </a:xfrm>
          <a:prstGeom prst="rect">
            <a:avLst/>
          </a:prstGeom>
        </p:spPr>
      </p:pic>
      <p:sp>
        <p:nvSpPr>
          <p:cNvPr id="14" name="Text 8"/>
          <p:cNvSpPr/>
          <p:nvPr/>
        </p:nvSpPr>
        <p:spPr>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属性词与内容的融合</a:t>
            </a:r>
            <a:endParaRPr lang="en-US" sz="1440" dirty="0"/>
          </a:p>
        </p:txBody>
      </p:sp>
      <p:sp>
        <p:nvSpPr>
          <p:cNvPr id="15" name="Text 9"/>
          <p:cNvSpPr/>
          <p:nvPr/>
        </p:nvSpPr>
        <p:spPr>
          <a:xfrm>
            <a:off x="5943600" y="2775208"/>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将属性词与Prompt内容相结合，形成了局部的总分结构，这种结构有助于模型更好地把握Prompt的整体语义，从而提升理解和响应的准确性。</a:t>
            </a:r>
            <a:endParaRPr lang="en-US" sz="144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降低认知负担</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4125591" y="1645920"/>
            <a:ext cx="174439" cy="0"/>
          </a:xfrm>
          <a:custGeom>
            <a:avLst/>
            <a:gdLst/>
            <a:ahLst/>
            <a:cxnLst/>
            <a:rect l="l" t="t" r="r" b="b"/>
            <a:pathLst>
              <a:path w="174439">
                <a:moveTo>
                  <a:pt x="174439" y="0"/>
                </a:moveTo>
                <a:moveTo>
                  <a:pt x="174439" y="0"/>
                </a:moveTo>
                <a:lnTo>
                  <a:pt x="0" y="0"/>
                </a:lnTo>
              </a:path>
            </a:pathLst>
          </a:custGeom>
          <a:noFill/>
          <a:ln w="19050">
            <a:solidFill>
              <a:srgbClr val="1859AE"/>
            </a:solidFill>
            <a:prstDash val="solid"/>
            <a:headEnd type="none"/>
            <a:tailEnd type="arrow"/>
          </a:ln>
        </p:spPr>
      </p:sp>
      <p:sp>
        <p:nvSpPr>
          <p:cNvPr id="8" name="Shape 5"/>
          <p:cNvSpPr/>
          <p:nvPr/>
        </p:nvSpPr>
        <p:spPr>
          <a:xfrm>
            <a:off x="5024592" y="2752344"/>
            <a:ext cx="177670" cy="0"/>
          </a:xfrm>
          <a:custGeom>
            <a:avLst/>
            <a:gdLst/>
            <a:ahLst/>
            <a:cxnLst/>
            <a:rect l="l" t="t" r="r" b="b"/>
            <a:pathLst>
              <a:path w="177670">
                <a:moveTo>
                  <a:pt x="0" y="0"/>
                </a:moveTo>
                <a:moveTo>
                  <a:pt x="0" y="0"/>
                </a:moveTo>
                <a:lnTo>
                  <a:pt x="177670" y="0"/>
                </a:lnTo>
              </a:path>
            </a:pathLst>
          </a:custGeom>
          <a:noFill/>
          <a:ln w="19050">
            <a:solidFill>
              <a:srgbClr val="1859AE"/>
            </a:solidFill>
            <a:prstDash val="solid"/>
            <a:headEnd type="none"/>
            <a:tailEnd type="arrow"/>
          </a:ln>
        </p:spPr>
      </p:sp>
      <p:sp>
        <p:nvSpPr>
          <p:cNvPr id="9" name="Shape 6"/>
          <p:cNvSpPr/>
          <p:nvPr/>
        </p:nvSpPr>
        <p:spPr>
          <a:xfrm>
            <a:off x="4118004" y="3799332"/>
            <a:ext cx="175088" cy="0"/>
          </a:xfrm>
          <a:custGeom>
            <a:avLst/>
            <a:gdLst/>
            <a:ahLst/>
            <a:cxnLst/>
            <a:rect l="l" t="t" r="r" b="b"/>
            <a:pathLst>
              <a:path w="175088">
                <a:moveTo>
                  <a:pt x="175088" y="0"/>
                </a:moveTo>
                <a:moveTo>
                  <a:pt x="175088" y="0"/>
                </a:moveTo>
                <a:lnTo>
                  <a:pt x="0" y="0"/>
                </a:lnTo>
              </a:path>
            </a:pathLst>
          </a:custGeom>
          <a:noFill/>
          <a:ln w="19050">
            <a:solidFill>
              <a:srgbClr val="1859AE"/>
            </a:solidFill>
            <a:prstDash val="solid"/>
            <a:headEnd type="none"/>
            <a:tailEnd type="arrow"/>
          </a:ln>
        </p:spPr>
      </p:sp>
      <p:sp>
        <p:nvSpPr>
          <p:cNvPr id="10" name="Text 7"/>
          <p:cNvSpPr/>
          <p:nvPr/>
        </p:nvSpPr>
        <p:spPr>
          <a:xfrm>
            <a:off x="4287407" y="1280160"/>
            <a:ext cx="745435" cy="704088"/>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73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Text 8"/>
          <p:cNvSpPr/>
          <p:nvPr/>
        </p:nvSpPr>
        <p:spPr>
          <a:xfrm>
            <a:off x="4287407" y="3429000"/>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59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2" name="Text 9"/>
          <p:cNvSpPr/>
          <p:nvPr/>
        </p:nvSpPr>
        <p:spPr>
          <a:xfrm>
            <a:off x="4278263" y="2423160"/>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59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3" name="Text 10"/>
          <p:cNvSpPr/>
          <p:nvPr/>
        </p:nvSpPr>
        <p:spPr>
          <a:xfrm>
            <a:off x="890230" y="1280160"/>
            <a:ext cx="3108960" cy="40233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结构化表达的优势</a:t>
            </a:r>
            <a:endParaRPr lang="en-US" sz="1440" dirty="0"/>
          </a:p>
        </p:txBody>
      </p:sp>
      <p:sp>
        <p:nvSpPr>
          <p:cNvPr id="14" name="Text 11"/>
          <p:cNvSpPr/>
          <p:nvPr/>
        </p:nvSpPr>
        <p:spPr>
          <a:xfrm>
            <a:off x="890230" y="1639519"/>
            <a:ext cx="3108960" cy="81381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结构化表达通过清晰的层级和语义标识，使得Prompt内容一目了然，大大降低了用户的认知负担，提高了信息传递的效率。</a:t>
            </a:r>
            <a:endParaRPr lang="en-US" sz="1440" dirty="0"/>
          </a:p>
        </p:txBody>
      </p:sp>
      <p:sp>
        <p:nvSpPr>
          <p:cNvPr id="15" name="Text 12"/>
          <p:cNvSpPr/>
          <p:nvPr/>
        </p:nvSpPr>
        <p:spPr>
          <a:xfrm>
            <a:off x="5235854" y="2039112"/>
            <a:ext cx="3108960"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Prompt生成助手的作用</a:t>
            </a:r>
            <a:endParaRPr lang="en-US" sz="1440" dirty="0"/>
          </a:p>
        </p:txBody>
      </p:sp>
      <p:sp>
        <p:nvSpPr>
          <p:cNvPr id="16" name="Text 13"/>
          <p:cNvSpPr/>
          <p:nvPr/>
        </p:nvSpPr>
        <p:spPr>
          <a:xfrm>
            <a:off x="5236250" y="2441448"/>
            <a:ext cx="3108960" cy="81381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LangGPT提供的Prompt生成助手能够自动生成高质量的初版Prompt，帮助用户快速应对日常场景，减少编写任务量，提升工作效率。</a:t>
            </a:r>
            <a:endParaRPr lang="en-US" sz="1440" dirty="0"/>
          </a:p>
        </p:txBody>
      </p:sp>
      <p:sp>
        <p:nvSpPr>
          <p:cNvPr id="17" name="Text 14"/>
          <p:cNvSpPr/>
          <p:nvPr/>
        </p:nvSpPr>
        <p:spPr>
          <a:xfrm>
            <a:off x="890230" y="2761488"/>
            <a:ext cx="3108960" cy="402336"/>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属性词的语义提示功能</a:t>
            </a:r>
            <a:endParaRPr lang="en-US" sz="1440" dirty="0"/>
          </a:p>
        </p:txBody>
      </p:sp>
      <p:sp>
        <p:nvSpPr>
          <p:cNvPr id="18" name="Text 15"/>
          <p:cNvSpPr/>
          <p:nvPr/>
        </p:nvSpPr>
        <p:spPr>
          <a:xfrm>
            <a:off x="890230" y="3163824"/>
            <a:ext cx="3108960" cy="1060704"/>
          </a:xfrm>
          <a:prstGeom prst="rect">
            <a:avLst/>
          </a:prstGeom>
          <a:noFill/>
        </p:spPr>
        <p:txBody>
          <a:bodyPr wrap="square" lIns="95250" tIns="95250" rIns="95250" bIns="95250" rtlCol="0" anchor="t">
            <a:spAutoFit/>
          </a:bodyPr>
          <a:lstStyle/>
          <a:p>
            <a:pPr marL="0" indent="0" algn="r">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属性词在Prompt中起到语义提示和归纳作用，帮助模型更好地理解Prompt内容，缓解不当内容的干扰，提高模型对Prompt的整体理解能力。</a:t>
            </a:r>
            <a:endParaRPr lang="en-US" sz="1440" dirty="0"/>
          </a:p>
        </p:txBody>
      </p:sp>
      <p:pic>
        <p:nvPicPr>
          <p:cNvPr id="19" name="Image 0" descr="preencoded.png"/>
          <p:cNvPicPr>
            <a:picLocks noChangeAspect="1"/>
          </p:cNvPicPr>
          <p:nvPr/>
        </p:nvPicPr>
        <p:blipFill>
          <a:blip r:embed="rId2"/>
          <a:stretch>
            <a:fillRect/>
          </a:stretch>
        </p:blipFill>
        <p:spPr>
          <a:xfrm>
            <a:off x="4205111" y="1182319"/>
            <a:ext cx="914400" cy="914400"/>
          </a:xfrm>
          <a:prstGeom prst="rect">
            <a:avLst/>
          </a:prstGeom>
        </p:spPr>
      </p:pic>
      <p:pic>
        <p:nvPicPr>
          <p:cNvPr id="20" name="Image 1" descr="preencoded.png"/>
          <p:cNvPicPr>
            <a:picLocks noChangeAspect="1"/>
          </p:cNvPicPr>
          <p:nvPr/>
        </p:nvPicPr>
        <p:blipFill>
          <a:blip r:embed="rId2"/>
          <a:stretch>
            <a:fillRect/>
          </a:stretch>
        </p:blipFill>
        <p:spPr>
          <a:xfrm>
            <a:off x="4205111" y="2304288"/>
            <a:ext cx="914400" cy="914400"/>
          </a:xfrm>
          <a:prstGeom prst="rect">
            <a:avLst/>
          </a:prstGeom>
        </p:spPr>
      </p:pic>
      <p:pic>
        <p:nvPicPr>
          <p:cNvPr id="21" name="Image 2" descr="preencoded.png"/>
          <p:cNvPicPr>
            <a:picLocks noChangeAspect="1"/>
          </p:cNvPicPr>
          <p:nvPr/>
        </p:nvPicPr>
        <p:blipFill>
          <a:blip r:embed="rId2"/>
          <a:stretch>
            <a:fillRect/>
          </a:stretch>
        </p:blipFill>
        <p:spPr>
          <a:xfrm>
            <a:off x="4205111" y="3310128"/>
            <a:ext cx="914400" cy="9144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63309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Prompt生成最佳实践</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定向唤醒能力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8943301d29baa84a1f451595d019850b4fc4eb.jpg?authorization=c2ltcGxlLWp3dCBhaz1zcGFya2Rlc2s4MDAwMDAwMDAwMDE7ZXhwPTMzMTY4NTQ4OTQ7YWxnbz1obWFjLXNoYTI1NjtzaWc9cDFpbGsyWGpDRjRLa1kxaTZqbG5WRzJVZ2lMNXdoLzk5YmpmUTRUcUo0OD0=&amp;x_location=7YfmxI7B7uKO7jlRxIftd60uePD="/>
          <p:cNvPicPr>
            <a:picLocks noChangeAspect="1"/>
          </p:cNvPicPr>
          <p:nvPr/>
        </p:nvPicPr>
        <p:blipFill>
          <a:blip r:embed="rId2"/>
          <a:stretch>
            <a:fillRect/>
          </a:stretch>
        </p:blipFill>
        <p:spPr>
          <a:xfrm>
            <a:off x="445242" y="1227435"/>
            <a:ext cx="2831634" cy="2831634"/>
          </a:xfrm>
          <a:prstGeom prst="rect">
            <a:avLst/>
          </a:prstGeom>
        </p:spPr>
      </p:pic>
      <p:sp>
        <p:nvSpPr>
          <p:cNvPr id="8" name="Text 4"/>
          <p:cNvSpPr/>
          <p:nvPr/>
        </p:nvSpPr>
        <p:spPr>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定向唤醒能力概述</a:t>
            </a:r>
            <a:endParaRPr lang="en-US" sz="1440" dirty="0"/>
          </a:p>
        </p:txBody>
      </p:sp>
      <p:sp>
        <p:nvSpPr>
          <p:cNvPr id="9" name="Text 5"/>
          <p:cNvSpPr/>
          <p:nvPr/>
        </p:nvSpPr>
        <p:spPr>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定向唤醒能力通过特定属性词确保模型调用深层能力，解决长期记忆缺失问题，如设置角色属性词固定Prompt为特定角色。</a:t>
            </a:r>
            <a:endParaRPr lang="en-US" sz="1440" dirty="0"/>
          </a:p>
        </p:txBody>
      </p:sp>
      <p:sp>
        <p:nvSpPr>
          <p:cNvPr id="10" name="Text 6"/>
          <p:cNvSpPr/>
          <p:nvPr/>
        </p:nvSpPr>
        <p:spPr>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规则与约束的应用</a:t>
            </a:r>
            <a:endParaRPr lang="en-US" sz="1440" dirty="0"/>
          </a:p>
        </p:txBody>
      </p:sp>
      <p:sp>
        <p:nvSpPr>
          <p:cNvPr id="11" name="Text 7"/>
          <p:cNvSpPr/>
          <p:nvPr/>
        </p:nvSpPr>
        <p:spPr>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利用规则（Rules）和约束（Constraints）等词，规定模型必须遵守的规则，如添加积极健康输出内容规则，缓解大模型幻觉问题。</a:t>
            </a:r>
            <a:endParaRPr lang="en-US" sz="1440" dirty="0"/>
          </a:p>
        </p:txBody>
      </p:sp>
      <p:sp>
        <p:nvSpPr>
          <p:cNvPr id="12" name="Text 8"/>
          <p:cNvSpPr/>
          <p:nvPr/>
        </p:nvSpPr>
        <p:spPr>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专家提示词的替代作用</a:t>
            </a:r>
            <a:endParaRPr lang="en-US" sz="1440" dirty="0"/>
          </a:p>
        </p:txBody>
      </p:sp>
      <p:sp>
        <p:nvSpPr>
          <p:cNvPr id="13" name="Text 9"/>
          <p:cNvSpPr/>
          <p:nvPr/>
        </p:nvSpPr>
        <p:spPr>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使用专家（Expert）、大师（Master）等提示词替代角色，将Prompt固定为某一领域专家，提高模型在特定领域的回答准确性。</a:t>
            </a:r>
            <a:endParaRPr lang="en-US" sz="144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构建生产级Prompt</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使用统一模板</a:t>
            </a:r>
            <a:endParaRPr lang="en-US" sz="1440" dirty="0"/>
          </a:p>
        </p:txBody>
      </p:sp>
      <p:pic>
        <p:nvPicPr>
          <p:cNvPr id="11" name="Image 0" descr="https://sgw-dx.xf-yun.com/api/v1/sparkdesk/_17400549099204a7032d9c8c243f8af74ab1fc1c357b8.jpg?authorization=c2ltcGxlLWp3dCBhaz1zcGFya2Rlc2s4MDAwMDAwMDAwMDE7ZXhwPTMzMTY4NTQ5MDk7YWxnbz1obWFjLXNoYTI1NjtzaWc9aXVFU21kOStnNkFNUzg4Zk9pZ2JmYkVXV2VHZTJyZ1YycGJaNkVsVVlEZz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采用统一的模板来构建生产级Prompt，可以确保提示词的质量和一致性。这种方式易于修改和复用，大大提高了工作效率。</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提升语义认知</a:t>
            </a:r>
            <a:endParaRPr lang="en-US" sz="1440" dirty="0"/>
          </a:p>
        </p:txBody>
      </p:sp>
      <p:pic>
        <p:nvPicPr>
          <p:cNvPr id="14" name="Image 1" descr="https://sgw-dx.xf-yun.com/api/v1/sparkdesk/_1740054913252e3a67cdaafee4fa2bd08406c236d5c8b.jpg?authorization=c2ltcGxlLWp3dCBhaz1zcGFya2Rlc2s4MDAwMDAwMDAwMDE7ZXhwPTMzMTY4NTQ5MTM7YWxnbz1obWFjLXNoYTI1NjtzaWc9RnprVlY4OHdDUGlSeTNXSFdoVWpWQlpUbHFPRlJmUzcySzcvdkx2bEJyTT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结构化表达降低了人和GPT模型的认知负担，提高了对Prompt的语义认知。清晰的语义和层级结构使得Prompt内容一目了然。</a:t>
            </a:r>
            <a:endParaRPr lang="en-US" sz="1440" dirty="0"/>
          </a:p>
        </p:txBody>
      </p:sp>
      <p:sp>
        <p:nvSpPr>
          <p:cNvPr id="16" name="Text 11"/>
          <p:cNvSpPr/>
          <p:nvPr/>
        </p:nvSpPr>
        <p:spPr>
          <a:xfrm>
            <a:off x="3904782" y="2707982"/>
            <a:ext cx="2800744"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定向唤醒大模型深度能力</a:t>
            </a:r>
            <a:endParaRPr lang="en-US" sz="1440" dirty="0"/>
          </a:p>
        </p:txBody>
      </p:sp>
      <p:pic>
        <p:nvPicPr>
          <p:cNvPr id="17" name="Image 2" descr="https://sgw-dx.xf-yun.com/api/v1/sparkdesk/_174005491609210db284cf4744314bce1471d4ee50538.jpg?authorization=c2ltcGxlLWp3dCBhaz1zcGFya2Rlc2s4MDAwMDAwMDAwMDE7ZXhwPTMzMTY4NTQ5MTY7YWxnbz1obWFjLXNoYTI1NjtzaWc9enQxcUJvT1FTeGhDbm1NNHhPakJSL2tKRU5oWGxpN3dmUlZkb3E1YXhxdz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通过使用特定的属性词，如设置Role(角色）属性词，可以直接将Prompt固定为角色，确保定向唤醒模型的角色扮演能力。</a:t>
            </a:r>
            <a:endParaRPr lang="en-US" sz="144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构建全局思维链</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5510252" y="2264253"/>
            <a:ext cx="2689524" cy="445315"/>
          </a:xfrm>
          <a:custGeom>
            <a:avLst/>
            <a:gdLst/>
            <a:ahLst/>
            <a:cxnLst/>
            <a:rect l="l" t="t" r="r" b="b"/>
            <a:pathLst>
              <a:path w="2689524" h="445315">
                <a:moveTo>
                  <a:pt x="0" y="0"/>
                </a:moveTo>
                <a:moveTo>
                  <a:pt x="0" y="0"/>
                </a:moveTo>
                <a:lnTo>
                  <a:pt x="2689524" y="0"/>
                </a:lnTo>
                <a:lnTo>
                  <a:pt x="2689524" y="445315"/>
                </a:lnTo>
                <a:lnTo>
                  <a:pt x="0" y="445315"/>
                </a:lnTo>
                <a:close/>
              </a:path>
            </a:pathLst>
          </a:custGeom>
          <a:solidFill>
            <a:srgbClr val="4586DB"/>
          </a:solidFill>
        </p:spPr>
      </p:sp>
      <p:sp>
        <p:nvSpPr>
          <p:cNvPr id="8" name="Shape 5"/>
          <p:cNvSpPr/>
          <p:nvPr/>
        </p:nvSpPr>
        <p:spPr>
          <a:xfrm rot="-8100000">
            <a:off x="7748355" y="2055442"/>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4586DB"/>
          </a:solidFill>
        </p:spPr>
      </p:sp>
      <p:sp>
        <p:nvSpPr>
          <p:cNvPr id="9" name="Shape 6"/>
          <p:cNvSpPr/>
          <p:nvPr/>
        </p:nvSpPr>
        <p:spPr>
          <a:xfrm>
            <a:off x="512622" y="1319563"/>
            <a:ext cx="7687154" cy="576734"/>
          </a:xfrm>
          <a:custGeom>
            <a:avLst/>
            <a:gdLst/>
            <a:ahLst/>
            <a:cxnLst/>
            <a:rect l="l" t="t" r="r" b="b"/>
            <a:pathLst>
              <a:path w="7687154" h="576734">
                <a:moveTo>
                  <a:pt x="0" y="0"/>
                </a:moveTo>
                <a:moveTo>
                  <a:pt x="0" y="0"/>
                </a:moveTo>
                <a:lnTo>
                  <a:pt x="7687154" y="0"/>
                </a:lnTo>
                <a:lnTo>
                  <a:pt x="7687154" y="576734"/>
                </a:lnTo>
                <a:lnTo>
                  <a:pt x="0" y="576734"/>
                </a:lnTo>
                <a:close/>
              </a:path>
            </a:pathLst>
          </a:custGeom>
          <a:solidFill>
            <a:srgbClr val="4586DB"/>
          </a:solidFill>
        </p:spPr>
      </p:sp>
      <p:sp>
        <p:nvSpPr>
          <p:cNvPr id="10" name="Shape 7"/>
          <p:cNvSpPr/>
          <p:nvPr/>
        </p:nvSpPr>
        <p:spPr>
          <a:xfrm rot="-8100000">
            <a:off x="7739211" y="1242170"/>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4586DB"/>
          </a:solidFill>
        </p:spPr>
      </p:sp>
      <p:sp>
        <p:nvSpPr>
          <p:cNvPr id="11" name="Shape 8"/>
          <p:cNvSpPr/>
          <p:nvPr/>
        </p:nvSpPr>
        <p:spPr>
          <a:xfrm rot="-8100000">
            <a:off x="7730067" y="1610126"/>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1859AE"/>
          </a:solidFill>
        </p:spPr>
      </p:sp>
      <p:sp>
        <p:nvSpPr>
          <p:cNvPr id="12" name="Shape 9"/>
          <p:cNvSpPr/>
          <p:nvPr/>
        </p:nvSpPr>
        <p:spPr>
          <a:xfrm>
            <a:off x="521766" y="1903939"/>
            <a:ext cx="2511105" cy="1682799"/>
          </a:xfrm>
          <a:custGeom>
            <a:avLst/>
            <a:gdLst/>
            <a:ahLst/>
            <a:cxnLst/>
            <a:rect l="l" t="t" r="r" b="b"/>
            <a:pathLst>
              <a:path w="2511105" h="1682799">
                <a:moveTo>
                  <a:pt x="0" y="0"/>
                </a:moveTo>
                <a:moveTo>
                  <a:pt x="0" y="0"/>
                </a:moveTo>
                <a:lnTo>
                  <a:pt x="2511105" y="0"/>
                </a:lnTo>
                <a:lnTo>
                  <a:pt x="2511105" y="1682799"/>
                </a:lnTo>
                <a:lnTo>
                  <a:pt x="0" y="1682799"/>
                </a:lnTo>
                <a:close/>
              </a:path>
            </a:pathLst>
          </a:custGeom>
          <a:solidFill>
            <a:srgbClr val="A2E5B9">
              <a:alpha val="0"/>
            </a:srgbClr>
          </a:solidFill>
          <a:ln w="19050">
            <a:solidFill>
              <a:srgbClr val="4586DB"/>
            </a:solidFill>
            <a:prstDash val="solid"/>
          </a:ln>
        </p:spPr>
      </p:sp>
      <p:sp>
        <p:nvSpPr>
          <p:cNvPr id="13" name="Shape 10"/>
          <p:cNvSpPr/>
          <p:nvPr/>
        </p:nvSpPr>
        <p:spPr>
          <a:xfrm>
            <a:off x="3030749" y="2264253"/>
            <a:ext cx="2488647" cy="1682799"/>
          </a:xfrm>
          <a:custGeom>
            <a:avLst/>
            <a:gdLst/>
            <a:ahLst/>
            <a:cxnLst/>
            <a:rect l="l" t="t" r="r" b="b"/>
            <a:pathLst>
              <a:path w="2488647" h="1682799">
                <a:moveTo>
                  <a:pt x="0" y="0"/>
                </a:moveTo>
                <a:moveTo>
                  <a:pt x="0" y="0"/>
                </a:moveTo>
                <a:lnTo>
                  <a:pt x="2488647" y="0"/>
                </a:lnTo>
                <a:lnTo>
                  <a:pt x="2488647" y="1682799"/>
                </a:lnTo>
                <a:lnTo>
                  <a:pt x="0" y="1682799"/>
                </a:lnTo>
                <a:close/>
              </a:path>
            </a:pathLst>
          </a:custGeom>
          <a:solidFill>
            <a:srgbClr val="A2E5B9">
              <a:alpha val="0"/>
            </a:srgbClr>
          </a:solidFill>
          <a:ln w="19050">
            <a:solidFill>
              <a:srgbClr val="1859AE"/>
            </a:solidFill>
            <a:prstDash val="solid"/>
          </a:ln>
        </p:spPr>
      </p:sp>
      <p:sp>
        <p:nvSpPr>
          <p:cNvPr id="14" name="Shape 11"/>
          <p:cNvSpPr/>
          <p:nvPr/>
        </p:nvSpPr>
        <p:spPr>
          <a:xfrm>
            <a:off x="5519396" y="2709569"/>
            <a:ext cx="2591353" cy="1682799"/>
          </a:xfrm>
          <a:custGeom>
            <a:avLst/>
            <a:gdLst/>
            <a:ahLst/>
            <a:cxnLst/>
            <a:rect l="l" t="t" r="r" b="b"/>
            <a:pathLst>
              <a:path w="2591353" h="1682799">
                <a:moveTo>
                  <a:pt x="0" y="0"/>
                </a:moveTo>
                <a:moveTo>
                  <a:pt x="0" y="0"/>
                </a:moveTo>
                <a:lnTo>
                  <a:pt x="2591353" y="0"/>
                </a:lnTo>
                <a:lnTo>
                  <a:pt x="2591353" y="1682799"/>
                </a:lnTo>
                <a:lnTo>
                  <a:pt x="0" y="1682799"/>
                </a:lnTo>
                <a:close/>
              </a:path>
            </a:pathLst>
          </a:custGeom>
          <a:solidFill>
            <a:srgbClr val="A2E5B9">
              <a:alpha val="0"/>
            </a:srgbClr>
          </a:solidFill>
          <a:ln w="19050">
            <a:solidFill>
              <a:srgbClr val="4586DB"/>
            </a:solidFill>
            <a:prstDash val="solid"/>
          </a:ln>
        </p:spPr>
      </p:sp>
      <p:sp>
        <p:nvSpPr>
          <p:cNvPr id="15" name="Text 12"/>
          <p:cNvSpPr/>
          <p:nvPr/>
        </p:nvSpPr>
        <p:spPr>
          <a:xfrm>
            <a:off x="602401" y="1406762"/>
            <a:ext cx="2430470" cy="45656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结构化模板的重要性</a:t>
            </a:r>
            <a:endParaRPr lang="en-US" sz="1440" dirty="0"/>
          </a:p>
        </p:txBody>
      </p:sp>
      <p:sp>
        <p:nvSpPr>
          <p:cNvPr id="16" name="Text 13"/>
          <p:cNvSpPr/>
          <p:nvPr/>
        </p:nvSpPr>
        <p:spPr>
          <a:xfrm>
            <a:off x="512622" y="1864695"/>
            <a:ext cx="2501961" cy="1207008"/>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结构化的Prompt模板是构建全局思维链的有效工具，它通过预设的思维链路降低构建难度，提高思考效率。</a:t>
            </a:r>
            <a:endParaRPr lang="en-US" sz="1440" dirty="0"/>
          </a:p>
        </p:txBody>
      </p:sp>
      <p:sp>
        <p:nvSpPr>
          <p:cNvPr id="17" name="Text 14"/>
          <p:cNvSpPr/>
          <p:nvPr/>
        </p:nvSpPr>
        <p:spPr>
          <a:xfrm>
            <a:off x="3017435" y="2264253"/>
            <a:ext cx="2501961" cy="1207008"/>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LangGPT展示的模板设计考虑了角色、技能、规则等要素，形成了一个完整的全局思维链，有助于提升工作效率。</a:t>
            </a:r>
            <a:endParaRPr lang="en-US" sz="1440" dirty="0"/>
          </a:p>
        </p:txBody>
      </p:sp>
      <p:sp>
        <p:nvSpPr>
          <p:cNvPr id="18" name="Text 15"/>
          <p:cNvSpPr/>
          <p:nvPr/>
        </p:nvSpPr>
        <p:spPr>
          <a:xfrm>
            <a:off x="5510252" y="2307233"/>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逻辑思维链路的融入</a:t>
            </a:r>
            <a:endParaRPr lang="en-US" sz="1440" dirty="0"/>
          </a:p>
        </p:txBody>
      </p:sp>
      <p:sp>
        <p:nvSpPr>
          <p:cNvPr id="19" name="Text 16"/>
          <p:cNvSpPr/>
          <p:nvPr/>
        </p:nvSpPr>
        <p:spPr>
          <a:xfrm>
            <a:off x="5519396" y="2709569"/>
            <a:ext cx="2501961" cy="950976"/>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将久经考验的逻辑思维链路融入结构中，可以大大降低思维链路的构建难度，使工作更加高效有序。</a:t>
            </a:r>
            <a:endParaRPr lang="en-US" sz="1440" dirty="0"/>
          </a:p>
        </p:txBody>
      </p:sp>
      <p:sp>
        <p:nvSpPr>
          <p:cNvPr id="20" name="Shape 17"/>
          <p:cNvSpPr/>
          <p:nvPr/>
        </p:nvSpPr>
        <p:spPr>
          <a:xfrm>
            <a:off x="3023727" y="1687519"/>
            <a:ext cx="5176049" cy="576734"/>
          </a:xfrm>
          <a:custGeom>
            <a:avLst/>
            <a:gdLst/>
            <a:ahLst/>
            <a:cxnLst/>
            <a:rect l="l" t="t" r="r" b="b"/>
            <a:pathLst>
              <a:path w="5176049" h="576734">
                <a:moveTo>
                  <a:pt x="0" y="0"/>
                </a:moveTo>
                <a:moveTo>
                  <a:pt x="0" y="0"/>
                </a:moveTo>
                <a:lnTo>
                  <a:pt x="5176049" y="0"/>
                </a:lnTo>
                <a:lnTo>
                  <a:pt x="5176049" y="576734"/>
                </a:lnTo>
                <a:lnTo>
                  <a:pt x="0" y="576734"/>
                </a:lnTo>
                <a:close/>
              </a:path>
            </a:pathLst>
          </a:custGeom>
          <a:solidFill>
            <a:srgbClr val="1859AE"/>
          </a:solidFill>
        </p:spPr>
      </p:sp>
      <p:sp>
        <p:nvSpPr>
          <p:cNvPr id="21" name="Text 18"/>
          <p:cNvSpPr/>
          <p:nvPr/>
        </p:nvSpPr>
        <p:spPr>
          <a:xfrm>
            <a:off x="3014345" y="1774825"/>
            <a:ext cx="2743200" cy="45656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LangGPT中的模板设计</a:t>
            </a:r>
            <a:endParaRPr lang="en-US" sz="14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8792" y="2311996"/>
            <a:ext cx="4313208" cy="108813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4750" b="1" dirty="0">
                <a:solidFill>
                  <a:srgbClr val="1859AE">
                    <a:alpha val="10000"/>
                  </a:srgbClr>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1440" dirty="0"/>
          </a:p>
        </p:txBody>
      </p:sp>
      <p:sp>
        <p:nvSpPr>
          <p:cNvPr id="4" name="Text 1"/>
          <p:cNvSpPr/>
          <p:nvPr/>
        </p:nvSpPr>
        <p:spPr>
          <a:xfrm>
            <a:off x="738792" y="2179408"/>
            <a:ext cx="3275888" cy="67665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389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ags/tag1.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2.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3.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4.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5.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6.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7.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8.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9.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0.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1.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2.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3.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4.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5.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6.xml><?xml version="1.0" encoding="utf-8"?>
<p:tagLst xmlns:p="http://schemas.openxmlformats.org/presentationml/2006/main">
  <p:tag name="KSO_WM_DIAGRAM_VIRTUALLY_FRAME" val="{&quot;height&quot;:197.42401574803148,&quot;left&quot;:76.12070866141732,&quot;top&quot;:138.22448818897638,&quot;width&quot;:598.8259842519685}"/>
</p:tagLst>
</file>

<file path=ppt/tags/tag17.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18.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19.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0.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1.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2.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3.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4.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ags/tag25.xml><?xml version="1.0" encoding="utf-8"?>
<p:tagLst xmlns:p="http://schemas.openxmlformats.org/presentationml/2006/main">
  <p:tag name="KSO_WM_DIAGRAM_VIRTUALLY_FRAME" val="{&quot;height&quot;:199.04708661417325,&quot;left&quot;:64.02488188976378,&quot;top&quot;:82.35598425196851,&quot;width&quot;:591.95023622047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7152</Words>
  <Application>WPS 演示</Application>
  <PresentationFormat>On-screen Show (16:9)</PresentationFormat>
  <Paragraphs>501</Paragraphs>
  <Slides>44</Slides>
  <Notes>37</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44</vt:i4>
      </vt:variant>
    </vt:vector>
  </HeadingPairs>
  <TitlesOfParts>
    <vt:vector size="57" baseType="lpstr">
      <vt:lpstr>Arial</vt:lpstr>
      <vt:lpstr>宋体</vt:lpstr>
      <vt:lpstr>Wingdings</vt:lpstr>
      <vt:lpstr>微软雅黑</vt:lpstr>
      <vt:lpstr>微软雅黑</vt:lpstr>
      <vt:lpstr>Calibri</vt:lpstr>
      <vt:lpstr>Arial Unicode MS</vt:lpstr>
      <vt:lpstr>等线</vt:lpstr>
      <vt:lpstr>Calibri</vt:lpstr>
      <vt:lpstr>Consolas</vt:lpstr>
      <vt:lpstr>Office Theme</vt:lpstr>
      <vt:lpstr>1_Office Theme</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程显毅</cp:lastModifiedBy>
  <cp:revision>2</cp:revision>
  <dcterms:created xsi:type="dcterms:W3CDTF">2025-02-20T12:37:00Z</dcterms:created>
  <dcterms:modified xsi:type="dcterms:W3CDTF">2025-02-21T06:41:37Z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77B1EF6A528541F4821529E9E1A9DA64_12</vt:lpwstr>
  </property>
  <property fmtid="{D5CDD505-2E9C-101B-9397-08002B2CF9AE}" pid="3" name="KSOProductBuildVer">
    <vt:lpwstr>2052-12.1.0.19770</vt:lpwstr>
  </property>
</Properties>
</file>