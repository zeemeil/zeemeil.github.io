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77" r:id="rId8"/>
    <p:sldId id="259" r:id="rId9"/>
    <p:sldId id="260" r:id="rId10"/>
    <p:sldId id="278" r:id="rId11"/>
    <p:sldId id="279" r:id="rId12"/>
    <p:sldId id="280" r:id="rId13"/>
    <p:sldId id="281" r:id="rId14"/>
    <p:sldId id="264" r:id="rId15"/>
    <p:sldId id="265" r:id="rId16"/>
    <p:sldId id="266" r:id="rId17"/>
    <p:sldId id="267" r:id="rId18"/>
    <p:sldId id="268" r:id="rId19"/>
    <p:sldId id="270" r:id="rId20"/>
    <p:sldId id="271" r:id="rId21"/>
    <p:sldId id="272" r:id="rId22"/>
    <p:sldId id="282" r:id="rId23"/>
    <p:sldId id="283" r:id="rId24"/>
    <p:sldId id="273" r:id="rId25"/>
    <p:sldId id="274" r:id="rId26"/>
    <p:sldId id="275" r:id="rId27"/>
    <p:sldId id="276" r:id="rId2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尊敬的各位来宾、专家同仁：在人工智能飞速发展的今天，我们迎来了大模型技术的崭新篇章。它不仅重塑了我们对智能科技的认知边界，更以前所未有的深度和广度，渗透进各行各业，开启了一场技术革命与应用创新的盛宴。此刻，让我们共同踏上这场探索之旅，见证大模型技术的崛起之路，以及其如何在各领域绽放光芒，引领未来变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在这次的演讲中，我将围绕大模型展开，涵盖其概述、科研创新与产品迭代，包括典型大模型介绍、服务平台与应用情况，重点展示国产大模型，并对大模型的价值进行深入思考。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这部分将以大模型概述为主题展开，涵盖规模与能力特征，展现其强大的信息处理及分析等能力；也会梳理发展历程与应用，让我们明晰大模型从诞生到如今广泛应用的演进轨迹。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将以企业的规模与能力特征为核心，探讨企业发展的关键要素。企业规模扩张通过并购、合作等手段应对市场需求增长，优化资源配置并提升市场份额。而技术创新能力则在快速变化的市场中显得尤为重要，企业需不断投入研发以保持产品和服务的领先地位。此外，人才的培养与引进是支持企业持续成长的基石，通过完善的培训体系和具有竞争力的薪酬福利，吸引并留住行业内的顶尖人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将以企业的规模与能力特征为核心，探讨企业发展的关键要素。企业规模扩张通过并购、合作等手段应对市场需求增长，优化资源配置并提升市场份额。而技术创新能力则在快速变化的市场中显得尤为重要，企业需不断投入研发以保持产品和服务的领先地位。此外，人才的培养与引进是支持企业持续成长的基石，通过完善的培训体系和具有竞争力的薪酬福利，吸引并留住行业内的顶尖人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我将以人工智能的发展历程与应用为主题展开阐述。从技术演进来看，历经从早期简单算法到现代深度学习的转变，推动AI快速进步，能处理复杂任务并在多领域展现强大能力。在行业应用方面，其已从游戏和图像识别拓展至医疗、金融、教育等多行业，借智能化方案提升效率与准确性。对于未来趋势，随着技术持续进步，AI将深度融合进日常生活，有望在自动驾驶、智慧城市等领域发挥更大作用，引领新科技革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这部分将深入探讨大语言模型发展的历程，着重分析从传统方法到现代深度学习的研究范式转变。同时，我们将讨论ChatGPT的广泛影响及其如何推动生态系统的快速构建，展现技术革新带来的深远影响。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我将以研究范式的转变为核心，阐述科学探索路径的演进。从实验到理论的跨越，标志着科研方法由实证向模型构建转变，加速了科学的进程。随后，数据驱动研究的兴起，依托大数据技术挖掘知识，为决策提供新视角。最终，跨学科融合创新成为趋势，不同领域的交汇催生了应对全球挑战的新思路与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段我将以ChatGPT的影响为主题展开探讨。首先，ChatGPT作为先进的语言处理工具，凭借深度学习与大数据分析，推动语言模型技术实现重大进步，极大提升机器理解与生成自然语言能力。接着谈到它引发的变革，ChatGPT革新传统人机交互模式，让对话系统更流畅自然，以近乎人类交流的方式提升用户体验。最后看其对行业的影响，随着该技术趋于成熟，在客服、教育、医疗等诸多领域应用愈发广泛，既能优化服务流程，又能催生新的商业模式与服务创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将介绍生态快速构建相关内容。生态系统是生物群落与非生物环境相互作用形成的复合体，涵盖各类因素。在当下变化环境中，生态快速构建对维持生物多样性与生态平衡至关重要，能助系统适应外部影响。实施时需综合考量物种、栖息地及人类活动等多方面，运用科学手段促进生态系统健康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这部分我们将深入探讨典型大型模型的概况，重点解析GPT系列的独特特点与Claude模型的功能拓展，揭示它们在技术演进中的前沿地位及实际应用。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面我将介绍GPT系列特点。GPT系列模型具备强大的语言处理能力，在文本分析、自动写作和语音识别等多领域广泛应用。其通过深度学习不断学习优化算法，面对复杂问题处理更高效，展现出持续学习与适应新知识的能力。而且，该系列应用场景广泛，除文本生成外，还用于机器翻译、情感分析、问答系统等多种场景，充分体现其在人工智能领域的广泛适用性与灵活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，我将介绍Claude功能拓展中的几大亮点。首先是多语言支持，Claude凭借其先进的自然语言处理技术，成功打破了语言壁垒，使得用户可以无缝进行跨语言的沟通和信息获取。接着，我要提到的是它的实时翻译功能，这一功能能够在用户交流时即刻完成语言转换，极大提升了跨语言交流的效率和流畅性。最后，我们不得不提的是Claude在语音识别与合成方面的卓越表现，它不仅能精确捕捉用户的语音指令，还能以极为自然的语音反馈，为用户带来了前所未有的便捷语音交互体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这段我将以服务平台与应用为核心，探讨个人商业的延伸以及中文大模型的发展。我们将了解如何借助平台推动业务增长，并探索中文AI技术的创新趋势。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，我将聚焦于个人商业延伸的关键策略。首先是个人品牌塑造，它是提升行业影响力与认可度的基石，通过明确的价值主张和专业形象构建来实现。接着，利用网络平台进行商业拓展，借助社交媒体的力量扩大受众范围，并通过内容营销加深与目标客户的联系。最后一点是持续学习与适应，这在瞬息万变的商业环境中至关重要，要求我们不断更新知识、灵活调整战略，以保持竞争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这部分，我将以展示国产大模型为核心，突出介绍文心一言等特色以及DeepSeek技术的重大突破，展现我国在人工智能领域的前沿探索与显著成就。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面我将以文心一言的开放服务、技术优势、以及训练优化三方面，来阐述其特色。首先，文心一言于2023年8月31日向社会提供全面开放服务。其开放形式包括APP、网页版及API接口等，旨在满足不同用户的多样化需求。其次，文心一言具备显著的技术优势。它通过结合有监督精调、人类反馈的强化学习、提示等先进技术，实现了知识增强、检索增强和对话增强。这些关键技术使其性能逐步赶超国际先进水平。最后，关于文心一言的训练与优化。该大模型依托飞桨深度学习框架进行训练，通过算法与框架的协同优化，使得模型训练速度提升至优化前的3倍，推理速度更是达到了优化前的30多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，我将以DeepSeek技术突破为核心，阐述其在模型训练、任务处理及开源创新方面的卓越表现。首先，谈及低成本与高效率的完美结合，DeepSeek在硬件资源有限的背景下，实现了以仅600万美元的成本训练出具有颠覆性潜力的模型，这一成本仅为行业标杆GPT-4o的二十分之一。接下来是性能层面，DeepSeek R1在数学代码解读、自然语言推理等复杂任务上的表现，不仅与OpenAI最新发布的OE标准版并驾齐驱，更在数学推理细分领域显著领先，彰显了其卓越的任务处理能力。最后，关于开放与共享的理念实践，DeepSeek开创性地开放了模型权重，通过引入蒸馏技术使用户能够自主训练个性化模型。此举不仅震撼了硅谷业界，更为全球范围内的人工智能技术普及与发展开辟了新的道路，标志着技术共享新时代的到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我将以东方力量与创新为主题展开。东方力量的崛起，deepseek的成功打破了外界对中国科技只能从1到100应用落地的刻板印象，彰显了中国科技公司在从0到1技术突破上的能力。创新精神的体现，其团队敢于挑战传统路径开创新MLA架构并在多测试中超越GPT - 4o，展现出强大的创新力。资方与团队的共同努力，凭借幻方远见决策及团队对技术创新执着追求与坚持理想主义，成就了deepseek。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将探讨新生代企业家精神的三个关键要素。首先，新生代企业家展现出挑战传统的勇气，他们敢于突破常规，如deepseek团队所为，开创全新架构体现创新精神。其次，他们在技术创新上表现出卓越能力，例如deepseek通过低成本高效率的突破和开源模型权重，推动全球AI技术的发展。最后，新生代企业家坚持理想主义，不急于商业变现而专注于技术突破，如梁文峰坚信创新应源自好奇心与创造欲，走与众不同的道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这部分我将以大模型价值思考为开篇，探讨推理过程的重要性，并进行正负影响分析。通过深入剖析，我们将理解大模型在实际应用中的价值和挑战，揭示其背后的逻辑和意义。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探讨的是推理过程的重要性，这一环节对于大模型而言，不仅是区别于过往传统AI技术的核心所在，也是其智能化水平的集中体现。具体来说，强化推理能力使大模型得以精准应对复杂问题，提供深刻见解，从而显著提升了整体的智能表现。此外，通过持续优化的算法和学习机制，推理过程中能有效遏制幻觉现象，保障信息输出的准确性与可靠性，确保内容的真实可信。尤为关键的是，推理活动还促进了大模型对新知识的快速吸收与灵活应用，为其不断进化提供了动力，使其能够紧跟时代步伐，有效应对新兴挑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，我们将深入探讨事件的正负影响分析，首先正面影响分析揭示了事件或决策带来的积极结果，如效率提升和收益增长，这有助于我们识别并利用这些优势。随后，负面影响分析聚焦于事件或决策可能导致的不利后果，例如资源浪费和环境污染，强调了提前预防和应对的重要性。最后，通过对比正负两方面的影响，使我们能够更全面地评价一个决策或事件的价值，为做出明智选择提供支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尊敬的各位听众，本次演讲探讨了大模型技术的发展与应用。从概述到实际应用，我们深入了解了大模型的创新迭代及其在各个领域的应用和价值。希望今天的分享能激发您对于大模型技术的兴趣，共同推动技术进步。谢谢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image" Target="../media/image12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5" Type="http://schemas.openxmlformats.org/officeDocument/2006/relationships/notesSlide" Target="../notesSlides/notesSlide13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14.png"/><Relationship Id="rId22" Type="http://schemas.openxmlformats.org/officeDocument/2006/relationships/tags" Target="../tags/tag50.xml"/><Relationship Id="rId21" Type="http://schemas.openxmlformats.org/officeDocument/2006/relationships/tags" Target="../tags/tag49.xml"/><Relationship Id="rId20" Type="http://schemas.openxmlformats.org/officeDocument/2006/relationships/tags" Target="../tags/tag48.xml"/><Relationship Id="rId2" Type="http://schemas.openxmlformats.org/officeDocument/2006/relationships/image" Target="../media/image11.png"/><Relationship Id="rId19" Type="http://schemas.openxmlformats.org/officeDocument/2006/relationships/tags" Target="../tags/tag47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image" Target="../media/image13.png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4" Type="http://schemas.openxmlformats.org/officeDocument/2006/relationships/notesSlide" Target="../notesSlides/notesSlide18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71.xml"/><Relationship Id="rId21" Type="http://schemas.openxmlformats.org/officeDocument/2006/relationships/tags" Target="../tags/tag70.xml"/><Relationship Id="rId20" Type="http://schemas.openxmlformats.org/officeDocument/2006/relationships/tags" Target="../tags/tag69.xml"/><Relationship Id="rId2" Type="http://schemas.openxmlformats.org/officeDocument/2006/relationships/tags" Target="../tags/tag51.xml"/><Relationship Id="rId19" Type="http://schemas.openxmlformats.org/officeDocument/2006/relationships/tags" Target="../tags/tag68.xml"/><Relationship Id="rId18" Type="http://schemas.openxmlformats.org/officeDocument/2006/relationships/tags" Target="../tags/tag67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jpeg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jpe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80396" y="1540323"/>
            <a:ext cx="3768559" cy="79184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3455" b="1" kern="0" spc="144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</a:t>
            </a:r>
            <a:r>
              <a:rPr lang="zh-CN" altLang="en-US" sz="3455" b="1" kern="0" spc="144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概述</a:t>
            </a:r>
            <a:endParaRPr lang="zh-CN" altLang="en-US" sz="3455" b="1" kern="0" spc="144" dirty="0">
              <a:solidFill>
                <a:srgbClr val="1859A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80396" y="3039939"/>
            <a:ext cx="4322586" cy="4846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从通用到专用的演进</a:t>
            </a:r>
            <a:endParaRPr lang="en-US" sz="1440" dirty="0"/>
          </a:p>
        </p:txBody>
      </p:sp>
      <p:sp>
        <p:nvSpPr>
          <p:cNvPr id="6" name="Shape 3"/>
          <p:cNvSpPr/>
          <p:nvPr/>
        </p:nvSpPr>
        <p:spPr>
          <a:xfrm>
            <a:off x="897176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7" name="Shape 4"/>
          <p:cNvSpPr/>
          <p:nvPr/>
        </p:nvSpPr>
        <p:spPr>
          <a:xfrm>
            <a:off x="1250653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8" name="Shape 5"/>
          <p:cNvSpPr/>
          <p:nvPr/>
        </p:nvSpPr>
        <p:spPr>
          <a:xfrm>
            <a:off x="1604131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15396" y="424488"/>
            <a:ext cx="4313208" cy="10881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750" b="1" dirty="0">
                <a:solidFill>
                  <a:srgbClr val="1859AE">
                    <a:alpha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1440" dirty="0"/>
          </a:p>
        </p:txBody>
      </p:sp>
      <p:sp>
        <p:nvSpPr>
          <p:cNvPr id="4" name="Text 1"/>
          <p:cNvSpPr/>
          <p:nvPr/>
        </p:nvSpPr>
        <p:spPr>
          <a:xfrm>
            <a:off x="3734023" y="685104"/>
            <a:ext cx="1675953" cy="73152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1440" dirty="0"/>
          </a:p>
        </p:txBody>
      </p:sp>
      <p:sp>
        <p:nvSpPr>
          <p:cNvPr id="5" name="Text 2"/>
          <p:cNvSpPr/>
          <p:nvPr>
            <p:custDataLst>
              <p:tags r:id="rId2"/>
            </p:custDataLst>
          </p:nvPr>
        </p:nvSpPr>
        <p:spPr>
          <a:xfrm>
            <a:off x="1520202" y="1810315"/>
            <a:ext cx="3236976" cy="49085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</a:t>
            </a:r>
            <a:r>
              <a:rPr lang="zh-CN" altLang="en-US" sz="173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和小</a:t>
            </a:r>
            <a:r>
              <a:rPr lang="zh-CN" altLang="en-US" sz="173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</a:t>
            </a:r>
            <a:endParaRPr lang="zh-CN" altLang="en-US" sz="173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966844" y="1755451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30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5334968" y="1810315"/>
            <a:ext cx="3236855" cy="49085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大语言模型发展</a:t>
            </a:r>
            <a:endParaRPr lang="en-US" sz="173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4781610" y="1755451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30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1520354" y="2438812"/>
            <a:ext cx="3236976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典型大模型介绍</a:t>
            </a:r>
            <a:endParaRPr lang="en-US" sz="1440" dirty="0"/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966996" y="2383948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30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40" dirty="0"/>
          </a:p>
        </p:txBody>
      </p:sp>
      <p:sp>
        <p:nvSpPr>
          <p:cNvPr id="11" name="Text 8"/>
          <p:cNvSpPr/>
          <p:nvPr>
            <p:custDataLst>
              <p:tags r:id="rId8"/>
            </p:custDataLst>
          </p:nvPr>
        </p:nvSpPr>
        <p:spPr>
          <a:xfrm>
            <a:off x="5334846" y="2438812"/>
            <a:ext cx="3236976" cy="49085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大模型分类</a:t>
            </a:r>
            <a:endParaRPr lang="en-US" sz="173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4781488" y="2383948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30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440" dirty="0"/>
          </a:p>
        </p:txBody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1520281" y="3067310"/>
            <a:ext cx="3236976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国产大模型展示</a:t>
            </a:r>
            <a:endParaRPr lang="en-US" sz="1440" dirty="0"/>
          </a:p>
        </p:txBody>
      </p:sp>
      <p:sp>
        <p:nvSpPr>
          <p:cNvPr id="14" name="Text 11"/>
          <p:cNvSpPr/>
          <p:nvPr>
            <p:custDataLst>
              <p:tags r:id="rId11"/>
            </p:custDataLst>
          </p:nvPr>
        </p:nvSpPr>
        <p:spPr>
          <a:xfrm>
            <a:off x="966924" y="3012446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30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440" dirty="0"/>
          </a:p>
        </p:txBody>
      </p:sp>
      <p:sp>
        <p:nvSpPr>
          <p:cNvPr id="15" name="Text 12"/>
          <p:cNvSpPr/>
          <p:nvPr>
            <p:custDataLst>
              <p:tags r:id="rId12"/>
            </p:custDataLst>
          </p:nvPr>
        </p:nvSpPr>
        <p:spPr>
          <a:xfrm>
            <a:off x="5334846" y="3067310"/>
            <a:ext cx="3236976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大模型价值思考</a:t>
            </a:r>
            <a:endParaRPr lang="en-US" sz="1440" dirty="0"/>
          </a:p>
        </p:txBody>
      </p:sp>
      <p:sp>
        <p:nvSpPr>
          <p:cNvPr id="16" name="Text 13"/>
          <p:cNvSpPr/>
          <p:nvPr>
            <p:custDataLst>
              <p:tags r:id="rId13"/>
            </p:custDataLst>
          </p:nvPr>
        </p:nvSpPr>
        <p:spPr>
          <a:xfrm>
            <a:off x="4781488" y="3012446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30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58045" y="1664502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585216" h="585216">
                <a:moveTo>
                  <a:pt x="73152" y="0"/>
                </a:moveTo>
                <a:moveTo>
                  <a:pt x="73152" y="0"/>
                </a:moveTo>
                <a:lnTo>
                  <a:pt x="512064" y="0"/>
                </a:lnTo>
                <a:quadBezTo>
                  <a:pt x="585216" y="0"/>
                  <a:pt x="585216" y="73152"/>
                </a:quadBezTo>
                <a:lnTo>
                  <a:pt x="585216" y="512064"/>
                </a:lnTo>
                <a:quadBezTo>
                  <a:pt x="585216" y="585216"/>
                  <a:pt x="512064" y="585216"/>
                </a:quadBezTo>
                <a:lnTo>
                  <a:pt x="73152" y="585216"/>
                </a:lnTo>
                <a:quadBezTo>
                  <a:pt x="0" y="585216"/>
                  <a:pt x="0" y="512064"/>
                </a:quadBezTo>
                <a:lnTo>
                  <a:pt x="0" y="73152"/>
                </a:lnTo>
                <a:quadBezTo>
                  <a:pt x="0" y="0"/>
                  <a:pt x="73152" y="0"/>
                </a:quad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4" name="Text 1"/>
          <p:cNvSpPr/>
          <p:nvPr/>
        </p:nvSpPr>
        <p:spPr>
          <a:xfrm>
            <a:off x="830029" y="1682790"/>
            <a:ext cx="841248" cy="5486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865937" y="2437790"/>
            <a:ext cx="7518197" cy="69088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</a:t>
            </a:r>
            <a:r>
              <a:rPr lang="zh-CN" altLang="en-US" sz="288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和小</a:t>
            </a:r>
            <a:r>
              <a:rPr lang="zh-CN" altLang="en-US" sz="288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</a:t>
            </a:r>
            <a:endParaRPr lang="zh-CN" altLang="en-US" sz="2880" b="1" dirty="0">
              <a:solidFill>
                <a:srgbClr val="1859A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97176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7" name="Shape 4"/>
          <p:cNvSpPr/>
          <p:nvPr/>
        </p:nvSpPr>
        <p:spPr>
          <a:xfrm>
            <a:off x="1250653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8" name="Shape 5"/>
          <p:cNvSpPr/>
          <p:nvPr/>
        </p:nvSpPr>
        <p:spPr>
          <a:xfrm>
            <a:off x="1604131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8864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</a:t>
            </a:r>
            <a:r>
              <a:rPr lang="zh-CN" alt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</a:t>
            </a:r>
            <a:endParaRPr lang="zh-CN" altLang="en-US" sz="2590" b="1" dirty="0">
              <a:solidFill>
                <a:srgbClr val="08377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886688"/>
            <a:ext cx="4523239" cy="4053616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903148"/>
            <a:ext cx="4523239" cy="4398546"/>
          </a:xfrm>
          <a:prstGeom prst="rect">
            <a:avLst/>
          </a:prstGeom>
        </p:spPr>
      </p:pic>
      <p:sp>
        <p:nvSpPr>
          <p:cNvPr id="10" name="Text 4"/>
          <p:cNvSpPr/>
          <p:nvPr>
            <p:custDataLst>
              <p:tags r:id="rId4"/>
            </p:custDataLst>
          </p:nvPr>
        </p:nvSpPr>
        <p:spPr>
          <a:xfrm>
            <a:off x="4122902" y="1093989"/>
            <a:ext cx="4389120" cy="4565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1730" b="1" dirty="0">
                <a:solidFill>
                  <a:srgbClr val="4586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</a:t>
            </a:r>
            <a:r>
              <a:rPr lang="zh-CN" altLang="en-US" sz="1730" b="1" dirty="0">
                <a:solidFill>
                  <a:srgbClr val="4586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</a:t>
            </a:r>
            <a:endParaRPr lang="zh-CN" altLang="en-US" sz="1730" b="1" dirty="0">
              <a:solidFill>
                <a:srgbClr val="4586D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5"/>
          <p:cNvSpPr/>
          <p:nvPr>
            <p:custDataLst>
              <p:tags r:id="rId5"/>
            </p:custDataLst>
          </p:nvPr>
        </p:nvSpPr>
        <p:spPr>
          <a:xfrm>
            <a:off x="4122902" y="1395741"/>
            <a:ext cx="4476025" cy="89789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在ChatGPT之前，被公众关注的AI模型是用于单一任务的，比如众所周知的“阿尔法狗”（AlphaGo）可以基于全球围棋棋谱的计算，打赢所有的人类围棋大师。这种专注于某个具体任务建立的AI数据模型叫“小模型”。</a:t>
            </a:r>
            <a:endParaRPr lang="zh-CN" altLang="en-US" sz="1440" dirty="0"/>
          </a:p>
        </p:txBody>
      </p:sp>
      <p:sp>
        <p:nvSpPr>
          <p:cNvPr id="12" name="Text 6"/>
          <p:cNvSpPr/>
          <p:nvPr>
            <p:custDataLst>
              <p:tags r:id="rId6"/>
            </p:custDataLst>
          </p:nvPr>
        </p:nvSpPr>
        <p:spPr>
          <a:xfrm>
            <a:off x="4122902" y="2258934"/>
            <a:ext cx="4389120" cy="4565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1730" b="1" dirty="0">
                <a:solidFill>
                  <a:srgbClr val="4586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小模型</a:t>
            </a:r>
            <a:r>
              <a:rPr lang="zh-CN" altLang="en-US" sz="1730" b="1" dirty="0">
                <a:solidFill>
                  <a:srgbClr val="4586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</a:t>
            </a:r>
            <a:endParaRPr lang="zh-CN" altLang="en-US" sz="1730" b="1" dirty="0">
              <a:solidFill>
                <a:srgbClr val="4586D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7"/>
          <p:cNvSpPr/>
          <p:nvPr>
            <p:custDataLst>
              <p:tags r:id="rId7"/>
            </p:custDataLst>
          </p:nvPr>
        </p:nvSpPr>
        <p:spPr>
          <a:xfrm>
            <a:off x="4122902" y="2555200"/>
            <a:ext cx="4476025" cy="7213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小模型通常指参数较少、层数较浅的模型，它们具有轻量级、高效率、易于部署等优点，适用于数据量较小、计算资源有限的场景，例如移动端应用、嵌入式设备、物联网等。</a:t>
            </a:r>
            <a:endParaRPr lang="en-US" sz="115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0"/>
          <p:cNvSpPr/>
          <p:nvPr>
            <p:custDataLst>
              <p:tags r:id="rId8"/>
            </p:custDataLst>
          </p:nvPr>
        </p:nvSpPr>
        <p:spPr>
          <a:xfrm>
            <a:off x="2673371" y="1805964"/>
            <a:ext cx="499914" cy="0"/>
          </a:xfrm>
          <a:custGeom>
            <a:avLst/>
            <a:gdLst/>
            <a:ahLst/>
            <a:cxnLst/>
            <a:rect l="l" t="t" r="r" b="b"/>
            <a:pathLst>
              <a:path w="499914">
                <a:moveTo>
                  <a:pt x="0" y="0"/>
                </a:moveTo>
                <a:moveTo>
                  <a:pt x="0" y="0"/>
                </a:moveTo>
                <a:lnTo>
                  <a:pt x="499914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arrow"/>
          </a:ln>
        </p:spPr>
      </p:sp>
      <p:sp>
        <p:nvSpPr>
          <p:cNvPr id="17" name="Shape 11"/>
          <p:cNvSpPr/>
          <p:nvPr>
            <p:custDataLst>
              <p:tags r:id="rId9"/>
            </p:custDataLst>
          </p:nvPr>
        </p:nvSpPr>
        <p:spPr>
          <a:xfrm>
            <a:off x="3162037" y="2856649"/>
            <a:ext cx="350493" cy="0"/>
          </a:xfrm>
          <a:custGeom>
            <a:avLst/>
            <a:gdLst/>
            <a:ahLst/>
            <a:cxnLst/>
            <a:rect l="l" t="t" r="r" b="b"/>
            <a:pathLst>
              <a:path w="350493">
                <a:moveTo>
                  <a:pt x="0" y="0"/>
                </a:moveTo>
                <a:moveTo>
                  <a:pt x="0" y="0"/>
                </a:moveTo>
                <a:lnTo>
                  <a:pt x="350493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arrow"/>
          </a:ln>
        </p:spPr>
      </p:sp>
      <p:sp>
        <p:nvSpPr>
          <p:cNvPr id="19" name="Text 13"/>
          <p:cNvSpPr/>
          <p:nvPr>
            <p:custDataLst>
              <p:tags r:id="rId10"/>
            </p:custDataLst>
          </p:nvPr>
        </p:nvSpPr>
        <p:spPr>
          <a:xfrm>
            <a:off x="1838595" y="1558724"/>
            <a:ext cx="794446" cy="5943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20" name="Text 14"/>
          <p:cNvSpPr/>
          <p:nvPr>
            <p:custDataLst>
              <p:tags r:id="rId11"/>
            </p:custDataLst>
          </p:nvPr>
        </p:nvSpPr>
        <p:spPr>
          <a:xfrm>
            <a:off x="1605529" y="2616316"/>
            <a:ext cx="1312181" cy="5943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8864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</a:t>
            </a:r>
            <a:endParaRPr lang="zh-CN" altLang="en-US" sz="2590" b="1" dirty="0">
              <a:solidFill>
                <a:srgbClr val="08377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886688"/>
            <a:ext cx="4523239" cy="4053616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903148"/>
            <a:ext cx="4523239" cy="4398546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9529"/>
            <a:ext cx="4523239" cy="4523239"/>
          </a:xfrm>
          <a:prstGeom prst="rect">
            <a:avLst/>
          </a:prstGeom>
        </p:spPr>
      </p:pic>
      <p:sp>
        <p:nvSpPr>
          <p:cNvPr id="10" name="Text 4"/>
          <p:cNvSpPr/>
          <p:nvPr>
            <p:custDataLst>
              <p:tags r:id="rId5"/>
            </p:custDataLst>
          </p:nvPr>
        </p:nvSpPr>
        <p:spPr>
          <a:xfrm>
            <a:off x="4122902" y="1093989"/>
            <a:ext cx="4389120" cy="4565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1730" b="1" dirty="0">
                <a:solidFill>
                  <a:srgbClr val="4586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概念</a:t>
            </a:r>
            <a:endParaRPr lang="zh-CN" altLang="en-US" sz="1730" b="1" dirty="0">
              <a:solidFill>
                <a:srgbClr val="4586D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5"/>
          <p:cNvSpPr/>
          <p:nvPr>
            <p:custDataLst>
              <p:tags r:id="rId6"/>
            </p:custDataLst>
          </p:nvPr>
        </p:nvSpPr>
        <p:spPr>
          <a:xfrm>
            <a:off x="4122902" y="1395741"/>
            <a:ext cx="4476025" cy="76517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ChatGPT与“小模型”不同，ChatGPT更像人类的大脑，可以在海量通用数据上进行预先训练，能大幅提升AI的泛化性、通用性、实用性</a:t>
            </a:r>
            <a:r>
              <a:rPr lang="zh-CN" altLang="en-US" sz="1440" dirty="0"/>
              <a:t>。</a:t>
            </a:r>
            <a:endParaRPr lang="zh-CN" altLang="en-US" sz="1440" dirty="0"/>
          </a:p>
        </p:txBody>
      </p:sp>
      <p:sp>
        <p:nvSpPr>
          <p:cNvPr id="12" name="Text 6"/>
          <p:cNvSpPr/>
          <p:nvPr>
            <p:custDataLst>
              <p:tags r:id="rId7"/>
            </p:custDataLst>
          </p:nvPr>
        </p:nvSpPr>
        <p:spPr>
          <a:xfrm>
            <a:off x="4122902" y="2258934"/>
            <a:ext cx="4389120" cy="4565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1730" b="1" dirty="0">
                <a:solidFill>
                  <a:srgbClr val="4586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</a:t>
            </a:r>
            <a:endParaRPr lang="zh-CN" altLang="en-US" sz="1730" b="1" dirty="0">
              <a:solidFill>
                <a:srgbClr val="4586D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7"/>
          <p:cNvSpPr/>
          <p:nvPr>
            <p:custDataLst>
              <p:tags r:id="rId8"/>
            </p:custDataLst>
          </p:nvPr>
        </p:nvSpPr>
        <p:spPr>
          <a:xfrm>
            <a:off x="4122902" y="2555200"/>
            <a:ext cx="4476025" cy="7213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大模型让机器有常识，大模型最本质的特征不在于“大”（大参数、大计算、大数据），这只是一个表象，大模型本质是“涌现”“出乎意料”“创造”。</a:t>
            </a:r>
            <a:endParaRPr lang="en-US" sz="115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8"/>
          <p:cNvSpPr/>
          <p:nvPr>
            <p:custDataLst>
              <p:tags r:id="rId9"/>
            </p:custDataLst>
          </p:nvPr>
        </p:nvSpPr>
        <p:spPr>
          <a:xfrm>
            <a:off x="4122115" y="3522635"/>
            <a:ext cx="4389120" cy="4565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1730" b="1" dirty="0">
                <a:solidFill>
                  <a:srgbClr val="4586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涌现</a:t>
            </a:r>
            <a:endParaRPr lang="zh-CN" altLang="en-US" sz="1730" b="1" dirty="0">
              <a:solidFill>
                <a:srgbClr val="4586D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9"/>
          <p:cNvSpPr/>
          <p:nvPr>
            <p:custDataLst>
              <p:tags r:id="rId10"/>
            </p:custDataLst>
          </p:nvPr>
        </p:nvSpPr>
        <p:spPr>
          <a:xfrm>
            <a:off x="4122902" y="3824695"/>
            <a:ext cx="4476025" cy="89789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为，当模型的训练数据和参数不断扩大，直到达到一定的临界规模后，其表现出了一些未能预测的、更复杂的能力和特性，模型能够从原始训练数据中自动学习并发现新的、更高层次的特征和模式，这种能力被称为“涌现能力”。</a:t>
            </a:r>
            <a:endParaRPr lang="en-US" sz="115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0"/>
          <p:cNvSpPr/>
          <p:nvPr>
            <p:custDataLst>
              <p:tags r:id="rId11"/>
            </p:custDataLst>
          </p:nvPr>
        </p:nvSpPr>
        <p:spPr>
          <a:xfrm>
            <a:off x="2673371" y="1805964"/>
            <a:ext cx="499914" cy="0"/>
          </a:xfrm>
          <a:custGeom>
            <a:avLst/>
            <a:gdLst/>
            <a:ahLst/>
            <a:cxnLst/>
            <a:rect l="l" t="t" r="r" b="b"/>
            <a:pathLst>
              <a:path w="499914">
                <a:moveTo>
                  <a:pt x="0" y="0"/>
                </a:moveTo>
                <a:moveTo>
                  <a:pt x="0" y="0"/>
                </a:moveTo>
                <a:lnTo>
                  <a:pt x="499914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arrow"/>
          </a:ln>
        </p:spPr>
      </p:sp>
      <p:sp>
        <p:nvSpPr>
          <p:cNvPr id="17" name="Shape 11"/>
          <p:cNvSpPr/>
          <p:nvPr>
            <p:custDataLst>
              <p:tags r:id="rId12"/>
            </p:custDataLst>
          </p:nvPr>
        </p:nvSpPr>
        <p:spPr>
          <a:xfrm>
            <a:off x="3162037" y="2856649"/>
            <a:ext cx="350493" cy="0"/>
          </a:xfrm>
          <a:custGeom>
            <a:avLst/>
            <a:gdLst/>
            <a:ahLst/>
            <a:cxnLst/>
            <a:rect l="l" t="t" r="r" b="b"/>
            <a:pathLst>
              <a:path w="350493">
                <a:moveTo>
                  <a:pt x="0" y="0"/>
                </a:moveTo>
                <a:moveTo>
                  <a:pt x="0" y="0"/>
                </a:moveTo>
                <a:lnTo>
                  <a:pt x="350493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arrow"/>
          </a:ln>
        </p:spPr>
      </p:sp>
      <p:sp>
        <p:nvSpPr>
          <p:cNvPr id="18" name="Shape 12"/>
          <p:cNvSpPr/>
          <p:nvPr>
            <p:custDataLst>
              <p:tags r:id="rId13"/>
            </p:custDataLst>
          </p:nvPr>
        </p:nvSpPr>
        <p:spPr>
          <a:xfrm>
            <a:off x="2804600" y="4003258"/>
            <a:ext cx="1103131" cy="0"/>
          </a:xfrm>
          <a:custGeom>
            <a:avLst/>
            <a:gdLst/>
            <a:ahLst/>
            <a:cxnLst/>
            <a:rect l="l" t="t" r="r" b="b"/>
            <a:pathLst>
              <a:path w="1103131">
                <a:moveTo>
                  <a:pt x="0" y="0"/>
                </a:moveTo>
                <a:moveTo>
                  <a:pt x="0" y="0"/>
                </a:moveTo>
                <a:lnTo>
                  <a:pt x="1103131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arrow"/>
          </a:ln>
        </p:spPr>
      </p:sp>
      <p:sp>
        <p:nvSpPr>
          <p:cNvPr id="19" name="Text 13"/>
          <p:cNvSpPr/>
          <p:nvPr>
            <p:custDataLst>
              <p:tags r:id="rId14"/>
            </p:custDataLst>
          </p:nvPr>
        </p:nvSpPr>
        <p:spPr>
          <a:xfrm>
            <a:off x="1838595" y="1558724"/>
            <a:ext cx="794446" cy="5943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20" name="Text 14"/>
          <p:cNvSpPr/>
          <p:nvPr>
            <p:custDataLst>
              <p:tags r:id="rId15"/>
            </p:custDataLst>
          </p:nvPr>
        </p:nvSpPr>
        <p:spPr>
          <a:xfrm>
            <a:off x="1605529" y="2616316"/>
            <a:ext cx="1312181" cy="5943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  <p:sp>
        <p:nvSpPr>
          <p:cNvPr id="21" name="Text 15"/>
          <p:cNvSpPr/>
          <p:nvPr>
            <p:custDataLst>
              <p:tags r:id="rId16"/>
            </p:custDataLst>
          </p:nvPr>
        </p:nvSpPr>
        <p:spPr>
          <a:xfrm>
            <a:off x="1426313" y="3754199"/>
            <a:ext cx="1670613" cy="5943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发展历程与应用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Shape 4"/>
          <p:cNvSpPr/>
          <p:nvPr/>
        </p:nvSpPr>
        <p:spPr>
          <a:xfrm>
            <a:off x="603401" y="1099566"/>
            <a:ext cx="7497539" cy="1021473"/>
          </a:xfrm>
          <a:custGeom>
            <a:avLst/>
            <a:gdLst/>
            <a:ahLst/>
            <a:cxnLst/>
            <a:rect l="l" t="t" r="r" b="b"/>
            <a:pathLst>
              <a:path w="7497539" h="1021473">
                <a:moveTo>
                  <a:pt x="127684" y="0"/>
                </a:moveTo>
                <a:moveTo>
                  <a:pt x="127684" y="0"/>
                </a:moveTo>
                <a:lnTo>
                  <a:pt x="7369855" y="0"/>
                </a:lnTo>
                <a:quadBezTo>
                  <a:pt x="7497539" y="0"/>
                  <a:pt x="7497539" y="127684"/>
                </a:quadBezTo>
                <a:lnTo>
                  <a:pt x="7497539" y="893789"/>
                </a:lnTo>
                <a:quadBezTo>
                  <a:pt x="7497539" y="1021473"/>
                  <a:pt x="7369855" y="1021473"/>
                </a:quadBezTo>
                <a:lnTo>
                  <a:pt x="127684" y="1021473"/>
                </a:lnTo>
                <a:quadBezTo>
                  <a:pt x="0" y="1021473"/>
                  <a:pt x="0" y="893789"/>
                </a:quadBezTo>
                <a:lnTo>
                  <a:pt x="0" y="127684"/>
                </a:lnTo>
                <a:quadBezTo>
                  <a:pt x="0" y="0"/>
                  <a:pt x="127684" y="0"/>
                </a:quadBezTo>
                <a:close/>
              </a:path>
            </a:pathLst>
          </a:custGeom>
          <a:solidFill>
            <a:srgbClr val="D6D9E1">
              <a:alpha val="20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603401" y="3263375"/>
            <a:ext cx="7497539" cy="914400"/>
          </a:xfrm>
          <a:custGeom>
            <a:avLst/>
            <a:gdLst/>
            <a:ahLst/>
            <a:cxnLst/>
            <a:rect l="l" t="t" r="r" b="b"/>
            <a:pathLst>
              <a:path w="7497539" h="914400">
                <a:moveTo>
                  <a:pt x="114300" y="0"/>
                </a:moveTo>
                <a:moveTo>
                  <a:pt x="114300" y="0"/>
                </a:moveTo>
                <a:lnTo>
                  <a:pt x="7383239" y="0"/>
                </a:lnTo>
                <a:quadBezTo>
                  <a:pt x="7497539" y="0"/>
                  <a:pt x="7497539" y="114300"/>
                </a:quadBezTo>
                <a:lnTo>
                  <a:pt x="7497539" y="800100"/>
                </a:lnTo>
                <a:quadBezTo>
                  <a:pt x="7497539" y="914400"/>
                  <a:pt x="7383239" y="914400"/>
                </a:quadBezTo>
                <a:lnTo>
                  <a:pt x="114300" y="914400"/>
                </a:lnTo>
                <a:quadBezTo>
                  <a:pt x="0" y="914400"/>
                  <a:pt x="0" y="80010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solidFill>
            <a:srgbClr val="D6D9E1">
              <a:alpha val="20000"/>
            </a:srgbClr>
          </a:solidFill>
        </p:spPr>
      </p:sp>
      <p:sp>
        <p:nvSpPr>
          <p:cNvPr id="9" name="Shape 6"/>
          <p:cNvSpPr/>
          <p:nvPr/>
        </p:nvSpPr>
        <p:spPr>
          <a:xfrm rot="-8100000">
            <a:off x="8148204" y="3558047"/>
            <a:ext cx="325055" cy="325055"/>
          </a:xfrm>
          <a:custGeom>
            <a:avLst/>
            <a:gdLst/>
            <a:ahLst/>
            <a:cxnLst/>
            <a:rect l="l" t="t" r="r" b="b"/>
            <a:pathLst>
              <a:path w="325055" h="325055">
                <a:moveTo>
                  <a:pt x="0" y="0"/>
                </a:moveTo>
                <a:moveTo>
                  <a:pt x="0" y="0"/>
                </a:moveTo>
                <a:lnTo>
                  <a:pt x="0" y="325055"/>
                </a:lnTo>
                <a:lnTo>
                  <a:pt x="325055" y="325055"/>
                </a:lnTo>
                <a:close/>
              </a:path>
            </a:pathLst>
          </a:custGeom>
          <a:solidFill>
            <a:srgbClr val="D6D9E1">
              <a:alpha val="20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603401" y="2248391"/>
            <a:ext cx="7497539" cy="914400"/>
          </a:xfrm>
          <a:custGeom>
            <a:avLst/>
            <a:gdLst/>
            <a:ahLst/>
            <a:cxnLst/>
            <a:rect l="l" t="t" r="r" b="b"/>
            <a:pathLst>
              <a:path w="7497539" h="914400">
                <a:moveTo>
                  <a:pt x="114300" y="0"/>
                </a:moveTo>
                <a:moveTo>
                  <a:pt x="114300" y="0"/>
                </a:moveTo>
                <a:lnTo>
                  <a:pt x="7383239" y="0"/>
                </a:lnTo>
                <a:quadBezTo>
                  <a:pt x="7497539" y="0"/>
                  <a:pt x="7497539" y="114300"/>
                </a:quadBezTo>
                <a:lnTo>
                  <a:pt x="7497539" y="800100"/>
                </a:lnTo>
                <a:quadBezTo>
                  <a:pt x="7497539" y="914400"/>
                  <a:pt x="7383239" y="914400"/>
                </a:quadBezTo>
                <a:lnTo>
                  <a:pt x="114300" y="914400"/>
                </a:lnTo>
                <a:quadBezTo>
                  <a:pt x="0" y="914400"/>
                  <a:pt x="0" y="80010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solidFill>
            <a:srgbClr val="D6D9E1">
              <a:alpha val="20000"/>
            </a:srgbClr>
          </a:solidFill>
        </p:spPr>
      </p:sp>
      <p:sp>
        <p:nvSpPr>
          <p:cNvPr id="11" name="Shape 8"/>
          <p:cNvSpPr/>
          <p:nvPr/>
        </p:nvSpPr>
        <p:spPr>
          <a:xfrm rot="-8100000">
            <a:off x="8148223" y="2543063"/>
            <a:ext cx="325055" cy="325055"/>
          </a:xfrm>
          <a:custGeom>
            <a:avLst/>
            <a:gdLst/>
            <a:ahLst/>
            <a:cxnLst/>
            <a:rect l="l" t="t" r="r" b="b"/>
            <a:pathLst>
              <a:path w="325055" h="325055">
                <a:moveTo>
                  <a:pt x="0" y="0"/>
                </a:moveTo>
                <a:moveTo>
                  <a:pt x="0" y="0"/>
                </a:moveTo>
                <a:lnTo>
                  <a:pt x="0" y="325055"/>
                </a:lnTo>
                <a:lnTo>
                  <a:pt x="325055" y="325055"/>
                </a:lnTo>
                <a:close/>
              </a:path>
            </a:pathLst>
          </a:custGeom>
          <a:solidFill>
            <a:srgbClr val="D6D9E1">
              <a:alpha val="20000"/>
            </a:srgbClr>
          </a:solidFill>
        </p:spPr>
      </p:sp>
      <p:sp>
        <p:nvSpPr>
          <p:cNvPr id="12" name="Shape 9"/>
          <p:cNvSpPr/>
          <p:nvPr/>
        </p:nvSpPr>
        <p:spPr>
          <a:xfrm rot="-8100000">
            <a:off x="8148185" y="1394239"/>
            <a:ext cx="325055" cy="325055"/>
          </a:xfrm>
          <a:custGeom>
            <a:avLst/>
            <a:gdLst/>
            <a:ahLst/>
            <a:cxnLst/>
            <a:rect l="l" t="t" r="r" b="b"/>
            <a:pathLst>
              <a:path w="325055" h="325055">
                <a:moveTo>
                  <a:pt x="0" y="0"/>
                </a:moveTo>
                <a:moveTo>
                  <a:pt x="0" y="0"/>
                </a:moveTo>
                <a:lnTo>
                  <a:pt x="0" y="325055"/>
                </a:lnTo>
                <a:lnTo>
                  <a:pt x="325055" y="325055"/>
                </a:lnTo>
                <a:close/>
              </a:path>
            </a:pathLst>
          </a:custGeom>
          <a:solidFill>
            <a:srgbClr val="D6D9E1">
              <a:alpha val="20000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834307" y="1323749"/>
            <a:ext cx="2845133" cy="573106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技术演进历程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3586576" y="1099566"/>
            <a:ext cx="4333133" cy="914400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从早期的简单算法到现代的深度学习，技术的演进推动了人工智能的快速发展，使其能够处理更复杂的任务，并在多个领域展现出惊人的能力。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834307" y="2409000"/>
            <a:ext cx="2531059" cy="593182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行业应用拓展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3586576" y="2248391"/>
            <a:ext cx="4333133" cy="914400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人工智能的应用已经从最初的游戏和图像识别扩展到医疗、金融、教育等多个行业，通过智能化解决方案，极大地提高了效率和准确性。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834307" y="3434022"/>
            <a:ext cx="2530145" cy="573106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未来趋势预测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3586576" y="3263375"/>
            <a:ext cx="4333133" cy="914400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随着技术的不断进步，人工智能将更加深入地融入日常生活，预计未来将在自动驾驶、智慧城市等领域发挥更大的作用，引领新一轮的技术革命。</a:t>
            </a:r>
            <a:endParaRPr lang="en-US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58045" y="1664502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585216" h="585216">
                <a:moveTo>
                  <a:pt x="73152" y="0"/>
                </a:moveTo>
                <a:moveTo>
                  <a:pt x="73152" y="0"/>
                </a:moveTo>
                <a:lnTo>
                  <a:pt x="512064" y="0"/>
                </a:lnTo>
                <a:quadBezTo>
                  <a:pt x="585216" y="0"/>
                  <a:pt x="585216" y="73152"/>
                </a:quadBezTo>
                <a:lnTo>
                  <a:pt x="585216" y="512064"/>
                </a:lnTo>
                <a:quadBezTo>
                  <a:pt x="585216" y="585216"/>
                  <a:pt x="512064" y="585216"/>
                </a:quadBezTo>
                <a:lnTo>
                  <a:pt x="73152" y="585216"/>
                </a:lnTo>
                <a:quadBezTo>
                  <a:pt x="0" y="585216"/>
                  <a:pt x="0" y="512064"/>
                </a:quadBezTo>
                <a:lnTo>
                  <a:pt x="0" y="73152"/>
                </a:lnTo>
                <a:quadBezTo>
                  <a:pt x="0" y="0"/>
                  <a:pt x="73152" y="0"/>
                </a:quad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4" name="Text 1"/>
          <p:cNvSpPr/>
          <p:nvPr/>
        </p:nvSpPr>
        <p:spPr>
          <a:xfrm>
            <a:off x="830029" y="1682790"/>
            <a:ext cx="841248" cy="5486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865937" y="2437790"/>
            <a:ext cx="7518197" cy="73152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大语言模型发展</a:t>
            </a:r>
            <a:endParaRPr lang="en-US" sz="1440" dirty="0"/>
          </a:p>
        </p:txBody>
      </p:sp>
      <p:sp>
        <p:nvSpPr>
          <p:cNvPr id="6" name="Shape 3"/>
          <p:cNvSpPr/>
          <p:nvPr/>
        </p:nvSpPr>
        <p:spPr>
          <a:xfrm>
            <a:off x="897176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7" name="Shape 4"/>
          <p:cNvSpPr/>
          <p:nvPr/>
        </p:nvSpPr>
        <p:spPr>
          <a:xfrm>
            <a:off x="1250653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8" name="Shape 5"/>
          <p:cNvSpPr/>
          <p:nvPr/>
        </p:nvSpPr>
        <p:spPr>
          <a:xfrm>
            <a:off x="1604131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研究范式转变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Shape 4"/>
          <p:cNvSpPr/>
          <p:nvPr/>
        </p:nvSpPr>
        <p:spPr>
          <a:xfrm>
            <a:off x="640994" y="1792041"/>
            <a:ext cx="2487168" cy="2332625"/>
          </a:xfrm>
          <a:custGeom>
            <a:avLst/>
            <a:gdLst/>
            <a:ahLst/>
            <a:cxnLst/>
            <a:rect l="l" t="t" r="r" b="b"/>
            <a:pathLst>
              <a:path w="2487168" h="2332625">
                <a:moveTo>
                  <a:pt x="260604" y="0"/>
                </a:moveTo>
                <a:moveTo>
                  <a:pt x="260604" y="0"/>
                </a:moveTo>
                <a:lnTo>
                  <a:pt x="2226564" y="0"/>
                </a:lnTo>
                <a:quadBezTo>
                  <a:pt x="2487168" y="0"/>
                  <a:pt x="2487168" y="291578"/>
                </a:quadBezTo>
                <a:lnTo>
                  <a:pt x="2487168" y="2041047"/>
                </a:lnTo>
                <a:quadBezTo>
                  <a:pt x="2487168" y="2332625"/>
                  <a:pt x="2226564" y="2332625"/>
                </a:quadBezTo>
                <a:lnTo>
                  <a:pt x="260604" y="2332625"/>
                </a:lnTo>
                <a:quadBezTo>
                  <a:pt x="0" y="2332625"/>
                  <a:pt x="0" y="2041047"/>
                </a:quadBezTo>
                <a:lnTo>
                  <a:pt x="0" y="291578"/>
                </a:lnTo>
                <a:quadBezTo>
                  <a:pt x="0" y="0"/>
                  <a:pt x="260604" y="0"/>
                </a:quadBezTo>
                <a:close/>
              </a:path>
            </a:pathLst>
          </a:custGeom>
          <a:solidFill>
            <a:srgbClr val="0084FF">
              <a:alpha val="10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1066906" y="1534826"/>
            <a:ext cx="530506" cy="257215"/>
          </a:xfrm>
          <a:custGeom>
            <a:avLst/>
            <a:gdLst/>
            <a:ahLst/>
            <a:cxnLst/>
            <a:rect l="l" t="t" r="r" b="b"/>
            <a:pathLst>
              <a:path w="530506" h="257215">
                <a:moveTo>
                  <a:pt x="265253" y="0"/>
                </a:moveTo>
                <a:moveTo>
                  <a:pt x="265253" y="0"/>
                </a:moveTo>
                <a:lnTo>
                  <a:pt x="0" y="257215"/>
                </a:lnTo>
                <a:lnTo>
                  <a:pt x="530506" y="257215"/>
                </a:lnTo>
                <a:close/>
              </a:path>
            </a:pathLst>
          </a:custGeom>
          <a:solidFill>
            <a:srgbClr val="0084FF">
              <a:alpha val="1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640994" y="1018720"/>
            <a:ext cx="426013" cy="426013"/>
          </a:xfrm>
          <a:custGeom>
            <a:avLst/>
            <a:gdLst/>
            <a:ahLst/>
            <a:cxnLst/>
            <a:rect l="l" t="t" r="r" b="b"/>
            <a:pathLst>
              <a:path w="426013" h="426013">
                <a:moveTo>
                  <a:pt x="213006" y="0"/>
                </a:moveTo>
                <a:moveTo>
                  <a:pt x="213006" y="0"/>
                </a:moveTo>
                <a:cubicBezTo>
                  <a:pt x="330568" y="0"/>
                  <a:pt x="426013" y="95445"/>
                  <a:pt x="426013" y="213006"/>
                </a:cubicBezTo>
                <a:cubicBezTo>
                  <a:pt x="426013" y="330568"/>
                  <a:pt x="330568" y="426013"/>
                  <a:pt x="213006" y="426013"/>
                </a:cubicBezTo>
                <a:cubicBezTo>
                  <a:pt x="95445" y="426013"/>
                  <a:pt x="0" y="330568"/>
                  <a:pt x="0" y="213006"/>
                </a:cubicBezTo>
                <a:cubicBezTo>
                  <a:pt x="0" y="95445"/>
                  <a:pt x="95445" y="0"/>
                  <a:pt x="213006" y="0"/>
                </a:cubicBezTo>
                <a:close/>
              </a:path>
            </a:pathLst>
          </a:custGeom>
          <a:solidFill>
            <a:srgbClr val="0084FF"/>
          </a:solidFill>
        </p:spPr>
      </p:sp>
      <p:sp>
        <p:nvSpPr>
          <p:cNvPr id="10" name="Shape 7"/>
          <p:cNvSpPr/>
          <p:nvPr/>
        </p:nvSpPr>
        <p:spPr>
          <a:xfrm>
            <a:off x="1589475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arrow"/>
          </a:ln>
        </p:spPr>
      </p:sp>
      <p:sp>
        <p:nvSpPr>
          <p:cNvPr id="11" name="Text 8"/>
          <p:cNvSpPr/>
          <p:nvPr/>
        </p:nvSpPr>
        <p:spPr>
          <a:xfrm>
            <a:off x="686714" y="1938345"/>
            <a:ext cx="2395728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从实验到理论的跨越</a:t>
            </a:r>
            <a:endParaRPr lang="en-US" sz="1440" dirty="0"/>
          </a:p>
        </p:txBody>
      </p:sp>
      <p:sp>
        <p:nvSpPr>
          <p:cNvPr id="12" name="Shape 9"/>
          <p:cNvSpPr/>
          <p:nvPr/>
        </p:nvSpPr>
        <p:spPr>
          <a:xfrm>
            <a:off x="3339389" y="1792041"/>
            <a:ext cx="2487168" cy="2332625"/>
          </a:xfrm>
          <a:custGeom>
            <a:avLst/>
            <a:gdLst/>
            <a:ahLst/>
            <a:cxnLst/>
            <a:rect l="l" t="t" r="r" b="b"/>
            <a:pathLst>
              <a:path w="2487168" h="2332625">
                <a:moveTo>
                  <a:pt x="260604" y="0"/>
                </a:moveTo>
                <a:moveTo>
                  <a:pt x="260604" y="0"/>
                </a:moveTo>
                <a:lnTo>
                  <a:pt x="2226564" y="0"/>
                </a:lnTo>
                <a:quadBezTo>
                  <a:pt x="2487168" y="0"/>
                  <a:pt x="2487168" y="291578"/>
                </a:quadBezTo>
                <a:lnTo>
                  <a:pt x="2487168" y="2041047"/>
                </a:lnTo>
                <a:quadBezTo>
                  <a:pt x="2487168" y="2332625"/>
                  <a:pt x="2226564" y="2332625"/>
                </a:quadBezTo>
                <a:lnTo>
                  <a:pt x="260604" y="2332625"/>
                </a:lnTo>
                <a:quadBezTo>
                  <a:pt x="0" y="2332625"/>
                  <a:pt x="0" y="2041047"/>
                </a:quadBezTo>
                <a:lnTo>
                  <a:pt x="0" y="291578"/>
                </a:lnTo>
                <a:quadBezTo>
                  <a:pt x="0" y="0"/>
                  <a:pt x="260604" y="0"/>
                </a:quadBezTo>
                <a:close/>
              </a:path>
            </a:pathLst>
          </a:custGeom>
          <a:solidFill>
            <a:srgbClr val="0084FF">
              <a:alpha val="10000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6015838" y="1792155"/>
            <a:ext cx="2487168" cy="2332625"/>
          </a:xfrm>
          <a:custGeom>
            <a:avLst/>
            <a:gdLst/>
            <a:ahLst/>
            <a:cxnLst/>
            <a:rect l="l" t="t" r="r" b="b"/>
            <a:pathLst>
              <a:path w="2487168" h="2332625">
                <a:moveTo>
                  <a:pt x="260604" y="0"/>
                </a:moveTo>
                <a:moveTo>
                  <a:pt x="260604" y="0"/>
                </a:moveTo>
                <a:lnTo>
                  <a:pt x="2226564" y="0"/>
                </a:lnTo>
                <a:quadBezTo>
                  <a:pt x="2487168" y="0"/>
                  <a:pt x="2487168" y="291578"/>
                </a:quadBezTo>
                <a:lnTo>
                  <a:pt x="2487168" y="2041047"/>
                </a:lnTo>
                <a:quadBezTo>
                  <a:pt x="2487168" y="2332625"/>
                  <a:pt x="2226564" y="2332625"/>
                </a:quadBezTo>
                <a:lnTo>
                  <a:pt x="260604" y="2332625"/>
                </a:lnTo>
                <a:quadBezTo>
                  <a:pt x="0" y="2332625"/>
                  <a:pt x="0" y="2041047"/>
                </a:quadBezTo>
                <a:lnTo>
                  <a:pt x="0" y="291578"/>
                </a:lnTo>
                <a:quadBezTo>
                  <a:pt x="0" y="0"/>
                  <a:pt x="260604" y="0"/>
                </a:quadBezTo>
                <a:close/>
              </a:path>
            </a:pathLst>
          </a:custGeom>
          <a:solidFill>
            <a:srgbClr val="0084FF">
              <a:alpha val="1000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750722" y="2340681"/>
            <a:ext cx="2267712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研究范式的转变标志着科学探索方法的重大进步，由原先依赖详尽实验验证，转向构建和验证理论模型，这一变化极大地推动了科学的快速发展。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3385109" y="1938345"/>
            <a:ext cx="2395728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数据驱动的研究兴起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6061558" y="1938345"/>
            <a:ext cx="2395728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跨学科融合创新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3449117" y="2340681"/>
            <a:ext cx="2267712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随着大数据技术的发展和应用，数据驱动的研究方法成为新的研究范式，通过分析海量数据来发现模式和规律，为决策提供支持。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6125566" y="2340681"/>
            <a:ext cx="2267712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现代研究范式强调跨学科的融合与合作，不同领域的知识和方法相结合，促进了创新思维和解决方案的产生，应对复杂多变的全球挑战。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640994" y="1048069"/>
            <a:ext cx="679728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20" name="Shape 17"/>
          <p:cNvSpPr/>
          <p:nvPr/>
        </p:nvSpPr>
        <p:spPr>
          <a:xfrm>
            <a:off x="3339835" y="1018720"/>
            <a:ext cx="426013" cy="426013"/>
          </a:xfrm>
          <a:custGeom>
            <a:avLst/>
            <a:gdLst/>
            <a:ahLst/>
            <a:cxnLst/>
            <a:rect l="l" t="t" r="r" b="b"/>
            <a:pathLst>
              <a:path w="426013" h="426013">
                <a:moveTo>
                  <a:pt x="213006" y="0"/>
                </a:moveTo>
                <a:moveTo>
                  <a:pt x="213006" y="0"/>
                </a:moveTo>
                <a:cubicBezTo>
                  <a:pt x="330568" y="0"/>
                  <a:pt x="426013" y="95445"/>
                  <a:pt x="426013" y="213006"/>
                </a:cubicBezTo>
                <a:cubicBezTo>
                  <a:pt x="426013" y="330568"/>
                  <a:pt x="330568" y="426013"/>
                  <a:pt x="213006" y="426013"/>
                </a:cubicBezTo>
                <a:cubicBezTo>
                  <a:pt x="95445" y="426013"/>
                  <a:pt x="0" y="330568"/>
                  <a:pt x="0" y="213006"/>
                </a:cubicBezTo>
                <a:cubicBezTo>
                  <a:pt x="0" y="95445"/>
                  <a:pt x="95445" y="0"/>
                  <a:pt x="213006" y="0"/>
                </a:cubicBezTo>
                <a:close/>
              </a:path>
            </a:pathLst>
          </a:custGeom>
          <a:solidFill>
            <a:srgbClr val="0084FF"/>
          </a:solidFill>
        </p:spPr>
      </p:sp>
      <p:sp>
        <p:nvSpPr>
          <p:cNvPr id="21" name="Text 18"/>
          <p:cNvSpPr/>
          <p:nvPr/>
        </p:nvSpPr>
        <p:spPr>
          <a:xfrm>
            <a:off x="3349080" y="1048069"/>
            <a:ext cx="709960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  <p:sp>
        <p:nvSpPr>
          <p:cNvPr id="22" name="Shape 19"/>
          <p:cNvSpPr/>
          <p:nvPr/>
        </p:nvSpPr>
        <p:spPr>
          <a:xfrm>
            <a:off x="6015819" y="1018720"/>
            <a:ext cx="426013" cy="426013"/>
          </a:xfrm>
          <a:custGeom>
            <a:avLst/>
            <a:gdLst/>
            <a:ahLst/>
            <a:cxnLst/>
            <a:rect l="l" t="t" r="r" b="b"/>
            <a:pathLst>
              <a:path w="426013" h="426013">
                <a:moveTo>
                  <a:pt x="213006" y="0"/>
                </a:moveTo>
                <a:moveTo>
                  <a:pt x="213006" y="0"/>
                </a:moveTo>
                <a:cubicBezTo>
                  <a:pt x="330568" y="0"/>
                  <a:pt x="426013" y="95445"/>
                  <a:pt x="426013" y="213006"/>
                </a:cubicBezTo>
                <a:cubicBezTo>
                  <a:pt x="426013" y="330568"/>
                  <a:pt x="330568" y="426013"/>
                  <a:pt x="213006" y="426013"/>
                </a:cubicBezTo>
                <a:cubicBezTo>
                  <a:pt x="95445" y="426013"/>
                  <a:pt x="0" y="330568"/>
                  <a:pt x="0" y="213006"/>
                </a:cubicBezTo>
                <a:cubicBezTo>
                  <a:pt x="0" y="95445"/>
                  <a:pt x="95445" y="0"/>
                  <a:pt x="213006" y="0"/>
                </a:cubicBezTo>
                <a:close/>
              </a:path>
            </a:pathLst>
          </a:custGeom>
          <a:solidFill>
            <a:srgbClr val="0084FF"/>
          </a:solidFill>
        </p:spPr>
      </p:sp>
      <p:sp>
        <p:nvSpPr>
          <p:cNvPr id="23" name="Text 20"/>
          <p:cNvSpPr/>
          <p:nvPr/>
        </p:nvSpPr>
        <p:spPr>
          <a:xfrm>
            <a:off x="6016304" y="1048069"/>
            <a:ext cx="7236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40" dirty="0"/>
          </a:p>
        </p:txBody>
      </p:sp>
      <p:sp>
        <p:nvSpPr>
          <p:cNvPr id="24" name="Shape 21"/>
          <p:cNvSpPr/>
          <p:nvPr/>
        </p:nvSpPr>
        <p:spPr>
          <a:xfrm>
            <a:off x="4228093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arrow"/>
          </a:ln>
        </p:spPr>
      </p:sp>
      <p:sp>
        <p:nvSpPr>
          <p:cNvPr id="25" name="Shape 22"/>
          <p:cNvSpPr/>
          <p:nvPr/>
        </p:nvSpPr>
        <p:spPr>
          <a:xfrm>
            <a:off x="6913035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arrow"/>
          </a:ln>
        </p:spPr>
      </p:sp>
      <p:sp>
        <p:nvSpPr>
          <p:cNvPr id="26" name="Shape 23"/>
          <p:cNvSpPr/>
          <p:nvPr/>
        </p:nvSpPr>
        <p:spPr>
          <a:xfrm>
            <a:off x="3765747" y="1534826"/>
            <a:ext cx="530506" cy="257215"/>
          </a:xfrm>
          <a:custGeom>
            <a:avLst/>
            <a:gdLst/>
            <a:ahLst/>
            <a:cxnLst/>
            <a:rect l="l" t="t" r="r" b="b"/>
            <a:pathLst>
              <a:path w="530506" h="257215">
                <a:moveTo>
                  <a:pt x="265253" y="0"/>
                </a:moveTo>
                <a:moveTo>
                  <a:pt x="265253" y="0"/>
                </a:moveTo>
                <a:lnTo>
                  <a:pt x="0" y="257215"/>
                </a:lnTo>
                <a:lnTo>
                  <a:pt x="530506" y="257215"/>
                </a:lnTo>
                <a:close/>
              </a:path>
            </a:pathLst>
          </a:custGeom>
          <a:solidFill>
            <a:srgbClr val="0084FF">
              <a:alpha val="10000"/>
            </a:srgbClr>
          </a:solidFill>
        </p:spPr>
      </p:sp>
      <p:sp>
        <p:nvSpPr>
          <p:cNvPr id="27" name="Shape 24"/>
          <p:cNvSpPr/>
          <p:nvPr/>
        </p:nvSpPr>
        <p:spPr>
          <a:xfrm>
            <a:off x="6441731" y="1534826"/>
            <a:ext cx="530506" cy="257215"/>
          </a:xfrm>
          <a:custGeom>
            <a:avLst/>
            <a:gdLst/>
            <a:ahLst/>
            <a:cxnLst/>
            <a:rect l="l" t="t" r="r" b="b"/>
            <a:pathLst>
              <a:path w="530506" h="257215">
                <a:moveTo>
                  <a:pt x="265253" y="0"/>
                </a:moveTo>
                <a:moveTo>
                  <a:pt x="265253" y="0"/>
                </a:moveTo>
                <a:lnTo>
                  <a:pt x="0" y="257215"/>
                </a:lnTo>
                <a:lnTo>
                  <a:pt x="530506" y="257215"/>
                </a:lnTo>
                <a:close/>
              </a:path>
            </a:pathLst>
          </a:custGeom>
          <a:solidFill>
            <a:srgbClr val="0084FF">
              <a:alpha val="10000"/>
            </a:srgbClr>
          </a:solid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ChatGPT影响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pic>
        <p:nvPicPr>
          <p:cNvPr id="7" name="Image 0" descr="https://sgw-dx.xf-yun.com/api/v1/sparkdesk/_1740107921252b7f6d5abbe4546cfa315048eccd2ff73.jpg?authorization=c2ltcGxlLWp3dCBhaz1zcGFya2Rlc2s4MDAwMDAwMDAwMDE7ZXhwPTMzMTY5MDc5MjE7YWxnbz1obWFjLXNoYTI1NjtzaWc9cTZ5YVRwOHplL1VmbU5pUlNFNEdJV3E5QmxGWkh3REEyMUNCTEN6ZnR2MD0=&amp;x_location=7YfmxI7B7uKO7jlRxIftd60ueXD=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72" y="1088132"/>
            <a:ext cx="2283193" cy="12826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" y="2446016"/>
            <a:ext cx="2487168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语言模型的革新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822960" y="2773736"/>
            <a:ext cx="2414016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ChatGPT作为一款先进的语言处理工具，通过深度学习和大数据分析，极大地提升了机器理解和生成自然语言的能力，标志着语言模型技术的一大进步。</a:t>
            </a:r>
            <a:endParaRPr lang="en-US" sz="1440" dirty="0"/>
          </a:p>
        </p:txBody>
      </p:sp>
      <p:pic>
        <p:nvPicPr>
          <p:cNvPr id="10" name="Image 1" descr="https://sgw-dx.xf-yun.com/api/v1/sparkdesk/_174010792603909901f148082466dafe0e6589a33dd36.jpg?authorization=c2ltcGxlLWp3dCBhaz1zcGFya2Rlc2s4MDAwMDAwMDAwMDE7ZXhwPTMzMTY5MDc5MjY7YWxnbz1obWFjLXNoYTI1NjtzaWc9SUk5QkkxMS9rSlRnN0t2UVoxRkFMcWJwWTVpZ2U2SklRZDFzMTZjMVRoND0=&amp;x_location=7YfmxI7B7uKO7jlRxIftd60ueXD=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980" y="1088132"/>
            <a:ext cx="2283193" cy="12826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28416" y="2446016"/>
            <a:ext cx="2487168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人机交互的变革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3401568" y="2773736"/>
            <a:ext cx="2414016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ChatGPT的引入改变了传统的人机交互方式，使得对话系统更加流畅和自然，用户可以通过更接近人类的方式与机器进行交流，提高了用户体验。</a:t>
            </a:r>
            <a:endParaRPr lang="en-US" sz="1440" dirty="0"/>
          </a:p>
        </p:txBody>
      </p:sp>
      <p:pic>
        <p:nvPicPr>
          <p:cNvPr id="13" name="Image 2" descr="https://sgw-dx.xf-yun.com/api/v1/sparkdesk/_17401079315052e28e1984f6540ffbab66279740ed15c.jpg?authorization=c2ltcGxlLWp3dCBhaz1zcGFya2Rlc2s4MDAwMDAwMDAwMDE7ZXhwPTMzMTY5MDc5MzE7YWxnbz1obWFjLXNoYTI1NjtzaWc9UUxaRW9HSE0xRFFTNjJTbExXQUhZVEpaTmFPLzJLOEhCRHRERDA3anNlbz0=&amp;x_location=7YfmxI7B7uKO7jlRxIftd60ueXD=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012" y="1088132"/>
            <a:ext cx="2283193" cy="12826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70448" y="2447488"/>
            <a:ext cx="2487168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行业应用的拓展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5943600" y="2775208"/>
            <a:ext cx="2414016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随着ChatGPT技术的成熟，其在客服、教育、医疗等多个行业的应用日益广泛，不仅优化了服务流程，还开辟了新的商业模式和服务创新。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生态快速构建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Shape 4"/>
          <p:cNvSpPr/>
          <p:nvPr/>
        </p:nvSpPr>
        <p:spPr>
          <a:xfrm>
            <a:off x="4148425" y="2215286"/>
            <a:ext cx="576615" cy="834888"/>
          </a:xfrm>
          <a:custGeom>
            <a:avLst/>
            <a:gdLst/>
            <a:ahLst/>
            <a:cxnLst/>
            <a:rect l="l" t="t" r="r" b="b"/>
            <a:pathLst>
              <a:path w="576615" h="834888">
                <a:moveTo>
                  <a:pt x="576615" y="0"/>
                </a:moveTo>
                <a:moveTo>
                  <a:pt x="576615" y="0"/>
                </a:moveTo>
                <a:lnTo>
                  <a:pt x="0" y="834888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4160714" y="1450417"/>
            <a:ext cx="564612" cy="751974"/>
          </a:xfrm>
          <a:custGeom>
            <a:avLst/>
            <a:gdLst/>
            <a:ahLst/>
            <a:cxnLst/>
            <a:rect l="l" t="t" r="r" b="b"/>
            <a:pathLst>
              <a:path w="564612" h="751974">
                <a:moveTo>
                  <a:pt x="0" y="0"/>
                </a:moveTo>
                <a:moveTo>
                  <a:pt x="0" y="0"/>
                </a:moveTo>
                <a:lnTo>
                  <a:pt x="564612" y="751974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646624" y="1078530"/>
            <a:ext cx="556517" cy="556517"/>
          </a:xfrm>
          <a:custGeom>
            <a:avLst/>
            <a:gdLst/>
            <a:ahLst/>
            <a:cxnLst/>
            <a:rect l="l" t="t" r="r" b="b"/>
            <a:pathLst>
              <a:path w="556517" h="556517">
                <a:moveTo>
                  <a:pt x="0" y="0"/>
                </a:moveTo>
                <a:moveTo>
                  <a:pt x="0" y="0"/>
                </a:moveTo>
                <a:lnTo>
                  <a:pt x="556517" y="0"/>
                </a:lnTo>
                <a:lnTo>
                  <a:pt x="556517" y="556517"/>
                </a:lnTo>
                <a:lnTo>
                  <a:pt x="0" y="556517"/>
                </a:lnTo>
                <a:close/>
              </a:path>
            </a:pathLst>
          </a:custGeom>
          <a:solidFill>
            <a:srgbClr val="0084FF"/>
          </a:solidFill>
        </p:spPr>
      </p:sp>
      <p:sp>
        <p:nvSpPr>
          <p:cNvPr id="10" name="Shape 7"/>
          <p:cNvSpPr/>
          <p:nvPr/>
        </p:nvSpPr>
        <p:spPr>
          <a:xfrm>
            <a:off x="1203141" y="1359276"/>
            <a:ext cx="2868202" cy="0"/>
          </a:xfrm>
          <a:custGeom>
            <a:avLst/>
            <a:gdLst/>
            <a:ahLst/>
            <a:cxnLst/>
            <a:rect l="l" t="t" r="r" b="b"/>
            <a:pathLst>
              <a:path w="2868202">
                <a:moveTo>
                  <a:pt x="0" y="0"/>
                </a:moveTo>
                <a:moveTo>
                  <a:pt x="0" y="0"/>
                </a:moveTo>
                <a:lnTo>
                  <a:pt x="2868202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4056069" y="1350132"/>
            <a:ext cx="192640" cy="192640"/>
          </a:xfrm>
          <a:custGeom>
            <a:avLst/>
            <a:gdLst/>
            <a:ahLst/>
            <a:cxnLst/>
            <a:rect l="l" t="t" r="r" b="b"/>
            <a:pathLst>
              <a:path w="192640" h="192640">
                <a:moveTo>
                  <a:pt x="0" y="0"/>
                </a:moveTo>
                <a:moveTo>
                  <a:pt x="0" y="0"/>
                </a:moveTo>
                <a:lnTo>
                  <a:pt x="192640" y="0"/>
                </a:lnTo>
                <a:lnTo>
                  <a:pt x="192640" y="192640"/>
                </a:lnTo>
                <a:lnTo>
                  <a:pt x="0" y="192640"/>
                </a:lnTo>
                <a:close/>
              </a:path>
            </a:pathLst>
          </a:custGeom>
          <a:solidFill>
            <a:srgbClr val="0084FF"/>
          </a:solidFill>
        </p:spPr>
      </p:sp>
      <p:sp>
        <p:nvSpPr>
          <p:cNvPr id="12" name="Shape 9"/>
          <p:cNvSpPr/>
          <p:nvPr/>
        </p:nvSpPr>
        <p:spPr>
          <a:xfrm>
            <a:off x="4056069" y="2932872"/>
            <a:ext cx="192640" cy="192640"/>
          </a:xfrm>
          <a:custGeom>
            <a:avLst/>
            <a:gdLst/>
            <a:ahLst/>
            <a:cxnLst/>
            <a:rect l="l" t="t" r="r" b="b"/>
            <a:pathLst>
              <a:path w="192640" h="192640">
                <a:moveTo>
                  <a:pt x="0" y="0"/>
                </a:moveTo>
                <a:moveTo>
                  <a:pt x="0" y="0"/>
                </a:moveTo>
                <a:lnTo>
                  <a:pt x="192640" y="0"/>
                </a:lnTo>
                <a:lnTo>
                  <a:pt x="192640" y="192640"/>
                </a:lnTo>
                <a:lnTo>
                  <a:pt x="0" y="192640"/>
                </a:lnTo>
                <a:close/>
              </a:path>
            </a:pathLst>
          </a:custGeom>
          <a:solidFill>
            <a:srgbClr val="0084FF"/>
          </a:solidFill>
        </p:spPr>
      </p:sp>
      <p:sp>
        <p:nvSpPr>
          <p:cNvPr id="13" name="Shape 10"/>
          <p:cNvSpPr/>
          <p:nvPr/>
        </p:nvSpPr>
        <p:spPr>
          <a:xfrm>
            <a:off x="4838991" y="2211190"/>
            <a:ext cx="3224944" cy="0"/>
          </a:xfrm>
          <a:custGeom>
            <a:avLst/>
            <a:gdLst/>
            <a:ahLst/>
            <a:cxnLst/>
            <a:rect l="l" t="t" r="r" b="b"/>
            <a:pathLst>
              <a:path w="3224944">
                <a:moveTo>
                  <a:pt x="0" y="0"/>
                </a:moveTo>
                <a:moveTo>
                  <a:pt x="0" y="0"/>
                </a:moveTo>
                <a:lnTo>
                  <a:pt x="3224944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7940859" y="1957076"/>
            <a:ext cx="556517" cy="556517"/>
          </a:xfrm>
          <a:custGeom>
            <a:avLst/>
            <a:gdLst/>
            <a:ahLst/>
            <a:cxnLst/>
            <a:rect l="l" t="t" r="r" b="b"/>
            <a:pathLst>
              <a:path w="556517" h="556517">
                <a:moveTo>
                  <a:pt x="0" y="0"/>
                </a:moveTo>
                <a:moveTo>
                  <a:pt x="0" y="0"/>
                </a:moveTo>
                <a:lnTo>
                  <a:pt x="556517" y="0"/>
                </a:lnTo>
                <a:lnTo>
                  <a:pt x="556517" y="556517"/>
                </a:lnTo>
                <a:lnTo>
                  <a:pt x="0" y="556517"/>
                </a:lnTo>
                <a:close/>
              </a:path>
            </a:pathLst>
          </a:custGeom>
          <a:solidFill>
            <a:srgbClr val="0084FF"/>
          </a:solidFill>
        </p:spPr>
      </p:sp>
      <p:sp>
        <p:nvSpPr>
          <p:cNvPr id="15" name="Shape 12"/>
          <p:cNvSpPr/>
          <p:nvPr/>
        </p:nvSpPr>
        <p:spPr>
          <a:xfrm>
            <a:off x="1203141" y="3113881"/>
            <a:ext cx="2886490" cy="2488"/>
          </a:xfrm>
          <a:custGeom>
            <a:avLst/>
            <a:gdLst/>
            <a:ahLst/>
            <a:cxnLst/>
            <a:rect l="l" t="t" r="r" b="b"/>
            <a:pathLst>
              <a:path w="2886490" h="2488">
                <a:moveTo>
                  <a:pt x="0" y="0"/>
                </a:moveTo>
                <a:moveTo>
                  <a:pt x="0" y="0"/>
                </a:moveTo>
                <a:lnTo>
                  <a:pt x="2886490" y="2488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646624" y="2835622"/>
            <a:ext cx="556517" cy="556517"/>
          </a:xfrm>
          <a:custGeom>
            <a:avLst/>
            <a:gdLst/>
            <a:ahLst/>
            <a:cxnLst/>
            <a:rect l="l" t="t" r="r" b="b"/>
            <a:pathLst>
              <a:path w="556517" h="556517">
                <a:moveTo>
                  <a:pt x="0" y="0"/>
                </a:moveTo>
                <a:moveTo>
                  <a:pt x="0" y="0"/>
                </a:moveTo>
                <a:lnTo>
                  <a:pt x="556517" y="0"/>
                </a:lnTo>
                <a:lnTo>
                  <a:pt x="556517" y="556517"/>
                </a:lnTo>
                <a:lnTo>
                  <a:pt x="0" y="556517"/>
                </a:lnTo>
                <a:close/>
              </a:path>
            </a:pathLst>
          </a:custGeom>
          <a:solidFill>
            <a:srgbClr val="0084FF"/>
          </a:solidFill>
        </p:spPr>
      </p:sp>
      <p:sp>
        <p:nvSpPr>
          <p:cNvPr id="17" name="Text 14"/>
          <p:cNvSpPr/>
          <p:nvPr/>
        </p:nvSpPr>
        <p:spPr>
          <a:xfrm>
            <a:off x="646624" y="1105962"/>
            <a:ext cx="556517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7940859" y="1984508"/>
            <a:ext cx="556517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646624" y="2862421"/>
            <a:ext cx="556517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40" dirty="0"/>
          </a:p>
        </p:txBody>
      </p:sp>
      <p:sp>
        <p:nvSpPr>
          <p:cNvPr id="20" name="Text 17"/>
          <p:cNvSpPr/>
          <p:nvPr/>
        </p:nvSpPr>
        <p:spPr>
          <a:xfrm>
            <a:off x="1203141" y="957284"/>
            <a:ext cx="2852928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生态系统定义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1203665" y="1359620"/>
            <a:ext cx="2852928" cy="106070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生态系统是由生物群落和其非生物环境相互作用形成的动态复合体，它包括了所有生物和非生物因素，如气候、土壤和水等。</a:t>
            </a:r>
            <a:endParaRPr lang="en-US" sz="1440" dirty="0"/>
          </a:p>
        </p:txBody>
      </p:sp>
      <p:sp>
        <p:nvSpPr>
          <p:cNvPr id="22" name="Text 19"/>
          <p:cNvSpPr/>
          <p:nvPr/>
        </p:nvSpPr>
        <p:spPr>
          <a:xfrm>
            <a:off x="4838690" y="1808486"/>
            <a:ext cx="2852928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快速构建的重要性</a:t>
            </a:r>
            <a:endParaRPr lang="en-US" sz="1440" dirty="0"/>
          </a:p>
        </p:txBody>
      </p:sp>
      <p:sp>
        <p:nvSpPr>
          <p:cNvPr id="23" name="Text 20"/>
          <p:cNvSpPr/>
          <p:nvPr/>
        </p:nvSpPr>
        <p:spPr>
          <a:xfrm>
            <a:off x="4838405" y="2210926"/>
            <a:ext cx="2852928" cy="106070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在当前快速变化的环境中，生态快速构建对于维持生物多样性和生态平衡至关重要，它有助于系统迅速适应外部压力和扰动。</a:t>
            </a:r>
            <a:endParaRPr lang="en-US" sz="1440" dirty="0"/>
          </a:p>
        </p:txBody>
      </p:sp>
      <p:sp>
        <p:nvSpPr>
          <p:cNvPr id="24" name="Text 21"/>
          <p:cNvSpPr/>
          <p:nvPr/>
        </p:nvSpPr>
        <p:spPr>
          <a:xfrm>
            <a:off x="1203141" y="2704702"/>
            <a:ext cx="2852928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实施策略与方法</a:t>
            </a:r>
            <a:endParaRPr lang="en-US" sz="1440" dirty="0"/>
          </a:p>
        </p:txBody>
      </p:sp>
      <p:sp>
        <p:nvSpPr>
          <p:cNvPr id="25" name="Text 22"/>
          <p:cNvSpPr/>
          <p:nvPr/>
        </p:nvSpPr>
        <p:spPr>
          <a:xfrm>
            <a:off x="1203141" y="3125512"/>
            <a:ext cx="2852928" cy="106070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生态快速构建的实施需要综合考虑物种选择、栖息地恢复和人类活动影响，采用科学的方法和技术以促进生态系统的健康和稳定。</a:t>
            </a:r>
            <a:endParaRPr lang="en-US" sz="1440" dirty="0"/>
          </a:p>
        </p:txBody>
      </p:sp>
      <p:sp>
        <p:nvSpPr>
          <p:cNvPr id="26" name="Shape 23"/>
          <p:cNvSpPr/>
          <p:nvPr/>
        </p:nvSpPr>
        <p:spPr>
          <a:xfrm>
            <a:off x="4646351" y="2114870"/>
            <a:ext cx="192640" cy="192640"/>
          </a:xfrm>
          <a:custGeom>
            <a:avLst/>
            <a:gdLst/>
            <a:ahLst/>
            <a:cxnLst/>
            <a:rect l="l" t="t" r="r" b="b"/>
            <a:pathLst>
              <a:path w="192640" h="192640">
                <a:moveTo>
                  <a:pt x="0" y="0"/>
                </a:moveTo>
                <a:moveTo>
                  <a:pt x="0" y="0"/>
                </a:moveTo>
                <a:lnTo>
                  <a:pt x="192640" y="0"/>
                </a:lnTo>
                <a:lnTo>
                  <a:pt x="192640" y="192640"/>
                </a:lnTo>
                <a:lnTo>
                  <a:pt x="0" y="192640"/>
                </a:lnTo>
                <a:close/>
              </a:path>
            </a:pathLst>
          </a:custGeom>
          <a:solidFill>
            <a:srgbClr val="0084FF"/>
          </a:solid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58045" y="1664502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585216" h="585216">
                <a:moveTo>
                  <a:pt x="73152" y="0"/>
                </a:moveTo>
                <a:moveTo>
                  <a:pt x="73152" y="0"/>
                </a:moveTo>
                <a:lnTo>
                  <a:pt x="512064" y="0"/>
                </a:lnTo>
                <a:quadBezTo>
                  <a:pt x="585216" y="0"/>
                  <a:pt x="585216" y="73152"/>
                </a:quadBezTo>
                <a:lnTo>
                  <a:pt x="585216" y="512064"/>
                </a:lnTo>
                <a:quadBezTo>
                  <a:pt x="585216" y="585216"/>
                  <a:pt x="512064" y="585216"/>
                </a:quadBezTo>
                <a:lnTo>
                  <a:pt x="73152" y="585216"/>
                </a:lnTo>
                <a:quadBezTo>
                  <a:pt x="0" y="585216"/>
                  <a:pt x="0" y="512064"/>
                </a:quadBezTo>
                <a:lnTo>
                  <a:pt x="0" y="73152"/>
                </a:lnTo>
                <a:quadBezTo>
                  <a:pt x="0" y="0"/>
                  <a:pt x="73152" y="0"/>
                </a:quad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4" name="Text 1"/>
          <p:cNvSpPr/>
          <p:nvPr/>
        </p:nvSpPr>
        <p:spPr>
          <a:xfrm>
            <a:off x="830029" y="1682790"/>
            <a:ext cx="841248" cy="5486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865937" y="2437790"/>
            <a:ext cx="7518197" cy="73152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典型大模型介绍</a:t>
            </a:r>
            <a:endParaRPr lang="en-US" sz="1440" dirty="0"/>
          </a:p>
        </p:txBody>
      </p:sp>
      <p:sp>
        <p:nvSpPr>
          <p:cNvPr id="6" name="Shape 3"/>
          <p:cNvSpPr/>
          <p:nvPr/>
        </p:nvSpPr>
        <p:spPr>
          <a:xfrm>
            <a:off x="897176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7" name="Shape 4"/>
          <p:cNvSpPr/>
          <p:nvPr/>
        </p:nvSpPr>
        <p:spPr>
          <a:xfrm>
            <a:off x="1250653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8" name="Shape 5"/>
          <p:cNvSpPr/>
          <p:nvPr/>
        </p:nvSpPr>
        <p:spPr>
          <a:xfrm>
            <a:off x="1604131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607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GPT系列特点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Shape 4"/>
          <p:cNvSpPr/>
          <p:nvPr/>
        </p:nvSpPr>
        <p:spPr>
          <a:xfrm rot="-366000">
            <a:off x="639861" y="1356868"/>
            <a:ext cx="2450592" cy="2542032"/>
          </a:xfrm>
          <a:custGeom>
            <a:avLst/>
            <a:gdLst/>
            <a:ahLst/>
            <a:cxnLst/>
            <a:rect l="l" t="t" r="r" b="b"/>
            <a:pathLst>
              <a:path w="2450592" h="2542032">
                <a:moveTo>
                  <a:pt x="216394" y="0"/>
                </a:moveTo>
                <a:moveTo>
                  <a:pt x="216394" y="0"/>
                </a:moveTo>
                <a:lnTo>
                  <a:pt x="2234198" y="0"/>
                </a:lnTo>
                <a:quadBezTo>
                  <a:pt x="2450592" y="0"/>
                  <a:pt x="2450592" y="216394"/>
                </a:quadBezTo>
                <a:lnTo>
                  <a:pt x="2450592" y="2325638"/>
                </a:lnTo>
                <a:quadBezTo>
                  <a:pt x="2450592" y="2542032"/>
                  <a:pt x="2234198" y="2542032"/>
                </a:quadBezTo>
                <a:lnTo>
                  <a:pt x="216394" y="2542032"/>
                </a:lnTo>
                <a:quadBezTo>
                  <a:pt x="0" y="2542032"/>
                  <a:pt x="0" y="2325638"/>
                </a:quadBezTo>
                <a:lnTo>
                  <a:pt x="0" y="216394"/>
                </a:lnTo>
                <a:quadBezTo>
                  <a:pt x="0" y="0"/>
                  <a:pt x="216394" y="0"/>
                </a:quadBezTo>
                <a:close/>
              </a:path>
            </a:pathLst>
          </a:custGeom>
          <a:solidFill>
            <a:srgbClr val="0084FF">
              <a:alpha val="0"/>
            </a:srgbClr>
          </a:solidFill>
          <a:ln w="19050">
            <a:solidFill>
              <a:srgbClr val="1859A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9498" y="1343207"/>
            <a:ext cx="2450592" cy="2542032"/>
          </a:xfrm>
          <a:custGeom>
            <a:avLst/>
            <a:gdLst/>
            <a:ahLst/>
            <a:cxnLst/>
            <a:rect l="l" t="t" r="r" b="b"/>
            <a:pathLst>
              <a:path w="2450592" h="2542032">
                <a:moveTo>
                  <a:pt x="216394" y="0"/>
                </a:moveTo>
                <a:moveTo>
                  <a:pt x="216394" y="0"/>
                </a:moveTo>
                <a:lnTo>
                  <a:pt x="2234198" y="0"/>
                </a:lnTo>
                <a:quadBezTo>
                  <a:pt x="2450592" y="0"/>
                  <a:pt x="2450592" y="216394"/>
                </a:quadBezTo>
                <a:lnTo>
                  <a:pt x="2450592" y="2325638"/>
                </a:lnTo>
                <a:quadBezTo>
                  <a:pt x="2450592" y="2542032"/>
                  <a:pt x="2234198" y="2542032"/>
                </a:quadBezTo>
                <a:lnTo>
                  <a:pt x="216394" y="2542032"/>
                </a:lnTo>
                <a:quadBezTo>
                  <a:pt x="0" y="2542032"/>
                  <a:pt x="0" y="2325638"/>
                </a:quadBezTo>
                <a:lnTo>
                  <a:pt x="0" y="216394"/>
                </a:lnTo>
                <a:quadBezTo>
                  <a:pt x="0" y="0"/>
                  <a:pt x="216394" y="0"/>
                </a:quadBezTo>
                <a:close/>
              </a:path>
            </a:pathLst>
          </a:custGeom>
          <a:solidFill>
            <a:srgbClr val="A2E5B9">
              <a:alpha val="0"/>
            </a:srgbClr>
          </a:solidFill>
          <a:ln w="19050">
            <a:solidFill>
              <a:srgbClr val="1859A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6789" y="1153595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512064" h="512064">
                <a:moveTo>
                  <a:pt x="256032" y="0"/>
                </a:moveTo>
                <a:moveTo>
                  <a:pt x="256032" y="0"/>
                </a:moveTo>
                <a:cubicBezTo>
                  <a:pt x="397340" y="0"/>
                  <a:pt x="512064" y="114724"/>
                  <a:pt x="512064" y="256032"/>
                </a:cubicBezTo>
                <a:cubicBezTo>
                  <a:pt x="512064" y="397340"/>
                  <a:pt x="397340" y="512064"/>
                  <a:pt x="256032" y="512064"/>
                </a:cubicBezTo>
                <a:cubicBezTo>
                  <a:pt x="114724" y="512064"/>
                  <a:pt x="0" y="397340"/>
                  <a:pt x="0" y="256032"/>
                </a:cubicBezTo>
                <a:cubicBezTo>
                  <a:pt x="0" y="114724"/>
                  <a:pt x="114724" y="0"/>
                  <a:pt x="256032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10" name="Text 7"/>
          <p:cNvSpPr/>
          <p:nvPr/>
        </p:nvSpPr>
        <p:spPr>
          <a:xfrm>
            <a:off x="756803" y="1121591"/>
            <a:ext cx="813748" cy="5669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01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11" name="Shape 8"/>
          <p:cNvSpPr/>
          <p:nvPr/>
        </p:nvSpPr>
        <p:spPr>
          <a:xfrm rot="-366000">
            <a:off x="3346704" y="1356868"/>
            <a:ext cx="2450592" cy="2542032"/>
          </a:xfrm>
          <a:custGeom>
            <a:avLst/>
            <a:gdLst/>
            <a:ahLst/>
            <a:cxnLst/>
            <a:rect l="l" t="t" r="r" b="b"/>
            <a:pathLst>
              <a:path w="2450592" h="2542032">
                <a:moveTo>
                  <a:pt x="216394" y="0"/>
                </a:moveTo>
                <a:moveTo>
                  <a:pt x="216394" y="0"/>
                </a:moveTo>
                <a:lnTo>
                  <a:pt x="2234198" y="0"/>
                </a:lnTo>
                <a:quadBezTo>
                  <a:pt x="2450592" y="0"/>
                  <a:pt x="2450592" y="216394"/>
                </a:quadBezTo>
                <a:lnTo>
                  <a:pt x="2450592" y="2325638"/>
                </a:lnTo>
                <a:quadBezTo>
                  <a:pt x="2450592" y="2542032"/>
                  <a:pt x="2234198" y="2542032"/>
                </a:quadBezTo>
                <a:lnTo>
                  <a:pt x="216394" y="2542032"/>
                </a:lnTo>
                <a:quadBezTo>
                  <a:pt x="0" y="2542032"/>
                  <a:pt x="0" y="2325638"/>
                </a:quadBezTo>
                <a:lnTo>
                  <a:pt x="0" y="216394"/>
                </a:lnTo>
                <a:quadBezTo>
                  <a:pt x="0" y="0"/>
                  <a:pt x="216394" y="0"/>
                </a:quadBezTo>
                <a:close/>
              </a:path>
            </a:pathLst>
          </a:custGeom>
          <a:solidFill>
            <a:srgbClr val="5196FF">
              <a:alpha val="0"/>
            </a:srgbClr>
          </a:solidFill>
          <a:ln w="19050">
            <a:solidFill>
              <a:srgbClr val="1859A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6341" y="1343207"/>
            <a:ext cx="2450592" cy="2542032"/>
          </a:xfrm>
          <a:custGeom>
            <a:avLst/>
            <a:gdLst/>
            <a:ahLst/>
            <a:cxnLst/>
            <a:rect l="l" t="t" r="r" b="b"/>
            <a:pathLst>
              <a:path w="2450592" h="2542032">
                <a:moveTo>
                  <a:pt x="216394" y="0"/>
                </a:moveTo>
                <a:moveTo>
                  <a:pt x="216394" y="0"/>
                </a:moveTo>
                <a:lnTo>
                  <a:pt x="2234198" y="0"/>
                </a:lnTo>
                <a:quadBezTo>
                  <a:pt x="2450592" y="0"/>
                  <a:pt x="2450592" y="216394"/>
                </a:quadBezTo>
                <a:lnTo>
                  <a:pt x="2450592" y="2325638"/>
                </a:lnTo>
                <a:quadBezTo>
                  <a:pt x="2450592" y="2542032"/>
                  <a:pt x="2234198" y="2542032"/>
                </a:quadBezTo>
                <a:lnTo>
                  <a:pt x="216394" y="2542032"/>
                </a:lnTo>
                <a:quadBezTo>
                  <a:pt x="0" y="2542032"/>
                  <a:pt x="0" y="2325638"/>
                </a:quadBezTo>
                <a:lnTo>
                  <a:pt x="0" y="216394"/>
                </a:lnTo>
                <a:quadBezTo>
                  <a:pt x="0" y="0"/>
                  <a:pt x="216394" y="0"/>
                </a:quadBezTo>
                <a:close/>
              </a:path>
            </a:pathLst>
          </a:custGeom>
          <a:solidFill>
            <a:srgbClr val="A2E5B9">
              <a:alpha val="0"/>
            </a:srgbClr>
          </a:solidFill>
          <a:ln w="19050">
            <a:solidFill>
              <a:srgbClr val="1859A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23632" y="1153595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512064" h="512064">
                <a:moveTo>
                  <a:pt x="256032" y="0"/>
                </a:moveTo>
                <a:moveTo>
                  <a:pt x="256032" y="0"/>
                </a:moveTo>
                <a:cubicBezTo>
                  <a:pt x="397340" y="0"/>
                  <a:pt x="512064" y="114724"/>
                  <a:pt x="512064" y="256032"/>
                </a:cubicBezTo>
                <a:cubicBezTo>
                  <a:pt x="512064" y="397340"/>
                  <a:pt x="397340" y="512064"/>
                  <a:pt x="256032" y="512064"/>
                </a:cubicBezTo>
                <a:cubicBezTo>
                  <a:pt x="114724" y="512064"/>
                  <a:pt x="0" y="397340"/>
                  <a:pt x="0" y="256032"/>
                </a:cubicBezTo>
                <a:cubicBezTo>
                  <a:pt x="0" y="114724"/>
                  <a:pt x="114724" y="0"/>
                  <a:pt x="256032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14" name="Text 11"/>
          <p:cNvSpPr/>
          <p:nvPr/>
        </p:nvSpPr>
        <p:spPr>
          <a:xfrm>
            <a:off x="3472790" y="1126163"/>
            <a:ext cx="813748" cy="5669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01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  <p:sp>
        <p:nvSpPr>
          <p:cNvPr id="15" name="Shape 12"/>
          <p:cNvSpPr/>
          <p:nvPr/>
        </p:nvSpPr>
        <p:spPr>
          <a:xfrm rot="-366000">
            <a:off x="6053547" y="1356868"/>
            <a:ext cx="2450592" cy="2542032"/>
          </a:xfrm>
          <a:custGeom>
            <a:avLst/>
            <a:gdLst/>
            <a:ahLst/>
            <a:cxnLst/>
            <a:rect l="l" t="t" r="r" b="b"/>
            <a:pathLst>
              <a:path w="2450592" h="2542032">
                <a:moveTo>
                  <a:pt x="216394" y="0"/>
                </a:moveTo>
                <a:moveTo>
                  <a:pt x="216394" y="0"/>
                </a:moveTo>
                <a:lnTo>
                  <a:pt x="2234198" y="0"/>
                </a:lnTo>
                <a:quadBezTo>
                  <a:pt x="2450592" y="0"/>
                  <a:pt x="2450592" y="216394"/>
                </a:quadBezTo>
                <a:lnTo>
                  <a:pt x="2450592" y="2325638"/>
                </a:lnTo>
                <a:quadBezTo>
                  <a:pt x="2450592" y="2542032"/>
                  <a:pt x="2234198" y="2542032"/>
                </a:quadBezTo>
                <a:lnTo>
                  <a:pt x="216394" y="2542032"/>
                </a:lnTo>
                <a:quadBezTo>
                  <a:pt x="0" y="2542032"/>
                  <a:pt x="0" y="2325638"/>
                </a:quadBezTo>
                <a:lnTo>
                  <a:pt x="0" y="216394"/>
                </a:lnTo>
                <a:quadBezTo>
                  <a:pt x="0" y="0"/>
                  <a:pt x="216394" y="0"/>
                </a:quadBezTo>
                <a:close/>
              </a:path>
            </a:pathLst>
          </a:custGeom>
          <a:solidFill>
            <a:srgbClr val="0084FF">
              <a:alpha val="0"/>
            </a:srgbClr>
          </a:solidFill>
          <a:ln w="19050">
            <a:solidFill>
              <a:srgbClr val="1859A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93184" y="1343207"/>
            <a:ext cx="2450592" cy="2542032"/>
          </a:xfrm>
          <a:custGeom>
            <a:avLst/>
            <a:gdLst/>
            <a:ahLst/>
            <a:cxnLst/>
            <a:rect l="l" t="t" r="r" b="b"/>
            <a:pathLst>
              <a:path w="2450592" h="2542032">
                <a:moveTo>
                  <a:pt x="216394" y="0"/>
                </a:moveTo>
                <a:moveTo>
                  <a:pt x="216394" y="0"/>
                </a:moveTo>
                <a:lnTo>
                  <a:pt x="2234198" y="0"/>
                </a:lnTo>
                <a:quadBezTo>
                  <a:pt x="2450592" y="0"/>
                  <a:pt x="2450592" y="216394"/>
                </a:quadBezTo>
                <a:lnTo>
                  <a:pt x="2450592" y="2325638"/>
                </a:lnTo>
                <a:quadBezTo>
                  <a:pt x="2450592" y="2542032"/>
                  <a:pt x="2234198" y="2542032"/>
                </a:quadBezTo>
                <a:lnTo>
                  <a:pt x="216394" y="2542032"/>
                </a:lnTo>
                <a:quadBezTo>
                  <a:pt x="0" y="2542032"/>
                  <a:pt x="0" y="2325638"/>
                </a:quadBezTo>
                <a:lnTo>
                  <a:pt x="0" y="216394"/>
                </a:lnTo>
                <a:quadBezTo>
                  <a:pt x="0" y="0"/>
                  <a:pt x="216394" y="0"/>
                </a:quadBezTo>
                <a:close/>
              </a:path>
            </a:pathLst>
          </a:custGeom>
          <a:solidFill>
            <a:srgbClr val="A2E5B9">
              <a:alpha val="0"/>
            </a:srgbClr>
          </a:solidFill>
          <a:ln w="19050">
            <a:solidFill>
              <a:srgbClr val="1859A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30475" y="1153595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512064" h="512064">
                <a:moveTo>
                  <a:pt x="256032" y="0"/>
                </a:moveTo>
                <a:moveTo>
                  <a:pt x="256032" y="0"/>
                </a:moveTo>
                <a:cubicBezTo>
                  <a:pt x="397340" y="0"/>
                  <a:pt x="512064" y="114724"/>
                  <a:pt x="512064" y="256032"/>
                </a:cubicBezTo>
                <a:cubicBezTo>
                  <a:pt x="512064" y="397340"/>
                  <a:pt x="397340" y="512064"/>
                  <a:pt x="256032" y="512064"/>
                </a:cubicBezTo>
                <a:cubicBezTo>
                  <a:pt x="114724" y="512064"/>
                  <a:pt x="0" y="397340"/>
                  <a:pt x="0" y="256032"/>
                </a:cubicBezTo>
                <a:cubicBezTo>
                  <a:pt x="0" y="114724"/>
                  <a:pt x="114724" y="0"/>
                  <a:pt x="256032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18" name="Text 15"/>
          <p:cNvSpPr/>
          <p:nvPr/>
        </p:nvSpPr>
        <p:spPr>
          <a:xfrm>
            <a:off x="6170489" y="1121591"/>
            <a:ext cx="813748" cy="5669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01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679498" y="1667126"/>
            <a:ext cx="2449397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强大的语言处理能力</a:t>
            </a:r>
            <a:endParaRPr lang="en-US" sz="1440" dirty="0"/>
          </a:p>
        </p:txBody>
      </p:sp>
      <p:sp>
        <p:nvSpPr>
          <p:cNvPr id="20" name="Text 17"/>
          <p:cNvSpPr/>
          <p:nvPr/>
        </p:nvSpPr>
        <p:spPr>
          <a:xfrm>
            <a:off x="807514" y="1988925"/>
            <a:ext cx="2194560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GPT系列模型以其卓越的自然语言处理能力著称，能够理解和生成接近人类水平的语言，广泛应用于文本分析、自动写作和语音识别等领域。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3386341" y="1667126"/>
            <a:ext cx="2449397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持续的学习能力</a:t>
            </a:r>
            <a:endParaRPr lang="en-US" sz="1440" dirty="0"/>
          </a:p>
        </p:txBody>
      </p:sp>
      <p:sp>
        <p:nvSpPr>
          <p:cNvPr id="22" name="Text 19"/>
          <p:cNvSpPr/>
          <p:nvPr/>
        </p:nvSpPr>
        <p:spPr>
          <a:xfrm>
            <a:off x="3514357" y="1988925"/>
            <a:ext cx="2194560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GPT系列通过深度学习技术，不断从大量数据中学习，优化其算法，使得模型在处理复杂问题时更加高效，展现出持续学习和适应新知识的能力。</a:t>
            </a:r>
            <a:endParaRPr lang="en-US" sz="1440" dirty="0"/>
          </a:p>
        </p:txBody>
      </p:sp>
      <p:sp>
        <p:nvSpPr>
          <p:cNvPr id="23" name="Text 20"/>
          <p:cNvSpPr/>
          <p:nvPr/>
        </p:nvSpPr>
        <p:spPr>
          <a:xfrm>
            <a:off x="6093184" y="1667126"/>
            <a:ext cx="2449397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广泛的应用场景</a:t>
            </a:r>
            <a:endParaRPr lang="en-US" sz="1440" dirty="0"/>
          </a:p>
        </p:txBody>
      </p:sp>
      <p:sp>
        <p:nvSpPr>
          <p:cNvPr id="24" name="Text 21"/>
          <p:cNvSpPr/>
          <p:nvPr/>
        </p:nvSpPr>
        <p:spPr>
          <a:xfrm>
            <a:off x="6221200" y="1988925"/>
            <a:ext cx="2194560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GPT系列不仅限于文本生成，还被应用于机器翻译、情感分析、问答系统等多种场景，证明了其在人工智能领域的广泛适用性和灵活性。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Claude功能拓展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12725" y="982154"/>
            <a:ext cx="4261104" cy="182880"/>
          </a:xfrm>
          <a:prstGeom prst="rect">
            <a:avLst/>
          </a:prstGeom>
        </p:spPr>
      </p:pic>
      <p:sp>
        <p:nvSpPr>
          <p:cNvPr id="8" name="Shape 4"/>
          <p:cNvSpPr/>
          <p:nvPr>
            <p:custDataLst>
              <p:tags r:id="rId3"/>
            </p:custDataLst>
          </p:nvPr>
        </p:nvSpPr>
        <p:spPr>
          <a:xfrm>
            <a:off x="1682112" y="1165609"/>
            <a:ext cx="0" cy="567089"/>
          </a:xfrm>
          <a:custGeom>
            <a:avLst/>
            <a:gdLst/>
            <a:ahLst/>
            <a:cxnLst/>
            <a:rect l="l" t="t" r="r" b="b"/>
            <a:pathLst>
              <a:path h="567089">
                <a:moveTo>
                  <a:pt x="0" y="0"/>
                </a:moveTo>
                <a:moveTo>
                  <a:pt x="0" y="0"/>
                </a:moveTo>
                <a:lnTo>
                  <a:pt x="0" y="567089"/>
                </a:lnTo>
              </a:path>
            </a:pathLst>
          </a:custGeom>
          <a:noFill/>
          <a:ln w="38100">
            <a:solidFill>
              <a:srgbClr val="1859AE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>
            <p:custDataLst>
              <p:tags r:id="rId4"/>
            </p:custDataLst>
          </p:nvPr>
        </p:nvSpPr>
        <p:spPr>
          <a:xfrm>
            <a:off x="303581" y="1930210"/>
            <a:ext cx="2756916" cy="2231136"/>
          </a:xfrm>
          <a:custGeom>
            <a:avLst/>
            <a:gdLst/>
            <a:ahLst/>
            <a:cxnLst/>
            <a:rect l="l" t="t" r="r" b="b"/>
            <a:pathLst>
              <a:path w="2756916" h="2231136">
                <a:moveTo>
                  <a:pt x="278892" y="0"/>
                </a:moveTo>
                <a:moveTo>
                  <a:pt x="278892" y="0"/>
                </a:moveTo>
                <a:lnTo>
                  <a:pt x="2478024" y="0"/>
                </a:lnTo>
                <a:quadBezTo>
                  <a:pt x="2756916" y="0"/>
                  <a:pt x="2756916" y="278892"/>
                </a:quadBezTo>
                <a:lnTo>
                  <a:pt x="2756916" y="1952244"/>
                </a:lnTo>
                <a:quadBezTo>
                  <a:pt x="2756916" y="2231136"/>
                  <a:pt x="2478024" y="2231136"/>
                </a:quadBezTo>
                <a:lnTo>
                  <a:pt x="278892" y="2231136"/>
                </a:lnTo>
                <a:quadBezTo>
                  <a:pt x="0" y="2231136"/>
                  <a:pt x="0" y="1952244"/>
                </a:quadBezTo>
                <a:lnTo>
                  <a:pt x="0" y="278892"/>
                </a:lnTo>
                <a:quadBezTo>
                  <a:pt x="0" y="0"/>
                  <a:pt x="278892" y="0"/>
                </a:quadBezTo>
                <a:close/>
              </a:path>
            </a:pathLst>
          </a:custGeom>
          <a:solidFill>
            <a:srgbClr val="A2E5B9">
              <a:alpha val="0"/>
            </a:srgbClr>
          </a:solidFill>
          <a:ln w="19050">
            <a:solidFill>
              <a:srgbClr val="1859A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84165" y="1648574"/>
            <a:ext cx="1595894" cy="395023"/>
          </a:xfrm>
          <a:prstGeom prst="rect">
            <a:avLst/>
          </a:prstGeom>
        </p:spPr>
      </p:pic>
      <p:sp>
        <p:nvSpPr>
          <p:cNvPr id="11" name="Text 6"/>
          <p:cNvSpPr/>
          <p:nvPr>
            <p:custDataLst>
              <p:tags r:id="rId7"/>
            </p:custDataLst>
          </p:nvPr>
        </p:nvSpPr>
        <p:spPr>
          <a:xfrm>
            <a:off x="1409546" y="1576338"/>
            <a:ext cx="545132" cy="539496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8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12" name="Text 7"/>
          <p:cNvSpPr/>
          <p:nvPr>
            <p:custDataLst>
              <p:tags r:id="rId8"/>
            </p:custDataLst>
          </p:nvPr>
        </p:nvSpPr>
        <p:spPr>
          <a:xfrm>
            <a:off x="466877" y="2115834"/>
            <a:ext cx="2430470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Claude的多语言支持</a:t>
            </a:r>
            <a:endParaRPr lang="en-US" sz="1440" dirty="0"/>
          </a:p>
        </p:txBody>
      </p:sp>
      <p:sp>
        <p:nvSpPr>
          <p:cNvPr id="13" name="Text 8"/>
          <p:cNvSpPr/>
          <p:nvPr>
            <p:custDataLst>
              <p:tags r:id="rId9"/>
            </p:custDataLst>
          </p:nvPr>
        </p:nvSpPr>
        <p:spPr>
          <a:xfrm>
            <a:off x="466877" y="2455328"/>
            <a:ext cx="2430470" cy="10241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Claude通过先进的自然语言处理技术，实现了对多种语言的支持，使用户能够跨越语言障碍，进行有效的沟通和信息获取。</a:t>
            </a:r>
            <a:endParaRPr lang="en-US" sz="1440" dirty="0"/>
          </a:p>
        </p:txBody>
      </p:sp>
      <p:sp>
        <p:nvSpPr>
          <p:cNvPr id="14" name="Shape 9"/>
          <p:cNvSpPr/>
          <p:nvPr>
            <p:custDataLst>
              <p:tags r:id="rId10"/>
            </p:custDataLst>
          </p:nvPr>
        </p:nvSpPr>
        <p:spPr>
          <a:xfrm>
            <a:off x="4572000" y="1165034"/>
            <a:ext cx="0" cy="286867"/>
          </a:xfrm>
          <a:custGeom>
            <a:avLst/>
            <a:gdLst/>
            <a:ahLst/>
            <a:cxnLst/>
            <a:rect l="l" t="t" r="r" b="b"/>
            <a:pathLst>
              <a:path h="286867">
                <a:moveTo>
                  <a:pt x="0" y="0"/>
                </a:moveTo>
                <a:moveTo>
                  <a:pt x="0" y="0"/>
                </a:moveTo>
                <a:lnTo>
                  <a:pt x="0" y="286867"/>
                </a:lnTo>
              </a:path>
            </a:pathLst>
          </a:custGeom>
          <a:noFill/>
          <a:ln w="38100">
            <a:solidFill>
              <a:srgbClr val="1859AE"/>
            </a:solidFill>
            <a:prstDash val="solid"/>
            <a:headEnd type="none"/>
            <a:tailEnd type="none"/>
          </a:ln>
        </p:spPr>
      </p:sp>
      <p:sp>
        <p:nvSpPr>
          <p:cNvPr id="15" name="Shape 10"/>
          <p:cNvSpPr/>
          <p:nvPr>
            <p:custDataLst>
              <p:tags r:id="rId11"/>
            </p:custDataLst>
          </p:nvPr>
        </p:nvSpPr>
        <p:spPr>
          <a:xfrm>
            <a:off x="3193369" y="1649412"/>
            <a:ext cx="2756916" cy="2231136"/>
          </a:xfrm>
          <a:custGeom>
            <a:avLst/>
            <a:gdLst/>
            <a:ahLst/>
            <a:cxnLst/>
            <a:rect l="l" t="t" r="r" b="b"/>
            <a:pathLst>
              <a:path w="2756916" h="2231136">
                <a:moveTo>
                  <a:pt x="278892" y="0"/>
                </a:moveTo>
                <a:moveTo>
                  <a:pt x="278892" y="0"/>
                </a:moveTo>
                <a:lnTo>
                  <a:pt x="2478024" y="0"/>
                </a:lnTo>
                <a:quadBezTo>
                  <a:pt x="2756916" y="0"/>
                  <a:pt x="2756916" y="278892"/>
                </a:quadBezTo>
                <a:lnTo>
                  <a:pt x="2756916" y="1952244"/>
                </a:lnTo>
                <a:quadBezTo>
                  <a:pt x="2756916" y="2231136"/>
                  <a:pt x="2478024" y="2231136"/>
                </a:quadBezTo>
                <a:lnTo>
                  <a:pt x="278892" y="2231136"/>
                </a:lnTo>
                <a:quadBezTo>
                  <a:pt x="0" y="2231136"/>
                  <a:pt x="0" y="1952244"/>
                </a:quadBezTo>
                <a:lnTo>
                  <a:pt x="0" y="278892"/>
                </a:lnTo>
                <a:quadBezTo>
                  <a:pt x="0" y="0"/>
                  <a:pt x="278892" y="0"/>
                </a:quadBezTo>
                <a:close/>
              </a:path>
            </a:pathLst>
          </a:custGeom>
          <a:solidFill>
            <a:srgbClr val="A2E5B9">
              <a:alpha val="0"/>
            </a:srgbClr>
          </a:solidFill>
          <a:ln w="19050">
            <a:solidFill>
              <a:srgbClr val="4586D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774053" y="1367777"/>
            <a:ext cx="1595894" cy="395023"/>
          </a:xfrm>
          <a:prstGeom prst="rect">
            <a:avLst/>
          </a:prstGeom>
        </p:spPr>
      </p:pic>
      <p:sp>
        <p:nvSpPr>
          <p:cNvPr id="17" name="Text 11"/>
          <p:cNvSpPr/>
          <p:nvPr>
            <p:custDataLst>
              <p:tags r:id="rId14"/>
            </p:custDataLst>
          </p:nvPr>
        </p:nvSpPr>
        <p:spPr>
          <a:xfrm>
            <a:off x="4299434" y="1295540"/>
            <a:ext cx="545132" cy="539496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8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  <p:sp>
        <p:nvSpPr>
          <p:cNvPr id="18" name="Text 12"/>
          <p:cNvSpPr/>
          <p:nvPr>
            <p:custDataLst>
              <p:tags r:id="rId15"/>
            </p:custDataLst>
          </p:nvPr>
        </p:nvSpPr>
        <p:spPr>
          <a:xfrm>
            <a:off x="3356765" y="1917649"/>
            <a:ext cx="2430470" cy="456565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Claude的实时翻译</a:t>
            </a:r>
            <a:endParaRPr lang="en-US" sz="1440" dirty="0"/>
          </a:p>
        </p:txBody>
      </p:sp>
      <p:sp>
        <p:nvSpPr>
          <p:cNvPr id="19" name="Text 13"/>
          <p:cNvSpPr/>
          <p:nvPr>
            <p:custDataLst>
              <p:tags r:id="rId16"/>
            </p:custDataLst>
          </p:nvPr>
        </p:nvSpPr>
        <p:spPr>
          <a:xfrm>
            <a:off x="3356765" y="2174531"/>
            <a:ext cx="2430470" cy="10241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Claude具备强大的实时翻译能力，能够在用户交流过程中即时将一种语言翻译成另一种语言，极大地提高了跨语言交流的效率。</a:t>
            </a:r>
            <a:endParaRPr lang="en-US" sz="1440" dirty="0"/>
          </a:p>
        </p:txBody>
      </p:sp>
      <p:sp>
        <p:nvSpPr>
          <p:cNvPr id="20" name="Shape 14"/>
          <p:cNvSpPr/>
          <p:nvPr>
            <p:custDataLst>
              <p:tags r:id="rId17"/>
            </p:custDataLst>
          </p:nvPr>
        </p:nvSpPr>
        <p:spPr>
          <a:xfrm>
            <a:off x="7461888" y="1165301"/>
            <a:ext cx="0" cy="567397"/>
          </a:xfrm>
          <a:custGeom>
            <a:avLst/>
            <a:gdLst/>
            <a:ahLst/>
            <a:cxnLst/>
            <a:rect l="l" t="t" r="r" b="b"/>
            <a:pathLst>
              <a:path h="567397">
                <a:moveTo>
                  <a:pt x="0" y="0"/>
                </a:moveTo>
                <a:moveTo>
                  <a:pt x="0" y="0"/>
                </a:moveTo>
                <a:lnTo>
                  <a:pt x="0" y="567397"/>
                </a:lnTo>
              </a:path>
            </a:pathLst>
          </a:custGeom>
          <a:noFill/>
          <a:ln w="38100">
            <a:solidFill>
              <a:srgbClr val="1859AE"/>
            </a:solidFill>
            <a:prstDash val="solid"/>
            <a:headEnd type="none"/>
            <a:tailEnd type="none"/>
          </a:ln>
        </p:spPr>
      </p:sp>
      <p:sp>
        <p:nvSpPr>
          <p:cNvPr id="21" name="Shape 15"/>
          <p:cNvSpPr/>
          <p:nvPr>
            <p:custDataLst>
              <p:tags r:id="rId18"/>
            </p:custDataLst>
          </p:nvPr>
        </p:nvSpPr>
        <p:spPr>
          <a:xfrm>
            <a:off x="6083503" y="1929754"/>
            <a:ext cx="2756916" cy="2231136"/>
          </a:xfrm>
          <a:custGeom>
            <a:avLst/>
            <a:gdLst/>
            <a:ahLst/>
            <a:cxnLst/>
            <a:rect l="l" t="t" r="r" b="b"/>
            <a:pathLst>
              <a:path w="2756916" h="2231136">
                <a:moveTo>
                  <a:pt x="278892" y="0"/>
                </a:moveTo>
                <a:moveTo>
                  <a:pt x="278892" y="0"/>
                </a:moveTo>
                <a:lnTo>
                  <a:pt x="2478024" y="0"/>
                </a:lnTo>
                <a:quadBezTo>
                  <a:pt x="2756916" y="0"/>
                  <a:pt x="2756916" y="278892"/>
                </a:quadBezTo>
                <a:lnTo>
                  <a:pt x="2756916" y="1952244"/>
                </a:lnTo>
                <a:quadBezTo>
                  <a:pt x="2756916" y="2231136"/>
                  <a:pt x="2478024" y="2231136"/>
                </a:quadBezTo>
                <a:lnTo>
                  <a:pt x="278892" y="2231136"/>
                </a:lnTo>
                <a:quadBezTo>
                  <a:pt x="0" y="2231136"/>
                  <a:pt x="0" y="1952244"/>
                </a:quadBezTo>
                <a:lnTo>
                  <a:pt x="0" y="278892"/>
                </a:lnTo>
                <a:quadBezTo>
                  <a:pt x="0" y="0"/>
                  <a:pt x="278892" y="0"/>
                </a:quadBezTo>
                <a:close/>
              </a:path>
            </a:pathLst>
          </a:custGeom>
          <a:solidFill>
            <a:srgbClr val="A2E5B9">
              <a:alpha val="0"/>
            </a:srgbClr>
          </a:solidFill>
          <a:ln w="19050">
            <a:solidFill>
              <a:srgbClr val="1859AE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63941" y="1648574"/>
            <a:ext cx="1595894" cy="395023"/>
          </a:xfrm>
          <a:prstGeom prst="rect">
            <a:avLst/>
          </a:prstGeom>
        </p:spPr>
      </p:pic>
      <p:sp>
        <p:nvSpPr>
          <p:cNvPr id="23" name="Text 16"/>
          <p:cNvSpPr/>
          <p:nvPr>
            <p:custDataLst>
              <p:tags r:id="rId20"/>
            </p:custDataLst>
          </p:nvPr>
        </p:nvSpPr>
        <p:spPr>
          <a:xfrm>
            <a:off x="7189322" y="1576338"/>
            <a:ext cx="545132" cy="539496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8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40" dirty="0"/>
          </a:p>
        </p:txBody>
      </p:sp>
      <p:sp>
        <p:nvSpPr>
          <p:cNvPr id="24" name="Text 17"/>
          <p:cNvSpPr/>
          <p:nvPr>
            <p:custDataLst>
              <p:tags r:id="rId21"/>
            </p:custDataLst>
          </p:nvPr>
        </p:nvSpPr>
        <p:spPr>
          <a:xfrm>
            <a:off x="6246653" y="2198448"/>
            <a:ext cx="2430470" cy="456565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Claude的语音识别</a:t>
            </a:r>
            <a:endParaRPr lang="en-US" sz="1440" dirty="0"/>
          </a:p>
        </p:txBody>
      </p:sp>
      <p:sp>
        <p:nvSpPr>
          <p:cNvPr id="25" name="Text 18"/>
          <p:cNvSpPr/>
          <p:nvPr>
            <p:custDataLst>
              <p:tags r:id="rId22"/>
            </p:custDataLst>
          </p:nvPr>
        </p:nvSpPr>
        <p:spPr>
          <a:xfrm>
            <a:off x="6246653" y="2455328"/>
            <a:ext cx="2430470" cy="10241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Claude不仅能够准确识别用户的语音指令，还能以自然流畅的语音进行反馈，为用户提供了便捷的语音交互体验。</a:t>
            </a:r>
            <a:endParaRPr lang="en-US" sz="144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23">
            <a:alphaModFix amt="50000"/>
          </a:blip>
          <a:stretch>
            <a:fillRect/>
          </a:stretch>
        </p:blipFill>
        <p:spPr>
          <a:xfrm>
            <a:off x="4572000" y="982154"/>
            <a:ext cx="4261104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58045" y="1664502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585216" h="585216">
                <a:moveTo>
                  <a:pt x="73152" y="0"/>
                </a:moveTo>
                <a:moveTo>
                  <a:pt x="73152" y="0"/>
                </a:moveTo>
                <a:lnTo>
                  <a:pt x="512064" y="0"/>
                </a:lnTo>
                <a:quadBezTo>
                  <a:pt x="585216" y="0"/>
                  <a:pt x="585216" y="73152"/>
                </a:quadBezTo>
                <a:lnTo>
                  <a:pt x="585216" y="512064"/>
                </a:lnTo>
                <a:quadBezTo>
                  <a:pt x="585216" y="585216"/>
                  <a:pt x="512064" y="585216"/>
                </a:quadBezTo>
                <a:lnTo>
                  <a:pt x="73152" y="585216"/>
                </a:lnTo>
                <a:quadBezTo>
                  <a:pt x="0" y="585216"/>
                  <a:pt x="0" y="512064"/>
                </a:quadBezTo>
                <a:lnTo>
                  <a:pt x="0" y="73152"/>
                </a:lnTo>
                <a:quadBezTo>
                  <a:pt x="0" y="0"/>
                  <a:pt x="73152" y="0"/>
                </a:quad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4" name="Text 1"/>
          <p:cNvSpPr/>
          <p:nvPr/>
        </p:nvSpPr>
        <p:spPr>
          <a:xfrm>
            <a:off x="830029" y="1682790"/>
            <a:ext cx="841248" cy="63309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865937" y="2437790"/>
            <a:ext cx="7518197" cy="69088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zh-CN" altLang="en-US" sz="288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</a:t>
            </a:r>
            <a:r>
              <a:rPr lang="zh-CN" altLang="en-US" sz="288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</a:t>
            </a:r>
            <a:endParaRPr lang="zh-CN" altLang="en-US" sz="2880" b="1" dirty="0">
              <a:solidFill>
                <a:srgbClr val="1859A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97176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7" name="Shape 4"/>
          <p:cNvSpPr/>
          <p:nvPr/>
        </p:nvSpPr>
        <p:spPr>
          <a:xfrm>
            <a:off x="1250653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8" name="Shape 5"/>
          <p:cNvSpPr/>
          <p:nvPr/>
        </p:nvSpPr>
        <p:spPr>
          <a:xfrm>
            <a:off x="1604131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pic>
        <p:nvPicPr>
          <p:cNvPr id="118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475" y="1384935"/>
            <a:ext cx="2559050" cy="2373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58045" y="1664502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585216" h="585216">
                <a:moveTo>
                  <a:pt x="73152" y="0"/>
                </a:moveTo>
                <a:moveTo>
                  <a:pt x="73152" y="0"/>
                </a:moveTo>
                <a:lnTo>
                  <a:pt x="512064" y="0"/>
                </a:lnTo>
                <a:quadBezTo>
                  <a:pt x="585216" y="0"/>
                  <a:pt x="585216" y="73152"/>
                </a:quadBezTo>
                <a:lnTo>
                  <a:pt x="585216" y="512064"/>
                </a:lnTo>
                <a:quadBezTo>
                  <a:pt x="585216" y="585216"/>
                  <a:pt x="512064" y="585216"/>
                </a:quadBezTo>
                <a:lnTo>
                  <a:pt x="73152" y="585216"/>
                </a:lnTo>
                <a:quadBezTo>
                  <a:pt x="0" y="585216"/>
                  <a:pt x="0" y="512064"/>
                </a:quadBezTo>
                <a:lnTo>
                  <a:pt x="0" y="73152"/>
                </a:lnTo>
                <a:quadBezTo>
                  <a:pt x="0" y="0"/>
                  <a:pt x="73152" y="0"/>
                </a:quad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4" name="Text 1"/>
          <p:cNvSpPr/>
          <p:nvPr/>
        </p:nvSpPr>
        <p:spPr>
          <a:xfrm>
            <a:off x="830029" y="1682790"/>
            <a:ext cx="841248" cy="5486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865937" y="2437790"/>
            <a:ext cx="7518197" cy="73152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国产大模型展示</a:t>
            </a:r>
            <a:endParaRPr lang="en-US" sz="1440" dirty="0"/>
          </a:p>
        </p:txBody>
      </p:sp>
      <p:sp>
        <p:nvSpPr>
          <p:cNvPr id="6" name="Shape 3"/>
          <p:cNvSpPr/>
          <p:nvPr/>
        </p:nvSpPr>
        <p:spPr>
          <a:xfrm>
            <a:off x="897176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7" name="Shape 4"/>
          <p:cNvSpPr/>
          <p:nvPr/>
        </p:nvSpPr>
        <p:spPr>
          <a:xfrm>
            <a:off x="1250653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8" name="Shape 5"/>
          <p:cNvSpPr/>
          <p:nvPr/>
        </p:nvSpPr>
        <p:spPr>
          <a:xfrm>
            <a:off x="1604131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607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文心一言等特色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Shape 4"/>
          <p:cNvSpPr/>
          <p:nvPr/>
        </p:nvSpPr>
        <p:spPr>
          <a:xfrm>
            <a:off x="5510252" y="2264253"/>
            <a:ext cx="2689524" cy="445315"/>
          </a:xfrm>
          <a:custGeom>
            <a:avLst/>
            <a:gdLst/>
            <a:ahLst/>
            <a:cxnLst/>
            <a:rect l="l" t="t" r="r" b="b"/>
            <a:pathLst>
              <a:path w="2689524" h="445315">
                <a:moveTo>
                  <a:pt x="0" y="0"/>
                </a:moveTo>
                <a:moveTo>
                  <a:pt x="0" y="0"/>
                </a:moveTo>
                <a:lnTo>
                  <a:pt x="2689524" y="0"/>
                </a:lnTo>
                <a:lnTo>
                  <a:pt x="2689524" y="445315"/>
                </a:lnTo>
                <a:lnTo>
                  <a:pt x="0" y="445315"/>
                </a:lnTo>
                <a:close/>
              </a:path>
            </a:pathLst>
          </a:custGeom>
          <a:solidFill>
            <a:srgbClr val="4586DB"/>
          </a:solidFill>
        </p:spPr>
      </p:sp>
      <p:sp>
        <p:nvSpPr>
          <p:cNvPr id="8" name="Shape 5"/>
          <p:cNvSpPr/>
          <p:nvPr/>
        </p:nvSpPr>
        <p:spPr>
          <a:xfrm rot="-8100000">
            <a:off x="7748355" y="205544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moveTo>
                  <a:pt x="0" y="0"/>
                </a:moveTo>
                <a:lnTo>
                  <a:pt x="0" y="731520"/>
                </a:lnTo>
                <a:lnTo>
                  <a:pt x="731520" y="731520"/>
                </a:lnTo>
                <a:close/>
              </a:path>
            </a:pathLst>
          </a:custGeom>
          <a:solidFill>
            <a:srgbClr val="4586DB"/>
          </a:solidFill>
        </p:spPr>
      </p:sp>
      <p:sp>
        <p:nvSpPr>
          <p:cNvPr id="9" name="Shape 6"/>
          <p:cNvSpPr/>
          <p:nvPr/>
        </p:nvSpPr>
        <p:spPr>
          <a:xfrm>
            <a:off x="512622" y="1319563"/>
            <a:ext cx="7687154" cy="576734"/>
          </a:xfrm>
          <a:custGeom>
            <a:avLst/>
            <a:gdLst/>
            <a:ahLst/>
            <a:cxnLst/>
            <a:rect l="l" t="t" r="r" b="b"/>
            <a:pathLst>
              <a:path w="7687154" h="576734">
                <a:moveTo>
                  <a:pt x="0" y="0"/>
                </a:moveTo>
                <a:moveTo>
                  <a:pt x="0" y="0"/>
                </a:moveTo>
                <a:lnTo>
                  <a:pt x="7687154" y="0"/>
                </a:lnTo>
                <a:lnTo>
                  <a:pt x="7687154" y="576734"/>
                </a:lnTo>
                <a:lnTo>
                  <a:pt x="0" y="576734"/>
                </a:lnTo>
                <a:close/>
              </a:path>
            </a:pathLst>
          </a:custGeom>
          <a:solidFill>
            <a:srgbClr val="4586DB"/>
          </a:solidFill>
        </p:spPr>
      </p:sp>
      <p:sp>
        <p:nvSpPr>
          <p:cNvPr id="10" name="Shape 7"/>
          <p:cNvSpPr/>
          <p:nvPr/>
        </p:nvSpPr>
        <p:spPr>
          <a:xfrm rot="-8100000">
            <a:off x="7739211" y="124217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moveTo>
                  <a:pt x="0" y="0"/>
                </a:moveTo>
                <a:lnTo>
                  <a:pt x="0" y="731520"/>
                </a:lnTo>
                <a:lnTo>
                  <a:pt x="731520" y="731520"/>
                </a:lnTo>
                <a:close/>
              </a:path>
            </a:pathLst>
          </a:custGeom>
          <a:solidFill>
            <a:srgbClr val="4586DB"/>
          </a:solidFill>
        </p:spPr>
      </p:sp>
      <p:sp>
        <p:nvSpPr>
          <p:cNvPr id="11" name="Shape 8"/>
          <p:cNvSpPr/>
          <p:nvPr/>
        </p:nvSpPr>
        <p:spPr>
          <a:xfrm rot="-8100000">
            <a:off x="7730067" y="1610126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moveTo>
                  <a:pt x="0" y="0"/>
                </a:moveTo>
                <a:lnTo>
                  <a:pt x="0" y="731520"/>
                </a:lnTo>
                <a:lnTo>
                  <a:pt x="731520" y="731520"/>
                </a:lnTo>
                <a:close/>
              </a:path>
            </a:pathLst>
          </a:custGeom>
          <a:solidFill>
            <a:srgbClr val="1859AE"/>
          </a:solidFill>
        </p:spPr>
      </p:sp>
      <p:sp>
        <p:nvSpPr>
          <p:cNvPr id="12" name="Shape 9"/>
          <p:cNvSpPr/>
          <p:nvPr/>
        </p:nvSpPr>
        <p:spPr>
          <a:xfrm>
            <a:off x="521766" y="1903939"/>
            <a:ext cx="2511105" cy="1682799"/>
          </a:xfrm>
          <a:custGeom>
            <a:avLst/>
            <a:gdLst/>
            <a:ahLst/>
            <a:cxnLst/>
            <a:rect l="l" t="t" r="r" b="b"/>
            <a:pathLst>
              <a:path w="2511105" h="1682799">
                <a:moveTo>
                  <a:pt x="0" y="0"/>
                </a:moveTo>
                <a:moveTo>
                  <a:pt x="0" y="0"/>
                </a:moveTo>
                <a:lnTo>
                  <a:pt x="2511105" y="0"/>
                </a:lnTo>
                <a:lnTo>
                  <a:pt x="2511105" y="1682799"/>
                </a:lnTo>
                <a:lnTo>
                  <a:pt x="0" y="1682799"/>
                </a:lnTo>
                <a:close/>
              </a:path>
            </a:pathLst>
          </a:custGeom>
          <a:solidFill>
            <a:srgbClr val="A2E5B9">
              <a:alpha val="0"/>
            </a:srgbClr>
          </a:solidFill>
          <a:ln w="19050">
            <a:solidFill>
              <a:srgbClr val="4586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30749" y="2264253"/>
            <a:ext cx="2488647" cy="1682799"/>
          </a:xfrm>
          <a:custGeom>
            <a:avLst/>
            <a:gdLst/>
            <a:ahLst/>
            <a:cxnLst/>
            <a:rect l="l" t="t" r="r" b="b"/>
            <a:pathLst>
              <a:path w="2488647" h="1682799">
                <a:moveTo>
                  <a:pt x="0" y="0"/>
                </a:moveTo>
                <a:moveTo>
                  <a:pt x="0" y="0"/>
                </a:moveTo>
                <a:lnTo>
                  <a:pt x="2488647" y="0"/>
                </a:lnTo>
                <a:lnTo>
                  <a:pt x="2488647" y="1682799"/>
                </a:lnTo>
                <a:lnTo>
                  <a:pt x="0" y="1682799"/>
                </a:lnTo>
                <a:close/>
              </a:path>
            </a:pathLst>
          </a:custGeom>
          <a:solidFill>
            <a:srgbClr val="A2E5B9">
              <a:alpha val="0"/>
            </a:srgbClr>
          </a:solidFill>
          <a:ln w="19050">
            <a:solidFill>
              <a:srgbClr val="1859A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19396" y="2709569"/>
            <a:ext cx="2591353" cy="1682799"/>
          </a:xfrm>
          <a:custGeom>
            <a:avLst/>
            <a:gdLst/>
            <a:ahLst/>
            <a:cxnLst/>
            <a:rect l="l" t="t" r="r" b="b"/>
            <a:pathLst>
              <a:path w="2591353" h="1682799">
                <a:moveTo>
                  <a:pt x="0" y="0"/>
                </a:moveTo>
                <a:moveTo>
                  <a:pt x="0" y="0"/>
                </a:moveTo>
                <a:lnTo>
                  <a:pt x="2591353" y="0"/>
                </a:lnTo>
                <a:lnTo>
                  <a:pt x="2591353" y="1682799"/>
                </a:lnTo>
                <a:lnTo>
                  <a:pt x="0" y="1682799"/>
                </a:lnTo>
                <a:close/>
              </a:path>
            </a:pathLst>
          </a:custGeom>
          <a:solidFill>
            <a:srgbClr val="A2E5B9">
              <a:alpha val="0"/>
            </a:srgbClr>
          </a:solidFill>
          <a:ln w="19050">
            <a:solidFill>
              <a:srgbClr val="4586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2401" y="1406762"/>
            <a:ext cx="2430470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文心一言的开放服务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512622" y="1864695"/>
            <a:ext cx="2501961" cy="120700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1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文心一言于2023年8月31日向全社会全面开放，提供APP、网页版、API接口等多种形式的开放服务，满足不同用户的需求。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3017435" y="2264253"/>
            <a:ext cx="2501961" cy="14630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1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文心一言采用有监督精调、人类反馈的强化学习、提示等技术，具备知识增强、检索增强和对话增强等关键技术，使其在性能上逐步赶超国外最优水平。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5510252" y="2307233"/>
            <a:ext cx="2430470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文心一言的训练与优化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5519396" y="2709569"/>
            <a:ext cx="2501961" cy="14630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1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文心一言基于飞桨深度学习框架进行训练，通过算法与框架的协同优化，模型训练速度达到优化前的3倍，推理速度达到优化前的30多倍。</a:t>
            </a:r>
            <a:endParaRPr lang="en-US" sz="1440" dirty="0"/>
          </a:p>
        </p:txBody>
      </p:sp>
      <p:sp>
        <p:nvSpPr>
          <p:cNvPr id="20" name="Shape 17"/>
          <p:cNvSpPr/>
          <p:nvPr/>
        </p:nvSpPr>
        <p:spPr>
          <a:xfrm>
            <a:off x="3023727" y="1687519"/>
            <a:ext cx="5176049" cy="576734"/>
          </a:xfrm>
          <a:custGeom>
            <a:avLst/>
            <a:gdLst/>
            <a:ahLst/>
            <a:cxnLst/>
            <a:rect l="l" t="t" r="r" b="b"/>
            <a:pathLst>
              <a:path w="5176049" h="576734">
                <a:moveTo>
                  <a:pt x="0" y="0"/>
                </a:moveTo>
                <a:moveTo>
                  <a:pt x="0" y="0"/>
                </a:moveTo>
                <a:lnTo>
                  <a:pt x="5176049" y="0"/>
                </a:lnTo>
                <a:lnTo>
                  <a:pt x="5176049" y="576734"/>
                </a:lnTo>
                <a:lnTo>
                  <a:pt x="0" y="576734"/>
                </a:lnTo>
                <a:close/>
              </a:path>
            </a:pathLst>
          </a:custGeom>
          <a:solidFill>
            <a:srgbClr val="1859AE"/>
          </a:solidFill>
        </p:spPr>
      </p:sp>
      <p:sp>
        <p:nvSpPr>
          <p:cNvPr id="21" name="Text 18"/>
          <p:cNvSpPr/>
          <p:nvPr/>
        </p:nvSpPr>
        <p:spPr>
          <a:xfrm>
            <a:off x="3014583" y="1774718"/>
            <a:ext cx="2430470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文心一言的技术优势</a:t>
            </a:r>
            <a:endParaRPr lang="en-US" sz="14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DeepSeek技术突破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640994" y="1792041"/>
            <a:ext cx="2487168" cy="2332625"/>
          </a:xfrm>
          <a:custGeom>
            <a:avLst/>
            <a:gdLst/>
            <a:ahLst/>
            <a:cxnLst/>
            <a:rect l="l" t="t" r="r" b="b"/>
            <a:pathLst>
              <a:path w="2487168" h="2332625">
                <a:moveTo>
                  <a:pt x="260604" y="0"/>
                </a:moveTo>
                <a:moveTo>
                  <a:pt x="260604" y="0"/>
                </a:moveTo>
                <a:lnTo>
                  <a:pt x="2226564" y="0"/>
                </a:lnTo>
                <a:quadBezTo>
                  <a:pt x="2487168" y="0"/>
                  <a:pt x="2487168" y="291578"/>
                </a:quadBezTo>
                <a:lnTo>
                  <a:pt x="2487168" y="2041047"/>
                </a:lnTo>
                <a:quadBezTo>
                  <a:pt x="2487168" y="2332625"/>
                  <a:pt x="2226564" y="2332625"/>
                </a:quadBezTo>
                <a:lnTo>
                  <a:pt x="260604" y="2332625"/>
                </a:lnTo>
                <a:quadBezTo>
                  <a:pt x="0" y="2332625"/>
                  <a:pt x="0" y="2041047"/>
                </a:quadBezTo>
                <a:lnTo>
                  <a:pt x="0" y="291578"/>
                </a:lnTo>
                <a:quadBezTo>
                  <a:pt x="0" y="0"/>
                  <a:pt x="260604" y="0"/>
                </a:quadBezTo>
                <a:close/>
              </a:path>
            </a:pathLst>
          </a:custGeom>
          <a:solidFill>
            <a:srgbClr val="1859AE">
              <a:alpha val="10000"/>
            </a:srgbClr>
          </a:solidFill>
        </p:spPr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1066906" y="1534826"/>
            <a:ext cx="530506" cy="257215"/>
          </a:xfrm>
          <a:custGeom>
            <a:avLst/>
            <a:gdLst/>
            <a:ahLst/>
            <a:cxnLst/>
            <a:rect l="l" t="t" r="r" b="b"/>
            <a:pathLst>
              <a:path w="530506" h="257215">
                <a:moveTo>
                  <a:pt x="265253" y="0"/>
                </a:moveTo>
                <a:moveTo>
                  <a:pt x="265253" y="0"/>
                </a:moveTo>
                <a:lnTo>
                  <a:pt x="0" y="257215"/>
                </a:lnTo>
                <a:lnTo>
                  <a:pt x="530506" y="257215"/>
                </a:lnTo>
                <a:close/>
              </a:path>
            </a:pathLst>
          </a:custGeom>
          <a:solidFill>
            <a:srgbClr val="1859AE">
              <a:alpha val="10000"/>
            </a:srgbClr>
          </a:solidFill>
        </p:spPr>
      </p:sp>
      <p:sp>
        <p:nvSpPr>
          <p:cNvPr id="9" name="Shape 6"/>
          <p:cNvSpPr/>
          <p:nvPr>
            <p:custDataLst>
              <p:tags r:id="rId4"/>
            </p:custDataLst>
          </p:nvPr>
        </p:nvSpPr>
        <p:spPr>
          <a:xfrm>
            <a:off x="640994" y="1018720"/>
            <a:ext cx="426013" cy="426013"/>
          </a:xfrm>
          <a:custGeom>
            <a:avLst/>
            <a:gdLst/>
            <a:ahLst/>
            <a:cxnLst/>
            <a:rect l="l" t="t" r="r" b="b"/>
            <a:pathLst>
              <a:path w="426013" h="426013">
                <a:moveTo>
                  <a:pt x="213006" y="0"/>
                </a:moveTo>
                <a:moveTo>
                  <a:pt x="213006" y="0"/>
                </a:moveTo>
                <a:cubicBezTo>
                  <a:pt x="330568" y="0"/>
                  <a:pt x="426013" y="95445"/>
                  <a:pt x="426013" y="213006"/>
                </a:cubicBezTo>
                <a:cubicBezTo>
                  <a:pt x="426013" y="330568"/>
                  <a:pt x="330568" y="426013"/>
                  <a:pt x="213006" y="426013"/>
                </a:cubicBezTo>
                <a:cubicBezTo>
                  <a:pt x="95445" y="426013"/>
                  <a:pt x="0" y="330568"/>
                  <a:pt x="0" y="213006"/>
                </a:cubicBezTo>
                <a:cubicBezTo>
                  <a:pt x="0" y="95445"/>
                  <a:pt x="95445" y="0"/>
                  <a:pt x="21300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1589475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arrow"/>
          </a:ln>
        </p:spPr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686714" y="1938345"/>
            <a:ext cx="2395728" cy="4565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低成本高效率</a:t>
            </a:r>
            <a:endParaRPr lang="en-US" sz="1440" dirty="0"/>
          </a:p>
        </p:txBody>
      </p:sp>
      <p:sp>
        <p:nvSpPr>
          <p:cNvPr id="12" name="Shape 9"/>
          <p:cNvSpPr/>
          <p:nvPr>
            <p:custDataLst>
              <p:tags r:id="rId7"/>
            </p:custDataLst>
          </p:nvPr>
        </p:nvSpPr>
        <p:spPr>
          <a:xfrm>
            <a:off x="3339389" y="1792041"/>
            <a:ext cx="2487168" cy="2332625"/>
          </a:xfrm>
          <a:custGeom>
            <a:avLst/>
            <a:gdLst/>
            <a:ahLst/>
            <a:cxnLst/>
            <a:rect l="l" t="t" r="r" b="b"/>
            <a:pathLst>
              <a:path w="2487168" h="2332625">
                <a:moveTo>
                  <a:pt x="260604" y="0"/>
                </a:moveTo>
                <a:moveTo>
                  <a:pt x="260604" y="0"/>
                </a:moveTo>
                <a:lnTo>
                  <a:pt x="2226564" y="0"/>
                </a:lnTo>
                <a:quadBezTo>
                  <a:pt x="2487168" y="0"/>
                  <a:pt x="2487168" y="291578"/>
                </a:quadBezTo>
                <a:lnTo>
                  <a:pt x="2487168" y="2041047"/>
                </a:lnTo>
                <a:quadBezTo>
                  <a:pt x="2487168" y="2332625"/>
                  <a:pt x="2226564" y="2332625"/>
                </a:quadBezTo>
                <a:lnTo>
                  <a:pt x="260604" y="2332625"/>
                </a:lnTo>
                <a:quadBezTo>
                  <a:pt x="0" y="2332625"/>
                  <a:pt x="0" y="2041047"/>
                </a:quadBezTo>
                <a:lnTo>
                  <a:pt x="0" y="291578"/>
                </a:lnTo>
                <a:quadBezTo>
                  <a:pt x="0" y="0"/>
                  <a:pt x="260604" y="0"/>
                </a:quadBezTo>
                <a:close/>
              </a:path>
            </a:pathLst>
          </a:custGeom>
          <a:solidFill>
            <a:srgbClr val="1859AE">
              <a:alpha val="10000"/>
            </a:srgbClr>
          </a:solidFill>
        </p:spPr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6015838" y="1792155"/>
            <a:ext cx="2487168" cy="2332625"/>
          </a:xfrm>
          <a:custGeom>
            <a:avLst/>
            <a:gdLst/>
            <a:ahLst/>
            <a:cxnLst/>
            <a:rect l="l" t="t" r="r" b="b"/>
            <a:pathLst>
              <a:path w="2487168" h="2332625">
                <a:moveTo>
                  <a:pt x="260604" y="0"/>
                </a:moveTo>
                <a:moveTo>
                  <a:pt x="260604" y="0"/>
                </a:moveTo>
                <a:lnTo>
                  <a:pt x="2226564" y="0"/>
                </a:lnTo>
                <a:quadBezTo>
                  <a:pt x="2487168" y="0"/>
                  <a:pt x="2487168" y="291578"/>
                </a:quadBezTo>
                <a:lnTo>
                  <a:pt x="2487168" y="2041047"/>
                </a:lnTo>
                <a:quadBezTo>
                  <a:pt x="2487168" y="2332625"/>
                  <a:pt x="2226564" y="2332625"/>
                </a:quadBezTo>
                <a:lnTo>
                  <a:pt x="260604" y="2332625"/>
                </a:lnTo>
                <a:quadBezTo>
                  <a:pt x="0" y="2332625"/>
                  <a:pt x="0" y="2041047"/>
                </a:quadBezTo>
                <a:lnTo>
                  <a:pt x="0" y="291578"/>
                </a:lnTo>
                <a:quadBezTo>
                  <a:pt x="0" y="0"/>
                  <a:pt x="260604" y="0"/>
                </a:quadBezTo>
                <a:close/>
              </a:path>
            </a:pathLst>
          </a:custGeom>
          <a:solidFill>
            <a:srgbClr val="1859AE">
              <a:alpha val="10000"/>
            </a:srgbClr>
          </a:solidFill>
        </p:spPr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750722" y="2340681"/>
            <a:ext cx="2267712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DeepSeek在缺乏顶级芯片支持的情况下，以极低成本硬件训练出颠覆性模型，其训练成本仅为600万美元，约为GPT-4o的20分之一。</a:t>
            </a:r>
            <a:endParaRPr lang="en-US" sz="144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3385109" y="1938345"/>
            <a:ext cx="2395728" cy="4565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强大</a:t>
            </a:r>
            <a:r>
              <a:rPr lang="zh-CN" alt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的推理</a:t>
            </a: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</a:t>
            </a:r>
            <a:endParaRPr lang="en-US" sz="1440" dirty="0"/>
          </a:p>
        </p:txBody>
      </p:sp>
      <p:sp>
        <p:nvSpPr>
          <p:cNvPr id="16" name="Text 13"/>
          <p:cNvSpPr/>
          <p:nvPr>
            <p:custDataLst>
              <p:tags r:id="rId11"/>
            </p:custDataLst>
          </p:nvPr>
        </p:nvSpPr>
        <p:spPr>
          <a:xfrm>
            <a:off x="6061558" y="1938345"/>
            <a:ext cx="2395728" cy="4565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开源模型创新举措</a:t>
            </a:r>
            <a:endParaRPr lang="en-US" sz="1440" dirty="0"/>
          </a:p>
        </p:txBody>
      </p:sp>
      <p:sp>
        <p:nvSpPr>
          <p:cNvPr id="17" name="Text 14"/>
          <p:cNvSpPr/>
          <p:nvPr>
            <p:custDataLst>
              <p:tags r:id="rId12"/>
            </p:custDataLst>
          </p:nvPr>
        </p:nvSpPr>
        <p:spPr>
          <a:xfrm>
            <a:off x="3449117" y="2340681"/>
            <a:ext cx="2267712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DeepSeek R1在数学代码及自然语言推理等任务上的性能与OpenAI最新的OE正式版相媲美，甚至在某些方面如数学推理领域遥遥领先。</a:t>
            </a:r>
            <a:endParaRPr lang="en-US" sz="1440" dirty="0"/>
          </a:p>
        </p:txBody>
      </p:sp>
      <p:sp>
        <p:nvSpPr>
          <p:cNvPr id="18" name="Text 15"/>
          <p:cNvSpPr/>
          <p:nvPr>
            <p:custDataLst>
              <p:tags r:id="rId13"/>
            </p:custDataLst>
          </p:nvPr>
        </p:nvSpPr>
        <p:spPr>
          <a:xfrm>
            <a:off x="6125566" y="2340681"/>
            <a:ext cx="2267712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DeepSeek首次开源了模型权重，并允许用户通过蒸馏技术训练自己的模型，这一举措震惊了硅谷，为全球AI技术普及开启了新的篇章。</a:t>
            </a:r>
            <a:endParaRPr lang="en-US" sz="1440" dirty="0"/>
          </a:p>
        </p:txBody>
      </p:sp>
      <p:sp>
        <p:nvSpPr>
          <p:cNvPr id="19" name="Text 16"/>
          <p:cNvSpPr/>
          <p:nvPr>
            <p:custDataLst>
              <p:tags r:id="rId14"/>
            </p:custDataLst>
          </p:nvPr>
        </p:nvSpPr>
        <p:spPr>
          <a:xfrm>
            <a:off x="640994" y="1048069"/>
            <a:ext cx="679728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20" name="Shape 17"/>
          <p:cNvSpPr/>
          <p:nvPr>
            <p:custDataLst>
              <p:tags r:id="rId15"/>
            </p:custDataLst>
          </p:nvPr>
        </p:nvSpPr>
        <p:spPr>
          <a:xfrm>
            <a:off x="3339835" y="1018720"/>
            <a:ext cx="426013" cy="426013"/>
          </a:xfrm>
          <a:custGeom>
            <a:avLst/>
            <a:gdLst/>
            <a:ahLst/>
            <a:cxnLst/>
            <a:rect l="l" t="t" r="r" b="b"/>
            <a:pathLst>
              <a:path w="426013" h="426013">
                <a:moveTo>
                  <a:pt x="213006" y="0"/>
                </a:moveTo>
                <a:moveTo>
                  <a:pt x="213006" y="0"/>
                </a:moveTo>
                <a:cubicBezTo>
                  <a:pt x="330568" y="0"/>
                  <a:pt x="426013" y="95445"/>
                  <a:pt x="426013" y="213006"/>
                </a:cubicBezTo>
                <a:cubicBezTo>
                  <a:pt x="426013" y="330568"/>
                  <a:pt x="330568" y="426013"/>
                  <a:pt x="213006" y="426013"/>
                </a:cubicBezTo>
                <a:cubicBezTo>
                  <a:pt x="95445" y="426013"/>
                  <a:pt x="0" y="330568"/>
                  <a:pt x="0" y="213006"/>
                </a:cubicBezTo>
                <a:cubicBezTo>
                  <a:pt x="0" y="95445"/>
                  <a:pt x="95445" y="0"/>
                  <a:pt x="21300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21" name="Text 18"/>
          <p:cNvSpPr/>
          <p:nvPr>
            <p:custDataLst>
              <p:tags r:id="rId16"/>
            </p:custDataLst>
          </p:nvPr>
        </p:nvSpPr>
        <p:spPr>
          <a:xfrm>
            <a:off x="3349080" y="1048069"/>
            <a:ext cx="709960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  <p:sp>
        <p:nvSpPr>
          <p:cNvPr id="22" name="Shape 19"/>
          <p:cNvSpPr/>
          <p:nvPr>
            <p:custDataLst>
              <p:tags r:id="rId17"/>
            </p:custDataLst>
          </p:nvPr>
        </p:nvSpPr>
        <p:spPr>
          <a:xfrm>
            <a:off x="6015819" y="1018720"/>
            <a:ext cx="426013" cy="426013"/>
          </a:xfrm>
          <a:custGeom>
            <a:avLst/>
            <a:gdLst/>
            <a:ahLst/>
            <a:cxnLst/>
            <a:rect l="l" t="t" r="r" b="b"/>
            <a:pathLst>
              <a:path w="426013" h="426013">
                <a:moveTo>
                  <a:pt x="213006" y="0"/>
                </a:moveTo>
                <a:moveTo>
                  <a:pt x="213006" y="0"/>
                </a:moveTo>
                <a:cubicBezTo>
                  <a:pt x="330568" y="0"/>
                  <a:pt x="426013" y="95445"/>
                  <a:pt x="426013" y="213006"/>
                </a:cubicBezTo>
                <a:cubicBezTo>
                  <a:pt x="426013" y="330568"/>
                  <a:pt x="330568" y="426013"/>
                  <a:pt x="213006" y="426013"/>
                </a:cubicBezTo>
                <a:cubicBezTo>
                  <a:pt x="95445" y="426013"/>
                  <a:pt x="0" y="330568"/>
                  <a:pt x="0" y="213006"/>
                </a:cubicBezTo>
                <a:cubicBezTo>
                  <a:pt x="0" y="95445"/>
                  <a:pt x="95445" y="0"/>
                  <a:pt x="21300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23" name="Text 20"/>
          <p:cNvSpPr/>
          <p:nvPr>
            <p:custDataLst>
              <p:tags r:id="rId18"/>
            </p:custDataLst>
          </p:nvPr>
        </p:nvSpPr>
        <p:spPr>
          <a:xfrm>
            <a:off x="6016304" y="1048069"/>
            <a:ext cx="7236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40" dirty="0"/>
          </a:p>
        </p:txBody>
      </p:sp>
      <p:sp>
        <p:nvSpPr>
          <p:cNvPr id="24" name="Shape 21"/>
          <p:cNvSpPr/>
          <p:nvPr>
            <p:custDataLst>
              <p:tags r:id="rId19"/>
            </p:custDataLst>
          </p:nvPr>
        </p:nvSpPr>
        <p:spPr>
          <a:xfrm>
            <a:off x="4228093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arrow"/>
          </a:ln>
        </p:spPr>
      </p:sp>
      <p:sp>
        <p:nvSpPr>
          <p:cNvPr id="25" name="Shape 22"/>
          <p:cNvSpPr/>
          <p:nvPr>
            <p:custDataLst>
              <p:tags r:id="rId20"/>
            </p:custDataLst>
          </p:nvPr>
        </p:nvSpPr>
        <p:spPr>
          <a:xfrm>
            <a:off x="6913035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arrow"/>
          </a:ln>
        </p:spPr>
      </p:sp>
      <p:sp>
        <p:nvSpPr>
          <p:cNvPr id="26" name="Shape 23"/>
          <p:cNvSpPr/>
          <p:nvPr>
            <p:custDataLst>
              <p:tags r:id="rId21"/>
            </p:custDataLst>
          </p:nvPr>
        </p:nvSpPr>
        <p:spPr>
          <a:xfrm>
            <a:off x="3765747" y="1534826"/>
            <a:ext cx="530506" cy="257215"/>
          </a:xfrm>
          <a:custGeom>
            <a:avLst/>
            <a:gdLst/>
            <a:ahLst/>
            <a:cxnLst/>
            <a:rect l="l" t="t" r="r" b="b"/>
            <a:pathLst>
              <a:path w="530506" h="257215">
                <a:moveTo>
                  <a:pt x="265253" y="0"/>
                </a:moveTo>
                <a:moveTo>
                  <a:pt x="265253" y="0"/>
                </a:moveTo>
                <a:lnTo>
                  <a:pt x="0" y="257215"/>
                </a:lnTo>
                <a:lnTo>
                  <a:pt x="530506" y="257215"/>
                </a:lnTo>
                <a:close/>
              </a:path>
            </a:pathLst>
          </a:custGeom>
          <a:solidFill>
            <a:srgbClr val="1859AE">
              <a:alpha val="10000"/>
            </a:srgbClr>
          </a:solidFill>
        </p:spPr>
      </p:sp>
      <p:sp>
        <p:nvSpPr>
          <p:cNvPr id="27" name="Shape 24"/>
          <p:cNvSpPr/>
          <p:nvPr>
            <p:custDataLst>
              <p:tags r:id="rId22"/>
            </p:custDataLst>
          </p:nvPr>
        </p:nvSpPr>
        <p:spPr>
          <a:xfrm>
            <a:off x="6441731" y="1534826"/>
            <a:ext cx="530506" cy="257215"/>
          </a:xfrm>
          <a:custGeom>
            <a:avLst/>
            <a:gdLst/>
            <a:ahLst/>
            <a:cxnLst/>
            <a:rect l="l" t="t" r="r" b="b"/>
            <a:pathLst>
              <a:path w="530506" h="257215">
                <a:moveTo>
                  <a:pt x="265253" y="0"/>
                </a:moveTo>
                <a:moveTo>
                  <a:pt x="265253" y="0"/>
                </a:moveTo>
                <a:lnTo>
                  <a:pt x="0" y="257215"/>
                </a:lnTo>
                <a:lnTo>
                  <a:pt x="530506" y="257215"/>
                </a:lnTo>
                <a:close/>
              </a:path>
            </a:pathLst>
          </a:custGeom>
          <a:solidFill>
            <a:srgbClr val="1859AE">
              <a:alpha val="10000"/>
            </a:srgbClr>
          </a:solid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东方力量与创新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Text 4"/>
          <p:cNvSpPr/>
          <p:nvPr/>
        </p:nvSpPr>
        <p:spPr>
          <a:xfrm>
            <a:off x="2743200" y="1025863"/>
            <a:ext cx="3657600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东方力量的崛起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2743200" y="1368172"/>
            <a:ext cx="3657600" cy="84124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deepseek的成功体现了中国科技公司在从0到1的技术突破上的能力，打破了外界对中国科技只能从1到100应用落地的刻板印象。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522708" y="2567541"/>
            <a:ext cx="3657600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创新精神的体现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522708" y="2899468"/>
            <a:ext cx="3657600" cy="84124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deepseek背后的团队敢于挑战传统路径，开创了全新的MLA架构，并在多个基准测试中超越了OpenAI的GPT-4o，展示了他们的创新精神。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4963692" y="2567541"/>
            <a:ext cx="3657600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资方与团队的共同努力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4963692" y="2899468"/>
            <a:ext cx="3657600" cy="84124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deepseek的成功得益于其资方幻方的远见和决策，以及团队成员对技术创新的执着追求和理想主义的坚持，这是他们共同努力的结果。</a:t>
            </a:r>
            <a:endParaRPr lang="en-US" sz="14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新生代企业家精神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8" name="Text 4"/>
          <p:cNvSpPr/>
          <p:nvPr/>
        </p:nvSpPr>
        <p:spPr>
          <a:xfrm>
            <a:off x="3485040" y="1130659"/>
            <a:ext cx="3309781" cy="4846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挑战传统的勇气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3485040" y="1427243"/>
            <a:ext cx="5212080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新生代企业家不畏权威，敢于突破常规，如deepseek团队挑战传统架构，开创全新MLA架构，展现创新精神。</a:t>
            </a:r>
            <a:endParaRPr lang="en-US" sz="1440" dirty="0"/>
          </a:p>
        </p:txBody>
      </p:sp>
      <p:sp>
        <p:nvSpPr>
          <p:cNvPr id="10" name="Text 6"/>
          <p:cNvSpPr/>
          <p:nvPr/>
        </p:nvSpPr>
        <p:spPr>
          <a:xfrm>
            <a:off x="3485040" y="2158619"/>
            <a:ext cx="4507439" cy="4846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技术创新的力量</a:t>
            </a:r>
            <a:endParaRPr lang="en-US" sz="1440" dirty="0"/>
          </a:p>
        </p:txBody>
      </p:sp>
      <p:sp>
        <p:nvSpPr>
          <p:cNvPr id="11" name="Text 7"/>
          <p:cNvSpPr/>
          <p:nvPr/>
        </p:nvSpPr>
        <p:spPr>
          <a:xfrm>
            <a:off x="3485040" y="2463259"/>
            <a:ext cx="5212080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新生代企业家在技术创新上卓越非凡，如deepseek低成本高效率的突破，开源模型权重，推动全球AI技术发展。</a:t>
            </a: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3485040" y="3194618"/>
            <a:ext cx="4861995" cy="4846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理想主义的坚持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3485040" y="3491058"/>
            <a:ext cx="5213718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新生代企业家不急于商业变现，专注技术突破，如梁文峰坚信创新需源自好奇心和创造欲，走上与众不同的发展道路。</a:t>
            </a:r>
            <a:endParaRPr lang="en-US" sz="1440" dirty="0"/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572770" y="1176020"/>
            <a:ext cx="2851785" cy="30949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58045" y="1664502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585216" h="585216">
                <a:moveTo>
                  <a:pt x="73152" y="0"/>
                </a:moveTo>
                <a:moveTo>
                  <a:pt x="73152" y="0"/>
                </a:moveTo>
                <a:lnTo>
                  <a:pt x="512064" y="0"/>
                </a:lnTo>
                <a:quadBezTo>
                  <a:pt x="585216" y="0"/>
                  <a:pt x="585216" y="73152"/>
                </a:quadBezTo>
                <a:lnTo>
                  <a:pt x="585216" y="512064"/>
                </a:lnTo>
                <a:quadBezTo>
                  <a:pt x="585216" y="585216"/>
                  <a:pt x="512064" y="585216"/>
                </a:quadBezTo>
                <a:lnTo>
                  <a:pt x="73152" y="585216"/>
                </a:lnTo>
                <a:quadBezTo>
                  <a:pt x="0" y="585216"/>
                  <a:pt x="0" y="512064"/>
                </a:quadBezTo>
                <a:lnTo>
                  <a:pt x="0" y="73152"/>
                </a:lnTo>
                <a:quadBezTo>
                  <a:pt x="0" y="0"/>
                  <a:pt x="73152" y="0"/>
                </a:quad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4" name="Text 1"/>
          <p:cNvSpPr/>
          <p:nvPr/>
        </p:nvSpPr>
        <p:spPr>
          <a:xfrm>
            <a:off x="830029" y="1682790"/>
            <a:ext cx="841248" cy="5486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865937" y="2437790"/>
            <a:ext cx="7518197" cy="73152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大模型价值思考</a:t>
            </a:r>
            <a:endParaRPr lang="en-US" sz="1440" dirty="0"/>
          </a:p>
        </p:txBody>
      </p:sp>
      <p:sp>
        <p:nvSpPr>
          <p:cNvPr id="6" name="Shape 3"/>
          <p:cNvSpPr/>
          <p:nvPr/>
        </p:nvSpPr>
        <p:spPr>
          <a:xfrm>
            <a:off x="897176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7" name="Shape 4"/>
          <p:cNvSpPr/>
          <p:nvPr/>
        </p:nvSpPr>
        <p:spPr>
          <a:xfrm>
            <a:off x="1250653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8" name="Shape 5"/>
          <p:cNvSpPr/>
          <p:nvPr/>
        </p:nvSpPr>
        <p:spPr>
          <a:xfrm>
            <a:off x="1604131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推理过程重要性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Shape 4"/>
          <p:cNvSpPr/>
          <p:nvPr/>
        </p:nvSpPr>
        <p:spPr>
          <a:xfrm>
            <a:off x="1528754" y="1041561"/>
            <a:ext cx="362032" cy="362032"/>
          </a:xfrm>
          <a:custGeom>
            <a:avLst/>
            <a:gdLst/>
            <a:ahLst/>
            <a:cxnLst/>
            <a:rect l="l" t="t" r="r" b="b"/>
            <a:pathLst>
              <a:path w="362032" h="362032">
                <a:moveTo>
                  <a:pt x="181016" y="0"/>
                </a:moveTo>
                <a:moveTo>
                  <a:pt x="181016" y="0"/>
                </a:moveTo>
                <a:cubicBezTo>
                  <a:pt x="280921" y="0"/>
                  <a:pt x="362032" y="81111"/>
                  <a:pt x="362032" y="181016"/>
                </a:cubicBezTo>
                <a:cubicBezTo>
                  <a:pt x="362032" y="280921"/>
                  <a:pt x="280921" y="362032"/>
                  <a:pt x="181016" y="362032"/>
                </a:cubicBezTo>
                <a:cubicBezTo>
                  <a:pt x="81111" y="362032"/>
                  <a:pt x="0" y="280921"/>
                  <a:pt x="0" y="181016"/>
                </a:cubicBezTo>
                <a:cubicBezTo>
                  <a:pt x="0" y="81111"/>
                  <a:pt x="81111" y="0"/>
                  <a:pt x="18101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8" name="Shape 5"/>
          <p:cNvSpPr/>
          <p:nvPr/>
        </p:nvSpPr>
        <p:spPr>
          <a:xfrm>
            <a:off x="5687275" y="1041561"/>
            <a:ext cx="362032" cy="362032"/>
          </a:xfrm>
          <a:custGeom>
            <a:avLst/>
            <a:gdLst/>
            <a:ahLst/>
            <a:cxnLst/>
            <a:rect l="l" t="t" r="r" b="b"/>
            <a:pathLst>
              <a:path w="362032" h="362032">
                <a:moveTo>
                  <a:pt x="181016" y="0"/>
                </a:moveTo>
                <a:moveTo>
                  <a:pt x="181016" y="0"/>
                </a:moveTo>
                <a:cubicBezTo>
                  <a:pt x="280921" y="0"/>
                  <a:pt x="362032" y="81111"/>
                  <a:pt x="362032" y="181016"/>
                </a:cubicBezTo>
                <a:cubicBezTo>
                  <a:pt x="362032" y="280921"/>
                  <a:pt x="280921" y="362032"/>
                  <a:pt x="181016" y="362032"/>
                </a:cubicBezTo>
                <a:cubicBezTo>
                  <a:pt x="81111" y="362032"/>
                  <a:pt x="0" y="280921"/>
                  <a:pt x="0" y="181016"/>
                </a:cubicBezTo>
                <a:cubicBezTo>
                  <a:pt x="0" y="81111"/>
                  <a:pt x="81111" y="0"/>
                  <a:pt x="18101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9" name="Shape 6"/>
          <p:cNvSpPr/>
          <p:nvPr/>
        </p:nvSpPr>
        <p:spPr>
          <a:xfrm>
            <a:off x="3542750" y="2852974"/>
            <a:ext cx="362032" cy="362032"/>
          </a:xfrm>
          <a:custGeom>
            <a:avLst/>
            <a:gdLst/>
            <a:ahLst/>
            <a:cxnLst/>
            <a:rect l="l" t="t" r="r" b="b"/>
            <a:pathLst>
              <a:path w="362032" h="362032">
                <a:moveTo>
                  <a:pt x="181016" y="0"/>
                </a:moveTo>
                <a:moveTo>
                  <a:pt x="181016" y="0"/>
                </a:moveTo>
                <a:cubicBezTo>
                  <a:pt x="280921" y="0"/>
                  <a:pt x="362032" y="81111"/>
                  <a:pt x="362032" y="181016"/>
                </a:cubicBezTo>
                <a:cubicBezTo>
                  <a:pt x="362032" y="280921"/>
                  <a:pt x="280921" y="362032"/>
                  <a:pt x="181016" y="362032"/>
                </a:cubicBezTo>
                <a:cubicBezTo>
                  <a:pt x="81111" y="362032"/>
                  <a:pt x="0" y="280921"/>
                  <a:pt x="0" y="181016"/>
                </a:cubicBezTo>
                <a:cubicBezTo>
                  <a:pt x="0" y="81111"/>
                  <a:pt x="81111" y="0"/>
                  <a:pt x="18101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10" name="Text 7"/>
          <p:cNvSpPr/>
          <p:nvPr/>
        </p:nvSpPr>
        <p:spPr>
          <a:xfrm>
            <a:off x="1890785" y="896569"/>
            <a:ext cx="2428566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推理能力的核心地位</a:t>
            </a:r>
            <a:endParaRPr lang="en-US" sz="1440" dirty="0"/>
          </a:p>
        </p:txBody>
      </p:sp>
      <p:pic>
        <p:nvPicPr>
          <p:cNvPr id="11" name="Image 0" descr="https://sgw-dx.xf-yun.com/api/v1/sparkdesk/_17400552068880a80b8cdee6547709217db0c54efc87e.jpg?authorization=c2ltcGxlLWp3dCBhaz1zcGFya2Rlc2s4MDAwMDAwMDAwMDE7ZXhwPTMzMTY4NTUyMDY7YWxnbz1obWFjLXNoYTI1NjtzaWc9NElKcU5wYUF2Ynd5Y1QybGJROU15bFBJMzNVcVVweHdMZnhJUFQ2bVhWND0=&amp;x_location=7YfmxI7B7uKO7jlRxIftd60uePD="/>
          <p:cNvPicPr>
            <a:picLocks noChangeAspect="1"/>
          </p:cNvPicPr>
          <p:nvPr/>
        </p:nvPicPr>
        <p:blipFill>
          <a:blip r:embed="rId2"/>
          <a:srcRect l="21910" r="21910"/>
          <a:stretch>
            <a:fillRect/>
          </a:stretch>
        </p:blipFill>
        <p:spPr>
          <a:xfrm>
            <a:off x="498274" y="1041561"/>
            <a:ext cx="1392512" cy="1392512"/>
          </a:xfrm>
          <a:prstGeom prst="ellipse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90785" y="1291590"/>
            <a:ext cx="2428566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推理能力是大模型区别于传统AI系统的关键特征，它使模型能够处理复杂问题，提供准确深入的答案，显著提升了模型的智能水平。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6049307" y="896569"/>
            <a:ext cx="2428566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减少幻觉问题</a:t>
            </a:r>
            <a:endParaRPr lang="en-US" sz="1440" dirty="0"/>
          </a:p>
        </p:txBody>
      </p:sp>
      <p:pic>
        <p:nvPicPr>
          <p:cNvPr id="14" name="Image 1" descr="https://sgw-dx.xf-yun.com/api/v1/sparkdesk/_1740055209978fd57d50c0faa4665bdedf0f63dff652f.jpg?authorization=c2ltcGxlLWp3dCBhaz1zcGFya2Rlc2s4MDAwMDAwMDAwMDE7ZXhwPTMzMTY4NTUyMTA7YWxnbz1obWFjLXNoYTI1NjtzaWc9ZFhSSW1LSXpNeXdYZ0tyck9BeXBsN2UzWXIya0hnZ0dveWR2Z2wrWEdCZz0=&amp;x_location=7YfmxI7B7uKO7jlRxIftd60uePD="/>
          <p:cNvPicPr>
            <a:picLocks noChangeAspect="1"/>
          </p:cNvPicPr>
          <p:nvPr/>
        </p:nvPicPr>
        <p:blipFill>
          <a:blip r:embed="rId3"/>
          <a:srcRect l="21910" r="21910"/>
          <a:stretch>
            <a:fillRect/>
          </a:stretch>
        </p:blipFill>
        <p:spPr>
          <a:xfrm>
            <a:off x="4656795" y="1041561"/>
            <a:ext cx="1392512" cy="1392512"/>
          </a:xfrm>
          <a:prstGeom prst="ellipse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49307" y="1291590"/>
            <a:ext cx="2428566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通过强化学习和优化算法，大模型在推理过程中能有效减少幻觉问题，提高回答的准确性和可靠性，确保信息的真实性。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3904782" y="2707982"/>
            <a:ext cx="2428566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新知识的吸收与应用</a:t>
            </a:r>
            <a:endParaRPr lang="en-US" sz="1440" dirty="0"/>
          </a:p>
        </p:txBody>
      </p:sp>
      <p:pic>
        <p:nvPicPr>
          <p:cNvPr id="17" name="Image 2" descr="https://sgw-dx.xf-yun.com/api/v1/sparkdesk/_1740055212639419117baa61a479aab785467170edf22.jpg?authorization=c2ltcGxlLWp3dCBhaz1zcGFya2Rlc2s4MDAwMDAwMDAwMDE7ZXhwPTMzMTY4NTUyMTI7YWxnbz1obWFjLXNoYTI1NjtzaWc9MkV1WHJmUVZwQ29rOXkxaktrb3hPYXhSMXZNWHRsWWZLK21sdVAreDdGaz0=&amp;x_location=7YfmxI7B7uKO7jlRxIftd60uePD="/>
          <p:cNvPicPr>
            <a:picLocks noChangeAspect="1"/>
          </p:cNvPicPr>
          <p:nvPr/>
        </p:nvPicPr>
        <p:blipFill>
          <a:blip r:embed="rId4"/>
          <a:srcRect l="21910" r="21910"/>
          <a:stretch>
            <a:fillRect/>
          </a:stretch>
        </p:blipFill>
        <p:spPr>
          <a:xfrm>
            <a:off x="2512271" y="2852974"/>
            <a:ext cx="1392512" cy="1392512"/>
          </a:xfrm>
          <a:prstGeom prst="ellipse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904782" y="3103003"/>
            <a:ext cx="2428566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推理过程涉及对新知识的吸收和应用，这对于保持模型的前沿性和适应性至关重要，有助于模型不断进化和适应新的挑战。</a:t>
            </a:r>
            <a:endParaRPr lang="en-US" sz="14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正负影响分析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pic>
        <p:nvPicPr>
          <p:cNvPr id="7" name="Image 0" descr="https://sgw-dx.xf-yun.com/api/v1/sparkdesk/_17400552016654e3083762a0340d2ab4d014cd0dfa1b8.jpg?authorization=c2ltcGxlLWp3dCBhaz1zcGFya2Rlc2s4MDAwMDAwMDAwMDE7ZXhwPTMzMTY4NTUyMDE7YWxnbz1obWFjLXNoYTI1NjtzaWc9ZmJubTZWTmd2dVowTHpNN3FuNGxRMWZhUUhMVk9EbnA3ZTJ6NXZOYkt6VT0=&amp;x_location=7YfmxI7B7uKO7jlRxIftd60uePD=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42" y="1227435"/>
            <a:ext cx="2831634" cy="28316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85040" y="1130659"/>
            <a:ext cx="3309781" cy="4846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正面影响分析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3485040" y="1427243"/>
            <a:ext cx="5212080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正面影响分析主要关注某一事件或决策带来的积极结果，如提升效率、增加收益等，有助于我们理解并利用这些优势。</a:t>
            </a:r>
            <a:endParaRPr lang="en-US" sz="1440" dirty="0"/>
          </a:p>
        </p:txBody>
      </p:sp>
      <p:sp>
        <p:nvSpPr>
          <p:cNvPr id="10" name="Text 6"/>
          <p:cNvSpPr/>
          <p:nvPr/>
        </p:nvSpPr>
        <p:spPr>
          <a:xfrm>
            <a:off x="3485040" y="2158619"/>
            <a:ext cx="4507439" cy="4846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负面影响分析</a:t>
            </a:r>
            <a:endParaRPr lang="en-US" sz="1440" dirty="0"/>
          </a:p>
        </p:txBody>
      </p:sp>
      <p:sp>
        <p:nvSpPr>
          <p:cNvPr id="11" name="Text 7"/>
          <p:cNvSpPr/>
          <p:nvPr/>
        </p:nvSpPr>
        <p:spPr>
          <a:xfrm>
            <a:off x="3485040" y="2463259"/>
            <a:ext cx="5212080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负面影响分析则侧重于探讨某一事件或决策可能产生的不利后果，如资源浪费、环境污染等，以便我们提前预防和应对。</a:t>
            </a: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3485040" y="3194618"/>
            <a:ext cx="4861995" cy="4846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正负影响对比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3485040" y="3491058"/>
            <a:ext cx="5213718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通过对比正负影响，我们可以更全面地评估一个事件或决策的价值，从而做出更明智的选择。</a:t>
            </a:r>
            <a:endParaRPr lang="en-US" sz="14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8792" y="2311996"/>
            <a:ext cx="4313208" cy="10881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750" b="1" dirty="0">
                <a:solidFill>
                  <a:srgbClr val="1859AE">
                    <a:alpha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THANKS！</a:t>
            </a:r>
            <a:endParaRPr lang="en-US" sz="1440" dirty="0"/>
          </a:p>
        </p:txBody>
      </p:sp>
      <p:sp>
        <p:nvSpPr>
          <p:cNvPr id="4" name="Text 1"/>
          <p:cNvSpPr/>
          <p:nvPr/>
        </p:nvSpPr>
        <p:spPr>
          <a:xfrm>
            <a:off x="738792" y="2179408"/>
            <a:ext cx="3275888" cy="6766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89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感谢观看！</a:t>
            </a:r>
            <a:endParaRPr lang="en-US" sz="144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7.9359842519685,&quot;left&quot;:76.12944881889764,&quot;top&quot;:138.22448818897638,&quot;width&quot;:598.8172440944882}"/>
</p:tagLst>
</file>

<file path=ppt/tags/tag2.xml><?xml version="1.0" encoding="utf-8"?>
<p:tagLst xmlns:p="http://schemas.openxmlformats.org/presentationml/2006/main">
  <p:tag name="KSO_WM_DIAGRAM_VIRTUALLY_FRAME" val="{&quot;height&quot;:147.9359842519685,&quot;left&quot;:76.12944881889764,&quot;top&quot;:138.22448818897638,&quot;width&quot;:598.8172440944882}"/>
</p:tagLst>
</file>

<file path=ppt/tags/tag3.xml><?xml version="1.0" encoding="utf-8"?>
<p:tagLst xmlns:p="http://schemas.openxmlformats.org/presentationml/2006/main">
  <p:tag name="KSO_WM_DIAGRAM_VIRTUALLY_FRAME" val="{&quot;height&quot;:147.9359842519685,&quot;left&quot;:76.12944881889764,&quot;top&quot;:138.22448818897638,&quot;width&quot;:598.8172440944882}"/>
</p:tagLst>
</file>

<file path=ppt/tags/tag4.xml><?xml version="1.0" encoding="utf-8"?>
<p:tagLst xmlns:p="http://schemas.openxmlformats.org/presentationml/2006/main">
  <p:tag name="KSO_WM_DIAGRAM_VIRTUALLY_FRAME" val="{&quot;height&quot;:147.9359842519685,&quot;left&quot;:76.12944881889764,&quot;top&quot;:138.22448818897638,&quot;width&quot;:598.8172440944882}"/>
</p:tagLst>
</file>

<file path=ppt/tags/tag5.xml><?xml version="1.0" encoding="utf-8"?>
<p:tagLst xmlns:p="http://schemas.openxmlformats.org/presentationml/2006/main">
  <p:tag name="KSO_WM_DIAGRAM_VIRTUALLY_FRAME" val="{&quot;height&quot;:147.9359842519685,&quot;left&quot;:76.12944881889764,&quot;top&quot;:138.22448818897638,&quot;width&quot;:598.8172440944882}"/>
</p:tagLst>
</file>

<file path=ppt/tags/tag6.xml><?xml version="1.0" encoding="utf-8"?>
<p:tagLst xmlns:p="http://schemas.openxmlformats.org/presentationml/2006/main">
  <p:tag name="KSO_WM_DIAGRAM_VIRTUALLY_FRAME" val="{&quot;height&quot;:147.9359842519685,&quot;left&quot;:76.12944881889764,&quot;top&quot;:138.22448818897638,&quot;width&quot;:598.8172440944882}"/>
</p:tagLst>
</file>

<file path=ppt/tags/tag7.xml><?xml version="1.0" encoding="utf-8"?>
<p:tagLst xmlns:p="http://schemas.openxmlformats.org/presentationml/2006/main">
  <p:tag name="KSO_WM_DIAGRAM_VIRTUALLY_FRAME" val="{&quot;height&quot;:147.9359842519685,&quot;left&quot;:76.12944881889764,&quot;top&quot;:138.22448818897638,&quot;width&quot;:598.8172440944882}"/>
</p:tagLst>
</file>

<file path=ppt/tags/tag8.xml><?xml version="1.0" encoding="utf-8"?>
<p:tagLst xmlns:p="http://schemas.openxmlformats.org/presentationml/2006/main">
  <p:tag name="KSO_WM_DIAGRAM_VIRTUALLY_FRAME" val="{&quot;height&quot;:147.9359842519685,&quot;left&quot;:76.12944881889764,&quot;top&quot;:138.22448818897638,&quot;width&quot;:598.8172440944882}"/>
</p:tagLst>
</file>

<file path=ppt/tags/tag9.xml><?xml version="1.0" encoding="utf-8"?>
<p:tagLst xmlns:p="http://schemas.openxmlformats.org/presentationml/2006/main">
  <p:tag name="KSO_WM_DIAGRAM_VIRTUALLY_FRAME" val="{&quot;height&quot;:147.9359842519685,&quot;left&quot;:76.12944881889764,&quot;top&quot;:138.22448818897638,&quot;width&quot;:598.8172440944882}"/>
</p:tagLst>
</file>

<file path=ppt/tags/tag10.xml><?xml version="1.0" encoding="utf-8"?>
<p:tagLst xmlns:p="http://schemas.openxmlformats.org/presentationml/2006/main">
  <p:tag name="KSO_WM_DIAGRAM_VIRTUALLY_FRAME" val="{&quot;height&quot;:147.9359842519685,&quot;left&quot;:76.12944881889764,&quot;top&quot;:138.22448818897638,&quot;width&quot;:598.8172440944882}"/>
</p:tagLst>
</file>

<file path=ppt/tags/tag11.xml><?xml version="1.0" encoding="utf-8"?>
<p:tagLst xmlns:p="http://schemas.openxmlformats.org/presentationml/2006/main">
  <p:tag name="KSO_WM_DIAGRAM_VIRTUALLY_FRAME" val="{&quot;height&quot;:147.9359842519685,&quot;left&quot;:76.12944881889764,&quot;top&quot;:138.22448818897638,&quot;width&quot;:598.8172440944882}"/>
</p:tagLst>
</file>

<file path=ppt/tags/tag12.xml><?xml version="1.0" encoding="utf-8"?>
<p:tagLst xmlns:p="http://schemas.openxmlformats.org/presentationml/2006/main">
  <p:tag name="KSO_WM_DIAGRAM_VIRTUALLY_FRAME" val="{&quot;height&quot;:147.9359842519685,&quot;left&quot;:76.12944881889764,&quot;top&quot;:138.22448818897638,&quot;width&quot;:598.8172440944882}"/>
</p:tagLst>
</file>

<file path=ppt/tags/tag13.xml><?xml version="1.0" encoding="utf-8"?>
<p:tagLst xmlns:p="http://schemas.openxmlformats.org/presentationml/2006/main">
  <p:tag name="KSO_WM_DIAGRAM_VIRTUALLY_FRAME" val="{&quot;height&quot;:279.0962204724409,&quot;left&quot;:112.30811023622047,&quot;top&quot;:86.14086614173229,&quot;width&quot;:564.7727559055118}"/>
</p:tagLst>
</file>

<file path=ppt/tags/tag14.xml><?xml version="1.0" encoding="utf-8"?>
<p:tagLst xmlns:p="http://schemas.openxmlformats.org/presentationml/2006/main">
  <p:tag name="KSO_WM_DIAGRAM_VIRTUALLY_FRAME" val="{&quot;height&quot;:279.0962204724409,&quot;left&quot;:112.30811023622047,&quot;top&quot;:86.14086614173229,&quot;width&quot;:564.7727559055118}"/>
</p:tagLst>
</file>

<file path=ppt/tags/tag15.xml><?xml version="1.0" encoding="utf-8"?>
<p:tagLst xmlns:p="http://schemas.openxmlformats.org/presentationml/2006/main">
  <p:tag name="KSO_WM_DIAGRAM_VIRTUALLY_FRAME" val="{&quot;height&quot;:279.0962204724409,&quot;left&quot;:112.30811023622047,&quot;top&quot;:86.14086614173229,&quot;width&quot;:564.7727559055118}"/>
</p:tagLst>
</file>

<file path=ppt/tags/tag16.xml><?xml version="1.0" encoding="utf-8"?>
<p:tagLst xmlns:p="http://schemas.openxmlformats.org/presentationml/2006/main">
  <p:tag name="KSO_WM_DIAGRAM_VIRTUALLY_FRAME" val="{&quot;height&quot;:279.0962204724409,&quot;left&quot;:112.30811023622047,&quot;top&quot;:86.14086614173229,&quot;width&quot;:564.7727559055118}"/>
</p:tagLst>
</file>

<file path=ppt/tags/tag17.xml><?xml version="1.0" encoding="utf-8"?>
<p:tagLst xmlns:p="http://schemas.openxmlformats.org/presentationml/2006/main">
  <p:tag name="KSO_WM_DIAGRAM_VIRTUALLY_FRAME" val="{&quot;height&quot;:279.0962204724409,&quot;left&quot;:112.30811023622047,&quot;top&quot;:86.14086614173229,&quot;width&quot;:564.7727559055118}"/>
</p:tagLst>
</file>

<file path=ppt/tags/tag18.xml><?xml version="1.0" encoding="utf-8"?>
<p:tagLst xmlns:p="http://schemas.openxmlformats.org/presentationml/2006/main">
  <p:tag name="KSO_WM_DIAGRAM_VIRTUALLY_FRAME" val="{&quot;height&quot;:279.0962204724409,&quot;left&quot;:112.30811023622047,&quot;top&quot;:86.14086614173229,&quot;width&quot;:564.7727559055118}"/>
</p:tagLst>
</file>

<file path=ppt/tags/tag19.xml><?xml version="1.0" encoding="utf-8"?>
<p:tagLst xmlns:p="http://schemas.openxmlformats.org/presentationml/2006/main">
  <p:tag name="KSO_WM_DIAGRAM_VIRTUALLY_FRAME" val="{&quot;height&quot;:279.0962204724409,&quot;left&quot;:112.30811023622047,&quot;top&quot;:86.14086614173229,&quot;width&quot;:564.7727559055118}"/>
</p:tagLst>
</file>

<file path=ppt/tags/tag20.xml><?xml version="1.0" encoding="utf-8"?>
<p:tagLst xmlns:p="http://schemas.openxmlformats.org/presentationml/2006/main">
  <p:tag name="KSO_WM_DIAGRAM_VIRTUALLY_FRAME" val="{&quot;height&quot;:279.0962204724409,&quot;left&quot;:112.30811023622047,&quot;top&quot;:86.14086614173229,&quot;width&quot;:564.7727559055118}"/>
</p:tagLst>
</file>

<file path=ppt/tags/tag21.xml><?xml version="1.0" encoding="utf-8"?>
<p:tagLst xmlns:p="http://schemas.openxmlformats.org/presentationml/2006/main">
  <p:tag name="KSO_WM_DIAGRAM_VIRTUALLY_FRAME" val="{&quot;height&quot;:317.06622047244093,&quot;left&quot;:112.30811023622047,&quot;top&quot;:86.14086614173229,&quot;width&quot;:564.7727559055118}"/>
</p:tagLst>
</file>

<file path=ppt/tags/tag22.xml><?xml version="1.0" encoding="utf-8"?>
<p:tagLst xmlns:p="http://schemas.openxmlformats.org/presentationml/2006/main">
  <p:tag name="KSO_WM_DIAGRAM_VIRTUALLY_FRAME" val="{&quot;height&quot;:317.06622047244093,&quot;left&quot;:112.30811023622047,&quot;top&quot;:86.14086614173229,&quot;width&quot;:564.7727559055118}"/>
</p:tagLst>
</file>

<file path=ppt/tags/tag23.xml><?xml version="1.0" encoding="utf-8"?>
<p:tagLst xmlns:p="http://schemas.openxmlformats.org/presentationml/2006/main">
  <p:tag name="KSO_WM_DIAGRAM_VIRTUALLY_FRAME" val="{&quot;height&quot;:317.06622047244093,&quot;left&quot;:112.30811023622047,&quot;top&quot;:86.14086614173229,&quot;width&quot;:564.7727559055118}"/>
</p:tagLst>
</file>

<file path=ppt/tags/tag24.xml><?xml version="1.0" encoding="utf-8"?>
<p:tagLst xmlns:p="http://schemas.openxmlformats.org/presentationml/2006/main">
  <p:tag name="KSO_WM_DIAGRAM_VIRTUALLY_FRAME" val="{&quot;height&quot;:317.06622047244093,&quot;left&quot;:112.30811023622047,&quot;top&quot;:86.14086614173229,&quot;width&quot;:564.7727559055118}"/>
</p:tagLst>
</file>

<file path=ppt/tags/tag25.xml><?xml version="1.0" encoding="utf-8"?>
<p:tagLst xmlns:p="http://schemas.openxmlformats.org/presentationml/2006/main">
  <p:tag name="KSO_WM_DIAGRAM_VIRTUALLY_FRAME" val="{&quot;height&quot;:317.06622047244093,&quot;left&quot;:112.30811023622047,&quot;top&quot;:86.14086614173229,&quot;width&quot;:564.7727559055118}"/>
</p:tagLst>
</file>

<file path=ppt/tags/tag26.xml><?xml version="1.0" encoding="utf-8"?>
<p:tagLst xmlns:p="http://schemas.openxmlformats.org/presentationml/2006/main">
  <p:tag name="KSO_WM_DIAGRAM_VIRTUALLY_FRAME" val="{&quot;height&quot;:317.06622047244093,&quot;left&quot;:112.30811023622047,&quot;top&quot;:86.14086614173229,&quot;width&quot;:564.7727559055118}"/>
</p:tagLst>
</file>

<file path=ppt/tags/tag27.xml><?xml version="1.0" encoding="utf-8"?>
<p:tagLst xmlns:p="http://schemas.openxmlformats.org/presentationml/2006/main">
  <p:tag name="KSO_WM_DIAGRAM_VIRTUALLY_FRAME" val="{&quot;height&quot;:317.06622047244093,&quot;left&quot;:112.30811023622047,&quot;top&quot;:86.14086614173229,&quot;width&quot;:564.7727559055118}"/>
</p:tagLst>
</file>

<file path=ppt/tags/tag28.xml><?xml version="1.0" encoding="utf-8"?>
<p:tagLst xmlns:p="http://schemas.openxmlformats.org/presentationml/2006/main">
  <p:tag name="KSO_WM_DIAGRAM_VIRTUALLY_FRAME" val="{&quot;height&quot;:317.06622047244093,&quot;left&quot;:112.30811023622047,&quot;top&quot;:86.14086614173229,&quot;width&quot;:564.7727559055118}"/>
</p:tagLst>
</file>

<file path=ppt/tags/tag29.xml><?xml version="1.0" encoding="utf-8"?>
<p:tagLst xmlns:p="http://schemas.openxmlformats.org/presentationml/2006/main">
  <p:tag name="KSO_WM_DIAGRAM_VIRTUALLY_FRAME" val="{&quot;height&quot;:317.06622047244093,&quot;left&quot;:112.30811023622047,&quot;top&quot;:86.14086614173229,&quot;width&quot;:564.7727559055118}"/>
</p:tagLst>
</file>

<file path=ppt/tags/tag30.xml><?xml version="1.0" encoding="utf-8"?>
<p:tagLst xmlns:p="http://schemas.openxmlformats.org/presentationml/2006/main">
  <p:tag name="KSO_WM_DIAGRAM_VIRTUALLY_FRAME" val="{&quot;height&quot;:317.06622047244093,&quot;left&quot;:112.30811023622047,&quot;top&quot;:86.14086614173229,&quot;width&quot;:564.7727559055118}"/>
</p:tagLst>
</file>

<file path=ppt/tags/tag31.xml><?xml version="1.0" encoding="utf-8"?>
<p:tagLst xmlns:p="http://schemas.openxmlformats.org/presentationml/2006/main">
  <p:tag name="KSO_WM_DIAGRAM_VIRTUALLY_FRAME" val="{&quot;height&quot;:317.06622047244093,&quot;left&quot;:112.30811023622047,&quot;top&quot;:86.14086614173229,&quot;width&quot;:564.7727559055118}"/>
</p:tagLst>
</file>

<file path=ppt/tags/tag32.xml><?xml version="1.0" encoding="utf-8"?>
<p:tagLst xmlns:p="http://schemas.openxmlformats.org/presentationml/2006/main">
  <p:tag name="KSO_WM_DIAGRAM_VIRTUALLY_FRAME" val="{&quot;height&quot;:317.06622047244093,&quot;left&quot;:112.30811023622047,&quot;top&quot;:86.14086614173229,&quot;width&quot;:564.7727559055118}"/>
</p:tagLst>
</file>

<file path=ppt/tags/tag33.xml><?xml version="1.0" encoding="utf-8"?>
<p:tagLst xmlns:p="http://schemas.openxmlformats.org/presentationml/2006/main">
  <p:tag name="KSO_WM_DIAGRAM_VIRTUALLY_FRAME" val="{&quot;height&quot;:235.93007874015748,&quot;left&quot;:23.904015748031494,&quot;top&quot;:91.73496062992126,&quot;width&quot;:672.1919685039371}"/>
</p:tagLst>
</file>

<file path=ppt/tags/tag34.xml><?xml version="1.0" encoding="utf-8"?>
<p:tagLst xmlns:p="http://schemas.openxmlformats.org/presentationml/2006/main">
  <p:tag name="KSO_WM_DIAGRAM_VIRTUALLY_FRAME" val="{&quot;height&quot;:235.93007874015748,&quot;left&quot;:23.904015748031494,&quot;top&quot;:91.73496062992126,&quot;width&quot;:672.1919685039371}"/>
</p:tagLst>
</file>

<file path=ppt/tags/tag35.xml><?xml version="1.0" encoding="utf-8"?>
<p:tagLst xmlns:p="http://schemas.openxmlformats.org/presentationml/2006/main">
  <p:tag name="KSO_WM_DIAGRAM_VIRTUALLY_FRAME" val="{&quot;height&quot;:235.93007874015748,&quot;left&quot;:23.904015748031494,&quot;top&quot;:91.73496062992126,&quot;width&quot;:672.1919685039371}"/>
</p:tagLst>
</file>

<file path=ppt/tags/tag36.xml><?xml version="1.0" encoding="utf-8"?>
<p:tagLst xmlns:p="http://schemas.openxmlformats.org/presentationml/2006/main">
  <p:tag name="KSO_WM_DIAGRAM_VIRTUALLY_FRAME" val="{&quot;height&quot;:235.93007874015748,&quot;left&quot;:23.904015748031494,&quot;top&quot;:91.73496062992126,&quot;width&quot;:672.1919685039371}"/>
</p:tagLst>
</file>

<file path=ppt/tags/tag37.xml><?xml version="1.0" encoding="utf-8"?>
<p:tagLst xmlns:p="http://schemas.openxmlformats.org/presentationml/2006/main">
  <p:tag name="KSO_WM_DIAGRAM_VIRTUALLY_FRAME" val="{&quot;height&quot;:235.93007874015748,&quot;left&quot;:23.904015748031494,&quot;top&quot;:91.73496062992126,&quot;width&quot;:672.1919685039371}"/>
</p:tagLst>
</file>

<file path=ppt/tags/tag38.xml><?xml version="1.0" encoding="utf-8"?>
<p:tagLst xmlns:p="http://schemas.openxmlformats.org/presentationml/2006/main">
  <p:tag name="KSO_WM_DIAGRAM_VIRTUALLY_FRAME" val="{&quot;height&quot;:235.93007874015748,&quot;left&quot;:23.904015748031494,&quot;top&quot;:91.73496062992126,&quot;width&quot;:672.1919685039371}"/>
</p:tagLst>
</file>

<file path=ppt/tags/tag39.xml><?xml version="1.0" encoding="utf-8"?>
<p:tagLst xmlns:p="http://schemas.openxmlformats.org/presentationml/2006/main">
  <p:tag name="KSO_WM_DIAGRAM_VIRTUALLY_FRAME" val="{&quot;height&quot;:235.93007874015748,&quot;left&quot;:23.904015748031494,&quot;top&quot;:91.73496062992126,&quot;width&quot;:672.1919685039371}"/>
</p:tagLst>
</file>

<file path=ppt/tags/tag40.xml><?xml version="1.0" encoding="utf-8"?>
<p:tagLst xmlns:p="http://schemas.openxmlformats.org/presentationml/2006/main">
  <p:tag name="KSO_WM_DIAGRAM_VIRTUALLY_FRAME" val="{&quot;height&quot;:235.93007874015748,&quot;left&quot;:23.904015748031494,&quot;top&quot;:91.73496062992126,&quot;width&quot;:672.1919685039371}"/>
</p:tagLst>
</file>

<file path=ppt/tags/tag41.xml><?xml version="1.0" encoding="utf-8"?>
<p:tagLst xmlns:p="http://schemas.openxmlformats.org/presentationml/2006/main">
  <p:tag name="KSO_WM_DIAGRAM_VIRTUALLY_FRAME" val="{&quot;height&quot;:235.93007874015748,&quot;left&quot;:23.904015748031494,&quot;top&quot;:91.73496062992126,&quot;width&quot;:672.1919685039371}"/>
</p:tagLst>
</file>

<file path=ppt/tags/tag42.xml><?xml version="1.0" encoding="utf-8"?>
<p:tagLst xmlns:p="http://schemas.openxmlformats.org/presentationml/2006/main">
  <p:tag name="KSO_WM_DIAGRAM_VIRTUALLY_FRAME" val="{&quot;height&quot;:235.93007874015748,&quot;left&quot;:23.904015748031494,&quot;top&quot;:91.73496062992126,&quot;width&quot;:672.1919685039371}"/>
</p:tagLst>
</file>

<file path=ppt/tags/tag43.xml><?xml version="1.0" encoding="utf-8"?>
<p:tagLst xmlns:p="http://schemas.openxmlformats.org/presentationml/2006/main">
  <p:tag name="KSO_WM_DIAGRAM_VIRTUALLY_FRAME" val="{&quot;height&quot;:235.93007874015748,&quot;left&quot;:23.904015748031494,&quot;top&quot;:91.73496062992126,&quot;width&quot;:672.1919685039371}"/>
</p:tagLst>
</file>

<file path=ppt/tags/tag44.xml><?xml version="1.0" encoding="utf-8"?>
<p:tagLst xmlns:p="http://schemas.openxmlformats.org/presentationml/2006/main">
  <p:tag name="KSO_WM_DIAGRAM_VIRTUALLY_FRAME" val="{&quot;height&quot;:235.93007874015748,&quot;left&quot;:23.904015748031494,&quot;top&quot;:91.73496062992126,&quot;width&quot;:672.1919685039371}"/>
</p:tagLst>
</file>

<file path=ppt/tags/tag45.xml><?xml version="1.0" encoding="utf-8"?>
<p:tagLst xmlns:p="http://schemas.openxmlformats.org/presentationml/2006/main">
  <p:tag name="KSO_WM_DIAGRAM_VIRTUALLY_FRAME" val="{&quot;height&quot;:235.93007874015748,&quot;left&quot;:23.904015748031494,&quot;top&quot;:91.73496062992126,&quot;width&quot;:672.1919685039371}"/>
</p:tagLst>
</file>

<file path=ppt/tags/tag46.xml><?xml version="1.0" encoding="utf-8"?>
<p:tagLst xmlns:p="http://schemas.openxmlformats.org/presentationml/2006/main">
  <p:tag name="KSO_WM_DIAGRAM_VIRTUALLY_FRAME" val="{&quot;height&quot;:235.93007874015748,&quot;left&quot;:23.904015748031494,&quot;top&quot;:91.73496062992126,&quot;width&quot;:672.1919685039371}"/>
</p:tagLst>
</file>

<file path=ppt/tags/tag47.xml><?xml version="1.0" encoding="utf-8"?>
<p:tagLst xmlns:p="http://schemas.openxmlformats.org/presentationml/2006/main">
  <p:tag name="KSO_WM_DIAGRAM_VIRTUALLY_FRAME" val="{&quot;height&quot;:235.93007874015748,&quot;left&quot;:23.904015748031494,&quot;top&quot;:91.73496062992126,&quot;width&quot;:672.1919685039371}"/>
</p:tagLst>
</file>

<file path=ppt/tags/tag48.xml><?xml version="1.0" encoding="utf-8"?>
<p:tagLst xmlns:p="http://schemas.openxmlformats.org/presentationml/2006/main">
  <p:tag name="KSO_WM_DIAGRAM_VIRTUALLY_FRAME" val="{&quot;height&quot;:235.93007874015748,&quot;left&quot;:23.904015748031494,&quot;top&quot;:91.73496062992126,&quot;width&quot;:672.1919685039371}"/>
</p:tagLst>
</file>

<file path=ppt/tags/tag49.xml><?xml version="1.0" encoding="utf-8"?>
<p:tagLst xmlns:p="http://schemas.openxmlformats.org/presentationml/2006/main">
  <p:tag name="KSO_WM_DIAGRAM_VIRTUALLY_FRAME" val="{&quot;height&quot;:235.93007874015748,&quot;left&quot;:23.904015748031494,&quot;top&quot;:91.73496062992126,&quot;width&quot;:672.1919685039371}"/>
</p:tagLst>
</file>

<file path=ppt/tags/tag50.xml><?xml version="1.0" encoding="utf-8"?>
<p:tagLst xmlns:p="http://schemas.openxmlformats.org/presentationml/2006/main">
  <p:tag name="KSO_WM_DIAGRAM_VIRTUALLY_FRAME" val="{&quot;height&quot;:235.93007874015748,&quot;left&quot;:23.904015748031494,&quot;top&quot;:91.73496062992126,&quot;width&quot;:672.1919685039371}"/>
</p:tagLst>
</file>

<file path=ppt/tags/tag51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52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53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54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55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56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57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58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59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60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61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62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63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64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65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66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67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68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69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70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ags/tag71.xml><?xml version="1.0" encoding="utf-8"?>
<p:tagLst xmlns:p="http://schemas.openxmlformats.org/presentationml/2006/main">
  <p:tag name="KSO_WM_DIAGRAM_VIRTUALLY_FRAME" val="{&quot;height&quot;:244.5716535433071,&quot;left&quot;:50.471968503937006,&quot;top&quot;:80.21417322834645,&quot;width&quot;:619.056062992125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3139</Words>
  <Application>WPS 演示</Application>
  <PresentationFormat>On-screen Show (16:9)</PresentationFormat>
  <Paragraphs>292</Paragraphs>
  <Slides>24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程显毅</cp:lastModifiedBy>
  <cp:revision>2</cp:revision>
  <dcterms:created xsi:type="dcterms:W3CDTF">2025-02-20T12:41:00Z</dcterms:created>
  <dcterms:modified xsi:type="dcterms:W3CDTF">2025-02-21T03:35:25Z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5A64A5C439ED4952874A541A35E9C233_12</vt:lpwstr>
  </property>
  <property fmtid="{D5CDD505-2E9C-101B-9397-08002B2CF9AE}" pid="3" name="KSOProductBuildVer">
    <vt:lpwstr>2052-12.1.0.19770</vt:lpwstr>
  </property>
</Properties>
</file>