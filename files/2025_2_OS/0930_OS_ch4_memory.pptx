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195"/>
  </p:notesMasterIdLst>
  <p:sldIdLst>
    <p:sldId id="409" r:id="rId2"/>
    <p:sldId id="410" r:id="rId3"/>
    <p:sldId id="413" r:id="rId4"/>
    <p:sldId id="259" r:id="rId5"/>
    <p:sldId id="362" r:id="rId6"/>
    <p:sldId id="258" r:id="rId7"/>
    <p:sldId id="278" r:id="rId8"/>
    <p:sldId id="414" r:id="rId9"/>
    <p:sldId id="279" r:id="rId10"/>
    <p:sldId id="370" r:id="rId11"/>
    <p:sldId id="415" r:id="rId12"/>
    <p:sldId id="280" r:id="rId13"/>
    <p:sldId id="281" r:id="rId14"/>
    <p:sldId id="416" r:id="rId15"/>
    <p:sldId id="417" r:id="rId16"/>
    <p:sldId id="418" r:id="rId17"/>
    <p:sldId id="282" r:id="rId18"/>
    <p:sldId id="363" r:id="rId19"/>
    <p:sldId id="283" r:id="rId20"/>
    <p:sldId id="284" r:id="rId21"/>
    <p:sldId id="419" r:id="rId22"/>
    <p:sldId id="285" r:id="rId23"/>
    <p:sldId id="420" r:id="rId24"/>
    <p:sldId id="421" r:id="rId25"/>
    <p:sldId id="364" r:id="rId26"/>
    <p:sldId id="286" r:id="rId27"/>
    <p:sldId id="371" r:id="rId28"/>
    <p:sldId id="422" r:id="rId29"/>
    <p:sldId id="287" r:id="rId30"/>
    <p:sldId id="288" r:id="rId31"/>
    <p:sldId id="423" r:id="rId32"/>
    <p:sldId id="289" r:id="rId33"/>
    <p:sldId id="290" r:id="rId34"/>
    <p:sldId id="424" r:id="rId35"/>
    <p:sldId id="425" r:id="rId36"/>
    <p:sldId id="426" r:id="rId37"/>
    <p:sldId id="291" r:id="rId38"/>
    <p:sldId id="292" r:id="rId39"/>
    <p:sldId id="427" r:id="rId40"/>
    <p:sldId id="293" r:id="rId41"/>
    <p:sldId id="294" r:id="rId42"/>
    <p:sldId id="372" r:id="rId43"/>
    <p:sldId id="429" r:id="rId44"/>
    <p:sldId id="430" r:id="rId45"/>
    <p:sldId id="431" r:id="rId46"/>
    <p:sldId id="432" r:id="rId47"/>
    <p:sldId id="295" r:id="rId48"/>
    <p:sldId id="296" r:id="rId49"/>
    <p:sldId id="428" r:id="rId50"/>
    <p:sldId id="297" r:id="rId51"/>
    <p:sldId id="365" r:id="rId52"/>
    <p:sldId id="433" r:id="rId53"/>
    <p:sldId id="269" r:id="rId54"/>
    <p:sldId id="298" r:id="rId55"/>
    <p:sldId id="392" r:id="rId56"/>
    <p:sldId id="436" r:id="rId57"/>
    <p:sldId id="300" r:id="rId58"/>
    <p:sldId id="393" r:id="rId59"/>
    <p:sldId id="299" r:id="rId60"/>
    <p:sldId id="437" r:id="rId61"/>
    <p:sldId id="301" r:id="rId62"/>
    <p:sldId id="438" r:id="rId63"/>
    <p:sldId id="302" r:id="rId64"/>
    <p:sldId id="273" r:id="rId65"/>
    <p:sldId id="434" r:id="rId66"/>
    <p:sldId id="435" r:id="rId67"/>
    <p:sldId id="373" r:id="rId68"/>
    <p:sldId id="303" r:id="rId69"/>
    <p:sldId id="374" r:id="rId70"/>
    <p:sldId id="439" r:id="rId71"/>
    <p:sldId id="440" r:id="rId72"/>
    <p:sldId id="441" r:id="rId73"/>
    <p:sldId id="375" r:id="rId74"/>
    <p:sldId id="366" r:id="rId75"/>
    <p:sldId id="442" r:id="rId76"/>
    <p:sldId id="304" r:id="rId77"/>
    <p:sldId id="443" r:id="rId78"/>
    <p:sldId id="305" r:id="rId79"/>
    <p:sldId id="306" r:id="rId80"/>
    <p:sldId id="444" r:id="rId81"/>
    <p:sldId id="445" r:id="rId82"/>
    <p:sldId id="446" r:id="rId83"/>
    <p:sldId id="447" r:id="rId84"/>
    <p:sldId id="307" r:id="rId85"/>
    <p:sldId id="448" r:id="rId86"/>
    <p:sldId id="367" r:id="rId87"/>
    <p:sldId id="449" r:id="rId88"/>
    <p:sldId id="394" r:id="rId89"/>
    <p:sldId id="310" r:id="rId90"/>
    <p:sldId id="450" r:id="rId91"/>
    <p:sldId id="451" r:id="rId92"/>
    <p:sldId id="311" r:id="rId93"/>
    <p:sldId id="312" r:id="rId94"/>
    <p:sldId id="452" r:id="rId95"/>
    <p:sldId id="308" r:id="rId96"/>
    <p:sldId id="453" r:id="rId97"/>
    <p:sldId id="368" r:id="rId98"/>
    <p:sldId id="454" r:id="rId99"/>
    <p:sldId id="455" r:id="rId100"/>
    <p:sldId id="309" r:id="rId101"/>
    <p:sldId id="456" r:id="rId102"/>
    <p:sldId id="369" r:id="rId103"/>
    <p:sldId id="313" r:id="rId104"/>
    <p:sldId id="457" r:id="rId105"/>
    <p:sldId id="458" r:id="rId106"/>
    <p:sldId id="314" r:id="rId107"/>
    <p:sldId id="315" r:id="rId108"/>
    <p:sldId id="318" r:id="rId109"/>
    <p:sldId id="459" r:id="rId110"/>
    <p:sldId id="319" r:id="rId111"/>
    <p:sldId id="395" r:id="rId112"/>
    <p:sldId id="320" r:id="rId113"/>
    <p:sldId id="321" r:id="rId114"/>
    <p:sldId id="322" r:id="rId115"/>
    <p:sldId id="323" r:id="rId116"/>
    <p:sldId id="460"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96" r:id="rId130"/>
    <p:sldId id="336" r:id="rId131"/>
    <p:sldId id="337" r:id="rId132"/>
    <p:sldId id="338" r:id="rId133"/>
    <p:sldId id="398" r:id="rId134"/>
    <p:sldId id="397" r:id="rId135"/>
    <p:sldId id="340" r:id="rId136"/>
    <p:sldId id="341" r:id="rId137"/>
    <p:sldId id="390" r:id="rId138"/>
    <p:sldId id="342" r:id="rId139"/>
    <p:sldId id="461" r:id="rId140"/>
    <p:sldId id="391" r:id="rId141"/>
    <p:sldId id="462" r:id="rId142"/>
    <p:sldId id="344" r:id="rId143"/>
    <p:sldId id="399" r:id="rId144"/>
    <p:sldId id="343" r:id="rId145"/>
    <p:sldId id="345" r:id="rId146"/>
    <p:sldId id="346" r:id="rId147"/>
    <p:sldId id="347" r:id="rId148"/>
    <p:sldId id="400" r:id="rId149"/>
    <p:sldId id="348" r:id="rId150"/>
    <p:sldId id="349" r:id="rId151"/>
    <p:sldId id="401" r:id="rId152"/>
    <p:sldId id="406" r:id="rId153"/>
    <p:sldId id="377" r:id="rId154"/>
    <p:sldId id="350" r:id="rId155"/>
    <p:sldId id="351" r:id="rId156"/>
    <p:sldId id="352" r:id="rId157"/>
    <p:sldId id="402" r:id="rId158"/>
    <p:sldId id="353" r:id="rId159"/>
    <p:sldId id="403" r:id="rId160"/>
    <p:sldId id="354" r:id="rId161"/>
    <p:sldId id="378" r:id="rId162"/>
    <p:sldId id="379" r:id="rId163"/>
    <p:sldId id="355" r:id="rId164"/>
    <p:sldId id="380" r:id="rId165"/>
    <p:sldId id="381" r:id="rId166"/>
    <p:sldId id="382" r:id="rId167"/>
    <p:sldId id="356" r:id="rId168"/>
    <p:sldId id="383" r:id="rId169"/>
    <p:sldId id="384" r:id="rId170"/>
    <p:sldId id="385" r:id="rId171"/>
    <p:sldId id="386" r:id="rId172"/>
    <p:sldId id="357" r:id="rId173"/>
    <p:sldId id="358" r:id="rId174"/>
    <p:sldId id="359" r:id="rId175"/>
    <p:sldId id="404" r:id="rId176"/>
    <p:sldId id="388" r:id="rId177"/>
    <p:sldId id="387" r:id="rId178"/>
    <p:sldId id="360" r:id="rId179"/>
    <p:sldId id="389" r:id="rId180"/>
    <p:sldId id="405" r:id="rId181"/>
    <p:sldId id="408" r:id="rId182"/>
    <p:sldId id="1037" r:id="rId183"/>
    <p:sldId id="1038" r:id="rId184"/>
    <p:sldId id="1039" r:id="rId185"/>
    <p:sldId id="376" r:id="rId186"/>
    <p:sldId id="1040" r:id="rId187"/>
    <p:sldId id="1041" r:id="rId188"/>
    <p:sldId id="1042" r:id="rId189"/>
    <p:sldId id="1043" r:id="rId190"/>
    <p:sldId id="1045" r:id="rId191"/>
    <p:sldId id="1044" r:id="rId192"/>
    <p:sldId id="1046" r:id="rId193"/>
    <p:sldId id="1047" r:id="rId194"/>
  </p:sldIdLst>
  <p:sldSz cx="9144000" cy="6858000" type="screen4x3"/>
  <p:notesSz cx="6858000" cy="9144000"/>
  <p:defaultTex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659" autoAdjust="0"/>
    <p:restoredTop sz="94699"/>
  </p:normalViewPr>
  <p:slideViewPr>
    <p:cSldViewPr>
      <p:cViewPr varScale="1">
        <p:scale>
          <a:sx n="85" d="100"/>
          <a:sy n="85" d="100"/>
        </p:scale>
        <p:origin x="176" y="96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notesMaster" Target="notesMasters/notesMaster1.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viewProps" Target="view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theme" Target="theme/theme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AA9AEF-E978-B04D-A94A-E17507F26DDD}" type="datetimeFigureOut">
              <a:rPr lang="en-US" smtClean="0"/>
              <a:t>10/13/26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A4E20B-85AE-EB44-9C6E-ACD4E578EC0A}" type="slidenum">
              <a:rPr lang="en-US" smtClean="0"/>
              <a:t>‹#›</a:t>
            </a:fld>
            <a:endParaRPr lang="en-US"/>
          </a:p>
        </p:txBody>
      </p:sp>
    </p:spTree>
    <p:extLst>
      <p:ext uri="{BB962C8B-B14F-4D97-AF65-F5344CB8AC3E}">
        <p14:creationId xmlns:p14="http://schemas.microsoft.com/office/powerpoint/2010/main" val="186915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AA4E20B-85AE-EB44-9C6E-ACD4E578EC0A}" type="slidenum">
              <a:rPr lang="en-US" smtClean="0"/>
              <a:t>3</a:t>
            </a:fld>
            <a:endParaRPr lang="en-US"/>
          </a:p>
        </p:txBody>
      </p:sp>
    </p:spTree>
    <p:extLst>
      <p:ext uri="{BB962C8B-B14F-4D97-AF65-F5344CB8AC3E}">
        <p14:creationId xmlns:p14="http://schemas.microsoft.com/office/powerpoint/2010/main" val="33855149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3" name="未知">
            <a:extLst>
              <a:ext uri="{FF2B5EF4-FFF2-40B4-BE49-F238E27FC236}">
                <a16:creationId xmlns:a16="http://schemas.microsoft.com/office/drawing/2014/main" id="{A36D6C19-B9E6-3F4C-A794-367FD3A7D1CE}"/>
              </a:ext>
            </a:extLst>
          </p:cNvPr>
          <p:cNvSpPr>
            <a:spLocks/>
          </p:cNvSpPr>
          <p:nvPr/>
        </p:nvSpPr>
        <p:spPr bwMode="auto">
          <a:xfrm>
            <a:off x="0" y="0"/>
            <a:ext cx="9145588" cy="695325"/>
          </a:xfrm>
          <a:custGeom>
            <a:avLst/>
            <a:gdLst>
              <a:gd name="T0" fmla="*/ 2147483646 w 5796"/>
              <a:gd name="T1" fmla="*/ 2147483646 h 438"/>
              <a:gd name="T2" fmla="*/ 0 w 5796"/>
              <a:gd name="T3" fmla="*/ 2147483646 h 438"/>
              <a:gd name="T4" fmla="*/ 0 w 5796"/>
              <a:gd name="T5" fmla="*/ 2147483646 h 438"/>
              <a:gd name="T6" fmla="*/ 2147483646 w 5796"/>
              <a:gd name="T7" fmla="*/ 2147483646 h 438"/>
              <a:gd name="T8" fmla="*/ 2147483646 w 5796"/>
              <a:gd name="T9" fmla="*/ 0 h 438"/>
              <a:gd name="T10" fmla="*/ 2147483646 w 5796"/>
              <a:gd name="T11" fmla="*/ 0 h 438"/>
              <a:gd name="T12" fmla="*/ 2147483646 w 5796"/>
              <a:gd name="T13" fmla="*/ 2147483646 h 438"/>
              <a:gd name="T14" fmla="*/ 2147483646 w 5796"/>
              <a:gd name="T15" fmla="*/ 2147483646 h 438"/>
              <a:gd name="T16" fmla="*/ 2147483646 w 5796"/>
              <a:gd name="T17" fmla="*/ 2147483646 h 43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796" h="438">
                <a:moveTo>
                  <a:pt x="5790" y="438"/>
                </a:moveTo>
                <a:lnTo>
                  <a:pt x="0" y="436"/>
                </a:lnTo>
                <a:lnTo>
                  <a:pt x="0" y="80"/>
                </a:lnTo>
                <a:lnTo>
                  <a:pt x="3174" y="80"/>
                </a:lnTo>
                <a:lnTo>
                  <a:pt x="3228" y="0"/>
                </a:lnTo>
                <a:lnTo>
                  <a:pt x="5238" y="0"/>
                </a:lnTo>
                <a:lnTo>
                  <a:pt x="5346" y="101"/>
                </a:lnTo>
                <a:lnTo>
                  <a:pt x="5796" y="101"/>
                </a:lnTo>
                <a:lnTo>
                  <a:pt x="5790" y="438"/>
                </a:lnTo>
                <a:close/>
              </a:path>
            </a:pathLst>
          </a:custGeom>
          <a:solidFill>
            <a:schemeClr val="hlink"/>
          </a:solidFill>
          <a:ln w="12700" cmpd="sng">
            <a:solidFill>
              <a:schemeClr val="folHlink"/>
            </a:solidFill>
            <a:round/>
            <a:headEnd/>
            <a:tailEnd/>
          </a:ln>
        </p:spPr>
        <p:txBody>
          <a:bodyPr/>
          <a:lstStyle/>
          <a:p>
            <a:endParaRPr lang="en-US"/>
          </a:p>
        </p:txBody>
      </p:sp>
      <p:sp>
        <p:nvSpPr>
          <p:cNvPr id="4" name="未知">
            <a:extLst>
              <a:ext uri="{FF2B5EF4-FFF2-40B4-BE49-F238E27FC236}">
                <a16:creationId xmlns:a16="http://schemas.microsoft.com/office/drawing/2014/main" id="{6AEA4FB2-23B5-6248-9EF8-36ED6B9A5CA2}"/>
              </a:ext>
            </a:extLst>
          </p:cNvPr>
          <p:cNvSpPr>
            <a:spLocks/>
          </p:cNvSpPr>
          <p:nvPr/>
        </p:nvSpPr>
        <p:spPr bwMode="auto">
          <a:xfrm>
            <a:off x="0" y="6121400"/>
            <a:ext cx="9144000" cy="692150"/>
          </a:xfrm>
          <a:custGeom>
            <a:avLst/>
            <a:gdLst/>
            <a:ahLst/>
            <a:cxnLst>
              <a:cxn ang="0">
                <a:pos x="0" y="0"/>
              </a:cxn>
              <a:cxn ang="0">
                <a:pos x="5766" y="0"/>
              </a:cxn>
              <a:cxn ang="0">
                <a:pos x="5766" y="318"/>
              </a:cxn>
              <a:cxn ang="0">
                <a:pos x="2592" y="318"/>
              </a:cxn>
              <a:cxn ang="0">
                <a:pos x="2538" y="390"/>
              </a:cxn>
              <a:cxn ang="0">
                <a:pos x="528" y="390"/>
              </a:cxn>
              <a:cxn ang="0">
                <a:pos x="420" y="300"/>
              </a:cxn>
              <a:cxn ang="0">
                <a:pos x="0" y="300"/>
              </a:cxn>
              <a:cxn ang="0">
                <a:pos x="0" y="0"/>
              </a:cxn>
            </a:cxnLst>
            <a:rect l="0" t="0" r="r" b="b"/>
            <a:pathLst>
              <a:path w="5766" h="390">
                <a:moveTo>
                  <a:pt x="0" y="0"/>
                </a:moveTo>
                <a:lnTo>
                  <a:pt x="5766" y="0"/>
                </a:lnTo>
                <a:lnTo>
                  <a:pt x="5766" y="318"/>
                </a:lnTo>
                <a:lnTo>
                  <a:pt x="2592" y="318"/>
                </a:lnTo>
                <a:lnTo>
                  <a:pt x="2538" y="390"/>
                </a:lnTo>
                <a:lnTo>
                  <a:pt x="528" y="390"/>
                </a:lnTo>
                <a:lnTo>
                  <a:pt x="420" y="300"/>
                </a:lnTo>
                <a:lnTo>
                  <a:pt x="0" y="300"/>
                </a:lnTo>
                <a:lnTo>
                  <a:pt x="0" y="0"/>
                </a:lnTo>
                <a:close/>
              </a:path>
            </a:pathLst>
          </a:custGeom>
          <a:gradFill rotWithShape="1">
            <a:gsLst>
              <a:gs pos="0">
                <a:schemeClr val="hlink"/>
              </a:gs>
              <a:gs pos="100000">
                <a:schemeClr val="hlink">
                  <a:gamma/>
                  <a:shade val="0"/>
                  <a:invGamma/>
                </a:schemeClr>
              </a:gs>
            </a:gsLst>
            <a:lin ang="5400000" scaled="1"/>
          </a:gradFill>
          <a:ln w="1270" cmpd="sng">
            <a:noFill/>
            <a:round/>
            <a:headEnd/>
            <a:tailEnd/>
          </a:ln>
          <a:effectLst/>
        </p:spPr>
        <p:txBody>
          <a:bodyPr/>
          <a:lstStyle/>
          <a:p>
            <a:pPr eaLnBrk="1" hangingPunct="1">
              <a:defRPr/>
            </a:pPr>
            <a:endParaRPr lang="zh-CN" altLang="en-US"/>
          </a:p>
        </p:txBody>
      </p:sp>
      <p:sp>
        <p:nvSpPr>
          <p:cNvPr id="5" name="Rectangle 4">
            <a:extLst>
              <a:ext uri="{FF2B5EF4-FFF2-40B4-BE49-F238E27FC236}">
                <a16:creationId xmlns:a16="http://schemas.microsoft.com/office/drawing/2014/main" id="{C03EA934-E201-6B4B-B3EE-0F1416B5A290}"/>
              </a:ext>
            </a:extLst>
          </p:cNvPr>
          <p:cNvSpPr>
            <a:spLocks noChangeArrowheads="1"/>
          </p:cNvSpPr>
          <p:nvPr/>
        </p:nvSpPr>
        <p:spPr bwMode="auto">
          <a:xfrm>
            <a:off x="0" y="620713"/>
            <a:ext cx="9140825" cy="5543550"/>
          </a:xfrm>
          <a:prstGeom prst="rect">
            <a:avLst/>
          </a:prstGeom>
          <a:gradFill rotWithShape="1">
            <a:gsLst>
              <a:gs pos="0">
                <a:schemeClr val="hlink"/>
              </a:gs>
              <a:gs pos="100000">
                <a:schemeClr val="hlink">
                  <a:gamma/>
                  <a:shade val="46275"/>
                  <a:invGamma/>
                </a:schemeClr>
              </a:gs>
            </a:gsLst>
            <a:lin ang="5400000" scaled="1"/>
          </a:gradFill>
          <a:ln w="9525">
            <a:noFill/>
            <a:miter lim="800000"/>
            <a:headEnd/>
            <a:tailEnd/>
          </a:ln>
          <a:effectLst/>
        </p:spPr>
        <p:txBody>
          <a:bodyPr wrap="none" anchor="ctr"/>
          <a:lstStyle/>
          <a:p>
            <a:pPr eaLnBrk="1" hangingPunct="1">
              <a:defRPr/>
            </a:pPr>
            <a:endParaRPr lang="zh-CN" altLang="en-US"/>
          </a:p>
        </p:txBody>
      </p:sp>
      <p:sp>
        <p:nvSpPr>
          <p:cNvPr id="6" name="Rectangle 5">
            <a:extLst>
              <a:ext uri="{FF2B5EF4-FFF2-40B4-BE49-F238E27FC236}">
                <a16:creationId xmlns:a16="http://schemas.microsoft.com/office/drawing/2014/main" id="{BE2D7782-C472-3B4C-A1B3-D22353867E04}"/>
              </a:ext>
            </a:extLst>
          </p:cNvPr>
          <p:cNvSpPr>
            <a:spLocks noChangeArrowheads="1"/>
          </p:cNvSpPr>
          <p:nvPr/>
        </p:nvSpPr>
        <p:spPr bwMode="auto">
          <a:xfrm>
            <a:off x="0" y="4040188"/>
            <a:ext cx="9144000" cy="2628900"/>
          </a:xfrm>
          <a:prstGeom prst="rect">
            <a:avLst/>
          </a:prstGeom>
          <a:gradFill rotWithShape="1">
            <a:gsLst>
              <a:gs pos="0">
                <a:schemeClr val="hlink">
                  <a:gamma/>
                  <a:shade val="0"/>
                  <a:invGamma/>
                </a:schemeClr>
              </a:gs>
              <a:gs pos="100000">
                <a:schemeClr val="hlink"/>
              </a:gs>
            </a:gsLst>
            <a:lin ang="5400000" scaled="1"/>
          </a:gradFill>
          <a:ln w="9525">
            <a:noFill/>
            <a:miter lim="800000"/>
            <a:headEnd/>
            <a:tailEnd/>
          </a:ln>
          <a:effectLst/>
        </p:spPr>
        <p:txBody>
          <a:bodyPr wrap="none" anchor="ctr"/>
          <a:lstStyle/>
          <a:p>
            <a:pPr eaLnBrk="1" hangingPunct="1">
              <a:defRPr/>
            </a:pPr>
            <a:endParaRPr lang="zh-CN" altLang="en-US"/>
          </a:p>
        </p:txBody>
      </p:sp>
      <p:sp>
        <p:nvSpPr>
          <p:cNvPr id="7" name="Rectangle 6">
            <a:extLst>
              <a:ext uri="{FF2B5EF4-FFF2-40B4-BE49-F238E27FC236}">
                <a16:creationId xmlns:a16="http://schemas.microsoft.com/office/drawing/2014/main" id="{73DCF0C9-02B2-044A-8197-AEDCC69844A2}"/>
              </a:ext>
            </a:extLst>
          </p:cNvPr>
          <p:cNvSpPr>
            <a:spLocks noChangeArrowheads="1"/>
          </p:cNvSpPr>
          <p:nvPr/>
        </p:nvSpPr>
        <p:spPr bwMode="auto">
          <a:xfrm>
            <a:off x="-39688" y="2887663"/>
            <a:ext cx="9259888" cy="1174750"/>
          </a:xfrm>
          <a:prstGeom prst="rect">
            <a:avLst/>
          </a:prstGeom>
          <a:solidFill>
            <a:srgbClr val="FF6600"/>
          </a:solidFill>
          <a:ln w="25400">
            <a:solidFill>
              <a:schemeClr val="bg1"/>
            </a:solidFill>
            <a:miter lim="800000"/>
            <a:headEnd/>
            <a:tailEnd/>
          </a:ln>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defRPr/>
            </a:pPr>
            <a:r>
              <a:rPr lang="en-US" altLang="zh-CN" sz="4400" b="0">
                <a:solidFill>
                  <a:schemeClr val="bg1"/>
                </a:solidFill>
                <a:latin typeface="Verdana" panose="020B0604030504040204" pitchFamily="34" charset="0"/>
                <a:ea typeface="Gulim" pitchFamily="34" charset="-127"/>
              </a:rPr>
              <a:t>    </a:t>
            </a:r>
            <a:endParaRPr lang="en-US" altLang="zh-CN" b="0">
              <a:latin typeface="Verdana" panose="020B0604030504040204" pitchFamily="34" charset="0"/>
              <a:ea typeface="Gulim" pitchFamily="34" charset="-127"/>
            </a:endParaRPr>
          </a:p>
        </p:txBody>
      </p:sp>
      <p:pic>
        <p:nvPicPr>
          <p:cNvPr id="8" name="Picture 8" descr="Untitled-1">
            <a:extLst>
              <a:ext uri="{FF2B5EF4-FFF2-40B4-BE49-F238E27FC236}">
                <a16:creationId xmlns:a16="http://schemas.microsoft.com/office/drawing/2014/main" id="{F66A52E1-467F-2C40-8B2A-E15F1F9A43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450" y="2420938"/>
            <a:ext cx="2168525" cy="223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31" name="Rectangle 7"/>
          <p:cNvSpPr>
            <a:spLocks noGrp="1" noChangeArrowheads="1"/>
          </p:cNvSpPr>
          <p:nvPr>
            <p:ph type="ctrTitle" sz="quarter"/>
          </p:nvPr>
        </p:nvSpPr>
        <p:spPr>
          <a:xfrm>
            <a:off x="2627313" y="2960688"/>
            <a:ext cx="6516687" cy="1042987"/>
          </a:xfrm>
        </p:spPr>
        <p:txBody>
          <a:bodyPr/>
          <a:lstStyle>
            <a:lvl1pPr algn="ctr">
              <a:defRPr sz="3600"/>
            </a:lvl1pPr>
          </a:lstStyle>
          <a:p>
            <a:endParaRPr lang="zh-CN" altLang="zh-CN"/>
          </a:p>
        </p:txBody>
      </p:sp>
    </p:spTree>
    <p:extLst>
      <p:ext uri="{BB962C8B-B14F-4D97-AF65-F5344CB8AC3E}">
        <p14:creationId xmlns:p14="http://schemas.microsoft.com/office/powerpoint/2010/main" val="2849315119"/>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307652226"/>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1782964956"/>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47700" y="1989138"/>
            <a:ext cx="3848100" cy="43354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989138"/>
            <a:ext cx="3848100" cy="43354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548690978"/>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814299466"/>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1918700832"/>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8635231"/>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555675438"/>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141238521"/>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014516634"/>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18263" y="368300"/>
            <a:ext cx="2078037" cy="5956300"/>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179388" y="368300"/>
            <a:ext cx="6086475" cy="5956300"/>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204981499"/>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179388" y="368300"/>
            <a:ext cx="6480175" cy="828675"/>
          </a:xfrm>
        </p:spPr>
        <p:txBody>
          <a:bodyPr/>
          <a:lstStyle/>
          <a:p>
            <a:r>
              <a:rPr lang="zh-CN" altLang="en-US"/>
              <a:t>单击此处编辑母版标题样式</a:t>
            </a:r>
          </a:p>
        </p:txBody>
      </p:sp>
      <p:sp>
        <p:nvSpPr>
          <p:cNvPr id="3" name="文本占位符 2"/>
          <p:cNvSpPr>
            <a:spLocks noGrp="1"/>
          </p:cNvSpPr>
          <p:nvPr>
            <p:ph type="body" sz="half" idx="1"/>
          </p:nvPr>
        </p:nvSpPr>
        <p:spPr>
          <a:xfrm>
            <a:off x="647700" y="1989138"/>
            <a:ext cx="3848100" cy="4335462"/>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989138"/>
            <a:ext cx="3848100" cy="4335462"/>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740996946"/>
      </p:ext>
    </p:extLst>
  </p:cSld>
  <p:clrMapOvr>
    <a:masterClrMapping/>
  </p:clrMapOvr>
  <p:transition>
    <p:random/>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179388" y="368300"/>
            <a:ext cx="6480175" cy="828675"/>
          </a:xfrm>
        </p:spPr>
        <p:txBody>
          <a:bodyPr/>
          <a:lstStyle/>
          <a:p>
            <a:r>
              <a:rPr lang="zh-CN" altLang="en-US"/>
              <a:t>单击此处编辑母版标题样式</a:t>
            </a:r>
          </a:p>
        </p:txBody>
      </p:sp>
      <p:sp>
        <p:nvSpPr>
          <p:cNvPr id="3" name="文本占位符 2"/>
          <p:cNvSpPr>
            <a:spLocks noGrp="1"/>
          </p:cNvSpPr>
          <p:nvPr>
            <p:ph type="body" sz="half" idx="1"/>
          </p:nvPr>
        </p:nvSpPr>
        <p:spPr>
          <a:xfrm>
            <a:off x="647700" y="1989138"/>
            <a:ext cx="3848100" cy="4335462"/>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4648200" y="1989138"/>
            <a:ext cx="3848100" cy="20907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4648200" y="4232275"/>
            <a:ext cx="3848100" cy="20923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25540987"/>
      </p:ext>
    </p:extLst>
  </p:cSld>
  <p:clrMapOvr>
    <a:masterClrMapping/>
  </p:clrMapOvr>
  <p:transition>
    <p:random/>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tx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CA4C1C00-72A5-CA45-BB7F-AA6A45657514}"/>
              </a:ext>
            </a:extLst>
          </p:cNvPr>
          <p:cNvSpPr>
            <a:spLocks noChangeArrowheads="1"/>
          </p:cNvSpPr>
          <p:nvPr/>
        </p:nvSpPr>
        <p:spPr bwMode="auto">
          <a:xfrm>
            <a:off x="0" y="1196975"/>
            <a:ext cx="9144000" cy="5661025"/>
          </a:xfrm>
          <a:prstGeom prst="rect">
            <a:avLst/>
          </a:prstGeom>
          <a:gradFill rotWithShape="1">
            <a:gsLst>
              <a:gs pos="0">
                <a:schemeClr val="hlink">
                  <a:gamma/>
                  <a:tint val="34902"/>
                  <a:invGamma/>
                </a:schemeClr>
              </a:gs>
              <a:gs pos="100000">
                <a:schemeClr val="hlink"/>
              </a:gs>
            </a:gsLst>
            <a:lin ang="5400000" scaled="1"/>
          </a:gradFill>
          <a:ln w="9525">
            <a:noFill/>
            <a:miter lim="800000"/>
            <a:headEnd/>
            <a:tailEnd/>
          </a:ln>
          <a:effectLst/>
        </p:spPr>
        <p:txBody>
          <a:bodyPr wrap="none" anchor="ctr"/>
          <a:lstStyle/>
          <a:p>
            <a:pPr eaLnBrk="1" hangingPunct="1">
              <a:defRPr/>
            </a:pPr>
            <a:endParaRPr lang="zh-CN" altLang="en-US"/>
          </a:p>
        </p:txBody>
      </p:sp>
      <p:sp>
        <p:nvSpPr>
          <p:cNvPr id="25603" name="Rectangle 3">
            <a:extLst>
              <a:ext uri="{FF2B5EF4-FFF2-40B4-BE49-F238E27FC236}">
                <a16:creationId xmlns:a16="http://schemas.microsoft.com/office/drawing/2014/main" id="{E3A2D53B-9DE4-144D-A8BD-E8CEFADAC4A8}"/>
              </a:ext>
            </a:extLst>
          </p:cNvPr>
          <p:cNvSpPr>
            <a:spLocks noChangeArrowheads="1"/>
          </p:cNvSpPr>
          <p:nvPr/>
        </p:nvSpPr>
        <p:spPr bwMode="auto">
          <a:xfrm>
            <a:off x="0" y="1233488"/>
            <a:ext cx="9144000" cy="322262"/>
          </a:xfrm>
          <a:prstGeom prst="rect">
            <a:avLst/>
          </a:prstGeom>
          <a:gradFill rotWithShape="1">
            <a:gsLst>
              <a:gs pos="0">
                <a:schemeClr val="hlink"/>
              </a:gs>
              <a:gs pos="100000">
                <a:schemeClr val="hlink">
                  <a:gamma/>
                  <a:tint val="41176"/>
                  <a:invGamma/>
                </a:schemeClr>
              </a:gs>
            </a:gsLst>
            <a:lin ang="5400000" scaled="1"/>
          </a:gradFill>
          <a:ln w="9525">
            <a:noFill/>
            <a:miter lim="800000"/>
            <a:headEnd/>
            <a:tailEnd/>
          </a:ln>
          <a:effectLst/>
        </p:spPr>
        <p:txBody>
          <a:bodyPr wrap="none" anchor="ctr"/>
          <a:lstStyle/>
          <a:p>
            <a:pPr algn="ctr">
              <a:defRPr/>
            </a:pPr>
            <a:endParaRPr lang="ko-KR" altLang="en-US" sz="1800" b="0">
              <a:latin typeface="Verdana" pitchFamily="34" charset="0"/>
              <a:ea typeface="Gulim" pitchFamily="34" charset="-127"/>
            </a:endParaRPr>
          </a:p>
        </p:txBody>
      </p:sp>
      <p:sp>
        <p:nvSpPr>
          <p:cNvPr id="25604" name="未知">
            <a:extLst>
              <a:ext uri="{FF2B5EF4-FFF2-40B4-BE49-F238E27FC236}">
                <a16:creationId xmlns:a16="http://schemas.microsoft.com/office/drawing/2014/main" id="{3F742DF1-AEC7-BD44-994F-43FD0802C660}"/>
              </a:ext>
            </a:extLst>
          </p:cNvPr>
          <p:cNvSpPr>
            <a:spLocks/>
          </p:cNvSpPr>
          <p:nvPr/>
        </p:nvSpPr>
        <p:spPr bwMode="auto">
          <a:xfrm flipV="1">
            <a:off x="0" y="0"/>
            <a:ext cx="9144000" cy="692150"/>
          </a:xfrm>
          <a:custGeom>
            <a:avLst/>
            <a:gdLst/>
            <a:ahLst/>
            <a:cxnLst>
              <a:cxn ang="0">
                <a:pos x="0" y="0"/>
              </a:cxn>
              <a:cxn ang="0">
                <a:pos x="5766" y="0"/>
              </a:cxn>
              <a:cxn ang="0">
                <a:pos x="5766" y="318"/>
              </a:cxn>
              <a:cxn ang="0">
                <a:pos x="2592" y="318"/>
              </a:cxn>
              <a:cxn ang="0">
                <a:pos x="2538" y="390"/>
              </a:cxn>
              <a:cxn ang="0">
                <a:pos x="528" y="390"/>
              </a:cxn>
              <a:cxn ang="0">
                <a:pos x="420" y="300"/>
              </a:cxn>
              <a:cxn ang="0">
                <a:pos x="0" y="300"/>
              </a:cxn>
              <a:cxn ang="0">
                <a:pos x="0" y="0"/>
              </a:cxn>
            </a:cxnLst>
            <a:rect l="0" t="0" r="r" b="b"/>
            <a:pathLst>
              <a:path w="5766" h="390">
                <a:moveTo>
                  <a:pt x="0" y="0"/>
                </a:moveTo>
                <a:lnTo>
                  <a:pt x="5766" y="0"/>
                </a:lnTo>
                <a:lnTo>
                  <a:pt x="5766" y="318"/>
                </a:lnTo>
                <a:lnTo>
                  <a:pt x="2592" y="318"/>
                </a:lnTo>
                <a:lnTo>
                  <a:pt x="2538" y="390"/>
                </a:lnTo>
                <a:lnTo>
                  <a:pt x="528" y="390"/>
                </a:lnTo>
                <a:lnTo>
                  <a:pt x="420" y="300"/>
                </a:lnTo>
                <a:lnTo>
                  <a:pt x="0" y="300"/>
                </a:lnTo>
                <a:lnTo>
                  <a:pt x="0" y="0"/>
                </a:lnTo>
                <a:close/>
              </a:path>
            </a:pathLst>
          </a:custGeom>
          <a:gradFill rotWithShape="1">
            <a:gsLst>
              <a:gs pos="0">
                <a:schemeClr val="hlink"/>
              </a:gs>
              <a:gs pos="100000">
                <a:schemeClr val="hlink">
                  <a:gamma/>
                  <a:tint val="89020"/>
                  <a:invGamma/>
                </a:schemeClr>
              </a:gs>
            </a:gsLst>
            <a:lin ang="5400000" scaled="1"/>
          </a:gradFill>
          <a:ln w="1270" cmpd="sng">
            <a:solidFill>
              <a:schemeClr val="folHlink"/>
            </a:solidFill>
            <a:round/>
            <a:headEnd/>
            <a:tailEnd/>
          </a:ln>
          <a:effectLst/>
        </p:spPr>
        <p:txBody>
          <a:bodyPr/>
          <a:lstStyle/>
          <a:p>
            <a:pPr eaLnBrk="1" hangingPunct="1">
              <a:defRPr/>
            </a:pPr>
            <a:endParaRPr lang="zh-CN" altLang="en-US"/>
          </a:p>
        </p:txBody>
      </p:sp>
      <p:sp>
        <p:nvSpPr>
          <p:cNvPr id="1029" name="Rectangle 5">
            <a:extLst>
              <a:ext uri="{FF2B5EF4-FFF2-40B4-BE49-F238E27FC236}">
                <a16:creationId xmlns:a16="http://schemas.microsoft.com/office/drawing/2014/main" id="{102CF3B5-D9D8-C941-8F85-A4D66E74FF0A}"/>
              </a:ext>
            </a:extLst>
          </p:cNvPr>
          <p:cNvSpPr>
            <a:spLocks noChangeArrowheads="1"/>
          </p:cNvSpPr>
          <p:nvPr/>
        </p:nvSpPr>
        <p:spPr bwMode="auto">
          <a:xfrm>
            <a:off x="0" y="346075"/>
            <a:ext cx="9144000" cy="887413"/>
          </a:xfrm>
          <a:prstGeom prst="rect">
            <a:avLst/>
          </a:prstGeom>
          <a:solidFill>
            <a:srgbClr val="FF9900"/>
          </a:solidFill>
          <a:ln>
            <a:noFill/>
          </a:ln>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defRPr/>
            </a:pPr>
            <a:r>
              <a:rPr lang="en-US" altLang="zh-CN" sz="4400" b="0">
                <a:solidFill>
                  <a:schemeClr val="bg1"/>
                </a:solidFill>
                <a:latin typeface="Verdana" panose="020B0604030504040204" pitchFamily="34" charset="0"/>
                <a:ea typeface="Gulim" pitchFamily="34" charset="-127"/>
              </a:rPr>
              <a:t>    </a:t>
            </a:r>
            <a:endParaRPr lang="en-US" altLang="zh-CN" b="0">
              <a:latin typeface="Verdana" panose="020B0604030504040204" pitchFamily="34" charset="0"/>
              <a:ea typeface="Gulim" pitchFamily="34" charset="-127"/>
            </a:endParaRPr>
          </a:p>
        </p:txBody>
      </p:sp>
      <p:sp>
        <p:nvSpPr>
          <p:cNvPr id="1030" name="Rectangle 6">
            <a:extLst>
              <a:ext uri="{FF2B5EF4-FFF2-40B4-BE49-F238E27FC236}">
                <a16:creationId xmlns:a16="http://schemas.microsoft.com/office/drawing/2014/main" id="{518AA016-9DB5-EF49-BC1E-A1E2C0D70E18}"/>
              </a:ext>
            </a:extLst>
          </p:cNvPr>
          <p:cNvSpPr>
            <a:spLocks noGrp="1" noChangeArrowheads="1"/>
          </p:cNvSpPr>
          <p:nvPr>
            <p:ph type="title"/>
          </p:nvPr>
        </p:nvSpPr>
        <p:spPr bwMode="auto">
          <a:xfrm>
            <a:off x="179388" y="368300"/>
            <a:ext cx="6480175" cy="82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endParaRPr lang="zh-CN" altLang="zh-CN"/>
          </a:p>
        </p:txBody>
      </p:sp>
      <p:sp>
        <p:nvSpPr>
          <p:cNvPr id="1031" name="Rectangle 7">
            <a:extLst>
              <a:ext uri="{FF2B5EF4-FFF2-40B4-BE49-F238E27FC236}">
                <a16:creationId xmlns:a16="http://schemas.microsoft.com/office/drawing/2014/main" id="{078C09BA-794E-5246-AD6F-13E79DF7321A}"/>
              </a:ext>
            </a:extLst>
          </p:cNvPr>
          <p:cNvSpPr>
            <a:spLocks noChangeArrowheads="1"/>
          </p:cNvSpPr>
          <p:nvPr/>
        </p:nvSpPr>
        <p:spPr bwMode="auto">
          <a:xfrm>
            <a:off x="0" y="1196975"/>
            <a:ext cx="9144000" cy="36513"/>
          </a:xfrm>
          <a:prstGeom prst="rect">
            <a:avLst/>
          </a:prstGeom>
          <a:solidFill>
            <a:schemeClr val="tx2"/>
          </a:solidFill>
          <a:ln>
            <a:noFill/>
          </a:ln>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eaLnBrk="1" hangingPunct="1">
              <a:defRPr/>
            </a:pPr>
            <a:endParaRPr lang="zh-CN" altLang="en-US"/>
          </a:p>
        </p:txBody>
      </p:sp>
      <p:sp>
        <p:nvSpPr>
          <p:cNvPr id="1032" name="Rectangle 8">
            <a:extLst>
              <a:ext uri="{FF2B5EF4-FFF2-40B4-BE49-F238E27FC236}">
                <a16:creationId xmlns:a16="http://schemas.microsoft.com/office/drawing/2014/main" id="{9A1C7653-3A68-0F4B-A65D-1ECA53C28700}"/>
              </a:ext>
            </a:extLst>
          </p:cNvPr>
          <p:cNvSpPr>
            <a:spLocks noChangeArrowheads="1"/>
          </p:cNvSpPr>
          <p:nvPr/>
        </p:nvSpPr>
        <p:spPr bwMode="auto">
          <a:xfrm>
            <a:off x="0" y="333375"/>
            <a:ext cx="9144000" cy="36513"/>
          </a:xfrm>
          <a:prstGeom prst="rect">
            <a:avLst/>
          </a:prstGeom>
          <a:solidFill>
            <a:schemeClr val="tx2"/>
          </a:solidFill>
          <a:ln>
            <a:noFill/>
          </a:ln>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eaLnBrk="1" hangingPunct="1">
              <a:defRPr/>
            </a:pPr>
            <a:endParaRPr lang="zh-CN" altLang="en-US"/>
          </a:p>
        </p:txBody>
      </p:sp>
      <p:sp>
        <p:nvSpPr>
          <p:cNvPr id="25609" name="Rectangle 9">
            <a:extLst>
              <a:ext uri="{FF2B5EF4-FFF2-40B4-BE49-F238E27FC236}">
                <a16:creationId xmlns:a16="http://schemas.microsoft.com/office/drawing/2014/main" id="{AD292E53-8109-D740-9FB6-AF1D1BE15502}"/>
              </a:ext>
            </a:extLst>
          </p:cNvPr>
          <p:cNvSpPr>
            <a:spLocks noGrp="1" noChangeArrowheads="1"/>
          </p:cNvSpPr>
          <p:nvPr>
            <p:ph type="body" idx="1"/>
          </p:nvPr>
        </p:nvSpPr>
        <p:spPr bwMode="auto">
          <a:xfrm>
            <a:off x="647700" y="1989138"/>
            <a:ext cx="7848600" cy="4335462"/>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endParaRPr lang="zh-CN" altLang="zh-CN"/>
          </a:p>
        </p:txBody>
      </p:sp>
    </p:spTree>
  </p:cSld>
  <p:clrMap bg1="lt1" tx1="dk1" bg2="lt2" tx2="dk2" accent1="accent1" accent2="accent2" accent3="accent3" accent4="accent4" accent5="accent5" accent6="accent6" hlink="hlink" folHlink="folHlink"/>
  <p:sldLayoutIdLst>
    <p:sldLayoutId id="2147483943" r:id="rId1"/>
    <p:sldLayoutId id="2147483931" r:id="rId2"/>
    <p:sldLayoutId id="2147483932" r:id="rId3"/>
    <p:sldLayoutId id="2147483933" r:id="rId4"/>
    <p:sldLayoutId id="2147483934" r:id="rId5"/>
    <p:sldLayoutId id="2147483935" r:id="rId6"/>
    <p:sldLayoutId id="2147483936" r:id="rId7"/>
    <p:sldLayoutId id="2147483937" r:id="rId8"/>
    <p:sldLayoutId id="2147483938" r:id="rId9"/>
    <p:sldLayoutId id="2147483939" r:id="rId10"/>
    <p:sldLayoutId id="2147483940" r:id="rId11"/>
    <p:sldLayoutId id="2147483941" r:id="rId12"/>
    <p:sldLayoutId id="2147483942" r:id="rId13"/>
  </p:sldLayoutIdLst>
  <p:transition>
    <p:random/>
  </p:transition>
  <p:txStyles>
    <p:title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p:titleStyle>
    <p:body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11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2.xml"/></Relationships>
</file>

<file path=ppt/slides/_rels/slide12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12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2.xml"/></Relationships>
</file>

<file path=ppt/slides/_rels/slide13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2.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B12C-868A-2645-9BEC-4ED55E8CBEFD}"/>
              </a:ext>
            </a:extLst>
          </p:cNvPr>
          <p:cNvSpPr>
            <a:spLocks noGrp="1"/>
          </p:cNvSpPr>
          <p:nvPr>
            <p:ph type="ctrTitle" sz="quarter"/>
          </p:nvPr>
        </p:nvSpPr>
        <p:spPr/>
        <p:txBody>
          <a:bodyPr/>
          <a:lstStyle/>
          <a:p>
            <a:r>
              <a:rPr lang="zh-CN" altLang="en-US" dirty="0">
                <a:solidFill>
                  <a:schemeClr val="tx1"/>
                </a:solidFill>
              </a:rPr>
              <a:t>第</a:t>
            </a:r>
            <a:r>
              <a:rPr lang="en-US" altLang="zh-CN" dirty="0">
                <a:solidFill>
                  <a:schemeClr val="tx1"/>
                </a:solidFill>
              </a:rPr>
              <a:t>4</a:t>
            </a:r>
            <a:r>
              <a:rPr lang="zh-CN" altLang="en-US" dirty="0">
                <a:solidFill>
                  <a:schemeClr val="tx1"/>
                </a:solidFill>
              </a:rPr>
              <a:t>章 存储管理</a:t>
            </a:r>
            <a:endParaRPr lang="en-US" dirty="0"/>
          </a:p>
        </p:txBody>
      </p:sp>
    </p:spTree>
    <p:extLst>
      <p:ext uri="{BB962C8B-B14F-4D97-AF65-F5344CB8AC3E}">
        <p14:creationId xmlns:p14="http://schemas.microsoft.com/office/powerpoint/2010/main" val="3003367517"/>
      </p:ext>
    </p:extLst>
  </p:cSld>
  <p:clrMapOvr>
    <a:masterClrMapping/>
  </p:clrMapOvr>
  <p:transition>
    <p:random/>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8CF4A-371D-3C49-AE09-BC19C43FD5C3}"/>
              </a:ext>
            </a:extLst>
          </p:cNvPr>
          <p:cNvSpPr>
            <a:spLocks noGrp="1"/>
          </p:cNvSpPr>
          <p:nvPr>
            <p:ph type="title"/>
          </p:nvPr>
        </p:nvSpPr>
        <p:spPr/>
        <p:txBody>
          <a:bodyPr/>
          <a:lstStyle/>
          <a:p>
            <a:r>
              <a:rPr lang="zh-TW" altLang="en-US" dirty="0"/>
              <a:t>什么是内存</a:t>
            </a:r>
            <a:r>
              <a:rPr lang="zh-CN" altLang="en-US" dirty="0"/>
              <a:t>？</a:t>
            </a:r>
            <a:r>
              <a:rPr lang="zh-TW" altLang="en-US" dirty="0"/>
              <a:t>有何作用</a:t>
            </a:r>
            <a:r>
              <a:rPr lang="zh-CN" altLang="en-US" dirty="0"/>
              <a:t>？</a:t>
            </a:r>
            <a:endParaRPr lang="en-US" dirty="0"/>
          </a:p>
        </p:txBody>
      </p:sp>
      <p:pic>
        <p:nvPicPr>
          <p:cNvPr id="3" name="Picture 2">
            <a:extLst>
              <a:ext uri="{FF2B5EF4-FFF2-40B4-BE49-F238E27FC236}">
                <a16:creationId xmlns:a16="http://schemas.microsoft.com/office/drawing/2014/main" id="{A82A96A1-3A04-574C-B5D4-E4AAD1102A6B}"/>
              </a:ext>
            </a:extLst>
          </p:cNvPr>
          <p:cNvPicPr>
            <a:picLocks noChangeAspect="1"/>
          </p:cNvPicPr>
          <p:nvPr/>
        </p:nvPicPr>
        <p:blipFill>
          <a:blip r:embed="rId2"/>
          <a:stretch>
            <a:fillRect/>
          </a:stretch>
        </p:blipFill>
        <p:spPr>
          <a:xfrm>
            <a:off x="0" y="1412776"/>
            <a:ext cx="9144000" cy="4446584"/>
          </a:xfrm>
          <a:prstGeom prst="rect">
            <a:avLst/>
          </a:prstGeom>
        </p:spPr>
      </p:pic>
      <p:pic>
        <p:nvPicPr>
          <p:cNvPr id="5" name="Picture 4">
            <a:extLst>
              <a:ext uri="{FF2B5EF4-FFF2-40B4-BE49-F238E27FC236}">
                <a16:creationId xmlns:a16="http://schemas.microsoft.com/office/drawing/2014/main" id="{F1698E0D-40EC-B54C-88CF-ABA9B51B6C9A}"/>
              </a:ext>
            </a:extLst>
          </p:cNvPr>
          <p:cNvPicPr>
            <a:picLocks noChangeAspect="1"/>
          </p:cNvPicPr>
          <p:nvPr/>
        </p:nvPicPr>
        <p:blipFill>
          <a:blip r:embed="rId3"/>
          <a:stretch>
            <a:fillRect/>
          </a:stretch>
        </p:blipFill>
        <p:spPr>
          <a:xfrm>
            <a:off x="0" y="1439809"/>
            <a:ext cx="9144000" cy="5165829"/>
          </a:xfrm>
          <a:prstGeom prst="rect">
            <a:avLst/>
          </a:prstGeom>
        </p:spPr>
      </p:pic>
      <p:pic>
        <p:nvPicPr>
          <p:cNvPr id="6" name="Picture 5">
            <a:extLst>
              <a:ext uri="{FF2B5EF4-FFF2-40B4-BE49-F238E27FC236}">
                <a16:creationId xmlns:a16="http://schemas.microsoft.com/office/drawing/2014/main" id="{F261734D-E1C7-9B4A-B543-447DFCE265CC}"/>
              </a:ext>
            </a:extLst>
          </p:cNvPr>
          <p:cNvPicPr>
            <a:picLocks noChangeAspect="1"/>
          </p:cNvPicPr>
          <p:nvPr/>
        </p:nvPicPr>
        <p:blipFill>
          <a:blip r:embed="rId4"/>
          <a:stretch>
            <a:fillRect/>
          </a:stretch>
        </p:blipFill>
        <p:spPr>
          <a:xfrm>
            <a:off x="0" y="1425652"/>
            <a:ext cx="9144000" cy="5064047"/>
          </a:xfrm>
          <a:prstGeom prst="rect">
            <a:avLst/>
          </a:prstGeom>
        </p:spPr>
      </p:pic>
    </p:spTree>
    <p:extLst>
      <p:ext uri="{BB962C8B-B14F-4D97-AF65-F5344CB8AC3E}">
        <p14:creationId xmlns:p14="http://schemas.microsoft.com/office/powerpoint/2010/main" val="5076528"/>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8CF4A-371D-3C49-AE09-BC19C43FD5C3}"/>
              </a:ext>
            </a:extLst>
          </p:cNvPr>
          <p:cNvSpPr>
            <a:spLocks noGrp="1"/>
          </p:cNvSpPr>
          <p:nvPr>
            <p:ph type="title"/>
          </p:nvPr>
        </p:nvSpPr>
        <p:spPr/>
        <p:txBody>
          <a:bodyPr/>
          <a:lstStyle/>
          <a:p>
            <a:r>
              <a:rPr lang="zh-TW" altLang="en-US" dirty="0"/>
              <a:t>什么是内存</a:t>
            </a:r>
            <a:r>
              <a:rPr lang="zh-CN" altLang="en-US" dirty="0"/>
              <a:t>？</a:t>
            </a:r>
            <a:r>
              <a:rPr lang="zh-TW" altLang="en-US" dirty="0"/>
              <a:t>有何作用</a:t>
            </a:r>
            <a:r>
              <a:rPr lang="zh-CN" altLang="en-US" dirty="0"/>
              <a:t>？</a:t>
            </a:r>
            <a:endParaRPr lang="en-US" dirty="0"/>
          </a:p>
        </p:txBody>
      </p:sp>
      <p:pic>
        <p:nvPicPr>
          <p:cNvPr id="4" name="Picture 3">
            <a:extLst>
              <a:ext uri="{FF2B5EF4-FFF2-40B4-BE49-F238E27FC236}">
                <a16:creationId xmlns:a16="http://schemas.microsoft.com/office/drawing/2014/main" id="{8154A9FC-C84D-6B43-B2ED-14D262DDBC54}"/>
              </a:ext>
            </a:extLst>
          </p:cNvPr>
          <p:cNvPicPr>
            <a:picLocks noChangeAspect="1"/>
          </p:cNvPicPr>
          <p:nvPr/>
        </p:nvPicPr>
        <p:blipFill>
          <a:blip r:embed="rId3"/>
          <a:stretch>
            <a:fillRect/>
          </a:stretch>
        </p:blipFill>
        <p:spPr>
          <a:xfrm>
            <a:off x="0" y="1481361"/>
            <a:ext cx="9144000" cy="1947639"/>
          </a:xfrm>
          <a:prstGeom prst="rect">
            <a:avLst/>
          </a:prstGeom>
        </p:spPr>
      </p:pic>
      <p:pic>
        <p:nvPicPr>
          <p:cNvPr id="5" name="Picture 4">
            <a:extLst>
              <a:ext uri="{FF2B5EF4-FFF2-40B4-BE49-F238E27FC236}">
                <a16:creationId xmlns:a16="http://schemas.microsoft.com/office/drawing/2014/main" id="{EE585A23-16C0-F941-A2F1-45C2BC72F012}"/>
              </a:ext>
            </a:extLst>
          </p:cNvPr>
          <p:cNvPicPr>
            <a:picLocks noChangeAspect="1"/>
          </p:cNvPicPr>
          <p:nvPr/>
        </p:nvPicPr>
        <p:blipFill>
          <a:blip r:embed="rId4"/>
          <a:stretch>
            <a:fillRect/>
          </a:stretch>
        </p:blipFill>
        <p:spPr>
          <a:xfrm>
            <a:off x="35496" y="3427926"/>
            <a:ext cx="3073400" cy="3060700"/>
          </a:xfrm>
          <a:prstGeom prst="rect">
            <a:avLst/>
          </a:prstGeom>
        </p:spPr>
      </p:pic>
      <p:pic>
        <p:nvPicPr>
          <p:cNvPr id="6" name="Picture 5">
            <a:extLst>
              <a:ext uri="{FF2B5EF4-FFF2-40B4-BE49-F238E27FC236}">
                <a16:creationId xmlns:a16="http://schemas.microsoft.com/office/drawing/2014/main" id="{BF2CCD6D-698A-1B4E-A6A1-27EDDB5FDC93}"/>
              </a:ext>
            </a:extLst>
          </p:cNvPr>
          <p:cNvPicPr>
            <a:picLocks noChangeAspect="1"/>
          </p:cNvPicPr>
          <p:nvPr/>
        </p:nvPicPr>
        <p:blipFill>
          <a:blip r:embed="rId5"/>
          <a:stretch>
            <a:fillRect/>
          </a:stretch>
        </p:blipFill>
        <p:spPr>
          <a:xfrm>
            <a:off x="4616019" y="3427926"/>
            <a:ext cx="4492485" cy="3430073"/>
          </a:xfrm>
          <a:prstGeom prst="rect">
            <a:avLst/>
          </a:prstGeom>
        </p:spPr>
      </p:pic>
      <p:pic>
        <p:nvPicPr>
          <p:cNvPr id="7" name="Picture 6">
            <a:extLst>
              <a:ext uri="{FF2B5EF4-FFF2-40B4-BE49-F238E27FC236}">
                <a16:creationId xmlns:a16="http://schemas.microsoft.com/office/drawing/2014/main" id="{C63A6B31-8722-CD4A-9C70-F57F8584AE2A}"/>
              </a:ext>
            </a:extLst>
          </p:cNvPr>
          <p:cNvPicPr>
            <a:picLocks noChangeAspect="1"/>
          </p:cNvPicPr>
          <p:nvPr/>
        </p:nvPicPr>
        <p:blipFill>
          <a:blip r:embed="rId6"/>
          <a:stretch>
            <a:fillRect/>
          </a:stretch>
        </p:blipFill>
        <p:spPr>
          <a:xfrm>
            <a:off x="1691680" y="2654300"/>
            <a:ext cx="4102100" cy="774700"/>
          </a:xfrm>
          <a:prstGeom prst="rect">
            <a:avLst/>
          </a:prstGeom>
        </p:spPr>
      </p:pic>
      <p:pic>
        <p:nvPicPr>
          <p:cNvPr id="8" name="Picture 7">
            <a:extLst>
              <a:ext uri="{FF2B5EF4-FFF2-40B4-BE49-F238E27FC236}">
                <a16:creationId xmlns:a16="http://schemas.microsoft.com/office/drawing/2014/main" id="{B96F89A8-C14B-AB43-91B4-B1BE66370C55}"/>
              </a:ext>
            </a:extLst>
          </p:cNvPr>
          <p:cNvPicPr>
            <a:picLocks noChangeAspect="1"/>
          </p:cNvPicPr>
          <p:nvPr/>
        </p:nvPicPr>
        <p:blipFill>
          <a:blip r:embed="rId7"/>
          <a:stretch>
            <a:fillRect/>
          </a:stretch>
        </p:blipFill>
        <p:spPr>
          <a:xfrm>
            <a:off x="2843808" y="3427926"/>
            <a:ext cx="1956768" cy="3430074"/>
          </a:xfrm>
          <a:prstGeom prst="rect">
            <a:avLst/>
          </a:prstGeom>
        </p:spPr>
      </p:pic>
      <p:pic>
        <p:nvPicPr>
          <p:cNvPr id="9" name="Picture 8">
            <a:extLst>
              <a:ext uri="{FF2B5EF4-FFF2-40B4-BE49-F238E27FC236}">
                <a16:creationId xmlns:a16="http://schemas.microsoft.com/office/drawing/2014/main" id="{7987A241-7AB0-664E-902F-146F530272F5}"/>
              </a:ext>
            </a:extLst>
          </p:cNvPr>
          <p:cNvPicPr>
            <a:picLocks noChangeAspect="1"/>
          </p:cNvPicPr>
          <p:nvPr/>
        </p:nvPicPr>
        <p:blipFill rotWithShape="1">
          <a:blip r:embed="rId8"/>
          <a:srcRect l="4119"/>
          <a:stretch/>
        </p:blipFill>
        <p:spPr>
          <a:xfrm>
            <a:off x="6307698" y="4498226"/>
            <a:ext cx="2728797" cy="945145"/>
          </a:xfrm>
          <a:prstGeom prst="rect">
            <a:avLst/>
          </a:prstGeom>
        </p:spPr>
      </p:pic>
    </p:spTree>
    <p:extLst>
      <p:ext uri="{BB962C8B-B14F-4D97-AF65-F5344CB8AC3E}">
        <p14:creationId xmlns:p14="http://schemas.microsoft.com/office/powerpoint/2010/main" val="4221319781"/>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p:tgtEl>
                                          <p:spTgt spid="5"/>
                                        </p:tgtEl>
                                        <p:attrNameLst>
                                          <p:attrName>ppt_y</p:attrName>
                                        </p:attrNameLst>
                                      </p:cBhvr>
                                      <p:tavLst>
                                        <p:tav tm="0">
                                          <p:val>
                                            <p:strVal val="#ppt_y+#ppt_h*1.125000"/>
                                          </p:val>
                                        </p:tav>
                                        <p:tav tm="100000">
                                          <p:val>
                                            <p:strVal val="#ppt_y"/>
                                          </p:val>
                                        </p:tav>
                                      </p:tavLst>
                                    </p:anim>
                                    <p:animEffect transition="in" filter="wipe(up)">
                                      <p:cBhvr>
                                        <p:cTn id="14"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14" presetClass="entr" presetSubtype="1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randombar(horizontal)">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6" presetClass="entr" presetSubtype="16"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circle(in)">
                                      <p:cBhvr>
                                        <p:cTn id="24" dur="20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barn(inVertical)">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3" presetClass="entr" presetSubtype="10" fill="hold"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blinds(horizontal)">
                                      <p:cBhvr>
                                        <p:cTn id="3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
            <a:extLst>
              <a:ext uri="{FF2B5EF4-FFF2-40B4-BE49-F238E27FC236}">
                <a16:creationId xmlns:a16="http://schemas.microsoft.com/office/drawing/2014/main" id="{0A398234-2245-CD4C-B037-C6515110CAFB}"/>
              </a:ext>
            </a:extLst>
          </p:cNvPr>
          <p:cNvSpPr>
            <a:spLocks noGrp="1" noChangeArrowheads="1"/>
          </p:cNvSpPr>
          <p:nvPr>
            <p:ph type="body" idx="1"/>
          </p:nvPr>
        </p:nvSpPr>
        <p:spPr>
          <a:xfrm>
            <a:off x="1" y="1412875"/>
            <a:ext cx="8964488" cy="5040313"/>
          </a:xfrm>
        </p:spPr>
        <p:txBody>
          <a:bodyPr/>
          <a:lstStyle/>
          <a:p>
            <a:pPr lvl="0" eaLnBrk="1" hangingPunct="1">
              <a:lnSpc>
                <a:spcPct val="150000"/>
              </a:lnSpc>
              <a:buNone/>
            </a:pPr>
            <a:r>
              <a:rPr lang="zh-CN" altLang="en-US" b="0" kern="1200" dirty="0">
                <a:solidFill>
                  <a:srgbClr val="000000"/>
                </a:solidFill>
                <a:effectLst/>
                <a:latin typeface="Calibri"/>
              </a:rPr>
              <a:t>　　    </a:t>
            </a:r>
            <a:r>
              <a:rPr lang="zh-CN" altLang="en-US" sz="2000" b="0" kern="1200" dirty="0">
                <a:solidFill>
                  <a:srgbClr val="000000"/>
                </a:solidFill>
                <a:effectLst/>
                <a:latin typeface="Calibri"/>
              </a:rPr>
              <a:t>计算机之所以能够得到如此广泛的普及，一方面归功于计算机高效的运算能力，另一方面则是</a:t>
            </a:r>
            <a:r>
              <a:rPr lang="zh-CN" altLang="en-US" sz="2000" kern="1200" dirty="0">
                <a:solidFill>
                  <a:srgbClr val="0000FF"/>
                </a:solidFill>
                <a:effectLst/>
                <a:latin typeface="Calibri"/>
                <a:ea typeface="华文彩云" panose="02010800040101010101" pitchFamily="2" charset="-122"/>
              </a:rPr>
              <a:t>强大的存储容量</a:t>
            </a:r>
            <a:r>
              <a:rPr lang="zh-CN" altLang="en-US" sz="2000" b="0" kern="1200" dirty="0">
                <a:solidFill>
                  <a:srgbClr val="000000"/>
                </a:solidFill>
                <a:effectLst/>
                <a:latin typeface="Calibri"/>
              </a:rPr>
              <a:t>。现代计算机系统中的存储容量已相当大，</a:t>
            </a:r>
            <a:r>
              <a:rPr lang="zh-CN" altLang="en-US" sz="2000" kern="1200" dirty="0">
                <a:solidFill>
                  <a:srgbClr val="800080"/>
                </a:solidFill>
                <a:effectLst/>
                <a:latin typeface="Calibri"/>
                <a:ea typeface="华文行楷" panose="02010800040101010101" pitchFamily="2" charset="-122"/>
              </a:rPr>
              <a:t>但仍然不能满足功能不断增强的系统程序和大型应用程序的使用，因而有效地管理计算机系统中的存储器，仍是操作系统的重要管理任务</a:t>
            </a:r>
            <a:r>
              <a:rPr lang="zh-CN" altLang="en-US" sz="2000" b="0" kern="1200" dirty="0">
                <a:solidFill>
                  <a:srgbClr val="800080"/>
                </a:solidFill>
                <a:effectLst/>
                <a:latin typeface="Calibri"/>
              </a:rPr>
              <a:t>。</a:t>
            </a:r>
            <a:endParaRPr lang="en-US" altLang="zh-CN" sz="2000" b="0" kern="1200" dirty="0">
              <a:solidFill>
                <a:srgbClr val="800080"/>
              </a:solidFill>
              <a:effectLst/>
              <a:latin typeface="Calibri"/>
            </a:endParaRPr>
          </a:p>
          <a:p>
            <a:pPr lvl="0" eaLnBrk="1" hangingPunct="1">
              <a:lnSpc>
                <a:spcPct val="150000"/>
              </a:lnSpc>
              <a:buNone/>
            </a:pPr>
            <a:r>
              <a:rPr lang="en-US" altLang="zh-CN" sz="2000" b="0" kern="1200" dirty="0">
                <a:solidFill>
                  <a:srgbClr val="800080"/>
                </a:solidFill>
                <a:effectLst/>
                <a:latin typeface="Calibri"/>
              </a:rPr>
              <a:t>               </a:t>
            </a:r>
            <a:r>
              <a:rPr lang="zh-CN" altLang="en-US" sz="2000" b="0" kern="1200" dirty="0">
                <a:solidFill>
                  <a:srgbClr val="000000"/>
                </a:solidFill>
                <a:effectLst/>
                <a:latin typeface="Calibri"/>
              </a:rPr>
              <a:t>本章主要讨论</a:t>
            </a:r>
            <a:r>
              <a:rPr lang="zh-CN" altLang="en-US" sz="2000" u="sng" kern="1200" dirty="0">
                <a:solidFill>
                  <a:srgbClr val="000000"/>
                </a:solidFill>
                <a:effectLst/>
                <a:latin typeface="Calibri"/>
                <a:ea typeface="方正粗黑宋简体" panose="02000000000000000000" pitchFamily="2" charset="-122"/>
              </a:rPr>
              <a:t>如何在主存储器空间中</a:t>
            </a:r>
            <a:r>
              <a:rPr lang="zh-CN" altLang="en-US" sz="2000" u="sng" kern="1200" dirty="0">
                <a:solidFill>
                  <a:srgbClr val="FF3300"/>
                </a:solidFill>
                <a:effectLst/>
                <a:latin typeface="Calibri"/>
                <a:ea typeface="方正粗黑宋简体" panose="02000000000000000000" pitchFamily="2" charset="-122"/>
              </a:rPr>
              <a:t>存放</a:t>
            </a:r>
            <a:r>
              <a:rPr lang="zh-CN" altLang="en-US" sz="2000" u="sng" kern="1200" dirty="0">
                <a:solidFill>
                  <a:srgbClr val="000000"/>
                </a:solidFill>
                <a:effectLst/>
                <a:latin typeface="Calibri"/>
                <a:ea typeface="方正粗黑宋简体" panose="02000000000000000000" pitchFamily="2" charset="-122"/>
              </a:rPr>
              <a:t>用户的程序和数据</a:t>
            </a:r>
            <a:r>
              <a:rPr lang="zh-CN" altLang="en-US" sz="2000" b="0" kern="1200" dirty="0">
                <a:solidFill>
                  <a:srgbClr val="000000"/>
                </a:solidFill>
                <a:effectLst/>
                <a:latin typeface="Calibri"/>
              </a:rPr>
              <a:t>，</a:t>
            </a:r>
            <a:r>
              <a:rPr lang="zh-CN" altLang="en-US" sz="2000" u="sng" kern="1200" dirty="0">
                <a:solidFill>
                  <a:srgbClr val="000000"/>
                </a:solidFill>
                <a:effectLst/>
                <a:latin typeface="Calibri"/>
                <a:ea typeface="方正粗黑宋简体" panose="02000000000000000000" pitchFamily="2" charset="-122"/>
              </a:rPr>
              <a:t>使得主存空间</a:t>
            </a:r>
            <a:r>
              <a:rPr lang="zh-CN" altLang="en-US" sz="2000" u="sng" kern="1200" dirty="0">
                <a:solidFill>
                  <a:srgbClr val="FF3300"/>
                </a:solidFill>
                <a:effectLst/>
                <a:latin typeface="Calibri"/>
                <a:ea typeface="方正粗黑宋简体" panose="02000000000000000000" pitchFamily="2" charset="-122"/>
              </a:rPr>
              <a:t>利用率更高</a:t>
            </a:r>
            <a:r>
              <a:rPr lang="zh-CN" altLang="en-US" sz="2000" u="sng" kern="1200" dirty="0">
                <a:solidFill>
                  <a:srgbClr val="000000"/>
                </a:solidFill>
                <a:effectLst/>
                <a:latin typeface="Calibri"/>
                <a:ea typeface="方正粗黑宋简体" panose="02000000000000000000" pitchFamily="2" charset="-122"/>
              </a:rPr>
              <a:t>，程序</a:t>
            </a:r>
            <a:r>
              <a:rPr lang="zh-CN" altLang="en-US" sz="2000" u="sng" kern="1200" dirty="0">
                <a:solidFill>
                  <a:srgbClr val="FF3300"/>
                </a:solidFill>
                <a:effectLst/>
                <a:latin typeface="Calibri"/>
                <a:ea typeface="方正粗黑宋简体" panose="02000000000000000000" pitchFamily="2" charset="-122"/>
              </a:rPr>
              <a:t>执行效率更快</a:t>
            </a:r>
            <a:r>
              <a:rPr lang="zh-CN" altLang="en-US" sz="2000" b="0" kern="1200" dirty="0">
                <a:solidFill>
                  <a:srgbClr val="000000"/>
                </a:solidFill>
                <a:effectLst/>
                <a:latin typeface="Calibri"/>
              </a:rPr>
              <a:t>。</a:t>
            </a:r>
            <a:endParaRPr lang="en-US" altLang="zh-CN" sz="2000" b="0" kern="1200" dirty="0">
              <a:solidFill>
                <a:srgbClr val="000000"/>
              </a:solidFill>
              <a:effectLst/>
              <a:latin typeface="Calibri"/>
            </a:endParaRPr>
          </a:p>
          <a:p>
            <a:pPr lvl="0" eaLnBrk="1" hangingPunct="1">
              <a:lnSpc>
                <a:spcPct val="150000"/>
              </a:lnSpc>
              <a:buNone/>
            </a:pPr>
            <a:r>
              <a:rPr lang="en-US" altLang="zh-CN" sz="2000" b="0" kern="1200" dirty="0">
                <a:solidFill>
                  <a:srgbClr val="000000"/>
                </a:solidFill>
                <a:effectLst/>
                <a:latin typeface="Calibri"/>
              </a:rPr>
              <a:t>              </a:t>
            </a:r>
            <a:r>
              <a:rPr lang="zh-CN" altLang="en-US" sz="2000" b="0" kern="1200" dirty="0">
                <a:solidFill>
                  <a:srgbClr val="000000"/>
                </a:solidFill>
                <a:effectLst/>
                <a:latin typeface="Calibri"/>
              </a:rPr>
              <a:t>本章从</a:t>
            </a:r>
            <a:r>
              <a:rPr lang="zh-CN" altLang="en-US" sz="2000" u="sng" kern="1200" dirty="0">
                <a:solidFill>
                  <a:srgbClr val="000000"/>
                </a:solidFill>
                <a:effectLst/>
                <a:latin typeface="Calibri"/>
                <a:ea typeface="方正粗黑宋简体" panose="02000000000000000000" pitchFamily="2" charset="-122"/>
              </a:rPr>
              <a:t>存储器相关基本概念</a:t>
            </a:r>
            <a:r>
              <a:rPr lang="zh-CN" altLang="en-US" sz="2000" b="0" kern="1200" dirty="0">
                <a:solidFill>
                  <a:srgbClr val="000000"/>
                </a:solidFill>
                <a:effectLst/>
                <a:latin typeface="Calibri"/>
              </a:rPr>
              <a:t>着手，将</a:t>
            </a:r>
            <a:r>
              <a:rPr lang="zh-CN" altLang="en-US" sz="2000" u="sng" kern="1200" dirty="0">
                <a:solidFill>
                  <a:srgbClr val="000000"/>
                </a:solidFill>
                <a:effectLst/>
                <a:latin typeface="Calibri"/>
                <a:ea typeface="方正粗黑宋简体" panose="02000000000000000000" pitchFamily="2" charset="-122"/>
              </a:rPr>
              <a:t>存储管理划分为</a:t>
            </a:r>
            <a:r>
              <a:rPr lang="zh-CN" altLang="en-US" sz="2000" u="sng" kern="1200" dirty="0">
                <a:solidFill>
                  <a:srgbClr val="FF3300"/>
                </a:solidFill>
                <a:effectLst/>
                <a:latin typeface="Calibri"/>
                <a:ea typeface="方正粗黑宋简体" panose="02000000000000000000" pitchFamily="2" charset="-122"/>
              </a:rPr>
              <a:t>简单存储管理</a:t>
            </a:r>
            <a:r>
              <a:rPr lang="zh-CN" altLang="en-US" sz="2000" u="sng" kern="1200" dirty="0">
                <a:solidFill>
                  <a:srgbClr val="000000"/>
                </a:solidFill>
                <a:effectLst/>
                <a:latin typeface="Calibri"/>
                <a:ea typeface="方正粗黑宋简体" panose="02000000000000000000" pitchFamily="2" charset="-122"/>
              </a:rPr>
              <a:t>和</a:t>
            </a:r>
            <a:r>
              <a:rPr lang="zh-CN" altLang="en-US" sz="2000" u="sng" kern="1200" dirty="0">
                <a:solidFill>
                  <a:srgbClr val="FF3300"/>
                </a:solidFill>
                <a:effectLst/>
                <a:latin typeface="Calibri"/>
                <a:ea typeface="方正粗黑宋简体" panose="02000000000000000000" pitchFamily="2" charset="-122"/>
              </a:rPr>
              <a:t>虚拟存储管理</a:t>
            </a:r>
            <a:r>
              <a:rPr lang="zh-CN" altLang="en-US" sz="2000" u="sng" kern="1200" dirty="0">
                <a:solidFill>
                  <a:srgbClr val="000000"/>
                </a:solidFill>
                <a:effectLst/>
                <a:latin typeface="Calibri"/>
                <a:ea typeface="方正粗黑宋简体" panose="02000000000000000000" pitchFamily="2" charset="-122"/>
              </a:rPr>
              <a:t>两部分</a:t>
            </a:r>
            <a:r>
              <a:rPr lang="zh-CN" altLang="en-US" sz="2000" b="0" kern="1200" dirty="0">
                <a:solidFill>
                  <a:srgbClr val="000000"/>
                </a:solidFill>
                <a:effectLst/>
                <a:latin typeface="Calibri"/>
              </a:rPr>
              <a:t>，分别介绍两种</a:t>
            </a:r>
            <a:r>
              <a:rPr lang="zh-CN" altLang="en-US" sz="2000" u="sng" kern="1200" dirty="0">
                <a:solidFill>
                  <a:srgbClr val="000000"/>
                </a:solidFill>
                <a:effectLst/>
                <a:latin typeface="Calibri"/>
                <a:ea typeface="方正粗黑宋简体" panose="02000000000000000000" pitchFamily="2" charset="-122"/>
              </a:rPr>
              <a:t>管理技术</a:t>
            </a:r>
            <a:r>
              <a:rPr lang="zh-CN" altLang="en-US" sz="2000" b="0" kern="1200" dirty="0">
                <a:solidFill>
                  <a:srgbClr val="000000"/>
                </a:solidFill>
                <a:effectLst/>
                <a:latin typeface="Calibri"/>
              </a:rPr>
              <a:t>，内容包括了每一种存储管理技术的</a:t>
            </a:r>
            <a:r>
              <a:rPr lang="zh-CN" altLang="en-US" sz="2000" u="sng" kern="1200" dirty="0">
                <a:solidFill>
                  <a:srgbClr val="0000FF"/>
                </a:solidFill>
                <a:effectLst/>
                <a:latin typeface="Calibri"/>
                <a:ea typeface="方正粗黑宋简体" panose="02000000000000000000" pitchFamily="2" charset="-122"/>
              </a:rPr>
              <a:t>原理</a:t>
            </a:r>
            <a:r>
              <a:rPr lang="zh-CN" altLang="en-US" sz="2000" b="0" kern="1200" dirty="0">
                <a:solidFill>
                  <a:srgbClr val="000000"/>
                </a:solidFill>
                <a:effectLst/>
                <a:latin typeface="Calibri"/>
              </a:rPr>
              <a:t>、</a:t>
            </a:r>
            <a:r>
              <a:rPr lang="zh-CN" altLang="en-US" sz="2000" u="sng" kern="1200" dirty="0">
                <a:solidFill>
                  <a:srgbClr val="0000FF"/>
                </a:solidFill>
                <a:effectLst/>
                <a:latin typeface="Calibri"/>
                <a:ea typeface="方正粗黑宋简体" panose="02000000000000000000" pitchFamily="2" charset="-122"/>
              </a:rPr>
              <a:t>逻辑描述</a:t>
            </a:r>
            <a:r>
              <a:rPr lang="zh-CN" altLang="en-US" sz="2000" b="0" kern="1200" dirty="0">
                <a:solidFill>
                  <a:srgbClr val="000000"/>
                </a:solidFill>
                <a:effectLst/>
                <a:latin typeface="Calibri"/>
              </a:rPr>
              <a:t>、</a:t>
            </a:r>
            <a:r>
              <a:rPr lang="zh-CN" altLang="en-US" sz="2000" u="sng" kern="1200" dirty="0">
                <a:solidFill>
                  <a:srgbClr val="0000FF"/>
                </a:solidFill>
                <a:effectLst/>
                <a:latin typeface="Calibri"/>
                <a:ea typeface="方正粗黑宋简体" panose="02000000000000000000" pitchFamily="2" charset="-122"/>
              </a:rPr>
              <a:t>经典案例</a:t>
            </a:r>
            <a:r>
              <a:rPr lang="zh-CN" altLang="en-US" sz="2000" b="0" kern="1200" dirty="0">
                <a:solidFill>
                  <a:srgbClr val="000000"/>
                </a:solidFill>
                <a:effectLst/>
                <a:latin typeface="Calibri"/>
              </a:rPr>
              <a:t>，详述了操作系统的存储管理所实现的</a:t>
            </a:r>
            <a:r>
              <a:rPr lang="zh-CN" altLang="en-US" sz="2000" u="sng" kern="1200" dirty="0">
                <a:solidFill>
                  <a:srgbClr val="000000"/>
                </a:solidFill>
                <a:effectLst/>
                <a:latin typeface="Calibri"/>
                <a:ea typeface="方正粗黑宋简体" panose="02000000000000000000" pitchFamily="2" charset="-122"/>
              </a:rPr>
              <a:t>主存的分配和去配</a:t>
            </a:r>
            <a:r>
              <a:rPr lang="zh-CN" altLang="en-US" sz="2000" b="0" kern="1200" dirty="0">
                <a:solidFill>
                  <a:srgbClr val="000000"/>
                </a:solidFill>
                <a:effectLst/>
                <a:latin typeface="Calibri"/>
              </a:rPr>
              <a:t>、</a:t>
            </a:r>
            <a:r>
              <a:rPr lang="zh-CN" altLang="en-US" sz="2000" u="sng" kern="1200" dirty="0">
                <a:solidFill>
                  <a:srgbClr val="000000"/>
                </a:solidFill>
                <a:effectLst/>
                <a:latin typeface="Calibri"/>
                <a:ea typeface="方正粗黑宋简体" panose="02000000000000000000" pitchFamily="2" charset="-122"/>
              </a:rPr>
              <a:t>地址转换和存储保护</a:t>
            </a:r>
            <a:r>
              <a:rPr lang="zh-CN" altLang="en-US" sz="2000" b="0" kern="1200" dirty="0">
                <a:solidFill>
                  <a:srgbClr val="000000"/>
                </a:solidFill>
                <a:effectLst/>
                <a:latin typeface="Calibri"/>
              </a:rPr>
              <a:t>、</a:t>
            </a:r>
            <a:r>
              <a:rPr lang="zh-CN" altLang="en-US" sz="2000" u="sng" kern="1200" dirty="0">
                <a:solidFill>
                  <a:srgbClr val="000000"/>
                </a:solidFill>
                <a:effectLst/>
                <a:latin typeface="Calibri"/>
                <a:ea typeface="方正粗黑宋简体" panose="02000000000000000000" pitchFamily="2" charset="-122"/>
              </a:rPr>
              <a:t>主存空间的共享以及扩充</a:t>
            </a:r>
            <a:r>
              <a:rPr lang="zh-CN" altLang="en-US" sz="2000" b="0" kern="1200" dirty="0">
                <a:solidFill>
                  <a:srgbClr val="000000"/>
                </a:solidFill>
                <a:effectLst/>
                <a:latin typeface="Calibri"/>
              </a:rPr>
              <a:t>。</a:t>
            </a:r>
          </a:p>
        </p:txBody>
      </p:sp>
      <p:sp>
        <p:nvSpPr>
          <p:cNvPr id="3075" name="Rectangle 9">
            <a:extLst>
              <a:ext uri="{FF2B5EF4-FFF2-40B4-BE49-F238E27FC236}">
                <a16:creationId xmlns:a16="http://schemas.microsoft.com/office/drawing/2014/main" id="{0174D3D1-5F08-1B4A-B049-CEBFBD950D90}"/>
              </a:ext>
            </a:extLst>
          </p:cNvPr>
          <p:cNvSpPr>
            <a:spLocks noGrp="1" noChangeArrowheads="1"/>
          </p:cNvSpPr>
          <p:nvPr>
            <p:ph type="title"/>
          </p:nvPr>
        </p:nvSpPr>
        <p:spPr>
          <a:noFill/>
        </p:spPr>
        <p:txBody>
          <a:bodyPr/>
          <a:lstStyle/>
          <a:p>
            <a:pPr algn="ctr" eaLnBrk="1" hangingPunct="1"/>
            <a:r>
              <a:rPr lang="zh-CN" altLang="en-US" dirty="0">
                <a:solidFill>
                  <a:schemeClr val="tx1"/>
                </a:solidFill>
              </a:rPr>
              <a:t>第</a:t>
            </a:r>
            <a:r>
              <a:rPr lang="en-US" altLang="zh-CN" dirty="0">
                <a:solidFill>
                  <a:schemeClr val="tx1"/>
                </a:solidFill>
              </a:rPr>
              <a:t>4</a:t>
            </a:r>
            <a:r>
              <a:rPr lang="zh-CN" altLang="en-US" dirty="0">
                <a:solidFill>
                  <a:schemeClr val="tx1"/>
                </a:solidFill>
              </a:rPr>
              <a:t>章 存储管理</a:t>
            </a:r>
          </a:p>
        </p:txBody>
      </p:sp>
    </p:spTree>
  </p:cSld>
  <p:clrMapOvr>
    <a:masterClrMapping/>
  </p:clrMapOvr>
  <p:transition>
    <p:random/>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
            <a:extLst>
              <a:ext uri="{FF2B5EF4-FFF2-40B4-BE49-F238E27FC236}">
                <a16:creationId xmlns:a16="http://schemas.microsoft.com/office/drawing/2014/main" id="{43C7C41B-C5E7-E84C-B2D3-9468E530AE9B}"/>
              </a:ext>
            </a:extLst>
          </p:cNvPr>
          <p:cNvSpPr>
            <a:spLocks noGrp="1" noChangeArrowheads="1"/>
          </p:cNvSpPr>
          <p:nvPr>
            <p:ph type="body" idx="1"/>
          </p:nvPr>
        </p:nvSpPr>
        <p:spPr>
          <a:xfrm>
            <a:off x="179388" y="1844675"/>
            <a:ext cx="8640762" cy="4302125"/>
          </a:xfrm>
        </p:spPr>
        <p:txBody>
          <a:bodyPr/>
          <a:lstStyle/>
          <a:p>
            <a:pPr indent="0" algn="just">
              <a:lnSpc>
                <a:spcPts val="3600"/>
              </a:lnSpc>
              <a:buFont typeface="Wingdings" pitchFamily="2" charset="2"/>
              <a:buNone/>
            </a:pPr>
            <a:r>
              <a:rPr lang="en-US" altLang="zh-CN" sz="2000" dirty="0">
                <a:solidFill>
                  <a:schemeClr val="tx1"/>
                </a:solidFill>
                <a:effectLst/>
                <a:latin typeface="Times New Roman" panose="02020603050405020304" pitchFamily="18" charset="0"/>
              </a:rPr>
              <a:t>        </a:t>
            </a:r>
            <a:r>
              <a:rPr lang="zh-CN" altLang="zh-CN" sz="2000" dirty="0">
                <a:solidFill>
                  <a:schemeClr val="tx1"/>
                </a:solidFill>
                <a:effectLst/>
                <a:latin typeface="Times New Roman" panose="02020603050405020304" pitchFamily="18" charset="0"/>
              </a:rPr>
              <a:t>除了能够保证程序在内存中正常运行外，存储管理还应充分利用内存空间，为多道程序并发执行提供存储基础，</a:t>
            </a:r>
            <a:r>
              <a:rPr lang="zh-CN" altLang="zh-CN" sz="2000" kern="1200" dirty="0">
                <a:solidFill>
                  <a:srgbClr val="800080"/>
                </a:solidFill>
                <a:effectLst/>
                <a:latin typeface="Calibri"/>
                <a:ea typeface="华文行楷" panose="02010800040101010101" pitchFamily="2" charset="-122"/>
              </a:rPr>
              <a:t>使内存中的每道程序在运行中彼此隔离互不干扰，并尽可能方便用户使用内存。</a:t>
            </a:r>
            <a:endParaRPr lang="en-US" altLang="zh-CN" sz="2000" kern="1200" dirty="0">
              <a:solidFill>
                <a:srgbClr val="800080"/>
              </a:solidFill>
              <a:effectLst/>
              <a:latin typeface="Calibri"/>
              <a:ea typeface="华文行楷" panose="02010800040101010101" pitchFamily="2" charset="-122"/>
            </a:endParaRPr>
          </a:p>
          <a:p>
            <a:pPr indent="0" algn="just">
              <a:lnSpc>
                <a:spcPts val="3600"/>
              </a:lnSpc>
              <a:buFont typeface="Wingdings" pitchFamily="2" charset="2"/>
              <a:buNone/>
            </a:pPr>
            <a:r>
              <a:rPr lang="en-US" altLang="zh-CN" sz="2000" dirty="0">
                <a:solidFill>
                  <a:schemeClr val="tx1"/>
                </a:solidFill>
                <a:effectLst/>
                <a:latin typeface="Times New Roman" panose="02020603050405020304" pitchFamily="18" charset="0"/>
              </a:rPr>
              <a:t>       </a:t>
            </a:r>
            <a:r>
              <a:rPr lang="zh-CN" altLang="zh-CN" sz="2000" dirty="0">
                <a:solidFill>
                  <a:schemeClr val="tx1"/>
                </a:solidFill>
                <a:effectLst/>
                <a:latin typeface="Times New Roman" panose="02020603050405020304" pitchFamily="18" charset="0"/>
              </a:rPr>
              <a:t>在多道程序环境中，多个程序需要共享内存资源，内存紧张的问题依然突出。当内存不够用时，要通过虚拟存储技术来扩充物理内存。</a:t>
            </a:r>
            <a:r>
              <a:rPr lang="zh-CN" altLang="zh-CN" sz="2000" u="sng" kern="1200" dirty="0">
                <a:solidFill>
                  <a:srgbClr val="0000FF"/>
                </a:solidFill>
                <a:effectLst/>
                <a:latin typeface="Calibri"/>
                <a:ea typeface="方正粗黑宋简体" panose="02000000000000000000" pitchFamily="2" charset="-122"/>
              </a:rPr>
              <a:t>虚拟存储技术</a:t>
            </a:r>
            <a:r>
              <a:rPr lang="zh-CN" altLang="zh-CN" sz="2000" dirty="0">
                <a:solidFill>
                  <a:schemeClr val="tx1"/>
                </a:solidFill>
                <a:effectLst/>
                <a:latin typeface="Times New Roman" panose="02020603050405020304" pitchFamily="18" charset="0"/>
              </a:rPr>
              <a:t>能够自动实现</a:t>
            </a:r>
            <a:r>
              <a:rPr lang="zh-CN" altLang="zh-CN" sz="2000" u="sng" kern="1200" dirty="0">
                <a:solidFill>
                  <a:srgbClr val="000000"/>
                </a:solidFill>
                <a:effectLst/>
                <a:latin typeface="Calibri"/>
                <a:ea typeface="方正粗黑宋简体" panose="02000000000000000000" pitchFamily="2" charset="-122"/>
              </a:rPr>
              <a:t>程序和数据在内外存之间的交换</a:t>
            </a:r>
            <a:r>
              <a:rPr lang="zh-CN" altLang="zh-CN" sz="2000" dirty="0">
                <a:solidFill>
                  <a:schemeClr val="tx1"/>
                </a:solidFill>
                <a:effectLst/>
                <a:latin typeface="Times New Roman" panose="02020603050405020304" pitchFamily="18" charset="0"/>
              </a:rPr>
              <a:t>（交换过程对用户透明），把当前不运行的程序和数据及时调出内存，待以后需要运行时再将其由外存调入内存，由此腾出的内存空间就可以给需要运行的程序使用，从而达到了扩充内存的目的。</a:t>
            </a:r>
          </a:p>
          <a:p>
            <a:pPr indent="0" eaLnBrk="1" hangingPunct="1">
              <a:lnSpc>
                <a:spcPct val="150000"/>
              </a:lnSpc>
              <a:spcBef>
                <a:spcPct val="0"/>
              </a:spcBef>
              <a:buFont typeface="Wingdings" pitchFamily="2" charset="2"/>
              <a:buNone/>
            </a:pPr>
            <a:endParaRPr lang="en-US" altLang="zh-CN" sz="2000" dirty="0">
              <a:solidFill>
                <a:schemeClr val="tx1"/>
              </a:solidFill>
              <a:effectLst/>
              <a:latin typeface="宋体" panose="02010600030101010101" pitchFamily="2" charset="-122"/>
            </a:endParaRPr>
          </a:p>
        </p:txBody>
      </p:sp>
      <p:sp>
        <p:nvSpPr>
          <p:cNvPr id="4099" name="Rectangle 9">
            <a:extLst>
              <a:ext uri="{FF2B5EF4-FFF2-40B4-BE49-F238E27FC236}">
                <a16:creationId xmlns:a16="http://schemas.microsoft.com/office/drawing/2014/main" id="{0669D15F-E41A-7840-833D-CEB4E2763143}"/>
              </a:ext>
            </a:extLst>
          </p:cNvPr>
          <p:cNvSpPr>
            <a:spLocks noGrp="1" noChangeArrowheads="1"/>
          </p:cNvSpPr>
          <p:nvPr>
            <p:ph type="title"/>
          </p:nvPr>
        </p:nvSpPr>
        <p:spPr>
          <a:noFill/>
        </p:spPr>
        <p:txBody>
          <a:bodyPr/>
          <a:lstStyle/>
          <a:p>
            <a:pPr algn="ctr" eaLnBrk="1" hangingPunct="1"/>
            <a:r>
              <a:rPr lang="zh-CN" altLang="en-US">
                <a:solidFill>
                  <a:srgbClr val="FF0000"/>
                </a:solidFill>
              </a:rPr>
              <a:t>第</a:t>
            </a:r>
            <a:r>
              <a:rPr lang="en-US" altLang="zh-CN">
                <a:solidFill>
                  <a:srgbClr val="FF0000"/>
                </a:solidFill>
              </a:rPr>
              <a:t>4</a:t>
            </a:r>
            <a:r>
              <a:rPr lang="zh-CN" altLang="en-US">
                <a:solidFill>
                  <a:srgbClr val="FF0000"/>
                </a:solidFill>
              </a:rPr>
              <a:t>章 存储管理</a:t>
            </a:r>
          </a:p>
        </p:txBody>
      </p:sp>
    </p:spTree>
  </p:cSld>
  <p:clrMapOvr>
    <a:masterClrMapping/>
  </p:clrMapOvr>
  <p:transition>
    <p:rand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FAC4596B-323C-7341-A09E-592A43A22635}"/>
              </a:ext>
            </a:extLst>
          </p:cNvPr>
          <p:cNvSpPr>
            <a:spLocks noGrp="1" noChangeArrowheads="1"/>
          </p:cNvSpPr>
          <p:nvPr>
            <p:ph type="title"/>
          </p:nvPr>
        </p:nvSpPr>
        <p:spPr/>
        <p:txBody>
          <a:bodyPr/>
          <a:lstStyle/>
          <a:p>
            <a:pPr algn="ctr" eaLnBrk="1" hangingPunct="1"/>
            <a:r>
              <a:rPr lang="zh-CN" altLang="en-US" sz="3600">
                <a:solidFill>
                  <a:srgbClr val="FF0000"/>
                </a:solidFill>
              </a:rPr>
              <a:t>第</a:t>
            </a:r>
            <a:r>
              <a:rPr lang="en-US" altLang="zh-CN" sz="3600">
                <a:solidFill>
                  <a:srgbClr val="FF0000"/>
                </a:solidFill>
              </a:rPr>
              <a:t>4</a:t>
            </a:r>
            <a:r>
              <a:rPr lang="zh-CN" altLang="en-US" sz="3600">
                <a:solidFill>
                  <a:srgbClr val="FF0000"/>
                </a:solidFill>
              </a:rPr>
              <a:t>章 存储管理</a:t>
            </a:r>
          </a:p>
        </p:txBody>
      </p:sp>
      <p:sp>
        <p:nvSpPr>
          <p:cNvPr id="5123" name="Rectangle 3">
            <a:extLst>
              <a:ext uri="{FF2B5EF4-FFF2-40B4-BE49-F238E27FC236}">
                <a16:creationId xmlns:a16="http://schemas.microsoft.com/office/drawing/2014/main" id="{2A9CD7ED-270A-8542-B950-9167FC875770}"/>
              </a:ext>
            </a:extLst>
          </p:cNvPr>
          <p:cNvSpPr>
            <a:spLocks noGrp="1" noChangeArrowheads="1"/>
          </p:cNvSpPr>
          <p:nvPr>
            <p:ph type="body" idx="1"/>
          </p:nvPr>
        </p:nvSpPr>
        <p:spPr>
          <a:xfrm>
            <a:off x="1816100" y="1571625"/>
            <a:ext cx="5327650" cy="4500563"/>
          </a:xfrm>
        </p:spPr>
        <p:txBody>
          <a:bodyPr/>
          <a:lstStyle/>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4.1 </a:t>
            </a:r>
            <a:r>
              <a:rPr lang="zh-CN" altLang="en-US">
                <a:solidFill>
                  <a:schemeClr val="tx1"/>
                </a:solidFill>
                <a:effectLst/>
                <a:latin typeface="宋体" panose="02010600030101010101" pitchFamily="2" charset="-122"/>
              </a:rPr>
              <a:t>程序的链接和装入</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4.2 </a:t>
            </a:r>
            <a:r>
              <a:rPr lang="zh-CN" altLang="en-US">
                <a:solidFill>
                  <a:schemeClr val="tx1"/>
                </a:solidFill>
                <a:effectLst/>
                <a:latin typeface="宋体" panose="02010600030101010101" pitchFamily="2" charset="-122"/>
              </a:rPr>
              <a:t>存储器及存储管理的基本功能</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4.3 </a:t>
            </a:r>
            <a:r>
              <a:rPr lang="zh-CN" altLang="en-US">
                <a:solidFill>
                  <a:schemeClr val="tx1"/>
                </a:solidFill>
                <a:effectLst/>
                <a:latin typeface="宋体" panose="02010600030101010101" pitchFamily="2" charset="-122"/>
              </a:rPr>
              <a:t>分区式存储管理</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4.4 </a:t>
            </a:r>
            <a:r>
              <a:rPr lang="zh-CN" altLang="en-US">
                <a:solidFill>
                  <a:schemeClr val="tx1"/>
                </a:solidFill>
                <a:effectLst/>
                <a:latin typeface="宋体" panose="02010600030101010101" pitchFamily="2" charset="-122"/>
              </a:rPr>
              <a:t>分页存储管理</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4.5 </a:t>
            </a:r>
            <a:r>
              <a:rPr lang="zh-CN" altLang="en-US">
                <a:solidFill>
                  <a:schemeClr val="tx1"/>
                </a:solidFill>
                <a:effectLst/>
                <a:latin typeface="宋体" panose="02010600030101010101" pitchFamily="2" charset="-122"/>
              </a:rPr>
              <a:t>分段存储管理</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4.6 </a:t>
            </a:r>
            <a:r>
              <a:rPr lang="zh-CN" altLang="en-US">
                <a:solidFill>
                  <a:schemeClr val="tx1"/>
                </a:solidFill>
                <a:effectLst/>
                <a:latin typeface="宋体" panose="02010600030101010101" pitchFamily="2" charset="-122"/>
              </a:rPr>
              <a:t>段页式存储管理</a:t>
            </a:r>
          </a:p>
          <a:p>
            <a:pPr eaLnBrk="1" hangingPunct="1">
              <a:lnSpc>
                <a:spcPct val="150000"/>
              </a:lnSpc>
              <a:buFont typeface="Wingdings" pitchFamily="2" charset="2"/>
              <a:buNone/>
            </a:pPr>
            <a:r>
              <a:rPr lang="en-US" altLang="zh-CN">
                <a:solidFill>
                  <a:schemeClr val="tx1"/>
                </a:solidFill>
                <a:effectLst/>
                <a:latin typeface="宋体" panose="02010600030101010101" pitchFamily="2" charset="-122"/>
              </a:rPr>
              <a:t>4.7 </a:t>
            </a:r>
            <a:r>
              <a:rPr lang="zh-CN" altLang="en-US">
                <a:solidFill>
                  <a:schemeClr val="tx1"/>
                </a:solidFill>
                <a:effectLst/>
                <a:latin typeface="宋体" panose="02010600030101010101" pitchFamily="2" charset="-122"/>
              </a:rPr>
              <a:t>虚拟存储管理</a:t>
            </a:r>
          </a:p>
        </p:txBody>
      </p:sp>
    </p:spTree>
  </p:cSld>
  <p:clrMapOvr>
    <a:masterClrMapping/>
  </p:clrMapOvr>
  <p:transition>
    <p:rand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DFAD970D-0D28-9B49-9981-FED0FA1C45DE}"/>
              </a:ext>
            </a:extLst>
          </p:cNvPr>
          <p:cNvSpPr>
            <a:spLocks noGrp="1" noChangeArrowheads="1"/>
          </p:cNvSpPr>
          <p:nvPr>
            <p:ph type="body" idx="1"/>
          </p:nvPr>
        </p:nvSpPr>
        <p:spPr>
          <a:xfrm>
            <a:off x="357188" y="1428750"/>
            <a:ext cx="8572500" cy="2643188"/>
          </a:xfrm>
        </p:spPr>
        <p:txBody>
          <a:bodyPr/>
          <a:lstStyle/>
          <a:p>
            <a:pPr marL="0" indent="0" eaLnBrk="1" hangingPunct="1">
              <a:lnSpc>
                <a:spcPct val="150000"/>
              </a:lnSpc>
              <a:spcBef>
                <a:spcPct val="0"/>
              </a:spcBef>
              <a:buFont typeface="Wingdings" pitchFamily="2" charset="2"/>
              <a:buNone/>
            </a:pPr>
            <a:r>
              <a:rPr lang="en-US" altLang="zh-CN" sz="2200">
                <a:solidFill>
                  <a:schemeClr val="tx1"/>
                </a:solidFill>
                <a:effectLst/>
                <a:latin typeface="宋体" panose="02010600030101010101" pitchFamily="2" charset="-122"/>
              </a:rPr>
              <a:t>    </a:t>
            </a:r>
            <a:r>
              <a:rPr lang="zh-CN" altLang="en-US" sz="2200">
                <a:solidFill>
                  <a:schemeClr val="tx1"/>
                </a:solidFill>
                <a:effectLst/>
                <a:latin typeface="宋体" panose="02010600030101010101" pitchFamily="2" charset="-122"/>
              </a:rPr>
              <a:t>源程序转变为可执行程序：首先由编译程序把源程序编译成若干个目标模块，然后由链接程序把所有目标模块和它们需要的库函数链接在一起，形成一个完整的可装入模块。可装入模块可以通过装入程序装入内存成为可执行程序，当把</a:t>
            </a:r>
            <a:r>
              <a:rPr lang="en-US" altLang="zh-CN" sz="2200">
                <a:solidFill>
                  <a:schemeClr val="tx1"/>
                </a:solidFill>
                <a:effectLst/>
                <a:latin typeface="宋体" panose="02010600030101010101" pitchFamily="2" charset="-122"/>
              </a:rPr>
              <a:t>CPU</a:t>
            </a:r>
            <a:r>
              <a:rPr lang="zh-CN" altLang="en-US" sz="2200">
                <a:solidFill>
                  <a:schemeClr val="tx1"/>
                </a:solidFill>
                <a:effectLst/>
                <a:latin typeface="宋体" panose="02010600030101010101" pitchFamily="2" charset="-122"/>
              </a:rPr>
              <a:t>分配给它时就可以投入运行。</a:t>
            </a:r>
          </a:p>
        </p:txBody>
      </p:sp>
      <p:sp>
        <p:nvSpPr>
          <p:cNvPr id="32771" name="AutoShape 3">
            <a:extLst>
              <a:ext uri="{FF2B5EF4-FFF2-40B4-BE49-F238E27FC236}">
                <a16:creationId xmlns:a16="http://schemas.microsoft.com/office/drawing/2014/main" id="{D3F80282-6498-C24D-A19D-09432AA4C04E}"/>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pic>
        <p:nvPicPr>
          <p:cNvPr id="6148" name="Picture 6" descr="4-1">
            <a:extLst>
              <a:ext uri="{FF2B5EF4-FFF2-40B4-BE49-F238E27FC236}">
                <a16:creationId xmlns:a16="http://schemas.microsoft.com/office/drawing/2014/main" id="{FC71F2F0-631C-2B49-958E-337FEE0B15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3775" y="4132263"/>
            <a:ext cx="7221538" cy="236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14798A6A-0226-FA4C-9D77-347FB0F444F8}"/>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
        <p:nvSpPr>
          <p:cNvPr id="3" name="内容占位符 2">
            <a:extLst>
              <a:ext uri="{FF2B5EF4-FFF2-40B4-BE49-F238E27FC236}">
                <a16:creationId xmlns:a16="http://schemas.microsoft.com/office/drawing/2014/main" id="{C046B2C4-98F9-9843-B423-5C56201D1D9B}"/>
              </a:ext>
            </a:extLst>
          </p:cNvPr>
          <p:cNvSpPr txBox="1">
            <a:spLocks/>
          </p:cNvSpPr>
          <p:nvPr/>
        </p:nvSpPr>
        <p:spPr>
          <a:xfrm>
            <a:off x="344983" y="1586829"/>
            <a:ext cx="7772400" cy="857250"/>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a:buClr>
                <a:srgbClr val="0000FF"/>
              </a:buClr>
            </a:pPr>
            <a:r>
              <a:rPr lang="zh-CN" altLang="en-US" kern="0" dirty="0">
                <a:solidFill>
                  <a:srgbClr val="0000FF"/>
                </a:solidFill>
                <a:latin typeface="幼圆" pitchFamily="49" charset="-122"/>
                <a:ea typeface="幼圆" pitchFamily="49" charset="-122"/>
              </a:rPr>
              <a:t>程序运行的一般步骤</a:t>
            </a:r>
            <a:endParaRPr lang="en-US" altLang="zh-CN" kern="0" dirty="0">
              <a:solidFill>
                <a:srgbClr val="0000FF"/>
              </a:solidFill>
              <a:latin typeface="幼圆" pitchFamily="49" charset="-122"/>
              <a:ea typeface="幼圆" pitchFamily="49" charset="-122"/>
            </a:endParaRPr>
          </a:p>
        </p:txBody>
      </p:sp>
      <p:sp>
        <p:nvSpPr>
          <p:cNvPr id="4" name="AutoShape 3">
            <a:extLst>
              <a:ext uri="{FF2B5EF4-FFF2-40B4-BE49-F238E27FC236}">
                <a16:creationId xmlns:a16="http://schemas.microsoft.com/office/drawing/2014/main" id="{9871505A-B8FC-D344-8C2D-587F60E6C4E2}"/>
              </a:ext>
            </a:extLst>
          </p:cNvPr>
          <p:cNvSpPr>
            <a:spLocks noChangeArrowheads="1"/>
          </p:cNvSpPr>
          <p:nvPr/>
        </p:nvSpPr>
        <p:spPr bwMode="auto">
          <a:xfrm>
            <a:off x="1208584" y="2444080"/>
            <a:ext cx="838200" cy="457200"/>
          </a:xfrm>
          <a:prstGeom prst="flowChartOnlineStorage">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5" name="Line 4">
            <a:extLst>
              <a:ext uri="{FF2B5EF4-FFF2-40B4-BE49-F238E27FC236}">
                <a16:creationId xmlns:a16="http://schemas.microsoft.com/office/drawing/2014/main" id="{3568AF0C-8232-A14B-826D-BB601A9E6B12}"/>
              </a:ext>
            </a:extLst>
          </p:cNvPr>
          <p:cNvSpPr>
            <a:spLocks noChangeShapeType="1"/>
          </p:cNvSpPr>
          <p:nvPr/>
        </p:nvSpPr>
        <p:spPr bwMode="auto">
          <a:xfrm>
            <a:off x="1894384" y="2672680"/>
            <a:ext cx="4572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 name="Line 5">
            <a:extLst>
              <a:ext uri="{FF2B5EF4-FFF2-40B4-BE49-F238E27FC236}">
                <a16:creationId xmlns:a16="http://schemas.microsoft.com/office/drawing/2014/main" id="{107ED670-B1E7-524F-9C79-8C15A4E2A872}"/>
              </a:ext>
            </a:extLst>
          </p:cNvPr>
          <p:cNvSpPr>
            <a:spLocks noChangeShapeType="1"/>
          </p:cNvSpPr>
          <p:nvPr/>
        </p:nvSpPr>
        <p:spPr bwMode="auto">
          <a:xfrm>
            <a:off x="2351584" y="2672680"/>
            <a:ext cx="0" cy="25146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 name="Rectangle 6">
            <a:extLst>
              <a:ext uri="{FF2B5EF4-FFF2-40B4-BE49-F238E27FC236}">
                <a16:creationId xmlns:a16="http://schemas.microsoft.com/office/drawing/2014/main" id="{9CCDC03F-00D4-AD46-88F4-11FCFCF574C9}"/>
              </a:ext>
            </a:extLst>
          </p:cNvPr>
          <p:cNvSpPr>
            <a:spLocks noChangeArrowheads="1"/>
          </p:cNvSpPr>
          <p:nvPr/>
        </p:nvSpPr>
        <p:spPr bwMode="auto">
          <a:xfrm>
            <a:off x="1360984" y="3434680"/>
            <a:ext cx="762000" cy="304800"/>
          </a:xfrm>
          <a:prstGeom prst="rect">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8" name="Line 7">
            <a:extLst>
              <a:ext uri="{FF2B5EF4-FFF2-40B4-BE49-F238E27FC236}">
                <a16:creationId xmlns:a16="http://schemas.microsoft.com/office/drawing/2014/main" id="{B5D57719-1A87-0443-9795-B759E6DF9755}"/>
              </a:ext>
            </a:extLst>
          </p:cNvPr>
          <p:cNvSpPr>
            <a:spLocks noChangeShapeType="1"/>
          </p:cNvSpPr>
          <p:nvPr/>
        </p:nvSpPr>
        <p:spPr bwMode="auto">
          <a:xfrm>
            <a:off x="2122984" y="3587080"/>
            <a:ext cx="2286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 name="Rectangle 8">
            <a:extLst>
              <a:ext uri="{FF2B5EF4-FFF2-40B4-BE49-F238E27FC236}">
                <a16:creationId xmlns:a16="http://schemas.microsoft.com/office/drawing/2014/main" id="{5CFDB300-D270-9346-A1FA-7A43E7FCCBB5}"/>
              </a:ext>
            </a:extLst>
          </p:cNvPr>
          <p:cNvSpPr>
            <a:spLocks noChangeArrowheads="1"/>
          </p:cNvSpPr>
          <p:nvPr/>
        </p:nvSpPr>
        <p:spPr bwMode="auto">
          <a:xfrm>
            <a:off x="1360984" y="4044280"/>
            <a:ext cx="762000" cy="304800"/>
          </a:xfrm>
          <a:prstGeom prst="rect">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0" name="Line 9">
            <a:extLst>
              <a:ext uri="{FF2B5EF4-FFF2-40B4-BE49-F238E27FC236}">
                <a16:creationId xmlns:a16="http://schemas.microsoft.com/office/drawing/2014/main" id="{1F69B997-B819-EC47-ADA6-CA06D8430272}"/>
              </a:ext>
            </a:extLst>
          </p:cNvPr>
          <p:cNvSpPr>
            <a:spLocks noChangeShapeType="1"/>
          </p:cNvSpPr>
          <p:nvPr/>
        </p:nvSpPr>
        <p:spPr bwMode="auto">
          <a:xfrm>
            <a:off x="2122984" y="4196680"/>
            <a:ext cx="2286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Rectangle 15">
            <a:extLst>
              <a:ext uri="{FF2B5EF4-FFF2-40B4-BE49-F238E27FC236}">
                <a16:creationId xmlns:a16="http://schemas.microsoft.com/office/drawing/2014/main" id="{3288CF00-0D36-2443-B253-96187972A65B}"/>
              </a:ext>
            </a:extLst>
          </p:cNvPr>
          <p:cNvSpPr>
            <a:spLocks noChangeArrowheads="1"/>
          </p:cNvSpPr>
          <p:nvPr/>
        </p:nvSpPr>
        <p:spPr bwMode="auto">
          <a:xfrm>
            <a:off x="2961184" y="3587080"/>
            <a:ext cx="990600" cy="762000"/>
          </a:xfrm>
          <a:prstGeom prst="rect">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2" name="Rectangle 16">
            <a:extLst>
              <a:ext uri="{FF2B5EF4-FFF2-40B4-BE49-F238E27FC236}">
                <a16:creationId xmlns:a16="http://schemas.microsoft.com/office/drawing/2014/main" id="{490E3492-875A-A248-8A1C-2BD80B05EF5A}"/>
              </a:ext>
            </a:extLst>
          </p:cNvPr>
          <p:cNvSpPr>
            <a:spLocks noChangeArrowheads="1"/>
          </p:cNvSpPr>
          <p:nvPr/>
        </p:nvSpPr>
        <p:spPr bwMode="auto">
          <a:xfrm>
            <a:off x="4485184" y="3663280"/>
            <a:ext cx="1524000" cy="533400"/>
          </a:xfrm>
          <a:prstGeom prst="rect">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3" name="Rectangle 17">
            <a:extLst>
              <a:ext uri="{FF2B5EF4-FFF2-40B4-BE49-F238E27FC236}">
                <a16:creationId xmlns:a16="http://schemas.microsoft.com/office/drawing/2014/main" id="{4655774F-BDB4-9540-AFC3-8D592B39A15E}"/>
              </a:ext>
            </a:extLst>
          </p:cNvPr>
          <p:cNvSpPr>
            <a:spLocks noChangeArrowheads="1"/>
          </p:cNvSpPr>
          <p:nvPr/>
        </p:nvSpPr>
        <p:spPr bwMode="auto">
          <a:xfrm>
            <a:off x="6542584" y="3587080"/>
            <a:ext cx="990600" cy="762000"/>
          </a:xfrm>
          <a:prstGeom prst="rect">
            <a:avLst/>
          </a:prstGeom>
          <a:solidFill>
            <a:srgbClr val="0000FF"/>
          </a:solidFill>
          <a:ln w="2857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4" name="Line 18">
            <a:extLst>
              <a:ext uri="{FF2B5EF4-FFF2-40B4-BE49-F238E27FC236}">
                <a16:creationId xmlns:a16="http://schemas.microsoft.com/office/drawing/2014/main" id="{0560164B-F42A-7D4E-AC01-58E10E903265}"/>
              </a:ext>
            </a:extLst>
          </p:cNvPr>
          <p:cNvSpPr>
            <a:spLocks noChangeShapeType="1"/>
          </p:cNvSpPr>
          <p:nvPr/>
        </p:nvSpPr>
        <p:spPr bwMode="auto">
          <a:xfrm>
            <a:off x="8295184" y="2215480"/>
            <a:ext cx="0" cy="35814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19">
            <a:extLst>
              <a:ext uri="{FF2B5EF4-FFF2-40B4-BE49-F238E27FC236}">
                <a16:creationId xmlns:a16="http://schemas.microsoft.com/office/drawing/2014/main" id="{CB8A1DF7-0F54-B546-AFD6-97DEB5A6879D}"/>
              </a:ext>
            </a:extLst>
          </p:cNvPr>
          <p:cNvSpPr>
            <a:spLocks noChangeShapeType="1"/>
          </p:cNvSpPr>
          <p:nvPr/>
        </p:nvSpPr>
        <p:spPr bwMode="auto">
          <a:xfrm>
            <a:off x="8828584" y="2215480"/>
            <a:ext cx="0" cy="35814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Line 20">
            <a:extLst>
              <a:ext uri="{FF2B5EF4-FFF2-40B4-BE49-F238E27FC236}">
                <a16:creationId xmlns:a16="http://schemas.microsoft.com/office/drawing/2014/main" id="{7E13C0A4-3D6F-8042-B97B-FC510C5BDD10}"/>
              </a:ext>
            </a:extLst>
          </p:cNvPr>
          <p:cNvSpPr>
            <a:spLocks noChangeShapeType="1"/>
          </p:cNvSpPr>
          <p:nvPr/>
        </p:nvSpPr>
        <p:spPr bwMode="auto">
          <a:xfrm>
            <a:off x="8295184" y="3053680"/>
            <a:ext cx="5334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1">
            <a:extLst>
              <a:ext uri="{FF2B5EF4-FFF2-40B4-BE49-F238E27FC236}">
                <a16:creationId xmlns:a16="http://schemas.microsoft.com/office/drawing/2014/main" id="{747F20AE-CC9B-9A47-9AE0-BCB8B3DE133F}"/>
              </a:ext>
            </a:extLst>
          </p:cNvPr>
          <p:cNvSpPr>
            <a:spLocks noChangeShapeType="1"/>
          </p:cNvSpPr>
          <p:nvPr/>
        </p:nvSpPr>
        <p:spPr bwMode="auto">
          <a:xfrm>
            <a:off x="8295184" y="4044280"/>
            <a:ext cx="5334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22">
            <a:extLst>
              <a:ext uri="{FF2B5EF4-FFF2-40B4-BE49-F238E27FC236}">
                <a16:creationId xmlns:a16="http://schemas.microsoft.com/office/drawing/2014/main" id="{FF9B3221-2656-AC40-9BE3-8337DA445C89}"/>
              </a:ext>
            </a:extLst>
          </p:cNvPr>
          <p:cNvSpPr>
            <a:spLocks noChangeShapeType="1"/>
          </p:cNvSpPr>
          <p:nvPr/>
        </p:nvSpPr>
        <p:spPr bwMode="auto">
          <a:xfrm>
            <a:off x="2351584" y="3891880"/>
            <a:ext cx="6096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 name="Line 23">
            <a:extLst>
              <a:ext uri="{FF2B5EF4-FFF2-40B4-BE49-F238E27FC236}">
                <a16:creationId xmlns:a16="http://schemas.microsoft.com/office/drawing/2014/main" id="{C92D033D-4611-2E41-BDA0-48117036685A}"/>
              </a:ext>
            </a:extLst>
          </p:cNvPr>
          <p:cNvSpPr>
            <a:spLocks noChangeShapeType="1"/>
          </p:cNvSpPr>
          <p:nvPr/>
        </p:nvSpPr>
        <p:spPr bwMode="auto">
          <a:xfrm>
            <a:off x="3951784" y="3968080"/>
            <a:ext cx="5334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0" name="Line 24">
            <a:extLst>
              <a:ext uri="{FF2B5EF4-FFF2-40B4-BE49-F238E27FC236}">
                <a16:creationId xmlns:a16="http://schemas.microsoft.com/office/drawing/2014/main" id="{23F0F818-103A-8A40-AD77-67B614E6F766}"/>
              </a:ext>
            </a:extLst>
          </p:cNvPr>
          <p:cNvSpPr>
            <a:spLocks noChangeShapeType="1"/>
          </p:cNvSpPr>
          <p:nvPr/>
        </p:nvSpPr>
        <p:spPr bwMode="auto">
          <a:xfrm>
            <a:off x="6009184" y="3891880"/>
            <a:ext cx="5334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 name="Line 25">
            <a:extLst>
              <a:ext uri="{FF2B5EF4-FFF2-40B4-BE49-F238E27FC236}">
                <a16:creationId xmlns:a16="http://schemas.microsoft.com/office/drawing/2014/main" id="{C9F7175C-4F4C-FD48-A9A1-FF2A44A4782D}"/>
              </a:ext>
            </a:extLst>
          </p:cNvPr>
          <p:cNvSpPr>
            <a:spLocks noChangeShapeType="1"/>
          </p:cNvSpPr>
          <p:nvPr/>
        </p:nvSpPr>
        <p:spPr bwMode="auto">
          <a:xfrm>
            <a:off x="7533184" y="3891880"/>
            <a:ext cx="2286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26">
            <a:extLst>
              <a:ext uri="{FF2B5EF4-FFF2-40B4-BE49-F238E27FC236}">
                <a16:creationId xmlns:a16="http://schemas.microsoft.com/office/drawing/2014/main" id="{CD1D5ED6-6E2B-7948-A618-80A3D1534B17}"/>
              </a:ext>
            </a:extLst>
          </p:cNvPr>
          <p:cNvSpPr>
            <a:spLocks noChangeShapeType="1"/>
          </p:cNvSpPr>
          <p:nvPr/>
        </p:nvSpPr>
        <p:spPr bwMode="auto">
          <a:xfrm flipV="1">
            <a:off x="7761784" y="3739480"/>
            <a:ext cx="0" cy="1524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AutoShape 27">
            <a:extLst>
              <a:ext uri="{FF2B5EF4-FFF2-40B4-BE49-F238E27FC236}">
                <a16:creationId xmlns:a16="http://schemas.microsoft.com/office/drawing/2014/main" id="{F9B9991F-E97A-7741-9808-203DDDB4AC13}"/>
              </a:ext>
            </a:extLst>
          </p:cNvPr>
          <p:cNvSpPr>
            <a:spLocks/>
          </p:cNvSpPr>
          <p:nvPr/>
        </p:nvSpPr>
        <p:spPr bwMode="auto">
          <a:xfrm>
            <a:off x="1132384" y="3434680"/>
            <a:ext cx="228600" cy="1524000"/>
          </a:xfrm>
          <a:prstGeom prst="leftBrace">
            <a:avLst>
              <a:gd name="adj1" fmla="val 55556"/>
              <a:gd name="adj2" fmla="val 50000"/>
            </a:avLst>
          </a:prstGeom>
          <a:noFill/>
          <a:ln w="2857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b="0"/>
          </a:p>
        </p:txBody>
      </p:sp>
      <p:sp>
        <p:nvSpPr>
          <p:cNvPr id="24" name="AutoShape 28">
            <a:extLst>
              <a:ext uri="{FF2B5EF4-FFF2-40B4-BE49-F238E27FC236}">
                <a16:creationId xmlns:a16="http://schemas.microsoft.com/office/drawing/2014/main" id="{D0F0182F-1EE0-274B-A0D8-F3384BB23955}"/>
              </a:ext>
            </a:extLst>
          </p:cNvPr>
          <p:cNvSpPr>
            <a:spLocks/>
          </p:cNvSpPr>
          <p:nvPr/>
        </p:nvSpPr>
        <p:spPr bwMode="auto">
          <a:xfrm>
            <a:off x="8066584" y="3053680"/>
            <a:ext cx="228600" cy="990600"/>
          </a:xfrm>
          <a:prstGeom prst="leftBrace">
            <a:avLst>
              <a:gd name="adj1" fmla="val 36111"/>
              <a:gd name="adj2" fmla="val 50000"/>
            </a:avLst>
          </a:prstGeom>
          <a:noFill/>
          <a:ln w="2857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25" name="AutoShape 30">
            <a:extLst>
              <a:ext uri="{FF2B5EF4-FFF2-40B4-BE49-F238E27FC236}">
                <a16:creationId xmlns:a16="http://schemas.microsoft.com/office/drawing/2014/main" id="{5D15C266-DAA2-F04E-AE68-FB660B3C5036}"/>
              </a:ext>
            </a:extLst>
          </p:cNvPr>
          <p:cNvSpPr>
            <a:spLocks/>
          </p:cNvSpPr>
          <p:nvPr/>
        </p:nvSpPr>
        <p:spPr bwMode="auto">
          <a:xfrm rot="-5400000">
            <a:off x="1170484" y="4539580"/>
            <a:ext cx="381000" cy="1981200"/>
          </a:xfrm>
          <a:prstGeom prst="leftBrace">
            <a:avLst>
              <a:gd name="adj1" fmla="val 43333"/>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26" name="AutoShape 31">
            <a:extLst>
              <a:ext uri="{FF2B5EF4-FFF2-40B4-BE49-F238E27FC236}">
                <a16:creationId xmlns:a16="http://schemas.microsoft.com/office/drawing/2014/main" id="{8F6697E7-D69F-1149-BBCB-E5F544327609}"/>
              </a:ext>
            </a:extLst>
          </p:cNvPr>
          <p:cNvSpPr>
            <a:spLocks/>
          </p:cNvSpPr>
          <p:nvPr/>
        </p:nvSpPr>
        <p:spPr bwMode="auto">
          <a:xfrm rot="-5400000">
            <a:off x="4256584" y="3815680"/>
            <a:ext cx="457200" cy="3505200"/>
          </a:xfrm>
          <a:prstGeom prst="leftBrace">
            <a:avLst>
              <a:gd name="adj1" fmla="val 63889"/>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27" name="AutoShape 32">
            <a:extLst>
              <a:ext uri="{FF2B5EF4-FFF2-40B4-BE49-F238E27FC236}">
                <a16:creationId xmlns:a16="http://schemas.microsoft.com/office/drawing/2014/main" id="{FCEF49BC-5A7C-D549-A9FF-E4F38B6DA91B}"/>
              </a:ext>
            </a:extLst>
          </p:cNvPr>
          <p:cNvSpPr>
            <a:spLocks/>
          </p:cNvSpPr>
          <p:nvPr/>
        </p:nvSpPr>
        <p:spPr bwMode="auto">
          <a:xfrm rot="-5400000">
            <a:off x="7037884" y="4463380"/>
            <a:ext cx="457200" cy="2057400"/>
          </a:xfrm>
          <a:prstGeom prst="leftBrace">
            <a:avLst>
              <a:gd name="adj1" fmla="val 375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28" name="Line 33">
            <a:extLst>
              <a:ext uri="{FF2B5EF4-FFF2-40B4-BE49-F238E27FC236}">
                <a16:creationId xmlns:a16="http://schemas.microsoft.com/office/drawing/2014/main" id="{FCEB8F26-8DC3-8D41-9D18-100499A2B240}"/>
              </a:ext>
            </a:extLst>
          </p:cNvPr>
          <p:cNvSpPr>
            <a:spLocks noChangeShapeType="1"/>
          </p:cNvSpPr>
          <p:nvPr/>
        </p:nvSpPr>
        <p:spPr bwMode="auto">
          <a:xfrm flipV="1">
            <a:off x="2732584" y="4196680"/>
            <a:ext cx="0" cy="1143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Line 34">
            <a:extLst>
              <a:ext uri="{FF2B5EF4-FFF2-40B4-BE49-F238E27FC236}">
                <a16:creationId xmlns:a16="http://schemas.microsoft.com/office/drawing/2014/main" id="{E599D10D-6831-B743-A63F-00C2C76410C2}"/>
              </a:ext>
            </a:extLst>
          </p:cNvPr>
          <p:cNvSpPr>
            <a:spLocks noChangeShapeType="1"/>
          </p:cNvSpPr>
          <p:nvPr/>
        </p:nvSpPr>
        <p:spPr bwMode="auto">
          <a:xfrm flipV="1">
            <a:off x="6237784" y="4120480"/>
            <a:ext cx="0" cy="1143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Text Box 35">
            <a:extLst>
              <a:ext uri="{FF2B5EF4-FFF2-40B4-BE49-F238E27FC236}">
                <a16:creationId xmlns:a16="http://schemas.microsoft.com/office/drawing/2014/main" id="{59EBC4C9-CFB6-FD4A-BC40-4647BFEBF05E}"/>
              </a:ext>
            </a:extLst>
          </p:cNvPr>
          <p:cNvSpPr txBox="1">
            <a:spLocks noChangeArrowheads="1"/>
          </p:cNvSpPr>
          <p:nvPr/>
        </p:nvSpPr>
        <p:spPr bwMode="auto">
          <a:xfrm>
            <a:off x="1437184" y="2444080"/>
            <a:ext cx="457200" cy="457200"/>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latin typeface="幼圆" pitchFamily="49" charset="-122"/>
                <a:ea typeface="幼圆" pitchFamily="49" charset="-122"/>
              </a:rPr>
              <a:t>库</a:t>
            </a:r>
          </a:p>
        </p:txBody>
      </p:sp>
      <p:sp>
        <p:nvSpPr>
          <p:cNvPr id="31" name="Text Box 36">
            <a:extLst>
              <a:ext uri="{FF2B5EF4-FFF2-40B4-BE49-F238E27FC236}">
                <a16:creationId xmlns:a16="http://schemas.microsoft.com/office/drawing/2014/main" id="{5A475B72-56D1-1B45-9594-52B86F5873BF}"/>
              </a:ext>
            </a:extLst>
          </p:cNvPr>
          <p:cNvSpPr txBox="1">
            <a:spLocks noChangeArrowheads="1"/>
          </p:cNvSpPr>
          <p:nvPr/>
        </p:nvSpPr>
        <p:spPr bwMode="auto">
          <a:xfrm>
            <a:off x="2972297" y="3587081"/>
            <a:ext cx="1008062" cy="846137"/>
          </a:xfrm>
          <a:prstGeom prst="rect">
            <a:avLst/>
          </a:prstGeom>
          <a:solidFill>
            <a:srgbClr val="0000FF"/>
          </a:solidFill>
          <a:ln w="9525">
            <a:noFill/>
            <a:miter lim="800000"/>
            <a:headEnd/>
            <a:tailEnd/>
          </a:ln>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effectLst>
                  <a:outerShdw blurRad="38100" dist="38100" dir="2700000" algn="tl">
                    <a:srgbClr val="000000"/>
                  </a:outerShdw>
                </a:effectLst>
                <a:latin typeface="幼圆" pitchFamily="49" charset="-122"/>
                <a:ea typeface="幼圆" pitchFamily="49" charset="-122"/>
              </a:rPr>
              <a:t>链接程序</a:t>
            </a:r>
          </a:p>
        </p:txBody>
      </p:sp>
      <p:sp>
        <p:nvSpPr>
          <p:cNvPr id="32" name="Text Box 37">
            <a:extLst>
              <a:ext uri="{FF2B5EF4-FFF2-40B4-BE49-F238E27FC236}">
                <a16:creationId xmlns:a16="http://schemas.microsoft.com/office/drawing/2014/main" id="{8E7B7E3A-5FEA-374F-BCA2-8E71947D3B97}"/>
              </a:ext>
            </a:extLst>
          </p:cNvPr>
          <p:cNvSpPr txBox="1">
            <a:spLocks noChangeArrowheads="1"/>
          </p:cNvSpPr>
          <p:nvPr/>
        </p:nvSpPr>
        <p:spPr bwMode="auto">
          <a:xfrm>
            <a:off x="4561384" y="3663280"/>
            <a:ext cx="1447800" cy="461962"/>
          </a:xfrm>
          <a:prstGeom prst="rect">
            <a:avLst/>
          </a:prstGeom>
          <a:solidFill>
            <a:srgbClr val="0000FF"/>
          </a:solidFill>
          <a:ln w="9525">
            <a:noFill/>
            <a:miter lim="800000"/>
            <a:headEnd/>
            <a:tailEnd/>
          </a:ln>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effectLst>
                  <a:outerShdw blurRad="38100" dist="38100" dir="2700000" algn="tl">
                    <a:srgbClr val="000000"/>
                  </a:outerShdw>
                </a:effectLst>
                <a:latin typeface="幼圆" pitchFamily="49" charset="-122"/>
                <a:ea typeface="幼圆" pitchFamily="49" charset="-122"/>
              </a:rPr>
              <a:t>装入模块</a:t>
            </a:r>
          </a:p>
        </p:txBody>
      </p:sp>
      <p:sp>
        <p:nvSpPr>
          <p:cNvPr id="33" name="Text Box 38">
            <a:extLst>
              <a:ext uri="{FF2B5EF4-FFF2-40B4-BE49-F238E27FC236}">
                <a16:creationId xmlns:a16="http://schemas.microsoft.com/office/drawing/2014/main" id="{92A14700-9D32-C643-8724-CA7C10F7DD3E}"/>
              </a:ext>
            </a:extLst>
          </p:cNvPr>
          <p:cNvSpPr txBox="1">
            <a:spLocks noChangeArrowheads="1"/>
          </p:cNvSpPr>
          <p:nvPr/>
        </p:nvSpPr>
        <p:spPr bwMode="auto">
          <a:xfrm>
            <a:off x="6567985" y="3577555"/>
            <a:ext cx="963613" cy="830262"/>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latin typeface="幼圆" pitchFamily="49" charset="-122"/>
                <a:ea typeface="幼圆" pitchFamily="49" charset="-122"/>
              </a:rPr>
              <a:t>装入程序</a:t>
            </a:r>
          </a:p>
        </p:txBody>
      </p:sp>
      <p:sp>
        <p:nvSpPr>
          <p:cNvPr id="34" name="Text Box 39">
            <a:extLst>
              <a:ext uri="{FF2B5EF4-FFF2-40B4-BE49-F238E27FC236}">
                <a16:creationId xmlns:a16="http://schemas.microsoft.com/office/drawing/2014/main" id="{FE08BA77-BBA2-5148-8F61-9D6E363CA413}"/>
              </a:ext>
            </a:extLst>
          </p:cNvPr>
          <p:cNvSpPr txBox="1">
            <a:spLocks noChangeArrowheads="1"/>
          </p:cNvSpPr>
          <p:nvPr/>
        </p:nvSpPr>
        <p:spPr bwMode="auto">
          <a:xfrm>
            <a:off x="370384" y="3129881"/>
            <a:ext cx="914400" cy="1938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00"/>
                </a:solidFill>
                <a:latin typeface="幼圆" pitchFamily="49" charset="-122"/>
                <a:ea typeface="幼圆" pitchFamily="49" charset="-122"/>
              </a:rPr>
              <a:t>编译程序产生</a:t>
            </a:r>
            <a:r>
              <a:rPr lang="zh-CN" altLang="en-US" sz="2400">
                <a:solidFill>
                  <a:srgbClr val="0000FF"/>
                </a:solidFill>
                <a:latin typeface="幼圆" pitchFamily="49" charset="-122"/>
                <a:ea typeface="幼圆" pitchFamily="49" charset="-122"/>
              </a:rPr>
              <a:t>目标模块</a:t>
            </a:r>
          </a:p>
        </p:txBody>
      </p:sp>
      <p:sp>
        <p:nvSpPr>
          <p:cNvPr id="35" name="Line 40">
            <a:extLst>
              <a:ext uri="{FF2B5EF4-FFF2-40B4-BE49-F238E27FC236}">
                <a16:creationId xmlns:a16="http://schemas.microsoft.com/office/drawing/2014/main" id="{DCAF7259-C43E-1B4B-BCCF-914D0EDE54E7}"/>
              </a:ext>
            </a:extLst>
          </p:cNvPr>
          <p:cNvSpPr>
            <a:spLocks noChangeShapeType="1"/>
          </p:cNvSpPr>
          <p:nvPr/>
        </p:nvSpPr>
        <p:spPr bwMode="auto">
          <a:xfrm>
            <a:off x="7761784" y="3587080"/>
            <a:ext cx="3048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6" name="Line 41">
            <a:extLst>
              <a:ext uri="{FF2B5EF4-FFF2-40B4-BE49-F238E27FC236}">
                <a16:creationId xmlns:a16="http://schemas.microsoft.com/office/drawing/2014/main" id="{7632A8B7-256B-B74E-819C-2670717C7A73}"/>
              </a:ext>
            </a:extLst>
          </p:cNvPr>
          <p:cNvSpPr>
            <a:spLocks noChangeShapeType="1"/>
          </p:cNvSpPr>
          <p:nvPr/>
        </p:nvSpPr>
        <p:spPr bwMode="auto">
          <a:xfrm>
            <a:off x="7761784" y="3587080"/>
            <a:ext cx="0" cy="2286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Text Box 42">
            <a:extLst>
              <a:ext uri="{FF2B5EF4-FFF2-40B4-BE49-F238E27FC236}">
                <a16:creationId xmlns:a16="http://schemas.microsoft.com/office/drawing/2014/main" id="{FCBAA6FA-97DB-A349-A3A1-B40D7A8980C3}"/>
              </a:ext>
            </a:extLst>
          </p:cNvPr>
          <p:cNvSpPr txBox="1">
            <a:spLocks noChangeArrowheads="1"/>
          </p:cNvSpPr>
          <p:nvPr/>
        </p:nvSpPr>
        <p:spPr bwMode="auto">
          <a:xfrm>
            <a:off x="827584" y="5949280"/>
            <a:ext cx="1447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第一步</a:t>
            </a:r>
          </a:p>
        </p:txBody>
      </p:sp>
      <p:sp>
        <p:nvSpPr>
          <p:cNvPr id="38" name="Text Box 44">
            <a:extLst>
              <a:ext uri="{FF2B5EF4-FFF2-40B4-BE49-F238E27FC236}">
                <a16:creationId xmlns:a16="http://schemas.microsoft.com/office/drawing/2014/main" id="{35AAA50E-57E7-2741-B794-A94C6A61C5D1}"/>
              </a:ext>
            </a:extLst>
          </p:cNvPr>
          <p:cNvSpPr txBox="1">
            <a:spLocks noChangeArrowheads="1"/>
          </p:cNvSpPr>
          <p:nvPr/>
        </p:nvSpPr>
        <p:spPr bwMode="auto">
          <a:xfrm>
            <a:off x="3799384" y="594928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第二步</a:t>
            </a:r>
          </a:p>
        </p:txBody>
      </p:sp>
      <p:sp>
        <p:nvSpPr>
          <p:cNvPr id="39" name="Text Box 45">
            <a:extLst>
              <a:ext uri="{FF2B5EF4-FFF2-40B4-BE49-F238E27FC236}">
                <a16:creationId xmlns:a16="http://schemas.microsoft.com/office/drawing/2014/main" id="{D3C5418B-F078-0C44-A1C1-E7C4CF161B5E}"/>
              </a:ext>
            </a:extLst>
          </p:cNvPr>
          <p:cNvSpPr txBox="1">
            <a:spLocks noChangeArrowheads="1"/>
          </p:cNvSpPr>
          <p:nvPr/>
        </p:nvSpPr>
        <p:spPr bwMode="auto">
          <a:xfrm>
            <a:off x="6694984" y="5949280"/>
            <a:ext cx="152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第三步</a:t>
            </a:r>
          </a:p>
        </p:txBody>
      </p:sp>
      <p:sp>
        <p:nvSpPr>
          <p:cNvPr id="40" name="Freeform 46">
            <a:extLst>
              <a:ext uri="{FF2B5EF4-FFF2-40B4-BE49-F238E27FC236}">
                <a16:creationId xmlns:a16="http://schemas.microsoft.com/office/drawing/2014/main" id="{0ED4F3E4-C720-A64F-9F66-DDB4E4776D96}"/>
              </a:ext>
            </a:extLst>
          </p:cNvPr>
          <p:cNvSpPr>
            <a:spLocks/>
          </p:cNvSpPr>
          <p:nvPr/>
        </p:nvSpPr>
        <p:spPr bwMode="auto">
          <a:xfrm>
            <a:off x="8295184" y="2215480"/>
            <a:ext cx="533400" cy="165100"/>
          </a:xfrm>
          <a:custGeom>
            <a:avLst/>
            <a:gdLst>
              <a:gd name="T0" fmla="*/ 0 w 336"/>
              <a:gd name="T1" fmla="*/ 0 h 104"/>
              <a:gd name="T2" fmla="*/ 2147483647 w 336"/>
              <a:gd name="T3" fmla="*/ 2147483647 h 104"/>
              <a:gd name="T4" fmla="*/ 2147483647 w 336"/>
              <a:gd name="T5" fmla="*/ 2147483647 h 104"/>
              <a:gd name="T6" fmla="*/ 0 60000 65536"/>
              <a:gd name="T7" fmla="*/ 0 60000 65536"/>
              <a:gd name="T8" fmla="*/ 0 60000 65536"/>
              <a:gd name="T9" fmla="*/ 0 w 336"/>
              <a:gd name="T10" fmla="*/ 0 h 104"/>
              <a:gd name="T11" fmla="*/ 336 w 336"/>
              <a:gd name="T12" fmla="*/ 104 h 104"/>
            </a:gdLst>
            <a:ahLst/>
            <a:cxnLst>
              <a:cxn ang="T6">
                <a:pos x="T0" y="T1"/>
              </a:cxn>
              <a:cxn ang="T7">
                <a:pos x="T2" y="T3"/>
              </a:cxn>
              <a:cxn ang="T8">
                <a:pos x="T4" y="T5"/>
              </a:cxn>
            </a:cxnLst>
            <a:rect l="T9" t="T10" r="T11" b="T12"/>
            <a:pathLst>
              <a:path w="336" h="104">
                <a:moveTo>
                  <a:pt x="0" y="0"/>
                </a:moveTo>
                <a:cubicBezTo>
                  <a:pt x="44" y="44"/>
                  <a:pt x="88" y="88"/>
                  <a:pt x="144" y="96"/>
                </a:cubicBezTo>
                <a:cubicBezTo>
                  <a:pt x="200" y="104"/>
                  <a:pt x="304" y="56"/>
                  <a:pt x="336" y="48"/>
                </a:cubicBezTo>
              </a:path>
            </a:pathLst>
          </a:custGeom>
          <a:solidFill>
            <a:srgbClr val="0000FF"/>
          </a:solidFill>
          <a:ln w="9525">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1" name="Freeform 47">
            <a:extLst>
              <a:ext uri="{FF2B5EF4-FFF2-40B4-BE49-F238E27FC236}">
                <a16:creationId xmlns:a16="http://schemas.microsoft.com/office/drawing/2014/main" id="{3971DE3F-C289-4A47-9147-D7038129BCD0}"/>
              </a:ext>
            </a:extLst>
          </p:cNvPr>
          <p:cNvSpPr>
            <a:spLocks/>
          </p:cNvSpPr>
          <p:nvPr/>
        </p:nvSpPr>
        <p:spPr bwMode="auto">
          <a:xfrm>
            <a:off x="8295184" y="5631780"/>
            <a:ext cx="533400" cy="165100"/>
          </a:xfrm>
          <a:custGeom>
            <a:avLst/>
            <a:gdLst>
              <a:gd name="T0" fmla="*/ 0 w 336"/>
              <a:gd name="T1" fmla="*/ 2147483647 h 104"/>
              <a:gd name="T2" fmla="*/ 2147483647 w 336"/>
              <a:gd name="T3" fmla="*/ 2147483647 h 104"/>
              <a:gd name="T4" fmla="*/ 2147483647 w 336"/>
              <a:gd name="T5" fmla="*/ 2147483647 h 104"/>
              <a:gd name="T6" fmla="*/ 0 60000 65536"/>
              <a:gd name="T7" fmla="*/ 0 60000 65536"/>
              <a:gd name="T8" fmla="*/ 0 60000 65536"/>
              <a:gd name="T9" fmla="*/ 0 w 336"/>
              <a:gd name="T10" fmla="*/ 0 h 104"/>
              <a:gd name="T11" fmla="*/ 336 w 336"/>
              <a:gd name="T12" fmla="*/ 104 h 104"/>
            </a:gdLst>
            <a:ahLst/>
            <a:cxnLst>
              <a:cxn ang="T6">
                <a:pos x="T0" y="T1"/>
              </a:cxn>
              <a:cxn ang="T7">
                <a:pos x="T2" y="T3"/>
              </a:cxn>
              <a:cxn ang="T8">
                <a:pos x="T4" y="T5"/>
              </a:cxn>
            </a:cxnLst>
            <a:rect l="T9" t="T10" r="T11" b="T12"/>
            <a:pathLst>
              <a:path w="336" h="104">
                <a:moveTo>
                  <a:pt x="0" y="56"/>
                </a:moveTo>
                <a:cubicBezTo>
                  <a:pt x="44" y="28"/>
                  <a:pt x="88" y="0"/>
                  <a:pt x="144" y="8"/>
                </a:cubicBezTo>
                <a:cubicBezTo>
                  <a:pt x="200" y="16"/>
                  <a:pt x="304" y="88"/>
                  <a:pt x="336" y="104"/>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2" name="Rectangle 48">
            <a:extLst>
              <a:ext uri="{FF2B5EF4-FFF2-40B4-BE49-F238E27FC236}">
                <a16:creationId xmlns:a16="http://schemas.microsoft.com/office/drawing/2014/main" id="{A1D84E7B-92A8-A748-8079-A2F09BE535B8}"/>
              </a:ext>
            </a:extLst>
          </p:cNvPr>
          <p:cNvSpPr>
            <a:spLocks noChangeArrowheads="1"/>
          </p:cNvSpPr>
          <p:nvPr/>
        </p:nvSpPr>
        <p:spPr bwMode="auto">
          <a:xfrm>
            <a:off x="8295184" y="3053680"/>
            <a:ext cx="533400" cy="9906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3" name="Text Box 49">
            <a:extLst>
              <a:ext uri="{FF2B5EF4-FFF2-40B4-BE49-F238E27FC236}">
                <a16:creationId xmlns:a16="http://schemas.microsoft.com/office/drawing/2014/main" id="{4DDB82E0-2101-A94C-99F9-7D70745E5FC8}"/>
              </a:ext>
            </a:extLst>
          </p:cNvPr>
          <p:cNvSpPr txBox="1">
            <a:spLocks noChangeArrowheads="1"/>
          </p:cNvSpPr>
          <p:nvPr/>
        </p:nvSpPr>
        <p:spPr bwMode="auto">
          <a:xfrm>
            <a:off x="8295184" y="5787355"/>
            <a:ext cx="547688"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内存</a:t>
            </a:r>
          </a:p>
        </p:txBody>
      </p:sp>
      <p:sp>
        <p:nvSpPr>
          <p:cNvPr id="44" name="Text Box 50">
            <a:extLst>
              <a:ext uri="{FF2B5EF4-FFF2-40B4-BE49-F238E27FC236}">
                <a16:creationId xmlns:a16="http://schemas.microsoft.com/office/drawing/2014/main" id="{03CA36AB-252A-EF4B-8DF2-E3D9B7D3AE7C}"/>
              </a:ext>
            </a:extLst>
          </p:cNvPr>
          <p:cNvSpPr txBox="1">
            <a:spLocks noChangeArrowheads="1"/>
          </p:cNvSpPr>
          <p:nvPr/>
        </p:nvSpPr>
        <p:spPr bwMode="auto">
          <a:xfrm>
            <a:off x="1815208" y="4577680"/>
            <a:ext cx="30777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FF"/>
                </a:solidFill>
              </a:rPr>
              <a:t>…</a:t>
            </a:r>
          </a:p>
        </p:txBody>
      </p:sp>
    </p:spTree>
    <p:extLst>
      <p:ext uri="{BB962C8B-B14F-4D97-AF65-F5344CB8AC3E}">
        <p14:creationId xmlns:p14="http://schemas.microsoft.com/office/powerpoint/2010/main" val="1982190507"/>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par>
                                <p:cTn id="8" presetID="3" presetClass="entr" presetSubtype="1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linds(horizontal)">
                                      <p:cBhvr>
                                        <p:cTn id="10" dur="500"/>
                                        <p:tgtEl>
                                          <p:spTgt spid="5"/>
                                        </p:tgtEl>
                                      </p:cBhvr>
                                    </p:animEffect>
                                  </p:childTnLst>
                                </p:cTn>
                              </p:par>
                              <p:par>
                                <p:cTn id="11" presetID="3" presetClass="entr" presetSubtype="1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linds(horizontal)">
                                      <p:cBhvr>
                                        <p:cTn id="13" dur="500"/>
                                        <p:tgtEl>
                                          <p:spTgt spid="6"/>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linds(horizontal)">
                                      <p:cBhvr>
                                        <p:cTn id="16" dur="500"/>
                                        <p:tgtEl>
                                          <p:spTgt spid="7"/>
                                        </p:tgtEl>
                                      </p:cBhvr>
                                    </p:animEffect>
                                  </p:childTnLst>
                                </p:cTn>
                              </p:par>
                              <p:par>
                                <p:cTn id="17" presetID="3" presetClass="entr" presetSubtype="1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blinds(horizontal)">
                                      <p:cBhvr>
                                        <p:cTn id="19" dur="500"/>
                                        <p:tgtEl>
                                          <p:spTgt spid="8"/>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blinds(horizontal)">
                                      <p:cBhvr>
                                        <p:cTn id="22" dur="500"/>
                                        <p:tgtEl>
                                          <p:spTgt spid="9"/>
                                        </p:tgtEl>
                                      </p:cBhvr>
                                    </p:animEffect>
                                  </p:childTnLst>
                                </p:cTn>
                              </p:par>
                              <p:par>
                                <p:cTn id="23" presetID="3" presetClass="entr" presetSubtype="1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blinds(horizontal)">
                                      <p:cBhvr>
                                        <p:cTn id="25" dur="500"/>
                                        <p:tgtEl>
                                          <p:spTgt spid="10"/>
                                        </p:tgtEl>
                                      </p:cBhvr>
                                    </p:animEffect>
                                  </p:childTnLst>
                                </p:cTn>
                              </p:par>
                              <p:par>
                                <p:cTn id="26" presetID="3" presetClass="entr" presetSubtype="1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blinds(horizontal)">
                                      <p:cBhvr>
                                        <p:cTn id="28" dur="500"/>
                                        <p:tgtEl>
                                          <p:spTgt spid="18"/>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blinds(horizontal)">
                                      <p:cBhvr>
                                        <p:cTn id="31" dur="500"/>
                                        <p:tgtEl>
                                          <p:spTgt spid="23"/>
                                        </p:tgtEl>
                                      </p:cBhvr>
                                    </p:animEffect>
                                  </p:childTnLst>
                                </p:cTn>
                              </p:par>
                              <p:par>
                                <p:cTn id="32" presetID="3" presetClass="entr" presetSubtype="1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blinds(horizontal)">
                                      <p:cBhvr>
                                        <p:cTn id="34" dur="500"/>
                                        <p:tgtEl>
                                          <p:spTgt spid="25"/>
                                        </p:tgtEl>
                                      </p:cBhvr>
                                    </p:animEffect>
                                  </p:childTnLst>
                                </p:cTn>
                              </p:par>
                              <p:par>
                                <p:cTn id="35" presetID="3" presetClass="entr" presetSubtype="1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blinds(horizontal)">
                                      <p:cBhvr>
                                        <p:cTn id="37" dur="500"/>
                                        <p:tgtEl>
                                          <p:spTgt spid="28"/>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blinds(horizontal)">
                                      <p:cBhvr>
                                        <p:cTn id="40" dur="500"/>
                                        <p:tgtEl>
                                          <p:spTgt spid="30"/>
                                        </p:tgtEl>
                                      </p:cBhvr>
                                    </p:animEffect>
                                  </p:childTnLst>
                                </p:cTn>
                              </p:par>
                              <p:par>
                                <p:cTn id="41" presetID="3" presetClass="entr" presetSubtype="1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blinds(horizontal)">
                                      <p:cBhvr>
                                        <p:cTn id="43" dur="500"/>
                                        <p:tgtEl>
                                          <p:spTgt spid="34"/>
                                        </p:tgtEl>
                                      </p:cBhvr>
                                    </p:animEffect>
                                  </p:childTnLst>
                                </p:cTn>
                              </p:par>
                              <p:par>
                                <p:cTn id="44" presetID="3" presetClass="entr" presetSubtype="10" fill="hold" grpId="0"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blinds(horizontal)">
                                      <p:cBhvr>
                                        <p:cTn id="46" dur="500"/>
                                        <p:tgtEl>
                                          <p:spTgt spid="37"/>
                                        </p:tgtEl>
                                      </p:cBhvr>
                                    </p:animEffect>
                                  </p:childTnLst>
                                </p:cTn>
                              </p:par>
                              <p:par>
                                <p:cTn id="47" presetID="3" presetClass="entr" presetSubtype="1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animEffect transition="in" filter="blinds(horizontal)">
                                      <p:cBhvr>
                                        <p:cTn id="49" dur="500"/>
                                        <p:tgtEl>
                                          <p:spTgt spid="44"/>
                                        </p:tgtEl>
                                      </p:cBhvr>
                                    </p:animEffect>
                                  </p:childTnLst>
                                </p:cTn>
                              </p:par>
                            </p:childTnLst>
                          </p:cTn>
                        </p:par>
                      </p:childTnLst>
                    </p:cTn>
                  </p:par>
                  <p:par>
                    <p:cTn id="50" fill="hold">
                      <p:stCondLst>
                        <p:cond delay="indefinite"/>
                      </p:stCondLst>
                      <p:childTnLst>
                        <p:par>
                          <p:cTn id="51" fill="hold">
                            <p:stCondLst>
                              <p:cond delay="0"/>
                            </p:stCondLst>
                            <p:childTnLst>
                              <p:par>
                                <p:cTn id="52" presetID="3" presetClass="entr" presetSubtype="10" fill="hold" grpId="0" nodeType="click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blinds(horizontal)">
                                      <p:cBhvr>
                                        <p:cTn id="54" dur="500"/>
                                        <p:tgtEl>
                                          <p:spTgt spid="11"/>
                                        </p:tgtEl>
                                      </p:cBhvr>
                                    </p:animEffect>
                                  </p:childTnLst>
                                </p:cTn>
                              </p:par>
                              <p:par>
                                <p:cTn id="55" presetID="3" presetClass="entr" presetSubtype="1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blinds(horizontal)">
                                      <p:cBhvr>
                                        <p:cTn id="57" dur="500"/>
                                        <p:tgtEl>
                                          <p:spTgt spid="12"/>
                                        </p:tgtEl>
                                      </p:cBhvr>
                                    </p:animEffect>
                                  </p:childTnLst>
                                </p:cTn>
                              </p:par>
                              <p:par>
                                <p:cTn id="58" presetID="3" presetClass="entr" presetSubtype="10" fill="hold"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blinds(horizontal)">
                                      <p:cBhvr>
                                        <p:cTn id="60" dur="500"/>
                                        <p:tgtEl>
                                          <p:spTgt spid="19"/>
                                        </p:tgtEl>
                                      </p:cBhvr>
                                    </p:animEffect>
                                  </p:childTnLst>
                                </p:cTn>
                              </p:par>
                              <p:par>
                                <p:cTn id="61" presetID="3" presetClass="entr" presetSubtype="1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blinds(horizontal)">
                                      <p:cBhvr>
                                        <p:cTn id="63" dur="500"/>
                                        <p:tgtEl>
                                          <p:spTgt spid="26"/>
                                        </p:tgtEl>
                                      </p:cBhvr>
                                    </p:animEffect>
                                  </p:childTnLst>
                                </p:cTn>
                              </p:par>
                              <p:par>
                                <p:cTn id="64" presetID="3" presetClass="entr" presetSubtype="10" fill="hold"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blinds(horizontal)">
                                      <p:cBhvr>
                                        <p:cTn id="66" dur="500"/>
                                        <p:tgtEl>
                                          <p:spTgt spid="28"/>
                                        </p:tgtEl>
                                      </p:cBhvr>
                                    </p:animEffect>
                                  </p:childTnLst>
                                </p:cTn>
                              </p:par>
                              <p:par>
                                <p:cTn id="67" presetID="3" presetClass="entr" presetSubtype="10" fill="hold"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blinds(horizontal)">
                                      <p:cBhvr>
                                        <p:cTn id="69" dur="500"/>
                                        <p:tgtEl>
                                          <p:spTgt spid="29"/>
                                        </p:tgtEl>
                                      </p:cBhvr>
                                    </p:animEffect>
                                  </p:childTnLst>
                                </p:cTn>
                              </p:par>
                              <p:par>
                                <p:cTn id="70" presetID="3" presetClass="entr" presetSubtype="10" fill="hold" grpId="0" nodeType="with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blinds(horizontal)">
                                      <p:cBhvr>
                                        <p:cTn id="72" dur="500"/>
                                        <p:tgtEl>
                                          <p:spTgt spid="31"/>
                                        </p:tgtEl>
                                      </p:cBhvr>
                                    </p:animEffect>
                                  </p:childTnLst>
                                </p:cTn>
                              </p:par>
                              <p:par>
                                <p:cTn id="73" presetID="3" presetClass="entr" presetSubtype="1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blinds(horizontal)">
                                      <p:cBhvr>
                                        <p:cTn id="75" dur="500"/>
                                        <p:tgtEl>
                                          <p:spTgt spid="32"/>
                                        </p:tgtEl>
                                      </p:cBhvr>
                                    </p:animEffect>
                                  </p:childTnLst>
                                </p:cTn>
                              </p:par>
                              <p:par>
                                <p:cTn id="76" presetID="3" presetClass="entr" presetSubtype="10" fill="hold" grpId="0" nodeType="withEffect">
                                  <p:stCondLst>
                                    <p:cond delay="0"/>
                                  </p:stCondLst>
                                  <p:childTnLst>
                                    <p:set>
                                      <p:cBhvr>
                                        <p:cTn id="77" dur="1" fill="hold">
                                          <p:stCondLst>
                                            <p:cond delay="0"/>
                                          </p:stCondLst>
                                        </p:cTn>
                                        <p:tgtEl>
                                          <p:spTgt spid="38"/>
                                        </p:tgtEl>
                                        <p:attrNameLst>
                                          <p:attrName>style.visibility</p:attrName>
                                        </p:attrNameLst>
                                      </p:cBhvr>
                                      <p:to>
                                        <p:strVal val="visible"/>
                                      </p:to>
                                    </p:set>
                                    <p:animEffect transition="in" filter="blinds(horizontal)">
                                      <p:cBhvr>
                                        <p:cTn id="78" dur="500"/>
                                        <p:tgtEl>
                                          <p:spTgt spid="38"/>
                                        </p:tgtEl>
                                      </p:cBhvr>
                                    </p:animEffect>
                                  </p:childTnLst>
                                </p:cTn>
                              </p:par>
                            </p:childTnLst>
                          </p:cTn>
                        </p:par>
                      </p:childTnLst>
                    </p:cTn>
                  </p:par>
                  <p:par>
                    <p:cTn id="79" fill="hold">
                      <p:stCondLst>
                        <p:cond delay="indefinite"/>
                      </p:stCondLst>
                      <p:childTnLst>
                        <p:par>
                          <p:cTn id="80" fill="hold">
                            <p:stCondLst>
                              <p:cond delay="0"/>
                            </p:stCondLst>
                            <p:childTnLst>
                              <p:par>
                                <p:cTn id="81" presetID="3" presetClass="entr" presetSubtype="10"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blinds(horizontal)">
                                      <p:cBhvr>
                                        <p:cTn id="83" dur="500"/>
                                        <p:tgtEl>
                                          <p:spTgt spid="13"/>
                                        </p:tgtEl>
                                      </p:cBhvr>
                                    </p:animEffect>
                                  </p:childTnLst>
                                </p:cTn>
                              </p:par>
                              <p:par>
                                <p:cTn id="84" presetID="3" presetClass="entr" presetSubtype="10" fill="hold"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blinds(horizontal)">
                                      <p:cBhvr>
                                        <p:cTn id="86" dur="500"/>
                                        <p:tgtEl>
                                          <p:spTgt spid="14"/>
                                        </p:tgtEl>
                                      </p:cBhvr>
                                    </p:animEffect>
                                  </p:childTnLst>
                                </p:cTn>
                              </p:par>
                              <p:par>
                                <p:cTn id="87" presetID="3" presetClass="entr" presetSubtype="10" fill="hold"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blinds(horizontal)">
                                      <p:cBhvr>
                                        <p:cTn id="89" dur="500"/>
                                        <p:tgtEl>
                                          <p:spTgt spid="15"/>
                                        </p:tgtEl>
                                      </p:cBhvr>
                                    </p:animEffect>
                                  </p:childTnLst>
                                </p:cTn>
                              </p:par>
                              <p:par>
                                <p:cTn id="90" presetID="3" presetClass="entr" presetSubtype="10" fill="hold" nodeType="withEffect">
                                  <p:stCondLst>
                                    <p:cond delay="0"/>
                                  </p:stCondLst>
                                  <p:childTnLst>
                                    <p:set>
                                      <p:cBhvr>
                                        <p:cTn id="91" dur="1" fill="hold">
                                          <p:stCondLst>
                                            <p:cond delay="0"/>
                                          </p:stCondLst>
                                        </p:cTn>
                                        <p:tgtEl>
                                          <p:spTgt spid="16"/>
                                        </p:tgtEl>
                                        <p:attrNameLst>
                                          <p:attrName>style.visibility</p:attrName>
                                        </p:attrNameLst>
                                      </p:cBhvr>
                                      <p:to>
                                        <p:strVal val="visible"/>
                                      </p:to>
                                    </p:set>
                                    <p:animEffect transition="in" filter="blinds(horizontal)">
                                      <p:cBhvr>
                                        <p:cTn id="92" dur="500"/>
                                        <p:tgtEl>
                                          <p:spTgt spid="16"/>
                                        </p:tgtEl>
                                      </p:cBhvr>
                                    </p:animEffect>
                                  </p:childTnLst>
                                </p:cTn>
                              </p:par>
                              <p:par>
                                <p:cTn id="93" presetID="3" presetClass="entr" presetSubtype="1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blinds(horizontal)">
                                      <p:cBhvr>
                                        <p:cTn id="95" dur="500"/>
                                        <p:tgtEl>
                                          <p:spTgt spid="17"/>
                                        </p:tgtEl>
                                      </p:cBhvr>
                                    </p:animEffect>
                                  </p:childTnLst>
                                </p:cTn>
                              </p:par>
                              <p:par>
                                <p:cTn id="96" presetID="3" presetClass="entr" presetSubtype="10" fill="hold" nodeType="withEffect">
                                  <p:stCondLst>
                                    <p:cond delay="0"/>
                                  </p:stCondLst>
                                  <p:childTnLst>
                                    <p:set>
                                      <p:cBhvr>
                                        <p:cTn id="97" dur="1" fill="hold">
                                          <p:stCondLst>
                                            <p:cond delay="0"/>
                                          </p:stCondLst>
                                        </p:cTn>
                                        <p:tgtEl>
                                          <p:spTgt spid="21"/>
                                        </p:tgtEl>
                                        <p:attrNameLst>
                                          <p:attrName>style.visibility</p:attrName>
                                        </p:attrNameLst>
                                      </p:cBhvr>
                                      <p:to>
                                        <p:strVal val="visible"/>
                                      </p:to>
                                    </p:set>
                                    <p:animEffect transition="in" filter="blinds(horizontal)">
                                      <p:cBhvr>
                                        <p:cTn id="98" dur="500"/>
                                        <p:tgtEl>
                                          <p:spTgt spid="21"/>
                                        </p:tgtEl>
                                      </p:cBhvr>
                                    </p:animEffect>
                                  </p:childTnLst>
                                </p:cTn>
                              </p:par>
                              <p:par>
                                <p:cTn id="99" presetID="3" presetClass="entr" presetSubtype="10" fill="hold" nodeType="withEffect">
                                  <p:stCondLst>
                                    <p:cond delay="0"/>
                                  </p:stCondLst>
                                  <p:childTnLst>
                                    <p:set>
                                      <p:cBhvr>
                                        <p:cTn id="100" dur="1" fill="hold">
                                          <p:stCondLst>
                                            <p:cond delay="0"/>
                                          </p:stCondLst>
                                        </p:cTn>
                                        <p:tgtEl>
                                          <p:spTgt spid="22"/>
                                        </p:tgtEl>
                                        <p:attrNameLst>
                                          <p:attrName>style.visibility</p:attrName>
                                        </p:attrNameLst>
                                      </p:cBhvr>
                                      <p:to>
                                        <p:strVal val="visible"/>
                                      </p:to>
                                    </p:set>
                                    <p:animEffect transition="in" filter="blinds(horizontal)">
                                      <p:cBhvr>
                                        <p:cTn id="101" dur="500"/>
                                        <p:tgtEl>
                                          <p:spTgt spid="22"/>
                                        </p:tgtEl>
                                      </p:cBhvr>
                                    </p:animEffect>
                                  </p:childTnLst>
                                </p:cTn>
                              </p:par>
                              <p:par>
                                <p:cTn id="102" presetID="3" presetClass="entr" presetSubtype="10" fill="hold" grpId="0" nodeType="withEffect">
                                  <p:stCondLst>
                                    <p:cond delay="0"/>
                                  </p:stCondLst>
                                  <p:childTnLst>
                                    <p:set>
                                      <p:cBhvr>
                                        <p:cTn id="103" dur="1" fill="hold">
                                          <p:stCondLst>
                                            <p:cond delay="0"/>
                                          </p:stCondLst>
                                        </p:cTn>
                                        <p:tgtEl>
                                          <p:spTgt spid="24"/>
                                        </p:tgtEl>
                                        <p:attrNameLst>
                                          <p:attrName>style.visibility</p:attrName>
                                        </p:attrNameLst>
                                      </p:cBhvr>
                                      <p:to>
                                        <p:strVal val="visible"/>
                                      </p:to>
                                    </p:set>
                                    <p:animEffect transition="in" filter="blinds(horizontal)">
                                      <p:cBhvr>
                                        <p:cTn id="104" dur="500"/>
                                        <p:tgtEl>
                                          <p:spTgt spid="24"/>
                                        </p:tgtEl>
                                      </p:cBhvr>
                                    </p:animEffect>
                                  </p:childTnLst>
                                </p:cTn>
                              </p:par>
                              <p:par>
                                <p:cTn id="105" presetID="3" presetClass="entr" presetSubtype="1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blinds(horizontal)">
                                      <p:cBhvr>
                                        <p:cTn id="107" dur="500"/>
                                        <p:tgtEl>
                                          <p:spTgt spid="33"/>
                                        </p:tgtEl>
                                      </p:cBhvr>
                                    </p:animEffect>
                                  </p:childTnLst>
                                </p:cTn>
                              </p:par>
                              <p:par>
                                <p:cTn id="108" presetID="3" presetClass="entr" presetSubtype="10" fill="hold"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blinds(horizontal)">
                                      <p:cBhvr>
                                        <p:cTn id="110" dur="500"/>
                                        <p:tgtEl>
                                          <p:spTgt spid="35"/>
                                        </p:tgtEl>
                                      </p:cBhvr>
                                    </p:animEffect>
                                  </p:childTnLst>
                                </p:cTn>
                              </p:par>
                              <p:par>
                                <p:cTn id="111" presetID="3" presetClass="entr" presetSubtype="10" fill="hold"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blinds(horizontal)">
                                      <p:cBhvr>
                                        <p:cTn id="113" dur="500"/>
                                        <p:tgtEl>
                                          <p:spTgt spid="36"/>
                                        </p:tgtEl>
                                      </p:cBhvr>
                                    </p:animEffect>
                                  </p:childTnLst>
                                </p:cTn>
                              </p:par>
                              <p:par>
                                <p:cTn id="114" presetID="3" presetClass="entr" presetSubtype="10" fill="hold" grpId="0" nodeType="with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blinds(horizontal)">
                                      <p:cBhvr>
                                        <p:cTn id="116" dur="500"/>
                                        <p:tgtEl>
                                          <p:spTgt spid="39"/>
                                        </p:tgtEl>
                                      </p:cBhvr>
                                    </p:animEffect>
                                  </p:childTnLst>
                                </p:cTn>
                              </p:par>
                              <p:par>
                                <p:cTn id="117" presetID="3" presetClass="entr" presetSubtype="10" fill="hold" grpId="0"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blinds(horizontal)">
                                      <p:cBhvr>
                                        <p:cTn id="119" dur="500"/>
                                        <p:tgtEl>
                                          <p:spTgt spid="40"/>
                                        </p:tgtEl>
                                      </p:cBhvr>
                                    </p:animEffect>
                                  </p:childTnLst>
                                </p:cTn>
                              </p:par>
                              <p:par>
                                <p:cTn id="120" presetID="3" presetClass="entr" presetSubtype="1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blinds(horizontal)">
                                      <p:cBhvr>
                                        <p:cTn id="122" dur="500"/>
                                        <p:tgtEl>
                                          <p:spTgt spid="41"/>
                                        </p:tgtEl>
                                      </p:cBhvr>
                                    </p:animEffect>
                                  </p:childTnLst>
                                </p:cTn>
                              </p:par>
                              <p:par>
                                <p:cTn id="123" presetID="3" presetClass="entr" presetSubtype="10" fill="hold" grpId="0" nodeType="with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blinds(horizontal)">
                                      <p:cBhvr>
                                        <p:cTn id="125" dur="500"/>
                                        <p:tgtEl>
                                          <p:spTgt spid="42"/>
                                        </p:tgtEl>
                                      </p:cBhvr>
                                    </p:animEffect>
                                  </p:childTnLst>
                                </p:cTn>
                              </p:par>
                              <p:par>
                                <p:cTn id="126" presetID="3" presetClass="entr" presetSubtype="1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blinds(horizontal)">
                                      <p:cBhvr>
                                        <p:cTn id="128" dur="500"/>
                                        <p:tgtEl>
                                          <p:spTgt spid="43"/>
                                        </p:tgtEl>
                                      </p:cBhvr>
                                    </p:animEffect>
                                  </p:childTnLst>
                                </p:cTn>
                              </p:par>
                            </p:childTnLst>
                          </p:cTn>
                        </p:par>
                        <p:par>
                          <p:cTn id="129" fill="hold">
                            <p:stCondLst>
                              <p:cond delay="500"/>
                            </p:stCondLst>
                            <p:childTnLst>
                              <p:par>
                                <p:cTn id="130" presetID="3" presetClass="entr" presetSubtype="10" fill="hold" grpId="0" nodeType="afterEffect">
                                  <p:stCondLst>
                                    <p:cond delay="0"/>
                                  </p:stCondLst>
                                  <p:childTnLst>
                                    <p:set>
                                      <p:cBhvr>
                                        <p:cTn id="131" dur="1" fill="hold">
                                          <p:stCondLst>
                                            <p:cond delay="0"/>
                                          </p:stCondLst>
                                        </p:cTn>
                                        <p:tgtEl>
                                          <p:spTgt spid="27"/>
                                        </p:tgtEl>
                                        <p:attrNameLst>
                                          <p:attrName>style.visibility</p:attrName>
                                        </p:attrNameLst>
                                      </p:cBhvr>
                                      <p:to>
                                        <p:strVal val="visible"/>
                                      </p:to>
                                    </p:set>
                                    <p:animEffect transition="in" filter="blinds(horizontal)">
                                      <p:cBhvr>
                                        <p:cTn id="132" dur="500"/>
                                        <p:tgtEl>
                                          <p:spTgt spid="27"/>
                                        </p:tgtEl>
                                      </p:cBhvr>
                                    </p:animEffect>
                                  </p:childTnLst>
                                </p:cTn>
                              </p:par>
                              <p:par>
                                <p:cTn id="133" presetID="3" presetClass="entr" presetSubtype="1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blinds(horizontal)">
                                      <p:cBhvr>
                                        <p:cTn id="135" dur="500"/>
                                        <p:tgtEl>
                                          <p:spTgt spid="29"/>
                                        </p:tgtEl>
                                      </p:cBhvr>
                                    </p:animEffect>
                                  </p:childTnLst>
                                </p:cTn>
                              </p:par>
                              <p:par>
                                <p:cTn id="136" presetID="3" presetClass="entr" presetSubtype="10" fill="hold" nodeType="withEffect">
                                  <p:stCondLst>
                                    <p:cond delay="0"/>
                                  </p:stCondLst>
                                  <p:childTnLst>
                                    <p:set>
                                      <p:cBhvr>
                                        <p:cTn id="137" dur="1" fill="hold">
                                          <p:stCondLst>
                                            <p:cond delay="0"/>
                                          </p:stCondLst>
                                        </p:cTn>
                                        <p:tgtEl>
                                          <p:spTgt spid="20"/>
                                        </p:tgtEl>
                                        <p:attrNameLst>
                                          <p:attrName>style.visibility</p:attrName>
                                        </p:attrNameLst>
                                      </p:cBhvr>
                                      <p:to>
                                        <p:strVal val="visible"/>
                                      </p:to>
                                    </p:set>
                                    <p:animEffect transition="in" filter="blinds(horizontal)">
                                      <p:cBhvr>
                                        <p:cTn id="13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9" grpId="0" animBg="1"/>
      <p:bldP spid="11" grpId="0" animBg="1"/>
      <p:bldP spid="12" grpId="0" animBg="1"/>
      <p:bldP spid="13" grpId="0" animBg="1"/>
      <p:bldP spid="23" grpId="0" animBg="1"/>
      <p:bldP spid="24" grpId="0" animBg="1"/>
      <p:bldP spid="25" grpId="0" animBg="1"/>
      <p:bldP spid="26" grpId="0" animBg="1"/>
      <p:bldP spid="27" grpId="0" animBg="1"/>
      <p:bldP spid="30" grpId="0" animBg="1"/>
      <p:bldP spid="31" grpId="0" animBg="1"/>
      <p:bldP spid="32" grpId="0" animBg="1"/>
      <p:bldP spid="33" grpId="0" animBg="1"/>
      <p:bldP spid="34" grpId="0"/>
      <p:bldP spid="37" grpId="0"/>
      <p:bldP spid="38" grpId="0"/>
      <p:bldP spid="39" grpId="0"/>
      <p:bldP spid="40" grpId="0" animBg="1"/>
      <p:bldP spid="41" grpId="0" animBg="1"/>
      <p:bldP spid="42" grpId="0" animBg="1"/>
      <p:bldP spid="43" grpId="0"/>
      <p:bldP spid="4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3C5DEEB0-8F43-8242-9F3C-2A3383450DEB}"/>
              </a:ext>
            </a:extLst>
          </p:cNvPr>
          <p:cNvSpPr>
            <a:spLocks noGrp="1" noChangeArrowheads="1"/>
          </p:cNvSpPr>
          <p:nvPr>
            <p:ph type="body" idx="1"/>
          </p:nvPr>
        </p:nvSpPr>
        <p:spPr>
          <a:xfrm>
            <a:off x="428625" y="1357313"/>
            <a:ext cx="8215313" cy="4643437"/>
          </a:xfrm>
        </p:spPr>
        <p:txBody>
          <a:bodyPr/>
          <a:lstStyle/>
          <a:p>
            <a:pPr marL="0" indent="0" eaLnBrk="1" hangingPunct="1">
              <a:lnSpc>
                <a:spcPct val="2000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4.1.1 </a:t>
            </a:r>
            <a:r>
              <a:rPr lang="zh-CN" altLang="en-US">
                <a:solidFill>
                  <a:srgbClr val="FF0000"/>
                </a:solidFill>
                <a:effectLst>
                  <a:outerShdw blurRad="38100" dist="38100" dir="2700000" algn="tl">
                    <a:srgbClr val="FFFFFF"/>
                  </a:outerShdw>
                </a:effectLst>
              </a:rPr>
              <a:t>逻辑地址和物理地址</a:t>
            </a:r>
            <a:endParaRPr lang="zh-CN" altLang="en-US">
              <a:solidFill>
                <a:srgbClr val="FF0000"/>
              </a:solidFill>
              <a:effectLst/>
              <a:latin typeface="宋体" panose="02010600030101010101" pitchFamily="2" charset="-122"/>
            </a:endParaRPr>
          </a:p>
          <a:p>
            <a:pPr marL="0" indent="0" algn="just" eaLnBrk="1" hangingPunct="1">
              <a:lnSpc>
                <a:spcPts val="4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1</a:t>
            </a:r>
            <a:r>
              <a:rPr lang="zh-CN" altLang="en-US" sz="2200">
                <a:solidFill>
                  <a:schemeClr val="tx1"/>
                </a:solidFill>
                <a:effectLst/>
                <a:latin typeface="宋体" panose="02010600030101010101" pitchFamily="2" charset="-122"/>
              </a:rPr>
              <a:t>）</a:t>
            </a:r>
            <a:r>
              <a:rPr lang="zh-CN" altLang="en-US" sz="2200">
                <a:solidFill>
                  <a:srgbClr val="FF0000"/>
                </a:solidFill>
                <a:effectLst/>
                <a:latin typeface="宋体" panose="02010600030101010101" pitchFamily="2" charset="-122"/>
              </a:rPr>
              <a:t>逻辑地址。</a:t>
            </a:r>
            <a:r>
              <a:rPr lang="zh-CN" altLang="en-US" sz="2200">
                <a:solidFill>
                  <a:schemeClr val="tx1"/>
                </a:solidFill>
                <a:effectLst>
                  <a:outerShdw blurRad="38100" dist="38100" dir="2700000" algn="tl">
                    <a:srgbClr val="FFFFFF"/>
                  </a:outerShdw>
                </a:effectLst>
              </a:rPr>
              <a:t>用户源程序经编译、链接后得到可装入程序。由于无法预先知道程序装入内存的具体位置，只能暂定程序的起始地址为</a:t>
            </a:r>
            <a:r>
              <a:rPr lang="en-US" altLang="zh-CN" sz="2200">
                <a:solidFill>
                  <a:schemeClr val="tx1"/>
                </a:solidFill>
                <a:effectLst>
                  <a:outerShdw blurRad="38100" dist="38100" dir="2700000" algn="tl">
                    <a:srgbClr val="FFFFFF"/>
                  </a:outerShdw>
                </a:effectLst>
              </a:rPr>
              <a:t>0</a:t>
            </a:r>
            <a:r>
              <a:rPr lang="zh-CN" altLang="en-US" sz="2200">
                <a:solidFill>
                  <a:schemeClr val="tx1"/>
                </a:solidFill>
                <a:effectLst>
                  <a:outerShdw blurRad="38100" dist="38100" dir="2700000" algn="tl">
                    <a:srgbClr val="FFFFFF"/>
                  </a:outerShdw>
                </a:effectLst>
              </a:rPr>
              <a:t>，即程序中指令和数据的地址都是相对</a:t>
            </a:r>
            <a:r>
              <a:rPr lang="en-US" altLang="zh-CN" sz="2200">
                <a:solidFill>
                  <a:schemeClr val="tx1"/>
                </a:solidFill>
                <a:effectLst>
                  <a:outerShdw blurRad="38100" dist="38100" dir="2700000" algn="tl">
                    <a:srgbClr val="FFFFFF"/>
                  </a:outerShdw>
                </a:effectLst>
              </a:rPr>
              <a:t>0</a:t>
            </a:r>
            <a:r>
              <a:rPr lang="zh-CN" altLang="en-US" sz="2200">
                <a:solidFill>
                  <a:schemeClr val="tx1"/>
                </a:solidFill>
                <a:effectLst>
                  <a:outerShdw blurRad="38100" dist="38100" dir="2700000" algn="tl">
                    <a:srgbClr val="FFFFFF"/>
                  </a:outerShdw>
                </a:effectLst>
              </a:rPr>
              <a:t>这个起始地址进行计算的，用这种方法确定的地址称为逻辑地址或相对地址。</a:t>
            </a:r>
            <a:endParaRPr lang="zh-CN" altLang="en-US" sz="2200">
              <a:solidFill>
                <a:schemeClr val="tx1"/>
              </a:solidFill>
              <a:effectLst/>
              <a:latin typeface="宋体" panose="02010600030101010101" pitchFamily="2" charset="-122"/>
            </a:endParaRPr>
          </a:p>
          <a:p>
            <a:pPr marL="0" indent="0" algn="just" eaLnBrk="1" hangingPunct="1">
              <a:lnSpc>
                <a:spcPts val="4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2</a:t>
            </a:r>
            <a:r>
              <a:rPr lang="zh-CN" altLang="en-US" sz="2200">
                <a:solidFill>
                  <a:schemeClr val="tx1"/>
                </a:solidFill>
                <a:effectLst/>
                <a:latin typeface="宋体" panose="02010600030101010101" pitchFamily="2" charset="-122"/>
              </a:rPr>
              <a:t>）</a:t>
            </a:r>
            <a:r>
              <a:rPr lang="zh-CN" altLang="en-US" sz="2200">
                <a:solidFill>
                  <a:srgbClr val="FF0000"/>
                </a:solidFill>
                <a:effectLst/>
                <a:latin typeface="宋体" panose="02010600030101010101" pitchFamily="2" charset="-122"/>
              </a:rPr>
              <a:t>逻辑地址空间。</a:t>
            </a:r>
            <a:r>
              <a:rPr lang="zh-CN" altLang="en-US" sz="2200">
                <a:solidFill>
                  <a:schemeClr val="tx1"/>
                </a:solidFill>
                <a:effectLst>
                  <a:outerShdw blurRad="38100" dist="38100" dir="2700000" algn="tl">
                    <a:srgbClr val="FFFFFF"/>
                  </a:outerShdw>
                </a:effectLst>
              </a:rPr>
              <a:t>一个目标模块（程序）或装入模块（程序）的所有逻辑地址的集合，称为逻辑地址空间或相对地址空间。</a:t>
            </a:r>
            <a:endParaRPr lang="zh-CN" altLang="en-US" sz="2200">
              <a:solidFill>
                <a:schemeClr val="tx1"/>
              </a:solidFill>
              <a:effectLst/>
              <a:latin typeface="宋体" panose="02010600030101010101" pitchFamily="2" charset="-122"/>
            </a:endParaRPr>
          </a:p>
        </p:txBody>
      </p:sp>
      <p:sp>
        <p:nvSpPr>
          <p:cNvPr id="33795" name="AutoShape 3">
            <a:extLst>
              <a:ext uri="{FF2B5EF4-FFF2-40B4-BE49-F238E27FC236}">
                <a16:creationId xmlns:a16="http://schemas.microsoft.com/office/drawing/2014/main" id="{B311A275-EF88-6944-92FC-59299D1E3689}"/>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04E05B74-7784-7F42-8E30-3F5646D46FC9}"/>
              </a:ext>
            </a:extLst>
          </p:cNvPr>
          <p:cNvSpPr>
            <a:spLocks noGrp="1" noChangeArrowheads="1"/>
          </p:cNvSpPr>
          <p:nvPr>
            <p:ph type="body" idx="1"/>
          </p:nvPr>
        </p:nvSpPr>
        <p:spPr>
          <a:xfrm>
            <a:off x="428625" y="1500188"/>
            <a:ext cx="8286750" cy="4643437"/>
          </a:xfrm>
        </p:spPr>
        <p:txBody>
          <a:bodyPr/>
          <a:lstStyle/>
          <a:p>
            <a:pPr marL="0" indent="0" algn="just" eaLnBrk="1" hangingPunct="1">
              <a:lnSpc>
                <a:spcPts val="3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3</a:t>
            </a:r>
            <a:r>
              <a:rPr lang="zh-CN" altLang="en-US" sz="2200">
                <a:solidFill>
                  <a:schemeClr val="tx1"/>
                </a:solidFill>
                <a:effectLst/>
                <a:latin typeface="宋体" panose="02010600030101010101" pitchFamily="2" charset="-122"/>
              </a:rPr>
              <a:t>）</a:t>
            </a:r>
            <a:r>
              <a:rPr lang="zh-CN" altLang="en-US" sz="2200">
                <a:solidFill>
                  <a:srgbClr val="FF0000"/>
                </a:solidFill>
                <a:effectLst/>
                <a:latin typeface="宋体" panose="02010600030101010101" pitchFamily="2" charset="-122"/>
              </a:rPr>
              <a:t>物理地址。</a:t>
            </a:r>
            <a:r>
              <a:rPr lang="zh-CN" altLang="en-US" sz="2200">
                <a:solidFill>
                  <a:schemeClr val="tx1"/>
                </a:solidFill>
                <a:effectLst>
                  <a:outerShdw blurRad="38100" dist="38100" dir="2700000" algn="tl">
                    <a:srgbClr val="FFFFFF"/>
                  </a:outerShdw>
                </a:effectLst>
              </a:rPr>
              <a:t>内存中实际存储单元的地址称为物理地址，也称为绝对地址或内存地址。</a:t>
            </a:r>
            <a:endParaRPr lang="en-US" altLang="zh-CN" sz="2200">
              <a:solidFill>
                <a:schemeClr val="tx1"/>
              </a:solidFill>
              <a:effectLst>
                <a:outerShdw blurRad="38100" dist="38100" dir="2700000" algn="tl">
                  <a:srgbClr val="FFFFFF"/>
                </a:outerShdw>
              </a:effectLst>
            </a:endParaRPr>
          </a:p>
          <a:p>
            <a:pPr marL="0" indent="0" algn="just" eaLnBrk="1" hangingPunct="1">
              <a:lnSpc>
                <a:spcPts val="3500"/>
              </a:lnSpc>
              <a:spcBef>
                <a:spcPct val="0"/>
              </a:spcBef>
              <a:buFont typeface="Wingdings" pitchFamily="2" charset="2"/>
              <a:buNone/>
            </a:pPr>
            <a:r>
              <a:rPr lang="en-US" altLang="zh-CN" sz="2200">
                <a:solidFill>
                  <a:schemeClr val="tx1"/>
                </a:solidFill>
                <a:effectLst>
                  <a:outerShdw blurRad="38100" dist="38100" dir="2700000" algn="tl">
                    <a:srgbClr val="FFFFFF"/>
                  </a:outerShdw>
                </a:effectLst>
              </a:rPr>
              <a:t>    </a:t>
            </a:r>
            <a:r>
              <a:rPr lang="zh-CN" altLang="en-US" sz="2200">
                <a:solidFill>
                  <a:schemeClr val="tx1"/>
                </a:solidFill>
                <a:effectLst>
                  <a:outerShdw blurRad="38100" dist="38100" dir="2700000" algn="tl">
                    <a:srgbClr val="FFFFFF"/>
                  </a:outerShdw>
                </a:effectLst>
              </a:rPr>
              <a:t>为了使程序装入内存后能够正常运行，就必须将程序代码中的逻辑地址转换为物理地址，这个转换操作称为地址转换。</a:t>
            </a:r>
            <a:endParaRPr lang="zh-CN" altLang="en-US" sz="2200">
              <a:solidFill>
                <a:schemeClr val="tx1"/>
              </a:solidFill>
              <a:effectLst/>
              <a:latin typeface="宋体" panose="02010600030101010101" pitchFamily="2" charset="-122"/>
            </a:endParaRPr>
          </a:p>
          <a:p>
            <a:pPr marL="0" indent="0" algn="just" eaLnBrk="1" hangingPunct="1">
              <a:lnSpc>
                <a:spcPts val="3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4</a:t>
            </a:r>
            <a:r>
              <a:rPr lang="zh-CN" altLang="en-US" sz="2200">
                <a:solidFill>
                  <a:schemeClr val="tx1"/>
                </a:solidFill>
                <a:effectLst/>
                <a:latin typeface="宋体" panose="02010600030101010101" pitchFamily="2" charset="-122"/>
              </a:rPr>
              <a:t>）</a:t>
            </a:r>
            <a:r>
              <a:rPr lang="zh-CN" altLang="en-US" sz="2200">
                <a:solidFill>
                  <a:srgbClr val="FF0000"/>
                </a:solidFill>
                <a:effectLst/>
                <a:latin typeface="宋体" panose="02010600030101010101" pitchFamily="2" charset="-122"/>
              </a:rPr>
              <a:t>物理地址空间。</a:t>
            </a:r>
            <a:r>
              <a:rPr lang="zh-CN" altLang="en-US" sz="2200">
                <a:solidFill>
                  <a:schemeClr val="tx1"/>
                </a:solidFill>
                <a:effectLst>
                  <a:outerShdw blurRad="38100" dist="38100" dir="2700000" algn="tl">
                    <a:srgbClr val="FFFFFF"/>
                  </a:outerShdw>
                </a:effectLst>
              </a:rPr>
              <a:t>内存中全部存储单元的物理地址集合称为物理地址空间、绝对地址空间或内存地址空间。</a:t>
            </a:r>
            <a:endParaRPr lang="zh-CN" altLang="en-US" sz="2200">
              <a:solidFill>
                <a:schemeClr val="tx1"/>
              </a:solidFill>
              <a:effectLst/>
              <a:latin typeface="宋体" panose="02010600030101010101" pitchFamily="2" charset="-122"/>
            </a:endParaRPr>
          </a:p>
          <a:p>
            <a:pPr marL="0" indent="0" algn="just" eaLnBrk="1" hangingPunct="1">
              <a:lnSpc>
                <a:spcPts val="3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5</a:t>
            </a:r>
            <a:r>
              <a:rPr lang="zh-CN" altLang="en-US" sz="2200">
                <a:solidFill>
                  <a:schemeClr val="tx1"/>
                </a:solidFill>
                <a:effectLst/>
                <a:latin typeface="宋体" panose="02010600030101010101" pitchFamily="2" charset="-122"/>
              </a:rPr>
              <a:t>）</a:t>
            </a:r>
            <a:r>
              <a:rPr lang="zh-CN" altLang="en-US" sz="2200">
                <a:solidFill>
                  <a:srgbClr val="FF0000"/>
                </a:solidFill>
                <a:effectLst/>
                <a:latin typeface="宋体" panose="02010600030101010101" pitchFamily="2" charset="-122"/>
              </a:rPr>
              <a:t>虚拟地址空间。</a:t>
            </a:r>
            <a:r>
              <a:rPr lang="en-US" altLang="zh-CN" sz="2200">
                <a:solidFill>
                  <a:schemeClr val="tx1"/>
                </a:solidFill>
                <a:effectLst>
                  <a:outerShdw blurRad="38100" dist="38100" dir="2700000" algn="tl">
                    <a:srgbClr val="FFFFFF"/>
                  </a:outerShdw>
                </a:effectLst>
              </a:rPr>
              <a:t>CPU</a:t>
            </a:r>
            <a:r>
              <a:rPr lang="zh-CN" altLang="en-US" sz="2200">
                <a:solidFill>
                  <a:schemeClr val="tx1"/>
                </a:solidFill>
                <a:effectLst>
                  <a:outerShdw blurRad="38100" dist="38100" dir="2700000" algn="tl">
                    <a:srgbClr val="FFFFFF"/>
                  </a:outerShdw>
                </a:effectLst>
              </a:rPr>
              <a:t>支持的地址范围一般远大于机器实际内存的大小，对于没有对应的实际内存的那部分地址程序仍然可能使用，我们将程序能够使用的整个地址范围称为虚拟地址空间。</a:t>
            </a:r>
            <a:endParaRPr lang="zh-CN" altLang="en-US" sz="2200">
              <a:solidFill>
                <a:schemeClr val="tx1"/>
              </a:solidFill>
              <a:effectLst/>
              <a:latin typeface="宋体" panose="02010600030101010101" pitchFamily="2" charset="-122"/>
            </a:endParaRPr>
          </a:p>
        </p:txBody>
      </p:sp>
      <p:sp>
        <p:nvSpPr>
          <p:cNvPr id="33795" name="AutoShape 3">
            <a:extLst>
              <a:ext uri="{FF2B5EF4-FFF2-40B4-BE49-F238E27FC236}">
                <a16:creationId xmlns:a16="http://schemas.microsoft.com/office/drawing/2014/main" id="{296A1976-140C-1041-BF43-92839637792E}"/>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BAACBEAD-B931-B24F-8AA9-C1D33D39D0BA}"/>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
        <p:nvSpPr>
          <p:cNvPr id="3" name="内容占位符 2">
            <a:extLst>
              <a:ext uri="{FF2B5EF4-FFF2-40B4-BE49-F238E27FC236}">
                <a16:creationId xmlns:a16="http://schemas.microsoft.com/office/drawing/2014/main" id="{64181968-43A8-B740-A621-60D9D2287E37}"/>
              </a:ext>
            </a:extLst>
          </p:cNvPr>
          <p:cNvSpPr txBox="1">
            <a:spLocks/>
          </p:cNvSpPr>
          <p:nvPr/>
        </p:nvSpPr>
        <p:spPr>
          <a:xfrm>
            <a:off x="342900" y="1635195"/>
            <a:ext cx="8458200" cy="3089949"/>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a:buClr>
                <a:srgbClr val="0000FF"/>
              </a:buClr>
            </a:pPr>
            <a:r>
              <a:rPr lang="zh-CN" altLang="en-US" kern="0" dirty="0">
                <a:solidFill>
                  <a:srgbClr val="0000FF"/>
                </a:solidFill>
                <a:latin typeface="幼圆" pitchFamily="49" charset="-122"/>
                <a:ea typeface="幼圆" pitchFamily="49" charset="-122"/>
              </a:rPr>
              <a:t>程序为什么要链接</a:t>
            </a:r>
            <a:r>
              <a:rPr lang="en-US" altLang="zh-CN" kern="0" dirty="0">
                <a:solidFill>
                  <a:srgbClr val="0000FF"/>
                </a:solidFill>
                <a:latin typeface="幼圆" pitchFamily="49" charset="-122"/>
                <a:ea typeface="幼圆" pitchFamily="49" charset="-122"/>
              </a:rPr>
              <a:t>?</a:t>
            </a:r>
          </a:p>
          <a:p>
            <a:pPr>
              <a:buClr>
                <a:srgbClr val="0000FF"/>
              </a:buClr>
            </a:pPr>
            <a:r>
              <a:rPr lang="zh-CN" altLang="en-US" kern="0" dirty="0">
                <a:solidFill>
                  <a:srgbClr val="0000FF"/>
                </a:solidFill>
                <a:latin typeface="幼圆" pitchFamily="49" charset="-122"/>
                <a:ea typeface="幼圆" pitchFamily="49" charset="-122"/>
              </a:rPr>
              <a:t>链接程序的功能</a:t>
            </a:r>
            <a:endParaRPr lang="en-US" altLang="zh-CN" kern="0" dirty="0">
              <a:solidFill>
                <a:srgbClr val="0000FF"/>
              </a:solidFill>
              <a:latin typeface="幼圆" pitchFamily="49" charset="-122"/>
              <a:ea typeface="幼圆" pitchFamily="49" charset="-122"/>
            </a:endParaRPr>
          </a:p>
          <a:p>
            <a:pPr lvl="1">
              <a:buClr>
                <a:srgbClr val="0000FF"/>
              </a:buClr>
            </a:pPr>
            <a:r>
              <a:rPr lang="zh-CN" altLang="en-US" b="1" kern="0" dirty="0">
                <a:solidFill>
                  <a:srgbClr val="000000"/>
                </a:solidFill>
                <a:latin typeface="幼圆" pitchFamily="49" charset="-122"/>
                <a:ea typeface="幼圆" pitchFamily="49" charset="-122"/>
              </a:rPr>
              <a:t>将编译或汇编后所得到的一组目标模块以及它们所需要的库函数，装配成一个完整的装入模块。</a:t>
            </a:r>
            <a:endParaRPr lang="en-US" altLang="zh-CN" b="1" kern="0" dirty="0">
              <a:solidFill>
                <a:srgbClr val="000000"/>
              </a:solidFill>
              <a:latin typeface="幼圆" pitchFamily="49" charset="-122"/>
              <a:ea typeface="幼圆" pitchFamily="49" charset="-122"/>
            </a:endParaRPr>
          </a:p>
          <a:p>
            <a:pPr>
              <a:buClr>
                <a:srgbClr val="0000FF"/>
              </a:buClr>
            </a:pPr>
            <a:r>
              <a:rPr lang="zh-CN" altLang="en-US" kern="0" dirty="0">
                <a:solidFill>
                  <a:srgbClr val="0000FF"/>
                </a:solidFill>
                <a:latin typeface="幼圆" pitchFamily="49" charset="-122"/>
                <a:ea typeface="幼圆" pitchFamily="49" charset="-122"/>
              </a:rPr>
              <a:t>链接方式</a:t>
            </a:r>
            <a:endParaRPr lang="en-US" altLang="zh-CN" kern="0" dirty="0">
              <a:solidFill>
                <a:srgbClr val="0000FF"/>
              </a:solidFill>
              <a:latin typeface="幼圆" pitchFamily="49" charset="-122"/>
              <a:ea typeface="幼圆" pitchFamily="49" charset="-122"/>
            </a:endParaRPr>
          </a:p>
          <a:p>
            <a:pPr lvl="1">
              <a:buClr>
                <a:srgbClr val="0000FF"/>
              </a:buClr>
            </a:pPr>
            <a:r>
              <a:rPr lang="zh-CN" altLang="en-US" b="1" kern="0" dirty="0">
                <a:solidFill>
                  <a:srgbClr val="D60093"/>
                </a:solidFill>
                <a:latin typeface="幼圆" pitchFamily="49" charset="-122"/>
                <a:ea typeface="幼圆" pitchFamily="49" charset="-122"/>
              </a:rPr>
              <a:t>静态链接（</a:t>
            </a:r>
            <a:r>
              <a:rPr lang="en-US" altLang="zh-CN" b="1" kern="0" dirty="0">
                <a:solidFill>
                  <a:srgbClr val="D60093"/>
                </a:solidFill>
                <a:latin typeface="幼圆" pitchFamily="49" charset="-122"/>
                <a:ea typeface="幼圆" pitchFamily="49" charset="-122"/>
              </a:rPr>
              <a:t>Static Linking</a:t>
            </a:r>
            <a:r>
              <a:rPr lang="zh-CN" altLang="en-US" b="1" kern="0" dirty="0">
                <a:solidFill>
                  <a:srgbClr val="D60093"/>
                </a:solidFill>
                <a:latin typeface="幼圆" pitchFamily="49" charset="-122"/>
                <a:ea typeface="幼圆" pitchFamily="49" charset="-122"/>
              </a:rPr>
              <a:t>）</a:t>
            </a:r>
            <a:endParaRPr lang="en-US" altLang="zh-CN" b="1" kern="0" dirty="0">
              <a:solidFill>
                <a:srgbClr val="D60093"/>
              </a:solidFill>
              <a:latin typeface="幼圆" pitchFamily="49" charset="-122"/>
              <a:ea typeface="幼圆" pitchFamily="49" charset="-122"/>
            </a:endParaRPr>
          </a:p>
          <a:p>
            <a:pPr lvl="1">
              <a:buClr>
                <a:srgbClr val="0000FF"/>
              </a:buClr>
            </a:pPr>
            <a:r>
              <a:rPr lang="zh-CN" altLang="en-US" b="1" kern="0" dirty="0">
                <a:solidFill>
                  <a:srgbClr val="D60093"/>
                </a:solidFill>
                <a:latin typeface="幼圆" pitchFamily="49" charset="-122"/>
                <a:ea typeface="幼圆" pitchFamily="49" charset="-122"/>
              </a:rPr>
              <a:t>装入时动态链接</a:t>
            </a:r>
            <a:r>
              <a:rPr lang="en-US" altLang="zh-CN" b="1" kern="0" dirty="0">
                <a:solidFill>
                  <a:srgbClr val="D60093"/>
                </a:solidFill>
                <a:latin typeface="幼圆" pitchFamily="49" charset="-122"/>
                <a:ea typeface="幼圆" pitchFamily="49" charset="-122"/>
              </a:rPr>
              <a:t>(Load-time Dynamic Linking)</a:t>
            </a:r>
          </a:p>
          <a:p>
            <a:pPr lvl="1">
              <a:buClr>
                <a:srgbClr val="0000FF"/>
              </a:buClr>
            </a:pPr>
            <a:r>
              <a:rPr lang="zh-CN" altLang="en-US" b="1" kern="0" dirty="0">
                <a:solidFill>
                  <a:srgbClr val="D60093"/>
                </a:solidFill>
                <a:latin typeface="幼圆" pitchFamily="49" charset="-122"/>
                <a:ea typeface="幼圆" pitchFamily="49" charset="-122"/>
              </a:rPr>
              <a:t>运行时动态链接</a:t>
            </a:r>
            <a:r>
              <a:rPr lang="en-US" altLang="zh-CN" b="1" kern="0" dirty="0">
                <a:solidFill>
                  <a:srgbClr val="D60093"/>
                </a:solidFill>
                <a:latin typeface="幼圆" pitchFamily="49" charset="-122"/>
                <a:ea typeface="幼圆" pitchFamily="49" charset="-122"/>
              </a:rPr>
              <a:t>(Run-time Dynamic Linking)</a:t>
            </a:r>
          </a:p>
        </p:txBody>
      </p:sp>
    </p:spTree>
    <p:extLst>
      <p:ext uri="{BB962C8B-B14F-4D97-AF65-F5344CB8AC3E}">
        <p14:creationId xmlns:p14="http://schemas.microsoft.com/office/powerpoint/2010/main" val="3138938354"/>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linds(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blinds(horizontal)">
                                      <p:cBhvr>
                                        <p:cTn id="12" dur="500"/>
                                        <p:tgtEl>
                                          <p:spTgt spid="3">
                                            <p:txEl>
                                              <p:pRg st="1" end="1"/>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blinds(horizontal)">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blinds(horizontal)">
                                      <p:cBhvr>
                                        <p:cTn id="20" dur="500"/>
                                        <p:tgtEl>
                                          <p:spTgt spid="3">
                                            <p:txEl>
                                              <p:pRg st="3" end="3"/>
                                            </p:txEl>
                                          </p:spTgt>
                                        </p:tgtEl>
                                      </p:cBhvr>
                                    </p:animEffect>
                                  </p:childTnLst>
                                </p:cTn>
                              </p:par>
                              <p:par>
                                <p:cTn id="21" presetID="3" presetClass="entr" presetSubtype="1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blinds(horizontal)">
                                      <p:cBhvr>
                                        <p:cTn id="23" dur="500"/>
                                        <p:tgtEl>
                                          <p:spTgt spid="3">
                                            <p:txEl>
                                              <p:pRg st="4" end="4"/>
                                            </p:txEl>
                                          </p:spTgt>
                                        </p:tgtEl>
                                      </p:cBhvr>
                                    </p:animEffect>
                                  </p:childTnLst>
                                </p:cTn>
                              </p:par>
                              <p:par>
                                <p:cTn id="24" presetID="3" presetClass="entr" presetSubtype="1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blinds(horizontal)">
                                      <p:cBhvr>
                                        <p:cTn id="26" dur="500"/>
                                        <p:tgtEl>
                                          <p:spTgt spid="3">
                                            <p:txEl>
                                              <p:pRg st="5" end="5"/>
                                            </p:txEl>
                                          </p:spTgt>
                                        </p:tgtEl>
                                      </p:cBhvr>
                                    </p:animEffect>
                                  </p:childTnLst>
                                </p:cTn>
                              </p:par>
                              <p:par>
                                <p:cTn id="27" presetID="3" presetClass="entr" presetSubtype="1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blinds(horizontal)">
                                      <p:cBhvr>
                                        <p:cTn id="29"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61B22F23-9FBE-0C48-A378-3CD5D2C5B2C0}"/>
              </a:ext>
            </a:extLst>
          </p:cNvPr>
          <p:cNvSpPr>
            <a:spLocks noGrp="1" noChangeArrowheads="1"/>
          </p:cNvSpPr>
          <p:nvPr>
            <p:ph type="body" idx="1"/>
          </p:nvPr>
        </p:nvSpPr>
        <p:spPr>
          <a:xfrm>
            <a:off x="611188" y="1120775"/>
            <a:ext cx="8104187" cy="2736850"/>
          </a:xfrm>
        </p:spPr>
        <p:txBody>
          <a:bodyPr/>
          <a:lstStyle/>
          <a:p>
            <a:pPr marL="0" indent="0" eaLnBrk="1" hangingPunct="1">
              <a:lnSpc>
                <a:spcPct val="1400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4.1.2 </a:t>
            </a:r>
            <a:r>
              <a:rPr lang="zh-CN" altLang="en-US">
                <a:solidFill>
                  <a:srgbClr val="FF0000"/>
                </a:solidFill>
                <a:effectLst>
                  <a:outerShdw blurRad="38100" dist="38100" dir="2700000" algn="tl">
                    <a:srgbClr val="FFFFFF"/>
                  </a:outerShdw>
                </a:effectLst>
              </a:rPr>
              <a:t>程序链接</a:t>
            </a:r>
            <a:endParaRPr lang="zh-CN" altLang="en-US">
              <a:solidFill>
                <a:srgbClr val="FF0000"/>
              </a:solidFill>
              <a:effectLst/>
              <a:latin typeface="宋体" panose="02010600030101010101" pitchFamily="2" charset="-122"/>
            </a:endParaRPr>
          </a:p>
          <a:p>
            <a:pPr marL="0" indent="0" eaLnBrk="1" hangingPunct="1">
              <a:lnSpc>
                <a:spcPct val="140000"/>
              </a:lnSpc>
              <a:spcBef>
                <a:spcPct val="0"/>
              </a:spcBef>
              <a:buFont typeface="Wingdings" pitchFamily="2" charset="2"/>
              <a:buNone/>
            </a:pPr>
            <a:r>
              <a:rPr lang="zh-CN" altLang="en-US" sz="2200">
                <a:solidFill>
                  <a:schemeClr val="tx1"/>
                </a:solidFill>
                <a:effectLst/>
                <a:latin typeface="宋体" panose="02010600030101010101" pitchFamily="2" charset="-122"/>
              </a:rPr>
              <a:t>    链接程序在将几个目标模块装配成一个装入模块时，需要解决以下问题：</a:t>
            </a:r>
          </a:p>
          <a:p>
            <a:pPr marL="0" indent="0" eaLnBrk="1" hangingPunct="1">
              <a:lnSpc>
                <a:spcPct val="1400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1</a:t>
            </a:r>
            <a:r>
              <a:rPr lang="zh-CN" altLang="en-US" sz="2200">
                <a:solidFill>
                  <a:schemeClr val="tx1"/>
                </a:solidFill>
                <a:effectLst/>
                <a:latin typeface="宋体" panose="02010600030101010101" pitchFamily="2" charset="-122"/>
              </a:rPr>
              <a:t>）修改模块的相对地址。</a:t>
            </a:r>
          </a:p>
          <a:p>
            <a:pPr marL="0" indent="0" eaLnBrk="1" hangingPunct="1">
              <a:lnSpc>
                <a:spcPct val="1400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2</a:t>
            </a:r>
            <a:r>
              <a:rPr lang="zh-CN" altLang="en-US" sz="2200">
                <a:solidFill>
                  <a:schemeClr val="tx1"/>
                </a:solidFill>
                <a:effectLst/>
                <a:latin typeface="宋体" panose="02010600030101010101" pitchFamily="2" charset="-122"/>
              </a:rPr>
              <a:t>）转换外部调用符号。</a:t>
            </a:r>
          </a:p>
        </p:txBody>
      </p:sp>
      <p:sp>
        <p:nvSpPr>
          <p:cNvPr id="34819" name="AutoShape 3">
            <a:extLst>
              <a:ext uri="{FF2B5EF4-FFF2-40B4-BE49-F238E27FC236}">
                <a16:creationId xmlns:a16="http://schemas.microsoft.com/office/drawing/2014/main" id="{C2FED328-0FD4-E943-9F19-EBDF01AAF343}"/>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pic>
        <p:nvPicPr>
          <p:cNvPr id="9220" name="Picture 6">
            <a:extLst>
              <a:ext uri="{FF2B5EF4-FFF2-40B4-BE49-F238E27FC236}">
                <a16:creationId xmlns:a16="http://schemas.microsoft.com/office/drawing/2014/main" id="{CE522903-EC6A-4D43-95D4-73D9C58E4A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3644900"/>
            <a:ext cx="7272337" cy="287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8648F258-286E-694E-8020-FB05D3AC0BC1}"/>
              </a:ext>
            </a:extLst>
          </p:cNvPr>
          <p:cNvSpPr>
            <a:spLocks noGrp="1" noChangeArrowheads="1"/>
          </p:cNvSpPr>
          <p:nvPr>
            <p:ph type="body" idx="1"/>
          </p:nvPr>
        </p:nvSpPr>
        <p:spPr>
          <a:xfrm>
            <a:off x="500063" y="1428750"/>
            <a:ext cx="8215312" cy="5016500"/>
          </a:xfrm>
        </p:spPr>
        <p:txBody>
          <a:bodyPr/>
          <a:lstStyle/>
          <a:p>
            <a:pPr marL="0" indent="0" eaLnBrk="1" hangingPunct="1">
              <a:lnSpc>
                <a:spcPts val="4500"/>
              </a:lnSpc>
              <a:spcBef>
                <a:spcPct val="0"/>
              </a:spcBef>
              <a:buFont typeface="Wingdings" pitchFamily="2" charset="2"/>
              <a:buNone/>
            </a:pPr>
            <a:r>
              <a:rPr lang="zh-CN" altLang="en-US">
                <a:solidFill>
                  <a:srgbClr val="FF0000"/>
                </a:solidFill>
                <a:effectLst/>
                <a:latin typeface="宋体" panose="02010600030101010101" pitchFamily="2" charset="-122"/>
              </a:rPr>
              <a:t>目标模块链接方式</a:t>
            </a:r>
            <a:endParaRPr lang="zh-CN" altLang="en-US">
              <a:solidFill>
                <a:schemeClr val="tx1"/>
              </a:solidFill>
              <a:effectLst/>
              <a:latin typeface="宋体" panose="02010600030101010101" pitchFamily="2" charset="-122"/>
            </a:endParaRPr>
          </a:p>
          <a:p>
            <a:pPr marL="0" indent="0" eaLnBrk="1" hangingPunct="1">
              <a:lnSpc>
                <a:spcPts val="4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1</a:t>
            </a:r>
            <a:r>
              <a:rPr lang="zh-CN" altLang="en-US" sz="2200">
                <a:solidFill>
                  <a:schemeClr val="tx1"/>
                </a:solidFill>
                <a:effectLst/>
                <a:latin typeface="宋体" panose="02010600030101010101" pitchFamily="2" charset="-122"/>
              </a:rPr>
              <a:t>）静态链接。程序运行前把源程序编译成的所有目标模块及所需要的库函数链接成一个统一的装入模块，以后不再分开。</a:t>
            </a:r>
          </a:p>
          <a:p>
            <a:pPr marL="0" indent="0" eaLnBrk="1" hangingPunct="1">
              <a:lnSpc>
                <a:spcPts val="4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2</a:t>
            </a:r>
            <a:r>
              <a:rPr lang="zh-CN" altLang="en-US" sz="2200">
                <a:solidFill>
                  <a:schemeClr val="tx1"/>
                </a:solidFill>
                <a:effectLst/>
                <a:latin typeface="宋体" panose="02010600030101010101" pitchFamily="2" charset="-122"/>
              </a:rPr>
              <a:t>）装入时动态链接。目标模块的链接是在模块装入内存时进行的，即在模块装入过程中同时完成所有目标模块的链接。</a:t>
            </a:r>
          </a:p>
          <a:p>
            <a:pPr marL="0" indent="0" eaLnBrk="1" hangingPunct="1">
              <a:lnSpc>
                <a:spcPts val="45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3</a:t>
            </a:r>
            <a:r>
              <a:rPr lang="zh-CN" altLang="en-US" sz="2200">
                <a:solidFill>
                  <a:schemeClr val="tx1"/>
                </a:solidFill>
                <a:effectLst/>
                <a:latin typeface="宋体" panose="02010600030101010101" pitchFamily="2" charset="-122"/>
              </a:rPr>
              <a:t>）运行时动态链接。先将一个目标模块装入内存且启动运行，在进程运行过程中如果需要调用其他模块，则再将所需模块装入内存并把它链接到调用模块上，然后进程继续运行。</a:t>
            </a:r>
          </a:p>
          <a:p>
            <a:pPr marL="0" indent="0" eaLnBrk="1" hangingPunct="1">
              <a:lnSpc>
                <a:spcPct val="120000"/>
              </a:lnSpc>
              <a:spcBef>
                <a:spcPct val="0"/>
              </a:spcBef>
              <a:buFont typeface="Wingdings" pitchFamily="2" charset="2"/>
              <a:buNone/>
            </a:pPr>
            <a:endParaRPr lang="en-US" altLang="zh-CN">
              <a:solidFill>
                <a:schemeClr val="tx1"/>
              </a:solidFill>
              <a:effectLst/>
              <a:latin typeface="宋体" panose="02010600030101010101" pitchFamily="2" charset="-122"/>
            </a:endParaRPr>
          </a:p>
        </p:txBody>
      </p:sp>
      <p:sp>
        <p:nvSpPr>
          <p:cNvPr id="35843" name="AutoShape 3">
            <a:extLst>
              <a:ext uri="{FF2B5EF4-FFF2-40B4-BE49-F238E27FC236}">
                <a16:creationId xmlns:a16="http://schemas.microsoft.com/office/drawing/2014/main" id="{91BBFB4D-95FF-A745-812D-0CEA82CACA25}"/>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A071DC20-6C16-DB40-8A83-9DD29592E76E}"/>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grpSp>
        <p:nvGrpSpPr>
          <p:cNvPr id="3" name="组合 55">
            <a:extLst>
              <a:ext uri="{FF2B5EF4-FFF2-40B4-BE49-F238E27FC236}">
                <a16:creationId xmlns:a16="http://schemas.microsoft.com/office/drawing/2014/main" id="{94B6B74B-F4FC-4E4F-B9B4-FF25EE8D99CE}"/>
              </a:ext>
            </a:extLst>
          </p:cNvPr>
          <p:cNvGrpSpPr>
            <a:grpSpLocks/>
          </p:cNvGrpSpPr>
          <p:nvPr/>
        </p:nvGrpSpPr>
        <p:grpSpPr bwMode="auto">
          <a:xfrm>
            <a:off x="6142732" y="2814862"/>
            <a:ext cx="2286000" cy="1604963"/>
            <a:chOff x="1143000" y="2209800"/>
            <a:chExt cx="2286000" cy="1604665"/>
          </a:xfrm>
        </p:grpSpPr>
        <p:sp>
          <p:nvSpPr>
            <p:cNvPr id="4" name="Rectangle 3">
              <a:extLst>
                <a:ext uri="{FF2B5EF4-FFF2-40B4-BE49-F238E27FC236}">
                  <a16:creationId xmlns:a16="http://schemas.microsoft.com/office/drawing/2014/main" id="{4550912B-59A6-C44B-A6F9-9CB6743FBC05}"/>
                </a:ext>
              </a:extLst>
            </p:cNvPr>
            <p:cNvSpPr>
              <a:spLocks noChangeArrowheads="1"/>
            </p:cNvSpPr>
            <p:nvPr/>
          </p:nvSpPr>
          <p:spPr bwMode="auto">
            <a:xfrm>
              <a:off x="1143000" y="2209800"/>
              <a:ext cx="2057400" cy="1599903"/>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5" name="Text Box 42">
              <a:extLst>
                <a:ext uri="{FF2B5EF4-FFF2-40B4-BE49-F238E27FC236}">
                  <a16:creationId xmlns:a16="http://schemas.microsoft.com/office/drawing/2014/main" id="{0695293A-7167-4F49-8641-98E8236D4CE2}"/>
                </a:ext>
              </a:extLst>
            </p:cNvPr>
            <p:cNvSpPr txBox="1">
              <a:spLocks noChangeArrowheads="1"/>
            </p:cNvSpPr>
            <p:nvPr/>
          </p:nvSpPr>
          <p:spPr bwMode="auto">
            <a:xfrm>
              <a:off x="1600200" y="228600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6" name="Text Box 43">
              <a:extLst>
                <a:ext uri="{FF2B5EF4-FFF2-40B4-BE49-F238E27FC236}">
                  <a16:creationId xmlns:a16="http://schemas.microsoft.com/office/drawing/2014/main" id="{EE0E7D39-5EF8-F845-BE1F-0205D5EB623E}"/>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JSR”L+M”</a:t>
              </a:r>
            </a:p>
          </p:txBody>
        </p:sp>
        <p:sp>
          <p:nvSpPr>
            <p:cNvPr id="7" name="Text Box 44">
              <a:extLst>
                <a:ext uri="{FF2B5EF4-FFF2-40B4-BE49-F238E27FC236}">
                  <a16:creationId xmlns:a16="http://schemas.microsoft.com/office/drawing/2014/main" id="{0CE9BDB4-49F4-5C4C-B915-121DE9C5C157}"/>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8" name="组合 54">
            <a:extLst>
              <a:ext uri="{FF2B5EF4-FFF2-40B4-BE49-F238E27FC236}">
                <a16:creationId xmlns:a16="http://schemas.microsoft.com/office/drawing/2014/main" id="{48B3E05E-87DD-4B48-BFB7-4FE18BB6669E}"/>
              </a:ext>
            </a:extLst>
          </p:cNvPr>
          <p:cNvGrpSpPr>
            <a:grpSpLocks/>
          </p:cNvGrpSpPr>
          <p:nvPr/>
        </p:nvGrpSpPr>
        <p:grpSpPr bwMode="auto">
          <a:xfrm>
            <a:off x="6142732" y="1208311"/>
            <a:ext cx="2286000" cy="1600200"/>
            <a:chOff x="1143000" y="304800"/>
            <a:chExt cx="2286000" cy="1600200"/>
          </a:xfrm>
        </p:grpSpPr>
        <p:sp>
          <p:nvSpPr>
            <p:cNvPr id="9" name="Rectangle 2">
              <a:extLst>
                <a:ext uri="{FF2B5EF4-FFF2-40B4-BE49-F238E27FC236}">
                  <a16:creationId xmlns:a16="http://schemas.microsoft.com/office/drawing/2014/main" id="{02A1574C-3728-2F49-81DE-D6B38A3694EC}"/>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0" name="Text Box 38">
              <a:extLst>
                <a:ext uri="{FF2B5EF4-FFF2-40B4-BE49-F238E27FC236}">
                  <a16:creationId xmlns:a16="http://schemas.microsoft.com/office/drawing/2014/main" id="{96CC85C4-2C08-774F-A5BF-5A5670D4A0EF}"/>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11" name="Text Box 39">
              <a:extLst>
                <a:ext uri="{FF2B5EF4-FFF2-40B4-BE49-F238E27FC236}">
                  <a16:creationId xmlns:a16="http://schemas.microsoft.com/office/drawing/2014/main" id="{6B547603-D699-9746-87D4-12FDCF114BE3}"/>
                </a:ext>
              </a:extLst>
            </p:cNvPr>
            <p:cNvSpPr txBox="1">
              <a:spLocks noChangeArrowheads="1"/>
            </p:cNvSpPr>
            <p:nvPr/>
          </p:nvSpPr>
          <p:spPr bwMode="auto">
            <a:xfrm>
              <a:off x="1614486" y="995623"/>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JSR”L” </a:t>
              </a:r>
              <a:r>
                <a:rPr lang="zh-CN" altLang="en-US" sz="2400">
                  <a:solidFill>
                    <a:srgbClr val="FFFFFF"/>
                  </a:solidFill>
                </a:rPr>
                <a:t>；</a:t>
              </a:r>
            </a:p>
          </p:txBody>
        </p:sp>
        <p:sp>
          <p:nvSpPr>
            <p:cNvPr id="12" name="Text Box 40">
              <a:extLst>
                <a:ext uri="{FF2B5EF4-FFF2-40B4-BE49-F238E27FC236}">
                  <a16:creationId xmlns:a16="http://schemas.microsoft.com/office/drawing/2014/main" id="{D2A230AD-0537-6649-8E9C-826C375793B9}"/>
                </a:ext>
              </a:extLst>
            </p:cNvPr>
            <p:cNvSpPr txBox="1">
              <a:spLocks noChangeArrowheads="1"/>
            </p:cNvSpPr>
            <p:nvPr/>
          </p:nvSpPr>
          <p:spPr bwMode="auto">
            <a:xfrm>
              <a:off x="1657352" y="1447800"/>
              <a:ext cx="141445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sp>
        <p:nvSpPr>
          <p:cNvPr id="13" name="Text Box 48">
            <a:extLst>
              <a:ext uri="{FF2B5EF4-FFF2-40B4-BE49-F238E27FC236}">
                <a16:creationId xmlns:a16="http://schemas.microsoft.com/office/drawing/2014/main" id="{2308BD60-CAF7-764D-ACFA-24E1B02B2490}"/>
              </a:ext>
            </a:extLst>
          </p:cNvPr>
          <p:cNvSpPr txBox="1">
            <a:spLocks noChangeArrowheads="1"/>
          </p:cNvSpPr>
          <p:nvPr/>
        </p:nvSpPr>
        <p:spPr bwMode="auto">
          <a:xfrm>
            <a:off x="5847457" y="1074961"/>
            <a:ext cx="381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14" name="Text Box 49">
            <a:extLst>
              <a:ext uri="{FF2B5EF4-FFF2-40B4-BE49-F238E27FC236}">
                <a16:creationId xmlns:a16="http://schemas.microsoft.com/office/drawing/2014/main" id="{F8D146A6-527B-BC43-8A7C-9A2930B93B61}"/>
              </a:ext>
            </a:extLst>
          </p:cNvPr>
          <p:cNvSpPr txBox="1">
            <a:spLocks noChangeArrowheads="1"/>
          </p:cNvSpPr>
          <p:nvPr/>
        </p:nvSpPr>
        <p:spPr bwMode="auto">
          <a:xfrm>
            <a:off x="5618857" y="2432274"/>
            <a:ext cx="9144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15" name="Text Box 50">
            <a:extLst>
              <a:ext uri="{FF2B5EF4-FFF2-40B4-BE49-F238E27FC236}">
                <a16:creationId xmlns:a16="http://schemas.microsoft.com/office/drawing/2014/main" id="{87FF3A3B-F7DC-9F43-B740-B874CF2EB2EC}"/>
              </a:ext>
            </a:extLst>
          </p:cNvPr>
          <p:cNvSpPr txBox="1">
            <a:spLocks noChangeArrowheads="1"/>
          </p:cNvSpPr>
          <p:nvPr/>
        </p:nvSpPr>
        <p:spPr bwMode="auto">
          <a:xfrm>
            <a:off x="5847457" y="2718024"/>
            <a:ext cx="914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a:t>
            </a:r>
          </a:p>
        </p:txBody>
      </p:sp>
      <p:sp>
        <p:nvSpPr>
          <p:cNvPr id="16" name="Text Box 51">
            <a:extLst>
              <a:ext uri="{FF2B5EF4-FFF2-40B4-BE49-F238E27FC236}">
                <a16:creationId xmlns:a16="http://schemas.microsoft.com/office/drawing/2014/main" id="{25FB4838-3CB5-5948-9FD1-1669F3E12C05}"/>
              </a:ext>
            </a:extLst>
          </p:cNvPr>
          <p:cNvSpPr txBox="1">
            <a:spLocks noChangeArrowheads="1"/>
          </p:cNvSpPr>
          <p:nvPr/>
        </p:nvSpPr>
        <p:spPr bwMode="auto">
          <a:xfrm>
            <a:off x="5161657" y="4161062"/>
            <a:ext cx="1752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L+M-1</a:t>
            </a:r>
          </a:p>
        </p:txBody>
      </p:sp>
      <p:sp>
        <p:nvSpPr>
          <p:cNvPr id="17" name="Text Box 52">
            <a:extLst>
              <a:ext uri="{FF2B5EF4-FFF2-40B4-BE49-F238E27FC236}">
                <a16:creationId xmlns:a16="http://schemas.microsoft.com/office/drawing/2014/main" id="{0D9CCCDB-42A2-D74A-94BB-F4962D4B6BA0}"/>
              </a:ext>
            </a:extLst>
          </p:cNvPr>
          <p:cNvSpPr txBox="1">
            <a:spLocks noChangeArrowheads="1"/>
          </p:cNvSpPr>
          <p:nvPr/>
        </p:nvSpPr>
        <p:spPr bwMode="auto">
          <a:xfrm>
            <a:off x="5390257" y="4465862"/>
            <a:ext cx="1066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L+M</a:t>
            </a:r>
          </a:p>
        </p:txBody>
      </p:sp>
      <p:sp>
        <p:nvSpPr>
          <p:cNvPr id="18" name="Text Box 53">
            <a:extLst>
              <a:ext uri="{FF2B5EF4-FFF2-40B4-BE49-F238E27FC236}">
                <a16:creationId xmlns:a16="http://schemas.microsoft.com/office/drawing/2014/main" id="{C75882F7-9359-E044-AA16-7E8BD3D1593A}"/>
              </a:ext>
            </a:extLst>
          </p:cNvPr>
          <p:cNvSpPr txBox="1">
            <a:spLocks noChangeArrowheads="1"/>
          </p:cNvSpPr>
          <p:nvPr/>
        </p:nvSpPr>
        <p:spPr bwMode="auto">
          <a:xfrm>
            <a:off x="4780657" y="5761261"/>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L+M+N-1</a:t>
            </a:r>
          </a:p>
        </p:txBody>
      </p:sp>
      <p:sp>
        <p:nvSpPr>
          <p:cNvPr id="19" name="Text Box 54">
            <a:extLst>
              <a:ext uri="{FF2B5EF4-FFF2-40B4-BE49-F238E27FC236}">
                <a16:creationId xmlns:a16="http://schemas.microsoft.com/office/drawing/2014/main" id="{8B2F39EA-8BC3-F447-82AE-0E4B2A17E0C3}"/>
              </a:ext>
            </a:extLst>
          </p:cNvPr>
          <p:cNvSpPr txBox="1">
            <a:spLocks noChangeArrowheads="1"/>
          </p:cNvSpPr>
          <p:nvPr/>
        </p:nvSpPr>
        <p:spPr bwMode="auto">
          <a:xfrm>
            <a:off x="4285357" y="1203549"/>
            <a:ext cx="1447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dirty="0">
                <a:solidFill>
                  <a:schemeClr val="accent6">
                    <a:lumMod val="90000"/>
                    <a:lumOff val="10000"/>
                  </a:schemeClr>
                </a:solidFill>
              </a:rPr>
              <a:t>模块</a:t>
            </a:r>
            <a:r>
              <a:rPr lang="en-US" altLang="zh-CN" sz="2400" dirty="0">
                <a:solidFill>
                  <a:schemeClr val="accent6">
                    <a:lumMod val="90000"/>
                    <a:lumOff val="10000"/>
                  </a:schemeClr>
                </a:solidFill>
              </a:rPr>
              <a:t>A</a:t>
            </a:r>
          </a:p>
        </p:txBody>
      </p:sp>
      <p:sp>
        <p:nvSpPr>
          <p:cNvPr id="20" name="Line 64">
            <a:extLst>
              <a:ext uri="{FF2B5EF4-FFF2-40B4-BE49-F238E27FC236}">
                <a16:creationId xmlns:a16="http://schemas.microsoft.com/office/drawing/2014/main" id="{B1E0D9DA-CB4E-3E4A-9F54-6554F55CC350}"/>
              </a:ext>
            </a:extLst>
          </p:cNvPr>
          <p:cNvSpPr>
            <a:spLocks noChangeShapeType="1"/>
          </p:cNvSpPr>
          <p:nvPr/>
        </p:nvSpPr>
        <p:spPr bwMode="auto">
          <a:xfrm>
            <a:off x="7904857" y="2179861"/>
            <a:ext cx="914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 name="Line 65">
            <a:extLst>
              <a:ext uri="{FF2B5EF4-FFF2-40B4-BE49-F238E27FC236}">
                <a16:creationId xmlns:a16="http://schemas.microsoft.com/office/drawing/2014/main" id="{C7EDFFC4-A5BA-1C4A-800C-113979EC03BA}"/>
              </a:ext>
            </a:extLst>
          </p:cNvPr>
          <p:cNvSpPr>
            <a:spLocks noChangeShapeType="1"/>
          </p:cNvSpPr>
          <p:nvPr/>
        </p:nvSpPr>
        <p:spPr bwMode="auto">
          <a:xfrm>
            <a:off x="8819257" y="2179861"/>
            <a:ext cx="0" cy="673100"/>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67">
            <a:extLst>
              <a:ext uri="{FF2B5EF4-FFF2-40B4-BE49-F238E27FC236}">
                <a16:creationId xmlns:a16="http://schemas.microsoft.com/office/drawing/2014/main" id="{3831798A-551E-1B46-8510-CBFE9442FEC7}"/>
              </a:ext>
            </a:extLst>
          </p:cNvPr>
          <p:cNvSpPr>
            <a:spLocks noChangeShapeType="1"/>
          </p:cNvSpPr>
          <p:nvPr/>
        </p:nvSpPr>
        <p:spPr bwMode="auto">
          <a:xfrm flipH="1">
            <a:off x="8235058" y="2825974"/>
            <a:ext cx="56197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3" name="Line 69">
            <a:extLst>
              <a:ext uri="{FF2B5EF4-FFF2-40B4-BE49-F238E27FC236}">
                <a16:creationId xmlns:a16="http://schemas.microsoft.com/office/drawing/2014/main" id="{342D6119-332F-8842-8F47-A126354C0EFE}"/>
              </a:ext>
            </a:extLst>
          </p:cNvPr>
          <p:cNvSpPr>
            <a:spLocks noChangeShapeType="1"/>
          </p:cNvSpPr>
          <p:nvPr/>
        </p:nvSpPr>
        <p:spPr bwMode="auto">
          <a:xfrm>
            <a:off x="8808145" y="3714975"/>
            <a:ext cx="0" cy="7334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Text Box 72">
            <a:extLst>
              <a:ext uri="{FF2B5EF4-FFF2-40B4-BE49-F238E27FC236}">
                <a16:creationId xmlns:a16="http://schemas.microsoft.com/office/drawing/2014/main" id="{003EFF04-2568-AC4C-87E9-A941CDD6F147}"/>
              </a:ext>
            </a:extLst>
          </p:cNvPr>
          <p:cNvSpPr txBox="1">
            <a:spLocks noChangeArrowheads="1"/>
          </p:cNvSpPr>
          <p:nvPr/>
        </p:nvSpPr>
        <p:spPr bwMode="auto">
          <a:xfrm>
            <a:off x="5999857" y="6021563"/>
            <a:ext cx="2743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dirty="0">
                <a:solidFill>
                  <a:srgbClr val="0000FF"/>
                </a:solidFill>
                <a:latin typeface="幼圆" pitchFamily="49" charset="-122"/>
                <a:ea typeface="幼圆" pitchFamily="49" charset="-122"/>
              </a:rPr>
              <a:t>(b) </a:t>
            </a:r>
            <a:r>
              <a:rPr lang="zh-CN" altLang="en-US" sz="2400" dirty="0">
                <a:solidFill>
                  <a:srgbClr val="0000FF"/>
                </a:solidFill>
                <a:latin typeface="幼圆" pitchFamily="49" charset="-122"/>
                <a:ea typeface="幼圆" pitchFamily="49" charset="-122"/>
              </a:rPr>
              <a:t>装入模块</a:t>
            </a:r>
          </a:p>
        </p:txBody>
      </p:sp>
      <p:grpSp>
        <p:nvGrpSpPr>
          <p:cNvPr id="25" name="组合 59">
            <a:extLst>
              <a:ext uri="{FF2B5EF4-FFF2-40B4-BE49-F238E27FC236}">
                <a16:creationId xmlns:a16="http://schemas.microsoft.com/office/drawing/2014/main" id="{B407E3A1-E1A0-E04C-B124-07D9BAC2636B}"/>
              </a:ext>
            </a:extLst>
          </p:cNvPr>
          <p:cNvGrpSpPr>
            <a:grpSpLocks/>
          </p:cNvGrpSpPr>
          <p:nvPr/>
        </p:nvGrpSpPr>
        <p:grpSpPr bwMode="auto">
          <a:xfrm>
            <a:off x="6155433" y="4419824"/>
            <a:ext cx="2143125" cy="1600200"/>
            <a:chOff x="1142976" y="4214818"/>
            <a:chExt cx="2166934" cy="1600200"/>
          </a:xfrm>
        </p:grpSpPr>
        <p:sp>
          <p:nvSpPr>
            <p:cNvPr id="26" name="Rectangle 4">
              <a:extLst>
                <a:ext uri="{FF2B5EF4-FFF2-40B4-BE49-F238E27FC236}">
                  <a16:creationId xmlns:a16="http://schemas.microsoft.com/office/drawing/2014/main" id="{322ADC7F-F84B-4244-8E14-25DD6D2EEBCD}"/>
                </a:ext>
              </a:extLst>
            </p:cNvPr>
            <p:cNvSpPr>
              <a:spLocks noChangeArrowheads="1"/>
            </p:cNvSpPr>
            <p:nvPr/>
          </p:nvSpPr>
          <p:spPr bwMode="auto">
            <a:xfrm>
              <a:off x="1142976" y="4214818"/>
              <a:ext cx="2057400" cy="1600200"/>
            </a:xfrm>
            <a:prstGeom prst="rect">
              <a:avLst/>
            </a:prstGeom>
            <a:solidFill>
              <a:srgbClr val="FF33CC"/>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nvGrpSpPr>
            <p:cNvPr id="27" name="组合 58">
              <a:extLst>
                <a:ext uri="{FF2B5EF4-FFF2-40B4-BE49-F238E27FC236}">
                  <a16:creationId xmlns:a16="http://schemas.microsoft.com/office/drawing/2014/main" id="{71758FB2-B87F-BC43-AA56-60794D56F412}"/>
                </a:ext>
              </a:extLst>
            </p:cNvPr>
            <p:cNvGrpSpPr>
              <a:grpSpLocks/>
            </p:cNvGrpSpPr>
            <p:nvPr/>
          </p:nvGrpSpPr>
          <p:grpSpPr bwMode="auto">
            <a:xfrm>
              <a:off x="1633510" y="4233866"/>
              <a:ext cx="1676400" cy="1528464"/>
              <a:chOff x="1524000" y="4233866"/>
              <a:chExt cx="1676400" cy="1528464"/>
            </a:xfrm>
          </p:grpSpPr>
          <p:sp>
            <p:nvSpPr>
              <p:cNvPr id="28" name="Text Box 46">
                <a:extLst>
                  <a:ext uri="{FF2B5EF4-FFF2-40B4-BE49-F238E27FC236}">
                    <a16:creationId xmlns:a16="http://schemas.microsoft.com/office/drawing/2014/main" id="{6A777BE4-21F8-A94A-A84B-62EA690084E2}"/>
                  </a:ext>
                </a:extLst>
              </p:cNvPr>
              <p:cNvSpPr txBox="1">
                <a:spLocks noChangeArrowheads="1"/>
              </p:cNvSpPr>
              <p:nvPr/>
            </p:nvSpPr>
            <p:spPr bwMode="auto">
              <a:xfrm>
                <a:off x="1524000" y="4233866"/>
                <a:ext cx="15240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latin typeface="幼圆" pitchFamily="49" charset="-122"/>
                    <a:ea typeface="幼圆" pitchFamily="49" charset="-122"/>
                  </a:rPr>
                  <a:t>模块</a:t>
                </a:r>
                <a:r>
                  <a:rPr lang="en-US" altLang="zh-CN" sz="2400">
                    <a:solidFill>
                      <a:srgbClr val="FFFFFF"/>
                    </a:solidFill>
                    <a:latin typeface="幼圆" pitchFamily="49" charset="-122"/>
                    <a:ea typeface="幼圆" pitchFamily="49" charset="-122"/>
                  </a:rPr>
                  <a:t>C</a:t>
                </a:r>
              </a:p>
            </p:txBody>
          </p:sp>
          <p:sp>
            <p:nvSpPr>
              <p:cNvPr id="29" name="Text Box 47">
                <a:extLst>
                  <a:ext uri="{FF2B5EF4-FFF2-40B4-BE49-F238E27FC236}">
                    <a16:creationId xmlns:a16="http://schemas.microsoft.com/office/drawing/2014/main" id="{C8BA1FF4-5416-8947-AE3C-5B66CB686864}"/>
                  </a:ext>
                </a:extLst>
              </p:cNvPr>
              <p:cNvSpPr txBox="1">
                <a:spLocks noChangeArrowheads="1"/>
              </p:cNvSpPr>
              <p:nvPr/>
            </p:nvSpPr>
            <p:spPr bwMode="auto">
              <a:xfrm>
                <a:off x="1600200" y="5300666"/>
                <a:ext cx="16002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sp>
        <p:nvSpPr>
          <p:cNvPr id="30" name="Text Box 71">
            <a:extLst>
              <a:ext uri="{FF2B5EF4-FFF2-40B4-BE49-F238E27FC236}">
                <a16:creationId xmlns:a16="http://schemas.microsoft.com/office/drawing/2014/main" id="{0A484356-F477-AF44-85E2-D7361A85AE45}"/>
              </a:ext>
            </a:extLst>
          </p:cNvPr>
          <p:cNvSpPr txBox="1">
            <a:spLocks noChangeArrowheads="1"/>
          </p:cNvSpPr>
          <p:nvPr/>
        </p:nvSpPr>
        <p:spPr bwMode="auto">
          <a:xfrm>
            <a:off x="913302" y="6202340"/>
            <a:ext cx="24384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dirty="0">
                <a:solidFill>
                  <a:srgbClr val="0000FF"/>
                </a:solidFill>
                <a:latin typeface="幼圆" pitchFamily="49" charset="-122"/>
                <a:ea typeface="幼圆" pitchFamily="49" charset="-122"/>
              </a:rPr>
              <a:t>(a) </a:t>
            </a:r>
            <a:r>
              <a:rPr lang="zh-CN" altLang="en-US" sz="2400" dirty="0">
                <a:solidFill>
                  <a:srgbClr val="0000FF"/>
                </a:solidFill>
                <a:latin typeface="幼圆" pitchFamily="49" charset="-122"/>
                <a:ea typeface="幼圆" pitchFamily="49" charset="-122"/>
              </a:rPr>
              <a:t>目标模块</a:t>
            </a:r>
          </a:p>
        </p:txBody>
      </p:sp>
      <p:cxnSp>
        <p:nvCxnSpPr>
          <p:cNvPr id="31" name="直接连接符 89">
            <a:extLst>
              <a:ext uri="{FF2B5EF4-FFF2-40B4-BE49-F238E27FC236}">
                <a16:creationId xmlns:a16="http://schemas.microsoft.com/office/drawing/2014/main" id="{4D7E8FC3-D379-004F-B34D-316CE2CBDF2E}"/>
              </a:ext>
            </a:extLst>
          </p:cNvPr>
          <p:cNvCxnSpPr>
            <a:cxnSpLocks noChangeShapeType="1"/>
          </p:cNvCxnSpPr>
          <p:nvPr/>
        </p:nvCxnSpPr>
        <p:spPr bwMode="auto">
          <a:xfrm>
            <a:off x="7890571" y="3718150"/>
            <a:ext cx="928687" cy="1587"/>
          </a:xfrm>
          <a:prstGeom prst="line">
            <a:avLst/>
          </a:prstGeom>
          <a:noFill/>
          <a:ln w="12700" algn="ctr">
            <a:solidFill>
              <a:schemeClr val="tx1"/>
            </a:solidFill>
            <a:round/>
            <a:headEnd type="none" w="sm" len="sm"/>
            <a:tailEnd type="none" w="sm" len="sm"/>
          </a:ln>
          <a:extLst>
            <a:ext uri="{909E8E84-426E-40DD-AFC4-6F175D3DCCD1}">
              <a14:hiddenFill xmlns:a14="http://schemas.microsoft.com/office/drawing/2010/main">
                <a:noFill/>
              </a14:hiddenFill>
            </a:ext>
          </a:extLst>
        </p:spPr>
      </p:cxnSp>
      <p:sp>
        <p:nvSpPr>
          <p:cNvPr id="32" name="Line 70">
            <a:extLst>
              <a:ext uri="{FF2B5EF4-FFF2-40B4-BE49-F238E27FC236}">
                <a16:creationId xmlns:a16="http://schemas.microsoft.com/office/drawing/2014/main" id="{E7B39B5E-DAA3-1345-9207-19F528919C2B}"/>
              </a:ext>
            </a:extLst>
          </p:cNvPr>
          <p:cNvSpPr>
            <a:spLocks noChangeShapeType="1"/>
          </p:cNvSpPr>
          <p:nvPr/>
        </p:nvSpPr>
        <p:spPr bwMode="auto">
          <a:xfrm flipH="1" flipV="1">
            <a:off x="8206483" y="4437286"/>
            <a:ext cx="563563"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nvGrpSpPr>
          <p:cNvPr id="33" name="组合 54">
            <a:extLst>
              <a:ext uri="{FF2B5EF4-FFF2-40B4-BE49-F238E27FC236}">
                <a16:creationId xmlns:a16="http://schemas.microsoft.com/office/drawing/2014/main" id="{79F6EFE1-F7F1-0843-B387-FDC692548677}"/>
              </a:ext>
            </a:extLst>
          </p:cNvPr>
          <p:cNvGrpSpPr>
            <a:grpSpLocks/>
          </p:cNvGrpSpPr>
          <p:nvPr/>
        </p:nvGrpSpPr>
        <p:grpSpPr bwMode="auto">
          <a:xfrm>
            <a:off x="281682" y="1069329"/>
            <a:ext cx="2971800" cy="1985962"/>
            <a:chOff x="457200" y="76200"/>
            <a:chExt cx="2971800" cy="1985665"/>
          </a:xfrm>
        </p:grpSpPr>
        <p:sp>
          <p:nvSpPr>
            <p:cNvPr id="34" name="Rectangle 2">
              <a:extLst>
                <a:ext uri="{FF2B5EF4-FFF2-40B4-BE49-F238E27FC236}">
                  <a16:creationId xmlns:a16="http://schemas.microsoft.com/office/drawing/2014/main" id="{7C020C2B-F3C5-384C-8819-FBE0E32E576C}"/>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35" name="Text Box 32">
              <a:extLst>
                <a:ext uri="{FF2B5EF4-FFF2-40B4-BE49-F238E27FC236}">
                  <a16:creationId xmlns:a16="http://schemas.microsoft.com/office/drawing/2014/main" id="{B6527CD3-8416-B545-90D2-F03AE0F11BBD}"/>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36" name="Text Box 33">
              <a:extLst>
                <a:ext uri="{FF2B5EF4-FFF2-40B4-BE49-F238E27FC236}">
                  <a16:creationId xmlns:a16="http://schemas.microsoft.com/office/drawing/2014/main" id="{5908368B-F344-6248-A0FB-28B1E9A47F33}"/>
                </a:ext>
              </a:extLst>
            </p:cNvPr>
            <p:cNvSpPr txBox="1">
              <a:spLocks noChangeArrowheads="1"/>
            </p:cNvSpPr>
            <p:nvPr/>
          </p:nvSpPr>
          <p:spPr bwMode="auto">
            <a:xfrm>
              <a:off x="457200" y="1600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37" name="Text Box 38">
              <a:extLst>
                <a:ext uri="{FF2B5EF4-FFF2-40B4-BE49-F238E27FC236}">
                  <a16:creationId xmlns:a16="http://schemas.microsoft.com/office/drawing/2014/main" id="{D775F013-6065-E54B-80E1-002E9BB88684}"/>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38" name="Text Box 39">
              <a:extLst>
                <a:ext uri="{FF2B5EF4-FFF2-40B4-BE49-F238E27FC236}">
                  <a16:creationId xmlns:a16="http://schemas.microsoft.com/office/drawing/2014/main" id="{315164D2-78E4-D14E-B0BB-801BDBD44934}"/>
                </a:ext>
              </a:extLst>
            </p:cNvPr>
            <p:cNvSpPr txBox="1">
              <a:spLocks noChangeArrowheads="1"/>
            </p:cNvSpPr>
            <p:nvPr/>
          </p:nvSpPr>
          <p:spPr bwMode="auto">
            <a:xfrm>
              <a:off x="129540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39" name="Text Box 40">
              <a:extLst>
                <a:ext uri="{FF2B5EF4-FFF2-40B4-BE49-F238E27FC236}">
                  <a16:creationId xmlns:a16="http://schemas.microsoft.com/office/drawing/2014/main" id="{EAB21481-9B8E-0745-83F9-0D45424B0993}"/>
                </a:ext>
              </a:extLst>
            </p:cNvPr>
            <p:cNvSpPr txBox="1">
              <a:spLocks noChangeArrowheads="1"/>
            </p:cNvSpPr>
            <p:nvPr/>
          </p:nvSpPr>
          <p:spPr bwMode="auto">
            <a:xfrm>
              <a:off x="1371600" y="1447800"/>
              <a:ext cx="1981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nvGrpSpPr>
          <p:cNvPr id="40" name="组合 55">
            <a:extLst>
              <a:ext uri="{FF2B5EF4-FFF2-40B4-BE49-F238E27FC236}">
                <a16:creationId xmlns:a16="http://schemas.microsoft.com/office/drawing/2014/main" id="{D5088256-49B8-7A4F-82A3-81F83A1097FA}"/>
              </a:ext>
            </a:extLst>
          </p:cNvPr>
          <p:cNvGrpSpPr>
            <a:grpSpLocks/>
          </p:cNvGrpSpPr>
          <p:nvPr/>
        </p:nvGrpSpPr>
        <p:grpSpPr bwMode="auto">
          <a:xfrm>
            <a:off x="265602" y="2702348"/>
            <a:ext cx="2971800" cy="1909763"/>
            <a:chOff x="457200" y="1981200"/>
            <a:chExt cx="2971800" cy="1909465"/>
          </a:xfrm>
        </p:grpSpPr>
        <p:sp>
          <p:nvSpPr>
            <p:cNvPr id="41" name="Rectangle 3">
              <a:extLst>
                <a:ext uri="{FF2B5EF4-FFF2-40B4-BE49-F238E27FC236}">
                  <a16:creationId xmlns:a16="http://schemas.microsoft.com/office/drawing/2014/main" id="{8698BE75-E50A-0542-A116-60928549D996}"/>
                </a:ext>
              </a:extLst>
            </p:cNvPr>
            <p:cNvSpPr>
              <a:spLocks noChangeArrowheads="1"/>
            </p:cNvSpPr>
            <p:nvPr/>
          </p:nvSpPr>
          <p:spPr bwMode="auto">
            <a:xfrm>
              <a:off x="1143000" y="2209764"/>
              <a:ext cx="2057400" cy="1599950"/>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42" name="Text Box 34">
              <a:extLst>
                <a:ext uri="{FF2B5EF4-FFF2-40B4-BE49-F238E27FC236}">
                  <a16:creationId xmlns:a16="http://schemas.microsoft.com/office/drawing/2014/main" id="{5698B6BA-6853-E147-9550-8F939B302D42}"/>
                </a:ext>
              </a:extLst>
            </p:cNvPr>
            <p:cNvSpPr txBox="1">
              <a:spLocks noChangeArrowheads="1"/>
            </p:cNvSpPr>
            <p:nvPr/>
          </p:nvSpPr>
          <p:spPr bwMode="auto">
            <a:xfrm>
              <a:off x="762000" y="1981200"/>
              <a:ext cx="533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43" name="Text Box 35">
              <a:extLst>
                <a:ext uri="{FF2B5EF4-FFF2-40B4-BE49-F238E27FC236}">
                  <a16:creationId xmlns:a16="http://schemas.microsoft.com/office/drawing/2014/main" id="{743F897B-2B9B-8945-9ACF-3D80EBAA4F7F}"/>
                </a:ext>
              </a:extLst>
            </p:cNvPr>
            <p:cNvSpPr txBox="1">
              <a:spLocks noChangeArrowheads="1"/>
            </p:cNvSpPr>
            <p:nvPr/>
          </p:nvSpPr>
          <p:spPr bwMode="auto">
            <a:xfrm>
              <a:off x="457200" y="3429000"/>
              <a:ext cx="11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M-1</a:t>
              </a:r>
            </a:p>
          </p:txBody>
        </p:sp>
        <p:sp>
          <p:nvSpPr>
            <p:cNvPr id="44" name="Text Box 42">
              <a:extLst>
                <a:ext uri="{FF2B5EF4-FFF2-40B4-BE49-F238E27FC236}">
                  <a16:creationId xmlns:a16="http://schemas.microsoft.com/office/drawing/2014/main" id="{3908028F-A7FE-0B41-BA84-9FD064D202AC}"/>
                </a:ext>
              </a:extLst>
            </p:cNvPr>
            <p:cNvSpPr txBox="1">
              <a:spLocks noChangeArrowheads="1"/>
            </p:cNvSpPr>
            <p:nvPr/>
          </p:nvSpPr>
          <p:spPr bwMode="auto">
            <a:xfrm>
              <a:off x="1600200" y="228600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45" name="Text Box 43">
              <a:extLst>
                <a:ext uri="{FF2B5EF4-FFF2-40B4-BE49-F238E27FC236}">
                  <a16:creationId xmlns:a16="http://schemas.microsoft.com/office/drawing/2014/main" id="{1C14D00F-3089-3E49-B98B-87777306C421}"/>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46" name="Text Box 44">
              <a:extLst>
                <a:ext uri="{FF2B5EF4-FFF2-40B4-BE49-F238E27FC236}">
                  <a16:creationId xmlns:a16="http://schemas.microsoft.com/office/drawing/2014/main" id="{1D3C9801-659D-474F-B162-06B92B9800BD}"/>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47" name="组合 59">
            <a:extLst>
              <a:ext uri="{FF2B5EF4-FFF2-40B4-BE49-F238E27FC236}">
                <a16:creationId xmlns:a16="http://schemas.microsoft.com/office/drawing/2014/main" id="{41BCF6CD-5515-3E48-82A8-814254F1BDDC}"/>
              </a:ext>
            </a:extLst>
          </p:cNvPr>
          <p:cNvGrpSpPr>
            <a:grpSpLocks/>
          </p:cNvGrpSpPr>
          <p:nvPr/>
        </p:nvGrpSpPr>
        <p:grpSpPr bwMode="auto">
          <a:xfrm>
            <a:off x="326926" y="4394640"/>
            <a:ext cx="2809875" cy="1866900"/>
            <a:chOff x="500034" y="4043370"/>
            <a:chExt cx="2809876" cy="1866896"/>
          </a:xfrm>
        </p:grpSpPr>
        <p:sp>
          <p:nvSpPr>
            <p:cNvPr id="48" name="Rectangle 4">
              <a:extLst>
                <a:ext uri="{FF2B5EF4-FFF2-40B4-BE49-F238E27FC236}">
                  <a16:creationId xmlns:a16="http://schemas.microsoft.com/office/drawing/2014/main" id="{6E73A2F6-1E74-6A4B-9B8D-0EA48922FE75}"/>
                </a:ext>
              </a:extLst>
            </p:cNvPr>
            <p:cNvSpPr>
              <a:spLocks noChangeArrowheads="1"/>
            </p:cNvSpPr>
            <p:nvPr/>
          </p:nvSpPr>
          <p:spPr bwMode="auto">
            <a:xfrm>
              <a:off x="1142976" y="4214818"/>
              <a:ext cx="2057400" cy="1600200"/>
            </a:xfrm>
            <a:prstGeom prst="rect">
              <a:avLst/>
            </a:prstGeom>
            <a:solidFill>
              <a:srgbClr val="FF33CC"/>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nvGrpSpPr>
            <p:cNvPr id="49" name="组合 58">
              <a:extLst>
                <a:ext uri="{FF2B5EF4-FFF2-40B4-BE49-F238E27FC236}">
                  <a16:creationId xmlns:a16="http://schemas.microsoft.com/office/drawing/2014/main" id="{37414879-4C0D-304C-887E-CADB64F072BA}"/>
                </a:ext>
              </a:extLst>
            </p:cNvPr>
            <p:cNvGrpSpPr>
              <a:grpSpLocks/>
            </p:cNvGrpSpPr>
            <p:nvPr/>
          </p:nvGrpSpPr>
          <p:grpSpPr bwMode="auto">
            <a:xfrm>
              <a:off x="500034" y="4043370"/>
              <a:ext cx="2809876" cy="1866896"/>
              <a:chOff x="390524" y="4043370"/>
              <a:chExt cx="2809876" cy="1866896"/>
            </a:xfrm>
          </p:grpSpPr>
          <p:sp>
            <p:nvSpPr>
              <p:cNvPr id="50" name="Text Box 36">
                <a:extLst>
                  <a:ext uri="{FF2B5EF4-FFF2-40B4-BE49-F238E27FC236}">
                    <a16:creationId xmlns:a16="http://schemas.microsoft.com/office/drawing/2014/main" id="{BDF3897C-587B-3945-9151-5B7096A5D188}"/>
                  </a:ext>
                </a:extLst>
              </p:cNvPr>
              <p:cNvSpPr txBox="1">
                <a:spLocks noChangeArrowheads="1"/>
              </p:cNvSpPr>
              <p:nvPr/>
            </p:nvSpPr>
            <p:spPr bwMode="auto">
              <a:xfrm>
                <a:off x="604838" y="4043370"/>
                <a:ext cx="6096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51" name="Text Box 37">
                <a:extLst>
                  <a:ext uri="{FF2B5EF4-FFF2-40B4-BE49-F238E27FC236}">
                    <a16:creationId xmlns:a16="http://schemas.microsoft.com/office/drawing/2014/main" id="{88C9AD3A-CBBE-5546-9265-286468080008}"/>
                  </a:ext>
                </a:extLst>
              </p:cNvPr>
              <p:cNvSpPr txBox="1">
                <a:spLocks noChangeArrowheads="1"/>
              </p:cNvSpPr>
              <p:nvPr/>
            </p:nvSpPr>
            <p:spPr bwMode="auto">
              <a:xfrm>
                <a:off x="390524" y="5453066"/>
                <a:ext cx="838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N-1</a:t>
                </a:r>
              </a:p>
            </p:txBody>
          </p:sp>
          <p:sp>
            <p:nvSpPr>
              <p:cNvPr id="52" name="Text Box 46">
                <a:extLst>
                  <a:ext uri="{FF2B5EF4-FFF2-40B4-BE49-F238E27FC236}">
                    <a16:creationId xmlns:a16="http://schemas.microsoft.com/office/drawing/2014/main" id="{432A4185-C403-174A-BF06-DB548E9A31DA}"/>
                  </a:ext>
                </a:extLst>
              </p:cNvPr>
              <p:cNvSpPr txBox="1">
                <a:spLocks noChangeArrowheads="1"/>
              </p:cNvSpPr>
              <p:nvPr/>
            </p:nvSpPr>
            <p:spPr bwMode="auto">
              <a:xfrm>
                <a:off x="1524000" y="4233866"/>
                <a:ext cx="15240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latin typeface="幼圆" pitchFamily="49" charset="-122"/>
                    <a:ea typeface="幼圆" pitchFamily="49" charset="-122"/>
                  </a:rPr>
                  <a:t>模块</a:t>
                </a:r>
                <a:r>
                  <a:rPr lang="en-US" altLang="zh-CN" sz="2400">
                    <a:solidFill>
                      <a:srgbClr val="FFFFFF"/>
                    </a:solidFill>
                    <a:latin typeface="幼圆" pitchFamily="49" charset="-122"/>
                    <a:ea typeface="幼圆" pitchFamily="49" charset="-122"/>
                  </a:rPr>
                  <a:t>C</a:t>
                </a:r>
              </a:p>
            </p:txBody>
          </p:sp>
          <p:sp>
            <p:nvSpPr>
              <p:cNvPr id="53" name="Text Box 47">
                <a:extLst>
                  <a:ext uri="{FF2B5EF4-FFF2-40B4-BE49-F238E27FC236}">
                    <a16:creationId xmlns:a16="http://schemas.microsoft.com/office/drawing/2014/main" id="{ACCC4DAF-6936-3F44-81EA-A7AB8AC31208}"/>
                  </a:ext>
                </a:extLst>
              </p:cNvPr>
              <p:cNvSpPr txBox="1">
                <a:spLocks noChangeArrowheads="1"/>
              </p:cNvSpPr>
              <p:nvPr/>
            </p:nvSpPr>
            <p:spPr bwMode="auto">
              <a:xfrm>
                <a:off x="1600200" y="5300666"/>
                <a:ext cx="16002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sp>
        <p:nvSpPr>
          <p:cNvPr id="54" name="矩形 53">
            <a:extLst>
              <a:ext uri="{FF2B5EF4-FFF2-40B4-BE49-F238E27FC236}">
                <a16:creationId xmlns:a16="http://schemas.microsoft.com/office/drawing/2014/main" id="{7852A17E-8D60-2949-837A-70FEC3768E9C}"/>
              </a:ext>
            </a:extLst>
          </p:cNvPr>
          <p:cNvSpPr>
            <a:spLocks noChangeArrowheads="1"/>
          </p:cNvSpPr>
          <p:nvPr/>
        </p:nvSpPr>
        <p:spPr bwMode="auto">
          <a:xfrm>
            <a:off x="387648" y="1212153"/>
            <a:ext cx="4391025" cy="5660376"/>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55" name="内容占位符 2">
            <a:extLst>
              <a:ext uri="{FF2B5EF4-FFF2-40B4-BE49-F238E27FC236}">
                <a16:creationId xmlns:a16="http://schemas.microsoft.com/office/drawing/2014/main" id="{CE260959-6DA0-DB41-B990-976676AD61AD}"/>
              </a:ext>
            </a:extLst>
          </p:cNvPr>
          <p:cNvSpPr txBox="1">
            <a:spLocks/>
          </p:cNvSpPr>
          <p:nvPr/>
        </p:nvSpPr>
        <p:spPr>
          <a:xfrm>
            <a:off x="545207" y="1250691"/>
            <a:ext cx="4464050" cy="5905500"/>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a:buClr>
                <a:srgbClr val="0000FF"/>
              </a:buClr>
              <a:buSzPct val="50000"/>
              <a:buFont typeface="Wingdings" pitchFamily="2" charset="2"/>
              <a:buChar char="n"/>
            </a:pPr>
            <a:r>
              <a:rPr lang="zh-CN" altLang="en-US" sz="2800" kern="0" dirty="0">
                <a:solidFill>
                  <a:srgbClr val="0000FF"/>
                </a:solidFill>
                <a:latin typeface="幼圆" pitchFamily="49" charset="-122"/>
                <a:ea typeface="幼圆" pitchFamily="49" charset="-122"/>
              </a:rPr>
              <a:t>静态链接：</a:t>
            </a:r>
            <a:r>
              <a:rPr lang="zh-CN" altLang="en-US" sz="2800" kern="0" dirty="0">
                <a:solidFill>
                  <a:srgbClr val="D60093"/>
                </a:solidFill>
                <a:latin typeface="幼圆" pitchFamily="49" charset="-122"/>
                <a:ea typeface="幼圆" pitchFamily="49" charset="-122"/>
              </a:rPr>
              <a:t>事先进行链接</a:t>
            </a:r>
            <a:r>
              <a:rPr lang="zh-CN" altLang="en-US" sz="2800" kern="0" dirty="0">
                <a:solidFill>
                  <a:srgbClr val="000000"/>
                </a:solidFill>
                <a:latin typeface="幼圆" pitchFamily="49" charset="-122"/>
                <a:ea typeface="幼圆" pitchFamily="49" charset="-122"/>
              </a:rPr>
              <a:t>，形成一个完整的装入模块，以后不再拆开。</a:t>
            </a:r>
            <a:endParaRPr lang="en-US" altLang="zh-CN" sz="2800" kern="0" dirty="0">
              <a:solidFill>
                <a:srgbClr val="000000"/>
              </a:solidFill>
              <a:latin typeface="幼圆" pitchFamily="49" charset="-122"/>
              <a:ea typeface="幼圆" pitchFamily="49" charset="-122"/>
            </a:endParaRPr>
          </a:p>
          <a:p>
            <a:pPr>
              <a:buClr>
                <a:srgbClr val="0000FF"/>
              </a:buClr>
              <a:buSzPct val="50000"/>
              <a:buFont typeface="Wingdings" pitchFamily="2" charset="2"/>
              <a:buChar char="n"/>
            </a:pPr>
            <a:r>
              <a:rPr lang="zh-CN" altLang="en-US" sz="2800" kern="0" dirty="0">
                <a:solidFill>
                  <a:srgbClr val="D60093"/>
                </a:solidFill>
                <a:latin typeface="幼圆" pitchFamily="49" charset="-122"/>
                <a:ea typeface="幼圆" pitchFamily="49" charset="-122"/>
              </a:rPr>
              <a:t>需解决的问题：</a:t>
            </a:r>
            <a:r>
              <a:rPr lang="zh-CN" altLang="en-US" sz="2800" kern="0" dirty="0">
                <a:solidFill>
                  <a:srgbClr val="D60093"/>
                </a:solidFill>
                <a:latin typeface="幼圆" pitchFamily="49" charset="-122"/>
                <a:ea typeface="幼圆" pitchFamily="49" charset="-122"/>
                <a:sym typeface="Symbol" pitchFamily="2" charset="2"/>
              </a:rPr>
              <a:t> </a:t>
            </a:r>
            <a:r>
              <a:rPr lang="zh-CN" altLang="en-US" sz="2800" kern="0" dirty="0">
                <a:solidFill>
                  <a:srgbClr val="000000"/>
                </a:solidFill>
                <a:latin typeface="幼圆" pitchFamily="49" charset="-122"/>
                <a:ea typeface="幼圆" pitchFamily="49" charset="-122"/>
              </a:rPr>
              <a:t>对相对地址进行修改；</a:t>
            </a:r>
            <a:r>
              <a:rPr lang="zh-CN" altLang="en-US" sz="2800" kern="0" dirty="0">
                <a:solidFill>
                  <a:srgbClr val="000000"/>
                </a:solidFill>
                <a:latin typeface="幼圆" pitchFamily="49" charset="-122"/>
                <a:ea typeface="幼圆" pitchFamily="49" charset="-122"/>
                <a:sym typeface="Symbol" pitchFamily="2" charset="2"/>
              </a:rPr>
              <a:t> </a:t>
            </a:r>
            <a:r>
              <a:rPr lang="zh-CN" altLang="en-US" sz="2800" kern="0" dirty="0">
                <a:solidFill>
                  <a:srgbClr val="000000"/>
                </a:solidFill>
                <a:latin typeface="幼圆" pitchFamily="49" charset="-122"/>
                <a:ea typeface="幼圆" pitchFamily="49" charset="-122"/>
              </a:rPr>
              <a:t>变换外部调用符号</a:t>
            </a:r>
            <a:endParaRPr lang="en-US" altLang="zh-CN" sz="2800" kern="0" dirty="0">
              <a:solidFill>
                <a:srgbClr val="000000"/>
              </a:solidFill>
              <a:latin typeface="幼圆" pitchFamily="49" charset="-122"/>
              <a:ea typeface="幼圆" pitchFamily="49" charset="-122"/>
            </a:endParaRPr>
          </a:p>
          <a:p>
            <a:pPr>
              <a:buClr>
                <a:srgbClr val="0000FF"/>
              </a:buClr>
              <a:buSzPct val="50000"/>
              <a:buFont typeface="Wingdings" pitchFamily="2" charset="2"/>
              <a:buChar char="n"/>
            </a:pPr>
            <a:r>
              <a:rPr lang="zh-CN" altLang="en-US" sz="2800" kern="0" dirty="0">
                <a:solidFill>
                  <a:srgbClr val="0000FF"/>
                </a:solidFill>
                <a:latin typeface="幼圆" pitchFamily="49" charset="-122"/>
                <a:ea typeface="幼圆" pitchFamily="49" charset="-122"/>
                <a:sym typeface="Wingdings" pitchFamily="2" charset="2"/>
              </a:rPr>
              <a:t>特点</a:t>
            </a:r>
            <a:endParaRPr lang="en-US" altLang="zh-CN" sz="2800" kern="0" dirty="0">
              <a:solidFill>
                <a:srgbClr val="0000FF"/>
              </a:solidFill>
              <a:latin typeface="幼圆" pitchFamily="49" charset="-122"/>
              <a:ea typeface="幼圆" pitchFamily="49" charset="-122"/>
              <a:sym typeface="Wingdings" pitchFamily="2" charset="2"/>
            </a:endParaRPr>
          </a:p>
          <a:p>
            <a:pPr lvl="1">
              <a:buClr>
                <a:srgbClr val="0000FF"/>
              </a:buClr>
              <a:buFont typeface="Wingdings" pitchFamily="2" charset="2"/>
              <a:buChar char="l"/>
            </a:pPr>
            <a:r>
              <a:rPr lang="zh-CN" altLang="en-US" b="1" kern="0" dirty="0">
                <a:solidFill>
                  <a:srgbClr val="000000"/>
                </a:solidFill>
                <a:latin typeface="幼圆" pitchFamily="49" charset="-122"/>
                <a:ea typeface="幼圆" pitchFamily="49" charset="-122"/>
                <a:sym typeface="Wingdings" pitchFamily="2" charset="2"/>
              </a:rPr>
              <a:t>不便于修改和更新</a:t>
            </a:r>
            <a:endParaRPr lang="en-US" altLang="zh-CN" b="1" kern="0" dirty="0">
              <a:solidFill>
                <a:srgbClr val="000000"/>
              </a:solidFill>
              <a:latin typeface="幼圆" pitchFamily="49" charset="-122"/>
              <a:ea typeface="幼圆" pitchFamily="49" charset="-122"/>
              <a:sym typeface="Wingdings" pitchFamily="2" charset="2"/>
            </a:endParaRPr>
          </a:p>
          <a:p>
            <a:pPr lvl="1">
              <a:buClr>
                <a:srgbClr val="0000FF"/>
              </a:buClr>
              <a:buFont typeface="Wingdings" pitchFamily="2" charset="2"/>
              <a:buChar char="l"/>
            </a:pPr>
            <a:r>
              <a:rPr lang="zh-CN" altLang="en-US" b="1" kern="0" dirty="0">
                <a:solidFill>
                  <a:srgbClr val="000000"/>
                </a:solidFill>
                <a:latin typeface="幼圆" pitchFamily="49" charset="-122"/>
                <a:ea typeface="幼圆" pitchFamily="49" charset="-122"/>
                <a:sym typeface="Wingdings" pitchFamily="2" charset="2"/>
              </a:rPr>
              <a:t>不便于模块共享</a:t>
            </a:r>
          </a:p>
          <a:p>
            <a:pPr lvl="1">
              <a:buClr>
                <a:srgbClr val="0000FF"/>
              </a:buClr>
              <a:buFont typeface="Wingdings" pitchFamily="2" charset="2"/>
              <a:buChar char="l"/>
            </a:pPr>
            <a:r>
              <a:rPr lang="zh-CN" altLang="en-US" b="1" kern="0" dirty="0">
                <a:solidFill>
                  <a:srgbClr val="000000"/>
                </a:solidFill>
                <a:latin typeface="幼圆" pitchFamily="49" charset="-122"/>
                <a:ea typeface="幼圆" pitchFamily="49" charset="-122"/>
                <a:sym typeface="Wingdings" pitchFamily="2" charset="2"/>
              </a:rPr>
              <a:t>可能装入不需要运行的模块，浪费存储空间</a:t>
            </a:r>
            <a:endParaRPr lang="en-US" altLang="zh-CN" b="1" kern="0" dirty="0">
              <a:solidFill>
                <a:srgbClr val="000000"/>
              </a:solidFill>
              <a:latin typeface="幼圆" pitchFamily="49" charset="-122"/>
              <a:ea typeface="幼圆" pitchFamily="49" charset="-122"/>
              <a:sym typeface="Wingdings" pitchFamily="2" charset="2"/>
            </a:endParaRPr>
          </a:p>
        </p:txBody>
      </p:sp>
    </p:spTree>
    <p:extLst>
      <p:ext uri="{BB962C8B-B14F-4D97-AF65-F5344CB8AC3E}">
        <p14:creationId xmlns:p14="http://schemas.microsoft.com/office/powerpoint/2010/main" val="283773556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blinds(horizontal)">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55">
                                            <p:txEl>
                                              <p:pRg st="0" end="0"/>
                                            </p:txEl>
                                          </p:spTgt>
                                        </p:tgtEl>
                                        <p:attrNameLst>
                                          <p:attrName>style.visibility</p:attrName>
                                        </p:attrNameLst>
                                      </p:cBhvr>
                                      <p:to>
                                        <p:strVal val="visible"/>
                                      </p:to>
                                    </p:set>
                                    <p:animEffect transition="in" filter="blinds(horizontal)">
                                      <p:cBhvr>
                                        <p:cTn id="12" dur="500"/>
                                        <p:tgtEl>
                                          <p:spTgt spid="5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55">
                                            <p:txEl>
                                              <p:pRg st="1" end="1"/>
                                            </p:txEl>
                                          </p:spTgt>
                                        </p:tgtEl>
                                        <p:attrNameLst>
                                          <p:attrName>style.visibility</p:attrName>
                                        </p:attrNameLst>
                                      </p:cBhvr>
                                      <p:to>
                                        <p:strVal val="visible"/>
                                      </p:to>
                                    </p:set>
                                    <p:animEffect transition="in" filter="blinds(horizontal)">
                                      <p:cBhvr>
                                        <p:cTn id="17" dur="500"/>
                                        <p:tgtEl>
                                          <p:spTgt spid="5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55">
                                            <p:txEl>
                                              <p:pRg st="2" end="2"/>
                                            </p:txEl>
                                          </p:spTgt>
                                        </p:tgtEl>
                                        <p:attrNameLst>
                                          <p:attrName>style.visibility</p:attrName>
                                        </p:attrNameLst>
                                      </p:cBhvr>
                                      <p:to>
                                        <p:strVal val="visible"/>
                                      </p:to>
                                    </p:set>
                                    <p:animEffect transition="in" filter="blinds(horizontal)">
                                      <p:cBhvr>
                                        <p:cTn id="22" dur="500"/>
                                        <p:tgtEl>
                                          <p:spTgt spid="55">
                                            <p:txEl>
                                              <p:pRg st="2" end="2"/>
                                            </p:txEl>
                                          </p:spTgt>
                                        </p:tgtEl>
                                      </p:cBhvr>
                                    </p:animEffect>
                                  </p:childTnLst>
                                </p:cTn>
                              </p:par>
                              <p:par>
                                <p:cTn id="23" presetID="3" presetClass="entr" presetSubtype="10" fill="hold" grpId="0" nodeType="withEffect">
                                  <p:stCondLst>
                                    <p:cond delay="0"/>
                                  </p:stCondLst>
                                  <p:childTnLst>
                                    <p:set>
                                      <p:cBhvr>
                                        <p:cTn id="24" dur="1" fill="hold">
                                          <p:stCondLst>
                                            <p:cond delay="0"/>
                                          </p:stCondLst>
                                        </p:cTn>
                                        <p:tgtEl>
                                          <p:spTgt spid="55">
                                            <p:txEl>
                                              <p:pRg st="3" end="3"/>
                                            </p:txEl>
                                          </p:spTgt>
                                        </p:tgtEl>
                                        <p:attrNameLst>
                                          <p:attrName>style.visibility</p:attrName>
                                        </p:attrNameLst>
                                      </p:cBhvr>
                                      <p:to>
                                        <p:strVal val="visible"/>
                                      </p:to>
                                    </p:set>
                                    <p:animEffect transition="in" filter="blinds(horizontal)">
                                      <p:cBhvr>
                                        <p:cTn id="25" dur="500"/>
                                        <p:tgtEl>
                                          <p:spTgt spid="55">
                                            <p:txEl>
                                              <p:pRg st="3" end="3"/>
                                            </p:txEl>
                                          </p:spTgt>
                                        </p:tgtEl>
                                      </p:cBhvr>
                                    </p:animEffect>
                                  </p:childTnLst>
                                </p:cTn>
                              </p:par>
                              <p:par>
                                <p:cTn id="26" presetID="3" presetClass="entr" presetSubtype="10" fill="hold" grpId="0" nodeType="withEffect">
                                  <p:stCondLst>
                                    <p:cond delay="0"/>
                                  </p:stCondLst>
                                  <p:childTnLst>
                                    <p:set>
                                      <p:cBhvr>
                                        <p:cTn id="27" dur="1" fill="hold">
                                          <p:stCondLst>
                                            <p:cond delay="0"/>
                                          </p:stCondLst>
                                        </p:cTn>
                                        <p:tgtEl>
                                          <p:spTgt spid="55">
                                            <p:txEl>
                                              <p:pRg st="4" end="4"/>
                                            </p:txEl>
                                          </p:spTgt>
                                        </p:tgtEl>
                                        <p:attrNameLst>
                                          <p:attrName>style.visibility</p:attrName>
                                        </p:attrNameLst>
                                      </p:cBhvr>
                                      <p:to>
                                        <p:strVal val="visible"/>
                                      </p:to>
                                    </p:set>
                                    <p:animEffect transition="in" filter="blinds(horizontal)">
                                      <p:cBhvr>
                                        <p:cTn id="28" dur="500"/>
                                        <p:tgtEl>
                                          <p:spTgt spid="55">
                                            <p:txEl>
                                              <p:pRg st="4" end="4"/>
                                            </p:txEl>
                                          </p:spTgt>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55">
                                            <p:txEl>
                                              <p:pRg st="5" end="5"/>
                                            </p:txEl>
                                          </p:spTgt>
                                        </p:tgtEl>
                                        <p:attrNameLst>
                                          <p:attrName>style.visibility</p:attrName>
                                        </p:attrNameLst>
                                      </p:cBhvr>
                                      <p:to>
                                        <p:strVal val="visible"/>
                                      </p:to>
                                    </p:set>
                                    <p:animEffect transition="in" filter="blinds(horizontal)">
                                      <p:cBhvr>
                                        <p:cTn id="31" dur="500"/>
                                        <p:tgtEl>
                                          <p:spTgt spid="5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3" name="组合 54">
            <a:extLst>
              <a:ext uri="{FF2B5EF4-FFF2-40B4-BE49-F238E27FC236}">
                <a16:creationId xmlns:a16="http://schemas.microsoft.com/office/drawing/2014/main" id="{6BDF56DD-A096-2E44-9141-BD2132E2792D}"/>
              </a:ext>
            </a:extLst>
          </p:cNvPr>
          <p:cNvGrpSpPr>
            <a:grpSpLocks/>
          </p:cNvGrpSpPr>
          <p:nvPr/>
        </p:nvGrpSpPr>
        <p:grpSpPr bwMode="auto">
          <a:xfrm>
            <a:off x="435920" y="375444"/>
            <a:ext cx="2971800" cy="1985962"/>
            <a:chOff x="457200" y="76200"/>
            <a:chExt cx="2971800" cy="1985665"/>
          </a:xfrm>
        </p:grpSpPr>
        <p:sp>
          <p:nvSpPr>
            <p:cNvPr id="64" name="Rectangle 2">
              <a:extLst>
                <a:ext uri="{FF2B5EF4-FFF2-40B4-BE49-F238E27FC236}">
                  <a16:creationId xmlns:a16="http://schemas.microsoft.com/office/drawing/2014/main" id="{775A9D1C-E18F-5F41-942C-982172A14DF4}"/>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65" name="Text Box 32">
              <a:extLst>
                <a:ext uri="{FF2B5EF4-FFF2-40B4-BE49-F238E27FC236}">
                  <a16:creationId xmlns:a16="http://schemas.microsoft.com/office/drawing/2014/main" id="{CE218026-1401-8445-8AF1-D70522B97917}"/>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66" name="Text Box 33">
              <a:extLst>
                <a:ext uri="{FF2B5EF4-FFF2-40B4-BE49-F238E27FC236}">
                  <a16:creationId xmlns:a16="http://schemas.microsoft.com/office/drawing/2014/main" id="{CEE85B06-0130-8440-B784-8B91D055E136}"/>
                </a:ext>
              </a:extLst>
            </p:cNvPr>
            <p:cNvSpPr txBox="1">
              <a:spLocks noChangeArrowheads="1"/>
            </p:cNvSpPr>
            <p:nvPr/>
          </p:nvSpPr>
          <p:spPr bwMode="auto">
            <a:xfrm>
              <a:off x="457200" y="1600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67" name="Text Box 38">
              <a:extLst>
                <a:ext uri="{FF2B5EF4-FFF2-40B4-BE49-F238E27FC236}">
                  <a16:creationId xmlns:a16="http://schemas.microsoft.com/office/drawing/2014/main" id="{A08638A8-BBE2-1846-889F-F6D57AAD7289}"/>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68" name="Text Box 39">
              <a:extLst>
                <a:ext uri="{FF2B5EF4-FFF2-40B4-BE49-F238E27FC236}">
                  <a16:creationId xmlns:a16="http://schemas.microsoft.com/office/drawing/2014/main" id="{5D879C07-F674-F645-A76D-6101C1851253}"/>
                </a:ext>
              </a:extLst>
            </p:cNvPr>
            <p:cNvSpPr txBox="1">
              <a:spLocks noChangeArrowheads="1"/>
            </p:cNvSpPr>
            <p:nvPr/>
          </p:nvSpPr>
          <p:spPr bwMode="auto">
            <a:xfrm>
              <a:off x="129540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69" name="Text Box 40">
              <a:extLst>
                <a:ext uri="{FF2B5EF4-FFF2-40B4-BE49-F238E27FC236}">
                  <a16:creationId xmlns:a16="http://schemas.microsoft.com/office/drawing/2014/main" id="{AF128114-1D0E-AF4C-A090-9164D1A98B34}"/>
                </a:ext>
              </a:extLst>
            </p:cNvPr>
            <p:cNvSpPr txBox="1">
              <a:spLocks noChangeArrowheads="1"/>
            </p:cNvSpPr>
            <p:nvPr/>
          </p:nvSpPr>
          <p:spPr bwMode="auto">
            <a:xfrm>
              <a:off x="1371600" y="1447800"/>
              <a:ext cx="1981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nvGrpSpPr>
          <p:cNvPr id="70" name="组合 55">
            <a:extLst>
              <a:ext uri="{FF2B5EF4-FFF2-40B4-BE49-F238E27FC236}">
                <a16:creationId xmlns:a16="http://schemas.microsoft.com/office/drawing/2014/main" id="{84759763-15C4-7444-B2B5-BAE801D8BF60}"/>
              </a:ext>
            </a:extLst>
          </p:cNvPr>
          <p:cNvGrpSpPr>
            <a:grpSpLocks/>
          </p:cNvGrpSpPr>
          <p:nvPr/>
        </p:nvGrpSpPr>
        <p:grpSpPr bwMode="auto">
          <a:xfrm>
            <a:off x="435920" y="2228057"/>
            <a:ext cx="2971800" cy="1909763"/>
            <a:chOff x="457200" y="1981200"/>
            <a:chExt cx="2971800" cy="1909465"/>
          </a:xfrm>
        </p:grpSpPr>
        <p:sp>
          <p:nvSpPr>
            <p:cNvPr id="71" name="Rectangle 3">
              <a:extLst>
                <a:ext uri="{FF2B5EF4-FFF2-40B4-BE49-F238E27FC236}">
                  <a16:creationId xmlns:a16="http://schemas.microsoft.com/office/drawing/2014/main" id="{CEDCC059-5E59-6245-9D42-4A6AF1D37B00}"/>
                </a:ext>
              </a:extLst>
            </p:cNvPr>
            <p:cNvSpPr>
              <a:spLocks noChangeArrowheads="1"/>
            </p:cNvSpPr>
            <p:nvPr/>
          </p:nvSpPr>
          <p:spPr bwMode="auto">
            <a:xfrm>
              <a:off x="1143000" y="2209764"/>
              <a:ext cx="2057400" cy="1599950"/>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72" name="Text Box 34">
              <a:extLst>
                <a:ext uri="{FF2B5EF4-FFF2-40B4-BE49-F238E27FC236}">
                  <a16:creationId xmlns:a16="http://schemas.microsoft.com/office/drawing/2014/main" id="{2B088DB1-38D6-0742-9D45-BF43138A69E0}"/>
                </a:ext>
              </a:extLst>
            </p:cNvPr>
            <p:cNvSpPr txBox="1">
              <a:spLocks noChangeArrowheads="1"/>
            </p:cNvSpPr>
            <p:nvPr/>
          </p:nvSpPr>
          <p:spPr bwMode="auto">
            <a:xfrm>
              <a:off x="762000" y="1981200"/>
              <a:ext cx="533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73" name="Text Box 35">
              <a:extLst>
                <a:ext uri="{FF2B5EF4-FFF2-40B4-BE49-F238E27FC236}">
                  <a16:creationId xmlns:a16="http://schemas.microsoft.com/office/drawing/2014/main" id="{DE067D7C-03C7-AD4B-97A1-78B0AE663AD6}"/>
                </a:ext>
              </a:extLst>
            </p:cNvPr>
            <p:cNvSpPr txBox="1">
              <a:spLocks noChangeArrowheads="1"/>
            </p:cNvSpPr>
            <p:nvPr/>
          </p:nvSpPr>
          <p:spPr bwMode="auto">
            <a:xfrm>
              <a:off x="457200" y="3429000"/>
              <a:ext cx="11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M-1</a:t>
              </a:r>
            </a:p>
          </p:txBody>
        </p:sp>
        <p:sp>
          <p:nvSpPr>
            <p:cNvPr id="74" name="Text Box 42">
              <a:extLst>
                <a:ext uri="{FF2B5EF4-FFF2-40B4-BE49-F238E27FC236}">
                  <a16:creationId xmlns:a16="http://schemas.microsoft.com/office/drawing/2014/main" id="{1754A136-77C8-7F42-B47E-C5C1D89E06C6}"/>
                </a:ext>
              </a:extLst>
            </p:cNvPr>
            <p:cNvSpPr txBox="1">
              <a:spLocks noChangeArrowheads="1"/>
            </p:cNvSpPr>
            <p:nvPr/>
          </p:nvSpPr>
          <p:spPr bwMode="auto">
            <a:xfrm>
              <a:off x="1600200" y="228600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75" name="Text Box 43">
              <a:extLst>
                <a:ext uri="{FF2B5EF4-FFF2-40B4-BE49-F238E27FC236}">
                  <a16:creationId xmlns:a16="http://schemas.microsoft.com/office/drawing/2014/main" id="{C34361A7-FD89-9540-87F7-D71F253F81D3}"/>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76" name="Text Box 44">
              <a:extLst>
                <a:ext uri="{FF2B5EF4-FFF2-40B4-BE49-F238E27FC236}">
                  <a16:creationId xmlns:a16="http://schemas.microsoft.com/office/drawing/2014/main" id="{B691C805-B295-9348-8D38-64CE0A1E513C}"/>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77" name="组合 59">
            <a:extLst>
              <a:ext uri="{FF2B5EF4-FFF2-40B4-BE49-F238E27FC236}">
                <a16:creationId xmlns:a16="http://schemas.microsoft.com/office/drawing/2014/main" id="{CBB3DA5F-6C41-BA49-A80A-83EC85B71445}"/>
              </a:ext>
            </a:extLst>
          </p:cNvPr>
          <p:cNvGrpSpPr>
            <a:grpSpLocks/>
          </p:cNvGrpSpPr>
          <p:nvPr/>
        </p:nvGrpSpPr>
        <p:grpSpPr bwMode="auto">
          <a:xfrm>
            <a:off x="507359" y="4271169"/>
            <a:ext cx="2809875" cy="1866900"/>
            <a:chOff x="500034" y="4043370"/>
            <a:chExt cx="2809876" cy="1866896"/>
          </a:xfrm>
        </p:grpSpPr>
        <p:sp>
          <p:nvSpPr>
            <p:cNvPr id="78" name="Rectangle 4">
              <a:extLst>
                <a:ext uri="{FF2B5EF4-FFF2-40B4-BE49-F238E27FC236}">
                  <a16:creationId xmlns:a16="http://schemas.microsoft.com/office/drawing/2014/main" id="{D7D20C07-06BD-EC4B-A9F1-9886091B925C}"/>
                </a:ext>
              </a:extLst>
            </p:cNvPr>
            <p:cNvSpPr>
              <a:spLocks noChangeArrowheads="1"/>
            </p:cNvSpPr>
            <p:nvPr/>
          </p:nvSpPr>
          <p:spPr bwMode="auto">
            <a:xfrm>
              <a:off x="1142976" y="4214818"/>
              <a:ext cx="2057400" cy="1600200"/>
            </a:xfrm>
            <a:prstGeom prst="rect">
              <a:avLst/>
            </a:prstGeom>
            <a:solidFill>
              <a:srgbClr val="FF33CC"/>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nvGrpSpPr>
            <p:cNvPr id="79" name="组合 58">
              <a:extLst>
                <a:ext uri="{FF2B5EF4-FFF2-40B4-BE49-F238E27FC236}">
                  <a16:creationId xmlns:a16="http://schemas.microsoft.com/office/drawing/2014/main" id="{2D68672B-BE38-8C4A-BE22-D145422273FA}"/>
                </a:ext>
              </a:extLst>
            </p:cNvPr>
            <p:cNvGrpSpPr>
              <a:grpSpLocks/>
            </p:cNvGrpSpPr>
            <p:nvPr/>
          </p:nvGrpSpPr>
          <p:grpSpPr bwMode="auto">
            <a:xfrm>
              <a:off x="500034" y="4043370"/>
              <a:ext cx="2809876" cy="1866896"/>
              <a:chOff x="390524" y="4043370"/>
              <a:chExt cx="2809876" cy="1866896"/>
            </a:xfrm>
          </p:grpSpPr>
          <p:sp>
            <p:nvSpPr>
              <p:cNvPr id="80" name="Text Box 36">
                <a:extLst>
                  <a:ext uri="{FF2B5EF4-FFF2-40B4-BE49-F238E27FC236}">
                    <a16:creationId xmlns:a16="http://schemas.microsoft.com/office/drawing/2014/main" id="{A819D813-084D-2B4B-9A4A-93956FC67916}"/>
                  </a:ext>
                </a:extLst>
              </p:cNvPr>
              <p:cNvSpPr txBox="1">
                <a:spLocks noChangeArrowheads="1"/>
              </p:cNvSpPr>
              <p:nvPr/>
            </p:nvSpPr>
            <p:spPr bwMode="auto">
              <a:xfrm>
                <a:off x="604838" y="4043370"/>
                <a:ext cx="6096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81" name="Text Box 37">
                <a:extLst>
                  <a:ext uri="{FF2B5EF4-FFF2-40B4-BE49-F238E27FC236}">
                    <a16:creationId xmlns:a16="http://schemas.microsoft.com/office/drawing/2014/main" id="{A7EE4796-ECC1-AD4D-87A5-43F20292C3B1}"/>
                  </a:ext>
                </a:extLst>
              </p:cNvPr>
              <p:cNvSpPr txBox="1">
                <a:spLocks noChangeArrowheads="1"/>
              </p:cNvSpPr>
              <p:nvPr/>
            </p:nvSpPr>
            <p:spPr bwMode="auto">
              <a:xfrm>
                <a:off x="390524" y="5453066"/>
                <a:ext cx="838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N-1</a:t>
                </a:r>
              </a:p>
            </p:txBody>
          </p:sp>
          <p:sp>
            <p:nvSpPr>
              <p:cNvPr id="82" name="Text Box 46">
                <a:extLst>
                  <a:ext uri="{FF2B5EF4-FFF2-40B4-BE49-F238E27FC236}">
                    <a16:creationId xmlns:a16="http://schemas.microsoft.com/office/drawing/2014/main" id="{3763ABCF-320A-0B40-82AB-528A263FD1CF}"/>
                  </a:ext>
                </a:extLst>
              </p:cNvPr>
              <p:cNvSpPr txBox="1">
                <a:spLocks noChangeArrowheads="1"/>
              </p:cNvSpPr>
              <p:nvPr/>
            </p:nvSpPr>
            <p:spPr bwMode="auto">
              <a:xfrm>
                <a:off x="1524000" y="4233866"/>
                <a:ext cx="15240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latin typeface="幼圆" pitchFamily="49" charset="-122"/>
                    <a:ea typeface="幼圆" pitchFamily="49" charset="-122"/>
                  </a:rPr>
                  <a:t>模块</a:t>
                </a:r>
                <a:r>
                  <a:rPr lang="en-US" altLang="zh-CN" sz="2400">
                    <a:solidFill>
                      <a:srgbClr val="FFFFFF"/>
                    </a:solidFill>
                    <a:latin typeface="幼圆" pitchFamily="49" charset="-122"/>
                    <a:ea typeface="幼圆" pitchFamily="49" charset="-122"/>
                  </a:rPr>
                  <a:t>C</a:t>
                </a:r>
              </a:p>
            </p:txBody>
          </p:sp>
          <p:sp>
            <p:nvSpPr>
              <p:cNvPr id="83" name="Text Box 47">
                <a:extLst>
                  <a:ext uri="{FF2B5EF4-FFF2-40B4-BE49-F238E27FC236}">
                    <a16:creationId xmlns:a16="http://schemas.microsoft.com/office/drawing/2014/main" id="{F629C95A-7540-7241-B94A-14B1ACABB1A4}"/>
                  </a:ext>
                </a:extLst>
              </p:cNvPr>
              <p:cNvSpPr txBox="1">
                <a:spLocks noChangeArrowheads="1"/>
              </p:cNvSpPr>
              <p:nvPr/>
            </p:nvSpPr>
            <p:spPr bwMode="auto">
              <a:xfrm>
                <a:off x="1600200" y="5300666"/>
                <a:ext cx="16002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sp>
        <p:nvSpPr>
          <p:cNvPr id="84" name="Text Box 71">
            <a:extLst>
              <a:ext uri="{FF2B5EF4-FFF2-40B4-BE49-F238E27FC236}">
                <a16:creationId xmlns:a16="http://schemas.microsoft.com/office/drawing/2014/main" id="{881B88CE-FFED-6C4E-A0A7-6FDB52C91EDE}"/>
              </a:ext>
            </a:extLst>
          </p:cNvPr>
          <p:cNvSpPr txBox="1">
            <a:spLocks noChangeArrowheads="1"/>
          </p:cNvSpPr>
          <p:nvPr/>
        </p:nvSpPr>
        <p:spPr bwMode="auto">
          <a:xfrm>
            <a:off x="935983" y="6042819"/>
            <a:ext cx="24384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latin typeface="幼圆" pitchFamily="49" charset="-122"/>
                <a:ea typeface="幼圆" pitchFamily="49" charset="-122"/>
              </a:rPr>
              <a:t>(a) </a:t>
            </a:r>
            <a:r>
              <a:rPr lang="zh-CN" altLang="en-US" sz="2400">
                <a:solidFill>
                  <a:srgbClr val="0000FF"/>
                </a:solidFill>
                <a:latin typeface="幼圆" pitchFamily="49" charset="-122"/>
                <a:ea typeface="幼圆" pitchFamily="49" charset="-122"/>
              </a:rPr>
              <a:t>目标模块</a:t>
            </a:r>
          </a:p>
        </p:txBody>
      </p:sp>
      <p:sp>
        <p:nvSpPr>
          <p:cNvPr id="85" name="Text Box 72">
            <a:extLst>
              <a:ext uri="{FF2B5EF4-FFF2-40B4-BE49-F238E27FC236}">
                <a16:creationId xmlns:a16="http://schemas.microsoft.com/office/drawing/2014/main" id="{752DEA3B-EAF4-B749-AA27-7107D7CAFE9E}"/>
              </a:ext>
            </a:extLst>
          </p:cNvPr>
          <p:cNvSpPr txBox="1">
            <a:spLocks noChangeArrowheads="1"/>
          </p:cNvSpPr>
          <p:nvPr/>
        </p:nvSpPr>
        <p:spPr bwMode="auto">
          <a:xfrm>
            <a:off x="6436670" y="5907882"/>
            <a:ext cx="2743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latin typeface="幼圆" pitchFamily="49" charset="-122"/>
                <a:ea typeface="幼圆" pitchFamily="49" charset="-122"/>
              </a:rPr>
              <a:t>(b) </a:t>
            </a:r>
            <a:r>
              <a:rPr lang="zh-CN" altLang="en-US" sz="2400">
                <a:solidFill>
                  <a:srgbClr val="0000FF"/>
                </a:solidFill>
                <a:latin typeface="幼圆" pitchFamily="49" charset="-122"/>
                <a:ea typeface="幼圆" pitchFamily="49" charset="-122"/>
              </a:rPr>
              <a:t>装入模块</a:t>
            </a:r>
          </a:p>
        </p:txBody>
      </p:sp>
      <p:grpSp>
        <p:nvGrpSpPr>
          <p:cNvPr id="86" name="组合 63">
            <a:extLst>
              <a:ext uri="{FF2B5EF4-FFF2-40B4-BE49-F238E27FC236}">
                <a16:creationId xmlns:a16="http://schemas.microsoft.com/office/drawing/2014/main" id="{61A9408F-72C3-964F-880C-42E4532C06DF}"/>
              </a:ext>
            </a:extLst>
          </p:cNvPr>
          <p:cNvGrpSpPr>
            <a:grpSpLocks/>
          </p:cNvGrpSpPr>
          <p:nvPr/>
        </p:nvGrpSpPr>
        <p:grpSpPr bwMode="auto">
          <a:xfrm>
            <a:off x="5617520" y="2688432"/>
            <a:ext cx="2971800" cy="2005013"/>
            <a:chOff x="457200" y="1981200"/>
            <a:chExt cx="2971800" cy="2004996"/>
          </a:xfrm>
        </p:grpSpPr>
        <p:sp>
          <p:nvSpPr>
            <p:cNvPr id="87" name="Rectangle 3">
              <a:extLst>
                <a:ext uri="{FF2B5EF4-FFF2-40B4-BE49-F238E27FC236}">
                  <a16:creationId xmlns:a16="http://schemas.microsoft.com/office/drawing/2014/main" id="{3219E8CE-C964-D043-AE7D-F34BD1D5EF6C}"/>
                </a:ext>
              </a:extLst>
            </p:cNvPr>
            <p:cNvSpPr>
              <a:spLocks noChangeArrowheads="1"/>
            </p:cNvSpPr>
            <p:nvPr/>
          </p:nvSpPr>
          <p:spPr bwMode="auto">
            <a:xfrm>
              <a:off x="1143000" y="2209800"/>
              <a:ext cx="2057400" cy="1600200"/>
            </a:xfrm>
            <a:prstGeom prst="rect">
              <a:avLst/>
            </a:prstGeom>
            <a:solidFill>
              <a:srgbClr val="53FFA1"/>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400">
                <a:solidFill>
                  <a:srgbClr val="FFFFFF"/>
                </a:solidFill>
              </a:endParaRPr>
            </a:p>
          </p:txBody>
        </p:sp>
        <p:sp>
          <p:nvSpPr>
            <p:cNvPr id="88" name="Text Box 34">
              <a:extLst>
                <a:ext uri="{FF2B5EF4-FFF2-40B4-BE49-F238E27FC236}">
                  <a16:creationId xmlns:a16="http://schemas.microsoft.com/office/drawing/2014/main" id="{D385BC31-2422-6648-B59B-33DA5B89DBF2}"/>
                </a:ext>
              </a:extLst>
            </p:cNvPr>
            <p:cNvSpPr txBox="1">
              <a:spLocks noChangeArrowheads="1"/>
            </p:cNvSpPr>
            <p:nvPr/>
          </p:nvSpPr>
          <p:spPr bwMode="auto">
            <a:xfrm>
              <a:off x="762000" y="1981200"/>
              <a:ext cx="5334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89" name="Text Box 35">
              <a:extLst>
                <a:ext uri="{FF2B5EF4-FFF2-40B4-BE49-F238E27FC236}">
                  <a16:creationId xmlns:a16="http://schemas.microsoft.com/office/drawing/2014/main" id="{8359E25D-E4FA-A241-B672-66FF3B8F4C12}"/>
                </a:ext>
              </a:extLst>
            </p:cNvPr>
            <p:cNvSpPr txBox="1">
              <a:spLocks noChangeArrowheads="1"/>
            </p:cNvSpPr>
            <p:nvPr/>
          </p:nvSpPr>
          <p:spPr bwMode="auto">
            <a:xfrm>
              <a:off x="457200" y="3524531"/>
              <a:ext cx="11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M-1</a:t>
              </a:r>
            </a:p>
          </p:txBody>
        </p:sp>
        <p:sp>
          <p:nvSpPr>
            <p:cNvPr id="90" name="Text Box 42">
              <a:extLst>
                <a:ext uri="{FF2B5EF4-FFF2-40B4-BE49-F238E27FC236}">
                  <a16:creationId xmlns:a16="http://schemas.microsoft.com/office/drawing/2014/main" id="{03FFE645-0BAE-944D-BA07-3DE830067659}"/>
                </a:ext>
              </a:extLst>
            </p:cNvPr>
            <p:cNvSpPr txBox="1">
              <a:spLocks noChangeArrowheads="1"/>
            </p:cNvSpPr>
            <p:nvPr/>
          </p:nvSpPr>
          <p:spPr bwMode="auto">
            <a:xfrm>
              <a:off x="1600200" y="2286000"/>
              <a:ext cx="1828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91" name="Text Box 43">
              <a:extLst>
                <a:ext uri="{FF2B5EF4-FFF2-40B4-BE49-F238E27FC236}">
                  <a16:creationId xmlns:a16="http://schemas.microsoft.com/office/drawing/2014/main" id="{90FEAB46-6E69-944A-96A7-18DB1C00FED3}"/>
                </a:ext>
              </a:extLst>
            </p:cNvPr>
            <p:cNvSpPr txBox="1">
              <a:spLocks noChangeArrowheads="1"/>
            </p:cNvSpPr>
            <p:nvPr/>
          </p:nvSpPr>
          <p:spPr bwMode="auto">
            <a:xfrm>
              <a:off x="1447800" y="281463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92" name="Text Box 44">
              <a:extLst>
                <a:ext uri="{FF2B5EF4-FFF2-40B4-BE49-F238E27FC236}">
                  <a16:creationId xmlns:a16="http://schemas.microsoft.com/office/drawing/2014/main" id="{7532D498-F2AE-0142-A0EF-D6ACC03F8187}"/>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93" name="组合 70">
            <a:extLst>
              <a:ext uri="{FF2B5EF4-FFF2-40B4-BE49-F238E27FC236}">
                <a16:creationId xmlns:a16="http://schemas.microsoft.com/office/drawing/2014/main" id="{DB948E76-39B1-D049-B29C-F36DF96EDC77}"/>
              </a:ext>
            </a:extLst>
          </p:cNvPr>
          <p:cNvGrpSpPr>
            <a:grpSpLocks/>
          </p:cNvGrpSpPr>
          <p:nvPr/>
        </p:nvGrpSpPr>
        <p:grpSpPr bwMode="auto">
          <a:xfrm>
            <a:off x="5539733" y="307182"/>
            <a:ext cx="3071812" cy="1985963"/>
            <a:chOff x="357194" y="76200"/>
            <a:chExt cx="3071806" cy="1985666"/>
          </a:xfrm>
        </p:grpSpPr>
        <p:sp>
          <p:nvSpPr>
            <p:cNvPr id="94" name="Rectangle 2">
              <a:extLst>
                <a:ext uri="{FF2B5EF4-FFF2-40B4-BE49-F238E27FC236}">
                  <a16:creationId xmlns:a16="http://schemas.microsoft.com/office/drawing/2014/main" id="{7BC5BCBE-7BFF-DB48-A519-0A4B3B510B9B}"/>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95" name="Text Box 32">
              <a:extLst>
                <a:ext uri="{FF2B5EF4-FFF2-40B4-BE49-F238E27FC236}">
                  <a16:creationId xmlns:a16="http://schemas.microsoft.com/office/drawing/2014/main" id="{4C50EC59-AE66-7447-A5DD-985EFF970792}"/>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96" name="Text Box 33">
              <a:extLst>
                <a:ext uri="{FF2B5EF4-FFF2-40B4-BE49-F238E27FC236}">
                  <a16:creationId xmlns:a16="http://schemas.microsoft.com/office/drawing/2014/main" id="{95ACCEC5-47C0-5346-A296-068E065C576F}"/>
                </a:ext>
              </a:extLst>
            </p:cNvPr>
            <p:cNvSpPr txBox="1">
              <a:spLocks noChangeArrowheads="1"/>
            </p:cNvSpPr>
            <p:nvPr/>
          </p:nvSpPr>
          <p:spPr bwMode="auto">
            <a:xfrm>
              <a:off x="357194" y="1600201"/>
              <a:ext cx="762000" cy="46166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97" name="Text Box 38">
              <a:extLst>
                <a:ext uri="{FF2B5EF4-FFF2-40B4-BE49-F238E27FC236}">
                  <a16:creationId xmlns:a16="http://schemas.microsoft.com/office/drawing/2014/main" id="{27E2A5AE-2393-8C4E-8D91-8DE0878E5046}"/>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98" name="Text Box 39">
              <a:extLst>
                <a:ext uri="{FF2B5EF4-FFF2-40B4-BE49-F238E27FC236}">
                  <a16:creationId xmlns:a16="http://schemas.microsoft.com/office/drawing/2014/main" id="{F552EC62-839E-C042-BE62-091C472762EB}"/>
                </a:ext>
              </a:extLst>
            </p:cNvPr>
            <p:cNvSpPr txBox="1">
              <a:spLocks noChangeArrowheads="1"/>
            </p:cNvSpPr>
            <p:nvPr/>
          </p:nvSpPr>
          <p:spPr bwMode="auto">
            <a:xfrm>
              <a:off x="128586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99" name="Text Box 40">
              <a:extLst>
                <a:ext uri="{FF2B5EF4-FFF2-40B4-BE49-F238E27FC236}">
                  <a16:creationId xmlns:a16="http://schemas.microsoft.com/office/drawing/2014/main" id="{8E5A9881-E17F-BD40-857F-A1DB639B5210}"/>
                </a:ext>
              </a:extLst>
            </p:cNvPr>
            <p:cNvSpPr txBox="1">
              <a:spLocks noChangeArrowheads="1"/>
            </p:cNvSpPr>
            <p:nvPr/>
          </p:nvSpPr>
          <p:spPr bwMode="auto">
            <a:xfrm>
              <a:off x="1371600" y="1447800"/>
              <a:ext cx="1981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sp>
        <p:nvSpPr>
          <p:cNvPr id="100" name="矩形 49">
            <a:extLst>
              <a:ext uri="{FF2B5EF4-FFF2-40B4-BE49-F238E27FC236}">
                <a16:creationId xmlns:a16="http://schemas.microsoft.com/office/drawing/2014/main" id="{D4341663-58F6-1141-A701-7CB78EF52B71}"/>
              </a:ext>
            </a:extLst>
          </p:cNvPr>
          <p:cNvSpPr>
            <a:spLocks noChangeArrowheads="1"/>
          </p:cNvSpPr>
          <p:nvPr/>
        </p:nvSpPr>
        <p:spPr bwMode="auto">
          <a:xfrm>
            <a:off x="5222233" y="1950245"/>
            <a:ext cx="857250" cy="642937"/>
          </a:xfrm>
          <a:prstGeom prst="rect">
            <a:avLst/>
          </a:prstGeom>
          <a:solidFill>
            <a:srgbClr val="FFFF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ts val="1500"/>
              </a:lnSpc>
              <a:spcBef>
                <a:spcPct val="50000"/>
              </a:spcBef>
            </a:pPr>
            <a:r>
              <a:rPr lang="en-US" altLang="zh-CN" sz="2400">
                <a:solidFill>
                  <a:srgbClr val="0000FF"/>
                </a:solidFill>
              </a:rPr>
              <a:t>L-1</a:t>
            </a:r>
          </a:p>
          <a:p>
            <a:pPr>
              <a:lnSpc>
                <a:spcPts val="1500"/>
              </a:lnSpc>
              <a:spcBef>
                <a:spcPct val="50000"/>
              </a:spcBef>
            </a:pPr>
            <a:r>
              <a:rPr lang="en-US" altLang="zh-CN" sz="2400">
                <a:solidFill>
                  <a:srgbClr val="0000FF"/>
                </a:solidFill>
              </a:rPr>
              <a:t>L</a:t>
            </a:r>
          </a:p>
        </p:txBody>
      </p:sp>
      <p:sp>
        <p:nvSpPr>
          <p:cNvPr id="101" name="矩形 50">
            <a:extLst>
              <a:ext uri="{FF2B5EF4-FFF2-40B4-BE49-F238E27FC236}">
                <a16:creationId xmlns:a16="http://schemas.microsoft.com/office/drawing/2014/main" id="{84F14C31-C145-034A-B7F1-486A0B8CD76A}"/>
              </a:ext>
            </a:extLst>
          </p:cNvPr>
          <p:cNvSpPr>
            <a:spLocks noChangeArrowheads="1"/>
          </p:cNvSpPr>
          <p:nvPr/>
        </p:nvSpPr>
        <p:spPr bwMode="auto">
          <a:xfrm>
            <a:off x="6508109" y="1193007"/>
            <a:ext cx="1285875" cy="428625"/>
          </a:xfrm>
          <a:prstGeom prst="rect">
            <a:avLst/>
          </a:prstGeom>
          <a:solidFill>
            <a:srgbClr val="0000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JSR “L”</a:t>
            </a:r>
          </a:p>
        </p:txBody>
      </p:sp>
      <p:grpSp>
        <p:nvGrpSpPr>
          <p:cNvPr id="102" name="组合 81">
            <a:extLst>
              <a:ext uri="{FF2B5EF4-FFF2-40B4-BE49-F238E27FC236}">
                <a16:creationId xmlns:a16="http://schemas.microsoft.com/office/drawing/2014/main" id="{59E415D3-9DB9-3D47-9034-AB65D8FA6160}"/>
              </a:ext>
            </a:extLst>
          </p:cNvPr>
          <p:cNvGrpSpPr>
            <a:grpSpLocks/>
          </p:cNvGrpSpPr>
          <p:nvPr/>
        </p:nvGrpSpPr>
        <p:grpSpPr bwMode="auto">
          <a:xfrm>
            <a:off x="7941620" y="1450182"/>
            <a:ext cx="1066800" cy="1000125"/>
            <a:chOff x="7934356" y="1428744"/>
            <a:chExt cx="1066800" cy="1143000"/>
          </a:xfrm>
        </p:grpSpPr>
        <p:sp>
          <p:nvSpPr>
            <p:cNvPr id="103" name="Line 65">
              <a:extLst>
                <a:ext uri="{FF2B5EF4-FFF2-40B4-BE49-F238E27FC236}">
                  <a16:creationId xmlns:a16="http://schemas.microsoft.com/office/drawing/2014/main" id="{10DE2AB0-524A-B14A-BBD1-62B8E6C20E55}"/>
                </a:ext>
              </a:extLst>
            </p:cNvPr>
            <p:cNvSpPr>
              <a:spLocks noChangeShapeType="1"/>
            </p:cNvSpPr>
            <p:nvPr/>
          </p:nvSpPr>
          <p:spPr bwMode="auto">
            <a:xfrm>
              <a:off x="9001156" y="1428744"/>
              <a:ext cx="0" cy="1143000"/>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64">
              <a:extLst>
                <a:ext uri="{FF2B5EF4-FFF2-40B4-BE49-F238E27FC236}">
                  <a16:creationId xmlns:a16="http://schemas.microsoft.com/office/drawing/2014/main" id="{B2E295E6-D9A5-314D-8BBD-6E512C432004}"/>
                </a:ext>
              </a:extLst>
            </p:cNvPr>
            <p:cNvSpPr>
              <a:spLocks noChangeShapeType="1"/>
            </p:cNvSpPr>
            <p:nvPr/>
          </p:nvSpPr>
          <p:spPr bwMode="auto">
            <a:xfrm>
              <a:off x="8086756" y="1428744"/>
              <a:ext cx="914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Line 67">
              <a:extLst>
                <a:ext uri="{FF2B5EF4-FFF2-40B4-BE49-F238E27FC236}">
                  <a16:creationId xmlns:a16="http://schemas.microsoft.com/office/drawing/2014/main" id="{8EEF7206-90C7-0F4D-8B57-132AD8A4DCBC}"/>
                </a:ext>
              </a:extLst>
            </p:cNvPr>
            <p:cNvSpPr>
              <a:spLocks noChangeShapeType="1"/>
            </p:cNvSpPr>
            <p:nvPr/>
          </p:nvSpPr>
          <p:spPr bwMode="auto">
            <a:xfrm flipH="1">
              <a:off x="7934356" y="2571744"/>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nvGrpSpPr>
          <p:cNvPr id="106" name="组合 86">
            <a:extLst>
              <a:ext uri="{FF2B5EF4-FFF2-40B4-BE49-F238E27FC236}">
                <a16:creationId xmlns:a16="http://schemas.microsoft.com/office/drawing/2014/main" id="{7D715D03-8282-9042-8F00-C64DF8460AA5}"/>
              </a:ext>
            </a:extLst>
          </p:cNvPr>
          <p:cNvGrpSpPr>
            <a:grpSpLocks/>
          </p:cNvGrpSpPr>
          <p:nvPr/>
        </p:nvGrpSpPr>
        <p:grpSpPr bwMode="auto">
          <a:xfrm>
            <a:off x="5722296" y="4636295"/>
            <a:ext cx="2786063" cy="1819275"/>
            <a:chOff x="523828" y="4095744"/>
            <a:chExt cx="2786082" cy="1818989"/>
          </a:xfrm>
        </p:grpSpPr>
        <p:sp>
          <p:nvSpPr>
            <p:cNvPr id="107" name="Rectangle 4">
              <a:extLst>
                <a:ext uri="{FF2B5EF4-FFF2-40B4-BE49-F238E27FC236}">
                  <a16:creationId xmlns:a16="http://schemas.microsoft.com/office/drawing/2014/main" id="{6A6B4240-EBF9-234F-93DD-BEC9F04424D7}"/>
                </a:ext>
              </a:extLst>
            </p:cNvPr>
            <p:cNvSpPr>
              <a:spLocks noChangeArrowheads="1"/>
            </p:cNvSpPr>
            <p:nvPr/>
          </p:nvSpPr>
          <p:spPr bwMode="auto">
            <a:xfrm>
              <a:off x="1155855" y="4214818"/>
              <a:ext cx="2057400" cy="1600200"/>
            </a:xfrm>
            <a:prstGeom prst="rect">
              <a:avLst/>
            </a:prstGeom>
            <a:solidFill>
              <a:srgbClr val="FF33CC"/>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400">
                <a:solidFill>
                  <a:srgbClr val="0000FF"/>
                </a:solidFill>
              </a:endParaRPr>
            </a:p>
          </p:txBody>
        </p:sp>
        <p:grpSp>
          <p:nvGrpSpPr>
            <p:cNvPr id="108" name="组合 58">
              <a:extLst>
                <a:ext uri="{FF2B5EF4-FFF2-40B4-BE49-F238E27FC236}">
                  <a16:creationId xmlns:a16="http://schemas.microsoft.com/office/drawing/2014/main" id="{75BA8FB3-2822-6C40-A676-E338DF044042}"/>
                </a:ext>
              </a:extLst>
            </p:cNvPr>
            <p:cNvGrpSpPr>
              <a:grpSpLocks/>
            </p:cNvGrpSpPr>
            <p:nvPr/>
          </p:nvGrpSpPr>
          <p:grpSpPr bwMode="auto">
            <a:xfrm>
              <a:off x="523828" y="4095744"/>
              <a:ext cx="2786082" cy="1818989"/>
              <a:chOff x="414318" y="4095744"/>
              <a:chExt cx="2786082" cy="1818989"/>
            </a:xfrm>
          </p:grpSpPr>
          <p:sp>
            <p:nvSpPr>
              <p:cNvPr id="109" name="Text Box 36">
                <a:extLst>
                  <a:ext uri="{FF2B5EF4-FFF2-40B4-BE49-F238E27FC236}">
                    <a16:creationId xmlns:a16="http://schemas.microsoft.com/office/drawing/2014/main" id="{382AD526-9B2C-CC42-A039-BC523D52FA2B}"/>
                  </a:ext>
                </a:extLst>
              </p:cNvPr>
              <p:cNvSpPr txBox="1">
                <a:spLocks noChangeArrowheads="1"/>
              </p:cNvSpPr>
              <p:nvPr/>
            </p:nvSpPr>
            <p:spPr bwMode="auto">
              <a:xfrm>
                <a:off x="700070" y="4095744"/>
                <a:ext cx="609600" cy="46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110" name="Text Box 37">
                <a:extLst>
                  <a:ext uri="{FF2B5EF4-FFF2-40B4-BE49-F238E27FC236}">
                    <a16:creationId xmlns:a16="http://schemas.microsoft.com/office/drawing/2014/main" id="{FFBEF682-D02C-034A-AC9B-70DE0638A793}"/>
                  </a:ext>
                </a:extLst>
              </p:cNvPr>
              <p:cNvSpPr txBox="1">
                <a:spLocks noChangeArrowheads="1"/>
              </p:cNvSpPr>
              <p:nvPr/>
            </p:nvSpPr>
            <p:spPr bwMode="auto">
              <a:xfrm>
                <a:off x="414318" y="5453066"/>
                <a:ext cx="838200" cy="46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N-1</a:t>
                </a:r>
              </a:p>
            </p:txBody>
          </p:sp>
          <p:sp>
            <p:nvSpPr>
              <p:cNvPr id="111" name="Text Box 46">
                <a:extLst>
                  <a:ext uri="{FF2B5EF4-FFF2-40B4-BE49-F238E27FC236}">
                    <a16:creationId xmlns:a16="http://schemas.microsoft.com/office/drawing/2014/main" id="{17133409-AD68-EA43-A17B-97098865A133}"/>
                  </a:ext>
                </a:extLst>
              </p:cNvPr>
              <p:cNvSpPr txBox="1">
                <a:spLocks noChangeArrowheads="1"/>
              </p:cNvSpPr>
              <p:nvPr/>
            </p:nvSpPr>
            <p:spPr bwMode="auto">
              <a:xfrm>
                <a:off x="1524000" y="4233866"/>
                <a:ext cx="1524000" cy="46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C</a:t>
                </a:r>
              </a:p>
            </p:txBody>
          </p:sp>
          <p:sp>
            <p:nvSpPr>
              <p:cNvPr id="112" name="Text Box 47">
                <a:extLst>
                  <a:ext uri="{FF2B5EF4-FFF2-40B4-BE49-F238E27FC236}">
                    <a16:creationId xmlns:a16="http://schemas.microsoft.com/office/drawing/2014/main" id="{282E43EA-A210-BF41-99D0-7B79423C0A6B}"/>
                  </a:ext>
                </a:extLst>
              </p:cNvPr>
              <p:cNvSpPr txBox="1">
                <a:spLocks noChangeArrowheads="1"/>
              </p:cNvSpPr>
              <p:nvPr/>
            </p:nvSpPr>
            <p:spPr bwMode="auto">
              <a:xfrm>
                <a:off x="1600200" y="5300666"/>
                <a:ext cx="1600200" cy="46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sp>
        <p:nvSpPr>
          <p:cNvPr id="113" name="矩形 62">
            <a:extLst>
              <a:ext uri="{FF2B5EF4-FFF2-40B4-BE49-F238E27FC236}">
                <a16:creationId xmlns:a16="http://schemas.microsoft.com/office/drawing/2014/main" id="{1A61262E-34A2-3E4F-A96D-BA36888055ED}"/>
              </a:ext>
            </a:extLst>
          </p:cNvPr>
          <p:cNvSpPr>
            <a:spLocks noChangeArrowheads="1"/>
          </p:cNvSpPr>
          <p:nvPr/>
        </p:nvSpPr>
        <p:spPr bwMode="auto">
          <a:xfrm>
            <a:off x="5114283" y="3450432"/>
            <a:ext cx="1143000" cy="385763"/>
          </a:xfrm>
          <a:prstGeom prst="rect">
            <a:avLst/>
          </a:prstGeom>
          <a:solidFill>
            <a:srgbClr val="FFFF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ts val="1500"/>
              </a:lnSpc>
              <a:spcBef>
                <a:spcPct val="50000"/>
              </a:spcBef>
            </a:pPr>
            <a:r>
              <a:rPr lang="en-US" altLang="zh-CN" sz="2400">
                <a:solidFill>
                  <a:srgbClr val="0000FF"/>
                </a:solidFill>
              </a:rPr>
              <a:t>L+M-1</a:t>
            </a:r>
          </a:p>
        </p:txBody>
      </p:sp>
      <p:sp>
        <p:nvSpPr>
          <p:cNvPr id="114" name="矩形 63">
            <a:extLst>
              <a:ext uri="{FF2B5EF4-FFF2-40B4-BE49-F238E27FC236}">
                <a16:creationId xmlns:a16="http://schemas.microsoft.com/office/drawing/2014/main" id="{A9A9DF90-986A-C74F-A264-1A1AD2B14568}"/>
              </a:ext>
            </a:extLst>
          </p:cNvPr>
          <p:cNvSpPr>
            <a:spLocks noChangeArrowheads="1"/>
          </p:cNvSpPr>
          <p:nvPr/>
        </p:nvSpPr>
        <p:spPr bwMode="auto">
          <a:xfrm>
            <a:off x="4793609" y="5022057"/>
            <a:ext cx="1500187" cy="428625"/>
          </a:xfrm>
          <a:prstGeom prst="rect">
            <a:avLst/>
          </a:prstGeom>
          <a:solidFill>
            <a:srgbClr val="FFFF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L+M+N-1</a:t>
            </a:r>
          </a:p>
        </p:txBody>
      </p:sp>
      <p:sp>
        <p:nvSpPr>
          <p:cNvPr id="115" name="矩形 64">
            <a:extLst>
              <a:ext uri="{FF2B5EF4-FFF2-40B4-BE49-F238E27FC236}">
                <a16:creationId xmlns:a16="http://schemas.microsoft.com/office/drawing/2014/main" id="{CF1A656A-F3D0-CB49-A94D-3C47F6FFE6A9}"/>
              </a:ext>
            </a:extLst>
          </p:cNvPr>
          <p:cNvSpPr>
            <a:spLocks noChangeArrowheads="1"/>
          </p:cNvSpPr>
          <p:nvPr/>
        </p:nvSpPr>
        <p:spPr bwMode="auto">
          <a:xfrm>
            <a:off x="4936484" y="3236120"/>
            <a:ext cx="1000125" cy="814387"/>
          </a:xfrm>
          <a:prstGeom prst="rect">
            <a:avLst/>
          </a:prstGeom>
          <a:solidFill>
            <a:srgbClr val="FFFFFF"/>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ts val="1500"/>
              </a:lnSpc>
              <a:spcBef>
                <a:spcPct val="50000"/>
              </a:spcBef>
            </a:pPr>
            <a:r>
              <a:rPr lang="en-US" altLang="zh-CN" sz="2400">
                <a:solidFill>
                  <a:srgbClr val="0000FF"/>
                </a:solidFill>
              </a:rPr>
              <a:t>L+M-1</a:t>
            </a:r>
          </a:p>
          <a:p>
            <a:pPr>
              <a:lnSpc>
                <a:spcPts val="1500"/>
              </a:lnSpc>
              <a:spcBef>
                <a:spcPct val="50000"/>
              </a:spcBef>
            </a:pPr>
            <a:r>
              <a:rPr lang="en-US" altLang="zh-CN" sz="2400">
                <a:solidFill>
                  <a:srgbClr val="0000FF"/>
                </a:solidFill>
              </a:rPr>
              <a:t>L+M</a:t>
            </a:r>
          </a:p>
        </p:txBody>
      </p:sp>
      <p:grpSp>
        <p:nvGrpSpPr>
          <p:cNvPr id="116" name="组合 80">
            <a:extLst>
              <a:ext uri="{FF2B5EF4-FFF2-40B4-BE49-F238E27FC236}">
                <a16:creationId xmlns:a16="http://schemas.microsoft.com/office/drawing/2014/main" id="{5C7E2E42-2B37-5B44-A0A0-884837522C30}"/>
              </a:ext>
            </a:extLst>
          </p:cNvPr>
          <p:cNvGrpSpPr>
            <a:grpSpLocks/>
          </p:cNvGrpSpPr>
          <p:nvPr/>
        </p:nvGrpSpPr>
        <p:grpSpPr bwMode="auto">
          <a:xfrm>
            <a:off x="7798745" y="2878931"/>
            <a:ext cx="1066800" cy="1143000"/>
            <a:chOff x="7467600" y="4929206"/>
            <a:chExt cx="1066800" cy="1143000"/>
          </a:xfrm>
        </p:grpSpPr>
        <p:sp>
          <p:nvSpPr>
            <p:cNvPr id="117" name="Line 69">
              <a:extLst>
                <a:ext uri="{FF2B5EF4-FFF2-40B4-BE49-F238E27FC236}">
                  <a16:creationId xmlns:a16="http://schemas.microsoft.com/office/drawing/2014/main" id="{EFC948B5-2925-1B4D-82D0-09D506A7AE3A}"/>
                </a:ext>
              </a:extLst>
            </p:cNvPr>
            <p:cNvSpPr>
              <a:spLocks noChangeShapeType="1"/>
            </p:cNvSpPr>
            <p:nvPr/>
          </p:nvSpPr>
          <p:spPr bwMode="auto">
            <a:xfrm>
              <a:off x="8534400" y="4929206"/>
              <a:ext cx="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8" name="Line 68">
              <a:extLst>
                <a:ext uri="{FF2B5EF4-FFF2-40B4-BE49-F238E27FC236}">
                  <a16:creationId xmlns:a16="http://schemas.microsoft.com/office/drawing/2014/main" id="{3C841C35-6546-6D44-BBFF-41F7E223EF16}"/>
                </a:ext>
              </a:extLst>
            </p:cNvPr>
            <p:cNvSpPr>
              <a:spLocks noChangeShapeType="1"/>
            </p:cNvSpPr>
            <p:nvPr/>
          </p:nvSpPr>
          <p:spPr bwMode="auto">
            <a:xfrm>
              <a:off x="7924800" y="4929206"/>
              <a:ext cx="609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9" name="Line 70">
              <a:extLst>
                <a:ext uri="{FF2B5EF4-FFF2-40B4-BE49-F238E27FC236}">
                  <a16:creationId xmlns:a16="http://schemas.microsoft.com/office/drawing/2014/main" id="{FE13DC94-5CF0-154D-B81B-35057CD04C81}"/>
                </a:ext>
              </a:extLst>
            </p:cNvPr>
            <p:cNvSpPr>
              <a:spLocks noChangeShapeType="1"/>
            </p:cNvSpPr>
            <p:nvPr/>
          </p:nvSpPr>
          <p:spPr bwMode="auto">
            <a:xfrm flipH="1">
              <a:off x="7467600" y="6072206"/>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120" name="矩形 69">
            <a:extLst>
              <a:ext uri="{FF2B5EF4-FFF2-40B4-BE49-F238E27FC236}">
                <a16:creationId xmlns:a16="http://schemas.microsoft.com/office/drawing/2014/main" id="{DBB34ACD-E4A1-644D-9EAE-D2EC5097EAD8}"/>
              </a:ext>
            </a:extLst>
          </p:cNvPr>
          <p:cNvSpPr>
            <a:spLocks noChangeArrowheads="1"/>
          </p:cNvSpPr>
          <p:nvPr/>
        </p:nvSpPr>
        <p:spPr bwMode="auto">
          <a:xfrm>
            <a:off x="6436670" y="2736057"/>
            <a:ext cx="1785938" cy="428625"/>
          </a:xfrm>
          <a:prstGeom prst="rect">
            <a:avLst/>
          </a:prstGeom>
          <a:solidFill>
            <a:srgbClr val="53FFA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JSR “L+M”</a:t>
            </a:r>
          </a:p>
        </p:txBody>
      </p:sp>
      <p:sp>
        <p:nvSpPr>
          <p:cNvPr id="121" name="矩形 65">
            <a:extLst>
              <a:ext uri="{FF2B5EF4-FFF2-40B4-BE49-F238E27FC236}">
                <a16:creationId xmlns:a16="http://schemas.microsoft.com/office/drawing/2014/main" id="{B56DC782-A637-094B-A71B-D3EB7FFD4AA9}"/>
              </a:ext>
            </a:extLst>
          </p:cNvPr>
          <p:cNvSpPr>
            <a:spLocks noChangeArrowheads="1"/>
          </p:cNvSpPr>
          <p:nvPr/>
        </p:nvSpPr>
        <p:spPr bwMode="auto">
          <a:xfrm>
            <a:off x="475608" y="456407"/>
            <a:ext cx="3598862" cy="6119813"/>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22" name="内容占位符 2">
            <a:extLst>
              <a:ext uri="{FF2B5EF4-FFF2-40B4-BE49-F238E27FC236}">
                <a16:creationId xmlns:a16="http://schemas.microsoft.com/office/drawing/2014/main" id="{DFCDB5A1-7F15-2648-90CD-A7360C621ABD}"/>
              </a:ext>
            </a:extLst>
          </p:cNvPr>
          <p:cNvSpPr txBox="1">
            <a:spLocks/>
          </p:cNvSpPr>
          <p:nvPr/>
        </p:nvSpPr>
        <p:spPr>
          <a:xfrm>
            <a:off x="475608" y="478631"/>
            <a:ext cx="4248150" cy="5900738"/>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a:buClr>
                <a:srgbClr val="0000FF"/>
              </a:buClr>
              <a:buSzPct val="50000"/>
              <a:buFont typeface="Wingdings" pitchFamily="2" charset="2"/>
              <a:buChar char="n"/>
            </a:pPr>
            <a:r>
              <a:rPr lang="zh-CN" altLang="en-US" sz="2800" kern="0">
                <a:solidFill>
                  <a:srgbClr val="0000FF"/>
                </a:solidFill>
                <a:latin typeface="幼圆" pitchFamily="49" charset="-122"/>
                <a:ea typeface="幼圆" pitchFamily="49" charset="-122"/>
                <a:sym typeface="Wingdings" pitchFamily="2" charset="2"/>
              </a:rPr>
              <a:t>装入时动态链接</a:t>
            </a:r>
            <a:endParaRPr lang="en-US" altLang="zh-CN" sz="2800" kern="0">
              <a:solidFill>
                <a:srgbClr val="0000FF"/>
              </a:solidFill>
              <a:latin typeface="幼圆" pitchFamily="49" charset="-122"/>
              <a:ea typeface="幼圆" pitchFamily="49" charset="-122"/>
              <a:sym typeface="Wingdings" pitchFamily="2" charset="2"/>
            </a:endParaRPr>
          </a:p>
          <a:p>
            <a:pPr lvl="1">
              <a:buClr>
                <a:srgbClr val="0000FF"/>
              </a:buClr>
            </a:pPr>
            <a:r>
              <a:rPr lang="zh-CN" altLang="en-US" b="1" kern="0">
                <a:solidFill>
                  <a:srgbClr val="000000"/>
                </a:solidFill>
                <a:latin typeface="幼圆" pitchFamily="49" charset="-122"/>
                <a:ea typeface="幼圆" pitchFamily="49" charset="-122"/>
              </a:rPr>
              <a:t>用户源程序经编译后所得到的目标模块，是在装入内存时，</a:t>
            </a:r>
            <a:r>
              <a:rPr lang="zh-CN" altLang="en-US" b="1" kern="0">
                <a:solidFill>
                  <a:srgbClr val="D60093"/>
                </a:solidFill>
                <a:latin typeface="幼圆" pitchFamily="49" charset="-122"/>
                <a:ea typeface="幼圆" pitchFamily="49" charset="-122"/>
              </a:rPr>
              <a:t>边装入边链接</a:t>
            </a:r>
            <a:r>
              <a:rPr lang="zh-CN" altLang="en-US" b="1" kern="0">
                <a:solidFill>
                  <a:srgbClr val="000000"/>
                </a:solidFill>
                <a:latin typeface="幼圆" pitchFamily="49" charset="-122"/>
                <a:ea typeface="幼圆" pitchFamily="49" charset="-122"/>
              </a:rPr>
              <a:t>的。</a:t>
            </a:r>
            <a:endParaRPr lang="en-US" altLang="zh-CN" b="1" kern="0">
              <a:solidFill>
                <a:srgbClr val="0000FF"/>
              </a:solidFill>
              <a:latin typeface="Arial" panose="020B0604020202020204" pitchFamily="34" charset="0"/>
              <a:ea typeface="幼圆" pitchFamily="49" charset="-122"/>
            </a:endParaRPr>
          </a:p>
          <a:p>
            <a:pPr>
              <a:buClr>
                <a:srgbClr val="0000FF"/>
              </a:buClr>
            </a:pPr>
            <a:r>
              <a:rPr lang="zh-CN" altLang="en-US" sz="2800" kern="0">
                <a:solidFill>
                  <a:srgbClr val="0000FF"/>
                </a:solidFill>
                <a:latin typeface="Arial" panose="020B0604020202020204" pitchFamily="34" charset="0"/>
                <a:ea typeface="幼圆" pitchFamily="49" charset="-122"/>
              </a:rPr>
              <a:t>特点</a:t>
            </a:r>
            <a:endParaRPr lang="en-US" altLang="zh-CN" sz="2800" kern="0">
              <a:solidFill>
                <a:srgbClr val="0000FF"/>
              </a:solidFill>
              <a:latin typeface="Arial" panose="020B0604020202020204" pitchFamily="34" charset="0"/>
              <a:ea typeface="幼圆" pitchFamily="49" charset="-122"/>
            </a:endParaRPr>
          </a:p>
          <a:p>
            <a:pPr lvl="1">
              <a:buClr>
                <a:srgbClr val="0000FF"/>
              </a:buClr>
              <a:buFont typeface="Wingdings" pitchFamily="2" charset="2"/>
              <a:buChar char="l"/>
            </a:pPr>
            <a:r>
              <a:rPr lang="zh-CN" altLang="en-US" b="1" kern="0">
                <a:solidFill>
                  <a:srgbClr val="000000"/>
                </a:solidFill>
                <a:latin typeface="幼圆" pitchFamily="49" charset="-122"/>
                <a:ea typeface="幼圆" pitchFamily="49" charset="-122"/>
              </a:rPr>
              <a:t>便于软件版本的修改和更新</a:t>
            </a:r>
            <a:endParaRPr lang="en-US" altLang="zh-CN" b="1" kern="0">
              <a:solidFill>
                <a:srgbClr val="000000"/>
              </a:solidFill>
              <a:latin typeface="幼圆" pitchFamily="49" charset="-122"/>
              <a:ea typeface="幼圆" pitchFamily="49" charset="-122"/>
            </a:endParaRPr>
          </a:p>
          <a:p>
            <a:pPr lvl="1">
              <a:buClr>
                <a:srgbClr val="0000FF"/>
              </a:buClr>
              <a:buFont typeface="Wingdings" pitchFamily="2" charset="2"/>
              <a:buChar char="l"/>
            </a:pPr>
            <a:r>
              <a:rPr lang="zh-CN" altLang="en-US" b="1" kern="0">
                <a:solidFill>
                  <a:srgbClr val="000000"/>
                </a:solidFill>
                <a:latin typeface="幼圆" pitchFamily="49" charset="-122"/>
                <a:ea typeface="幼圆" pitchFamily="49" charset="-122"/>
              </a:rPr>
              <a:t>便于实现目标模块的共享</a:t>
            </a:r>
            <a:endParaRPr lang="en-US" altLang="zh-CN" b="1" kern="0">
              <a:solidFill>
                <a:srgbClr val="000000"/>
              </a:solidFill>
              <a:latin typeface="幼圆" pitchFamily="49" charset="-122"/>
              <a:ea typeface="幼圆" pitchFamily="49" charset="-122"/>
            </a:endParaRPr>
          </a:p>
          <a:p>
            <a:pPr lvl="1">
              <a:buClr>
                <a:srgbClr val="0000FF"/>
              </a:buClr>
              <a:buFont typeface="Wingdings" pitchFamily="2" charset="2"/>
              <a:buChar char="l"/>
            </a:pPr>
            <a:r>
              <a:rPr lang="zh-CN" altLang="en-US" b="1" kern="0">
                <a:solidFill>
                  <a:srgbClr val="000000"/>
                </a:solidFill>
                <a:latin typeface="幼圆" pitchFamily="49" charset="-122"/>
                <a:ea typeface="幼圆" pitchFamily="49" charset="-122"/>
                <a:sym typeface="Wingdings" pitchFamily="2" charset="2"/>
              </a:rPr>
              <a:t>可能装入不需要运行的模块，浪费存储空间</a:t>
            </a:r>
            <a:endParaRPr lang="en-US" altLang="zh-CN" b="1" kern="0">
              <a:solidFill>
                <a:srgbClr val="000000"/>
              </a:solidFill>
              <a:latin typeface="幼圆" pitchFamily="49" charset="-122"/>
              <a:ea typeface="幼圆" pitchFamily="49" charset="-122"/>
              <a:sym typeface="Wingdings" pitchFamily="2" charset="2"/>
            </a:endParaRPr>
          </a:p>
        </p:txBody>
      </p:sp>
    </p:spTree>
    <p:extLst>
      <p:ext uri="{BB962C8B-B14F-4D97-AF65-F5344CB8AC3E}">
        <p14:creationId xmlns:p14="http://schemas.microsoft.com/office/powerpoint/2010/main" val="508625682"/>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blinds(horizontal)">
                                      <p:cBhvr>
                                        <p:cTn id="7" dur="500"/>
                                        <p:tgtEl>
                                          <p:spTgt spid="93"/>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nodeType="clickEffect">
                                  <p:stCondLst>
                                    <p:cond delay="0"/>
                                  </p:stCondLst>
                                  <p:childTnLst>
                                    <p:set>
                                      <p:cBhvr>
                                        <p:cTn id="11" dur="1" fill="hold">
                                          <p:stCondLst>
                                            <p:cond delay="0"/>
                                          </p:stCondLst>
                                        </p:cTn>
                                        <p:tgtEl>
                                          <p:spTgt spid="86"/>
                                        </p:tgtEl>
                                        <p:attrNameLst>
                                          <p:attrName>style.visibility</p:attrName>
                                        </p:attrNameLst>
                                      </p:cBhvr>
                                      <p:to>
                                        <p:strVal val="visible"/>
                                      </p:to>
                                    </p:set>
                                    <p:animEffect transition="in" filter="checkerboard(across)">
                                      <p:cBhvr>
                                        <p:cTn id="12" dur="2000"/>
                                        <p:tgtEl>
                                          <p:spTgt spid="86"/>
                                        </p:tgtEl>
                                      </p:cBhvr>
                                    </p:animEffect>
                                  </p:childTnLst>
                                </p:cTn>
                              </p:par>
                            </p:childTnLst>
                          </p:cTn>
                        </p:par>
                      </p:childTnLst>
                    </p:cTn>
                  </p:par>
                  <p:par>
                    <p:cTn id="13" fill="hold">
                      <p:stCondLst>
                        <p:cond delay="indefinite"/>
                      </p:stCondLst>
                      <p:childTnLst>
                        <p:par>
                          <p:cTn id="14" fill="hold">
                            <p:stCondLst>
                              <p:cond delay="0"/>
                            </p:stCondLst>
                            <p:childTnLst>
                              <p:par>
                                <p:cTn id="15" presetID="64" presetClass="path" presetSubtype="0" accel="50000" decel="50000" fill="hold" nodeType="clickEffect">
                                  <p:stCondLst>
                                    <p:cond delay="0"/>
                                  </p:stCondLst>
                                  <p:childTnLst>
                                    <p:animMotion origin="layout" path="M 2.77778E-7 -4.44444E-6 L 0.0026 -0.12245 " pathEditMode="relative" rAng="0" ptsTypes="AA">
                                      <p:cBhvr>
                                        <p:cTn id="16" dur="3000" fill="hold"/>
                                        <p:tgtEl>
                                          <p:spTgt spid="86"/>
                                        </p:tgtEl>
                                        <p:attrNameLst>
                                          <p:attrName>ppt_x</p:attrName>
                                          <p:attrName>ppt_y</p:attrName>
                                        </p:attrNameLst>
                                      </p:cBhvr>
                                      <p:rCtr x="122" y="-6134"/>
                                    </p:animMotion>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100"/>
                                        </p:tgtEl>
                                        <p:attrNameLst>
                                          <p:attrName>style.visibility</p:attrName>
                                        </p:attrNameLst>
                                      </p:cBhvr>
                                      <p:to>
                                        <p:strVal val="visible"/>
                                      </p:to>
                                    </p:set>
                                    <p:animEffect transition="in" filter="dissolve">
                                      <p:cBhvr>
                                        <p:cTn id="21" dur="500"/>
                                        <p:tgtEl>
                                          <p:spTgt spid="100"/>
                                        </p:tgtEl>
                                      </p:cBhvr>
                                    </p:animEffect>
                                  </p:childTnLst>
                                </p:cTn>
                              </p:par>
                            </p:childTnLst>
                          </p:cTn>
                        </p:par>
                        <p:par>
                          <p:cTn id="22" fill="hold">
                            <p:stCondLst>
                              <p:cond delay="500"/>
                            </p:stCondLst>
                            <p:childTnLst>
                              <p:par>
                                <p:cTn id="23" presetID="9" presetClass="entr" presetSubtype="0" fill="hold" grpId="0" nodeType="after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dissolve">
                                      <p:cBhvr>
                                        <p:cTn id="25" dur="500"/>
                                        <p:tgtEl>
                                          <p:spTgt spid="113"/>
                                        </p:tgtEl>
                                      </p:cBhvr>
                                    </p:animEffect>
                                  </p:childTnLst>
                                </p:cTn>
                              </p:par>
                            </p:childTnLst>
                          </p:cTn>
                        </p:par>
                        <p:par>
                          <p:cTn id="26" fill="hold">
                            <p:stCondLst>
                              <p:cond delay="1000"/>
                            </p:stCondLst>
                            <p:childTnLst>
                              <p:par>
                                <p:cTn id="27" presetID="9" presetClass="entr" presetSubtype="0" fill="hold" grpId="0" nodeType="afterEffect">
                                  <p:stCondLst>
                                    <p:cond delay="0"/>
                                  </p:stCondLst>
                                  <p:childTnLst>
                                    <p:set>
                                      <p:cBhvr>
                                        <p:cTn id="28" dur="1" fill="hold">
                                          <p:stCondLst>
                                            <p:cond delay="0"/>
                                          </p:stCondLst>
                                        </p:cTn>
                                        <p:tgtEl>
                                          <p:spTgt spid="101"/>
                                        </p:tgtEl>
                                        <p:attrNameLst>
                                          <p:attrName>style.visibility</p:attrName>
                                        </p:attrNameLst>
                                      </p:cBhvr>
                                      <p:to>
                                        <p:strVal val="visible"/>
                                      </p:to>
                                    </p:set>
                                    <p:animEffect transition="in" filter="dissolve">
                                      <p:cBhvr>
                                        <p:cTn id="29" dur="500"/>
                                        <p:tgtEl>
                                          <p:spTgt spid="101"/>
                                        </p:tgtEl>
                                      </p:cBhvr>
                                    </p:animEffect>
                                  </p:childTnLst>
                                </p:cTn>
                              </p:par>
                            </p:childTnLst>
                          </p:cTn>
                        </p:par>
                        <p:par>
                          <p:cTn id="30" fill="hold">
                            <p:stCondLst>
                              <p:cond delay="1500"/>
                            </p:stCondLst>
                            <p:childTnLst>
                              <p:par>
                                <p:cTn id="31" presetID="9" presetClass="entr" presetSubtype="0" fill="hold" nodeType="afterEffect">
                                  <p:stCondLst>
                                    <p:cond delay="0"/>
                                  </p:stCondLst>
                                  <p:childTnLst>
                                    <p:set>
                                      <p:cBhvr>
                                        <p:cTn id="32" dur="1" fill="hold">
                                          <p:stCondLst>
                                            <p:cond delay="0"/>
                                          </p:stCondLst>
                                        </p:cTn>
                                        <p:tgtEl>
                                          <p:spTgt spid="102"/>
                                        </p:tgtEl>
                                        <p:attrNameLst>
                                          <p:attrName>style.visibility</p:attrName>
                                        </p:attrNameLst>
                                      </p:cBhvr>
                                      <p:to>
                                        <p:strVal val="visible"/>
                                      </p:to>
                                    </p:set>
                                    <p:animEffect transition="in" filter="dissolve">
                                      <p:cBhvr>
                                        <p:cTn id="33" dur="500"/>
                                        <p:tgtEl>
                                          <p:spTgt spid="102"/>
                                        </p:tgtEl>
                                      </p:cBhvr>
                                    </p:animEffect>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nodeType="clickEffect">
                                  <p:stCondLst>
                                    <p:cond delay="0"/>
                                  </p:stCondLst>
                                  <p:childTnLst>
                                    <p:set>
                                      <p:cBhvr>
                                        <p:cTn id="37" dur="1" fill="hold">
                                          <p:stCondLst>
                                            <p:cond delay="0"/>
                                          </p:stCondLst>
                                        </p:cTn>
                                        <p:tgtEl>
                                          <p:spTgt spid="106"/>
                                        </p:tgtEl>
                                        <p:attrNameLst>
                                          <p:attrName>style.visibility</p:attrName>
                                        </p:attrNameLst>
                                      </p:cBhvr>
                                      <p:to>
                                        <p:strVal val="visible"/>
                                      </p:to>
                                    </p:set>
                                    <p:anim calcmode="lin" valueType="num">
                                      <p:cBhvr additive="base">
                                        <p:cTn id="38" dur="500" fill="hold"/>
                                        <p:tgtEl>
                                          <p:spTgt spid="106"/>
                                        </p:tgtEl>
                                        <p:attrNameLst>
                                          <p:attrName>ppt_x</p:attrName>
                                        </p:attrNameLst>
                                      </p:cBhvr>
                                      <p:tavLst>
                                        <p:tav tm="0">
                                          <p:val>
                                            <p:strVal val="#ppt_x"/>
                                          </p:val>
                                        </p:tav>
                                        <p:tav tm="100000">
                                          <p:val>
                                            <p:strVal val="#ppt_x"/>
                                          </p:val>
                                        </p:tav>
                                      </p:tavLst>
                                    </p:anim>
                                    <p:anim calcmode="lin" valueType="num">
                                      <p:cBhvr additive="base">
                                        <p:cTn id="39" dur="500" fill="hold"/>
                                        <p:tgtEl>
                                          <p:spTgt spid="106"/>
                                        </p:tgtEl>
                                        <p:attrNameLst>
                                          <p:attrName>ppt_y</p:attrName>
                                        </p:attrNameLst>
                                      </p:cBhvr>
                                      <p:tavLst>
                                        <p:tav tm="0">
                                          <p:val>
                                            <p:strVal val="1+#ppt_h/2"/>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64" presetClass="path" presetSubtype="0" accel="50000" decel="50000" fill="hold" nodeType="clickEffect">
                                  <p:stCondLst>
                                    <p:cond delay="0"/>
                                  </p:stCondLst>
                                  <p:childTnLst>
                                    <p:animMotion origin="layout" path="M 5E-6 3.7037E-6 L -0.00174 -0.15649 " pathEditMode="relative" rAng="0" ptsTypes="AA">
                                      <p:cBhvr>
                                        <p:cTn id="43" dur="3000" fill="hold"/>
                                        <p:tgtEl>
                                          <p:spTgt spid="106"/>
                                        </p:tgtEl>
                                        <p:attrNameLst>
                                          <p:attrName>ppt_x</p:attrName>
                                          <p:attrName>ppt_y</p:attrName>
                                        </p:attrNameLst>
                                      </p:cBhvr>
                                      <p:rCtr x="-87" y="-7824"/>
                                    </p:animMotion>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115"/>
                                        </p:tgtEl>
                                        <p:attrNameLst>
                                          <p:attrName>style.visibility</p:attrName>
                                        </p:attrNameLst>
                                      </p:cBhvr>
                                      <p:to>
                                        <p:strVal val="visible"/>
                                      </p:to>
                                    </p:set>
                                    <p:animEffect transition="in" filter="dissolve">
                                      <p:cBhvr>
                                        <p:cTn id="48" dur="500"/>
                                        <p:tgtEl>
                                          <p:spTgt spid="115"/>
                                        </p:tgtEl>
                                      </p:cBhvr>
                                    </p:animEffect>
                                  </p:childTnLst>
                                </p:cTn>
                              </p:par>
                            </p:childTnLst>
                          </p:cTn>
                        </p:par>
                        <p:par>
                          <p:cTn id="49" fill="hold">
                            <p:stCondLst>
                              <p:cond delay="500"/>
                            </p:stCondLst>
                            <p:childTnLst>
                              <p:par>
                                <p:cTn id="50" presetID="9" presetClass="entr" presetSubtype="0" fill="hold" grpId="0" nodeType="afterEffect">
                                  <p:stCondLst>
                                    <p:cond delay="0"/>
                                  </p:stCondLst>
                                  <p:childTnLst>
                                    <p:set>
                                      <p:cBhvr>
                                        <p:cTn id="51" dur="1" fill="hold">
                                          <p:stCondLst>
                                            <p:cond delay="0"/>
                                          </p:stCondLst>
                                        </p:cTn>
                                        <p:tgtEl>
                                          <p:spTgt spid="114"/>
                                        </p:tgtEl>
                                        <p:attrNameLst>
                                          <p:attrName>style.visibility</p:attrName>
                                        </p:attrNameLst>
                                      </p:cBhvr>
                                      <p:to>
                                        <p:strVal val="visible"/>
                                      </p:to>
                                    </p:set>
                                    <p:animEffect transition="in" filter="dissolve">
                                      <p:cBhvr>
                                        <p:cTn id="52" dur="500"/>
                                        <p:tgtEl>
                                          <p:spTgt spid="114"/>
                                        </p:tgtEl>
                                      </p:cBhvr>
                                    </p:animEffect>
                                  </p:childTnLst>
                                </p:cTn>
                              </p:par>
                            </p:childTnLst>
                          </p:cTn>
                        </p:par>
                        <p:par>
                          <p:cTn id="53" fill="hold">
                            <p:stCondLst>
                              <p:cond delay="1000"/>
                            </p:stCondLst>
                            <p:childTnLst>
                              <p:par>
                                <p:cTn id="54" presetID="9" presetClass="entr" presetSubtype="0" fill="hold" grpId="0" nodeType="afterEffect">
                                  <p:stCondLst>
                                    <p:cond delay="0"/>
                                  </p:stCondLst>
                                  <p:childTnLst>
                                    <p:set>
                                      <p:cBhvr>
                                        <p:cTn id="55" dur="1" fill="hold">
                                          <p:stCondLst>
                                            <p:cond delay="0"/>
                                          </p:stCondLst>
                                        </p:cTn>
                                        <p:tgtEl>
                                          <p:spTgt spid="120"/>
                                        </p:tgtEl>
                                        <p:attrNameLst>
                                          <p:attrName>style.visibility</p:attrName>
                                        </p:attrNameLst>
                                      </p:cBhvr>
                                      <p:to>
                                        <p:strVal val="visible"/>
                                      </p:to>
                                    </p:set>
                                    <p:animEffect transition="in" filter="dissolve">
                                      <p:cBhvr>
                                        <p:cTn id="56" dur="500"/>
                                        <p:tgtEl>
                                          <p:spTgt spid="120"/>
                                        </p:tgtEl>
                                      </p:cBhvr>
                                    </p:animEffect>
                                  </p:childTnLst>
                                </p:cTn>
                              </p:par>
                            </p:childTnLst>
                          </p:cTn>
                        </p:par>
                        <p:par>
                          <p:cTn id="57" fill="hold">
                            <p:stCondLst>
                              <p:cond delay="1500"/>
                            </p:stCondLst>
                            <p:childTnLst>
                              <p:par>
                                <p:cTn id="58" presetID="9" presetClass="entr" presetSubtype="0" fill="hold" nodeType="afterEffect">
                                  <p:stCondLst>
                                    <p:cond delay="0"/>
                                  </p:stCondLst>
                                  <p:childTnLst>
                                    <p:set>
                                      <p:cBhvr>
                                        <p:cTn id="59" dur="1" fill="hold">
                                          <p:stCondLst>
                                            <p:cond delay="0"/>
                                          </p:stCondLst>
                                        </p:cTn>
                                        <p:tgtEl>
                                          <p:spTgt spid="116"/>
                                        </p:tgtEl>
                                        <p:attrNameLst>
                                          <p:attrName>style.visibility</p:attrName>
                                        </p:attrNameLst>
                                      </p:cBhvr>
                                      <p:to>
                                        <p:strVal val="visible"/>
                                      </p:to>
                                    </p:set>
                                    <p:animEffect transition="in" filter="dissolve">
                                      <p:cBhvr>
                                        <p:cTn id="60" dur="500"/>
                                        <p:tgtEl>
                                          <p:spTgt spid="116"/>
                                        </p:tgtEl>
                                      </p:cBhvr>
                                    </p:animEffect>
                                  </p:childTnLst>
                                </p:cTn>
                              </p:par>
                            </p:childTnLst>
                          </p:cTn>
                        </p:par>
                      </p:childTnLst>
                    </p:cTn>
                  </p:par>
                  <p:par>
                    <p:cTn id="61" fill="hold">
                      <p:stCondLst>
                        <p:cond delay="indefinite"/>
                      </p:stCondLst>
                      <p:childTnLst>
                        <p:par>
                          <p:cTn id="62" fill="hold">
                            <p:stCondLst>
                              <p:cond delay="0"/>
                            </p:stCondLst>
                            <p:childTnLst>
                              <p:par>
                                <p:cTn id="63" presetID="3" presetClass="entr" presetSubtype="10" fill="hold" grpId="0" nodeType="click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blinds(horizontal)">
                                      <p:cBhvr>
                                        <p:cTn id="65" dur="500"/>
                                        <p:tgtEl>
                                          <p:spTgt spid="121"/>
                                        </p:tgtEl>
                                      </p:cBhvr>
                                    </p:animEffect>
                                  </p:childTnLst>
                                </p:cTn>
                              </p:par>
                            </p:childTnLst>
                          </p:cTn>
                        </p:par>
                      </p:childTnLst>
                    </p:cTn>
                  </p:par>
                  <p:par>
                    <p:cTn id="66" fill="hold">
                      <p:stCondLst>
                        <p:cond delay="indefinite"/>
                      </p:stCondLst>
                      <p:childTnLst>
                        <p:par>
                          <p:cTn id="67" fill="hold">
                            <p:stCondLst>
                              <p:cond delay="0"/>
                            </p:stCondLst>
                            <p:childTnLst>
                              <p:par>
                                <p:cTn id="68" presetID="3" presetClass="entr" presetSubtype="10" fill="hold" grpId="0" nodeType="clickEffect">
                                  <p:stCondLst>
                                    <p:cond delay="0"/>
                                  </p:stCondLst>
                                  <p:childTnLst>
                                    <p:set>
                                      <p:cBhvr>
                                        <p:cTn id="69" dur="1" fill="hold">
                                          <p:stCondLst>
                                            <p:cond delay="0"/>
                                          </p:stCondLst>
                                        </p:cTn>
                                        <p:tgtEl>
                                          <p:spTgt spid="122">
                                            <p:txEl>
                                              <p:pRg st="0" end="0"/>
                                            </p:txEl>
                                          </p:spTgt>
                                        </p:tgtEl>
                                        <p:attrNameLst>
                                          <p:attrName>style.visibility</p:attrName>
                                        </p:attrNameLst>
                                      </p:cBhvr>
                                      <p:to>
                                        <p:strVal val="visible"/>
                                      </p:to>
                                    </p:set>
                                    <p:animEffect transition="in" filter="blinds(horizontal)">
                                      <p:cBhvr>
                                        <p:cTn id="70" dur="500"/>
                                        <p:tgtEl>
                                          <p:spTgt spid="122">
                                            <p:txEl>
                                              <p:pRg st="0" end="0"/>
                                            </p:txEl>
                                          </p:spTgt>
                                        </p:tgtEl>
                                      </p:cBhvr>
                                    </p:animEffect>
                                  </p:childTnLst>
                                </p:cTn>
                              </p:par>
                              <p:par>
                                <p:cTn id="71" presetID="3" presetClass="entr" presetSubtype="10" fill="hold" grpId="0" nodeType="withEffect">
                                  <p:stCondLst>
                                    <p:cond delay="0"/>
                                  </p:stCondLst>
                                  <p:childTnLst>
                                    <p:set>
                                      <p:cBhvr>
                                        <p:cTn id="72" dur="1" fill="hold">
                                          <p:stCondLst>
                                            <p:cond delay="0"/>
                                          </p:stCondLst>
                                        </p:cTn>
                                        <p:tgtEl>
                                          <p:spTgt spid="122">
                                            <p:txEl>
                                              <p:pRg st="1" end="1"/>
                                            </p:txEl>
                                          </p:spTgt>
                                        </p:tgtEl>
                                        <p:attrNameLst>
                                          <p:attrName>style.visibility</p:attrName>
                                        </p:attrNameLst>
                                      </p:cBhvr>
                                      <p:to>
                                        <p:strVal val="visible"/>
                                      </p:to>
                                    </p:set>
                                    <p:animEffect transition="in" filter="blinds(horizontal)">
                                      <p:cBhvr>
                                        <p:cTn id="73" dur="500"/>
                                        <p:tgtEl>
                                          <p:spTgt spid="122">
                                            <p:txEl>
                                              <p:pRg st="1" end="1"/>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3" presetClass="entr" presetSubtype="10" fill="hold" grpId="0" nodeType="clickEffect">
                                  <p:stCondLst>
                                    <p:cond delay="0"/>
                                  </p:stCondLst>
                                  <p:childTnLst>
                                    <p:set>
                                      <p:cBhvr>
                                        <p:cTn id="77" dur="1" fill="hold">
                                          <p:stCondLst>
                                            <p:cond delay="0"/>
                                          </p:stCondLst>
                                        </p:cTn>
                                        <p:tgtEl>
                                          <p:spTgt spid="122">
                                            <p:txEl>
                                              <p:pRg st="2" end="2"/>
                                            </p:txEl>
                                          </p:spTgt>
                                        </p:tgtEl>
                                        <p:attrNameLst>
                                          <p:attrName>style.visibility</p:attrName>
                                        </p:attrNameLst>
                                      </p:cBhvr>
                                      <p:to>
                                        <p:strVal val="visible"/>
                                      </p:to>
                                    </p:set>
                                    <p:animEffect transition="in" filter="blinds(horizontal)">
                                      <p:cBhvr>
                                        <p:cTn id="78" dur="500"/>
                                        <p:tgtEl>
                                          <p:spTgt spid="122">
                                            <p:txEl>
                                              <p:pRg st="2" end="2"/>
                                            </p:txEl>
                                          </p:spTgt>
                                        </p:tgtEl>
                                      </p:cBhvr>
                                    </p:animEffect>
                                  </p:childTnLst>
                                </p:cTn>
                              </p:par>
                              <p:par>
                                <p:cTn id="79" presetID="3" presetClass="entr" presetSubtype="10" fill="hold" grpId="0" nodeType="withEffect">
                                  <p:stCondLst>
                                    <p:cond delay="0"/>
                                  </p:stCondLst>
                                  <p:childTnLst>
                                    <p:set>
                                      <p:cBhvr>
                                        <p:cTn id="80" dur="1" fill="hold">
                                          <p:stCondLst>
                                            <p:cond delay="0"/>
                                          </p:stCondLst>
                                        </p:cTn>
                                        <p:tgtEl>
                                          <p:spTgt spid="122">
                                            <p:txEl>
                                              <p:pRg st="3" end="3"/>
                                            </p:txEl>
                                          </p:spTgt>
                                        </p:tgtEl>
                                        <p:attrNameLst>
                                          <p:attrName>style.visibility</p:attrName>
                                        </p:attrNameLst>
                                      </p:cBhvr>
                                      <p:to>
                                        <p:strVal val="visible"/>
                                      </p:to>
                                    </p:set>
                                    <p:animEffect transition="in" filter="blinds(horizontal)">
                                      <p:cBhvr>
                                        <p:cTn id="81" dur="500"/>
                                        <p:tgtEl>
                                          <p:spTgt spid="122">
                                            <p:txEl>
                                              <p:pRg st="3" end="3"/>
                                            </p:txEl>
                                          </p:spTgt>
                                        </p:tgtEl>
                                      </p:cBhvr>
                                    </p:animEffect>
                                  </p:childTnLst>
                                </p:cTn>
                              </p:par>
                              <p:par>
                                <p:cTn id="82" presetID="3" presetClass="entr" presetSubtype="10" fill="hold" grpId="0" nodeType="withEffect">
                                  <p:stCondLst>
                                    <p:cond delay="0"/>
                                  </p:stCondLst>
                                  <p:childTnLst>
                                    <p:set>
                                      <p:cBhvr>
                                        <p:cTn id="83" dur="1" fill="hold">
                                          <p:stCondLst>
                                            <p:cond delay="0"/>
                                          </p:stCondLst>
                                        </p:cTn>
                                        <p:tgtEl>
                                          <p:spTgt spid="122">
                                            <p:txEl>
                                              <p:pRg st="4" end="4"/>
                                            </p:txEl>
                                          </p:spTgt>
                                        </p:tgtEl>
                                        <p:attrNameLst>
                                          <p:attrName>style.visibility</p:attrName>
                                        </p:attrNameLst>
                                      </p:cBhvr>
                                      <p:to>
                                        <p:strVal val="visible"/>
                                      </p:to>
                                    </p:set>
                                    <p:animEffect transition="in" filter="blinds(horizontal)">
                                      <p:cBhvr>
                                        <p:cTn id="84" dur="500"/>
                                        <p:tgtEl>
                                          <p:spTgt spid="122">
                                            <p:txEl>
                                              <p:pRg st="4" end="4"/>
                                            </p:txEl>
                                          </p:spTgt>
                                        </p:tgtEl>
                                      </p:cBhvr>
                                    </p:animEffect>
                                  </p:childTnLst>
                                </p:cTn>
                              </p:par>
                              <p:par>
                                <p:cTn id="85" presetID="3" presetClass="entr" presetSubtype="10" fill="hold" grpId="0" nodeType="withEffect">
                                  <p:stCondLst>
                                    <p:cond delay="0"/>
                                  </p:stCondLst>
                                  <p:childTnLst>
                                    <p:set>
                                      <p:cBhvr>
                                        <p:cTn id="86" dur="1" fill="hold">
                                          <p:stCondLst>
                                            <p:cond delay="0"/>
                                          </p:stCondLst>
                                        </p:cTn>
                                        <p:tgtEl>
                                          <p:spTgt spid="122">
                                            <p:txEl>
                                              <p:pRg st="5" end="5"/>
                                            </p:txEl>
                                          </p:spTgt>
                                        </p:tgtEl>
                                        <p:attrNameLst>
                                          <p:attrName>style.visibility</p:attrName>
                                        </p:attrNameLst>
                                      </p:cBhvr>
                                      <p:to>
                                        <p:strVal val="visible"/>
                                      </p:to>
                                    </p:set>
                                    <p:animEffect transition="in" filter="blinds(horizontal)">
                                      <p:cBhvr>
                                        <p:cTn id="87" dur="500"/>
                                        <p:tgtEl>
                                          <p:spTgt spid="12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0" animBg="1"/>
      <p:bldP spid="113" grpId="0" animBg="1"/>
      <p:bldP spid="114" grpId="0" animBg="1"/>
      <p:bldP spid="115" grpId="0" animBg="1"/>
      <p:bldP spid="120" grpId="0" animBg="1"/>
      <p:bldP spid="121" grpId="0" animBg="1"/>
      <p:bldP spid="122"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54">
            <a:extLst>
              <a:ext uri="{FF2B5EF4-FFF2-40B4-BE49-F238E27FC236}">
                <a16:creationId xmlns:a16="http://schemas.microsoft.com/office/drawing/2014/main" id="{50DE83C1-A2E6-A149-8F47-62330EAC39DF}"/>
              </a:ext>
            </a:extLst>
          </p:cNvPr>
          <p:cNvGrpSpPr>
            <a:grpSpLocks/>
          </p:cNvGrpSpPr>
          <p:nvPr/>
        </p:nvGrpSpPr>
        <p:grpSpPr bwMode="auto">
          <a:xfrm>
            <a:off x="355848" y="387773"/>
            <a:ext cx="2971800" cy="1985963"/>
            <a:chOff x="457200" y="76200"/>
            <a:chExt cx="2971800" cy="1985665"/>
          </a:xfrm>
        </p:grpSpPr>
        <p:sp>
          <p:nvSpPr>
            <p:cNvPr id="3" name="Rectangle 2">
              <a:extLst>
                <a:ext uri="{FF2B5EF4-FFF2-40B4-BE49-F238E27FC236}">
                  <a16:creationId xmlns:a16="http://schemas.microsoft.com/office/drawing/2014/main" id="{5353373B-5AED-B94A-A523-550ABECF4B42}"/>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 name="Text Box 32">
              <a:extLst>
                <a:ext uri="{FF2B5EF4-FFF2-40B4-BE49-F238E27FC236}">
                  <a16:creationId xmlns:a16="http://schemas.microsoft.com/office/drawing/2014/main" id="{09B01D68-CC01-5E43-A993-3E9D00F42C6A}"/>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5" name="Text Box 33">
              <a:extLst>
                <a:ext uri="{FF2B5EF4-FFF2-40B4-BE49-F238E27FC236}">
                  <a16:creationId xmlns:a16="http://schemas.microsoft.com/office/drawing/2014/main" id="{8B670DFD-1BBA-294A-AC30-BD8EB3872DF6}"/>
                </a:ext>
              </a:extLst>
            </p:cNvPr>
            <p:cNvSpPr txBox="1">
              <a:spLocks noChangeArrowheads="1"/>
            </p:cNvSpPr>
            <p:nvPr/>
          </p:nvSpPr>
          <p:spPr bwMode="auto">
            <a:xfrm>
              <a:off x="457200" y="1600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6" name="Text Box 38">
              <a:extLst>
                <a:ext uri="{FF2B5EF4-FFF2-40B4-BE49-F238E27FC236}">
                  <a16:creationId xmlns:a16="http://schemas.microsoft.com/office/drawing/2014/main" id="{825FEA39-1225-2046-86CF-49010DAE2574}"/>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7" name="Text Box 39">
              <a:extLst>
                <a:ext uri="{FF2B5EF4-FFF2-40B4-BE49-F238E27FC236}">
                  <a16:creationId xmlns:a16="http://schemas.microsoft.com/office/drawing/2014/main" id="{8B868618-35D4-854D-A8A1-3501EAE5BC40}"/>
                </a:ext>
              </a:extLst>
            </p:cNvPr>
            <p:cNvSpPr txBox="1">
              <a:spLocks noChangeArrowheads="1"/>
            </p:cNvSpPr>
            <p:nvPr/>
          </p:nvSpPr>
          <p:spPr bwMode="auto">
            <a:xfrm>
              <a:off x="129540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8" name="Text Box 40">
              <a:extLst>
                <a:ext uri="{FF2B5EF4-FFF2-40B4-BE49-F238E27FC236}">
                  <a16:creationId xmlns:a16="http://schemas.microsoft.com/office/drawing/2014/main" id="{9CDD48AC-A53F-7E4B-AC26-E10C33B13C52}"/>
                </a:ext>
              </a:extLst>
            </p:cNvPr>
            <p:cNvSpPr txBox="1">
              <a:spLocks noChangeArrowheads="1"/>
            </p:cNvSpPr>
            <p:nvPr/>
          </p:nvSpPr>
          <p:spPr bwMode="auto">
            <a:xfrm>
              <a:off x="1371600" y="1447800"/>
              <a:ext cx="1981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sp>
        <p:nvSpPr>
          <p:cNvPr id="9" name="矩形 62">
            <a:extLst>
              <a:ext uri="{FF2B5EF4-FFF2-40B4-BE49-F238E27FC236}">
                <a16:creationId xmlns:a16="http://schemas.microsoft.com/office/drawing/2014/main" id="{48062495-D566-6B4B-9534-38CF1AE6005A}"/>
              </a:ext>
            </a:extLst>
          </p:cNvPr>
          <p:cNvSpPr>
            <a:spLocks noChangeArrowheads="1"/>
          </p:cNvSpPr>
          <p:nvPr/>
        </p:nvSpPr>
        <p:spPr bwMode="auto">
          <a:xfrm>
            <a:off x="6186737" y="776710"/>
            <a:ext cx="2143125" cy="4857750"/>
          </a:xfrm>
          <a:prstGeom prst="rect">
            <a:avLst/>
          </a:prstGeom>
          <a:solidFill>
            <a:srgbClr val="FFFFFF"/>
          </a:solidFill>
          <a:ln w="1905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nvGrpSpPr>
          <p:cNvPr id="10" name="组合 54">
            <a:extLst>
              <a:ext uri="{FF2B5EF4-FFF2-40B4-BE49-F238E27FC236}">
                <a16:creationId xmlns:a16="http://schemas.microsoft.com/office/drawing/2014/main" id="{9A1CBE9C-4D55-F140-AE9D-34E20CABBFFB}"/>
              </a:ext>
            </a:extLst>
          </p:cNvPr>
          <p:cNvGrpSpPr>
            <a:grpSpLocks/>
          </p:cNvGrpSpPr>
          <p:nvPr/>
        </p:nvGrpSpPr>
        <p:grpSpPr bwMode="auto">
          <a:xfrm>
            <a:off x="355848" y="395710"/>
            <a:ext cx="2971800" cy="1985962"/>
            <a:chOff x="457200" y="76200"/>
            <a:chExt cx="2971800" cy="1985665"/>
          </a:xfrm>
        </p:grpSpPr>
        <p:sp>
          <p:nvSpPr>
            <p:cNvPr id="11" name="Rectangle 2">
              <a:extLst>
                <a:ext uri="{FF2B5EF4-FFF2-40B4-BE49-F238E27FC236}">
                  <a16:creationId xmlns:a16="http://schemas.microsoft.com/office/drawing/2014/main" id="{D63D7E39-DC57-1443-B10B-F572B3A702A7}"/>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12" name="Text Box 32">
              <a:extLst>
                <a:ext uri="{FF2B5EF4-FFF2-40B4-BE49-F238E27FC236}">
                  <a16:creationId xmlns:a16="http://schemas.microsoft.com/office/drawing/2014/main" id="{E1DD4111-15AD-114B-AE85-F9AB67211966}"/>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13" name="Text Box 33">
              <a:extLst>
                <a:ext uri="{FF2B5EF4-FFF2-40B4-BE49-F238E27FC236}">
                  <a16:creationId xmlns:a16="http://schemas.microsoft.com/office/drawing/2014/main" id="{A8234F7C-5EA2-BF4D-9030-7C8ED81B83E7}"/>
                </a:ext>
              </a:extLst>
            </p:cNvPr>
            <p:cNvSpPr txBox="1">
              <a:spLocks noChangeArrowheads="1"/>
            </p:cNvSpPr>
            <p:nvPr/>
          </p:nvSpPr>
          <p:spPr bwMode="auto">
            <a:xfrm>
              <a:off x="457200" y="1600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14" name="Text Box 38">
              <a:extLst>
                <a:ext uri="{FF2B5EF4-FFF2-40B4-BE49-F238E27FC236}">
                  <a16:creationId xmlns:a16="http://schemas.microsoft.com/office/drawing/2014/main" id="{6CCD4BD0-4A5B-A649-9BE5-CFFB79122B77}"/>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15" name="Text Box 39">
              <a:extLst>
                <a:ext uri="{FF2B5EF4-FFF2-40B4-BE49-F238E27FC236}">
                  <a16:creationId xmlns:a16="http://schemas.microsoft.com/office/drawing/2014/main" id="{85488E3C-6166-5349-B553-C2370D070889}"/>
                </a:ext>
              </a:extLst>
            </p:cNvPr>
            <p:cNvSpPr txBox="1">
              <a:spLocks noChangeArrowheads="1"/>
            </p:cNvSpPr>
            <p:nvPr/>
          </p:nvSpPr>
          <p:spPr bwMode="auto">
            <a:xfrm>
              <a:off x="129540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16" name="Text Box 40">
              <a:extLst>
                <a:ext uri="{FF2B5EF4-FFF2-40B4-BE49-F238E27FC236}">
                  <a16:creationId xmlns:a16="http://schemas.microsoft.com/office/drawing/2014/main" id="{820B61F3-8DB7-5C43-B06C-26F065268784}"/>
                </a:ext>
              </a:extLst>
            </p:cNvPr>
            <p:cNvSpPr txBox="1">
              <a:spLocks noChangeArrowheads="1"/>
            </p:cNvSpPr>
            <p:nvPr/>
          </p:nvSpPr>
          <p:spPr bwMode="auto">
            <a:xfrm>
              <a:off x="1371600" y="1447800"/>
              <a:ext cx="1981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nvGrpSpPr>
          <p:cNvPr id="17" name="组合 55">
            <a:extLst>
              <a:ext uri="{FF2B5EF4-FFF2-40B4-BE49-F238E27FC236}">
                <a16:creationId xmlns:a16="http://schemas.microsoft.com/office/drawing/2014/main" id="{2DC751CA-9C99-3549-856D-E659B88B9EFF}"/>
              </a:ext>
            </a:extLst>
          </p:cNvPr>
          <p:cNvGrpSpPr>
            <a:grpSpLocks/>
          </p:cNvGrpSpPr>
          <p:nvPr/>
        </p:nvGrpSpPr>
        <p:grpSpPr bwMode="auto">
          <a:xfrm>
            <a:off x="355848" y="2348335"/>
            <a:ext cx="2971800" cy="1809750"/>
            <a:chOff x="457200" y="2081179"/>
            <a:chExt cx="2971800" cy="1809486"/>
          </a:xfrm>
        </p:grpSpPr>
        <p:sp>
          <p:nvSpPr>
            <p:cNvPr id="18" name="Rectangle 3">
              <a:extLst>
                <a:ext uri="{FF2B5EF4-FFF2-40B4-BE49-F238E27FC236}">
                  <a16:creationId xmlns:a16="http://schemas.microsoft.com/office/drawing/2014/main" id="{3A8A284A-FEB9-A948-9DD9-097B2610C4E1}"/>
                </a:ext>
              </a:extLst>
            </p:cNvPr>
            <p:cNvSpPr>
              <a:spLocks noChangeArrowheads="1"/>
            </p:cNvSpPr>
            <p:nvPr/>
          </p:nvSpPr>
          <p:spPr bwMode="auto">
            <a:xfrm>
              <a:off x="1143000" y="2209747"/>
              <a:ext cx="2057400" cy="1599967"/>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19" name="Text Box 34">
              <a:extLst>
                <a:ext uri="{FF2B5EF4-FFF2-40B4-BE49-F238E27FC236}">
                  <a16:creationId xmlns:a16="http://schemas.microsoft.com/office/drawing/2014/main" id="{F55F415B-F29A-A24D-99D3-3405E6635726}"/>
                </a:ext>
              </a:extLst>
            </p:cNvPr>
            <p:cNvSpPr txBox="1">
              <a:spLocks noChangeArrowheads="1"/>
            </p:cNvSpPr>
            <p:nvPr/>
          </p:nvSpPr>
          <p:spPr bwMode="auto">
            <a:xfrm>
              <a:off x="762000" y="2081179"/>
              <a:ext cx="533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20" name="Text Box 35">
              <a:extLst>
                <a:ext uri="{FF2B5EF4-FFF2-40B4-BE49-F238E27FC236}">
                  <a16:creationId xmlns:a16="http://schemas.microsoft.com/office/drawing/2014/main" id="{D862F472-9E56-C846-A89F-DC6B289139FD}"/>
                </a:ext>
              </a:extLst>
            </p:cNvPr>
            <p:cNvSpPr txBox="1">
              <a:spLocks noChangeArrowheads="1"/>
            </p:cNvSpPr>
            <p:nvPr/>
          </p:nvSpPr>
          <p:spPr bwMode="auto">
            <a:xfrm>
              <a:off x="457200" y="3429000"/>
              <a:ext cx="11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M-1</a:t>
              </a:r>
            </a:p>
          </p:txBody>
        </p:sp>
        <p:sp>
          <p:nvSpPr>
            <p:cNvPr id="21" name="Text Box 42">
              <a:extLst>
                <a:ext uri="{FF2B5EF4-FFF2-40B4-BE49-F238E27FC236}">
                  <a16:creationId xmlns:a16="http://schemas.microsoft.com/office/drawing/2014/main" id="{D3BEA9A4-0FA4-FD4A-BF34-D32A5883215C}"/>
                </a:ext>
              </a:extLst>
            </p:cNvPr>
            <p:cNvSpPr txBox="1">
              <a:spLocks noChangeArrowheads="1"/>
            </p:cNvSpPr>
            <p:nvPr/>
          </p:nvSpPr>
          <p:spPr bwMode="auto">
            <a:xfrm>
              <a:off x="1600200" y="228600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22" name="Text Box 43">
              <a:extLst>
                <a:ext uri="{FF2B5EF4-FFF2-40B4-BE49-F238E27FC236}">
                  <a16:creationId xmlns:a16="http://schemas.microsoft.com/office/drawing/2014/main" id="{0639DC4B-4975-7649-8146-6C60070FC820}"/>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23" name="Text Box 44">
              <a:extLst>
                <a:ext uri="{FF2B5EF4-FFF2-40B4-BE49-F238E27FC236}">
                  <a16:creationId xmlns:a16="http://schemas.microsoft.com/office/drawing/2014/main" id="{22843A84-D6EC-2548-9E17-5A8AF4C37730}"/>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24" name="组合 59">
            <a:extLst>
              <a:ext uri="{FF2B5EF4-FFF2-40B4-BE49-F238E27FC236}">
                <a16:creationId xmlns:a16="http://schemas.microsoft.com/office/drawing/2014/main" id="{10584F24-001D-9043-82F1-95F2E6D5AB97}"/>
              </a:ext>
            </a:extLst>
          </p:cNvPr>
          <p:cNvGrpSpPr>
            <a:grpSpLocks/>
          </p:cNvGrpSpPr>
          <p:nvPr/>
        </p:nvGrpSpPr>
        <p:grpSpPr bwMode="auto">
          <a:xfrm>
            <a:off x="427287" y="4291435"/>
            <a:ext cx="2809875" cy="1866900"/>
            <a:chOff x="500034" y="4043370"/>
            <a:chExt cx="2809876" cy="1866896"/>
          </a:xfrm>
        </p:grpSpPr>
        <p:sp>
          <p:nvSpPr>
            <p:cNvPr id="25" name="Rectangle 4">
              <a:extLst>
                <a:ext uri="{FF2B5EF4-FFF2-40B4-BE49-F238E27FC236}">
                  <a16:creationId xmlns:a16="http://schemas.microsoft.com/office/drawing/2014/main" id="{7C545B15-1AE8-9043-91E3-EE6E34E18E26}"/>
                </a:ext>
              </a:extLst>
            </p:cNvPr>
            <p:cNvSpPr>
              <a:spLocks noChangeArrowheads="1"/>
            </p:cNvSpPr>
            <p:nvPr/>
          </p:nvSpPr>
          <p:spPr bwMode="auto">
            <a:xfrm>
              <a:off x="1142976" y="4214818"/>
              <a:ext cx="2057400" cy="1600200"/>
            </a:xfrm>
            <a:prstGeom prst="rect">
              <a:avLst/>
            </a:prstGeom>
            <a:solidFill>
              <a:srgbClr val="FF33CC"/>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nvGrpSpPr>
            <p:cNvPr id="26" name="组合 58">
              <a:extLst>
                <a:ext uri="{FF2B5EF4-FFF2-40B4-BE49-F238E27FC236}">
                  <a16:creationId xmlns:a16="http://schemas.microsoft.com/office/drawing/2014/main" id="{7F8B51B0-D250-804A-A9D6-78E2E927D008}"/>
                </a:ext>
              </a:extLst>
            </p:cNvPr>
            <p:cNvGrpSpPr>
              <a:grpSpLocks/>
            </p:cNvGrpSpPr>
            <p:nvPr/>
          </p:nvGrpSpPr>
          <p:grpSpPr bwMode="auto">
            <a:xfrm>
              <a:off x="500034" y="4043370"/>
              <a:ext cx="2809876" cy="1866896"/>
              <a:chOff x="390524" y="4043370"/>
              <a:chExt cx="2809876" cy="1866896"/>
            </a:xfrm>
          </p:grpSpPr>
          <p:sp>
            <p:nvSpPr>
              <p:cNvPr id="27" name="Text Box 36">
                <a:extLst>
                  <a:ext uri="{FF2B5EF4-FFF2-40B4-BE49-F238E27FC236}">
                    <a16:creationId xmlns:a16="http://schemas.microsoft.com/office/drawing/2014/main" id="{925578D4-E217-8444-9B6F-0DD20C6BB43D}"/>
                  </a:ext>
                </a:extLst>
              </p:cNvPr>
              <p:cNvSpPr txBox="1">
                <a:spLocks noChangeArrowheads="1"/>
              </p:cNvSpPr>
              <p:nvPr/>
            </p:nvSpPr>
            <p:spPr bwMode="auto">
              <a:xfrm>
                <a:off x="604838" y="4043370"/>
                <a:ext cx="6096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28" name="Text Box 37">
                <a:extLst>
                  <a:ext uri="{FF2B5EF4-FFF2-40B4-BE49-F238E27FC236}">
                    <a16:creationId xmlns:a16="http://schemas.microsoft.com/office/drawing/2014/main" id="{C7DD312E-71B3-0A42-B73F-782F0512BD92}"/>
                  </a:ext>
                </a:extLst>
              </p:cNvPr>
              <p:cNvSpPr txBox="1">
                <a:spLocks noChangeArrowheads="1"/>
              </p:cNvSpPr>
              <p:nvPr/>
            </p:nvSpPr>
            <p:spPr bwMode="auto">
              <a:xfrm>
                <a:off x="390524" y="5453066"/>
                <a:ext cx="838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N-1</a:t>
                </a:r>
              </a:p>
            </p:txBody>
          </p:sp>
          <p:sp>
            <p:nvSpPr>
              <p:cNvPr id="29" name="Text Box 46">
                <a:extLst>
                  <a:ext uri="{FF2B5EF4-FFF2-40B4-BE49-F238E27FC236}">
                    <a16:creationId xmlns:a16="http://schemas.microsoft.com/office/drawing/2014/main" id="{15816F4F-0DE3-C94E-959E-3290E6B7C9B7}"/>
                  </a:ext>
                </a:extLst>
              </p:cNvPr>
              <p:cNvSpPr txBox="1">
                <a:spLocks noChangeArrowheads="1"/>
              </p:cNvSpPr>
              <p:nvPr/>
            </p:nvSpPr>
            <p:spPr bwMode="auto">
              <a:xfrm>
                <a:off x="1524000" y="4233866"/>
                <a:ext cx="15240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latin typeface="幼圆" pitchFamily="49" charset="-122"/>
                    <a:ea typeface="幼圆" pitchFamily="49" charset="-122"/>
                  </a:rPr>
                  <a:t>模块</a:t>
                </a:r>
                <a:r>
                  <a:rPr lang="en-US" altLang="zh-CN" sz="2400">
                    <a:solidFill>
                      <a:srgbClr val="FFFFFF"/>
                    </a:solidFill>
                    <a:latin typeface="幼圆" pitchFamily="49" charset="-122"/>
                    <a:ea typeface="幼圆" pitchFamily="49" charset="-122"/>
                  </a:rPr>
                  <a:t>C</a:t>
                </a:r>
              </a:p>
            </p:txBody>
          </p:sp>
          <p:sp>
            <p:nvSpPr>
              <p:cNvPr id="30" name="Text Box 47">
                <a:extLst>
                  <a:ext uri="{FF2B5EF4-FFF2-40B4-BE49-F238E27FC236}">
                    <a16:creationId xmlns:a16="http://schemas.microsoft.com/office/drawing/2014/main" id="{45E37C1A-0705-2148-B7DB-BD6221E4E739}"/>
                  </a:ext>
                </a:extLst>
              </p:cNvPr>
              <p:cNvSpPr txBox="1">
                <a:spLocks noChangeArrowheads="1"/>
              </p:cNvSpPr>
              <p:nvPr/>
            </p:nvSpPr>
            <p:spPr bwMode="auto">
              <a:xfrm>
                <a:off x="1600200" y="5300666"/>
                <a:ext cx="1600200"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sp>
        <p:nvSpPr>
          <p:cNvPr id="31" name="Text Box 71">
            <a:extLst>
              <a:ext uri="{FF2B5EF4-FFF2-40B4-BE49-F238E27FC236}">
                <a16:creationId xmlns:a16="http://schemas.microsoft.com/office/drawing/2014/main" id="{E77F0DA7-3595-0F45-A88F-AE79F5EDC97D}"/>
              </a:ext>
            </a:extLst>
          </p:cNvPr>
          <p:cNvSpPr txBox="1">
            <a:spLocks noChangeArrowheads="1"/>
          </p:cNvSpPr>
          <p:nvPr/>
        </p:nvSpPr>
        <p:spPr bwMode="auto">
          <a:xfrm>
            <a:off x="855911" y="6063085"/>
            <a:ext cx="24384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latin typeface="幼圆" pitchFamily="49" charset="-122"/>
                <a:ea typeface="幼圆" pitchFamily="49" charset="-122"/>
              </a:rPr>
              <a:t>(a) </a:t>
            </a:r>
            <a:r>
              <a:rPr lang="zh-CN" altLang="en-US" sz="2400">
                <a:solidFill>
                  <a:srgbClr val="0000FF"/>
                </a:solidFill>
                <a:latin typeface="幼圆" pitchFamily="49" charset="-122"/>
                <a:ea typeface="幼圆" pitchFamily="49" charset="-122"/>
              </a:rPr>
              <a:t>目标模块</a:t>
            </a:r>
          </a:p>
        </p:txBody>
      </p:sp>
      <p:sp>
        <p:nvSpPr>
          <p:cNvPr id="32" name="矩形 63">
            <a:extLst>
              <a:ext uri="{FF2B5EF4-FFF2-40B4-BE49-F238E27FC236}">
                <a16:creationId xmlns:a16="http://schemas.microsoft.com/office/drawing/2014/main" id="{C7DB3221-8DA2-3F4C-B675-890250F11B7D}"/>
              </a:ext>
            </a:extLst>
          </p:cNvPr>
          <p:cNvSpPr/>
          <p:nvPr/>
        </p:nvSpPr>
        <p:spPr bwMode="auto">
          <a:xfrm>
            <a:off x="6201024" y="783061"/>
            <a:ext cx="2143125" cy="642937"/>
          </a:xfrm>
          <a:prstGeom prst="rect">
            <a:avLst/>
          </a:prstGeom>
          <a:solidFill>
            <a:srgbClr val="FF3300"/>
          </a:solidFill>
          <a:ln w="12700" cap="flat" cmpd="sng" algn="ctr">
            <a:solidFill>
              <a:schemeClr val="tx1"/>
            </a:solidFill>
            <a:prstDash val="solid"/>
            <a:round/>
            <a:headEnd type="none" w="sm" len="sm"/>
            <a:tailEnd type="none" w="sm" len="sm"/>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800">
                <a:solidFill>
                  <a:srgbClr val="FFFFFF"/>
                </a:solidFill>
                <a:effectLst>
                  <a:outerShdw blurRad="38100" dist="38100" dir="2700000" algn="tl">
                    <a:srgbClr val="000000"/>
                  </a:outerShdw>
                </a:effectLst>
                <a:latin typeface="幼圆" pitchFamily="49" charset="-122"/>
                <a:ea typeface="幼圆" pitchFamily="49" charset="-122"/>
              </a:rPr>
              <a:t> 操作系统</a:t>
            </a:r>
          </a:p>
        </p:txBody>
      </p:sp>
      <p:grpSp>
        <p:nvGrpSpPr>
          <p:cNvPr id="33" name="组合 55">
            <a:extLst>
              <a:ext uri="{FF2B5EF4-FFF2-40B4-BE49-F238E27FC236}">
                <a16:creationId xmlns:a16="http://schemas.microsoft.com/office/drawing/2014/main" id="{2E5FEB2C-954D-9B4E-8650-6DA159593FBC}"/>
              </a:ext>
            </a:extLst>
          </p:cNvPr>
          <p:cNvGrpSpPr>
            <a:grpSpLocks/>
          </p:cNvGrpSpPr>
          <p:nvPr/>
        </p:nvGrpSpPr>
        <p:grpSpPr bwMode="auto">
          <a:xfrm>
            <a:off x="360611" y="2348336"/>
            <a:ext cx="2971800" cy="1806575"/>
            <a:chOff x="457200" y="2083735"/>
            <a:chExt cx="2971800" cy="1806930"/>
          </a:xfrm>
        </p:grpSpPr>
        <p:sp>
          <p:nvSpPr>
            <p:cNvPr id="34" name="Rectangle 3">
              <a:extLst>
                <a:ext uri="{FF2B5EF4-FFF2-40B4-BE49-F238E27FC236}">
                  <a16:creationId xmlns:a16="http://schemas.microsoft.com/office/drawing/2014/main" id="{391F8F1C-9AC4-B140-AF67-F19249969E98}"/>
                </a:ext>
              </a:extLst>
            </p:cNvPr>
            <p:cNvSpPr>
              <a:spLocks noChangeArrowheads="1"/>
            </p:cNvSpPr>
            <p:nvPr/>
          </p:nvSpPr>
          <p:spPr bwMode="auto">
            <a:xfrm>
              <a:off x="1141412" y="2209172"/>
              <a:ext cx="2057400" cy="1600514"/>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35" name="Text Box 34">
              <a:extLst>
                <a:ext uri="{FF2B5EF4-FFF2-40B4-BE49-F238E27FC236}">
                  <a16:creationId xmlns:a16="http://schemas.microsoft.com/office/drawing/2014/main" id="{6E9C551D-743C-184B-AA7C-2E1C80E58D6B}"/>
                </a:ext>
              </a:extLst>
            </p:cNvPr>
            <p:cNvSpPr txBox="1">
              <a:spLocks noChangeArrowheads="1"/>
            </p:cNvSpPr>
            <p:nvPr/>
          </p:nvSpPr>
          <p:spPr bwMode="auto">
            <a:xfrm>
              <a:off x="738440" y="2083735"/>
              <a:ext cx="533400" cy="461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36" name="Text Box 35">
              <a:extLst>
                <a:ext uri="{FF2B5EF4-FFF2-40B4-BE49-F238E27FC236}">
                  <a16:creationId xmlns:a16="http://schemas.microsoft.com/office/drawing/2014/main" id="{80793855-2522-804D-95CC-4C26DF620C4C}"/>
                </a:ext>
              </a:extLst>
            </p:cNvPr>
            <p:cNvSpPr txBox="1">
              <a:spLocks noChangeArrowheads="1"/>
            </p:cNvSpPr>
            <p:nvPr/>
          </p:nvSpPr>
          <p:spPr bwMode="auto">
            <a:xfrm>
              <a:off x="457200" y="3429000"/>
              <a:ext cx="11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M-1</a:t>
              </a:r>
            </a:p>
          </p:txBody>
        </p:sp>
        <p:sp>
          <p:nvSpPr>
            <p:cNvPr id="37" name="Text Box 42">
              <a:extLst>
                <a:ext uri="{FF2B5EF4-FFF2-40B4-BE49-F238E27FC236}">
                  <a16:creationId xmlns:a16="http://schemas.microsoft.com/office/drawing/2014/main" id="{068A000C-5287-D941-99E7-7C6380896E0D}"/>
                </a:ext>
              </a:extLst>
            </p:cNvPr>
            <p:cNvSpPr txBox="1">
              <a:spLocks noChangeArrowheads="1"/>
            </p:cNvSpPr>
            <p:nvPr/>
          </p:nvSpPr>
          <p:spPr bwMode="auto">
            <a:xfrm>
              <a:off x="1600200" y="2286000"/>
              <a:ext cx="1828800" cy="461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38" name="Text Box 43">
              <a:extLst>
                <a:ext uri="{FF2B5EF4-FFF2-40B4-BE49-F238E27FC236}">
                  <a16:creationId xmlns:a16="http://schemas.microsoft.com/office/drawing/2014/main" id="{757E0CC0-FCBB-9A41-879D-784DDFD2829F}"/>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39" name="Text Box 44">
              <a:extLst>
                <a:ext uri="{FF2B5EF4-FFF2-40B4-BE49-F238E27FC236}">
                  <a16:creationId xmlns:a16="http://schemas.microsoft.com/office/drawing/2014/main" id="{505322A3-C1F4-984A-AB41-E1F41417035B}"/>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grpSp>
        <p:nvGrpSpPr>
          <p:cNvPr id="40" name="组合 54">
            <a:extLst>
              <a:ext uri="{FF2B5EF4-FFF2-40B4-BE49-F238E27FC236}">
                <a16:creationId xmlns:a16="http://schemas.microsoft.com/office/drawing/2014/main" id="{51F98D84-234A-494E-ABBF-F0E4EF8E5694}"/>
              </a:ext>
            </a:extLst>
          </p:cNvPr>
          <p:cNvGrpSpPr>
            <a:grpSpLocks/>
          </p:cNvGrpSpPr>
          <p:nvPr/>
        </p:nvGrpSpPr>
        <p:grpSpPr bwMode="auto">
          <a:xfrm>
            <a:off x="5356474" y="1218035"/>
            <a:ext cx="3154363" cy="1878012"/>
            <a:chOff x="273983" y="76200"/>
            <a:chExt cx="3155017" cy="1876978"/>
          </a:xfrm>
        </p:grpSpPr>
        <p:sp>
          <p:nvSpPr>
            <p:cNvPr id="41" name="Rectangle 2">
              <a:extLst>
                <a:ext uri="{FF2B5EF4-FFF2-40B4-BE49-F238E27FC236}">
                  <a16:creationId xmlns:a16="http://schemas.microsoft.com/office/drawing/2014/main" id="{23366381-55AF-2842-A27B-8B4A8A470EAC}"/>
                </a:ext>
              </a:extLst>
            </p:cNvPr>
            <p:cNvSpPr>
              <a:spLocks noChangeArrowheads="1"/>
            </p:cNvSpPr>
            <p:nvPr/>
          </p:nvSpPr>
          <p:spPr bwMode="auto">
            <a:xfrm>
              <a:off x="1143000" y="304800"/>
              <a:ext cx="2057400" cy="1600200"/>
            </a:xfrm>
            <a:prstGeom prst="rect">
              <a:avLst/>
            </a:prstGeom>
            <a:solidFill>
              <a:srgbClr val="0000FF"/>
            </a:solidFill>
            <a:ln w="9525">
              <a:solidFill>
                <a:schemeClr val="tx1"/>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2" name="Text Box 32">
              <a:extLst>
                <a:ext uri="{FF2B5EF4-FFF2-40B4-BE49-F238E27FC236}">
                  <a16:creationId xmlns:a16="http://schemas.microsoft.com/office/drawing/2014/main" id="{70734A69-C4A3-A04E-BC03-1C05F32D637E}"/>
                </a:ext>
              </a:extLst>
            </p:cNvPr>
            <p:cNvSpPr txBox="1">
              <a:spLocks noChangeArrowheads="1"/>
            </p:cNvSpPr>
            <p:nvPr/>
          </p:nvSpPr>
          <p:spPr bwMode="auto">
            <a:xfrm>
              <a:off x="838200" y="76200"/>
              <a:ext cx="762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0</a:t>
              </a:r>
            </a:p>
          </p:txBody>
        </p:sp>
        <p:sp>
          <p:nvSpPr>
            <p:cNvPr id="43" name="Text Box 33">
              <a:extLst>
                <a:ext uri="{FF2B5EF4-FFF2-40B4-BE49-F238E27FC236}">
                  <a16:creationId xmlns:a16="http://schemas.microsoft.com/office/drawing/2014/main" id="{B89BF43B-76BC-784F-950B-3087F8FA4A2B}"/>
                </a:ext>
              </a:extLst>
            </p:cNvPr>
            <p:cNvSpPr txBox="1">
              <a:spLocks noChangeArrowheads="1"/>
            </p:cNvSpPr>
            <p:nvPr/>
          </p:nvSpPr>
          <p:spPr bwMode="auto">
            <a:xfrm>
              <a:off x="273983" y="1491513"/>
              <a:ext cx="762000" cy="46166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L-1</a:t>
              </a:r>
            </a:p>
          </p:txBody>
        </p:sp>
        <p:sp>
          <p:nvSpPr>
            <p:cNvPr id="44" name="Text Box 38">
              <a:extLst>
                <a:ext uri="{FF2B5EF4-FFF2-40B4-BE49-F238E27FC236}">
                  <a16:creationId xmlns:a16="http://schemas.microsoft.com/office/drawing/2014/main" id="{4143AF91-8B04-9D41-B208-5B702C014254}"/>
                </a:ext>
              </a:extLst>
            </p:cNvPr>
            <p:cNvSpPr txBox="1">
              <a:spLocks noChangeArrowheads="1"/>
            </p:cNvSpPr>
            <p:nvPr/>
          </p:nvSpPr>
          <p:spPr bwMode="auto">
            <a:xfrm>
              <a:off x="1676400" y="381000"/>
              <a:ext cx="1752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FFFFFF"/>
                  </a:solidFill>
                </a:rPr>
                <a:t>模块</a:t>
              </a:r>
              <a:r>
                <a:rPr lang="en-US" altLang="zh-CN" sz="2400">
                  <a:solidFill>
                    <a:srgbClr val="FFFFFF"/>
                  </a:solidFill>
                </a:rPr>
                <a:t>A</a:t>
              </a:r>
            </a:p>
          </p:txBody>
        </p:sp>
        <p:sp>
          <p:nvSpPr>
            <p:cNvPr id="45" name="Text Box 39">
              <a:extLst>
                <a:ext uri="{FF2B5EF4-FFF2-40B4-BE49-F238E27FC236}">
                  <a16:creationId xmlns:a16="http://schemas.microsoft.com/office/drawing/2014/main" id="{C861E903-E172-9544-BC0F-DA02765DE2C1}"/>
                </a:ext>
              </a:extLst>
            </p:cNvPr>
            <p:cNvSpPr txBox="1">
              <a:spLocks noChangeArrowheads="1"/>
            </p:cNvSpPr>
            <p:nvPr/>
          </p:nvSpPr>
          <p:spPr bwMode="auto">
            <a:xfrm>
              <a:off x="1295400" y="9144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CALL B </a:t>
              </a:r>
              <a:r>
                <a:rPr lang="zh-CN" altLang="en-US" sz="2400">
                  <a:solidFill>
                    <a:srgbClr val="FFFFFF"/>
                  </a:solidFill>
                </a:rPr>
                <a:t>；</a:t>
              </a:r>
            </a:p>
          </p:txBody>
        </p:sp>
        <p:sp>
          <p:nvSpPr>
            <p:cNvPr id="46" name="Text Box 40">
              <a:extLst>
                <a:ext uri="{FF2B5EF4-FFF2-40B4-BE49-F238E27FC236}">
                  <a16:creationId xmlns:a16="http://schemas.microsoft.com/office/drawing/2014/main" id="{6BE8167A-1267-2B43-A4E2-6D43E79C791D}"/>
                </a:ext>
              </a:extLst>
            </p:cNvPr>
            <p:cNvSpPr txBox="1">
              <a:spLocks noChangeArrowheads="1"/>
            </p:cNvSpPr>
            <p:nvPr/>
          </p:nvSpPr>
          <p:spPr bwMode="auto">
            <a:xfrm>
              <a:off x="1371600" y="1447800"/>
              <a:ext cx="1981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FFFFFF"/>
                  </a:solidFill>
                </a:rPr>
                <a:t>Return;</a:t>
              </a:r>
            </a:p>
          </p:txBody>
        </p:sp>
      </p:grpSp>
      <p:grpSp>
        <p:nvGrpSpPr>
          <p:cNvPr id="47" name="组合 55">
            <a:extLst>
              <a:ext uri="{FF2B5EF4-FFF2-40B4-BE49-F238E27FC236}">
                <a16:creationId xmlns:a16="http://schemas.microsoft.com/office/drawing/2014/main" id="{2F75CD4A-8ED3-2146-864C-A7F7218F371A}"/>
              </a:ext>
            </a:extLst>
          </p:cNvPr>
          <p:cNvGrpSpPr>
            <a:grpSpLocks/>
          </p:cNvGrpSpPr>
          <p:nvPr/>
        </p:nvGrpSpPr>
        <p:grpSpPr bwMode="auto">
          <a:xfrm>
            <a:off x="5011986" y="3029373"/>
            <a:ext cx="3505200" cy="1704975"/>
            <a:chOff x="-75665" y="2186839"/>
            <a:chExt cx="3504665" cy="1703826"/>
          </a:xfrm>
        </p:grpSpPr>
        <p:sp>
          <p:nvSpPr>
            <p:cNvPr id="48" name="Rectangle 3">
              <a:extLst>
                <a:ext uri="{FF2B5EF4-FFF2-40B4-BE49-F238E27FC236}">
                  <a16:creationId xmlns:a16="http://schemas.microsoft.com/office/drawing/2014/main" id="{0EAA6EC1-3527-F649-9C2F-15D52BD5CE69}"/>
                </a:ext>
              </a:extLst>
            </p:cNvPr>
            <p:cNvSpPr>
              <a:spLocks noChangeArrowheads="1"/>
            </p:cNvSpPr>
            <p:nvPr/>
          </p:nvSpPr>
          <p:spPr bwMode="auto">
            <a:xfrm>
              <a:off x="1141761" y="2209049"/>
              <a:ext cx="2057086" cy="1600709"/>
            </a:xfrm>
            <a:prstGeom prst="rect">
              <a:avLst/>
            </a:prstGeom>
            <a:solidFill>
              <a:srgbClr val="53FFA1"/>
            </a:solidFill>
            <a:ln w="9525">
              <a:solidFill>
                <a:schemeClr val="tx1"/>
              </a:solidFill>
              <a:miter lim="800000"/>
              <a:headEnd/>
              <a:tailEnd/>
            </a:ln>
          </p:spPr>
          <p:txBody>
            <a:bodyPr wrap="none" anchor="ctr"/>
            <a:lstStyle/>
            <a:p>
              <a:pPr>
                <a:defRPr/>
              </a:pPr>
              <a:endParaRPr lang="zh-CN" altLang="en-US" sz="2400" dirty="0">
                <a:solidFill>
                  <a:srgbClr val="FFFFFF"/>
                </a:solidFill>
                <a:effectLst>
                  <a:outerShdw blurRad="38100" dist="38100" dir="2700000" algn="tl">
                    <a:srgbClr val="000000">
                      <a:alpha val="43137"/>
                    </a:srgbClr>
                  </a:outerShdw>
                </a:effectLst>
                <a:latin typeface="幼圆" pitchFamily="49" charset="-122"/>
                <a:ea typeface="幼圆" pitchFamily="49" charset="-122"/>
              </a:endParaRPr>
            </a:p>
          </p:txBody>
        </p:sp>
        <p:sp>
          <p:nvSpPr>
            <p:cNvPr id="49" name="Text Box 34">
              <a:extLst>
                <a:ext uri="{FF2B5EF4-FFF2-40B4-BE49-F238E27FC236}">
                  <a16:creationId xmlns:a16="http://schemas.microsoft.com/office/drawing/2014/main" id="{EE64A117-F7DC-C646-96CE-CF318DBE82AA}"/>
                </a:ext>
              </a:extLst>
            </p:cNvPr>
            <p:cNvSpPr txBox="1">
              <a:spLocks noChangeArrowheads="1"/>
            </p:cNvSpPr>
            <p:nvPr/>
          </p:nvSpPr>
          <p:spPr bwMode="auto">
            <a:xfrm>
              <a:off x="567277" y="2186839"/>
              <a:ext cx="533400" cy="457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a:t>
              </a:r>
            </a:p>
          </p:txBody>
        </p:sp>
        <p:sp>
          <p:nvSpPr>
            <p:cNvPr id="50" name="Text Box 35">
              <a:extLst>
                <a:ext uri="{FF2B5EF4-FFF2-40B4-BE49-F238E27FC236}">
                  <a16:creationId xmlns:a16="http://schemas.microsoft.com/office/drawing/2014/main" id="{603C8A17-77CC-6C49-932A-A398EF2FE69F}"/>
                </a:ext>
              </a:extLst>
            </p:cNvPr>
            <p:cNvSpPr txBox="1">
              <a:spLocks noChangeArrowheads="1"/>
            </p:cNvSpPr>
            <p:nvPr/>
          </p:nvSpPr>
          <p:spPr bwMode="auto">
            <a:xfrm>
              <a:off x="-75665" y="3429000"/>
              <a:ext cx="1143000" cy="46166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L+M-1</a:t>
              </a:r>
            </a:p>
          </p:txBody>
        </p:sp>
        <p:sp>
          <p:nvSpPr>
            <p:cNvPr id="51" name="Text Box 42">
              <a:extLst>
                <a:ext uri="{FF2B5EF4-FFF2-40B4-BE49-F238E27FC236}">
                  <a16:creationId xmlns:a16="http://schemas.microsoft.com/office/drawing/2014/main" id="{3FC1E401-79C3-FD4B-AAD8-8216AC8D88A4}"/>
                </a:ext>
              </a:extLst>
            </p:cNvPr>
            <p:cNvSpPr txBox="1">
              <a:spLocks noChangeArrowheads="1"/>
            </p:cNvSpPr>
            <p:nvPr/>
          </p:nvSpPr>
          <p:spPr bwMode="auto">
            <a:xfrm>
              <a:off x="1600200" y="2286000"/>
              <a:ext cx="1828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rPr>
                <a:t>模块</a:t>
              </a:r>
              <a:r>
                <a:rPr lang="en-US" altLang="zh-CN" sz="2400">
                  <a:solidFill>
                    <a:srgbClr val="0000FF"/>
                  </a:solidFill>
                </a:rPr>
                <a:t>B</a:t>
              </a:r>
            </a:p>
          </p:txBody>
        </p:sp>
        <p:sp>
          <p:nvSpPr>
            <p:cNvPr id="52" name="Text Box 43">
              <a:extLst>
                <a:ext uri="{FF2B5EF4-FFF2-40B4-BE49-F238E27FC236}">
                  <a16:creationId xmlns:a16="http://schemas.microsoft.com/office/drawing/2014/main" id="{7B08FFD3-A2DD-4748-8264-870ADAF76FE4}"/>
                </a:ext>
              </a:extLst>
            </p:cNvPr>
            <p:cNvSpPr txBox="1">
              <a:spLocks noChangeArrowheads="1"/>
            </p:cNvSpPr>
            <p:nvPr/>
          </p:nvSpPr>
          <p:spPr bwMode="auto">
            <a:xfrm>
              <a:off x="1447800" y="2819400"/>
              <a:ext cx="1447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CALL C</a:t>
              </a:r>
            </a:p>
          </p:txBody>
        </p:sp>
        <p:sp>
          <p:nvSpPr>
            <p:cNvPr id="53" name="Text Box 44">
              <a:extLst>
                <a:ext uri="{FF2B5EF4-FFF2-40B4-BE49-F238E27FC236}">
                  <a16:creationId xmlns:a16="http://schemas.microsoft.com/office/drawing/2014/main" id="{3DD3C128-654A-B943-A759-D2718861A42F}"/>
                </a:ext>
              </a:extLst>
            </p:cNvPr>
            <p:cNvSpPr txBox="1">
              <a:spLocks noChangeArrowheads="1"/>
            </p:cNvSpPr>
            <p:nvPr/>
          </p:nvSpPr>
          <p:spPr bwMode="auto">
            <a:xfrm>
              <a:off x="1524000" y="3352800"/>
              <a:ext cx="1600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rPr>
                <a:t>Return;</a:t>
              </a:r>
            </a:p>
          </p:txBody>
        </p:sp>
      </p:grpSp>
      <p:sp>
        <p:nvSpPr>
          <p:cNvPr id="54" name="矩形 113">
            <a:extLst>
              <a:ext uri="{FF2B5EF4-FFF2-40B4-BE49-F238E27FC236}">
                <a16:creationId xmlns:a16="http://schemas.microsoft.com/office/drawing/2014/main" id="{1F132BEA-0254-5D45-9DB9-59C170DA7B76}"/>
              </a:ext>
            </a:extLst>
          </p:cNvPr>
          <p:cNvSpPr>
            <a:spLocks noChangeArrowheads="1"/>
          </p:cNvSpPr>
          <p:nvPr/>
        </p:nvSpPr>
        <p:spPr bwMode="auto">
          <a:xfrm>
            <a:off x="6356598" y="1991147"/>
            <a:ext cx="1500188" cy="571500"/>
          </a:xfrm>
          <a:prstGeom prst="rect">
            <a:avLst/>
          </a:prstGeom>
          <a:solidFill>
            <a:srgbClr val="0000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en-US" altLang="zh-CN" sz="2400">
                <a:solidFill>
                  <a:srgbClr val="FFFFFF"/>
                </a:solidFill>
              </a:rPr>
              <a:t>    JSR”L”</a:t>
            </a:r>
            <a:endParaRPr lang="zh-CN" altLang="en-US" sz="2400">
              <a:solidFill>
                <a:srgbClr val="FFFFFF"/>
              </a:solidFill>
            </a:endParaRPr>
          </a:p>
        </p:txBody>
      </p:sp>
      <p:sp>
        <p:nvSpPr>
          <p:cNvPr id="55" name="TextBox 115">
            <a:extLst>
              <a:ext uri="{FF2B5EF4-FFF2-40B4-BE49-F238E27FC236}">
                <a16:creationId xmlns:a16="http://schemas.microsoft.com/office/drawing/2014/main" id="{509FFBBD-F5ED-2B4A-8D01-B063A1D8206B}"/>
              </a:ext>
            </a:extLst>
          </p:cNvPr>
          <p:cNvSpPr txBox="1">
            <a:spLocks noChangeArrowheads="1"/>
          </p:cNvSpPr>
          <p:nvPr/>
        </p:nvSpPr>
        <p:spPr bwMode="auto">
          <a:xfrm>
            <a:off x="5570786" y="5848773"/>
            <a:ext cx="31432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FF"/>
                </a:solidFill>
                <a:latin typeface="幼圆" pitchFamily="49" charset="-122"/>
                <a:ea typeface="幼圆" pitchFamily="49" charset="-122"/>
              </a:rPr>
              <a:t>（</a:t>
            </a:r>
            <a:r>
              <a:rPr lang="en-US" altLang="zh-CN" sz="2400">
                <a:solidFill>
                  <a:srgbClr val="0000FF"/>
                </a:solidFill>
                <a:latin typeface="幼圆" pitchFamily="49" charset="-122"/>
                <a:ea typeface="幼圆" pitchFamily="49" charset="-122"/>
              </a:rPr>
              <a:t>b</a:t>
            </a:r>
            <a:r>
              <a:rPr lang="zh-CN" altLang="en-US" sz="2400">
                <a:solidFill>
                  <a:srgbClr val="0000FF"/>
                </a:solidFill>
                <a:latin typeface="幼圆" pitchFamily="49" charset="-122"/>
                <a:ea typeface="幼圆" pitchFamily="49" charset="-122"/>
              </a:rPr>
              <a:t>）运行时动态链接</a:t>
            </a:r>
          </a:p>
        </p:txBody>
      </p:sp>
      <p:sp>
        <p:nvSpPr>
          <p:cNvPr id="56" name="矩形 57">
            <a:extLst>
              <a:ext uri="{FF2B5EF4-FFF2-40B4-BE49-F238E27FC236}">
                <a16:creationId xmlns:a16="http://schemas.microsoft.com/office/drawing/2014/main" id="{CF822CB6-23DA-DC44-B03B-B2EDF150DA7F}"/>
              </a:ext>
            </a:extLst>
          </p:cNvPr>
          <p:cNvSpPr>
            <a:spLocks noChangeArrowheads="1"/>
          </p:cNvSpPr>
          <p:nvPr/>
        </p:nvSpPr>
        <p:spPr bwMode="auto">
          <a:xfrm>
            <a:off x="395536" y="476672"/>
            <a:ext cx="4511660" cy="6381328"/>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57" name="内容占位符 2">
            <a:extLst>
              <a:ext uri="{FF2B5EF4-FFF2-40B4-BE49-F238E27FC236}">
                <a16:creationId xmlns:a16="http://schemas.microsoft.com/office/drawing/2014/main" id="{11ABC14C-D639-774D-AFBF-1B7901B5F9E4}"/>
              </a:ext>
            </a:extLst>
          </p:cNvPr>
          <p:cNvSpPr txBox="1">
            <a:spLocks/>
          </p:cNvSpPr>
          <p:nvPr/>
        </p:nvSpPr>
        <p:spPr>
          <a:xfrm>
            <a:off x="613024" y="551286"/>
            <a:ext cx="4391025" cy="5900737"/>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a:buClr>
                <a:srgbClr val="0000FF"/>
              </a:buClr>
              <a:buSzPct val="50000"/>
              <a:buFont typeface="Wingdings" pitchFamily="2" charset="2"/>
              <a:buChar char="n"/>
            </a:pPr>
            <a:r>
              <a:rPr lang="zh-CN" altLang="en-US" sz="2800" kern="0" dirty="0">
                <a:solidFill>
                  <a:srgbClr val="0000FF"/>
                </a:solidFill>
                <a:latin typeface="幼圆" pitchFamily="49" charset="-122"/>
                <a:ea typeface="幼圆" pitchFamily="49" charset="-122"/>
                <a:sym typeface="Wingdings" pitchFamily="2" charset="2"/>
              </a:rPr>
              <a:t>运行时动态链接</a:t>
            </a:r>
            <a:endParaRPr lang="en-US" altLang="zh-CN" sz="2800" kern="0" dirty="0">
              <a:solidFill>
                <a:srgbClr val="0000FF"/>
              </a:solidFill>
              <a:latin typeface="幼圆" pitchFamily="49" charset="-122"/>
              <a:ea typeface="幼圆" pitchFamily="49" charset="-122"/>
              <a:sym typeface="Wingdings" pitchFamily="2" charset="2"/>
            </a:endParaRPr>
          </a:p>
          <a:p>
            <a:pPr lvl="1">
              <a:buClr>
                <a:srgbClr val="0000FF"/>
              </a:buClr>
            </a:pPr>
            <a:r>
              <a:rPr lang="en-US" altLang="zh-CN" b="1" kern="0" dirty="0">
                <a:solidFill>
                  <a:srgbClr val="000000"/>
                </a:solidFill>
                <a:latin typeface="Arial" panose="020B0604020202020204" pitchFamily="34" charset="0"/>
                <a:ea typeface="幼圆" pitchFamily="49" charset="-122"/>
              </a:rPr>
              <a:t> </a:t>
            </a:r>
            <a:r>
              <a:rPr lang="zh-CN" altLang="en-US" b="1" kern="0" dirty="0">
                <a:solidFill>
                  <a:srgbClr val="000000"/>
                </a:solidFill>
                <a:latin typeface="Arial" panose="020B0604020202020204" pitchFamily="34" charset="0"/>
                <a:ea typeface="幼圆" pitchFamily="49" charset="-122"/>
              </a:rPr>
              <a:t>在执行过程中，若发现一个被调用模块尚未装入内存时，由</a:t>
            </a:r>
            <a:r>
              <a:rPr lang="en-US" altLang="zh-CN" b="1" kern="0" dirty="0">
                <a:solidFill>
                  <a:srgbClr val="000000"/>
                </a:solidFill>
                <a:latin typeface="Arial" panose="020B0604020202020204" pitchFamily="34" charset="0"/>
                <a:ea typeface="幼圆" pitchFamily="49" charset="-122"/>
              </a:rPr>
              <a:t>OS</a:t>
            </a:r>
            <a:r>
              <a:rPr lang="zh-CN" altLang="en-US" b="1" kern="0" dirty="0">
                <a:solidFill>
                  <a:srgbClr val="000000"/>
                </a:solidFill>
                <a:latin typeface="Arial" panose="020B0604020202020204" pitchFamily="34" charset="0"/>
                <a:ea typeface="幼圆" pitchFamily="49" charset="-122"/>
              </a:rPr>
              <a:t>去找到该模块，将它装入内存，并把它链接到调用者模块上。</a:t>
            </a:r>
            <a:endParaRPr lang="en-US" altLang="zh-CN" b="1" kern="0" dirty="0">
              <a:solidFill>
                <a:srgbClr val="000000"/>
              </a:solidFill>
              <a:latin typeface="Arial" panose="020B0604020202020204" pitchFamily="34" charset="0"/>
              <a:ea typeface="幼圆" pitchFamily="49" charset="-122"/>
            </a:endParaRPr>
          </a:p>
          <a:p>
            <a:pPr>
              <a:buClr>
                <a:srgbClr val="0000FF"/>
              </a:buClr>
            </a:pPr>
            <a:r>
              <a:rPr lang="zh-CN" altLang="en-US" sz="2800" kern="0" dirty="0">
                <a:solidFill>
                  <a:srgbClr val="0000FF"/>
                </a:solidFill>
                <a:latin typeface="Arial" panose="020B0604020202020204" pitchFamily="34" charset="0"/>
                <a:ea typeface="幼圆" pitchFamily="49" charset="-122"/>
                <a:sym typeface="Wingdings" pitchFamily="2" charset="2"/>
              </a:rPr>
              <a:t>特点</a:t>
            </a:r>
            <a:endParaRPr lang="en-US" altLang="zh-CN" sz="2800" kern="0" dirty="0">
              <a:solidFill>
                <a:srgbClr val="0000FF"/>
              </a:solidFill>
              <a:latin typeface="Arial" panose="020B0604020202020204" pitchFamily="34" charset="0"/>
              <a:ea typeface="幼圆" pitchFamily="49" charset="-122"/>
              <a:sym typeface="Wingdings" pitchFamily="2" charset="2"/>
            </a:endParaRPr>
          </a:p>
          <a:p>
            <a:pPr lvl="1">
              <a:buClr>
                <a:srgbClr val="0000FF"/>
              </a:buClr>
            </a:pPr>
            <a:r>
              <a:rPr lang="zh-CN" altLang="en-US" b="1" kern="0" dirty="0">
                <a:solidFill>
                  <a:srgbClr val="000000"/>
                </a:solidFill>
                <a:latin typeface="Arial" panose="020B0604020202020204" pitchFamily="34" charset="0"/>
                <a:ea typeface="幼圆" pitchFamily="49" charset="-122"/>
                <a:sym typeface="Wingdings" pitchFamily="2" charset="2"/>
              </a:rPr>
              <a:t>不需要装入不运行的模块</a:t>
            </a:r>
            <a:endParaRPr lang="en-US" altLang="zh-CN" b="1" kern="0" dirty="0">
              <a:solidFill>
                <a:srgbClr val="000000"/>
              </a:solidFill>
              <a:latin typeface="Arial" panose="020B0604020202020204" pitchFamily="34" charset="0"/>
              <a:ea typeface="幼圆" pitchFamily="49" charset="-122"/>
              <a:sym typeface="Wingdings" pitchFamily="2" charset="2"/>
            </a:endParaRPr>
          </a:p>
          <a:p>
            <a:pPr lvl="1">
              <a:buClr>
                <a:srgbClr val="0000FF"/>
              </a:buClr>
            </a:pPr>
            <a:r>
              <a:rPr lang="zh-CN" altLang="en-US" b="1" kern="0" dirty="0">
                <a:solidFill>
                  <a:srgbClr val="000000"/>
                </a:solidFill>
                <a:latin typeface="Arial" panose="020B0604020202020204" pitchFamily="34" charset="0"/>
                <a:ea typeface="幼圆" pitchFamily="49" charset="-122"/>
              </a:rPr>
              <a:t>便于实现目标模块的共享</a:t>
            </a:r>
            <a:endParaRPr lang="zh-CN" altLang="en-US" b="0" kern="0" dirty="0"/>
          </a:p>
        </p:txBody>
      </p:sp>
    </p:spTree>
    <p:extLst>
      <p:ext uri="{BB962C8B-B14F-4D97-AF65-F5344CB8AC3E}">
        <p14:creationId xmlns:p14="http://schemas.microsoft.com/office/powerpoint/2010/main" val="299600979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1.11111E-6 -4.81481E-6 L 0.56632 0.11783 " pathEditMode="relative" rAng="0" ptsTypes="AA">
                                      <p:cBhvr>
                                        <p:cTn id="6" dur="2000" fill="hold"/>
                                        <p:tgtEl>
                                          <p:spTgt spid="10"/>
                                        </p:tgtEl>
                                        <p:attrNameLst>
                                          <p:attrName>ppt_x</p:attrName>
                                          <p:attrName>ppt_y</p:attrName>
                                        </p:attrNameLst>
                                      </p:cBhvr>
                                      <p:rCtr x="28316" y="5880"/>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1.11111E-6 4.44444E-6 L 0.56701 0.08402 " pathEditMode="relative" rAng="0" ptsTypes="AA">
                                      <p:cBhvr>
                                        <p:cTn id="10" dur="2000" fill="hold"/>
                                        <p:tgtEl>
                                          <p:spTgt spid="17"/>
                                        </p:tgtEl>
                                        <p:attrNameLst>
                                          <p:attrName>ppt_x</p:attrName>
                                          <p:attrName>ppt_y</p:attrName>
                                        </p:attrNameLst>
                                      </p:cBhvr>
                                      <p:rCtr x="28351" y="4190"/>
                                    </p:animMotion>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animEffect transition="in" filter="dissolve">
                                      <p:cBhvr>
                                        <p:cTn id="15" dur="500"/>
                                        <p:tgtEl>
                                          <p:spTgt spid="40"/>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54"/>
                                        </p:tgtEl>
                                        <p:attrNameLst>
                                          <p:attrName>style.visibility</p:attrName>
                                        </p:attrNameLst>
                                      </p:cBhvr>
                                      <p:to>
                                        <p:strVal val="visible"/>
                                      </p:to>
                                    </p:set>
                                    <p:animEffect transition="in" filter="dissolve">
                                      <p:cBhvr>
                                        <p:cTn id="18" dur="500"/>
                                        <p:tgtEl>
                                          <p:spTgt spid="54"/>
                                        </p:tgtEl>
                                      </p:cBhvr>
                                    </p:animEffect>
                                  </p:childTnLst>
                                </p:cTn>
                              </p:par>
                            </p:childTnLst>
                          </p:cTn>
                        </p:par>
                        <p:par>
                          <p:cTn id="19" fill="hold">
                            <p:stCondLst>
                              <p:cond delay="500"/>
                            </p:stCondLst>
                            <p:childTnLst>
                              <p:par>
                                <p:cTn id="20" presetID="9" presetClass="entr" presetSubtype="0" fill="hold" nodeType="afterEffect">
                                  <p:stCondLst>
                                    <p:cond delay="0"/>
                                  </p:stCondLst>
                                  <p:childTnLst>
                                    <p:set>
                                      <p:cBhvr>
                                        <p:cTn id="21" dur="1" fill="hold">
                                          <p:stCondLst>
                                            <p:cond delay="0"/>
                                          </p:stCondLst>
                                        </p:cTn>
                                        <p:tgtEl>
                                          <p:spTgt spid="47"/>
                                        </p:tgtEl>
                                        <p:attrNameLst>
                                          <p:attrName>style.visibility</p:attrName>
                                        </p:attrNameLst>
                                      </p:cBhvr>
                                      <p:to>
                                        <p:strVal val="visible"/>
                                      </p:to>
                                    </p:set>
                                    <p:animEffect transition="in" filter="dissolve">
                                      <p:cBhvr>
                                        <p:cTn id="22" dur="500"/>
                                        <p:tgtEl>
                                          <p:spTgt spid="47"/>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blinds(horizontal)">
                                      <p:cBhvr>
                                        <p:cTn id="27" dur="500"/>
                                        <p:tgtEl>
                                          <p:spTgt spid="56"/>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57">
                                            <p:txEl>
                                              <p:pRg st="0" end="0"/>
                                            </p:txEl>
                                          </p:spTgt>
                                        </p:tgtEl>
                                        <p:attrNameLst>
                                          <p:attrName>style.visibility</p:attrName>
                                        </p:attrNameLst>
                                      </p:cBhvr>
                                      <p:to>
                                        <p:strVal val="visible"/>
                                      </p:to>
                                    </p:set>
                                    <p:animEffect transition="in" filter="blinds(horizontal)">
                                      <p:cBhvr>
                                        <p:cTn id="32" dur="500"/>
                                        <p:tgtEl>
                                          <p:spTgt spid="57">
                                            <p:txEl>
                                              <p:pRg st="0" end="0"/>
                                            </p:txEl>
                                          </p:spTgt>
                                        </p:tgtEl>
                                      </p:cBhvr>
                                    </p:animEffect>
                                  </p:childTnLst>
                                </p:cTn>
                              </p:par>
                              <p:par>
                                <p:cTn id="33" presetID="3" presetClass="entr" presetSubtype="10" fill="hold" grpId="0" nodeType="withEffect">
                                  <p:stCondLst>
                                    <p:cond delay="0"/>
                                  </p:stCondLst>
                                  <p:childTnLst>
                                    <p:set>
                                      <p:cBhvr>
                                        <p:cTn id="34" dur="1" fill="hold">
                                          <p:stCondLst>
                                            <p:cond delay="0"/>
                                          </p:stCondLst>
                                        </p:cTn>
                                        <p:tgtEl>
                                          <p:spTgt spid="57">
                                            <p:txEl>
                                              <p:pRg st="1" end="1"/>
                                            </p:txEl>
                                          </p:spTgt>
                                        </p:tgtEl>
                                        <p:attrNameLst>
                                          <p:attrName>style.visibility</p:attrName>
                                        </p:attrNameLst>
                                      </p:cBhvr>
                                      <p:to>
                                        <p:strVal val="visible"/>
                                      </p:to>
                                    </p:set>
                                    <p:animEffect transition="in" filter="blinds(horizontal)">
                                      <p:cBhvr>
                                        <p:cTn id="35" dur="500"/>
                                        <p:tgtEl>
                                          <p:spTgt spid="57">
                                            <p:txEl>
                                              <p:pRg st="1" end="1"/>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3" presetClass="entr" presetSubtype="10" fill="hold" grpId="0" nodeType="clickEffect">
                                  <p:stCondLst>
                                    <p:cond delay="0"/>
                                  </p:stCondLst>
                                  <p:childTnLst>
                                    <p:set>
                                      <p:cBhvr>
                                        <p:cTn id="39" dur="1" fill="hold">
                                          <p:stCondLst>
                                            <p:cond delay="0"/>
                                          </p:stCondLst>
                                        </p:cTn>
                                        <p:tgtEl>
                                          <p:spTgt spid="57">
                                            <p:txEl>
                                              <p:pRg st="2" end="2"/>
                                            </p:txEl>
                                          </p:spTgt>
                                        </p:tgtEl>
                                        <p:attrNameLst>
                                          <p:attrName>style.visibility</p:attrName>
                                        </p:attrNameLst>
                                      </p:cBhvr>
                                      <p:to>
                                        <p:strVal val="visible"/>
                                      </p:to>
                                    </p:set>
                                    <p:animEffect transition="in" filter="blinds(horizontal)">
                                      <p:cBhvr>
                                        <p:cTn id="40" dur="500"/>
                                        <p:tgtEl>
                                          <p:spTgt spid="57">
                                            <p:txEl>
                                              <p:pRg st="2" end="2"/>
                                            </p:txEl>
                                          </p:spTgt>
                                        </p:tgtEl>
                                      </p:cBhvr>
                                    </p:animEffect>
                                  </p:childTnLst>
                                </p:cTn>
                              </p:par>
                              <p:par>
                                <p:cTn id="41" presetID="3" presetClass="entr" presetSubtype="10" fill="hold" grpId="0" nodeType="withEffect">
                                  <p:stCondLst>
                                    <p:cond delay="0"/>
                                  </p:stCondLst>
                                  <p:childTnLst>
                                    <p:set>
                                      <p:cBhvr>
                                        <p:cTn id="42" dur="1" fill="hold">
                                          <p:stCondLst>
                                            <p:cond delay="0"/>
                                          </p:stCondLst>
                                        </p:cTn>
                                        <p:tgtEl>
                                          <p:spTgt spid="57">
                                            <p:txEl>
                                              <p:pRg st="3" end="3"/>
                                            </p:txEl>
                                          </p:spTgt>
                                        </p:tgtEl>
                                        <p:attrNameLst>
                                          <p:attrName>style.visibility</p:attrName>
                                        </p:attrNameLst>
                                      </p:cBhvr>
                                      <p:to>
                                        <p:strVal val="visible"/>
                                      </p:to>
                                    </p:set>
                                    <p:animEffect transition="in" filter="blinds(horizontal)">
                                      <p:cBhvr>
                                        <p:cTn id="43" dur="500"/>
                                        <p:tgtEl>
                                          <p:spTgt spid="57">
                                            <p:txEl>
                                              <p:pRg st="3" end="3"/>
                                            </p:txEl>
                                          </p:spTgt>
                                        </p:tgtEl>
                                      </p:cBhvr>
                                    </p:animEffect>
                                  </p:childTnLst>
                                </p:cTn>
                              </p:par>
                              <p:par>
                                <p:cTn id="44" presetID="3" presetClass="entr" presetSubtype="10" fill="hold" grpId="0" nodeType="withEffect">
                                  <p:stCondLst>
                                    <p:cond delay="0"/>
                                  </p:stCondLst>
                                  <p:childTnLst>
                                    <p:set>
                                      <p:cBhvr>
                                        <p:cTn id="45" dur="1" fill="hold">
                                          <p:stCondLst>
                                            <p:cond delay="0"/>
                                          </p:stCondLst>
                                        </p:cTn>
                                        <p:tgtEl>
                                          <p:spTgt spid="57">
                                            <p:txEl>
                                              <p:pRg st="4" end="4"/>
                                            </p:txEl>
                                          </p:spTgt>
                                        </p:tgtEl>
                                        <p:attrNameLst>
                                          <p:attrName>style.visibility</p:attrName>
                                        </p:attrNameLst>
                                      </p:cBhvr>
                                      <p:to>
                                        <p:strVal val="visible"/>
                                      </p:to>
                                    </p:set>
                                    <p:animEffect transition="in" filter="blinds(horizontal)">
                                      <p:cBhvr>
                                        <p:cTn id="46" dur="500"/>
                                        <p:tgtEl>
                                          <p:spTgt spid="5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6" grpId="0" animBg="1"/>
      <p:bldP spid="57"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251D2307-05D6-BD4C-84D5-D68815DA3627}"/>
              </a:ext>
            </a:extLst>
          </p:cNvPr>
          <p:cNvSpPr>
            <a:spLocks noGrp="1" noChangeArrowheads="1"/>
          </p:cNvSpPr>
          <p:nvPr>
            <p:ph type="body" idx="1"/>
          </p:nvPr>
        </p:nvSpPr>
        <p:spPr>
          <a:xfrm>
            <a:off x="642938" y="1357313"/>
            <a:ext cx="7848600" cy="4500562"/>
          </a:xfrm>
        </p:spPr>
        <p:txBody>
          <a:bodyPr/>
          <a:lstStyle/>
          <a:p>
            <a:pPr marL="0" indent="0" eaLnBrk="1" hangingPunct="1">
              <a:lnSpc>
                <a:spcPts val="38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4.1.3</a:t>
            </a:r>
            <a:r>
              <a:rPr lang="en-US" altLang="zh-CN">
                <a:solidFill>
                  <a:srgbClr val="FF0000"/>
                </a:solidFill>
                <a:effectLst/>
                <a:latin typeface="宋体" panose="02010600030101010101" pitchFamily="2" charset="-122"/>
              </a:rPr>
              <a:t> </a:t>
            </a:r>
            <a:r>
              <a:rPr lang="zh-CN" altLang="en-US">
                <a:solidFill>
                  <a:srgbClr val="FF0000"/>
                </a:solidFill>
                <a:effectLst/>
                <a:latin typeface="宋体" panose="02010600030101010101" pitchFamily="2" charset="-122"/>
              </a:rPr>
              <a:t>程序装入</a:t>
            </a:r>
            <a:endParaRPr lang="en-US" altLang="zh-CN">
              <a:solidFill>
                <a:srgbClr val="FF0000"/>
              </a:solidFill>
              <a:effectLst/>
              <a:latin typeface="宋体" panose="02010600030101010101" pitchFamily="2" charset="-122"/>
            </a:endParaRPr>
          </a:p>
          <a:p>
            <a:pPr marL="0" indent="0" eaLnBrk="1" hangingPunct="1">
              <a:lnSpc>
                <a:spcPts val="3800"/>
              </a:lnSpc>
              <a:spcBef>
                <a:spcPct val="0"/>
              </a:spcBef>
              <a:buFont typeface="Wingdings" pitchFamily="2" charset="2"/>
              <a:buNone/>
            </a:pPr>
            <a:r>
              <a:rPr lang="en-US" altLang="zh-CN">
                <a:solidFill>
                  <a:schemeClr val="tx1"/>
                </a:solidFill>
                <a:effectLst/>
                <a:latin typeface="宋体" panose="02010600030101010101" pitchFamily="2" charset="-122"/>
              </a:rPr>
              <a:t> </a:t>
            </a:r>
            <a:r>
              <a:rPr lang="en-US" altLang="zh-CN" sz="2200">
                <a:solidFill>
                  <a:srgbClr val="FF0000"/>
                </a:solidFill>
                <a:effectLst/>
                <a:latin typeface="宋体" panose="02010600030101010101" pitchFamily="2" charset="-122"/>
              </a:rPr>
              <a:t>1. </a:t>
            </a:r>
            <a:r>
              <a:rPr lang="zh-CN" altLang="en-US" sz="2200">
                <a:solidFill>
                  <a:srgbClr val="FF0000"/>
                </a:solidFill>
                <a:effectLst/>
                <a:latin typeface="宋体" panose="02010600030101010101" pitchFamily="2" charset="-122"/>
              </a:rPr>
              <a:t>程序装入</a:t>
            </a:r>
            <a:endParaRPr lang="en-US" altLang="zh-CN" sz="2200">
              <a:solidFill>
                <a:srgbClr val="FF0000"/>
              </a:solidFill>
              <a:effectLst/>
              <a:latin typeface="宋体" panose="02010600030101010101" pitchFamily="2" charset="-122"/>
            </a:endParaRPr>
          </a:p>
          <a:p>
            <a:pPr marL="0" indent="0" eaLnBrk="1" hangingPunct="1">
              <a:lnSpc>
                <a:spcPts val="3800"/>
              </a:lnSpc>
              <a:spcBef>
                <a:spcPct val="0"/>
              </a:spcBef>
              <a:buFont typeface="Wingdings" pitchFamily="2" charset="2"/>
              <a:buNone/>
            </a:pPr>
            <a:r>
              <a:rPr lang="zh-CN" altLang="en-US" sz="2000">
                <a:solidFill>
                  <a:schemeClr val="tx1"/>
                </a:solidFill>
                <a:effectLst>
                  <a:outerShdw blurRad="38100" dist="38100" dir="2700000" algn="tl">
                    <a:srgbClr val="FFFFFF"/>
                  </a:outerShdw>
                </a:effectLst>
              </a:rPr>
              <a:t>      由于程序的逻辑地址空间和内存的物理地址空间并不一致，因此</a:t>
            </a:r>
            <a:r>
              <a:rPr lang="zh-CN" altLang="en-US" sz="2000">
                <a:solidFill>
                  <a:schemeClr val="tx1"/>
                </a:solidFill>
                <a:effectLst/>
                <a:latin typeface="宋体" panose="02010600030101010101" pitchFamily="2" charset="-122"/>
              </a:rPr>
              <a:t>要使装入内存的程序能够运行，系统必须将程序中的逻辑地址转换为机器能够直接寻址的物理地址。因此，</a:t>
            </a:r>
            <a:r>
              <a:rPr lang="zh-CN" altLang="en-US" sz="2000">
                <a:solidFill>
                  <a:schemeClr val="tx1"/>
                </a:solidFill>
                <a:effectLst>
                  <a:outerShdw blurRad="38100" dist="38100" dir="2700000" algn="tl">
                    <a:srgbClr val="FFFFFF"/>
                  </a:outerShdw>
                </a:effectLst>
              </a:rPr>
              <a:t>装入程序在将程序（可装入模块）装入内存后，在程序执行之前还必须将程序代码中的逻辑地址转换为真实的物理地址，</a:t>
            </a:r>
            <a:r>
              <a:rPr lang="zh-CN" altLang="en-US" sz="2000">
                <a:solidFill>
                  <a:schemeClr val="tx1"/>
                </a:solidFill>
                <a:effectLst/>
                <a:latin typeface="宋体" panose="02010600030101010101" pitchFamily="2" charset="-122"/>
              </a:rPr>
              <a:t>这种地址转换操作称为地址映射、地址转换或重定位。</a:t>
            </a:r>
          </a:p>
          <a:p>
            <a:pPr marL="0" indent="0" eaLnBrk="1" hangingPunct="1">
              <a:lnSpc>
                <a:spcPts val="3800"/>
              </a:lnSpc>
              <a:spcBef>
                <a:spcPct val="0"/>
              </a:spcBef>
              <a:buFont typeface="Wingdings" pitchFamily="2" charset="2"/>
              <a:buNone/>
            </a:pPr>
            <a:r>
              <a:rPr lang="zh-CN" altLang="en-US" sz="2000">
                <a:solidFill>
                  <a:schemeClr val="tx1"/>
                </a:solidFill>
                <a:effectLst/>
                <a:latin typeface="宋体" panose="02010600030101010101" pitchFamily="2" charset="-122"/>
              </a:rPr>
              <a:t>    程序装入是指装入程序根据内存当前的实际使用情况，将装入模块（程序）装入到内存合适的物理位置。</a:t>
            </a:r>
          </a:p>
        </p:txBody>
      </p:sp>
      <p:sp>
        <p:nvSpPr>
          <p:cNvPr id="36867" name="AutoShape 3">
            <a:extLst>
              <a:ext uri="{FF2B5EF4-FFF2-40B4-BE49-F238E27FC236}">
                <a16:creationId xmlns:a16="http://schemas.microsoft.com/office/drawing/2014/main" id="{2B4A2352-08BE-A547-AFFA-692FFD02F938}"/>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E49040EA-5C9F-6C40-984E-B7878C971EF5}"/>
              </a:ext>
            </a:extLst>
          </p:cNvPr>
          <p:cNvSpPr>
            <a:spLocks noGrp="1" noChangeArrowheads="1"/>
          </p:cNvSpPr>
          <p:nvPr>
            <p:ph type="body" idx="1"/>
          </p:nvPr>
        </p:nvSpPr>
        <p:spPr>
          <a:xfrm>
            <a:off x="214313" y="1428750"/>
            <a:ext cx="8786812" cy="5000625"/>
          </a:xfrm>
        </p:spPr>
        <p:txBody>
          <a:bodyPr/>
          <a:lstStyle/>
          <a:p>
            <a:pPr marL="0" indent="0" eaLnBrk="1" hangingPunct="1">
              <a:lnSpc>
                <a:spcPct val="150000"/>
              </a:lnSpc>
              <a:spcBef>
                <a:spcPct val="0"/>
              </a:spcBef>
              <a:buFont typeface="Wingdings" pitchFamily="2" charset="2"/>
              <a:buNone/>
            </a:pPr>
            <a:r>
              <a:rPr lang="zh-CN" altLang="en-US">
                <a:solidFill>
                  <a:srgbClr val="FF0000"/>
                </a:solidFill>
                <a:effectLst/>
                <a:latin typeface="宋体" panose="02010600030101010101" pitchFamily="2" charset="-122"/>
              </a:rPr>
              <a:t>程序装入分类</a:t>
            </a:r>
            <a:endParaRPr lang="en-US" altLang="zh-CN">
              <a:solidFill>
                <a:srgbClr val="FF0000"/>
              </a:solidFill>
              <a:effectLst/>
              <a:latin typeface="宋体" panose="02010600030101010101" pitchFamily="2" charset="-122"/>
            </a:endParaRPr>
          </a:p>
          <a:p>
            <a:pPr marL="0" indent="0" algn="just" eaLnBrk="1" hangingPunct="1">
              <a:lnSpc>
                <a:spcPct val="150000"/>
              </a:lnSpc>
              <a:spcBef>
                <a:spcPct val="0"/>
              </a:spcBef>
              <a:buFont typeface="Wingdings" pitchFamily="2" charset="2"/>
              <a:buNone/>
            </a:pPr>
            <a:r>
              <a:rPr lang="zh-CN" altLang="en-US">
                <a:solidFill>
                  <a:srgbClr val="FF0000"/>
                </a:solidFill>
                <a:effectLst/>
                <a:latin typeface="宋体" panose="02010600030101010101" pitchFamily="2" charset="-122"/>
              </a:rPr>
              <a:t>  </a:t>
            </a:r>
            <a:r>
              <a:rPr lang="zh-CN" altLang="en-US" sz="2200">
                <a:solidFill>
                  <a:srgbClr val="FF0000"/>
                </a:solidFill>
                <a:effectLst/>
                <a:latin typeface="宋体" panose="02010600030101010101" pitchFamily="2" charset="-122"/>
              </a:rPr>
              <a:t>静态装入</a:t>
            </a:r>
            <a:r>
              <a:rPr lang="en-US" altLang="zh-CN" sz="2200">
                <a:solidFill>
                  <a:schemeClr val="tx1"/>
                </a:solidFill>
                <a:effectLst/>
                <a:latin typeface="宋体" panose="02010600030101010101" pitchFamily="2" charset="-122"/>
              </a:rPr>
              <a:t>---</a:t>
            </a:r>
            <a:r>
              <a:rPr lang="zh-CN" altLang="en-US" sz="2200">
                <a:solidFill>
                  <a:schemeClr val="tx1"/>
                </a:solidFill>
                <a:effectLst>
                  <a:outerShdw blurRad="38100" dist="38100" dir="2700000" algn="tl">
                    <a:srgbClr val="FFFFFF"/>
                  </a:outerShdw>
                </a:effectLst>
              </a:rPr>
              <a:t>一次性将全部程序（所有可装入模块）装入内存，并在程序装入内存时或在程序运行前，一次性完成程序中所有的逻辑地址</a:t>
            </a:r>
            <a:r>
              <a:rPr lang="zh-CN" altLang="en-US" sz="2200">
                <a:solidFill>
                  <a:schemeClr val="tx1"/>
                </a:solidFill>
                <a:effectLst/>
                <a:latin typeface="宋体" panose="02010600030101010101" pitchFamily="2" charset="-122"/>
              </a:rPr>
              <a:t>（相对地址）</a:t>
            </a:r>
            <a:r>
              <a:rPr lang="zh-CN" altLang="en-US" sz="2200">
                <a:solidFill>
                  <a:schemeClr val="tx1"/>
                </a:solidFill>
                <a:effectLst>
                  <a:outerShdw blurRad="38100" dist="38100" dir="2700000" algn="tl">
                    <a:srgbClr val="FFFFFF"/>
                  </a:outerShdw>
                </a:effectLst>
              </a:rPr>
              <a:t>到物理地址</a:t>
            </a:r>
            <a:r>
              <a:rPr lang="zh-CN" altLang="en-US" sz="2200">
                <a:solidFill>
                  <a:schemeClr val="tx1"/>
                </a:solidFill>
                <a:effectLst/>
                <a:latin typeface="宋体" panose="02010600030101010101" pitchFamily="2" charset="-122"/>
              </a:rPr>
              <a:t>（绝对地址）</a:t>
            </a:r>
            <a:r>
              <a:rPr lang="zh-CN" altLang="en-US" sz="2200">
                <a:solidFill>
                  <a:schemeClr val="tx1"/>
                </a:solidFill>
                <a:effectLst>
                  <a:outerShdw blurRad="38100" dist="38100" dir="2700000" algn="tl">
                    <a:srgbClr val="FFFFFF"/>
                  </a:outerShdw>
                </a:effectLst>
              </a:rPr>
              <a:t>的转换工作</a:t>
            </a:r>
            <a:r>
              <a:rPr lang="zh-CN" altLang="en-US" sz="2200">
                <a:solidFill>
                  <a:schemeClr val="tx1"/>
                </a:solidFill>
                <a:effectLst/>
                <a:latin typeface="宋体" panose="02010600030101010101" pitchFamily="2" charset="-122"/>
              </a:rPr>
              <a:t>。</a:t>
            </a:r>
          </a:p>
          <a:p>
            <a:pPr marL="0" indent="0" algn="just"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  </a:t>
            </a:r>
            <a:r>
              <a:rPr lang="zh-CN" altLang="en-US" sz="2200">
                <a:solidFill>
                  <a:srgbClr val="FF0000"/>
                </a:solidFill>
                <a:effectLst/>
                <a:latin typeface="宋体" panose="02010600030101010101" pitchFamily="2" charset="-122"/>
              </a:rPr>
              <a:t>运行时动态装入</a:t>
            </a:r>
            <a:r>
              <a:rPr lang="en-US" altLang="zh-CN" sz="2200">
                <a:solidFill>
                  <a:schemeClr val="tx1"/>
                </a:solidFill>
                <a:effectLst/>
                <a:latin typeface="宋体" panose="02010600030101010101" pitchFamily="2" charset="-122"/>
              </a:rPr>
              <a:t>---</a:t>
            </a:r>
            <a:r>
              <a:rPr lang="zh-CN" altLang="en-US" sz="2200">
                <a:solidFill>
                  <a:schemeClr val="tx1"/>
                </a:solidFill>
                <a:effectLst>
                  <a:outerShdw blurRad="38100" dist="38100" dir="2700000" algn="tl">
                    <a:srgbClr val="FFFFFF"/>
                  </a:outerShdw>
                </a:effectLst>
              </a:rPr>
              <a:t>将程序的各目标模块按运行的需要，逐次调入内存并链接到调用模块上。由于是逐次装入内存，因此不可能一次性完成将程序中所有逻辑地址转换为物理地址的工作，这个地址转换工作只能推迟到程序运行中进行，即执行到涉及访存地址的指令时再进行地址转换。</a:t>
            </a:r>
            <a:endParaRPr lang="zh-CN" altLang="en-US" sz="2200">
              <a:solidFill>
                <a:schemeClr val="tx1"/>
              </a:solidFill>
              <a:effectLst/>
              <a:latin typeface="宋体" panose="02010600030101010101" pitchFamily="2" charset="-122"/>
            </a:endParaRPr>
          </a:p>
        </p:txBody>
      </p:sp>
      <p:sp>
        <p:nvSpPr>
          <p:cNvPr id="36867" name="AutoShape 3">
            <a:extLst>
              <a:ext uri="{FF2B5EF4-FFF2-40B4-BE49-F238E27FC236}">
                <a16:creationId xmlns:a16="http://schemas.microsoft.com/office/drawing/2014/main" id="{1C0197AA-64BB-0444-93A8-AC1DFAE18992}"/>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99547283-1177-A34A-BA0E-14E4B4A34EA0}"/>
              </a:ext>
            </a:extLst>
          </p:cNvPr>
          <p:cNvSpPr>
            <a:spLocks noGrp="1" noChangeArrowheads="1"/>
          </p:cNvSpPr>
          <p:nvPr>
            <p:ph type="body" idx="1"/>
          </p:nvPr>
        </p:nvSpPr>
        <p:spPr>
          <a:xfrm>
            <a:off x="0" y="1214438"/>
            <a:ext cx="8675688" cy="2786062"/>
          </a:xfrm>
        </p:spPr>
        <p:txBody>
          <a:bodyPr/>
          <a:lstStyle/>
          <a:p>
            <a:pPr marL="0" indent="0" eaLnBrk="1" hangingPunct="1">
              <a:lnSpc>
                <a:spcPct val="130000"/>
              </a:lnSpc>
              <a:spcBef>
                <a:spcPct val="0"/>
              </a:spcBef>
              <a:buFont typeface="Wingdings" pitchFamily="2" charset="2"/>
              <a:buNone/>
            </a:pPr>
            <a:r>
              <a:rPr lang="en-US" altLang="zh-CN">
                <a:solidFill>
                  <a:srgbClr val="FF0000"/>
                </a:solidFill>
                <a:effectLst/>
                <a:latin typeface="宋体" panose="02010600030101010101" pitchFamily="2" charset="-122"/>
              </a:rPr>
              <a:t>   2. </a:t>
            </a:r>
            <a:r>
              <a:rPr lang="zh-CN" altLang="en-US">
                <a:solidFill>
                  <a:srgbClr val="FF0000"/>
                </a:solidFill>
                <a:effectLst/>
                <a:latin typeface="宋体" panose="02010600030101010101" pitchFamily="2" charset="-122"/>
              </a:rPr>
              <a:t>静态重定位</a:t>
            </a:r>
          </a:p>
          <a:p>
            <a:pPr marL="0" indent="0" algn="just">
              <a:lnSpc>
                <a:spcPts val="3000"/>
              </a:lnSpc>
              <a:buFont typeface="Wingdings" pitchFamily="2" charset="2"/>
              <a:buNone/>
            </a:pPr>
            <a:r>
              <a:rPr lang="en-US" altLang="zh-CN" sz="2000">
                <a:solidFill>
                  <a:schemeClr val="tx1"/>
                </a:solidFill>
                <a:effectLst/>
                <a:latin typeface="Times New Roman" panose="02020603050405020304" pitchFamily="18" charset="0"/>
              </a:rPr>
              <a:t>        </a:t>
            </a:r>
            <a:r>
              <a:rPr lang="zh-CN" altLang="zh-CN" sz="2000">
                <a:solidFill>
                  <a:schemeClr val="tx1"/>
                </a:solidFill>
                <a:effectLst/>
                <a:latin typeface="Times New Roman" panose="02020603050405020304" pitchFamily="18" charset="0"/>
              </a:rPr>
              <a:t>指程序运行前，在装入程序将整个程序静态装入内存时（也可在程序装入内存后到运行前的任何时间里），一次性将程序中出现的所有访存地址（逻辑地址，也称相对地址）按下面的公式全部转换（替换）为绝对地址（物理地址），并且在程序运行过程中不再改变</a:t>
            </a:r>
            <a:r>
              <a:rPr lang="zh-CN" altLang="en-US" sz="2000">
                <a:solidFill>
                  <a:schemeClr val="tx1"/>
                </a:solidFill>
                <a:effectLst/>
                <a:latin typeface="宋体" panose="02010600030101010101" pitchFamily="2" charset="-122"/>
              </a:rPr>
              <a:t>：</a:t>
            </a:r>
            <a:endParaRPr lang="en-US" altLang="zh-CN" sz="2000">
              <a:solidFill>
                <a:schemeClr val="tx1"/>
              </a:solidFill>
              <a:effectLst/>
              <a:latin typeface="宋体" panose="02010600030101010101" pitchFamily="2" charset="-122"/>
            </a:endParaRPr>
          </a:p>
          <a:p>
            <a:pPr marL="0" indent="0" algn="just">
              <a:lnSpc>
                <a:spcPts val="3000"/>
              </a:lnSpc>
              <a:buFont typeface="Wingdings" pitchFamily="2" charset="2"/>
              <a:buNone/>
            </a:pPr>
            <a:r>
              <a:rPr lang="en-US" altLang="zh-CN"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绝对地址＝相对地址＋程序存放的内存起始地址</a:t>
            </a:r>
          </a:p>
        </p:txBody>
      </p:sp>
      <p:sp>
        <p:nvSpPr>
          <p:cNvPr id="37891" name="AutoShape 3">
            <a:extLst>
              <a:ext uri="{FF2B5EF4-FFF2-40B4-BE49-F238E27FC236}">
                <a16:creationId xmlns:a16="http://schemas.microsoft.com/office/drawing/2014/main" id="{91D53EE4-50FB-F946-B966-F28367693AF9}"/>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pic>
        <p:nvPicPr>
          <p:cNvPr id="13316" name="Picture 4" descr="4-3">
            <a:extLst>
              <a:ext uri="{FF2B5EF4-FFF2-40B4-BE49-F238E27FC236}">
                <a16:creationId xmlns:a16="http://schemas.microsoft.com/office/drawing/2014/main" id="{B2D3AE5B-EFF6-DB4D-BA97-94D2D680A9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6588" y="3894138"/>
            <a:ext cx="5257800" cy="2949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3F295AC8-F823-614A-9D64-37351A625E27}"/>
              </a:ext>
            </a:extLst>
          </p:cNvPr>
          <p:cNvSpPr>
            <a:spLocks noGrp="1" noChangeArrowheads="1"/>
          </p:cNvSpPr>
          <p:nvPr>
            <p:ph type="body" idx="1"/>
          </p:nvPr>
        </p:nvSpPr>
        <p:spPr>
          <a:xfrm>
            <a:off x="642938" y="1285875"/>
            <a:ext cx="7848600" cy="5000625"/>
          </a:xfrm>
        </p:spPr>
        <p:txBody>
          <a:bodyPr/>
          <a:lstStyle/>
          <a:p>
            <a:pPr marL="0" indent="0" eaLnBrk="1" hangingPunct="1">
              <a:lnSpc>
                <a:spcPct val="130000"/>
              </a:lnSpc>
              <a:spcBef>
                <a:spcPct val="0"/>
              </a:spcBef>
              <a:buFont typeface="Wingdings" pitchFamily="2" charset="2"/>
              <a:buNone/>
            </a:pPr>
            <a:r>
              <a:rPr lang="zh-CN" altLang="en-US" sz="2000">
                <a:solidFill>
                  <a:srgbClr val="FF0000"/>
                </a:solidFill>
                <a:effectLst/>
                <a:latin typeface="宋体" panose="02010600030101010101" pitchFamily="2" charset="-122"/>
              </a:rPr>
              <a:t>静态重定位优点</a:t>
            </a:r>
            <a:r>
              <a:rPr lang="en-US" altLang="zh-CN" sz="2000">
                <a:solidFill>
                  <a:srgbClr val="FF0000"/>
                </a:solidFill>
                <a:effectLst/>
                <a:latin typeface="宋体" panose="02010600030101010101" pitchFamily="2" charset="-122"/>
              </a:rPr>
              <a:t>:</a:t>
            </a:r>
            <a:endParaRPr lang="zh-CN" altLang="en-US" sz="2000">
              <a:solidFill>
                <a:srgbClr val="FF0000"/>
              </a:solidFill>
              <a:effectLst/>
              <a:latin typeface="宋体" panose="02010600030101010101" pitchFamily="2" charset="-122"/>
            </a:endParaRPr>
          </a:p>
          <a:p>
            <a:pPr marL="0" indent="0"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en-US" altLang="zh-CN" sz="2000">
                <a:solidFill>
                  <a:srgbClr val="FF0000"/>
                </a:solidFill>
                <a:effectLst/>
                <a:latin typeface="宋体" panose="02010600030101010101" pitchFamily="2" charset="-122"/>
              </a:rPr>
              <a:t>  </a:t>
            </a:r>
            <a:r>
              <a:rPr lang="zh-CN" altLang="en-US" sz="2000">
                <a:solidFill>
                  <a:schemeClr val="tx1"/>
                </a:solidFill>
                <a:effectLst/>
                <a:latin typeface="宋体" panose="02010600030101010101" pitchFamily="2" charset="-122"/>
              </a:rPr>
              <a:t>简单、容易实现，不需要增加任何硬件设备，可以通过软件全部实现。</a:t>
            </a:r>
          </a:p>
          <a:p>
            <a:pPr marL="0" indent="0" eaLnBrk="1" hangingPunct="1">
              <a:lnSpc>
                <a:spcPct val="130000"/>
              </a:lnSpc>
              <a:spcBef>
                <a:spcPct val="0"/>
              </a:spcBef>
              <a:buFont typeface="Wingdings" pitchFamily="2" charset="2"/>
              <a:buNone/>
            </a:pPr>
            <a:r>
              <a:rPr lang="zh-CN" altLang="en-US" sz="2000">
                <a:solidFill>
                  <a:srgbClr val="FF0000"/>
                </a:solidFill>
                <a:effectLst/>
                <a:latin typeface="宋体" panose="02010600030101010101" pitchFamily="2" charset="-122"/>
              </a:rPr>
              <a:t>静态重定位缺点</a:t>
            </a:r>
            <a:r>
              <a:rPr lang="en-US" altLang="zh-CN" sz="2000">
                <a:solidFill>
                  <a:srgbClr val="FF0000"/>
                </a:solidFill>
                <a:effectLst/>
                <a:latin typeface="宋体" panose="02010600030101010101" pitchFamily="2" charset="-122"/>
              </a:rPr>
              <a:t>:</a:t>
            </a:r>
          </a:p>
          <a:p>
            <a:pPr marL="0" indent="0"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）程序装入内存后，在运行期间不允许该程序在内存中移动，即无法实现内存重新分配，因此内存的利用率不高。</a:t>
            </a:r>
          </a:p>
          <a:p>
            <a:pPr marL="0" indent="0"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）如果内存提供的物理存储空间无法满足当前程序的存储容量，则必须由用户在程序设计时采用某种方法来解决存储空间不足的问题，这无疑增加了用户的负担。</a:t>
            </a:r>
          </a:p>
          <a:p>
            <a:pPr marL="0" indent="0"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）不利于用户共享存放在内存中的同一个程序。如果几个用户要使用同一个程序，就必须在各自的内存空间中存放该程序的副本，这浪费了内存资源。</a:t>
            </a:r>
          </a:p>
        </p:txBody>
      </p:sp>
      <p:sp>
        <p:nvSpPr>
          <p:cNvPr id="38915" name="AutoShape 3">
            <a:extLst>
              <a:ext uri="{FF2B5EF4-FFF2-40B4-BE49-F238E27FC236}">
                <a16:creationId xmlns:a16="http://schemas.microsoft.com/office/drawing/2014/main" id="{4E547E22-A58E-A249-AB56-EDA3965A0FA5}"/>
              </a:ext>
            </a:extLst>
          </p:cNvPr>
          <p:cNvSpPr>
            <a:spLocks noChangeArrowheads="1"/>
          </p:cNvSpPr>
          <p:nvPr/>
        </p:nvSpPr>
        <p:spPr bwMode="auto">
          <a:xfrm>
            <a:off x="428625" y="571500"/>
            <a:ext cx="5357813" cy="500063"/>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57E0ECDE-F6BF-4147-929F-DA2FACB89FCC}"/>
              </a:ext>
            </a:extLst>
          </p:cNvPr>
          <p:cNvSpPr>
            <a:spLocks noChangeArrowheads="1"/>
          </p:cNvSpPr>
          <p:nvPr/>
        </p:nvSpPr>
        <p:spPr bwMode="auto">
          <a:xfrm>
            <a:off x="428625" y="571500"/>
            <a:ext cx="5357813" cy="500063"/>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grpSp>
        <p:nvGrpSpPr>
          <p:cNvPr id="3" name="组合 66">
            <a:extLst>
              <a:ext uri="{FF2B5EF4-FFF2-40B4-BE49-F238E27FC236}">
                <a16:creationId xmlns:a16="http://schemas.microsoft.com/office/drawing/2014/main" id="{81A7763A-6ADF-1C43-9AF4-4B4C57C781D8}"/>
              </a:ext>
            </a:extLst>
          </p:cNvPr>
          <p:cNvGrpSpPr>
            <a:grpSpLocks/>
          </p:cNvGrpSpPr>
          <p:nvPr/>
        </p:nvGrpSpPr>
        <p:grpSpPr bwMode="auto">
          <a:xfrm>
            <a:off x="7165082" y="1756060"/>
            <a:ext cx="1655763" cy="4968875"/>
            <a:chOff x="6876256" y="620688"/>
            <a:chExt cx="1656184" cy="4968552"/>
          </a:xfrm>
        </p:grpSpPr>
        <p:grpSp>
          <p:nvGrpSpPr>
            <p:cNvPr id="4" name="组合 64">
              <a:extLst>
                <a:ext uri="{FF2B5EF4-FFF2-40B4-BE49-F238E27FC236}">
                  <a16:creationId xmlns:a16="http://schemas.microsoft.com/office/drawing/2014/main" id="{F4113DAE-5524-A644-AD8F-D4E6B7F82749}"/>
                </a:ext>
              </a:extLst>
            </p:cNvPr>
            <p:cNvGrpSpPr>
              <a:grpSpLocks/>
            </p:cNvGrpSpPr>
            <p:nvPr/>
          </p:nvGrpSpPr>
          <p:grpSpPr bwMode="auto">
            <a:xfrm>
              <a:off x="6876256" y="620688"/>
              <a:ext cx="1656184" cy="4968552"/>
              <a:chOff x="6516216" y="620688"/>
              <a:chExt cx="1656184" cy="4968552"/>
            </a:xfrm>
          </p:grpSpPr>
          <p:grpSp>
            <p:nvGrpSpPr>
              <p:cNvPr id="6" name="组合 63">
                <a:extLst>
                  <a:ext uri="{FF2B5EF4-FFF2-40B4-BE49-F238E27FC236}">
                    <a16:creationId xmlns:a16="http://schemas.microsoft.com/office/drawing/2014/main" id="{B79392B9-7FED-FB44-8C51-CF0A5265A19A}"/>
                  </a:ext>
                </a:extLst>
              </p:cNvPr>
              <p:cNvGrpSpPr>
                <a:grpSpLocks/>
              </p:cNvGrpSpPr>
              <p:nvPr/>
            </p:nvGrpSpPr>
            <p:grpSpPr bwMode="auto">
              <a:xfrm>
                <a:off x="6516216" y="620688"/>
                <a:ext cx="1513271" cy="4968552"/>
                <a:chOff x="6588224" y="620688"/>
                <a:chExt cx="1513271" cy="4968552"/>
              </a:xfrm>
            </p:grpSpPr>
            <p:sp>
              <p:nvSpPr>
                <p:cNvPr id="8" name="矩形 59">
                  <a:extLst>
                    <a:ext uri="{FF2B5EF4-FFF2-40B4-BE49-F238E27FC236}">
                      <a16:creationId xmlns:a16="http://schemas.microsoft.com/office/drawing/2014/main" id="{0AF20F31-5823-DD47-A65C-D54474EDAEDF}"/>
                    </a:ext>
                  </a:extLst>
                </p:cNvPr>
                <p:cNvSpPr>
                  <a:spLocks noChangeArrowheads="1"/>
                </p:cNvSpPr>
                <p:nvPr/>
              </p:nvSpPr>
              <p:spPr bwMode="auto">
                <a:xfrm>
                  <a:off x="6589327" y="620688"/>
                  <a:ext cx="1512168" cy="4968552"/>
                </a:xfrm>
                <a:prstGeom prst="rect">
                  <a:avLst/>
                </a:prstGeom>
                <a:solidFill>
                  <a:srgbClr val="53FFA1"/>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9" name="矩形 60">
                  <a:extLst>
                    <a:ext uri="{FF2B5EF4-FFF2-40B4-BE49-F238E27FC236}">
                      <a16:creationId xmlns:a16="http://schemas.microsoft.com/office/drawing/2014/main" id="{41CE2CF5-809F-4743-A10B-11236A1B2FF5}"/>
                    </a:ext>
                  </a:extLst>
                </p:cNvPr>
                <p:cNvSpPr>
                  <a:spLocks noChangeArrowheads="1"/>
                </p:cNvSpPr>
                <p:nvPr/>
              </p:nvSpPr>
              <p:spPr bwMode="auto">
                <a:xfrm>
                  <a:off x="6588224" y="620688"/>
                  <a:ext cx="1512168" cy="792088"/>
                </a:xfrm>
                <a:prstGeom prst="rect">
                  <a:avLst/>
                </a:prstGeom>
                <a:solidFill>
                  <a:srgbClr val="FF0000"/>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pSp>
          <p:sp>
            <p:nvSpPr>
              <p:cNvPr id="7" name="TextBox 6">
                <a:extLst>
                  <a:ext uri="{FF2B5EF4-FFF2-40B4-BE49-F238E27FC236}">
                    <a16:creationId xmlns:a16="http://schemas.microsoft.com/office/drawing/2014/main" id="{65F40C9D-89E4-3744-9E70-EBB8266EDB8B}"/>
                  </a:ext>
                </a:extLst>
              </p:cNvPr>
              <p:cNvSpPr txBox="1"/>
              <p:nvPr/>
            </p:nvSpPr>
            <p:spPr>
              <a:xfrm>
                <a:off x="6587672" y="836574"/>
                <a:ext cx="1584728" cy="461933"/>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F8F8F8"/>
                    </a:solidFill>
                    <a:effectLst>
                      <a:outerShdw blurRad="38100" dist="38100" dir="2700000" algn="tl">
                        <a:srgbClr val="C0C0C0"/>
                      </a:outerShdw>
                    </a:effectLst>
                  </a:rPr>
                  <a:t>操作系统</a:t>
                </a:r>
              </a:p>
            </p:txBody>
          </p:sp>
        </p:grpSp>
        <p:sp>
          <p:nvSpPr>
            <p:cNvPr id="5" name="TextBox 4">
              <a:extLst>
                <a:ext uri="{FF2B5EF4-FFF2-40B4-BE49-F238E27FC236}">
                  <a16:creationId xmlns:a16="http://schemas.microsoft.com/office/drawing/2014/main" id="{7BAD29D5-8519-6C47-8DD6-B69616C5003F}"/>
                </a:ext>
              </a:extLst>
            </p:cNvPr>
            <p:cNvSpPr txBox="1"/>
            <p:nvPr/>
          </p:nvSpPr>
          <p:spPr>
            <a:xfrm>
              <a:off x="7236711" y="2709702"/>
              <a:ext cx="652628" cy="1815982"/>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800">
                  <a:solidFill>
                    <a:srgbClr val="000000"/>
                  </a:solidFill>
                  <a:effectLst>
                    <a:outerShdw blurRad="38100" dist="38100" dir="2700000" algn="tl">
                      <a:srgbClr val="C0C0C0"/>
                    </a:outerShdw>
                  </a:effectLst>
                  <a:latin typeface="幼圆" pitchFamily="49" charset="-122"/>
                  <a:ea typeface="幼圆" pitchFamily="49" charset="-122"/>
                </a:rPr>
                <a:t>用户空间</a:t>
              </a:r>
            </a:p>
          </p:txBody>
        </p:sp>
      </p:grpSp>
      <p:grpSp>
        <p:nvGrpSpPr>
          <p:cNvPr id="10" name="组合 40">
            <a:extLst>
              <a:ext uri="{FF2B5EF4-FFF2-40B4-BE49-F238E27FC236}">
                <a16:creationId xmlns:a16="http://schemas.microsoft.com/office/drawing/2014/main" id="{E659BF72-67A4-234B-9692-14335EDDE6FF}"/>
              </a:ext>
            </a:extLst>
          </p:cNvPr>
          <p:cNvGrpSpPr>
            <a:grpSpLocks/>
          </p:cNvGrpSpPr>
          <p:nvPr/>
        </p:nvGrpSpPr>
        <p:grpSpPr bwMode="auto">
          <a:xfrm>
            <a:off x="245198" y="1602095"/>
            <a:ext cx="2730500" cy="4500265"/>
            <a:chOff x="533400" y="609600"/>
            <a:chExt cx="2514600" cy="4500265"/>
          </a:xfrm>
          <a:noFill/>
        </p:grpSpPr>
        <p:sp>
          <p:nvSpPr>
            <p:cNvPr id="11" name="Rectangle 2">
              <a:extLst>
                <a:ext uri="{FF2B5EF4-FFF2-40B4-BE49-F238E27FC236}">
                  <a16:creationId xmlns:a16="http://schemas.microsoft.com/office/drawing/2014/main" id="{9394ECFD-5B80-E046-9167-5E798C0092D3}"/>
                </a:ext>
              </a:extLst>
            </p:cNvPr>
            <p:cNvSpPr>
              <a:spLocks noChangeArrowheads="1"/>
            </p:cNvSpPr>
            <p:nvPr/>
          </p:nvSpPr>
          <p:spPr bwMode="auto">
            <a:xfrm>
              <a:off x="1191283" y="1066800"/>
              <a:ext cx="1247118" cy="3390528"/>
            </a:xfrm>
            <a:prstGeom prst="rect">
              <a:avLst/>
            </a:prstGeom>
            <a:grpFill/>
            <a:ln w="28575">
              <a:solidFill>
                <a:schemeClr val="tx1"/>
              </a:solidFill>
              <a:miter lim="800000"/>
              <a:headEnd/>
              <a:tailEnd/>
            </a:ln>
          </p:spPr>
          <p:txBody>
            <a:bodyPr wrap="none" anchor="ctr"/>
            <a:lstStyle/>
            <a:p>
              <a:pPr>
                <a:defRPr/>
              </a:pPr>
              <a:endParaRPr lang="zh-CN" altLang="en-US" sz="2400">
                <a:solidFill>
                  <a:srgbClr val="000000"/>
                </a:solidFill>
                <a:latin typeface="幼圆" pitchFamily="49" charset="-122"/>
                <a:ea typeface="幼圆" pitchFamily="49" charset="-122"/>
              </a:endParaRPr>
            </a:p>
          </p:txBody>
        </p:sp>
        <p:grpSp>
          <p:nvGrpSpPr>
            <p:cNvPr id="12" name="组合 39">
              <a:extLst>
                <a:ext uri="{FF2B5EF4-FFF2-40B4-BE49-F238E27FC236}">
                  <a16:creationId xmlns:a16="http://schemas.microsoft.com/office/drawing/2014/main" id="{BA344C5D-E944-A64F-A202-482B19780D46}"/>
                </a:ext>
              </a:extLst>
            </p:cNvPr>
            <p:cNvGrpSpPr>
              <a:grpSpLocks/>
            </p:cNvGrpSpPr>
            <p:nvPr/>
          </p:nvGrpSpPr>
          <p:grpSpPr bwMode="auto">
            <a:xfrm>
              <a:off x="533400" y="609600"/>
              <a:ext cx="2514600" cy="4500265"/>
              <a:chOff x="533400" y="609600"/>
              <a:chExt cx="2514600" cy="4500265"/>
            </a:xfrm>
            <a:grpFill/>
          </p:grpSpPr>
          <p:sp>
            <p:nvSpPr>
              <p:cNvPr id="13" name="Line 5">
                <a:extLst>
                  <a:ext uri="{FF2B5EF4-FFF2-40B4-BE49-F238E27FC236}">
                    <a16:creationId xmlns:a16="http://schemas.microsoft.com/office/drawing/2014/main" id="{3DBEB0E7-9DA6-9446-92B4-655A073957F1}"/>
                  </a:ext>
                </a:extLst>
              </p:cNvPr>
              <p:cNvSpPr>
                <a:spLocks noChangeShapeType="1"/>
              </p:cNvSpPr>
              <p:nvPr/>
            </p:nvSpPr>
            <p:spPr bwMode="auto">
              <a:xfrm>
                <a:off x="1219200" y="2590800"/>
                <a:ext cx="1219200" cy="0"/>
              </a:xfrm>
              <a:prstGeom prst="line">
                <a:avLst/>
              </a:prstGeom>
              <a:grpFill/>
              <a:ln w="28575">
                <a:solidFill>
                  <a:schemeClr val="tx1"/>
                </a:solidFill>
                <a:prstDash val="sysDot"/>
                <a:round/>
                <a:headEnd/>
                <a:tailEnd/>
              </a:ln>
            </p:spPr>
            <p:txBody>
              <a:bodyPr/>
              <a:lstStyle/>
              <a:p>
                <a:pPr>
                  <a:defRPr/>
                </a:pPr>
                <a:endParaRPr lang="zh-CN" altLang="en-US" sz="2400">
                  <a:solidFill>
                    <a:srgbClr val="000000"/>
                  </a:solidFill>
                  <a:latin typeface="幼圆" pitchFamily="49" charset="-122"/>
                  <a:ea typeface="幼圆" pitchFamily="49" charset="-122"/>
                </a:endParaRPr>
              </a:p>
            </p:txBody>
          </p:sp>
          <p:sp>
            <p:nvSpPr>
              <p:cNvPr id="14" name="Text Box 8">
                <a:extLst>
                  <a:ext uri="{FF2B5EF4-FFF2-40B4-BE49-F238E27FC236}">
                    <a16:creationId xmlns:a16="http://schemas.microsoft.com/office/drawing/2014/main" id="{404AD8EF-00D7-5D4C-A95F-2591A4B22216}"/>
                  </a:ext>
                </a:extLst>
              </p:cNvPr>
              <p:cNvSpPr txBox="1">
                <a:spLocks noChangeArrowheads="1"/>
              </p:cNvSpPr>
              <p:nvPr/>
            </p:nvSpPr>
            <p:spPr bwMode="auto">
              <a:xfrm>
                <a:off x="533400" y="609600"/>
                <a:ext cx="1676400" cy="461665"/>
              </a:xfrm>
              <a:prstGeom prst="rect">
                <a:avLst/>
              </a:prstGeom>
              <a:grpFill/>
              <a:ln w="9525">
                <a:noFill/>
                <a:miter lim="800000"/>
                <a:headEnd/>
                <a:tailEnd/>
              </a:ln>
            </p:spPr>
            <p:txBody>
              <a:bodyPr>
                <a:spAutoFit/>
              </a:bodyPr>
              <a:lstStyle/>
              <a:p>
                <a:pPr>
                  <a:spcBef>
                    <a:spcPct val="50000"/>
                  </a:spcBef>
                  <a:defRPr/>
                </a:pPr>
                <a:r>
                  <a:rPr lang="zh-CN" altLang="en-US" sz="2400" dirty="0">
                    <a:solidFill>
                      <a:srgbClr val="0000FF"/>
                    </a:solidFill>
                    <a:latin typeface="幼圆" pitchFamily="49" charset="-122"/>
                    <a:ea typeface="幼圆" pitchFamily="49" charset="-122"/>
                  </a:rPr>
                  <a:t>符号地址</a:t>
                </a:r>
              </a:p>
            </p:txBody>
          </p:sp>
          <p:sp>
            <p:nvSpPr>
              <p:cNvPr id="15" name="Text Box 11">
                <a:extLst>
                  <a:ext uri="{FF2B5EF4-FFF2-40B4-BE49-F238E27FC236}">
                    <a16:creationId xmlns:a16="http://schemas.microsoft.com/office/drawing/2014/main" id="{2E798C4C-FDE5-3542-9A43-F08385B91318}"/>
                  </a:ext>
                </a:extLst>
              </p:cNvPr>
              <p:cNvSpPr txBox="1">
                <a:spLocks noChangeArrowheads="1"/>
              </p:cNvSpPr>
              <p:nvPr/>
            </p:nvSpPr>
            <p:spPr bwMode="auto">
              <a:xfrm>
                <a:off x="1295400" y="1143000"/>
                <a:ext cx="1295400" cy="1015663"/>
              </a:xfrm>
              <a:prstGeom prst="rect">
                <a:avLst/>
              </a:prstGeom>
              <a:grpFill/>
              <a:ln w="9525">
                <a:noFill/>
                <a:miter lim="800000"/>
                <a:headEnd/>
                <a:tailEnd/>
              </a:ln>
            </p:spPr>
            <p:txBody>
              <a:bodyPr>
                <a:spAutoFit/>
              </a:bodyPr>
              <a:lstStyle/>
              <a:p>
                <a:pPr>
                  <a:spcBef>
                    <a:spcPct val="50000"/>
                  </a:spcBef>
                  <a:defRPr/>
                </a:pPr>
                <a:r>
                  <a:rPr lang="zh-CN" altLang="en-US" sz="2400" dirty="0">
                    <a:solidFill>
                      <a:srgbClr val="000000"/>
                    </a:solidFill>
                    <a:latin typeface="幼圆" pitchFamily="49" charset="-122"/>
                    <a:ea typeface="幼圆" pitchFamily="49" charset="-122"/>
                  </a:rPr>
                  <a:t>程序</a:t>
                </a:r>
              </a:p>
              <a:p>
                <a:pPr>
                  <a:spcBef>
                    <a:spcPct val="50000"/>
                  </a:spcBef>
                  <a:defRPr/>
                </a:pPr>
                <a:r>
                  <a:rPr lang="en-US" altLang="zh-CN" sz="2400" dirty="0">
                    <a:solidFill>
                      <a:srgbClr val="000000"/>
                    </a:solidFill>
                    <a:latin typeface="幼圆" pitchFamily="49" charset="-122"/>
                    <a:ea typeface="幼圆" pitchFamily="49" charset="-122"/>
                  </a:rPr>
                  <a:t>JUMP </a:t>
                </a:r>
                <a:r>
                  <a:rPr lang="en-US" altLang="zh-CN" sz="2400" dirty="0" err="1">
                    <a:solidFill>
                      <a:srgbClr val="000000"/>
                    </a:solidFill>
                    <a:latin typeface="幼圆" pitchFamily="49" charset="-122"/>
                    <a:ea typeface="幼圆" pitchFamily="49" charset="-122"/>
                  </a:rPr>
                  <a:t>i</a:t>
                </a:r>
                <a:endParaRPr lang="en-US" altLang="zh-CN" sz="2400" dirty="0">
                  <a:solidFill>
                    <a:srgbClr val="000000"/>
                  </a:solidFill>
                  <a:latin typeface="幼圆" pitchFamily="49" charset="-122"/>
                  <a:ea typeface="幼圆" pitchFamily="49" charset="-122"/>
                </a:endParaRPr>
              </a:p>
            </p:txBody>
          </p:sp>
          <p:sp>
            <p:nvSpPr>
              <p:cNvPr id="16" name="Text Box 12">
                <a:extLst>
                  <a:ext uri="{FF2B5EF4-FFF2-40B4-BE49-F238E27FC236}">
                    <a16:creationId xmlns:a16="http://schemas.microsoft.com/office/drawing/2014/main" id="{8FDD60FE-9831-E548-9DCB-0561417F7643}"/>
                  </a:ext>
                </a:extLst>
              </p:cNvPr>
              <p:cNvSpPr txBox="1">
                <a:spLocks noChangeArrowheads="1"/>
              </p:cNvSpPr>
              <p:nvPr/>
            </p:nvSpPr>
            <p:spPr bwMode="auto">
              <a:xfrm>
                <a:off x="1295400" y="2209800"/>
                <a:ext cx="1066800" cy="830997"/>
              </a:xfrm>
              <a:prstGeom prst="rect">
                <a:avLst/>
              </a:prstGeom>
              <a:grpFill/>
              <a:ln w="9525">
                <a:noFill/>
                <a:miter lim="800000"/>
                <a:headEnd/>
                <a:tailEnd/>
              </a:ln>
            </p:spPr>
            <p:txBody>
              <a:bodyPr>
                <a:spAutoFit/>
              </a:bodyPr>
              <a:lstStyle/>
              <a:p>
                <a:pPr>
                  <a:spcBef>
                    <a:spcPct val="50000"/>
                  </a:spcBef>
                  <a:defRPr/>
                </a:pPr>
                <a:r>
                  <a:rPr lang="en-US" altLang="zh-CN" sz="2400" dirty="0">
                    <a:solidFill>
                      <a:srgbClr val="000000"/>
                    </a:solidFill>
                    <a:latin typeface="幼圆" pitchFamily="49" charset="-122"/>
                    <a:ea typeface="幼圆" pitchFamily="49" charset="-122"/>
                  </a:rPr>
                  <a:t>LOAD j</a:t>
                </a:r>
              </a:p>
            </p:txBody>
          </p:sp>
          <p:sp>
            <p:nvSpPr>
              <p:cNvPr id="17" name="Text Box 13">
                <a:extLst>
                  <a:ext uri="{FF2B5EF4-FFF2-40B4-BE49-F238E27FC236}">
                    <a16:creationId xmlns:a16="http://schemas.microsoft.com/office/drawing/2014/main" id="{B96FF2C4-F9B1-0D4B-8722-1B0112F850D4}"/>
                  </a:ext>
                </a:extLst>
              </p:cNvPr>
              <p:cNvSpPr txBox="1">
                <a:spLocks noChangeArrowheads="1"/>
              </p:cNvSpPr>
              <p:nvPr/>
            </p:nvSpPr>
            <p:spPr bwMode="auto">
              <a:xfrm>
                <a:off x="1447800" y="3446386"/>
                <a:ext cx="914400" cy="461665"/>
              </a:xfrm>
              <a:prstGeom prst="rect">
                <a:avLst/>
              </a:prstGeom>
              <a:grpFill/>
              <a:ln w="9525">
                <a:noFill/>
                <a:miter lim="800000"/>
                <a:headEnd/>
                <a:tailEnd/>
              </a:ln>
            </p:spPr>
            <p:txBody>
              <a:bodyPr>
                <a:spAutoFit/>
              </a:bodyPr>
              <a:lstStyle/>
              <a:p>
                <a:pPr>
                  <a:spcBef>
                    <a:spcPct val="50000"/>
                  </a:spcBef>
                  <a:defRPr/>
                </a:pPr>
                <a:r>
                  <a:rPr lang="en-US" altLang="zh-CN" sz="2400" dirty="0">
                    <a:solidFill>
                      <a:srgbClr val="000000"/>
                    </a:solidFill>
                    <a:latin typeface="幼圆" pitchFamily="49" charset="-122"/>
                    <a:ea typeface="幼圆" pitchFamily="49" charset="-122"/>
                  </a:rPr>
                  <a:t>DATA</a:t>
                </a:r>
              </a:p>
            </p:txBody>
          </p:sp>
          <p:sp>
            <p:nvSpPr>
              <p:cNvPr id="18" name="Text Box 14">
                <a:extLst>
                  <a:ext uri="{FF2B5EF4-FFF2-40B4-BE49-F238E27FC236}">
                    <a16:creationId xmlns:a16="http://schemas.microsoft.com/office/drawing/2014/main" id="{5596E166-5AC5-6448-B582-920829E3BE41}"/>
                  </a:ext>
                </a:extLst>
              </p:cNvPr>
              <p:cNvSpPr txBox="1">
                <a:spLocks noChangeArrowheads="1"/>
              </p:cNvSpPr>
              <p:nvPr/>
            </p:nvSpPr>
            <p:spPr bwMode="auto">
              <a:xfrm>
                <a:off x="914400" y="1905000"/>
                <a:ext cx="457200" cy="461665"/>
              </a:xfrm>
              <a:prstGeom prst="rect">
                <a:avLst/>
              </a:prstGeom>
              <a:grpFill/>
              <a:ln w="9525">
                <a:noFill/>
                <a:miter lim="800000"/>
                <a:headEnd/>
                <a:tailEnd/>
              </a:ln>
            </p:spPr>
            <p:txBody>
              <a:bodyPr>
                <a:spAutoFit/>
              </a:bodyPr>
              <a:lstStyle/>
              <a:p>
                <a:pPr>
                  <a:spcBef>
                    <a:spcPct val="50000"/>
                  </a:spcBef>
                  <a:defRPr/>
                </a:pPr>
                <a:r>
                  <a:rPr lang="en-US" altLang="zh-CN" sz="2400" dirty="0" err="1">
                    <a:solidFill>
                      <a:srgbClr val="000000"/>
                    </a:solidFill>
                    <a:latin typeface="幼圆" pitchFamily="49" charset="-122"/>
                    <a:ea typeface="幼圆" pitchFamily="49" charset="-122"/>
                  </a:rPr>
                  <a:t>i</a:t>
                </a:r>
                <a:endParaRPr lang="en-US" altLang="zh-CN" sz="2400" dirty="0">
                  <a:solidFill>
                    <a:srgbClr val="000000"/>
                  </a:solidFill>
                  <a:latin typeface="幼圆" pitchFamily="49" charset="-122"/>
                  <a:ea typeface="幼圆" pitchFamily="49" charset="-122"/>
                </a:endParaRPr>
              </a:p>
            </p:txBody>
          </p:sp>
          <p:sp>
            <p:nvSpPr>
              <p:cNvPr id="19" name="Text Box 15">
                <a:extLst>
                  <a:ext uri="{FF2B5EF4-FFF2-40B4-BE49-F238E27FC236}">
                    <a16:creationId xmlns:a16="http://schemas.microsoft.com/office/drawing/2014/main" id="{65EEB151-98BF-044D-8298-0914250F9262}"/>
                  </a:ext>
                </a:extLst>
              </p:cNvPr>
              <p:cNvSpPr txBox="1">
                <a:spLocks noChangeArrowheads="1"/>
              </p:cNvSpPr>
              <p:nvPr/>
            </p:nvSpPr>
            <p:spPr bwMode="auto">
              <a:xfrm>
                <a:off x="914400" y="3429000"/>
                <a:ext cx="228600" cy="461665"/>
              </a:xfrm>
              <a:prstGeom prst="rect">
                <a:avLst/>
              </a:prstGeom>
              <a:grpFill/>
              <a:ln w="9525">
                <a:noFill/>
                <a:miter lim="800000"/>
                <a:headEnd/>
                <a:tailEnd/>
              </a:ln>
            </p:spPr>
            <p:txBody>
              <a:bodyPr>
                <a:spAutoFit/>
              </a:bodyPr>
              <a:lstStyle/>
              <a:p>
                <a:pPr>
                  <a:spcBef>
                    <a:spcPct val="50000"/>
                  </a:spcBef>
                  <a:defRPr/>
                </a:pPr>
                <a:r>
                  <a:rPr lang="en-US" altLang="zh-CN" sz="2400">
                    <a:solidFill>
                      <a:srgbClr val="000000"/>
                    </a:solidFill>
                    <a:latin typeface="幼圆" pitchFamily="49" charset="-122"/>
                    <a:ea typeface="幼圆" pitchFamily="49" charset="-122"/>
                  </a:rPr>
                  <a:t>j</a:t>
                </a:r>
              </a:p>
            </p:txBody>
          </p:sp>
          <p:sp>
            <p:nvSpPr>
              <p:cNvPr id="20" name="Line 16">
                <a:extLst>
                  <a:ext uri="{FF2B5EF4-FFF2-40B4-BE49-F238E27FC236}">
                    <a16:creationId xmlns:a16="http://schemas.microsoft.com/office/drawing/2014/main" id="{EB9A1D94-2373-2F4D-90D0-D4BD9515B17D}"/>
                  </a:ext>
                </a:extLst>
              </p:cNvPr>
              <p:cNvSpPr>
                <a:spLocks noChangeShapeType="1"/>
              </p:cNvSpPr>
              <p:nvPr/>
            </p:nvSpPr>
            <p:spPr bwMode="auto">
              <a:xfrm>
                <a:off x="2286000" y="1752600"/>
                <a:ext cx="457200" cy="0"/>
              </a:xfrm>
              <a:prstGeom prst="line">
                <a:avLst/>
              </a:prstGeom>
              <a:grpFill/>
              <a:ln w="9525">
                <a:solidFill>
                  <a:schemeClr val="tx1"/>
                </a:solidFill>
                <a:round/>
                <a:headEnd/>
                <a:tailEnd/>
              </a:ln>
            </p:spPr>
            <p:txBody>
              <a:bodyPr/>
              <a:lstStyle/>
              <a:p>
                <a:pPr>
                  <a:defRPr/>
                </a:pPr>
                <a:endParaRPr lang="zh-CN" altLang="en-US" sz="2400">
                  <a:solidFill>
                    <a:srgbClr val="000000"/>
                  </a:solidFill>
                  <a:latin typeface="幼圆" pitchFamily="49" charset="-122"/>
                  <a:ea typeface="幼圆" pitchFamily="49" charset="-122"/>
                </a:endParaRPr>
              </a:p>
            </p:txBody>
          </p:sp>
          <p:sp>
            <p:nvSpPr>
              <p:cNvPr id="21" name="Line 18">
                <a:extLst>
                  <a:ext uri="{FF2B5EF4-FFF2-40B4-BE49-F238E27FC236}">
                    <a16:creationId xmlns:a16="http://schemas.microsoft.com/office/drawing/2014/main" id="{B7398605-A5DA-C346-9E86-35B043D246AD}"/>
                  </a:ext>
                </a:extLst>
              </p:cNvPr>
              <p:cNvSpPr>
                <a:spLocks noChangeShapeType="1"/>
              </p:cNvSpPr>
              <p:nvPr/>
            </p:nvSpPr>
            <p:spPr bwMode="auto">
              <a:xfrm flipH="1">
                <a:off x="2286000" y="2133600"/>
                <a:ext cx="457200" cy="0"/>
              </a:xfrm>
              <a:prstGeom prst="line">
                <a:avLst/>
              </a:prstGeom>
              <a:grpFill/>
              <a:ln w="9525">
                <a:solidFill>
                  <a:schemeClr val="tx1"/>
                </a:solidFill>
                <a:round/>
                <a:headEnd/>
                <a:tailEnd type="triangle" w="med" len="med"/>
              </a:ln>
            </p:spPr>
            <p:txBody>
              <a:bodyPr/>
              <a:lstStyle/>
              <a:p>
                <a:pPr>
                  <a:defRPr/>
                </a:pPr>
                <a:endParaRPr lang="zh-CN" altLang="en-US" sz="2400">
                  <a:solidFill>
                    <a:srgbClr val="000000"/>
                  </a:solidFill>
                  <a:latin typeface="幼圆" pitchFamily="49" charset="-122"/>
                  <a:ea typeface="幼圆" pitchFamily="49" charset="-122"/>
                </a:endParaRPr>
              </a:p>
            </p:txBody>
          </p:sp>
          <p:sp>
            <p:nvSpPr>
              <p:cNvPr id="22" name="Line 19">
                <a:extLst>
                  <a:ext uri="{FF2B5EF4-FFF2-40B4-BE49-F238E27FC236}">
                    <a16:creationId xmlns:a16="http://schemas.microsoft.com/office/drawing/2014/main" id="{C6A49BF5-BF34-DC45-9F95-A5AA9E5E938D}"/>
                  </a:ext>
                </a:extLst>
              </p:cNvPr>
              <p:cNvSpPr>
                <a:spLocks noChangeShapeType="1"/>
              </p:cNvSpPr>
              <p:nvPr/>
            </p:nvSpPr>
            <p:spPr bwMode="auto">
              <a:xfrm>
                <a:off x="2362200" y="2438400"/>
                <a:ext cx="381000" cy="0"/>
              </a:xfrm>
              <a:prstGeom prst="line">
                <a:avLst/>
              </a:prstGeom>
              <a:grpFill/>
              <a:ln w="9525">
                <a:solidFill>
                  <a:schemeClr val="tx1"/>
                </a:solidFill>
                <a:round/>
                <a:headEnd/>
                <a:tailEnd/>
              </a:ln>
            </p:spPr>
            <p:txBody>
              <a:bodyPr/>
              <a:lstStyle/>
              <a:p>
                <a:pPr>
                  <a:defRPr/>
                </a:pPr>
                <a:endParaRPr lang="zh-CN" altLang="en-US" sz="2400">
                  <a:solidFill>
                    <a:srgbClr val="000000"/>
                  </a:solidFill>
                  <a:latin typeface="幼圆" pitchFamily="49" charset="-122"/>
                  <a:ea typeface="幼圆" pitchFamily="49" charset="-122"/>
                </a:endParaRPr>
              </a:p>
            </p:txBody>
          </p:sp>
          <p:sp>
            <p:nvSpPr>
              <p:cNvPr id="23" name="Line 21">
                <a:extLst>
                  <a:ext uri="{FF2B5EF4-FFF2-40B4-BE49-F238E27FC236}">
                    <a16:creationId xmlns:a16="http://schemas.microsoft.com/office/drawing/2014/main" id="{8FA6AC2B-E743-1845-888F-3884068CD9ED}"/>
                  </a:ext>
                </a:extLst>
              </p:cNvPr>
              <p:cNvSpPr>
                <a:spLocks noChangeShapeType="1"/>
              </p:cNvSpPr>
              <p:nvPr/>
            </p:nvSpPr>
            <p:spPr bwMode="auto">
              <a:xfrm flipH="1">
                <a:off x="2133600" y="3657600"/>
                <a:ext cx="609600" cy="0"/>
              </a:xfrm>
              <a:prstGeom prst="line">
                <a:avLst/>
              </a:prstGeom>
              <a:grpFill/>
              <a:ln w="9525">
                <a:solidFill>
                  <a:schemeClr val="tx1"/>
                </a:solidFill>
                <a:round/>
                <a:headEnd/>
                <a:tailEnd type="triangle" w="med" len="med"/>
              </a:ln>
            </p:spPr>
            <p:txBody>
              <a:bodyPr/>
              <a:lstStyle/>
              <a:p>
                <a:pPr>
                  <a:defRPr/>
                </a:pPr>
                <a:endParaRPr lang="zh-CN" altLang="en-US" sz="2400">
                  <a:solidFill>
                    <a:srgbClr val="000000"/>
                  </a:solidFill>
                  <a:latin typeface="幼圆" pitchFamily="49" charset="-122"/>
                  <a:ea typeface="幼圆" pitchFamily="49" charset="-122"/>
                </a:endParaRPr>
              </a:p>
            </p:txBody>
          </p:sp>
          <p:sp>
            <p:nvSpPr>
              <p:cNvPr id="24" name="Text Box 32">
                <a:extLst>
                  <a:ext uri="{FF2B5EF4-FFF2-40B4-BE49-F238E27FC236}">
                    <a16:creationId xmlns:a16="http://schemas.microsoft.com/office/drawing/2014/main" id="{C97C2534-7F8C-8544-95A9-7320081C19B4}"/>
                  </a:ext>
                </a:extLst>
              </p:cNvPr>
              <p:cNvSpPr txBox="1">
                <a:spLocks noChangeArrowheads="1"/>
              </p:cNvSpPr>
              <p:nvPr/>
            </p:nvSpPr>
            <p:spPr bwMode="auto">
              <a:xfrm>
                <a:off x="914400" y="4648200"/>
                <a:ext cx="2133600" cy="461665"/>
              </a:xfrm>
              <a:prstGeom prst="rect">
                <a:avLst/>
              </a:prstGeom>
              <a:grpFill/>
              <a:ln w="9525">
                <a:noFill/>
                <a:miter lim="800000"/>
                <a:headEnd/>
                <a:tailEnd/>
              </a:ln>
            </p:spPr>
            <p:txBody>
              <a:bodyPr>
                <a:spAutoFit/>
              </a:bodyPr>
              <a:lstStyle/>
              <a:p>
                <a:pPr>
                  <a:spcBef>
                    <a:spcPct val="50000"/>
                  </a:spcBef>
                  <a:defRPr/>
                </a:pPr>
                <a:r>
                  <a:rPr lang="en-US" altLang="zh-CN" sz="2400">
                    <a:solidFill>
                      <a:srgbClr val="000000"/>
                    </a:solidFill>
                    <a:latin typeface="幼圆" pitchFamily="49" charset="-122"/>
                    <a:ea typeface="幼圆" pitchFamily="49" charset="-122"/>
                  </a:rPr>
                  <a:t>(a) </a:t>
                </a:r>
                <a:r>
                  <a:rPr lang="zh-CN" altLang="en-US" sz="2400">
                    <a:solidFill>
                      <a:srgbClr val="000000"/>
                    </a:solidFill>
                    <a:latin typeface="幼圆" pitchFamily="49" charset="-122"/>
                    <a:ea typeface="幼圆" pitchFamily="49" charset="-122"/>
                  </a:rPr>
                  <a:t>目标模块</a:t>
                </a:r>
              </a:p>
            </p:txBody>
          </p:sp>
          <p:sp>
            <p:nvSpPr>
              <p:cNvPr id="25" name="Line 17">
                <a:extLst>
                  <a:ext uri="{FF2B5EF4-FFF2-40B4-BE49-F238E27FC236}">
                    <a16:creationId xmlns:a16="http://schemas.microsoft.com/office/drawing/2014/main" id="{95738DFC-E105-E847-9876-1D04FBD660C1}"/>
                  </a:ext>
                </a:extLst>
              </p:cNvPr>
              <p:cNvSpPr>
                <a:spLocks noChangeShapeType="1"/>
              </p:cNvSpPr>
              <p:nvPr/>
            </p:nvSpPr>
            <p:spPr bwMode="auto">
              <a:xfrm>
                <a:off x="2754135" y="1752600"/>
                <a:ext cx="0" cy="381000"/>
              </a:xfrm>
              <a:prstGeom prst="line">
                <a:avLst/>
              </a:prstGeom>
              <a:grpFill/>
              <a:ln w="9525">
                <a:solidFill>
                  <a:schemeClr val="tx1"/>
                </a:solidFill>
                <a:round/>
                <a:headEnd/>
                <a:tailEnd/>
              </a:ln>
            </p:spPr>
            <p:txBody>
              <a:bodyPr/>
              <a:lstStyle/>
              <a:p>
                <a:pPr>
                  <a:defRPr/>
                </a:pPr>
                <a:endParaRPr lang="zh-CN" altLang="en-US" sz="2400">
                  <a:solidFill>
                    <a:srgbClr val="000000"/>
                  </a:solidFill>
                  <a:latin typeface="幼圆" pitchFamily="49" charset="-122"/>
                  <a:ea typeface="幼圆" pitchFamily="49" charset="-122"/>
                </a:endParaRPr>
              </a:p>
            </p:txBody>
          </p:sp>
          <p:sp>
            <p:nvSpPr>
              <p:cNvPr id="26" name="Line 20">
                <a:extLst>
                  <a:ext uri="{FF2B5EF4-FFF2-40B4-BE49-F238E27FC236}">
                    <a16:creationId xmlns:a16="http://schemas.microsoft.com/office/drawing/2014/main" id="{2119321B-8789-AD4E-8CA9-FAF0D7C8BB80}"/>
                  </a:ext>
                </a:extLst>
              </p:cNvPr>
              <p:cNvSpPr>
                <a:spLocks noChangeShapeType="1"/>
              </p:cNvSpPr>
              <p:nvPr/>
            </p:nvSpPr>
            <p:spPr bwMode="auto">
              <a:xfrm>
                <a:off x="2754135" y="2438400"/>
                <a:ext cx="0" cy="1219200"/>
              </a:xfrm>
              <a:prstGeom prst="line">
                <a:avLst/>
              </a:prstGeom>
              <a:grpFill/>
              <a:ln w="9525">
                <a:solidFill>
                  <a:schemeClr val="tx1"/>
                </a:solidFill>
                <a:round/>
                <a:headEnd/>
                <a:tailEnd/>
              </a:ln>
            </p:spPr>
            <p:txBody>
              <a:bodyPr/>
              <a:lstStyle/>
              <a:p>
                <a:pPr>
                  <a:defRPr/>
                </a:pPr>
                <a:endParaRPr lang="zh-CN" altLang="en-US" sz="2400">
                  <a:solidFill>
                    <a:srgbClr val="000000"/>
                  </a:solidFill>
                  <a:latin typeface="幼圆" pitchFamily="49" charset="-122"/>
                  <a:ea typeface="幼圆" pitchFamily="49" charset="-122"/>
                </a:endParaRPr>
              </a:p>
            </p:txBody>
          </p:sp>
        </p:grpSp>
      </p:grpSp>
      <p:sp>
        <p:nvSpPr>
          <p:cNvPr id="27" name="Text Box 35">
            <a:extLst>
              <a:ext uri="{FF2B5EF4-FFF2-40B4-BE49-F238E27FC236}">
                <a16:creationId xmlns:a16="http://schemas.microsoft.com/office/drawing/2014/main" id="{3C492C04-F175-F645-BF40-F0DE410CDC79}"/>
              </a:ext>
            </a:extLst>
          </p:cNvPr>
          <p:cNvSpPr txBox="1">
            <a:spLocks noChangeArrowheads="1"/>
          </p:cNvSpPr>
          <p:nvPr/>
        </p:nvSpPr>
        <p:spPr bwMode="auto">
          <a:xfrm>
            <a:off x="4094856" y="6285198"/>
            <a:ext cx="299720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800">
                <a:solidFill>
                  <a:srgbClr val="0000FF"/>
                </a:solidFill>
                <a:latin typeface="幼圆" pitchFamily="49" charset="-122"/>
                <a:ea typeface="幼圆" pitchFamily="49" charset="-122"/>
              </a:rPr>
              <a:t>绝对装入方式</a:t>
            </a:r>
          </a:p>
        </p:txBody>
      </p:sp>
      <p:grpSp>
        <p:nvGrpSpPr>
          <p:cNvPr id="28" name="组合 55">
            <a:extLst>
              <a:ext uri="{FF2B5EF4-FFF2-40B4-BE49-F238E27FC236}">
                <a16:creationId xmlns:a16="http://schemas.microsoft.com/office/drawing/2014/main" id="{FE1078CD-81CF-904A-883C-D21E88CBD7D4}"/>
              </a:ext>
            </a:extLst>
          </p:cNvPr>
          <p:cNvGrpSpPr>
            <a:grpSpLocks/>
          </p:cNvGrpSpPr>
          <p:nvPr/>
        </p:nvGrpSpPr>
        <p:grpSpPr bwMode="auto">
          <a:xfrm>
            <a:off x="3465642" y="1705282"/>
            <a:ext cx="2410167" cy="3763963"/>
            <a:chOff x="6072336" y="1321296"/>
            <a:chExt cx="2545888" cy="3762634"/>
          </a:xfrm>
          <a:noFill/>
        </p:grpSpPr>
        <p:sp>
          <p:nvSpPr>
            <p:cNvPr id="29" name="Rectangle 3">
              <a:extLst>
                <a:ext uri="{FF2B5EF4-FFF2-40B4-BE49-F238E27FC236}">
                  <a16:creationId xmlns:a16="http://schemas.microsoft.com/office/drawing/2014/main" id="{26909055-95B8-FF45-8208-47EC89889CAF}"/>
                </a:ext>
              </a:extLst>
            </p:cNvPr>
            <p:cNvSpPr>
              <a:spLocks noChangeArrowheads="1"/>
            </p:cNvSpPr>
            <p:nvPr/>
          </p:nvSpPr>
          <p:spPr bwMode="auto">
            <a:xfrm>
              <a:off x="6952457" y="1664568"/>
              <a:ext cx="1477187" cy="3419362"/>
            </a:xfrm>
            <a:prstGeom prst="rect">
              <a:avLst/>
            </a:prstGeom>
            <a:solidFill>
              <a:srgbClr val="FFFFFF"/>
            </a:solidFill>
            <a:ln w="28575">
              <a:solidFill>
                <a:schemeClr val="tx1"/>
              </a:solidFill>
              <a:miter lim="800000"/>
              <a:headEnd/>
              <a:tailEnd/>
            </a:ln>
          </p:spPr>
          <p:txBody>
            <a:bodyPr wrap="none" anchor="ctr"/>
            <a:lstStyle/>
            <a:p>
              <a:pPr>
                <a:defRPr/>
              </a:pPr>
              <a:endParaRPr lang="zh-CN" altLang="en-US">
                <a:solidFill>
                  <a:srgbClr val="000000"/>
                </a:solidFill>
              </a:endParaRPr>
            </a:p>
          </p:txBody>
        </p:sp>
        <p:sp>
          <p:nvSpPr>
            <p:cNvPr id="30" name="Text Box 25">
              <a:extLst>
                <a:ext uri="{FF2B5EF4-FFF2-40B4-BE49-F238E27FC236}">
                  <a16:creationId xmlns:a16="http://schemas.microsoft.com/office/drawing/2014/main" id="{CA53CA1C-896A-284B-9958-59C6B103BB7F}"/>
                </a:ext>
              </a:extLst>
            </p:cNvPr>
            <p:cNvSpPr txBox="1">
              <a:spLocks noChangeArrowheads="1"/>
            </p:cNvSpPr>
            <p:nvPr/>
          </p:nvSpPr>
          <p:spPr bwMode="auto">
            <a:xfrm>
              <a:off x="6941824" y="2990280"/>
              <a:ext cx="1676400" cy="400110"/>
            </a:xfrm>
            <a:prstGeom prst="rect">
              <a:avLst/>
            </a:prstGeom>
            <a:grpFill/>
            <a:ln w="9525">
              <a:noFill/>
              <a:miter lim="800000"/>
              <a:headEnd/>
              <a:tailEnd/>
            </a:ln>
          </p:spPr>
          <p:txBody>
            <a:bodyPr>
              <a:spAutoFit/>
            </a:bodyPr>
            <a:lstStyle/>
            <a:p>
              <a:pPr>
                <a:spcBef>
                  <a:spcPct val="50000"/>
                </a:spcBef>
                <a:defRPr/>
              </a:pPr>
              <a:r>
                <a:rPr lang="en-US" altLang="zh-CN" sz="2000" dirty="0">
                  <a:solidFill>
                    <a:srgbClr val="000000"/>
                  </a:solidFill>
                </a:rPr>
                <a:t>LOAD 2224</a:t>
              </a:r>
            </a:p>
          </p:txBody>
        </p:sp>
        <p:sp>
          <p:nvSpPr>
            <p:cNvPr id="31" name="Text Box 25">
              <a:extLst>
                <a:ext uri="{FF2B5EF4-FFF2-40B4-BE49-F238E27FC236}">
                  <a16:creationId xmlns:a16="http://schemas.microsoft.com/office/drawing/2014/main" id="{CBBD1A7B-208C-7B41-9545-20F03B7D17A1}"/>
                </a:ext>
              </a:extLst>
            </p:cNvPr>
            <p:cNvSpPr txBox="1">
              <a:spLocks noChangeArrowheads="1"/>
            </p:cNvSpPr>
            <p:nvPr/>
          </p:nvSpPr>
          <p:spPr bwMode="auto">
            <a:xfrm>
              <a:off x="6928048" y="2126184"/>
              <a:ext cx="1676400" cy="400110"/>
            </a:xfrm>
            <a:prstGeom prst="rect">
              <a:avLst/>
            </a:prstGeom>
            <a:grpFill/>
            <a:ln w="9525">
              <a:noFill/>
              <a:miter lim="800000"/>
              <a:headEnd/>
              <a:tailEnd/>
            </a:ln>
          </p:spPr>
          <p:txBody>
            <a:bodyPr>
              <a:spAutoFit/>
            </a:bodyPr>
            <a:lstStyle/>
            <a:p>
              <a:pPr>
                <a:spcBef>
                  <a:spcPct val="50000"/>
                </a:spcBef>
                <a:defRPr/>
              </a:pPr>
              <a:r>
                <a:rPr lang="en-US" altLang="zh-CN" sz="2000">
                  <a:solidFill>
                    <a:srgbClr val="000000"/>
                  </a:solidFill>
                </a:rPr>
                <a:t>JUMP 1424</a:t>
              </a:r>
            </a:p>
          </p:txBody>
        </p:sp>
        <p:sp>
          <p:nvSpPr>
            <p:cNvPr id="32" name="Line 6">
              <a:extLst>
                <a:ext uri="{FF2B5EF4-FFF2-40B4-BE49-F238E27FC236}">
                  <a16:creationId xmlns:a16="http://schemas.microsoft.com/office/drawing/2014/main" id="{193D093E-2215-9945-95C0-4506CFDD7493}"/>
                </a:ext>
              </a:extLst>
            </p:cNvPr>
            <p:cNvSpPr>
              <a:spLocks noChangeShapeType="1"/>
            </p:cNvSpPr>
            <p:nvPr/>
          </p:nvSpPr>
          <p:spPr bwMode="auto">
            <a:xfrm flipV="1">
              <a:off x="6953199" y="3355738"/>
              <a:ext cx="1476442" cy="1254"/>
            </a:xfrm>
            <a:prstGeom prst="line">
              <a:avLst/>
            </a:prstGeom>
            <a:grpFill/>
            <a:ln w="28575">
              <a:solidFill>
                <a:schemeClr val="tx1"/>
              </a:solidFill>
              <a:prstDash val="sysDot"/>
              <a:round/>
              <a:headEnd/>
              <a:tailEnd/>
            </a:ln>
          </p:spPr>
          <p:txBody>
            <a:bodyPr/>
            <a:lstStyle/>
            <a:p>
              <a:pPr>
                <a:defRPr/>
              </a:pPr>
              <a:endParaRPr lang="zh-CN" altLang="en-US">
                <a:solidFill>
                  <a:srgbClr val="000000"/>
                </a:solidFill>
              </a:endParaRPr>
            </a:p>
          </p:txBody>
        </p:sp>
        <p:sp>
          <p:nvSpPr>
            <p:cNvPr id="33" name="Text Box 22">
              <a:extLst>
                <a:ext uri="{FF2B5EF4-FFF2-40B4-BE49-F238E27FC236}">
                  <a16:creationId xmlns:a16="http://schemas.microsoft.com/office/drawing/2014/main" id="{01BD877A-4703-2E46-8AB0-D595B229A591}"/>
                </a:ext>
              </a:extLst>
            </p:cNvPr>
            <p:cNvSpPr txBox="1">
              <a:spLocks noChangeArrowheads="1"/>
            </p:cNvSpPr>
            <p:nvPr/>
          </p:nvSpPr>
          <p:spPr bwMode="auto">
            <a:xfrm>
              <a:off x="6148536" y="1321296"/>
              <a:ext cx="838201" cy="215368"/>
            </a:xfrm>
            <a:prstGeom prst="rect">
              <a:avLst/>
            </a:prstGeom>
            <a:grpFill/>
            <a:ln w="9525">
              <a:noFill/>
              <a:miter lim="800000"/>
              <a:headEnd/>
              <a:tailEnd/>
            </a:ln>
          </p:spPr>
          <p:txBody>
            <a:bodyPr>
              <a:spAutoFit/>
            </a:bodyPr>
            <a:lstStyle/>
            <a:p>
              <a:pPr>
                <a:spcBef>
                  <a:spcPct val="50000"/>
                </a:spcBef>
                <a:defRPr/>
              </a:pPr>
              <a:r>
                <a:rPr lang="en-US" altLang="zh-CN">
                  <a:solidFill>
                    <a:srgbClr val="000000"/>
                  </a:solidFill>
                </a:rPr>
                <a:t>1024</a:t>
              </a:r>
            </a:p>
          </p:txBody>
        </p:sp>
        <p:sp>
          <p:nvSpPr>
            <p:cNvPr id="34" name="Text Box 23">
              <a:extLst>
                <a:ext uri="{FF2B5EF4-FFF2-40B4-BE49-F238E27FC236}">
                  <a16:creationId xmlns:a16="http://schemas.microsoft.com/office/drawing/2014/main" id="{43787000-C340-084C-9830-6CA9DB6EA586}"/>
                </a:ext>
              </a:extLst>
            </p:cNvPr>
            <p:cNvSpPr txBox="1">
              <a:spLocks noChangeArrowheads="1"/>
            </p:cNvSpPr>
            <p:nvPr/>
          </p:nvSpPr>
          <p:spPr bwMode="auto">
            <a:xfrm>
              <a:off x="6117779" y="2545432"/>
              <a:ext cx="1295400" cy="215368"/>
            </a:xfrm>
            <a:prstGeom prst="rect">
              <a:avLst/>
            </a:prstGeom>
            <a:grpFill/>
            <a:ln w="9525">
              <a:noFill/>
              <a:miter lim="800000"/>
              <a:headEnd/>
              <a:tailEnd/>
            </a:ln>
          </p:spPr>
          <p:txBody>
            <a:bodyPr>
              <a:spAutoFit/>
            </a:bodyPr>
            <a:lstStyle/>
            <a:p>
              <a:pPr>
                <a:spcBef>
                  <a:spcPct val="50000"/>
                </a:spcBef>
                <a:defRPr/>
              </a:pPr>
              <a:r>
                <a:rPr lang="en-US" altLang="zh-CN">
                  <a:solidFill>
                    <a:srgbClr val="000000"/>
                  </a:solidFill>
                </a:rPr>
                <a:t>1424</a:t>
              </a:r>
            </a:p>
          </p:txBody>
        </p:sp>
        <p:sp>
          <p:nvSpPr>
            <p:cNvPr id="35" name="Text Box 24">
              <a:extLst>
                <a:ext uri="{FF2B5EF4-FFF2-40B4-BE49-F238E27FC236}">
                  <a16:creationId xmlns:a16="http://schemas.microsoft.com/office/drawing/2014/main" id="{A04FB635-1368-EA45-BB21-24B0BCF645DD}"/>
                </a:ext>
              </a:extLst>
            </p:cNvPr>
            <p:cNvSpPr txBox="1">
              <a:spLocks noChangeArrowheads="1"/>
            </p:cNvSpPr>
            <p:nvPr/>
          </p:nvSpPr>
          <p:spPr bwMode="auto">
            <a:xfrm>
              <a:off x="6072336" y="3960440"/>
              <a:ext cx="1523999" cy="215368"/>
            </a:xfrm>
            <a:prstGeom prst="rect">
              <a:avLst/>
            </a:prstGeom>
            <a:grpFill/>
            <a:ln w="9525">
              <a:noFill/>
              <a:miter lim="800000"/>
              <a:headEnd/>
              <a:tailEnd/>
            </a:ln>
          </p:spPr>
          <p:txBody>
            <a:bodyPr>
              <a:spAutoFit/>
            </a:bodyPr>
            <a:lstStyle/>
            <a:p>
              <a:pPr>
                <a:spcBef>
                  <a:spcPct val="50000"/>
                </a:spcBef>
                <a:defRPr/>
              </a:pPr>
              <a:r>
                <a:rPr lang="en-US" altLang="zh-CN">
                  <a:solidFill>
                    <a:srgbClr val="000000"/>
                  </a:solidFill>
                </a:rPr>
                <a:t>2224</a:t>
              </a:r>
            </a:p>
          </p:txBody>
        </p:sp>
      </p:grpSp>
      <p:sp>
        <p:nvSpPr>
          <p:cNvPr id="36" name="Text Box 9">
            <a:extLst>
              <a:ext uri="{FF2B5EF4-FFF2-40B4-BE49-F238E27FC236}">
                <a16:creationId xmlns:a16="http://schemas.microsoft.com/office/drawing/2014/main" id="{0BE7A1FC-22A6-3640-8D06-F86C06BFD386}"/>
              </a:ext>
            </a:extLst>
          </p:cNvPr>
          <p:cNvSpPr txBox="1">
            <a:spLocks noChangeArrowheads="1"/>
          </p:cNvSpPr>
          <p:nvPr/>
        </p:nvSpPr>
        <p:spPr bwMode="auto">
          <a:xfrm>
            <a:off x="4336156" y="1489360"/>
            <a:ext cx="1600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绝对地址</a:t>
            </a:r>
          </a:p>
        </p:txBody>
      </p:sp>
      <p:sp>
        <p:nvSpPr>
          <p:cNvPr id="37" name="TextBox 36">
            <a:extLst>
              <a:ext uri="{FF2B5EF4-FFF2-40B4-BE49-F238E27FC236}">
                <a16:creationId xmlns:a16="http://schemas.microsoft.com/office/drawing/2014/main" id="{30CCEE82-CAAD-1B43-813D-5DB1605637AC}"/>
              </a:ext>
            </a:extLst>
          </p:cNvPr>
          <p:cNvSpPr txBox="1">
            <a:spLocks noChangeArrowheads="1"/>
          </p:cNvSpPr>
          <p:nvPr/>
        </p:nvSpPr>
        <p:spPr bwMode="auto">
          <a:xfrm>
            <a:off x="7403206" y="1244885"/>
            <a:ext cx="11509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FF"/>
                </a:solidFill>
                <a:latin typeface="幼圆" pitchFamily="49" charset="-122"/>
                <a:ea typeface="幼圆" pitchFamily="49" charset="-122"/>
              </a:rPr>
              <a:t>内存</a:t>
            </a:r>
          </a:p>
        </p:txBody>
      </p:sp>
      <p:sp>
        <p:nvSpPr>
          <p:cNvPr id="38" name="TextBox 37">
            <a:extLst>
              <a:ext uri="{FF2B5EF4-FFF2-40B4-BE49-F238E27FC236}">
                <a16:creationId xmlns:a16="http://schemas.microsoft.com/office/drawing/2014/main" id="{8C8E1CEA-25EC-7141-8DBD-B6DC00AEF3B9}"/>
              </a:ext>
            </a:extLst>
          </p:cNvPr>
          <p:cNvSpPr txBox="1">
            <a:spLocks noChangeArrowheads="1"/>
          </p:cNvSpPr>
          <p:nvPr/>
        </p:nvSpPr>
        <p:spPr bwMode="auto">
          <a:xfrm>
            <a:off x="3853557" y="5666072"/>
            <a:ext cx="23034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00"/>
                </a:solidFill>
                <a:latin typeface="幼圆" pitchFamily="49" charset="-122"/>
                <a:ea typeface="幼圆" pitchFamily="49" charset="-122"/>
              </a:rPr>
              <a:t>（</a:t>
            </a:r>
            <a:r>
              <a:rPr lang="en-US" altLang="zh-CN" sz="2400">
                <a:solidFill>
                  <a:srgbClr val="000000"/>
                </a:solidFill>
                <a:latin typeface="幼圆" pitchFamily="49" charset="-122"/>
                <a:ea typeface="幼圆" pitchFamily="49" charset="-122"/>
              </a:rPr>
              <a:t>b</a:t>
            </a:r>
            <a:r>
              <a:rPr lang="zh-CN" altLang="en-US" sz="2400">
                <a:solidFill>
                  <a:srgbClr val="000000"/>
                </a:solidFill>
                <a:latin typeface="幼圆" pitchFamily="49" charset="-122"/>
                <a:ea typeface="幼圆" pitchFamily="49" charset="-122"/>
              </a:rPr>
              <a:t>）装入模块</a:t>
            </a:r>
          </a:p>
        </p:txBody>
      </p:sp>
      <p:grpSp>
        <p:nvGrpSpPr>
          <p:cNvPr id="39" name="组合 55">
            <a:extLst>
              <a:ext uri="{FF2B5EF4-FFF2-40B4-BE49-F238E27FC236}">
                <a16:creationId xmlns:a16="http://schemas.microsoft.com/office/drawing/2014/main" id="{79D1985D-46AB-204B-91FB-319DE5FFA8CD}"/>
              </a:ext>
            </a:extLst>
          </p:cNvPr>
          <p:cNvGrpSpPr>
            <a:grpSpLocks/>
          </p:cNvGrpSpPr>
          <p:nvPr/>
        </p:nvGrpSpPr>
        <p:grpSpPr bwMode="auto">
          <a:xfrm>
            <a:off x="3447621" y="1705282"/>
            <a:ext cx="2428186" cy="3763963"/>
            <a:chOff x="6072336" y="1321296"/>
            <a:chExt cx="2563224" cy="3762634"/>
          </a:xfrm>
          <a:noFill/>
        </p:grpSpPr>
        <p:sp>
          <p:nvSpPr>
            <p:cNvPr id="40" name="Rectangle 3">
              <a:extLst>
                <a:ext uri="{FF2B5EF4-FFF2-40B4-BE49-F238E27FC236}">
                  <a16:creationId xmlns:a16="http://schemas.microsoft.com/office/drawing/2014/main" id="{7E851285-67D5-7B45-A87E-B2DEDBC808D3}"/>
                </a:ext>
              </a:extLst>
            </p:cNvPr>
            <p:cNvSpPr>
              <a:spLocks noChangeArrowheads="1"/>
            </p:cNvSpPr>
            <p:nvPr/>
          </p:nvSpPr>
          <p:spPr bwMode="auto">
            <a:xfrm>
              <a:off x="6952457" y="1664568"/>
              <a:ext cx="1477187" cy="3419362"/>
            </a:xfrm>
            <a:prstGeom prst="rect">
              <a:avLst/>
            </a:prstGeom>
            <a:grpFill/>
            <a:ln w="28575">
              <a:solidFill>
                <a:schemeClr val="tx1"/>
              </a:solidFill>
              <a:miter lim="800000"/>
              <a:headEnd/>
              <a:tailEnd/>
            </a:ln>
          </p:spPr>
          <p:txBody>
            <a:bodyPr wrap="none" anchor="ctr"/>
            <a:lstStyle/>
            <a:p>
              <a:pPr>
                <a:defRPr/>
              </a:pPr>
              <a:endParaRPr lang="zh-CN" altLang="en-US">
                <a:solidFill>
                  <a:srgbClr val="000000"/>
                </a:solidFill>
              </a:endParaRPr>
            </a:p>
          </p:txBody>
        </p:sp>
        <p:sp>
          <p:nvSpPr>
            <p:cNvPr id="41" name="Text Box 25">
              <a:extLst>
                <a:ext uri="{FF2B5EF4-FFF2-40B4-BE49-F238E27FC236}">
                  <a16:creationId xmlns:a16="http://schemas.microsoft.com/office/drawing/2014/main" id="{86ADB96D-E397-EE47-9A48-E87A58B2B8B9}"/>
                </a:ext>
              </a:extLst>
            </p:cNvPr>
            <p:cNvSpPr txBox="1">
              <a:spLocks noChangeArrowheads="1"/>
            </p:cNvSpPr>
            <p:nvPr/>
          </p:nvSpPr>
          <p:spPr bwMode="auto">
            <a:xfrm>
              <a:off x="6959160" y="3000072"/>
              <a:ext cx="1676400" cy="400110"/>
            </a:xfrm>
            <a:prstGeom prst="rect">
              <a:avLst/>
            </a:prstGeom>
            <a:grpFill/>
            <a:ln w="9525">
              <a:noFill/>
              <a:miter lim="800000"/>
              <a:headEnd/>
              <a:tailEnd/>
            </a:ln>
          </p:spPr>
          <p:txBody>
            <a:bodyPr>
              <a:spAutoFit/>
            </a:bodyPr>
            <a:lstStyle/>
            <a:p>
              <a:pPr>
                <a:spcBef>
                  <a:spcPct val="50000"/>
                </a:spcBef>
                <a:defRPr/>
              </a:pPr>
              <a:r>
                <a:rPr lang="en-US" altLang="zh-CN" sz="2000" dirty="0">
                  <a:solidFill>
                    <a:srgbClr val="000000"/>
                  </a:solidFill>
                </a:rPr>
                <a:t>LOAD 2224</a:t>
              </a:r>
            </a:p>
          </p:txBody>
        </p:sp>
        <p:sp>
          <p:nvSpPr>
            <p:cNvPr id="42" name="Text Box 25">
              <a:extLst>
                <a:ext uri="{FF2B5EF4-FFF2-40B4-BE49-F238E27FC236}">
                  <a16:creationId xmlns:a16="http://schemas.microsoft.com/office/drawing/2014/main" id="{F52DC5FB-E37B-3644-9987-7E0D2FEC5903}"/>
                </a:ext>
              </a:extLst>
            </p:cNvPr>
            <p:cNvSpPr txBox="1">
              <a:spLocks noChangeArrowheads="1"/>
            </p:cNvSpPr>
            <p:nvPr/>
          </p:nvSpPr>
          <p:spPr bwMode="auto">
            <a:xfrm>
              <a:off x="6928048" y="2126184"/>
              <a:ext cx="1676400" cy="400110"/>
            </a:xfrm>
            <a:prstGeom prst="rect">
              <a:avLst/>
            </a:prstGeom>
            <a:grpFill/>
            <a:ln w="9525">
              <a:noFill/>
              <a:miter lim="800000"/>
              <a:headEnd/>
              <a:tailEnd/>
            </a:ln>
          </p:spPr>
          <p:txBody>
            <a:bodyPr>
              <a:spAutoFit/>
            </a:bodyPr>
            <a:lstStyle/>
            <a:p>
              <a:pPr>
                <a:spcBef>
                  <a:spcPct val="50000"/>
                </a:spcBef>
                <a:defRPr/>
              </a:pPr>
              <a:r>
                <a:rPr lang="en-US" altLang="zh-CN" sz="2000">
                  <a:solidFill>
                    <a:srgbClr val="000000"/>
                  </a:solidFill>
                </a:rPr>
                <a:t>JUMP 1424</a:t>
              </a:r>
            </a:p>
          </p:txBody>
        </p:sp>
        <p:sp>
          <p:nvSpPr>
            <p:cNvPr id="43" name="Line 6">
              <a:extLst>
                <a:ext uri="{FF2B5EF4-FFF2-40B4-BE49-F238E27FC236}">
                  <a16:creationId xmlns:a16="http://schemas.microsoft.com/office/drawing/2014/main" id="{CB065570-D1A5-264F-8675-832BB27B4419}"/>
                </a:ext>
              </a:extLst>
            </p:cNvPr>
            <p:cNvSpPr>
              <a:spLocks noChangeShapeType="1"/>
            </p:cNvSpPr>
            <p:nvPr/>
          </p:nvSpPr>
          <p:spPr bwMode="auto">
            <a:xfrm flipV="1">
              <a:off x="6953199" y="3355738"/>
              <a:ext cx="1476442" cy="1254"/>
            </a:xfrm>
            <a:prstGeom prst="line">
              <a:avLst/>
            </a:prstGeom>
            <a:grpFill/>
            <a:ln w="28575">
              <a:solidFill>
                <a:schemeClr val="tx1"/>
              </a:solidFill>
              <a:prstDash val="sysDot"/>
              <a:round/>
              <a:headEnd/>
              <a:tailEnd/>
            </a:ln>
          </p:spPr>
          <p:txBody>
            <a:bodyPr/>
            <a:lstStyle/>
            <a:p>
              <a:pPr>
                <a:defRPr/>
              </a:pPr>
              <a:endParaRPr lang="zh-CN" altLang="en-US">
                <a:solidFill>
                  <a:srgbClr val="000000"/>
                </a:solidFill>
              </a:endParaRPr>
            </a:p>
          </p:txBody>
        </p:sp>
        <p:sp>
          <p:nvSpPr>
            <p:cNvPr id="44" name="Text Box 22">
              <a:extLst>
                <a:ext uri="{FF2B5EF4-FFF2-40B4-BE49-F238E27FC236}">
                  <a16:creationId xmlns:a16="http://schemas.microsoft.com/office/drawing/2014/main" id="{55F0C095-3668-CD45-AF08-9F744E20079F}"/>
                </a:ext>
              </a:extLst>
            </p:cNvPr>
            <p:cNvSpPr txBox="1">
              <a:spLocks noChangeArrowheads="1"/>
            </p:cNvSpPr>
            <p:nvPr/>
          </p:nvSpPr>
          <p:spPr bwMode="auto">
            <a:xfrm>
              <a:off x="6148536" y="1321296"/>
              <a:ext cx="838200" cy="215368"/>
            </a:xfrm>
            <a:prstGeom prst="rect">
              <a:avLst/>
            </a:prstGeom>
            <a:grpFill/>
            <a:ln w="9525">
              <a:noFill/>
              <a:miter lim="800000"/>
              <a:headEnd/>
              <a:tailEnd/>
            </a:ln>
          </p:spPr>
          <p:txBody>
            <a:bodyPr>
              <a:spAutoFit/>
            </a:bodyPr>
            <a:lstStyle/>
            <a:p>
              <a:pPr>
                <a:spcBef>
                  <a:spcPct val="50000"/>
                </a:spcBef>
                <a:defRPr/>
              </a:pPr>
              <a:r>
                <a:rPr lang="en-US" altLang="zh-CN" dirty="0">
                  <a:solidFill>
                    <a:srgbClr val="000000"/>
                  </a:solidFill>
                </a:rPr>
                <a:t>1024</a:t>
              </a:r>
            </a:p>
          </p:txBody>
        </p:sp>
        <p:sp>
          <p:nvSpPr>
            <p:cNvPr id="45" name="Text Box 23">
              <a:extLst>
                <a:ext uri="{FF2B5EF4-FFF2-40B4-BE49-F238E27FC236}">
                  <a16:creationId xmlns:a16="http://schemas.microsoft.com/office/drawing/2014/main" id="{2CF94FB3-9FAD-2141-8EDA-679298E97573}"/>
                </a:ext>
              </a:extLst>
            </p:cNvPr>
            <p:cNvSpPr txBox="1">
              <a:spLocks noChangeArrowheads="1"/>
            </p:cNvSpPr>
            <p:nvPr/>
          </p:nvSpPr>
          <p:spPr bwMode="auto">
            <a:xfrm>
              <a:off x="6117779" y="2545432"/>
              <a:ext cx="1295400" cy="215368"/>
            </a:xfrm>
            <a:prstGeom prst="rect">
              <a:avLst/>
            </a:prstGeom>
            <a:grpFill/>
            <a:ln w="9525">
              <a:noFill/>
              <a:miter lim="800000"/>
              <a:headEnd/>
              <a:tailEnd/>
            </a:ln>
          </p:spPr>
          <p:txBody>
            <a:bodyPr>
              <a:spAutoFit/>
            </a:bodyPr>
            <a:lstStyle/>
            <a:p>
              <a:pPr>
                <a:spcBef>
                  <a:spcPct val="50000"/>
                </a:spcBef>
                <a:defRPr/>
              </a:pPr>
              <a:r>
                <a:rPr lang="en-US" altLang="zh-CN" dirty="0">
                  <a:solidFill>
                    <a:srgbClr val="000000"/>
                  </a:solidFill>
                </a:rPr>
                <a:t>1424</a:t>
              </a:r>
            </a:p>
          </p:txBody>
        </p:sp>
        <p:sp>
          <p:nvSpPr>
            <p:cNvPr id="46" name="Text Box 24">
              <a:extLst>
                <a:ext uri="{FF2B5EF4-FFF2-40B4-BE49-F238E27FC236}">
                  <a16:creationId xmlns:a16="http://schemas.microsoft.com/office/drawing/2014/main" id="{712F850C-E0BB-7645-9BED-48562AC21039}"/>
                </a:ext>
              </a:extLst>
            </p:cNvPr>
            <p:cNvSpPr txBox="1">
              <a:spLocks noChangeArrowheads="1"/>
            </p:cNvSpPr>
            <p:nvPr/>
          </p:nvSpPr>
          <p:spPr bwMode="auto">
            <a:xfrm>
              <a:off x="6072336" y="3960440"/>
              <a:ext cx="1524000" cy="215368"/>
            </a:xfrm>
            <a:prstGeom prst="rect">
              <a:avLst/>
            </a:prstGeom>
            <a:grpFill/>
            <a:ln w="9525">
              <a:noFill/>
              <a:miter lim="800000"/>
              <a:headEnd/>
              <a:tailEnd/>
            </a:ln>
          </p:spPr>
          <p:txBody>
            <a:bodyPr>
              <a:spAutoFit/>
            </a:bodyPr>
            <a:lstStyle/>
            <a:p>
              <a:pPr>
                <a:spcBef>
                  <a:spcPct val="50000"/>
                </a:spcBef>
                <a:defRPr/>
              </a:pPr>
              <a:r>
                <a:rPr lang="en-US" altLang="zh-CN">
                  <a:solidFill>
                    <a:srgbClr val="000000"/>
                  </a:solidFill>
                </a:rPr>
                <a:t>2224</a:t>
              </a:r>
            </a:p>
          </p:txBody>
        </p:sp>
      </p:grpSp>
      <p:sp>
        <p:nvSpPr>
          <p:cNvPr id="47" name="Text Box 13">
            <a:extLst>
              <a:ext uri="{FF2B5EF4-FFF2-40B4-BE49-F238E27FC236}">
                <a16:creationId xmlns:a16="http://schemas.microsoft.com/office/drawing/2014/main" id="{BAE94D91-5463-A54E-A308-C92F6DD4775D}"/>
              </a:ext>
            </a:extLst>
          </p:cNvPr>
          <p:cNvSpPr txBox="1">
            <a:spLocks noChangeArrowheads="1"/>
          </p:cNvSpPr>
          <p:nvPr/>
        </p:nvSpPr>
        <p:spPr bwMode="auto">
          <a:xfrm>
            <a:off x="4523481" y="4269073"/>
            <a:ext cx="992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DATA</a:t>
            </a:r>
          </a:p>
        </p:txBody>
      </p:sp>
      <p:sp>
        <p:nvSpPr>
          <p:cNvPr id="48" name="Text Box 13">
            <a:extLst>
              <a:ext uri="{FF2B5EF4-FFF2-40B4-BE49-F238E27FC236}">
                <a16:creationId xmlns:a16="http://schemas.microsoft.com/office/drawing/2014/main" id="{3BB64582-7C93-5E4B-BD84-769F871960F3}"/>
              </a:ext>
            </a:extLst>
          </p:cNvPr>
          <p:cNvSpPr txBox="1">
            <a:spLocks noChangeArrowheads="1"/>
          </p:cNvSpPr>
          <p:nvPr/>
        </p:nvSpPr>
        <p:spPr bwMode="auto">
          <a:xfrm>
            <a:off x="7501632" y="4743735"/>
            <a:ext cx="9937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DATA</a:t>
            </a:r>
          </a:p>
        </p:txBody>
      </p:sp>
      <p:sp>
        <p:nvSpPr>
          <p:cNvPr id="49" name="矩形 50">
            <a:extLst>
              <a:ext uri="{FF2B5EF4-FFF2-40B4-BE49-F238E27FC236}">
                <a16:creationId xmlns:a16="http://schemas.microsoft.com/office/drawing/2014/main" id="{374B04F4-797D-8E4D-AE1E-EB967DBFCD96}"/>
              </a:ext>
            </a:extLst>
          </p:cNvPr>
          <p:cNvSpPr>
            <a:spLocks noChangeArrowheads="1"/>
          </p:cNvSpPr>
          <p:nvPr/>
        </p:nvSpPr>
        <p:spPr bwMode="auto">
          <a:xfrm>
            <a:off x="324544" y="1244885"/>
            <a:ext cx="3091998" cy="5257800"/>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50" name="内容占位符 2">
            <a:extLst>
              <a:ext uri="{FF2B5EF4-FFF2-40B4-BE49-F238E27FC236}">
                <a16:creationId xmlns:a16="http://schemas.microsoft.com/office/drawing/2014/main" id="{892FA39D-DA7B-2047-B155-5F3B47B5D7C5}"/>
              </a:ext>
            </a:extLst>
          </p:cNvPr>
          <p:cNvSpPr txBox="1">
            <a:spLocks/>
          </p:cNvSpPr>
          <p:nvPr/>
        </p:nvSpPr>
        <p:spPr>
          <a:xfrm>
            <a:off x="251520" y="1195672"/>
            <a:ext cx="3240087" cy="5643562"/>
          </a:xfrm>
          <a:prstGeom prst="rect">
            <a:avLst/>
          </a:prstGeom>
        </p:spPr>
        <p:txBody>
          <a:bodyPr/>
          <a:lstStyle>
            <a:lvl1pPr marL="342900" indent="-342900">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20000"/>
              </a:spcBef>
              <a:buClr>
                <a:srgbClr val="0000FF"/>
              </a:buClr>
              <a:buFont typeface="Monotype Sorts" pitchFamily="2" charset="2"/>
              <a:buChar char="§"/>
            </a:pPr>
            <a:r>
              <a:rPr lang="zh-CN" altLang="en-US" sz="3200" dirty="0">
                <a:solidFill>
                  <a:srgbClr val="0000FF"/>
                </a:solidFill>
                <a:latin typeface="幼圆" pitchFamily="49" charset="-122"/>
                <a:ea typeface="幼圆" pitchFamily="49" charset="-122"/>
              </a:rPr>
              <a:t>绝对装入方式</a:t>
            </a:r>
            <a:endParaRPr lang="en-US" altLang="zh-CN" sz="3200" dirty="0">
              <a:solidFill>
                <a:srgbClr val="0000FF"/>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2800" dirty="0">
                <a:solidFill>
                  <a:srgbClr val="000000"/>
                </a:solidFill>
                <a:latin typeface="幼圆" pitchFamily="49" charset="-122"/>
                <a:ea typeface="幼圆" pitchFamily="49" charset="-122"/>
              </a:rPr>
              <a:t>由装入程序根据装入模块中的地址，将程序和数据装入内存</a:t>
            </a:r>
            <a:endParaRPr lang="en-US" altLang="zh-CN" sz="2800" dirty="0">
              <a:solidFill>
                <a:srgbClr val="000000"/>
              </a:solidFill>
              <a:latin typeface="幼圆" pitchFamily="49" charset="-122"/>
              <a:ea typeface="幼圆" pitchFamily="49" charset="-122"/>
            </a:endParaRPr>
          </a:p>
          <a:p>
            <a:pPr>
              <a:spcBef>
                <a:spcPct val="20000"/>
              </a:spcBef>
              <a:buClr>
                <a:srgbClr val="0000FF"/>
              </a:buClr>
              <a:buFont typeface="Monotype Sorts" pitchFamily="2" charset="2"/>
              <a:buChar char="§"/>
            </a:pPr>
            <a:r>
              <a:rPr lang="zh-CN" altLang="en-US" sz="3200" dirty="0">
                <a:solidFill>
                  <a:srgbClr val="0000FF"/>
                </a:solidFill>
                <a:latin typeface="幼圆" pitchFamily="49" charset="-122"/>
                <a:ea typeface="幼圆" pitchFamily="49" charset="-122"/>
              </a:rPr>
              <a:t>特点</a:t>
            </a:r>
            <a:endParaRPr lang="en-US" altLang="zh-CN" sz="3200" dirty="0">
              <a:solidFill>
                <a:srgbClr val="0000FF"/>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2800" dirty="0">
                <a:solidFill>
                  <a:srgbClr val="000000"/>
                </a:solidFill>
                <a:latin typeface="幼圆" pitchFamily="49" charset="-122"/>
                <a:ea typeface="幼圆" pitchFamily="49" charset="-122"/>
              </a:rPr>
              <a:t>需要事先知道内存装入地址</a:t>
            </a:r>
            <a:endParaRPr lang="en-US" altLang="zh-CN" sz="2800" dirty="0">
              <a:solidFill>
                <a:srgbClr val="000000"/>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2800" dirty="0">
                <a:solidFill>
                  <a:srgbClr val="000000"/>
                </a:solidFill>
                <a:latin typeface="幼圆" pitchFamily="49" charset="-122"/>
                <a:ea typeface="幼圆" pitchFamily="49" charset="-122"/>
              </a:rPr>
              <a:t>只适合单道程序系统</a:t>
            </a:r>
            <a:endParaRPr lang="en-US" altLang="zh-CN" sz="2800" dirty="0">
              <a:solidFill>
                <a:srgbClr val="000000"/>
              </a:solidFill>
              <a:latin typeface="幼圆" pitchFamily="49" charset="-122"/>
              <a:ea typeface="幼圆" pitchFamily="49" charset="-122"/>
            </a:endParaRPr>
          </a:p>
        </p:txBody>
      </p:sp>
    </p:spTree>
    <p:extLst>
      <p:ext uri="{BB962C8B-B14F-4D97-AF65-F5344CB8AC3E}">
        <p14:creationId xmlns:p14="http://schemas.microsoft.com/office/powerpoint/2010/main" val="1763615977"/>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dissolve">
                                      <p:cBhvr>
                                        <p:cTn id="7" dur="500"/>
                                        <p:tgtEl>
                                          <p:spTgt spid="28"/>
                                        </p:tgtEl>
                                      </p:cBhvr>
                                    </p:animEffect>
                                  </p:childTnLst>
                                </p:cTn>
                              </p:par>
                            </p:childTnLst>
                          </p:cTn>
                        </p:par>
                        <p:par>
                          <p:cTn id="8" fill="hold">
                            <p:stCondLst>
                              <p:cond delay="500"/>
                            </p:stCondLst>
                            <p:childTnLst>
                              <p:par>
                                <p:cTn id="9" presetID="3" presetClass="entr" presetSubtype="10" fill="hold" grpId="0" nodeType="after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blinds(horizontal)">
                                      <p:cBhvr>
                                        <p:cTn id="11" dur="500"/>
                                        <p:tgtEl>
                                          <p:spTgt spid="36"/>
                                        </p:tgtEl>
                                      </p:cBhvr>
                                    </p:animEffect>
                                  </p:childTnLst>
                                </p:cTn>
                              </p:par>
                            </p:childTnLst>
                          </p:cTn>
                        </p:par>
                        <p:par>
                          <p:cTn id="12" fill="hold">
                            <p:stCondLst>
                              <p:cond delay="1000"/>
                            </p:stCondLst>
                            <p:childTnLst>
                              <p:par>
                                <p:cTn id="13" presetID="3" presetClass="entr" presetSubtype="10" fill="hold" nodeType="after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blinds(horizontal)">
                                      <p:cBhvr>
                                        <p:cTn id="15" dur="500"/>
                                        <p:tgtEl>
                                          <p:spTgt spid="39"/>
                                        </p:tgtEl>
                                      </p:cBhvr>
                                    </p:animEffect>
                                  </p:childTnLst>
                                </p:cTn>
                              </p:par>
                            </p:childTnLst>
                          </p:cTn>
                        </p:par>
                        <p:par>
                          <p:cTn id="16" fill="hold">
                            <p:stCondLst>
                              <p:cond delay="1500"/>
                            </p:stCondLst>
                            <p:childTnLst>
                              <p:par>
                                <p:cTn id="17" presetID="3" presetClass="entr" presetSubtype="10" fill="hold" grpId="0"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blinds(horizontal)">
                                      <p:cBhvr>
                                        <p:cTn id="19" dur="500"/>
                                        <p:tgtEl>
                                          <p:spTgt spid="38"/>
                                        </p:tgtEl>
                                      </p:cBhvr>
                                    </p:animEffect>
                                  </p:childTnLst>
                                </p:cTn>
                              </p:par>
                            </p:childTnLst>
                          </p:cTn>
                        </p:par>
                        <p:par>
                          <p:cTn id="20" fill="hold">
                            <p:stCondLst>
                              <p:cond delay="2000"/>
                            </p:stCondLst>
                            <p:childTnLst>
                              <p:par>
                                <p:cTn id="21" presetID="3" presetClass="entr" presetSubtype="10" fill="hold" grpId="0"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linds(horizontal)">
                                      <p:cBhvr>
                                        <p:cTn id="23" dur="500"/>
                                        <p:tgtEl>
                                          <p:spTgt spid="47"/>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par>
                          <p:cTn id="29" fill="hold">
                            <p:stCondLst>
                              <p:cond delay="500"/>
                            </p:stCondLst>
                            <p:childTnLst>
                              <p:par>
                                <p:cTn id="30" presetID="3" presetClass="entr" presetSubtype="10" fill="hold" grpId="0" nodeType="after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blinds(horizontal)">
                                      <p:cBhvr>
                                        <p:cTn id="32" dur="5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nodeType="clickEffect">
                                  <p:stCondLst>
                                    <p:cond delay="0"/>
                                  </p:stCondLst>
                                  <p:childTnLst>
                                    <p:animMotion origin="layout" path="M -3.88889E-6 3.33333E-6 L 0.31997 0.0787 " pathEditMode="relative" rAng="0" ptsTypes="AA">
                                      <p:cBhvr>
                                        <p:cTn id="36" dur="3000" fill="hold"/>
                                        <p:tgtEl>
                                          <p:spTgt spid="28"/>
                                        </p:tgtEl>
                                        <p:attrNameLst>
                                          <p:attrName>ppt_x</p:attrName>
                                          <p:attrName>ppt_y</p:attrName>
                                        </p:attrNameLst>
                                      </p:cBhvr>
                                      <p:rCtr x="15990" y="3935"/>
                                    </p:animMotion>
                                  </p:childTnLst>
                                </p:cTn>
                              </p:par>
                            </p:childTnLst>
                          </p:cTn>
                        </p:par>
                        <p:par>
                          <p:cTn id="37" fill="hold">
                            <p:stCondLst>
                              <p:cond delay="3000"/>
                            </p:stCondLst>
                            <p:childTnLst>
                              <p:par>
                                <p:cTn id="38" presetID="3" presetClass="entr" presetSubtype="10" fill="hold" grpId="0" nodeType="after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blinds(horizontal)">
                                      <p:cBhvr>
                                        <p:cTn id="40" dur="500"/>
                                        <p:tgtEl>
                                          <p:spTgt spid="48"/>
                                        </p:tgtEl>
                                      </p:cBhvr>
                                    </p:animEffect>
                                  </p:childTnLst>
                                </p:cTn>
                              </p:par>
                            </p:childTnLst>
                          </p:cTn>
                        </p:par>
                      </p:childTnLst>
                    </p:cTn>
                  </p:par>
                  <p:par>
                    <p:cTn id="41" fill="hold">
                      <p:stCondLst>
                        <p:cond delay="indefinite"/>
                      </p:stCondLst>
                      <p:childTnLst>
                        <p:par>
                          <p:cTn id="42" fill="hold">
                            <p:stCondLst>
                              <p:cond delay="0"/>
                            </p:stCondLst>
                            <p:childTnLst>
                              <p:par>
                                <p:cTn id="43" presetID="15" presetClass="entr" presetSubtype="0" fill="hold" grpId="0" nodeType="clickEffect">
                                  <p:stCondLst>
                                    <p:cond delay="0"/>
                                  </p:stCondLst>
                                  <p:childTnLst>
                                    <p:set>
                                      <p:cBhvr>
                                        <p:cTn id="44" dur="1" fill="hold">
                                          <p:stCondLst>
                                            <p:cond delay="0"/>
                                          </p:stCondLst>
                                        </p:cTn>
                                        <p:tgtEl>
                                          <p:spTgt spid="27"/>
                                        </p:tgtEl>
                                        <p:attrNameLst>
                                          <p:attrName>style.visibility</p:attrName>
                                        </p:attrNameLst>
                                      </p:cBhvr>
                                      <p:to>
                                        <p:strVal val="visible"/>
                                      </p:to>
                                    </p:set>
                                    <p:anim calcmode="lin" valueType="num">
                                      <p:cBhvr>
                                        <p:cTn id="45" dur="1000" fill="hold"/>
                                        <p:tgtEl>
                                          <p:spTgt spid="27"/>
                                        </p:tgtEl>
                                        <p:attrNameLst>
                                          <p:attrName>ppt_w</p:attrName>
                                        </p:attrNameLst>
                                      </p:cBhvr>
                                      <p:tavLst>
                                        <p:tav tm="0">
                                          <p:val>
                                            <p:fltVal val="0"/>
                                          </p:val>
                                        </p:tav>
                                        <p:tav tm="100000">
                                          <p:val>
                                            <p:strVal val="#ppt_w"/>
                                          </p:val>
                                        </p:tav>
                                      </p:tavLst>
                                    </p:anim>
                                    <p:anim calcmode="lin" valueType="num">
                                      <p:cBhvr>
                                        <p:cTn id="46" dur="1000" fill="hold"/>
                                        <p:tgtEl>
                                          <p:spTgt spid="27"/>
                                        </p:tgtEl>
                                        <p:attrNameLst>
                                          <p:attrName>ppt_h</p:attrName>
                                        </p:attrNameLst>
                                      </p:cBhvr>
                                      <p:tavLst>
                                        <p:tav tm="0">
                                          <p:val>
                                            <p:fltVal val="0"/>
                                          </p:val>
                                        </p:tav>
                                        <p:tav tm="100000">
                                          <p:val>
                                            <p:strVal val="#ppt_h"/>
                                          </p:val>
                                        </p:tav>
                                      </p:tavLst>
                                    </p:anim>
                                    <p:anim calcmode="lin" valueType="num">
                                      <p:cBhvr>
                                        <p:cTn id="47"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48" dur="1000" fill="hold"/>
                                        <p:tgtEl>
                                          <p:spTgt spid="27"/>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49" fill="hold">
                      <p:stCondLst>
                        <p:cond delay="indefinite"/>
                      </p:stCondLst>
                      <p:childTnLst>
                        <p:par>
                          <p:cTn id="50" fill="hold">
                            <p:stCondLst>
                              <p:cond delay="0"/>
                            </p:stCondLst>
                            <p:childTnLst>
                              <p:par>
                                <p:cTn id="51" presetID="3" presetClass="entr" presetSubtype="10" fill="hold" grpId="0" nodeType="clickEffect">
                                  <p:stCondLst>
                                    <p:cond delay="0"/>
                                  </p:stCondLst>
                                  <p:childTnLst>
                                    <p:set>
                                      <p:cBhvr>
                                        <p:cTn id="52" dur="1" fill="hold">
                                          <p:stCondLst>
                                            <p:cond delay="0"/>
                                          </p:stCondLst>
                                        </p:cTn>
                                        <p:tgtEl>
                                          <p:spTgt spid="49"/>
                                        </p:tgtEl>
                                        <p:attrNameLst>
                                          <p:attrName>style.visibility</p:attrName>
                                        </p:attrNameLst>
                                      </p:cBhvr>
                                      <p:to>
                                        <p:strVal val="visible"/>
                                      </p:to>
                                    </p:set>
                                    <p:animEffect transition="in" filter="blinds(horizontal)">
                                      <p:cBhvr>
                                        <p:cTn id="53" dur="500"/>
                                        <p:tgtEl>
                                          <p:spTgt spid="49"/>
                                        </p:tgtEl>
                                      </p:cBhvr>
                                    </p:animEffect>
                                  </p:childTnLst>
                                </p:cTn>
                              </p:par>
                            </p:childTnLst>
                          </p:cTn>
                        </p:par>
                      </p:childTnLst>
                    </p:cTn>
                  </p:par>
                  <p:par>
                    <p:cTn id="54" fill="hold">
                      <p:stCondLst>
                        <p:cond delay="indefinite"/>
                      </p:stCondLst>
                      <p:childTnLst>
                        <p:par>
                          <p:cTn id="55" fill="hold">
                            <p:stCondLst>
                              <p:cond delay="0"/>
                            </p:stCondLst>
                            <p:childTnLst>
                              <p:par>
                                <p:cTn id="56" presetID="3" presetClass="entr" presetSubtype="10" fill="hold" grpId="0" nodeType="clickEffect">
                                  <p:stCondLst>
                                    <p:cond delay="0"/>
                                  </p:stCondLst>
                                  <p:childTnLst>
                                    <p:set>
                                      <p:cBhvr>
                                        <p:cTn id="57" dur="1" fill="hold">
                                          <p:stCondLst>
                                            <p:cond delay="0"/>
                                          </p:stCondLst>
                                        </p:cTn>
                                        <p:tgtEl>
                                          <p:spTgt spid="50">
                                            <p:txEl>
                                              <p:pRg st="0" end="0"/>
                                            </p:txEl>
                                          </p:spTgt>
                                        </p:tgtEl>
                                        <p:attrNameLst>
                                          <p:attrName>style.visibility</p:attrName>
                                        </p:attrNameLst>
                                      </p:cBhvr>
                                      <p:to>
                                        <p:strVal val="visible"/>
                                      </p:to>
                                    </p:set>
                                    <p:animEffect transition="in" filter="blinds(horizontal)">
                                      <p:cBhvr>
                                        <p:cTn id="58" dur="500"/>
                                        <p:tgtEl>
                                          <p:spTgt spid="50">
                                            <p:txEl>
                                              <p:pRg st="0" end="0"/>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3" presetClass="entr" presetSubtype="10" fill="hold" grpId="0" nodeType="clickEffect">
                                  <p:stCondLst>
                                    <p:cond delay="0"/>
                                  </p:stCondLst>
                                  <p:childTnLst>
                                    <p:set>
                                      <p:cBhvr>
                                        <p:cTn id="62" dur="1" fill="hold">
                                          <p:stCondLst>
                                            <p:cond delay="0"/>
                                          </p:stCondLst>
                                        </p:cTn>
                                        <p:tgtEl>
                                          <p:spTgt spid="50">
                                            <p:txEl>
                                              <p:pRg st="1" end="1"/>
                                            </p:txEl>
                                          </p:spTgt>
                                        </p:tgtEl>
                                        <p:attrNameLst>
                                          <p:attrName>style.visibility</p:attrName>
                                        </p:attrNameLst>
                                      </p:cBhvr>
                                      <p:to>
                                        <p:strVal val="visible"/>
                                      </p:to>
                                    </p:set>
                                    <p:animEffect transition="in" filter="blinds(horizontal)">
                                      <p:cBhvr>
                                        <p:cTn id="63" dur="500"/>
                                        <p:tgtEl>
                                          <p:spTgt spid="50">
                                            <p:txEl>
                                              <p:pRg st="1" end="1"/>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3" presetClass="entr" presetSubtype="10" fill="hold" grpId="0" nodeType="clickEffect">
                                  <p:stCondLst>
                                    <p:cond delay="0"/>
                                  </p:stCondLst>
                                  <p:childTnLst>
                                    <p:set>
                                      <p:cBhvr>
                                        <p:cTn id="67" dur="1" fill="hold">
                                          <p:stCondLst>
                                            <p:cond delay="0"/>
                                          </p:stCondLst>
                                        </p:cTn>
                                        <p:tgtEl>
                                          <p:spTgt spid="50">
                                            <p:txEl>
                                              <p:pRg st="2" end="2"/>
                                            </p:txEl>
                                          </p:spTgt>
                                        </p:tgtEl>
                                        <p:attrNameLst>
                                          <p:attrName>style.visibility</p:attrName>
                                        </p:attrNameLst>
                                      </p:cBhvr>
                                      <p:to>
                                        <p:strVal val="visible"/>
                                      </p:to>
                                    </p:set>
                                    <p:animEffect transition="in" filter="blinds(horizontal)">
                                      <p:cBhvr>
                                        <p:cTn id="68" dur="500"/>
                                        <p:tgtEl>
                                          <p:spTgt spid="50">
                                            <p:txEl>
                                              <p:pRg st="2" end="2"/>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3" presetClass="entr" presetSubtype="10" fill="hold" grpId="0" nodeType="clickEffect">
                                  <p:stCondLst>
                                    <p:cond delay="0"/>
                                  </p:stCondLst>
                                  <p:childTnLst>
                                    <p:set>
                                      <p:cBhvr>
                                        <p:cTn id="72" dur="1" fill="hold">
                                          <p:stCondLst>
                                            <p:cond delay="0"/>
                                          </p:stCondLst>
                                        </p:cTn>
                                        <p:tgtEl>
                                          <p:spTgt spid="50">
                                            <p:txEl>
                                              <p:pRg st="3" end="3"/>
                                            </p:txEl>
                                          </p:spTgt>
                                        </p:tgtEl>
                                        <p:attrNameLst>
                                          <p:attrName>style.visibility</p:attrName>
                                        </p:attrNameLst>
                                      </p:cBhvr>
                                      <p:to>
                                        <p:strVal val="visible"/>
                                      </p:to>
                                    </p:set>
                                    <p:animEffect transition="in" filter="blinds(horizontal)">
                                      <p:cBhvr>
                                        <p:cTn id="73" dur="500"/>
                                        <p:tgtEl>
                                          <p:spTgt spid="50">
                                            <p:txEl>
                                              <p:pRg st="3" end="3"/>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3" presetClass="entr" presetSubtype="10" fill="hold" grpId="0" nodeType="clickEffect">
                                  <p:stCondLst>
                                    <p:cond delay="0"/>
                                  </p:stCondLst>
                                  <p:childTnLst>
                                    <p:set>
                                      <p:cBhvr>
                                        <p:cTn id="77" dur="1" fill="hold">
                                          <p:stCondLst>
                                            <p:cond delay="0"/>
                                          </p:stCondLst>
                                        </p:cTn>
                                        <p:tgtEl>
                                          <p:spTgt spid="50">
                                            <p:txEl>
                                              <p:pRg st="4" end="4"/>
                                            </p:txEl>
                                          </p:spTgt>
                                        </p:tgtEl>
                                        <p:attrNameLst>
                                          <p:attrName>style.visibility</p:attrName>
                                        </p:attrNameLst>
                                      </p:cBhvr>
                                      <p:to>
                                        <p:strVal val="visible"/>
                                      </p:to>
                                    </p:set>
                                    <p:animEffect transition="in" filter="blinds(horizontal)">
                                      <p:cBhvr>
                                        <p:cTn id="78" dur="500"/>
                                        <p:tgtEl>
                                          <p:spTgt spid="5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36" grpId="0"/>
      <p:bldP spid="37" grpId="0"/>
      <p:bldP spid="38" grpId="0"/>
      <p:bldP spid="47" grpId="0"/>
      <p:bldP spid="48" grpId="0"/>
      <p:bldP spid="49" grpId="0" animBg="1"/>
      <p:bldP spid="50" grpId="0" build="p" bldLvl="2"/>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8F52DA8E-98F0-0F40-94FC-7D90FDF4C677}"/>
              </a:ext>
            </a:extLst>
          </p:cNvPr>
          <p:cNvSpPr>
            <a:spLocks noGrp="1" noChangeArrowheads="1"/>
          </p:cNvSpPr>
          <p:nvPr>
            <p:ph type="body" idx="1"/>
          </p:nvPr>
        </p:nvSpPr>
        <p:spPr>
          <a:xfrm>
            <a:off x="468313" y="1412875"/>
            <a:ext cx="8135937" cy="4357688"/>
          </a:xfrm>
        </p:spPr>
        <p:txBody>
          <a:bodyPr/>
          <a:lstStyle/>
          <a:p>
            <a:pPr marL="0" indent="0" eaLnBrk="1" hangingPunct="1">
              <a:lnSpc>
                <a:spcPts val="3800"/>
              </a:lnSpc>
              <a:spcBef>
                <a:spcPct val="0"/>
              </a:spcBef>
              <a:buFont typeface="Wingdings" pitchFamily="2" charset="2"/>
              <a:buNone/>
            </a:pPr>
            <a:r>
              <a:rPr lang="en-US" altLang="zh-CN">
                <a:solidFill>
                  <a:srgbClr val="FF0000"/>
                </a:solidFill>
                <a:effectLst/>
                <a:latin typeface="宋体" panose="02010600030101010101" pitchFamily="2" charset="-122"/>
              </a:rPr>
              <a:t>3. </a:t>
            </a:r>
            <a:r>
              <a:rPr lang="zh-CN" altLang="en-US">
                <a:solidFill>
                  <a:srgbClr val="FF0000"/>
                </a:solidFill>
                <a:effectLst/>
                <a:latin typeface="宋体" panose="02010600030101010101" pitchFamily="2" charset="-122"/>
              </a:rPr>
              <a:t>动态重定位</a:t>
            </a:r>
          </a:p>
          <a:p>
            <a:pPr marL="0" indent="0" eaLnBrk="1" hangingPunct="1">
              <a:lnSpc>
                <a:spcPts val="3800"/>
              </a:lnSpc>
              <a:spcBef>
                <a:spcPct val="0"/>
              </a:spcBef>
              <a:buFont typeface="Wingdings" pitchFamily="2" charset="2"/>
              <a:buNone/>
            </a:pPr>
            <a:r>
              <a:rPr lang="en-US" altLang="zh-CN" sz="2200">
                <a:solidFill>
                  <a:schemeClr val="tx1"/>
                </a:solidFill>
                <a:effectLst/>
                <a:latin typeface="宋体" panose="02010600030101010101" pitchFamily="2" charset="-122"/>
              </a:rPr>
              <a:t>    </a:t>
            </a:r>
            <a:r>
              <a:rPr lang="zh-CN" altLang="zh-CN" sz="2200">
                <a:solidFill>
                  <a:schemeClr val="tx1"/>
                </a:solidFill>
                <a:effectLst/>
                <a:latin typeface="宋体" panose="02010600030101010101" pitchFamily="2" charset="-122"/>
              </a:rPr>
              <a:t>指无论是程序运行前静态装入（一次性装入内存），还是在程序运行中动态装入各目标模块（或在虚拟存储器中动态装入程序的分页和分段）到内存，都不立即进行逻辑地址到物理地址的转换，地址的转换工作是在程序运行中进行的，即当执行的指令中含有访存地址（此时为逻辑地址）时再进行地址转换。</a:t>
            </a:r>
            <a:endParaRPr lang="en-US" altLang="zh-CN" sz="2200">
              <a:solidFill>
                <a:schemeClr val="tx1"/>
              </a:solidFill>
              <a:effectLst/>
              <a:latin typeface="宋体" panose="02010600030101010101" pitchFamily="2" charset="-122"/>
            </a:endParaRPr>
          </a:p>
          <a:p>
            <a:pPr marL="0" indent="0" eaLnBrk="1" hangingPunct="1">
              <a:lnSpc>
                <a:spcPts val="3800"/>
              </a:lnSpc>
              <a:spcBef>
                <a:spcPct val="0"/>
              </a:spcBef>
              <a:buFont typeface="Wingdings" pitchFamily="2" charset="2"/>
              <a:buNone/>
            </a:pPr>
            <a:r>
              <a:rPr lang="zh-CN" altLang="en-US" sz="2200">
                <a:solidFill>
                  <a:schemeClr val="tx1"/>
                </a:solidFill>
                <a:effectLst/>
                <a:latin typeface="宋体" panose="02010600030101010101" pitchFamily="2" charset="-122"/>
              </a:rPr>
              <a:t>    地址重定位机构需要一个（或多个）基地址寄存器（也称重定位寄存器，</a:t>
            </a:r>
            <a:r>
              <a:rPr lang="en-US" altLang="zh-CN" sz="2200">
                <a:solidFill>
                  <a:schemeClr val="tx1"/>
                </a:solidFill>
                <a:effectLst/>
                <a:latin typeface="宋体" panose="02010600030101010101" pitchFamily="2" charset="-122"/>
              </a:rPr>
              <a:t>BR</a:t>
            </a:r>
            <a:r>
              <a:rPr lang="zh-CN" altLang="en-US" sz="2200">
                <a:solidFill>
                  <a:schemeClr val="tx1"/>
                </a:solidFill>
                <a:effectLst/>
                <a:latin typeface="宋体" panose="02010600030101010101" pitchFamily="2" charset="-122"/>
              </a:rPr>
              <a:t>）和一个（或多个）程序逻辑地址寄存器（</a:t>
            </a:r>
            <a:r>
              <a:rPr lang="en-US" altLang="zh-CN" sz="2200">
                <a:solidFill>
                  <a:schemeClr val="tx1"/>
                </a:solidFill>
                <a:effectLst/>
                <a:latin typeface="宋体" panose="02010600030101010101" pitchFamily="2" charset="-122"/>
              </a:rPr>
              <a:t>VR</a:t>
            </a:r>
            <a:r>
              <a:rPr lang="zh-CN" altLang="en-US" sz="2200">
                <a:solidFill>
                  <a:schemeClr val="tx1"/>
                </a:solidFill>
                <a:effectLst/>
                <a:latin typeface="宋体" panose="02010600030101010101" pitchFamily="2" charset="-122"/>
              </a:rPr>
              <a:t>）。指令或数据在内存中的绝对地址与逻辑地址的关系为：</a:t>
            </a:r>
          </a:p>
          <a:p>
            <a:pPr marL="0" indent="0" eaLnBrk="1" hangingPunct="1">
              <a:lnSpc>
                <a:spcPts val="3800"/>
              </a:lnSpc>
              <a:spcBef>
                <a:spcPct val="0"/>
              </a:spcBef>
              <a:buFont typeface="Wingdings" pitchFamily="2" charset="2"/>
              <a:buNone/>
            </a:pPr>
            <a:r>
              <a:rPr lang="zh-CN" altLang="en-US" sz="2200">
                <a:solidFill>
                  <a:schemeClr val="tx1"/>
                </a:solidFill>
                <a:effectLst/>
                <a:latin typeface="宋体" panose="02010600030101010101" pitchFamily="2" charset="-122"/>
              </a:rPr>
              <a:t>	           </a:t>
            </a:r>
            <a:r>
              <a:rPr lang="zh-CN" altLang="en-US" sz="2200">
                <a:solidFill>
                  <a:srgbClr val="FF0000"/>
                </a:solidFill>
                <a:effectLst/>
                <a:latin typeface="宋体" panose="02010600030101010101" pitchFamily="2" charset="-122"/>
              </a:rPr>
              <a:t>绝对地址＝</a:t>
            </a:r>
            <a:r>
              <a:rPr lang="en-US" altLang="zh-CN" sz="2200">
                <a:solidFill>
                  <a:srgbClr val="FF0000"/>
                </a:solidFill>
                <a:effectLst/>
                <a:latin typeface="宋体" panose="02010600030101010101" pitchFamily="2" charset="-122"/>
              </a:rPr>
              <a:t>(BR)</a:t>
            </a:r>
            <a:r>
              <a:rPr lang="zh-CN" altLang="en-US" sz="2200">
                <a:solidFill>
                  <a:srgbClr val="FF0000"/>
                </a:solidFill>
                <a:effectLst/>
                <a:latin typeface="宋体" panose="02010600030101010101" pitchFamily="2" charset="-122"/>
              </a:rPr>
              <a:t>＋</a:t>
            </a:r>
            <a:r>
              <a:rPr lang="en-US" altLang="zh-CN" sz="2200">
                <a:solidFill>
                  <a:srgbClr val="FF0000"/>
                </a:solidFill>
                <a:effectLst/>
                <a:latin typeface="宋体" panose="02010600030101010101" pitchFamily="2" charset="-122"/>
              </a:rPr>
              <a:t>(VR)</a:t>
            </a:r>
          </a:p>
          <a:p>
            <a:pPr marL="0" indent="0"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  </a:t>
            </a:r>
            <a:endParaRPr lang="en-US" altLang="zh-CN" sz="2200">
              <a:solidFill>
                <a:schemeClr val="tx1"/>
              </a:solidFill>
              <a:effectLst/>
              <a:latin typeface="宋体" panose="02010600030101010101" pitchFamily="2" charset="-122"/>
            </a:endParaRPr>
          </a:p>
        </p:txBody>
      </p:sp>
      <p:sp>
        <p:nvSpPr>
          <p:cNvPr id="39939" name="AutoShape 3">
            <a:extLst>
              <a:ext uri="{FF2B5EF4-FFF2-40B4-BE49-F238E27FC236}">
                <a16:creationId xmlns:a16="http://schemas.microsoft.com/office/drawing/2014/main" id="{B16B111E-45DF-BE48-A05E-81629FF3285C}"/>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66">
            <a:extLst>
              <a:ext uri="{FF2B5EF4-FFF2-40B4-BE49-F238E27FC236}">
                <a16:creationId xmlns:a16="http://schemas.microsoft.com/office/drawing/2014/main" id="{A636EF66-DDC2-E34E-9845-D12D1FB7EF12}"/>
              </a:ext>
            </a:extLst>
          </p:cNvPr>
          <p:cNvGrpSpPr>
            <a:grpSpLocks/>
          </p:cNvGrpSpPr>
          <p:nvPr/>
        </p:nvGrpSpPr>
        <p:grpSpPr bwMode="auto">
          <a:xfrm>
            <a:off x="7124254" y="821531"/>
            <a:ext cx="1433512" cy="5689600"/>
            <a:chOff x="6817492" y="620688"/>
            <a:chExt cx="1591411" cy="4968552"/>
          </a:xfrm>
        </p:grpSpPr>
        <p:grpSp>
          <p:nvGrpSpPr>
            <p:cNvPr id="3" name="组合 64">
              <a:extLst>
                <a:ext uri="{FF2B5EF4-FFF2-40B4-BE49-F238E27FC236}">
                  <a16:creationId xmlns:a16="http://schemas.microsoft.com/office/drawing/2014/main" id="{4565525E-200A-9E43-9C53-A36F53BE1094}"/>
                </a:ext>
              </a:extLst>
            </p:cNvPr>
            <p:cNvGrpSpPr>
              <a:grpSpLocks/>
            </p:cNvGrpSpPr>
            <p:nvPr/>
          </p:nvGrpSpPr>
          <p:grpSpPr bwMode="auto">
            <a:xfrm>
              <a:off x="6817492" y="620688"/>
              <a:ext cx="1591411" cy="4968552"/>
              <a:chOff x="6457452" y="620688"/>
              <a:chExt cx="1591411" cy="4968552"/>
            </a:xfrm>
          </p:grpSpPr>
          <p:grpSp>
            <p:nvGrpSpPr>
              <p:cNvPr id="5" name="组合 63">
                <a:extLst>
                  <a:ext uri="{FF2B5EF4-FFF2-40B4-BE49-F238E27FC236}">
                    <a16:creationId xmlns:a16="http://schemas.microsoft.com/office/drawing/2014/main" id="{D776096A-3E7A-DF4F-88CE-DF8D1242A222}"/>
                  </a:ext>
                </a:extLst>
              </p:cNvPr>
              <p:cNvGrpSpPr>
                <a:grpSpLocks/>
              </p:cNvGrpSpPr>
              <p:nvPr/>
            </p:nvGrpSpPr>
            <p:grpSpPr bwMode="auto">
              <a:xfrm>
                <a:off x="6457452" y="620688"/>
                <a:ext cx="1591411" cy="4968552"/>
                <a:chOff x="6529460" y="620688"/>
                <a:chExt cx="1591411" cy="4968552"/>
              </a:xfrm>
            </p:grpSpPr>
            <p:sp>
              <p:nvSpPr>
                <p:cNvPr id="7" name="矩形 59">
                  <a:extLst>
                    <a:ext uri="{FF2B5EF4-FFF2-40B4-BE49-F238E27FC236}">
                      <a16:creationId xmlns:a16="http://schemas.microsoft.com/office/drawing/2014/main" id="{E88F23F9-DD5A-FA40-BAB7-8FA90B9AB3F1}"/>
                    </a:ext>
                  </a:extLst>
                </p:cNvPr>
                <p:cNvSpPr>
                  <a:spLocks noChangeArrowheads="1"/>
                </p:cNvSpPr>
                <p:nvPr/>
              </p:nvSpPr>
              <p:spPr bwMode="auto">
                <a:xfrm>
                  <a:off x="6529460" y="620688"/>
                  <a:ext cx="1584176" cy="4968552"/>
                </a:xfrm>
                <a:prstGeom prst="rect">
                  <a:avLst/>
                </a:prstGeom>
                <a:solidFill>
                  <a:srgbClr val="53FFA1"/>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000">
                    <a:solidFill>
                      <a:srgbClr val="000000"/>
                    </a:solidFill>
                    <a:latin typeface="幼圆" pitchFamily="49" charset="-122"/>
                    <a:ea typeface="幼圆" pitchFamily="49" charset="-122"/>
                  </a:endParaRPr>
                </a:p>
              </p:txBody>
            </p:sp>
            <p:sp>
              <p:nvSpPr>
                <p:cNvPr id="8" name="矩形 60">
                  <a:extLst>
                    <a:ext uri="{FF2B5EF4-FFF2-40B4-BE49-F238E27FC236}">
                      <a16:creationId xmlns:a16="http://schemas.microsoft.com/office/drawing/2014/main" id="{1FBD8C6F-9850-FE49-8CB5-0527368D7EC0}"/>
                    </a:ext>
                  </a:extLst>
                </p:cNvPr>
                <p:cNvSpPr>
                  <a:spLocks noChangeArrowheads="1"/>
                </p:cNvSpPr>
                <p:nvPr/>
              </p:nvSpPr>
              <p:spPr bwMode="auto">
                <a:xfrm>
                  <a:off x="6536695" y="620688"/>
                  <a:ext cx="1584176" cy="792088"/>
                </a:xfrm>
                <a:prstGeom prst="rect">
                  <a:avLst/>
                </a:prstGeom>
                <a:solidFill>
                  <a:srgbClr val="FF0000"/>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000">
                    <a:solidFill>
                      <a:srgbClr val="000000"/>
                    </a:solidFill>
                    <a:latin typeface="幼圆" pitchFamily="49" charset="-122"/>
                    <a:ea typeface="幼圆" pitchFamily="49" charset="-122"/>
                  </a:endParaRPr>
                </a:p>
              </p:txBody>
            </p:sp>
          </p:grpSp>
          <p:sp>
            <p:nvSpPr>
              <p:cNvPr id="6" name="TextBox 5">
                <a:extLst>
                  <a:ext uri="{FF2B5EF4-FFF2-40B4-BE49-F238E27FC236}">
                    <a16:creationId xmlns:a16="http://schemas.microsoft.com/office/drawing/2014/main" id="{6438CDA2-D4BF-9640-9F1C-C94FB331129D}"/>
                  </a:ext>
                </a:extLst>
              </p:cNvPr>
              <p:cNvSpPr txBox="1"/>
              <p:nvPr/>
            </p:nvSpPr>
            <p:spPr>
              <a:xfrm>
                <a:off x="6459214" y="836953"/>
                <a:ext cx="1584363" cy="403418"/>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FFFFFF"/>
                    </a:solidFill>
                    <a:effectLst>
                      <a:outerShdw blurRad="38100" dist="38100" dir="2700000" algn="tl">
                        <a:srgbClr val="C0C0C0"/>
                      </a:outerShdw>
                    </a:effectLst>
                    <a:latin typeface="幼圆" pitchFamily="49" charset="-122"/>
                    <a:ea typeface="幼圆" pitchFamily="49" charset="-122"/>
                  </a:rPr>
                  <a:t>操作系统</a:t>
                </a:r>
              </a:p>
            </p:txBody>
          </p:sp>
        </p:grpSp>
        <p:sp>
          <p:nvSpPr>
            <p:cNvPr id="4" name="TextBox 3">
              <a:extLst>
                <a:ext uri="{FF2B5EF4-FFF2-40B4-BE49-F238E27FC236}">
                  <a16:creationId xmlns:a16="http://schemas.microsoft.com/office/drawing/2014/main" id="{F9859C0E-443A-444C-B981-A474E0E977F2}"/>
                </a:ext>
              </a:extLst>
            </p:cNvPr>
            <p:cNvSpPr txBox="1"/>
            <p:nvPr/>
          </p:nvSpPr>
          <p:spPr>
            <a:xfrm>
              <a:off x="7236934" y="2708478"/>
              <a:ext cx="863557" cy="618296"/>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000">
                  <a:solidFill>
                    <a:srgbClr val="000000"/>
                  </a:solidFill>
                  <a:effectLst>
                    <a:outerShdw blurRad="38100" dist="38100" dir="2700000" algn="tl">
                      <a:srgbClr val="C0C0C0"/>
                    </a:outerShdw>
                  </a:effectLst>
                  <a:latin typeface="幼圆" pitchFamily="49" charset="-122"/>
                  <a:ea typeface="幼圆" pitchFamily="49" charset="-122"/>
                </a:rPr>
                <a:t>用户空间</a:t>
              </a:r>
            </a:p>
          </p:txBody>
        </p:sp>
      </p:grpSp>
      <p:sp>
        <p:nvSpPr>
          <p:cNvPr id="9" name="Text Box 9">
            <a:extLst>
              <a:ext uri="{FF2B5EF4-FFF2-40B4-BE49-F238E27FC236}">
                <a16:creationId xmlns:a16="http://schemas.microsoft.com/office/drawing/2014/main" id="{F3B8E3FB-A555-FA47-959D-1CE0E801B06A}"/>
              </a:ext>
            </a:extLst>
          </p:cNvPr>
          <p:cNvSpPr txBox="1">
            <a:spLocks noChangeArrowheads="1"/>
          </p:cNvSpPr>
          <p:nvPr/>
        </p:nvSpPr>
        <p:spPr bwMode="auto">
          <a:xfrm>
            <a:off x="3692079" y="821532"/>
            <a:ext cx="1600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FF"/>
                </a:solidFill>
                <a:latin typeface="幼圆" pitchFamily="49" charset="-122"/>
                <a:ea typeface="幼圆" pitchFamily="49" charset="-122"/>
              </a:rPr>
              <a:t>逻辑地址</a:t>
            </a:r>
          </a:p>
        </p:txBody>
      </p:sp>
      <p:sp>
        <p:nvSpPr>
          <p:cNvPr id="10" name="TextBox 9">
            <a:extLst>
              <a:ext uri="{FF2B5EF4-FFF2-40B4-BE49-F238E27FC236}">
                <a16:creationId xmlns:a16="http://schemas.microsoft.com/office/drawing/2014/main" id="{C437D3A9-5097-A64C-B091-2B790BB8429F}"/>
              </a:ext>
            </a:extLst>
          </p:cNvPr>
          <p:cNvSpPr txBox="1">
            <a:spLocks noChangeArrowheads="1"/>
          </p:cNvSpPr>
          <p:nvPr/>
        </p:nvSpPr>
        <p:spPr bwMode="auto">
          <a:xfrm>
            <a:off x="7235380" y="389732"/>
            <a:ext cx="151288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FF"/>
                </a:solidFill>
                <a:latin typeface="幼圆" pitchFamily="49" charset="-122"/>
                <a:ea typeface="幼圆" pitchFamily="49" charset="-122"/>
              </a:rPr>
              <a:t>内存空间</a:t>
            </a:r>
          </a:p>
        </p:txBody>
      </p:sp>
      <p:sp>
        <p:nvSpPr>
          <p:cNvPr id="11" name="TextBox 10">
            <a:extLst>
              <a:ext uri="{FF2B5EF4-FFF2-40B4-BE49-F238E27FC236}">
                <a16:creationId xmlns:a16="http://schemas.microsoft.com/office/drawing/2014/main" id="{4F70F60E-B40B-D84F-8932-821F6AAAFCDC}"/>
              </a:ext>
            </a:extLst>
          </p:cNvPr>
          <p:cNvSpPr txBox="1">
            <a:spLocks noChangeArrowheads="1"/>
          </p:cNvSpPr>
          <p:nvPr/>
        </p:nvSpPr>
        <p:spPr bwMode="auto">
          <a:xfrm>
            <a:off x="3592066" y="5026819"/>
            <a:ext cx="19494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00"/>
                </a:solidFill>
                <a:latin typeface="幼圆" pitchFamily="49" charset="-122"/>
                <a:ea typeface="幼圆" pitchFamily="49" charset="-122"/>
              </a:rPr>
              <a:t>装入模块</a:t>
            </a:r>
          </a:p>
        </p:txBody>
      </p:sp>
      <p:grpSp>
        <p:nvGrpSpPr>
          <p:cNvPr id="12" name="组合 72">
            <a:extLst>
              <a:ext uri="{FF2B5EF4-FFF2-40B4-BE49-F238E27FC236}">
                <a16:creationId xmlns:a16="http://schemas.microsoft.com/office/drawing/2014/main" id="{B5FA6C8C-5913-D245-86B7-BC6588A72A32}"/>
              </a:ext>
            </a:extLst>
          </p:cNvPr>
          <p:cNvGrpSpPr>
            <a:grpSpLocks/>
          </p:cNvGrpSpPr>
          <p:nvPr/>
        </p:nvGrpSpPr>
        <p:grpSpPr bwMode="auto">
          <a:xfrm>
            <a:off x="2864992" y="1372394"/>
            <a:ext cx="2282825" cy="3497262"/>
            <a:chOff x="3203848" y="1027584"/>
            <a:chExt cx="2282552" cy="3496355"/>
          </a:xfrm>
        </p:grpSpPr>
        <p:sp>
          <p:nvSpPr>
            <p:cNvPr id="13" name="Text Box 107">
              <a:extLst>
                <a:ext uri="{FF2B5EF4-FFF2-40B4-BE49-F238E27FC236}">
                  <a16:creationId xmlns:a16="http://schemas.microsoft.com/office/drawing/2014/main" id="{F45E2430-9925-0749-9962-114AC5CFE523}"/>
                </a:ext>
              </a:extLst>
            </p:cNvPr>
            <p:cNvSpPr txBox="1">
              <a:spLocks noChangeArrowheads="1"/>
            </p:cNvSpPr>
            <p:nvPr/>
          </p:nvSpPr>
          <p:spPr bwMode="auto">
            <a:xfrm>
              <a:off x="4221088" y="3284984"/>
              <a:ext cx="11430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365</a:t>
              </a:r>
            </a:p>
          </p:txBody>
        </p:sp>
        <p:grpSp>
          <p:nvGrpSpPr>
            <p:cNvPr id="14" name="组合 71">
              <a:extLst>
                <a:ext uri="{FF2B5EF4-FFF2-40B4-BE49-F238E27FC236}">
                  <a16:creationId xmlns:a16="http://schemas.microsoft.com/office/drawing/2014/main" id="{3C341A45-1F8E-FF4C-8555-60B18168C8D6}"/>
                </a:ext>
              </a:extLst>
            </p:cNvPr>
            <p:cNvGrpSpPr>
              <a:grpSpLocks/>
            </p:cNvGrpSpPr>
            <p:nvPr/>
          </p:nvGrpSpPr>
          <p:grpSpPr bwMode="auto">
            <a:xfrm>
              <a:off x="3203848" y="1027584"/>
              <a:ext cx="2282552" cy="3496355"/>
              <a:chOff x="3225552" y="1027584"/>
              <a:chExt cx="2282552" cy="3496355"/>
            </a:xfrm>
          </p:grpSpPr>
          <p:sp>
            <p:nvSpPr>
              <p:cNvPr id="15" name="Text Box 103">
                <a:extLst>
                  <a:ext uri="{FF2B5EF4-FFF2-40B4-BE49-F238E27FC236}">
                    <a16:creationId xmlns:a16="http://schemas.microsoft.com/office/drawing/2014/main" id="{20905D7F-32A4-7F41-A203-8ABA17787D8A}"/>
                  </a:ext>
                </a:extLst>
              </p:cNvPr>
              <p:cNvSpPr txBox="1">
                <a:spLocks noChangeArrowheads="1"/>
              </p:cNvSpPr>
              <p:nvPr/>
            </p:nvSpPr>
            <p:spPr bwMode="auto">
              <a:xfrm>
                <a:off x="3733800" y="1027584"/>
                <a:ext cx="838200" cy="400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0</a:t>
                </a:r>
              </a:p>
            </p:txBody>
          </p:sp>
          <p:sp>
            <p:nvSpPr>
              <p:cNvPr id="16" name="Text Box 104">
                <a:extLst>
                  <a:ext uri="{FF2B5EF4-FFF2-40B4-BE49-F238E27FC236}">
                    <a16:creationId xmlns:a16="http://schemas.microsoft.com/office/drawing/2014/main" id="{595FAFE1-B699-034E-844C-163F2321570E}"/>
                  </a:ext>
                </a:extLst>
              </p:cNvPr>
              <p:cNvSpPr txBox="1">
                <a:spLocks noChangeArrowheads="1"/>
              </p:cNvSpPr>
              <p:nvPr/>
            </p:nvSpPr>
            <p:spPr bwMode="auto">
              <a:xfrm>
                <a:off x="3275856" y="1891680"/>
                <a:ext cx="914400" cy="400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1000</a:t>
                </a:r>
              </a:p>
            </p:txBody>
          </p:sp>
          <p:sp>
            <p:nvSpPr>
              <p:cNvPr id="17" name="Text Box 105">
                <a:extLst>
                  <a:ext uri="{FF2B5EF4-FFF2-40B4-BE49-F238E27FC236}">
                    <a16:creationId xmlns:a16="http://schemas.microsoft.com/office/drawing/2014/main" id="{812814C6-67E6-824E-88A1-7C067AB649F7}"/>
                  </a:ext>
                </a:extLst>
              </p:cNvPr>
              <p:cNvSpPr txBox="1">
                <a:spLocks noChangeArrowheads="1"/>
              </p:cNvSpPr>
              <p:nvPr/>
            </p:nvSpPr>
            <p:spPr bwMode="auto">
              <a:xfrm>
                <a:off x="3967336" y="2240037"/>
                <a:ext cx="1540768" cy="707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LOAD </a:t>
                </a:r>
                <a:r>
                  <a:rPr lang="en-US" altLang="zh-CN" sz="2000">
                    <a:solidFill>
                      <a:srgbClr val="0000FF"/>
                    </a:solidFill>
                    <a:latin typeface="幼圆" pitchFamily="49" charset="-122"/>
                    <a:ea typeface="幼圆" pitchFamily="49" charset="-122"/>
                  </a:rPr>
                  <a:t>2500</a:t>
                </a:r>
              </a:p>
            </p:txBody>
          </p:sp>
          <p:sp>
            <p:nvSpPr>
              <p:cNvPr id="18" name="Text Box 106">
                <a:extLst>
                  <a:ext uri="{FF2B5EF4-FFF2-40B4-BE49-F238E27FC236}">
                    <a16:creationId xmlns:a16="http://schemas.microsoft.com/office/drawing/2014/main" id="{F6BF5A13-D518-DF43-9F07-B51BBD538EC8}"/>
                  </a:ext>
                </a:extLst>
              </p:cNvPr>
              <p:cNvSpPr txBox="1">
                <a:spLocks noChangeArrowheads="1"/>
              </p:cNvSpPr>
              <p:nvPr/>
            </p:nvSpPr>
            <p:spPr bwMode="auto">
              <a:xfrm>
                <a:off x="3225552" y="2924943"/>
                <a:ext cx="914400" cy="400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2500</a:t>
                </a:r>
              </a:p>
            </p:txBody>
          </p:sp>
          <p:sp>
            <p:nvSpPr>
              <p:cNvPr id="19" name="Text Box 108">
                <a:extLst>
                  <a:ext uri="{FF2B5EF4-FFF2-40B4-BE49-F238E27FC236}">
                    <a16:creationId xmlns:a16="http://schemas.microsoft.com/office/drawing/2014/main" id="{6D38D1B9-F5CF-DF47-BD1A-DE148F9E2E14}"/>
                  </a:ext>
                </a:extLst>
              </p:cNvPr>
              <p:cNvSpPr txBox="1">
                <a:spLocks noChangeArrowheads="1"/>
              </p:cNvSpPr>
              <p:nvPr/>
            </p:nvSpPr>
            <p:spPr bwMode="auto">
              <a:xfrm>
                <a:off x="3289176" y="4123927"/>
                <a:ext cx="1066800" cy="400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5000</a:t>
                </a:r>
              </a:p>
            </p:txBody>
          </p:sp>
        </p:grpSp>
      </p:grpSp>
      <p:sp>
        <p:nvSpPr>
          <p:cNvPr id="20" name="矩形 74">
            <a:extLst>
              <a:ext uri="{FF2B5EF4-FFF2-40B4-BE49-F238E27FC236}">
                <a16:creationId xmlns:a16="http://schemas.microsoft.com/office/drawing/2014/main" id="{E3A83D17-072B-CB4A-9492-607AE70CE170}"/>
              </a:ext>
            </a:extLst>
          </p:cNvPr>
          <p:cNvSpPr>
            <a:spLocks noChangeArrowheads="1"/>
          </p:cNvSpPr>
          <p:nvPr/>
        </p:nvSpPr>
        <p:spPr bwMode="auto">
          <a:xfrm>
            <a:off x="7103616" y="2655095"/>
            <a:ext cx="1422400" cy="3095625"/>
          </a:xfrm>
          <a:prstGeom prst="rect">
            <a:avLst/>
          </a:prstGeom>
          <a:solidFill>
            <a:srgbClr val="F8F8F8"/>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000">
              <a:solidFill>
                <a:srgbClr val="000000"/>
              </a:solidFill>
              <a:latin typeface="幼圆" pitchFamily="49" charset="-122"/>
              <a:ea typeface="幼圆" pitchFamily="49" charset="-122"/>
            </a:endParaRPr>
          </a:p>
        </p:txBody>
      </p:sp>
      <p:graphicFrame>
        <p:nvGraphicFramePr>
          <p:cNvPr id="21" name="Group 102">
            <a:extLst>
              <a:ext uri="{FF2B5EF4-FFF2-40B4-BE49-F238E27FC236}">
                <a16:creationId xmlns:a16="http://schemas.microsoft.com/office/drawing/2014/main" id="{83F675A4-D3E0-7E49-B748-DB21152F25DE}"/>
              </a:ext>
            </a:extLst>
          </p:cNvPr>
          <p:cNvGraphicFramePr>
            <a:graphicFrameLocks noGrp="1"/>
          </p:cNvGraphicFramePr>
          <p:nvPr>
            <p:extLst>
              <p:ext uri="{D42A27DB-BD31-4B8C-83A1-F6EECF244321}">
                <p14:modId xmlns:p14="http://schemas.microsoft.com/office/powerpoint/2010/main" val="1345183902"/>
              </p:ext>
            </p:extLst>
          </p:nvPr>
        </p:nvGraphicFramePr>
        <p:xfrm>
          <a:off x="3604767" y="1613695"/>
          <a:ext cx="1408113" cy="3168651"/>
        </p:xfrm>
        <a:graphic>
          <a:graphicData uri="http://schemas.openxmlformats.org/drawingml/2006/table">
            <a:tbl>
              <a:tblPr/>
              <a:tblGrid>
                <a:gridCol w="1408113">
                  <a:extLst>
                    <a:ext uri="{9D8B030D-6E8A-4147-A177-3AD203B41FA5}">
                      <a16:colId xmlns:a16="http://schemas.microsoft.com/office/drawing/2014/main" val="20000"/>
                    </a:ext>
                  </a:extLst>
                </a:gridCol>
              </a:tblGrid>
              <a:tr h="927034">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4077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50211">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2" name="组合 76">
            <a:extLst>
              <a:ext uri="{FF2B5EF4-FFF2-40B4-BE49-F238E27FC236}">
                <a16:creationId xmlns:a16="http://schemas.microsoft.com/office/drawing/2014/main" id="{041C3E54-8314-0B45-94AF-2AFCCE5698BB}"/>
              </a:ext>
            </a:extLst>
          </p:cNvPr>
          <p:cNvGrpSpPr>
            <a:grpSpLocks/>
          </p:cNvGrpSpPr>
          <p:nvPr/>
        </p:nvGrpSpPr>
        <p:grpSpPr bwMode="auto">
          <a:xfrm>
            <a:off x="6300342" y="2453482"/>
            <a:ext cx="2519363" cy="3495675"/>
            <a:chOff x="3110136" y="1027584"/>
            <a:chExt cx="2520280" cy="3496535"/>
          </a:xfrm>
        </p:grpSpPr>
        <p:sp>
          <p:nvSpPr>
            <p:cNvPr id="23" name="Text Box 107">
              <a:extLst>
                <a:ext uri="{FF2B5EF4-FFF2-40B4-BE49-F238E27FC236}">
                  <a16:creationId xmlns:a16="http://schemas.microsoft.com/office/drawing/2014/main" id="{57122C2F-A2BC-494B-B7CA-C2C872C9ACD3}"/>
                </a:ext>
              </a:extLst>
            </p:cNvPr>
            <p:cNvSpPr txBox="1">
              <a:spLocks noChangeArrowheads="1"/>
            </p:cNvSpPr>
            <p:nvPr/>
          </p:nvSpPr>
          <p:spPr bwMode="auto">
            <a:xfrm>
              <a:off x="4221088" y="3284984"/>
              <a:ext cx="11430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365</a:t>
              </a:r>
            </a:p>
          </p:txBody>
        </p:sp>
        <p:grpSp>
          <p:nvGrpSpPr>
            <p:cNvPr id="24" name="组合 71">
              <a:extLst>
                <a:ext uri="{FF2B5EF4-FFF2-40B4-BE49-F238E27FC236}">
                  <a16:creationId xmlns:a16="http://schemas.microsoft.com/office/drawing/2014/main" id="{B240C9B5-9D13-5442-9F9A-7EEF77F5774A}"/>
                </a:ext>
              </a:extLst>
            </p:cNvPr>
            <p:cNvGrpSpPr>
              <a:grpSpLocks/>
            </p:cNvGrpSpPr>
            <p:nvPr/>
          </p:nvGrpSpPr>
          <p:grpSpPr bwMode="auto">
            <a:xfrm>
              <a:off x="3110136" y="1027584"/>
              <a:ext cx="2520280" cy="3496535"/>
              <a:chOff x="3131840" y="1027584"/>
              <a:chExt cx="2520280" cy="3496535"/>
            </a:xfrm>
          </p:grpSpPr>
          <p:sp>
            <p:nvSpPr>
              <p:cNvPr id="25" name="Text Box 103">
                <a:extLst>
                  <a:ext uri="{FF2B5EF4-FFF2-40B4-BE49-F238E27FC236}">
                    <a16:creationId xmlns:a16="http://schemas.microsoft.com/office/drawing/2014/main" id="{CB711361-73DD-3F40-9090-E87D78C1758F}"/>
                  </a:ext>
                </a:extLst>
              </p:cNvPr>
              <p:cNvSpPr txBox="1">
                <a:spLocks noChangeArrowheads="1"/>
              </p:cNvSpPr>
              <p:nvPr/>
            </p:nvSpPr>
            <p:spPr bwMode="auto">
              <a:xfrm>
                <a:off x="3131840" y="1027584"/>
                <a:ext cx="982216"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10000</a:t>
                </a:r>
              </a:p>
            </p:txBody>
          </p:sp>
          <p:sp>
            <p:nvSpPr>
              <p:cNvPr id="26" name="Text Box 104">
                <a:extLst>
                  <a:ext uri="{FF2B5EF4-FFF2-40B4-BE49-F238E27FC236}">
                    <a16:creationId xmlns:a16="http://schemas.microsoft.com/office/drawing/2014/main" id="{EDFD45C2-2A2D-FD4B-9C44-E188B8A7D705}"/>
                  </a:ext>
                </a:extLst>
              </p:cNvPr>
              <p:cNvSpPr txBox="1">
                <a:spLocks noChangeArrowheads="1"/>
              </p:cNvSpPr>
              <p:nvPr/>
            </p:nvSpPr>
            <p:spPr bwMode="auto">
              <a:xfrm>
                <a:off x="3131840" y="1891680"/>
                <a:ext cx="986408"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11000</a:t>
                </a:r>
              </a:p>
            </p:txBody>
          </p:sp>
          <p:sp>
            <p:nvSpPr>
              <p:cNvPr id="27" name="Text Box 105">
                <a:extLst>
                  <a:ext uri="{FF2B5EF4-FFF2-40B4-BE49-F238E27FC236}">
                    <a16:creationId xmlns:a16="http://schemas.microsoft.com/office/drawing/2014/main" id="{3CF45154-1E15-F340-8977-4269B4008490}"/>
                  </a:ext>
                </a:extLst>
              </p:cNvPr>
              <p:cNvSpPr txBox="1">
                <a:spLocks noChangeArrowheads="1"/>
              </p:cNvSpPr>
              <p:nvPr/>
            </p:nvSpPr>
            <p:spPr bwMode="auto">
              <a:xfrm>
                <a:off x="3967336" y="2240037"/>
                <a:ext cx="168478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LOAD </a:t>
                </a:r>
                <a:r>
                  <a:rPr lang="en-US" altLang="zh-CN" sz="2000">
                    <a:solidFill>
                      <a:srgbClr val="FF3300"/>
                    </a:solidFill>
                    <a:latin typeface="幼圆" pitchFamily="49" charset="-122"/>
                    <a:ea typeface="幼圆" pitchFamily="49" charset="-122"/>
                  </a:rPr>
                  <a:t>2500</a:t>
                </a:r>
              </a:p>
            </p:txBody>
          </p:sp>
          <p:sp>
            <p:nvSpPr>
              <p:cNvPr id="28" name="Text Box 106">
                <a:extLst>
                  <a:ext uri="{FF2B5EF4-FFF2-40B4-BE49-F238E27FC236}">
                    <a16:creationId xmlns:a16="http://schemas.microsoft.com/office/drawing/2014/main" id="{27FBC397-815B-5A48-BE61-341F11E71448}"/>
                  </a:ext>
                </a:extLst>
              </p:cNvPr>
              <p:cNvSpPr txBox="1">
                <a:spLocks noChangeArrowheads="1"/>
              </p:cNvSpPr>
              <p:nvPr/>
            </p:nvSpPr>
            <p:spPr bwMode="auto">
              <a:xfrm>
                <a:off x="3131840" y="2924944"/>
                <a:ext cx="1080120"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12500</a:t>
                </a:r>
              </a:p>
            </p:txBody>
          </p:sp>
          <p:sp>
            <p:nvSpPr>
              <p:cNvPr id="29" name="Text Box 108">
                <a:extLst>
                  <a:ext uri="{FF2B5EF4-FFF2-40B4-BE49-F238E27FC236}">
                    <a16:creationId xmlns:a16="http://schemas.microsoft.com/office/drawing/2014/main" id="{B2EC86B5-7A26-E84B-9506-8E2BB569979B}"/>
                  </a:ext>
                </a:extLst>
              </p:cNvPr>
              <p:cNvSpPr txBox="1">
                <a:spLocks noChangeArrowheads="1"/>
              </p:cNvSpPr>
              <p:nvPr/>
            </p:nvSpPr>
            <p:spPr bwMode="auto">
              <a:xfrm>
                <a:off x="3131840" y="4123928"/>
                <a:ext cx="1066800"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15000</a:t>
                </a:r>
              </a:p>
            </p:txBody>
          </p:sp>
        </p:grpSp>
      </p:grpSp>
      <p:graphicFrame>
        <p:nvGraphicFramePr>
          <p:cNvPr id="30" name="Group 102">
            <a:extLst>
              <a:ext uri="{FF2B5EF4-FFF2-40B4-BE49-F238E27FC236}">
                <a16:creationId xmlns:a16="http://schemas.microsoft.com/office/drawing/2014/main" id="{922DDAB7-067E-D44C-A1CD-7547DCC8D071}"/>
              </a:ext>
            </a:extLst>
          </p:cNvPr>
          <p:cNvGraphicFramePr>
            <a:graphicFrameLocks noGrp="1"/>
          </p:cNvGraphicFramePr>
          <p:nvPr>
            <p:extLst>
              <p:ext uri="{D42A27DB-BD31-4B8C-83A1-F6EECF244321}">
                <p14:modId xmlns:p14="http://schemas.microsoft.com/office/powerpoint/2010/main" val="1110528548"/>
              </p:ext>
            </p:extLst>
          </p:nvPr>
        </p:nvGraphicFramePr>
        <p:xfrm>
          <a:off x="3604767" y="1613695"/>
          <a:ext cx="1408113" cy="3168651"/>
        </p:xfrm>
        <a:graphic>
          <a:graphicData uri="http://schemas.openxmlformats.org/drawingml/2006/table">
            <a:tbl>
              <a:tblPr/>
              <a:tblGrid>
                <a:gridCol w="1408113">
                  <a:extLst>
                    <a:ext uri="{9D8B030D-6E8A-4147-A177-3AD203B41FA5}">
                      <a16:colId xmlns:a16="http://schemas.microsoft.com/office/drawing/2014/main" val="20000"/>
                    </a:ext>
                  </a:extLst>
                </a:gridCol>
              </a:tblGrid>
              <a:tr h="927034">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4077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50211">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1" name="TextBox 30">
            <a:extLst>
              <a:ext uri="{FF2B5EF4-FFF2-40B4-BE49-F238E27FC236}">
                <a16:creationId xmlns:a16="http://schemas.microsoft.com/office/drawing/2014/main" id="{BDD36083-EEB9-5B46-A71D-37D5EAE7DC17}"/>
              </a:ext>
            </a:extLst>
          </p:cNvPr>
          <p:cNvSpPr txBox="1">
            <a:spLocks noChangeArrowheads="1"/>
          </p:cNvSpPr>
          <p:nvPr/>
        </p:nvSpPr>
        <p:spPr bwMode="auto">
          <a:xfrm>
            <a:off x="6300341" y="2448719"/>
            <a:ext cx="10795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en-US" altLang="zh-CN" sz="2000">
                <a:solidFill>
                  <a:srgbClr val="000000"/>
                </a:solidFill>
                <a:latin typeface="幼圆" pitchFamily="49" charset="-122"/>
                <a:ea typeface="幼圆" pitchFamily="49" charset="-122"/>
              </a:rPr>
              <a:t>10000</a:t>
            </a:r>
            <a:endParaRPr lang="zh-CN" altLang="en-US" sz="2000">
              <a:solidFill>
                <a:srgbClr val="000000"/>
              </a:solidFill>
              <a:latin typeface="幼圆" pitchFamily="49" charset="-122"/>
              <a:ea typeface="幼圆" pitchFamily="49" charset="-122"/>
            </a:endParaRPr>
          </a:p>
        </p:txBody>
      </p:sp>
      <p:grpSp>
        <p:nvGrpSpPr>
          <p:cNvPr id="32" name="组合 76">
            <a:extLst>
              <a:ext uri="{FF2B5EF4-FFF2-40B4-BE49-F238E27FC236}">
                <a16:creationId xmlns:a16="http://schemas.microsoft.com/office/drawing/2014/main" id="{373467C0-60E0-AF42-81E4-DD2A6DEAE469}"/>
              </a:ext>
            </a:extLst>
          </p:cNvPr>
          <p:cNvGrpSpPr>
            <a:grpSpLocks/>
          </p:cNvGrpSpPr>
          <p:nvPr/>
        </p:nvGrpSpPr>
        <p:grpSpPr bwMode="auto">
          <a:xfrm>
            <a:off x="6279704" y="2453482"/>
            <a:ext cx="2519362" cy="3495675"/>
            <a:chOff x="3110136" y="1027584"/>
            <a:chExt cx="2520280" cy="3496535"/>
          </a:xfrm>
        </p:grpSpPr>
        <p:sp>
          <p:nvSpPr>
            <p:cNvPr id="33" name="Text Box 107">
              <a:extLst>
                <a:ext uri="{FF2B5EF4-FFF2-40B4-BE49-F238E27FC236}">
                  <a16:creationId xmlns:a16="http://schemas.microsoft.com/office/drawing/2014/main" id="{A37E1881-C8CE-404B-8843-A9EB3B864CF0}"/>
                </a:ext>
              </a:extLst>
            </p:cNvPr>
            <p:cNvSpPr txBox="1">
              <a:spLocks noChangeArrowheads="1"/>
            </p:cNvSpPr>
            <p:nvPr/>
          </p:nvSpPr>
          <p:spPr bwMode="auto">
            <a:xfrm>
              <a:off x="4221088" y="3284984"/>
              <a:ext cx="11430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365</a:t>
              </a:r>
            </a:p>
          </p:txBody>
        </p:sp>
        <p:grpSp>
          <p:nvGrpSpPr>
            <p:cNvPr id="34" name="组合 71">
              <a:extLst>
                <a:ext uri="{FF2B5EF4-FFF2-40B4-BE49-F238E27FC236}">
                  <a16:creationId xmlns:a16="http://schemas.microsoft.com/office/drawing/2014/main" id="{3B1CD8B1-7062-4540-86E5-34F2F8016608}"/>
                </a:ext>
              </a:extLst>
            </p:cNvPr>
            <p:cNvGrpSpPr>
              <a:grpSpLocks/>
            </p:cNvGrpSpPr>
            <p:nvPr/>
          </p:nvGrpSpPr>
          <p:grpSpPr bwMode="auto">
            <a:xfrm>
              <a:off x="3110136" y="1027584"/>
              <a:ext cx="2520280" cy="3496535"/>
              <a:chOff x="3131840" y="1027584"/>
              <a:chExt cx="2520280" cy="3496535"/>
            </a:xfrm>
          </p:grpSpPr>
          <p:sp>
            <p:nvSpPr>
              <p:cNvPr id="35" name="Text Box 103">
                <a:extLst>
                  <a:ext uri="{FF2B5EF4-FFF2-40B4-BE49-F238E27FC236}">
                    <a16:creationId xmlns:a16="http://schemas.microsoft.com/office/drawing/2014/main" id="{A925EB04-E1E8-5349-972E-E856490D56EC}"/>
                  </a:ext>
                </a:extLst>
              </p:cNvPr>
              <p:cNvSpPr txBox="1">
                <a:spLocks noChangeArrowheads="1"/>
              </p:cNvSpPr>
              <p:nvPr/>
            </p:nvSpPr>
            <p:spPr bwMode="auto">
              <a:xfrm>
                <a:off x="3131840" y="1027584"/>
                <a:ext cx="982216"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10000</a:t>
                </a:r>
              </a:p>
            </p:txBody>
          </p:sp>
          <p:sp>
            <p:nvSpPr>
              <p:cNvPr id="36" name="Text Box 104">
                <a:extLst>
                  <a:ext uri="{FF2B5EF4-FFF2-40B4-BE49-F238E27FC236}">
                    <a16:creationId xmlns:a16="http://schemas.microsoft.com/office/drawing/2014/main" id="{9C2145EE-60C8-0541-BA66-0EF709B08071}"/>
                  </a:ext>
                </a:extLst>
              </p:cNvPr>
              <p:cNvSpPr txBox="1">
                <a:spLocks noChangeArrowheads="1"/>
              </p:cNvSpPr>
              <p:nvPr/>
            </p:nvSpPr>
            <p:spPr bwMode="auto">
              <a:xfrm>
                <a:off x="3131840" y="1891680"/>
                <a:ext cx="986408"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11000</a:t>
                </a:r>
              </a:p>
            </p:txBody>
          </p:sp>
          <p:sp>
            <p:nvSpPr>
              <p:cNvPr id="37" name="Text Box 105">
                <a:extLst>
                  <a:ext uri="{FF2B5EF4-FFF2-40B4-BE49-F238E27FC236}">
                    <a16:creationId xmlns:a16="http://schemas.microsoft.com/office/drawing/2014/main" id="{48013B42-F317-B144-A575-A9001659E4B0}"/>
                  </a:ext>
                </a:extLst>
              </p:cNvPr>
              <p:cNvSpPr txBox="1">
                <a:spLocks noChangeArrowheads="1"/>
              </p:cNvSpPr>
              <p:nvPr/>
            </p:nvSpPr>
            <p:spPr bwMode="auto">
              <a:xfrm>
                <a:off x="3967336" y="2240037"/>
                <a:ext cx="1684784" cy="7080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LOAD </a:t>
                </a:r>
                <a:r>
                  <a:rPr lang="en-US" altLang="zh-CN" sz="2000">
                    <a:solidFill>
                      <a:srgbClr val="0000FF"/>
                    </a:solidFill>
                    <a:latin typeface="幼圆" pitchFamily="49" charset="-122"/>
                    <a:ea typeface="幼圆" pitchFamily="49" charset="-122"/>
                  </a:rPr>
                  <a:t>12500</a:t>
                </a:r>
              </a:p>
            </p:txBody>
          </p:sp>
          <p:sp>
            <p:nvSpPr>
              <p:cNvPr id="38" name="Text Box 106">
                <a:extLst>
                  <a:ext uri="{FF2B5EF4-FFF2-40B4-BE49-F238E27FC236}">
                    <a16:creationId xmlns:a16="http://schemas.microsoft.com/office/drawing/2014/main" id="{FEAA0997-8435-3445-90B3-9ED3D3A13582}"/>
                  </a:ext>
                </a:extLst>
              </p:cNvPr>
              <p:cNvSpPr txBox="1">
                <a:spLocks noChangeArrowheads="1"/>
              </p:cNvSpPr>
              <p:nvPr/>
            </p:nvSpPr>
            <p:spPr bwMode="auto">
              <a:xfrm>
                <a:off x="3131840" y="2924944"/>
                <a:ext cx="1080120"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12500</a:t>
                </a:r>
              </a:p>
            </p:txBody>
          </p:sp>
          <p:sp>
            <p:nvSpPr>
              <p:cNvPr id="39" name="Text Box 108">
                <a:extLst>
                  <a:ext uri="{FF2B5EF4-FFF2-40B4-BE49-F238E27FC236}">
                    <a16:creationId xmlns:a16="http://schemas.microsoft.com/office/drawing/2014/main" id="{CE7C2BD8-1CB1-724B-85A0-3EF14F54C0E7}"/>
                  </a:ext>
                </a:extLst>
              </p:cNvPr>
              <p:cNvSpPr txBox="1">
                <a:spLocks noChangeArrowheads="1"/>
              </p:cNvSpPr>
              <p:nvPr/>
            </p:nvSpPr>
            <p:spPr bwMode="auto">
              <a:xfrm>
                <a:off x="3131840" y="4123928"/>
                <a:ext cx="1066800"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15000</a:t>
                </a:r>
              </a:p>
            </p:txBody>
          </p:sp>
        </p:grpSp>
      </p:grpSp>
      <p:sp>
        <p:nvSpPr>
          <p:cNvPr id="40" name="矩形 41">
            <a:extLst>
              <a:ext uri="{FF2B5EF4-FFF2-40B4-BE49-F238E27FC236}">
                <a16:creationId xmlns:a16="http://schemas.microsoft.com/office/drawing/2014/main" id="{439FF2D4-7532-E643-9FD9-D53A2367FE27}"/>
              </a:ext>
            </a:extLst>
          </p:cNvPr>
          <p:cNvSpPr>
            <a:spLocks noChangeArrowheads="1"/>
          </p:cNvSpPr>
          <p:nvPr/>
        </p:nvSpPr>
        <p:spPr bwMode="auto">
          <a:xfrm>
            <a:off x="7136954" y="1754981"/>
            <a:ext cx="1408112" cy="863600"/>
          </a:xfrm>
          <a:prstGeom prst="rect">
            <a:avLst/>
          </a:prstGeom>
          <a:solidFill>
            <a:srgbClr val="0000FF"/>
          </a:solidFill>
          <a:ln w="1270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1" name="TextBox 40">
            <a:extLst>
              <a:ext uri="{FF2B5EF4-FFF2-40B4-BE49-F238E27FC236}">
                <a16:creationId xmlns:a16="http://schemas.microsoft.com/office/drawing/2014/main" id="{A8564141-1124-1647-A392-B4E679BBE28D}"/>
              </a:ext>
            </a:extLst>
          </p:cNvPr>
          <p:cNvSpPr txBox="1">
            <a:spLocks noChangeArrowheads="1"/>
          </p:cNvSpPr>
          <p:nvPr/>
        </p:nvSpPr>
        <p:spPr bwMode="auto">
          <a:xfrm>
            <a:off x="7286180" y="1972469"/>
            <a:ext cx="11969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FFFFFF"/>
                </a:solidFill>
              </a:rPr>
              <a:t>程序一</a:t>
            </a:r>
          </a:p>
        </p:txBody>
      </p:sp>
      <p:sp>
        <p:nvSpPr>
          <p:cNvPr id="42" name="矩形 43">
            <a:extLst>
              <a:ext uri="{FF2B5EF4-FFF2-40B4-BE49-F238E27FC236}">
                <a16:creationId xmlns:a16="http://schemas.microsoft.com/office/drawing/2014/main" id="{14C271C5-C207-6446-931A-D8C562D01CA2}"/>
              </a:ext>
            </a:extLst>
          </p:cNvPr>
          <p:cNvSpPr>
            <a:spLocks noChangeArrowheads="1"/>
          </p:cNvSpPr>
          <p:nvPr/>
        </p:nvSpPr>
        <p:spPr bwMode="auto">
          <a:xfrm>
            <a:off x="160105" y="464345"/>
            <a:ext cx="5903912" cy="6205015"/>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43" name="内容占位符 2">
            <a:extLst>
              <a:ext uri="{FF2B5EF4-FFF2-40B4-BE49-F238E27FC236}">
                <a16:creationId xmlns:a16="http://schemas.microsoft.com/office/drawing/2014/main" id="{7A551AC8-A3A8-924F-B752-9888776158A6}"/>
              </a:ext>
            </a:extLst>
          </p:cNvPr>
          <p:cNvSpPr txBox="1">
            <a:spLocks/>
          </p:cNvSpPr>
          <p:nvPr/>
        </p:nvSpPr>
        <p:spPr>
          <a:xfrm>
            <a:off x="107504" y="464344"/>
            <a:ext cx="5903912" cy="5929312"/>
          </a:xfrm>
          <a:prstGeom prst="rect">
            <a:avLst/>
          </a:prstGeom>
        </p:spPr>
        <p:txBody>
          <a:bodyPr/>
          <a:lstStyle>
            <a:lvl1pPr marL="342900" indent="-342900">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ts val="3600"/>
              </a:lnSpc>
              <a:buClr>
                <a:srgbClr val="0000FF"/>
              </a:buClr>
              <a:buFont typeface="Monotype Sorts" pitchFamily="2" charset="2"/>
              <a:buChar char="§"/>
            </a:pPr>
            <a:r>
              <a:rPr lang="zh-CN" altLang="en-US" sz="2400" dirty="0">
                <a:solidFill>
                  <a:srgbClr val="0000FF"/>
                </a:solidFill>
                <a:latin typeface="幼圆" pitchFamily="49" charset="-122"/>
                <a:ea typeface="幼圆" pitchFamily="49" charset="-122"/>
              </a:rPr>
              <a:t>可重定位装入方式</a:t>
            </a:r>
            <a:endParaRPr lang="en-US" altLang="zh-CN" sz="2400" dirty="0">
              <a:solidFill>
                <a:srgbClr val="0000FF"/>
              </a:solidFill>
              <a:latin typeface="幼圆" pitchFamily="49" charset="-122"/>
              <a:ea typeface="幼圆" pitchFamily="49" charset="-122"/>
            </a:endParaRPr>
          </a:p>
          <a:p>
            <a:pPr lvl="1">
              <a:lnSpc>
                <a:spcPts val="3600"/>
              </a:lnSpc>
              <a:buClr>
                <a:srgbClr val="0000FF"/>
              </a:buClr>
              <a:buSzPct val="50000"/>
              <a:buFont typeface="Monotype Sorts" pitchFamily="2" charset="2"/>
              <a:buChar char="l"/>
            </a:pPr>
            <a:r>
              <a:rPr lang="zh-CN" altLang="en-US" sz="2400" dirty="0">
                <a:solidFill>
                  <a:srgbClr val="000000"/>
                </a:solidFill>
                <a:latin typeface="幼圆" pitchFamily="49" charset="-122"/>
                <a:ea typeface="幼圆" pitchFamily="49" charset="-122"/>
              </a:rPr>
              <a:t>由装入程序根据内存当时的实际使用情况，将装入模块装入到内存的适当位置，并</a:t>
            </a:r>
            <a:r>
              <a:rPr lang="zh-CN" altLang="en-US" sz="2400" dirty="0">
                <a:solidFill>
                  <a:srgbClr val="D60093"/>
                </a:solidFill>
                <a:latin typeface="幼圆" pitchFamily="49" charset="-122"/>
                <a:ea typeface="幼圆" pitchFamily="49" charset="-122"/>
              </a:rPr>
              <a:t>修改相应地址</a:t>
            </a:r>
            <a:endParaRPr lang="en-US" altLang="zh-CN" sz="2400" dirty="0">
              <a:solidFill>
                <a:srgbClr val="D60093"/>
              </a:solidFill>
              <a:latin typeface="幼圆" pitchFamily="49" charset="-122"/>
              <a:ea typeface="幼圆" pitchFamily="49" charset="-122"/>
            </a:endParaRPr>
          </a:p>
          <a:p>
            <a:pPr>
              <a:lnSpc>
                <a:spcPts val="3600"/>
              </a:lnSpc>
              <a:buClr>
                <a:srgbClr val="0000FF"/>
              </a:buClr>
              <a:buSzPct val="70000"/>
              <a:buFont typeface="Wingdings" pitchFamily="2" charset="2"/>
              <a:buChar char="n"/>
            </a:pPr>
            <a:r>
              <a:rPr lang="zh-CN" altLang="en-US" sz="2400" dirty="0">
                <a:solidFill>
                  <a:srgbClr val="D60093"/>
                </a:solidFill>
                <a:latin typeface="幼圆" pitchFamily="49" charset="-122"/>
                <a:ea typeface="幼圆" pitchFamily="49" charset="-122"/>
              </a:rPr>
              <a:t>重定位： </a:t>
            </a:r>
            <a:r>
              <a:rPr lang="zh-CN" altLang="en-US" sz="2400" dirty="0">
                <a:solidFill>
                  <a:srgbClr val="000000"/>
                </a:solidFill>
                <a:latin typeface="幼圆" pitchFamily="49" charset="-122"/>
                <a:ea typeface="幼圆" pitchFamily="49" charset="-122"/>
              </a:rPr>
              <a:t>把目标程序中的逻辑地址（指令和数据）转换为物理地址的过程</a:t>
            </a:r>
            <a:endParaRPr lang="en-US" altLang="zh-CN" sz="2400" dirty="0">
              <a:solidFill>
                <a:srgbClr val="000000"/>
              </a:solidFill>
              <a:latin typeface="幼圆" pitchFamily="49" charset="-122"/>
              <a:ea typeface="幼圆" pitchFamily="49" charset="-122"/>
            </a:endParaRPr>
          </a:p>
          <a:p>
            <a:pPr>
              <a:lnSpc>
                <a:spcPts val="3600"/>
              </a:lnSpc>
              <a:buClr>
                <a:srgbClr val="0000FF"/>
              </a:buClr>
              <a:buSzPct val="70000"/>
              <a:buFont typeface="Wingdings" pitchFamily="2" charset="2"/>
              <a:buChar char="n"/>
            </a:pPr>
            <a:r>
              <a:rPr lang="zh-CN" altLang="en-US" sz="2400" dirty="0">
                <a:solidFill>
                  <a:srgbClr val="D60093"/>
                </a:solidFill>
                <a:latin typeface="幼圆" pitchFamily="49" charset="-122"/>
                <a:ea typeface="幼圆" pitchFamily="49" charset="-122"/>
              </a:rPr>
              <a:t>静态重定位：</a:t>
            </a:r>
            <a:r>
              <a:rPr lang="zh-CN" altLang="en-US" sz="2400" dirty="0">
                <a:solidFill>
                  <a:srgbClr val="000000"/>
                </a:solidFill>
                <a:latin typeface="幼圆" pitchFamily="49" charset="-122"/>
                <a:ea typeface="幼圆" pitchFamily="49" charset="-122"/>
              </a:rPr>
              <a:t>地址变换只是在</a:t>
            </a:r>
            <a:r>
              <a:rPr lang="zh-CN" altLang="en-US" sz="2400" dirty="0">
                <a:solidFill>
                  <a:srgbClr val="0000FF"/>
                </a:solidFill>
                <a:latin typeface="幼圆" pitchFamily="49" charset="-122"/>
                <a:ea typeface="幼圆" pitchFamily="49" charset="-122"/>
              </a:rPr>
              <a:t>装入时一次完成</a:t>
            </a:r>
            <a:r>
              <a:rPr lang="zh-CN" altLang="en-US" sz="2400" dirty="0">
                <a:solidFill>
                  <a:srgbClr val="000000"/>
                </a:solidFill>
                <a:latin typeface="幼圆" pitchFamily="49" charset="-122"/>
                <a:ea typeface="幼圆" pitchFamily="49" charset="-122"/>
              </a:rPr>
              <a:t>，以后不再改变</a:t>
            </a:r>
            <a:endParaRPr lang="en-US" altLang="zh-CN" sz="2400" dirty="0">
              <a:solidFill>
                <a:srgbClr val="000000"/>
              </a:solidFill>
              <a:latin typeface="幼圆" pitchFamily="49" charset="-122"/>
              <a:ea typeface="幼圆" pitchFamily="49" charset="-122"/>
            </a:endParaRPr>
          </a:p>
          <a:p>
            <a:pPr>
              <a:lnSpc>
                <a:spcPts val="3600"/>
              </a:lnSpc>
              <a:buClr>
                <a:srgbClr val="0000FF"/>
              </a:buClr>
              <a:buSzPct val="70000"/>
              <a:buFont typeface="Wingdings" pitchFamily="2" charset="2"/>
              <a:buChar char="n"/>
            </a:pPr>
            <a:r>
              <a:rPr lang="zh-CN" altLang="en-US" sz="2400" dirty="0">
                <a:solidFill>
                  <a:srgbClr val="0000FF"/>
                </a:solidFill>
                <a:latin typeface="幼圆" pitchFamily="49" charset="-122"/>
                <a:ea typeface="幼圆" pitchFamily="49" charset="-122"/>
              </a:rPr>
              <a:t>特点</a:t>
            </a:r>
            <a:endParaRPr lang="en-US" altLang="zh-CN" sz="2400" dirty="0">
              <a:solidFill>
                <a:srgbClr val="0000FF"/>
              </a:solidFill>
              <a:latin typeface="幼圆" pitchFamily="49" charset="-122"/>
              <a:ea typeface="幼圆" pitchFamily="49" charset="-122"/>
            </a:endParaRPr>
          </a:p>
          <a:p>
            <a:pPr lvl="1" eaLnBrk="1" hangingPunct="1">
              <a:buClr>
                <a:srgbClr val="0000FF"/>
              </a:buClr>
              <a:buSzPct val="50000"/>
              <a:buFont typeface="Monotype Sorts" pitchFamily="2" charset="2"/>
              <a:buChar char="l"/>
            </a:pPr>
            <a:r>
              <a:rPr lang="zh-CN" altLang="en-US" sz="2000" dirty="0">
                <a:solidFill>
                  <a:srgbClr val="000000"/>
                </a:solidFill>
                <a:latin typeface="幼圆" pitchFamily="49" charset="-122"/>
                <a:ea typeface="幼圆" pitchFamily="49" charset="-122"/>
              </a:rPr>
              <a:t>边装入边将逻辑地址修改为物理地址（包括指令内的地址一并修改）</a:t>
            </a:r>
            <a:endParaRPr lang="en-US" altLang="zh-CN" sz="2000" dirty="0">
              <a:solidFill>
                <a:srgbClr val="000000"/>
              </a:solidFill>
              <a:latin typeface="幼圆" pitchFamily="49" charset="-122"/>
              <a:ea typeface="幼圆" pitchFamily="49" charset="-122"/>
            </a:endParaRPr>
          </a:p>
          <a:p>
            <a:pPr lvl="1" eaLnBrk="1" hangingPunct="1">
              <a:buClr>
                <a:srgbClr val="0000FF"/>
              </a:buClr>
              <a:buSzPct val="50000"/>
              <a:buFont typeface="Monotype Sorts" pitchFamily="2" charset="2"/>
              <a:buChar char="l"/>
            </a:pPr>
            <a:r>
              <a:rPr lang="zh-CN" altLang="en-US" sz="2000" dirty="0">
                <a:solidFill>
                  <a:srgbClr val="000000"/>
                </a:solidFill>
                <a:latin typeface="幼圆" pitchFamily="49" charset="-122"/>
                <a:ea typeface="幼圆" pitchFamily="49" charset="-122"/>
              </a:rPr>
              <a:t>适合多道程序系统</a:t>
            </a:r>
            <a:endParaRPr lang="en-US" altLang="zh-CN" sz="2000" dirty="0">
              <a:solidFill>
                <a:srgbClr val="000000"/>
              </a:solidFill>
              <a:latin typeface="幼圆" pitchFamily="49" charset="-122"/>
              <a:ea typeface="幼圆" pitchFamily="49" charset="-122"/>
            </a:endParaRPr>
          </a:p>
          <a:p>
            <a:pPr lvl="1" eaLnBrk="1" hangingPunct="1">
              <a:buClr>
                <a:srgbClr val="0000FF"/>
              </a:buClr>
              <a:buSzPct val="50000"/>
              <a:buFont typeface="Monotype Sorts" pitchFamily="2" charset="2"/>
              <a:buChar char="l"/>
            </a:pPr>
            <a:r>
              <a:rPr lang="zh-CN" altLang="en-US" sz="2000" dirty="0">
                <a:solidFill>
                  <a:srgbClr val="D60093"/>
                </a:solidFill>
                <a:latin typeface="幼圆" pitchFamily="49" charset="-122"/>
                <a:ea typeface="幼圆" pitchFamily="49" charset="-122"/>
              </a:rPr>
              <a:t>程序在内存不能移动</a:t>
            </a:r>
            <a:endParaRPr lang="zh-CN" altLang="en-US" sz="2000" b="0" dirty="0">
              <a:solidFill>
                <a:srgbClr val="D60093"/>
              </a:solidFill>
              <a:latin typeface="Times New Roman" panose="02020603050405020304" pitchFamily="18" charset="0"/>
            </a:endParaRPr>
          </a:p>
        </p:txBody>
      </p:sp>
    </p:spTree>
    <p:extLst>
      <p:ext uri="{BB962C8B-B14F-4D97-AF65-F5344CB8AC3E}">
        <p14:creationId xmlns:p14="http://schemas.microsoft.com/office/powerpoint/2010/main" val="3290148234"/>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linds(horizontal)">
                                      <p:cBhvr>
                                        <p:cTn id="7" dur="500"/>
                                        <p:tgtEl>
                                          <p:spTgt spid="9"/>
                                        </p:tgtEl>
                                      </p:cBhvr>
                                    </p:animEffect>
                                  </p:childTnLst>
                                </p:cTn>
                              </p:par>
                            </p:childTnLst>
                          </p:cTn>
                        </p:par>
                        <p:par>
                          <p:cTn id="8" fill="hold">
                            <p:stCondLst>
                              <p:cond delay="500"/>
                            </p:stCondLst>
                            <p:childTnLst>
                              <p:par>
                                <p:cTn id="9" presetID="3"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blinds(horizontal)">
                                      <p:cBhvr>
                                        <p:cTn id="11" dur="500"/>
                                        <p:tgtEl>
                                          <p:spTgt spid="12"/>
                                        </p:tgtEl>
                                      </p:cBhvr>
                                    </p:animEffect>
                                  </p:childTnLst>
                                </p:cTn>
                              </p:par>
                            </p:childTnLst>
                          </p:cTn>
                        </p:par>
                        <p:par>
                          <p:cTn id="12" fill="hold">
                            <p:stCondLst>
                              <p:cond delay="1000"/>
                            </p:stCondLst>
                            <p:childTnLst>
                              <p:par>
                                <p:cTn id="13" presetID="3" presetClass="entr" presetSubtype="10" fill="hold"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blinds(horizontal)">
                                      <p:cBhvr>
                                        <p:cTn id="15" dur="500"/>
                                        <p:tgtEl>
                                          <p:spTgt spid="21"/>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dissolv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blinds(horizontal)">
                                      <p:cBhvr>
                                        <p:cTn id="23" dur="500"/>
                                        <p:tgtEl>
                                          <p:spTgt spid="30"/>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dissolve">
                                      <p:cBhvr>
                                        <p:cTn id="28" dur="500"/>
                                        <p:tgtEl>
                                          <p:spTgt spid="2"/>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blinds(horizontal)">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3" presetClass="entr" presetSubtype="10" fill="hold" grpId="0" nodeType="clickEffect">
                                  <p:stCondLst>
                                    <p:cond delay="0"/>
                                  </p:stCondLst>
                                  <p:childTnLst>
                                    <p:set>
                                      <p:cBhvr>
                                        <p:cTn id="35" dur="1" fill="hold">
                                          <p:stCondLst>
                                            <p:cond delay="0"/>
                                          </p:stCondLst>
                                        </p:cTn>
                                        <p:tgtEl>
                                          <p:spTgt spid="41"/>
                                        </p:tgtEl>
                                        <p:attrNameLst>
                                          <p:attrName>style.visibility</p:attrName>
                                        </p:attrNameLst>
                                      </p:cBhvr>
                                      <p:to>
                                        <p:strVal val="visible"/>
                                      </p:to>
                                    </p:set>
                                    <p:animEffect transition="in" filter="blinds(horizontal)">
                                      <p:cBhvr>
                                        <p:cTn id="36" dur="500"/>
                                        <p:tgtEl>
                                          <p:spTgt spid="41"/>
                                        </p:tgtEl>
                                      </p:cBhvr>
                                    </p:animEffect>
                                  </p:childTnLst>
                                </p:cTn>
                              </p:par>
                              <p:par>
                                <p:cTn id="37" presetID="3" presetClass="entr" presetSubtype="1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animEffect transition="in" filter="blinds(horizontal)">
                                      <p:cBhvr>
                                        <p:cTn id="39" dur="500"/>
                                        <p:tgtEl>
                                          <p:spTgt spid="40"/>
                                        </p:tgtEl>
                                      </p:cBhvr>
                                    </p:animEffect>
                                  </p:childTnLst>
                                </p:cTn>
                              </p:par>
                            </p:childTnLst>
                          </p:cTn>
                        </p:par>
                      </p:childTnLst>
                    </p:cTn>
                  </p:par>
                  <p:par>
                    <p:cTn id="40" fill="hold">
                      <p:stCondLst>
                        <p:cond delay="indefinite"/>
                      </p:stCondLst>
                      <p:childTnLst>
                        <p:par>
                          <p:cTn id="41" fill="hold">
                            <p:stCondLst>
                              <p:cond delay="0"/>
                            </p:stCondLst>
                            <p:childTnLst>
                              <p:par>
                                <p:cTn id="42" presetID="11" presetClass="entr" presetSubtype="0" fill="hold" grpId="0" nodeType="clickEffect">
                                  <p:stCondLst>
                                    <p:cond delay="0"/>
                                  </p:stCondLst>
                                  <p:childTnLst>
                                    <p:set>
                                      <p:cBhvr>
                                        <p:cTn id="43" dur="1000">
                                          <p:stCondLst>
                                            <p:cond delay="0"/>
                                          </p:stCondLst>
                                        </p:cTn>
                                        <p:tgtEl>
                                          <p:spTgt spid="31"/>
                                        </p:tgtEl>
                                        <p:attrNameLst>
                                          <p:attrName>style.visibility</p:attrName>
                                        </p:attrNameLst>
                                      </p:cBhvr>
                                      <p:to>
                                        <p:strVal val="visible"/>
                                      </p:to>
                                    </p:set>
                                  </p:childTnLst>
                                  <p:subTnLst>
                                    <p:set>
                                      <p:cBhvr override="childStyle">
                                        <p:cTn dur="1" fill="hold" display="0" masterRel="nextClick" afterEffect="1"/>
                                        <p:tgtEl>
                                          <p:spTgt spid="31"/>
                                        </p:tgtEl>
                                        <p:attrNameLst>
                                          <p:attrName>style.visibility</p:attrName>
                                        </p:attrNameLst>
                                      </p:cBhvr>
                                      <p:to>
                                        <p:strVal val="hidden"/>
                                      </p:to>
                                    </p:set>
                                  </p:subTnLst>
                                </p:cTn>
                              </p:par>
                            </p:childTnLst>
                          </p:cTn>
                        </p:par>
                      </p:childTnLst>
                    </p:cTn>
                  </p:par>
                  <p:par>
                    <p:cTn id="44" fill="hold">
                      <p:stCondLst>
                        <p:cond delay="indefinite"/>
                      </p:stCondLst>
                      <p:childTnLst>
                        <p:par>
                          <p:cTn id="45" fill="hold">
                            <p:stCondLst>
                              <p:cond delay="0"/>
                            </p:stCondLst>
                            <p:childTnLst>
                              <p:par>
                                <p:cTn id="46" presetID="0" presetClass="path" presetSubtype="0" accel="50000" decel="50000" fill="hold" nodeType="clickEffect">
                                  <p:stCondLst>
                                    <p:cond delay="0"/>
                                  </p:stCondLst>
                                  <p:childTnLst>
                                    <p:animMotion origin="layout" path="M -5.55556E-7 4.81481E-6 L 0.38594 0.14699 " pathEditMode="relative" rAng="0" ptsTypes="AA">
                                      <p:cBhvr>
                                        <p:cTn id="47" dur="2000" fill="hold"/>
                                        <p:tgtEl>
                                          <p:spTgt spid="21"/>
                                        </p:tgtEl>
                                        <p:attrNameLst>
                                          <p:attrName>ppt_x</p:attrName>
                                          <p:attrName>ppt_y</p:attrName>
                                        </p:attrNameLst>
                                      </p:cBhvr>
                                      <p:rCtr x="19288" y="7338"/>
                                    </p:animMotion>
                                  </p:childTnLst>
                                </p:cTn>
                              </p:par>
                            </p:childTnLst>
                          </p:cTn>
                        </p:par>
                        <p:par>
                          <p:cTn id="48" fill="hold">
                            <p:stCondLst>
                              <p:cond delay="2000"/>
                            </p:stCondLst>
                            <p:childTnLst>
                              <p:par>
                                <p:cTn id="49" presetID="9" presetClass="entr" presetSubtype="0" fill="hold" nodeType="after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dissolve">
                                      <p:cBhvr>
                                        <p:cTn id="51" dur="500"/>
                                        <p:tgtEl>
                                          <p:spTgt spid="22"/>
                                        </p:tgtEl>
                                      </p:cBhvr>
                                    </p:animEffect>
                                  </p:childTnLst>
                                  <p:subTnLst>
                                    <p:set>
                                      <p:cBhvr override="childStyle">
                                        <p:cTn dur="1" fill="hold" display="0" masterRel="nextClick" afterEffect="1"/>
                                        <p:tgtEl>
                                          <p:spTgt spid="22"/>
                                        </p:tgtEl>
                                        <p:attrNameLst>
                                          <p:attrName>style.visibility</p:attrName>
                                        </p:attrNameLst>
                                      </p:cBhvr>
                                      <p:to>
                                        <p:strVal val="hidden"/>
                                      </p:to>
                                    </p:set>
                                  </p:subTnLst>
                                </p:cTn>
                              </p:par>
                              <p:par>
                                <p:cTn id="52" presetID="3" presetClass="entr" presetSubtype="1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blinds(horizontal)">
                                      <p:cBhvr>
                                        <p:cTn id="54" dur="500"/>
                                        <p:tgtEl>
                                          <p:spTgt spid="20"/>
                                        </p:tgtEl>
                                      </p:cBhvr>
                                    </p:animEffect>
                                  </p:childTnLst>
                                </p:cTn>
                              </p:par>
                            </p:childTnLst>
                          </p:cTn>
                        </p:par>
                      </p:childTnLst>
                    </p:cTn>
                  </p:par>
                  <p:par>
                    <p:cTn id="55" fill="hold">
                      <p:stCondLst>
                        <p:cond delay="indefinite"/>
                      </p:stCondLst>
                      <p:childTnLst>
                        <p:par>
                          <p:cTn id="56" fill="hold">
                            <p:stCondLst>
                              <p:cond delay="0"/>
                            </p:stCondLst>
                            <p:childTnLst>
                              <p:par>
                                <p:cTn id="57" presetID="9" presetClass="entr" presetSubtype="0" fill="hold" nodeType="click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dissolv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3" presetClass="entr" presetSubtype="10" fill="hold" grpId="0" nodeType="click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blinds(horizontal)">
                                      <p:cBhvr>
                                        <p:cTn id="64" dur="500"/>
                                        <p:tgtEl>
                                          <p:spTgt spid="42"/>
                                        </p:tgtEl>
                                      </p:cBhvr>
                                    </p:animEffect>
                                  </p:childTnLst>
                                </p:cTn>
                              </p:par>
                            </p:childTnLst>
                          </p:cTn>
                        </p:par>
                      </p:childTnLst>
                    </p:cTn>
                  </p:par>
                  <p:par>
                    <p:cTn id="65" fill="hold">
                      <p:stCondLst>
                        <p:cond delay="indefinite"/>
                      </p:stCondLst>
                      <p:childTnLst>
                        <p:par>
                          <p:cTn id="66" fill="hold">
                            <p:stCondLst>
                              <p:cond delay="0"/>
                            </p:stCondLst>
                            <p:childTnLst>
                              <p:par>
                                <p:cTn id="67" presetID="3" presetClass="entr" presetSubtype="10" fill="hold" grpId="0" nodeType="clickEffect">
                                  <p:stCondLst>
                                    <p:cond delay="0"/>
                                  </p:stCondLst>
                                  <p:childTnLst>
                                    <p:set>
                                      <p:cBhvr>
                                        <p:cTn id="68" dur="1" fill="hold">
                                          <p:stCondLst>
                                            <p:cond delay="0"/>
                                          </p:stCondLst>
                                        </p:cTn>
                                        <p:tgtEl>
                                          <p:spTgt spid="43">
                                            <p:txEl>
                                              <p:pRg st="0" end="0"/>
                                            </p:txEl>
                                          </p:spTgt>
                                        </p:tgtEl>
                                        <p:attrNameLst>
                                          <p:attrName>style.visibility</p:attrName>
                                        </p:attrNameLst>
                                      </p:cBhvr>
                                      <p:to>
                                        <p:strVal val="visible"/>
                                      </p:to>
                                    </p:set>
                                    <p:animEffect transition="in" filter="blinds(horizontal)">
                                      <p:cBhvr>
                                        <p:cTn id="69" dur="500"/>
                                        <p:tgtEl>
                                          <p:spTgt spid="43">
                                            <p:txEl>
                                              <p:pRg st="0" end="0"/>
                                            </p:txEl>
                                          </p:spTgt>
                                        </p:tgtEl>
                                      </p:cBhvr>
                                    </p:animEffect>
                                  </p:childTnLst>
                                </p:cTn>
                              </p:par>
                              <p:par>
                                <p:cTn id="70" presetID="3" presetClass="entr" presetSubtype="10" fill="hold" grpId="0" nodeType="withEffect">
                                  <p:stCondLst>
                                    <p:cond delay="0"/>
                                  </p:stCondLst>
                                  <p:childTnLst>
                                    <p:set>
                                      <p:cBhvr>
                                        <p:cTn id="71" dur="1" fill="hold">
                                          <p:stCondLst>
                                            <p:cond delay="0"/>
                                          </p:stCondLst>
                                        </p:cTn>
                                        <p:tgtEl>
                                          <p:spTgt spid="43">
                                            <p:txEl>
                                              <p:pRg st="1" end="1"/>
                                            </p:txEl>
                                          </p:spTgt>
                                        </p:tgtEl>
                                        <p:attrNameLst>
                                          <p:attrName>style.visibility</p:attrName>
                                        </p:attrNameLst>
                                      </p:cBhvr>
                                      <p:to>
                                        <p:strVal val="visible"/>
                                      </p:to>
                                    </p:set>
                                    <p:animEffect transition="in" filter="blinds(horizontal)">
                                      <p:cBhvr>
                                        <p:cTn id="72" dur="500"/>
                                        <p:tgtEl>
                                          <p:spTgt spid="43">
                                            <p:txEl>
                                              <p:pRg st="1" end="1"/>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3" presetClass="entr" presetSubtype="10" fill="hold" grpId="0" nodeType="clickEffect">
                                  <p:stCondLst>
                                    <p:cond delay="0"/>
                                  </p:stCondLst>
                                  <p:childTnLst>
                                    <p:set>
                                      <p:cBhvr>
                                        <p:cTn id="76" dur="1" fill="hold">
                                          <p:stCondLst>
                                            <p:cond delay="0"/>
                                          </p:stCondLst>
                                        </p:cTn>
                                        <p:tgtEl>
                                          <p:spTgt spid="43">
                                            <p:txEl>
                                              <p:pRg st="2" end="2"/>
                                            </p:txEl>
                                          </p:spTgt>
                                        </p:tgtEl>
                                        <p:attrNameLst>
                                          <p:attrName>style.visibility</p:attrName>
                                        </p:attrNameLst>
                                      </p:cBhvr>
                                      <p:to>
                                        <p:strVal val="visible"/>
                                      </p:to>
                                    </p:set>
                                    <p:animEffect transition="in" filter="blinds(horizontal)">
                                      <p:cBhvr>
                                        <p:cTn id="77" dur="500"/>
                                        <p:tgtEl>
                                          <p:spTgt spid="43">
                                            <p:txEl>
                                              <p:pRg st="2" end="2"/>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3" presetClass="entr" presetSubtype="10" fill="hold" grpId="0" nodeType="clickEffect">
                                  <p:stCondLst>
                                    <p:cond delay="0"/>
                                  </p:stCondLst>
                                  <p:childTnLst>
                                    <p:set>
                                      <p:cBhvr>
                                        <p:cTn id="81" dur="1" fill="hold">
                                          <p:stCondLst>
                                            <p:cond delay="0"/>
                                          </p:stCondLst>
                                        </p:cTn>
                                        <p:tgtEl>
                                          <p:spTgt spid="43">
                                            <p:txEl>
                                              <p:pRg st="3" end="3"/>
                                            </p:txEl>
                                          </p:spTgt>
                                        </p:tgtEl>
                                        <p:attrNameLst>
                                          <p:attrName>style.visibility</p:attrName>
                                        </p:attrNameLst>
                                      </p:cBhvr>
                                      <p:to>
                                        <p:strVal val="visible"/>
                                      </p:to>
                                    </p:set>
                                    <p:animEffect transition="in" filter="blinds(horizontal)">
                                      <p:cBhvr>
                                        <p:cTn id="82" dur="500"/>
                                        <p:tgtEl>
                                          <p:spTgt spid="43">
                                            <p:txEl>
                                              <p:pRg st="3" end="3"/>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3" presetClass="entr" presetSubtype="10" fill="hold" grpId="0" nodeType="clickEffect">
                                  <p:stCondLst>
                                    <p:cond delay="0"/>
                                  </p:stCondLst>
                                  <p:childTnLst>
                                    <p:set>
                                      <p:cBhvr>
                                        <p:cTn id="86" dur="1" fill="hold">
                                          <p:stCondLst>
                                            <p:cond delay="0"/>
                                          </p:stCondLst>
                                        </p:cTn>
                                        <p:tgtEl>
                                          <p:spTgt spid="43">
                                            <p:txEl>
                                              <p:pRg st="4" end="4"/>
                                            </p:txEl>
                                          </p:spTgt>
                                        </p:tgtEl>
                                        <p:attrNameLst>
                                          <p:attrName>style.visibility</p:attrName>
                                        </p:attrNameLst>
                                      </p:cBhvr>
                                      <p:to>
                                        <p:strVal val="visible"/>
                                      </p:to>
                                    </p:set>
                                    <p:animEffect transition="in" filter="blinds(horizontal)">
                                      <p:cBhvr>
                                        <p:cTn id="87" dur="500"/>
                                        <p:tgtEl>
                                          <p:spTgt spid="43">
                                            <p:txEl>
                                              <p:pRg st="4" end="4"/>
                                            </p:txEl>
                                          </p:spTgt>
                                        </p:tgtEl>
                                      </p:cBhvr>
                                    </p:animEffect>
                                  </p:childTnLst>
                                </p:cTn>
                              </p:par>
                              <p:par>
                                <p:cTn id="88" presetID="3" presetClass="entr" presetSubtype="10" fill="hold" grpId="0" nodeType="withEffect">
                                  <p:stCondLst>
                                    <p:cond delay="0"/>
                                  </p:stCondLst>
                                  <p:childTnLst>
                                    <p:set>
                                      <p:cBhvr>
                                        <p:cTn id="89" dur="1" fill="hold">
                                          <p:stCondLst>
                                            <p:cond delay="0"/>
                                          </p:stCondLst>
                                        </p:cTn>
                                        <p:tgtEl>
                                          <p:spTgt spid="43">
                                            <p:txEl>
                                              <p:pRg st="5" end="5"/>
                                            </p:txEl>
                                          </p:spTgt>
                                        </p:tgtEl>
                                        <p:attrNameLst>
                                          <p:attrName>style.visibility</p:attrName>
                                        </p:attrNameLst>
                                      </p:cBhvr>
                                      <p:to>
                                        <p:strVal val="visible"/>
                                      </p:to>
                                    </p:set>
                                    <p:animEffect transition="in" filter="blinds(horizontal)">
                                      <p:cBhvr>
                                        <p:cTn id="90" dur="500"/>
                                        <p:tgtEl>
                                          <p:spTgt spid="43">
                                            <p:txEl>
                                              <p:pRg st="5" end="5"/>
                                            </p:txEl>
                                          </p:spTgt>
                                        </p:tgtEl>
                                      </p:cBhvr>
                                    </p:animEffect>
                                  </p:childTnLst>
                                </p:cTn>
                              </p:par>
                              <p:par>
                                <p:cTn id="91" presetID="3" presetClass="entr" presetSubtype="10" fill="hold" grpId="0" nodeType="withEffect">
                                  <p:stCondLst>
                                    <p:cond delay="0"/>
                                  </p:stCondLst>
                                  <p:childTnLst>
                                    <p:set>
                                      <p:cBhvr>
                                        <p:cTn id="92" dur="1" fill="hold">
                                          <p:stCondLst>
                                            <p:cond delay="0"/>
                                          </p:stCondLst>
                                        </p:cTn>
                                        <p:tgtEl>
                                          <p:spTgt spid="43">
                                            <p:txEl>
                                              <p:pRg st="6" end="6"/>
                                            </p:txEl>
                                          </p:spTgt>
                                        </p:tgtEl>
                                        <p:attrNameLst>
                                          <p:attrName>style.visibility</p:attrName>
                                        </p:attrNameLst>
                                      </p:cBhvr>
                                      <p:to>
                                        <p:strVal val="visible"/>
                                      </p:to>
                                    </p:set>
                                    <p:animEffect transition="in" filter="blinds(horizontal)">
                                      <p:cBhvr>
                                        <p:cTn id="93" dur="500"/>
                                        <p:tgtEl>
                                          <p:spTgt spid="43">
                                            <p:txEl>
                                              <p:pRg st="6" end="6"/>
                                            </p:txEl>
                                          </p:spTgt>
                                        </p:tgtEl>
                                      </p:cBhvr>
                                    </p:animEffect>
                                  </p:childTnLst>
                                </p:cTn>
                              </p:par>
                              <p:par>
                                <p:cTn id="94" presetID="3" presetClass="entr" presetSubtype="10" fill="hold" grpId="0" nodeType="withEffect">
                                  <p:stCondLst>
                                    <p:cond delay="0"/>
                                  </p:stCondLst>
                                  <p:childTnLst>
                                    <p:set>
                                      <p:cBhvr>
                                        <p:cTn id="95" dur="1" fill="hold">
                                          <p:stCondLst>
                                            <p:cond delay="0"/>
                                          </p:stCondLst>
                                        </p:cTn>
                                        <p:tgtEl>
                                          <p:spTgt spid="43">
                                            <p:txEl>
                                              <p:pRg st="7" end="7"/>
                                            </p:txEl>
                                          </p:spTgt>
                                        </p:tgtEl>
                                        <p:attrNameLst>
                                          <p:attrName>style.visibility</p:attrName>
                                        </p:attrNameLst>
                                      </p:cBhvr>
                                      <p:to>
                                        <p:strVal val="visible"/>
                                      </p:to>
                                    </p:set>
                                    <p:animEffect transition="in" filter="blinds(horizontal)">
                                      <p:cBhvr>
                                        <p:cTn id="96" dur="500"/>
                                        <p:tgtEl>
                                          <p:spTgt spid="4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20" grpId="0" animBg="1"/>
      <p:bldP spid="31" grpId="0"/>
      <p:bldP spid="40" grpId="0" animBg="1"/>
      <p:bldP spid="41" grpId="0"/>
      <p:bldP spid="42" grpId="0" animBg="1"/>
      <p:bldP spid="4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66">
            <a:extLst>
              <a:ext uri="{FF2B5EF4-FFF2-40B4-BE49-F238E27FC236}">
                <a16:creationId xmlns:a16="http://schemas.microsoft.com/office/drawing/2014/main" id="{8A705F01-62A4-8F49-BA3A-791DB3F9F0D0}"/>
              </a:ext>
            </a:extLst>
          </p:cNvPr>
          <p:cNvGrpSpPr>
            <a:grpSpLocks/>
          </p:cNvGrpSpPr>
          <p:nvPr/>
        </p:nvGrpSpPr>
        <p:grpSpPr bwMode="auto">
          <a:xfrm>
            <a:off x="7020049" y="1145945"/>
            <a:ext cx="1681163" cy="5689600"/>
            <a:chOff x="6850489" y="620688"/>
            <a:chExt cx="1681951" cy="4968552"/>
          </a:xfrm>
        </p:grpSpPr>
        <p:grpSp>
          <p:nvGrpSpPr>
            <p:cNvPr id="3" name="组合 64">
              <a:extLst>
                <a:ext uri="{FF2B5EF4-FFF2-40B4-BE49-F238E27FC236}">
                  <a16:creationId xmlns:a16="http://schemas.microsoft.com/office/drawing/2014/main" id="{8D532B99-6437-6543-9F20-15DA1DDD2CEE}"/>
                </a:ext>
              </a:extLst>
            </p:cNvPr>
            <p:cNvGrpSpPr>
              <a:grpSpLocks/>
            </p:cNvGrpSpPr>
            <p:nvPr/>
          </p:nvGrpSpPr>
          <p:grpSpPr bwMode="auto">
            <a:xfrm>
              <a:off x="6850489" y="620688"/>
              <a:ext cx="1681951" cy="4968552"/>
              <a:chOff x="6490449" y="620688"/>
              <a:chExt cx="1681951" cy="4968552"/>
            </a:xfrm>
          </p:grpSpPr>
          <p:grpSp>
            <p:nvGrpSpPr>
              <p:cNvPr id="5" name="组合 63">
                <a:extLst>
                  <a:ext uri="{FF2B5EF4-FFF2-40B4-BE49-F238E27FC236}">
                    <a16:creationId xmlns:a16="http://schemas.microsoft.com/office/drawing/2014/main" id="{BF600FC8-991D-CF48-B976-DB507A5D6063}"/>
                  </a:ext>
                </a:extLst>
              </p:cNvPr>
              <p:cNvGrpSpPr>
                <a:grpSpLocks/>
              </p:cNvGrpSpPr>
              <p:nvPr/>
            </p:nvGrpSpPr>
            <p:grpSpPr bwMode="auto">
              <a:xfrm>
                <a:off x="6490449" y="620688"/>
                <a:ext cx="1584178" cy="4968552"/>
                <a:chOff x="6562457" y="620688"/>
                <a:chExt cx="1584178" cy="4968552"/>
              </a:xfrm>
            </p:grpSpPr>
            <p:sp>
              <p:nvSpPr>
                <p:cNvPr id="7" name="矩形 59">
                  <a:extLst>
                    <a:ext uri="{FF2B5EF4-FFF2-40B4-BE49-F238E27FC236}">
                      <a16:creationId xmlns:a16="http://schemas.microsoft.com/office/drawing/2014/main" id="{68C415B9-F813-314F-89A4-C7A7F0555CC4}"/>
                    </a:ext>
                  </a:extLst>
                </p:cNvPr>
                <p:cNvSpPr>
                  <a:spLocks noChangeArrowheads="1"/>
                </p:cNvSpPr>
                <p:nvPr/>
              </p:nvSpPr>
              <p:spPr bwMode="auto">
                <a:xfrm>
                  <a:off x="6562459" y="620688"/>
                  <a:ext cx="1584176" cy="4968552"/>
                </a:xfrm>
                <a:prstGeom prst="rect">
                  <a:avLst/>
                </a:prstGeom>
                <a:solidFill>
                  <a:srgbClr val="53FFA1"/>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400">
                    <a:solidFill>
                      <a:srgbClr val="000000"/>
                    </a:solidFill>
                    <a:latin typeface="幼圆" pitchFamily="49" charset="-122"/>
                    <a:ea typeface="幼圆" pitchFamily="49" charset="-122"/>
                  </a:endParaRPr>
                </a:p>
              </p:txBody>
            </p:sp>
            <p:sp>
              <p:nvSpPr>
                <p:cNvPr id="8" name="矩形 60">
                  <a:extLst>
                    <a:ext uri="{FF2B5EF4-FFF2-40B4-BE49-F238E27FC236}">
                      <a16:creationId xmlns:a16="http://schemas.microsoft.com/office/drawing/2014/main" id="{75A583AD-8B20-3F45-A2F5-E14821BC7B88}"/>
                    </a:ext>
                  </a:extLst>
                </p:cNvPr>
                <p:cNvSpPr>
                  <a:spLocks noChangeArrowheads="1"/>
                </p:cNvSpPr>
                <p:nvPr/>
              </p:nvSpPr>
              <p:spPr bwMode="auto">
                <a:xfrm>
                  <a:off x="6562457" y="620688"/>
                  <a:ext cx="1584175" cy="792088"/>
                </a:xfrm>
                <a:prstGeom prst="rect">
                  <a:avLst/>
                </a:prstGeom>
                <a:solidFill>
                  <a:srgbClr val="FF0000"/>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400">
                    <a:solidFill>
                      <a:srgbClr val="000000"/>
                    </a:solidFill>
                    <a:latin typeface="幼圆" pitchFamily="49" charset="-122"/>
                    <a:ea typeface="幼圆" pitchFamily="49" charset="-122"/>
                  </a:endParaRPr>
                </a:p>
              </p:txBody>
            </p:sp>
          </p:grpSp>
          <p:sp>
            <p:nvSpPr>
              <p:cNvPr id="6" name="TextBox 5">
                <a:extLst>
                  <a:ext uri="{FF2B5EF4-FFF2-40B4-BE49-F238E27FC236}">
                    <a16:creationId xmlns:a16="http://schemas.microsoft.com/office/drawing/2014/main" id="{7EFB665C-E981-1846-A393-83FB069BF821}"/>
                  </a:ext>
                </a:extLst>
              </p:cNvPr>
              <p:cNvSpPr txBox="1"/>
              <p:nvPr/>
            </p:nvSpPr>
            <p:spPr>
              <a:xfrm>
                <a:off x="6587332" y="836953"/>
                <a:ext cx="1585068" cy="403417"/>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FFFFFF"/>
                    </a:solidFill>
                    <a:effectLst>
                      <a:outerShdw blurRad="38100" dist="38100" dir="2700000" algn="tl">
                        <a:srgbClr val="C0C0C0"/>
                      </a:outerShdw>
                    </a:effectLst>
                    <a:latin typeface="幼圆" pitchFamily="49" charset="-122"/>
                    <a:ea typeface="幼圆" pitchFamily="49" charset="-122"/>
                  </a:rPr>
                  <a:t>操作系统</a:t>
                </a:r>
              </a:p>
            </p:txBody>
          </p:sp>
        </p:grpSp>
        <p:sp>
          <p:nvSpPr>
            <p:cNvPr id="4" name="TextBox 3">
              <a:extLst>
                <a:ext uri="{FF2B5EF4-FFF2-40B4-BE49-F238E27FC236}">
                  <a16:creationId xmlns:a16="http://schemas.microsoft.com/office/drawing/2014/main" id="{2FE12B88-F3D2-7D42-B538-DB24C0ED8DB3}"/>
                </a:ext>
              </a:extLst>
            </p:cNvPr>
            <p:cNvSpPr txBox="1"/>
            <p:nvPr/>
          </p:nvSpPr>
          <p:spPr>
            <a:xfrm>
              <a:off x="7236433" y="2708478"/>
              <a:ext cx="864005" cy="725042"/>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00"/>
                  </a:solidFill>
                  <a:effectLst>
                    <a:outerShdw blurRad="38100" dist="38100" dir="2700000" algn="tl">
                      <a:srgbClr val="C0C0C0"/>
                    </a:outerShdw>
                  </a:effectLst>
                  <a:latin typeface="幼圆" pitchFamily="49" charset="-122"/>
                  <a:ea typeface="幼圆" pitchFamily="49" charset="-122"/>
                </a:rPr>
                <a:t>用户空间</a:t>
              </a:r>
            </a:p>
          </p:txBody>
        </p:sp>
      </p:grpSp>
      <p:sp>
        <p:nvSpPr>
          <p:cNvPr id="9" name="Text Box 9">
            <a:extLst>
              <a:ext uri="{FF2B5EF4-FFF2-40B4-BE49-F238E27FC236}">
                <a16:creationId xmlns:a16="http://schemas.microsoft.com/office/drawing/2014/main" id="{AEC829ED-D315-4D47-84FF-8E2529B9A248}"/>
              </a:ext>
            </a:extLst>
          </p:cNvPr>
          <p:cNvSpPr txBox="1">
            <a:spLocks noChangeArrowheads="1"/>
          </p:cNvSpPr>
          <p:nvPr/>
        </p:nvSpPr>
        <p:spPr bwMode="auto">
          <a:xfrm>
            <a:off x="3584698" y="1145945"/>
            <a:ext cx="16002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400">
                <a:solidFill>
                  <a:srgbClr val="000000"/>
                </a:solidFill>
                <a:latin typeface="幼圆" pitchFamily="49" charset="-122"/>
                <a:ea typeface="幼圆" pitchFamily="49" charset="-122"/>
              </a:rPr>
              <a:t>逻辑地址</a:t>
            </a:r>
          </a:p>
        </p:txBody>
      </p:sp>
      <p:sp>
        <p:nvSpPr>
          <p:cNvPr id="10" name="TextBox 9">
            <a:extLst>
              <a:ext uri="{FF2B5EF4-FFF2-40B4-BE49-F238E27FC236}">
                <a16:creationId xmlns:a16="http://schemas.microsoft.com/office/drawing/2014/main" id="{FFC2EEE8-F035-0647-8FB6-4D2B7E98D8A8}"/>
              </a:ext>
            </a:extLst>
          </p:cNvPr>
          <p:cNvSpPr txBox="1">
            <a:spLocks noChangeArrowheads="1"/>
          </p:cNvSpPr>
          <p:nvPr/>
        </p:nvSpPr>
        <p:spPr bwMode="auto">
          <a:xfrm>
            <a:off x="6985123" y="714145"/>
            <a:ext cx="15128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FF"/>
                </a:solidFill>
                <a:latin typeface="幼圆" pitchFamily="49" charset="-122"/>
                <a:ea typeface="幼圆" pitchFamily="49" charset="-122"/>
              </a:rPr>
              <a:t>内存空间</a:t>
            </a:r>
          </a:p>
        </p:txBody>
      </p:sp>
      <p:sp>
        <p:nvSpPr>
          <p:cNvPr id="11" name="TextBox 10">
            <a:extLst>
              <a:ext uri="{FF2B5EF4-FFF2-40B4-BE49-F238E27FC236}">
                <a16:creationId xmlns:a16="http://schemas.microsoft.com/office/drawing/2014/main" id="{4BD77856-31FC-034A-98D4-03603CD0E2B8}"/>
              </a:ext>
            </a:extLst>
          </p:cNvPr>
          <p:cNvSpPr txBox="1">
            <a:spLocks noChangeArrowheads="1"/>
          </p:cNvSpPr>
          <p:nvPr/>
        </p:nvSpPr>
        <p:spPr bwMode="auto">
          <a:xfrm>
            <a:off x="3530724" y="5206770"/>
            <a:ext cx="18319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00"/>
                </a:solidFill>
                <a:latin typeface="幼圆" pitchFamily="49" charset="-122"/>
                <a:ea typeface="幼圆" pitchFamily="49" charset="-122"/>
              </a:rPr>
              <a:t>装入模块</a:t>
            </a:r>
          </a:p>
        </p:txBody>
      </p:sp>
      <p:grpSp>
        <p:nvGrpSpPr>
          <p:cNvPr id="12" name="组合 72">
            <a:extLst>
              <a:ext uri="{FF2B5EF4-FFF2-40B4-BE49-F238E27FC236}">
                <a16:creationId xmlns:a16="http://schemas.microsoft.com/office/drawing/2014/main" id="{557E42AF-4B87-294B-8FD0-91E0D69B12A1}"/>
              </a:ext>
            </a:extLst>
          </p:cNvPr>
          <p:cNvGrpSpPr>
            <a:grpSpLocks/>
          </p:cNvGrpSpPr>
          <p:nvPr/>
        </p:nvGrpSpPr>
        <p:grpSpPr bwMode="auto">
          <a:xfrm>
            <a:off x="2757612" y="1696808"/>
            <a:ext cx="2282825" cy="3559175"/>
            <a:chOff x="3203848" y="1027584"/>
            <a:chExt cx="2282552" cy="3557895"/>
          </a:xfrm>
        </p:grpSpPr>
        <p:sp>
          <p:nvSpPr>
            <p:cNvPr id="13" name="Text Box 107">
              <a:extLst>
                <a:ext uri="{FF2B5EF4-FFF2-40B4-BE49-F238E27FC236}">
                  <a16:creationId xmlns:a16="http://schemas.microsoft.com/office/drawing/2014/main" id="{E3A99A40-E8D7-984C-A9BF-3BFEC8AF4E2F}"/>
                </a:ext>
              </a:extLst>
            </p:cNvPr>
            <p:cNvSpPr txBox="1">
              <a:spLocks noChangeArrowheads="1"/>
            </p:cNvSpPr>
            <p:nvPr/>
          </p:nvSpPr>
          <p:spPr bwMode="auto">
            <a:xfrm>
              <a:off x="4221088" y="3284983"/>
              <a:ext cx="1143000" cy="400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365</a:t>
              </a:r>
            </a:p>
          </p:txBody>
        </p:sp>
        <p:grpSp>
          <p:nvGrpSpPr>
            <p:cNvPr id="14" name="组合 71">
              <a:extLst>
                <a:ext uri="{FF2B5EF4-FFF2-40B4-BE49-F238E27FC236}">
                  <a16:creationId xmlns:a16="http://schemas.microsoft.com/office/drawing/2014/main" id="{B2CA2A17-61F6-E649-83DD-335309493E96}"/>
                </a:ext>
              </a:extLst>
            </p:cNvPr>
            <p:cNvGrpSpPr>
              <a:grpSpLocks/>
            </p:cNvGrpSpPr>
            <p:nvPr/>
          </p:nvGrpSpPr>
          <p:grpSpPr bwMode="auto">
            <a:xfrm>
              <a:off x="3203848" y="1027584"/>
              <a:ext cx="2282552" cy="3557895"/>
              <a:chOff x="3225552" y="1027584"/>
              <a:chExt cx="2282552" cy="3557895"/>
            </a:xfrm>
          </p:grpSpPr>
          <p:sp>
            <p:nvSpPr>
              <p:cNvPr id="15" name="Text Box 103">
                <a:extLst>
                  <a:ext uri="{FF2B5EF4-FFF2-40B4-BE49-F238E27FC236}">
                    <a16:creationId xmlns:a16="http://schemas.microsoft.com/office/drawing/2014/main" id="{025D7154-E47B-6D4D-9C15-239A47319E1E}"/>
                  </a:ext>
                </a:extLst>
              </p:cNvPr>
              <p:cNvSpPr txBox="1">
                <a:spLocks noChangeArrowheads="1"/>
              </p:cNvSpPr>
              <p:nvPr/>
            </p:nvSpPr>
            <p:spPr bwMode="auto">
              <a:xfrm>
                <a:off x="3733800" y="1027584"/>
                <a:ext cx="838200" cy="461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0</a:t>
                </a:r>
              </a:p>
            </p:txBody>
          </p:sp>
          <p:sp>
            <p:nvSpPr>
              <p:cNvPr id="16" name="Text Box 104">
                <a:extLst>
                  <a:ext uri="{FF2B5EF4-FFF2-40B4-BE49-F238E27FC236}">
                    <a16:creationId xmlns:a16="http://schemas.microsoft.com/office/drawing/2014/main" id="{3F217A8C-524D-294F-804C-B3A0724B754C}"/>
                  </a:ext>
                </a:extLst>
              </p:cNvPr>
              <p:cNvSpPr txBox="1">
                <a:spLocks noChangeArrowheads="1"/>
              </p:cNvSpPr>
              <p:nvPr/>
            </p:nvSpPr>
            <p:spPr bwMode="auto">
              <a:xfrm>
                <a:off x="3275856" y="1891680"/>
                <a:ext cx="914400" cy="830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1000</a:t>
                </a:r>
              </a:p>
            </p:txBody>
          </p:sp>
          <p:sp>
            <p:nvSpPr>
              <p:cNvPr id="17" name="Text Box 105">
                <a:extLst>
                  <a:ext uri="{FF2B5EF4-FFF2-40B4-BE49-F238E27FC236}">
                    <a16:creationId xmlns:a16="http://schemas.microsoft.com/office/drawing/2014/main" id="{6B9AEA94-C6E5-3E45-9A84-D90CDFA0DD79}"/>
                  </a:ext>
                </a:extLst>
              </p:cNvPr>
              <p:cNvSpPr txBox="1">
                <a:spLocks noChangeArrowheads="1"/>
              </p:cNvSpPr>
              <p:nvPr/>
            </p:nvSpPr>
            <p:spPr bwMode="auto">
              <a:xfrm>
                <a:off x="3967336" y="2240037"/>
                <a:ext cx="1540768" cy="7076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LOAD 2500</a:t>
                </a:r>
              </a:p>
            </p:txBody>
          </p:sp>
          <p:sp>
            <p:nvSpPr>
              <p:cNvPr id="18" name="Text Box 106">
                <a:extLst>
                  <a:ext uri="{FF2B5EF4-FFF2-40B4-BE49-F238E27FC236}">
                    <a16:creationId xmlns:a16="http://schemas.microsoft.com/office/drawing/2014/main" id="{C592C13A-6309-514C-986A-F0DADCABB239}"/>
                  </a:ext>
                </a:extLst>
              </p:cNvPr>
              <p:cNvSpPr txBox="1">
                <a:spLocks noChangeArrowheads="1"/>
              </p:cNvSpPr>
              <p:nvPr/>
            </p:nvSpPr>
            <p:spPr bwMode="auto">
              <a:xfrm>
                <a:off x="3225552" y="2924943"/>
                <a:ext cx="914400" cy="830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2500</a:t>
                </a:r>
              </a:p>
            </p:txBody>
          </p:sp>
          <p:sp>
            <p:nvSpPr>
              <p:cNvPr id="19" name="Text Box 108">
                <a:extLst>
                  <a:ext uri="{FF2B5EF4-FFF2-40B4-BE49-F238E27FC236}">
                    <a16:creationId xmlns:a16="http://schemas.microsoft.com/office/drawing/2014/main" id="{15248F65-6916-2241-B57A-47D688C838A4}"/>
                  </a:ext>
                </a:extLst>
              </p:cNvPr>
              <p:cNvSpPr txBox="1">
                <a:spLocks noChangeArrowheads="1"/>
              </p:cNvSpPr>
              <p:nvPr/>
            </p:nvSpPr>
            <p:spPr bwMode="auto">
              <a:xfrm>
                <a:off x="3289176" y="4123927"/>
                <a:ext cx="1066800" cy="461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5000</a:t>
                </a:r>
              </a:p>
            </p:txBody>
          </p:sp>
        </p:grpSp>
      </p:grpSp>
      <p:sp>
        <p:nvSpPr>
          <p:cNvPr id="20" name="矩形 74">
            <a:extLst>
              <a:ext uri="{FF2B5EF4-FFF2-40B4-BE49-F238E27FC236}">
                <a16:creationId xmlns:a16="http://schemas.microsoft.com/office/drawing/2014/main" id="{A1F7857E-06A5-274F-B180-65056F439098}"/>
              </a:ext>
            </a:extLst>
          </p:cNvPr>
          <p:cNvSpPr>
            <a:spLocks noChangeArrowheads="1"/>
          </p:cNvSpPr>
          <p:nvPr/>
        </p:nvSpPr>
        <p:spPr bwMode="auto">
          <a:xfrm>
            <a:off x="7045449" y="2914421"/>
            <a:ext cx="1533525" cy="3195637"/>
          </a:xfrm>
          <a:prstGeom prst="rect">
            <a:avLst/>
          </a:prstGeom>
          <a:solidFill>
            <a:srgbClr val="F8F8F8"/>
          </a:solidFill>
          <a:ln w="9525" algn="ctr">
            <a:solidFill>
              <a:schemeClr val="tx1"/>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2400">
              <a:solidFill>
                <a:srgbClr val="000000"/>
              </a:solidFill>
              <a:latin typeface="幼圆" pitchFamily="49" charset="-122"/>
              <a:ea typeface="幼圆" pitchFamily="49" charset="-122"/>
            </a:endParaRPr>
          </a:p>
        </p:txBody>
      </p:sp>
      <p:graphicFrame>
        <p:nvGraphicFramePr>
          <p:cNvPr id="21" name="Group 102">
            <a:extLst>
              <a:ext uri="{FF2B5EF4-FFF2-40B4-BE49-F238E27FC236}">
                <a16:creationId xmlns:a16="http://schemas.microsoft.com/office/drawing/2014/main" id="{C4C4A9D8-1BF9-6042-B345-C9F5C2ABFF9F}"/>
              </a:ext>
            </a:extLst>
          </p:cNvPr>
          <p:cNvGraphicFramePr>
            <a:graphicFrameLocks noGrp="1"/>
          </p:cNvGraphicFramePr>
          <p:nvPr>
            <p:extLst>
              <p:ext uri="{D42A27DB-BD31-4B8C-83A1-F6EECF244321}">
                <p14:modId xmlns:p14="http://schemas.microsoft.com/office/powerpoint/2010/main" val="1497873991"/>
              </p:ext>
            </p:extLst>
          </p:nvPr>
        </p:nvGraphicFramePr>
        <p:xfrm>
          <a:off x="3589461" y="1912708"/>
          <a:ext cx="1408112" cy="3168651"/>
        </p:xfrm>
        <a:graphic>
          <a:graphicData uri="http://schemas.openxmlformats.org/drawingml/2006/table">
            <a:tbl>
              <a:tblPr/>
              <a:tblGrid>
                <a:gridCol w="1408112">
                  <a:extLst>
                    <a:ext uri="{9D8B030D-6E8A-4147-A177-3AD203B41FA5}">
                      <a16:colId xmlns:a16="http://schemas.microsoft.com/office/drawing/2014/main" val="20000"/>
                    </a:ext>
                  </a:extLst>
                </a:gridCol>
              </a:tblGrid>
              <a:tr h="927034">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4077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4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4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50211">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2" name="组合 76">
            <a:extLst>
              <a:ext uri="{FF2B5EF4-FFF2-40B4-BE49-F238E27FC236}">
                <a16:creationId xmlns:a16="http://schemas.microsoft.com/office/drawing/2014/main" id="{0B958F55-800C-EB4C-B17B-F7270D6903E1}"/>
              </a:ext>
            </a:extLst>
          </p:cNvPr>
          <p:cNvGrpSpPr>
            <a:grpSpLocks/>
          </p:cNvGrpSpPr>
          <p:nvPr/>
        </p:nvGrpSpPr>
        <p:grpSpPr bwMode="auto">
          <a:xfrm>
            <a:off x="6131048" y="2782657"/>
            <a:ext cx="2616200" cy="3926894"/>
            <a:chOff x="3110136" y="1027584"/>
            <a:chExt cx="2617511" cy="3927461"/>
          </a:xfrm>
        </p:grpSpPr>
        <p:sp>
          <p:nvSpPr>
            <p:cNvPr id="23" name="Text Box 107">
              <a:extLst>
                <a:ext uri="{FF2B5EF4-FFF2-40B4-BE49-F238E27FC236}">
                  <a16:creationId xmlns:a16="http://schemas.microsoft.com/office/drawing/2014/main" id="{9EF68653-C82F-D34C-BF6C-FB48011D777F}"/>
                </a:ext>
              </a:extLst>
            </p:cNvPr>
            <p:cNvSpPr txBox="1">
              <a:spLocks noChangeArrowheads="1"/>
            </p:cNvSpPr>
            <p:nvPr/>
          </p:nvSpPr>
          <p:spPr bwMode="auto">
            <a:xfrm>
              <a:off x="4221088" y="3284984"/>
              <a:ext cx="1143000" cy="461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365</a:t>
              </a:r>
            </a:p>
          </p:txBody>
        </p:sp>
        <p:grpSp>
          <p:nvGrpSpPr>
            <p:cNvPr id="24" name="组合 71">
              <a:extLst>
                <a:ext uri="{FF2B5EF4-FFF2-40B4-BE49-F238E27FC236}">
                  <a16:creationId xmlns:a16="http://schemas.microsoft.com/office/drawing/2014/main" id="{66F93BE1-F6B8-8841-ACDC-B208A19F0F51}"/>
                </a:ext>
              </a:extLst>
            </p:cNvPr>
            <p:cNvGrpSpPr>
              <a:grpSpLocks/>
            </p:cNvGrpSpPr>
            <p:nvPr/>
          </p:nvGrpSpPr>
          <p:grpSpPr bwMode="auto">
            <a:xfrm>
              <a:off x="3110136" y="1027584"/>
              <a:ext cx="2617511" cy="3927461"/>
              <a:chOff x="3131840" y="1027584"/>
              <a:chExt cx="2617511" cy="3927461"/>
            </a:xfrm>
          </p:grpSpPr>
          <p:sp>
            <p:nvSpPr>
              <p:cNvPr id="25" name="Text Box 103">
                <a:extLst>
                  <a:ext uri="{FF2B5EF4-FFF2-40B4-BE49-F238E27FC236}">
                    <a16:creationId xmlns:a16="http://schemas.microsoft.com/office/drawing/2014/main" id="{2AD43C90-28F9-D243-80D3-327D27CD55F4}"/>
                  </a:ext>
                </a:extLst>
              </p:cNvPr>
              <p:cNvSpPr txBox="1">
                <a:spLocks noChangeArrowheads="1"/>
              </p:cNvSpPr>
              <p:nvPr/>
            </p:nvSpPr>
            <p:spPr bwMode="auto">
              <a:xfrm>
                <a:off x="3131840" y="1027584"/>
                <a:ext cx="982216" cy="831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FF"/>
                    </a:solidFill>
                    <a:latin typeface="幼圆" pitchFamily="49" charset="-122"/>
                    <a:ea typeface="幼圆" pitchFamily="49" charset="-122"/>
                  </a:rPr>
                  <a:t>10000</a:t>
                </a:r>
              </a:p>
            </p:txBody>
          </p:sp>
          <p:sp>
            <p:nvSpPr>
              <p:cNvPr id="26" name="Text Box 104">
                <a:extLst>
                  <a:ext uri="{FF2B5EF4-FFF2-40B4-BE49-F238E27FC236}">
                    <a16:creationId xmlns:a16="http://schemas.microsoft.com/office/drawing/2014/main" id="{0B65ED0D-8A70-E841-850F-D5811CF81259}"/>
                  </a:ext>
                </a:extLst>
              </p:cNvPr>
              <p:cNvSpPr txBox="1">
                <a:spLocks noChangeArrowheads="1"/>
              </p:cNvSpPr>
              <p:nvPr/>
            </p:nvSpPr>
            <p:spPr bwMode="auto">
              <a:xfrm>
                <a:off x="3131840" y="1891680"/>
                <a:ext cx="986408" cy="831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11000</a:t>
                </a:r>
              </a:p>
            </p:txBody>
          </p:sp>
          <p:sp>
            <p:nvSpPr>
              <p:cNvPr id="27" name="Text Box 105">
                <a:extLst>
                  <a:ext uri="{FF2B5EF4-FFF2-40B4-BE49-F238E27FC236}">
                    <a16:creationId xmlns:a16="http://schemas.microsoft.com/office/drawing/2014/main" id="{7A0BFC2A-026C-9644-A0F8-480576EE3143}"/>
                  </a:ext>
                </a:extLst>
              </p:cNvPr>
              <p:cNvSpPr txBox="1">
                <a:spLocks noChangeArrowheads="1"/>
              </p:cNvSpPr>
              <p:nvPr/>
            </p:nvSpPr>
            <p:spPr bwMode="auto">
              <a:xfrm>
                <a:off x="4064567" y="2240037"/>
                <a:ext cx="1684784" cy="400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000">
                    <a:solidFill>
                      <a:srgbClr val="000000"/>
                    </a:solidFill>
                    <a:latin typeface="幼圆" pitchFamily="49" charset="-122"/>
                    <a:ea typeface="幼圆" pitchFamily="49" charset="-122"/>
                  </a:rPr>
                  <a:t>LOAD </a:t>
                </a:r>
                <a:r>
                  <a:rPr lang="en-US" altLang="zh-CN" sz="2000">
                    <a:solidFill>
                      <a:srgbClr val="0000FF"/>
                    </a:solidFill>
                    <a:latin typeface="幼圆" pitchFamily="49" charset="-122"/>
                    <a:ea typeface="幼圆" pitchFamily="49" charset="-122"/>
                  </a:rPr>
                  <a:t>2500</a:t>
                </a:r>
              </a:p>
            </p:txBody>
          </p:sp>
          <p:sp>
            <p:nvSpPr>
              <p:cNvPr id="28" name="Text Box 106">
                <a:extLst>
                  <a:ext uri="{FF2B5EF4-FFF2-40B4-BE49-F238E27FC236}">
                    <a16:creationId xmlns:a16="http://schemas.microsoft.com/office/drawing/2014/main" id="{BDBF6745-0266-7C40-A58C-DC7B24039FB7}"/>
                  </a:ext>
                </a:extLst>
              </p:cNvPr>
              <p:cNvSpPr txBox="1">
                <a:spLocks noChangeArrowheads="1"/>
              </p:cNvSpPr>
              <p:nvPr/>
            </p:nvSpPr>
            <p:spPr bwMode="auto">
              <a:xfrm>
                <a:off x="3131840" y="2924944"/>
                <a:ext cx="1080120" cy="831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12500</a:t>
                </a:r>
              </a:p>
            </p:txBody>
          </p:sp>
          <p:sp>
            <p:nvSpPr>
              <p:cNvPr id="29" name="Text Box 108">
                <a:extLst>
                  <a:ext uri="{FF2B5EF4-FFF2-40B4-BE49-F238E27FC236}">
                    <a16:creationId xmlns:a16="http://schemas.microsoft.com/office/drawing/2014/main" id="{2FF4320B-E70B-3140-91F6-0867D3760276}"/>
                  </a:ext>
                </a:extLst>
              </p:cNvPr>
              <p:cNvSpPr txBox="1">
                <a:spLocks noChangeArrowheads="1"/>
              </p:cNvSpPr>
              <p:nvPr/>
            </p:nvSpPr>
            <p:spPr bwMode="auto">
              <a:xfrm>
                <a:off x="3131840" y="4123928"/>
                <a:ext cx="1066800" cy="831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2400">
                    <a:solidFill>
                      <a:srgbClr val="000000"/>
                    </a:solidFill>
                    <a:latin typeface="幼圆" pitchFamily="49" charset="-122"/>
                    <a:ea typeface="幼圆" pitchFamily="49" charset="-122"/>
                  </a:rPr>
                  <a:t>15000</a:t>
                </a:r>
              </a:p>
            </p:txBody>
          </p:sp>
        </p:grpSp>
      </p:grpSp>
      <p:graphicFrame>
        <p:nvGraphicFramePr>
          <p:cNvPr id="30" name="Group 102">
            <a:extLst>
              <a:ext uri="{FF2B5EF4-FFF2-40B4-BE49-F238E27FC236}">
                <a16:creationId xmlns:a16="http://schemas.microsoft.com/office/drawing/2014/main" id="{FF502F7D-A3A7-234D-BCE4-182AB6CBE37C}"/>
              </a:ext>
            </a:extLst>
          </p:cNvPr>
          <p:cNvGraphicFramePr>
            <a:graphicFrameLocks noGrp="1"/>
          </p:cNvGraphicFramePr>
          <p:nvPr>
            <p:extLst>
              <p:ext uri="{D42A27DB-BD31-4B8C-83A1-F6EECF244321}">
                <p14:modId xmlns:p14="http://schemas.microsoft.com/office/powerpoint/2010/main" val="2277186191"/>
              </p:ext>
            </p:extLst>
          </p:nvPr>
        </p:nvGraphicFramePr>
        <p:xfrm>
          <a:off x="3594224" y="1923821"/>
          <a:ext cx="1408113" cy="3168651"/>
        </p:xfrm>
        <a:graphic>
          <a:graphicData uri="http://schemas.openxmlformats.org/drawingml/2006/table">
            <a:tbl>
              <a:tblPr/>
              <a:tblGrid>
                <a:gridCol w="1408113">
                  <a:extLst>
                    <a:ext uri="{9D8B030D-6E8A-4147-A177-3AD203B41FA5}">
                      <a16:colId xmlns:a16="http://schemas.microsoft.com/office/drawing/2014/main" val="20000"/>
                    </a:ext>
                  </a:extLst>
                </a:gridCol>
              </a:tblGrid>
              <a:tr h="927034">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4077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4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4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531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50211">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dirty="0">
                        <a:ln>
                          <a:noFill/>
                        </a:ln>
                        <a:solidFill>
                          <a:schemeClr val="tx1"/>
                        </a:solidFill>
                        <a:effectLst/>
                        <a:latin typeface="Times New Roman" pitchFamily="18" charset="0"/>
                        <a:ea typeface="宋体" pitchFamily="2" charset="-122"/>
                      </a:endParaRPr>
                    </a:p>
                  </a:txBody>
                  <a:tcPr marL="91488" marR="91488" marT="45724" marB="45724"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1" name="TextBox 30">
            <a:extLst>
              <a:ext uri="{FF2B5EF4-FFF2-40B4-BE49-F238E27FC236}">
                <a16:creationId xmlns:a16="http://schemas.microsoft.com/office/drawing/2014/main" id="{C3526531-B83A-2F48-A593-865C4B1AC322}"/>
              </a:ext>
            </a:extLst>
          </p:cNvPr>
          <p:cNvSpPr txBox="1">
            <a:spLocks noChangeArrowheads="1"/>
          </p:cNvSpPr>
          <p:nvPr/>
        </p:nvSpPr>
        <p:spPr bwMode="auto">
          <a:xfrm>
            <a:off x="6118348" y="2773133"/>
            <a:ext cx="107950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en-US" altLang="zh-CN" sz="2400">
                <a:solidFill>
                  <a:srgbClr val="0000FF"/>
                </a:solidFill>
                <a:latin typeface="幼圆" pitchFamily="49" charset="-122"/>
                <a:ea typeface="幼圆" pitchFamily="49" charset="-122"/>
              </a:rPr>
              <a:t>10000</a:t>
            </a:r>
            <a:endParaRPr lang="zh-CN" altLang="en-US" sz="2400">
              <a:solidFill>
                <a:srgbClr val="0000FF"/>
              </a:solidFill>
              <a:latin typeface="幼圆" pitchFamily="49" charset="-122"/>
              <a:ea typeface="幼圆" pitchFamily="49" charset="-122"/>
            </a:endParaRPr>
          </a:p>
        </p:txBody>
      </p:sp>
      <p:sp>
        <p:nvSpPr>
          <p:cNvPr id="33" name="矩形 34">
            <a:extLst>
              <a:ext uri="{FF2B5EF4-FFF2-40B4-BE49-F238E27FC236}">
                <a16:creationId xmlns:a16="http://schemas.microsoft.com/office/drawing/2014/main" id="{F7D5E25D-EE56-D647-A3E2-9752E83A6481}"/>
              </a:ext>
            </a:extLst>
          </p:cNvPr>
          <p:cNvSpPr>
            <a:spLocks noChangeArrowheads="1"/>
          </p:cNvSpPr>
          <p:nvPr/>
        </p:nvSpPr>
        <p:spPr bwMode="auto">
          <a:xfrm>
            <a:off x="179512" y="742721"/>
            <a:ext cx="5832475" cy="5761037"/>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34" name="内容占位符 2">
            <a:extLst>
              <a:ext uri="{FF2B5EF4-FFF2-40B4-BE49-F238E27FC236}">
                <a16:creationId xmlns:a16="http://schemas.microsoft.com/office/drawing/2014/main" id="{D186DDE3-6F41-A444-A055-AF1FA66F782F}"/>
              </a:ext>
            </a:extLst>
          </p:cNvPr>
          <p:cNvSpPr txBox="1">
            <a:spLocks/>
          </p:cNvSpPr>
          <p:nvPr/>
        </p:nvSpPr>
        <p:spPr>
          <a:xfrm>
            <a:off x="250948" y="958621"/>
            <a:ext cx="5111750" cy="4929187"/>
          </a:xfrm>
          <a:prstGeom prst="rect">
            <a:avLst/>
          </a:prstGeom>
        </p:spPr>
        <p:txBody>
          <a:bodyPr/>
          <a:lstStyle>
            <a:lvl1pPr marL="342900" indent="-342900">
              <a:defRPr kumimoji="1" b="1">
                <a:solidFill>
                  <a:schemeClr val="hlink"/>
                </a:solidFill>
                <a:latin typeface="Arial Narrow" panose="020B0604020202020204" pitchFamily="34" charset="0"/>
                <a:ea typeface="宋体" panose="02010600030101010101" pitchFamily="2" charset="-122"/>
              </a:defRPr>
            </a:lvl1pPr>
            <a:lvl2pPr marL="342900" indent="-342900">
              <a:defRPr kumimoji="1" b="1">
                <a:solidFill>
                  <a:schemeClr val="hlink"/>
                </a:solidFill>
                <a:latin typeface="Arial Narrow" panose="020B0604020202020204" pitchFamily="34" charset="0"/>
                <a:ea typeface="宋体" panose="02010600030101010101" pitchFamily="2" charset="-122"/>
              </a:defRPr>
            </a:lvl2pPr>
            <a:lvl3pPr marL="742950" indent="-3429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lvl="1">
              <a:lnSpc>
                <a:spcPts val="3838"/>
              </a:lnSpc>
              <a:buClr>
                <a:srgbClr val="0000FF"/>
              </a:buClr>
              <a:buFont typeface="Monotype Sorts" pitchFamily="2" charset="2"/>
              <a:buChar char="§"/>
            </a:pPr>
            <a:r>
              <a:rPr lang="zh-CN" altLang="en-US" sz="2800" dirty="0">
                <a:solidFill>
                  <a:srgbClr val="0000FF"/>
                </a:solidFill>
                <a:latin typeface="幼圆" pitchFamily="49" charset="-122"/>
                <a:ea typeface="幼圆" pitchFamily="49" charset="-122"/>
              </a:rPr>
              <a:t>动态运行时装入方式</a:t>
            </a:r>
            <a:endParaRPr lang="en-US" altLang="zh-CN" sz="2800" dirty="0">
              <a:solidFill>
                <a:srgbClr val="0000FF"/>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由装入程序将装入模块装入到内存的适当位置，不立即修改地址，运行时再</a:t>
            </a:r>
            <a:r>
              <a:rPr lang="zh-CN" altLang="en-US" sz="2800" dirty="0">
                <a:solidFill>
                  <a:srgbClr val="D60093"/>
                </a:solidFill>
                <a:latin typeface="幼圆" pitchFamily="49" charset="-122"/>
                <a:ea typeface="幼圆" pitchFamily="49" charset="-122"/>
              </a:rPr>
              <a:t>边运行边修改地址</a:t>
            </a:r>
            <a:r>
              <a:rPr lang="zh-CN" altLang="en-US" sz="2800" dirty="0">
                <a:solidFill>
                  <a:srgbClr val="000000"/>
                </a:solidFill>
                <a:latin typeface="幼圆" pitchFamily="49" charset="-122"/>
                <a:ea typeface="幼圆" pitchFamily="49" charset="-122"/>
              </a:rPr>
              <a:t>。</a:t>
            </a:r>
            <a:endParaRPr lang="en-US" altLang="zh-CN" sz="2800" dirty="0">
              <a:solidFill>
                <a:srgbClr val="000000"/>
              </a:solidFill>
              <a:latin typeface="幼圆" pitchFamily="49" charset="-122"/>
              <a:ea typeface="幼圆" pitchFamily="49" charset="-122"/>
            </a:endParaRPr>
          </a:p>
          <a:p>
            <a:pPr lvl="1">
              <a:lnSpc>
                <a:spcPts val="3838"/>
              </a:lnSpc>
              <a:buClr>
                <a:srgbClr val="0000FF"/>
              </a:buClr>
              <a:buSzPct val="50000"/>
              <a:buFont typeface="Wingdings" pitchFamily="2" charset="2"/>
              <a:buChar char="n"/>
            </a:pPr>
            <a:r>
              <a:rPr lang="zh-CN" altLang="en-US" sz="2800" dirty="0">
                <a:solidFill>
                  <a:srgbClr val="0000FF"/>
                </a:solidFill>
                <a:latin typeface="幼圆" pitchFamily="49" charset="-122"/>
                <a:ea typeface="幼圆" pitchFamily="49" charset="-122"/>
              </a:rPr>
              <a:t>特点</a:t>
            </a:r>
            <a:endParaRPr lang="en-US" altLang="zh-CN" sz="2800" dirty="0">
              <a:solidFill>
                <a:srgbClr val="0000FF"/>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装入内存地址是相对地址</a:t>
            </a:r>
            <a:endParaRPr lang="en-US" altLang="zh-CN" sz="2800" dirty="0">
              <a:solidFill>
                <a:srgbClr val="000000"/>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程序可以在内存移动</a:t>
            </a:r>
            <a:endParaRPr lang="en-US" altLang="zh-CN" sz="2800" dirty="0">
              <a:solidFill>
                <a:srgbClr val="000000"/>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可以满足对换需要</a:t>
            </a:r>
            <a:endParaRPr lang="en-US" altLang="zh-CN" sz="2800" dirty="0">
              <a:solidFill>
                <a:srgbClr val="000000"/>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适合多道程序系统</a:t>
            </a:r>
            <a:endParaRPr lang="en-US" altLang="zh-CN" sz="2800" dirty="0">
              <a:solidFill>
                <a:srgbClr val="000000"/>
              </a:solidFill>
              <a:latin typeface="幼圆" pitchFamily="49" charset="-122"/>
              <a:ea typeface="幼圆" pitchFamily="49" charset="-122"/>
            </a:endParaRPr>
          </a:p>
          <a:p>
            <a:pPr lvl="2">
              <a:lnSpc>
                <a:spcPts val="3838"/>
              </a:lnSpc>
              <a:buClr>
                <a:srgbClr val="0000FF"/>
              </a:buClr>
              <a:buSzPct val="50000"/>
              <a:buFont typeface="Wingdings" pitchFamily="2" charset="2"/>
              <a:buChar char="l"/>
            </a:pPr>
            <a:r>
              <a:rPr lang="zh-CN" altLang="en-US" sz="2800" dirty="0">
                <a:solidFill>
                  <a:srgbClr val="000000"/>
                </a:solidFill>
                <a:latin typeface="幼圆" pitchFamily="49" charset="-122"/>
                <a:ea typeface="幼圆" pitchFamily="49" charset="-122"/>
              </a:rPr>
              <a:t>需要硬件支持</a:t>
            </a:r>
            <a:endParaRPr lang="zh-CN" altLang="en-US" sz="2800" dirty="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74804510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linds(horizontal)">
                                      <p:cBhvr>
                                        <p:cTn id="7" dur="500"/>
                                        <p:tgtEl>
                                          <p:spTgt spid="9"/>
                                        </p:tgtEl>
                                      </p:cBhvr>
                                    </p:animEffect>
                                  </p:childTnLst>
                                </p:cTn>
                              </p:par>
                            </p:childTnLst>
                          </p:cTn>
                        </p:par>
                        <p:par>
                          <p:cTn id="8" fill="hold">
                            <p:stCondLst>
                              <p:cond delay="500"/>
                            </p:stCondLst>
                            <p:childTnLst>
                              <p:par>
                                <p:cTn id="9" presetID="3"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blinds(horizontal)">
                                      <p:cBhvr>
                                        <p:cTn id="11" dur="500"/>
                                        <p:tgtEl>
                                          <p:spTgt spid="12"/>
                                        </p:tgtEl>
                                      </p:cBhvr>
                                    </p:animEffect>
                                  </p:childTnLst>
                                </p:cTn>
                              </p:par>
                            </p:childTnLst>
                          </p:cTn>
                        </p:par>
                        <p:par>
                          <p:cTn id="12" fill="hold">
                            <p:stCondLst>
                              <p:cond delay="1000"/>
                            </p:stCondLst>
                            <p:childTnLst>
                              <p:par>
                                <p:cTn id="13" presetID="3" presetClass="entr" presetSubtype="10" fill="hold"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blinds(horizontal)">
                                      <p:cBhvr>
                                        <p:cTn id="15" dur="500"/>
                                        <p:tgtEl>
                                          <p:spTgt spid="21"/>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dissolv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blinds(horizontal)">
                                      <p:cBhvr>
                                        <p:cTn id="23" dur="500"/>
                                        <p:tgtEl>
                                          <p:spTgt spid="30"/>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dissolve">
                                      <p:cBhvr>
                                        <p:cTn id="28" dur="500"/>
                                        <p:tgtEl>
                                          <p:spTgt spid="2"/>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blinds(horizontal)">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1" presetClass="entr" presetSubtype="0" fill="hold" grpId="0" nodeType="clickEffect">
                                  <p:stCondLst>
                                    <p:cond delay="0"/>
                                  </p:stCondLst>
                                  <p:childTnLst>
                                    <p:set>
                                      <p:cBhvr>
                                        <p:cTn id="35" dur="1000">
                                          <p:stCondLst>
                                            <p:cond delay="0"/>
                                          </p:stCondLst>
                                        </p:cTn>
                                        <p:tgtEl>
                                          <p:spTgt spid="31"/>
                                        </p:tgtEl>
                                        <p:attrNameLst>
                                          <p:attrName>style.visibility</p:attrName>
                                        </p:attrNameLst>
                                      </p:cBhvr>
                                      <p:to>
                                        <p:strVal val="visible"/>
                                      </p:to>
                                    </p:set>
                                  </p:childTnLst>
                                  <p:subTnLst>
                                    <p:set>
                                      <p:cBhvr override="childStyle">
                                        <p:cTn dur="1" fill="hold" display="0" masterRel="nextClick" afterEffect="1"/>
                                        <p:tgtEl>
                                          <p:spTgt spid="31"/>
                                        </p:tgtEl>
                                        <p:attrNameLst>
                                          <p:attrName>style.visibility</p:attrName>
                                        </p:attrNameLst>
                                      </p:cBhvr>
                                      <p:to>
                                        <p:strVal val="hidden"/>
                                      </p:to>
                                    </p:set>
                                  </p:subTnLst>
                                </p:cTn>
                              </p:par>
                            </p:childTnLst>
                          </p:cTn>
                        </p:par>
                      </p:childTnLst>
                    </p:cTn>
                  </p:par>
                  <p:par>
                    <p:cTn id="36" fill="hold">
                      <p:stCondLst>
                        <p:cond delay="indefinite"/>
                      </p:stCondLst>
                      <p:childTnLst>
                        <p:par>
                          <p:cTn id="37" fill="hold">
                            <p:stCondLst>
                              <p:cond delay="0"/>
                            </p:stCondLst>
                            <p:childTnLst>
                              <p:par>
                                <p:cTn id="38" presetID="0" presetClass="path" presetSubtype="0" accel="50000" decel="50000" fill="hold" nodeType="clickEffect">
                                  <p:stCondLst>
                                    <p:cond delay="0"/>
                                  </p:stCondLst>
                                  <p:childTnLst>
                                    <p:animMotion origin="layout" path="M -4.44444E-6 -3.7037E-6 L 0.38594 0.14699 " pathEditMode="relative" rAng="0" ptsTypes="AA">
                                      <p:cBhvr>
                                        <p:cTn id="39" dur="2000" fill="hold"/>
                                        <p:tgtEl>
                                          <p:spTgt spid="21"/>
                                        </p:tgtEl>
                                        <p:attrNameLst>
                                          <p:attrName>ppt_x</p:attrName>
                                          <p:attrName>ppt_y</p:attrName>
                                        </p:attrNameLst>
                                      </p:cBhvr>
                                      <p:rCtr x="19288" y="7338"/>
                                    </p:animMotion>
                                  </p:childTnLst>
                                </p:cTn>
                              </p:par>
                            </p:childTnLst>
                          </p:cTn>
                        </p:par>
                        <p:par>
                          <p:cTn id="40" fill="hold">
                            <p:stCondLst>
                              <p:cond delay="2000"/>
                            </p:stCondLst>
                            <p:childTnLst>
                              <p:par>
                                <p:cTn id="41" presetID="9" presetClass="entr" presetSubtype="0" fill="hold"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3" presetClass="entr" presetSubtype="1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blinds(horizontal)">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3" presetClass="entr" presetSubtype="10" fill="hold" grpId="0" nodeType="click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blinds(horizontal)">
                                      <p:cBhvr>
                                        <p:cTn id="51" dur="500"/>
                                        <p:tgtEl>
                                          <p:spTgt spid="33"/>
                                        </p:tgtEl>
                                      </p:cBhvr>
                                    </p:animEffect>
                                  </p:childTnLst>
                                </p:cTn>
                              </p:par>
                            </p:childTnLst>
                          </p:cTn>
                        </p:par>
                      </p:childTnLst>
                    </p:cTn>
                  </p:par>
                  <p:par>
                    <p:cTn id="52" fill="hold">
                      <p:stCondLst>
                        <p:cond delay="indefinite"/>
                      </p:stCondLst>
                      <p:childTnLst>
                        <p:par>
                          <p:cTn id="53" fill="hold">
                            <p:stCondLst>
                              <p:cond delay="0"/>
                            </p:stCondLst>
                            <p:childTnLst>
                              <p:par>
                                <p:cTn id="54" presetID="3" presetClass="entr" presetSubtype="10" fill="hold" grpId="0" nodeType="clickEffect">
                                  <p:stCondLst>
                                    <p:cond delay="0"/>
                                  </p:stCondLst>
                                  <p:childTnLst>
                                    <p:set>
                                      <p:cBhvr>
                                        <p:cTn id="55" dur="1" fill="hold">
                                          <p:stCondLst>
                                            <p:cond delay="0"/>
                                          </p:stCondLst>
                                        </p:cTn>
                                        <p:tgtEl>
                                          <p:spTgt spid="34">
                                            <p:txEl>
                                              <p:pRg st="0" end="0"/>
                                            </p:txEl>
                                          </p:spTgt>
                                        </p:tgtEl>
                                        <p:attrNameLst>
                                          <p:attrName>style.visibility</p:attrName>
                                        </p:attrNameLst>
                                      </p:cBhvr>
                                      <p:to>
                                        <p:strVal val="visible"/>
                                      </p:to>
                                    </p:set>
                                    <p:animEffect transition="in" filter="blinds(horizontal)">
                                      <p:cBhvr>
                                        <p:cTn id="56" dur="500"/>
                                        <p:tgtEl>
                                          <p:spTgt spid="34">
                                            <p:txEl>
                                              <p:pRg st="0" end="0"/>
                                            </p:txEl>
                                          </p:spTgt>
                                        </p:tgtEl>
                                      </p:cBhvr>
                                    </p:animEffect>
                                  </p:childTnLst>
                                </p:cTn>
                              </p:par>
                              <p:par>
                                <p:cTn id="57" presetID="3" presetClass="entr" presetSubtype="10" fill="hold" grpId="0" nodeType="withEffect">
                                  <p:stCondLst>
                                    <p:cond delay="0"/>
                                  </p:stCondLst>
                                  <p:childTnLst>
                                    <p:set>
                                      <p:cBhvr>
                                        <p:cTn id="58" dur="1" fill="hold">
                                          <p:stCondLst>
                                            <p:cond delay="0"/>
                                          </p:stCondLst>
                                        </p:cTn>
                                        <p:tgtEl>
                                          <p:spTgt spid="34">
                                            <p:txEl>
                                              <p:pRg st="1" end="1"/>
                                            </p:txEl>
                                          </p:spTgt>
                                        </p:tgtEl>
                                        <p:attrNameLst>
                                          <p:attrName>style.visibility</p:attrName>
                                        </p:attrNameLst>
                                      </p:cBhvr>
                                      <p:to>
                                        <p:strVal val="visible"/>
                                      </p:to>
                                    </p:set>
                                    <p:animEffect transition="in" filter="blinds(horizontal)">
                                      <p:cBhvr>
                                        <p:cTn id="59" dur="500"/>
                                        <p:tgtEl>
                                          <p:spTgt spid="34">
                                            <p:txEl>
                                              <p:pRg st="1" end="1"/>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3" presetClass="entr" presetSubtype="10" fill="hold" grpId="0" nodeType="clickEffect">
                                  <p:stCondLst>
                                    <p:cond delay="0"/>
                                  </p:stCondLst>
                                  <p:childTnLst>
                                    <p:set>
                                      <p:cBhvr>
                                        <p:cTn id="63" dur="1" fill="hold">
                                          <p:stCondLst>
                                            <p:cond delay="0"/>
                                          </p:stCondLst>
                                        </p:cTn>
                                        <p:tgtEl>
                                          <p:spTgt spid="34">
                                            <p:txEl>
                                              <p:pRg st="2" end="2"/>
                                            </p:txEl>
                                          </p:spTgt>
                                        </p:tgtEl>
                                        <p:attrNameLst>
                                          <p:attrName>style.visibility</p:attrName>
                                        </p:attrNameLst>
                                      </p:cBhvr>
                                      <p:to>
                                        <p:strVal val="visible"/>
                                      </p:to>
                                    </p:set>
                                    <p:animEffect transition="in" filter="blinds(horizontal)">
                                      <p:cBhvr>
                                        <p:cTn id="64" dur="500"/>
                                        <p:tgtEl>
                                          <p:spTgt spid="34">
                                            <p:txEl>
                                              <p:pRg st="2" end="2"/>
                                            </p:txEl>
                                          </p:spTgt>
                                        </p:tgtEl>
                                      </p:cBhvr>
                                    </p:animEffect>
                                  </p:childTnLst>
                                </p:cTn>
                              </p:par>
                              <p:par>
                                <p:cTn id="65" presetID="3" presetClass="entr" presetSubtype="10" fill="hold" grpId="0" nodeType="withEffect">
                                  <p:stCondLst>
                                    <p:cond delay="0"/>
                                  </p:stCondLst>
                                  <p:childTnLst>
                                    <p:set>
                                      <p:cBhvr>
                                        <p:cTn id="66" dur="1" fill="hold">
                                          <p:stCondLst>
                                            <p:cond delay="0"/>
                                          </p:stCondLst>
                                        </p:cTn>
                                        <p:tgtEl>
                                          <p:spTgt spid="34">
                                            <p:txEl>
                                              <p:pRg st="3" end="3"/>
                                            </p:txEl>
                                          </p:spTgt>
                                        </p:tgtEl>
                                        <p:attrNameLst>
                                          <p:attrName>style.visibility</p:attrName>
                                        </p:attrNameLst>
                                      </p:cBhvr>
                                      <p:to>
                                        <p:strVal val="visible"/>
                                      </p:to>
                                    </p:set>
                                    <p:animEffect transition="in" filter="blinds(horizontal)">
                                      <p:cBhvr>
                                        <p:cTn id="67" dur="500"/>
                                        <p:tgtEl>
                                          <p:spTgt spid="34">
                                            <p:txEl>
                                              <p:pRg st="3" end="3"/>
                                            </p:txEl>
                                          </p:spTgt>
                                        </p:tgtEl>
                                      </p:cBhvr>
                                    </p:animEffect>
                                  </p:childTnLst>
                                </p:cTn>
                              </p:par>
                              <p:par>
                                <p:cTn id="68" presetID="3" presetClass="entr" presetSubtype="10" fill="hold" grpId="0" nodeType="withEffect">
                                  <p:stCondLst>
                                    <p:cond delay="0"/>
                                  </p:stCondLst>
                                  <p:childTnLst>
                                    <p:set>
                                      <p:cBhvr>
                                        <p:cTn id="69" dur="1" fill="hold">
                                          <p:stCondLst>
                                            <p:cond delay="0"/>
                                          </p:stCondLst>
                                        </p:cTn>
                                        <p:tgtEl>
                                          <p:spTgt spid="34">
                                            <p:txEl>
                                              <p:pRg st="4" end="4"/>
                                            </p:txEl>
                                          </p:spTgt>
                                        </p:tgtEl>
                                        <p:attrNameLst>
                                          <p:attrName>style.visibility</p:attrName>
                                        </p:attrNameLst>
                                      </p:cBhvr>
                                      <p:to>
                                        <p:strVal val="visible"/>
                                      </p:to>
                                    </p:set>
                                    <p:animEffect transition="in" filter="blinds(horizontal)">
                                      <p:cBhvr>
                                        <p:cTn id="70" dur="500"/>
                                        <p:tgtEl>
                                          <p:spTgt spid="34">
                                            <p:txEl>
                                              <p:pRg st="4" end="4"/>
                                            </p:txEl>
                                          </p:spTgt>
                                        </p:tgtEl>
                                      </p:cBhvr>
                                    </p:animEffect>
                                  </p:childTnLst>
                                </p:cTn>
                              </p:par>
                              <p:par>
                                <p:cTn id="71" presetID="3" presetClass="entr" presetSubtype="10" fill="hold" grpId="0" nodeType="withEffect">
                                  <p:stCondLst>
                                    <p:cond delay="0"/>
                                  </p:stCondLst>
                                  <p:childTnLst>
                                    <p:set>
                                      <p:cBhvr>
                                        <p:cTn id="72" dur="1" fill="hold">
                                          <p:stCondLst>
                                            <p:cond delay="0"/>
                                          </p:stCondLst>
                                        </p:cTn>
                                        <p:tgtEl>
                                          <p:spTgt spid="34">
                                            <p:txEl>
                                              <p:pRg st="5" end="5"/>
                                            </p:txEl>
                                          </p:spTgt>
                                        </p:tgtEl>
                                        <p:attrNameLst>
                                          <p:attrName>style.visibility</p:attrName>
                                        </p:attrNameLst>
                                      </p:cBhvr>
                                      <p:to>
                                        <p:strVal val="visible"/>
                                      </p:to>
                                    </p:set>
                                    <p:animEffect transition="in" filter="blinds(horizontal)">
                                      <p:cBhvr>
                                        <p:cTn id="73" dur="500"/>
                                        <p:tgtEl>
                                          <p:spTgt spid="34">
                                            <p:txEl>
                                              <p:pRg st="5" end="5"/>
                                            </p:txEl>
                                          </p:spTgt>
                                        </p:tgtEl>
                                      </p:cBhvr>
                                    </p:animEffect>
                                  </p:childTnLst>
                                </p:cTn>
                              </p:par>
                              <p:par>
                                <p:cTn id="74" presetID="3" presetClass="entr" presetSubtype="10" fill="hold" grpId="0" nodeType="withEffect">
                                  <p:stCondLst>
                                    <p:cond delay="0"/>
                                  </p:stCondLst>
                                  <p:childTnLst>
                                    <p:set>
                                      <p:cBhvr>
                                        <p:cTn id="75" dur="1" fill="hold">
                                          <p:stCondLst>
                                            <p:cond delay="0"/>
                                          </p:stCondLst>
                                        </p:cTn>
                                        <p:tgtEl>
                                          <p:spTgt spid="34">
                                            <p:txEl>
                                              <p:pRg st="6" end="6"/>
                                            </p:txEl>
                                          </p:spTgt>
                                        </p:tgtEl>
                                        <p:attrNameLst>
                                          <p:attrName>style.visibility</p:attrName>
                                        </p:attrNameLst>
                                      </p:cBhvr>
                                      <p:to>
                                        <p:strVal val="visible"/>
                                      </p:to>
                                    </p:set>
                                    <p:animEffect transition="in" filter="blinds(horizontal)">
                                      <p:cBhvr>
                                        <p:cTn id="76" dur="500"/>
                                        <p:tgtEl>
                                          <p:spTgt spid="34">
                                            <p:txEl>
                                              <p:pRg st="6" end="6"/>
                                            </p:txEl>
                                          </p:spTgt>
                                        </p:tgtEl>
                                      </p:cBhvr>
                                    </p:animEffect>
                                  </p:childTnLst>
                                </p:cTn>
                              </p:par>
                              <p:par>
                                <p:cTn id="77" presetID="3" presetClass="entr" presetSubtype="10" fill="hold" grpId="0" nodeType="withEffect">
                                  <p:stCondLst>
                                    <p:cond delay="0"/>
                                  </p:stCondLst>
                                  <p:childTnLst>
                                    <p:set>
                                      <p:cBhvr>
                                        <p:cTn id="78" dur="1" fill="hold">
                                          <p:stCondLst>
                                            <p:cond delay="0"/>
                                          </p:stCondLst>
                                        </p:cTn>
                                        <p:tgtEl>
                                          <p:spTgt spid="34">
                                            <p:txEl>
                                              <p:pRg st="7" end="7"/>
                                            </p:txEl>
                                          </p:spTgt>
                                        </p:tgtEl>
                                        <p:attrNameLst>
                                          <p:attrName>style.visibility</p:attrName>
                                        </p:attrNameLst>
                                      </p:cBhvr>
                                      <p:to>
                                        <p:strVal val="visible"/>
                                      </p:to>
                                    </p:set>
                                    <p:animEffect transition="in" filter="blinds(horizontal)">
                                      <p:cBhvr>
                                        <p:cTn id="79" dur="500"/>
                                        <p:tgtEl>
                                          <p:spTgt spid="3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20" grpId="0" animBg="1"/>
      <p:bldP spid="31" grpId="0"/>
      <p:bldP spid="33" grpId="0" animBg="1"/>
      <p:bldP spid="34" grpId="0" build="p" bldLvl="2"/>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A70B57F0-547E-7241-A56A-2969B1D97EF6}"/>
              </a:ext>
            </a:extLst>
          </p:cNvPr>
          <p:cNvSpPr>
            <a:spLocks noGrp="1" noChangeArrowheads="1"/>
          </p:cNvSpPr>
          <p:nvPr>
            <p:ph type="body" idx="1"/>
          </p:nvPr>
        </p:nvSpPr>
        <p:spPr>
          <a:xfrm>
            <a:off x="684213" y="1557338"/>
            <a:ext cx="7920037" cy="4286250"/>
          </a:xfrm>
        </p:spPr>
        <p:txBody>
          <a:bodyPr/>
          <a:lstStyle/>
          <a:p>
            <a:pPr marL="0" indent="0" eaLnBrk="1" hangingPunct="1">
              <a:lnSpc>
                <a:spcPct val="200000"/>
              </a:lnSpc>
              <a:spcBef>
                <a:spcPct val="0"/>
              </a:spcBef>
              <a:buFont typeface="Wingdings" pitchFamily="2" charset="2"/>
              <a:buNone/>
            </a:pPr>
            <a:r>
              <a:rPr lang="zh-CN" altLang="en-US" sz="2000">
                <a:solidFill>
                  <a:srgbClr val="FF0000"/>
                </a:solidFill>
                <a:effectLst/>
                <a:latin typeface="宋体" panose="02010600030101010101" pitchFamily="2" charset="-122"/>
              </a:rPr>
              <a:t>动态重定位过程</a:t>
            </a:r>
            <a:endParaRPr lang="en-US" altLang="zh-CN" sz="2000">
              <a:solidFill>
                <a:srgbClr val="FF0000"/>
              </a:solidFill>
              <a:effectLst/>
              <a:latin typeface="宋体" panose="02010600030101010101" pitchFamily="2" charset="-122"/>
            </a:endParaRPr>
          </a:p>
          <a:p>
            <a:pPr marL="0" indent="0" eaLnBrk="1" hangingPunct="1">
              <a:lnSpc>
                <a:spcPct val="2000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装入程序将程序（可装入模块）装入内存，然后将程序所装入的内存区域首地址作为基地址送入基址寄存器</a:t>
            </a:r>
            <a:r>
              <a:rPr lang="en-US" altLang="zh-CN" sz="2000">
                <a:solidFill>
                  <a:schemeClr val="tx1"/>
                </a:solidFill>
                <a:effectLst/>
                <a:latin typeface="宋体" panose="02010600030101010101" pitchFamily="2" charset="-122"/>
              </a:rPr>
              <a:t>BR</a:t>
            </a:r>
            <a:r>
              <a:rPr lang="zh-CN" altLang="zh-CN" sz="2000">
                <a:solidFill>
                  <a:schemeClr val="tx1"/>
                </a:solidFill>
                <a:effectLst/>
                <a:latin typeface="宋体" panose="02010600030101010101" pitchFamily="2" charset="-122"/>
              </a:rPr>
              <a:t>中。在程序运行中，当所执行的指令需要访问一个内存地址（该访存地址是相对地址，也称逻辑地址）时，则将该相对地址送入程序逻辑地址寄存器</a:t>
            </a:r>
            <a:r>
              <a:rPr lang="en-US" altLang="zh-CN" sz="2000">
                <a:solidFill>
                  <a:schemeClr val="tx1"/>
                </a:solidFill>
                <a:effectLst/>
                <a:latin typeface="宋体" panose="02010600030101010101" pitchFamily="2" charset="-122"/>
              </a:rPr>
              <a:t> VR </a:t>
            </a:r>
            <a:r>
              <a:rPr lang="zh-CN" altLang="zh-CN" sz="2000">
                <a:solidFill>
                  <a:schemeClr val="tx1"/>
                </a:solidFill>
                <a:effectLst/>
                <a:latin typeface="宋体" panose="02010600030101010101" pitchFamily="2" charset="-122"/>
              </a:rPr>
              <a:t>中。这时，硬件地址转换机构把</a:t>
            </a:r>
            <a:r>
              <a:rPr lang="en-US" altLang="zh-CN" sz="2000">
                <a:solidFill>
                  <a:schemeClr val="tx1"/>
                </a:solidFill>
                <a:effectLst/>
                <a:latin typeface="宋体" panose="02010600030101010101" pitchFamily="2" charset="-122"/>
              </a:rPr>
              <a:t>BR</a:t>
            </a:r>
            <a:r>
              <a:rPr lang="zh-CN" altLang="zh-CN" sz="2000">
                <a:solidFill>
                  <a:schemeClr val="tx1"/>
                </a:solidFill>
                <a:effectLst/>
                <a:latin typeface="宋体" panose="02010600030101010101" pitchFamily="2" charset="-122"/>
              </a:rPr>
              <a:t>和</a:t>
            </a:r>
            <a:r>
              <a:rPr lang="en-US" altLang="zh-CN" sz="2000">
                <a:solidFill>
                  <a:schemeClr val="tx1"/>
                </a:solidFill>
                <a:effectLst/>
                <a:latin typeface="宋体" panose="02010600030101010101" pitchFamily="2" charset="-122"/>
              </a:rPr>
              <a:t>VR</a:t>
            </a:r>
            <a:r>
              <a:rPr lang="zh-CN" altLang="zh-CN" sz="2000">
                <a:solidFill>
                  <a:schemeClr val="tx1"/>
                </a:solidFill>
                <a:effectLst/>
                <a:latin typeface="宋体" panose="02010600030101010101" pitchFamily="2" charset="-122"/>
              </a:rPr>
              <a:t>中的内容相加（程序内存首地址加上相对地址）就形成了要访问的绝对地址（内存物理地址）</a:t>
            </a:r>
            <a:r>
              <a:rPr lang="zh-CN" altLang="en-US" sz="2000">
                <a:solidFill>
                  <a:schemeClr val="tx1"/>
                </a:solidFill>
                <a:effectLst/>
                <a:latin typeface="宋体" panose="02010600030101010101" pitchFamily="2" charset="-122"/>
              </a:rPr>
              <a:t>。</a:t>
            </a:r>
          </a:p>
          <a:p>
            <a:pPr marL="0" indent="0" eaLnBrk="1" hangingPunct="1">
              <a:lnSpc>
                <a:spcPct val="200000"/>
              </a:lnSpc>
              <a:spcBef>
                <a:spcPct val="0"/>
              </a:spcBef>
              <a:buFont typeface="Wingdings" pitchFamily="2" charset="2"/>
              <a:buNone/>
            </a:pPr>
            <a:endParaRPr lang="en-US" altLang="zh-CN" sz="2200">
              <a:solidFill>
                <a:schemeClr val="tx1"/>
              </a:solidFill>
              <a:effectLst/>
              <a:latin typeface="宋体" panose="02010600030101010101" pitchFamily="2" charset="-122"/>
            </a:endParaRPr>
          </a:p>
        </p:txBody>
      </p:sp>
      <p:sp>
        <p:nvSpPr>
          <p:cNvPr id="39939" name="AutoShape 3">
            <a:extLst>
              <a:ext uri="{FF2B5EF4-FFF2-40B4-BE49-F238E27FC236}">
                <a16:creationId xmlns:a16="http://schemas.microsoft.com/office/drawing/2014/main" id="{EB7C9402-BE72-3E4F-A693-8757D23475D7}"/>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5BC51E3A-481C-A04F-940A-4410CFB401E5}"/>
              </a:ext>
            </a:extLst>
          </p:cNvPr>
          <p:cNvSpPr>
            <a:spLocks noGrp="1" noChangeArrowheads="1"/>
          </p:cNvSpPr>
          <p:nvPr>
            <p:ph type="body" idx="1"/>
          </p:nvPr>
        </p:nvSpPr>
        <p:spPr>
          <a:xfrm>
            <a:off x="857250" y="3786188"/>
            <a:ext cx="7921625" cy="2857500"/>
          </a:xfrm>
        </p:spPr>
        <p:txBody>
          <a:bodyPr/>
          <a:lstStyle/>
          <a:p>
            <a:pPr marL="0" indent="0" eaLnBrk="1" hangingPunct="1">
              <a:lnSpc>
                <a:spcPct val="150000"/>
              </a:lnSpc>
              <a:spcBef>
                <a:spcPct val="0"/>
              </a:spcBef>
              <a:buFont typeface="Wingdings" pitchFamily="2" charset="2"/>
              <a:buNone/>
            </a:pPr>
            <a:r>
              <a:rPr lang="zh-CN" altLang="en-US" sz="2000">
                <a:solidFill>
                  <a:srgbClr val="FF0000"/>
                </a:solidFill>
                <a:effectLst/>
                <a:latin typeface="宋体" panose="02010600030101010101" pitchFamily="2" charset="-122"/>
              </a:rPr>
              <a:t>动态重定位优点：</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）指令和数据的物理地址是在程序运行过程中由硬件动态形成的；</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）动态重定位的地址转换工作在程序真正执行到该指令时才进行；</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）动态重定位有利于对程序段进行共享。</a:t>
            </a:r>
          </a:p>
          <a:p>
            <a:pPr marL="0" indent="0" eaLnBrk="1" hangingPunct="1">
              <a:lnSpc>
                <a:spcPct val="150000"/>
              </a:lnSpc>
              <a:spcBef>
                <a:spcPct val="0"/>
              </a:spcBef>
              <a:buFont typeface="Wingdings" pitchFamily="2" charset="2"/>
              <a:buNone/>
            </a:pPr>
            <a:r>
              <a:rPr lang="zh-CN" altLang="en-US" sz="2000">
                <a:solidFill>
                  <a:srgbClr val="FF0000"/>
                </a:solidFill>
                <a:effectLst/>
                <a:latin typeface="宋体" panose="02010600030101010101" pitchFamily="2" charset="-122"/>
              </a:rPr>
              <a:t>动态重定位缺点：</a:t>
            </a:r>
            <a:endParaRPr lang="en-US" altLang="zh-CN" sz="2000">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）需要硬件支持；（</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）实现存储管理的软件算法比较复杂。</a:t>
            </a:r>
          </a:p>
        </p:txBody>
      </p:sp>
      <p:sp>
        <p:nvSpPr>
          <p:cNvPr id="40963" name="AutoShape 3">
            <a:extLst>
              <a:ext uri="{FF2B5EF4-FFF2-40B4-BE49-F238E27FC236}">
                <a16:creationId xmlns:a16="http://schemas.microsoft.com/office/drawing/2014/main" id="{835211A4-0863-F94B-8228-FA9460DCBECC}"/>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pic>
        <p:nvPicPr>
          <p:cNvPr id="17412" name="Picture 4" descr="4-4">
            <a:extLst>
              <a:ext uri="{FF2B5EF4-FFF2-40B4-BE49-F238E27FC236}">
                <a16:creationId xmlns:a16="http://schemas.microsoft.com/office/drawing/2014/main" id="{CEFAF963-70A7-9845-AC9F-6CB9BD29C5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285875"/>
            <a:ext cx="5732462" cy="257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7990B1D9-5D06-7340-9205-074F9D668ACF}"/>
              </a:ext>
            </a:extLst>
          </p:cNvPr>
          <p:cNvSpPr>
            <a:spLocks noGrp="1" noChangeArrowheads="1"/>
          </p:cNvSpPr>
          <p:nvPr>
            <p:ph type="body" idx="1"/>
          </p:nvPr>
        </p:nvSpPr>
        <p:spPr>
          <a:xfrm>
            <a:off x="-142875" y="1357313"/>
            <a:ext cx="9144000" cy="5500687"/>
          </a:xfrm>
        </p:spPr>
        <p:txBody>
          <a:bodyPr/>
          <a:lstStyle/>
          <a:p>
            <a:pPr indent="0" algn="just">
              <a:lnSpc>
                <a:spcPts val="3000"/>
              </a:lnSpc>
              <a:buFont typeface="Wingdings" pitchFamily="2" charset="2"/>
              <a:buNone/>
            </a:pPr>
            <a:r>
              <a:rPr lang="zh-CN" altLang="en-US" sz="2200" dirty="0">
                <a:solidFill>
                  <a:schemeClr val="tx1"/>
                </a:solidFill>
                <a:effectLst>
                  <a:outerShdw blurRad="38100" dist="38100" dir="2700000" algn="tl">
                    <a:srgbClr val="FFFFFF"/>
                  </a:outerShdw>
                </a:effectLst>
              </a:rPr>
              <a:t>  </a:t>
            </a:r>
            <a:r>
              <a:rPr lang="zh-CN" altLang="en-US" sz="2000" dirty="0">
                <a:solidFill>
                  <a:srgbClr val="FF0000"/>
                </a:solidFill>
                <a:effectLst>
                  <a:outerShdw blurRad="38100" dist="38100" dir="2700000" algn="tl">
                    <a:srgbClr val="FFFFFF"/>
                  </a:outerShdw>
                </a:effectLst>
              </a:rPr>
              <a:t>注意：</a:t>
            </a:r>
            <a:r>
              <a:rPr lang="zh-CN" altLang="zh-CN" sz="2000" dirty="0">
                <a:solidFill>
                  <a:schemeClr val="tx1"/>
                </a:solidFill>
                <a:effectLst/>
                <a:latin typeface="Times New Roman" panose="02020603050405020304" pitchFamily="18" charset="0"/>
              </a:rPr>
              <a:t>静态重定位仅适用于</a:t>
            </a:r>
            <a:r>
              <a:rPr lang="zh-CN" altLang="zh-CN" sz="2000" dirty="0">
                <a:solidFill>
                  <a:srgbClr val="FF0000"/>
                </a:solidFill>
                <a:effectLst/>
                <a:latin typeface="Times New Roman" panose="02020603050405020304" pitchFamily="18" charset="0"/>
              </a:rPr>
              <a:t>程序静态装入</a:t>
            </a:r>
            <a:r>
              <a:rPr lang="zh-CN" altLang="zh-CN" sz="2000" dirty="0">
                <a:solidFill>
                  <a:schemeClr val="tx1"/>
                </a:solidFill>
                <a:effectLst/>
                <a:latin typeface="Times New Roman" panose="02020603050405020304" pitchFamily="18" charset="0"/>
              </a:rPr>
              <a:t>（一次性装入内存）的情况，且地址转换可以在程序装入内存时或在程序装入内存后到运行前的任何时间里一次性完成</a:t>
            </a:r>
            <a:r>
              <a:rPr lang="zh-CN" altLang="en-US" sz="2000" dirty="0">
                <a:solidFill>
                  <a:schemeClr val="tx1"/>
                </a:solidFill>
                <a:effectLst/>
                <a:latin typeface="Times New Roman" panose="02020603050405020304" pitchFamily="18" charset="0"/>
              </a:rPr>
              <a:t>。</a:t>
            </a:r>
            <a:endParaRPr lang="en-US" altLang="zh-CN" sz="2000" dirty="0">
              <a:solidFill>
                <a:schemeClr val="tx1"/>
              </a:solidFill>
              <a:effectLst/>
              <a:latin typeface="Times New Roman" panose="02020603050405020304" pitchFamily="18" charset="0"/>
            </a:endParaRPr>
          </a:p>
          <a:p>
            <a:pPr indent="0" algn="just">
              <a:lnSpc>
                <a:spcPts val="3000"/>
              </a:lnSpc>
              <a:buFont typeface="Wingdings" pitchFamily="2" charset="2"/>
              <a:buNone/>
            </a:pPr>
            <a:r>
              <a:rPr lang="en-US" altLang="zh-CN" sz="2000" dirty="0">
                <a:solidFill>
                  <a:schemeClr val="tx1"/>
                </a:solidFill>
                <a:effectLst/>
                <a:latin typeface="Times New Roman" panose="02020603050405020304" pitchFamily="18" charset="0"/>
              </a:rPr>
              <a:t>        </a:t>
            </a:r>
            <a:r>
              <a:rPr lang="zh-CN" altLang="zh-CN" sz="2000" dirty="0">
                <a:solidFill>
                  <a:schemeClr val="tx1"/>
                </a:solidFill>
                <a:effectLst/>
                <a:latin typeface="Times New Roman" panose="02020603050405020304" pitchFamily="18" charset="0"/>
              </a:rPr>
              <a:t>动态重定位既适用于</a:t>
            </a:r>
            <a:r>
              <a:rPr lang="zh-CN" altLang="zh-CN" sz="2000" dirty="0">
                <a:solidFill>
                  <a:srgbClr val="FF0000"/>
                </a:solidFill>
                <a:effectLst/>
                <a:latin typeface="Times New Roman" panose="02020603050405020304" pitchFamily="18" charset="0"/>
              </a:rPr>
              <a:t>程序的静态装入</a:t>
            </a:r>
            <a:r>
              <a:rPr lang="zh-CN" altLang="zh-CN" sz="2000" dirty="0">
                <a:solidFill>
                  <a:schemeClr val="tx1"/>
                </a:solidFill>
                <a:effectLst/>
                <a:latin typeface="Times New Roman" panose="02020603050405020304" pitchFamily="18" charset="0"/>
              </a:rPr>
              <a:t>，又适用于</a:t>
            </a:r>
            <a:r>
              <a:rPr lang="zh-CN" altLang="zh-CN" sz="2000" dirty="0">
                <a:solidFill>
                  <a:srgbClr val="FF0000"/>
                </a:solidFill>
                <a:effectLst/>
                <a:latin typeface="Times New Roman" panose="02020603050405020304" pitchFamily="18" charset="0"/>
              </a:rPr>
              <a:t>程序的动态装入</a:t>
            </a:r>
            <a:r>
              <a:rPr lang="zh-CN" altLang="zh-CN" sz="2000" dirty="0">
                <a:solidFill>
                  <a:schemeClr val="tx1"/>
                </a:solidFill>
                <a:effectLst/>
                <a:latin typeface="Times New Roman" panose="02020603050405020304" pitchFamily="18" charset="0"/>
              </a:rPr>
              <a:t>，无论采用哪种装入方式，动态重定位的地址转换都是在程序运行过程中执行到涉及访存地址的指令时进行的。</a:t>
            </a:r>
            <a:endParaRPr lang="en-US" altLang="zh-CN" sz="2000" dirty="0">
              <a:solidFill>
                <a:schemeClr val="tx1"/>
              </a:solidFill>
              <a:effectLst/>
              <a:latin typeface="Times New Roman" panose="02020603050405020304" pitchFamily="18" charset="0"/>
            </a:endParaRPr>
          </a:p>
          <a:p>
            <a:pPr indent="0" algn="just">
              <a:lnSpc>
                <a:spcPts val="3000"/>
              </a:lnSpc>
              <a:buFont typeface="Wingdings" pitchFamily="2" charset="2"/>
              <a:buNone/>
            </a:pPr>
            <a:r>
              <a:rPr lang="en-US" altLang="zh-CN" sz="2000" dirty="0">
                <a:solidFill>
                  <a:schemeClr val="tx1"/>
                </a:solidFill>
                <a:effectLst/>
                <a:latin typeface="Times New Roman" panose="02020603050405020304" pitchFamily="18" charset="0"/>
              </a:rPr>
              <a:t>        </a:t>
            </a:r>
            <a:r>
              <a:rPr lang="zh-CN" altLang="zh-CN" sz="2000" dirty="0">
                <a:solidFill>
                  <a:schemeClr val="tx1"/>
                </a:solidFill>
                <a:effectLst/>
                <a:latin typeface="Times New Roman" panose="02020603050405020304" pitchFamily="18" charset="0"/>
              </a:rPr>
              <a:t>所以</a:t>
            </a:r>
            <a:r>
              <a:rPr lang="zh-CN" altLang="zh-CN" sz="2000" i="1" u="sng" dirty="0">
                <a:solidFill>
                  <a:schemeClr val="tx1"/>
                </a:solidFill>
                <a:effectLst/>
                <a:latin typeface="Microsoft YaHei" panose="020B0503020204020204" pitchFamily="34" charset="-122"/>
                <a:ea typeface="Microsoft YaHei" panose="020B0503020204020204" pitchFamily="34" charset="-122"/>
              </a:rPr>
              <a:t>一次性将全部程序装入内存的方式</a:t>
            </a:r>
            <a:r>
              <a:rPr lang="zh-CN" altLang="zh-CN" sz="2000" dirty="0">
                <a:solidFill>
                  <a:schemeClr val="tx1"/>
                </a:solidFill>
                <a:effectLst/>
                <a:latin typeface="Times New Roman" panose="02020603050405020304" pitchFamily="18" charset="0"/>
              </a:rPr>
              <a:t>，可以采用静态重定位或动态重定位方式进行地址转换，但运行时</a:t>
            </a:r>
            <a:r>
              <a:rPr lang="zh-CN" altLang="zh-CN" sz="2000" i="1" u="sng" dirty="0">
                <a:solidFill>
                  <a:srgbClr val="FF0000"/>
                </a:solidFill>
                <a:effectLst/>
                <a:latin typeface="Times New Roman" panose="02020603050405020304" pitchFamily="18" charset="0"/>
              </a:rPr>
              <a:t>动态装入程序</a:t>
            </a:r>
            <a:r>
              <a:rPr lang="zh-CN" altLang="zh-CN" sz="2000" dirty="0">
                <a:solidFill>
                  <a:schemeClr val="tx1"/>
                </a:solidFill>
                <a:effectLst/>
                <a:latin typeface="Times New Roman" panose="02020603050405020304" pitchFamily="18" charset="0"/>
              </a:rPr>
              <a:t>的各目标模块到内存的方式，以及虚拟存储器中动态装入</a:t>
            </a:r>
            <a:r>
              <a:rPr lang="zh-CN" altLang="zh-CN" sz="2000" dirty="0">
                <a:solidFill>
                  <a:srgbClr val="FF0000"/>
                </a:solidFill>
                <a:effectLst/>
                <a:latin typeface="Times New Roman" panose="02020603050405020304" pitchFamily="18" charset="0"/>
              </a:rPr>
              <a:t>分页和分段</a:t>
            </a:r>
            <a:r>
              <a:rPr lang="zh-CN" altLang="zh-CN" sz="2000" dirty="0">
                <a:solidFill>
                  <a:schemeClr val="tx1"/>
                </a:solidFill>
                <a:effectLst/>
                <a:latin typeface="Times New Roman" panose="02020603050405020304" pitchFamily="18" charset="0"/>
              </a:rPr>
              <a:t>到内存的方式，都属于逐次装入内存方式，因此</a:t>
            </a:r>
            <a:r>
              <a:rPr lang="zh-CN" altLang="zh-CN" sz="2000" dirty="0">
                <a:solidFill>
                  <a:schemeClr val="accent5">
                    <a:lumMod val="50000"/>
                  </a:schemeClr>
                </a:solidFill>
                <a:effectLst/>
                <a:latin typeface="Microsoft YaHei" panose="020B0503020204020204" pitchFamily="34" charset="-122"/>
                <a:ea typeface="Microsoft YaHei" panose="020B0503020204020204" pitchFamily="34" charset="-122"/>
              </a:rPr>
              <a:t>不可能一次性完成将程序中所有逻辑地址全部转换为物理地址的工作</a:t>
            </a:r>
            <a:r>
              <a:rPr lang="zh-CN" altLang="zh-CN" sz="2000" dirty="0">
                <a:solidFill>
                  <a:schemeClr val="tx1"/>
                </a:solidFill>
                <a:effectLst/>
                <a:latin typeface="Times New Roman" panose="02020603050405020304" pitchFamily="18" charset="0"/>
              </a:rPr>
              <a:t>（无法进行静态重定位），这个地址转换工作只能推迟到程序运行中进行，即</a:t>
            </a:r>
            <a:r>
              <a:rPr lang="zh-CN" altLang="zh-CN" sz="2000" dirty="0">
                <a:solidFill>
                  <a:srgbClr val="FF0000"/>
                </a:solidFill>
                <a:effectLst/>
                <a:latin typeface="Times New Roman" panose="02020603050405020304" pitchFamily="18" charset="0"/>
              </a:rPr>
              <a:t>执行到涉及访存地址的指令时</a:t>
            </a:r>
            <a:r>
              <a:rPr lang="zh-CN" altLang="zh-CN" sz="2000" dirty="0">
                <a:solidFill>
                  <a:schemeClr val="tx1"/>
                </a:solidFill>
                <a:effectLst/>
                <a:latin typeface="Times New Roman" panose="02020603050405020304" pitchFamily="18" charset="0"/>
              </a:rPr>
              <a:t>再进行地址转换，所以只能采用动态重定位方式进行地址转换。</a:t>
            </a:r>
          </a:p>
          <a:p>
            <a:pPr indent="0" eaLnBrk="1" hangingPunct="1">
              <a:lnSpc>
                <a:spcPct val="200000"/>
              </a:lnSpc>
              <a:spcBef>
                <a:spcPct val="0"/>
              </a:spcBef>
              <a:buFont typeface="Wingdings" pitchFamily="2" charset="2"/>
              <a:buNone/>
            </a:pPr>
            <a:endParaRPr lang="en-US" altLang="zh-CN" sz="2200" dirty="0">
              <a:solidFill>
                <a:schemeClr val="tx1"/>
              </a:solidFill>
              <a:effectLst/>
              <a:latin typeface="宋体" panose="02010600030101010101" pitchFamily="2" charset="-122"/>
            </a:endParaRPr>
          </a:p>
        </p:txBody>
      </p:sp>
      <p:sp>
        <p:nvSpPr>
          <p:cNvPr id="39939" name="AutoShape 3">
            <a:extLst>
              <a:ext uri="{FF2B5EF4-FFF2-40B4-BE49-F238E27FC236}">
                <a16:creationId xmlns:a16="http://schemas.microsoft.com/office/drawing/2014/main" id="{867478C6-EF7B-FF4B-B78A-B8AD02CB0CD9}"/>
              </a:ext>
            </a:extLst>
          </p:cNvPr>
          <p:cNvSpPr>
            <a:spLocks noChangeArrowheads="1"/>
          </p:cNvSpPr>
          <p:nvPr/>
        </p:nvSpPr>
        <p:spPr bwMode="auto">
          <a:xfrm>
            <a:off x="468313" y="549275"/>
            <a:ext cx="5472112"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4.1 程序的链接和装入</a:t>
            </a:r>
          </a:p>
        </p:txBody>
      </p:sp>
    </p:spTree>
  </p:cSld>
  <p:clrMapOvr>
    <a:masterClrMapping/>
  </p:clrMapOvr>
  <p:transition>
    <p:rand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81532E32-EBCC-844D-A447-B51BFA39A9E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
        <p:nvSpPr>
          <p:cNvPr id="3" name="文本框 16">
            <a:extLst>
              <a:ext uri="{FF2B5EF4-FFF2-40B4-BE49-F238E27FC236}">
                <a16:creationId xmlns:a16="http://schemas.microsoft.com/office/drawing/2014/main" id="{5DC9AE55-7C8D-0C44-9A21-655F7255F0B8}"/>
              </a:ext>
            </a:extLst>
          </p:cNvPr>
          <p:cNvSpPr txBox="1"/>
          <p:nvPr/>
        </p:nvSpPr>
        <p:spPr>
          <a:xfrm>
            <a:off x="442913" y="1267915"/>
            <a:ext cx="8449567" cy="1140762"/>
          </a:xfrm>
          <a:prstGeom prst="rect">
            <a:avLst/>
          </a:prstGeom>
          <a:noFill/>
        </p:spPr>
        <p:txBody>
          <a:bodyPr wrap="square" rtlCol="0">
            <a:spAutoFit/>
          </a:bodyPr>
          <a:lstStyle/>
          <a:p>
            <a:pPr>
              <a:lnSpc>
                <a:spcPts val="2800"/>
              </a:lnSpc>
            </a:pPr>
            <a:r>
              <a:rPr lang="zh-CN" altLang="en-US" kern="100" dirty="0">
                <a:effectLst/>
                <a:latin typeface="Microsoft YaHei" panose="020B0503020204020204" pitchFamily="34" charset="-122"/>
                <a:ea typeface="Microsoft YaHei" panose="020B0503020204020204" pitchFamily="34" charset="-122"/>
                <a:cs typeface="Times New Roman" panose="02020603050405020304" pitchFamily="18" charset="0"/>
              </a:rPr>
              <a:t>       </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计算机系统中的存储部件</a:t>
            </a:r>
            <a:r>
              <a:rPr lang="zh-CN" altLang="zh-CN"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是需要物理实现的，理想存储部件需要高速、海量和非易失的特性，因此存储管理需要有机组合各种不同的物理存储部件，</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形成其自有的体系结构</a:t>
            </a:r>
            <a:endParaRPr kumimoji="1" lang="zh-CN" altLang="en-US" sz="2000" dirty="0">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4" name="文本框 18">
            <a:extLst>
              <a:ext uri="{FF2B5EF4-FFF2-40B4-BE49-F238E27FC236}">
                <a16:creationId xmlns:a16="http://schemas.microsoft.com/office/drawing/2014/main" id="{9ED2F3E9-B390-E44B-9E7B-39BEFD56E41D}"/>
              </a:ext>
            </a:extLst>
          </p:cNvPr>
          <p:cNvSpPr txBox="1"/>
          <p:nvPr/>
        </p:nvSpPr>
        <p:spPr>
          <a:xfrm>
            <a:off x="795839" y="2406899"/>
            <a:ext cx="8096641" cy="1858907"/>
          </a:xfrm>
          <a:prstGeom prst="rect">
            <a:avLst/>
          </a:prstGeom>
          <a:noFill/>
        </p:spPr>
        <p:txBody>
          <a:bodyPr wrap="square">
            <a:spAutoFit/>
          </a:bodyPr>
          <a:lstStyle/>
          <a:p>
            <a:pPr>
              <a:lnSpc>
                <a:spcPts val="2800"/>
              </a:lnSpc>
            </a:pPr>
            <a:r>
              <a:rPr lang="en-US" altLang="zh-CN" kern="100" dirty="0">
                <a:solidFill>
                  <a:srgbClr val="9A0001"/>
                </a:solidFill>
                <a:effectLst/>
                <a:latin typeface="Microsoft YaHei" panose="020B0503020204020204" pitchFamily="34" charset="-122"/>
                <a:ea typeface="Microsoft YaHei" panose="020B0503020204020204" pitchFamily="34" charset="-122"/>
              </a:rPr>
              <a:t>①</a:t>
            </a:r>
            <a:r>
              <a:rPr lang="zh-CN" altLang="zh-CN" kern="100" dirty="0">
                <a:effectLst/>
                <a:latin typeface="Microsoft YaHei" panose="020B0503020204020204" pitchFamily="34" charset="-122"/>
                <a:ea typeface="Microsoft YaHei" panose="020B0503020204020204" pitchFamily="34" charset="-122"/>
              </a:rPr>
              <a:t>最先进的计算机科学技术能够提供的存储部件的速度，仍然明显地慢于同级别的处理器的速度</a:t>
            </a:r>
            <a:endParaRPr lang="en-US" altLang="zh-CN" kern="100" dirty="0">
              <a:effectLst/>
              <a:latin typeface="Microsoft YaHei" panose="020B0503020204020204" pitchFamily="34" charset="-122"/>
              <a:ea typeface="Microsoft YaHei" panose="020B0503020204020204" pitchFamily="34" charset="-122"/>
            </a:endParaRPr>
          </a:p>
          <a:p>
            <a:pPr>
              <a:lnSpc>
                <a:spcPts val="2800"/>
              </a:lnSpc>
            </a:pPr>
            <a:r>
              <a:rPr lang="en-US" altLang="zh-CN" kern="100" dirty="0">
                <a:solidFill>
                  <a:srgbClr val="9A0001"/>
                </a:solidFill>
                <a:effectLst/>
                <a:latin typeface="Microsoft YaHei" panose="020B0503020204020204" pitchFamily="34" charset="-122"/>
                <a:ea typeface="Microsoft YaHei" panose="020B0503020204020204" pitchFamily="34" charset="-122"/>
              </a:rPr>
              <a:t>②</a:t>
            </a:r>
            <a:r>
              <a:rPr lang="zh-CN" altLang="zh-CN" kern="100" dirty="0">
                <a:effectLst/>
                <a:latin typeface="Microsoft YaHei" panose="020B0503020204020204" pitchFamily="34" charset="-122"/>
                <a:ea typeface="Microsoft YaHei" panose="020B0503020204020204" pitchFamily="34" charset="-122"/>
              </a:rPr>
              <a:t>由于成本等方面的原因，任何一种存储部件都无法在速度与容量两个方面同时满足用户的需求</a:t>
            </a:r>
            <a:endParaRPr lang="en-US" altLang="zh-CN" kern="100" dirty="0">
              <a:effectLst/>
              <a:latin typeface="Microsoft YaHei" panose="020B0503020204020204" pitchFamily="34" charset="-122"/>
              <a:ea typeface="Microsoft YaHei" panose="020B0503020204020204" pitchFamily="34" charset="-122"/>
            </a:endParaRPr>
          </a:p>
          <a:p>
            <a:pPr>
              <a:lnSpc>
                <a:spcPts val="2800"/>
              </a:lnSpc>
            </a:pPr>
            <a:r>
              <a:rPr lang="en-US" altLang="zh-CN" kern="100" dirty="0">
                <a:solidFill>
                  <a:srgbClr val="9A0001"/>
                </a:solidFill>
                <a:effectLst/>
                <a:latin typeface="Microsoft YaHei" panose="020B0503020204020204" pitchFamily="34" charset="-122"/>
                <a:ea typeface="Microsoft YaHei" panose="020B0503020204020204" pitchFamily="34" charset="-122"/>
              </a:rPr>
              <a:t>③</a:t>
            </a:r>
            <a:r>
              <a:rPr lang="zh-CN" altLang="zh-CN" kern="100" dirty="0">
                <a:effectLst/>
                <a:latin typeface="Microsoft YaHei" panose="020B0503020204020204" pitchFamily="34" charset="-122"/>
                <a:ea typeface="Microsoft YaHei" panose="020B0503020204020204" pitchFamily="34" charset="-122"/>
              </a:rPr>
              <a:t>为解决这些矛盾，采用如图</a:t>
            </a:r>
            <a:r>
              <a:rPr lang="en-US" altLang="zh-CN" kern="100" dirty="0">
                <a:effectLst/>
                <a:latin typeface="Microsoft YaHei" panose="020B0503020204020204" pitchFamily="34" charset="-122"/>
                <a:ea typeface="Microsoft YaHei" panose="020B0503020204020204" pitchFamily="34" charset="-122"/>
              </a:rPr>
              <a:t>5-1</a:t>
            </a:r>
            <a:r>
              <a:rPr lang="zh-CN" altLang="zh-CN" kern="100" dirty="0">
                <a:effectLst/>
                <a:latin typeface="Microsoft YaHei" panose="020B0503020204020204" pitchFamily="34" charset="-122"/>
                <a:ea typeface="Microsoft YaHei" panose="020B0503020204020204" pitchFamily="34" charset="-122"/>
              </a:rPr>
              <a:t>所示的存储体系结构</a:t>
            </a:r>
          </a:p>
        </p:txBody>
      </p:sp>
      <p:grpSp>
        <p:nvGrpSpPr>
          <p:cNvPr id="5" name="组合 19">
            <a:extLst>
              <a:ext uri="{FF2B5EF4-FFF2-40B4-BE49-F238E27FC236}">
                <a16:creationId xmlns:a16="http://schemas.microsoft.com/office/drawing/2014/main" id="{18BB2555-8862-9042-B2EE-91BB1F95C2EA}"/>
              </a:ext>
            </a:extLst>
          </p:cNvPr>
          <p:cNvGrpSpPr/>
          <p:nvPr/>
        </p:nvGrpSpPr>
        <p:grpSpPr>
          <a:xfrm>
            <a:off x="803377" y="4438701"/>
            <a:ext cx="7165988" cy="2302767"/>
            <a:chOff x="48485" y="2366168"/>
            <a:chExt cx="11698078" cy="4436465"/>
          </a:xfrm>
        </p:grpSpPr>
        <p:sp>
          <p:nvSpPr>
            <p:cNvPr id="6" name="圆角矩形 20">
              <a:extLst>
                <a:ext uri="{FF2B5EF4-FFF2-40B4-BE49-F238E27FC236}">
                  <a16:creationId xmlns:a16="http://schemas.microsoft.com/office/drawing/2014/main" id="{62AFC3BE-CB1F-164C-AF80-C50F041E92F0}"/>
                </a:ext>
              </a:extLst>
            </p:cNvPr>
            <p:cNvSpPr/>
            <p:nvPr/>
          </p:nvSpPr>
          <p:spPr>
            <a:xfrm>
              <a:off x="2942896" y="5507421"/>
              <a:ext cx="5980386"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云存储</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(Cloud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7" name="圆角矩形 21">
              <a:extLst>
                <a:ext uri="{FF2B5EF4-FFF2-40B4-BE49-F238E27FC236}">
                  <a16:creationId xmlns:a16="http://schemas.microsoft.com/office/drawing/2014/main" id="{ED726F73-FF23-2443-A72C-941EA3AC5DAB}"/>
                </a:ext>
              </a:extLst>
            </p:cNvPr>
            <p:cNvSpPr/>
            <p:nvPr/>
          </p:nvSpPr>
          <p:spPr>
            <a:xfrm>
              <a:off x="3218792" y="4838044"/>
              <a:ext cx="5428594"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外存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(Secondary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8" name="圆角矩形 22">
              <a:extLst>
                <a:ext uri="{FF2B5EF4-FFF2-40B4-BE49-F238E27FC236}">
                  <a16:creationId xmlns:a16="http://schemas.microsoft.com/office/drawing/2014/main" id="{E293A2CE-F5E9-F44C-B30F-D08F4316A208}"/>
                </a:ext>
              </a:extLst>
            </p:cNvPr>
            <p:cNvSpPr/>
            <p:nvPr/>
          </p:nvSpPr>
          <p:spPr>
            <a:xfrm>
              <a:off x="3544613" y="4168667"/>
              <a:ext cx="4776953"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内存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(Primary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9" name="圆角矩形 23">
              <a:extLst>
                <a:ext uri="{FF2B5EF4-FFF2-40B4-BE49-F238E27FC236}">
                  <a16:creationId xmlns:a16="http://schemas.microsoft.com/office/drawing/2014/main" id="{93976285-BDEC-3047-A0EE-1BF3C462B01F}"/>
                </a:ext>
              </a:extLst>
            </p:cNvPr>
            <p:cNvSpPr/>
            <p:nvPr/>
          </p:nvSpPr>
          <p:spPr>
            <a:xfrm>
              <a:off x="4008381" y="3499289"/>
              <a:ext cx="3849416"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高速缓存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(Cache)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10" name="圆角矩形 24">
              <a:extLst>
                <a:ext uri="{FF2B5EF4-FFF2-40B4-BE49-F238E27FC236}">
                  <a16:creationId xmlns:a16="http://schemas.microsoft.com/office/drawing/2014/main" id="{DAFE1358-C229-3443-9443-7D7D791C2D0E}"/>
                </a:ext>
              </a:extLst>
            </p:cNvPr>
            <p:cNvSpPr/>
            <p:nvPr/>
          </p:nvSpPr>
          <p:spPr>
            <a:xfrm>
              <a:off x="4495798" y="2829911"/>
              <a:ext cx="2874582"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寄存器</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(Register)</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cxnSp>
          <p:nvCxnSpPr>
            <p:cNvPr id="11" name="直线箭头连接符 25">
              <a:extLst>
                <a:ext uri="{FF2B5EF4-FFF2-40B4-BE49-F238E27FC236}">
                  <a16:creationId xmlns:a16="http://schemas.microsoft.com/office/drawing/2014/main" id="{102D04C2-4D13-814C-9EF7-54E069F675E2}"/>
                </a:ext>
              </a:extLst>
            </p:cNvPr>
            <p:cNvCxnSpPr/>
            <p:nvPr/>
          </p:nvCxnSpPr>
          <p:spPr>
            <a:xfrm>
              <a:off x="2041451" y="2923953"/>
              <a:ext cx="0" cy="308796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2" name="直线箭头连接符 26">
              <a:extLst>
                <a:ext uri="{FF2B5EF4-FFF2-40B4-BE49-F238E27FC236}">
                  <a16:creationId xmlns:a16="http://schemas.microsoft.com/office/drawing/2014/main" id="{99759B41-2291-6A40-A0E3-2C1FA629B36A}"/>
                </a:ext>
              </a:extLst>
            </p:cNvPr>
            <p:cNvCxnSpPr>
              <a:cxnSpLocks/>
            </p:cNvCxnSpPr>
            <p:nvPr/>
          </p:nvCxnSpPr>
          <p:spPr>
            <a:xfrm rot="10800000">
              <a:off x="9753600" y="2829911"/>
              <a:ext cx="0" cy="308796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3" name="文本框 27">
              <a:extLst>
                <a:ext uri="{FF2B5EF4-FFF2-40B4-BE49-F238E27FC236}">
                  <a16:creationId xmlns:a16="http://schemas.microsoft.com/office/drawing/2014/main" id="{5F75672C-DBBE-DB4B-AD53-0CF8988403E7}"/>
                </a:ext>
              </a:extLst>
            </p:cNvPr>
            <p:cNvSpPr txBox="1"/>
            <p:nvPr/>
          </p:nvSpPr>
          <p:spPr>
            <a:xfrm>
              <a:off x="48485" y="2366168"/>
              <a:ext cx="3985930" cy="652251"/>
            </a:xfrm>
            <a:prstGeom prst="rect">
              <a:avLst/>
            </a:prstGeom>
            <a:noFill/>
          </p:spPr>
          <p:txBody>
            <a:bodyPr wrap="none" rtlCol="0">
              <a:spAutoFit/>
            </a:bodyPr>
            <a:lstStyle/>
            <a:p>
              <a:pPr algn="ctr"/>
              <a:r>
                <a:rPr lang="zh-CN" altLang="zh-CN" sz="1600" kern="100" dirty="0">
                  <a:effectLst/>
                  <a:latin typeface="Microsoft YaHei" panose="020B0503020204020204" pitchFamily="34" charset="-122"/>
                  <a:ea typeface="Microsoft YaHei" panose="020B0503020204020204" pitchFamily="34" charset="-122"/>
                </a:rPr>
                <a:t>容量大、速度慢、成本低</a:t>
              </a:r>
            </a:p>
          </p:txBody>
        </p:sp>
        <p:sp>
          <p:nvSpPr>
            <p:cNvPr id="14" name="文本框 28">
              <a:extLst>
                <a:ext uri="{FF2B5EF4-FFF2-40B4-BE49-F238E27FC236}">
                  <a16:creationId xmlns:a16="http://schemas.microsoft.com/office/drawing/2014/main" id="{3C5DC486-75BC-6040-9D62-6D42749BCA4A}"/>
                </a:ext>
              </a:extLst>
            </p:cNvPr>
            <p:cNvSpPr txBox="1"/>
            <p:nvPr/>
          </p:nvSpPr>
          <p:spPr>
            <a:xfrm>
              <a:off x="7760633" y="2366168"/>
              <a:ext cx="3985930" cy="652251"/>
            </a:xfrm>
            <a:prstGeom prst="rect">
              <a:avLst/>
            </a:prstGeom>
            <a:noFill/>
          </p:spPr>
          <p:txBody>
            <a:bodyPr wrap="none" rtlCol="0">
              <a:spAutoFit/>
            </a:bodyPr>
            <a:lstStyle/>
            <a:p>
              <a:pPr algn="ctr"/>
              <a:r>
                <a:rPr lang="zh-CN" altLang="zh-CN" sz="1600" kern="100" dirty="0">
                  <a:effectLst/>
                  <a:latin typeface="Microsoft YaHei" panose="020B0503020204020204" pitchFamily="34" charset="-122"/>
                  <a:ea typeface="Microsoft YaHei" panose="020B0503020204020204" pitchFamily="34" charset="-122"/>
                </a:rPr>
                <a:t>容量小、速度快、成本高</a:t>
              </a:r>
              <a:endParaRPr kumimoji="1" lang="zh-CN" altLang="en-US" sz="1600" dirty="0">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5" name="文本框 29">
              <a:extLst>
                <a:ext uri="{FF2B5EF4-FFF2-40B4-BE49-F238E27FC236}">
                  <a16:creationId xmlns:a16="http://schemas.microsoft.com/office/drawing/2014/main" id="{D06A44DA-BD85-4941-83E2-0020BB894C23}"/>
                </a:ext>
              </a:extLst>
            </p:cNvPr>
            <p:cNvSpPr txBox="1"/>
            <p:nvPr/>
          </p:nvSpPr>
          <p:spPr>
            <a:xfrm>
              <a:off x="4761805" y="6209676"/>
              <a:ext cx="2342571" cy="592957"/>
            </a:xfrm>
            <a:prstGeom prst="rect">
              <a:avLst/>
            </a:prstGeom>
            <a:noFill/>
          </p:spPr>
          <p:txBody>
            <a:bodyPr wrap="none" rtlCol="0">
              <a:spAutoFit/>
            </a:bodyPr>
            <a:lstStyle/>
            <a:p>
              <a:pPr algn="ctr"/>
              <a:r>
                <a:rPr kumimoji="1" lang="zh-CN" altLang="en-US" sz="1400" dirty="0">
                  <a:latin typeface="Microsoft YaHei" panose="020B0503020204020204" pitchFamily="34" charset="-122"/>
                  <a:ea typeface="Microsoft YaHei" panose="020B0503020204020204" pitchFamily="34" charset="-122"/>
                  <a:cs typeface="+mn-ea"/>
                  <a:sym typeface="Arial" panose="020B0604020202020204" pitchFamily="34" charset="0"/>
                </a:rPr>
                <a:t>图</a:t>
              </a:r>
              <a:r>
                <a:rPr kumimoji="1" lang="en-US" altLang="zh-CN" sz="1400" dirty="0">
                  <a:latin typeface="Microsoft YaHei" panose="020B0503020204020204" pitchFamily="34" charset="-122"/>
                  <a:ea typeface="Microsoft YaHei" panose="020B0503020204020204" pitchFamily="34" charset="-122"/>
                  <a:cs typeface="+mn-ea"/>
                  <a:sym typeface="Arial" panose="020B0604020202020204" pitchFamily="34" charset="0"/>
                </a:rPr>
                <a:t>4-1 </a:t>
              </a:r>
              <a:r>
                <a:rPr kumimoji="1" lang="zh-CN" altLang="en-US" sz="1400" dirty="0">
                  <a:latin typeface="Microsoft YaHei" panose="020B0503020204020204" pitchFamily="34" charset="-122"/>
                  <a:ea typeface="Microsoft YaHei" panose="020B0503020204020204" pitchFamily="34" charset="-122"/>
                  <a:cs typeface="+mn-ea"/>
                  <a:sym typeface="Arial" panose="020B0604020202020204" pitchFamily="34" charset="0"/>
                </a:rPr>
                <a:t>存储体系</a:t>
              </a:r>
            </a:p>
          </p:txBody>
        </p:sp>
      </p:grpSp>
    </p:spTree>
    <p:extLst>
      <p:ext uri="{BB962C8B-B14F-4D97-AF65-F5344CB8AC3E}">
        <p14:creationId xmlns:p14="http://schemas.microsoft.com/office/powerpoint/2010/main" val="3065925139"/>
      </p:ext>
    </p:extLst>
  </p:cSld>
  <p:clrMapOvr>
    <a:masterClrMapping/>
  </p:clrMapOvr>
  <p:transition>
    <p:rand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2491AC32-93D6-F440-BE94-B83CD07CBB9C}"/>
              </a:ext>
            </a:extLst>
          </p:cNvPr>
          <p:cNvSpPr>
            <a:spLocks noGrp="1" noChangeArrowheads="1"/>
          </p:cNvSpPr>
          <p:nvPr>
            <p:ph type="body" idx="1"/>
          </p:nvPr>
        </p:nvSpPr>
        <p:spPr>
          <a:xfrm>
            <a:off x="714375" y="1285875"/>
            <a:ext cx="7850188" cy="5286375"/>
          </a:xfrm>
        </p:spPr>
        <p:txBody>
          <a:bodyPr/>
          <a:lstStyle/>
          <a:p>
            <a:pPr marL="0" indent="0" eaLnBrk="1" hangingPunct="1">
              <a:lnSpc>
                <a:spcPct val="150000"/>
              </a:lnSpc>
              <a:spcBef>
                <a:spcPct val="0"/>
              </a:spcBef>
              <a:buFont typeface="Wingdings" pitchFamily="2" charset="2"/>
              <a:buNone/>
            </a:pPr>
            <a:r>
              <a:rPr lang="zh-CN" altLang="en-US">
                <a:solidFill>
                  <a:schemeClr val="tx1"/>
                </a:solidFill>
                <a:effectLst/>
                <a:latin typeface="宋体" panose="02010600030101010101" pitchFamily="2" charset="-122"/>
              </a:rPr>
              <a:t>    </a:t>
            </a:r>
            <a:r>
              <a:rPr lang="zh-CN" altLang="en-US">
                <a:solidFill>
                  <a:srgbClr val="FF0000"/>
                </a:solidFill>
                <a:effectLst/>
                <a:latin typeface="宋体" panose="02010600030101010101" pitchFamily="2" charset="-122"/>
              </a:rPr>
              <a:t>内存管理目标</a:t>
            </a:r>
            <a:r>
              <a:rPr lang="en-US" altLang="zh-CN">
                <a:solidFill>
                  <a:srgbClr val="FF0000"/>
                </a:solidFill>
                <a:effectLst/>
                <a:latin typeface="宋体" panose="02010600030101010101" pitchFamily="2" charset="-122"/>
              </a:rPr>
              <a:t>:</a:t>
            </a:r>
            <a:endParaRPr lang="zh-CN" altLang="en-US">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）地址保护。一个程序不能访问另一个程序的地址空间。</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）地址无关。用户并不关心程序中使用的是何种地址，此时程序是在内存还是在外存，这些工作应由内存管理自动完成。</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en-US">
                <a:solidFill>
                  <a:srgbClr val="FF0000"/>
                </a:solidFill>
                <a:effectLst/>
                <a:latin typeface="宋体" panose="02010600030101010101" pitchFamily="2" charset="-122"/>
              </a:rPr>
              <a:t>存储管理基本功能：</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）内存空间的分配与回收。按程序要求进行内存分配，当程序完成后适时回收内存。</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）实现地址转换。实现程序中的逻辑地址到内存物理地址的转换。</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）内存空间的共享与保护。对内存中的程序和数据实施保护。</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）内存空间的扩充。实现内存的逻辑扩充，提供给用户更大的存储空间，允许比内存容量还大的程序运行。</a:t>
            </a: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
        <p:nvSpPr>
          <p:cNvPr id="41987" name="AutoShape 3">
            <a:extLst>
              <a:ext uri="{FF2B5EF4-FFF2-40B4-BE49-F238E27FC236}">
                <a16:creationId xmlns:a16="http://schemas.microsoft.com/office/drawing/2014/main" id="{65C42E2A-DAAD-BC4D-97BD-26D0F5483E6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54AEF258-DF2D-9A41-8AEE-DACC0DE33EBA}"/>
              </a:ext>
            </a:extLst>
          </p:cNvPr>
          <p:cNvSpPr>
            <a:spLocks noGrp="1" noChangeArrowheads="1"/>
          </p:cNvSpPr>
          <p:nvPr>
            <p:ph type="body" idx="1"/>
          </p:nvPr>
        </p:nvSpPr>
        <p:spPr>
          <a:xfrm>
            <a:off x="571500" y="1244600"/>
            <a:ext cx="8143875" cy="5470525"/>
          </a:xfrm>
        </p:spPr>
        <p:txBody>
          <a:bodyPr/>
          <a:lstStyle/>
          <a:p>
            <a:pPr marL="0" indent="0" eaLnBrk="1" hangingPunct="1">
              <a:spcBef>
                <a:spcPct val="0"/>
              </a:spcBef>
              <a:buFont typeface="Wingdings" pitchFamily="2" charset="2"/>
              <a:buNone/>
            </a:pPr>
            <a:r>
              <a:rPr lang="en-US" altLang="zh-CN" sz="2200">
                <a:solidFill>
                  <a:srgbClr val="FF0000"/>
                </a:solidFill>
                <a:effectLst>
                  <a:outerShdw blurRad="38100" dist="38100" dir="2700000" algn="tl">
                    <a:srgbClr val="FFFFFF"/>
                  </a:outerShdw>
                </a:effectLst>
              </a:rPr>
              <a:t>4.2.1 </a:t>
            </a:r>
            <a:r>
              <a:rPr lang="zh-CN" altLang="en-US" sz="2200">
                <a:solidFill>
                  <a:srgbClr val="FF0000"/>
                </a:solidFill>
                <a:effectLst>
                  <a:outerShdw blurRad="38100" dist="38100" dir="2700000" algn="tl">
                    <a:srgbClr val="FFFFFF"/>
                  </a:outerShdw>
                </a:effectLst>
              </a:rPr>
              <a:t>多级存储器体系</a:t>
            </a:r>
            <a:endParaRPr lang="zh-CN" altLang="en-US" sz="2200">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1</a:t>
            </a:r>
            <a:r>
              <a:rPr lang="zh-CN" altLang="en-US" sz="1800">
                <a:solidFill>
                  <a:schemeClr val="tx1"/>
                </a:solidFill>
                <a:effectLst/>
                <a:latin typeface="宋体" panose="02010600030101010101" pitchFamily="2" charset="-122"/>
              </a:rPr>
              <a:t>）寄存器。寄存器是</a:t>
            </a:r>
            <a:r>
              <a:rPr lang="en-US" altLang="zh-CN" sz="1800">
                <a:solidFill>
                  <a:schemeClr val="tx1"/>
                </a:solidFill>
                <a:effectLst/>
                <a:latin typeface="宋体" panose="02010600030101010101" pitchFamily="2" charset="-122"/>
              </a:rPr>
              <a:t>CPU</a:t>
            </a:r>
            <a:r>
              <a:rPr lang="zh-CN" altLang="en-US" sz="1800">
                <a:solidFill>
                  <a:schemeClr val="tx1"/>
                </a:solidFill>
                <a:effectLst/>
                <a:latin typeface="宋体" panose="02010600030101010101" pitchFamily="2" charset="-122"/>
              </a:rPr>
              <a:t>内部的高速存储单元，主要用于存放程序运行过程中所使用的各种数据。寄存器的存储容量最小，但存取速度最高。</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2</a:t>
            </a:r>
            <a:r>
              <a:rPr lang="zh-CN" altLang="en-US" sz="1800">
                <a:solidFill>
                  <a:schemeClr val="tx1"/>
                </a:solidFill>
                <a:effectLst/>
                <a:latin typeface="宋体" panose="02010600030101010101" pitchFamily="2" charset="-122"/>
              </a:rPr>
              <a:t>）高速缓冲存储器。简称高速缓存，其存取速度与</a:t>
            </a:r>
            <a:r>
              <a:rPr lang="en-US" altLang="zh-CN" sz="1800">
                <a:solidFill>
                  <a:schemeClr val="tx1"/>
                </a:solidFill>
                <a:effectLst/>
                <a:latin typeface="宋体" panose="02010600030101010101" pitchFamily="2" charset="-122"/>
              </a:rPr>
              <a:t>CPU</a:t>
            </a:r>
            <a:r>
              <a:rPr lang="zh-CN" altLang="en-US" sz="1800">
                <a:solidFill>
                  <a:schemeClr val="tx1"/>
                </a:solidFill>
                <a:effectLst/>
                <a:latin typeface="宋体" panose="02010600030101010101" pitchFamily="2" charset="-122"/>
              </a:rPr>
              <a:t>速度相当，非常快，但成本高且容量较小（一般为几</a:t>
            </a:r>
            <a:r>
              <a:rPr lang="en-US" altLang="zh-CN" sz="1800">
                <a:solidFill>
                  <a:schemeClr val="tx1"/>
                </a:solidFill>
                <a:effectLst/>
                <a:latin typeface="宋体" panose="02010600030101010101" pitchFamily="2" charset="-122"/>
              </a:rPr>
              <a:t>KB</a:t>
            </a:r>
            <a:r>
              <a:rPr lang="zh-CN" altLang="en-US" sz="1800">
                <a:solidFill>
                  <a:schemeClr val="tx1"/>
                </a:solidFill>
                <a:effectLst/>
                <a:latin typeface="宋体" panose="02010600030101010101" pitchFamily="2" charset="-122"/>
              </a:rPr>
              <a:t>到几百</a:t>
            </a:r>
            <a:r>
              <a:rPr lang="en-US" altLang="zh-CN" sz="1800">
                <a:solidFill>
                  <a:schemeClr val="tx1"/>
                </a:solidFill>
                <a:effectLst/>
                <a:latin typeface="宋体" panose="02010600030101010101" pitchFamily="2" charset="-122"/>
              </a:rPr>
              <a:t>KB</a:t>
            </a:r>
            <a:r>
              <a:rPr lang="zh-CN" altLang="en-US" sz="1800">
                <a:solidFill>
                  <a:schemeClr val="tx1"/>
                </a:solidFill>
                <a:effectLst/>
                <a:latin typeface="宋体" panose="02010600030101010101" pitchFamily="2" charset="-122"/>
              </a:rPr>
              <a:t>），主要用来存放使用频率较高的少量信息。</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3</a:t>
            </a:r>
            <a:r>
              <a:rPr lang="zh-CN" altLang="en-US" sz="1800">
                <a:solidFill>
                  <a:schemeClr val="tx1"/>
                </a:solidFill>
                <a:effectLst/>
                <a:latin typeface="宋体" panose="02010600030101010101" pitchFamily="2" charset="-122"/>
              </a:rPr>
              <a:t>）内部存储器。简称内存，又称主存储器。程序需要装入内存方能运行，因此内存储器一般用来存放用户正在执行的程序及使用到的数据。</a:t>
            </a:r>
            <a:r>
              <a:rPr lang="en-US" altLang="zh-CN" sz="1800">
                <a:solidFill>
                  <a:schemeClr val="tx1"/>
                </a:solidFill>
                <a:effectLst/>
                <a:latin typeface="宋体" panose="02010600030101010101" pitchFamily="2" charset="-122"/>
              </a:rPr>
              <a:t>CPU</a:t>
            </a:r>
            <a:r>
              <a:rPr lang="zh-CN" altLang="en-US" sz="1800">
                <a:solidFill>
                  <a:schemeClr val="tx1"/>
                </a:solidFill>
                <a:effectLst/>
                <a:latin typeface="宋体" panose="02010600030101010101" pitchFamily="2" charset="-122"/>
              </a:rPr>
              <a:t>可随机存取其中的数据。内存的存取速度要比高速缓存慢一点，容量要比高速缓存大得多（一般为几</a:t>
            </a:r>
            <a:r>
              <a:rPr lang="en-US" altLang="zh-CN" sz="1800">
                <a:solidFill>
                  <a:schemeClr val="tx1"/>
                </a:solidFill>
                <a:effectLst/>
                <a:latin typeface="宋体" panose="02010600030101010101" pitchFamily="2" charset="-122"/>
              </a:rPr>
              <a:t>GB</a:t>
            </a:r>
            <a:r>
              <a:rPr lang="zh-CN" altLang="en-US" sz="1800">
                <a:solidFill>
                  <a:schemeClr val="tx1"/>
                </a:solidFill>
                <a:effectLst/>
                <a:latin typeface="宋体" panose="02010600030101010101" pitchFamily="2" charset="-122"/>
              </a:rPr>
              <a:t>）。</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4</a:t>
            </a:r>
            <a:r>
              <a:rPr lang="zh-CN" altLang="en-US" sz="1800">
                <a:solidFill>
                  <a:schemeClr val="tx1"/>
                </a:solidFill>
                <a:effectLst/>
                <a:latin typeface="宋体" panose="02010600030101010101" pitchFamily="2" charset="-122"/>
              </a:rPr>
              <a:t>）外部存储器。简称外存，又称辅助存储器。外存不能被</a:t>
            </a:r>
            <a:r>
              <a:rPr lang="en-US" altLang="zh-CN" sz="1800">
                <a:solidFill>
                  <a:schemeClr val="tx1"/>
                </a:solidFill>
                <a:effectLst/>
                <a:latin typeface="宋体" panose="02010600030101010101" pitchFamily="2" charset="-122"/>
              </a:rPr>
              <a:t>CPU</a:t>
            </a:r>
            <a:r>
              <a:rPr lang="zh-CN" altLang="en-US" sz="1800">
                <a:solidFill>
                  <a:schemeClr val="tx1"/>
                </a:solidFill>
                <a:effectLst/>
                <a:latin typeface="宋体" panose="02010600030101010101" pitchFamily="2" charset="-122"/>
              </a:rPr>
              <a:t>直接访问，一般用来存放大量的、暂时不用的数据信息。外存的存取速度较低且成本也较低，但容量较大（一般为几十</a:t>
            </a:r>
            <a:r>
              <a:rPr lang="en-US" altLang="zh-CN" sz="1800">
                <a:solidFill>
                  <a:schemeClr val="tx1"/>
                </a:solidFill>
                <a:effectLst/>
                <a:latin typeface="宋体" panose="02010600030101010101" pitchFamily="2" charset="-122"/>
              </a:rPr>
              <a:t>GB</a:t>
            </a:r>
            <a:r>
              <a:rPr lang="zh-CN" altLang="en-US" sz="1800">
                <a:solidFill>
                  <a:schemeClr val="tx1"/>
                </a:solidFill>
                <a:effectLst/>
                <a:latin typeface="宋体" panose="02010600030101010101" pitchFamily="2" charset="-122"/>
              </a:rPr>
              <a:t>到几百</a:t>
            </a:r>
            <a:r>
              <a:rPr lang="en-US" altLang="zh-CN" sz="1800">
                <a:solidFill>
                  <a:schemeClr val="tx1"/>
                </a:solidFill>
                <a:effectLst/>
                <a:latin typeface="宋体" panose="02010600030101010101" pitchFamily="2" charset="-122"/>
              </a:rPr>
              <a:t>GB</a:t>
            </a:r>
            <a:r>
              <a:rPr lang="zh-CN" altLang="en-US" sz="1800">
                <a:solidFill>
                  <a:schemeClr val="tx1"/>
                </a:solidFill>
                <a:effectLst/>
                <a:latin typeface="宋体" panose="02010600030101010101" pitchFamily="2" charset="-122"/>
              </a:rPr>
              <a:t>）。</a:t>
            </a:r>
          </a:p>
        </p:txBody>
      </p:sp>
      <p:sp>
        <p:nvSpPr>
          <p:cNvPr id="44036" name="AutoShape 4">
            <a:extLst>
              <a:ext uri="{FF2B5EF4-FFF2-40B4-BE49-F238E27FC236}">
                <a16:creationId xmlns:a16="http://schemas.microsoft.com/office/drawing/2014/main" id="{D9CABC6F-C692-F149-B115-1081D1215940}"/>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052EBE3F-4EB2-A041-B782-4015F5382808}"/>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
        <p:nvSpPr>
          <p:cNvPr id="3" name="文本框 8">
            <a:extLst>
              <a:ext uri="{FF2B5EF4-FFF2-40B4-BE49-F238E27FC236}">
                <a16:creationId xmlns:a16="http://schemas.microsoft.com/office/drawing/2014/main" id="{E2FF293D-A37C-BE42-8E39-7A330F9B71E6}"/>
              </a:ext>
            </a:extLst>
          </p:cNvPr>
          <p:cNvSpPr txBox="1"/>
          <p:nvPr/>
        </p:nvSpPr>
        <p:spPr>
          <a:xfrm>
            <a:off x="0" y="1212311"/>
            <a:ext cx="9036496" cy="2217979"/>
          </a:xfrm>
          <a:prstGeom prst="rect">
            <a:avLst/>
          </a:prstGeom>
          <a:noFill/>
        </p:spPr>
        <p:txBody>
          <a:bodyPr wrap="square">
            <a:spAutoFit/>
          </a:bodyPr>
          <a:lstStyle/>
          <a:p>
            <a:pPr>
              <a:lnSpc>
                <a:spcPts val="2800"/>
              </a:lnSpc>
            </a:pPr>
            <a:r>
              <a:rPr lang="en-US" altLang="zh-CN" b="1" kern="100" dirty="0">
                <a:solidFill>
                  <a:srgbClr val="9A0001"/>
                </a:solidFill>
                <a:latin typeface="Microsoft YaHei" panose="020B0503020204020204" pitchFamily="34" charset="-122"/>
                <a:ea typeface="Microsoft YaHei" panose="020B0503020204020204" pitchFamily="34" charset="-122"/>
                <a:cs typeface="Times New Roman" panose="02020603050405020304" pitchFamily="18" charset="0"/>
              </a:rPr>
              <a:t>①</a:t>
            </a:r>
            <a:r>
              <a:rPr lang="zh-CN"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寄存器</a:t>
            </a:r>
            <a:r>
              <a:rPr lang="zh-CN" altLang="en-US"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处理器中暂存信息的；少量的、非常快速、昂贵</a:t>
            </a:r>
            <a:r>
              <a:rPr lang="zh-CN" altLang="en-US" kern="100" dirty="0">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通常是</a:t>
            </a:r>
            <a:r>
              <a:rPr lang="en-US" altLang="zh-CN" kern="100" dirty="0">
                <a:effectLst/>
                <a:latin typeface="Microsoft YaHei" panose="020B0503020204020204" pitchFamily="34" charset="-122"/>
                <a:ea typeface="Microsoft YaHei" panose="020B0503020204020204" pitchFamily="34" charset="-122"/>
              </a:rPr>
              <a:t>MB</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字节的数量级；</a:t>
            </a:r>
            <a:endParaRPr lang="en-US"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endParaRPr>
          </a:p>
          <a:p>
            <a:pPr>
              <a:lnSpc>
                <a:spcPts val="2800"/>
              </a:lnSpc>
            </a:pPr>
            <a:r>
              <a:rPr lang="en-US"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②</a:t>
            </a:r>
            <a:r>
              <a:rPr lang="zh-CN"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内存</a:t>
            </a:r>
            <a:r>
              <a:rPr lang="en-US" altLang="zh-CN" b="1" kern="100" dirty="0">
                <a:solidFill>
                  <a:srgbClr val="9A0001"/>
                </a:solidFill>
                <a:effectLst/>
                <a:latin typeface="Microsoft YaHei" panose="020B0503020204020204" pitchFamily="34" charset="-122"/>
                <a:ea typeface="Microsoft YaHei" panose="020B0503020204020204" pitchFamily="34" charset="-122"/>
              </a:rPr>
              <a:t>RAM</a:t>
            </a:r>
            <a:r>
              <a:rPr lang="zh-CN" altLang="en-US" b="1" kern="100" dirty="0">
                <a:solidFill>
                  <a:srgbClr val="9A0001"/>
                </a:solidFill>
                <a:effectLst/>
                <a:latin typeface="Microsoft YaHei" panose="020B0503020204020204" pitchFamily="34" charset="-122"/>
                <a:ea typeface="Microsoft YaHei" panose="020B0503020204020204" pitchFamily="34" charset="-122"/>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中等速度、中等价格、内容易变的</a:t>
            </a:r>
            <a:r>
              <a:rPr lang="zh-CN" altLang="en-US" kern="100" dirty="0">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通常是</a:t>
            </a:r>
            <a:r>
              <a:rPr lang="en-US" altLang="zh-CN" kern="100" dirty="0">
                <a:effectLst/>
                <a:latin typeface="Microsoft YaHei" panose="020B0503020204020204" pitchFamily="34" charset="-122"/>
                <a:ea typeface="Microsoft YaHei" panose="020B0503020204020204" pitchFamily="34" charset="-122"/>
              </a:rPr>
              <a:t>GB</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字节的数量级；</a:t>
            </a:r>
            <a:endParaRPr lang="en-US"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endParaRPr>
          </a:p>
          <a:p>
            <a:pPr>
              <a:lnSpc>
                <a:spcPts val="2800"/>
              </a:lnSpc>
            </a:pPr>
            <a:r>
              <a:rPr lang="en-US"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③</a:t>
            </a:r>
            <a:r>
              <a:rPr lang="zh-CN" altLang="en-US"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外存</a:t>
            </a:r>
            <a:r>
              <a:rPr lang="zh-CN"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磁盘</a:t>
            </a:r>
            <a:r>
              <a:rPr lang="zh-CN" altLang="en-US"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低速、价廉、内容不易变的，通常是</a:t>
            </a:r>
            <a:r>
              <a:rPr lang="en-US" altLang="zh-CN" kern="100" dirty="0">
                <a:effectLst/>
                <a:latin typeface="Microsoft YaHei" panose="020B0503020204020204" pitchFamily="34" charset="-122"/>
                <a:ea typeface="Microsoft YaHei" panose="020B0503020204020204" pitchFamily="34" charset="-122"/>
              </a:rPr>
              <a:t>TB</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字节的数量级；</a:t>
            </a:r>
            <a:endParaRPr lang="en-US"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endParaRPr>
          </a:p>
          <a:p>
            <a:pPr>
              <a:lnSpc>
                <a:spcPts val="2800"/>
              </a:lnSpc>
            </a:pPr>
            <a:r>
              <a:rPr lang="en-US"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④</a:t>
            </a:r>
            <a:r>
              <a:rPr lang="zh-CN"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外存部件</a:t>
            </a:r>
            <a:r>
              <a:rPr lang="zh-CN" altLang="en-US"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还包括光盘、磁带机等，总容量可以增大至</a:t>
            </a:r>
            <a:r>
              <a:rPr lang="en-US" altLang="zh-CN" kern="100" dirty="0">
                <a:effectLst/>
                <a:latin typeface="Microsoft YaHei" panose="020B0503020204020204" pitchFamily="34" charset="-122"/>
                <a:ea typeface="Microsoft YaHei" panose="020B0503020204020204" pitchFamily="34" charset="-122"/>
              </a:rPr>
              <a:t>TB</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或</a:t>
            </a:r>
            <a:r>
              <a:rPr lang="en-US" altLang="zh-CN" kern="100" dirty="0">
                <a:effectLst/>
                <a:latin typeface="Microsoft YaHei" panose="020B0503020204020204" pitchFamily="34" charset="-122"/>
                <a:ea typeface="Microsoft YaHei" panose="020B0503020204020204" pitchFamily="34" charset="-122"/>
              </a:rPr>
              <a:t>PB</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字节；</a:t>
            </a:r>
            <a:endParaRPr lang="en-US"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endParaRPr>
          </a:p>
          <a:p>
            <a:pPr>
              <a:lnSpc>
                <a:spcPts val="2800"/>
              </a:lnSpc>
            </a:pPr>
            <a:r>
              <a:rPr lang="en-US"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⑤</a:t>
            </a:r>
            <a:r>
              <a:rPr lang="zh-CN" altLang="zh-CN"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云存储</a:t>
            </a:r>
            <a:r>
              <a:rPr lang="zh-CN" altLang="en-US" b="1" kern="100" dirty="0">
                <a:solidFill>
                  <a:srgbClr val="9A0001"/>
                </a:solidFill>
                <a:effectLst/>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kern="100" dirty="0">
                <a:effectLst/>
                <a:latin typeface="Microsoft YaHei" panose="020B0503020204020204" pitchFamily="34" charset="-122"/>
                <a:ea typeface="Microsoft YaHei" panose="020B0503020204020204" pitchFamily="34" charset="-122"/>
                <a:cs typeface="Times New Roman" panose="02020603050405020304" pitchFamily="18" charset="0"/>
              </a:rPr>
              <a:t>大量外存部件有组织地组合在一起并通过高速网络和用户连接</a:t>
            </a:r>
            <a:endParaRPr lang="zh-CN" altLang="en-US" dirty="0">
              <a:latin typeface="Microsoft YaHei" panose="020B0503020204020204" pitchFamily="34" charset="-122"/>
              <a:ea typeface="Microsoft YaHei" panose="020B0503020204020204" pitchFamily="34" charset="-122"/>
            </a:endParaRPr>
          </a:p>
        </p:txBody>
      </p:sp>
      <p:sp>
        <p:nvSpPr>
          <p:cNvPr id="4" name="文本框 19">
            <a:extLst>
              <a:ext uri="{FF2B5EF4-FFF2-40B4-BE49-F238E27FC236}">
                <a16:creationId xmlns:a16="http://schemas.microsoft.com/office/drawing/2014/main" id="{60440174-60F0-C04C-8F50-7659E0752F5A}"/>
              </a:ext>
            </a:extLst>
          </p:cNvPr>
          <p:cNvSpPr txBox="1"/>
          <p:nvPr/>
        </p:nvSpPr>
        <p:spPr>
          <a:xfrm>
            <a:off x="8325" y="3409468"/>
            <a:ext cx="9028171" cy="1884555"/>
          </a:xfrm>
          <a:prstGeom prst="rect">
            <a:avLst/>
          </a:prstGeom>
          <a:noFill/>
        </p:spPr>
        <p:txBody>
          <a:bodyPr wrap="square" rtlCol="0">
            <a:spAutoFit/>
          </a:bodyPr>
          <a:lstStyle/>
          <a:p>
            <a:pPr>
              <a:lnSpc>
                <a:spcPct val="150000"/>
              </a:lnSpc>
            </a:pPr>
            <a:r>
              <a:rPr lang="zh-CN" altLang="zh-CN" kern="100" dirty="0">
                <a:effectLst/>
                <a:latin typeface="Microsoft YaHei" panose="020B0503020204020204" pitchFamily="34" charset="-122"/>
                <a:ea typeface="Microsoft YaHei" panose="020B0503020204020204" pitchFamily="34" charset="-122"/>
              </a:rPr>
              <a:t>快速存储设备和大容量存储设备必须构成为统一的整体，由操作系统协调这些存储器的使用</a:t>
            </a:r>
            <a:endParaRPr lang="en-US" altLang="zh-CN" kern="100" dirty="0">
              <a:effectLst/>
              <a:latin typeface="Microsoft YaHei" panose="020B0503020204020204" pitchFamily="34" charset="-122"/>
              <a:ea typeface="Microsoft YaHei" panose="020B0503020204020204" pitchFamily="34" charset="-122"/>
            </a:endParaRPr>
          </a:p>
          <a:p>
            <a:pPr>
              <a:lnSpc>
                <a:spcPct val="150000"/>
              </a:lnSpc>
            </a:pPr>
            <a:r>
              <a:rPr lang="zh-CN" altLang="zh-CN" b="1" kern="100" dirty="0">
                <a:solidFill>
                  <a:srgbClr val="9A0001"/>
                </a:solidFill>
                <a:effectLst/>
                <a:latin typeface="Microsoft YaHei" panose="020B0503020204020204" pitchFamily="34" charset="-122"/>
                <a:ea typeface="Microsoft YaHei" panose="020B0503020204020204" pitchFamily="34" charset="-122"/>
              </a:rPr>
              <a:t>各种速度和容量的存储器硬件，在操作系统协调之下形成了一种存储器层次结构，或称存储体系</a:t>
            </a:r>
          </a:p>
        </p:txBody>
      </p:sp>
      <p:grpSp>
        <p:nvGrpSpPr>
          <p:cNvPr id="5" name="组合 1">
            <a:extLst>
              <a:ext uri="{FF2B5EF4-FFF2-40B4-BE49-F238E27FC236}">
                <a16:creationId xmlns:a16="http://schemas.microsoft.com/office/drawing/2014/main" id="{8141A1F1-DFE7-5745-837B-D7245210E77D}"/>
              </a:ext>
            </a:extLst>
          </p:cNvPr>
          <p:cNvGrpSpPr/>
          <p:nvPr/>
        </p:nvGrpSpPr>
        <p:grpSpPr>
          <a:xfrm>
            <a:off x="2627784" y="5084892"/>
            <a:ext cx="6048672" cy="1583581"/>
            <a:chOff x="48485" y="2366168"/>
            <a:chExt cx="11698078" cy="4436465"/>
          </a:xfrm>
        </p:grpSpPr>
        <p:sp>
          <p:nvSpPr>
            <p:cNvPr id="6" name="圆角矩形 9">
              <a:extLst>
                <a:ext uri="{FF2B5EF4-FFF2-40B4-BE49-F238E27FC236}">
                  <a16:creationId xmlns:a16="http://schemas.microsoft.com/office/drawing/2014/main" id="{667CA7F3-844C-4D4D-AEEE-DC6B07963F5C}"/>
                </a:ext>
              </a:extLst>
            </p:cNvPr>
            <p:cNvSpPr/>
            <p:nvPr/>
          </p:nvSpPr>
          <p:spPr>
            <a:xfrm>
              <a:off x="2942896" y="5507421"/>
              <a:ext cx="5980386"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云存储</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(Cloud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7" name="圆角矩形 16">
              <a:extLst>
                <a:ext uri="{FF2B5EF4-FFF2-40B4-BE49-F238E27FC236}">
                  <a16:creationId xmlns:a16="http://schemas.microsoft.com/office/drawing/2014/main" id="{353362B0-18A3-294D-B4B3-995277F8E50A}"/>
                </a:ext>
              </a:extLst>
            </p:cNvPr>
            <p:cNvSpPr/>
            <p:nvPr/>
          </p:nvSpPr>
          <p:spPr>
            <a:xfrm>
              <a:off x="3218792" y="4838044"/>
              <a:ext cx="5428594"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外存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(Secondary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8" name="圆角矩形 17">
              <a:extLst>
                <a:ext uri="{FF2B5EF4-FFF2-40B4-BE49-F238E27FC236}">
                  <a16:creationId xmlns:a16="http://schemas.microsoft.com/office/drawing/2014/main" id="{395955E5-583E-F44A-ACE1-4BEED822C7D0}"/>
                </a:ext>
              </a:extLst>
            </p:cNvPr>
            <p:cNvSpPr/>
            <p:nvPr/>
          </p:nvSpPr>
          <p:spPr>
            <a:xfrm>
              <a:off x="3544613" y="4168667"/>
              <a:ext cx="4776953"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内存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(Primary Storage)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9" name="圆角矩形 18">
              <a:extLst>
                <a:ext uri="{FF2B5EF4-FFF2-40B4-BE49-F238E27FC236}">
                  <a16:creationId xmlns:a16="http://schemas.microsoft.com/office/drawing/2014/main" id="{1ACF2328-23C2-244B-AE3C-3A7DC919A132}"/>
                </a:ext>
              </a:extLst>
            </p:cNvPr>
            <p:cNvSpPr/>
            <p:nvPr/>
          </p:nvSpPr>
          <p:spPr>
            <a:xfrm>
              <a:off x="4008381" y="3499289"/>
              <a:ext cx="3849416"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高速缓存</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(Cache)</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sp>
          <p:nvSpPr>
            <p:cNvPr id="10" name="圆角矩形 20">
              <a:extLst>
                <a:ext uri="{FF2B5EF4-FFF2-40B4-BE49-F238E27FC236}">
                  <a16:creationId xmlns:a16="http://schemas.microsoft.com/office/drawing/2014/main" id="{AD2DC561-6A31-A641-A8FC-08C2EAF62BA1}"/>
                </a:ext>
              </a:extLst>
            </p:cNvPr>
            <p:cNvSpPr/>
            <p:nvPr/>
          </p:nvSpPr>
          <p:spPr>
            <a:xfrm>
              <a:off x="4495798" y="2829911"/>
              <a:ext cx="2874582" cy="504497"/>
            </a:xfrm>
            <a:prstGeom prst="roundRect">
              <a:avLst>
                <a:gd name="adj" fmla="val 10417"/>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6830" algn="ctr"/>
              <a:r>
                <a:rPr lang="zh-CN"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寄存器</a:t>
              </a:r>
              <a:r>
                <a:rPr lang="en-US" altLang="zh-CN" sz="1200" kern="1200" dirty="0">
                  <a:solidFill>
                    <a:schemeClr val="bg1"/>
                  </a:solidFill>
                  <a:effectLst/>
                  <a:latin typeface="Microsoft YaHei" panose="020B0503020204020204" pitchFamily="34" charset="-122"/>
                  <a:ea typeface="Microsoft YaHei" panose="020B0503020204020204" pitchFamily="34" charset="-122"/>
                  <a:cs typeface="Times New Roman" panose="02020603050405020304" pitchFamily="18" charset="0"/>
                </a:rPr>
                <a:t>(Register)</a:t>
              </a:r>
              <a:endParaRPr lang="zh-CN" altLang="zh-CN" sz="1200" dirty="0">
                <a:solidFill>
                  <a:schemeClr val="bg1"/>
                </a:solidFill>
                <a:effectLst/>
                <a:latin typeface="Microsoft YaHei" panose="020B0503020204020204" pitchFamily="34" charset="-122"/>
                <a:ea typeface="Microsoft YaHei" panose="020B0503020204020204" pitchFamily="34" charset="-122"/>
                <a:cs typeface="宋体" panose="02010600030101010101" pitchFamily="2" charset="-122"/>
              </a:endParaRPr>
            </a:p>
          </p:txBody>
        </p:sp>
        <p:cxnSp>
          <p:nvCxnSpPr>
            <p:cNvPr id="11" name="直线箭头连接符 21">
              <a:extLst>
                <a:ext uri="{FF2B5EF4-FFF2-40B4-BE49-F238E27FC236}">
                  <a16:creationId xmlns:a16="http://schemas.microsoft.com/office/drawing/2014/main" id="{C2F46CFA-8486-AA4F-B78C-F755EE96E433}"/>
                </a:ext>
              </a:extLst>
            </p:cNvPr>
            <p:cNvCxnSpPr/>
            <p:nvPr/>
          </p:nvCxnSpPr>
          <p:spPr>
            <a:xfrm>
              <a:off x="2041451" y="2923953"/>
              <a:ext cx="0" cy="308796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2" name="直线箭头连接符 22">
              <a:extLst>
                <a:ext uri="{FF2B5EF4-FFF2-40B4-BE49-F238E27FC236}">
                  <a16:creationId xmlns:a16="http://schemas.microsoft.com/office/drawing/2014/main" id="{86567DF6-288C-A246-A7A9-697825D55AD8}"/>
                </a:ext>
              </a:extLst>
            </p:cNvPr>
            <p:cNvCxnSpPr>
              <a:cxnSpLocks/>
            </p:cNvCxnSpPr>
            <p:nvPr/>
          </p:nvCxnSpPr>
          <p:spPr>
            <a:xfrm rot="10800000">
              <a:off x="9753600" y="2829911"/>
              <a:ext cx="0" cy="308796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3" name="文本框 23">
              <a:extLst>
                <a:ext uri="{FF2B5EF4-FFF2-40B4-BE49-F238E27FC236}">
                  <a16:creationId xmlns:a16="http://schemas.microsoft.com/office/drawing/2014/main" id="{27CE368B-4E5C-364F-91E9-2329E6B40568}"/>
                </a:ext>
              </a:extLst>
            </p:cNvPr>
            <p:cNvSpPr txBox="1"/>
            <p:nvPr/>
          </p:nvSpPr>
          <p:spPr>
            <a:xfrm>
              <a:off x="48485" y="2366168"/>
              <a:ext cx="3985930" cy="652251"/>
            </a:xfrm>
            <a:prstGeom prst="rect">
              <a:avLst/>
            </a:prstGeom>
            <a:noFill/>
          </p:spPr>
          <p:txBody>
            <a:bodyPr wrap="none" rtlCol="0">
              <a:spAutoFit/>
            </a:bodyPr>
            <a:lstStyle/>
            <a:p>
              <a:pPr algn="ctr"/>
              <a:r>
                <a:rPr lang="zh-CN" altLang="zh-CN" sz="1600" kern="100" dirty="0">
                  <a:effectLst/>
                  <a:latin typeface="Microsoft YaHei" panose="020B0503020204020204" pitchFamily="34" charset="-122"/>
                  <a:ea typeface="Microsoft YaHei" panose="020B0503020204020204" pitchFamily="34" charset="-122"/>
                </a:rPr>
                <a:t>容量大、速度慢、成本低</a:t>
              </a:r>
            </a:p>
          </p:txBody>
        </p:sp>
        <p:sp>
          <p:nvSpPr>
            <p:cNvPr id="14" name="文本框 24">
              <a:extLst>
                <a:ext uri="{FF2B5EF4-FFF2-40B4-BE49-F238E27FC236}">
                  <a16:creationId xmlns:a16="http://schemas.microsoft.com/office/drawing/2014/main" id="{FE45BA98-92B3-AA45-BCF9-D45F64643254}"/>
                </a:ext>
              </a:extLst>
            </p:cNvPr>
            <p:cNvSpPr txBox="1"/>
            <p:nvPr/>
          </p:nvSpPr>
          <p:spPr>
            <a:xfrm>
              <a:off x="7760633" y="2366168"/>
              <a:ext cx="3985930" cy="652251"/>
            </a:xfrm>
            <a:prstGeom prst="rect">
              <a:avLst/>
            </a:prstGeom>
            <a:noFill/>
          </p:spPr>
          <p:txBody>
            <a:bodyPr wrap="none" rtlCol="0">
              <a:spAutoFit/>
            </a:bodyPr>
            <a:lstStyle/>
            <a:p>
              <a:pPr algn="ctr"/>
              <a:r>
                <a:rPr lang="zh-CN" altLang="zh-CN" sz="1600" kern="100" dirty="0">
                  <a:effectLst/>
                  <a:latin typeface="Microsoft YaHei" panose="020B0503020204020204" pitchFamily="34" charset="-122"/>
                  <a:ea typeface="Microsoft YaHei" panose="020B0503020204020204" pitchFamily="34" charset="-122"/>
                </a:rPr>
                <a:t>容量小、速度快、成本高</a:t>
              </a:r>
              <a:endParaRPr kumimoji="1" lang="zh-CN" altLang="en-US" sz="1600" dirty="0">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5" name="文本框 25">
              <a:extLst>
                <a:ext uri="{FF2B5EF4-FFF2-40B4-BE49-F238E27FC236}">
                  <a16:creationId xmlns:a16="http://schemas.microsoft.com/office/drawing/2014/main" id="{08A4CC45-ECCF-CC40-82CE-B0114404D7AD}"/>
                </a:ext>
              </a:extLst>
            </p:cNvPr>
            <p:cNvSpPr txBox="1"/>
            <p:nvPr/>
          </p:nvSpPr>
          <p:spPr>
            <a:xfrm>
              <a:off x="4761805" y="6209676"/>
              <a:ext cx="2342571" cy="592957"/>
            </a:xfrm>
            <a:prstGeom prst="rect">
              <a:avLst/>
            </a:prstGeom>
            <a:noFill/>
          </p:spPr>
          <p:txBody>
            <a:bodyPr wrap="none" rtlCol="0">
              <a:spAutoFit/>
            </a:bodyPr>
            <a:lstStyle/>
            <a:p>
              <a:pPr algn="ctr"/>
              <a:r>
                <a:rPr kumimoji="1" lang="zh-CN" altLang="en-US" sz="1400" dirty="0">
                  <a:latin typeface="Microsoft YaHei" panose="020B0503020204020204" pitchFamily="34" charset="-122"/>
                  <a:ea typeface="Microsoft YaHei" panose="020B0503020204020204" pitchFamily="34" charset="-122"/>
                  <a:cs typeface="+mn-ea"/>
                  <a:sym typeface="Arial" panose="020B0604020202020204" pitchFamily="34" charset="0"/>
                </a:rPr>
                <a:t>图</a:t>
              </a:r>
              <a:r>
                <a:rPr kumimoji="1" lang="en-US" altLang="zh-CN" sz="1400" dirty="0">
                  <a:latin typeface="Microsoft YaHei" panose="020B0503020204020204" pitchFamily="34" charset="-122"/>
                  <a:ea typeface="Microsoft YaHei" panose="020B0503020204020204" pitchFamily="34" charset="-122"/>
                  <a:cs typeface="+mn-ea"/>
                  <a:sym typeface="Arial" panose="020B0604020202020204" pitchFamily="34" charset="0"/>
                </a:rPr>
                <a:t>4-1 </a:t>
              </a:r>
              <a:r>
                <a:rPr kumimoji="1" lang="zh-CN" altLang="en-US" sz="1400" dirty="0">
                  <a:latin typeface="Microsoft YaHei" panose="020B0503020204020204" pitchFamily="34" charset="-122"/>
                  <a:ea typeface="Microsoft YaHei" panose="020B0503020204020204" pitchFamily="34" charset="-122"/>
                  <a:cs typeface="+mn-ea"/>
                  <a:sym typeface="Arial" panose="020B0604020202020204" pitchFamily="34" charset="0"/>
                </a:rPr>
                <a:t>存储体系</a:t>
              </a:r>
            </a:p>
          </p:txBody>
        </p:sp>
      </p:grpSp>
    </p:spTree>
    <p:extLst>
      <p:ext uri="{BB962C8B-B14F-4D97-AF65-F5344CB8AC3E}">
        <p14:creationId xmlns:p14="http://schemas.microsoft.com/office/powerpoint/2010/main" val="1240276190"/>
      </p:ext>
    </p:extLst>
  </p:cSld>
  <p:clrMapOvr>
    <a:masterClrMapping/>
  </p:clrMapOvr>
  <p:transition>
    <p:rand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AutoShape 3">
            <a:extLst>
              <a:ext uri="{FF2B5EF4-FFF2-40B4-BE49-F238E27FC236}">
                <a16:creationId xmlns:a16="http://schemas.microsoft.com/office/drawing/2014/main" id="{2C96A501-989E-5E4C-B02A-DE74C280A539}"/>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pic>
        <p:nvPicPr>
          <p:cNvPr id="21507" name="Picture 5" descr="4-5">
            <a:extLst>
              <a:ext uri="{FF2B5EF4-FFF2-40B4-BE49-F238E27FC236}">
                <a16:creationId xmlns:a16="http://schemas.microsoft.com/office/drawing/2014/main" id="{E7504FEF-0D63-764B-AC83-B8ED2A9D6F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43375" y="1785938"/>
            <a:ext cx="4143375" cy="3857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08" name="Text Box 6">
            <a:extLst>
              <a:ext uri="{FF2B5EF4-FFF2-40B4-BE49-F238E27FC236}">
                <a16:creationId xmlns:a16="http://schemas.microsoft.com/office/drawing/2014/main" id="{277FF206-B229-B649-8206-5316C26BD71E}"/>
              </a:ext>
            </a:extLst>
          </p:cNvPr>
          <p:cNvSpPr txBox="1">
            <a:spLocks noChangeArrowheads="1"/>
          </p:cNvSpPr>
          <p:nvPr/>
        </p:nvSpPr>
        <p:spPr bwMode="auto">
          <a:xfrm>
            <a:off x="214313" y="1357313"/>
            <a:ext cx="3357562" cy="463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algn="just" eaLnBrk="1" hangingPunct="1">
              <a:lnSpc>
                <a:spcPts val="4000"/>
              </a:lnSpc>
              <a:spcBef>
                <a:spcPct val="0"/>
              </a:spcBef>
              <a:buFontTx/>
              <a:buNone/>
            </a:pPr>
            <a:r>
              <a:rPr lang="zh-CN" altLang="en-US" sz="2200">
                <a:solidFill>
                  <a:schemeClr val="tx1"/>
                </a:solidFill>
                <a:latin typeface="宋体" panose="02010600030101010101" pitchFamily="2" charset="-122"/>
              </a:rPr>
              <a:t>    虽然用于存储数据与程序的多种存储设备在存取速度、存储容量等属性方面都各不相同，但是将它们组织在一起后就能发挥各自的特长，共同承担存储信息的任务，所以现代计算机一般采用多级存储器体系。</a:t>
            </a:r>
          </a:p>
        </p:txBody>
      </p:sp>
      <p:sp>
        <p:nvSpPr>
          <p:cNvPr id="21509" name="Rectangle 9">
            <a:extLst>
              <a:ext uri="{FF2B5EF4-FFF2-40B4-BE49-F238E27FC236}">
                <a16:creationId xmlns:a16="http://schemas.microsoft.com/office/drawing/2014/main" id="{8389C089-CD1A-334A-9628-ECD2F89F6ABB}"/>
              </a:ext>
            </a:extLst>
          </p:cNvPr>
          <p:cNvSpPr>
            <a:spLocks noChangeArrowheads="1"/>
          </p:cNvSpPr>
          <p:nvPr/>
        </p:nvSpPr>
        <p:spPr bwMode="auto">
          <a:xfrm>
            <a:off x="4857750" y="5715000"/>
            <a:ext cx="2786063" cy="428625"/>
          </a:xfrm>
          <a:prstGeom prst="rect">
            <a:avLst/>
          </a:prstGeom>
          <a:gradFill rotWithShape="1">
            <a:gsLst>
              <a:gs pos="0">
                <a:srgbClr val="7EDAB6"/>
              </a:gs>
              <a:gs pos="100000">
                <a:srgbClr val="8DF5CD"/>
              </a:gs>
            </a:gsLst>
            <a:path path="shape">
              <a:fillToRect l="50000" t="50000" r="50000" b="50000"/>
            </a:path>
          </a:gradFill>
          <a:ln w="25400" algn="ctr">
            <a:solidFill>
              <a:schemeClr val="bg1"/>
            </a:solidFill>
            <a:miter lim="800000"/>
            <a:headEnd/>
            <a:tailEnd/>
          </a:ln>
        </p:spPr>
        <p:txBody>
          <a:bodyPr wrap="none" lIns="91433" tIns="45716" rIns="91433" bIns="45716" anchor="ct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algn="ctr" eaLnBrk="1" hangingPunct="1">
              <a:spcBef>
                <a:spcPct val="0"/>
              </a:spcBef>
              <a:buFontTx/>
              <a:buNone/>
            </a:pPr>
            <a:r>
              <a:rPr lang="zh-CN" altLang="en-US" sz="1600">
                <a:solidFill>
                  <a:schemeClr val="tx1"/>
                </a:solidFill>
                <a:latin typeface="宋体" panose="02010600030101010101" pitchFamily="2" charset="-122"/>
              </a:rPr>
              <a:t>多级存储器体系示意</a:t>
            </a:r>
            <a:endParaRPr lang="zh-CN" altLang="en-US" sz="1600" b="0">
              <a:solidFill>
                <a:schemeClr val="tx1"/>
              </a:solidFill>
              <a:latin typeface="宋体" panose="02010600030101010101" pitchFamily="2" charset="-122"/>
            </a:endParaRPr>
          </a:p>
        </p:txBody>
      </p:sp>
    </p:spTree>
  </p:cSld>
  <p:clrMapOvr>
    <a:masterClrMapping/>
  </p:clrMapOvr>
  <p:transition>
    <p:rand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61423EE6-C0AE-7E4F-B575-E7CF2B1128AA}"/>
              </a:ext>
            </a:extLst>
          </p:cNvPr>
          <p:cNvSpPr>
            <a:spLocks noGrp="1" noChangeArrowheads="1"/>
          </p:cNvSpPr>
          <p:nvPr>
            <p:ph type="body" idx="1"/>
          </p:nvPr>
        </p:nvSpPr>
        <p:spPr>
          <a:xfrm>
            <a:off x="795338" y="1341438"/>
            <a:ext cx="7848600" cy="4802187"/>
          </a:xfrm>
        </p:spPr>
        <p:txBody>
          <a:bodyPr/>
          <a:lstStyle/>
          <a:p>
            <a:pPr marL="0" indent="0" eaLnBrk="1" hangingPunct="1">
              <a:lnSpc>
                <a:spcPct val="1500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4.2.2 </a:t>
            </a:r>
            <a:r>
              <a:rPr lang="zh-CN" altLang="en-US">
                <a:solidFill>
                  <a:srgbClr val="FF0000"/>
                </a:solidFill>
                <a:effectLst>
                  <a:outerShdw blurRad="38100" dist="38100" dir="2700000" algn="tl">
                    <a:srgbClr val="FFFFFF"/>
                  </a:outerShdw>
                </a:effectLst>
              </a:rPr>
              <a:t>内存的分配与回收以及地址转换</a:t>
            </a:r>
            <a:endParaRPr lang="zh-CN" altLang="en-US">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zh-CN" altLang="en-US">
                <a:solidFill>
                  <a:srgbClr val="FF0000"/>
                </a:solidFill>
                <a:effectLst/>
                <a:latin typeface="宋体" panose="02010600030101010101" pitchFamily="2" charset="-122"/>
              </a:rPr>
              <a:t> </a:t>
            </a:r>
            <a:r>
              <a:rPr lang="en-US" altLang="zh-CN">
                <a:solidFill>
                  <a:srgbClr val="FF0000"/>
                </a:solidFill>
                <a:effectLst/>
                <a:latin typeface="宋体" panose="02010600030101010101" pitchFamily="2" charset="-122"/>
              </a:rPr>
              <a:t>1.</a:t>
            </a:r>
            <a:r>
              <a:rPr lang="zh-CN" altLang="en-US">
                <a:solidFill>
                  <a:srgbClr val="FF0000"/>
                </a:solidFill>
                <a:effectLst/>
                <a:latin typeface="宋体" panose="02010600030101010101" pitchFamily="2" charset="-122"/>
              </a:rPr>
              <a:t>内存空间的分配与回收</a:t>
            </a:r>
          </a:p>
          <a:p>
            <a:pPr marL="0" indent="0"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   内存管理的首要任务是当用户需要内存时，系统按照一定的算法把某一空闲的内存空间分配给用户程序（进程）；不需要时再及时回收，以供其他用户程序使用。</a:t>
            </a:r>
          </a:p>
          <a:p>
            <a:pPr marL="0" indent="0"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   在多道程序设计环境中，内存分配的功能包括制定分配策略、构造分配用的数据结构、响应用户程序的内存分配请求和回收用户程序释放的内存区。</a:t>
            </a:r>
          </a:p>
        </p:txBody>
      </p:sp>
      <p:sp>
        <p:nvSpPr>
          <p:cNvPr id="46083" name="AutoShape 3">
            <a:extLst>
              <a:ext uri="{FF2B5EF4-FFF2-40B4-BE49-F238E27FC236}">
                <a16:creationId xmlns:a16="http://schemas.microsoft.com/office/drawing/2014/main" id="{7A442C00-2205-7C4F-A555-1D113F19984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F42B3665-6E74-3142-8CA4-D1EAC551EC18}"/>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
        <p:nvSpPr>
          <p:cNvPr id="11" name="文本框 9">
            <a:extLst>
              <a:ext uri="{FF2B5EF4-FFF2-40B4-BE49-F238E27FC236}">
                <a16:creationId xmlns:a16="http://schemas.microsoft.com/office/drawing/2014/main" id="{F4437209-628C-9644-BE95-34FCF0201850}"/>
              </a:ext>
            </a:extLst>
          </p:cNvPr>
          <p:cNvSpPr txBox="1"/>
          <p:nvPr/>
        </p:nvSpPr>
        <p:spPr>
          <a:xfrm>
            <a:off x="30256" y="1214154"/>
            <a:ext cx="9113744" cy="2571025"/>
          </a:xfrm>
          <a:prstGeom prst="rect">
            <a:avLst/>
          </a:prstGeom>
          <a:noFill/>
        </p:spPr>
        <p:txBody>
          <a:bodyPr wrap="square">
            <a:spAutoFit/>
          </a:bodyPr>
          <a:lstStyle/>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程序需要有一个可以长久存放的外存空间，通常是磁盘</a:t>
            </a:r>
            <a:endParaRPr lang="en-US" altLang="zh-CN" sz="1800" b="0" kern="100" dirty="0">
              <a:solidFill>
                <a:srgbClr val="000000"/>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程序能够快速运行必须是处理器能够直接访问，因此必须占用一定的内存空间</a:t>
            </a:r>
            <a:endParaRPr lang="en-US" altLang="zh-CN" sz="1800" b="0" kern="100" dirty="0">
              <a:solidFill>
                <a:srgbClr val="000000"/>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外存管理通常通过文件系统来实现</a:t>
            </a:r>
            <a:endParaRPr lang="en-US" altLang="zh-CN" sz="1800" b="0" kern="100" dirty="0">
              <a:solidFill>
                <a:srgbClr val="000000"/>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内存管理是对处理器直接访问的内存空间进行管理，所谓内存空间</a:t>
            </a:r>
            <a:endParaRPr lang="en-US" altLang="zh-CN" sz="1800" b="0" kern="100" dirty="0">
              <a:solidFill>
                <a:srgbClr val="000000"/>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是由存储单元（字节或字）组成的一维连续的地址空间，简称内存空间，用来存放当前正在运行程序的代码及数据，是程序中指令本身地址所指的、亦即程序计数器所指的存储器</a:t>
            </a:r>
          </a:p>
        </p:txBody>
      </p:sp>
      <p:grpSp>
        <p:nvGrpSpPr>
          <p:cNvPr id="12" name="组合 22">
            <a:extLst>
              <a:ext uri="{FF2B5EF4-FFF2-40B4-BE49-F238E27FC236}">
                <a16:creationId xmlns:a16="http://schemas.microsoft.com/office/drawing/2014/main" id="{8612B8FC-9261-7846-B3B4-7BD82AFD7A5B}"/>
              </a:ext>
            </a:extLst>
          </p:cNvPr>
          <p:cNvGrpSpPr/>
          <p:nvPr/>
        </p:nvGrpSpPr>
        <p:grpSpPr>
          <a:xfrm>
            <a:off x="-22488" y="4716602"/>
            <a:ext cx="1024048" cy="1123759"/>
            <a:chOff x="737171" y="5636574"/>
            <a:chExt cx="1266290" cy="554804"/>
          </a:xfrm>
        </p:grpSpPr>
        <p:sp>
          <p:nvSpPr>
            <p:cNvPr id="13" name="圆角矩形 21">
              <a:extLst>
                <a:ext uri="{FF2B5EF4-FFF2-40B4-BE49-F238E27FC236}">
                  <a16:creationId xmlns:a16="http://schemas.microsoft.com/office/drawing/2014/main" id="{0F7B8813-4706-AD4F-A8BB-EA68A5208690}"/>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4" name="文本框 20">
              <a:extLst>
                <a:ext uri="{FF2B5EF4-FFF2-40B4-BE49-F238E27FC236}">
                  <a16:creationId xmlns:a16="http://schemas.microsoft.com/office/drawing/2014/main" id="{6A47E85A-81F1-6646-B419-53BC1192BF20}"/>
                </a:ext>
              </a:extLst>
            </p:cNvPr>
            <p:cNvSpPr txBox="1"/>
            <p:nvPr/>
          </p:nvSpPr>
          <p:spPr>
            <a:xfrm>
              <a:off x="737171" y="5713921"/>
              <a:ext cx="1266290" cy="455851"/>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内存</a:t>
              </a:r>
              <a:endParaRPr kumimoji="0" lang="en-US"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endParaRPr lang="en-US" altLang="zh-CN" sz="1800" b="0" kern="100" dirty="0">
                <a:solidFill>
                  <a:srgbClr val="FFFFFF"/>
                </a:solidFill>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空间</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cxnSp>
        <p:nvCxnSpPr>
          <p:cNvPr id="15" name="直线连接符 24">
            <a:extLst>
              <a:ext uri="{FF2B5EF4-FFF2-40B4-BE49-F238E27FC236}">
                <a16:creationId xmlns:a16="http://schemas.microsoft.com/office/drawing/2014/main" id="{52CFFBA4-6373-2142-B422-CF6668D8CCED}"/>
              </a:ext>
            </a:extLst>
          </p:cNvPr>
          <p:cNvCxnSpPr>
            <a:cxnSpLocks/>
            <a:stCxn id="14" idx="3"/>
            <a:endCxn id="18" idx="1"/>
          </p:cNvCxnSpPr>
          <p:nvPr/>
        </p:nvCxnSpPr>
        <p:spPr>
          <a:xfrm>
            <a:off x="1001560" y="5334934"/>
            <a:ext cx="758749" cy="688106"/>
          </a:xfrm>
          <a:prstGeom prst="line">
            <a:avLst/>
          </a:prstGeom>
          <a:noFill/>
          <a:ln w="6350" cap="flat" cmpd="sng" algn="ctr">
            <a:solidFill>
              <a:srgbClr val="9A0001"/>
            </a:solidFill>
            <a:prstDash val="solid"/>
            <a:miter lim="800000"/>
          </a:ln>
          <a:effectLst/>
        </p:spPr>
      </p:cxnSp>
      <p:cxnSp>
        <p:nvCxnSpPr>
          <p:cNvPr id="16" name="直线连接符 26">
            <a:extLst>
              <a:ext uri="{FF2B5EF4-FFF2-40B4-BE49-F238E27FC236}">
                <a16:creationId xmlns:a16="http://schemas.microsoft.com/office/drawing/2014/main" id="{C3051281-BF21-6149-9895-620D4D8843BC}"/>
              </a:ext>
            </a:extLst>
          </p:cNvPr>
          <p:cNvCxnSpPr>
            <a:cxnSpLocks/>
            <a:stCxn id="14" idx="3"/>
            <a:endCxn id="17" idx="1"/>
          </p:cNvCxnSpPr>
          <p:nvPr/>
        </p:nvCxnSpPr>
        <p:spPr>
          <a:xfrm flipV="1">
            <a:off x="1001560" y="4540498"/>
            <a:ext cx="758749" cy="794436"/>
          </a:xfrm>
          <a:prstGeom prst="line">
            <a:avLst/>
          </a:prstGeom>
          <a:noFill/>
          <a:ln w="6350" cap="flat" cmpd="sng" algn="ctr">
            <a:solidFill>
              <a:srgbClr val="9A0001"/>
            </a:solidFill>
            <a:prstDash val="solid"/>
            <a:miter lim="800000"/>
          </a:ln>
          <a:effectLst/>
        </p:spPr>
      </p:cxnSp>
      <p:graphicFrame>
        <p:nvGraphicFramePr>
          <p:cNvPr id="17" name="表格 29">
            <a:extLst>
              <a:ext uri="{FF2B5EF4-FFF2-40B4-BE49-F238E27FC236}">
                <a16:creationId xmlns:a16="http://schemas.microsoft.com/office/drawing/2014/main" id="{B76B3EFD-7CEF-C44E-9A12-7E0883ABD608}"/>
              </a:ext>
            </a:extLst>
          </p:cNvPr>
          <p:cNvGraphicFramePr>
            <a:graphicFrameLocks noGrp="1"/>
          </p:cNvGraphicFramePr>
          <p:nvPr>
            <p:extLst>
              <p:ext uri="{D42A27DB-BD31-4B8C-83A1-F6EECF244321}">
                <p14:modId xmlns:p14="http://schemas.microsoft.com/office/powerpoint/2010/main" val="176442826"/>
              </p:ext>
            </p:extLst>
          </p:nvPr>
        </p:nvGraphicFramePr>
        <p:xfrm>
          <a:off x="1760309" y="3978618"/>
          <a:ext cx="7383691" cy="1123760"/>
        </p:xfrm>
        <a:graphic>
          <a:graphicData uri="http://schemas.openxmlformats.org/drawingml/2006/table">
            <a:tbl>
              <a:tblPr firstRow="1" bandRow="1"/>
              <a:tblGrid>
                <a:gridCol w="1058668">
                  <a:extLst>
                    <a:ext uri="{9D8B030D-6E8A-4147-A177-3AD203B41FA5}">
                      <a16:colId xmlns:a16="http://schemas.microsoft.com/office/drawing/2014/main" val="2903926652"/>
                    </a:ext>
                  </a:extLst>
                </a:gridCol>
                <a:gridCol w="6325023">
                  <a:extLst>
                    <a:ext uri="{9D8B030D-6E8A-4147-A177-3AD203B41FA5}">
                      <a16:colId xmlns:a16="http://schemas.microsoft.com/office/drawing/2014/main" val="440310169"/>
                    </a:ext>
                  </a:extLst>
                </a:gridCol>
              </a:tblGrid>
              <a:tr h="370840">
                <a:tc>
                  <a:txBody>
                    <a:bodyPr/>
                    <a:lstStyle>
                      <a:lvl1pPr marL="0" algn="l" defTabSz="914400" rtl="0" eaLnBrk="1" latinLnBrk="0" hangingPunct="1">
                        <a:defRPr sz="1800" b="1" kern="1200">
                          <a:solidFill>
                            <a:schemeClr val="tx1"/>
                          </a:solidFill>
                          <a:latin typeface="Arial"/>
                          <a:ea typeface="微软雅黑"/>
                        </a:defRPr>
                      </a:lvl1pPr>
                      <a:lvl2pPr marL="457200" algn="l" defTabSz="914400" rtl="0" eaLnBrk="1" latinLnBrk="0" hangingPunct="1">
                        <a:defRPr sz="1800" b="1" kern="1200">
                          <a:solidFill>
                            <a:schemeClr val="tx1"/>
                          </a:solidFill>
                          <a:latin typeface="Arial"/>
                          <a:ea typeface="微软雅黑"/>
                        </a:defRPr>
                      </a:lvl2pPr>
                      <a:lvl3pPr marL="914400" algn="l" defTabSz="914400" rtl="0" eaLnBrk="1" latinLnBrk="0" hangingPunct="1">
                        <a:defRPr sz="1800" b="1" kern="1200">
                          <a:solidFill>
                            <a:schemeClr val="tx1"/>
                          </a:solidFill>
                          <a:latin typeface="Arial"/>
                          <a:ea typeface="微软雅黑"/>
                        </a:defRPr>
                      </a:lvl3pPr>
                      <a:lvl4pPr marL="1371600" algn="l" defTabSz="914400" rtl="0" eaLnBrk="1" latinLnBrk="0" hangingPunct="1">
                        <a:defRPr sz="1800" b="1" kern="1200">
                          <a:solidFill>
                            <a:schemeClr val="tx1"/>
                          </a:solidFill>
                          <a:latin typeface="Arial"/>
                          <a:ea typeface="微软雅黑"/>
                        </a:defRPr>
                      </a:lvl4pPr>
                      <a:lvl5pPr marL="1828800" algn="l" defTabSz="914400" rtl="0" eaLnBrk="1" latinLnBrk="0" hangingPunct="1">
                        <a:defRPr sz="1800" b="1" kern="1200">
                          <a:solidFill>
                            <a:schemeClr val="tx1"/>
                          </a:solidFill>
                          <a:latin typeface="Arial"/>
                          <a:ea typeface="微软雅黑"/>
                        </a:defRPr>
                      </a:lvl5pPr>
                      <a:lvl6pPr marL="2286000" algn="l" defTabSz="914400" rtl="0" eaLnBrk="1" latinLnBrk="0" hangingPunct="1">
                        <a:defRPr sz="1800" b="1" kern="1200">
                          <a:solidFill>
                            <a:schemeClr val="tx1"/>
                          </a:solidFill>
                          <a:latin typeface="Arial"/>
                          <a:ea typeface="微软雅黑"/>
                        </a:defRPr>
                      </a:lvl6pPr>
                      <a:lvl7pPr marL="2743200" algn="l" defTabSz="914400" rtl="0" eaLnBrk="1" latinLnBrk="0" hangingPunct="1">
                        <a:defRPr sz="1800" b="1" kern="1200">
                          <a:solidFill>
                            <a:schemeClr val="tx1"/>
                          </a:solidFill>
                          <a:latin typeface="Arial"/>
                          <a:ea typeface="微软雅黑"/>
                        </a:defRPr>
                      </a:lvl7pPr>
                      <a:lvl8pPr marL="3200400" algn="l" defTabSz="914400" rtl="0" eaLnBrk="1" latinLnBrk="0" hangingPunct="1">
                        <a:defRPr sz="1800" b="1" kern="1200">
                          <a:solidFill>
                            <a:schemeClr val="tx1"/>
                          </a:solidFill>
                          <a:latin typeface="Arial"/>
                          <a:ea typeface="微软雅黑"/>
                        </a:defRPr>
                      </a:lvl8pPr>
                      <a:lvl9pPr marL="3657600" algn="l" defTabSz="914400" rtl="0" eaLnBrk="1" latinLnBrk="0" hangingPunct="1">
                        <a:defRPr sz="1800" b="1" kern="1200">
                          <a:solidFill>
                            <a:schemeClr val="tx1"/>
                          </a:solidFill>
                          <a:latin typeface="Arial"/>
                          <a:ea typeface="微软雅黑"/>
                        </a:defRPr>
                      </a:lvl9pPr>
                    </a:lstStyle>
                    <a:p>
                      <a:pPr algn="ctr">
                        <a:lnSpc>
                          <a:spcPts val="2800"/>
                        </a:lnSpc>
                      </a:pPr>
                      <a:r>
                        <a:rPr lang="zh-CN" altLang="zh-CN" sz="1800" b="0" kern="100" dirty="0">
                          <a:effectLst/>
                          <a:latin typeface="Microsoft YaHei" panose="020B0503020204020204" pitchFamily="34" charset="-122"/>
                          <a:ea typeface="Microsoft YaHei" panose="020B0503020204020204" pitchFamily="34" charset="-122"/>
                        </a:rPr>
                        <a:t>系统区</a:t>
                      </a:r>
                      <a:endParaRPr lang="zh-CN" altLang="en-US" b="0" dirty="0">
                        <a:latin typeface="Microsoft YaHei" panose="020B0503020204020204" pitchFamily="34" charset="-122"/>
                        <a:ea typeface="Microsoft YaHei" panose="020B0503020204020204" pitchFamily="34" charset="-122"/>
                      </a:endParaRPr>
                    </a:p>
                  </a:txBody>
                  <a:tcPr anchor="ctr">
                    <a:lnL w="12700" cap="flat" cmpd="sng" algn="ctr">
                      <a:solidFill>
                        <a:srgbClr val="000000"/>
                      </a:solidFill>
                      <a:prstDash val="solid"/>
                      <a:round/>
                      <a:headEnd type="none" w="med" len="med"/>
                      <a:tailEnd type="none" w="med" len="med"/>
                    </a:lnL>
                    <a:lnR w="12700" cap="flat" cmpd="sng" algn="ctr">
                      <a:solidFill>
                        <a:srgbClr val="9A000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tx1"/>
                          </a:solidFill>
                          <a:latin typeface="Arial"/>
                          <a:ea typeface="微软雅黑"/>
                        </a:defRPr>
                      </a:lvl1pPr>
                      <a:lvl2pPr marL="457200" algn="l" defTabSz="914400" rtl="0" eaLnBrk="1" latinLnBrk="0" hangingPunct="1">
                        <a:defRPr sz="1800" b="1" kern="1200">
                          <a:solidFill>
                            <a:schemeClr val="tx1"/>
                          </a:solidFill>
                          <a:latin typeface="Arial"/>
                          <a:ea typeface="微软雅黑"/>
                        </a:defRPr>
                      </a:lvl2pPr>
                      <a:lvl3pPr marL="914400" algn="l" defTabSz="914400" rtl="0" eaLnBrk="1" latinLnBrk="0" hangingPunct="1">
                        <a:defRPr sz="1800" b="1" kern="1200">
                          <a:solidFill>
                            <a:schemeClr val="tx1"/>
                          </a:solidFill>
                          <a:latin typeface="Arial"/>
                          <a:ea typeface="微软雅黑"/>
                        </a:defRPr>
                      </a:lvl3pPr>
                      <a:lvl4pPr marL="1371600" algn="l" defTabSz="914400" rtl="0" eaLnBrk="1" latinLnBrk="0" hangingPunct="1">
                        <a:defRPr sz="1800" b="1" kern="1200">
                          <a:solidFill>
                            <a:schemeClr val="tx1"/>
                          </a:solidFill>
                          <a:latin typeface="Arial"/>
                          <a:ea typeface="微软雅黑"/>
                        </a:defRPr>
                      </a:lvl4pPr>
                      <a:lvl5pPr marL="1828800" algn="l" defTabSz="914400" rtl="0" eaLnBrk="1" latinLnBrk="0" hangingPunct="1">
                        <a:defRPr sz="1800" b="1" kern="1200">
                          <a:solidFill>
                            <a:schemeClr val="tx1"/>
                          </a:solidFill>
                          <a:latin typeface="Arial"/>
                          <a:ea typeface="微软雅黑"/>
                        </a:defRPr>
                      </a:lvl5pPr>
                      <a:lvl6pPr marL="2286000" algn="l" defTabSz="914400" rtl="0" eaLnBrk="1" latinLnBrk="0" hangingPunct="1">
                        <a:defRPr sz="1800" b="1" kern="1200">
                          <a:solidFill>
                            <a:schemeClr val="tx1"/>
                          </a:solidFill>
                          <a:latin typeface="Arial"/>
                          <a:ea typeface="微软雅黑"/>
                        </a:defRPr>
                      </a:lvl6pPr>
                      <a:lvl7pPr marL="2743200" algn="l" defTabSz="914400" rtl="0" eaLnBrk="1" latinLnBrk="0" hangingPunct="1">
                        <a:defRPr sz="1800" b="1" kern="1200">
                          <a:solidFill>
                            <a:schemeClr val="tx1"/>
                          </a:solidFill>
                          <a:latin typeface="Arial"/>
                          <a:ea typeface="微软雅黑"/>
                        </a:defRPr>
                      </a:lvl7pPr>
                      <a:lvl8pPr marL="3200400" algn="l" defTabSz="914400" rtl="0" eaLnBrk="1" latinLnBrk="0" hangingPunct="1">
                        <a:defRPr sz="1800" b="1" kern="1200">
                          <a:solidFill>
                            <a:schemeClr val="tx1"/>
                          </a:solidFill>
                          <a:latin typeface="Arial"/>
                          <a:ea typeface="微软雅黑"/>
                        </a:defRPr>
                      </a:lvl8pPr>
                      <a:lvl9pPr marL="3657600" algn="l" defTabSz="914400" rtl="0" eaLnBrk="1" latinLnBrk="0" hangingPunct="1">
                        <a:defRPr sz="1800" b="1" kern="1200">
                          <a:solidFill>
                            <a:schemeClr val="tx1"/>
                          </a:solidFill>
                          <a:latin typeface="Arial"/>
                          <a:ea typeface="微软雅黑"/>
                        </a:defRPr>
                      </a:lvl9pPr>
                    </a:lstStyle>
                    <a:p>
                      <a:pPr>
                        <a:lnSpc>
                          <a:spcPts val="2800"/>
                        </a:lnSpc>
                      </a:pPr>
                      <a:r>
                        <a:rPr lang="zh-CN" altLang="zh-CN" sz="1800" b="0" kern="100" dirty="0">
                          <a:effectLst/>
                          <a:latin typeface="Microsoft YaHei" panose="020B0503020204020204" pitchFamily="34" charset="-122"/>
                          <a:ea typeface="Microsoft YaHei" panose="020B0503020204020204" pitchFamily="34" charset="-122"/>
                        </a:rPr>
                        <a:t>存放操作系统常驻内存部分，用户不能占用这部分空间</a:t>
                      </a:r>
                      <a:endParaRPr lang="en-US" altLang="zh-CN" sz="1800" b="0" kern="100" dirty="0">
                        <a:effectLst/>
                        <a:latin typeface="Microsoft YaHei" panose="020B0503020204020204" pitchFamily="34" charset="-122"/>
                        <a:ea typeface="Microsoft YaHei" panose="020B0503020204020204" pitchFamily="34" charset="-122"/>
                      </a:endParaRPr>
                    </a:p>
                    <a:p>
                      <a:pPr>
                        <a:lnSpc>
                          <a:spcPts val="2800"/>
                        </a:lnSpc>
                      </a:pPr>
                      <a:r>
                        <a:rPr lang="zh-CN" altLang="zh-CN" sz="1800" b="0" kern="100" dirty="0">
                          <a:solidFill>
                            <a:srgbClr val="9A0001"/>
                          </a:solidFill>
                          <a:effectLst/>
                          <a:latin typeface="Microsoft YaHei" panose="020B0503020204020204" pitchFamily="34" charset="-122"/>
                          <a:ea typeface="Microsoft YaHei" panose="020B0503020204020204" pitchFamily="34" charset="-122"/>
                        </a:rPr>
                        <a:t>操作系统本身还有一部分可以被用户使用的公共代码和数据也存放在系统区</a:t>
                      </a:r>
                      <a:endParaRPr lang="zh-CN" altLang="en-US" b="0" dirty="0">
                        <a:solidFill>
                          <a:srgbClr val="9A0001"/>
                        </a:solidFill>
                        <a:latin typeface="Microsoft YaHei" panose="020B0503020204020204" pitchFamily="34" charset="-122"/>
                        <a:ea typeface="Microsoft YaHei" panose="020B0503020204020204" pitchFamily="34" charset="-122"/>
                      </a:endParaRPr>
                    </a:p>
                  </a:txBody>
                  <a:tcPr>
                    <a:lnL w="12700" cap="flat" cmpd="sng" algn="ctr">
                      <a:solidFill>
                        <a:srgbClr val="9A000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0451136"/>
                  </a:ext>
                </a:extLst>
              </a:tr>
            </a:tbl>
          </a:graphicData>
        </a:graphic>
      </p:graphicFrame>
      <p:graphicFrame>
        <p:nvGraphicFramePr>
          <p:cNvPr id="18" name="表格 29">
            <a:extLst>
              <a:ext uri="{FF2B5EF4-FFF2-40B4-BE49-F238E27FC236}">
                <a16:creationId xmlns:a16="http://schemas.microsoft.com/office/drawing/2014/main" id="{309B315C-2D14-4846-A450-291A1A7BD28A}"/>
              </a:ext>
            </a:extLst>
          </p:cNvPr>
          <p:cNvGraphicFramePr>
            <a:graphicFrameLocks noGrp="1"/>
          </p:cNvGraphicFramePr>
          <p:nvPr>
            <p:extLst>
              <p:ext uri="{D42A27DB-BD31-4B8C-83A1-F6EECF244321}">
                <p14:modId xmlns:p14="http://schemas.microsoft.com/office/powerpoint/2010/main" val="215939713"/>
              </p:ext>
            </p:extLst>
          </p:nvPr>
        </p:nvGraphicFramePr>
        <p:xfrm>
          <a:off x="1760309" y="5283360"/>
          <a:ext cx="7383691" cy="1479360"/>
        </p:xfrm>
        <a:graphic>
          <a:graphicData uri="http://schemas.openxmlformats.org/drawingml/2006/table">
            <a:tbl>
              <a:tblPr firstRow="1" bandRow="1"/>
              <a:tblGrid>
                <a:gridCol w="1058668">
                  <a:extLst>
                    <a:ext uri="{9D8B030D-6E8A-4147-A177-3AD203B41FA5}">
                      <a16:colId xmlns:a16="http://schemas.microsoft.com/office/drawing/2014/main" val="2903926652"/>
                    </a:ext>
                  </a:extLst>
                </a:gridCol>
                <a:gridCol w="6325023">
                  <a:extLst>
                    <a:ext uri="{9D8B030D-6E8A-4147-A177-3AD203B41FA5}">
                      <a16:colId xmlns:a16="http://schemas.microsoft.com/office/drawing/2014/main" val="440310169"/>
                    </a:ext>
                  </a:extLst>
                </a:gridCol>
              </a:tblGrid>
              <a:tr h="370840">
                <a:tc>
                  <a:txBody>
                    <a:bodyPr/>
                    <a:lstStyle>
                      <a:lvl1pPr marL="0" algn="l" defTabSz="914400" rtl="0" eaLnBrk="1" latinLnBrk="0" hangingPunct="1">
                        <a:defRPr sz="1800" b="1" kern="1200">
                          <a:solidFill>
                            <a:schemeClr val="tx1"/>
                          </a:solidFill>
                          <a:latin typeface="Arial"/>
                          <a:ea typeface="微软雅黑"/>
                        </a:defRPr>
                      </a:lvl1pPr>
                      <a:lvl2pPr marL="457200" algn="l" defTabSz="914400" rtl="0" eaLnBrk="1" latinLnBrk="0" hangingPunct="1">
                        <a:defRPr sz="1800" b="1" kern="1200">
                          <a:solidFill>
                            <a:schemeClr val="tx1"/>
                          </a:solidFill>
                          <a:latin typeface="Arial"/>
                          <a:ea typeface="微软雅黑"/>
                        </a:defRPr>
                      </a:lvl2pPr>
                      <a:lvl3pPr marL="914400" algn="l" defTabSz="914400" rtl="0" eaLnBrk="1" latinLnBrk="0" hangingPunct="1">
                        <a:defRPr sz="1800" b="1" kern="1200">
                          <a:solidFill>
                            <a:schemeClr val="tx1"/>
                          </a:solidFill>
                          <a:latin typeface="Arial"/>
                          <a:ea typeface="微软雅黑"/>
                        </a:defRPr>
                      </a:lvl3pPr>
                      <a:lvl4pPr marL="1371600" algn="l" defTabSz="914400" rtl="0" eaLnBrk="1" latinLnBrk="0" hangingPunct="1">
                        <a:defRPr sz="1800" b="1" kern="1200">
                          <a:solidFill>
                            <a:schemeClr val="tx1"/>
                          </a:solidFill>
                          <a:latin typeface="Arial"/>
                          <a:ea typeface="微软雅黑"/>
                        </a:defRPr>
                      </a:lvl4pPr>
                      <a:lvl5pPr marL="1828800" algn="l" defTabSz="914400" rtl="0" eaLnBrk="1" latinLnBrk="0" hangingPunct="1">
                        <a:defRPr sz="1800" b="1" kern="1200">
                          <a:solidFill>
                            <a:schemeClr val="tx1"/>
                          </a:solidFill>
                          <a:latin typeface="Arial"/>
                          <a:ea typeface="微软雅黑"/>
                        </a:defRPr>
                      </a:lvl5pPr>
                      <a:lvl6pPr marL="2286000" algn="l" defTabSz="914400" rtl="0" eaLnBrk="1" latinLnBrk="0" hangingPunct="1">
                        <a:defRPr sz="1800" b="1" kern="1200">
                          <a:solidFill>
                            <a:schemeClr val="tx1"/>
                          </a:solidFill>
                          <a:latin typeface="Arial"/>
                          <a:ea typeface="微软雅黑"/>
                        </a:defRPr>
                      </a:lvl6pPr>
                      <a:lvl7pPr marL="2743200" algn="l" defTabSz="914400" rtl="0" eaLnBrk="1" latinLnBrk="0" hangingPunct="1">
                        <a:defRPr sz="1800" b="1" kern="1200">
                          <a:solidFill>
                            <a:schemeClr val="tx1"/>
                          </a:solidFill>
                          <a:latin typeface="Arial"/>
                          <a:ea typeface="微软雅黑"/>
                        </a:defRPr>
                      </a:lvl7pPr>
                      <a:lvl8pPr marL="3200400" algn="l" defTabSz="914400" rtl="0" eaLnBrk="1" latinLnBrk="0" hangingPunct="1">
                        <a:defRPr sz="1800" b="1" kern="1200">
                          <a:solidFill>
                            <a:schemeClr val="tx1"/>
                          </a:solidFill>
                          <a:latin typeface="Arial"/>
                          <a:ea typeface="微软雅黑"/>
                        </a:defRPr>
                      </a:lvl8pPr>
                      <a:lvl9pPr marL="3657600" algn="l" defTabSz="914400" rtl="0" eaLnBrk="1" latinLnBrk="0" hangingPunct="1">
                        <a:defRPr sz="1800" b="1" kern="1200">
                          <a:solidFill>
                            <a:schemeClr val="tx1"/>
                          </a:solidFill>
                          <a:latin typeface="Arial"/>
                          <a:ea typeface="微软雅黑"/>
                        </a:defRPr>
                      </a:lvl9pPr>
                    </a:lstStyle>
                    <a:p>
                      <a:pPr algn="ctr">
                        <a:lnSpc>
                          <a:spcPts val="2800"/>
                        </a:lnSpc>
                      </a:pPr>
                      <a:r>
                        <a:rPr lang="zh-CN" altLang="zh-CN" sz="1800" b="0" kern="100" dirty="0">
                          <a:effectLst/>
                          <a:latin typeface="Microsoft YaHei" panose="020B0503020204020204" pitchFamily="34" charset="-122"/>
                          <a:ea typeface="Microsoft YaHei" panose="020B0503020204020204" pitchFamily="34" charset="-122"/>
                        </a:rPr>
                        <a:t>用户区</a:t>
                      </a:r>
                      <a:endParaRPr lang="zh-CN" altLang="en-US" b="0" dirty="0">
                        <a:latin typeface="Microsoft YaHei" panose="020B0503020204020204" pitchFamily="34" charset="-122"/>
                        <a:ea typeface="Microsoft YaHei" panose="020B0503020204020204" pitchFamily="34" charset="-122"/>
                      </a:endParaRPr>
                    </a:p>
                  </a:txBody>
                  <a:tcPr anchor="ctr">
                    <a:lnL w="12700" cap="flat" cmpd="sng" algn="ctr">
                      <a:solidFill>
                        <a:srgbClr val="000000"/>
                      </a:solidFill>
                      <a:prstDash val="solid"/>
                      <a:round/>
                      <a:headEnd type="none" w="med" len="med"/>
                      <a:tailEnd type="none" w="med" len="med"/>
                    </a:lnL>
                    <a:lnR w="12700" cap="flat" cmpd="sng" algn="ctr">
                      <a:solidFill>
                        <a:srgbClr val="9A000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tx1"/>
                          </a:solidFill>
                          <a:latin typeface="Arial"/>
                          <a:ea typeface="微软雅黑"/>
                        </a:defRPr>
                      </a:lvl1pPr>
                      <a:lvl2pPr marL="457200" algn="l" defTabSz="914400" rtl="0" eaLnBrk="1" latinLnBrk="0" hangingPunct="1">
                        <a:defRPr sz="1800" b="1" kern="1200">
                          <a:solidFill>
                            <a:schemeClr val="tx1"/>
                          </a:solidFill>
                          <a:latin typeface="Arial"/>
                          <a:ea typeface="微软雅黑"/>
                        </a:defRPr>
                      </a:lvl2pPr>
                      <a:lvl3pPr marL="914400" algn="l" defTabSz="914400" rtl="0" eaLnBrk="1" latinLnBrk="0" hangingPunct="1">
                        <a:defRPr sz="1800" b="1" kern="1200">
                          <a:solidFill>
                            <a:schemeClr val="tx1"/>
                          </a:solidFill>
                          <a:latin typeface="Arial"/>
                          <a:ea typeface="微软雅黑"/>
                        </a:defRPr>
                      </a:lvl3pPr>
                      <a:lvl4pPr marL="1371600" algn="l" defTabSz="914400" rtl="0" eaLnBrk="1" latinLnBrk="0" hangingPunct="1">
                        <a:defRPr sz="1800" b="1" kern="1200">
                          <a:solidFill>
                            <a:schemeClr val="tx1"/>
                          </a:solidFill>
                          <a:latin typeface="Arial"/>
                          <a:ea typeface="微软雅黑"/>
                        </a:defRPr>
                      </a:lvl4pPr>
                      <a:lvl5pPr marL="1828800" algn="l" defTabSz="914400" rtl="0" eaLnBrk="1" latinLnBrk="0" hangingPunct="1">
                        <a:defRPr sz="1800" b="1" kern="1200">
                          <a:solidFill>
                            <a:schemeClr val="tx1"/>
                          </a:solidFill>
                          <a:latin typeface="Arial"/>
                          <a:ea typeface="微软雅黑"/>
                        </a:defRPr>
                      </a:lvl5pPr>
                      <a:lvl6pPr marL="2286000" algn="l" defTabSz="914400" rtl="0" eaLnBrk="1" latinLnBrk="0" hangingPunct="1">
                        <a:defRPr sz="1800" b="1" kern="1200">
                          <a:solidFill>
                            <a:schemeClr val="tx1"/>
                          </a:solidFill>
                          <a:latin typeface="Arial"/>
                          <a:ea typeface="微软雅黑"/>
                        </a:defRPr>
                      </a:lvl6pPr>
                      <a:lvl7pPr marL="2743200" algn="l" defTabSz="914400" rtl="0" eaLnBrk="1" latinLnBrk="0" hangingPunct="1">
                        <a:defRPr sz="1800" b="1" kern="1200">
                          <a:solidFill>
                            <a:schemeClr val="tx1"/>
                          </a:solidFill>
                          <a:latin typeface="Arial"/>
                          <a:ea typeface="微软雅黑"/>
                        </a:defRPr>
                      </a:lvl7pPr>
                      <a:lvl8pPr marL="3200400" algn="l" defTabSz="914400" rtl="0" eaLnBrk="1" latinLnBrk="0" hangingPunct="1">
                        <a:defRPr sz="1800" b="1" kern="1200">
                          <a:solidFill>
                            <a:schemeClr val="tx1"/>
                          </a:solidFill>
                          <a:latin typeface="Arial"/>
                          <a:ea typeface="微软雅黑"/>
                        </a:defRPr>
                      </a:lvl8pPr>
                      <a:lvl9pPr marL="3657600" algn="l" defTabSz="914400" rtl="0" eaLnBrk="1" latinLnBrk="0" hangingPunct="1">
                        <a:defRPr sz="1800" b="1" kern="1200">
                          <a:solidFill>
                            <a:schemeClr val="tx1"/>
                          </a:solidFill>
                          <a:latin typeface="Arial"/>
                          <a:ea typeface="微软雅黑"/>
                        </a:defRPr>
                      </a:lvl9pPr>
                    </a:lstStyle>
                    <a:p>
                      <a:pPr>
                        <a:lnSpc>
                          <a:spcPts val="2800"/>
                        </a:lnSpc>
                      </a:pPr>
                      <a:r>
                        <a:rPr lang="zh-CN" altLang="zh-CN" sz="1800" b="0" kern="100" dirty="0">
                          <a:effectLst/>
                          <a:latin typeface="Microsoft YaHei" panose="020B0503020204020204" pitchFamily="34" charset="-122"/>
                          <a:ea typeface="Microsoft YaHei" panose="020B0503020204020204" pitchFamily="34" charset="-122"/>
                        </a:rPr>
                        <a:t>用于装入并存放用户程序和数据，这部分的信息随时都在发生变化</a:t>
                      </a:r>
                      <a:endParaRPr lang="en-US" altLang="zh-CN" sz="1800" b="0" kern="100" dirty="0">
                        <a:effectLst/>
                        <a:latin typeface="Microsoft YaHei" panose="020B0503020204020204" pitchFamily="34" charset="-122"/>
                        <a:ea typeface="Microsoft YaHei" panose="020B0503020204020204" pitchFamily="34" charset="-122"/>
                      </a:endParaRPr>
                    </a:p>
                    <a:p>
                      <a:pPr>
                        <a:lnSpc>
                          <a:spcPts val="2800"/>
                        </a:lnSpc>
                      </a:pPr>
                      <a:r>
                        <a:rPr lang="zh-CN" altLang="zh-CN" sz="1800" b="0" kern="100" dirty="0">
                          <a:effectLst/>
                          <a:latin typeface="Microsoft YaHei" panose="020B0503020204020204" pitchFamily="34" charset="-122"/>
                          <a:ea typeface="Microsoft YaHei" panose="020B0503020204020204" pitchFamily="34" charset="-122"/>
                        </a:rPr>
                        <a:t>内存管理</a:t>
                      </a:r>
                      <a:r>
                        <a:rPr lang="zh-CN" altLang="en-US" sz="1800" b="0" kern="100" dirty="0">
                          <a:effectLst/>
                          <a:latin typeface="Microsoft YaHei" panose="020B0503020204020204" pitchFamily="34" charset="-122"/>
                          <a:ea typeface="Microsoft YaHei" panose="020B0503020204020204" pitchFamily="34" charset="-122"/>
                        </a:rPr>
                        <a:t>本质</a:t>
                      </a:r>
                      <a:r>
                        <a:rPr lang="zh-CN" altLang="zh-CN" sz="1800" b="0" kern="100" dirty="0">
                          <a:effectLst/>
                          <a:latin typeface="Microsoft YaHei" panose="020B0503020204020204" pitchFamily="34" charset="-122"/>
                          <a:ea typeface="Microsoft YaHei" panose="020B0503020204020204" pitchFamily="34" charset="-122"/>
                        </a:rPr>
                        <a:t>是管理用户使用空间</a:t>
                      </a:r>
                      <a:r>
                        <a:rPr lang="zh-CN" altLang="zh-CN" sz="1800" b="0" kern="100" dirty="0">
                          <a:solidFill>
                            <a:srgbClr val="9A0001"/>
                          </a:solidFill>
                          <a:effectLst/>
                          <a:latin typeface="Microsoft YaHei" panose="020B0503020204020204" pitchFamily="34" charset="-122"/>
                          <a:ea typeface="Microsoft YaHei" panose="020B0503020204020204" pitchFamily="34" charset="-122"/>
                        </a:rPr>
                        <a:t>以及协调用户调用操作系统公共代码和数据的使用</a:t>
                      </a:r>
                      <a:endParaRPr lang="zh-CN" altLang="en-US" b="0" dirty="0">
                        <a:solidFill>
                          <a:srgbClr val="9A0001"/>
                        </a:solidFill>
                        <a:latin typeface="Microsoft YaHei" panose="020B0503020204020204" pitchFamily="34" charset="-122"/>
                        <a:ea typeface="Microsoft YaHei" panose="020B0503020204020204" pitchFamily="34" charset="-122"/>
                      </a:endParaRPr>
                    </a:p>
                  </a:txBody>
                  <a:tcPr>
                    <a:lnL w="12700" cap="flat" cmpd="sng" algn="ctr">
                      <a:solidFill>
                        <a:srgbClr val="9A000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0451136"/>
                  </a:ext>
                </a:extLst>
              </a:tr>
            </a:tbl>
          </a:graphicData>
        </a:graphic>
      </p:graphicFrame>
    </p:spTree>
    <p:extLst>
      <p:ext uri="{BB962C8B-B14F-4D97-AF65-F5344CB8AC3E}">
        <p14:creationId xmlns:p14="http://schemas.microsoft.com/office/powerpoint/2010/main" val="4166397114"/>
      </p:ext>
    </p:extLst>
  </p:cSld>
  <p:clrMapOvr>
    <a:masterClrMapping/>
  </p:clrMapOvr>
  <p:transition>
    <p:rand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BCB40C11-11DC-1249-8061-33C3A9D94BE3}"/>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grpSp>
        <p:nvGrpSpPr>
          <p:cNvPr id="51" name="组合 29">
            <a:extLst>
              <a:ext uri="{FF2B5EF4-FFF2-40B4-BE49-F238E27FC236}">
                <a16:creationId xmlns:a16="http://schemas.microsoft.com/office/drawing/2014/main" id="{D798C0BE-0D3A-4446-9370-DEED187D75F6}"/>
              </a:ext>
            </a:extLst>
          </p:cNvPr>
          <p:cNvGrpSpPr/>
          <p:nvPr/>
        </p:nvGrpSpPr>
        <p:grpSpPr>
          <a:xfrm>
            <a:off x="89107" y="3368261"/>
            <a:ext cx="8879953" cy="989019"/>
            <a:chOff x="1681648" y="1914570"/>
            <a:chExt cx="8879953" cy="989019"/>
          </a:xfrm>
        </p:grpSpPr>
        <p:sp>
          <p:nvSpPr>
            <p:cNvPr id="52" name="文本框 2">
              <a:extLst>
                <a:ext uri="{FF2B5EF4-FFF2-40B4-BE49-F238E27FC236}">
                  <a16:creationId xmlns:a16="http://schemas.microsoft.com/office/drawing/2014/main" id="{C428D0C2-D034-0143-8CBB-EFB64C5A383A}"/>
                </a:ext>
              </a:extLst>
            </p:cNvPr>
            <p:cNvSpPr txBox="1"/>
            <p:nvPr/>
          </p:nvSpPr>
          <p:spPr>
            <a:xfrm>
              <a:off x="1681648" y="2507006"/>
              <a:ext cx="2525293" cy="396583"/>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内存管理方法</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53" name="文本框 3">
              <a:extLst>
                <a:ext uri="{FF2B5EF4-FFF2-40B4-BE49-F238E27FC236}">
                  <a16:creationId xmlns:a16="http://schemas.microsoft.com/office/drawing/2014/main" id="{6F1C1780-302D-8946-8C18-611975F4362F}"/>
                </a:ext>
              </a:extLst>
            </p:cNvPr>
            <p:cNvSpPr txBox="1"/>
            <p:nvPr/>
          </p:nvSpPr>
          <p:spPr>
            <a:xfrm>
              <a:off x="4722391" y="2507006"/>
              <a:ext cx="2525293" cy="396583"/>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内存的分配和释放算法</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54" name="文本框 4">
              <a:extLst>
                <a:ext uri="{FF2B5EF4-FFF2-40B4-BE49-F238E27FC236}">
                  <a16:creationId xmlns:a16="http://schemas.microsoft.com/office/drawing/2014/main" id="{8431871A-5684-6C45-9077-385E26D2AA44}"/>
                </a:ext>
              </a:extLst>
            </p:cNvPr>
            <p:cNvSpPr txBox="1"/>
            <p:nvPr/>
          </p:nvSpPr>
          <p:spPr>
            <a:xfrm>
              <a:off x="8036308" y="2507006"/>
              <a:ext cx="2525293" cy="396583"/>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虚拟存储器的管理</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grpSp>
          <p:nvGrpSpPr>
            <p:cNvPr id="55" name="Group 14">
              <a:extLst>
                <a:ext uri="{FF2B5EF4-FFF2-40B4-BE49-F238E27FC236}">
                  <a16:creationId xmlns:a16="http://schemas.microsoft.com/office/drawing/2014/main" id="{3EBA494C-6301-5E46-B434-CBCCCF459C2C}"/>
                </a:ext>
              </a:extLst>
            </p:cNvPr>
            <p:cNvGrpSpPr/>
            <p:nvPr/>
          </p:nvGrpSpPr>
          <p:grpSpPr>
            <a:xfrm>
              <a:off x="2607302" y="1947791"/>
              <a:ext cx="367871" cy="330474"/>
              <a:chOff x="922337" y="1337071"/>
              <a:chExt cx="301625" cy="270961"/>
            </a:xfrm>
            <a:solidFill>
              <a:srgbClr val="9A0001"/>
            </a:solidFill>
          </p:grpSpPr>
          <p:sp>
            <p:nvSpPr>
              <p:cNvPr id="58" name="Freeform 5">
                <a:extLst>
                  <a:ext uri="{FF2B5EF4-FFF2-40B4-BE49-F238E27FC236}">
                    <a16:creationId xmlns:a16="http://schemas.microsoft.com/office/drawing/2014/main" id="{68819F2A-72AA-6F44-B5EF-327E47489B7A}"/>
                  </a:ext>
                </a:extLst>
              </p:cNvPr>
              <p:cNvSpPr/>
              <p:nvPr/>
            </p:nvSpPr>
            <p:spPr>
              <a:xfrm>
                <a:off x="922337" y="1337071"/>
                <a:ext cx="301625" cy="257970"/>
              </a:xfrm>
              <a:custGeom>
                <a:avLst/>
                <a:gdLst>
                  <a:gd name="T0" fmla="*/ 0 w 10600"/>
                  <a:gd name="T1" fmla="*/ 7875 h 9081"/>
                  <a:gd name="T2" fmla="*/ 1206 w 10600"/>
                  <a:gd name="T3" fmla="*/ 9081 h 9081"/>
                  <a:gd name="T4" fmla="*/ 1474 w 10600"/>
                  <a:gd name="T5" fmla="*/ 9081 h 9081"/>
                  <a:gd name="T6" fmla="*/ 8836 w 10600"/>
                  <a:gd name="T7" fmla="*/ 9081 h 9081"/>
                  <a:gd name="T8" fmla="*/ 9372 w 10600"/>
                  <a:gd name="T9" fmla="*/ 9081 h 9081"/>
                  <a:gd name="T10" fmla="*/ 9930 w 10600"/>
                  <a:gd name="T11" fmla="*/ 9081 h 9081"/>
                  <a:gd name="T12" fmla="*/ 9930 w 10600"/>
                  <a:gd name="T13" fmla="*/ 8545 h 9081"/>
                  <a:gd name="T14" fmla="*/ 9372 w 10600"/>
                  <a:gd name="T15" fmla="*/ 8545 h 9081"/>
                  <a:gd name="T16" fmla="*/ 9372 w 10600"/>
                  <a:gd name="T17" fmla="*/ 7204 h 9081"/>
                  <a:gd name="T18" fmla="*/ 9930 w 10600"/>
                  <a:gd name="T19" fmla="*/ 7204 h 9081"/>
                  <a:gd name="T20" fmla="*/ 9930 w 10600"/>
                  <a:gd name="T21" fmla="*/ 6970 h 9081"/>
                  <a:gd name="T22" fmla="*/ 10198 w 10600"/>
                  <a:gd name="T23" fmla="*/ 6970 h 9081"/>
                  <a:gd name="T24" fmla="*/ 10600 w 10600"/>
                  <a:gd name="T25" fmla="*/ 6970 h 9081"/>
                  <a:gd name="T26" fmla="*/ 10600 w 10600"/>
                  <a:gd name="T27" fmla="*/ 6434 h 9081"/>
                  <a:gd name="T28" fmla="*/ 10198 w 10600"/>
                  <a:gd name="T29" fmla="*/ 6434 h 9081"/>
                  <a:gd name="T30" fmla="*/ 10198 w 10600"/>
                  <a:gd name="T31" fmla="*/ 5093 h 9081"/>
                  <a:gd name="T32" fmla="*/ 10600 w 10600"/>
                  <a:gd name="T33" fmla="*/ 5093 h 9081"/>
                  <a:gd name="T34" fmla="*/ 10600 w 10600"/>
                  <a:gd name="T35" fmla="*/ 4557 h 9081"/>
                  <a:gd name="T36" fmla="*/ 10198 w 10600"/>
                  <a:gd name="T37" fmla="*/ 4557 h 9081"/>
                  <a:gd name="T38" fmla="*/ 10165 w 10600"/>
                  <a:gd name="T39" fmla="*/ 4557 h 9081"/>
                  <a:gd name="T40" fmla="*/ 10165 w 10600"/>
                  <a:gd name="T41" fmla="*/ 4378 h 9081"/>
                  <a:gd name="T42" fmla="*/ 10165 w 10600"/>
                  <a:gd name="T43" fmla="*/ 4110 h 9081"/>
                  <a:gd name="T44" fmla="*/ 10165 w 10600"/>
                  <a:gd name="T45" fmla="*/ 4099 h 9081"/>
                  <a:gd name="T46" fmla="*/ 9503 w 10600"/>
                  <a:gd name="T47" fmla="*/ 2859 h 9081"/>
                  <a:gd name="T48" fmla="*/ 10198 w 10600"/>
                  <a:gd name="T49" fmla="*/ 2859 h 9081"/>
                  <a:gd name="T50" fmla="*/ 10198 w 10600"/>
                  <a:gd name="T51" fmla="*/ 2138 h 9081"/>
                  <a:gd name="T52" fmla="*/ 8449 w 10600"/>
                  <a:gd name="T53" fmla="*/ 0 h 9081"/>
                  <a:gd name="T54" fmla="*/ 2277 w 10600"/>
                  <a:gd name="T55" fmla="*/ 0 h 9081"/>
                  <a:gd name="T56" fmla="*/ 685 w 10600"/>
                  <a:gd name="T57" fmla="*/ 2508 h 9081"/>
                  <a:gd name="T58" fmla="*/ 235 w 10600"/>
                  <a:gd name="T59" fmla="*/ 3440 h 9081"/>
                  <a:gd name="T60" fmla="*/ 1429 w 10600"/>
                  <a:gd name="T61" fmla="*/ 4645 h 9081"/>
                  <a:gd name="T62" fmla="*/ 670 w 10600"/>
                  <a:gd name="T63" fmla="*/ 5763 h 9081"/>
                  <a:gd name="T64" fmla="*/ 1100 w 10600"/>
                  <a:gd name="T65" fmla="*/ 6679 h 9081"/>
                  <a:gd name="T66" fmla="*/ 0 w 10600"/>
                  <a:gd name="T67" fmla="*/ 7875 h 9081"/>
                  <a:gd name="T68" fmla="*/ 771 w 10600"/>
                  <a:gd name="T69" fmla="*/ 3440 h 9081"/>
                  <a:gd name="T70" fmla="*/ 1113 w 10600"/>
                  <a:gd name="T71" fmla="*/ 2859 h 9081"/>
                  <a:gd name="T72" fmla="*/ 9104 w 10600"/>
                  <a:gd name="T73" fmla="*/ 2859 h 9081"/>
                  <a:gd name="T74" fmla="*/ 9104 w 10600"/>
                  <a:gd name="T75" fmla="*/ 4110 h 9081"/>
                  <a:gd name="T76" fmla="*/ 1441 w 10600"/>
                  <a:gd name="T77" fmla="*/ 4110 h 9081"/>
                  <a:gd name="T78" fmla="*/ 771 w 10600"/>
                  <a:gd name="T79" fmla="*/ 3440 h 9081"/>
                  <a:gd name="T80" fmla="*/ 1877 w 10600"/>
                  <a:gd name="T81" fmla="*/ 5093 h 9081"/>
                  <a:gd name="T82" fmla="*/ 2145 w 10600"/>
                  <a:gd name="T83" fmla="*/ 5093 h 9081"/>
                  <a:gd name="T84" fmla="*/ 9662 w 10600"/>
                  <a:gd name="T85" fmla="*/ 5093 h 9081"/>
                  <a:gd name="T86" fmla="*/ 9662 w 10600"/>
                  <a:gd name="T87" fmla="*/ 6434 h 9081"/>
                  <a:gd name="T88" fmla="*/ 2145 w 10600"/>
                  <a:gd name="T89" fmla="*/ 6434 h 9081"/>
                  <a:gd name="T90" fmla="*/ 1877 w 10600"/>
                  <a:gd name="T91" fmla="*/ 6434 h 9081"/>
                  <a:gd name="T92" fmla="*/ 1206 w 10600"/>
                  <a:gd name="T93" fmla="*/ 5763 h 9081"/>
                  <a:gd name="T94" fmla="*/ 1877 w 10600"/>
                  <a:gd name="T95" fmla="*/ 5093 h 9081"/>
                  <a:gd name="T96" fmla="*/ 1206 w 10600"/>
                  <a:gd name="T97" fmla="*/ 7204 h 9081"/>
                  <a:gd name="T98" fmla="*/ 1475 w 10600"/>
                  <a:gd name="T99" fmla="*/ 7204 h 9081"/>
                  <a:gd name="T100" fmla="*/ 8836 w 10600"/>
                  <a:gd name="T101" fmla="*/ 7204 h 9081"/>
                  <a:gd name="T102" fmla="*/ 8836 w 10600"/>
                  <a:gd name="T103" fmla="*/ 8545 h 9081"/>
                  <a:gd name="T104" fmla="*/ 1474 w 10600"/>
                  <a:gd name="T105" fmla="*/ 8545 h 9081"/>
                  <a:gd name="T106" fmla="*/ 1206 w 10600"/>
                  <a:gd name="T107" fmla="*/ 8545 h 9081"/>
                  <a:gd name="T108" fmla="*/ 536 w 10600"/>
                  <a:gd name="T109" fmla="*/ 7875 h 9081"/>
                  <a:gd name="T110" fmla="*/ 1206 w 10600"/>
                  <a:gd name="T111" fmla="*/ 7204 h 90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00" h="9081">
                    <a:moveTo>
                      <a:pt x="0" y="7875"/>
                    </a:moveTo>
                    <a:cubicBezTo>
                      <a:pt x="0" y="8540"/>
                      <a:pt x="541" y="9081"/>
                      <a:pt x="1206" y="9081"/>
                    </a:cubicBezTo>
                    <a:lnTo>
                      <a:pt x="1474" y="9081"/>
                    </a:lnTo>
                    <a:lnTo>
                      <a:pt x="8836" y="9081"/>
                    </a:lnTo>
                    <a:lnTo>
                      <a:pt x="9372" y="9081"/>
                    </a:lnTo>
                    <a:lnTo>
                      <a:pt x="9930" y="9081"/>
                    </a:lnTo>
                    <a:lnTo>
                      <a:pt x="9930" y="8545"/>
                    </a:lnTo>
                    <a:lnTo>
                      <a:pt x="9372" y="8545"/>
                    </a:lnTo>
                    <a:lnTo>
                      <a:pt x="9372" y="7204"/>
                    </a:lnTo>
                    <a:lnTo>
                      <a:pt x="9930" y="7204"/>
                    </a:lnTo>
                    <a:lnTo>
                      <a:pt x="9930" y="6970"/>
                    </a:lnTo>
                    <a:lnTo>
                      <a:pt x="10198" y="6970"/>
                    </a:lnTo>
                    <a:lnTo>
                      <a:pt x="10600" y="6970"/>
                    </a:lnTo>
                    <a:lnTo>
                      <a:pt x="10600" y="6434"/>
                    </a:lnTo>
                    <a:lnTo>
                      <a:pt x="10198" y="6434"/>
                    </a:lnTo>
                    <a:lnTo>
                      <a:pt x="10198" y="5093"/>
                    </a:lnTo>
                    <a:lnTo>
                      <a:pt x="10600" y="5093"/>
                    </a:lnTo>
                    <a:lnTo>
                      <a:pt x="10600" y="4557"/>
                    </a:lnTo>
                    <a:lnTo>
                      <a:pt x="10198" y="4557"/>
                    </a:lnTo>
                    <a:lnTo>
                      <a:pt x="10165" y="4557"/>
                    </a:lnTo>
                    <a:lnTo>
                      <a:pt x="10165" y="4378"/>
                    </a:lnTo>
                    <a:lnTo>
                      <a:pt x="10165" y="4110"/>
                    </a:lnTo>
                    <a:lnTo>
                      <a:pt x="10165" y="4099"/>
                    </a:lnTo>
                    <a:lnTo>
                      <a:pt x="9503" y="2859"/>
                    </a:lnTo>
                    <a:lnTo>
                      <a:pt x="10198" y="2859"/>
                    </a:lnTo>
                    <a:lnTo>
                      <a:pt x="10198" y="2138"/>
                    </a:lnTo>
                    <a:lnTo>
                      <a:pt x="8449" y="0"/>
                    </a:lnTo>
                    <a:lnTo>
                      <a:pt x="2277" y="0"/>
                    </a:lnTo>
                    <a:lnTo>
                      <a:pt x="685" y="2508"/>
                    </a:lnTo>
                    <a:cubicBezTo>
                      <a:pt x="413" y="2729"/>
                      <a:pt x="235" y="3063"/>
                      <a:pt x="235" y="3440"/>
                    </a:cubicBezTo>
                    <a:cubicBezTo>
                      <a:pt x="235" y="4101"/>
                      <a:pt x="769" y="4639"/>
                      <a:pt x="1429" y="4645"/>
                    </a:cubicBezTo>
                    <a:cubicBezTo>
                      <a:pt x="985" y="4824"/>
                      <a:pt x="670" y="5257"/>
                      <a:pt x="670" y="5763"/>
                    </a:cubicBezTo>
                    <a:cubicBezTo>
                      <a:pt x="670" y="6131"/>
                      <a:pt x="839" y="6457"/>
                      <a:pt x="1100" y="6679"/>
                    </a:cubicBezTo>
                    <a:cubicBezTo>
                      <a:pt x="485" y="6734"/>
                      <a:pt x="0" y="7246"/>
                      <a:pt x="0" y="7875"/>
                    </a:cubicBezTo>
                    <a:close/>
                    <a:moveTo>
                      <a:pt x="771" y="3440"/>
                    </a:moveTo>
                    <a:cubicBezTo>
                      <a:pt x="771" y="3190"/>
                      <a:pt x="910" y="2974"/>
                      <a:pt x="1113" y="2859"/>
                    </a:cubicBezTo>
                    <a:lnTo>
                      <a:pt x="9104" y="2859"/>
                    </a:lnTo>
                    <a:lnTo>
                      <a:pt x="9104" y="4110"/>
                    </a:lnTo>
                    <a:lnTo>
                      <a:pt x="1441" y="4110"/>
                    </a:lnTo>
                    <a:cubicBezTo>
                      <a:pt x="1071" y="4110"/>
                      <a:pt x="771" y="3810"/>
                      <a:pt x="771" y="3440"/>
                    </a:cubicBezTo>
                    <a:close/>
                    <a:moveTo>
                      <a:pt x="1877" y="5093"/>
                    </a:moveTo>
                    <a:lnTo>
                      <a:pt x="2145" y="5093"/>
                    </a:lnTo>
                    <a:lnTo>
                      <a:pt x="9662" y="5093"/>
                    </a:lnTo>
                    <a:lnTo>
                      <a:pt x="9662" y="6434"/>
                    </a:lnTo>
                    <a:lnTo>
                      <a:pt x="2145" y="6434"/>
                    </a:lnTo>
                    <a:lnTo>
                      <a:pt x="1877" y="6434"/>
                    </a:lnTo>
                    <a:cubicBezTo>
                      <a:pt x="1507" y="6434"/>
                      <a:pt x="1206" y="6133"/>
                      <a:pt x="1206" y="5763"/>
                    </a:cubicBezTo>
                    <a:cubicBezTo>
                      <a:pt x="1206" y="5394"/>
                      <a:pt x="1507" y="5093"/>
                      <a:pt x="1877" y="5093"/>
                    </a:cubicBezTo>
                    <a:close/>
                    <a:moveTo>
                      <a:pt x="1206" y="7204"/>
                    </a:moveTo>
                    <a:lnTo>
                      <a:pt x="1475" y="7204"/>
                    </a:lnTo>
                    <a:lnTo>
                      <a:pt x="8836" y="7204"/>
                    </a:lnTo>
                    <a:lnTo>
                      <a:pt x="8836" y="8545"/>
                    </a:lnTo>
                    <a:lnTo>
                      <a:pt x="1474" y="8545"/>
                    </a:lnTo>
                    <a:lnTo>
                      <a:pt x="1206" y="8545"/>
                    </a:lnTo>
                    <a:cubicBezTo>
                      <a:pt x="837" y="8545"/>
                      <a:pt x="536" y="8244"/>
                      <a:pt x="536" y="7875"/>
                    </a:cubicBezTo>
                    <a:cubicBezTo>
                      <a:pt x="536" y="7505"/>
                      <a:pt x="837" y="7204"/>
                      <a:pt x="1206" y="7204"/>
                    </a:cubicBezTo>
                    <a:close/>
                  </a:path>
                </a:pathLst>
              </a:custGeom>
              <a:grpFill/>
              <a:ln w="9525">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59" name="Rectangle 6">
                <a:extLst>
                  <a:ext uri="{FF2B5EF4-FFF2-40B4-BE49-F238E27FC236}">
                    <a16:creationId xmlns:a16="http://schemas.microsoft.com/office/drawing/2014/main" id="{F3209838-7D1D-654C-8A22-D2F5830B7F02}"/>
                  </a:ext>
                </a:extLst>
              </p:cNvPr>
              <p:cNvSpPr/>
              <p:nvPr/>
            </p:nvSpPr>
            <p:spPr>
              <a:xfrm>
                <a:off x="1017587" y="1512991"/>
                <a:ext cx="111125" cy="95041"/>
              </a:xfrm>
              <a:custGeom>
                <a:avLst/>
                <a:gdLst>
                  <a:gd name="T0" fmla="*/ 0 w 10600"/>
                  <a:gd name="T1" fmla="*/ 7875 h 9081"/>
                  <a:gd name="T2" fmla="*/ 1206 w 10600"/>
                  <a:gd name="T3" fmla="*/ 9081 h 9081"/>
                  <a:gd name="T4" fmla="*/ 1474 w 10600"/>
                  <a:gd name="T5" fmla="*/ 9081 h 9081"/>
                  <a:gd name="T6" fmla="*/ 8836 w 10600"/>
                  <a:gd name="T7" fmla="*/ 9081 h 9081"/>
                  <a:gd name="T8" fmla="*/ 9372 w 10600"/>
                  <a:gd name="T9" fmla="*/ 9081 h 9081"/>
                  <a:gd name="T10" fmla="*/ 9930 w 10600"/>
                  <a:gd name="T11" fmla="*/ 9081 h 9081"/>
                  <a:gd name="T12" fmla="*/ 9930 w 10600"/>
                  <a:gd name="T13" fmla="*/ 8545 h 9081"/>
                  <a:gd name="T14" fmla="*/ 9372 w 10600"/>
                  <a:gd name="T15" fmla="*/ 8545 h 9081"/>
                  <a:gd name="T16" fmla="*/ 9372 w 10600"/>
                  <a:gd name="T17" fmla="*/ 7204 h 9081"/>
                  <a:gd name="T18" fmla="*/ 9930 w 10600"/>
                  <a:gd name="T19" fmla="*/ 7204 h 9081"/>
                  <a:gd name="T20" fmla="*/ 9930 w 10600"/>
                  <a:gd name="T21" fmla="*/ 6970 h 9081"/>
                  <a:gd name="T22" fmla="*/ 10198 w 10600"/>
                  <a:gd name="T23" fmla="*/ 6970 h 9081"/>
                  <a:gd name="T24" fmla="*/ 10600 w 10600"/>
                  <a:gd name="T25" fmla="*/ 6970 h 9081"/>
                  <a:gd name="T26" fmla="*/ 10600 w 10600"/>
                  <a:gd name="T27" fmla="*/ 6434 h 9081"/>
                  <a:gd name="T28" fmla="*/ 10198 w 10600"/>
                  <a:gd name="T29" fmla="*/ 6434 h 9081"/>
                  <a:gd name="T30" fmla="*/ 10198 w 10600"/>
                  <a:gd name="T31" fmla="*/ 5093 h 9081"/>
                  <a:gd name="T32" fmla="*/ 10600 w 10600"/>
                  <a:gd name="T33" fmla="*/ 5093 h 9081"/>
                  <a:gd name="T34" fmla="*/ 10600 w 10600"/>
                  <a:gd name="T35" fmla="*/ 4557 h 9081"/>
                  <a:gd name="T36" fmla="*/ 10198 w 10600"/>
                  <a:gd name="T37" fmla="*/ 4557 h 9081"/>
                  <a:gd name="T38" fmla="*/ 10165 w 10600"/>
                  <a:gd name="T39" fmla="*/ 4557 h 9081"/>
                  <a:gd name="T40" fmla="*/ 10165 w 10600"/>
                  <a:gd name="T41" fmla="*/ 4378 h 9081"/>
                  <a:gd name="T42" fmla="*/ 10165 w 10600"/>
                  <a:gd name="T43" fmla="*/ 4110 h 9081"/>
                  <a:gd name="T44" fmla="*/ 10165 w 10600"/>
                  <a:gd name="T45" fmla="*/ 4099 h 9081"/>
                  <a:gd name="T46" fmla="*/ 9503 w 10600"/>
                  <a:gd name="T47" fmla="*/ 2859 h 9081"/>
                  <a:gd name="T48" fmla="*/ 10198 w 10600"/>
                  <a:gd name="T49" fmla="*/ 2859 h 9081"/>
                  <a:gd name="T50" fmla="*/ 10198 w 10600"/>
                  <a:gd name="T51" fmla="*/ 2138 h 9081"/>
                  <a:gd name="T52" fmla="*/ 8449 w 10600"/>
                  <a:gd name="T53" fmla="*/ 0 h 9081"/>
                  <a:gd name="T54" fmla="*/ 2277 w 10600"/>
                  <a:gd name="T55" fmla="*/ 0 h 9081"/>
                  <a:gd name="T56" fmla="*/ 685 w 10600"/>
                  <a:gd name="T57" fmla="*/ 2508 h 9081"/>
                  <a:gd name="T58" fmla="*/ 235 w 10600"/>
                  <a:gd name="T59" fmla="*/ 3440 h 9081"/>
                  <a:gd name="T60" fmla="*/ 1429 w 10600"/>
                  <a:gd name="T61" fmla="*/ 4645 h 9081"/>
                  <a:gd name="T62" fmla="*/ 670 w 10600"/>
                  <a:gd name="T63" fmla="*/ 5763 h 9081"/>
                  <a:gd name="T64" fmla="*/ 1100 w 10600"/>
                  <a:gd name="T65" fmla="*/ 6679 h 9081"/>
                  <a:gd name="T66" fmla="*/ 0 w 10600"/>
                  <a:gd name="T67" fmla="*/ 7875 h 9081"/>
                  <a:gd name="T68" fmla="*/ 771 w 10600"/>
                  <a:gd name="T69" fmla="*/ 3440 h 9081"/>
                  <a:gd name="T70" fmla="*/ 1113 w 10600"/>
                  <a:gd name="T71" fmla="*/ 2859 h 9081"/>
                  <a:gd name="T72" fmla="*/ 9104 w 10600"/>
                  <a:gd name="T73" fmla="*/ 2859 h 9081"/>
                  <a:gd name="T74" fmla="*/ 9104 w 10600"/>
                  <a:gd name="T75" fmla="*/ 4110 h 9081"/>
                  <a:gd name="T76" fmla="*/ 1441 w 10600"/>
                  <a:gd name="T77" fmla="*/ 4110 h 9081"/>
                  <a:gd name="T78" fmla="*/ 771 w 10600"/>
                  <a:gd name="T79" fmla="*/ 3440 h 9081"/>
                  <a:gd name="T80" fmla="*/ 1877 w 10600"/>
                  <a:gd name="T81" fmla="*/ 5093 h 9081"/>
                  <a:gd name="T82" fmla="*/ 2145 w 10600"/>
                  <a:gd name="T83" fmla="*/ 5093 h 9081"/>
                  <a:gd name="T84" fmla="*/ 9662 w 10600"/>
                  <a:gd name="T85" fmla="*/ 5093 h 9081"/>
                  <a:gd name="T86" fmla="*/ 9662 w 10600"/>
                  <a:gd name="T87" fmla="*/ 6434 h 9081"/>
                  <a:gd name="T88" fmla="*/ 2145 w 10600"/>
                  <a:gd name="T89" fmla="*/ 6434 h 9081"/>
                  <a:gd name="T90" fmla="*/ 1877 w 10600"/>
                  <a:gd name="T91" fmla="*/ 6434 h 9081"/>
                  <a:gd name="T92" fmla="*/ 1206 w 10600"/>
                  <a:gd name="T93" fmla="*/ 5763 h 9081"/>
                  <a:gd name="T94" fmla="*/ 1877 w 10600"/>
                  <a:gd name="T95" fmla="*/ 5093 h 9081"/>
                  <a:gd name="T96" fmla="*/ 1206 w 10600"/>
                  <a:gd name="T97" fmla="*/ 7204 h 9081"/>
                  <a:gd name="T98" fmla="*/ 1475 w 10600"/>
                  <a:gd name="T99" fmla="*/ 7204 h 9081"/>
                  <a:gd name="T100" fmla="*/ 8836 w 10600"/>
                  <a:gd name="T101" fmla="*/ 7204 h 9081"/>
                  <a:gd name="T102" fmla="*/ 8836 w 10600"/>
                  <a:gd name="T103" fmla="*/ 8545 h 9081"/>
                  <a:gd name="T104" fmla="*/ 1474 w 10600"/>
                  <a:gd name="T105" fmla="*/ 8545 h 9081"/>
                  <a:gd name="T106" fmla="*/ 1206 w 10600"/>
                  <a:gd name="T107" fmla="*/ 8545 h 9081"/>
                  <a:gd name="T108" fmla="*/ 536 w 10600"/>
                  <a:gd name="T109" fmla="*/ 7875 h 9081"/>
                  <a:gd name="T110" fmla="*/ 1206 w 10600"/>
                  <a:gd name="T111" fmla="*/ 7204 h 90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00" h="9081">
                    <a:moveTo>
                      <a:pt x="0" y="7875"/>
                    </a:moveTo>
                    <a:cubicBezTo>
                      <a:pt x="0" y="8540"/>
                      <a:pt x="541" y="9081"/>
                      <a:pt x="1206" y="9081"/>
                    </a:cubicBezTo>
                    <a:lnTo>
                      <a:pt x="1474" y="9081"/>
                    </a:lnTo>
                    <a:lnTo>
                      <a:pt x="8836" y="9081"/>
                    </a:lnTo>
                    <a:lnTo>
                      <a:pt x="9372" y="9081"/>
                    </a:lnTo>
                    <a:lnTo>
                      <a:pt x="9930" y="9081"/>
                    </a:lnTo>
                    <a:lnTo>
                      <a:pt x="9930" y="8545"/>
                    </a:lnTo>
                    <a:lnTo>
                      <a:pt x="9372" y="8545"/>
                    </a:lnTo>
                    <a:lnTo>
                      <a:pt x="9372" y="7204"/>
                    </a:lnTo>
                    <a:lnTo>
                      <a:pt x="9930" y="7204"/>
                    </a:lnTo>
                    <a:lnTo>
                      <a:pt x="9930" y="6970"/>
                    </a:lnTo>
                    <a:lnTo>
                      <a:pt x="10198" y="6970"/>
                    </a:lnTo>
                    <a:lnTo>
                      <a:pt x="10600" y="6970"/>
                    </a:lnTo>
                    <a:lnTo>
                      <a:pt x="10600" y="6434"/>
                    </a:lnTo>
                    <a:lnTo>
                      <a:pt x="10198" y="6434"/>
                    </a:lnTo>
                    <a:lnTo>
                      <a:pt x="10198" y="5093"/>
                    </a:lnTo>
                    <a:lnTo>
                      <a:pt x="10600" y="5093"/>
                    </a:lnTo>
                    <a:lnTo>
                      <a:pt x="10600" y="4557"/>
                    </a:lnTo>
                    <a:lnTo>
                      <a:pt x="10198" y="4557"/>
                    </a:lnTo>
                    <a:lnTo>
                      <a:pt x="10165" y="4557"/>
                    </a:lnTo>
                    <a:lnTo>
                      <a:pt x="10165" y="4378"/>
                    </a:lnTo>
                    <a:lnTo>
                      <a:pt x="10165" y="4110"/>
                    </a:lnTo>
                    <a:lnTo>
                      <a:pt x="10165" y="4099"/>
                    </a:lnTo>
                    <a:lnTo>
                      <a:pt x="9503" y="2859"/>
                    </a:lnTo>
                    <a:lnTo>
                      <a:pt x="10198" y="2859"/>
                    </a:lnTo>
                    <a:lnTo>
                      <a:pt x="10198" y="2138"/>
                    </a:lnTo>
                    <a:lnTo>
                      <a:pt x="8449" y="0"/>
                    </a:lnTo>
                    <a:lnTo>
                      <a:pt x="2277" y="0"/>
                    </a:lnTo>
                    <a:lnTo>
                      <a:pt x="685" y="2508"/>
                    </a:lnTo>
                    <a:cubicBezTo>
                      <a:pt x="413" y="2729"/>
                      <a:pt x="235" y="3063"/>
                      <a:pt x="235" y="3440"/>
                    </a:cubicBezTo>
                    <a:cubicBezTo>
                      <a:pt x="235" y="4101"/>
                      <a:pt x="769" y="4639"/>
                      <a:pt x="1429" y="4645"/>
                    </a:cubicBezTo>
                    <a:cubicBezTo>
                      <a:pt x="985" y="4824"/>
                      <a:pt x="670" y="5257"/>
                      <a:pt x="670" y="5763"/>
                    </a:cubicBezTo>
                    <a:cubicBezTo>
                      <a:pt x="670" y="6131"/>
                      <a:pt x="839" y="6457"/>
                      <a:pt x="1100" y="6679"/>
                    </a:cubicBezTo>
                    <a:cubicBezTo>
                      <a:pt x="485" y="6734"/>
                      <a:pt x="0" y="7246"/>
                      <a:pt x="0" y="7875"/>
                    </a:cubicBezTo>
                    <a:close/>
                    <a:moveTo>
                      <a:pt x="771" y="3440"/>
                    </a:moveTo>
                    <a:cubicBezTo>
                      <a:pt x="771" y="3190"/>
                      <a:pt x="910" y="2974"/>
                      <a:pt x="1113" y="2859"/>
                    </a:cubicBezTo>
                    <a:lnTo>
                      <a:pt x="9104" y="2859"/>
                    </a:lnTo>
                    <a:lnTo>
                      <a:pt x="9104" y="4110"/>
                    </a:lnTo>
                    <a:lnTo>
                      <a:pt x="1441" y="4110"/>
                    </a:lnTo>
                    <a:cubicBezTo>
                      <a:pt x="1071" y="4110"/>
                      <a:pt x="771" y="3810"/>
                      <a:pt x="771" y="3440"/>
                    </a:cubicBezTo>
                    <a:close/>
                    <a:moveTo>
                      <a:pt x="1877" y="5093"/>
                    </a:moveTo>
                    <a:lnTo>
                      <a:pt x="2145" y="5093"/>
                    </a:lnTo>
                    <a:lnTo>
                      <a:pt x="9662" y="5093"/>
                    </a:lnTo>
                    <a:lnTo>
                      <a:pt x="9662" y="6434"/>
                    </a:lnTo>
                    <a:lnTo>
                      <a:pt x="2145" y="6434"/>
                    </a:lnTo>
                    <a:lnTo>
                      <a:pt x="1877" y="6434"/>
                    </a:lnTo>
                    <a:cubicBezTo>
                      <a:pt x="1507" y="6434"/>
                      <a:pt x="1206" y="6133"/>
                      <a:pt x="1206" y="5763"/>
                    </a:cubicBezTo>
                    <a:cubicBezTo>
                      <a:pt x="1206" y="5394"/>
                      <a:pt x="1507" y="5093"/>
                      <a:pt x="1877" y="5093"/>
                    </a:cubicBezTo>
                    <a:close/>
                    <a:moveTo>
                      <a:pt x="1206" y="7204"/>
                    </a:moveTo>
                    <a:lnTo>
                      <a:pt x="1475" y="7204"/>
                    </a:lnTo>
                    <a:lnTo>
                      <a:pt x="8836" y="7204"/>
                    </a:lnTo>
                    <a:lnTo>
                      <a:pt x="8836" y="8545"/>
                    </a:lnTo>
                    <a:lnTo>
                      <a:pt x="1474" y="8545"/>
                    </a:lnTo>
                    <a:lnTo>
                      <a:pt x="1206" y="8545"/>
                    </a:lnTo>
                    <a:cubicBezTo>
                      <a:pt x="837" y="8545"/>
                      <a:pt x="536" y="8244"/>
                      <a:pt x="536" y="7875"/>
                    </a:cubicBezTo>
                    <a:cubicBezTo>
                      <a:pt x="536" y="7505"/>
                      <a:pt x="837" y="7204"/>
                      <a:pt x="1206" y="7204"/>
                    </a:cubicBezTo>
                    <a:close/>
                  </a:path>
                </a:pathLst>
              </a:custGeom>
              <a:grpFill/>
              <a:ln w="9525">
                <a:noFill/>
                <a:miter/>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1323" b="0"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60" name="Rectangle 7">
                <a:extLst>
                  <a:ext uri="{FF2B5EF4-FFF2-40B4-BE49-F238E27FC236}">
                    <a16:creationId xmlns:a16="http://schemas.microsoft.com/office/drawing/2014/main" id="{C118F3A7-FAE3-5B40-A6FE-4C4392F4C3DE}"/>
                  </a:ext>
                </a:extLst>
              </p:cNvPr>
              <p:cNvSpPr/>
              <p:nvPr/>
            </p:nvSpPr>
            <p:spPr>
              <a:xfrm>
                <a:off x="1017587" y="1512991"/>
                <a:ext cx="111125" cy="95041"/>
              </a:xfrm>
              <a:custGeom>
                <a:avLst/>
                <a:gdLst>
                  <a:gd name="T0" fmla="*/ 0 w 10600"/>
                  <a:gd name="T1" fmla="*/ 7875 h 9081"/>
                  <a:gd name="T2" fmla="*/ 1206 w 10600"/>
                  <a:gd name="T3" fmla="*/ 9081 h 9081"/>
                  <a:gd name="T4" fmla="*/ 1474 w 10600"/>
                  <a:gd name="T5" fmla="*/ 9081 h 9081"/>
                  <a:gd name="T6" fmla="*/ 8836 w 10600"/>
                  <a:gd name="T7" fmla="*/ 9081 h 9081"/>
                  <a:gd name="T8" fmla="*/ 9372 w 10600"/>
                  <a:gd name="T9" fmla="*/ 9081 h 9081"/>
                  <a:gd name="T10" fmla="*/ 9930 w 10600"/>
                  <a:gd name="T11" fmla="*/ 9081 h 9081"/>
                  <a:gd name="T12" fmla="*/ 9930 w 10600"/>
                  <a:gd name="T13" fmla="*/ 8545 h 9081"/>
                  <a:gd name="T14" fmla="*/ 9372 w 10600"/>
                  <a:gd name="T15" fmla="*/ 8545 h 9081"/>
                  <a:gd name="T16" fmla="*/ 9372 w 10600"/>
                  <a:gd name="T17" fmla="*/ 7204 h 9081"/>
                  <a:gd name="T18" fmla="*/ 9930 w 10600"/>
                  <a:gd name="T19" fmla="*/ 7204 h 9081"/>
                  <a:gd name="T20" fmla="*/ 9930 w 10600"/>
                  <a:gd name="T21" fmla="*/ 6970 h 9081"/>
                  <a:gd name="T22" fmla="*/ 10198 w 10600"/>
                  <a:gd name="T23" fmla="*/ 6970 h 9081"/>
                  <a:gd name="T24" fmla="*/ 10600 w 10600"/>
                  <a:gd name="T25" fmla="*/ 6970 h 9081"/>
                  <a:gd name="T26" fmla="*/ 10600 w 10600"/>
                  <a:gd name="T27" fmla="*/ 6434 h 9081"/>
                  <a:gd name="T28" fmla="*/ 10198 w 10600"/>
                  <a:gd name="T29" fmla="*/ 6434 h 9081"/>
                  <a:gd name="T30" fmla="*/ 10198 w 10600"/>
                  <a:gd name="T31" fmla="*/ 5093 h 9081"/>
                  <a:gd name="T32" fmla="*/ 10600 w 10600"/>
                  <a:gd name="T33" fmla="*/ 5093 h 9081"/>
                  <a:gd name="T34" fmla="*/ 10600 w 10600"/>
                  <a:gd name="T35" fmla="*/ 4557 h 9081"/>
                  <a:gd name="T36" fmla="*/ 10198 w 10600"/>
                  <a:gd name="T37" fmla="*/ 4557 h 9081"/>
                  <a:gd name="T38" fmla="*/ 10165 w 10600"/>
                  <a:gd name="T39" fmla="*/ 4557 h 9081"/>
                  <a:gd name="T40" fmla="*/ 10165 w 10600"/>
                  <a:gd name="T41" fmla="*/ 4378 h 9081"/>
                  <a:gd name="T42" fmla="*/ 10165 w 10600"/>
                  <a:gd name="T43" fmla="*/ 4110 h 9081"/>
                  <a:gd name="T44" fmla="*/ 10165 w 10600"/>
                  <a:gd name="T45" fmla="*/ 4099 h 9081"/>
                  <a:gd name="T46" fmla="*/ 9503 w 10600"/>
                  <a:gd name="T47" fmla="*/ 2859 h 9081"/>
                  <a:gd name="T48" fmla="*/ 10198 w 10600"/>
                  <a:gd name="T49" fmla="*/ 2859 h 9081"/>
                  <a:gd name="T50" fmla="*/ 10198 w 10600"/>
                  <a:gd name="T51" fmla="*/ 2138 h 9081"/>
                  <a:gd name="T52" fmla="*/ 8449 w 10600"/>
                  <a:gd name="T53" fmla="*/ 0 h 9081"/>
                  <a:gd name="T54" fmla="*/ 2277 w 10600"/>
                  <a:gd name="T55" fmla="*/ 0 h 9081"/>
                  <a:gd name="T56" fmla="*/ 685 w 10600"/>
                  <a:gd name="T57" fmla="*/ 2508 h 9081"/>
                  <a:gd name="T58" fmla="*/ 235 w 10600"/>
                  <a:gd name="T59" fmla="*/ 3440 h 9081"/>
                  <a:gd name="T60" fmla="*/ 1429 w 10600"/>
                  <a:gd name="T61" fmla="*/ 4645 h 9081"/>
                  <a:gd name="T62" fmla="*/ 670 w 10600"/>
                  <a:gd name="T63" fmla="*/ 5763 h 9081"/>
                  <a:gd name="T64" fmla="*/ 1100 w 10600"/>
                  <a:gd name="T65" fmla="*/ 6679 h 9081"/>
                  <a:gd name="T66" fmla="*/ 0 w 10600"/>
                  <a:gd name="T67" fmla="*/ 7875 h 9081"/>
                  <a:gd name="T68" fmla="*/ 771 w 10600"/>
                  <a:gd name="T69" fmla="*/ 3440 h 9081"/>
                  <a:gd name="T70" fmla="*/ 1113 w 10600"/>
                  <a:gd name="T71" fmla="*/ 2859 h 9081"/>
                  <a:gd name="T72" fmla="*/ 9104 w 10600"/>
                  <a:gd name="T73" fmla="*/ 2859 h 9081"/>
                  <a:gd name="T74" fmla="*/ 9104 w 10600"/>
                  <a:gd name="T75" fmla="*/ 4110 h 9081"/>
                  <a:gd name="T76" fmla="*/ 1441 w 10600"/>
                  <a:gd name="T77" fmla="*/ 4110 h 9081"/>
                  <a:gd name="T78" fmla="*/ 771 w 10600"/>
                  <a:gd name="T79" fmla="*/ 3440 h 9081"/>
                  <a:gd name="T80" fmla="*/ 1877 w 10600"/>
                  <a:gd name="T81" fmla="*/ 5093 h 9081"/>
                  <a:gd name="T82" fmla="*/ 2145 w 10600"/>
                  <a:gd name="T83" fmla="*/ 5093 h 9081"/>
                  <a:gd name="T84" fmla="*/ 9662 w 10600"/>
                  <a:gd name="T85" fmla="*/ 5093 h 9081"/>
                  <a:gd name="T86" fmla="*/ 9662 w 10600"/>
                  <a:gd name="T87" fmla="*/ 6434 h 9081"/>
                  <a:gd name="T88" fmla="*/ 2145 w 10600"/>
                  <a:gd name="T89" fmla="*/ 6434 h 9081"/>
                  <a:gd name="T90" fmla="*/ 1877 w 10600"/>
                  <a:gd name="T91" fmla="*/ 6434 h 9081"/>
                  <a:gd name="T92" fmla="*/ 1206 w 10600"/>
                  <a:gd name="T93" fmla="*/ 5763 h 9081"/>
                  <a:gd name="T94" fmla="*/ 1877 w 10600"/>
                  <a:gd name="T95" fmla="*/ 5093 h 9081"/>
                  <a:gd name="T96" fmla="*/ 1206 w 10600"/>
                  <a:gd name="T97" fmla="*/ 7204 h 9081"/>
                  <a:gd name="T98" fmla="*/ 1475 w 10600"/>
                  <a:gd name="T99" fmla="*/ 7204 h 9081"/>
                  <a:gd name="T100" fmla="*/ 8836 w 10600"/>
                  <a:gd name="T101" fmla="*/ 7204 h 9081"/>
                  <a:gd name="T102" fmla="*/ 8836 w 10600"/>
                  <a:gd name="T103" fmla="*/ 8545 h 9081"/>
                  <a:gd name="T104" fmla="*/ 1474 w 10600"/>
                  <a:gd name="T105" fmla="*/ 8545 h 9081"/>
                  <a:gd name="T106" fmla="*/ 1206 w 10600"/>
                  <a:gd name="T107" fmla="*/ 8545 h 9081"/>
                  <a:gd name="T108" fmla="*/ 536 w 10600"/>
                  <a:gd name="T109" fmla="*/ 7875 h 9081"/>
                  <a:gd name="T110" fmla="*/ 1206 w 10600"/>
                  <a:gd name="T111" fmla="*/ 7204 h 90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00" h="9081">
                    <a:moveTo>
                      <a:pt x="0" y="7875"/>
                    </a:moveTo>
                    <a:cubicBezTo>
                      <a:pt x="0" y="8540"/>
                      <a:pt x="541" y="9081"/>
                      <a:pt x="1206" y="9081"/>
                    </a:cubicBezTo>
                    <a:lnTo>
                      <a:pt x="1474" y="9081"/>
                    </a:lnTo>
                    <a:lnTo>
                      <a:pt x="8836" y="9081"/>
                    </a:lnTo>
                    <a:lnTo>
                      <a:pt x="9372" y="9081"/>
                    </a:lnTo>
                    <a:lnTo>
                      <a:pt x="9930" y="9081"/>
                    </a:lnTo>
                    <a:lnTo>
                      <a:pt x="9930" y="8545"/>
                    </a:lnTo>
                    <a:lnTo>
                      <a:pt x="9372" y="8545"/>
                    </a:lnTo>
                    <a:lnTo>
                      <a:pt x="9372" y="7204"/>
                    </a:lnTo>
                    <a:lnTo>
                      <a:pt x="9930" y="7204"/>
                    </a:lnTo>
                    <a:lnTo>
                      <a:pt x="9930" y="6970"/>
                    </a:lnTo>
                    <a:lnTo>
                      <a:pt x="10198" y="6970"/>
                    </a:lnTo>
                    <a:lnTo>
                      <a:pt x="10600" y="6970"/>
                    </a:lnTo>
                    <a:lnTo>
                      <a:pt x="10600" y="6434"/>
                    </a:lnTo>
                    <a:lnTo>
                      <a:pt x="10198" y="6434"/>
                    </a:lnTo>
                    <a:lnTo>
                      <a:pt x="10198" y="5093"/>
                    </a:lnTo>
                    <a:lnTo>
                      <a:pt x="10600" y="5093"/>
                    </a:lnTo>
                    <a:lnTo>
                      <a:pt x="10600" y="4557"/>
                    </a:lnTo>
                    <a:lnTo>
                      <a:pt x="10198" y="4557"/>
                    </a:lnTo>
                    <a:lnTo>
                      <a:pt x="10165" y="4557"/>
                    </a:lnTo>
                    <a:lnTo>
                      <a:pt x="10165" y="4378"/>
                    </a:lnTo>
                    <a:lnTo>
                      <a:pt x="10165" y="4110"/>
                    </a:lnTo>
                    <a:lnTo>
                      <a:pt x="10165" y="4099"/>
                    </a:lnTo>
                    <a:lnTo>
                      <a:pt x="9503" y="2859"/>
                    </a:lnTo>
                    <a:lnTo>
                      <a:pt x="10198" y="2859"/>
                    </a:lnTo>
                    <a:lnTo>
                      <a:pt x="10198" y="2138"/>
                    </a:lnTo>
                    <a:lnTo>
                      <a:pt x="8449" y="0"/>
                    </a:lnTo>
                    <a:lnTo>
                      <a:pt x="2277" y="0"/>
                    </a:lnTo>
                    <a:lnTo>
                      <a:pt x="685" y="2508"/>
                    </a:lnTo>
                    <a:cubicBezTo>
                      <a:pt x="413" y="2729"/>
                      <a:pt x="235" y="3063"/>
                      <a:pt x="235" y="3440"/>
                    </a:cubicBezTo>
                    <a:cubicBezTo>
                      <a:pt x="235" y="4101"/>
                      <a:pt x="769" y="4639"/>
                      <a:pt x="1429" y="4645"/>
                    </a:cubicBezTo>
                    <a:cubicBezTo>
                      <a:pt x="985" y="4824"/>
                      <a:pt x="670" y="5257"/>
                      <a:pt x="670" y="5763"/>
                    </a:cubicBezTo>
                    <a:cubicBezTo>
                      <a:pt x="670" y="6131"/>
                      <a:pt x="839" y="6457"/>
                      <a:pt x="1100" y="6679"/>
                    </a:cubicBezTo>
                    <a:cubicBezTo>
                      <a:pt x="485" y="6734"/>
                      <a:pt x="0" y="7246"/>
                      <a:pt x="0" y="7875"/>
                    </a:cubicBezTo>
                    <a:close/>
                    <a:moveTo>
                      <a:pt x="771" y="3440"/>
                    </a:moveTo>
                    <a:cubicBezTo>
                      <a:pt x="771" y="3190"/>
                      <a:pt x="910" y="2974"/>
                      <a:pt x="1113" y="2859"/>
                    </a:cubicBezTo>
                    <a:lnTo>
                      <a:pt x="9104" y="2859"/>
                    </a:lnTo>
                    <a:lnTo>
                      <a:pt x="9104" y="4110"/>
                    </a:lnTo>
                    <a:lnTo>
                      <a:pt x="1441" y="4110"/>
                    </a:lnTo>
                    <a:cubicBezTo>
                      <a:pt x="1071" y="4110"/>
                      <a:pt x="771" y="3810"/>
                      <a:pt x="771" y="3440"/>
                    </a:cubicBezTo>
                    <a:close/>
                    <a:moveTo>
                      <a:pt x="1877" y="5093"/>
                    </a:moveTo>
                    <a:lnTo>
                      <a:pt x="2145" y="5093"/>
                    </a:lnTo>
                    <a:lnTo>
                      <a:pt x="9662" y="5093"/>
                    </a:lnTo>
                    <a:lnTo>
                      <a:pt x="9662" y="6434"/>
                    </a:lnTo>
                    <a:lnTo>
                      <a:pt x="2145" y="6434"/>
                    </a:lnTo>
                    <a:lnTo>
                      <a:pt x="1877" y="6434"/>
                    </a:lnTo>
                    <a:cubicBezTo>
                      <a:pt x="1507" y="6434"/>
                      <a:pt x="1206" y="6133"/>
                      <a:pt x="1206" y="5763"/>
                    </a:cubicBezTo>
                    <a:cubicBezTo>
                      <a:pt x="1206" y="5394"/>
                      <a:pt x="1507" y="5093"/>
                      <a:pt x="1877" y="5093"/>
                    </a:cubicBezTo>
                    <a:close/>
                    <a:moveTo>
                      <a:pt x="1206" y="7204"/>
                    </a:moveTo>
                    <a:lnTo>
                      <a:pt x="1475" y="7204"/>
                    </a:lnTo>
                    <a:lnTo>
                      <a:pt x="8836" y="7204"/>
                    </a:lnTo>
                    <a:lnTo>
                      <a:pt x="8836" y="8545"/>
                    </a:lnTo>
                    <a:lnTo>
                      <a:pt x="1474" y="8545"/>
                    </a:lnTo>
                    <a:lnTo>
                      <a:pt x="1206" y="8545"/>
                    </a:lnTo>
                    <a:cubicBezTo>
                      <a:pt x="837" y="8545"/>
                      <a:pt x="536" y="8244"/>
                      <a:pt x="536" y="7875"/>
                    </a:cubicBezTo>
                    <a:cubicBezTo>
                      <a:pt x="536" y="7505"/>
                      <a:pt x="837" y="7204"/>
                      <a:pt x="1206" y="7204"/>
                    </a:cubicBezTo>
                    <a:close/>
                  </a:path>
                </a:pathLst>
              </a:custGeom>
              <a:grpFill/>
              <a:ln w="9525">
                <a:noFill/>
                <a:miter/>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1323" b="0"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61" name="Rectangle 8">
                <a:extLst>
                  <a:ext uri="{FF2B5EF4-FFF2-40B4-BE49-F238E27FC236}">
                    <a16:creationId xmlns:a16="http://schemas.microsoft.com/office/drawing/2014/main" id="{C1B7E56D-A6A9-8545-A65E-0E07F26E253B}"/>
                  </a:ext>
                </a:extLst>
              </p:cNvPr>
              <p:cNvSpPr/>
              <p:nvPr/>
            </p:nvSpPr>
            <p:spPr>
              <a:xfrm>
                <a:off x="1017587" y="1512991"/>
                <a:ext cx="111125" cy="95041"/>
              </a:xfrm>
              <a:custGeom>
                <a:avLst/>
                <a:gdLst>
                  <a:gd name="T0" fmla="*/ 0 w 10600"/>
                  <a:gd name="T1" fmla="*/ 7875 h 9081"/>
                  <a:gd name="T2" fmla="*/ 1206 w 10600"/>
                  <a:gd name="T3" fmla="*/ 9081 h 9081"/>
                  <a:gd name="T4" fmla="*/ 1474 w 10600"/>
                  <a:gd name="T5" fmla="*/ 9081 h 9081"/>
                  <a:gd name="T6" fmla="*/ 8836 w 10600"/>
                  <a:gd name="T7" fmla="*/ 9081 h 9081"/>
                  <a:gd name="T8" fmla="*/ 9372 w 10600"/>
                  <a:gd name="T9" fmla="*/ 9081 h 9081"/>
                  <a:gd name="T10" fmla="*/ 9930 w 10600"/>
                  <a:gd name="T11" fmla="*/ 9081 h 9081"/>
                  <a:gd name="T12" fmla="*/ 9930 w 10600"/>
                  <a:gd name="T13" fmla="*/ 8545 h 9081"/>
                  <a:gd name="T14" fmla="*/ 9372 w 10600"/>
                  <a:gd name="T15" fmla="*/ 8545 h 9081"/>
                  <a:gd name="T16" fmla="*/ 9372 w 10600"/>
                  <a:gd name="T17" fmla="*/ 7204 h 9081"/>
                  <a:gd name="T18" fmla="*/ 9930 w 10600"/>
                  <a:gd name="T19" fmla="*/ 7204 h 9081"/>
                  <a:gd name="T20" fmla="*/ 9930 w 10600"/>
                  <a:gd name="T21" fmla="*/ 6970 h 9081"/>
                  <a:gd name="T22" fmla="*/ 10198 w 10600"/>
                  <a:gd name="T23" fmla="*/ 6970 h 9081"/>
                  <a:gd name="T24" fmla="*/ 10600 w 10600"/>
                  <a:gd name="T25" fmla="*/ 6970 h 9081"/>
                  <a:gd name="T26" fmla="*/ 10600 w 10600"/>
                  <a:gd name="T27" fmla="*/ 6434 h 9081"/>
                  <a:gd name="T28" fmla="*/ 10198 w 10600"/>
                  <a:gd name="T29" fmla="*/ 6434 h 9081"/>
                  <a:gd name="T30" fmla="*/ 10198 w 10600"/>
                  <a:gd name="T31" fmla="*/ 5093 h 9081"/>
                  <a:gd name="T32" fmla="*/ 10600 w 10600"/>
                  <a:gd name="T33" fmla="*/ 5093 h 9081"/>
                  <a:gd name="T34" fmla="*/ 10600 w 10600"/>
                  <a:gd name="T35" fmla="*/ 4557 h 9081"/>
                  <a:gd name="T36" fmla="*/ 10198 w 10600"/>
                  <a:gd name="T37" fmla="*/ 4557 h 9081"/>
                  <a:gd name="T38" fmla="*/ 10165 w 10600"/>
                  <a:gd name="T39" fmla="*/ 4557 h 9081"/>
                  <a:gd name="T40" fmla="*/ 10165 w 10600"/>
                  <a:gd name="T41" fmla="*/ 4378 h 9081"/>
                  <a:gd name="T42" fmla="*/ 10165 w 10600"/>
                  <a:gd name="T43" fmla="*/ 4110 h 9081"/>
                  <a:gd name="T44" fmla="*/ 10165 w 10600"/>
                  <a:gd name="T45" fmla="*/ 4099 h 9081"/>
                  <a:gd name="T46" fmla="*/ 9503 w 10600"/>
                  <a:gd name="T47" fmla="*/ 2859 h 9081"/>
                  <a:gd name="T48" fmla="*/ 10198 w 10600"/>
                  <a:gd name="T49" fmla="*/ 2859 h 9081"/>
                  <a:gd name="T50" fmla="*/ 10198 w 10600"/>
                  <a:gd name="T51" fmla="*/ 2138 h 9081"/>
                  <a:gd name="T52" fmla="*/ 8449 w 10600"/>
                  <a:gd name="T53" fmla="*/ 0 h 9081"/>
                  <a:gd name="T54" fmla="*/ 2277 w 10600"/>
                  <a:gd name="T55" fmla="*/ 0 h 9081"/>
                  <a:gd name="T56" fmla="*/ 685 w 10600"/>
                  <a:gd name="T57" fmla="*/ 2508 h 9081"/>
                  <a:gd name="T58" fmla="*/ 235 w 10600"/>
                  <a:gd name="T59" fmla="*/ 3440 h 9081"/>
                  <a:gd name="T60" fmla="*/ 1429 w 10600"/>
                  <a:gd name="T61" fmla="*/ 4645 h 9081"/>
                  <a:gd name="T62" fmla="*/ 670 w 10600"/>
                  <a:gd name="T63" fmla="*/ 5763 h 9081"/>
                  <a:gd name="T64" fmla="*/ 1100 w 10600"/>
                  <a:gd name="T65" fmla="*/ 6679 h 9081"/>
                  <a:gd name="T66" fmla="*/ 0 w 10600"/>
                  <a:gd name="T67" fmla="*/ 7875 h 9081"/>
                  <a:gd name="T68" fmla="*/ 771 w 10600"/>
                  <a:gd name="T69" fmla="*/ 3440 h 9081"/>
                  <a:gd name="T70" fmla="*/ 1113 w 10600"/>
                  <a:gd name="T71" fmla="*/ 2859 h 9081"/>
                  <a:gd name="T72" fmla="*/ 9104 w 10600"/>
                  <a:gd name="T73" fmla="*/ 2859 h 9081"/>
                  <a:gd name="T74" fmla="*/ 9104 w 10600"/>
                  <a:gd name="T75" fmla="*/ 4110 h 9081"/>
                  <a:gd name="T76" fmla="*/ 1441 w 10600"/>
                  <a:gd name="T77" fmla="*/ 4110 h 9081"/>
                  <a:gd name="T78" fmla="*/ 771 w 10600"/>
                  <a:gd name="T79" fmla="*/ 3440 h 9081"/>
                  <a:gd name="T80" fmla="*/ 1877 w 10600"/>
                  <a:gd name="T81" fmla="*/ 5093 h 9081"/>
                  <a:gd name="T82" fmla="*/ 2145 w 10600"/>
                  <a:gd name="T83" fmla="*/ 5093 h 9081"/>
                  <a:gd name="T84" fmla="*/ 9662 w 10600"/>
                  <a:gd name="T85" fmla="*/ 5093 h 9081"/>
                  <a:gd name="T86" fmla="*/ 9662 w 10600"/>
                  <a:gd name="T87" fmla="*/ 6434 h 9081"/>
                  <a:gd name="T88" fmla="*/ 2145 w 10600"/>
                  <a:gd name="T89" fmla="*/ 6434 h 9081"/>
                  <a:gd name="T90" fmla="*/ 1877 w 10600"/>
                  <a:gd name="T91" fmla="*/ 6434 h 9081"/>
                  <a:gd name="T92" fmla="*/ 1206 w 10600"/>
                  <a:gd name="T93" fmla="*/ 5763 h 9081"/>
                  <a:gd name="T94" fmla="*/ 1877 w 10600"/>
                  <a:gd name="T95" fmla="*/ 5093 h 9081"/>
                  <a:gd name="T96" fmla="*/ 1206 w 10600"/>
                  <a:gd name="T97" fmla="*/ 7204 h 9081"/>
                  <a:gd name="T98" fmla="*/ 1475 w 10600"/>
                  <a:gd name="T99" fmla="*/ 7204 h 9081"/>
                  <a:gd name="T100" fmla="*/ 8836 w 10600"/>
                  <a:gd name="T101" fmla="*/ 7204 h 9081"/>
                  <a:gd name="T102" fmla="*/ 8836 w 10600"/>
                  <a:gd name="T103" fmla="*/ 8545 h 9081"/>
                  <a:gd name="T104" fmla="*/ 1474 w 10600"/>
                  <a:gd name="T105" fmla="*/ 8545 h 9081"/>
                  <a:gd name="T106" fmla="*/ 1206 w 10600"/>
                  <a:gd name="T107" fmla="*/ 8545 h 9081"/>
                  <a:gd name="T108" fmla="*/ 536 w 10600"/>
                  <a:gd name="T109" fmla="*/ 7875 h 9081"/>
                  <a:gd name="T110" fmla="*/ 1206 w 10600"/>
                  <a:gd name="T111" fmla="*/ 7204 h 90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00" h="9081">
                    <a:moveTo>
                      <a:pt x="0" y="7875"/>
                    </a:moveTo>
                    <a:cubicBezTo>
                      <a:pt x="0" y="8540"/>
                      <a:pt x="541" y="9081"/>
                      <a:pt x="1206" y="9081"/>
                    </a:cubicBezTo>
                    <a:lnTo>
                      <a:pt x="1474" y="9081"/>
                    </a:lnTo>
                    <a:lnTo>
                      <a:pt x="8836" y="9081"/>
                    </a:lnTo>
                    <a:lnTo>
                      <a:pt x="9372" y="9081"/>
                    </a:lnTo>
                    <a:lnTo>
                      <a:pt x="9930" y="9081"/>
                    </a:lnTo>
                    <a:lnTo>
                      <a:pt x="9930" y="8545"/>
                    </a:lnTo>
                    <a:lnTo>
                      <a:pt x="9372" y="8545"/>
                    </a:lnTo>
                    <a:lnTo>
                      <a:pt x="9372" y="7204"/>
                    </a:lnTo>
                    <a:lnTo>
                      <a:pt x="9930" y="7204"/>
                    </a:lnTo>
                    <a:lnTo>
                      <a:pt x="9930" y="6970"/>
                    </a:lnTo>
                    <a:lnTo>
                      <a:pt x="10198" y="6970"/>
                    </a:lnTo>
                    <a:lnTo>
                      <a:pt x="10600" y="6970"/>
                    </a:lnTo>
                    <a:lnTo>
                      <a:pt x="10600" y="6434"/>
                    </a:lnTo>
                    <a:lnTo>
                      <a:pt x="10198" y="6434"/>
                    </a:lnTo>
                    <a:lnTo>
                      <a:pt x="10198" y="5093"/>
                    </a:lnTo>
                    <a:lnTo>
                      <a:pt x="10600" y="5093"/>
                    </a:lnTo>
                    <a:lnTo>
                      <a:pt x="10600" y="4557"/>
                    </a:lnTo>
                    <a:lnTo>
                      <a:pt x="10198" y="4557"/>
                    </a:lnTo>
                    <a:lnTo>
                      <a:pt x="10165" y="4557"/>
                    </a:lnTo>
                    <a:lnTo>
                      <a:pt x="10165" y="4378"/>
                    </a:lnTo>
                    <a:lnTo>
                      <a:pt x="10165" y="4110"/>
                    </a:lnTo>
                    <a:lnTo>
                      <a:pt x="10165" y="4099"/>
                    </a:lnTo>
                    <a:lnTo>
                      <a:pt x="9503" y="2859"/>
                    </a:lnTo>
                    <a:lnTo>
                      <a:pt x="10198" y="2859"/>
                    </a:lnTo>
                    <a:lnTo>
                      <a:pt x="10198" y="2138"/>
                    </a:lnTo>
                    <a:lnTo>
                      <a:pt x="8449" y="0"/>
                    </a:lnTo>
                    <a:lnTo>
                      <a:pt x="2277" y="0"/>
                    </a:lnTo>
                    <a:lnTo>
                      <a:pt x="685" y="2508"/>
                    </a:lnTo>
                    <a:cubicBezTo>
                      <a:pt x="413" y="2729"/>
                      <a:pt x="235" y="3063"/>
                      <a:pt x="235" y="3440"/>
                    </a:cubicBezTo>
                    <a:cubicBezTo>
                      <a:pt x="235" y="4101"/>
                      <a:pt x="769" y="4639"/>
                      <a:pt x="1429" y="4645"/>
                    </a:cubicBezTo>
                    <a:cubicBezTo>
                      <a:pt x="985" y="4824"/>
                      <a:pt x="670" y="5257"/>
                      <a:pt x="670" y="5763"/>
                    </a:cubicBezTo>
                    <a:cubicBezTo>
                      <a:pt x="670" y="6131"/>
                      <a:pt x="839" y="6457"/>
                      <a:pt x="1100" y="6679"/>
                    </a:cubicBezTo>
                    <a:cubicBezTo>
                      <a:pt x="485" y="6734"/>
                      <a:pt x="0" y="7246"/>
                      <a:pt x="0" y="7875"/>
                    </a:cubicBezTo>
                    <a:close/>
                    <a:moveTo>
                      <a:pt x="771" y="3440"/>
                    </a:moveTo>
                    <a:cubicBezTo>
                      <a:pt x="771" y="3190"/>
                      <a:pt x="910" y="2974"/>
                      <a:pt x="1113" y="2859"/>
                    </a:cubicBezTo>
                    <a:lnTo>
                      <a:pt x="9104" y="2859"/>
                    </a:lnTo>
                    <a:lnTo>
                      <a:pt x="9104" y="4110"/>
                    </a:lnTo>
                    <a:lnTo>
                      <a:pt x="1441" y="4110"/>
                    </a:lnTo>
                    <a:cubicBezTo>
                      <a:pt x="1071" y="4110"/>
                      <a:pt x="771" y="3810"/>
                      <a:pt x="771" y="3440"/>
                    </a:cubicBezTo>
                    <a:close/>
                    <a:moveTo>
                      <a:pt x="1877" y="5093"/>
                    </a:moveTo>
                    <a:lnTo>
                      <a:pt x="2145" y="5093"/>
                    </a:lnTo>
                    <a:lnTo>
                      <a:pt x="9662" y="5093"/>
                    </a:lnTo>
                    <a:lnTo>
                      <a:pt x="9662" y="6434"/>
                    </a:lnTo>
                    <a:lnTo>
                      <a:pt x="2145" y="6434"/>
                    </a:lnTo>
                    <a:lnTo>
                      <a:pt x="1877" y="6434"/>
                    </a:lnTo>
                    <a:cubicBezTo>
                      <a:pt x="1507" y="6434"/>
                      <a:pt x="1206" y="6133"/>
                      <a:pt x="1206" y="5763"/>
                    </a:cubicBezTo>
                    <a:cubicBezTo>
                      <a:pt x="1206" y="5394"/>
                      <a:pt x="1507" y="5093"/>
                      <a:pt x="1877" y="5093"/>
                    </a:cubicBezTo>
                    <a:close/>
                    <a:moveTo>
                      <a:pt x="1206" y="7204"/>
                    </a:moveTo>
                    <a:lnTo>
                      <a:pt x="1475" y="7204"/>
                    </a:lnTo>
                    <a:lnTo>
                      <a:pt x="8836" y="7204"/>
                    </a:lnTo>
                    <a:lnTo>
                      <a:pt x="8836" y="8545"/>
                    </a:lnTo>
                    <a:lnTo>
                      <a:pt x="1474" y="8545"/>
                    </a:lnTo>
                    <a:lnTo>
                      <a:pt x="1206" y="8545"/>
                    </a:lnTo>
                    <a:cubicBezTo>
                      <a:pt x="837" y="8545"/>
                      <a:pt x="536" y="8244"/>
                      <a:pt x="536" y="7875"/>
                    </a:cubicBezTo>
                    <a:cubicBezTo>
                      <a:pt x="536" y="7505"/>
                      <a:pt x="837" y="7204"/>
                      <a:pt x="1206" y="7204"/>
                    </a:cubicBezTo>
                    <a:close/>
                  </a:path>
                </a:pathLst>
              </a:custGeom>
              <a:grpFill/>
              <a:ln w="9525">
                <a:noFill/>
                <a:miter/>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1323" b="0"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62" name="Rectangle 9">
                <a:extLst>
                  <a:ext uri="{FF2B5EF4-FFF2-40B4-BE49-F238E27FC236}">
                    <a16:creationId xmlns:a16="http://schemas.microsoft.com/office/drawing/2014/main" id="{5CAB09D2-D6F6-D049-953E-A7B23EE33E07}"/>
                  </a:ext>
                </a:extLst>
              </p:cNvPr>
              <p:cNvSpPr/>
              <p:nvPr/>
            </p:nvSpPr>
            <p:spPr>
              <a:xfrm>
                <a:off x="1017587" y="1512991"/>
                <a:ext cx="111125" cy="95041"/>
              </a:xfrm>
              <a:custGeom>
                <a:avLst/>
                <a:gdLst>
                  <a:gd name="T0" fmla="*/ 0 w 10600"/>
                  <a:gd name="T1" fmla="*/ 7875 h 9081"/>
                  <a:gd name="T2" fmla="*/ 1206 w 10600"/>
                  <a:gd name="T3" fmla="*/ 9081 h 9081"/>
                  <a:gd name="T4" fmla="*/ 1474 w 10600"/>
                  <a:gd name="T5" fmla="*/ 9081 h 9081"/>
                  <a:gd name="T6" fmla="*/ 8836 w 10600"/>
                  <a:gd name="T7" fmla="*/ 9081 h 9081"/>
                  <a:gd name="T8" fmla="*/ 9372 w 10600"/>
                  <a:gd name="T9" fmla="*/ 9081 h 9081"/>
                  <a:gd name="T10" fmla="*/ 9930 w 10600"/>
                  <a:gd name="T11" fmla="*/ 9081 h 9081"/>
                  <a:gd name="T12" fmla="*/ 9930 w 10600"/>
                  <a:gd name="T13" fmla="*/ 8545 h 9081"/>
                  <a:gd name="T14" fmla="*/ 9372 w 10600"/>
                  <a:gd name="T15" fmla="*/ 8545 h 9081"/>
                  <a:gd name="T16" fmla="*/ 9372 w 10600"/>
                  <a:gd name="T17" fmla="*/ 7204 h 9081"/>
                  <a:gd name="T18" fmla="*/ 9930 w 10600"/>
                  <a:gd name="T19" fmla="*/ 7204 h 9081"/>
                  <a:gd name="T20" fmla="*/ 9930 w 10600"/>
                  <a:gd name="T21" fmla="*/ 6970 h 9081"/>
                  <a:gd name="T22" fmla="*/ 10198 w 10600"/>
                  <a:gd name="T23" fmla="*/ 6970 h 9081"/>
                  <a:gd name="T24" fmla="*/ 10600 w 10600"/>
                  <a:gd name="T25" fmla="*/ 6970 h 9081"/>
                  <a:gd name="T26" fmla="*/ 10600 w 10600"/>
                  <a:gd name="T27" fmla="*/ 6434 h 9081"/>
                  <a:gd name="T28" fmla="*/ 10198 w 10600"/>
                  <a:gd name="T29" fmla="*/ 6434 h 9081"/>
                  <a:gd name="T30" fmla="*/ 10198 w 10600"/>
                  <a:gd name="T31" fmla="*/ 5093 h 9081"/>
                  <a:gd name="T32" fmla="*/ 10600 w 10600"/>
                  <a:gd name="T33" fmla="*/ 5093 h 9081"/>
                  <a:gd name="T34" fmla="*/ 10600 w 10600"/>
                  <a:gd name="T35" fmla="*/ 4557 h 9081"/>
                  <a:gd name="T36" fmla="*/ 10198 w 10600"/>
                  <a:gd name="T37" fmla="*/ 4557 h 9081"/>
                  <a:gd name="T38" fmla="*/ 10165 w 10600"/>
                  <a:gd name="T39" fmla="*/ 4557 h 9081"/>
                  <a:gd name="T40" fmla="*/ 10165 w 10600"/>
                  <a:gd name="T41" fmla="*/ 4378 h 9081"/>
                  <a:gd name="T42" fmla="*/ 10165 w 10600"/>
                  <a:gd name="T43" fmla="*/ 4110 h 9081"/>
                  <a:gd name="T44" fmla="*/ 10165 w 10600"/>
                  <a:gd name="T45" fmla="*/ 4099 h 9081"/>
                  <a:gd name="T46" fmla="*/ 9503 w 10600"/>
                  <a:gd name="T47" fmla="*/ 2859 h 9081"/>
                  <a:gd name="T48" fmla="*/ 10198 w 10600"/>
                  <a:gd name="T49" fmla="*/ 2859 h 9081"/>
                  <a:gd name="T50" fmla="*/ 10198 w 10600"/>
                  <a:gd name="T51" fmla="*/ 2138 h 9081"/>
                  <a:gd name="T52" fmla="*/ 8449 w 10600"/>
                  <a:gd name="T53" fmla="*/ 0 h 9081"/>
                  <a:gd name="T54" fmla="*/ 2277 w 10600"/>
                  <a:gd name="T55" fmla="*/ 0 h 9081"/>
                  <a:gd name="T56" fmla="*/ 685 w 10600"/>
                  <a:gd name="T57" fmla="*/ 2508 h 9081"/>
                  <a:gd name="T58" fmla="*/ 235 w 10600"/>
                  <a:gd name="T59" fmla="*/ 3440 h 9081"/>
                  <a:gd name="T60" fmla="*/ 1429 w 10600"/>
                  <a:gd name="T61" fmla="*/ 4645 h 9081"/>
                  <a:gd name="T62" fmla="*/ 670 w 10600"/>
                  <a:gd name="T63" fmla="*/ 5763 h 9081"/>
                  <a:gd name="T64" fmla="*/ 1100 w 10600"/>
                  <a:gd name="T65" fmla="*/ 6679 h 9081"/>
                  <a:gd name="T66" fmla="*/ 0 w 10600"/>
                  <a:gd name="T67" fmla="*/ 7875 h 9081"/>
                  <a:gd name="T68" fmla="*/ 771 w 10600"/>
                  <a:gd name="T69" fmla="*/ 3440 h 9081"/>
                  <a:gd name="T70" fmla="*/ 1113 w 10600"/>
                  <a:gd name="T71" fmla="*/ 2859 h 9081"/>
                  <a:gd name="T72" fmla="*/ 9104 w 10600"/>
                  <a:gd name="T73" fmla="*/ 2859 h 9081"/>
                  <a:gd name="T74" fmla="*/ 9104 w 10600"/>
                  <a:gd name="T75" fmla="*/ 4110 h 9081"/>
                  <a:gd name="T76" fmla="*/ 1441 w 10600"/>
                  <a:gd name="T77" fmla="*/ 4110 h 9081"/>
                  <a:gd name="T78" fmla="*/ 771 w 10600"/>
                  <a:gd name="T79" fmla="*/ 3440 h 9081"/>
                  <a:gd name="T80" fmla="*/ 1877 w 10600"/>
                  <a:gd name="T81" fmla="*/ 5093 h 9081"/>
                  <a:gd name="T82" fmla="*/ 2145 w 10600"/>
                  <a:gd name="T83" fmla="*/ 5093 h 9081"/>
                  <a:gd name="T84" fmla="*/ 9662 w 10600"/>
                  <a:gd name="T85" fmla="*/ 5093 h 9081"/>
                  <a:gd name="T86" fmla="*/ 9662 w 10600"/>
                  <a:gd name="T87" fmla="*/ 6434 h 9081"/>
                  <a:gd name="T88" fmla="*/ 2145 w 10600"/>
                  <a:gd name="T89" fmla="*/ 6434 h 9081"/>
                  <a:gd name="T90" fmla="*/ 1877 w 10600"/>
                  <a:gd name="T91" fmla="*/ 6434 h 9081"/>
                  <a:gd name="T92" fmla="*/ 1206 w 10600"/>
                  <a:gd name="T93" fmla="*/ 5763 h 9081"/>
                  <a:gd name="T94" fmla="*/ 1877 w 10600"/>
                  <a:gd name="T95" fmla="*/ 5093 h 9081"/>
                  <a:gd name="T96" fmla="*/ 1206 w 10600"/>
                  <a:gd name="T97" fmla="*/ 7204 h 9081"/>
                  <a:gd name="T98" fmla="*/ 1475 w 10600"/>
                  <a:gd name="T99" fmla="*/ 7204 h 9081"/>
                  <a:gd name="T100" fmla="*/ 8836 w 10600"/>
                  <a:gd name="T101" fmla="*/ 7204 h 9081"/>
                  <a:gd name="T102" fmla="*/ 8836 w 10600"/>
                  <a:gd name="T103" fmla="*/ 8545 h 9081"/>
                  <a:gd name="T104" fmla="*/ 1474 w 10600"/>
                  <a:gd name="T105" fmla="*/ 8545 h 9081"/>
                  <a:gd name="T106" fmla="*/ 1206 w 10600"/>
                  <a:gd name="T107" fmla="*/ 8545 h 9081"/>
                  <a:gd name="T108" fmla="*/ 536 w 10600"/>
                  <a:gd name="T109" fmla="*/ 7875 h 9081"/>
                  <a:gd name="T110" fmla="*/ 1206 w 10600"/>
                  <a:gd name="T111" fmla="*/ 7204 h 90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00" h="9081">
                    <a:moveTo>
                      <a:pt x="0" y="7875"/>
                    </a:moveTo>
                    <a:cubicBezTo>
                      <a:pt x="0" y="8540"/>
                      <a:pt x="541" y="9081"/>
                      <a:pt x="1206" y="9081"/>
                    </a:cubicBezTo>
                    <a:lnTo>
                      <a:pt x="1474" y="9081"/>
                    </a:lnTo>
                    <a:lnTo>
                      <a:pt x="8836" y="9081"/>
                    </a:lnTo>
                    <a:lnTo>
                      <a:pt x="9372" y="9081"/>
                    </a:lnTo>
                    <a:lnTo>
                      <a:pt x="9930" y="9081"/>
                    </a:lnTo>
                    <a:lnTo>
                      <a:pt x="9930" y="8545"/>
                    </a:lnTo>
                    <a:lnTo>
                      <a:pt x="9372" y="8545"/>
                    </a:lnTo>
                    <a:lnTo>
                      <a:pt x="9372" y="7204"/>
                    </a:lnTo>
                    <a:lnTo>
                      <a:pt x="9930" y="7204"/>
                    </a:lnTo>
                    <a:lnTo>
                      <a:pt x="9930" y="6970"/>
                    </a:lnTo>
                    <a:lnTo>
                      <a:pt x="10198" y="6970"/>
                    </a:lnTo>
                    <a:lnTo>
                      <a:pt x="10600" y="6970"/>
                    </a:lnTo>
                    <a:lnTo>
                      <a:pt x="10600" y="6434"/>
                    </a:lnTo>
                    <a:lnTo>
                      <a:pt x="10198" y="6434"/>
                    </a:lnTo>
                    <a:lnTo>
                      <a:pt x="10198" y="5093"/>
                    </a:lnTo>
                    <a:lnTo>
                      <a:pt x="10600" y="5093"/>
                    </a:lnTo>
                    <a:lnTo>
                      <a:pt x="10600" y="4557"/>
                    </a:lnTo>
                    <a:lnTo>
                      <a:pt x="10198" y="4557"/>
                    </a:lnTo>
                    <a:lnTo>
                      <a:pt x="10165" y="4557"/>
                    </a:lnTo>
                    <a:lnTo>
                      <a:pt x="10165" y="4378"/>
                    </a:lnTo>
                    <a:lnTo>
                      <a:pt x="10165" y="4110"/>
                    </a:lnTo>
                    <a:lnTo>
                      <a:pt x="10165" y="4099"/>
                    </a:lnTo>
                    <a:lnTo>
                      <a:pt x="9503" y="2859"/>
                    </a:lnTo>
                    <a:lnTo>
                      <a:pt x="10198" y="2859"/>
                    </a:lnTo>
                    <a:lnTo>
                      <a:pt x="10198" y="2138"/>
                    </a:lnTo>
                    <a:lnTo>
                      <a:pt x="8449" y="0"/>
                    </a:lnTo>
                    <a:lnTo>
                      <a:pt x="2277" y="0"/>
                    </a:lnTo>
                    <a:lnTo>
                      <a:pt x="685" y="2508"/>
                    </a:lnTo>
                    <a:cubicBezTo>
                      <a:pt x="413" y="2729"/>
                      <a:pt x="235" y="3063"/>
                      <a:pt x="235" y="3440"/>
                    </a:cubicBezTo>
                    <a:cubicBezTo>
                      <a:pt x="235" y="4101"/>
                      <a:pt x="769" y="4639"/>
                      <a:pt x="1429" y="4645"/>
                    </a:cubicBezTo>
                    <a:cubicBezTo>
                      <a:pt x="985" y="4824"/>
                      <a:pt x="670" y="5257"/>
                      <a:pt x="670" y="5763"/>
                    </a:cubicBezTo>
                    <a:cubicBezTo>
                      <a:pt x="670" y="6131"/>
                      <a:pt x="839" y="6457"/>
                      <a:pt x="1100" y="6679"/>
                    </a:cubicBezTo>
                    <a:cubicBezTo>
                      <a:pt x="485" y="6734"/>
                      <a:pt x="0" y="7246"/>
                      <a:pt x="0" y="7875"/>
                    </a:cubicBezTo>
                    <a:close/>
                    <a:moveTo>
                      <a:pt x="771" y="3440"/>
                    </a:moveTo>
                    <a:cubicBezTo>
                      <a:pt x="771" y="3190"/>
                      <a:pt x="910" y="2974"/>
                      <a:pt x="1113" y="2859"/>
                    </a:cubicBezTo>
                    <a:lnTo>
                      <a:pt x="9104" y="2859"/>
                    </a:lnTo>
                    <a:lnTo>
                      <a:pt x="9104" y="4110"/>
                    </a:lnTo>
                    <a:lnTo>
                      <a:pt x="1441" y="4110"/>
                    </a:lnTo>
                    <a:cubicBezTo>
                      <a:pt x="1071" y="4110"/>
                      <a:pt x="771" y="3810"/>
                      <a:pt x="771" y="3440"/>
                    </a:cubicBezTo>
                    <a:close/>
                    <a:moveTo>
                      <a:pt x="1877" y="5093"/>
                    </a:moveTo>
                    <a:lnTo>
                      <a:pt x="2145" y="5093"/>
                    </a:lnTo>
                    <a:lnTo>
                      <a:pt x="9662" y="5093"/>
                    </a:lnTo>
                    <a:lnTo>
                      <a:pt x="9662" y="6434"/>
                    </a:lnTo>
                    <a:lnTo>
                      <a:pt x="2145" y="6434"/>
                    </a:lnTo>
                    <a:lnTo>
                      <a:pt x="1877" y="6434"/>
                    </a:lnTo>
                    <a:cubicBezTo>
                      <a:pt x="1507" y="6434"/>
                      <a:pt x="1206" y="6133"/>
                      <a:pt x="1206" y="5763"/>
                    </a:cubicBezTo>
                    <a:cubicBezTo>
                      <a:pt x="1206" y="5394"/>
                      <a:pt x="1507" y="5093"/>
                      <a:pt x="1877" y="5093"/>
                    </a:cubicBezTo>
                    <a:close/>
                    <a:moveTo>
                      <a:pt x="1206" y="7204"/>
                    </a:moveTo>
                    <a:lnTo>
                      <a:pt x="1475" y="7204"/>
                    </a:lnTo>
                    <a:lnTo>
                      <a:pt x="8836" y="7204"/>
                    </a:lnTo>
                    <a:lnTo>
                      <a:pt x="8836" y="8545"/>
                    </a:lnTo>
                    <a:lnTo>
                      <a:pt x="1474" y="8545"/>
                    </a:lnTo>
                    <a:lnTo>
                      <a:pt x="1206" y="8545"/>
                    </a:lnTo>
                    <a:cubicBezTo>
                      <a:pt x="837" y="8545"/>
                      <a:pt x="536" y="8244"/>
                      <a:pt x="536" y="7875"/>
                    </a:cubicBezTo>
                    <a:cubicBezTo>
                      <a:pt x="536" y="7505"/>
                      <a:pt x="837" y="7204"/>
                      <a:pt x="1206" y="7204"/>
                    </a:cubicBezTo>
                    <a:close/>
                  </a:path>
                </a:pathLst>
              </a:custGeom>
              <a:grpFill/>
              <a:ln w="9525">
                <a:noFill/>
                <a:miter/>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1323" b="0"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grpSp>
        <p:sp>
          <p:nvSpPr>
            <p:cNvPr id="56" name="Freeform 15">
              <a:extLst>
                <a:ext uri="{FF2B5EF4-FFF2-40B4-BE49-F238E27FC236}">
                  <a16:creationId xmlns:a16="http://schemas.microsoft.com/office/drawing/2014/main" id="{899C2FAA-F8C5-AE48-B079-38DE9A064277}"/>
                </a:ext>
              </a:extLst>
            </p:cNvPr>
            <p:cNvSpPr>
              <a:spLocks noEditPoints="1"/>
            </p:cNvSpPr>
            <p:nvPr/>
          </p:nvSpPr>
          <p:spPr>
            <a:xfrm>
              <a:off x="5726003" y="1924092"/>
              <a:ext cx="400788" cy="391661"/>
            </a:xfrm>
            <a:custGeom>
              <a:avLst/>
              <a:gdLst>
                <a:gd name="connsiteX0" fmla="*/ 393353 w 605777"/>
                <a:gd name="connsiteY0" fmla="*/ 432895 h 591983"/>
                <a:gd name="connsiteX1" fmla="*/ 475196 w 605777"/>
                <a:gd name="connsiteY1" fmla="*/ 432895 h 591983"/>
                <a:gd name="connsiteX2" fmla="*/ 475196 w 605777"/>
                <a:gd name="connsiteY2" fmla="*/ 516117 h 591983"/>
                <a:gd name="connsiteX3" fmla="*/ 393353 w 605777"/>
                <a:gd name="connsiteY3" fmla="*/ 516117 h 591983"/>
                <a:gd name="connsiteX4" fmla="*/ 288520 w 605777"/>
                <a:gd name="connsiteY4" fmla="*/ 362776 h 591983"/>
                <a:gd name="connsiteX5" fmla="*/ 370363 w 605777"/>
                <a:gd name="connsiteY5" fmla="*/ 362776 h 591983"/>
                <a:gd name="connsiteX6" fmla="*/ 370363 w 605777"/>
                <a:gd name="connsiteY6" fmla="*/ 516117 h 591983"/>
                <a:gd name="connsiteX7" fmla="*/ 288520 w 605777"/>
                <a:gd name="connsiteY7" fmla="*/ 516117 h 591983"/>
                <a:gd name="connsiteX8" fmla="*/ 188055 w 605777"/>
                <a:gd name="connsiteY8" fmla="*/ 268059 h 591983"/>
                <a:gd name="connsiteX9" fmla="*/ 269898 w 605777"/>
                <a:gd name="connsiteY9" fmla="*/ 268059 h 591983"/>
                <a:gd name="connsiteX10" fmla="*/ 269898 w 605777"/>
                <a:gd name="connsiteY10" fmla="*/ 516117 h 591983"/>
                <a:gd name="connsiteX11" fmla="*/ 188055 w 605777"/>
                <a:gd name="connsiteY11" fmla="*/ 516117 h 591983"/>
                <a:gd name="connsiteX12" fmla="*/ 84602 w 605777"/>
                <a:gd name="connsiteY12" fmla="*/ 183457 h 591983"/>
                <a:gd name="connsiteX13" fmla="*/ 166445 w 605777"/>
                <a:gd name="connsiteY13" fmla="*/ 183457 h 591983"/>
                <a:gd name="connsiteX14" fmla="*/ 166445 w 605777"/>
                <a:gd name="connsiteY14" fmla="*/ 516117 h 591983"/>
                <a:gd name="connsiteX15" fmla="*/ 84602 w 605777"/>
                <a:gd name="connsiteY15" fmla="*/ 516117 h 591983"/>
                <a:gd name="connsiteX16" fmla="*/ 159368 w 605777"/>
                <a:gd name="connsiteY16" fmla="*/ 88970 h 591983"/>
                <a:gd name="connsiteX17" fmla="*/ 515339 w 605777"/>
                <a:gd name="connsiteY17" fmla="*/ 399936 h 591983"/>
                <a:gd name="connsiteX18" fmla="*/ 529693 w 605777"/>
                <a:gd name="connsiteY18" fmla="*/ 385606 h 591983"/>
                <a:gd name="connsiteX19" fmla="*/ 541176 w 605777"/>
                <a:gd name="connsiteY19" fmla="*/ 432895 h 591983"/>
                <a:gd name="connsiteX20" fmla="*/ 492373 w 605777"/>
                <a:gd name="connsiteY20" fmla="*/ 422864 h 591983"/>
                <a:gd name="connsiteX21" fmla="*/ 506727 w 605777"/>
                <a:gd name="connsiteY21" fmla="*/ 408534 h 591983"/>
                <a:gd name="connsiteX22" fmla="*/ 152191 w 605777"/>
                <a:gd name="connsiteY22" fmla="*/ 97568 h 591983"/>
                <a:gd name="connsiteX23" fmla="*/ 37323 w 605777"/>
                <a:gd name="connsiteY23" fmla="*/ 0 h 591983"/>
                <a:gd name="connsiteX24" fmla="*/ 74646 w 605777"/>
                <a:gd name="connsiteY24" fmla="*/ 58768 h 591983"/>
                <a:gd name="connsiteX25" fmla="*/ 50242 w 605777"/>
                <a:gd name="connsiteY25" fmla="*/ 58768 h 591983"/>
                <a:gd name="connsiteX26" fmla="*/ 50242 w 605777"/>
                <a:gd name="connsiteY26" fmla="*/ 541815 h 591983"/>
                <a:gd name="connsiteX27" fmla="*/ 545486 w 605777"/>
                <a:gd name="connsiteY27" fmla="*/ 541815 h 591983"/>
                <a:gd name="connsiteX28" fmla="*/ 545486 w 605777"/>
                <a:gd name="connsiteY28" fmla="*/ 516014 h 591983"/>
                <a:gd name="connsiteX29" fmla="*/ 605777 w 605777"/>
                <a:gd name="connsiteY29" fmla="*/ 553282 h 591983"/>
                <a:gd name="connsiteX30" fmla="*/ 545486 w 605777"/>
                <a:gd name="connsiteY30" fmla="*/ 591983 h 591983"/>
                <a:gd name="connsiteX31" fmla="*/ 545486 w 605777"/>
                <a:gd name="connsiteY31" fmla="*/ 566183 h 591983"/>
                <a:gd name="connsiteX32" fmla="*/ 25839 w 605777"/>
                <a:gd name="connsiteY32" fmla="*/ 566183 h 591983"/>
                <a:gd name="connsiteX33" fmla="*/ 25839 w 605777"/>
                <a:gd name="connsiteY33" fmla="*/ 58768 h 591983"/>
                <a:gd name="connsiteX34" fmla="*/ 0 w 605777"/>
                <a:gd name="connsiteY34" fmla="*/ 58768 h 591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05777" h="591983">
                  <a:moveTo>
                    <a:pt x="393353" y="432895"/>
                  </a:moveTo>
                  <a:lnTo>
                    <a:pt x="475196" y="432895"/>
                  </a:lnTo>
                  <a:lnTo>
                    <a:pt x="475196" y="516117"/>
                  </a:lnTo>
                  <a:lnTo>
                    <a:pt x="393353" y="516117"/>
                  </a:lnTo>
                  <a:close/>
                  <a:moveTo>
                    <a:pt x="288520" y="362776"/>
                  </a:moveTo>
                  <a:lnTo>
                    <a:pt x="370363" y="362776"/>
                  </a:lnTo>
                  <a:lnTo>
                    <a:pt x="370363" y="516117"/>
                  </a:lnTo>
                  <a:lnTo>
                    <a:pt x="288520" y="516117"/>
                  </a:lnTo>
                  <a:close/>
                  <a:moveTo>
                    <a:pt x="188055" y="268059"/>
                  </a:moveTo>
                  <a:lnTo>
                    <a:pt x="269898" y="268059"/>
                  </a:lnTo>
                  <a:lnTo>
                    <a:pt x="269898" y="516117"/>
                  </a:lnTo>
                  <a:lnTo>
                    <a:pt x="188055" y="516117"/>
                  </a:lnTo>
                  <a:close/>
                  <a:moveTo>
                    <a:pt x="84602" y="183457"/>
                  </a:moveTo>
                  <a:lnTo>
                    <a:pt x="166445" y="183457"/>
                  </a:lnTo>
                  <a:lnTo>
                    <a:pt x="166445" y="516117"/>
                  </a:lnTo>
                  <a:lnTo>
                    <a:pt x="84602" y="516117"/>
                  </a:lnTo>
                  <a:close/>
                  <a:moveTo>
                    <a:pt x="159368" y="88970"/>
                  </a:moveTo>
                  <a:lnTo>
                    <a:pt x="515339" y="399936"/>
                  </a:lnTo>
                  <a:lnTo>
                    <a:pt x="529693" y="385606"/>
                  </a:lnTo>
                  <a:lnTo>
                    <a:pt x="541176" y="432895"/>
                  </a:lnTo>
                  <a:lnTo>
                    <a:pt x="492373" y="422864"/>
                  </a:lnTo>
                  <a:lnTo>
                    <a:pt x="506727" y="408534"/>
                  </a:lnTo>
                  <a:lnTo>
                    <a:pt x="152191" y="97568"/>
                  </a:lnTo>
                  <a:close/>
                  <a:moveTo>
                    <a:pt x="37323" y="0"/>
                  </a:moveTo>
                  <a:lnTo>
                    <a:pt x="74646" y="58768"/>
                  </a:lnTo>
                  <a:lnTo>
                    <a:pt x="50242" y="58768"/>
                  </a:lnTo>
                  <a:lnTo>
                    <a:pt x="50242" y="541815"/>
                  </a:lnTo>
                  <a:lnTo>
                    <a:pt x="545486" y="541815"/>
                  </a:lnTo>
                  <a:lnTo>
                    <a:pt x="545486" y="516014"/>
                  </a:lnTo>
                  <a:lnTo>
                    <a:pt x="605777" y="553282"/>
                  </a:lnTo>
                  <a:lnTo>
                    <a:pt x="545486" y="591983"/>
                  </a:lnTo>
                  <a:lnTo>
                    <a:pt x="545486" y="566183"/>
                  </a:lnTo>
                  <a:lnTo>
                    <a:pt x="25839" y="566183"/>
                  </a:lnTo>
                  <a:lnTo>
                    <a:pt x="25839" y="58768"/>
                  </a:lnTo>
                  <a:lnTo>
                    <a:pt x="0" y="58768"/>
                  </a:lnTo>
                  <a:close/>
                </a:path>
              </a:pathLst>
            </a:custGeom>
            <a:solidFill>
              <a:srgbClr val="9A0001"/>
            </a:solidFill>
            <a:ln w="9525">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57" name="Freeform 16">
              <a:extLst>
                <a:ext uri="{FF2B5EF4-FFF2-40B4-BE49-F238E27FC236}">
                  <a16:creationId xmlns:a16="http://schemas.microsoft.com/office/drawing/2014/main" id="{89E1F7A5-229A-E64D-8E68-3D467F45B1DD}"/>
                </a:ext>
              </a:extLst>
            </p:cNvPr>
            <p:cNvSpPr>
              <a:spLocks noEditPoints="1"/>
            </p:cNvSpPr>
            <p:nvPr/>
          </p:nvSpPr>
          <p:spPr>
            <a:xfrm>
              <a:off x="9033270" y="1914570"/>
              <a:ext cx="400788" cy="396916"/>
            </a:xfrm>
            <a:custGeom>
              <a:avLst/>
              <a:gdLst/>
              <a:ahLst/>
              <a:cxnLst>
                <a:cxn ang="0">
                  <a:pos x="317600" y="281037"/>
                </a:cxn>
                <a:cxn ang="0">
                  <a:pos x="240469" y="201712"/>
                </a:cxn>
                <a:cxn ang="0">
                  <a:pos x="238200" y="199445"/>
                </a:cxn>
                <a:cxn ang="0">
                  <a:pos x="258617" y="129186"/>
                </a:cxn>
                <a:cxn ang="0">
                  <a:pos x="129309" y="0"/>
                </a:cxn>
                <a:cxn ang="0">
                  <a:pos x="0" y="129186"/>
                </a:cxn>
                <a:cxn ang="0">
                  <a:pos x="129309" y="258372"/>
                </a:cxn>
                <a:cxn ang="0">
                  <a:pos x="199634" y="237974"/>
                </a:cxn>
                <a:cxn ang="0">
                  <a:pos x="201903" y="240241"/>
                </a:cxn>
                <a:cxn ang="0">
                  <a:pos x="281303" y="317299"/>
                </a:cxn>
                <a:cxn ang="0">
                  <a:pos x="299452" y="326365"/>
                </a:cxn>
                <a:cxn ang="0">
                  <a:pos x="317600" y="317299"/>
                </a:cxn>
                <a:cxn ang="0">
                  <a:pos x="317600" y="281037"/>
                </a:cxn>
                <a:cxn ang="0">
                  <a:pos x="129309" y="217577"/>
                </a:cxn>
                <a:cxn ang="0">
                  <a:pos x="40834" y="129186"/>
                </a:cxn>
                <a:cxn ang="0">
                  <a:pos x="129309" y="40796"/>
                </a:cxn>
                <a:cxn ang="0">
                  <a:pos x="217783" y="129186"/>
                </a:cxn>
                <a:cxn ang="0">
                  <a:pos x="129309" y="217577"/>
                </a:cxn>
              </a:cxnLst>
              <a:rect l="0" t="0" r="0" b="0"/>
              <a:pathLst>
                <a:path w="145" h="144">
                  <a:moveTo>
                    <a:pt x="140" y="124"/>
                  </a:moveTo>
                  <a:cubicBezTo>
                    <a:pt x="106" y="89"/>
                    <a:pt x="106" y="89"/>
                    <a:pt x="106" y="89"/>
                  </a:cubicBezTo>
                  <a:cubicBezTo>
                    <a:pt x="106" y="89"/>
                    <a:pt x="105" y="88"/>
                    <a:pt x="105" y="88"/>
                  </a:cubicBezTo>
                  <a:cubicBezTo>
                    <a:pt x="111" y="79"/>
                    <a:pt x="114" y="68"/>
                    <a:pt x="114" y="57"/>
                  </a:cubicBezTo>
                  <a:cubicBezTo>
                    <a:pt x="114" y="26"/>
                    <a:pt x="88" y="0"/>
                    <a:pt x="57" y="0"/>
                  </a:cubicBezTo>
                  <a:cubicBezTo>
                    <a:pt x="26" y="0"/>
                    <a:pt x="0" y="26"/>
                    <a:pt x="0" y="57"/>
                  </a:cubicBezTo>
                  <a:cubicBezTo>
                    <a:pt x="0" y="88"/>
                    <a:pt x="26" y="114"/>
                    <a:pt x="57" y="114"/>
                  </a:cubicBezTo>
                  <a:cubicBezTo>
                    <a:pt x="68" y="114"/>
                    <a:pt x="79" y="111"/>
                    <a:pt x="88" y="105"/>
                  </a:cubicBezTo>
                  <a:cubicBezTo>
                    <a:pt x="88" y="105"/>
                    <a:pt x="89" y="106"/>
                    <a:pt x="89" y="106"/>
                  </a:cubicBezTo>
                  <a:cubicBezTo>
                    <a:pt x="124" y="140"/>
                    <a:pt x="124" y="140"/>
                    <a:pt x="124" y="140"/>
                  </a:cubicBezTo>
                  <a:cubicBezTo>
                    <a:pt x="126" y="143"/>
                    <a:pt x="129" y="144"/>
                    <a:pt x="132" y="144"/>
                  </a:cubicBezTo>
                  <a:cubicBezTo>
                    <a:pt x="135" y="144"/>
                    <a:pt x="138" y="143"/>
                    <a:pt x="140" y="140"/>
                  </a:cubicBezTo>
                  <a:cubicBezTo>
                    <a:pt x="145" y="136"/>
                    <a:pt x="145" y="128"/>
                    <a:pt x="140" y="124"/>
                  </a:cubicBezTo>
                  <a:moveTo>
                    <a:pt x="57" y="96"/>
                  </a:moveTo>
                  <a:cubicBezTo>
                    <a:pt x="36" y="96"/>
                    <a:pt x="18" y="78"/>
                    <a:pt x="18" y="57"/>
                  </a:cubicBezTo>
                  <a:cubicBezTo>
                    <a:pt x="18" y="35"/>
                    <a:pt x="36" y="18"/>
                    <a:pt x="57" y="18"/>
                  </a:cubicBezTo>
                  <a:cubicBezTo>
                    <a:pt x="78" y="18"/>
                    <a:pt x="96" y="35"/>
                    <a:pt x="96" y="57"/>
                  </a:cubicBezTo>
                  <a:cubicBezTo>
                    <a:pt x="96" y="78"/>
                    <a:pt x="78" y="96"/>
                    <a:pt x="57" y="96"/>
                  </a:cubicBezTo>
                </a:path>
              </a:pathLst>
            </a:custGeom>
            <a:solidFill>
              <a:srgbClr val="9A0001"/>
            </a:solidFill>
            <a:ln w="9525">
              <a:noFill/>
            </a:ln>
          </p:spPr>
          <p:txBody>
            <a:bodyPr/>
            <a:lstStyle/>
            <a:p>
              <a:pPr eaLnBrk="1" fontAlgn="auto" hangingPunct="1">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grpSp>
      <p:grpSp>
        <p:nvGrpSpPr>
          <p:cNvPr id="63" name="组合 28">
            <a:extLst>
              <a:ext uri="{FF2B5EF4-FFF2-40B4-BE49-F238E27FC236}">
                <a16:creationId xmlns:a16="http://schemas.microsoft.com/office/drawing/2014/main" id="{5936AC12-4BC6-A04B-B754-46D05DB7741F}"/>
              </a:ext>
            </a:extLst>
          </p:cNvPr>
          <p:cNvGrpSpPr/>
          <p:nvPr/>
        </p:nvGrpSpPr>
        <p:grpSpPr>
          <a:xfrm>
            <a:off x="157647" y="4653136"/>
            <a:ext cx="8828705" cy="0"/>
            <a:chOff x="1681648" y="3976521"/>
            <a:chExt cx="8828705" cy="0"/>
          </a:xfrm>
        </p:grpSpPr>
        <p:cxnSp>
          <p:nvCxnSpPr>
            <p:cNvPr id="64" name="直接连接符 22">
              <a:extLst>
                <a:ext uri="{FF2B5EF4-FFF2-40B4-BE49-F238E27FC236}">
                  <a16:creationId xmlns:a16="http://schemas.microsoft.com/office/drawing/2014/main" id="{97C4E509-BDC2-E14C-8052-9627B50C0259}"/>
                </a:ext>
              </a:extLst>
            </p:cNvPr>
            <p:cNvCxnSpPr/>
            <p:nvPr/>
          </p:nvCxnSpPr>
          <p:spPr>
            <a:xfrm>
              <a:off x="1681648" y="3976521"/>
              <a:ext cx="2394715" cy="0"/>
            </a:xfrm>
            <a:prstGeom prst="line">
              <a:avLst/>
            </a:prstGeom>
            <a:noFill/>
            <a:ln w="6350" cap="flat" cmpd="sng" algn="ctr">
              <a:solidFill>
                <a:srgbClr val="9A0001"/>
              </a:solidFill>
              <a:prstDash val="solid"/>
              <a:miter lim="800000"/>
            </a:ln>
            <a:effectLst/>
          </p:spPr>
        </p:cxnSp>
        <p:cxnSp>
          <p:nvCxnSpPr>
            <p:cNvPr id="65" name="直接连接符 23">
              <a:extLst>
                <a:ext uri="{FF2B5EF4-FFF2-40B4-BE49-F238E27FC236}">
                  <a16:creationId xmlns:a16="http://schemas.microsoft.com/office/drawing/2014/main" id="{E9539B53-642F-DA43-B5FD-BC222B14325F}"/>
                </a:ext>
              </a:extLst>
            </p:cNvPr>
            <p:cNvCxnSpPr/>
            <p:nvPr/>
          </p:nvCxnSpPr>
          <p:spPr>
            <a:xfrm>
              <a:off x="4852969" y="3976521"/>
              <a:ext cx="2394715" cy="0"/>
            </a:xfrm>
            <a:prstGeom prst="line">
              <a:avLst/>
            </a:prstGeom>
            <a:noFill/>
            <a:ln w="6350" cap="flat" cmpd="sng" algn="ctr">
              <a:solidFill>
                <a:srgbClr val="9A0001"/>
              </a:solidFill>
              <a:prstDash val="solid"/>
              <a:miter lim="800000"/>
            </a:ln>
            <a:effectLst/>
          </p:spPr>
        </p:cxnSp>
        <p:cxnSp>
          <p:nvCxnSpPr>
            <p:cNvPr id="66" name="直接连接符 24">
              <a:extLst>
                <a:ext uri="{FF2B5EF4-FFF2-40B4-BE49-F238E27FC236}">
                  <a16:creationId xmlns:a16="http://schemas.microsoft.com/office/drawing/2014/main" id="{714989F1-663F-E34B-ADE9-2D50212E4F44}"/>
                </a:ext>
              </a:extLst>
            </p:cNvPr>
            <p:cNvCxnSpPr/>
            <p:nvPr/>
          </p:nvCxnSpPr>
          <p:spPr>
            <a:xfrm>
              <a:off x="8115638" y="3976521"/>
              <a:ext cx="2394715" cy="0"/>
            </a:xfrm>
            <a:prstGeom prst="line">
              <a:avLst/>
            </a:prstGeom>
            <a:noFill/>
            <a:ln w="6350" cap="flat" cmpd="sng" algn="ctr">
              <a:solidFill>
                <a:srgbClr val="9A0001"/>
              </a:solidFill>
              <a:prstDash val="solid"/>
              <a:miter lim="800000"/>
            </a:ln>
            <a:effectLst/>
          </p:spPr>
        </p:cxnSp>
      </p:grpSp>
      <p:grpSp>
        <p:nvGrpSpPr>
          <p:cNvPr id="67" name="组合 27">
            <a:extLst>
              <a:ext uri="{FF2B5EF4-FFF2-40B4-BE49-F238E27FC236}">
                <a16:creationId xmlns:a16="http://schemas.microsoft.com/office/drawing/2014/main" id="{5213AD98-918F-3048-961C-084DD3B47568}"/>
              </a:ext>
            </a:extLst>
          </p:cNvPr>
          <p:cNvGrpSpPr/>
          <p:nvPr/>
        </p:nvGrpSpPr>
        <p:grpSpPr>
          <a:xfrm>
            <a:off x="89107" y="4887800"/>
            <a:ext cx="9070435" cy="1428491"/>
            <a:chOff x="1681648" y="4454675"/>
            <a:chExt cx="9070435" cy="1428491"/>
          </a:xfrm>
        </p:grpSpPr>
        <p:sp>
          <p:nvSpPr>
            <p:cNvPr id="68" name="Freeform 33">
              <a:extLst>
                <a:ext uri="{FF2B5EF4-FFF2-40B4-BE49-F238E27FC236}">
                  <a16:creationId xmlns:a16="http://schemas.microsoft.com/office/drawing/2014/main" id="{D345AF0C-237B-2F46-A120-CAA3D10B6A5E}"/>
                </a:ext>
              </a:extLst>
            </p:cNvPr>
            <p:cNvSpPr>
              <a:spLocks noEditPoints="1"/>
            </p:cNvSpPr>
            <p:nvPr/>
          </p:nvSpPr>
          <p:spPr>
            <a:xfrm>
              <a:off x="2653468" y="4477907"/>
              <a:ext cx="364602" cy="398852"/>
            </a:xfrm>
            <a:custGeom>
              <a:avLst/>
              <a:gdLst>
                <a:gd name="connsiteX0" fmla="*/ 244150 w 538417"/>
                <a:gd name="connsiteY0" fmla="*/ 141846 h 588994"/>
                <a:gd name="connsiteX1" fmla="*/ 397721 w 538417"/>
                <a:gd name="connsiteY1" fmla="*/ 294497 h 588994"/>
                <a:gd name="connsiteX2" fmla="*/ 244150 w 538417"/>
                <a:gd name="connsiteY2" fmla="*/ 447148 h 588994"/>
                <a:gd name="connsiteX3" fmla="*/ 90579 w 538417"/>
                <a:gd name="connsiteY3" fmla="*/ 294497 h 588994"/>
                <a:gd name="connsiteX4" fmla="*/ 244150 w 538417"/>
                <a:gd name="connsiteY4" fmla="*/ 141846 h 588994"/>
                <a:gd name="connsiteX5" fmla="*/ 244083 w 538417"/>
                <a:gd name="connsiteY5" fmla="*/ 0 h 588994"/>
                <a:gd name="connsiteX6" fmla="*/ 538417 w 538417"/>
                <a:gd name="connsiteY6" fmla="*/ 293781 h 588994"/>
                <a:gd name="connsiteX7" fmla="*/ 244083 w 538417"/>
                <a:gd name="connsiteY7" fmla="*/ 588994 h 588994"/>
                <a:gd name="connsiteX8" fmla="*/ 0 w 538417"/>
                <a:gd name="connsiteY8" fmla="*/ 458584 h 588994"/>
                <a:gd name="connsiteX9" fmla="*/ 74660 w 538417"/>
                <a:gd name="connsiteY9" fmla="*/ 415592 h 588994"/>
                <a:gd name="connsiteX10" fmla="*/ 244083 w 538417"/>
                <a:gd name="connsiteY10" fmla="*/ 503010 h 588994"/>
                <a:gd name="connsiteX11" fmla="*/ 452271 w 538417"/>
                <a:gd name="connsiteY11" fmla="*/ 293781 h 588994"/>
                <a:gd name="connsiteX12" fmla="*/ 244083 w 538417"/>
                <a:gd name="connsiteY12" fmla="*/ 85984 h 588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8417" h="588994">
                  <a:moveTo>
                    <a:pt x="244150" y="141846"/>
                  </a:moveTo>
                  <a:cubicBezTo>
                    <a:pt x="328965" y="141846"/>
                    <a:pt x="397721" y="210190"/>
                    <a:pt x="397721" y="294497"/>
                  </a:cubicBezTo>
                  <a:cubicBezTo>
                    <a:pt x="397721" y="378804"/>
                    <a:pt x="328965" y="447148"/>
                    <a:pt x="244150" y="447148"/>
                  </a:cubicBezTo>
                  <a:cubicBezTo>
                    <a:pt x="159335" y="447148"/>
                    <a:pt x="90579" y="378804"/>
                    <a:pt x="90579" y="294497"/>
                  </a:cubicBezTo>
                  <a:cubicBezTo>
                    <a:pt x="90579" y="210190"/>
                    <a:pt x="159335" y="141846"/>
                    <a:pt x="244150" y="141846"/>
                  </a:cubicBezTo>
                  <a:close/>
                  <a:moveTo>
                    <a:pt x="244083" y="0"/>
                  </a:moveTo>
                  <a:cubicBezTo>
                    <a:pt x="406326" y="0"/>
                    <a:pt x="538417" y="131843"/>
                    <a:pt x="538417" y="293781"/>
                  </a:cubicBezTo>
                  <a:cubicBezTo>
                    <a:pt x="538417" y="457151"/>
                    <a:pt x="406326" y="588994"/>
                    <a:pt x="244083" y="588994"/>
                  </a:cubicBezTo>
                  <a:cubicBezTo>
                    <a:pt x="142142" y="588994"/>
                    <a:pt x="53124" y="537404"/>
                    <a:pt x="0" y="458584"/>
                  </a:cubicBezTo>
                  <a:lnTo>
                    <a:pt x="74660" y="415592"/>
                  </a:lnTo>
                  <a:cubicBezTo>
                    <a:pt x="111991" y="468616"/>
                    <a:pt x="173729" y="503010"/>
                    <a:pt x="244083" y="503010"/>
                  </a:cubicBezTo>
                  <a:cubicBezTo>
                    <a:pt x="358945" y="503010"/>
                    <a:pt x="452271" y="409860"/>
                    <a:pt x="452271" y="293781"/>
                  </a:cubicBezTo>
                  <a:cubicBezTo>
                    <a:pt x="452271" y="179135"/>
                    <a:pt x="358945" y="85984"/>
                    <a:pt x="244083" y="85984"/>
                  </a:cubicBezTo>
                  <a:close/>
                </a:path>
              </a:pathLst>
            </a:custGeom>
            <a:solidFill>
              <a:srgbClr val="9A0001"/>
            </a:solidFill>
            <a:ln w="9525">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69" name="Freeform 36">
              <a:extLst>
                <a:ext uri="{FF2B5EF4-FFF2-40B4-BE49-F238E27FC236}">
                  <a16:creationId xmlns:a16="http://schemas.microsoft.com/office/drawing/2014/main" id="{9980F91B-E06B-9D4F-86B3-6289A9EDAD97}"/>
                </a:ext>
              </a:extLst>
            </p:cNvPr>
            <p:cNvSpPr/>
            <p:nvPr/>
          </p:nvSpPr>
          <p:spPr>
            <a:xfrm>
              <a:off x="5851139" y="4454675"/>
              <a:ext cx="415530" cy="398852"/>
            </a:xfrm>
            <a:custGeom>
              <a:avLst/>
              <a:gdLst>
                <a:gd name="connsiteX0" fmla="*/ 298825 w 597455"/>
                <a:gd name="connsiteY0" fmla="*/ 169319 h 573476"/>
                <a:gd name="connsiteX1" fmla="*/ 316044 w 597455"/>
                <a:gd name="connsiteY1" fmla="*/ 186519 h 573476"/>
                <a:gd name="connsiteX2" fmla="*/ 316044 w 597455"/>
                <a:gd name="connsiteY2" fmla="*/ 259620 h 573476"/>
                <a:gd name="connsiteX3" fmla="*/ 337568 w 597455"/>
                <a:gd name="connsiteY3" fmla="*/ 295454 h 573476"/>
                <a:gd name="connsiteX4" fmla="*/ 298825 w 597455"/>
                <a:gd name="connsiteY4" fmla="*/ 334154 h 573476"/>
                <a:gd name="connsiteX5" fmla="*/ 264387 w 597455"/>
                <a:gd name="connsiteY5" fmla="*/ 312654 h 573476"/>
                <a:gd name="connsiteX6" fmla="*/ 140983 w 597455"/>
                <a:gd name="connsiteY6" fmla="*/ 312654 h 573476"/>
                <a:gd name="connsiteX7" fmla="*/ 123764 w 597455"/>
                <a:gd name="connsiteY7" fmla="*/ 295454 h 573476"/>
                <a:gd name="connsiteX8" fmla="*/ 140983 w 597455"/>
                <a:gd name="connsiteY8" fmla="*/ 279687 h 573476"/>
                <a:gd name="connsiteX9" fmla="*/ 261517 w 597455"/>
                <a:gd name="connsiteY9" fmla="*/ 279687 h 573476"/>
                <a:gd name="connsiteX10" fmla="*/ 283041 w 597455"/>
                <a:gd name="connsiteY10" fmla="*/ 259620 h 573476"/>
                <a:gd name="connsiteX11" fmla="*/ 283041 w 597455"/>
                <a:gd name="connsiteY11" fmla="*/ 186519 h 573476"/>
                <a:gd name="connsiteX12" fmla="*/ 298825 w 597455"/>
                <a:gd name="connsiteY12" fmla="*/ 169319 h 573476"/>
                <a:gd name="connsiteX13" fmla="*/ 298830 w 597455"/>
                <a:gd name="connsiteY13" fmla="*/ 84603 h 573476"/>
                <a:gd name="connsiteX14" fmla="*/ 87798 w 597455"/>
                <a:gd name="connsiteY14" fmla="*/ 295349 h 573476"/>
                <a:gd name="connsiteX15" fmla="*/ 298830 w 597455"/>
                <a:gd name="connsiteY15" fmla="*/ 506095 h 573476"/>
                <a:gd name="connsiteX16" fmla="*/ 509863 w 597455"/>
                <a:gd name="connsiteY16" fmla="*/ 295349 h 573476"/>
                <a:gd name="connsiteX17" fmla="*/ 298830 w 597455"/>
                <a:gd name="connsiteY17" fmla="*/ 84603 h 573476"/>
                <a:gd name="connsiteX18" fmla="*/ 298830 w 597455"/>
                <a:gd name="connsiteY18" fmla="*/ 32991 h 573476"/>
                <a:gd name="connsiteX19" fmla="*/ 560108 w 597455"/>
                <a:gd name="connsiteY19" fmla="*/ 295349 h 573476"/>
                <a:gd name="connsiteX20" fmla="*/ 484022 w 597455"/>
                <a:gd name="connsiteY20" fmla="*/ 478856 h 573476"/>
                <a:gd name="connsiteX21" fmla="*/ 522783 w 597455"/>
                <a:gd name="connsiteY21" fmla="*/ 527600 h 573476"/>
                <a:gd name="connsiteX22" fmla="*/ 518476 w 597455"/>
                <a:gd name="connsiteY22" fmla="*/ 567742 h 573476"/>
                <a:gd name="connsiteX23" fmla="*/ 501249 w 597455"/>
                <a:gd name="connsiteY23" fmla="*/ 573476 h 573476"/>
                <a:gd name="connsiteX24" fmla="*/ 478280 w 597455"/>
                <a:gd name="connsiteY24" fmla="*/ 562007 h 573476"/>
                <a:gd name="connsiteX25" fmla="*/ 440954 w 597455"/>
                <a:gd name="connsiteY25" fmla="*/ 513263 h 573476"/>
                <a:gd name="connsiteX26" fmla="*/ 298830 w 597455"/>
                <a:gd name="connsiteY26" fmla="*/ 556272 h 573476"/>
                <a:gd name="connsiteX27" fmla="*/ 156707 w 597455"/>
                <a:gd name="connsiteY27" fmla="*/ 513263 h 573476"/>
                <a:gd name="connsiteX28" fmla="*/ 117946 w 597455"/>
                <a:gd name="connsiteY28" fmla="*/ 562007 h 573476"/>
                <a:gd name="connsiteX29" fmla="*/ 96412 w 597455"/>
                <a:gd name="connsiteY29" fmla="*/ 573476 h 573476"/>
                <a:gd name="connsiteX30" fmla="*/ 79185 w 597455"/>
                <a:gd name="connsiteY30" fmla="*/ 567742 h 573476"/>
                <a:gd name="connsiteX31" fmla="*/ 73443 w 597455"/>
                <a:gd name="connsiteY31" fmla="*/ 527600 h 573476"/>
                <a:gd name="connsiteX32" fmla="*/ 112203 w 597455"/>
                <a:gd name="connsiteY32" fmla="*/ 478856 h 573476"/>
                <a:gd name="connsiteX33" fmla="*/ 37553 w 597455"/>
                <a:gd name="connsiteY33" fmla="*/ 295349 h 573476"/>
                <a:gd name="connsiteX34" fmla="*/ 298830 w 597455"/>
                <a:gd name="connsiteY34" fmla="*/ 32991 h 573476"/>
                <a:gd name="connsiteX35" fmla="*/ 497437 w 597455"/>
                <a:gd name="connsiteY35" fmla="*/ 42 h 573476"/>
                <a:gd name="connsiteX36" fmla="*/ 567260 w 597455"/>
                <a:gd name="connsiteY36" fmla="*/ 30168 h 573476"/>
                <a:gd name="connsiteX37" fmla="*/ 571568 w 597455"/>
                <a:gd name="connsiteY37" fmla="*/ 169319 h 573476"/>
                <a:gd name="connsiteX38" fmla="*/ 426537 w 597455"/>
                <a:gd name="connsiteY38" fmla="*/ 25864 h 573476"/>
                <a:gd name="connsiteX39" fmla="*/ 497437 w 597455"/>
                <a:gd name="connsiteY39" fmla="*/ 42 h 573476"/>
                <a:gd name="connsiteX40" fmla="*/ 100223 w 597455"/>
                <a:gd name="connsiteY40" fmla="*/ 42 h 573476"/>
                <a:gd name="connsiteX41" fmla="*/ 171123 w 597455"/>
                <a:gd name="connsiteY41" fmla="*/ 25864 h 573476"/>
                <a:gd name="connsiteX42" fmla="*/ 24656 w 597455"/>
                <a:gd name="connsiteY42" fmla="*/ 169319 h 573476"/>
                <a:gd name="connsiteX43" fmla="*/ 30400 w 597455"/>
                <a:gd name="connsiteY43" fmla="*/ 30168 h 573476"/>
                <a:gd name="connsiteX44" fmla="*/ 100223 w 597455"/>
                <a:gd name="connsiteY44" fmla="*/ 42 h 573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597455" h="573476">
                  <a:moveTo>
                    <a:pt x="298825" y="169319"/>
                  </a:moveTo>
                  <a:cubicBezTo>
                    <a:pt x="308869" y="169319"/>
                    <a:pt x="316044" y="176486"/>
                    <a:pt x="316044" y="186519"/>
                  </a:cubicBezTo>
                  <a:lnTo>
                    <a:pt x="316044" y="259620"/>
                  </a:lnTo>
                  <a:cubicBezTo>
                    <a:pt x="328958" y="265354"/>
                    <a:pt x="337568" y="279687"/>
                    <a:pt x="337568" y="295454"/>
                  </a:cubicBezTo>
                  <a:cubicBezTo>
                    <a:pt x="337568" y="316954"/>
                    <a:pt x="320349" y="334154"/>
                    <a:pt x="298825" y="334154"/>
                  </a:cubicBezTo>
                  <a:cubicBezTo>
                    <a:pt x="283041" y="334154"/>
                    <a:pt x="270126" y="325554"/>
                    <a:pt x="264387" y="312654"/>
                  </a:cubicBezTo>
                  <a:lnTo>
                    <a:pt x="140983" y="312654"/>
                  </a:lnTo>
                  <a:cubicBezTo>
                    <a:pt x="130938" y="312654"/>
                    <a:pt x="123764" y="305487"/>
                    <a:pt x="123764" y="295454"/>
                  </a:cubicBezTo>
                  <a:cubicBezTo>
                    <a:pt x="123764" y="286854"/>
                    <a:pt x="130938" y="279687"/>
                    <a:pt x="140983" y="279687"/>
                  </a:cubicBezTo>
                  <a:lnTo>
                    <a:pt x="261517" y="279687"/>
                  </a:lnTo>
                  <a:cubicBezTo>
                    <a:pt x="265821" y="271087"/>
                    <a:pt x="272996" y="262487"/>
                    <a:pt x="283041" y="259620"/>
                  </a:cubicBezTo>
                  <a:lnTo>
                    <a:pt x="283041" y="186519"/>
                  </a:lnTo>
                  <a:cubicBezTo>
                    <a:pt x="283041" y="176486"/>
                    <a:pt x="290215" y="169319"/>
                    <a:pt x="298825" y="169319"/>
                  </a:cubicBezTo>
                  <a:close/>
                  <a:moveTo>
                    <a:pt x="298830" y="84603"/>
                  </a:moveTo>
                  <a:cubicBezTo>
                    <a:pt x="182547" y="84603"/>
                    <a:pt x="87798" y="179223"/>
                    <a:pt x="87798" y="295349"/>
                  </a:cubicBezTo>
                  <a:cubicBezTo>
                    <a:pt x="87798" y="411474"/>
                    <a:pt x="182547" y="506095"/>
                    <a:pt x="298830" y="506095"/>
                  </a:cubicBezTo>
                  <a:cubicBezTo>
                    <a:pt x="415113" y="506095"/>
                    <a:pt x="509863" y="411474"/>
                    <a:pt x="509863" y="295349"/>
                  </a:cubicBezTo>
                  <a:cubicBezTo>
                    <a:pt x="509863" y="179223"/>
                    <a:pt x="415113" y="84603"/>
                    <a:pt x="298830" y="84603"/>
                  </a:cubicBezTo>
                  <a:close/>
                  <a:moveTo>
                    <a:pt x="298830" y="32991"/>
                  </a:moveTo>
                  <a:cubicBezTo>
                    <a:pt x="442390" y="32991"/>
                    <a:pt x="560108" y="150550"/>
                    <a:pt x="560108" y="295349"/>
                  </a:cubicBezTo>
                  <a:cubicBezTo>
                    <a:pt x="560108" y="367031"/>
                    <a:pt x="531396" y="431545"/>
                    <a:pt x="484022" y="478856"/>
                  </a:cubicBezTo>
                  <a:cubicBezTo>
                    <a:pt x="492635" y="488891"/>
                    <a:pt x="505556" y="504661"/>
                    <a:pt x="522783" y="527600"/>
                  </a:cubicBezTo>
                  <a:cubicBezTo>
                    <a:pt x="532832" y="540502"/>
                    <a:pt x="529961" y="557706"/>
                    <a:pt x="518476" y="567742"/>
                  </a:cubicBezTo>
                  <a:cubicBezTo>
                    <a:pt x="512734" y="570609"/>
                    <a:pt x="506991" y="573476"/>
                    <a:pt x="501249" y="573476"/>
                  </a:cubicBezTo>
                  <a:cubicBezTo>
                    <a:pt x="492635" y="573476"/>
                    <a:pt x="484022" y="569175"/>
                    <a:pt x="478280" y="562007"/>
                  </a:cubicBezTo>
                  <a:cubicBezTo>
                    <a:pt x="478280" y="562007"/>
                    <a:pt x="455310" y="531900"/>
                    <a:pt x="440954" y="513263"/>
                  </a:cubicBezTo>
                  <a:cubicBezTo>
                    <a:pt x="399322" y="540502"/>
                    <a:pt x="350512" y="556272"/>
                    <a:pt x="298830" y="556272"/>
                  </a:cubicBezTo>
                  <a:cubicBezTo>
                    <a:pt x="245713" y="556272"/>
                    <a:pt x="196903" y="540502"/>
                    <a:pt x="156707" y="513263"/>
                  </a:cubicBezTo>
                  <a:cubicBezTo>
                    <a:pt x="142351" y="531900"/>
                    <a:pt x="117946" y="562007"/>
                    <a:pt x="117946" y="562007"/>
                  </a:cubicBezTo>
                  <a:cubicBezTo>
                    <a:pt x="113639" y="569175"/>
                    <a:pt x="105026" y="573476"/>
                    <a:pt x="96412" y="573476"/>
                  </a:cubicBezTo>
                  <a:cubicBezTo>
                    <a:pt x="90670" y="573476"/>
                    <a:pt x="83492" y="570609"/>
                    <a:pt x="79185" y="567742"/>
                  </a:cubicBezTo>
                  <a:cubicBezTo>
                    <a:pt x="66265" y="557706"/>
                    <a:pt x="64829" y="540502"/>
                    <a:pt x="73443" y="527600"/>
                  </a:cubicBezTo>
                  <a:cubicBezTo>
                    <a:pt x="92105" y="504661"/>
                    <a:pt x="105026" y="488891"/>
                    <a:pt x="112203" y="478856"/>
                  </a:cubicBezTo>
                  <a:cubicBezTo>
                    <a:pt x="66265" y="431545"/>
                    <a:pt x="37553" y="367031"/>
                    <a:pt x="37553" y="295349"/>
                  </a:cubicBezTo>
                  <a:cubicBezTo>
                    <a:pt x="37553" y="150550"/>
                    <a:pt x="153836" y="32991"/>
                    <a:pt x="298830" y="32991"/>
                  </a:cubicBezTo>
                  <a:close/>
                  <a:moveTo>
                    <a:pt x="497437" y="42"/>
                  </a:moveTo>
                  <a:cubicBezTo>
                    <a:pt x="522745" y="759"/>
                    <a:pt x="547874" y="10801"/>
                    <a:pt x="567260" y="30168"/>
                  </a:cubicBezTo>
                  <a:cubicBezTo>
                    <a:pt x="606030" y="67466"/>
                    <a:pt x="607466" y="129152"/>
                    <a:pt x="571568" y="169319"/>
                  </a:cubicBezTo>
                  <a:lnTo>
                    <a:pt x="426537" y="25864"/>
                  </a:lnTo>
                  <a:cubicBezTo>
                    <a:pt x="446641" y="7932"/>
                    <a:pt x="472129" y="-675"/>
                    <a:pt x="497437" y="42"/>
                  </a:cubicBezTo>
                  <a:close/>
                  <a:moveTo>
                    <a:pt x="100223" y="42"/>
                  </a:moveTo>
                  <a:cubicBezTo>
                    <a:pt x="125532" y="-675"/>
                    <a:pt x="151020" y="7932"/>
                    <a:pt x="171123" y="25864"/>
                  </a:cubicBezTo>
                  <a:lnTo>
                    <a:pt x="24656" y="169319"/>
                  </a:lnTo>
                  <a:cubicBezTo>
                    <a:pt x="-9806" y="129152"/>
                    <a:pt x="-8370" y="67466"/>
                    <a:pt x="30400" y="30168"/>
                  </a:cubicBezTo>
                  <a:cubicBezTo>
                    <a:pt x="49786" y="10801"/>
                    <a:pt x="74915" y="759"/>
                    <a:pt x="100223" y="42"/>
                  </a:cubicBezTo>
                  <a:close/>
                </a:path>
              </a:pathLst>
            </a:custGeom>
            <a:solidFill>
              <a:srgbClr val="9A0001"/>
            </a:solidFill>
            <a:ln w="9525">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70" name="Freeform 37">
              <a:extLst>
                <a:ext uri="{FF2B5EF4-FFF2-40B4-BE49-F238E27FC236}">
                  <a16:creationId xmlns:a16="http://schemas.microsoft.com/office/drawing/2014/main" id="{E00FDF22-D906-1340-A129-7F62102994D4}"/>
                </a:ext>
              </a:extLst>
            </p:cNvPr>
            <p:cNvSpPr/>
            <p:nvPr/>
          </p:nvSpPr>
          <p:spPr>
            <a:xfrm>
              <a:off x="8975186" y="4501143"/>
              <a:ext cx="516958" cy="352384"/>
            </a:xfrm>
            <a:custGeom>
              <a:avLst/>
              <a:gdLst/>
              <a:ahLst/>
              <a:cxnLst>
                <a:cxn ang="0">
                  <a:pos x="307761" y="20558"/>
                </a:cxn>
                <a:cxn ang="0">
                  <a:pos x="191496" y="130203"/>
                </a:cxn>
                <a:cxn ang="0">
                  <a:pos x="191496" y="130203"/>
                </a:cxn>
                <a:cxn ang="0">
                  <a:pos x="191496" y="137056"/>
                </a:cxn>
                <a:cxn ang="0">
                  <a:pos x="191496" y="150761"/>
                </a:cxn>
                <a:cxn ang="0">
                  <a:pos x="116265" y="226142"/>
                </a:cxn>
                <a:cxn ang="0">
                  <a:pos x="41035" y="150761"/>
                </a:cxn>
                <a:cxn ang="0">
                  <a:pos x="116265" y="75381"/>
                </a:cxn>
                <a:cxn ang="0">
                  <a:pos x="116265" y="109645"/>
                </a:cxn>
                <a:cxn ang="0">
                  <a:pos x="198335" y="54822"/>
                </a:cxn>
                <a:cxn ang="0">
                  <a:pos x="116265" y="0"/>
                </a:cxn>
                <a:cxn ang="0">
                  <a:pos x="116265" y="34264"/>
                </a:cxn>
                <a:cxn ang="0">
                  <a:pos x="0" y="150761"/>
                </a:cxn>
                <a:cxn ang="0">
                  <a:pos x="116265" y="267259"/>
                </a:cxn>
                <a:cxn ang="0">
                  <a:pos x="232530" y="157614"/>
                </a:cxn>
                <a:cxn ang="0">
                  <a:pos x="232530" y="157614"/>
                </a:cxn>
                <a:cxn ang="0">
                  <a:pos x="232530" y="150761"/>
                </a:cxn>
                <a:cxn ang="0">
                  <a:pos x="232530" y="137056"/>
                </a:cxn>
                <a:cxn ang="0">
                  <a:pos x="307761" y="61675"/>
                </a:cxn>
                <a:cxn ang="0">
                  <a:pos x="382991" y="137056"/>
                </a:cxn>
                <a:cxn ang="0">
                  <a:pos x="307761" y="212436"/>
                </a:cxn>
                <a:cxn ang="0">
                  <a:pos x="307761" y="178172"/>
                </a:cxn>
                <a:cxn ang="0">
                  <a:pos x="225691" y="232995"/>
                </a:cxn>
                <a:cxn ang="0">
                  <a:pos x="307761" y="287817"/>
                </a:cxn>
                <a:cxn ang="0">
                  <a:pos x="307761" y="253553"/>
                </a:cxn>
                <a:cxn ang="0">
                  <a:pos x="424026" y="137056"/>
                </a:cxn>
                <a:cxn ang="0">
                  <a:pos x="307761" y="20558"/>
                </a:cxn>
              </a:cxnLst>
              <a:rect l="0" t="0" r="0" b="0"/>
              <a:pathLst>
                <a:path w="186" h="126">
                  <a:moveTo>
                    <a:pt x="135" y="9"/>
                  </a:moveTo>
                  <a:cubicBezTo>
                    <a:pt x="108" y="9"/>
                    <a:pt x="86" y="30"/>
                    <a:pt x="84" y="57"/>
                  </a:cubicBezTo>
                  <a:cubicBezTo>
                    <a:pt x="84" y="57"/>
                    <a:pt x="84" y="57"/>
                    <a:pt x="84" y="57"/>
                  </a:cubicBezTo>
                  <a:cubicBezTo>
                    <a:pt x="84" y="60"/>
                    <a:pt x="84" y="60"/>
                    <a:pt x="84" y="60"/>
                  </a:cubicBezTo>
                  <a:cubicBezTo>
                    <a:pt x="84" y="66"/>
                    <a:pt x="84" y="66"/>
                    <a:pt x="84" y="66"/>
                  </a:cubicBezTo>
                  <a:cubicBezTo>
                    <a:pt x="84" y="84"/>
                    <a:pt x="69" y="99"/>
                    <a:pt x="51" y="99"/>
                  </a:cubicBezTo>
                  <a:cubicBezTo>
                    <a:pt x="33" y="99"/>
                    <a:pt x="18" y="84"/>
                    <a:pt x="18" y="66"/>
                  </a:cubicBezTo>
                  <a:cubicBezTo>
                    <a:pt x="18" y="48"/>
                    <a:pt x="33" y="33"/>
                    <a:pt x="51" y="33"/>
                  </a:cubicBezTo>
                  <a:cubicBezTo>
                    <a:pt x="51" y="48"/>
                    <a:pt x="51" y="48"/>
                    <a:pt x="51" y="48"/>
                  </a:cubicBezTo>
                  <a:cubicBezTo>
                    <a:pt x="87" y="24"/>
                    <a:pt x="87" y="24"/>
                    <a:pt x="87" y="24"/>
                  </a:cubicBezTo>
                  <a:cubicBezTo>
                    <a:pt x="51" y="0"/>
                    <a:pt x="51" y="0"/>
                    <a:pt x="51" y="0"/>
                  </a:cubicBezTo>
                  <a:cubicBezTo>
                    <a:pt x="51" y="15"/>
                    <a:pt x="51" y="15"/>
                    <a:pt x="51" y="15"/>
                  </a:cubicBezTo>
                  <a:cubicBezTo>
                    <a:pt x="23" y="15"/>
                    <a:pt x="0" y="38"/>
                    <a:pt x="0" y="66"/>
                  </a:cubicBezTo>
                  <a:cubicBezTo>
                    <a:pt x="0" y="94"/>
                    <a:pt x="23" y="117"/>
                    <a:pt x="51" y="117"/>
                  </a:cubicBezTo>
                  <a:cubicBezTo>
                    <a:pt x="78" y="117"/>
                    <a:pt x="100" y="96"/>
                    <a:pt x="102" y="69"/>
                  </a:cubicBezTo>
                  <a:cubicBezTo>
                    <a:pt x="102" y="69"/>
                    <a:pt x="102" y="69"/>
                    <a:pt x="102" y="69"/>
                  </a:cubicBezTo>
                  <a:cubicBezTo>
                    <a:pt x="102" y="66"/>
                    <a:pt x="102" y="66"/>
                    <a:pt x="102" y="66"/>
                  </a:cubicBezTo>
                  <a:cubicBezTo>
                    <a:pt x="102" y="60"/>
                    <a:pt x="102" y="60"/>
                    <a:pt x="102" y="60"/>
                  </a:cubicBezTo>
                  <a:cubicBezTo>
                    <a:pt x="102" y="42"/>
                    <a:pt x="117" y="27"/>
                    <a:pt x="135" y="27"/>
                  </a:cubicBezTo>
                  <a:cubicBezTo>
                    <a:pt x="153" y="27"/>
                    <a:pt x="168" y="42"/>
                    <a:pt x="168" y="60"/>
                  </a:cubicBezTo>
                  <a:cubicBezTo>
                    <a:pt x="168" y="78"/>
                    <a:pt x="153" y="93"/>
                    <a:pt x="135" y="93"/>
                  </a:cubicBezTo>
                  <a:cubicBezTo>
                    <a:pt x="135" y="78"/>
                    <a:pt x="135" y="78"/>
                    <a:pt x="135" y="78"/>
                  </a:cubicBezTo>
                  <a:cubicBezTo>
                    <a:pt x="99" y="102"/>
                    <a:pt x="99" y="102"/>
                    <a:pt x="99" y="102"/>
                  </a:cubicBezTo>
                  <a:cubicBezTo>
                    <a:pt x="135" y="126"/>
                    <a:pt x="135" y="126"/>
                    <a:pt x="135" y="126"/>
                  </a:cubicBezTo>
                  <a:cubicBezTo>
                    <a:pt x="135" y="111"/>
                    <a:pt x="135" y="111"/>
                    <a:pt x="135" y="111"/>
                  </a:cubicBezTo>
                  <a:cubicBezTo>
                    <a:pt x="163" y="111"/>
                    <a:pt x="186" y="88"/>
                    <a:pt x="186" y="60"/>
                  </a:cubicBezTo>
                  <a:cubicBezTo>
                    <a:pt x="186" y="32"/>
                    <a:pt x="163" y="9"/>
                    <a:pt x="135" y="9"/>
                  </a:cubicBezTo>
                </a:path>
              </a:pathLst>
            </a:custGeom>
            <a:solidFill>
              <a:srgbClr val="9A0001"/>
            </a:solidFill>
            <a:ln w="9525">
              <a:noFill/>
            </a:ln>
          </p:spPr>
          <p:txBody>
            <a:bodyPr/>
            <a:lstStyle/>
            <a:p>
              <a:pPr eaLnBrk="1" fontAlgn="auto" hangingPunct="1">
                <a:spcBef>
                  <a:spcPts val="0"/>
                </a:spcBef>
                <a:spcAft>
                  <a:spcPts val="0"/>
                </a:spcAft>
              </a:pPr>
              <a:endParaRPr lang="zh-CN" altLang="en-US" sz="975" b="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71" name="文本框 24">
              <a:extLst>
                <a:ext uri="{FF2B5EF4-FFF2-40B4-BE49-F238E27FC236}">
                  <a16:creationId xmlns:a16="http://schemas.microsoft.com/office/drawing/2014/main" id="{4D360CFA-D6E5-D846-A22D-1A50B7EBC0CD}"/>
                </a:ext>
              </a:extLst>
            </p:cNvPr>
            <p:cNvSpPr txBox="1"/>
            <p:nvPr/>
          </p:nvSpPr>
          <p:spPr>
            <a:xfrm>
              <a:off x="1681648" y="5159057"/>
              <a:ext cx="2525293" cy="724109"/>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控制内存和外存之间的数据流动方</a:t>
              </a:r>
              <a:r>
                <a:rPr lang="zh-CN" altLang="en-US" sz="1800" b="0" kern="100" dirty="0">
                  <a:solidFill>
                    <a:srgbClr val="000000"/>
                  </a:solidFill>
                  <a:latin typeface="Microsoft YaHei" panose="020B0503020204020204" pitchFamily="34" charset="-122"/>
                  <a:ea typeface="Microsoft YaHei" panose="020B0503020204020204" pitchFamily="34" charset="-122"/>
                </a:rPr>
                <a:t>法</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72" name="文本框 25">
              <a:extLst>
                <a:ext uri="{FF2B5EF4-FFF2-40B4-BE49-F238E27FC236}">
                  <a16:creationId xmlns:a16="http://schemas.microsoft.com/office/drawing/2014/main" id="{0C2D3D89-CA6D-1548-A088-BD726EA0A827}"/>
                </a:ext>
              </a:extLst>
            </p:cNvPr>
            <p:cNvSpPr txBox="1"/>
            <p:nvPr/>
          </p:nvSpPr>
          <p:spPr>
            <a:xfrm>
              <a:off x="4722391" y="5159057"/>
              <a:ext cx="2525293" cy="396583"/>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地址变换技术</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73" name="文本框 26">
              <a:extLst>
                <a:ext uri="{FF2B5EF4-FFF2-40B4-BE49-F238E27FC236}">
                  <a16:creationId xmlns:a16="http://schemas.microsoft.com/office/drawing/2014/main" id="{851BC6B5-1B60-DA4F-B229-C9D991E0BF93}"/>
                </a:ext>
              </a:extLst>
            </p:cNvPr>
            <p:cNvSpPr txBox="1"/>
            <p:nvPr/>
          </p:nvSpPr>
          <p:spPr>
            <a:xfrm>
              <a:off x="8036308" y="5159057"/>
              <a:ext cx="2715775" cy="396583"/>
            </a:xfrm>
            <a:prstGeom prst="rect">
              <a:avLst/>
            </a:prstGeom>
            <a:noFill/>
          </p:spPr>
          <p:txBody>
            <a:bodyPr wrap="square" rtlCol="0">
              <a:spAutoFit/>
            </a:bodyPr>
            <a:lstStyle/>
            <a:p>
              <a:pPr algn="ctr" eaLnBrk="1" fontAlgn="auto" hangingPunct="1">
                <a:lnSpc>
                  <a:spcPct val="120000"/>
                </a:lnSpc>
                <a:spcBef>
                  <a:spcPts val="0"/>
                </a:spcBef>
                <a:spcAft>
                  <a:spcPts val="0"/>
                </a:spcAft>
              </a:pPr>
              <a:r>
                <a:rPr lang="zh-CN" altLang="zh-CN" sz="1800" b="0" kern="100" dirty="0">
                  <a:solidFill>
                    <a:srgbClr val="000000"/>
                  </a:solidFill>
                  <a:latin typeface="Microsoft YaHei" panose="020B0503020204020204" pitchFamily="34" charset="-122"/>
                  <a:ea typeface="Microsoft YaHei" panose="020B0503020204020204" pitchFamily="34" charset="-122"/>
                </a:rPr>
                <a:t>内存数据保护与共享技术</a:t>
              </a:r>
              <a:endParaRPr lang="zh-CN" altLang="en-US" sz="1800" b="0" dirty="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grpSp>
      <p:sp>
        <p:nvSpPr>
          <p:cNvPr id="74" name="文本框 31">
            <a:extLst>
              <a:ext uri="{FF2B5EF4-FFF2-40B4-BE49-F238E27FC236}">
                <a16:creationId xmlns:a16="http://schemas.microsoft.com/office/drawing/2014/main" id="{5F174075-BE2A-3245-841B-7EF38F21D72C}"/>
              </a:ext>
            </a:extLst>
          </p:cNvPr>
          <p:cNvSpPr txBox="1"/>
          <p:nvPr/>
        </p:nvSpPr>
        <p:spPr>
          <a:xfrm>
            <a:off x="-29399" y="1149073"/>
            <a:ext cx="9173399" cy="1852880"/>
          </a:xfrm>
          <a:prstGeom prst="rect">
            <a:avLst/>
          </a:prstGeom>
          <a:noFill/>
        </p:spPr>
        <p:txBody>
          <a:bodyPr wrap="square">
            <a:spAutoFit/>
          </a:bodyPr>
          <a:lstStyle/>
          <a:p>
            <a:pPr algn="just" eaLnBrk="1" fontAlgn="auto" hangingPunct="1">
              <a:lnSpc>
                <a:spcPts val="2800"/>
              </a:lnSpc>
              <a:spcBef>
                <a:spcPts val="0"/>
              </a:spcBef>
              <a:spcAft>
                <a:spcPts val="0"/>
              </a:spcAft>
            </a:pPr>
            <a:r>
              <a:rPr lang="zh-CN" altLang="zh-CN" sz="1800" kern="100" dirty="0">
                <a:solidFill>
                  <a:srgbClr val="9A0001"/>
                </a:solidFill>
                <a:latin typeface="Microsoft YaHei" panose="020B0503020204020204" pitchFamily="34" charset="-122"/>
                <a:ea typeface="Microsoft YaHei" panose="020B0503020204020204" pitchFamily="34" charset="-122"/>
              </a:rPr>
              <a:t>对内存进行有效的管理，一般把内存分成若干个区域</a:t>
            </a:r>
            <a:endParaRPr lang="en-US" altLang="zh-CN" sz="1800" kern="100" dirty="0">
              <a:solidFill>
                <a:srgbClr val="9A0001"/>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在最简单的单道、单用户系统中，至少也要把它分成两个区域：在一个区域内存放系统软件，如操作系统本身；而另外一个区域则用于安置用户程序</a:t>
            </a:r>
            <a:endParaRPr lang="en-US" altLang="zh-CN" sz="1800" b="0" kern="100" dirty="0">
              <a:solidFill>
                <a:srgbClr val="000000"/>
              </a:solidFill>
              <a:latin typeface="Microsoft YaHei" panose="020B0503020204020204" pitchFamily="34" charset="-122"/>
              <a:ea typeface="Microsoft YaHei" panose="020B0503020204020204" pitchFamily="34" charset="-122"/>
            </a:endParaRPr>
          </a:p>
          <a:p>
            <a:pPr marL="285750" indent="-285750" algn="just" eaLnBrk="1" fontAlgn="auto" hangingPunct="1">
              <a:lnSpc>
                <a:spcPts val="2800"/>
              </a:lnSpc>
              <a:spcBef>
                <a:spcPts val="0"/>
              </a:spcBef>
              <a:spcAft>
                <a:spcPts val="0"/>
              </a:spcAft>
              <a:buFont typeface="Arial" panose="020B0604020202020204" pitchFamily="34" charset="0"/>
              <a:buChar char="•"/>
            </a:pPr>
            <a:r>
              <a:rPr lang="zh-CN" altLang="zh-CN" sz="1800" b="0" kern="100" dirty="0">
                <a:solidFill>
                  <a:srgbClr val="000000"/>
                </a:solidFill>
                <a:latin typeface="Microsoft YaHei" panose="020B0503020204020204" pitchFamily="34" charset="-122"/>
                <a:ea typeface="Microsoft YaHei" panose="020B0503020204020204" pitchFamily="34" charset="-122"/>
              </a:rPr>
              <a:t>在多道、多用户系统中，为了提高系统的利用率，需要将内存划分成更多的区域，以便支持多道程序</a:t>
            </a:r>
            <a:endParaRPr lang="zh-CN" altLang="en-US" sz="1800" b="0" dirty="0">
              <a:solidFill>
                <a:srgbClr val="000000"/>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1771923419"/>
      </p:ext>
    </p:extLst>
  </p:cSld>
  <p:clrMapOvr>
    <a:masterClrMapping/>
  </p:clrMapOvr>
  <p:transition>
    <p:rand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a:extLst>
              <a:ext uri="{FF2B5EF4-FFF2-40B4-BE49-F238E27FC236}">
                <a16:creationId xmlns:a16="http://schemas.microsoft.com/office/drawing/2014/main" id="{85A4C066-19BA-0E44-A9F7-AA69799E75EE}"/>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
        <p:nvSpPr>
          <p:cNvPr id="3" name="文本框 5">
            <a:extLst>
              <a:ext uri="{FF2B5EF4-FFF2-40B4-BE49-F238E27FC236}">
                <a16:creationId xmlns:a16="http://schemas.microsoft.com/office/drawing/2014/main" id="{3F6D770C-87AC-354F-835D-051ED83F0F3E}"/>
              </a:ext>
            </a:extLst>
          </p:cNvPr>
          <p:cNvSpPr txBox="1"/>
          <p:nvPr/>
        </p:nvSpPr>
        <p:spPr>
          <a:xfrm>
            <a:off x="179512" y="2175879"/>
            <a:ext cx="7451834" cy="3289170"/>
          </a:xfrm>
          <a:prstGeom prst="rect">
            <a:avLst/>
          </a:prstGeom>
          <a:noFill/>
        </p:spPr>
        <p:txBody>
          <a:bodyPr wrap="square">
            <a:spAutoFit/>
          </a:bodyPr>
          <a:lstStyle/>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充分利用内存，为多道程序并发执行提供存储基础</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尽可能方便用户使用</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系统能够解决程序空间比实际内存空间大的问题</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程序的长度在执行时可以动态伸缩</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内存存取速度快、效率高</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保证系统和用户存储空间的安全，不发生非法操作</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提供资源共享与通信交流通道</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监控关键资源的使用状况</a:t>
            </a:r>
          </a:p>
          <a:p>
            <a:pPr marL="609600" indent="-342900" algn="just">
              <a:lnSpc>
                <a:spcPts val="2800"/>
              </a:lnSpc>
              <a:buFont typeface="+mj-ea"/>
              <a:buAutoNum type="circleNumDbPlain"/>
            </a:pPr>
            <a:r>
              <a:rPr lang="zh-CN" altLang="zh-CN" kern="100" dirty="0">
                <a:effectLst/>
                <a:latin typeface="Microsoft YaHei" panose="020B0503020204020204" pitchFamily="34" charset="-122"/>
                <a:ea typeface="Microsoft YaHei" panose="020B0503020204020204" pitchFamily="34" charset="-122"/>
              </a:rPr>
              <a:t>较高的性价比</a:t>
            </a:r>
            <a:endParaRPr lang="zh-CN" altLang="en-US" dirty="0">
              <a:latin typeface="Microsoft YaHei" panose="020B0503020204020204" pitchFamily="34" charset="-122"/>
              <a:ea typeface="Microsoft YaHei" panose="020B0503020204020204" pitchFamily="34" charset="-122"/>
            </a:endParaRPr>
          </a:p>
        </p:txBody>
      </p:sp>
      <p:sp>
        <p:nvSpPr>
          <p:cNvPr id="4" name="文本框 8">
            <a:extLst>
              <a:ext uri="{FF2B5EF4-FFF2-40B4-BE49-F238E27FC236}">
                <a16:creationId xmlns:a16="http://schemas.microsoft.com/office/drawing/2014/main" id="{43D5F9D0-554E-6044-BC02-0BE663B5D210}"/>
              </a:ext>
            </a:extLst>
          </p:cNvPr>
          <p:cNvSpPr txBox="1"/>
          <p:nvPr/>
        </p:nvSpPr>
        <p:spPr>
          <a:xfrm>
            <a:off x="-92279" y="1583071"/>
            <a:ext cx="6096000" cy="400110"/>
          </a:xfrm>
          <a:prstGeom prst="rect">
            <a:avLst/>
          </a:prstGeom>
          <a:noFill/>
        </p:spPr>
        <p:txBody>
          <a:bodyPr wrap="square">
            <a:spAutoFit/>
          </a:bodyPr>
          <a:lstStyle/>
          <a:p>
            <a:pPr indent="266700" algn="just"/>
            <a:r>
              <a:rPr lang="zh-CN" altLang="zh-CN" sz="2000" b="1" kern="100" dirty="0">
                <a:solidFill>
                  <a:srgbClr val="9A0001"/>
                </a:solidFill>
                <a:effectLst/>
                <a:latin typeface="Microsoft YaHei" panose="020B0503020204020204" pitchFamily="34" charset="-122"/>
                <a:ea typeface="Microsoft YaHei" panose="020B0503020204020204" pitchFamily="34" charset="-122"/>
              </a:rPr>
              <a:t>内存管理要求满足以下需求</a:t>
            </a:r>
          </a:p>
        </p:txBody>
      </p:sp>
      <p:pic>
        <p:nvPicPr>
          <p:cNvPr id="5" name="Picture 2">
            <a:extLst>
              <a:ext uri="{FF2B5EF4-FFF2-40B4-BE49-F238E27FC236}">
                <a16:creationId xmlns:a16="http://schemas.microsoft.com/office/drawing/2014/main" id="{13DB094B-C1F8-9B40-8FFB-5CC0FEE304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5400000">
            <a:off x="5380216" y="3125040"/>
            <a:ext cx="5368543" cy="18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915912"/>
      </p:ext>
    </p:extLst>
  </p:cSld>
  <p:clrMapOvr>
    <a:masterClrMapping/>
  </p:clrMapOvr>
  <p:transition>
    <p:rand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a:extLst>
              <a:ext uri="{FF2B5EF4-FFF2-40B4-BE49-F238E27FC236}">
                <a16:creationId xmlns:a16="http://schemas.microsoft.com/office/drawing/2014/main" id="{35370854-A48D-244B-9DB3-FE80F2ED74F5}"/>
              </a:ext>
            </a:extLst>
          </p:cNvPr>
          <p:cNvSpPr>
            <a:spLocks noGrp="1" noChangeArrowheads="1"/>
          </p:cNvSpPr>
          <p:nvPr>
            <p:ph type="body" idx="1"/>
          </p:nvPr>
        </p:nvSpPr>
        <p:spPr>
          <a:xfrm>
            <a:off x="682625" y="1285875"/>
            <a:ext cx="8032750" cy="5256213"/>
          </a:xfrm>
        </p:spPr>
        <p:txBody>
          <a:bodyPr/>
          <a:lstStyle/>
          <a:p>
            <a:pPr marL="0" indent="0" eaLnBrk="1" hangingPunct="1">
              <a:lnSpc>
                <a:spcPct val="150000"/>
              </a:lnSpc>
              <a:spcBef>
                <a:spcPct val="0"/>
              </a:spcBef>
              <a:buFont typeface="Wingdings" pitchFamily="2" charset="2"/>
              <a:buNone/>
            </a:pPr>
            <a:r>
              <a:rPr lang="zh-CN" altLang="en-US">
                <a:solidFill>
                  <a:srgbClr val="FF0000"/>
                </a:solidFill>
                <a:effectLst/>
                <a:latin typeface="宋体" panose="02010600030101010101" pitchFamily="2" charset="-122"/>
              </a:rPr>
              <a:t>设计内存分配与回收算法必须考虑的问题：</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数据结构</a:t>
            </a:r>
            <a:r>
              <a:rPr lang="zh-CN" altLang="en-US" sz="2000">
                <a:solidFill>
                  <a:schemeClr val="tx1"/>
                </a:solidFill>
                <a:effectLst/>
                <a:latin typeface="宋体" panose="02010600030101010101" pitchFamily="2" charset="-122"/>
              </a:rPr>
              <a:t>。登记内存的使用情况，记录可供分配的内存空闲区大小和起始地址，以供分配和回收内存时使用。</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放置策略</a:t>
            </a:r>
            <a:r>
              <a:rPr lang="zh-CN" altLang="en-US" sz="2000">
                <a:solidFill>
                  <a:schemeClr val="tx1"/>
                </a:solidFill>
                <a:effectLst/>
                <a:latin typeface="宋体" panose="02010600030101010101" pitchFamily="2" charset="-122"/>
              </a:rPr>
              <a:t>。决定内存中放置信息的区域（或位置），即怎样在若干个内存空闲区中选择一个或几个空闲区来放置信息。</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调入策略</a:t>
            </a:r>
            <a:r>
              <a:rPr lang="zh-CN" altLang="en-US" sz="2000">
                <a:solidFill>
                  <a:schemeClr val="tx1"/>
                </a:solidFill>
                <a:effectLst/>
                <a:latin typeface="宋体" panose="02010600030101010101" pitchFamily="2" charset="-122"/>
              </a:rPr>
              <a:t>。确定外存中的程序段和数据段在什么时间、以什么样的控制方式进入内存。</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淘汰策略</a:t>
            </a:r>
            <a:r>
              <a:rPr lang="zh-CN" altLang="en-US" sz="2000">
                <a:solidFill>
                  <a:schemeClr val="tx1"/>
                </a:solidFill>
                <a:effectLst/>
                <a:latin typeface="宋体" panose="02010600030101010101" pitchFamily="2" charset="-122"/>
              </a:rPr>
              <a:t>。在需要将某个程序段或数据段调入内存却出现内存没有足够空闲区时，由淘汰策略来决定把内存中的哪些程序段和数据段由内存调出放入到外存，以便为调入的程序段或数据段腾出足够的内存空间。</a:t>
            </a:r>
          </a:p>
        </p:txBody>
      </p:sp>
      <p:sp>
        <p:nvSpPr>
          <p:cNvPr id="47107" name="AutoShape 3">
            <a:extLst>
              <a:ext uri="{FF2B5EF4-FFF2-40B4-BE49-F238E27FC236}">
                <a16:creationId xmlns:a16="http://schemas.microsoft.com/office/drawing/2014/main" id="{3F84B169-5539-A64F-8607-B11B76764CFC}"/>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3F137BA0-AE7C-F049-8516-30D2B29DC7E2}"/>
              </a:ext>
            </a:extLst>
          </p:cNvPr>
          <p:cNvSpPr>
            <a:spLocks noGrp="1" noChangeArrowheads="1"/>
          </p:cNvSpPr>
          <p:nvPr>
            <p:ph type="body" idx="1"/>
          </p:nvPr>
        </p:nvSpPr>
        <p:spPr>
          <a:xfrm>
            <a:off x="468313" y="1143000"/>
            <a:ext cx="8389937" cy="5572125"/>
          </a:xfrm>
        </p:spPr>
        <p:txBody>
          <a:bodyPr/>
          <a:lstStyle/>
          <a:p>
            <a:pPr marL="0" indent="0" eaLnBrk="1" hangingPunct="1">
              <a:lnSpc>
                <a:spcPts val="3500"/>
              </a:lnSpc>
              <a:spcBef>
                <a:spcPct val="0"/>
              </a:spcBef>
              <a:buFont typeface="Wingdings" pitchFamily="2" charset="2"/>
              <a:buNone/>
            </a:pPr>
            <a:r>
              <a:rPr lang="en-US" altLang="en-US">
                <a:solidFill>
                  <a:srgbClr val="FF0000"/>
                </a:solidFill>
                <a:effectLst/>
                <a:latin typeface="宋体" panose="02010600030101010101" pitchFamily="2" charset="-122"/>
              </a:rPr>
              <a:t>2. 地址转换（地址重定位）</a:t>
            </a:r>
            <a:r>
              <a:rPr lang="zh-CN" altLang="en-US">
                <a:solidFill>
                  <a:schemeClr val="tx1"/>
                </a:solidFill>
                <a:effectLst/>
                <a:latin typeface="宋体" panose="02010600030101010101" pitchFamily="2" charset="-122"/>
              </a:rPr>
              <a:t>	</a:t>
            </a:r>
          </a:p>
          <a:p>
            <a:pPr marL="0" indent="0" eaLnBrk="1" hangingPunct="1">
              <a:lnSpc>
                <a:spcPts val="3500"/>
              </a:lnSpc>
              <a:spcBef>
                <a:spcPct val="0"/>
              </a:spcBef>
              <a:buFont typeface="Wingdings" pitchFamily="2" charset="2"/>
              <a:buNone/>
            </a:pPr>
            <a:r>
              <a:rPr lang="zh-CN" altLang="en-US" sz="2300">
                <a:solidFill>
                  <a:schemeClr val="tx1"/>
                </a:solidFill>
                <a:effectLst/>
                <a:latin typeface="宋体" panose="02010600030101010101" pitchFamily="2" charset="-122"/>
              </a:rPr>
              <a:t>   </a:t>
            </a:r>
            <a:r>
              <a:rPr lang="zh-CN" altLang="en-US" sz="2300">
                <a:solidFill>
                  <a:srgbClr val="FF0000"/>
                </a:solidFill>
                <a:effectLst/>
                <a:latin typeface="宋体" panose="02010600030101010101" pitchFamily="2" charset="-122"/>
              </a:rPr>
              <a:t>地址转换有</a:t>
            </a:r>
            <a:r>
              <a:rPr lang="en-US" altLang="zh-CN" sz="2300">
                <a:solidFill>
                  <a:srgbClr val="FF0000"/>
                </a:solidFill>
                <a:effectLst/>
                <a:latin typeface="宋体" panose="02010600030101010101" pitchFamily="2" charset="-122"/>
              </a:rPr>
              <a:t>3</a:t>
            </a:r>
            <a:r>
              <a:rPr lang="zh-CN" altLang="en-US" sz="2300">
                <a:solidFill>
                  <a:srgbClr val="FF0000"/>
                </a:solidFill>
                <a:effectLst/>
                <a:latin typeface="宋体" panose="02010600030101010101" pitchFamily="2" charset="-122"/>
              </a:rPr>
              <a:t>种方式：</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）编程或编译时产生绝对地址</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    在程序中直接使用</a:t>
            </a:r>
            <a:r>
              <a:rPr lang="zh-CN" altLang="en-US" sz="2000">
                <a:solidFill>
                  <a:srgbClr val="000000"/>
                </a:solidFill>
                <a:effectLst/>
                <a:latin typeface="宋体" panose="02010600030101010101" pitchFamily="2" charset="-122"/>
              </a:rPr>
              <a:t>绝对地址或</a:t>
            </a:r>
            <a:r>
              <a:rPr lang="zh-CN" altLang="en-US" sz="2000">
                <a:solidFill>
                  <a:schemeClr val="tx1"/>
                </a:solidFill>
                <a:effectLst/>
                <a:latin typeface="宋体" panose="02010600030101010101" pitchFamily="2" charset="-122"/>
              </a:rPr>
              <a:t>符号地址。如果是</a:t>
            </a:r>
            <a:r>
              <a:rPr lang="zh-CN" altLang="en-US" sz="2000">
                <a:solidFill>
                  <a:srgbClr val="000000"/>
                </a:solidFill>
                <a:effectLst/>
                <a:latin typeface="宋体" panose="02010600030101010101" pitchFamily="2" charset="-122"/>
              </a:rPr>
              <a:t>符号地址，</a:t>
            </a:r>
            <a:r>
              <a:rPr lang="zh-CN" altLang="en-US" sz="2000">
                <a:solidFill>
                  <a:schemeClr val="tx1"/>
                </a:solidFill>
                <a:effectLst/>
                <a:latin typeface="宋体" panose="02010600030101010101" pitchFamily="2" charset="-122"/>
              </a:rPr>
              <a:t>则由编译程序或汇编程序在对该程序编译或汇编时再将这些符号地址转换为绝对地址（</a:t>
            </a:r>
            <a:r>
              <a:rPr lang="zh-CN" altLang="zh-CN" sz="2000">
                <a:solidFill>
                  <a:srgbClr val="000000"/>
                </a:solidFill>
                <a:effectLst/>
                <a:latin typeface="宋体" panose="02010600030101010101" pitchFamily="2" charset="-122"/>
              </a:rPr>
              <a:t>内存物理地址</a:t>
            </a:r>
            <a:r>
              <a:rPr lang="zh-CN" altLang="en-US" sz="2000">
                <a:solidFill>
                  <a:schemeClr val="tx1"/>
                </a:solidFill>
                <a:effectLst/>
                <a:latin typeface="宋体" panose="02010600030101010101" pitchFamily="2" charset="-122"/>
              </a:rPr>
              <a:t>）。</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）静态地址转换</a:t>
            </a:r>
          </a:p>
          <a:p>
            <a:pPr marL="0" indent="0" eaLnBrk="1" hangingPunct="1">
              <a:lnSpc>
                <a:spcPts val="35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在程序装入内存时一次性完成程序中所有逻辑地址到</a:t>
            </a:r>
            <a:r>
              <a:rPr lang="zh-CN" altLang="en-US" sz="2000">
                <a:solidFill>
                  <a:schemeClr val="tx1"/>
                </a:solidFill>
                <a:effectLst/>
                <a:latin typeface="宋体" panose="02010600030101010101" pitchFamily="2" charset="-122"/>
              </a:rPr>
              <a:t>内存</a:t>
            </a:r>
            <a:r>
              <a:rPr lang="zh-CN" altLang="zh-CN" sz="2000">
                <a:solidFill>
                  <a:schemeClr val="tx1"/>
                </a:solidFill>
                <a:effectLst/>
                <a:latin typeface="宋体" panose="02010600030101010101" pitchFamily="2" charset="-122"/>
              </a:rPr>
              <a:t>物理地址</a:t>
            </a:r>
            <a:r>
              <a:rPr lang="zh-CN" altLang="en-US" sz="2000">
                <a:solidFill>
                  <a:schemeClr val="tx1"/>
                </a:solidFill>
                <a:effectLst/>
                <a:latin typeface="宋体" panose="02010600030101010101" pitchFamily="2" charset="-122"/>
              </a:rPr>
              <a:t>（</a:t>
            </a:r>
            <a:r>
              <a:rPr lang="zh-CN" altLang="en-US" sz="2000">
                <a:solidFill>
                  <a:srgbClr val="000000"/>
                </a:solidFill>
                <a:effectLst/>
                <a:latin typeface="宋体" panose="02010600030101010101" pitchFamily="2" charset="-122"/>
              </a:rPr>
              <a:t>绝对地址</a:t>
            </a:r>
            <a:r>
              <a:rPr lang="zh-CN" altLang="en-US" sz="2000">
                <a:solidFill>
                  <a:schemeClr val="tx1"/>
                </a:solidFill>
                <a:effectLst/>
                <a:latin typeface="宋体" panose="02010600030101010101" pitchFamily="2" charset="-122"/>
              </a:rPr>
              <a:t>）</a:t>
            </a:r>
            <a:r>
              <a:rPr lang="zh-CN" altLang="zh-CN" sz="2000">
                <a:solidFill>
                  <a:schemeClr val="tx1"/>
                </a:solidFill>
                <a:effectLst/>
                <a:latin typeface="宋体" panose="02010600030101010101" pitchFamily="2" charset="-122"/>
              </a:rPr>
              <a:t>的转换</a:t>
            </a:r>
            <a:r>
              <a:rPr lang="zh-CN" altLang="en-US" sz="2000">
                <a:solidFill>
                  <a:schemeClr val="tx1"/>
                </a:solidFill>
                <a:effectLst/>
                <a:latin typeface="宋体" panose="02010600030101010101" pitchFamily="2" charset="-122"/>
              </a:rPr>
              <a:t>。</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）动态地址转换</a:t>
            </a:r>
          </a:p>
          <a:p>
            <a:pPr marL="0" indent="0" eaLnBrk="1" hangingPunct="1">
              <a:lnSpc>
                <a:spcPts val="35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在程序执行过程中，一旦执行的指令中出现访存地址（逻辑地址）时，就由系统硬件完成这个逻辑地址到内存物理地址</a:t>
            </a:r>
            <a:r>
              <a:rPr lang="zh-CN" altLang="en-US" sz="2000">
                <a:solidFill>
                  <a:srgbClr val="000000"/>
                </a:solidFill>
                <a:effectLst/>
                <a:latin typeface="宋体" panose="02010600030101010101" pitchFamily="2" charset="-122"/>
              </a:rPr>
              <a:t>（绝对地址）</a:t>
            </a:r>
            <a:r>
              <a:rPr lang="zh-CN" altLang="zh-CN" sz="2000">
                <a:solidFill>
                  <a:schemeClr val="tx1"/>
                </a:solidFill>
                <a:effectLst/>
                <a:latin typeface="宋体" panose="02010600030101010101" pitchFamily="2" charset="-122"/>
              </a:rPr>
              <a:t>的转换。</a:t>
            </a:r>
            <a:endParaRPr lang="en-US" altLang="zh-CN" sz="2000">
              <a:solidFill>
                <a:schemeClr val="tx1"/>
              </a:solidFill>
              <a:effectLst/>
              <a:latin typeface="宋体" panose="02010600030101010101" pitchFamily="2" charset="-122"/>
            </a:endParaRPr>
          </a:p>
        </p:txBody>
      </p:sp>
      <p:sp>
        <p:nvSpPr>
          <p:cNvPr id="48131" name="AutoShape 3">
            <a:extLst>
              <a:ext uri="{FF2B5EF4-FFF2-40B4-BE49-F238E27FC236}">
                <a16:creationId xmlns:a16="http://schemas.microsoft.com/office/drawing/2014/main" id="{BEF4957A-800A-E045-8B21-E7552CD5DFD0}"/>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2">
            <a:extLst>
              <a:ext uri="{FF2B5EF4-FFF2-40B4-BE49-F238E27FC236}">
                <a16:creationId xmlns:a16="http://schemas.microsoft.com/office/drawing/2014/main" id="{4604E5B3-F516-154C-A26D-3AD76BDFF038}"/>
              </a:ext>
            </a:extLst>
          </p:cNvPr>
          <p:cNvSpPr/>
          <p:nvPr/>
        </p:nvSpPr>
        <p:spPr>
          <a:xfrm>
            <a:off x="5964962" y="2765827"/>
            <a:ext cx="1199326" cy="377020"/>
          </a:xfrm>
          <a:prstGeom prst="rect">
            <a:avLst/>
          </a:prstGeom>
        </p:spPr>
        <p:txBody>
          <a:bodyPr wrap="square" lIns="68573" tIns="34287" rIns="68573" bIns="34287">
            <a:spAutoFit/>
          </a:bodyPr>
          <a:lstStyle/>
          <a:p>
            <a:pPr algn="r" eaLnBrk="1" fontAlgn="auto" hangingPunct="1">
              <a:spcBef>
                <a:spcPts val="0"/>
              </a:spcBef>
              <a:spcAft>
                <a:spcPts val="0"/>
              </a:spcAft>
            </a:pPr>
            <a:r>
              <a:rPr lang="zh-CN" altLang="zh-CN" kern="100" dirty="0">
                <a:solidFill>
                  <a:srgbClr val="9A0001"/>
                </a:solidFill>
                <a:latin typeface="Microsoft YaHei" panose="020B0503020204020204" pitchFamily="34" charset="-122"/>
                <a:ea typeface="Microsoft YaHei" panose="020B0503020204020204" pitchFamily="34" charset="-122"/>
              </a:rPr>
              <a:t>动态分配</a:t>
            </a:r>
            <a:endParaRPr lang="en-US" altLang="zh-CN"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4" name="矩形 4">
            <a:extLst>
              <a:ext uri="{FF2B5EF4-FFF2-40B4-BE49-F238E27FC236}">
                <a16:creationId xmlns:a16="http://schemas.microsoft.com/office/drawing/2014/main" id="{7D6A4B7D-AFAA-C545-84FD-8217E5858AD2}"/>
              </a:ext>
            </a:extLst>
          </p:cNvPr>
          <p:cNvSpPr/>
          <p:nvPr/>
        </p:nvSpPr>
        <p:spPr>
          <a:xfrm>
            <a:off x="2150779" y="1304750"/>
            <a:ext cx="1164407" cy="377020"/>
          </a:xfrm>
          <a:prstGeom prst="rect">
            <a:avLst/>
          </a:prstGeom>
        </p:spPr>
        <p:txBody>
          <a:bodyPr wrap="none" lIns="68573" tIns="34287" rIns="68573" bIns="34287">
            <a:spAutoFit/>
          </a:bodyPr>
          <a:lstStyle/>
          <a:p>
            <a:pPr algn="r" eaLnBrk="1" fontAlgn="auto" hangingPunct="1">
              <a:spcBef>
                <a:spcPts val="0"/>
              </a:spcBef>
              <a:spcAft>
                <a:spcPts val="0"/>
              </a:spcAft>
            </a:pPr>
            <a:r>
              <a:rPr lang="zh-CN" altLang="zh-CN" kern="100" dirty="0">
                <a:solidFill>
                  <a:srgbClr val="9A0001"/>
                </a:solidFill>
                <a:latin typeface="Microsoft YaHei" panose="020B0503020204020204" pitchFamily="34" charset="-122"/>
                <a:ea typeface="Microsoft YaHei" panose="020B0503020204020204" pitchFamily="34" charset="-122"/>
              </a:rPr>
              <a:t>静态分配</a:t>
            </a:r>
            <a:endParaRPr lang="en-US" altLang="zh-CN" dirty="0">
              <a:solidFill>
                <a:srgbClr val="9A0001"/>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5" name="等腰三角形 18">
            <a:extLst>
              <a:ext uri="{FF2B5EF4-FFF2-40B4-BE49-F238E27FC236}">
                <a16:creationId xmlns:a16="http://schemas.microsoft.com/office/drawing/2014/main" id="{518A2356-11BA-D94D-B8B0-1306FE736816}"/>
              </a:ext>
            </a:extLst>
          </p:cNvPr>
          <p:cNvSpPr>
            <a:spLocks noChangeAspect="1" noChangeArrowheads="1"/>
          </p:cNvSpPr>
          <p:nvPr/>
        </p:nvSpPr>
        <p:spPr bwMode="auto">
          <a:xfrm rot="5400000" flipV="1">
            <a:off x="5740667" y="3451403"/>
            <a:ext cx="238204" cy="205414"/>
          </a:xfrm>
          <a:prstGeom prst="triangle">
            <a:avLst>
              <a:gd name="adj" fmla="val 50000"/>
            </a:avLst>
          </a:prstGeom>
          <a:solidFill>
            <a:srgbClr val="9A0001"/>
          </a:solidFill>
          <a:ln>
            <a:noFill/>
          </a:ln>
        </p:spPr>
        <p:txBody>
          <a:bodyPr lIns="68573" tIns="34287" rIns="68573" bIns="34287" anchor="ctr"/>
          <a:lstStyle>
            <a:lvl1pPr>
              <a:spcBef>
                <a:spcPct val="20000"/>
              </a:spcBef>
              <a:buFont typeface="Arial" charset="0"/>
              <a:buChar char="•"/>
              <a:defRPr sz="3200">
                <a:solidFill>
                  <a:schemeClr val="tx1"/>
                </a:solidFill>
                <a:latin typeface="微软雅黑" pitchFamily="34" charset="-122"/>
                <a:ea typeface="微软雅黑" pitchFamily="34" charset="-122"/>
                <a:sym typeface="Calibri" pitchFamily="34" charset="0"/>
              </a:defRPr>
            </a:lvl1pPr>
            <a:lvl2pPr marL="742950" indent="-285750">
              <a:spcBef>
                <a:spcPct val="20000"/>
              </a:spcBef>
              <a:buFont typeface="Arial" charset="0"/>
              <a:buChar char="–"/>
              <a:defRPr sz="2800">
                <a:solidFill>
                  <a:schemeClr val="tx1"/>
                </a:solidFill>
                <a:latin typeface="微软雅黑" pitchFamily="34" charset="-122"/>
                <a:ea typeface="微软雅黑" pitchFamily="34" charset="-122"/>
                <a:sym typeface="Calibri" pitchFamily="34" charset="0"/>
              </a:defRPr>
            </a:lvl2pPr>
            <a:lvl3pPr marL="1143000" indent="-228600">
              <a:spcBef>
                <a:spcPct val="20000"/>
              </a:spcBef>
              <a:buFont typeface="Arial" charset="0"/>
              <a:buChar char="•"/>
              <a:defRPr sz="2400">
                <a:solidFill>
                  <a:schemeClr val="tx1"/>
                </a:solidFill>
                <a:latin typeface="微软雅黑" pitchFamily="34" charset="-122"/>
                <a:ea typeface="微软雅黑" pitchFamily="34" charset="-122"/>
                <a:sym typeface="Calibri" pitchFamily="34" charset="0"/>
              </a:defRPr>
            </a:lvl3pPr>
            <a:lvl4pPr marL="16002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4pPr>
            <a:lvl5pPr marL="20574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5pPr>
            <a:lvl6pPr marL="25146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6pPr>
            <a:lvl7pPr marL="29718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7pPr>
            <a:lvl8pPr marL="34290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8pPr>
            <a:lvl9pPr marL="38862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9pPr>
          </a:lstStyle>
          <a:p>
            <a:pPr algn="ctr" eaLnBrk="1" fontAlgn="auto" hangingPunct="1">
              <a:spcBef>
                <a:spcPct val="0"/>
              </a:spcBef>
              <a:spcAft>
                <a:spcPts val="0"/>
              </a:spcAft>
              <a:buFont typeface="Arial" charset="0"/>
              <a:buNone/>
            </a:pPr>
            <a:endParaRPr lang="zh-CN" altLang="zh-CN" sz="1800" b="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6" name="等腰三角形 18">
            <a:extLst>
              <a:ext uri="{FF2B5EF4-FFF2-40B4-BE49-F238E27FC236}">
                <a16:creationId xmlns:a16="http://schemas.microsoft.com/office/drawing/2014/main" id="{AF95D42E-E7BA-8A4F-89FA-D8964DF1369B}"/>
              </a:ext>
            </a:extLst>
          </p:cNvPr>
          <p:cNvSpPr>
            <a:spLocks noChangeAspect="1" noChangeArrowheads="1"/>
          </p:cNvSpPr>
          <p:nvPr/>
        </p:nvSpPr>
        <p:spPr bwMode="auto">
          <a:xfrm rot="16200000" flipH="1" flipV="1">
            <a:off x="3403477" y="2314260"/>
            <a:ext cx="238204" cy="205414"/>
          </a:xfrm>
          <a:prstGeom prst="triangle">
            <a:avLst>
              <a:gd name="adj" fmla="val 50000"/>
            </a:avLst>
          </a:prstGeom>
          <a:solidFill>
            <a:srgbClr val="9A0001"/>
          </a:solidFill>
          <a:ln>
            <a:noFill/>
          </a:ln>
        </p:spPr>
        <p:txBody>
          <a:bodyPr lIns="68573" tIns="34287" rIns="68573" bIns="34287" anchor="ctr"/>
          <a:lstStyle>
            <a:lvl1pPr>
              <a:spcBef>
                <a:spcPct val="20000"/>
              </a:spcBef>
              <a:buFont typeface="Arial" charset="0"/>
              <a:buChar char="•"/>
              <a:defRPr sz="3200">
                <a:solidFill>
                  <a:schemeClr val="tx1"/>
                </a:solidFill>
                <a:latin typeface="微软雅黑" pitchFamily="34" charset="-122"/>
                <a:ea typeface="微软雅黑" pitchFamily="34" charset="-122"/>
                <a:sym typeface="Calibri" pitchFamily="34" charset="0"/>
              </a:defRPr>
            </a:lvl1pPr>
            <a:lvl2pPr marL="742950" indent="-285750">
              <a:spcBef>
                <a:spcPct val="20000"/>
              </a:spcBef>
              <a:buFont typeface="Arial" charset="0"/>
              <a:buChar char="–"/>
              <a:defRPr sz="2800">
                <a:solidFill>
                  <a:schemeClr val="tx1"/>
                </a:solidFill>
                <a:latin typeface="微软雅黑" pitchFamily="34" charset="-122"/>
                <a:ea typeface="微软雅黑" pitchFamily="34" charset="-122"/>
                <a:sym typeface="Calibri" pitchFamily="34" charset="0"/>
              </a:defRPr>
            </a:lvl2pPr>
            <a:lvl3pPr marL="1143000" indent="-228600">
              <a:spcBef>
                <a:spcPct val="20000"/>
              </a:spcBef>
              <a:buFont typeface="Arial" charset="0"/>
              <a:buChar char="•"/>
              <a:defRPr sz="2400">
                <a:solidFill>
                  <a:schemeClr val="tx1"/>
                </a:solidFill>
                <a:latin typeface="微软雅黑" pitchFamily="34" charset="-122"/>
                <a:ea typeface="微软雅黑" pitchFamily="34" charset="-122"/>
                <a:sym typeface="Calibri" pitchFamily="34" charset="0"/>
              </a:defRPr>
            </a:lvl3pPr>
            <a:lvl4pPr marL="16002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4pPr>
            <a:lvl5pPr marL="20574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5pPr>
            <a:lvl6pPr marL="25146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6pPr>
            <a:lvl7pPr marL="29718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7pPr>
            <a:lvl8pPr marL="34290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8pPr>
            <a:lvl9pPr marL="38862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9pPr>
          </a:lstStyle>
          <a:p>
            <a:pPr algn="ctr" eaLnBrk="1" fontAlgn="auto" hangingPunct="1">
              <a:spcBef>
                <a:spcPct val="0"/>
              </a:spcBef>
              <a:spcAft>
                <a:spcPts val="0"/>
              </a:spcAft>
              <a:buFont typeface="Arial" charset="0"/>
              <a:buNone/>
            </a:pPr>
            <a:endParaRPr lang="zh-CN" altLang="zh-CN" sz="1800" b="0">
              <a:solidFill>
                <a:srgbClr val="000000">
                  <a:lumMod val="65000"/>
                  <a:lumOff val="35000"/>
                </a:srgbClr>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7" name="矩形 47">
            <a:extLst>
              <a:ext uri="{FF2B5EF4-FFF2-40B4-BE49-F238E27FC236}">
                <a16:creationId xmlns:a16="http://schemas.microsoft.com/office/drawing/2014/main" id="{FF3CF6CF-38CB-3246-886B-B3CDDF2F8812}"/>
              </a:ext>
            </a:extLst>
          </p:cNvPr>
          <p:cNvSpPr>
            <a:spLocks noChangeArrowheads="1"/>
          </p:cNvSpPr>
          <p:nvPr/>
        </p:nvSpPr>
        <p:spPr bwMode="auto">
          <a:xfrm>
            <a:off x="48990" y="1769212"/>
            <a:ext cx="3431338" cy="15799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73" tIns="34287" rIns="68573" bIns="34287">
            <a:spAutoFit/>
          </a:bodyPr>
          <a:lstStyle>
            <a:lvl1pPr>
              <a:spcBef>
                <a:spcPct val="20000"/>
              </a:spcBef>
              <a:buFont typeface="Arial" charset="0"/>
              <a:buChar char="•"/>
              <a:defRPr sz="3200">
                <a:solidFill>
                  <a:schemeClr val="tx1"/>
                </a:solidFill>
                <a:latin typeface="微软雅黑" pitchFamily="34" charset="-122"/>
                <a:ea typeface="微软雅黑" pitchFamily="34" charset="-122"/>
                <a:sym typeface="Calibri" pitchFamily="34" charset="0"/>
              </a:defRPr>
            </a:lvl1pPr>
            <a:lvl2pPr marL="742950" indent="-285750">
              <a:spcBef>
                <a:spcPct val="20000"/>
              </a:spcBef>
              <a:buFont typeface="Arial" charset="0"/>
              <a:buChar char="–"/>
              <a:defRPr sz="2800">
                <a:solidFill>
                  <a:schemeClr val="tx1"/>
                </a:solidFill>
                <a:latin typeface="微软雅黑" pitchFamily="34" charset="-122"/>
                <a:ea typeface="微软雅黑" pitchFamily="34" charset="-122"/>
                <a:sym typeface="Calibri" pitchFamily="34" charset="0"/>
              </a:defRPr>
            </a:lvl2pPr>
            <a:lvl3pPr marL="1143000" indent="-228600">
              <a:spcBef>
                <a:spcPct val="20000"/>
              </a:spcBef>
              <a:buFont typeface="Arial" charset="0"/>
              <a:buChar char="•"/>
              <a:defRPr sz="2400">
                <a:solidFill>
                  <a:schemeClr val="tx1"/>
                </a:solidFill>
                <a:latin typeface="微软雅黑" pitchFamily="34" charset="-122"/>
                <a:ea typeface="微软雅黑" pitchFamily="34" charset="-122"/>
                <a:sym typeface="Calibri" pitchFamily="34" charset="0"/>
              </a:defRPr>
            </a:lvl3pPr>
            <a:lvl4pPr marL="16002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4pPr>
            <a:lvl5pPr marL="20574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5pPr>
            <a:lvl6pPr marL="25146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6pPr>
            <a:lvl7pPr marL="29718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7pPr>
            <a:lvl8pPr marL="34290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8pPr>
            <a:lvl9pPr marL="38862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9pPr>
          </a:lstStyle>
          <a:p>
            <a:pPr algn="just" eaLnBrk="1" fontAlgn="auto" hangingPunct="1">
              <a:lnSpc>
                <a:spcPts val="2400"/>
              </a:lnSpc>
              <a:spcAft>
                <a:spcPts val="0"/>
              </a:spcAft>
              <a:buFont typeface="Arial" charset="0"/>
              <a:buNone/>
            </a:pPr>
            <a:r>
              <a:rPr lang="zh-CN" altLang="zh-CN" sz="1600" b="0" kern="100" dirty="0">
                <a:solidFill>
                  <a:srgbClr val="000000"/>
                </a:solidFill>
                <a:latin typeface="Microsoft YaHei" panose="020B0503020204020204" pitchFamily="34" charset="-122"/>
                <a:ea typeface="Microsoft YaHei" panose="020B0503020204020204" pitchFamily="34" charset="-122"/>
              </a:rPr>
              <a:t>内存空间是在目标程序模块链接后装入内存时确定并分配的，并且在程序运行过程中不允许再申请或在内存中“搬家”，即分配工作是在程序运行前一次性完成</a:t>
            </a:r>
            <a:endParaRPr lang="en-US" altLang="zh-CN" sz="1600" b="0" kern="100" dirty="0">
              <a:solidFill>
                <a:srgbClr val="000000"/>
              </a:solidFill>
              <a:latin typeface="Microsoft YaHei" panose="020B0503020204020204" pitchFamily="34" charset="-122"/>
              <a:ea typeface="Microsoft YaHei" panose="020B0503020204020204" pitchFamily="34" charset="-122"/>
            </a:endParaRPr>
          </a:p>
        </p:txBody>
      </p:sp>
      <p:sp>
        <p:nvSpPr>
          <p:cNvPr id="18" name="箭头: 环形 26">
            <a:extLst>
              <a:ext uri="{FF2B5EF4-FFF2-40B4-BE49-F238E27FC236}">
                <a16:creationId xmlns:a16="http://schemas.microsoft.com/office/drawing/2014/main" id="{E21CE2A3-5C93-4247-8AC6-F3202898F1F2}"/>
              </a:ext>
            </a:extLst>
          </p:cNvPr>
          <p:cNvSpPr/>
          <p:nvPr/>
        </p:nvSpPr>
        <p:spPr>
          <a:xfrm rot="16200000" flipH="1">
            <a:off x="3532223" y="1588054"/>
            <a:ext cx="1820126" cy="1820126"/>
          </a:xfrm>
          <a:prstGeom prst="circularArrow">
            <a:avLst>
              <a:gd name="adj1" fmla="val 6289"/>
              <a:gd name="adj2" fmla="val 916834"/>
              <a:gd name="adj3" fmla="val 20200474"/>
              <a:gd name="adj4" fmla="val 7617326"/>
              <a:gd name="adj5" fmla="val 10098"/>
            </a:avLst>
          </a:prstGeom>
          <a:solidFill>
            <a:srgbClr val="FFFFFF">
              <a:lumMod val="85000"/>
            </a:srgbClr>
          </a:solidFill>
          <a:ln w="12700" cap="flat" cmpd="sng" algn="ctr">
            <a:noFill/>
            <a:prstDash val="solid"/>
            <a:miter lim="800000"/>
          </a:ln>
          <a:effectLst/>
        </p:spPr>
        <p:txBody>
          <a:bodyPr lIns="68580" tIns="34290" rIns="68580" bIns="3429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000000">
                  <a:lumMod val="65000"/>
                  <a:lumOff val="35000"/>
                </a:srgbClr>
              </a:solidFill>
              <a:effectLst/>
              <a:uLnTx/>
              <a:uFillTx/>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19" name="book_176227">
            <a:extLst>
              <a:ext uri="{FF2B5EF4-FFF2-40B4-BE49-F238E27FC236}">
                <a16:creationId xmlns:a16="http://schemas.microsoft.com/office/drawing/2014/main" id="{E1087132-21D1-6543-9132-E388511C1472}"/>
              </a:ext>
            </a:extLst>
          </p:cNvPr>
          <p:cNvSpPr>
            <a:spLocks noChangeAspect="1"/>
          </p:cNvSpPr>
          <p:nvPr/>
        </p:nvSpPr>
        <p:spPr bwMode="auto">
          <a:xfrm>
            <a:off x="4290565" y="2195176"/>
            <a:ext cx="400992" cy="500133"/>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485208" h="605169">
                <a:moveTo>
                  <a:pt x="220235" y="439905"/>
                </a:moveTo>
                <a:cubicBezTo>
                  <a:pt x="238474" y="439905"/>
                  <a:pt x="253260" y="454659"/>
                  <a:pt x="253260" y="472859"/>
                </a:cubicBezTo>
                <a:cubicBezTo>
                  <a:pt x="253260" y="491059"/>
                  <a:pt x="238474" y="505813"/>
                  <a:pt x="220235" y="505813"/>
                </a:cubicBezTo>
                <a:cubicBezTo>
                  <a:pt x="201996" y="505813"/>
                  <a:pt x="187210" y="491059"/>
                  <a:pt x="187210" y="472859"/>
                </a:cubicBezTo>
                <a:cubicBezTo>
                  <a:pt x="187210" y="454659"/>
                  <a:pt x="201996" y="439905"/>
                  <a:pt x="220235" y="439905"/>
                </a:cubicBezTo>
                <a:close/>
                <a:moveTo>
                  <a:pt x="128077" y="340902"/>
                </a:moveTo>
                <a:cubicBezTo>
                  <a:pt x="155943" y="340902"/>
                  <a:pt x="178532" y="363444"/>
                  <a:pt x="178532" y="391251"/>
                </a:cubicBezTo>
                <a:cubicBezTo>
                  <a:pt x="178532" y="419058"/>
                  <a:pt x="155943" y="441600"/>
                  <a:pt x="128077" y="441600"/>
                </a:cubicBezTo>
                <a:cubicBezTo>
                  <a:pt x="100211" y="441600"/>
                  <a:pt x="77622" y="419058"/>
                  <a:pt x="77622" y="391251"/>
                </a:cubicBezTo>
                <a:cubicBezTo>
                  <a:pt x="77622" y="363444"/>
                  <a:pt x="100211" y="340902"/>
                  <a:pt x="128077" y="340902"/>
                </a:cubicBezTo>
                <a:close/>
                <a:moveTo>
                  <a:pt x="45549" y="290563"/>
                </a:moveTo>
                <a:cubicBezTo>
                  <a:pt x="41428" y="290563"/>
                  <a:pt x="39910" y="295545"/>
                  <a:pt x="39910" y="295545"/>
                </a:cubicBezTo>
                <a:cubicBezTo>
                  <a:pt x="31667" y="318396"/>
                  <a:pt x="28848" y="337781"/>
                  <a:pt x="28848" y="362906"/>
                </a:cubicBezTo>
                <a:cubicBezTo>
                  <a:pt x="28848" y="480518"/>
                  <a:pt x="124718" y="576253"/>
                  <a:pt x="242604" y="576253"/>
                </a:cubicBezTo>
                <a:cubicBezTo>
                  <a:pt x="360490" y="576253"/>
                  <a:pt x="456360" y="480518"/>
                  <a:pt x="456360" y="362906"/>
                </a:cubicBezTo>
                <a:cubicBezTo>
                  <a:pt x="456360" y="339081"/>
                  <a:pt x="452348" y="316013"/>
                  <a:pt x="444865" y="294246"/>
                </a:cubicBezTo>
                <a:cubicBezTo>
                  <a:pt x="444431" y="293054"/>
                  <a:pt x="443021" y="290563"/>
                  <a:pt x="437490" y="290563"/>
                </a:cubicBezTo>
                <a:close/>
                <a:moveTo>
                  <a:pt x="150096" y="28807"/>
                </a:moveTo>
                <a:cubicBezTo>
                  <a:pt x="149336" y="28807"/>
                  <a:pt x="148577" y="29024"/>
                  <a:pt x="148577" y="30432"/>
                </a:cubicBezTo>
                <a:lnTo>
                  <a:pt x="148577" y="52091"/>
                </a:lnTo>
                <a:cubicBezTo>
                  <a:pt x="148577" y="53283"/>
                  <a:pt x="150312" y="53283"/>
                  <a:pt x="150421" y="53283"/>
                </a:cubicBezTo>
                <a:lnTo>
                  <a:pt x="189680" y="53283"/>
                </a:lnTo>
                <a:cubicBezTo>
                  <a:pt x="191741" y="53283"/>
                  <a:pt x="192825" y="54582"/>
                  <a:pt x="192825" y="55773"/>
                </a:cubicBezTo>
                <a:lnTo>
                  <a:pt x="192825" y="152592"/>
                </a:lnTo>
                <a:cubicBezTo>
                  <a:pt x="192825" y="155083"/>
                  <a:pt x="190982" y="155516"/>
                  <a:pt x="190982" y="155516"/>
                </a:cubicBezTo>
                <a:lnTo>
                  <a:pt x="182414" y="158115"/>
                </a:lnTo>
                <a:cubicBezTo>
                  <a:pt x="130032" y="173385"/>
                  <a:pt x="86760" y="208149"/>
                  <a:pt x="59756" y="252876"/>
                </a:cubicBezTo>
                <a:cubicBezTo>
                  <a:pt x="58563" y="254825"/>
                  <a:pt x="56720" y="258832"/>
                  <a:pt x="64203" y="258832"/>
                </a:cubicBezTo>
                <a:lnTo>
                  <a:pt x="422524" y="258832"/>
                </a:lnTo>
                <a:cubicBezTo>
                  <a:pt x="427838" y="258832"/>
                  <a:pt x="427187" y="255691"/>
                  <a:pt x="426211" y="254175"/>
                </a:cubicBezTo>
                <a:cubicBezTo>
                  <a:pt x="399207" y="208798"/>
                  <a:pt x="355718" y="173602"/>
                  <a:pt x="302794" y="158115"/>
                </a:cubicBezTo>
                <a:lnTo>
                  <a:pt x="294444" y="155624"/>
                </a:lnTo>
                <a:cubicBezTo>
                  <a:pt x="294444" y="155624"/>
                  <a:pt x="292383" y="155191"/>
                  <a:pt x="292383" y="151725"/>
                </a:cubicBezTo>
                <a:cubicBezTo>
                  <a:pt x="292600" y="137430"/>
                  <a:pt x="292383" y="79274"/>
                  <a:pt x="292383" y="57615"/>
                </a:cubicBezTo>
                <a:cubicBezTo>
                  <a:pt x="292383" y="55015"/>
                  <a:pt x="292708" y="53283"/>
                  <a:pt x="295745" y="53283"/>
                </a:cubicBezTo>
                <a:lnTo>
                  <a:pt x="335980" y="53283"/>
                </a:lnTo>
                <a:cubicBezTo>
                  <a:pt x="336522" y="53283"/>
                  <a:pt x="336631" y="52849"/>
                  <a:pt x="336631" y="52741"/>
                </a:cubicBezTo>
                <a:lnTo>
                  <a:pt x="336631" y="29999"/>
                </a:lnTo>
                <a:cubicBezTo>
                  <a:pt x="336631" y="29349"/>
                  <a:pt x="336522" y="28916"/>
                  <a:pt x="335872" y="28916"/>
                </a:cubicBezTo>
                <a:cubicBezTo>
                  <a:pt x="335872" y="28916"/>
                  <a:pt x="196621" y="28807"/>
                  <a:pt x="150096" y="28807"/>
                </a:cubicBezTo>
                <a:close/>
                <a:moveTo>
                  <a:pt x="148794" y="0"/>
                </a:moveTo>
                <a:lnTo>
                  <a:pt x="336305" y="0"/>
                </a:lnTo>
                <a:cubicBezTo>
                  <a:pt x="352465" y="0"/>
                  <a:pt x="365479" y="13104"/>
                  <a:pt x="365479" y="29132"/>
                </a:cubicBezTo>
                <a:lnTo>
                  <a:pt x="365479" y="52958"/>
                </a:lnTo>
                <a:cubicBezTo>
                  <a:pt x="365479" y="69094"/>
                  <a:pt x="352465" y="82090"/>
                  <a:pt x="336305" y="82090"/>
                </a:cubicBezTo>
                <a:lnTo>
                  <a:pt x="321339" y="82090"/>
                </a:lnTo>
                <a:lnTo>
                  <a:pt x="321339" y="131257"/>
                </a:lnTo>
                <a:cubicBezTo>
                  <a:pt x="321339" y="133640"/>
                  <a:pt x="322749" y="134181"/>
                  <a:pt x="322749" y="134181"/>
                </a:cubicBezTo>
                <a:cubicBezTo>
                  <a:pt x="367865" y="149668"/>
                  <a:pt x="406798" y="178258"/>
                  <a:pt x="435863" y="216379"/>
                </a:cubicBezTo>
                <a:cubicBezTo>
                  <a:pt x="468181" y="258724"/>
                  <a:pt x="485208" y="309407"/>
                  <a:pt x="485208" y="362906"/>
                </a:cubicBezTo>
                <a:cubicBezTo>
                  <a:pt x="485208" y="496438"/>
                  <a:pt x="376432" y="605169"/>
                  <a:pt x="242604" y="605169"/>
                </a:cubicBezTo>
                <a:cubicBezTo>
                  <a:pt x="108776" y="605169"/>
                  <a:pt x="0" y="496438"/>
                  <a:pt x="0" y="362906"/>
                </a:cubicBezTo>
                <a:cubicBezTo>
                  <a:pt x="0" y="309407"/>
                  <a:pt x="17027" y="258724"/>
                  <a:pt x="49345" y="216379"/>
                </a:cubicBezTo>
                <a:cubicBezTo>
                  <a:pt x="78410" y="178258"/>
                  <a:pt x="116584" y="149884"/>
                  <a:pt x="161700" y="134398"/>
                </a:cubicBezTo>
                <a:cubicBezTo>
                  <a:pt x="161700" y="134398"/>
                  <a:pt x="163869" y="133748"/>
                  <a:pt x="163869" y="132232"/>
                </a:cubicBezTo>
                <a:lnTo>
                  <a:pt x="163869" y="82090"/>
                </a:lnTo>
                <a:lnTo>
                  <a:pt x="148794" y="82090"/>
                </a:lnTo>
                <a:cubicBezTo>
                  <a:pt x="132743" y="82090"/>
                  <a:pt x="119729" y="69094"/>
                  <a:pt x="119729" y="52958"/>
                </a:cubicBezTo>
                <a:lnTo>
                  <a:pt x="119729" y="29132"/>
                </a:lnTo>
                <a:cubicBezTo>
                  <a:pt x="119729" y="13104"/>
                  <a:pt x="132743" y="0"/>
                  <a:pt x="148794" y="0"/>
                </a:cubicBezTo>
                <a:close/>
              </a:path>
            </a:pathLst>
          </a:custGeom>
          <a:solidFill>
            <a:srgbClr val="9A0001"/>
          </a:solidFill>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b="0">
              <a:solidFill>
                <a:srgbClr val="000000"/>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20" name="book_176227">
            <a:extLst>
              <a:ext uri="{FF2B5EF4-FFF2-40B4-BE49-F238E27FC236}">
                <a16:creationId xmlns:a16="http://schemas.microsoft.com/office/drawing/2014/main" id="{E09E7CA5-74D8-F849-8CAA-44B38D04C375}"/>
              </a:ext>
            </a:extLst>
          </p:cNvPr>
          <p:cNvSpPr>
            <a:spLocks noChangeAspect="1"/>
          </p:cNvSpPr>
          <p:nvPr/>
        </p:nvSpPr>
        <p:spPr bwMode="auto">
          <a:xfrm>
            <a:off x="4841569" y="3398312"/>
            <a:ext cx="435858" cy="534524"/>
          </a:xfrm>
          <a:custGeom>
            <a:avLst/>
            <a:gdLst>
              <a:gd name="T0" fmla="*/ 3031 w 6644"/>
              <a:gd name="T1" fmla="*/ 409 h 8160"/>
              <a:gd name="T2" fmla="*/ 2618 w 6644"/>
              <a:gd name="T3" fmla="*/ 0 h 8160"/>
              <a:gd name="T4" fmla="*/ 2041 w 6644"/>
              <a:gd name="T5" fmla="*/ 583 h 8160"/>
              <a:gd name="T6" fmla="*/ 1515 w 6644"/>
              <a:gd name="T7" fmla="*/ 936 h 8160"/>
              <a:gd name="T8" fmla="*/ 3730 w 6644"/>
              <a:gd name="T9" fmla="*/ 936 h 8160"/>
              <a:gd name="T10" fmla="*/ 2623 w 6644"/>
              <a:gd name="T11" fmla="*/ 583 h 8160"/>
              <a:gd name="T12" fmla="*/ 2797 w 6644"/>
              <a:gd name="T13" fmla="*/ 408 h 8160"/>
              <a:gd name="T14" fmla="*/ 466 w 6644"/>
              <a:gd name="T15" fmla="*/ 7344 h 8160"/>
              <a:gd name="T16" fmla="*/ 349 w 6644"/>
              <a:gd name="T17" fmla="*/ 816 h 8160"/>
              <a:gd name="T18" fmla="*/ 1861 w 6644"/>
              <a:gd name="T19" fmla="*/ 1515 h 8160"/>
              <a:gd name="T20" fmla="*/ 3952 w 6644"/>
              <a:gd name="T21" fmla="*/ 816 h 8160"/>
              <a:gd name="T22" fmla="*/ 5245 w 6644"/>
              <a:gd name="T23" fmla="*/ 4785 h 8160"/>
              <a:gd name="T24" fmla="*/ 4663 w 6644"/>
              <a:gd name="T25" fmla="*/ 2098 h 8160"/>
              <a:gd name="T26" fmla="*/ 3270 w 6644"/>
              <a:gd name="T27" fmla="*/ 6761 h 8160"/>
              <a:gd name="T28" fmla="*/ 3613 w 6644"/>
              <a:gd name="T29" fmla="*/ 6645 h 8160"/>
              <a:gd name="T30" fmla="*/ 5129 w 6644"/>
              <a:gd name="T31" fmla="*/ 5129 h 8160"/>
              <a:gd name="T32" fmla="*/ 5012 w 6644"/>
              <a:gd name="T33" fmla="*/ 7461 h 8160"/>
              <a:gd name="T34" fmla="*/ 4247 w 6644"/>
              <a:gd name="T35" fmla="*/ 6616 h 8160"/>
              <a:gd name="T36" fmla="*/ 5771 w 6644"/>
              <a:gd name="T37" fmla="*/ 6023 h 8160"/>
              <a:gd name="T38" fmla="*/ 4080 w 6644"/>
              <a:gd name="T39" fmla="*/ 4080 h 8160"/>
              <a:gd name="T40" fmla="*/ 2098 w 6644"/>
              <a:gd name="T41" fmla="*/ 3847 h 8160"/>
              <a:gd name="T42" fmla="*/ 4196 w 6644"/>
              <a:gd name="T43" fmla="*/ 3847 h 8160"/>
              <a:gd name="T44" fmla="*/ 4080 w 6644"/>
              <a:gd name="T45" fmla="*/ 3031 h 8160"/>
              <a:gd name="T46" fmla="*/ 2098 w 6644"/>
              <a:gd name="T47" fmla="*/ 2798 h 8160"/>
              <a:gd name="T48" fmla="*/ 4196 w 6644"/>
              <a:gd name="T49" fmla="*/ 2798 h 8160"/>
              <a:gd name="T50" fmla="*/ 3497 w 6644"/>
              <a:gd name="T51" fmla="*/ 5013 h 8160"/>
              <a:gd name="T52" fmla="*/ 2098 w 6644"/>
              <a:gd name="T53" fmla="*/ 4779 h 8160"/>
              <a:gd name="T54" fmla="*/ 3613 w 6644"/>
              <a:gd name="T55" fmla="*/ 4779 h 8160"/>
              <a:gd name="T56" fmla="*/ 3264 w 6644"/>
              <a:gd name="T57" fmla="*/ 6062 h 8160"/>
              <a:gd name="T58" fmla="*/ 2098 w 6644"/>
              <a:gd name="T59" fmla="*/ 5829 h 8160"/>
              <a:gd name="T60" fmla="*/ 3380 w 6644"/>
              <a:gd name="T61" fmla="*/ 5829 h 8160"/>
              <a:gd name="T62" fmla="*/ 1875 w 6644"/>
              <a:gd name="T63" fmla="*/ 2600 h 8160"/>
              <a:gd name="T64" fmla="*/ 1298 w 6644"/>
              <a:gd name="T65" fmla="*/ 3095 h 8160"/>
              <a:gd name="T66" fmla="*/ 1164 w 6644"/>
              <a:gd name="T67" fmla="*/ 2713 h 8160"/>
              <a:gd name="T68" fmla="*/ 1866 w 6644"/>
              <a:gd name="T69" fmla="*/ 2448 h 8160"/>
              <a:gd name="T70" fmla="*/ 1445 w 6644"/>
              <a:gd name="T71" fmla="*/ 4120 h 8160"/>
              <a:gd name="T72" fmla="*/ 1030 w 6644"/>
              <a:gd name="T73" fmla="*/ 3918 h 8160"/>
              <a:gd name="T74" fmla="*/ 1353 w 6644"/>
              <a:gd name="T75" fmla="*/ 3901 h 8160"/>
              <a:gd name="T76" fmla="*/ 1875 w 6644"/>
              <a:gd name="T77" fmla="*/ 3637 h 8160"/>
              <a:gd name="T78" fmla="*/ 1365 w 6644"/>
              <a:gd name="T79" fmla="*/ 5148 h 8160"/>
              <a:gd name="T80" fmla="*/ 1013 w 6644"/>
              <a:gd name="T81" fmla="*/ 4759 h 8160"/>
              <a:gd name="T82" fmla="*/ 1714 w 6644"/>
              <a:gd name="T83" fmla="*/ 4486 h 8160"/>
              <a:gd name="T84" fmla="*/ 1875 w 6644"/>
              <a:gd name="T85" fmla="*/ 5628 h 8160"/>
              <a:gd name="T86" fmla="*/ 1298 w 6644"/>
              <a:gd name="T87" fmla="*/ 6123 h 8160"/>
              <a:gd name="T88" fmla="*/ 1164 w 6644"/>
              <a:gd name="T89" fmla="*/ 5741 h 8160"/>
              <a:gd name="T90" fmla="*/ 1866 w 6644"/>
              <a:gd name="T91" fmla="*/ 547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644" h="8160">
                <a:moveTo>
                  <a:pt x="3384" y="583"/>
                </a:moveTo>
                <a:lnTo>
                  <a:pt x="3204" y="583"/>
                </a:lnTo>
                <a:cubicBezTo>
                  <a:pt x="3108" y="583"/>
                  <a:pt x="3031" y="505"/>
                  <a:pt x="3031" y="409"/>
                </a:cubicBezTo>
                <a:lnTo>
                  <a:pt x="3031" y="403"/>
                </a:lnTo>
                <a:cubicBezTo>
                  <a:pt x="3031" y="181"/>
                  <a:pt x="2850" y="0"/>
                  <a:pt x="2627" y="0"/>
                </a:cubicBezTo>
                <a:lnTo>
                  <a:pt x="2618" y="0"/>
                </a:lnTo>
                <a:cubicBezTo>
                  <a:pt x="2395" y="0"/>
                  <a:pt x="2215" y="181"/>
                  <a:pt x="2215" y="403"/>
                </a:cubicBezTo>
                <a:lnTo>
                  <a:pt x="2215" y="409"/>
                </a:lnTo>
                <a:cubicBezTo>
                  <a:pt x="2215" y="505"/>
                  <a:pt x="2137" y="583"/>
                  <a:pt x="2041" y="583"/>
                </a:cubicBezTo>
                <a:lnTo>
                  <a:pt x="1861" y="583"/>
                </a:lnTo>
                <a:cubicBezTo>
                  <a:pt x="1670" y="583"/>
                  <a:pt x="1515" y="738"/>
                  <a:pt x="1515" y="929"/>
                </a:cubicBezTo>
                <a:lnTo>
                  <a:pt x="1515" y="936"/>
                </a:lnTo>
                <a:cubicBezTo>
                  <a:pt x="1515" y="1127"/>
                  <a:pt x="1670" y="1282"/>
                  <a:pt x="1861" y="1282"/>
                </a:cubicBezTo>
                <a:lnTo>
                  <a:pt x="3384" y="1282"/>
                </a:lnTo>
                <a:cubicBezTo>
                  <a:pt x="3575" y="1282"/>
                  <a:pt x="3730" y="1127"/>
                  <a:pt x="3730" y="936"/>
                </a:cubicBezTo>
                <a:lnTo>
                  <a:pt x="3730" y="929"/>
                </a:lnTo>
                <a:cubicBezTo>
                  <a:pt x="3730" y="738"/>
                  <a:pt x="3575" y="583"/>
                  <a:pt x="3384" y="583"/>
                </a:cubicBezTo>
                <a:close/>
                <a:moveTo>
                  <a:pt x="2623" y="583"/>
                </a:moveTo>
                <a:cubicBezTo>
                  <a:pt x="2526" y="583"/>
                  <a:pt x="2448" y="505"/>
                  <a:pt x="2448" y="408"/>
                </a:cubicBezTo>
                <a:cubicBezTo>
                  <a:pt x="2448" y="311"/>
                  <a:pt x="2526" y="233"/>
                  <a:pt x="2623" y="233"/>
                </a:cubicBezTo>
                <a:cubicBezTo>
                  <a:pt x="2719" y="233"/>
                  <a:pt x="2797" y="311"/>
                  <a:pt x="2797" y="408"/>
                </a:cubicBezTo>
                <a:cubicBezTo>
                  <a:pt x="2797" y="505"/>
                  <a:pt x="2719" y="583"/>
                  <a:pt x="2623" y="583"/>
                </a:cubicBezTo>
                <a:close/>
                <a:moveTo>
                  <a:pt x="3401" y="7344"/>
                </a:moveTo>
                <a:lnTo>
                  <a:pt x="466" y="7344"/>
                </a:lnTo>
                <a:cubicBezTo>
                  <a:pt x="208" y="7344"/>
                  <a:pt x="0" y="7135"/>
                  <a:pt x="0" y="6878"/>
                </a:cubicBezTo>
                <a:lnTo>
                  <a:pt x="0" y="1282"/>
                </a:lnTo>
                <a:cubicBezTo>
                  <a:pt x="0" y="1025"/>
                  <a:pt x="208" y="816"/>
                  <a:pt x="349" y="816"/>
                </a:cubicBezTo>
                <a:lnTo>
                  <a:pt x="1294" y="816"/>
                </a:lnTo>
                <a:cubicBezTo>
                  <a:pt x="1286" y="855"/>
                  <a:pt x="1282" y="895"/>
                  <a:pt x="1282" y="936"/>
                </a:cubicBezTo>
                <a:cubicBezTo>
                  <a:pt x="1282" y="1256"/>
                  <a:pt x="1542" y="1515"/>
                  <a:pt x="1861" y="1515"/>
                </a:cubicBezTo>
                <a:lnTo>
                  <a:pt x="3384" y="1515"/>
                </a:lnTo>
                <a:cubicBezTo>
                  <a:pt x="3703" y="1515"/>
                  <a:pt x="3963" y="1256"/>
                  <a:pt x="3963" y="929"/>
                </a:cubicBezTo>
                <a:cubicBezTo>
                  <a:pt x="3963" y="890"/>
                  <a:pt x="3959" y="853"/>
                  <a:pt x="3952" y="816"/>
                </a:cubicBezTo>
                <a:lnTo>
                  <a:pt x="4663" y="816"/>
                </a:lnTo>
                <a:cubicBezTo>
                  <a:pt x="5037" y="816"/>
                  <a:pt x="5245" y="1025"/>
                  <a:pt x="5245" y="1282"/>
                </a:cubicBezTo>
                <a:lnTo>
                  <a:pt x="5245" y="4785"/>
                </a:lnTo>
                <a:cubicBezTo>
                  <a:pt x="5207" y="4783"/>
                  <a:pt x="5168" y="4779"/>
                  <a:pt x="5129" y="4779"/>
                </a:cubicBezTo>
                <a:cubicBezTo>
                  <a:pt x="4968" y="4779"/>
                  <a:pt x="4812" y="4802"/>
                  <a:pt x="4663" y="4841"/>
                </a:cubicBezTo>
                <a:lnTo>
                  <a:pt x="4663" y="2098"/>
                </a:lnTo>
                <a:lnTo>
                  <a:pt x="583" y="2098"/>
                </a:lnTo>
                <a:lnTo>
                  <a:pt x="583" y="6761"/>
                </a:lnTo>
                <a:lnTo>
                  <a:pt x="3270" y="6761"/>
                </a:lnTo>
                <a:cubicBezTo>
                  <a:pt x="3282" y="6966"/>
                  <a:pt x="3327" y="7162"/>
                  <a:pt x="3401" y="7344"/>
                </a:cubicBezTo>
                <a:close/>
                <a:moveTo>
                  <a:pt x="5129" y="5129"/>
                </a:moveTo>
                <a:cubicBezTo>
                  <a:pt x="4292" y="5129"/>
                  <a:pt x="3613" y="5808"/>
                  <a:pt x="3613" y="6645"/>
                </a:cubicBezTo>
                <a:cubicBezTo>
                  <a:pt x="3613" y="7482"/>
                  <a:pt x="4292" y="8160"/>
                  <a:pt x="5129" y="8160"/>
                </a:cubicBezTo>
                <a:cubicBezTo>
                  <a:pt x="5966" y="8160"/>
                  <a:pt x="6644" y="7482"/>
                  <a:pt x="6644" y="6645"/>
                </a:cubicBezTo>
                <a:cubicBezTo>
                  <a:pt x="6644" y="5808"/>
                  <a:pt x="5966" y="5129"/>
                  <a:pt x="5129" y="5129"/>
                </a:cubicBezTo>
                <a:close/>
                <a:moveTo>
                  <a:pt x="6119" y="6333"/>
                </a:moveTo>
                <a:lnTo>
                  <a:pt x="5187" y="7382"/>
                </a:lnTo>
                <a:cubicBezTo>
                  <a:pt x="5141" y="7434"/>
                  <a:pt x="5077" y="7461"/>
                  <a:pt x="5012" y="7461"/>
                </a:cubicBezTo>
                <a:cubicBezTo>
                  <a:pt x="4961" y="7461"/>
                  <a:pt x="4910" y="7444"/>
                  <a:pt x="4867" y="7409"/>
                </a:cubicBezTo>
                <a:lnTo>
                  <a:pt x="4284" y="6943"/>
                </a:lnTo>
                <a:cubicBezTo>
                  <a:pt x="4183" y="6863"/>
                  <a:pt x="4167" y="6716"/>
                  <a:pt x="4247" y="6616"/>
                </a:cubicBezTo>
                <a:cubicBezTo>
                  <a:pt x="4328" y="6515"/>
                  <a:pt x="4475" y="6499"/>
                  <a:pt x="4575" y="6579"/>
                </a:cubicBezTo>
                <a:lnTo>
                  <a:pt x="4985" y="6907"/>
                </a:lnTo>
                <a:lnTo>
                  <a:pt x="5771" y="6023"/>
                </a:lnTo>
                <a:cubicBezTo>
                  <a:pt x="5856" y="5927"/>
                  <a:pt x="6003" y="5918"/>
                  <a:pt x="6100" y="6004"/>
                </a:cubicBezTo>
                <a:cubicBezTo>
                  <a:pt x="6196" y="6090"/>
                  <a:pt x="6205" y="6237"/>
                  <a:pt x="6119" y="6333"/>
                </a:cubicBezTo>
                <a:close/>
                <a:moveTo>
                  <a:pt x="4080" y="4080"/>
                </a:moveTo>
                <a:lnTo>
                  <a:pt x="2215" y="4080"/>
                </a:lnTo>
                <a:cubicBezTo>
                  <a:pt x="2150" y="4080"/>
                  <a:pt x="2098" y="4028"/>
                  <a:pt x="2098" y="3963"/>
                </a:cubicBezTo>
                <a:lnTo>
                  <a:pt x="2098" y="3847"/>
                </a:lnTo>
                <a:cubicBezTo>
                  <a:pt x="2098" y="3782"/>
                  <a:pt x="2150" y="3730"/>
                  <a:pt x="2215" y="3730"/>
                </a:cubicBezTo>
                <a:lnTo>
                  <a:pt x="4080" y="3730"/>
                </a:lnTo>
                <a:cubicBezTo>
                  <a:pt x="4144" y="3730"/>
                  <a:pt x="4196" y="3782"/>
                  <a:pt x="4196" y="3847"/>
                </a:cubicBezTo>
                <a:lnTo>
                  <a:pt x="4196" y="3963"/>
                </a:lnTo>
                <a:cubicBezTo>
                  <a:pt x="4196" y="4028"/>
                  <a:pt x="4144" y="4080"/>
                  <a:pt x="4080" y="4080"/>
                </a:cubicBezTo>
                <a:close/>
                <a:moveTo>
                  <a:pt x="4080" y="3031"/>
                </a:moveTo>
                <a:lnTo>
                  <a:pt x="2215" y="3031"/>
                </a:lnTo>
                <a:cubicBezTo>
                  <a:pt x="2150" y="3031"/>
                  <a:pt x="2098" y="2979"/>
                  <a:pt x="2098" y="2914"/>
                </a:cubicBezTo>
                <a:lnTo>
                  <a:pt x="2098" y="2798"/>
                </a:lnTo>
                <a:cubicBezTo>
                  <a:pt x="2098" y="2733"/>
                  <a:pt x="2150" y="2681"/>
                  <a:pt x="2215" y="2681"/>
                </a:cubicBezTo>
                <a:lnTo>
                  <a:pt x="4080" y="2681"/>
                </a:lnTo>
                <a:cubicBezTo>
                  <a:pt x="4144" y="2681"/>
                  <a:pt x="4196" y="2733"/>
                  <a:pt x="4196" y="2798"/>
                </a:cubicBezTo>
                <a:lnTo>
                  <a:pt x="4196" y="2914"/>
                </a:lnTo>
                <a:cubicBezTo>
                  <a:pt x="4196" y="2979"/>
                  <a:pt x="4144" y="3031"/>
                  <a:pt x="4080" y="3031"/>
                </a:cubicBezTo>
                <a:close/>
                <a:moveTo>
                  <a:pt x="3497" y="5013"/>
                </a:moveTo>
                <a:lnTo>
                  <a:pt x="2215" y="5013"/>
                </a:lnTo>
                <a:cubicBezTo>
                  <a:pt x="2150" y="5013"/>
                  <a:pt x="2098" y="4960"/>
                  <a:pt x="2098" y="4896"/>
                </a:cubicBezTo>
                <a:lnTo>
                  <a:pt x="2098" y="4779"/>
                </a:lnTo>
                <a:cubicBezTo>
                  <a:pt x="2098" y="4715"/>
                  <a:pt x="2150" y="4663"/>
                  <a:pt x="2215" y="4663"/>
                </a:cubicBezTo>
                <a:lnTo>
                  <a:pt x="3497" y="4663"/>
                </a:lnTo>
                <a:cubicBezTo>
                  <a:pt x="3561" y="4663"/>
                  <a:pt x="3613" y="4715"/>
                  <a:pt x="3613" y="4779"/>
                </a:cubicBezTo>
                <a:lnTo>
                  <a:pt x="3613" y="4896"/>
                </a:lnTo>
                <a:cubicBezTo>
                  <a:pt x="3613" y="4960"/>
                  <a:pt x="3561" y="5013"/>
                  <a:pt x="3497" y="5013"/>
                </a:cubicBezTo>
                <a:close/>
                <a:moveTo>
                  <a:pt x="3264" y="6062"/>
                </a:moveTo>
                <a:lnTo>
                  <a:pt x="2215" y="6062"/>
                </a:lnTo>
                <a:cubicBezTo>
                  <a:pt x="2150" y="6062"/>
                  <a:pt x="2098" y="6010"/>
                  <a:pt x="2098" y="5945"/>
                </a:cubicBezTo>
                <a:lnTo>
                  <a:pt x="2098" y="5829"/>
                </a:lnTo>
                <a:cubicBezTo>
                  <a:pt x="2098" y="5764"/>
                  <a:pt x="2150" y="5712"/>
                  <a:pt x="2215" y="5712"/>
                </a:cubicBezTo>
                <a:lnTo>
                  <a:pt x="3264" y="5712"/>
                </a:lnTo>
                <a:cubicBezTo>
                  <a:pt x="3328" y="5712"/>
                  <a:pt x="3380" y="5764"/>
                  <a:pt x="3380" y="5829"/>
                </a:cubicBezTo>
                <a:lnTo>
                  <a:pt x="3380" y="5945"/>
                </a:lnTo>
                <a:cubicBezTo>
                  <a:pt x="3380" y="6010"/>
                  <a:pt x="3328" y="6062"/>
                  <a:pt x="3264" y="6062"/>
                </a:cubicBezTo>
                <a:close/>
                <a:moveTo>
                  <a:pt x="1875" y="2600"/>
                </a:moveTo>
                <a:lnTo>
                  <a:pt x="1445" y="3083"/>
                </a:lnTo>
                <a:cubicBezTo>
                  <a:pt x="1424" y="3107"/>
                  <a:pt x="1395" y="3119"/>
                  <a:pt x="1365" y="3119"/>
                </a:cubicBezTo>
                <a:cubicBezTo>
                  <a:pt x="1342" y="3119"/>
                  <a:pt x="1318" y="3111"/>
                  <a:pt x="1298" y="3095"/>
                </a:cubicBezTo>
                <a:lnTo>
                  <a:pt x="1030" y="2881"/>
                </a:lnTo>
                <a:cubicBezTo>
                  <a:pt x="984" y="2844"/>
                  <a:pt x="976" y="2776"/>
                  <a:pt x="1013" y="2730"/>
                </a:cubicBezTo>
                <a:cubicBezTo>
                  <a:pt x="1050" y="2683"/>
                  <a:pt x="1118" y="2676"/>
                  <a:pt x="1164" y="2713"/>
                </a:cubicBezTo>
                <a:lnTo>
                  <a:pt x="1353" y="2864"/>
                </a:lnTo>
                <a:lnTo>
                  <a:pt x="1714" y="2457"/>
                </a:lnTo>
                <a:cubicBezTo>
                  <a:pt x="1754" y="2413"/>
                  <a:pt x="1822" y="2409"/>
                  <a:pt x="1866" y="2448"/>
                </a:cubicBezTo>
                <a:cubicBezTo>
                  <a:pt x="1910" y="2488"/>
                  <a:pt x="1914" y="2555"/>
                  <a:pt x="1875" y="2600"/>
                </a:cubicBezTo>
                <a:close/>
                <a:moveTo>
                  <a:pt x="1875" y="3637"/>
                </a:moveTo>
                <a:lnTo>
                  <a:pt x="1445" y="4120"/>
                </a:lnTo>
                <a:cubicBezTo>
                  <a:pt x="1424" y="4144"/>
                  <a:pt x="1395" y="4156"/>
                  <a:pt x="1365" y="4156"/>
                </a:cubicBezTo>
                <a:cubicBezTo>
                  <a:pt x="1342" y="4156"/>
                  <a:pt x="1318" y="4148"/>
                  <a:pt x="1298" y="4132"/>
                </a:cubicBezTo>
                <a:lnTo>
                  <a:pt x="1030" y="3918"/>
                </a:lnTo>
                <a:cubicBezTo>
                  <a:pt x="984" y="3881"/>
                  <a:pt x="976" y="3813"/>
                  <a:pt x="1013" y="3767"/>
                </a:cubicBezTo>
                <a:cubicBezTo>
                  <a:pt x="1050" y="3721"/>
                  <a:pt x="1118" y="3713"/>
                  <a:pt x="1164" y="3750"/>
                </a:cubicBezTo>
                <a:lnTo>
                  <a:pt x="1353" y="3901"/>
                </a:lnTo>
                <a:lnTo>
                  <a:pt x="1714" y="3494"/>
                </a:lnTo>
                <a:cubicBezTo>
                  <a:pt x="1754" y="3450"/>
                  <a:pt x="1822" y="3446"/>
                  <a:pt x="1866" y="3485"/>
                </a:cubicBezTo>
                <a:cubicBezTo>
                  <a:pt x="1910" y="3525"/>
                  <a:pt x="1914" y="3593"/>
                  <a:pt x="1875" y="3637"/>
                </a:cubicBezTo>
                <a:close/>
                <a:moveTo>
                  <a:pt x="1875" y="4629"/>
                </a:moveTo>
                <a:lnTo>
                  <a:pt x="1445" y="5112"/>
                </a:lnTo>
                <a:cubicBezTo>
                  <a:pt x="1424" y="5136"/>
                  <a:pt x="1395" y="5148"/>
                  <a:pt x="1365" y="5148"/>
                </a:cubicBezTo>
                <a:cubicBezTo>
                  <a:pt x="1342" y="5148"/>
                  <a:pt x="1318" y="5140"/>
                  <a:pt x="1298" y="5124"/>
                </a:cubicBezTo>
                <a:lnTo>
                  <a:pt x="1030" y="4910"/>
                </a:lnTo>
                <a:cubicBezTo>
                  <a:pt x="984" y="4873"/>
                  <a:pt x="976" y="4805"/>
                  <a:pt x="1013" y="4759"/>
                </a:cubicBezTo>
                <a:cubicBezTo>
                  <a:pt x="1050" y="4712"/>
                  <a:pt x="1118" y="4705"/>
                  <a:pt x="1164" y="4742"/>
                </a:cubicBezTo>
                <a:lnTo>
                  <a:pt x="1353" y="4893"/>
                </a:lnTo>
                <a:lnTo>
                  <a:pt x="1714" y="4486"/>
                </a:lnTo>
                <a:cubicBezTo>
                  <a:pt x="1754" y="4442"/>
                  <a:pt x="1822" y="4438"/>
                  <a:pt x="1866" y="4477"/>
                </a:cubicBezTo>
                <a:cubicBezTo>
                  <a:pt x="1910" y="4517"/>
                  <a:pt x="1914" y="4584"/>
                  <a:pt x="1875" y="4629"/>
                </a:cubicBezTo>
                <a:close/>
                <a:moveTo>
                  <a:pt x="1875" y="5628"/>
                </a:moveTo>
                <a:lnTo>
                  <a:pt x="1445" y="6111"/>
                </a:lnTo>
                <a:cubicBezTo>
                  <a:pt x="1424" y="6134"/>
                  <a:pt x="1395" y="6147"/>
                  <a:pt x="1365" y="6147"/>
                </a:cubicBezTo>
                <a:cubicBezTo>
                  <a:pt x="1342" y="6147"/>
                  <a:pt x="1318" y="6139"/>
                  <a:pt x="1298" y="6123"/>
                </a:cubicBezTo>
                <a:lnTo>
                  <a:pt x="1030" y="5908"/>
                </a:lnTo>
                <a:cubicBezTo>
                  <a:pt x="984" y="5871"/>
                  <a:pt x="976" y="5804"/>
                  <a:pt x="1013" y="5758"/>
                </a:cubicBezTo>
                <a:cubicBezTo>
                  <a:pt x="1050" y="5711"/>
                  <a:pt x="1118" y="5704"/>
                  <a:pt x="1164" y="5741"/>
                </a:cubicBezTo>
                <a:lnTo>
                  <a:pt x="1353" y="5892"/>
                </a:lnTo>
                <a:lnTo>
                  <a:pt x="1714" y="5485"/>
                </a:lnTo>
                <a:cubicBezTo>
                  <a:pt x="1754" y="5441"/>
                  <a:pt x="1822" y="5437"/>
                  <a:pt x="1866" y="5476"/>
                </a:cubicBezTo>
                <a:cubicBezTo>
                  <a:pt x="1910" y="5515"/>
                  <a:pt x="1914" y="5583"/>
                  <a:pt x="1875" y="5628"/>
                </a:cubicBezTo>
                <a:close/>
              </a:path>
            </a:pathLst>
          </a:custGeom>
          <a:solidFill>
            <a:srgbClr val="9A0001"/>
          </a:solidFill>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pPr>
            <a:endParaRPr lang="zh-CN" altLang="en-US" b="0">
              <a:solidFill>
                <a:srgbClr val="000000"/>
              </a:solidFill>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21" name="空心弧 16">
            <a:extLst>
              <a:ext uri="{FF2B5EF4-FFF2-40B4-BE49-F238E27FC236}">
                <a16:creationId xmlns:a16="http://schemas.microsoft.com/office/drawing/2014/main" id="{264D9403-ACD0-8947-BE83-387CF27FA10E}"/>
              </a:ext>
            </a:extLst>
          </p:cNvPr>
          <p:cNvSpPr/>
          <p:nvPr/>
        </p:nvSpPr>
        <p:spPr>
          <a:xfrm>
            <a:off x="4246699" y="2901257"/>
            <a:ext cx="1516983" cy="1516983"/>
          </a:xfrm>
          <a:prstGeom prst="blockArc">
            <a:avLst>
              <a:gd name="adj1" fmla="val 12886880"/>
              <a:gd name="adj2" fmla="val 10720422"/>
              <a:gd name="adj3" fmla="val 7811"/>
            </a:avLst>
          </a:prstGeom>
          <a:solidFill>
            <a:srgbClr val="FFFFFF">
              <a:lumMod val="85000"/>
            </a:srgbClr>
          </a:solidFill>
          <a:ln w="12700" cap="flat" cmpd="sng" algn="ctr">
            <a:noFill/>
            <a:prstDash val="solid"/>
            <a:miter lim="800000"/>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000000">
                  <a:lumMod val="65000"/>
                  <a:lumOff val="35000"/>
                </a:srgbClr>
              </a:solidFill>
              <a:effectLst/>
              <a:uLnTx/>
              <a:uFillTx/>
              <a:latin typeface="Microsoft YaHei" panose="020B0503020204020204" pitchFamily="34" charset="-122"/>
              <a:ea typeface="Microsoft YaHei" panose="020B0503020204020204" pitchFamily="34" charset="-122"/>
              <a:cs typeface="+mn-ea"/>
              <a:sym typeface="Arial" panose="020B0604020202020204" pitchFamily="34" charset="0"/>
            </a:endParaRPr>
          </a:p>
        </p:txBody>
      </p:sp>
      <p:sp>
        <p:nvSpPr>
          <p:cNvPr id="22" name="矩形 47">
            <a:extLst>
              <a:ext uri="{FF2B5EF4-FFF2-40B4-BE49-F238E27FC236}">
                <a16:creationId xmlns:a16="http://schemas.microsoft.com/office/drawing/2014/main" id="{F6CCFA58-BED5-DE40-A9CC-6EF44034A212}"/>
              </a:ext>
            </a:extLst>
          </p:cNvPr>
          <p:cNvSpPr>
            <a:spLocks noChangeArrowheads="1"/>
          </p:cNvSpPr>
          <p:nvPr/>
        </p:nvSpPr>
        <p:spPr bwMode="auto">
          <a:xfrm>
            <a:off x="5964961" y="3142847"/>
            <a:ext cx="3179039" cy="1887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73" tIns="34287" rIns="68573" bIns="34287">
            <a:spAutoFit/>
          </a:bodyPr>
          <a:lstStyle>
            <a:lvl1pPr>
              <a:spcBef>
                <a:spcPct val="20000"/>
              </a:spcBef>
              <a:buFont typeface="Arial" charset="0"/>
              <a:buChar char="•"/>
              <a:defRPr sz="3200">
                <a:solidFill>
                  <a:schemeClr val="tx1"/>
                </a:solidFill>
                <a:latin typeface="微软雅黑" pitchFamily="34" charset="-122"/>
                <a:ea typeface="微软雅黑" pitchFamily="34" charset="-122"/>
                <a:sym typeface="Calibri" pitchFamily="34" charset="0"/>
              </a:defRPr>
            </a:lvl1pPr>
            <a:lvl2pPr marL="742950" indent="-285750">
              <a:spcBef>
                <a:spcPct val="20000"/>
              </a:spcBef>
              <a:buFont typeface="Arial" charset="0"/>
              <a:buChar char="–"/>
              <a:defRPr sz="2800">
                <a:solidFill>
                  <a:schemeClr val="tx1"/>
                </a:solidFill>
                <a:latin typeface="微软雅黑" pitchFamily="34" charset="-122"/>
                <a:ea typeface="微软雅黑" pitchFamily="34" charset="-122"/>
                <a:sym typeface="Calibri" pitchFamily="34" charset="0"/>
              </a:defRPr>
            </a:lvl2pPr>
            <a:lvl3pPr marL="1143000" indent="-228600">
              <a:spcBef>
                <a:spcPct val="20000"/>
              </a:spcBef>
              <a:buFont typeface="Arial" charset="0"/>
              <a:buChar char="•"/>
              <a:defRPr sz="2400">
                <a:solidFill>
                  <a:schemeClr val="tx1"/>
                </a:solidFill>
                <a:latin typeface="微软雅黑" pitchFamily="34" charset="-122"/>
                <a:ea typeface="微软雅黑" pitchFamily="34" charset="-122"/>
                <a:sym typeface="Calibri" pitchFamily="34" charset="0"/>
              </a:defRPr>
            </a:lvl3pPr>
            <a:lvl4pPr marL="16002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4pPr>
            <a:lvl5pPr marL="2057400" indent="-228600">
              <a:spcBef>
                <a:spcPct val="20000"/>
              </a:spcBef>
              <a:buFont typeface="Arial" charset="0"/>
              <a:buChar char="»"/>
              <a:defRPr sz="2000">
                <a:solidFill>
                  <a:schemeClr val="tx1"/>
                </a:solidFill>
                <a:latin typeface="微软雅黑" pitchFamily="34" charset="-122"/>
                <a:ea typeface="微软雅黑" pitchFamily="34" charset="-122"/>
                <a:sym typeface="Calibri" pitchFamily="34" charset="0"/>
              </a:defRPr>
            </a:lvl5pPr>
            <a:lvl6pPr marL="25146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6pPr>
            <a:lvl7pPr marL="29718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7pPr>
            <a:lvl8pPr marL="34290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8pPr>
            <a:lvl9pPr marL="3886200" indent="-228600" eaLnBrk="0" fontAlgn="base" hangingPunct="0">
              <a:spcBef>
                <a:spcPct val="20000"/>
              </a:spcBef>
              <a:spcAft>
                <a:spcPct val="0"/>
              </a:spcAft>
              <a:buFont typeface="Arial" charset="0"/>
              <a:buChar char="»"/>
              <a:defRPr sz="2000">
                <a:solidFill>
                  <a:schemeClr val="tx1"/>
                </a:solidFill>
                <a:latin typeface="微软雅黑" pitchFamily="34" charset="-122"/>
                <a:ea typeface="微软雅黑" pitchFamily="34" charset="-122"/>
                <a:sym typeface="Calibri" pitchFamily="34" charset="0"/>
              </a:defRPr>
            </a:lvl9pPr>
          </a:lstStyle>
          <a:p>
            <a:pPr algn="just" eaLnBrk="1" fontAlgn="auto" hangingPunct="1">
              <a:lnSpc>
                <a:spcPts val="2400"/>
              </a:lnSpc>
              <a:spcAft>
                <a:spcPts val="0"/>
              </a:spcAft>
              <a:buFont typeface="Arial" charset="0"/>
              <a:buNone/>
            </a:pPr>
            <a:r>
              <a:rPr lang="zh-CN" altLang="zh-CN" sz="1600" b="0" kern="100" dirty="0">
                <a:solidFill>
                  <a:srgbClr val="000000"/>
                </a:solidFill>
                <a:latin typeface="Microsoft YaHei" panose="020B0503020204020204" pitchFamily="34" charset="-122"/>
                <a:ea typeface="Microsoft YaHei" panose="020B0503020204020204" pitchFamily="34" charset="-122"/>
              </a:rPr>
              <a:t>内存空间是在目标模块装入时或运行时链接并确定分配的，但是在程序运行过程中允许申请附加的内存空间或在内存中“搬家”，即分配工作可以在程序运行前及运行过程中逐步完成</a:t>
            </a:r>
            <a:endParaRPr lang="zh-CN" altLang="en-US" sz="1600" b="0" kern="100" dirty="0">
              <a:solidFill>
                <a:srgbClr val="000000"/>
              </a:solidFill>
              <a:latin typeface="Microsoft YaHei" panose="020B0503020204020204" pitchFamily="34" charset="-122"/>
              <a:ea typeface="Microsoft YaHei" panose="020B0503020204020204" pitchFamily="34" charset="-122"/>
              <a:sym typeface="Arial" panose="020B0604020202020204" pitchFamily="34" charset="0"/>
            </a:endParaRPr>
          </a:p>
        </p:txBody>
      </p:sp>
      <p:sp>
        <p:nvSpPr>
          <p:cNvPr id="23" name="文本框 21">
            <a:extLst>
              <a:ext uri="{FF2B5EF4-FFF2-40B4-BE49-F238E27FC236}">
                <a16:creationId xmlns:a16="http://schemas.microsoft.com/office/drawing/2014/main" id="{7DC9471A-2654-3846-BF08-04BE093DE158}"/>
              </a:ext>
            </a:extLst>
          </p:cNvPr>
          <p:cNvSpPr txBox="1"/>
          <p:nvPr/>
        </p:nvSpPr>
        <p:spPr>
          <a:xfrm>
            <a:off x="35496" y="5290351"/>
            <a:ext cx="9108504" cy="1134734"/>
          </a:xfrm>
          <a:prstGeom prst="rect">
            <a:avLst/>
          </a:prstGeom>
          <a:noFill/>
        </p:spPr>
        <p:txBody>
          <a:bodyPr wrap="square">
            <a:spAutoFit/>
          </a:bodyPr>
          <a:lstStyle/>
          <a:p>
            <a:pPr eaLnBrk="1" fontAlgn="auto" hangingPunct="1">
              <a:lnSpc>
                <a:spcPts val="2800"/>
              </a:lnSpc>
              <a:spcBef>
                <a:spcPts val="0"/>
              </a:spcBef>
              <a:spcAft>
                <a:spcPts val="0"/>
              </a:spcAft>
            </a:pPr>
            <a:r>
              <a:rPr lang="en-US" altLang="zh-CN" sz="1600" kern="100" dirty="0">
                <a:solidFill>
                  <a:srgbClr val="C00000"/>
                </a:solidFill>
                <a:latin typeface="Microsoft YaHei" panose="020B0503020204020204" pitchFamily="34" charset="-122"/>
                <a:ea typeface="Microsoft YaHei" panose="020B0503020204020204" pitchFamily="34" charset="-122"/>
              </a:rPr>
              <a:t>①</a:t>
            </a:r>
            <a:r>
              <a:rPr lang="zh-CN" altLang="en-US" sz="1600" kern="100" dirty="0">
                <a:solidFill>
                  <a:srgbClr val="C00000"/>
                </a:solidFill>
                <a:latin typeface="Microsoft YaHei" panose="020B0503020204020204" pitchFamily="34" charset="-122"/>
                <a:ea typeface="Microsoft YaHei" panose="020B0503020204020204" pitchFamily="34" charset="-122"/>
              </a:rPr>
              <a:t> </a:t>
            </a:r>
            <a:r>
              <a:rPr lang="zh-CN" altLang="zh-CN" sz="1600" b="0" kern="100" dirty="0">
                <a:solidFill>
                  <a:srgbClr val="000000"/>
                </a:solidFill>
                <a:latin typeface="Microsoft YaHei" panose="020B0503020204020204" pitchFamily="34" charset="-122"/>
                <a:ea typeface="Microsoft YaHei" panose="020B0503020204020204" pitchFamily="34" charset="-122"/>
              </a:rPr>
              <a:t>动态分配具有较大的灵活性，在程序运行中需要时，操作系统自动将其调入内存</a:t>
            </a:r>
            <a:endParaRPr lang="en-US" altLang="zh-CN" sz="1600" b="0" kern="100" dirty="0">
              <a:solidFill>
                <a:srgbClr val="000000"/>
              </a:solidFill>
              <a:latin typeface="Microsoft YaHei" panose="020B0503020204020204" pitchFamily="34" charset="-122"/>
              <a:ea typeface="Microsoft YaHei" panose="020B0503020204020204" pitchFamily="34" charset="-122"/>
            </a:endParaRPr>
          </a:p>
          <a:p>
            <a:pPr eaLnBrk="1" fontAlgn="auto" hangingPunct="1">
              <a:lnSpc>
                <a:spcPts val="2800"/>
              </a:lnSpc>
              <a:spcBef>
                <a:spcPts val="0"/>
              </a:spcBef>
              <a:spcAft>
                <a:spcPts val="0"/>
              </a:spcAft>
            </a:pPr>
            <a:r>
              <a:rPr lang="en-US" altLang="zh-CN" sz="1600" kern="100" dirty="0">
                <a:solidFill>
                  <a:srgbClr val="C00000"/>
                </a:solidFill>
                <a:latin typeface="Microsoft YaHei" panose="020B0503020204020204" pitchFamily="34" charset="-122"/>
                <a:ea typeface="Microsoft YaHei" panose="020B0503020204020204" pitchFamily="34" charset="-122"/>
              </a:rPr>
              <a:t>②</a:t>
            </a:r>
            <a:r>
              <a:rPr lang="zh-CN" altLang="en-US" sz="1600" b="0" kern="100" dirty="0">
                <a:solidFill>
                  <a:srgbClr val="000000"/>
                </a:solidFill>
                <a:latin typeface="Microsoft YaHei" panose="020B0503020204020204" pitchFamily="34" charset="-122"/>
                <a:ea typeface="Microsoft YaHei" panose="020B0503020204020204" pitchFamily="34" charset="-122"/>
              </a:rPr>
              <a:t> </a:t>
            </a:r>
            <a:r>
              <a:rPr lang="zh-CN" altLang="zh-CN" sz="1600" b="0" kern="100" dirty="0">
                <a:solidFill>
                  <a:srgbClr val="000000"/>
                </a:solidFill>
                <a:latin typeface="Microsoft YaHei" panose="020B0503020204020204" pitchFamily="34" charset="-122"/>
                <a:ea typeface="Microsoft YaHei" panose="020B0503020204020204" pitchFamily="34" charset="-122"/>
              </a:rPr>
              <a:t>程序当前暂不使用的信息可以不进入内存，这对提高内存的利用率大有好处</a:t>
            </a:r>
            <a:endParaRPr lang="en-US" altLang="zh-CN" sz="1600" b="0" kern="100" dirty="0">
              <a:solidFill>
                <a:srgbClr val="000000"/>
              </a:solidFill>
              <a:latin typeface="Microsoft YaHei" panose="020B0503020204020204" pitchFamily="34" charset="-122"/>
              <a:ea typeface="Microsoft YaHei" panose="020B0503020204020204" pitchFamily="34" charset="-122"/>
            </a:endParaRPr>
          </a:p>
          <a:p>
            <a:pPr eaLnBrk="1" fontAlgn="auto" hangingPunct="1">
              <a:lnSpc>
                <a:spcPts val="2800"/>
              </a:lnSpc>
              <a:spcBef>
                <a:spcPts val="0"/>
              </a:spcBef>
              <a:spcAft>
                <a:spcPts val="0"/>
              </a:spcAft>
            </a:pPr>
            <a:r>
              <a:rPr lang="en-US" altLang="zh-CN" sz="1600" kern="100" dirty="0">
                <a:solidFill>
                  <a:srgbClr val="C00000"/>
                </a:solidFill>
                <a:latin typeface="Microsoft YaHei" panose="020B0503020204020204" pitchFamily="34" charset="-122"/>
                <a:ea typeface="Microsoft YaHei" panose="020B0503020204020204" pitchFamily="34" charset="-122"/>
              </a:rPr>
              <a:t>③</a:t>
            </a:r>
            <a:r>
              <a:rPr lang="zh-CN" altLang="en-US" sz="1600" kern="100" dirty="0">
                <a:solidFill>
                  <a:srgbClr val="C00000"/>
                </a:solidFill>
                <a:latin typeface="Microsoft YaHei" panose="020B0503020204020204" pitchFamily="34" charset="-122"/>
                <a:ea typeface="Microsoft YaHei" panose="020B0503020204020204" pitchFamily="34" charset="-122"/>
              </a:rPr>
              <a:t> </a:t>
            </a:r>
            <a:r>
              <a:rPr lang="zh-CN" altLang="zh-CN" sz="1600" b="0" kern="100" dirty="0">
                <a:solidFill>
                  <a:srgbClr val="000000"/>
                </a:solidFill>
                <a:latin typeface="Microsoft YaHei" panose="020B0503020204020204" pitchFamily="34" charset="-122"/>
                <a:ea typeface="Microsoft YaHei" panose="020B0503020204020204" pitchFamily="34" charset="-122"/>
              </a:rPr>
              <a:t>动态分配反映了程序的动态性，较之静态分配更为合理</a:t>
            </a:r>
            <a:endParaRPr lang="zh-CN" altLang="en-US" sz="1600" b="0" dirty="0">
              <a:solidFill>
                <a:srgbClr val="000000"/>
              </a:solidFill>
              <a:latin typeface="Microsoft YaHei" panose="020B0503020204020204" pitchFamily="34" charset="-122"/>
              <a:ea typeface="Microsoft YaHei" panose="020B0503020204020204" pitchFamily="34" charset="-122"/>
            </a:endParaRPr>
          </a:p>
        </p:txBody>
      </p:sp>
      <p:sp>
        <p:nvSpPr>
          <p:cNvPr id="24" name="AutoShape 3">
            <a:extLst>
              <a:ext uri="{FF2B5EF4-FFF2-40B4-BE49-F238E27FC236}">
                <a16:creationId xmlns:a16="http://schemas.microsoft.com/office/drawing/2014/main" id="{88A67512-0C0C-7544-AD81-F0FC3D7AE94A}"/>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extLst>
      <p:ext uri="{BB962C8B-B14F-4D97-AF65-F5344CB8AC3E}">
        <p14:creationId xmlns:p14="http://schemas.microsoft.com/office/powerpoint/2010/main" val="927774556"/>
      </p:ext>
    </p:extLst>
  </p:cSld>
  <p:clrMapOvr>
    <a:masterClrMapping/>
  </p:clrMapOvr>
  <p:transition>
    <p:rand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id="{16A147ED-24CF-B946-A369-19922A36DA3C}"/>
              </a:ext>
            </a:extLst>
          </p:cNvPr>
          <p:cNvSpPr>
            <a:spLocks noGrp="1" noChangeArrowheads="1"/>
          </p:cNvSpPr>
          <p:nvPr>
            <p:ph type="body" idx="1"/>
          </p:nvPr>
        </p:nvSpPr>
        <p:spPr>
          <a:xfrm>
            <a:off x="35496" y="1052736"/>
            <a:ext cx="9145015" cy="2647751"/>
          </a:xfrm>
        </p:spPr>
        <p:txBody>
          <a:bodyPr/>
          <a:lstStyle/>
          <a:p>
            <a:pPr marL="0" indent="0" eaLnBrk="1" hangingPunct="1">
              <a:lnSpc>
                <a:spcPct val="150000"/>
              </a:lnSpc>
              <a:spcBef>
                <a:spcPct val="0"/>
              </a:spcBef>
              <a:buFont typeface="Wingdings" pitchFamily="2" charset="2"/>
              <a:buNone/>
            </a:pPr>
            <a:r>
              <a:rPr lang="en-US" altLang="zh-CN" dirty="0">
                <a:solidFill>
                  <a:srgbClr val="FF0000"/>
                </a:solidFill>
                <a:effectLst>
                  <a:outerShdw blurRad="38100" dist="38100" dir="2700000" algn="tl">
                    <a:srgbClr val="FFFFFF"/>
                  </a:outerShdw>
                </a:effectLst>
              </a:rPr>
              <a:t>4.2.3</a:t>
            </a:r>
            <a:r>
              <a:rPr lang="en-US" altLang="zh-CN" dirty="0"/>
              <a:t> </a:t>
            </a:r>
            <a:r>
              <a:rPr lang="zh-CN" altLang="en-US" dirty="0">
                <a:solidFill>
                  <a:srgbClr val="FF0000"/>
                </a:solidFill>
                <a:effectLst>
                  <a:outerShdw blurRad="38100" dist="38100" dir="2700000" algn="tl">
                    <a:srgbClr val="FFFFFF"/>
                  </a:outerShdw>
                </a:effectLst>
              </a:rPr>
              <a:t>内存的共享、保护及扩充</a:t>
            </a:r>
            <a:endParaRPr lang="zh-CN" altLang="en-US" dirty="0">
              <a:solidFill>
                <a:srgbClr val="FF0000"/>
              </a:solidFill>
              <a:effectLst/>
              <a:latin typeface="宋体" panose="02010600030101010101" pitchFamily="2" charset="-122"/>
            </a:endParaRPr>
          </a:p>
          <a:p>
            <a:pPr marL="0" indent="0" eaLnBrk="1" hangingPunct="1">
              <a:lnSpc>
                <a:spcPct val="120000"/>
              </a:lnSpc>
              <a:spcBef>
                <a:spcPct val="0"/>
              </a:spcBef>
              <a:buFont typeface="Wingdings" pitchFamily="2" charset="2"/>
              <a:buNone/>
            </a:pPr>
            <a:r>
              <a:rPr lang="en-US" altLang="zh-CN" sz="2200" dirty="0">
                <a:solidFill>
                  <a:srgbClr val="FF0000"/>
                </a:solidFill>
                <a:effectLst/>
                <a:latin typeface="宋体" panose="02010600030101010101" pitchFamily="2" charset="-122"/>
              </a:rPr>
              <a:t>1. </a:t>
            </a:r>
            <a:r>
              <a:rPr lang="zh-CN" altLang="en-US" sz="2200" dirty="0">
                <a:solidFill>
                  <a:srgbClr val="FF0000"/>
                </a:solidFill>
                <a:effectLst/>
                <a:latin typeface="宋体" panose="02010600030101010101" pitchFamily="2" charset="-122"/>
              </a:rPr>
              <a:t>内存空间的共享和保护</a:t>
            </a:r>
          </a:p>
          <a:p>
            <a:pPr marL="0" indent="0" eaLnBrk="1" hangingPunct="1">
              <a:lnSpc>
                <a:spcPct val="120000"/>
              </a:lnSpc>
              <a:spcBef>
                <a:spcPct val="0"/>
              </a:spcBef>
              <a:buFont typeface="Wingdings" pitchFamily="2" charset="2"/>
              <a:buNone/>
            </a:pPr>
            <a:r>
              <a:rPr lang="zh-CN" altLang="en-US" sz="2200" dirty="0">
                <a:solidFill>
                  <a:schemeClr val="tx1"/>
                </a:solidFill>
                <a:effectLst/>
                <a:latin typeface="宋体" panose="02010600030101010101" pitchFamily="2" charset="-122"/>
              </a:rPr>
              <a:t>存储保护的目的是保护系统程序区不被用户有意或无意地侵犯，不允许用户程序读写不属于自己地址空间的数据，使内存中各道程序只能访问它自己的区域，避免各道程序之间相互干扰，特别是当一道程序发生错误时不至于影响其他程序的运行。</a:t>
            </a:r>
          </a:p>
          <a:p>
            <a:pPr marL="0" indent="0" eaLnBrk="1" hangingPunct="1">
              <a:lnSpc>
                <a:spcPct val="120000"/>
              </a:lnSpc>
              <a:spcBef>
                <a:spcPct val="0"/>
              </a:spcBef>
              <a:buFont typeface="Wingdings" pitchFamily="2" charset="2"/>
              <a:buNone/>
            </a:pPr>
            <a:r>
              <a:rPr lang="en-US" altLang="zh-CN" dirty="0">
                <a:solidFill>
                  <a:schemeClr val="tx1"/>
                </a:solidFill>
                <a:effectLst/>
                <a:latin typeface="宋体" panose="02010600030101010101" pitchFamily="2" charset="-122"/>
              </a:rPr>
              <a:t> </a:t>
            </a:r>
          </a:p>
        </p:txBody>
      </p:sp>
      <p:sp>
        <p:nvSpPr>
          <p:cNvPr id="49155" name="AutoShape 3">
            <a:extLst>
              <a:ext uri="{FF2B5EF4-FFF2-40B4-BE49-F238E27FC236}">
                <a16:creationId xmlns:a16="http://schemas.microsoft.com/office/drawing/2014/main" id="{9965C87C-7DC8-4F43-A827-868CCC5DA793}"/>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grpSp>
        <p:nvGrpSpPr>
          <p:cNvPr id="22" name="组合 1">
            <a:extLst>
              <a:ext uri="{FF2B5EF4-FFF2-40B4-BE49-F238E27FC236}">
                <a16:creationId xmlns:a16="http://schemas.microsoft.com/office/drawing/2014/main" id="{02338490-CD7E-A540-AB8A-3E0826871212}"/>
              </a:ext>
            </a:extLst>
          </p:cNvPr>
          <p:cNvGrpSpPr/>
          <p:nvPr/>
        </p:nvGrpSpPr>
        <p:grpSpPr>
          <a:xfrm>
            <a:off x="-9563" y="4881508"/>
            <a:ext cx="1266290" cy="554804"/>
            <a:chOff x="737171" y="5636574"/>
            <a:chExt cx="1266290" cy="554804"/>
          </a:xfrm>
        </p:grpSpPr>
        <p:sp>
          <p:nvSpPr>
            <p:cNvPr id="23" name="圆角矩形 3">
              <a:extLst>
                <a:ext uri="{FF2B5EF4-FFF2-40B4-BE49-F238E27FC236}">
                  <a16:creationId xmlns:a16="http://schemas.microsoft.com/office/drawing/2014/main" id="{6F801D65-6202-2E4C-BAD2-9B31E8E24794}"/>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4" name="文本框 4">
              <a:extLst>
                <a:ext uri="{FF2B5EF4-FFF2-40B4-BE49-F238E27FC236}">
                  <a16:creationId xmlns:a16="http://schemas.microsoft.com/office/drawing/2014/main" id="{9722049B-636F-CA4C-B7A3-A2988D5E1A06}"/>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内存</a:t>
              </a: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共享</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25" name="组合 5">
            <a:extLst>
              <a:ext uri="{FF2B5EF4-FFF2-40B4-BE49-F238E27FC236}">
                <a16:creationId xmlns:a16="http://schemas.microsoft.com/office/drawing/2014/main" id="{8A28C2FD-9740-B14D-9D4B-AC60D25B1A63}"/>
              </a:ext>
            </a:extLst>
          </p:cNvPr>
          <p:cNvGrpSpPr/>
          <p:nvPr/>
        </p:nvGrpSpPr>
        <p:grpSpPr>
          <a:xfrm>
            <a:off x="1379183" y="4026430"/>
            <a:ext cx="1266290" cy="554804"/>
            <a:chOff x="737171" y="5636574"/>
            <a:chExt cx="1266290" cy="554804"/>
          </a:xfrm>
        </p:grpSpPr>
        <p:sp>
          <p:nvSpPr>
            <p:cNvPr id="26" name="圆角矩形 6">
              <a:extLst>
                <a:ext uri="{FF2B5EF4-FFF2-40B4-BE49-F238E27FC236}">
                  <a16:creationId xmlns:a16="http://schemas.microsoft.com/office/drawing/2014/main" id="{39CB981E-8789-484A-8089-86F3D00DD45E}"/>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7" name="文本框 8">
              <a:extLst>
                <a:ext uri="{FF2B5EF4-FFF2-40B4-BE49-F238E27FC236}">
                  <a16:creationId xmlns:a16="http://schemas.microsoft.com/office/drawing/2014/main" id="{320EA2C7-7793-6E4A-B131-115C6A2CA95A}"/>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定义</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28" name="组合 9">
            <a:extLst>
              <a:ext uri="{FF2B5EF4-FFF2-40B4-BE49-F238E27FC236}">
                <a16:creationId xmlns:a16="http://schemas.microsoft.com/office/drawing/2014/main" id="{30FC34DD-0ED7-B94E-AB4B-3D188D8EF6B2}"/>
              </a:ext>
            </a:extLst>
          </p:cNvPr>
          <p:cNvGrpSpPr/>
          <p:nvPr/>
        </p:nvGrpSpPr>
        <p:grpSpPr>
          <a:xfrm>
            <a:off x="1379183" y="4881111"/>
            <a:ext cx="1266290" cy="554804"/>
            <a:chOff x="737171" y="5636574"/>
            <a:chExt cx="1266290" cy="554804"/>
          </a:xfrm>
        </p:grpSpPr>
        <p:sp>
          <p:nvSpPr>
            <p:cNvPr id="29" name="圆角矩形 10">
              <a:extLst>
                <a:ext uri="{FF2B5EF4-FFF2-40B4-BE49-F238E27FC236}">
                  <a16:creationId xmlns:a16="http://schemas.microsoft.com/office/drawing/2014/main" id="{D0E83DC6-ACB3-FC47-8CC9-A0C022956016}"/>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0" name="文本框 11">
              <a:extLst>
                <a:ext uri="{FF2B5EF4-FFF2-40B4-BE49-F238E27FC236}">
                  <a16:creationId xmlns:a16="http://schemas.microsoft.com/office/drawing/2014/main" id="{D18264B8-B802-2C4E-838F-00B1A9AEB09A}"/>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共享内容</a:t>
              </a:r>
            </a:p>
          </p:txBody>
        </p:sp>
      </p:grpSp>
      <p:grpSp>
        <p:nvGrpSpPr>
          <p:cNvPr id="31" name="组合 12">
            <a:extLst>
              <a:ext uri="{FF2B5EF4-FFF2-40B4-BE49-F238E27FC236}">
                <a16:creationId xmlns:a16="http://schemas.microsoft.com/office/drawing/2014/main" id="{F2A0DE05-9291-864F-A266-A5153AE2D60E}"/>
              </a:ext>
            </a:extLst>
          </p:cNvPr>
          <p:cNvGrpSpPr/>
          <p:nvPr/>
        </p:nvGrpSpPr>
        <p:grpSpPr>
          <a:xfrm>
            <a:off x="1361922" y="5939172"/>
            <a:ext cx="1266290" cy="554804"/>
            <a:chOff x="737171" y="5636574"/>
            <a:chExt cx="1266290" cy="554804"/>
          </a:xfrm>
        </p:grpSpPr>
        <p:sp>
          <p:nvSpPr>
            <p:cNvPr id="32" name="圆角矩形 13">
              <a:extLst>
                <a:ext uri="{FF2B5EF4-FFF2-40B4-BE49-F238E27FC236}">
                  <a16:creationId xmlns:a16="http://schemas.microsoft.com/office/drawing/2014/main" id="{351386B9-B2EE-2046-91CD-40C9F4AA4E41}"/>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3" name="文本框 14">
              <a:extLst>
                <a:ext uri="{FF2B5EF4-FFF2-40B4-BE49-F238E27FC236}">
                  <a16:creationId xmlns:a16="http://schemas.microsoft.com/office/drawing/2014/main" id="{F5734B92-2F0B-514E-9456-916926CD4C00}"/>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目的</a:t>
              </a:r>
            </a:p>
          </p:txBody>
        </p:sp>
      </p:grpSp>
      <p:sp>
        <p:nvSpPr>
          <p:cNvPr id="34" name="圆角矩形 17">
            <a:extLst>
              <a:ext uri="{FF2B5EF4-FFF2-40B4-BE49-F238E27FC236}">
                <a16:creationId xmlns:a16="http://schemas.microsoft.com/office/drawing/2014/main" id="{CD068C4F-F749-DD4D-8912-F85FBBA6AC26}"/>
              </a:ext>
            </a:extLst>
          </p:cNvPr>
          <p:cNvSpPr/>
          <p:nvPr/>
        </p:nvSpPr>
        <p:spPr>
          <a:xfrm>
            <a:off x="2664296" y="3656975"/>
            <a:ext cx="6444208" cy="1090227"/>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lnSpc>
                <a:spcPts val="28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指两个或多个进程共用内存中相同区域，多道程序动态地共享内存，提高内存利用率</a:t>
            </a:r>
            <a:r>
              <a:rPr kumimoji="0" lang="zh-CN" altLang="en-US"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。也</a:t>
            </a: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能共享内存中某个区域的信息</a:t>
            </a:r>
            <a:endParaRPr kumimoji="0" lang="zh-CN" altLang="en-US" sz="1800" b="0" i="0" u="none" strike="noStrike" kern="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sp>
        <p:nvSpPr>
          <p:cNvPr id="35" name="圆角矩形 18">
            <a:extLst>
              <a:ext uri="{FF2B5EF4-FFF2-40B4-BE49-F238E27FC236}">
                <a16:creationId xmlns:a16="http://schemas.microsoft.com/office/drawing/2014/main" id="{981CBE68-60A2-D841-B33A-344B12EBFBEC}"/>
              </a:ext>
            </a:extLst>
          </p:cNvPr>
          <p:cNvSpPr/>
          <p:nvPr/>
        </p:nvSpPr>
        <p:spPr>
          <a:xfrm>
            <a:off x="2664296" y="4747202"/>
            <a:ext cx="6444208" cy="1090227"/>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lnSpc>
                <a:spcPts val="28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代码共享和数据共享</a:t>
            </a:r>
            <a:endParaRPr kumimoji="0" lang="en-US"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p>
            <a:pPr marL="0" marR="0" lvl="0" indent="0" defTabSz="914400" eaLnBrk="1" fontAlgn="auto" latinLnBrk="0" hangingPunct="1">
              <a:lnSpc>
                <a:spcPts val="28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特别是代码共享要求代码必须是纯代码（运行中不会改变）</a:t>
            </a:r>
          </a:p>
        </p:txBody>
      </p:sp>
      <p:sp>
        <p:nvSpPr>
          <p:cNvPr id="36" name="圆角矩形 19">
            <a:extLst>
              <a:ext uri="{FF2B5EF4-FFF2-40B4-BE49-F238E27FC236}">
                <a16:creationId xmlns:a16="http://schemas.microsoft.com/office/drawing/2014/main" id="{5E785C69-1E54-4641-A63C-588E6B3BA4A4}"/>
              </a:ext>
            </a:extLst>
          </p:cNvPr>
          <p:cNvSpPr/>
          <p:nvPr/>
        </p:nvSpPr>
        <p:spPr>
          <a:xfrm>
            <a:off x="2664296" y="5847120"/>
            <a:ext cx="6444208" cy="96625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lnSpc>
                <a:spcPts val="28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通过代码共享节省内存空间，提高内存利用率</a:t>
            </a:r>
            <a:endParaRPr kumimoji="0" lang="en-US"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p>
            <a:pPr marL="0" marR="0" lvl="0" indent="0" defTabSz="914400" eaLnBrk="1" fontAlgn="auto" latinLnBrk="0" hangingPunct="1">
              <a:lnSpc>
                <a:spcPts val="28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通过数据共享实现进程通信</a:t>
            </a:r>
          </a:p>
        </p:txBody>
      </p:sp>
      <p:cxnSp>
        <p:nvCxnSpPr>
          <p:cNvPr id="37" name="直线连接符 21">
            <a:extLst>
              <a:ext uri="{FF2B5EF4-FFF2-40B4-BE49-F238E27FC236}">
                <a16:creationId xmlns:a16="http://schemas.microsoft.com/office/drawing/2014/main" id="{9CA5C2D5-EF14-394F-9218-549E02D58647}"/>
              </a:ext>
            </a:extLst>
          </p:cNvPr>
          <p:cNvCxnSpPr>
            <a:cxnSpLocks/>
            <a:stCxn id="23" idx="0"/>
            <a:endCxn id="27" idx="1"/>
          </p:cNvCxnSpPr>
          <p:nvPr/>
        </p:nvCxnSpPr>
        <p:spPr>
          <a:xfrm flipV="1">
            <a:off x="623582" y="4303832"/>
            <a:ext cx="755601" cy="577676"/>
          </a:xfrm>
          <a:prstGeom prst="line">
            <a:avLst/>
          </a:prstGeom>
          <a:noFill/>
          <a:ln w="6350" cap="flat" cmpd="sng" algn="ctr">
            <a:solidFill>
              <a:srgbClr val="9A0001"/>
            </a:solidFill>
            <a:prstDash val="solid"/>
            <a:miter lim="800000"/>
          </a:ln>
          <a:effectLst/>
        </p:spPr>
      </p:cxnSp>
      <p:cxnSp>
        <p:nvCxnSpPr>
          <p:cNvPr id="38" name="直线连接符 22">
            <a:extLst>
              <a:ext uri="{FF2B5EF4-FFF2-40B4-BE49-F238E27FC236}">
                <a16:creationId xmlns:a16="http://schemas.microsoft.com/office/drawing/2014/main" id="{158E3D35-A410-E040-A0EE-E456900D3BF1}"/>
              </a:ext>
            </a:extLst>
          </p:cNvPr>
          <p:cNvCxnSpPr>
            <a:cxnSpLocks/>
            <a:endCxn id="33" idx="1"/>
          </p:cNvCxnSpPr>
          <p:nvPr/>
        </p:nvCxnSpPr>
        <p:spPr>
          <a:xfrm>
            <a:off x="625454" y="5417392"/>
            <a:ext cx="736468" cy="799182"/>
          </a:xfrm>
          <a:prstGeom prst="line">
            <a:avLst/>
          </a:prstGeom>
          <a:noFill/>
          <a:ln w="6350" cap="flat" cmpd="sng" algn="ctr">
            <a:solidFill>
              <a:srgbClr val="9A0001"/>
            </a:solidFill>
            <a:prstDash val="solid"/>
            <a:miter lim="800000"/>
          </a:ln>
          <a:effectLst/>
        </p:spPr>
      </p:cxnSp>
      <p:cxnSp>
        <p:nvCxnSpPr>
          <p:cNvPr id="39" name="直线连接符 24">
            <a:extLst>
              <a:ext uri="{FF2B5EF4-FFF2-40B4-BE49-F238E27FC236}">
                <a16:creationId xmlns:a16="http://schemas.microsoft.com/office/drawing/2014/main" id="{57987FCA-DE1C-A74F-9F83-6623D22B21D5}"/>
              </a:ext>
            </a:extLst>
          </p:cNvPr>
          <p:cNvCxnSpPr>
            <a:cxnSpLocks/>
            <a:stCxn id="24" idx="3"/>
            <a:endCxn id="30" idx="1"/>
          </p:cNvCxnSpPr>
          <p:nvPr/>
        </p:nvCxnSpPr>
        <p:spPr>
          <a:xfrm flipV="1">
            <a:off x="1256727" y="5158513"/>
            <a:ext cx="122456" cy="397"/>
          </a:xfrm>
          <a:prstGeom prst="line">
            <a:avLst/>
          </a:prstGeom>
          <a:noFill/>
          <a:ln w="6350" cap="flat" cmpd="sng" algn="ctr">
            <a:solidFill>
              <a:srgbClr val="9A0001"/>
            </a:solidFill>
            <a:prstDash val="solid"/>
            <a:miter lim="800000"/>
          </a:ln>
          <a:effectLst/>
        </p:spPr>
      </p:cxnSp>
    </p:spTree>
  </p:cSld>
  <p:clrMapOvr>
    <a:masterClrMapping/>
  </p:clrMapOvr>
  <p:transition>
    <p:rand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7CEEF033-11CC-E84C-8FC7-7E2B088CC643}"/>
              </a:ext>
            </a:extLst>
          </p:cNvPr>
          <p:cNvSpPr>
            <a:spLocks noGrp="1" noChangeArrowheads="1"/>
          </p:cNvSpPr>
          <p:nvPr>
            <p:ph type="body" idx="1"/>
          </p:nvPr>
        </p:nvSpPr>
        <p:spPr>
          <a:xfrm>
            <a:off x="611188" y="1143000"/>
            <a:ext cx="7961312" cy="3671888"/>
          </a:xfrm>
        </p:spPr>
        <p:txBody>
          <a:bodyPr/>
          <a:lstStyle/>
          <a:p>
            <a:pPr marL="0" indent="0" eaLnBrk="1" hangingPunct="1">
              <a:lnSpc>
                <a:spcPct val="150000"/>
              </a:lnSpc>
              <a:spcBef>
                <a:spcPct val="0"/>
              </a:spcBef>
              <a:buFont typeface="Wingdings" pitchFamily="2" charset="2"/>
              <a:buNone/>
            </a:pPr>
            <a:r>
              <a:rPr lang="zh-CN" altLang="en-US" dirty="0">
                <a:solidFill>
                  <a:srgbClr val="FF0000"/>
                </a:solidFill>
                <a:effectLst/>
                <a:latin typeface="宋体" panose="02010600030101010101" pitchFamily="2" charset="-122"/>
              </a:rPr>
              <a:t>存储保护方式</a:t>
            </a:r>
          </a:p>
          <a:p>
            <a:pPr marL="0" indent="0"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1</a:t>
            </a:r>
            <a:r>
              <a:rPr lang="zh-CN" altLang="en-US" sz="2000" dirty="0">
                <a:solidFill>
                  <a:schemeClr val="tx1"/>
                </a:solidFill>
                <a:effectLst/>
                <a:latin typeface="宋体" panose="02010600030101010101" pitchFamily="2" charset="-122"/>
              </a:rPr>
              <a:t>）界地址保护</a:t>
            </a:r>
          </a:p>
          <a:p>
            <a:pPr marL="0" indent="0"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    界地址方式主要是防止地址越界，每个进程（程序）都有自己独立的进程空间，如果一个进程在运行时所产生的地址在其所属空间之外则发生地址越界。常用的界地址保护有以下两种：</a:t>
            </a:r>
          </a:p>
          <a:p>
            <a:pPr marL="0" indent="0"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① 上下界保护和地址检查机构：主要用于静态地址转换。硬件提供一对上下界寄存器来分别存放程序装入内存后的首地址和末地址。</a:t>
            </a:r>
          </a:p>
          <a:p>
            <a:pPr marL="0" indent="0" eaLnBrk="1" hangingPunct="1">
              <a:lnSpc>
                <a:spcPct val="150000"/>
              </a:lnSpc>
              <a:spcBef>
                <a:spcPct val="0"/>
              </a:spcBef>
              <a:buFont typeface="Wingdings" pitchFamily="2" charset="2"/>
              <a:buNone/>
            </a:pPr>
            <a:endParaRPr lang="en-US" altLang="zh-CN" dirty="0">
              <a:solidFill>
                <a:schemeClr val="tx1"/>
              </a:solidFill>
              <a:effectLst/>
              <a:latin typeface="宋体" panose="02010600030101010101" pitchFamily="2" charset="-122"/>
            </a:endParaRPr>
          </a:p>
        </p:txBody>
      </p:sp>
      <p:sp>
        <p:nvSpPr>
          <p:cNvPr id="50179" name="AutoShape 3">
            <a:extLst>
              <a:ext uri="{FF2B5EF4-FFF2-40B4-BE49-F238E27FC236}">
                <a16:creationId xmlns:a16="http://schemas.microsoft.com/office/drawing/2014/main" id="{7AB3D686-431E-E14F-954A-975CDCC4ED5F}"/>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pic>
        <p:nvPicPr>
          <p:cNvPr id="26628" name="Picture 4" descr="4-6">
            <a:extLst>
              <a:ext uri="{FF2B5EF4-FFF2-40B4-BE49-F238E27FC236}">
                <a16:creationId xmlns:a16="http://schemas.microsoft.com/office/drawing/2014/main" id="{0E08506F-FA92-704B-AD47-9F491673BF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4500563"/>
            <a:ext cx="5786437" cy="227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B80D0E1F-84E6-8742-BD9E-23C816A8DBEB}"/>
              </a:ext>
            </a:extLst>
          </p:cNvPr>
          <p:cNvSpPr>
            <a:spLocks noGrp="1" noChangeArrowheads="1"/>
          </p:cNvSpPr>
          <p:nvPr>
            <p:ph type="body" idx="1"/>
          </p:nvPr>
        </p:nvSpPr>
        <p:spPr>
          <a:xfrm>
            <a:off x="642938" y="1500188"/>
            <a:ext cx="7961312" cy="1500187"/>
          </a:xfrm>
        </p:spPr>
        <p:txBody>
          <a:bodyPr/>
          <a:lstStyle/>
          <a:p>
            <a:pPr marL="0" indent="0" algn="just" eaLnBrk="1" hangingPunct="1">
              <a:lnSpc>
                <a:spcPts val="4000"/>
              </a:lnSpc>
              <a:spcBef>
                <a:spcPct val="0"/>
              </a:spcBef>
              <a:buFont typeface="Wingdings" pitchFamily="2" charset="2"/>
              <a:buNone/>
            </a:pPr>
            <a:r>
              <a:rPr lang="en-US" altLang="zh-CN" sz="2000">
                <a:solidFill>
                  <a:schemeClr val="tx1"/>
                </a:solidFill>
                <a:effectLst/>
                <a:latin typeface="宋体" panose="02010600030101010101" pitchFamily="2" charset="-122"/>
              </a:rPr>
              <a:t>② </a:t>
            </a:r>
            <a:r>
              <a:rPr lang="zh-CN" altLang="en-US" sz="2000">
                <a:solidFill>
                  <a:schemeClr val="tx1"/>
                </a:solidFill>
                <a:effectLst/>
                <a:latin typeface="宋体" panose="02010600030101010101" pitchFamily="2" charset="-122"/>
              </a:rPr>
              <a:t>基址、限长寄存器和动态地址转换机构。这种机制主要用于动态地址转换。在计算机中设置两个专门的寄存器，称为基址和限长寄存器，这两种寄存器分别存放运行程序在内存的起始地址及其总长度。</a:t>
            </a:r>
          </a:p>
        </p:txBody>
      </p:sp>
      <p:sp>
        <p:nvSpPr>
          <p:cNvPr id="51203" name="AutoShape 3">
            <a:extLst>
              <a:ext uri="{FF2B5EF4-FFF2-40B4-BE49-F238E27FC236}">
                <a16:creationId xmlns:a16="http://schemas.microsoft.com/office/drawing/2014/main" id="{A7FA9385-C8DD-E946-9DAF-066344DDDD8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pic>
        <p:nvPicPr>
          <p:cNvPr id="27652" name="图片 6" descr="4t7">
            <a:extLst>
              <a:ext uri="{FF2B5EF4-FFF2-40B4-BE49-F238E27FC236}">
                <a16:creationId xmlns:a16="http://schemas.microsoft.com/office/drawing/2014/main" id="{6D2694D5-9F7E-2B40-96F4-7669359945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3429000"/>
            <a:ext cx="7000875" cy="257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9">
            <a:extLst>
              <a:ext uri="{FF2B5EF4-FFF2-40B4-BE49-F238E27FC236}">
                <a16:creationId xmlns:a16="http://schemas.microsoft.com/office/drawing/2014/main" id="{D3B23ACC-DB4D-1E40-8129-6C62C4733E56}"/>
              </a:ext>
            </a:extLst>
          </p:cNvPr>
          <p:cNvSpPr txBox="1"/>
          <p:nvPr/>
        </p:nvSpPr>
        <p:spPr>
          <a:xfrm>
            <a:off x="0" y="1891107"/>
            <a:ext cx="9036496" cy="1596014"/>
          </a:xfrm>
          <a:prstGeom prst="rect">
            <a:avLst/>
          </a:prstGeom>
          <a:noFill/>
        </p:spPr>
        <p:txBody>
          <a:bodyPr wrap="square">
            <a:spAutoFit/>
          </a:bodyPr>
          <a:lstStyle/>
          <a:p>
            <a:pPr algn="just" eaLnBrk="1" fontAlgn="auto" hangingPunct="1">
              <a:lnSpc>
                <a:spcPts val="3000"/>
              </a:lnSpc>
              <a:spcBef>
                <a:spcPts val="0"/>
              </a:spcBef>
              <a:spcAft>
                <a:spcPts val="0"/>
              </a:spcAft>
            </a:pPr>
            <a:r>
              <a:rPr lang="zh-CN" altLang="en-US" b="0" kern="100" dirty="0">
                <a:solidFill>
                  <a:srgbClr val="000000"/>
                </a:solidFill>
                <a:latin typeface="Microsoft YaHei" panose="020B0503020204020204" pitchFamily="34" charset="-122"/>
                <a:ea typeface="Microsoft YaHei" panose="020B0503020204020204" pitchFamily="34" charset="-122"/>
              </a:rPr>
              <a:t>       </a:t>
            </a:r>
            <a:r>
              <a:rPr lang="zh-CN" altLang="zh-CN" b="0" kern="100" dirty="0">
                <a:solidFill>
                  <a:srgbClr val="000000"/>
                </a:solidFill>
                <a:latin typeface="Microsoft YaHei" panose="020B0503020204020204" pitchFamily="34" charset="-122"/>
                <a:ea typeface="Microsoft YaHei" panose="020B0503020204020204" pitchFamily="34" charset="-122"/>
              </a:rPr>
              <a:t>存储器以字节（每个字节为</a:t>
            </a:r>
            <a:r>
              <a:rPr lang="en-US" altLang="zh-CN" b="0" kern="100" dirty="0">
                <a:solidFill>
                  <a:srgbClr val="000000"/>
                </a:solidFill>
                <a:latin typeface="Microsoft YaHei" panose="020B0503020204020204" pitchFamily="34" charset="-122"/>
                <a:ea typeface="Microsoft YaHei" panose="020B0503020204020204" pitchFamily="34" charset="-122"/>
              </a:rPr>
              <a:t>8</a:t>
            </a:r>
            <a:r>
              <a:rPr lang="zh-CN" altLang="zh-CN" b="0" kern="100" dirty="0">
                <a:solidFill>
                  <a:srgbClr val="000000"/>
                </a:solidFill>
                <a:latin typeface="Microsoft YaHei" panose="020B0503020204020204" pitchFamily="34" charset="-122"/>
                <a:ea typeface="Microsoft YaHei" panose="020B0503020204020204" pitchFamily="34" charset="-122"/>
              </a:rPr>
              <a:t>个二进制位）为编址单位，每个字节都有一个地址与其对应。假定存储器的容量为</a:t>
            </a:r>
            <a:r>
              <a:rPr lang="en-US" altLang="zh-CN" b="0" kern="100" dirty="0">
                <a:solidFill>
                  <a:srgbClr val="000000"/>
                </a:solidFill>
                <a:latin typeface="Microsoft YaHei" panose="020B0503020204020204" pitchFamily="34" charset="-122"/>
                <a:ea typeface="Microsoft YaHei" panose="020B0503020204020204" pitchFamily="34" charset="-122"/>
              </a:rPr>
              <a:t>n</a:t>
            </a:r>
            <a:r>
              <a:rPr lang="zh-CN" altLang="zh-CN" b="0" kern="100" dirty="0">
                <a:solidFill>
                  <a:srgbClr val="000000"/>
                </a:solidFill>
                <a:latin typeface="Microsoft YaHei" panose="020B0503020204020204" pitchFamily="34" charset="-122"/>
                <a:ea typeface="Microsoft YaHei" panose="020B0503020204020204" pitchFamily="34" charset="-122"/>
              </a:rPr>
              <a:t>个字节，其地址编号顺序为</a:t>
            </a:r>
            <a:r>
              <a:rPr lang="en-US" altLang="zh-CN" b="0" kern="100" dirty="0">
                <a:solidFill>
                  <a:srgbClr val="000000"/>
                </a:solidFill>
                <a:latin typeface="Microsoft YaHei" panose="020B0503020204020204" pitchFamily="34" charset="-122"/>
                <a:ea typeface="Microsoft YaHei" panose="020B0503020204020204" pitchFamily="34" charset="-122"/>
              </a:rPr>
              <a:t>0</a:t>
            </a:r>
            <a:r>
              <a:rPr lang="zh-CN" altLang="zh-CN" b="0" kern="100" dirty="0">
                <a:solidFill>
                  <a:srgbClr val="000000"/>
                </a:solidFill>
                <a:latin typeface="Microsoft YaHei" panose="020B0503020204020204" pitchFamily="34" charset="-122"/>
                <a:ea typeface="Microsoft YaHei" panose="020B0503020204020204" pitchFamily="34" charset="-122"/>
              </a:rPr>
              <a:t>，</a:t>
            </a:r>
            <a:r>
              <a:rPr lang="en-US" altLang="zh-CN" b="0" kern="100" dirty="0">
                <a:solidFill>
                  <a:srgbClr val="000000"/>
                </a:solidFill>
                <a:latin typeface="Microsoft YaHei" panose="020B0503020204020204" pitchFamily="34" charset="-122"/>
                <a:ea typeface="Microsoft YaHei" panose="020B0503020204020204" pitchFamily="34" charset="-122"/>
              </a:rPr>
              <a:t>1</a:t>
            </a:r>
            <a:r>
              <a:rPr lang="zh-CN" altLang="zh-CN" b="0" kern="100" dirty="0">
                <a:solidFill>
                  <a:srgbClr val="000000"/>
                </a:solidFill>
                <a:latin typeface="Microsoft YaHei" panose="020B0503020204020204" pitchFamily="34" charset="-122"/>
                <a:ea typeface="Microsoft YaHei" panose="020B0503020204020204" pitchFamily="34" charset="-122"/>
              </a:rPr>
              <a:t>，</a:t>
            </a:r>
            <a:r>
              <a:rPr lang="en-US" altLang="zh-CN" b="0" kern="100" dirty="0">
                <a:solidFill>
                  <a:srgbClr val="000000"/>
                </a:solidFill>
                <a:latin typeface="Microsoft YaHei" panose="020B0503020204020204" pitchFamily="34" charset="-122"/>
                <a:ea typeface="Microsoft YaHei" panose="020B0503020204020204" pitchFamily="34" charset="-122"/>
              </a:rPr>
              <a:t>2</a:t>
            </a:r>
            <a:r>
              <a:rPr lang="zh-CN" altLang="zh-CN" b="0" kern="100" dirty="0">
                <a:solidFill>
                  <a:srgbClr val="000000"/>
                </a:solidFill>
                <a:latin typeface="Microsoft YaHei" panose="020B0503020204020204" pitchFamily="34" charset="-122"/>
                <a:ea typeface="Microsoft YaHei" panose="020B0503020204020204" pitchFamily="34" charset="-122"/>
              </a:rPr>
              <a:t>，</a:t>
            </a:r>
            <a:r>
              <a:rPr lang="en-US" altLang="zh-CN" b="0" kern="100" dirty="0">
                <a:solidFill>
                  <a:srgbClr val="000000"/>
                </a:solidFill>
                <a:latin typeface="Microsoft YaHei" panose="020B0503020204020204" pitchFamily="34" charset="-122"/>
                <a:ea typeface="Microsoft YaHei" panose="020B0503020204020204" pitchFamily="34" charset="-122"/>
              </a:rPr>
              <a:t>…</a:t>
            </a:r>
            <a:r>
              <a:rPr lang="zh-CN" altLang="zh-CN" b="0" kern="100" dirty="0">
                <a:solidFill>
                  <a:srgbClr val="000000"/>
                </a:solidFill>
                <a:latin typeface="Microsoft YaHei" panose="020B0503020204020204" pitchFamily="34" charset="-122"/>
                <a:ea typeface="Microsoft YaHei" panose="020B0503020204020204" pitchFamily="34" charset="-122"/>
              </a:rPr>
              <a:t>，</a:t>
            </a:r>
            <a:r>
              <a:rPr lang="en-US" altLang="zh-CN" b="0" kern="100" dirty="0">
                <a:solidFill>
                  <a:srgbClr val="000000"/>
                </a:solidFill>
                <a:latin typeface="Microsoft YaHei" panose="020B0503020204020204" pitchFamily="34" charset="-122"/>
                <a:ea typeface="Microsoft YaHei" panose="020B0503020204020204" pitchFamily="34" charset="-122"/>
              </a:rPr>
              <a:t>n</a:t>
            </a:r>
            <a:r>
              <a:rPr lang="zh-CN" altLang="zh-CN" b="0" kern="100" dirty="0">
                <a:solidFill>
                  <a:srgbClr val="000000"/>
                </a:solidFill>
                <a:latin typeface="Microsoft YaHei" panose="020B0503020204020204" pitchFamily="34" charset="-122"/>
                <a:ea typeface="Microsoft YaHei" panose="020B0503020204020204" pitchFamily="34" charset="-122"/>
              </a:rPr>
              <a:t>－</a:t>
            </a:r>
            <a:r>
              <a:rPr lang="en-US" altLang="zh-CN" b="0" kern="100" dirty="0">
                <a:solidFill>
                  <a:srgbClr val="000000"/>
                </a:solidFill>
                <a:latin typeface="Microsoft YaHei" panose="020B0503020204020204" pitchFamily="34" charset="-122"/>
                <a:ea typeface="Microsoft YaHei" panose="020B0503020204020204" pitchFamily="34" charset="-122"/>
              </a:rPr>
              <a:t>1</a:t>
            </a:r>
            <a:r>
              <a:rPr lang="zh-CN" altLang="zh-CN" b="0" kern="100" dirty="0">
                <a:solidFill>
                  <a:srgbClr val="000000"/>
                </a:solidFill>
                <a:latin typeface="Microsoft YaHei" panose="020B0503020204020204" pitchFamily="34" charset="-122"/>
                <a:ea typeface="Microsoft YaHei" panose="020B0503020204020204" pitchFamily="34" charset="-122"/>
              </a:rPr>
              <a:t>。这些地址称为内存的</a:t>
            </a:r>
            <a:r>
              <a:rPr lang="zh-CN" altLang="zh-CN" kern="100" dirty="0">
                <a:solidFill>
                  <a:srgbClr val="C00000"/>
                </a:solidFill>
                <a:latin typeface="Microsoft YaHei" panose="020B0503020204020204" pitchFamily="34" charset="-122"/>
                <a:ea typeface="Microsoft YaHei" panose="020B0503020204020204" pitchFamily="34" charset="-122"/>
              </a:rPr>
              <a:t>“绝对地址”</a:t>
            </a:r>
            <a:r>
              <a:rPr lang="zh-CN" altLang="zh-CN" b="0" kern="100" dirty="0">
                <a:solidFill>
                  <a:srgbClr val="000000"/>
                </a:solidFill>
                <a:latin typeface="Microsoft YaHei" panose="020B0503020204020204" pitchFamily="34" charset="-122"/>
                <a:ea typeface="Microsoft YaHei" panose="020B0503020204020204" pitchFamily="34" charset="-122"/>
              </a:rPr>
              <a:t>，由绝对地址对应的内存空间称为</a:t>
            </a:r>
            <a:r>
              <a:rPr lang="zh-CN" altLang="zh-CN" kern="100" dirty="0">
                <a:solidFill>
                  <a:srgbClr val="C00000"/>
                </a:solidFill>
                <a:latin typeface="Microsoft YaHei" panose="020B0503020204020204" pitchFamily="34" charset="-122"/>
                <a:ea typeface="Microsoft YaHei" panose="020B0503020204020204" pitchFamily="34" charset="-122"/>
              </a:rPr>
              <a:t>“物理地址空间”</a:t>
            </a:r>
            <a:endParaRPr lang="zh-CN" altLang="zh-CN" b="0" kern="100" dirty="0">
              <a:solidFill>
                <a:srgbClr val="000000"/>
              </a:solidFill>
              <a:latin typeface="Microsoft YaHei" panose="020B0503020204020204" pitchFamily="34" charset="-122"/>
              <a:ea typeface="Microsoft YaHei" panose="020B0503020204020204" pitchFamily="34" charset="-122"/>
            </a:endParaRPr>
          </a:p>
        </p:txBody>
      </p:sp>
      <p:sp>
        <p:nvSpPr>
          <p:cNvPr id="5" name="文本框 3">
            <a:extLst>
              <a:ext uri="{FF2B5EF4-FFF2-40B4-BE49-F238E27FC236}">
                <a16:creationId xmlns:a16="http://schemas.microsoft.com/office/drawing/2014/main" id="{5A8B02F0-80A7-0D40-8460-36295ADC9EDC}"/>
              </a:ext>
            </a:extLst>
          </p:cNvPr>
          <p:cNvSpPr txBox="1"/>
          <p:nvPr/>
        </p:nvSpPr>
        <p:spPr>
          <a:xfrm>
            <a:off x="0" y="3933056"/>
            <a:ext cx="8953676" cy="2365456"/>
          </a:xfrm>
          <a:prstGeom prst="rect">
            <a:avLst/>
          </a:prstGeom>
          <a:noFill/>
        </p:spPr>
        <p:txBody>
          <a:bodyPr wrap="square">
            <a:spAutoFit/>
          </a:bodyPr>
          <a:lstStyle/>
          <a:p>
            <a:pPr algn="just" eaLnBrk="1" fontAlgn="auto" hangingPunct="1">
              <a:lnSpc>
                <a:spcPts val="3000"/>
              </a:lnSpc>
              <a:spcBef>
                <a:spcPts val="0"/>
              </a:spcBef>
              <a:spcAft>
                <a:spcPts val="0"/>
              </a:spcAft>
            </a:pPr>
            <a:r>
              <a:rPr lang="zh-CN" altLang="en-US" b="0" kern="100" dirty="0">
                <a:solidFill>
                  <a:srgbClr val="000000"/>
                </a:solidFill>
                <a:latin typeface="Microsoft YaHei" panose="020B0503020204020204" pitchFamily="34" charset="-122"/>
                <a:ea typeface="Microsoft YaHei" panose="020B0503020204020204" pitchFamily="34" charset="-122"/>
              </a:rPr>
              <a:t>       </a:t>
            </a:r>
            <a:r>
              <a:rPr lang="zh-CN" altLang="zh-CN" b="0" kern="100" dirty="0">
                <a:solidFill>
                  <a:srgbClr val="000000"/>
                </a:solidFill>
                <a:latin typeface="Microsoft YaHei" panose="020B0503020204020204" pitchFamily="34" charset="-122"/>
                <a:ea typeface="Microsoft YaHei" panose="020B0503020204020204" pitchFamily="34" charset="-122"/>
              </a:rPr>
              <a:t>在多道程序设计的系统中，内存中同时存放了多个用户程序。操作系统根据内存的使用情况为用户分配内存空间。因此，每个用户不能预先知道他的程序将被存放到内存的什么位置</a:t>
            </a:r>
            <a:r>
              <a:rPr lang="zh-CN" altLang="en-US" b="0" kern="100" dirty="0">
                <a:solidFill>
                  <a:srgbClr val="000000"/>
                </a:solidFill>
                <a:latin typeface="Microsoft YaHei" panose="020B0503020204020204" pitchFamily="34" charset="-122"/>
                <a:ea typeface="Microsoft YaHei" panose="020B0503020204020204" pitchFamily="34" charset="-122"/>
              </a:rPr>
              <a:t>，</a:t>
            </a:r>
            <a:r>
              <a:rPr lang="zh-CN" altLang="zh-CN" b="0" kern="100" dirty="0">
                <a:solidFill>
                  <a:srgbClr val="000000"/>
                </a:solidFill>
                <a:latin typeface="Microsoft YaHei" panose="020B0503020204020204" pitchFamily="34" charset="-122"/>
                <a:ea typeface="Microsoft YaHei" panose="020B0503020204020204" pitchFamily="34" charset="-122"/>
              </a:rPr>
              <a:t>用户程序中就不能使用内存的绝对地址。为了方便用户，每个用户都可认为自己的程序和数据存放在一组“</a:t>
            </a:r>
            <a:r>
              <a:rPr lang="en-US" altLang="zh-CN" b="0" kern="100" dirty="0">
                <a:solidFill>
                  <a:srgbClr val="000000"/>
                </a:solidFill>
                <a:latin typeface="Microsoft YaHei" panose="020B0503020204020204" pitchFamily="34" charset="-122"/>
                <a:ea typeface="Microsoft YaHei" panose="020B0503020204020204" pitchFamily="34" charset="-122"/>
              </a:rPr>
              <a:t>0</a:t>
            </a:r>
            <a:r>
              <a:rPr lang="zh-CN" altLang="zh-CN" b="0" kern="100" dirty="0">
                <a:solidFill>
                  <a:srgbClr val="000000"/>
                </a:solidFill>
                <a:latin typeface="Microsoft YaHei" panose="020B0503020204020204" pitchFamily="34" charset="-122"/>
                <a:ea typeface="Microsoft YaHei" panose="020B0503020204020204" pitchFamily="34" charset="-122"/>
              </a:rPr>
              <a:t>”地址开始的连续空间中。用户程序中使用的地址称为</a:t>
            </a:r>
            <a:r>
              <a:rPr lang="zh-CN" altLang="zh-CN" kern="100" dirty="0">
                <a:solidFill>
                  <a:srgbClr val="C00000"/>
                </a:solidFill>
                <a:latin typeface="Microsoft YaHei" panose="020B0503020204020204" pitchFamily="34" charset="-122"/>
                <a:ea typeface="Microsoft YaHei" panose="020B0503020204020204" pitchFamily="34" charset="-122"/>
              </a:rPr>
              <a:t>“逻辑地址”</a:t>
            </a:r>
            <a:r>
              <a:rPr lang="zh-CN" altLang="zh-CN" b="0" kern="100" dirty="0">
                <a:solidFill>
                  <a:srgbClr val="000000"/>
                </a:solidFill>
                <a:latin typeface="Microsoft YaHei" panose="020B0503020204020204" pitchFamily="34" charset="-122"/>
                <a:ea typeface="Microsoft YaHei" panose="020B0503020204020204" pitchFamily="34" charset="-122"/>
              </a:rPr>
              <a:t>，由逻辑地址对应的内存空间称为</a:t>
            </a:r>
            <a:r>
              <a:rPr lang="zh-CN" altLang="zh-CN" kern="100" dirty="0">
                <a:solidFill>
                  <a:srgbClr val="C00000"/>
                </a:solidFill>
                <a:latin typeface="Microsoft YaHei" panose="020B0503020204020204" pitchFamily="34" charset="-122"/>
                <a:ea typeface="Microsoft YaHei" panose="020B0503020204020204" pitchFamily="34" charset="-122"/>
              </a:rPr>
              <a:t>“逻辑地址空间”</a:t>
            </a:r>
            <a:endParaRPr lang="zh-CN" altLang="zh-CN" b="0" kern="100" dirty="0">
              <a:solidFill>
                <a:srgbClr val="000000"/>
              </a:solidFill>
              <a:latin typeface="Microsoft YaHei" panose="020B0503020204020204" pitchFamily="34" charset="-122"/>
              <a:ea typeface="Microsoft YaHei" panose="020B0503020204020204" pitchFamily="34" charset="-122"/>
            </a:endParaRPr>
          </a:p>
        </p:txBody>
      </p:sp>
      <p:sp>
        <p:nvSpPr>
          <p:cNvPr id="6" name="AutoShape 3">
            <a:extLst>
              <a:ext uri="{FF2B5EF4-FFF2-40B4-BE49-F238E27FC236}">
                <a16:creationId xmlns:a16="http://schemas.microsoft.com/office/drawing/2014/main" id="{3B53D554-17AB-E142-81B5-E095B2674A0A}"/>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
        <p:nvSpPr>
          <p:cNvPr id="7" name="Rectangle 6">
            <a:extLst>
              <a:ext uri="{FF2B5EF4-FFF2-40B4-BE49-F238E27FC236}">
                <a16:creationId xmlns:a16="http://schemas.microsoft.com/office/drawing/2014/main" id="{93B72DFA-F88C-A14F-83BB-C1E79A876C6B}"/>
              </a:ext>
            </a:extLst>
          </p:cNvPr>
          <p:cNvSpPr/>
          <p:nvPr/>
        </p:nvSpPr>
        <p:spPr>
          <a:xfrm>
            <a:off x="8828" y="1355543"/>
            <a:ext cx="1281120" cy="400110"/>
          </a:xfrm>
          <a:prstGeom prst="rect">
            <a:avLst/>
          </a:prstGeom>
        </p:spPr>
        <p:txBody>
          <a:bodyPr wrap="none">
            <a:spAutoFit/>
          </a:bodyPr>
          <a:lstStyle/>
          <a:p>
            <a:r>
              <a:rPr lang="zh-CN" altLang="en-US" dirty="0">
                <a:solidFill>
                  <a:srgbClr val="9A0001"/>
                </a:solidFill>
                <a:latin typeface="Arial" panose="020B0604020202020204" pitchFamily="34" charset="0"/>
                <a:ea typeface="微软雅黑" panose="020B0503020204020204" pitchFamily="34" charset="-122"/>
                <a:sym typeface="Arial" panose="020B0604020202020204" pitchFamily="34" charset="0"/>
              </a:rPr>
              <a:t>地址转换 </a:t>
            </a:r>
            <a:endParaRPr lang="en-US" dirty="0"/>
          </a:p>
        </p:txBody>
      </p:sp>
    </p:spTree>
    <p:extLst>
      <p:ext uri="{BB962C8B-B14F-4D97-AF65-F5344CB8AC3E}">
        <p14:creationId xmlns:p14="http://schemas.microsoft.com/office/powerpoint/2010/main" val="1810675920"/>
      </p:ext>
    </p:extLst>
  </p:cSld>
  <p:clrMapOvr>
    <a:masterClrMapping/>
  </p:clrMapOvr>
  <p:transition>
    <p:random/>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组合 4">
            <a:extLst>
              <a:ext uri="{FF2B5EF4-FFF2-40B4-BE49-F238E27FC236}">
                <a16:creationId xmlns:a16="http://schemas.microsoft.com/office/drawing/2014/main" id="{D77FD9B1-7A48-7848-AF9D-DDA83A39B905}"/>
              </a:ext>
            </a:extLst>
          </p:cNvPr>
          <p:cNvGrpSpPr/>
          <p:nvPr/>
        </p:nvGrpSpPr>
        <p:grpSpPr>
          <a:xfrm>
            <a:off x="107504" y="4402136"/>
            <a:ext cx="1449686" cy="554804"/>
            <a:chOff x="737170" y="5636574"/>
            <a:chExt cx="1860277" cy="554804"/>
          </a:xfrm>
        </p:grpSpPr>
        <p:sp>
          <p:nvSpPr>
            <p:cNvPr id="31" name="圆角矩形 5">
              <a:extLst>
                <a:ext uri="{FF2B5EF4-FFF2-40B4-BE49-F238E27FC236}">
                  <a16:creationId xmlns:a16="http://schemas.microsoft.com/office/drawing/2014/main" id="{EFED135A-09C8-8C40-97CB-93A97E0AF8DD}"/>
                </a:ext>
              </a:extLst>
            </p:cNvPr>
            <p:cNvSpPr/>
            <p:nvPr/>
          </p:nvSpPr>
          <p:spPr>
            <a:xfrm>
              <a:off x="737171" y="5636574"/>
              <a:ext cx="1860276"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2" name="文本框 6">
              <a:extLst>
                <a:ext uri="{FF2B5EF4-FFF2-40B4-BE49-F238E27FC236}">
                  <a16:creationId xmlns:a16="http://schemas.microsoft.com/office/drawing/2014/main" id="{A7DF4404-5D28-8A44-831B-9D74A4948AAC}"/>
                </a:ext>
              </a:extLst>
            </p:cNvPr>
            <p:cNvSpPr txBox="1"/>
            <p:nvPr/>
          </p:nvSpPr>
          <p:spPr>
            <a:xfrm>
              <a:off x="737170" y="5713921"/>
              <a:ext cx="1860275"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Arial"/>
                  <a:ea typeface="微软雅黑"/>
                  <a:sym typeface="Arial" panose="020B0604020202020204" pitchFamily="34" charset="0"/>
                </a:rPr>
                <a:t>地址重定位</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33" name="组合 8">
            <a:extLst>
              <a:ext uri="{FF2B5EF4-FFF2-40B4-BE49-F238E27FC236}">
                <a16:creationId xmlns:a16="http://schemas.microsoft.com/office/drawing/2014/main" id="{BF8EC37A-967A-224D-B2C9-1323D5D358AE}"/>
              </a:ext>
            </a:extLst>
          </p:cNvPr>
          <p:cNvGrpSpPr/>
          <p:nvPr/>
        </p:nvGrpSpPr>
        <p:grpSpPr>
          <a:xfrm>
            <a:off x="2347828" y="3793816"/>
            <a:ext cx="986801" cy="554804"/>
            <a:chOff x="737171" y="5636574"/>
            <a:chExt cx="1266290" cy="554804"/>
          </a:xfrm>
        </p:grpSpPr>
        <p:sp>
          <p:nvSpPr>
            <p:cNvPr id="34" name="圆角矩形 9">
              <a:extLst>
                <a:ext uri="{FF2B5EF4-FFF2-40B4-BE49-F238E27FC236}">
                  <a16:creationId xmlns:a16="http://schemas.microsoft.com/office/drawing/2014/main" id="{644C30DC-51C1-5B4A-BCC1-6B01080B2543}"/>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5" name="文本框 10">
              <a:extLst>
                <a:ext uri="{FF2B5EF4-FFF2-40B4-BE49-F238E27FC236}">
                  <a16:creationId xmlns:a16="http://schemas.microsoft.com/office/drawing/2014/main" id="{5EF643E9-E13A-C941-B223-4FBA57C3EC8C}"/>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定义</a:t>
              </a:r>
            </a:p>
          </p:txBody>
        </p:sp>
      </p:grpSp>
      <p:grpSp>
        <p:nvGrpSpPr>
          <p:cNvPr id="36" name="组合 11">
            <a:extLst>
              <a:ext uri="{FF2B5EF4-FFF2-40B4-BE49-F238E27FC236}">
                <a16:creationId xmlns:a16="http://schemas.microsoft.com/office/drawing/2014/main" id="{1585EBCF-DDC6-9140-8966-306118B2E937}"/>
              </a:ext>
            </a:extLst>
          </p:cNvPr>
          <p:cNvGrpSpPr/>
          <p:nvPr/>
        </p:nvGrpSpPr>
        <p:grpSpPr>
          <a:xfrm>
            <a:off x="2347828" y="5090422"/>
            <a:ext cx="986801" cy="554804"/>
            <a:chOff x="737171" y="5636574"/>
            <a:chExt cx="1266290" cy="554804"/>
          </a:xfrm>
        </p:grpSpPr>
        <p:sp>
          <p:nvSpPr>
            <p:cNvPr id="37" name="圆角矩形 12">
              <a:extLst>
                <a:ext uri="{FF2B5EF4-FFF2-40B4-BE49-F238E27FC236}">
                  <a16:creationId xmlns:a16="http://schemas.microsoft.com/office/drawing/2014/main" id="{9EFF4D7B-C3FD-0943-94DA-D75250CD4833}"/>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8" name="文本框 13">
              <a:extLst>
                <a:ext uri="{FF2B5EF4-FFF2-40B4-BE49-F238E27FC236}">
                  <a16:creationId xmlns:a16="http://schemas.microsoft.com/office/drawing/2014/main" id="{9AD31754-0297-8E4A-BA98-42C7FA32C75E}"/>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方式</a:t>
              </a:r>
            </a:p>
          </p:txBody>
        </p:sp>
      </p:grpSp>
      <p:cxnSp>
        <p:nvCxnSpPr>
          <p:cNvPr id="39" name="直线连接符 14">
            <a:extLst>
              <a:ext uri="{FF2B5EF4-FFF2-40B4-BE49-F238E27FC236}">
                <a16:creationId xmlns:a16="http://schemas.microsoft.com/office/drawing/2014/main" id="{75099DD1-3613-194D-A2E2-9E1A9A966048}"/>
              </a:ext>
            </a:extLst>
          </p:cNvPr>
          <p:cNvCxnSpPr>
            <a:cxnSpLocks/>
            <a:stCxn id="32" idx="3"/>
            <a:endCxn id="38" idx="1"/>
          </p:cNvCxnSpPr>
          <p:nvPr/>
        </p:nvCxnSpPr>
        <p:spPr>
          <a:xfrm>
            <a:off x="1557188" y="4679538"/>
            <a:ext cx="790640" cy="688286"/>
          </a:xfrm>
          <a:prstGeom prst="line">
            <a:avLst/>
          </a:prstGeom>
          <a:noFill/>
          <a:ln w="6350" cap="flat" cmpd="sng" algn="ctr">
            <a:solidFill>
              <a:srgbClr val="9A0001"/>
            </a:solidFill>
            <a:prstDash val="solid"/>
            <a:miter lim="800000"/>
          </a:ln>
          <a:effectLst/>
        </p:spPr>
      </p:cxnSp>
      <p:cxnSp>
        <p:nvCxnSpPr>
          <p:cNvPr id="40" name="直线连接符 15">
            <a:extLst>
              <a:ext uri="{FF2B5EF4-FFF2-40B4-BE49-F238E27FC236}">
                <a16:creationId xmlns:a16="http://schemas.microsoft.com/office/drawing/2014/main" id="{5E0594D8-41F0-3F4A-A746-B67B9EF1A093}"/>
              </a:ext>
            </a:extLst>
          </p:cNvPr>
          <p:cNvCxnSpPr>
            <a:cxnSpLocks/>
            <a:stCxn id="32" idx="3"/>
            <a:endCxn id="35" idx="1"/>
          </p:cNvCxnSpPr>
          <p:nvPr/>
        </p:nvCxnSpPr>
        <p:spPr>
          <a:xfrm flipV="1">
            <a:off x="1557188" y="4071218"/>
            <a:ext cx="790640" cy="608320"/>
          </a:xfrm>
          <a:prstGeom prst="line">
            <a:avLst/>
          </a:prstGeom>
          <a:noFill/>
          <a:ln w="6350" cap="flat" cmpd="sng" algn="ctr">
            <a:solidFill>
              <a:srgbClr val="9A0001"/>
            </a:solidFill>
            <a:prstDash val="solid"/>
            <a:miter lim="800000"/>
          </a:ln>
          <a:effectLst/>
        </p:spPr>
      </p:cxnSp>
      <p:sp>
        <p:nvSpPr>
          <p:cNvPr id="41" name="圆角矩形 32">
            <a:extLst>
              <a:ext uri="{FF2B5EF4-FFF2-40B4-BE49-F238E27FC236}">
                <a16:creationId xmlns:a16="http://schemas.microsoft.com/office/drawing/2014/main" id="{AF547B8C-10E1-CA4F-81E8-47FBFF331B18}"/>
              </a:ext>
            </a:extLst>
          </p:cNvPr>
          <p:cNvSpPr/>
          <p:nvPr/>
        </p:nvSpPr>
        <p:spPr>
          <a:xfrm>
            <a:off x="3491880" y="3627277"/>
            <a:ext cx="5323860" cy="97313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rPr>
              <a:t>逻辑地址转换成绝对地址的工作</a:t>
            </a:r>
            <a:endPar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sp>
        <p:nvSpPr>
          <p:cNvPr id="42" name="圆角矩形 33">
            <a:extLst>
              <a:ext uri="{FF2B5EF4-FFF2-40B4-BE49-F238E27FC236}">
                <a16:creationId xmlns:a16="http://schemas.microsoft.com/office/drawing/2014/main" id="{F622F04D-CFC5-9740-ADB3-6B98A83B66B7}"/>
              </a:ext>
            </a:extLst>
          </p:cNvPr>
          <p:cNvSpPr/>
          <p:nvPr/>
        </p:nvSpPr>
        <p:spPr>
          <a:xfrm>
            <a:off x="3491880" y="5023681"/>
            <a:ext cx="5323860" cy="97313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rPr>
              <a:t>静态重定位</a:t>
            </a:r>
            <a:endParaRPr kumimoji="0" lang="en-US" altLang="zh-CN" sz="18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endParaRPr>
          </a:p>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rPr>
              <a:t>动态重定位</a:t>
            </a:r>
            <a:endParaRPr kumimoji="0" lang="zh-CN" altLang="zh-CN" sz="1600" b="0" i="0" u="none" strike="noStrike" kern="100" cap="none" spc="0" normalizeH="0" baseline="0" noProof="0" dirty="0">
              <a:ln>
                <a:noFill/>
              </a:ln>
              <a:solidFill>
                <a:srgbClr val="000000"/>
              </a:solidFill>
              <a:effectLst/>
              <a:uLnTx/>
              <a:uFillTx/>
              <a:latin typeface="微软雅黑"/>
              <a:ea typeface="微软雅黑"/>
              <a:cs typeface="+mn-cs"/>
            </a:endParaRPr>
          </a:p>
        </p:txBody>
      </p:sp>
      <p:sp>
        <p:nvSpPr>
          <p:cNvPr id="43" name="文本框 2">
            <a:extLst>
              <a:ext uri="{FF2B5EF4-FFF2-40B4-BE49-F238E27FC236}">
                <a16:creationId xmlns:a16="http://schemas.microsoft.com/office/drawing/2014/main" id="{7B629B4A-DBA7-7F44-A13C-521A1B7C2665}"/>
              </a:ext>
            </a:extLst>
          </p:cNvPr>
          <p:cNvSpPr txBox="1"/>
          <p:nvPr/>
        </p:nvSpPr>
        <p:spPr>
          <a:xfrm>
            <a:off x="221456" y="1985963"/>
            <a:ext cx="8701087" cy="1493807"/>
          </a:xfrm>
          <a:prstGeom prst="rect">
            <a:avLst/>
          </a:prstGeom>
          <a:noFill/>
        </p:spPr>
        <p:txBody>
          <a:bodyPr wrap="square">
            <a:spAutoFit/>
          </a:bodyPr>
          <a:lstStyle/>
          <a:p>
            <a:pPr eaLnBrk="1" fontAlgn="auto" hangingPunct="1">
              <a:lnSpc>
                <a:spcPts val="2800"/>
              </a:lnSpc>
              <a:spcBef>
                <a:spcPts val="0"/>
              </a:spcBef>
              <a:spcAft>
                <a:spcPts val="0"/>
              </a:spcAft>
            </a:pPr>
            <a:r>
              <a:rPr lang="zh-CN" altLang="en-US" sz="1800" b="0" kern="100" dirty="0">
                <a:solidFill>
                  <a:srgbClr val="000000"/>
                </a:solidFill>
                <a:latin typeface="微软雅黑"/>
                <a:ea typeface="微软雅黑"/>
                <a:cs typeface="Times New Roman" panose="02020603050405020304" pitchFamily="18" charset="0"/>
              </a:rPr>
              <a:t>       </a:t>
            </a:r>
            <a:r>
              <a:rPr lang="zh-CN" altLang="zh-CN" sz="1800" b="0" kern="100" dirty="0">
                <a:solidFill>
                  <a:srgbClr val="000000"/>
                </a:solidFill>
                <a:latin typeface="微软雅黑"/>
                <a:ea typeface="微软雅黑"/>
                <a:cs typeface="Times New Roman" panose="02020603050405020304" pitchFamily="18" charset="0"/>
              </a:rPr>
              <a:t>当用户程序请求执行时，内存管理要为它分配合适的内存空间，该内存空间的起始物理（绝对）地址是不固定的，而且起始逻辑地址与分到的起始内存空间的物理（绝对）地址经常不一致，且后续也如此。因此，每个逻辑地址在内存中也没有一个固定的物理（绝对）地址与之对应</a:t>
            </a:r>
            <a:r>
              <a:rPr lang="zh-CN" altLang="zh-CN" sz="1800" b="0" dirty="0">
                <a:solidFill>
                  <a:srgbClr val="000000"/>
                </a:solidFill>
                <a:latin typeface="微软雅黑"/>
                <a:ea typeface="微软雅黑"/>
              </a:rPr>
              <a:t> </a:t>
            </a:r>
            <a:endParaRPr lang="zh-CN" altLang="en-US" sz="1800" b="0" dirty="0">
              <a:solidFill>
                <a:srgbClr val="000000"/>
              </a:solidFill>
              <a:latin typeface="微软雅黑"/>
              <a:ea typeface="微软雅黑"/>
            </a:endParaRPr>
          </a:p>
        </p:txBody>
      </p:sp>
      <p:sp>
        <p:nvSpPr>
          <p:cNvPr id="44" name="AutoShape 3">
            <a:extLst>
              <a:ext uri="{FF2B5EF4-FFF2-40B4-BE49-F238E27FC236}">
                <a16:creationId xmlns:a16="http://schemas.microsoft.com/office/drawing/2014/main" id="{7D88B13F-A036-D744-9CE8-55CCC5D08864}"/>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
        <p:nvSpPr>
          <p:cNvPr id="45" name="Rectangle 44">
            <a:extLst>
              <a:ext uri="{FF2B5EF4-FFF2-40B4-BE49-F238E27FC236}">
                <a16:creationId xmlns:a16="http://schemas.microsoft.com/office/drawing/2014/main" id="{1B00CBCE-E503-FE46-B888-58B8C9FAD9DE}"/>
              </a:ext>
            </a:extLst>
          </p:cNvPr>
          <p:cNvSpPr/>
          <p:nvPr/>
        </p:nvSpPr>
        <p:spPr>
          <a:xfrm>
            <a:off x="-47579" y="1224838"/>
            <a:ext cx="3209533" cy="461665"/>
          </a:xfrm>
          <a:prstGeom prst="rect">
            <a:avLst/>
          </a:prstGeom>
        </p:spPr>
        <p:txBody>
          <a:bodyPr wrap="none">
            <a:spAutoFit/>
          </a:bodyPr>
          <a:lstStyle/>
          <a:p>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地址转换 </a:t>
            </a:r>
            <a:r>
              <a:rPr lang="en-US" altLang="zh-CN"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I</a:t>
            </a:r>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 地址重定位</a:t>
            </a:r>
            <a:endParaRPr lang="en-US" dirty="0"/>
          </a:p>
        </p:txBody>
      </p:sp>
    </p:spTree>
    <p:extLst>
      <p:ext uri="{BB962C8B-B14F-4D97-AF65-F5344CB8AC3E}">
        <p14:creationId xmlns:p14="http://schemas.microsoft.com/office/powerpoint/2010/main" val="1160413587"/>
      </p:ext>
    </p:extLst>
  </p:cSld>
  <p:clrMapOvr>
    <a:masterClrMapping/>
  </p:clrMapOvr>
  <p:transition>
    <p:random/>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1">
            <a:extLst>
              <a:ext uri="{FF2B5EF4-FFF2-40B4-BE49-F238E27FC236}">
                <a16:creationId xmlns:a16="http://schemas.microsoft.com/office/drawing/2014/main" id="{A9416432-7B4E-C94F-BB89-116515F5F684}"/>
              </a:ext>
            </a:extLst>
          </p:cNvPr>
          <p:cNvSpPr txBox="1"/>
          <p:nvPr/>
        </p:nvSpPr>
        <p:spPr>
          <a:xfrm>
            <a:off x="85507" y="1697949"/>
            <a:ext cx="4898591" cy="1731051"/>
          </a:xfrm>
          <a:prstGeom prst="rect">
            <a:avLst/>
          </a:prstGeom>
          <a:noFill/>
        </p:spPr>
        <p:txBody>
          <a:bodyPr wrap="square">
            <a:spAutoFit/>
          </a:bodyPr>
          <a:lstStyle/>
          <a:p>
            <a:pPr algn="just" eaLnBrk="1" fontAlgn="auto" hangingPunct="1">
              <a:lnSpc>
                <a:spcPts val="2600"/>
              </a:lnSpc>
              <a:spcBef>
                <a:spcPts val="0"/>
              </a:spcBef>
              <a:spcAft>
                <a:spcPts val="0"/>
              </a:spcAft>
            </a:pPr>
            <a:r>
              <a:rPr lang="zh-CN" altLang="en-US" sz="1800" b="0" kern="100" dirty="0">
                <a:solidFill>
                  <a:srgbClr val="000000"/>
                </a:solidFill>
                <a:latin typeface="Microsoft YaHei" panose="020B0503020204020204" pitchFamily="34" charset="-122"/>
                <a:ea typeface="Microsoft YaHei" panose="020B0503020204020204" pitchFamily="34" charset="-122"/>
              </a:rPr>
              <a:t>       </a:t>
            </a:r>
            <a:r>
              <a:rPr lang="zh-CN" altLang="zh-CN" sz="1800" b="0" kern="100" dirty="0">
                <a:solidFill>
                  <a:srgbClr val="000000"/>
                </a:solidFill>
                <a:latin typeface="Microsoft YaHei" panose="020B0503020204020204" pitchFamily="34" charset="-122"/>
                <a:ea typeface="Microsoft YaHei" panose="020B0503020204020204" pitchFamily="34" charset="-122"/>
              </a:rPr>
              <a:t>装入程序前，静态重定位把程序中的指令和数据的逻辑地址全部转换成绝对地址后再装入。地址转换工作是在程序开始执行前集中完成，所以在程序执行过程中就无需再进行地址转换工作</a:t>
            </a:r>
          </a:p>
        </p:txBody>
      </p:sp>
      <p:pic>
        <p:nvPicPr>
          <p:cNvPr id="8" name="图片 3" descr="插图4-2">
            <a:extLst>
              <a:ext uri="{FF2B5EF4-FFF2-40B4-BE49-F238E27FC236}">
                <a16:creationId xmlns:a16="http://schemas.microsoft.com/office/drawing/2014/main" id="{D6D5EF83-7F6A-4E47-B28D-E4636A05EBEF}"/>
              </a:ext>
            </a:extLst>
          </p:cNvPr>
          <p:cNvPicPr>
            <a:picLocks noChangeAspect="1"/>
          </p:cNvPicPr>
          <p:nvPr/>
        </p:nvPicPr>
        <p:blipFill>
          <a:blip r:embed="rId2" cstate="print"/>
          <a:srcRect l="9946" t="4771" r="18265" b="2603"/>
          <a:stretch>
            <a:fillRect/>
          </a:stretch>
        </p:blipFill>
        <p:spPr bwMode="auto">
          <a:xfrm>
            <a:off x="5161313" y="1542130"/>
            <a:ext cx="3897180" cy="3773740"/>
          </a:xfrm>
          <a:prstGeom prst="rect">
            <a:avLst/>
          </a:prstGeom>
          <a:noFill/>
          <a:ln w="9525">
            <a:noFill/>
            <a:miter lim="800000"/>
            <a:headEnd/>
            <a:tailEnd/>
          </a:ln>
        </p:spPr>
      </p:pic>
      <p:sp>
        <p:nvSpPr>
          <p:cNvPr id="9" name="文本框 16">
            <a:extLst>
              <a:ext uri="{FF2B5EF4-FFF2-40B4-BE49-F238E27FC236}">
                <a16:creationId xmlns:a16="http://schemas.microsoft.com/office/drawing/2014/main" id="{04C24B21-8BEC-5449-9249-BE666257E545}"/>
              </a:ext>
            </a:extLst>
          </p:cNvPr>
          <p:cNvSpPr txBox="1"/>
          <p:nvPr/>
        </p:nvSpPr>
        <p:spPr>
          <a:xfrm>
            <a:off x="6334690" y="5805264"/>
            <a:ext cx="1550425" cy="307777"/>
          </a:xfrm>
          <a:prstGeom prst="rect">
            <a:avLst/>
          </a:prstGeom>
          <a:noFill/>
        </p:spPr>
        <p:txBody>
          <a:bodyPr wrap="none" rtlCol="0">
            <a:spAutoFit/>
          </a:bodyPr>
          <a:lstStyle/>
          <a:p>
            <a:pPr algn="ctr" eaLnBrk="1" fontAlgn="auto" hangingPunct="1">
              <a:spcBef>
                <a:spcPts val="0"/>
              </a:spcBef>
              <a:spcAft>
                <a:spcPts val="0"/>
              </a:spcAft>
            </a:pPr>
            <a:r>
              <a:rPr lang="zh-CN" altLang="zh-CN" sz="1400" b="0" kern="100" dirty="0">
                <a:solidFill>
                  <a:srgbClr val="000000"/>
                </a:solidFill>
                <a:latin typeface="微软雅黑"/>
                <a:ea typeface="微软雅黑"/>
              </a:rPr>
              <a:t>图</a:t>
            </a:r>
            <a:r>
              <a:rPr lang="en-US" altLang="zh-CN" sz="1400" b="0" kern="100" dirty="0">
                <a:solidFill>
                  <a:srgbClr val="000000"/>
                </a:solidFill>
                <a:latin typeface="微软雅黑"/>
                <a:ea typeface="微软雅黑"/>
              </a:rPr>
              <a:t>4-2</a:t>
            </a:r>
            <a:r>
              <a:rPr lang="zh-CN" altLang="zh-CN" sz="1400" b="0" kern="100" dirty="0">
                <a:solidFill>
                  <a:srgbClr val="000000"/>
                </a:solidFill>
                <a:latin typeface="微软雅黑"/>
                <a:ea typeface="微软雅黑"/>
              </a:rPr>
              <a:t>静态重定位</a:t>
            </a:r>
          </a:p>
        </p:txBody>
      </p:sp>
      <p:sp>
        <p:nvSpPr>
          <p:cNvPr id="10" name="文本框 20">
            <a:extLst>
              <a:ext uri="{FF2B5EF4-FFF2-40B4-BE49-F238E27FC236}">
                <a16:creationId xmlns:a16="http://schemas.microsoft.com/office/drawing/2014/main" id="{5F54504E-DACF-0A49-BCC2-67ABD32228D0}"/>
              </a:ext>
            </a:extLst>
          </p:cNvPr>
          <p:cNvSpPr txBox="1"/>
          <p:nvPr/>
        </p:nvSpPr>
        <p:spPr>
          <a:xfrm>
            <a:off x="180100" y="3633855"/>
            <a:ext cx="4898591" cy="3141950"/>
          </a:xfrm>
          <a:prstGeom prst="rect">
            <a:avLst/>
          </a:prstGeom>
          <a:noFill/>
        </p:spPr>
        <p:txBody>
          <a:bodyPr wrap="square">
            <a:spAutoFit/>
          </a:bodyPr>
          <a:lstStyle/>
          <a:p>
            <a:pPr algn="just" eaLnBrk="1" fontAlgn="auto" hangingPunct="1">
              <a:lnSpc>
                <a:spcPts val="2400"/>
              </a:lnSpc>
              <a:spcBef>
                <a:spcPts val="0"/>
              </a:spcBef>
              <a:spcAft>
                <a:spcPts val="0"/>
              </a:spcAft>
            </a:pPr>
            <a:r>
              <a:rPr lang="zh-CN" altLang="en-US" sz="1600" b="0" kern="100" dirty="0">
                <a:solidFill>
                  <a:srgbClr val="FF0000"/>
                </a:solidFill>
                <a:latin typeface="Microsoft YaHei" panose="020B0503020204020204" pitchFamily="34" charset="-122"/>
                <a:ea typeface="Microsoft YaHei" panose="020B0503020204020204" pitchFamily="34" charset="-122"/>
              </a:rPr>
              <a:t>       </a:t>
            </a:r>
            <a:r>
              <a:rPr lang="zh-CN" altLang="zh-CN" sz="1600" b="0" kern="100" dirty="0">
                <a:solidFill>
                  <a:srgbClr val="FF0000"/>
                </a:solidFill>
                <a:latin typeface="Microsoft YaHei" panose="020B0503020204020204" pitchFamily="34" charset="-122"/>
                <a:ea typeface="Microsoft YaHei" panose="020B0503020204020204" pitchFamily="34" charset="-122"/>
              </a:rPr>
              <a:t>假定用户程序的逻辑地址空间从“</a:t>
            </a:r>
            <a:r>
              <a:rPr lang="en-US" altLang="zh-CN" sz="1600" b="0" kern="100" dirty="0">
                <a:solidFill>
                  <a:srgbClr val="FF0000"/>
                </a:solidFill>
                <a:latin typeface="Microsoft YaHei" panose="020B0503020204020204" pitchFamily="34" charset="-122"/>
                <a:ea typeface="Microsoft YaHei" panose="020B0503020204020204" pitchFamily="34" charset="-122"/>
              </a:rPr>
              <a:t>0</a:t>
            </a:r>
            <a:r>
              <a:rPr lang="zh-CN" altLang="zh-CN" sz="1600" b="0" kern="100" dirty="0">
                <a:solidFill>
                  <a:srgbClr val="FF0000"/>
                </a:solidFill>
                <a:latin typeface="Microsoft YaHei" panose="020B0503020204020204" pitchFamily="34" charset="-122"/>
                <a:ea typeface="Microsoft YaHei" panose="020B0503020204020204" pitchFamily="34" charset="-122"/>
              </a:rPr>
              <a:t>”到“</a:t>
            </a:r>
            <a:r>
              <a:rPr lang="en-US" altLang="zh-CN" sz="1600" b="0" kern="100" dirty="0">
                <a:solidFill>
                  <a:srgbClr val="FF0000"/>
                </a:solidFill>
                <a:latin typeface="Microsoft YaHei" panose="020B0503020204020204" pitchFamily="34" charset="-122"/>
                <a:ea typeface="Microsoft YaHei" panose="020B0503020204020204" pitchFamily="34" charset="-122"/>
              </a:rPr>
              <a:t>168</a:t>
            </a:r>
            <a:r>
              <a:rPr lang="zh-CN" altLang="zh-CN" sz="1600" b="0" kern="100" dirty="0">
                <a:solidFill>
                  <a:srgbClr val="FF0000"/>
                </a:solidFill>
                <a:latin typeface="Microsoft YaHei" panose="020B0503020204020204" pitchFamily="34" charset="-122"/>
                <a:ea typeface="Microsoft YaHei" panose="020B0503020204020204" pitchFamily="34" charset="-122"/>
              </a:rPr>
              <a:t>”，其中第</a:t>
            </a:r>
            <a:r>
              <a:rPr lang="en-US" altLang="zh-CN" sz="1600" b="0" kern="100" dirty="0">
                <a:solidFill>
                  <a:srgbClr val="FF0000"/>
                </a:solidFill>
                <a:latin typeface="Microsoft YaHei" panose="020B0503020204020204" pitchFamily="34" charset="-122"/>
                <a:ea typeface="Microsoft YaHei" panose="020B0503020204020204" pitchFamily="34" charset="-122"/>
              </a:rPr>
              <a:t>18</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号单元处有一条“加法”指令，该指令要求从第</a:t>
            </a:r>
            <a:r>
              <a:rPr lang="en-US" altLang="zh-CN" sz="1600" b="0" kern="100" dirty="0">
                <a:solidFill>
                  <a:srgbClr val="FF0000"/>
                </a:solidFill>
                <a:latin typeface="Microsoft YaHei" panose="020B0503020204020204" pitchFamily="34" charset="-122"/>
                <a:ea typeface="Microsoft YaHei" panose="020B0503020204020204" pitchFamily="34" charset="-122"/>
              </a:rPr>
              <a:t>066</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号单元处取出操作数</a:t>
            </a:r>
            <a:r>
              <a:rPr lang="en-US" altLang="zh-CN" sz="1600" b="0" kern="100" dirty="0">
                <a:solidFill>
                  <a:srgbClr val="FF0000"/>
                </a:solidFill>
                <a:latin typeface="Microsoft YaHei" panose="020B0503020204020204" pitchFamily="34" charset="-122"/>
                <a:ea typeface="Microsoft YaHei" panose="020B0503020204020204" pitchFamily="34" charset="-122"/>
              </a:rPr>
              <a:t>1234</a:t>
            </a:r>
            <a:r>
              <a:rPr lang="zh-CN" altLang="zh-CN" sz="1600" b="0" kern="100" dirty="0">
                <a:solidFill>
                  <a:srgbClr val="FF0000"/>
                </a:solidFill>
                <a:latin typeface="Microsoft YaHei" panose="020B0503020204020204" pitchFamily="34" charset="-122"/>
                <a:ea typeface="Microsoft YaHei" panose="020B0503020204020204" pitchFamily="34" charset="-122"/>
              </a:rPr>
              <a:t>，然后进行加法操作。如果内存管理为该程序分配的内存区域是从</a:t>
            </a:r>
            <a:r>
              <a:rPr lang="en-US" altLang="zh-CN" sz="1600" b="0" kern="100" dirty="0">
                <a:solidFill>
                  <a:srgbClr val="FF0000"/>
                </a:solidFill>
                <a:latin typeface="Microsoft YaHei" panose="020B0503020204020204" pitchFamily="34" charset="-122"/>
                <a:ea typeface="Microsoft YaHei" panose="020B0503020204020204" pitchFamily="34" charset="-122"/>
              </a:rPr>
              <a:t>800</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号单元开始，那么，逻辑地址第</a:t>
            </a:r>
            <a:r>
              <a:rPr lang="en-US" altLang="zh-CN" sz="1600" b="0" kern="100" dirty="0">
                <a:solidFill>
                  <a:srgbClr val="FF0000"/>
                </a:solidFill>
                <a:latin typeface="Microsoft YaHei" panose="020B0503020204020204" pitchFamily="34" charset="-122"/>
                <a:ea typeface="Microsoft YaHei" panose="020B0503020204020204" pitchFamily="34" charset="-122"/>
              </a:rPr>
              <a:t>18</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号单元在内存中的对应位置是</a:t>
            </a:r>
            <a:r>
              <a:rPr lang="en-US" altLang="zh-CN" sz="1600" b="0" kern="100" dirty="0">
                <a:solidFill>
                  <a:srgbClr val="FF0000"/>
                </a:solidFill>
                <a:latin typeface="Microsoft YaHei" panose="020B0503020204020204" pitchFamily="34" charset="-122"/>
                <a:ea typeface="Microsoft YaHei" panose="020B0503020204020204" pitchFamily="34" charset="-122"/>
              </a:rPr>
              <a:t>818</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号单元，第</a:t>
            </a:r>
            <a:r>
              <a:rPr lang="en-US" altLang="zh-CN" sz="1600" b="0" kern="100" dirty="0">
                <a:solidFill>
                  <a:srgbClr val="FF0000"/>
                </a:solidFill>
                <a:latin typeface="Microsoft YaHei" panose="020B0503020204020204" pitchFamily="34" charset="-122"/>
                <a:ea typeface="Microsoft YaHei" panose="020B0503020204020204" pitchFamily="34" charset="-122"/>
              </a:rPr>
              <a:t>066</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号单元在内存中的对应位置应该是</a:t>
            </a:r>
            <a:r>
              <a:rPr lang="en-US" altLang="zh-CN" sz="1600" b="0" kern="100" dirty="0">
                <a:solidFill>
                  <a:srgbClr val="FF0000"/>
                </a:solidFill>
                <a:latin typeface="Microsoft YaHei" panose="020B0503020204020204" pitchFamily="34" charset="-122"/>
                <a:ea typeface="Microsoft YaHei" panose="020B0503020204020204" pitchFamily="34" charset="-122"/>
              </a:rPr>
              <a:t>866</a:t>
            </a:r>
            <a:r>
              <a:rPr lang="zh-CN" altLang="zh-CN" sz="1600" b="0" kern="100" dirty="0">
                <a:solidFill>
                  <a:srgbClr val="FF0000"/>
                </a:solidFill>
                <a:latin typeface="Microsoft YaHei" panose="020B0503020204020204" pitchFamily="34" charset="-122"/>
                <a:ea typeface="Microsoft YaHei" panose="020B0503020204020204" pitchFamily="34" charset="-122"/>
              </a:rPr>
              <a:t>号单元</a:t>
            </a:r>
            <a:r>
              <a:rPr lang="zh-CN" altLang="en-US" sz="1600" b="0" kern="100" dirty="0">
                <a:solidFill>
                  <a:srgbClr val="FF0000"/>
                </a:solidFill>
                <a:latin typeface="Microsoft YaHei" panose="020B0503020204020204" pitchFamily="34" charset="-122"/>
                <a:ea typeface="Microsoft YaHei" panose="020B0503020204020204" pitchFamily="34" charset="-122"/>
              </a:rPr>
              <a:t>。</a:t>
            </a:r>
            <a:r>
              <a:rPr lang="zh-CN" altLang="zh-CN" sz="1600" b="0" kern="100" dirty="0">
                <a:solidFill>
                  <a:srgbClr val="FF0000"/>
                </a:solidFill>
                <a:latin typeface="Microsoft YaHei" panose="020B0503020204020204" pitchFamily="34" charset="-122"/>
                <a:ea typeface="Microsoft YaHei" panose="020B0503020204020204" pitchFamily="34" charset="-122"/>
              </a:rPr>
              <a:t>如果不修改上述</a:t>
            </a:r>
            <a:r>
              <a:rPr lang="en-US" altLang="zh-CN" sz="1600" b="0" kern="100" dirty="0">
                <a:solidFill>
                  <a:srgbClr val="FF0000"/>
                </a:solidFill>
                <a:latin typeface="Microsoft YaHei" panose="020B0503020204020204" pitchFamily="34" charset="-122"/>
                <a:ea typeface="Microsoft YaHei" panose="020B0503020204020204" pitchFamily="34" charset="-122"/>
              </a:rPr>
              <a:t>“</a:t>
            </a:r>
            <a:r>
              <a:rPr lang="zh-CN" altLang="zh-CN" sz="1600" b="0" kern="100" dirty="0">
                <a:solidFill>
                  <a:srgbClr val="FF0000"/>
                </a:solidFill>
                <a:latin typeface="Microsoft YaHei" panose="020B0503020204020204" pitchFamily="34" charset="-122"/>
                <a:ea typeface="Microsoft YaHei" panose="020B0503020204020204" pitchFamily="34" charset="-122"/>
              </a:rPr>
              <a:t>加法</a:t>
            </a:r>
            <a:r>
              <a:rPr lang="en-US" altLang="zh-CN" sz="1600" b="0" kern="100" dirty="0">
                <a:solidFill>
                  <a:srgbClr val="FF0000"/>
                </a:solidFill>
                <a:latin typeface="Microsoft YaHei" panose="020B0503020204020204" pitchFamily="34" charset="-122"/>
                <a:ea typeface="Microsoft YaHei" panose="020B0503020204020204" pitchFamily="34" charset="-122"/>
              </a:rPr>
              <a:t>”</a:t>
            </a:r>
            <a:r>
              <a:rPr lang="zh-CN" altLang="zh-CN" sz="1600" b="0" kern="100" dirty="0">
                <a:solidFill>
                  <a:srgbClr val="FF0000"/>
                </a:solidFill>
                <a:latin typeface="Microsoft YaHei" panose="020B0503020204020204" pitchFamily="34" charset="-122"/>
                <a:ea typeface="Microsoft YaHei" panose="020B0503020204020204" pitchFamily="34" charset="-122"/>
              </a:rPr>
              <a:t>指令中的操作数地址，则处理器执行该指令时将从内存的</a:t>
            </a:r>
            <a:r>
              <a:rPr lang="en-US" altLang="zh-CN" sz="1600" b="0" kern="100" dirty="0">
                <a:solidFill>
                  <a:srgbClr val="FF0000"/>
                </a:solidFill>
                <a:latin typeface="Microsoft YaHei" panose="020B0503020204020204" pitchFamily="34" charset="-122"/>
                <a:ea typeface="Microsoft YaHei" panose="020B0503020204020204" pitchFamily="34" charset="-122"/>
              </a:rPr>
              <a:t>066</a:t>
            </a:r>
            <a:r>
              <a:rPr lang="zh-CN" altLang="zh-CN" sz="1600" b="0" kern="100" dirty="0">
                <a:solidFill>
                  <a:srgbClr val="FF0000"/>
                </a:solidFill>
                <a:latin typeface="Microsoft YaHei" panose="020B0503020204020204" pitchFamily="34" charset="-122"/>
                <a:ea typeface="Microsoft YaHei" panose="020B0503020204020204" pitchFamily="34" charset="-122"/>
              </a:rPr>
              <a:t>单元中去取操作数，这显然是错误的，参见图</a:t>
            </a:r>
            <a:r>
              <a:rPr lang="en-US" altLang="zh-CN" sz="1600" b="0" kern="100" dirty="0">
                <a:solidFill>
                  <a:srgbClr val="FF0000"/>
                </a:solidFill>
                <a:latin typeface="Microsoft YaHei" panose="020B0503020204020204" pitchFamily="34" charset="-122"/>
                <a:ea typeface="Microsoft YaHei" panose="020B0503020204020204" pitchFamily="34" charset="-122"/>
              </a:rPr>
              <a:t>5-2</a:t>
            </a:r>
            <a:endParaRPr lang="zh-CN" altLang="zh-CN" sz="1600" b="0" kern="100" dirty="0">
              <a:solidFill>
                <a:srgbClr val="FF0000"/>
              </a:solidFill>
              <a:latin typeface="Microsoft YaHei" panose="020B0503020204020204" pitchFamily="34" charset="-122"/>
              <a:ea typeface="Microsoft YaHei" panose="020B0503020204020204" pitchFamily="34" charset="-122"/>
            </a:endParaRPr>
          </a:p>
        </p:txBody>
      </p:sp>
      <p:sp>
        <p:nvSpPr>
          <p:cNvPr id="11" name="文本框 2">
            <a:extLst>
              <a:ext uri="{FF2B5EF4-FFF2-40B4-BE49-F238E27FC236}">
                <a16:creationId xmlns:a16="http://schemas.microsoft.com/office/drawing/2014/main" id="{942B64FF-FC14-F74E-9E26-6747D0B6CA16}"/>
              </a:ext>
            </a:extLst>
          </p:cNvPr>
          <p:cNvSpPr txBox="1"/>
          <p:nvPr/>
        </p:nvSpPr>
        <p:spPr>
          <a:xfrm>
            <a:off x="537505" y="3324081"/>
            <a:ext cx="646331" cy="369332"/>
          </a:xfrm>
          <a:prstGeom prst="rect">
            <a:avLst/>
          </a:prstGeom>
          <a:noFill/>
        </p:spPr>
        <p:txBody>
          <a:bodyPr wrap="none" rtlCol="0">
            <a:spAutoFit/>
          </a:bodyPr>
          <a:lstStyle/>
          <a:p>
            <a:pPr algn="ctr" eaLnBrk="1" fontAlgn="auto" hangingPunct="1">
              <a:spcBef>
                <a:spcPts val="0"/>
              </a:spcBef>
              <a:spcAft>
                <a:spcPts val="0"/>
              </a:spcAft>
            </a:pPr>
            <a:r>
              <a:rPr kumimoji="1" lang="zh-CN" altLang="en-US" sz="1800" b="0" dirty="0">
                <a:solidFill>
                  <a:srgbClr val="9A0001"/>
                </a:solidFill>
                <a:latin typeface="Arial" panose="020B0604020202020204" pitchFamily="34" charset="0"/>
                <a:ea typeface="微软雅黑" panose="020B0503020204020204" pitchFamily="34" charset="-122"/>
                <a:cs typeface="+mn-ea"/>
                <a:sym typeface="Arial" panose="020B0604020202020204" pitchFamily="34" charset="0"/>
              </a:rPr>
              <a:t>案例</a:t>
            </a:r>
          </a:p>
        </p:txBody>
      </p:sp>
      <p:sp>
        <p:nvSpPr>
          <p:cNvPr id="12" name="Rectangle 11">
            <a:extLst>
              <a:ext uri="{FF2B5EF4-FFF2-40B4-BE49-F238E27FC236}">
                <a16:creationId xmlns:a16="http://schemas.microsoft.com/office/drawing/2014/main" id="{DC08476D-E8FD-1947-ABB6-514B91F7E628}"/>
              </a:ext>
            </a:extLst>
          </p:cNvPr>
          <p:cNvSpPr/>
          <p:nvPr/>
        </p:nvSpPr>
        <p:spPr>
          <a:xfrm>
            <a:off x="0" y="1236284"/>
            <a:ext cx="5003293" cy="461665"/>
          </a:xfrm>
          <a:prstGeom prst="rect">
            <a:avLst/>
          </a:prstGeom>
        </p:spPr>
        <p:txBody>
          <a:bodyPr wrap="none">
            <a:spAutoFit/>
          </a:bodyPr>
          <a:lstStyle/>
          <a:p>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地址转换 </a:t>
            </a:r>
            <a:r>
              <a:rPr lang="en-US" altLang="zh-CN"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I</a:t>
            </a:r>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 地址重定位 </a:t>
            </a:r>
            <a:r>
              <a:rPr lang="en-US" altLang="zh-CN"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I</a:t>
            </a:r>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 静态重定位</a:t>
            </a:r>
            <a:endParaRPr lang="en-US" dirty="0"/>
          </a:p>
        </p:txBody>
      </p:sp>
      <p:sp>
        <p:nvSpPr>
          <p:cNvPr id="13" name="AutoShape 3">
            <a:extLst>
              <a:ext uri="{FF2B5EF4-FFF2-40B4-BE49-F238E27FC236}">
                <a16:creationId xmlns:a16="http://schemas.microsoft.com/office/drawing/2014/main" id="{BB6AB263-370F-E942-9D98-9FC4CAF7D17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Tree>
    <p:extLst>
      <p:ext uri="{BB962C8B-B14F-4D97-AF65-F5344CB8AC3E}">
        <p14:creationId xmlns:p14="http://schemas.microsoft.com/office/powerpoint/2010/main" val="2550082791"/>
      </p:ext>
    </p:extLst>
  </p:cSld>
  <p:clrMapOvr>
    <a:masterClrMapping/>
  </p:clrMapOvr>
  <p:transition>
    <p:random/>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
            <a:extLst>
              <a:ext uri="{FF2B5EF4-FFF2-40B4-BE49-F238E27FC236}">
                <a16:creationId xmlns:a16="http://schemas.microsoft.com/office/drawing/2014/main" id="{34A50E73-6045-CA42-B209-C14A891960B8}"/>
              </a:ext>
            </a:extLst>
          </p:cNvPr>
          <p:cNvSpPr txBox="1"/>
          <p:nvPr/>
        </p:nvSpPr>
        <p:spPr>
          <a:xfrm>
            <a:off x="35496" y="2074275"/>
            <a:ext cx="4328738" cy="1731051"/>
          </a:xfrm>
          <a:prstGeom prst="rect">
            <a:avLst/>
          </a:prstGeom>
          <a:noFill/>
        </p:spPr>
        <p:txBody>
          <a:bodyPr wrap="square">
            <a:spAutoFit/>
          </a:bodyPr>
          <a:lstStyle/>
          <a:p>
            <a:pPr algn="just" eaLnBrk="1" fontAlgn="auto" hangingPunct="1">
              <a:lnSpc>
                <a:spcPts val="2600"/>
              </a:lnSpc>
              <a:spcBef>
                <a:spcPts val="0"/>
              </a:spcBef>
              <a:spcAft>
                <a:spcPts val="0"/>
              </a:spcAft>
            </a:pPr>
            <a:r>
              <a:rPr lang="zh-CN" altLang="en-US" sz="1800" b="0" kern="100" dirty="0">
                <a:solidFill>
                  <a:srgbClr val="000000"/>
                </a:solidFill>
                <a:latin typeface="Microsoft YaHei" panose="020B0503020204020204" pitchFamily="34" charset="-122"/>
                <a:ea typeface="Microsoft YaHei" panose="020B0503020204020204" pitchFamily="34" charset="-122"/>
              </a:rPr>
              <a:t>       </a:t>
            </a:r>
            <a:r>
              <a:rPr lang="zh-CN" altLang="zh-CN" sz="1800" b="0" kern="100" dirty="0">
                <a:solidFill>
                  <a:srgbClr val="000000"/>
                </a:solidFill>
                <a:latin typeface="Microsoft YaHei" panose="020B0503020204020204" pitchFamily="34" charset="-122"/>
                <a:ea typeface="Microsoft YaHei" panose="020B0503020204020204" pitchFamily="34" charset="-122"/>
              </a:rPr>
              <a:t>装入程序前，不进行地址转换，而是直接把程序装入到分配的内存区域中。在程序执行过程中，每当执行一条指令时都由硬件的地址转换机构将程序中的逻辑地址转换成绝对地址</a:t>
            </a:r>
          </a:p>
        </p:txBody>
      </p:sp>
      <p:sp>
        <p:nvSpPr>
          <p:cNvPr id="15" name="文本框 20">
            <a:extLst>
              <a:ext uri="{FF2B5EF4-FFF2-40B4-BE49-F238E27FC236}">
                <a16:creationId xmlns:a16="http://schemas.microsoft.com/office/drawing/2014/main" id="{AB24FE67-268D-F743-A100-5A9FE67E07F6}"/>
              </a:ext>
            </a:extLst>
          </p:cNvPr>
          <p:cNvSpPr txBox="1"/>
          <p:nvPr/>
        </p:nvSpPr>
        <p:spPr>
          <a:xfrm>
            <a:off x="97198" y="4170847"/>
            <a:ext cx="4252493" cy="2526397"/>
          </a:xfrm>
          <a:prstGeom prst="rect">
            <a:avLst/>
          </a:prstGeom>
          <a:noFill/>
        </p:spPr>
        <p:txBody>
          <a:bodyPr wrap="square">
            <a:spAutoFit/>
          </a:bodyPr>
          <a:lstStyle/>
          <a:p>
            <a:pPr algn="just" eaLnBrk="1" fontAlgn="auto" hangingPunct="1">
              <a:lnSpc>
                <a:spcPts val="2400"/>
              </a:lnSpc>
              <a:spcBef>
                <a:spcPts val="0"/>
              </a:spcBef>
              <a:spcAft>
                <a:spcPts val="0"/>
              </a:spcAft>
            </a:pPr>
            <a:r>
              <a:rPr lang="zh-CN" altLang="en-US" sz="1600" b="0" kern="100" dirty="0">
                <a:solidFill>
                  <a:srgbClr val="FF0000"/>
                </a:solidFill>
                <a:latin typeface="Microsoft YaHei" panose="020B0503020204020204" pitchFamily="34" charset="-122"/>
                <a:ea typeface="Microsoft YaHei" panose="020B0503020204020204" pitchFamily="34" charset="-122"/>
              </a:rPr>
              <a:t>       </a:t>
            </a:r>
            <a:r>
              <a:rPr lang="zh-CN" altLang="zh-CN" sz="1600" b="0" kern="100" dirty="0">
                <a:solidFill>
                  <a:srgbClr val="FF0000"/>
                </a:solidFill>
                <a:latin typeface="Microsoft YaHei" panose="020B0503020204020204" pitchFamily="34" charset="-122"/>
                <a:ea typeface="Microsoft YaHei" panose="020B0503020204020204" pitchFamily="34" charset="-122"/>
              </a:rPr>
              <a:t>图</a:t>
            </a:r>
            <a:r>
              <a:rPr lang="en-US" altLang="zh-CN" sz="1600" b="0" kern="100" dirty="0">
                <a:solidFill>
                  <a:srgbClr val="FF0000"/>
                </a:solidFill>
                <a:latin typeface="Microsoft YaHei" panose="020B0503020204020204" pitchFamily="34" charset="-122"/>
                <a:ea typeface="Microsoft YaHei" panose="020B0503020204020204" pitchFamily="34" charset="-122"/>
              </a:rPr>
              <a:t>5-3</a:t>
            </a:r>
            <a:r>
              <a:rPr lang="zh-CN" altLang="zh-CN" sz="1600" b="0" kern="100" dirty="0">
                <a:solidFill>
                  <a:srgbClr val="FF0000"/>
                </a:solidFill>
                <a:latin typeface="Microsoft YaHei" panose="020B0503020204020204" pitchFamily="34" charset="-122"/>
                <a:ea typeface="Microsoft YaHei" panose="020B0503020204020204" pitchFamily="34" charset="-122"/>
              </a:rPr>
              <a:t>指出了动态重定位的过程。程序装入到从地址</a:t>
            </a:r>
            <a:r>
              <a:rPr lang="en-US" altLang="zh-CN" sz="1600" b="0" kern="100" dirty="0">
                <a:solidFill>
                  <a:srgbClr val="FF0000"/>
                </a:solidFill>
                <a:latin typeface="Microsoft YaHei" panose="020B0503020204020204" pitchFamily="34" charset="-122"/>
                <a:ea typeface="Microsoft YaHei" panose="020B0503020204020204" pitchFamily="34" charset="-122"/>
              </a:rPr>
              <a:t>1000</a:t>
            </a:r>
            <a:r>
              <a:rPr lang="zh-CN" altLang="zh-CN" sz="1600" b="0" kern="100" dirty="0">
                <a:solidFill>
                  <a:srgbClr val="FF0000"/>
                </a:solidFill>
                <a:latin typeface="Microsoft YaHei" panose="020B0503020204020204" pitchFamily="34" charset="-122"/>
                <a:ea typeface="Microsoft YaHei" panose="020B0503020204020204" pitchFamily="34" charset="-122"/>
              </a:rPr>
              <a:t>开始的内存中，从程序起始位于</a:t>
            </a:r>
            <a:r>
              <a:rPr lang="en-US" altLang="zh-CN" sz="1600" b="0" kern="100" dirty="0">
                <a:solidFill>
                  <a:srgbClr val="FF0000"/>
                </a:solidFill>
                <a:latin typeface="Microsoft YaHei" panose="020B0503020204020204" pitchFamily="34" charset="-122"/>
                <a:ea typeface="Microsoft YaHei" panose="020B0503020204020204" pitchFamily="34" charset="-122"/>
              </a:rPr>
              <a:t>100</a:t>
            </a:r>
            <a:r>
              <a:rPr lang="zh-CN" altLang="zh-CN" sz="1600" b="0" kern="100" dirty="0">
                <a:solidFill>
                  <a:srgbClr val="FF0000"/>
                </a:solidFill>
                <a:latin typeface="Microsoft YaHei" panose="020B0503020204020204" pitchFamily="34" charset="-122"/>
                <a:ea typeface="Microsoft YaHei" panose="020B0503020204020204" pitchFamily="34" charset="-122"/>
              </a:rPr>
              <a:t>的地方有一条指令</a:t>
            </a:r>
            <a:r>
              <a:rPr lang="en-US" altLang="zh-CN" sz="1600" b="0" kern="100" dirty="0">
                <a:solidFill>
                  <a:srgbClr val="FF0000"/>
                </a:solidFill>
                <a:latin typeface="Microsoft YaHei" panose="020B0503020204020204" pitchFamily="34" charset="-122"/>
                <a:ea typeface="Microsoft YaHei" panose="020B0503020204020204" pitchFamily="34" charset="-122"/>
              </a:rPr>
              <a:t>LOAD 1,500</a:t>
            </a:r>
            <a:r>
              <a:rPr lang="zh-CN" altLang="zh-CN" sz="1600" b="0" kern="100" dirty="0">
                <a:solidFill>
                  <a:srgbClr val="FF0000"/>
                </a:solidFill>
                <a:latin typeface="Microsoft YaHei" panose="020B0503020204020204" pitchFamily="34" charset="-122"/>
                <a:ea typeface="Microsoft YaHei" panose="020B0503020204020204" pitchFamily="34" charset="-122"/>
              </a:rPr>
              <a:t>，意思为将地址</a:t>
            </a:r>
            <a:r>
              <a:rPr lang="en-US" altLang="zh-CN" sz="1600" b="0" kern="100" dirty="0">
                <a:solidFill>
                  <a:srgbClr val="FF0000"/>
                </a:solidFill>
                <a:latin typeface="Microsoft YaHei" panose="020B0503020204020204" pitchFamily="34" charset="-122"/>
                <a:ea typeface="Microsoft YaHei" panose="020B0503020204020204" pitchFamily="34" charset="-122"/>
              </a:rPr>
              <a:t>500</a:t>
            </a:r>
            <a:r>
              <a:rPr lang="zh-CN" altLang="zh-CN" sz="1600" b="0" kern="100" dirty="0">
                <a:solidFill>
                  <a:srgbClr val="FF0000"/>
                </a:solidFill>
                <a:latin typeface="Microsoft YaHei" panose="020B0503020204020204" pitchFamily="34" charset="-122"/>
                <a:ea typeface="Microsoft YaHei" panose="020B0503020204020204" pitchFamily="34" charset="-122"/>
              </a:rPr>
              <a:t>中的数据装入到寄存器</a:t>
            </a:r>
            <a:r>
              <a:rPr lang="en-US" altLang="zh-CN" sz="1600" b="0" kern="100" dirty="0">
                <a:solidFill>
                  <a:srgbClr val="FF0000"/>
                </a:solidFill>
                <a:latin typeface="Microsoft YaHei" panose="020B0503020204020204" pitchFamily="34" charset="-122"/>
                <a:ea typeface="Microsoft YaHei" panose="020B0503020204020204" pitchFamily="34" charset="-122"/>
              </a:rPr>
              <a:t>1</a:t>
            </a:r>
            <a:r>
              <a:rPr lang="zh-CN" altLang="zh-CN" sz="1600" b="0" kern="100" dirty="0">
                <a:solidFill>
                  <a:srgbClr val="FF0000"/>
                </a:solidFill>
                <a:latin typeface="Microsoft YaHei" panose="020B0503020204020204" pitchFamily="34" charset="-122"/>
                <a:ea typeface="Microsoft YaHei" panose="020B0503020204020204" pitchFamily="34" charset="-122"/>
              </a:rPr>
              <a:t>，执行时该指令时，需要将该数据所在的逻辑地址</a:t>
            </a:r>
            <a:r>
              <a:rPr lang="en-US" altLang="zh-CN" sz="1600" b="0" kern="100" dirty="0">
                <a:solidFill>
                  <a:srgbClr val="FF0000"/>
                </a:solidFill>
                <a:latin typeface="Microsoft YaHei" panose="020B0503020204020204" pitchFamily="34" charset="-122"/>
                <a:ea typeface="Microsoft YaHei" panose="020B0503020204020204" pitchFamily="34" charset="-122"/>
              </a:rPr>
              <a:t>500</a:t>
            </a:r>
            <a:r>
              <a:rPr lang="zh-CN" altLang="zh-CN" sz="1600" b="0" kern="100" dirty="0">
                <a:solidFill>
                  <a:srgbClr val="FF0000"/>
                </a:solidFill>
                <a:latin typeface="Microsoft YaHei" panose="020B0503020204020204" pitchFamily="34" charset="-122"/>
                <a:ea typeface="Microsoft YaHei" panose="020B0503020204020204" pitchFamily="34" charset="-122"/>
              </a:rPr>
              <a:t>与基址寄存器</a:t>
            </a:r>
            <a:r>
              <a:rPr lang="en-US" altLang="zh-CN" sz="1600" b="0" kern="100" dirty="0">
                <a:solidFill>
                  <a:srgbClr val="FF0000"/>
                </a:solidFill>
                <a:latin typeface="Microsoft YaHei" panose="020B0503020204020204" pitchFamily="34" charset="-122"/>
                <a:ea typeface="Microsoft YaHei" panose="020B0503020204020204" pitchFamily="34" charset="-122"/>
              </a:rPr>
              <a:t>BR</a:t>
            </a:r>
            <a:r>
              <a:rPr lang="zh-CN" altLang="zh-CN" sz="1600" b="0" kern="100" dirty="0">
                <a:solidFill>
                  <a:srgbClr val="FF0000"/>
                </a:solidFill>
                <a:latin typeface="Microsoft YaHei" panose="020B0503020204020204" pitchFamily="34" charset="-122"/>
                <a:ea typeface="Microsoft YaHei" panose="020B0503020204020204" pitchFamily="34" charset="-122"/>
              </a:rPr>
              <a:t>（</a:t>
            </a:r>
            <a:r>
              <a:rPr lang="en-US" altLang="zh-CN" sz="1600" b="0" kern="100" dirty="0">
                <a:solidFill>
                  <a:srgbClr val="FF0000"/>
                </a:solidFill>
                <a:latin typeface="Microsoft YaHei" panose="020B0503020204020204" pitchFamily="34" charset="-122"/>
                <a:ea typeface="Microsoft YaHei" panose="020B0503020204020204" pitchFamily="34" charset="-122"/>
              </a:rPr>
              <a:t>Base Register</a:t>
            </a:r>
            <a:r>
              <a:rPr lang="zh-CN" altLang="zh-CN" sz="1600" b="0" kern="100" dirty="0">
                <a:solidFill>
                  <a:srgbClr val="FF0000"/>
                </a:solidFill>
                <a:latin typeface="Microsoft YaHei" panose="020B0503020204020204" pitchFamily="34" charset="-122"/>
                <a:ea typeface="Microsoft YaHei" panose="020B0503020204020204" pitchFamily="34" charset="-122"/>
              </a:rPr>
              <a:t>）中的</a:t>
            </a:r>
            <a:r>
              <a:rPr lang="en-US" altLang="zh-CN" sz="1600" b="0" kern="100" dirty="0">
                <a:solidFill>
                  <a:srgbClr val="FF0000"/>
                </a:solidFill>
                <a:latin typeface="Microsoft YaHei" panose="020B0503020204020204" pitchFamily="34" charset="-122"/>
                <a:ea typeface="Microsoft YaHei" panose="020B0503020204020204" pitchFamily="34" charset="-122"/>
              </a:rPr>
              <a:t>1000</a:t>
            </a:r>
            <a:r>
              <a:rPr lang="zh-CN" altLang="zh-CN" sz="1600" b="0" kern="100" dirty="0">
                <a:solidFill>
                  <a:srgbClr val="FF0000"/>
                </a:solidFill>
                <a:latin typeface="Microsoft YaHei" panose="020B0503020204020204" pitchFamily="34" charset="-122"/>
                <a:ea typeface="Microsoft YaHei" panose="020B0503020204020204" pitchFamily="34" charset="-122"/>
              </a:rPr>
              <a:t>相加，得到</a:t>
            </a:r>
            <a:r>
              <a:rPr lang="en-US" altLang="zh-CN" sz="1600" b="0" kern="100" dirty="0">
                <a:solidFill>
                  <a:srgbClr val="FF0000"/>
                </a:solidFill>
                <a:latin typeface="Microsoft YaHei" panose="020B0503020204020204" pitchFamily="34" charset="-122"/>
                <a:ea typeface="Microsoft YaHei" panose="020B0503020204020204" pitchFamily="34" charset="-122"/>
              </a:rPr>
              <a:t>1500</a:t>
            </a:r>
            <a:r>
              <a:rPr lang="zh-CN" altLang="zh-CN" sz="1600" b="0" kern="100" dirty="0">
                <a:solidFill>
                  <a:srgbClr val="FF0000"/>
                </a:solidFill>
                <a:latin typeface="Microsoft YaHei" panose="020B0503020204020204" pitchFamily="34" charset="-122"/>
                <a:ea typeface="Microsoft YaHei" panose="020B0503020204020204" pitchFamily="34" charset="-122"/>
              </a:rPr>
              <a:t>，再去读取内存</a:t>
            </a:r>
            <a:r>
              <a:rPr lang="en-US" altLang="zh-CN" sz="1600" b="0" kern="100" dirty="0">
                <a:solidFill>
                  <a:srgbClr val="FF0000"/>
                </a:solidFill>
                <a:latin typeface="Microsoft YaHei" panose="020B0503020204020204" pitchFamily="34" charset="-122"/>
                <a:ea typeface="Microsoft YaHei" panose="020B0503020204020204" pitchFamily="34" charset="-122"/>
              </a:rPr>
              <a:t>1500</a:t>
            </a:r>
            <a:r>
              <a:rPr lang="zh-CN" altLang="zh-CN" sz="1600" b="0" kern="100" dirty="0">
                <a:solidFill>
                  <a:srgbClr val="FF0000"/>
                </a:solidFill>
                <a:latin typeface="Microsoft YaHei" panose="020B0503020204020204" pitchFamily="34" charset="-122"/>
                <a:ea typeface="Microsoft YaHei" panose="020B0503020204020204" pitchFamily="34" charset="-122"/>
              </a:rPr>
              <a:t>中数据并将其放入寄存器</a:t>
            </a:r>
            <a:r>
              <a:rPr lang="en-US" altLang="zh-CN" sz="1600" b="0" kern="100" dirty="0">
                <a:solidFill>
                  <a:srgbClr val="FF0000"/>
                </a:solidFill>
                <a:latin typeface="Microsoft YaHei" panose="020B0503020204020204" pitchFamily="34" charset="-122"/>
                <a:ea typeface="Microsoft YaHei" panose="020B0503020204020204" pitchFamily="34" charset="-122"/>
              </a:rPr>
              <a:t>1</a:t>
            </a:r>
            <a:endParaRPr lang="zh-CN" altLang="zh-CN" sz="1600" b="0" kern="100" dirty="0">
              <a:solidFill>
                <a:srgbClr val="FF0000"/>
              </a:solidFill>
              <a:latin typeface="Microsoft YaHei" panose="020B0503020204020204" pitchFamily="34" charset="-122"/>
              <a:ea typeface="Microsoft YaHei" panose="020B0503020204020204" pitchFamily="34" charset="-122"/>
            </a:endParaRPr>
          </a:p>
        </p:txBody>
      </p:sp>
      <p:grpSp>
        <p:nvGrpSpPr>
          <p:cNvPr id="16" name="组合 2">
            <a:extLst>
              <a:ext uri="{FF2B5EF4-FFF2-40B4-BE49-F238E27FC236}">
                <a16:creationId xmlns:a16="http://schemas.microsoft.com/office/drawing/2014/main" id="{996A73DF-E52A-AC42-84F4-FF5D17FBD8B5}"/>
              </a:ext>
            </a:extLst>
          </p:cNvPr>
          <p:cNvGrpSpPr/>
          <p:nvPr/>
        </p:nvGrpSpPr>
        <p:grpSpPr>
          <a:xfrm>
            <a:off x="4388885" y="2299358"/>
            <a:ext cx="4742885" cy="3134687"/>
            <a:chOff x="7449115" y="1519059"/>
            <a:chExt cx="4742885" cy="3134687"/>
          </a:xfrm>
        </p:grpSpPr>
        <p:pic>
          <p:nvPicPr>
            <p:cNvPr id="17" name="图片 4" descr="5-2">
              <a:extLst>
                <a:ext uri="{FF2B5EF4-FFF2-40B4-BE49-F238E27FC236}">
                  <a16:creationId xmlns:a16="http://schemas.microsoft.com/office/drawing/2014/main" id="{F9E6A5B9-5197-954B-89AC-F2DEA6CD5C11}"/>
                </a:ext>
              </a:extLst>
            </p:cNvPr>
            <p:cNvPicPr>
              <a:picLocks noChangeAspect="1"/>
            </p:cNvPicPr>
            <p:nvPr/>
          </p:nvPicPr>
          <p:blipFill>
            <a:blip r:embed="rId2" cstate="print"/>
            <a:srcRect l="15192" t="20061" r="15361" b="24771"/>
            <a:stretch>
              <a:fillRect/>
            </a:stretch>
          </p:blipFill>
          <p:spPr bwMode="auto">
            <a:xfrm>
              <a:off x="7449115" y="1519059"/>
              <a:ext cx="4742885" cy="2826910"/>
            </a:xfrm>
            <a:prstGeom prst="rect">
              <a:avLst/>
            </a:prstGeom>
            <a:noFill/>
            <a:ln w="9525">
              <a:noFill/>
              <a:miter lim="800000"/>
              <a:headEnd/>
              <a:tailEnd/>
            </a:ln>
          </p:spPr>
        </p:pic>
        <p:sp>
          <p:nvSpPr>
            <p:cNvPr id="18" name="文本框 5">
              <a:extLst>
                <a:ext uri="{FF2B5EF4-FFF2-40B4-BE49-F238E27FC236}">
                  <a16:creationId xmlns:a16="http://schemas.microsoft.com/office/drawing/2014/main" id="{64BAD75A-EA2D-ED4E-8170-5F0DD6D26789}"/>
                </a:ext>
              </a:extLst>
            </p:cNvPr>
            <p:cNvSpPr txBox="1"/>
            <p:nvPr/>
          </p:nvSpPr>
          <p:spPr>
            <a:xfrm>
              <a:off x="8927890" y="4345969"/>
              <a:ext cx="1500732" cy="307777"/>
            </a:xfrm>
            <a:prstGeom prst="rect">
              <a:avLst/>
            </a:prstGeom>
            <a:noFill/>
          </p:spPr>
          <p:txBody>
            <a:bodyPr wrap="none" rtlCol="0">
              <a:spAutoFit/>
            </a:bodyPr>
            <a:lstStyle/>
            <a:p>
              <a:pPr algn="ctr" eaLnBrk="1" fontAlgn="auto" hangingPunct="1">
                <a:spcBef>
                  <a:spcPts val="0"/>
                </a:spcBef>
                <a:spcAft>
                  <a:spcPts val="0"/>
                </a:spcAft>
              </a:pPr>
              <a:r>
                <a:rPr lang="zh-CN" altLang="zh-CN" sz="1400" b="0" kern="100" dirty="0">
                  <a:solidFill>
                    <a:srgbClr val="000000"/>
                  </a:solidFill>
                  <a:latin typeface="Times New Roman" panose="02020603050405020304" pitchFamily="18" charset="0"/>
                </a:rPr>
                <a:t>图</a:t>
              </a:r>
              <a:r>
                <a:rPr lang="en-US" altLang="zh-CN" sz="1400" b="0" kern="100" dirty="0">
                  <a:solidFill>
                    <a:srgbClr val="000000"/>
                  </a:solidFill>
                  <a:latin typeface="Times New Roman" panose="02020603050405020304" pitchFamily="18" charset="0"/>
                </a:rPr>
                <a:t>4-3</a:t>
              </a:r>
              <a:r>
                <a:rPr lang="zh-CN" altLang="zh-CN" sz="1400" b="0" kern="100" dirty="0">
                  <a:solidFill>
                    <a:srgbClr val="000000"/>
                  </a:solidFill>
                  <a:latin typeface="Times New Roman" panose="02020603050405020304" pitchFamily="18" charset="0"/>
                </a:rPr>
                <a:t>动态重定位</a:t>
              </a:r>
            </a:p>
          </p:txBody>
        </p:sp>
      </p:grpSp>
      <p:sp>
        <p:nvSpPr>
          <p:cNvPr id="19" name="文本框 3">
            <a:extLst>
              <a:ext uri="{FF2B5EF4-FFF2-40B4-BE49-F238E27FC236}">
                <a16:creationId xmlns:a16="http://schemas.microsoft.com/office/drawing/2014/main" id="{573B3CC0-7D74-654C-98E9-92A39C2D3517}"/>
              </a:ext>
            </a:extLst>
          </p:cNvPr>
          <p:cNvSpPr txBox="1"/>
          <p:nvPr/>
        </p:nvSpPr>
        <p:spPr>
          <a:xfrm>
            <a:off x="319507" y="3719523"/>
            <a:ext cx="646331" cy="369332"/>
          </a:xfrm>
          <a:prstGeom prst="rect">
            <a:avLst/>
          </a:prstGeom>
          <a:noFill/>
        </p:spPr>
        <p:txBody>
          <a:bodyPr wrap="none" rtlCol="0">
            <a:spAutoFit/>
          </a:bodyPr>
          <a:lstStyle/>
          <a:p>
            <a:pPr algn="ctr" eaLnBrk="1" fontAlgn="auto" hangingPunct="1">
              <a:spcBef>
                <a:spcPts val="0"/>
              </a:spcBef>
              <a:spcAft>
                <a:spcPts val="0"/>
              </a:spcAft>
            </a:pPr>
            <a:r>
              <a:rPr kumimoji="1" lang="zh-CN" altLang="en-US" sz="1800" b="0" dirty="0">
                <a:solidFill>
                  <a:srgbClr val="9A0001"/>
                </a:solidFill>
                <a:latin typeface="Arial" panose="020B0604020202020204" pitchFamily="34" charset="0"/>
                <a:ea typeface="微软雅黑" panose="020B0503020204020204" pitchFamily="34" charset="-122"/>
                <a:cs typeface="+mn-ea"/>
                <a:sym typeface="Arial" panose="020B0604020202020204" pitchFamily="34" charset="0"/>
              </a:rPr>
              <a:t>案例</a:t>
            </a:r>
          </a:p>
        </p:txBody>
      </p:sp>
      <p:sp>
        <p:nvSpPr>
          <p:cNvPr id="20" name="Rectangle 19">
            <a:extLst>
              <a:ext uri="{FF2B5EF4-FFF2-40B4-BE49-F238E27FC236}">
                <a16:creationId xmlns:a16="http://schemas.microsoft.com/office/drawing/2014/main" id="{5297F9BA-2B7F-7042-A86C-199DB87F358C}"/>
              </a:ext>
            </a:extLst>
          </p:cNvPr>
          <p:cNvSpPr/>
          <p:nvPr/>
        </p:nvSpPr>
        <p:spPr>
          <a:xfrm>
            <a:off x="0" y="1236284"/>
            <a:ext cx="5003293" cy="461665"/>
          </a:xfrm>
          <a:prstGeom prst="rect">
            <a:avLst/>
          </a:prstGeom>
        </p:spPr>
        <p:txBody>
          <a:bodyPr wrap="none">
            <a:spAutoFit/>
          </a:bodyPr>
          <a:lstStyle/>
          <a:p>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地址转换 </a:t>
            </a:r>
            <a:r>
              <a:rPr lang="en-US" altLang="zh-CN"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I</a:t>
            </a:r>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 地址重定位 </a:t>
            </a:r>
            <a:r>
              <a:rPr lang="en-US" altLang="zh-CN"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I</a:t>
            </a:r>
            <a:r>
              <a:rPr lang="zh-CN" altLang="en-US" sz="2400" dirty="0">
                <a:solidFill>
                  <a:srgbClr val="9A0001"/>
                </a:solidFill>
                <a:latin typeface="Arial" panose="020B0604020202020204" pitchFamily="34" charset="0"/>
                <a:ea typeface="微软雅黑" panose="020B0503020204020204" pitchFamily="34" charset="-122"/>
                <a:sym typeface="Arial" panose="020B0604020202020204" pitchFamily="34" charset="0"/>
              </a:rPr>
              <a:t> 静态重定位</a:t>
            </a:r>
            <a:endParaRPr lang="en-US" dirty="0"/>
          </a:p>
        </p:txBody>
      </p:sp>
      <p:sp>
        <p:nvSpPr>
          <p:cNvPr id="21" name="AutoShape 3">
            <a:extLst>
              <a:ext uri="{FF2B5EF4-FFF2-40B4-BE49-F238E27FC236}">
                <a16:creationId xmlns:a16="http://schemas.microsoft.com/office/drawing/2014/main" id="{758711DE-0D76-2A4B-A98E-EC8FB71237E5}"/>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4.2 </a:t>
            </a:r>
            <a:r>
              <a:rPr lang="en-US" altLang="en-US" sz="2800" b="0" dirty="0" err="1">
                <a:solidFill>
                  <a:srgbClr val="FF0000"/>
                </a:solidFill>
                <a:latin typeface="Verdana" panose="020B0604030504040204" pitchFamily="34" charset="0"/>
                <a:ea typeface="黑体" panose="02010609060101010101" pitchFamily="49" charset="-122"/>
              </a:rPr>
              <a:t>存储器及存储管理的基本功能</a:t>
            </a:r>
            <a:endParaRPr lang="en-US" altLang="en-US" sz="2800" b="0" dirty="0">
              <a:solidFill>
                <a:srgbClr val="FF0000"/>
              </a:solidFill>
              <a:latin typeface="Verdana" panose="020B0604030504040204" pitchFamily="34" charset="0"/>
              <a:ea typeface="黑体" panose="02010609060101010101" pitchFamily="49" charset="-122"/>
            </a:endParaRPr>
          </a:p>
        </p:txBody>
      </p:sp>
    </p:spTree>
    <p:extLst>
      <p:ext uri="{BB962C8B-B14F-4D97-AF65-F5344CB8AC3E}">
        <p14:creationId xmlns:p14="http://schemas.microsoft.com/office/powerpoint/2010/main" val="1461417319"/>
      </p:ext>
    </p:extLst>
  </p:cSld>
  <p:clrMapOvr>
    <a:masterClrMapping/>
  </p:clrMapOvr>
  <p:transition>
    <p:random/>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AutoShape 3">
            <a:extLst>
              <a:ext uri="{FF2B5EF4-FFF2-40B4-BE49-F238E27FC236}">
                <a16:creationId xmlns:a16="http://schemas.microsoft.com/office/drawing/2014/main" id="{75FEC25E-C775-6C41-8AC1-AAE0002A948F}"/>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
        <p:nvSpPr>
          <p:cNvPr id="28675" name="Text Box 6">
            <a:extLst>
              <a:ext uri="{FF2B5EF4-FFF2-40B4-BE49-F238E27FC236}">
                <a16:creationId xmlns:a16="http://schemas.microsoft.com/office/drawing/2014/main" id="{58003B8C-AB63-E640-A908-A14D79FEF186}"/>
              </a:ext>
            </a:extLst>
          </p:cNvPr>
          <p:cNvSpPr txBox="1">
            <a:spLocks noChangeArrowheads="1"/>
          </p:cNvSpPr>
          <p:nvPr/>
        </p:nvSpPr>
        <p:spPr bwMode="auto">
          <a:xfrm>
            <a:off x="-13152" y="1110239"/>
            <a:ext cx="9157152" cy="220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wrap="square" lIns="91433" tIns="45716" rIns="91433" bIns="45716">
            <a:spAutoFit/>
          </a:bodyP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algn="just" eaLnBrk="1" hangingPunct="1">
              <a:lnSpc>
                <a:spcPts val="4300"/>
              </a:lnSpc>
              <a:spcBef>
                <a:spcPct val="0"/>
              </a:spcBef>
              <a:buFontTx/>
              <a:buNone/>
            </a:pPr>
            <a:r>
              <a:rPr lang="zh-CN" altLang="en-US" dirty="0">
                <a:solidFill>
                  <a:schemeClr val="tx1"/>
                </a:solidFill>
                <a:latin typeface="宋体" panose="02010600030101010101" pitchFamily="2" charset="-122"/>
              </a:rPr>
              <a:t>（</a:t>
            </a:r>
            <a:r>
              <a:rPr lang="en-US" altLang="zh-CN" dirty="0">
                <a:solidFill>
                  <a:schemeClr val="tx1"/>
                </a:solidFill>
                <a:latin typeface="宋体" panose="02010600030101010101" pitchFamily="2" charset="-122"/>
              </a:rPr>
              <a:t>2</a:t>
            </a:r>
            <a:r>
              <a:rPr lang="zh-CN" altLang="en-US" dirty="0">
                <a:solidFill>
                  <a:schemeClr val="tx1"/>
                </a:solidFill>
                <a:latin typeface="宋体" panose="02010600030101010101" pitchFamily="2" charset="-122"/>
              </a:rPr>
              <a:t>）存储键保护</a:t>
            </a:r>
          </a:p>
          <a:p>
            <a:pPr algn="just" eaLnBrk="1" hangingPunct="1">
              <a:lnSpc>
                <a:spcPts val="4300"/>
              </a:lnSpc>
              <a:spcBef>
                <a:spcPct val="0"/>
              </a:spcBef>
              <a:buFontTx/>
              <a:buNone/>
            </a:pPr>
            <a:r>
              <a:rPr lang="zh-CN" altLang="en-US" sz="2000" dirty="0">
                <a:solidFill>
                  <a:schemeClr val="tx1"/>
                </a:solidFill>
                <a:latin typeface="宋体" panose="02010600030101010101" pitchFamily="2" charset="-122"/>
              </a:rPr>
              <a:t>    通过保护键匹配来判断存储访问方式是否合法。对每个内存区域指定一个键值和若干禁止的访问方式，在进程中也指定键值；如果访问时内存区域和进程键值不匹配而且是被禁止的访问方式，则发生操作越权错误。</a:t>
            </a:r>
          </a:p>
        </p:txBody>
      </p:sp>
      <p:grpSp>
        <p:nvGrpSpPr>
          <p:cNvPr id="22" name="组合 1">
            <a:extLst>
              <a:ext uri="{FF2B5EF4-FFF2-40B4-BE49-F238E27FC236}">
                <a16:creationId xmlns:a16="http://schemas.microsoft.com/office/drawing/2014/main" id="{1A482F54-32C5-5644-B063-C204894A8EDC}"/>
              </a:ext>
            </a:extLst>
          </p:cNvPr>
          <p:cNvGrpSpPr/>
          <p:nvPr/>
        </p:nvGrpSpPr>
        <p:grpSpPr>
          <a:xfrm>
            <a:off x="0" y="4272921"/>
            <a:ext cx="1266290" cy="554804"/>
            <a:chOff x="737171" y="5636574"/>
            <a:chExt cx="1266290" cy="554804"/>
          </a:xfrm>
        </p:grpSpPr>
        <p:sp>
          <p:nvSpPr>
            <p:cNvPr id="23" name="圆角矩形 3">
              <a:extLst>
                <a:ext uri="{FF2B5EF4-FFF2-40B4-BE49-F238E27FC236}">
                  <a16:creationId xmlns:a16="http://schemas.microsoft.com/office/drawing/2014/main" id="{977C1520-9B95-4B45-9E92-B9636322E138}"/>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4" name="文本框 4">
              <a:extLst>
                <a:ext uri="{FF2B5EF4-FFF2-40B4-BE49-F238E27FC236}">
                  <a16:creationId xmlns:a16="http://schemas.microsoft.com/office/drawing/2014/main" id="{EAECB576-72C4-E846-BC1E-D04DE7A9C9BC}"/>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内存</a:t>
              </a: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保护</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25" name="组合 9">
            <a:extLst>
              <a:ext uri="{FF2B5EF4-FFF2-40B4-BE49-F238E27FC236}">
                <a16:creationId xmlns:a16="http://schemas.microsoft.com/office/drawing/2014/main" id="{C445474A-F8AB-E24C-95C2-D9B1A68D60B9}"/>
              </a:ext>
            </a:extLst>
          </p:cNvPr>
          <p:cNvGrpSpPr/>
          <p:nvPr/>
        </p:nvGrpSpPr>
        <p:grpSpPr>
          <a:xfrm>
            <a:off x="1547664" y="3266880"/>
            <a:ext cx="1266290" cy="554804"/>
            <a:chOff x="737171" y="5636574"/>
            <a:chExt cx="1266290" cy="554804"/>
          </a:xfrm>
        </p:grpSpPr>
        <p:sp>
          <p:nvSpPr>
            <p:cNvPr id="26" name="圆角矩形 10">
              <a:extLst>
                <a:ext uri="{FF2B5EF4-FFF2-40B4-BE49-F238E27FC236}">
                  <a16:creationId xmlns:a16="http://schemas.microsoft.com/office/drawing/2014/main" id="{CABFFB5F-9402-4344-B6F4-0EE5EEC93839}"/>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7" name="文本框 11">
              <a:extLst>
                <a:ext uri="{FF2B5EF4-FFF2-40B4-BE49-F238E27FC236}">
                  <a16:creationId xmlns:a16="http://schemas.microsoft.com/office/drawing/2014/main" id="{B7996785-B05A-1249-99C9-1DBC55D4B9E7}"/>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保护内容</a:t>
              </a:r>
            </a:p>
          </p:txBody>
        </p:sp>
      </p:grpSp>
      <p:grpSp>
        <p:nvGrpSpPr>
          <p:cNvPr id="28" name="组合 12">
            <a:extLst>
              <a:ext uri="{FF2B5EF4-FFF2-40B4-BE49-F238E27FC236}">
                <a16:creationId xmlns:a16="http://schemas.microsoft.com/office/drawing/2014/main" id="{FE206B00-47C4-8A4D-BA1F-0F03FBC7FEF9}"/>
              </a:ext>
            </a:extLst>
          </p:cNvPr>
          <p:cNvGrpSpPr/>
          <p:nvPr/>
        </p:nvGrpSpPr>
        <p:grpSpPr>
          <a:xfrm>
            <a:off x="1547664" y="4311595"/>
            <a:ext cx="1266290" cy="554804"/>
            <a:chOff x="737171" y="5636574"/>
            <a:chExt cx="1266290" cy="554804"/>
          </a:xfrm>
        </p:grpSpPr>
        <p:sp>
          <p:nvSpPr>
            <p:cNvPr id="29" name="圆角矩形 13">
              <a:extLst>
                <a:ext uri="{FF2B5EF4-FFF2-40B4-BE49-F238E27FC236}">
                  <a16:creationId xmlns:a16="http://schemas.microsoft.com/office/drawing/2014/main" id="{71F60DF4-2067-054E-9480-95FBAA960210}"/>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0" name="文本框 14">
              <a:extLst>
                <a:ext uri="{FF2B5EF4-FFF2-40B4-BE49-F238E27FC236}">
                  <a16:creationId xmlns:a16="http://schemas.microsoft.com/office/drawing/2014/main" id="{949FBEA0-90D6-FE47-8D77-BBBFE0886429}"/>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目的</a:t>
              </a:r>
            </a:p>
          </p:txBody>
        </p:sp>
      </p:grpSp>
      <p:sp>
        <p:nvSpPr>
          <p:cNvPr id="31" name="圆角矩形 18">
            <a:extLst>
              <a:ext uri="{FF2B5EF4-FFF2-40B4-BE49-F238E27FC236}">
                <a16:creationId xmlns:a16="http://schemas.microsoft.com/office/drawing/2014/main" id="{2ACC48FF-2AE8-D346-818F-0D09F860A3DB}"/>
              </a:ext>
            </a:extLst>
          </p:cNvPr>
          <p:cNvSpPr/>
          <p:nvPr/>
        </p:nvSpPr>
        <p:spPr>
          <a:xfrm>
            <a:off x="2813954" y="3226425"/>
            <a:ext cx="6330046" cy="97313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ts val="28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rPr>
              <a:t>保护系统程序区不被用户有意或无意的侵犯</a:t>
            </a:r>
            <a:endParaRPr kumimoji="0" lang="en-US" altLang="zh-CN" sz="16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endParaRPr>
          </a:p>
          <a:p>
            <a:pPr marL="0" marR="0" lvl="0" indent="0" algn="just" defTabSz="914400" eaLnBrk="1" fontAlgn="auto" latinLnBrk="0" hangingPunct="1">
              <a:lnSpc>
                <a:spcPts val="28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rPr>
              <a:t>不允许用户程序读写不属于自己程序的内存空间</a:t>
            </a:r>
            <a:endParaRPr kumimoji="0" lang="zh-CN" altLang="zh-CN" sz="1600" b="0" i="0" u="none" strike="noStrike" kern="100" cap="none" spc="0" normalizeH="0" baseline="0" noProof="0" dirty="0">
              <a:ln>
                <a:noFill/>
              </a:ln>
              <a:solidFill>
                <a:srgbClr val="000000"/>
              </a:solidFill>
              <a:effectLst/>
              <a:uLnTx/>
              <a:uFillTx/>
              <a:latin typeface="微软雅黑"/>
              <a:ea typeface="微软雅黑"/>
              <a:cs typeface="+mn-cs"/>
            </a:endParaRPr>
          </a:p>
        </p:txBody>
      </p:sp>
      <p:sp>
        <p:nvSpPr>
          <p:cNvPr id="32" name="圆角矩形 19">
            <a:extLst>
              <a:ext uri="{FF2B5EF4-FFF2-40B4-BE49-F238E27FC236}">
                <a16:creationId xmlns:a16="http://schemas.microsoft.com/office/drawing/2014/main" id="{E945EC42-00DD-B648-B254-E3DF58526EB2}"/>
              </a:ext>
            </a:extLst>
          </p:cNvPr>
          <p:cNvSpPr/>
          <p:nvPr/>
        </p:nvSpPr>
        <p:spPr>
          <a:xfrm>
            <a:off x="2813954" y="4240016"/>
            <a:ext cx="6330046" cy="1214934"/>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ts val="28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rPr>
              <a:t>多个程序共享内存提供保障，内存中的各道程序，只能访问它自己的区域</a:t>
            </a:r>
            <a:endParaRPr kumimoji="0" lang="en-US"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endParaRPr>
          </a:p>
          <a:p>
            <a:pPr marL="0" marR="0" lvl="0" indent="0" algn="just" defTabSz="914400" eaLnBrk="1" fontAlgn="auto" latinLnBrk="0" hangingPunct="1">
              <a:lnSpc>
                <a:spcPts val="28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rPr>
              <a:t>当一道程序发生错误时，不至于影响其他程序的运行</a:t>
            </a:r>
            <a:endPar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cxnSp>
        <p:nvCxnSpPr>
          <p:cNvPr id="33" name="直线连接符 22">
            <a:extLst>
              <a:ext uri="{FF2B5EF4-FFF2-40B4-BE49-F238E27FC236}">
                <a16:creationId xmlns:a16="http://schemas.microsoft.com/office/drawing/2014/main" id="{0FAD5B34-93C4-F14B-9D7D-38CB4F0CD1D8}"/>
              </a:ext>
            </a:extLst>
          </p:cNvPr>
          <p:cNvCxnSpPr>
            <a:cxnSpLocks/>
            <a:stCxn id="24" idx="3"/>
            <a:endCxn id="30" idx="1"/>
          </p:cNvCxnSpPr>
          <p:nvPr/>
        </p:nvCxnSpPr>
        <p:spPr>
          <a:xfrm>
            <a:off x="1266290" y="4550323"/>
            <a:ext cx="281374" cy="38674"/>
          </a:xfrm>
          <a:prstGeom prst="line">
            <a:avLst/>
          </a:prstGeom>
          <a:noFill/>
          <a:ln w="6350" cap="flat" cmpd="sng" algn="ctr">
            <a:solidFill>
              <a:srgbClr val="9A0001"/>
            </a:solidFill>
            <a:prstDash val="solid"/>
            <a:miter lim="800000"/>
          </a:ln>
          <a:effectLst/>
        </p:spPr>
      </p:cxnSp>
      <p:cxnSp>
        <p:nvCxnSpPr>
          <p:cNvPr id="34" name="直线连接符 24">
            <a:extLst>
              <a:ext uri="{FF2B5EF4-FFF2-40B4-BE49-F238E27FC236}">
                <a16:creationId xmlns:a16="http://schemas.microsoft.com/office/drawing/2014/main" id="{99641215-56C6-CC42-B25F-4CDC639E97F5}"/>
              </a:ext>
            </a:extLst>
          </p:cNvPr>
          <p:cNvCxnSpPr>
            <a:cxnSpLocks/>
            <a:stCxn id="24" idx="3"/>
            <a:endCxn id="27" idx="1"/>
          </p:cNvCxnSpPr>
          <p:nvPr/>
        </p:nvCxnSpPr>
        <p:spPr>
          <a:xfrm flipV="1">
            <a:off x="1266290" y="3544282"/>
            <a:ext cx="281374" cy="1006041"/>
          </a:xfrm>
          <a:prstGeom prst="line">
            <a:avLst/>
          </a:prstGeom>
          <a:noFill/>
          <a:ln w="6350" cap="flat" cmpd="sng" algn="ctr">
            <a:solidFill>
              <a:srgbClr val="9A0001"/>
            </a:solidFill>
            <a:prstDash val="solid"/>
            <a:miter lim="800000"/>
          </a:ln>
          <a:effectLst/>
        </p:spPr>
      </p:cxnSp>
      <p:grpSp>
        <p:nvGrpSpPr>
          <p:cNvPr id="35" name="组合 20">
            <a:extLst>
              <a:ext uri="{FF2B5EF4-FFF2-40B4-BE49-F238E27FC236}">
                <a16:creationId xmlns:a16="http://schemas.microsoft.com/office/drawing/2014/main" id="{32F0CA79-AB73-EF49-B5B1-E6FDBD4709EA}"/>
              </a:ext>
            </a:extLst>
          </p:cNvPr>
          <p:cNvGrpSpPr/>
          <p:nvPr/>
        </p:nvGrpSpPr>
        <p:grpSpPr>
          <a:xfrm>
            <a:off x="1547664" y="5595038"/>
            <a:ext cx="1266290" cy="554804"/>
            <a:chOff x="737171" y="5636574"/>
            <a:chExt cx="1266290" cy="554804"/>
          </a:xfrm>
        </p:grpSpPr>
        <p:sp>
          <p:nvSpPr>
            <p:cNvPr id="36" name="圆角矩形 23">
              <a:extLst>
                <a:ext uri="{FF2B5EF4-FFF2-40B4-BE49-F238E27FC236}">
                  <a16:creationId xmlns:a16="http://schemas.microsoft.com/office/drawing/2014/main" id="{281C1297-D4F9-E243-8913-2E17BF8B7B79}"/>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7" name="文本框 25">
              <a:extLst>
                <a:ext uri="{FF2B5EF4-FFF2-40B4-BE49-F238E27FC236}">
                  <a16:creationId xmlns:a16="http://schemas.microsoft.com/office/drawing/2014/main" id="{90832C17-06C4-384F-BE1F-456D8AC3862C}"/>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方法</a:t>
              </a:r>
            </a:p>
          </p:txBody>
        </p:sp>
      </p:grpSp>
      <p:cxnSp>
        <p:nvCxnSpPr>
          <p:cNvPr id="38" name="直线连接符 26">
            <a:extLst>
              <a:ext uri="{FF2B5EF4-FFF2-40B4-BE49-F238E27FC236}">
                <a16:creationId xmlns:a16="http://schemas.microsoft.com/office/drawing/2014/main" id="{C137F2A7-0D52-9E4A-BE09-BE81397784B5}"/>
              </a:ext>
            </a:extLst>
          </p:cNvPr>
          <p:cNvCxnSpPr>
            <a:cxnSpLocks/>
            <a:stCxn id="24" idx="3"/>
            <a:endCxn id="37" idx="1"/>
          </p:cNvCxnSpPr>
          <p:nvPr/>
        </p:nvCxnSpPr>
        <p:spPr>
          <a:xfrm>
            <a:off x="1266290" y="4550323"/>
            <a:ext cx="281374" cy="1322117"/>
          </a:xfrm>
          <a:prstGeom prst="line">
            <a:avLst/>
          </a:prstGeom>
          <a:noFill/>
          <a:ln w="6350" cap="flat" cmpd="sng" algn="ctr">
            <a:solidFill>
              <a:srgbClr val="9A0001"/>
            </a:solidFill>
            <a:prstDash val="solid"/>
            <a:miter lim="800000"/>
          </a:ln>
          <a:effectLst/>
        </p:spPr>
      </p:cxnSp>
      <p:sp>
        <p:nvSpPr>
          <p:cNvPr id="39" name="圆角矩形 28">
            <a:extLst>
              <a:ext uri="{FF2B5EF4-FFF2-40B4-BE49-F238E27FC236}">
                <a16:creationId xmlns:a16="http://schemas.microsoft.com/office/drawing/2014/main" id="{C199760E-6544-F549-8A8C-5ED22F597601}"/>
              </a:ext>
            </a:extLst>
          </p:cNvPr>
          <p:cNvSpPr/>
          <p:nvPr/>
        </p:nvSpPr>
        <p:spPr>
          <a:xfrm>
            <a:off x="2813954" y="5444536"/>
            <a:ext cx="6330046" cy="1324303"/>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000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mn-cs"/>
              </a:rPr>
              <a:t>地址越界保护</a:t>
            </a:r>
            <a:r>
              <a:rPr kumimoji="0" lang="zh-CN" altLang="en-US" sz="1600" b="0" i="0" u="none" strike="noStrike" kern="1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mn-cs"/>
              </a:rPr>
              <a:t>：</a:t>
            </a: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rPr>
              <a:t>进程在运行时所产生的地址超出其地址空间范围，则发生地址越界</a:t>
            </a:r>
            <a:endParaRPr kumimoji="0" lang="en-US"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endParaRPr>
          </a:p>
          <a:p>
            <a:pPr marL="0" marR="0" lvl="0" indent="0" algn="just" defTabSz="914400" eaLnBrk="1" fontAlgn="auto" latinLnBrk="0" hangingPunct="1">
              <a:lnSpc>
                <a:spcPct val="1000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mn-cs"/>
              </a:rPr>
              <a:t>权限保护</a:t>
            </a:r>
            <a:r>
              <a:rPr kumimoji="0" lang="zh-CN" altLang="en-US" sz="1600" b="0" i="0" u="none" strike="noStrike" kern="1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mn-cs"/>
              </a:rPr>
              <a:t>：</a:t>
            </a: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对多个进程共享的公共区域，每个进程都有自己的访问权限</a:t>
            </a:r>
          </a:p>
        </p:txBody>
      </p:sp>
    </p:spTree>
  </p:cSld>
  <p:clrMapOvr>
    <a:masterClrMapping/>
  </p:clrMapOvr>
  <p:transition>
    <p:random/>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2CDD44E6-F798-844C-A9D9-63A59784BF3D}"/>
              </a:ext>
            </a:extLst>
          </p:cNvPr>
          <p:cNvSpPr>
            <a:spLocks noGrp="1" noChangeArrowheads="1"/>
          </p:cNvSpPr>
          <p:nvPr>
            <p:ph type="body" idx="1"/>
          </p:nvPr>
        </p:nvSpPr>
        <p:spPr>
          <a:xfrm>
            <a:off x="714375" y="1214438"/>
            <a:ext cx="7961313" cy="5470525"/>
          </a:xfrm>
        </p:spPr>
        <p:txBody>
          <a:bodyPr/>
          <a:lstStyle/>
          <a:p>
            <a:pPr marL="0" indent="0" eaLnBrk="1" hangingPunct="1">
              <a:lnSpc>
                <a:spcPts val="3400"/>
              </a:lnSpc>
              <a:spcBef>
                <a:spcPct val="0"/>
              </a:spcBef>
              <a:buFont typeface="Wingdings" pitchFamily="2" charset="2"/>
              <a:buNone/>
            </a:pP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内存空间的扩充</a:t>
            </a: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    实现内存扩充的根本办法是充分利用内存与外存资源，即只将当前需要使用的部分程序和数据放入内存，而将暂不使用的程序和数据存于外存，当需要的时候再交换到内存来。</a:t>
            </a: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控制数据在内、外存之间交换的基本方式：</a:t>
            </a: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）用户程序自己控制方式。</a:t>
            </a:r>
            <a:r>
              <a:rPr lang="zh-CN" altLang="en-US" sz="2000">
                <a:solidFill>
                  <a:schemeClr val="tx1"/>
                </a:solidFill>
                <a:effectLst>
                  <a:outerShdw blurRad="38100" dist="38100" dir="2700000" algn="tl">
                    <a:srgbClr val="FFFFFF"/>
                  </a:outerShdw>
                </a:effectLst>
              </a:rPr>
              <a:t>典型的例子是覆盖。</a:t>
            </a:r>
            <a:endParaRPr lang="zh-CN" altLang="en-US" sz="2000">
              <a:solidFill>
                <a:schemeClr val="tx1"/>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）操作系统控制方式：</a:t>
            </a: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    ① 交换方式：</a:t>
            </a:r>
            <a:r>
              <a:rPr lang="zh-CN" altLang="en-US" sz="2000">
                <a:solidFill>
                  <a:schemeClr val="tx1"/>
                </a:solidFill>
                <a:effectLst>
                  <a:outerShdw blurRad="38100" dist="38100" dir="2700000" algn="tl">
                    <a:srgbClr val="FFFFFF"/>
                  </a:outerShdw>
                </a:effectLst>
              </a:rPr>
              <a:t>利用外存空间，对进程实体的整体或部分交换。</a:t>
            </a:r>
            <a:endParaRPr lang="zh-CN" altLang="en-US" sz="2000">
              <a:solidFill>
                <a:schemeClr val="tx1"/>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    ② 请求调入方式：</a:t>
            </a:r>
            <a:r>
              <a:rPr lang="zh-CN" altLang="en-US" sz="2000">
                <a:solidFill>
                  <a:schemeClr val="tx1"/>
                </a:solidFill>
                <a:effectLst>
                  <a:outerShdw blurRad="38100" dist="38100" dir="2700000" algn="tl">
                    <a:srgbClr val="FFFFFF"/>
                  </a:outerShdw>
                </a:effectLst>
              </a:rPr>
              <a:t>所要访问的程序段或数据段不在内存时，由操作系统自动从外存将所需的程序段和数据段调入内存。</a:t>
            </a:r>
            <a:endParaRPr lang="zh-CN" altLang="en-US" sz="2000">
              <a:solidFill>
                <a:schemeClr val="tx1"/>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    ③ 预调入方式：</a:t>
            </a:r>
            <a:r>
              <a:rPr lang="zh-CN" altLang="en-US" sz="2000">
                <a:solidFill>
                  <a:schemeClr val="tx1"/>
                </a:solidFill>
                <a:effectLst>
                  <a:outerShdw blurRad="38100" dist="38100" dir="2700000" algn="tl">
                    <a:srgbClr val="FFFFFF"/>
                  </a:outerShdw>
                </a:effectLst>
              </a:rPr>
              <a:t>由操作系统预测在不远的将来会访问到哪些程序段和数据段，并在它们被访问之前选择合适的时机将其调入内存。</a:t>
            </a:r>
            <a:endParaRPr lang="zh-CN" altLang="en-US" sz="2000">
              <a:solidFill>
                <a:schemeClr val="tx1"/>
              </a:solidFill>
              <a:effectLst/>
              <a:latin typeface="宋体" panose="02010600030101010101" pitchFamily="2" charset="-122"/>
            </a:endParaRPr>
          </a:p>
        </p:txBody>
      </p:sp>
      <p:sp>
        <p:nvSpPr>
          <p:cNvPr id="52227" name="AutoShape 3">
            <a:extLst>
              <a:ext uri="{FF2B5EF4-FFF2-40B4-BE49-F238E27FC236}">
                <a16:creationId xmlns:a16="http://schemas.microsoft.com/office/drawing/2014/main" id="{AFB03A57-16F2-8E41-8707-0BB6261F39D3}"/>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Tree>
  </p:cSld>
  <p:clrMapOvr>
    <a:masterClrMapping/>
  </p:clrMapOvr>
  <p:transition>
    <p:random/>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4">
            <a:extLst>
              <a:ext uri="{FF2B5EF4-FFF2-40B4-BE49-F238E27FC236}">
                <a16:creationId xmlns:a16="http://schemas.microsoft.com/office/drawing/2014/main" id="{E8F934EA-51D1-0F45-97A2-1F2A9F3071DC}"/>
              </a:ext>
            </a:extLst>
          </p:cNvPr>
          <p:cNvGrpSpPr/>
          <p:nvPr/>
        </p:nvGrpSpPr>
        <p:grpSpPr>
          <a:xfrm>
            <a:off x="1380" y="4688081"/>
            <a:ext cx="965390" cy="1241268"/>
            <a:chOff x="737170" y="5636574"/>
            <a:chExt cx="1860277" cy="554804"/>
          </a:xfrm>
        </p:grpSpPr>
        <p:sp>
          <p:nvSpPr>
            <p:cNvPr id="3" name="圆角矩形 5">
              <a:extLst>
                <a:ext uri="{FF2B5EF4-FFF2-40B4-BE49-F238E27FC236}">
                  <a16:creationId xmlns:a16="http://schemas.microsoft.com/office/drawing/2014/main" id="{9DD33DF5-9226-5944-A77F-9ACDA92B9F8B}"/>
                </a:ext>
              </a:extLst>
            </p:cNvPr>
            <p:cNvSpPr/>
            <p:nvPr/>
          </p:nvSpPr>
          <p:spPr>
            <a:xfrm>
              <a:off x="737171" y="5636574"/>
              <a:ext cx="1860276"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4" name="文本框 6">
              <a:extLst>
                <a:ext uri="{FF2B5EF4-FFF2-40B4-BE49-F238E27FC236}">
                  <a16:creationId xmlns:a16="http://schemas.microsoft.com/office/drawing/2014/main" id="{A4B6092E-9B96-9A43-A137-61D59E08FD53}"/>
                </a:ext>
              </a:extLst>
            </p:cNvPr>
            <p:cNvSpPr txBox="1"/>
            <p:nvPr/>
          </p:nvSpPr>
          <p:spPr>
            <a:xfrm>
              <a:off x="737170" y="5713921"/>
              <a:ext cx="1860275"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扩充</a:t>
              </a:r>
              <a:r>
                <a:rPr kumimoji="0" lang="zh-CN"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内存</a:t>
              </a: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容量</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5" name="组合 8">
            <a:extLst>
              <a:ext uri="{FF2B5EF4-FFF2-40B4-BE49-F238E27FC236}">
                <a16:creationId xmlns:a16="http://schemas.microsoft.com/office/drawing/2014/main" id="{EA49B197-1A1A-6E47-906C-9D4F08D76373}"/>
              </a:ext>
            </a:extLst>
          </p:cNvPr>
          <p:cNvGrpSpPr/>
          <p:nvPr/>
        </p:nvGrpSpPr>
        <p:grpSpPr>
          <a:xfrm>
            <a:off x="1437506" y="3899348"/>
            <a:ext cx="1266290" cy="554804"/>
            <a:chOff x="737171" y="5636574"/>
            <a:chExt cx="1266290" cy="554804"/>
          </a:xfrm>
        </p:grpSpPr>
        <p:sp>
          <p:nvSpPr>
            <p:cNvPr id="6" name="圆角矩形 9">
              <a:extLst>
                <a:ext uri="{FF2B5EF4-FFF2-40B4-BE49-F238E27FC236}">
                  <a16:creationId xmlns:a16="http://schemas.microsoft.com/office/drawing/2014/main" id="{A74F49F7-0DEE-2048-81C8-E7B02A28D76F}"/>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7" name="文本框 10">
              <a:extLst>
                <a:ext uri="{FF2B5EF4-FFF2-40B4-BE49-F238E27FC236}">
                  <a16:creationId xmlns:a16="http://schemas.microsoft.com/office/drawing/2014/main" id="{9783A33C-0712-044D-A506-12C9BAA68B7A}"/>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目的</a:t>
              </a:r>
            </a:p>
          </p:txBody>
        </p:sp>
      </p:grpSp>
      <p:grpSp>
        <p:nvGrpSpPr>
          <p:cNvPr id="8" name="组合 11">
            <a:extLst>
              <a:ext uri="{FF2B5EF4-FFF2-40B4-BE49-F238E27FC236}">
                <a16:creationId xmlns:a16="http://schemas.microsoft.com/office/drawing/2014/main" id="{4A95B6B2-D2FB-0344-8092-55BE668FB91E}"/>
              </a:ext>
            </a:extLst>
          </p:cNvPr>
          <p:cNvGrpSpPr/>
          <p:nvPr/>
        </p:nvGrpSpPr>
        <p:grpSpPr>
          <a:xfrm>
            <a:off x="1437506" y="5055616"/>
            <a:ext cx="1266290" cy="554804"/>
            <a:chOff x="737171" y="5636574"/>
            <a:chExt cx="1266290" cy="554804"/>
          </a:xfrm>
        </p:grpSpPr>
        <p:sp>
          <p:nvSpPr>
            <p:cNvPr id="9" name="圆角矩形 12">
              <a:extLst>
                <a:ext uri="{FF2B5EF4-FFF2-40B4-BE49-F238E27FC236}">
                  <a16:creationId xmlns:a16="http://schemas.microsoft.com/office/drawing/2014/main" id="{D83AD7A3-1732-3B4F-9DC2-700D51E4C5D0}"/>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0" name="文本框 13">
              <a:extLst>
                <a:ext uri="{FF2B5EF4-FFF2-40B4-BE49-F238E27FC236}">
                  <a16:creationId xmlns:a16="http://schemas.microsoft.com/office/drawing/2014/main" id="{FFC251B9-621C-DC44-B66F-E71562174B4F}"/>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实现</a:t>
              </a:r>
            </a:p>
          </p:txBody>
        </p:sp>
      </p:grpSp>
      <p:cxnSp>
        <p:nvCxnSpPr>
          <p:cNvPr id="11" name="直线连接符 14">
            <a:extLst>
              <a:ext uri="{FF2B5EF4-FFF2-40B4-BE49-F238E27FC236}">
                <a16:creationId xmlns:a16="http://schemas.microsoft.com/office/drawing/2014/main" id="{0E633F21-6BB7-414D-9757-E2D777C7797D}"/>
              </a:ext>
            </a:extLst>
          </p:cNvPr>
          <p:cNvCxnSpPr>
            <a:cxnSpLocks/>
            <a:stCxn id="4" idx="3"/>
          </p:cNvCxnSpPr>
          <p:nvPr/>
        </p:nvCxnSpPr>
        <p:spPr>
          <a:xfrm flipV="1">
            <a:off x="966769" y="5307344"/>
            <a:ext cx="726290" cy="1371"/>
          </a:xfrm>
          <a:prstGeom prst="line">
            <a:avLst/>
          </a:prstGeom>
          <a:noFill/>
          <a:ln w="6350" cap="flat" cmpd="sng" algn="ctr">
            <a:solidFill>
              <a:srgbClr val="9A0001"/>
            </a:solidFill>
            <a:prstDash val="solid"/>
            <a:miter lim="800000"/>
          </a:ln>
          <a:effectLst/>
        </p:spPr>
      </p:cxnSp>
      <p:cxnSp>
        <p:nvCxnSpPr>
          <p:cNvPr id="12" name="直线连接符 15">
            <a:extLst>
              <a:ext uri="{FF2B5EF4-FFF2-40B4-BE49-F238E27FC236}">
                <a16:creationId xmlns:a16="http://schemas.microsoft.com/office/drawing/2014/main" id="{7F88342E-D06E-E542-A74E-0803B9C1E076}"/>
              </a:ext>
            </a:extLst>
          </p:cNvPr>
          <p:cNvCxnSpPr>
            <a:cxnSpLocks/>
          </p:cNvCxnSpPr>
          <p:nvPr/>
        </p:nvCxnSpPr>
        <p:spPr>
          <a:xfrm flipV="1">
            <a:off x="924029" y="4014695"/>
            <a:ext cx="965389" cy="1292649"/>
          </a:xfrm>
          <a:prstGeom prst="line">
            <a:avLst/>
          </a:prstGeom>
          <a:noFill/>
          <a:ln w="6350" cap="flat" cmpd="sng" algn="ctr">
            <a:solidFill>
              <a:srgbClr val="9A0001"/>
            </a:solidFill>
            <a:prstDash val="solid"/>
            <a:miter lim="800000"/>
          </a:ln>
          <a:effectLst/>
        </p:spPr>
      </p:cxnSp>
      <p:grpSp>
        <p:nvGrpSpPr>
          <p:cNvPr id="13" name="组合 16">
            <a:extLst>
              <a:ext uri="{FF2B5EF4-FFF2-40B4-BE49-F238E27FC236}">
                <a16:creationId xmlns:a16="http://schemas.microsoft.com/office/drawing/2014/main" id="{218791F4-994B-6C43-BC7D-312A4CF93E54}"/>
              </a:ext>
            </a:extLst>
          </p:cNvPr>
          <p:cNvGrpSpPr/>
          <p:nvPr/>
        </p:nvGrpSpPr>
        <p:grpSpPr>
          <a:xfrm>
            <a:off x="1437506" y="6160776"/>
            <a:ext cx="1266290" cy="554804"/>
            <a:chOff x="737171" y="5636574"/>
            <a:chExt cx="1266290" cy="554804"/>
          </a:xfrm>
        </p:grpSpPr>
        <p:sp>
          <p:nvSpPr>
            <p:cNvPr id="14" name="圆角矩形 17">
              <a:extLst>
                <a:ext uri="{FF2B5EF4-FFF2-40B4-BE49-F238E27FC236}">
                  <a16:creationId xmlns:a16="http://schemas.microsoft.com/office/drawing/2014/main" id="{BCF382A5-C356-DE40-A54A-90A4822AD446}"/>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5" name="文本框 18">
              <a:extLst>
                <a:ext uri="{FF2B5EF4-FFF2-40B4-BE49-F238E27FC236}">
                  <a16:creationId xmlns:a16="http://schemas.microsoft.com/office/drawing/2014/main" id="{72342752-8126-F94E-ADB5-450A5A2D70B2}"/>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意义</a:t>
              </a:r>
            </a:p>
          </p:txBody>
        </p:sp>
      </p:grpSp>
      <p:cxnSp>
        <p:nvCxnSpPr>
          <p:cNvPr id="16" name="直线连接符 19">
            <a:extLst>
              <a:ext uri="{FF2B5EF4-FFF2-40B4-BE49-F238E27FC236}">
                <a16:creationId xmlns:a16="http://schemas.microsoft.com/office/drawing/2014/main" id="{2D50FDDD-284A-884C-B762-33D02B39CD95}"/>
              </a:ext>
            </a:extLst>
          </p:cNvPr>
          <p:cNvCxnSpPr>
            <a:cxnSpLocks/>
            <a:endCxn id="15" idx="1"/>
          </p:cNvCxnSpPr>
          <p:nvPr/>
        </p:nvCxnSpPr>
        <p:spPr>
          <a:xfrm>
            <a:off x="924028" y="5307344"/>
            <a:ext cx="513478" cy="1130834"/>
          </a:xfrm>
          <a:prstGeom prst="line">
            <a:avLst/>
          </a:prstGeom>
          <a:noFill/>
          <a:ln w="6350" cap="flat" cmpd="sng" algn="ctr">
            <a:solidFill>
              <a:srgbClr val="9A0001"/>
            </a:solidFill>
            <a:prstDash val="solid"/>
            <a:miter lim="800000"/>
          </a:ln>
          <a:effectLst/>
        </p:spPr>
      </p:cxnSp>
      <p:sp>
        <p:nvSpPr>
          <p:cNvPr id="17" name="圆角矩形 32">
            <a:extLst>
              <a:ext uri="{FF2B5EF4-FFF2-40B4-BE49-F238E27FC236}">
                <a16:creationId xmlns:a16="http://schemas.microsoft.com/office/drawing/2014/main" id="{C5FBFFE1-DCFA-524D-925A-8D2F38D4F984}"/>
              </a:ext>
            </a:extLst>
          </p:cNvPr>
          <p:cNvSpPr/>
          <p:nvPr/>
        </p:nvSpPr>
        <p:spPr>
          <a:xfrm>
            <a:off x="2778132" y="3521397"/>
            <a:ext cx="6370400" cy="1292648"/>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ts val="28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用户在编制程序时，通常不受内存容量限制，实际运行时受制于具体的物理计算机平台。操作系统要采用一定技术来“扩充”内存的容量，使用户得到比物理内存容量大得多的内存空间</a:t>
            </a:r>
          </a:p>
        </p:txBody>
      </p:sp>
      <p:sp>
        <p:nvSpPr>
          <p:cNvPr id="18" name="圆角矩形 33">
            <a:extLst>
              <a:ext uri="{FF2B5EF4-FFF2-40B4-BE49-F238E27FC236}">
                <a16:creationId xmlns:a16="http://schemas.microsoft.com/office/drawing/2014/main" id="{D07A6CBE-BDB4-F748-913C-CA27E988C1F6}"/>
              </a:ext>
            </a:extLst>
          </p:cNvPr>
          <p:cNvSpPr/>
          <p:nvPr/>
        </p:nvSpPr>
        <p:spPr>
          <a:xfrm>
            <a:off x="2774979" y="4817362"/>
            <a:ext cx="6370400" cy="97313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000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在硬件支持下，软件、硬件相互协作，将内存和外存结合起来统一使用</a:t>
            </a:r>
            <a:endParaRPr kumimoji="0" lang="zh-CN" altLang="zh-CN" sz="1600" b="0" i="0" u="none" strike="noStrike" kern="100" cap="none" spc="0" normalizeH="0" baseline="0" noProof="0" dirty="0">
              <a:ln>
                <a:noFill/>
              </a:ln>
              <a:solidFill>
                <a:srgbClr val="000000"/>
              </a:solidFill>
              <a:effectLst/>
              <a:uLnTx/>
              <a:uFillTx/>
              <a:latin typeface="微软雅黑"/>
              <a:ea typeface="微软雅黑"/>
              <a:cs typeface="+mn-cs"/>
            </a:endParaRPr>
          </a:p>
        </p:txBody>
      </p:sp>
      <p:sp>
        <p:nvSpPr>
          <p:cNvPr id="19" name="圆角矩形 34">
            <a:extLst>
              <a:ext uri="{FF2B5EF4-FFF2-40B4-BE49-F238E27FC236}">
                <a16:creationId xmlns:a16="http://schemas.microsoft.com/office/drawing/2014/main" id="{1F5ACAAC-85F1-5A4E-93EA-361EC7109EE4}"/>
              </a:ext>
            </a:extLst>
          </p:cNvPr>
          <p:cNvSpPr/>
          <p:nvPr/>
        </p:nvSpPr>
        <p:spPr>
          <a:xfrm>
            <a:off x="2774979" y="5822157"/>
            <a:ext cx="6370400" cy="97313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通过这种方法扩充内存，使用户在编制程序时不受内存限制</a:t>
            </a:r>
            <a:endParaRPr kumimoji="0" lang="en-US"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6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借助虚拟存储技术或其他交换技术，达到在逻辑上扩充内存容量</a:t>
            </a:r>
          </a:p>
        </p:txBody>
      </p:sp>
      <p:sp>
        <p:nvSpPr>
          <p:cNvPr id="20" name="AutoShape 3">
            <a:extLst>
              <a:ext uri="{FF2B5EF4-FFF2-40B4-BE49-F238E27FC236}">
                <a16:creationId xmlns:a16="http://schemas.microsoft.com/office/drawing/2014/main" id="{00E3F1A6-9C5A-514A-9F3B-5DF246F9FE7A}"/>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4.2 存储器及存储管理的基本功能</a:t>
            </a:r>
          </a:p>
        </p:txBody>
      </p:sp>
      <p:sp>
        <p:nvSpPr>
          <p:cNvPr id="21" name="Rectangle 20">
            <a:extLst>
              <a:ext uri="{FF2B5EF4-FFF2-40B4-BE49-F238E27FC236}">
                <a16:creationId xmlns:a16="http://schemas.microsoft.com/office/drawing/2014/main" id="{1A4C154D-1A94-B243-ADC3-268ACE5D60B3}"/>
              </a:ext>
            </a:extLst>
          </p:cNvPr>
          <p:cNvSpPr/>
          <p:nvPr/>
        </p:nvSpPr>
        <p:spPr>
          <a:xfrm>
            <a:off x="26971" y="1259736"/>
            <a:ext cx="9124714" cy="2479781"/>
          </a:xfrm>
          <a:prstGeom prst="rect">
            <a:avLst/>
          </a:prstGeom>
        </p:spPr>
        <p:txBody>
          <a:bodyPr wrap="square">
            <a:spAutoFit/>
          </a:bodyPr>
          <a:lstStyle/>
          <a:p>
            <a:pPr lvl="0" eaLnBrk="1" hangingPunct="1">
              <a:lnSpc>
                <a:spcPct val="135000"/>
              </a:lnSpc>
              <a:spcBef>
                <a:spcPct val="20000"/>
              </a:spcBef>
              <a:buClr>
                <a:srgbClr val="FFFFFF"/>
              </a:buClr>
            </a:pPr>
            <a:r>
              <a:rPr lang="zh-CN" altLang="en-US" sz="1600" b="0" dirty="0">
                <a:solidFill>
                  <a:srgbClr val="000000"/>
                </a:solidFill>
                <a:latin typeface="Calibri"/>
                <a:ea typeface="宋体"/>
              </a:rPr>
              <a:t>内存的扩充是存储管理中非常重要的功能。随着计算机应用的不断深入，内存容量的不足成为一个不可避免的问题，</a:t>
            </a:r>
            <a:r>
              <a:rPr lang="zh-CN" altLang="en-US" sz="1600" dirty="0">
                <a:solidFill>
                  <a:srgbClr val="FF3300"/>
                </a:solidFill>
                <a:latin typeface="Calibri"/>
                <a:ea typeface="方正粗黑宋简体" panose="02000000000000000000" pitchFamily="2" charset="-122"/>
              </a:rPr>
              <a:t>增添更多的内存条不一定能解决所有问题</a:t>
            </a:r>
            <a:r>
              <a:rPr lang="zh-CN" altLang="en-US" sz="1600" b="0" dirty="0">
                <a:solidFill>
                  <a:srgbClr val="000000"/>
                </a:solidFill>
                <a:latin typeface="Calibri"/>
                <a:ea typeface="宋体"/>
              </a:rPr>
              <a:t>。</a:t>
            </a:r>
            <a:r>
              <a:rPr lang="zh-CN" altLang="en-US" sz="1600" b="0" dirty="0">
                <a:solidFill>
                  <a:srgbClr val="000000"/>
                </a:solidFill>
                <a:latin typeface="Calibri"/>
                <a:ea typeface="方正粗黑宋简体" panose="02000000000000000000" pitchFamily="2" charset="-122"/>
              </a:rPr>
              <a:t>现代操作系统通过</a:t>
            </a:r>
            <a:r>
              <a:rPr lang="zh-CN" altLang="en-US" sz="1600" b="0" u="sng" dirty="0">
                <a:solidFill>
                  <a:srgbClr val="000000"/>
                </a:solidFill>
                <a:latin typeface="Calibri"/>
                <a:ea typeface="方正粗黑宋简体" panose="02000000000000000000" pitchFamily="2" charset="-122"/>
              </a:rPr>
              <a:t>软件的方法</a:t>
            </a:r>
            <a:r>
              <a:rPr lang="zh-CN" altLang="en-US" sz="1600" b="0" dirty="0">
                <a:solidFill>
                  <a:srgbClr val="000000"/>
                </a:solidFill>
                <a:latin typeface="Calibri"/>
                <a:ea typeface="方正粗黑宋简体" panose="02000000000000000000" pitchFamily="2" charset="-122"/>
              </a:rPr>
              <a:t>来对内存进行扩充</a:t>
            </a:r>
            <a:r>
              <a:rPr lang="zh-CN" altLang="en-US" sz="1600" b="0" dirty="0">
                <a:solidFill>
                  <a:srgbClr val="000000"/>
                </a:solidFill>
                <a:latin typeface="Calibri"/>
                <a:ea typeface="宋体"/>
              </a:rPr>
              <a:t>，</a:t>
            </a:r>
            <a:r>
              <a:rPr lang="zh-CN" altLang="en-US" sz="1600" dirty="0">
                <a:solidFill>
                  <a:srgbClr val="000000"/>
                </a:solidFill>
                <a:latin typeface="Calibri"/>
                <a:ea typeface="华文行楷" panose="02010800040101010101" pitchFamily="2" charset="-122"/>
              </a:rPr>
              <a:t>也就是说内存的实际容量并没有改变，</a:t>
            </a:r>
            <a:r>
              <a:rPr lang="zh-CN" altLang="en-US" sz="1800" u="sng" dirty="0">
                <a:solidFill>
                  <a:srgbClr val="0000FF"/>
                </a:solidFill>
                <a:latin typeface="Calibri"/>
                <a:ea typeface="华文行楷" panose="02010800040101010101" pitchFamily="2" charset="-122"/>
              </a:rPr>
              <a:t>只是在逻辑上扩充了内存的容量</a:t>
            </a:r>
            <a:r>
              <a:rPr lang="zh-CN" altLang="en-US" sz="1600" dirty="0">
                <a:solidFill>
                  <a:srgbClr val="000000"/>
                </a:solidFill>
                <a:latin typeface="Calibri"/>
                <a:ea typeface="华文行楷" panose="02010800040101010101" pitchFamily="2" charset="-122"/>
              </a:rPr>
              <a:t>，给用户的感觉是在使用一个容量更大的内存空间</a:t>
            </a:r>
            <a:r>
              <a:rPr lang="zh-CN" altLang="en-US" sz="1600" b="0" dirty="0">
                <a:solidFill>
                  <a:srgbClr val="000000"/>
                </a:solidFill>
                <a:latin typeface="Calibri"/>
                <a:ea typeface="宋体"/>
              </a:rPr>
              <a:t>，所以</a:t>
            </a:r>
            <a:r>
              <a:rPr lang="zh-CN" altLang="en-US" sz="1600" b="0" dirty="0">
                <a:solidFill>
                  <a:srgbClr val="FF3300"/>
                </a:solidFill>
                <a:latin typeface="Calibri"/>
                <a:ea typeface="方正正粗黑简体" panose="02000000000000000000" pitchFamily="2" charset="-122"/>
              </a:rPr>
              <a:t>也称这种内存的扩充技术为</a:t>
            </a:r>
            <a:r>
              <a:rPr lang="zh-CN" altLang="en-US" sz="1600" u="sng" dirty="0">
                <a:solidFill>
                  <a:srgbClr val="0000FF"/>
                </a:solidFill>
                <a:latin typeface="Calibri"/>
                <a:ea typeface="方正粗黑宋简体" panose="02000000000000000000" pitchFamily="2" charset="-122"/>
              </a:rPr>
              <a:t>逻辑扩充内存技术</a:t>
            </a:r>
            <a:r>
              <a:rPr lang="zh-CN" altLang="en-US" sz="1600" b="0" dirty="0">
                <a:solidFill>
                  <a:srgbClr val="000000"/>
                </a:solidFill>
                <a:latin typeface="Calibri"/>
                <a:ea typeface="宋体"/>
              </a:rPr>
              <a:t>。</a:t>
            </a:r>
            <a:endParaRPr lang="en-US" altLang="zh-CN" sz="1600" b="0" dirty="0">
              <a:solidFill>
                <a:srgbClr val="000000"/>
              </a:solidFill>
              <a:latin typeface="Calibri"/>
              <a:ea typeface="宋体"/>
            </a:endParaRPr>
          </a:p>
          <a:p>
            <a:pPr lvl="0" eaLnBrk="1" hangingPunct="1">
              <a:lnSpc>
                <a:spcPct val="135000"/>
              </a:lnSpc>
              <a:spcBef>
                <a:spcPct val="20000"/>
              </a:spcBef>
              <a:buClr>
                <a:srgbClr val="FFFFFF"/>
              </a:buClr>
            </a:pPr>
            <a:r>
              <a:rPr lang="zh-CN" altLang="en-US" sz="1600" b="0" dirty="0">
                <a:solidFill>
                  <a:srgbClr val="000000"/>
                </a:solidFill>
                <a:latin typeface="Calibri"/>
                <a:ea typeface="宋体"/>
              </a:rPr>
              <a:t>　   </a:t>
            </a:r>
            <a:r>
              <a:rPr lang="zh-CN" altLang="en-US" sz="1600" b="0" dirty="0">
                <a:solidFill>
                  <a:srgbClr val="0000FF"/>
                </a:solidFill>
                <a:latin typeface="Calibri"/>
                <a:ea typeface="方正粗黑宋简体" panose="02000000000000000000" pitchFamily="2" charset="-122"/>
              </a:rPr>
              <a:t>逻辑上扩充内存必须借助外存，</a:t>
            </a:r>
            <a:r>
              <a:rPr lang="zh-CN" altLang="en-US" sz="1600" dirty="0">
                <a:solidFill>
                  <a:srgbClr val="000000"/>
                </a:solidFill>
                <a:latin typeface="Calibri"/>
                <a:ea typeface="方正黑体简体" panose="02010601030101010101" pitchFamily="2" charset="-122"/>
              </a:rPr>
              <a:t>当</a:t>
            </a:r>
            <a:r>
              <a:rPr lang="zh-CN" altLang="en-US" sz="1600" dirty="0">
                <a:solidFill>
                  <a:srgbClr val="FF3300"/>
                </a:solidFill>
                <a:latin typeface="Calibri"/>
                <a:ea typeface="方正黑体简体" panose="02010601030101010101" pitchFamily="2" charset="-122"/>
              </a:rPr>
              <a:t>容量较大</a:t>
            </a:r>
            <a:r>
              <a:rPr lang="zh-CN" altLang="en-US" sz="1600" dirty="0">
                <a:solidFill>
                  <a:srgbClr val="000000"/>
                </a:solidFill>
                <a:latin typeface="Calibri"/>
                <a:ea typeface="方正黑体简体" panose="02010601030101010101" pitchFamily="2" charset="-122"/>
              </a:rPr>
              <a:t>的程序要运行时，只需装入部分程序，其余部分仍在外存中，</a:t>
            </a:r>
            <a:r>
              <a:rPr lang="zh-CN" altLang="en-US" sz="1600" dirty="0">
                <a:solidFill>
                  <a:srgbClr val="FF3300"/>
                </a:solidFill>
                <a:latin typeface="Calibri"/>
                <a:ea typeface="方正黑体简体" panose="02010601030101010101" pitchFamily="2" charset="-122"/>
              </a:rPr>
              <a:t>不</a:t>
            </a:r>
            <a:r>
              <a:rPr lang="zh-CN" altLang="en-US" sz="1600" dirty="0">
                <a:solidFill>
                  <a:srgbClr val="000000"/>
                </a:solidFill>
                <a:latin typeface="Calibri"/>
                <a:ea typeface="方正黑体简体" panose="02010601030101010101" pitchFamily="2" charset="-122"/>
              </a:rPr>
              <a:t>需要时通过移出内存中的程序，装入外存中的部分程序的方法，达到小内存运行大程序的效果。</a:t>
            </a:r>
          </a:p>
        </p:txBody>
      </p:sp>
    </p:spTree>
    <p:extLst>
      <p:ext uri="{BB962C8B-B14F-4D97-AF65-F5344CB8AC3E}">
        <p14:creationId xmlns:p14="http://schemas.microsoft.com/office/powerpoint/2010/main" val="4017704647"/>
      </p:ext>
    </p:extLst>
  </p:cSld>
  <p:clrMapOvr>
    <a:masterClrMapping/>
  </p:clrMapOvr>
  <p:transition>
    <p:random/>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4414C063-1A48-E449-BB0F-0DBFBB2D9D3D}"/>
              </a:ext>
            </a:extLst>
          </p:cNvPr>
          <p:cNvSpPr>
            <a:spLocks noGrp="1" noChangeArrowheads="1"/>
          </p:cNvSpPr>
          <p:nvPr>
            <p:ph type="body" idx="1"/>
          </p:nvPr>
        </p:nvSpPr>
        <p:spPr>
          <a:xfrm>
            <a:off x="0" y="1208733"/>
            <a:ext cx="9144000" cy="2220267"/>
          </a:xfrm>
        </p:spPr>
        <p:txBody>
          <a:bodyPr/>
          <a:lstStyle/>
          <a:p>
            <a:pPr marL="0" indent="0" algn="just" eaLnBrk="1" hangingPunct="1">
              <a:lnSpc>
                <a:spcPct val="150000"/>
              </a:lnSpc>
              <a:spcBef>
                <a:spcPct val="0"/>
              </a:spcBef>
              <a:buNone/>
            </a:pPr>
            <a:r>
              <a:rPr lang="zh-CN" altLang="en-US" sz="2000" kern="1200" dirty="0">
                <a:solidFill>
                  <a:srgbClr val="000000"/>
                </a:solidFill>
                <a:effectLst/>
                <a:latin typeface="Calibri"/>
              </a:rPr>
              <a:t>      分区式存储管理对内存采用连续分配方式，即根据用户程序的需求为其在内存分配一段连续的存储空间。分区式存储管理属于最简单的内存管理方式，主要用于早期的操作系统。 操作系统</a:t>
            </a:r>
            <a:r>
              <a:rPr lang="zh-CN" altLang="en-US" sz="2000" u="sng" kern="1200" dirty="0">
                <a:solidFill>
                  <a:srgbClr val="0000FF"/>
                </a:solidFill>
                <a:effectLst/>
                <a:latin typeface="Calibri"/>
                <a:ea typeface="华文新魏" panose="02010800040101010101" pitchFamily="2" charset="-122"/>
              </a:rPr>
              <a:t>对内存进行分区，规定每个分区只能装入一个作业</a:t>
            </a:r>
            <a:r>
              <a:rPr lang="zh-CN" altLang="en-US" sz="2000" kern="1200" dirty="0">
                <a:solidFill>
                  <a:srgbClr val="000000"/>
                </a:solidFill>
                <a:effectLst/>
                <a:latin typeface="Calibri"/>
              </a:rPr>
              <a:t>，属于连续存储管理</a:t>
            </a:r>
            <a:r>
              <a:rPr lang="zh-CN" altLang="en-US" sz="2000" b="0" kern="1200" dirty="0">
                <a:solidFill>
                  <a:srgbClr val="000000"/>
                </a:solidFill>
                <a:effectLst/>
                <a:latin typeface="Calibri"/>
              </a:rPr>
              <a:t>。</a:t>
            </a:r>
            <a:r>
              <a:rPr lang="zh-CN" altLang="en-US" sz="2000" kern="1200" dirty="0">
                <a:solidFill>
                  <a:srgbClr val="000000"/>
                </a:solidFill>
                <a:effectLst/>
                <a:latin typeface="Calibri"/>
              </a:rPr>
              <a:t>分区式存储管理又分为</a:t>
            </a:r>
            <a:r>
              <a:rPr lang="zh-CN" altLang="en-US" sz="2000" kern="1200" dirty="0">
                <a:solidFill>
                  <a:srgbClr val="FF3300"/>
                </a:solidFill>
                <a:effectLst/>
                <a:latin typeface="Calibri"/>
                <a:ea typeface="方正粗黑宋简体" panose="02000000000000000000" pitchFamily="2" charset="-122"/>
              </a:rPr>
              <a:t>单一连续区</a:t>
            </a:r>
            <a:r>
              <a:rPr lang="zh-CN" altLang="en-US" sz="2000" kern="1200" dirty="0">
                <a:solidFill>
                  <a:srgbClr val="000000"/>
                </a:solidFill>
                <a:effectLst/>
                <a:latin typeface="Calibri"/>
              </a:rPr>
              <a:t>、</a:t>
            </a:r>
            <a:r>
              <a:rPr lang="zh-CN" altLang="en-US" sz="2000" kern="1200" dirty="0">
                <a:solidFill>
                  <a:srgbClr val="FF3300"/>
                </a:solidFill>
                <a:effectLst/>
                <a:latin typeface="Calibri"/>
                <a:ea typeface="方正粗黑宋简体" panose="02000000000000000000" pitchFamily="2" charset="-122"/>
              </a:rPr>
              <a:t>固定分区</a:t>
            </a:r>
            <a:r>
              <a:rPr lang="zh-CN" altLang="en-US" sz="2000" kern="1200" dirty="0">
                <a:solidFill>
                  <a:srgbClr val="000000"/>
                </a:solidFill>
                <a:effectLst/>
                <a:latin typeface="Calibri"/>
              </a:rPr>
              <a:t>和</a:t>
            </a:r>
            <a:r>
              <a:rPr lang="zh-CN" altLang="en-US" sz="2000" kern="1200" dirty="0">
                <a:solidFill>
                  <a:srgbClr val="FF3300"/>
                </a:solidFill>
                <a:effectLst/>
                <a:latin typeface="Calibri"/>
                <a:ea typeface="方正粗黑宋简体" panose="02000000000000000000" pitchFamily="2" charset="-122"/>
              </a:rPr>
              <a:t>可变分区</a:t>
            </a:r>
            <a:r>
              <a:rPr lang="zh-CN" altLang="en-US" sz="2000" kern="1200" dirty="0">
                <a:solidFill>
                  <a:srgbClr val="000000"/>
                </a:solidFill>
                <a:effectLst/>
                <a:latin typeface="Calibri"/>
              </a:rPr>
              <a:t>三种存储管理。</a:t>
            </a:r>
            <a:endParaRPr lang="en-US" altLang="zh-CN" sz="2000" dirty="0">
              <a:solidFill>
                <a:schemeClr val="tx1"/>
              </a:solidFill>
              <a:effectLst/>
              <a:latin typeface="宋体" panose="02010600030101010101" pitchFamily="2" charset="-122"/>
            </a:endParaRPr>
          </a:p>
        </p:txBody>
      </p:sp>
      <p:sp>
        <p:nvSpPr>
          <p:cNvPr id="53251" name="AutoShape 3">
            <a:extLst>
              <a:ext uri="{FF2B5EF4-FFF2-40B4-BE49-F238E27FC236}">
                <a16:creationId xmlns:a16="http://schemas.microsoft.com/office/drawing/2014/main" id="{1070605F-075C-BA4D-8A92-D5BFF8A4DBEF}"/>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4.3 分区式存储管理</a:t>
            </a:r>
          </a:p>
        </p:txBody>
      </p:sp>
      <p:grpSp>
        <p:nvGrpSpPr>
          <p:cNvPr id="96" name="组合 4">
            <a:extLst>
              <a:ext uri="{FF2B5EF4-FFF2-40B4-BE49-F238E27FC236}">
                <a16:creationId xmlns:a16="http://schemas.microsoft.com/office/drawing/2014/main" id="{813F8B1A-E2B8-6849-8F5C-D126D3A36B30}"/>
              </a:ext>
            </a:extLst>
          </p:cNvPr>
          <p:cNvGrpSpPr/>
          <p:nvPr/>
        </p:nvGrpSpPr>
        <p:grpSpPr>
          <a:xfrm>
            <a:off x="29246" y="4621703"/>
            <a:ext cx="1002420" cy="997892"/>
            <a:chOff x="737171" y="5636574"/>
            <a:chExt cx="1266290" cy="554804"/>
          </a:xfrm>
        </p:grpSpPr>
        <p:sp>
          <p:nvSpPr>
            <p:cNvPr id="97" name="圆角矩形 5">
              <a:extLst>
                <a:ext uri="{FF2B5EF4-FFF2-40B4-BE49-F238E27FC236}">
                  <a16:creationId xmlns:a16="http://schemas.microsoft.com/office/drawing/2014/main" id="{26ED62D8-D8BF-0C4B-959E-1C9B79CCB989}"/>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98" name="文本框 6">
              <a:extLst>
                <a:ext uri="{FF2B5EF4-FFF2-40B4-BE49-F238E27FC236}">
                  <a16:creationId xmlns:a16="http://schemas.microsoft.com/office/drawing/2014/main" id="{2EC1620C-9B5A-7045-9B97-CA33ADB0323D}"/>
                </a:ext>
              </a:extLst>
            </p:cNvPr>
            <p:cNvSpPr txBox="1"/>
            <p:nvPr/>
          </p:nvSpPr>
          <p:spPr>
            <a:xfrm>
              <a:off x="737171" y="5713921"/>
              <a:ext cx="1266290" cy="3140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分区</a:t>
              </a:r>
              <a:endParaRPr kumimoji="0" lang="en-US" altLang="zh-CN"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管理</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99" name="组合 8">
            <a:extLst>
              <a:ext uri="{FF2B5EF4-FFF2-40B4-BE49-F238E27FC236}">
                <a16:creationId xmlns:a16="http://schemas.microsoft.com/office/drawing/2014/main" id="{A49BEF6D-2AF9-754F-8212-EEECB15E46D8}"/>
              </a:ext>
            </a:extLst>
          </p:cNvPr>
          <p:cNvGrpSpPr/>
          <p:nvPr/>
        </p:nvGrpSpPr>
        <p:grpSpPr>
          <a:xfrm>
            <a:off x="1564697" y="3788967"/>
            <a:ext cx="1325588" cy="554804"/>
            <a:chOff x="737171" y="5636574"/>
            <a:chExt cx="1266290" cy="554804"/>
          </a:xfrm>
        </p:grpSpPr>
        <p:sp>
          <p:nvSpPr>
            <p:cNvPr id="100" name="圆角矩形 9">
              <a:extLst>
                <a:ext uri="{FF2B5EF4-FFF2-40B4-BE49-F238E27FC236}">
                  <a16:creationId xmlns:a16="http://schemas.microsoft.com/office/drawing/2014/main" id="{67BAB118-D341-4A4C-8CA1-25C4CF0C6F5F}"/>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01" name="文本框 10">
              <a:extLst>
                <a:ext uri="{FF2B5EF4-FFF2-40B4-BE49-F238E27FC236}">
                  <a16:creationId xmlns:a16="http://schemas.microsoft.com/office/drawing/2014/main" id="{AB9CA08B-D94E-BE47-975E-D8281A23D03A}"/>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定义</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102" name="组合 11">
            <a:extLst>
              <a:ext uri="{FF2B5EF4-FFF2-40B4-BE49-F238E27FC236}">
                <a16:creationId xmlns:a16="http://schemas.microsoft.com/office/drawing/2014/main" id="{B2C3A64F-CF64-1F4B-B6A5-4E45B5851E99}"/>
              </a:ext>
            </a:extLst>
          </p:cNvPr>
          <p:cNvGrpSpPr/>
          <p:nvPr/>
        </p:nvGrpSpPr>
        <p:grpSpPr>
          <a:xfrm>
            <a:off x="1564696" y="4936173"/>
            <a:ext cx="1325589" cy="554804"/>
            <a:chOff x="737171" y="5636574"/>
            <a:chExt cx="1266290" cy="554804"/>
          </a:xfrm>
        </p:grpSpPr>
        <p:sp>
          <p:nvSpPr>
            <p:cNvPr id="103" name="圆角矩形 12">
              <a:extLst>
                <a:ext uri="{FF2B5EF4-FFF2-40B4-BE49-F238E27FC236}">
                  <a16:creationId xmlns:a16="http://schemas.microsoft.com/office/drawing/2014/main" id="{C550480B-0903-4C4F-9328-D8CC1672FC0D}"/>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04" name="文本框 13">
              <a:extLst>
                <a:ext uri="{FF2B5EF4-FFF2-40B4-BE49-F238E27FC236}">
                  <a16:creationId xmlns:a16="http://schemas.microsoft.com/office/drawing/2014/main" id="{E41AFD0F-243B-E444-914F-739FC21FE900}"/>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基本思想</a:t>
              </a:r>
            </a:p>
          </p:txBody>
        </p:sp>
      </p:grpSp>
      <p:grpSp>
        <p:nvGrpSpPr>
          <p:cNvPr id="105" name="组合 14">
            <a:extLst>
              <a:ext uri="{FF2B5EF4-FFF2-40B4-BE49-F238E27FC236}">
                <a16:creationId xmlns:a16="http://schemas.microsoft.com/office/drawing/2014/main" id="{E32604D3-37F6-A944-ADC9-F8FB9FC784A4}"/>
              </a:ext>
            </a:extLst>
          </p:cNvPr>
          <p:cNvGrpSpPr/>
          <p:nvPr/>
        </p:nvGrpSpPr>
        <p:grpSpPr>
          <a:xfrm>
            <a:off x="1564697" y="6031323"/>
            <a:ext cx="1325588" cy="554804"/>
            <a:chOff x="737171" y="5636574"/>
            <a:chExt cx="1266290" cy="554804"/>
          </a:xfrm>
        </p:grpSpPr>
        <p:sp>
          <p:nvSpPr>
            <p:cNvPr id="106" name="圆角矩形 15">
              <a:extLst>
                <a:ext uri="{FF2B5EF4-FFF2-40B4-BE49-F238E27FC236}">
                  <a16:creationId xmlns:a16="http://schemas.microsoft.com/office/drawing/2014/main" id="{C3DA9B3D-9FFF-004B-AC20-FBC82EBB5424}"/>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107" name="文本框 16">
              <a:extLst>
                <a:ext uri="{FF2B5EF4-FFF2-40B4-BE49-F238E27FC236}">
                  <a16:creationId xmlns:a16="http://schemas.microsoft.com/office/drawing/2014/main" id="{E5E7BE7A-6D3E-734E-9C82-80D14ECE4054}"/>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方式</a:t>
              </a:r>
            </a:p>
          </p:txBody>
        </p:sp>
      </p:grpSp>
      <p:sp>
        <p:nvSpPr>
          <p:cNvPr id="108" name="圆角矩形 17">
            <a:extLst>
              <a:ext uri="{FF2B5EF4-FFF2-40B4-BE49-F238E27FC236}">
                <a16:creationId xmlns:a16="http://schemas.microsoft.com/office/drawing/2014/main" id="{C32F82E9-0E05-B74E-8197-5AD5A99D2825}"/>
              </a:ext>
            </a:extLst>
          </p:cNvPr>
          <p:cNvSpPr/>
          <p:nvPr/>
        </p:nvSpPr>
        <p:spPr>
          <a:xfrm>
            <a:off x="3196417" y="3528070"/>
            <a:ext cx="5408128" cy="1090227"/>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能满足多道程序运行的最简单的存储管理方案</a:t>
            </a:r>
            <a:endParaRPr kumimoji="0" lang="zh-CN" altLang="en-US" sz="1800" b="0" i="0" u="none" strike="noStrike" kern="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sp>
        <p:nvSpPr>
          <p:cNvPr id="109" name="圆角矩形 18">
            <a:extLst>
              <a:ext uri="{FF2B5EF4-FFF2-40B4-BE49-F238E27FC236}">
                <a16:creationId xmlns:a16="http://schemas.microsoft.com/office/drawing/2014/main" id="{F194E1BF-98A6-1F4E-B132-277EEE2A83C6}"/>
              </a:ext>
            </a:extLst>
          </p:cNvPr>
          <p:cNvSpPr/>
          <p:nvPr/>
        </p:nvSpPr>
        <p:spPr>
          <a:xfrm>
            <a:off x="3196417" y="4642433"/>
            <a:ext cx="5408128" cy="1090227"/>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把内存划分成若干个连续区域，称为分区</a:t>
            </a:r>
            <a:endParaRPr kumimoji="0" lang="en-US"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每个分区装入一个运行程序</a:t>
            </a:r>
          </a:p>
        </p:txBody>
      </p:sp>
      <p:sp>
        <p:nvSpPr>
          <p:cNvPr id="110" name="圆角矩形 19">
            <a:extLst>
              <a:ext uri="{FF2B5EF4-FFF2-40B4-BE49-F238E27FC236}">
                <a16:creationId xmlns:a16="http://schemas.microsoft.com/office/drawing/2014/main" id="{83E35D96-74FA-8349-9FD2-B78D1D25B5DF}"/>
              </a:ext>
            </a:extLst>
          </p:cNvPr>
          <p:cNvSpPr/>
          <p:nvPr/>
        </p:nvSpPr>
        <p:spPr>
          <a:xfrm>
            <a:off x="3181427" y="5763611"/>
            <a:ext cx="5408128" cy="1090227"/>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固定分区</a:t>
            </a:r>
            <a:endParaRPr kumimoji="0" lang="en-US"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p>
            <a:pPr marL="0" marR="0" lvl="0" indent="0" algn="just" defTabSz="914400" eaLnBrk="1" fontAlgn="auto" latinLnBrk="0" hangingPunct="1">
              <a:lnSpc>
                <a:spcPct val="15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可变分区</a:t>
            </a:r>
            <a:endPar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cxnSp>
        <p:nvCxnSpPr>
          <p:cNvPr id="111" name="直线连接符 20">
            <a:extLst>
              <a:ext uri="{FF2B5EF4-FFF2-40B4-BE49-F238E27FC236}">
                <a16:creationId xmlns:a16="http://schemas.microsoft.com/office/drawing/2014/main" id="{F9ADDB6D-536C-6E4C-AE88-A8AA7E3A0310}"/>
              </a:ext>
            </a:extLst>
          </p:cNvPr>
          <p:cNvCxnSpPr>
            <a:cxnSpLocks/>
            <a:stCxn id="98" idx="3"/>
            <a:endCxn id="101" idx="1"/>
          </p:cNvCxnSpPr>
          <p:nvPr/>
        </p:nvCxnSpPr>
        <p:spPr>
          <a:xfrm flipV="1">
            <a:off x="1031666" y="4066369"/>
            <a:ext cx="533031" cy="976861"/>
          </a:xfrm>
          <a:prstGeom prst="line">
            <a:avLst/>
          </a:prstGeom>
          <a:noFill/>
          <a:ln w="6350" cap="flat" cmpd="sng" algn="ctr">
            <a:solidFill>
              <a:srgbClr val="9A0001"/>
            </a:solidFill>
            <a:prstDash val="solid"/>
            <a:miter lim="800000"/>
          </a:ln>
          <a:effectLst/>
        </p:spPr>
      </p:cxnSp>
      <p:cxnSp>
        <p:nvCxnSpPr>
          <p:cNvPr id="112" name="直线连接符 21">
            <a:extLst>
              <a:ext uri="{FF2B5EF4-FFF2-40B4-BE49-F238E27FC236}">
                <a16:creationId xmlns:a16="http://schemas.microsoft.com/office/drawing/2014/main" id="{7A21F00D-5CD7-244A-9557-7597C34EE4A6}"/>
              </a:ext>
            </a:extLst>
          </p:cNvPr>
          <p:cNvCxnSpPr>
            <a:cxnSpLocks/>
            <a:stCxn id="98" idx="3"/>
            <a:endCxn id="107" idx="1"/>
          </p:cNvCxnSpPr>
          <p:nvPr/>
        </p:nvCxnSpPr>
        <p:spPr>
          <a:xfrm>
            <a:off x="1031666" y="5043230"/>
            <a:ext cx="533031" cy="1265495"/>
          </a:xfrm>
          <a:prstGeom prst="line">
            <a:avLst/>
          </a:prstGeom>
          <a:noFill/>
          <a:ln w="6350" cap="flat" cmpd="sng" algn="ctr">
            <a:solidFill>
              <a:srgbClr val="9A0001"/>
            </a:solidFill>
            <a:prstDash val="solid"/>
            <a:miter lim="800000"/>
          </a:ln>
          <a:effectLst/>
        </p:spPr>
      </p:cxnSp>
      <p:cxnSp>
        <p:nvCxnSpPr>
          <p:cNvPr id="113" name="直线连接符 22">
            <a:extLst>
              <a:ext uri="{FF2B5EF4-FFF2-40B4-BE49-F238E27FC236}">
                <a16:creationId xmlns:a16="http://schemas.microsoft.com/office/drawing/2014/main" id="{773B1A25-E8D0-664C-92C4-3D075D57B594}"/>
              </a:ext>
            </a:extLst>
          </p:cNvPr>
          <p:cNvCxnSpPr>
            <a:cxnSpLocks/>
            <a:stCxn id="98" idx="3"/>
            <a:endCxn id="104" idx="1"/>
          </p:cNvCxnSpPr>
          <p:nvPr/>
        </p:nvCxnSpPr>
        <p:spPr>
          <a:xfrm>
            <a:off x="1031666" y="5043230"/>
            <a:ext cx="533030" cy="170345"/>
          </a:xfrm>
          <a:prstGeom prst="line">
            <a:avLst/>
          </a:prstGeom>
          <a:noFill/>
          <a:ln w="6350" cap="flat" cmpd="sng" algn="ctr">
            <a:solidFill>
              <a:srgbClr val="9A0001"/>
            </a:solidFill>
            <a:prstDash val="solid"/>
            <a:miter lim="800000"/>
          </a:ln>
          <a:effectLst/>
        </p:spPr>
      </p:cxnSp>
    </p:spTree>
  </p:cSld>
  <p:clrMapOvr>
    <a:masterClrMapping/>
  </p:clrMapOvr>
  <p:transition>
    <p:random/>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a:extLst>
              <a:ext uri="{FF2B5EF4-FFF2-40B4-BE49-F238E27FC236}">
                <a16:creationId xmlns:a16="http://schemas.microsoft.com/office/drawing/2014/main" id="{B10223F7-EEE6-5F44-AEC5-8018BD3CD8CB}"/>
              </a:ext>
            </a:extLst>
          </p:cNvPr>
          <p:cNvSpPr>
            <a:spLocks noGrp="1" noChangeArrowheads="1"/>
          </p:cNvSpPr>
          <p:nvPr>
            <p:ph type="body" idx="1"/>
          </p:nvPr>
        </p:nvSpPr>
        <p:spPr>
          <a:xfrm>
            <a:off x="571500" y="1214438"/>
            <a:ext cx="8286750" cy="3857625"/>
          </a:xfrm>
        </p:spPr>
        <p:txBody>
          <a:bodyPr/>
          <a:lstStyle/>
          <a:p>
            <a:pPr>
              <a:buFont typeface="Wingdings" pitchFamily="2" charset="2"/>
              <a:buNone/>
            </a:pPr>
            <a:r>
              <a:rPr lang="en-US" altLang="zh-CN" dirty="0">
                <a:solidFill>
                  <a:srgbClr val="FF0000"/>
                </a:solidFill>
                <a:effectLst>
                  <a:outerShdw blurRad="38100" dist="38100" dir="2700000" algn="tl">
                    <a:srgbClr val="FFFFFF"/>
                  </a:outerShdw>
                </a:effectLst>
              </a:rPr>
              <a:t>4.3.1  </a:t>
            </a:r>
            <a:r>
              <a:rPr lang="zh-CN" altLang="en-US" dirty="0">
                <a:solidFill>
                  <a:srgbClr val="FF0000"/>
                </a:solidFill>
                <a:effectLst>
                  <a:outerShdw blurRad="38100" dist="38100" dir="2700000" algn="tl">
                    <a:srgbClr val="FFFFFF"/>
                  </a:outerShdw>
                </a:effectLst>
              </a:rPr>
              <a:t>单一连续分区存储管理</a:t>
            </a:r>
          </a:p>
          <a:p>
            <a:pPr eaLnBrk="1" hangingPunct="1">
              <a:lnSpc>
                <a:spcPct val="150000"/>
              </a:lnSpc>
              <a:spcBef>
                <a:spcPct val="0"/>
              </a:spcBef>
              <a:buFont typeface="Wingdings" pitchFamily="2" charset="2"/>
              <a:buNone/>
            </a:pPr>
            <a:r>
              <a:rPr lang="en-US" altLang="zh-CN" sz="2000" dirty="0">
                <a:solidFill>
                  <a:srgbClr val="FF0000"/>
                </a:solidFill>
                <a:effectLst/>
                <a:latin typeface="宋体" panose="02010600030101010101" pitchFamily="2" charset="-122"/>
              </a:rPr>
              <a:t>1. </a:t>
            </a:r>
            <a:r>
              <a:rPr lang="zh-CN" altLang="en-US" sz="2000" dirty="0">
                <a:solidFill>
                  <a:srgbClr val="FF0000"/>
                </a:solidFill>
                <a:effectLst/>
                <a:latin typeface="宋体" panose="02010600030101010101" pitchFamily="2" charset="-122"/>
              </a:rPr>
              <a:t>实现原理</a:t>
            </a:r>
          </a:p>
          <a:p>
            <a:pPr eaLnBrk="1" hangingPunct="1">
              <a:lnSpc>
                <a:spcPct val="150000"/>
              </a:lnSpc>
              <a:spcBef>
                <a:spcPct val="0"/>
              </a:spcBef>
              <a:buFont typeface="Wingdings" pitchFamily="2" charset="2"/>
              <a:buNone/>
            </a:pPr>
            <a:r>
              <a:rPr lang="zh-CN" altLang="en-US" sz="2000" dirty="0">
                <a:solidFill>
                  <a:srgbClr val="FF0000"/>
                </a:solidFill>
                <a:effectLst/>
                <a:latin typeface="宋体" panose="02010600030101010101" pitchFamily="2" charset="-122"/>
              </a:rPr>
              <a:t>特点：</a:t>
            </a:r>
            <a:r>
              <a:rPr lang="zh-CN" altLang="en-US" sz="2000" dirty="0">
                <a:solidFill>
                  <a:schemeClr val="tx1"/>
                </a:solidFill>
                <a:effectLst/>
                <a:latin typeface="宋体" panose="02010600030101010101" pitchFamily="2" charset="-122"/>
              </a:rPr>
              <a:t>只适合于单用户单任务操作系统，是一种最简单的存储管理方式。</a:t>
            </a:r>
          </a:p>
          <a:p>
            <a:pPr eaLnBrk="1" hangingPunct="1">
              <a:lnSpc>
                <a:spcPct val="150000"/>
              </a:lnSpc>
              <a:spcBef>
                <a:spcPct val="0"/>
              </a:spcBef>
              <a:buFont typeface="Wingdings" pitchFamily="2" charset="2"/>
              <a:buNone/>
            </a:pPr>
            <a:r>
              <a:rPr lang="zh-CN" altLang="en-US" sz="2000" dirty="0">
                <a:solidFill>
                  <a:srgbClr val="FF0000"/>
                </a:solidFill>
                <a:effectLst/>
                <a:latin typeface="宋体" panose="02010600030101010101" pitchFamily="2" charset="-122"/>
              </a:rPr>
              <a:t>方法：</a:t>
            </a:r>
            <a:r>
              <a:rPr lang="zh-CN" altLang="en-US" sz="2000" dirty="0">
                <a:solidFill>
                  <a:schemeClr val="tx1"/>
                </a:solidFill>
                <a:effectLst/>
                <a:latin typeface="宋体" panose="02010600030101010101" pitchFamily="2" charset="-122"/>
              </a:rPr>
              <a:t>将内存空间划分为系统区和用户区两部分（见下图）。系统区仅供操作系统使用，通常放在内存的低地址部分，系统区以外的全部内存空间为用户区，提供给用户使用。用户程序由装入程序从用户区的低地址开始装入且只能装入一个程序运行。用户区装入一个程序后，内存中剩余的区域则无法再利用。</a:t>
            </a:r>
          </a:p>
        </p:txBody>
      </p:sp>
      <p:sp>
        <p:nvSpPr>
          <p:cNvPr id="53251" name="AutoShape 3">
            <a:extLst>
              <a:ext uri="{FF2B5EF4-FFF2-40B4-BE49-F238E27FC236}">
                <a16:creationId xmlns:a16="http://schemas.microsoft.com/office/drawing/2014/main" id="{3CDF4BD1-FA2A-EE4C-A480-4C4FC47493F8}"/>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4.3 分区式存储管理</a:t>
            </a:r>
          </a:p>
        </p:txBody>
      </p:sp>
      <p:pic>
        <p:nvPicPr>
          <p:cNvPr id="31748" name="Picture 4" descr="4-8">
            <a:extLst>
              <a:ext uri="{FF2B5EF4-FFF2-40B4-BE49-F238E27FC236}">
                <a16:creationId xmlns:a16="http://schemas.microsoft.com/office/drawing/2014/main" id="{A6C84539-5050-0A4C-BE4D-FD8CC605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9188" y="4357688"/>
            <a:ext cx="3357562"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a:extLst>
              <a:ext uri="{FF2B5EF4-FFF2-40B4-BE49-F238E27FC236}">
                <a16:creationId xmlns:a16="http://schemas.microsoft.com/office/drawing/2014/main" id="{EE978E41-731C-4F40-A1AE-27222023CE60}"/>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zh-CN" sz="2800" dirty="0">
                <a:solidFill>
                  <a:srgbClr val="FF0000"/>
                </a:solidFill>
                <a:effectLst>
                  <a:outerShdw blurRad="38100" dist="38100" dir="2700000" algn="tl">
                    <a:srgbClr val="FFFFFF"/>
                  </a:outerShdw>
                </a:effectLst>
              </a:rPr>
              <a:t>4.3.1  </a:t>
            </a:r>
            <a:r>
              <a:rPr lang="zh-CN" altLang="en-US" sz="2800" dirty="0">
                <a:solidFill>
                  <a:srgbClr val="FF0000"/>
                </a:solidFill>
                <a:effectLst>
                  <a:outerShdw blurRad="38100" dist="38100" dir="2700000" algn="tl">
                    <a:srgbClr val="FFFFFF"/>
                  </a:outerShdw>
                </a:effectLst>
              </a:rPr>
              <a:t>单一连续分区存储管理</a:t>
            </a:r>
          </a:p>
        </p:txBody>
      </p:sp>
      <p:sp>
        <p:nvSpPr>
          <p:cNvPr id="28" name="Rectangle 2">
            <a:extLst>
              <a:ext uri="{FF2B5EF4-FFF2-40B4-BE49-F238E27FC236}">
                <a16:creationId xmlns:a16="http://schemas.microsoft.com/office/drawing/2014/main" id="{8244690C-E06E-6F4F-9419-BBE61D547321}"/>
              </a:ext>
            </a:extLst>
          </p:cNvPr>
          <p:cNvSpPr>
            <a:spLocks noChangeArrowheads="1"/>
          </p:cNvSpPr>
          <p:nvPr/>
        </p:nvSpPr>
        <p:spPr bwMode="auto">
          <a:xfrm>
            <a:off x="1892772" y="2063748"/>
            <a:ext cx="1905000" cy="8382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29" name="Rectangle 3">
            <a:extLst>
              <a:ext uri="{FF2B5EF4-FFF2-40B4-BE49-F238E27FC236}">
                <a16:creationId xmlns:a16="http://schemas.microsoft.com/office/drawing/2014/main" id="{9BB19FDC-5B81-8C47-86CC-43D4B5322B27}"/>
              </a:ext>
            </a:extLst>
          </p:cNvPr>
          <p:cNvSpPr>
            <a:spLocks noChangeArrowheads="1"/>
          </p:cNvSpPr>
          <p:nvPr/>
        </p:nvSpPr>
        <p:spPr bwMode="auto">
          <a:xfrm>
            <a:off x="5093172" y="2063748"/>
            <a:ext cx="1905000" cy="8382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30" name="Rectangle 4">
            <a:extLst>
              <a:ext uri="{FF2B5EF4-FFF2-40B4-BE49-F238E27FC236}">
                <a16:creationId xmlns:a16="http://schemas.microsoft.com/office/drawing/2014/main" id="{472A031F-2EF0-7A4C-8C2F-0945955A267B}"/>
              </a:ext>
            </a:extLst>
          </p:cNvPr>
          <p:cNvSpPr>
            <a:spLocks noChangeArrowheads="1"/>
          </p:cNvSpPr>
          <p:nvPr/>
        </p:nvSpPr>
        <p:spPr bwMode="auto">
          <a:xfrm>
            <a:off x="7836372" y="2063748"/>
            <a:ext cx="762000" cy="43434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31" name="Rectangle 5">
            <a:extLst>
              <a:ext uri="{FF2B5EF4-FFF2-40B4-BE49-F238E27FC236}">
                <a16:creationId xmlns:a16="http://schemas.microsoft.com/office/drawing/2014/main" id="{13FBBB1A-36E6-814B-9475-2069E43EFAAC}"/>
              </a:ext>
            </a:extLst>
          </p:cNvPr>
          <p:cNvSpPr>
            <a:spLocks noChangeArrowheads="1"/>
          </p:cNvSpPr>
          <p:nvPr/>
        </p:nvSpPr>
        <p:spPr bwMode="auto">
          <a:xfrm>
            <a:off x="140172" y="3816348"/>
            <a:ext cx="1066800" cy="7620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32" name="Oval 6">
            <a:extLst>
              <a:ext uri="{FF2B5EF4-FFF2-40B4-BE49-F238E27FC236}">
                <a16:creationId xmlns:a16="http://schemas.microsoft.com/office/drawing/2014/main" id="{B8D9811E-6224-9A4E-BFF9-DBBADD0E6544}"/>
              </a:ext>
            </a:extLst>
          </p:cNvPr>
          <p:cNvSpPr>
            <a:spLocks noChangeArrowheads="1"/>
          </p:cNvSpPr>
          <p:nvPr/>
        </p:nvSpPr>
        <p:spPr bwMode="auto">
          <a:xfrm>
            <a:off x="5702772" y="3816348"/>
            <a:ext cx="838200" cy="838200"/>
          </a:xfrm>
          <a:prstGeom prst="ellipse">
            <a:avLst/>
          </a:prstGeom>
          <a:noFill/>
          <a:ln w="28575">
            <a:solidFill>
              <a:srgbClr val="0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33" name="AutoShape 7">
            <a:extLst>
              <a:ext uri="{FF2B5EF4-FFF2-40B4-BE49-F238E27FC236}">
                <a16:creationId xmlns:a16="http://schemas.microsoft.com/office/drawing/2014/main" id="{293C4024-15C1-E044-B5C0-C24073CED2BF}"/>
              </a:ext>
            </a:extLst>
          </p:cNvPr>
          <p:cNvSpPr>
            <a:spLocks noChangeArrowheads="1"/>
          </p:cNvSpPr>
          <p:nvPr/>
        </p:nvSpPr>
        <p:spPr bwMode="auto">
          <a:xfrm>
            <a:off x="2502372" y="3740148"/>
            <a:ext cx="762000" cy="914400"/>
          </a:xfrm>
          <a:prstGeom prst="diamond">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34" name="Line 8">
            <a:extLst>
              <a:ext uri="{FF2B5EF4-FFF2-40B4-BE49-F238E27FC236}">
                <a16:creationId xmlns:a16="http://schemas.microsoft.com/office/drawing/2014/main" id="{4F9DCCBC-02E5-B149-A0C9-8DEBB58FE775}"/>
              </a:ext>
            </a:extLst>
          </p:cNvPr>
          <p:cNvSpPr>
            <a:spLocks noChangeShapeType="1"/>
          </p:cNvSpPr>
          <p:nvPr/>
        </p:nvSpPr>
        <p:spPr bwMode="auto">
          <a:xfrm>
            <a:off x="1206972" y="4197348"/>
            <a:ext cx="1295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35" name="Line 9">
            <a:extLst>
              <a:ext uri="{FF2B5EF4-FFF2-40B4-BE49-F238E27FC236}">
                <a16:creationId xmlns:a16="http://schemas.microsoft.com/office/drawing/2014/main" id="{668EC2F9-9788-EA43-B346-C154F8655344}"/>
              </a:ext>
            </a:extLst>
          </p:cNvPr>
          <p:cNvSpPr>
            <a:spLocks noChangeShapeType="1"/>
          </p:cNvSpPr>
          <p:nvPr/>
        </p:nvSpPr>
        <p:spPr bwMode="auto">
          <a:xfrm>
            <a:off x="3264372" y="4197348"/>
            <a:ext cx="2438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36" name="Line 10">
            <a:extLst>
              <a:ext uri="{FF2B5EF4-FFF2-40B4-BE49-F238E27FC236}">
                <a16:creationId xmlns:a16="http://schemas.microsoft.com/office/drawing/2014/main" id="{2AA4A172-5C65-8B4C-B351-6D1C70E298B1}"/>
              </a:ext>
            </a:extLst>
          </p:cNvPr>
          <p:cNvSpPr>
            <a:spLocks noChangeShapeType="1"/>
          </p:cNvSpPr>
          <p:nvPr/>
        </p:nvSpPr>
        <p:spPr bwMode="auto">
          <a:xfrm>
            <a:off x="6540972" y="4197348"/>
            <a:ext cx="1295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37" name="Line 11">
            <a:extLst>
              <a:ext uri="{FF2B5EF4-FFF2-40B4-BE49-F238E27FC236}">
                <a16:creationId xmlns:a16="http://schemas.microsoft.com/office/drawing/2014/main" id="{5F534C94-8A07-2942-8D58-4D70AF33587B}"/>
              </a:ext>
            </a:extLst>
          </p:cNvPr>
          <p:cNvSpPr>
            <a:spLocks noChangeShapeType="1"/>
          </p:cNvSpPr>
          <p:nvPr/>
        </p:nvSpPr>
        <p:spPr bwMode="auto">
          <a:xfrm>
            <a:off x="2883372" y="4654548"/>
            <a:ext cx="0" cy="60960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38" name="Line 12">
            <a:extLst>
              <a:ext uri="{FF2B5EF4-FFF2-40B4-BE49-F238E27FC236}">
                <a16:creationId xmlns:a16="http://schemas.microsoft.com/office/drawing/2014/main" id="{D0455D89-A6E2-0A42-AC1D-19B7859CA60D}"/>
              </a:ext>
            </a:extLst>
          </p:cNvPr>
          <p:cNvSpPr>
            <a:spLocks noChangeShapeType="1"/>
          </p:cNvSpPr>
          <p:nvPr/>
        </p:nvSpPr>
        <p:spPr bwMode="auto">
          <a:xfrm>
            <a:off x="2883372" y="2901948"/>
            <a:ext cx="0" cy="83820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39" name="Line 13">
            <a:extLst>
              <a:ext uri="{FF2B5EF4-FFF2-40B4-BE49-F238E27FC236}">
                <a16:creationId xmlns:a16="http://schemas.microsoft.com/office/drawing/2014/main" id="{465DBBE7-E8D1-204C-BE7F-128304A47E47}"/>
              </a:ext>
            </a:extLst>
          </p:cNvPr>
          <p:cNvSpPr>
            <a:spLocks noChangeShapeType="1"/>
          </p:cNvSpPr>
          <p:nvPr/>
        </p:nvSpPr>
        <p:spPr bwMode="auto">
          <a:xfrm>
            <a:off x="6083772" y="2901948"/>
            <a:ext cx="0" cy="91440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en-US" sz="800" b="0" i="0" u="none" strike="noStrike" kern="0" cap="none" spc="0" normalizeH="0" baseline="0" noProof="0">
              <a:ln>
                <a:noFill/>
              </a:ln>
              <a:solidFill>
                <a:srgbClr val="000000"/>
              </a:solidFill>
              <a:effectLst/>
              <a:uLnTx/>
              <a:uFillTx/>
            </a:endParaRPr>
          </a:p>
        </p:txBody>
      </p:sp>
      <p:sp>
        <p:nvSpPr>
          <p:cNvPr id="40" name="Text Box 14">
            <a:extLst>
              <a:ext uri="{FF2B5EF4-FFF2-40B4-BE49-F238E27FC236}">
                <a16:creationId xmlns:a16="http://schemas.microsoft.com/office/drawing/2014/main" id="{8EE633E6-000E-6C41-BB82-34DDAB05B556}"/>
              </a:ext>
            </a:extLst>
          </p:cNvPr>
          <p:cNvSpPr txBox="1">
            <a:spLocks noChangeArrowheads="1"/>
          </p:cNvSpPr>
          <p:nvPr/>
        </p:nvSpPr>
        <p:spPr bwMode="auto">
          <a:xfrm>
            <a:off x="216372" y="3968748"/>
            <a:ext cx="914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CPU</a:t>
            </a:r>
          </a:p>
        </p:txBody>
      </p:sp>
      <p:sp>
        <p:nvSpPr>
          <p:cNvPr id="41" name="Text Box 15">
            <a:extLst>
              <a:ext uri="{FF2B5EF4-FFF2-40B4-BE49-F238E27FC236}">
                <a16:creationId xmlns:a16="http://schemas.microsoft.com/office/drawing/2014/main" id="{C6F5D365-0F41-3249-8AC2-092022272FF2}"/>
              </a:ext>
            </a:extLst>
          </p:cNvPr>
          <p:cNvSpPr txBox="1">
            <a:spLocks noChangeArrowheads="1"/>
          </p:cNvSpPr>
          <p:nvPr/>
        </p:nvSpPr>
        <p:spPr bwMode="auto">
          <a:xfrm>
            <a:off x="1968972" y="2158998"/>
            <a:ext cx="17526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ts val="1700"/>
              </a:lnSpc>
              <a:spcBef>
                <a:spcPct val="20000"/>
              </a:spcBef>
              <a:spcAft>
                <a:spcPts val="0"/>
              </a:spcAft>
              <a:buClrTx/>
              <a:buSzTx/>
              <a:buFontTx/>
              <a:buNone/>
              <a:tabLst/>
              <a:defRPr/>
            </a:pPr>
            <a:r>
              <a:rPr kumimoji="1" lang="en-US" altLang="zh-CN"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a:t>
            </a: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界 限</a:t>
            </a:r>
          </a:p>
          <a:p>
            <a:pPr marL="0" marR="0" lvl="0" indent="0" defTabSz="914400" eaLnBrk="1" fontAlgn="auto" latinLnBrk="0" hangingPunct="1">
              <a:lnSpc>
                <a:spcPts val="17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寄存器</a:t>
            </a:r>
          </a:p>
        </p:txBody>
      </p:sp>
      <p:sp>
        <p:nvSpPr>
          <p:cNvPr id="42" name="Text Box 16">
            <a:extLst>
              <a:ext uri="{FF2B5EF4-FFF2-40B4-BE49-F238E27FC236}">
                <a16:creationId xmlns:a16="http://schemas.microsoft.com/office/drawing/2014/main" id="{56683A87-F6DD-604C-B645-43BCC8FB8A4A}"/>
              </a:ext>
            </a:extLst>
          </p:cNvPr>
          <p:cNvSpPr txBox="1">
            <a:spLocks noChangeArrowheads="1"/>
          </p:cNvSpPr>
          <p:nvPr/>
        </p:nvSpPr>
        <p:spPr bwMode="auto">
          <a:xfrm>
            <a:off x="5245572" y="2139949"/>
            <a:ext cx="1676400"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ts val="2000"/>
              </a:lnSpc>
              <a:spcBef>
                <a:spcPct val="50000"/>
              </a:spcBef>
              <a:spcAft>
                <a:spcPts val="0"/>
              </a:spcAft>
              <a:buClrTx/>
              <a:buSzTx/>
              <a:buFontTx/>
              <a:buNone/>
              <a:tabLst/>
              <a:defRPr/>
            </a:pPr>
            <a:r>
              <a:rPr kumimoji="1" lang="en-US" altLang="zh-CN"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a:t>
            </a: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重定位</a:t>
            </a:r>
          </a:p>
          <a:p>
            <a:pPr marL="0" marR="0" lvl="0" indent="0" defTabSz="914400" eaLnBrk="1" fontAlgn="auto" latinLnBrk="0" hangingPunct="1">
              <a:lnSpc>
                <a:spcPts val="2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寄存器</a:t>
            </a:r>
          </a:p>
        </p:txBody>
      </p:sp>
      <p:sp>
        <p:nvSpPr>
          <p:cNvPr id="43" name="Text Box 18">
            <a:extLst>
              <a:ext uri="{FF2B5EF4-FFF2-40B4-BE49-F238E27FC236}">
                <a16:creationId xmlns:a16="http://schemas.microsoft.com/office/drawing/2014/main" id="{BC63B14F-43F4-2349-892D-B7629CB7850A}"/>
              </a:ext>
            </a:extLst>
          </p:cNvPr>
          <p:cNvSpPr txBox="1">
            <a:spLocks noChangeArrowheads="1"/>
          </p:cNvSpPr>
          <p:nvPr/>
        </p:nvSpPr>
        <p:spPr bwMode="auto">
          <a:xfrm>
            <a:off x="1172048" y="3743324"/>
            <a:ext cx="14827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逻辑地址</a:t>
            </a:r>
          </a:p>
        </p:txBody>
      </p:sp>
      <p:sp>
        <p:nvSpPr>
          <p:cNvPr id="44" name="Text Box 19">
            <a:extLst>
              <a:ext uri="{FF2B5EF4-FFF2-40B4-BE49-F238E27FC236}">
                <a16:creationId xmlns:a16="http://schemas.microsoft.com/office/drawing/2014/main" id="{3A58D5D9-EE40-7942-AF59-60465A00D962}"/>
              </a:ext>
            </a:extLst>
          </p:cNvPr>
          <p:cNvSpPr txBox="1">
            <a:spLocks noChangeArrowheads="1"/>
          </p:cNvSpPr>
          <p:nvPr/>
        </p:nvSpPr>
        <p:spPr bwMode="auto">
          <a:xfrm>
            <a:off x="4026372" y="3800474"/>
            <a:ext cx="5334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是</a:t>
            </a:r>
          </a:p>
        </p:txBody>
      </p:sp>
      <p:sp>
        <p:nvSpPr>
          <p:cNvPr id="45" name="Text Box 20">
            <a:extLst>
              <a:ext uri="{FF2B5EF4-FFF2-40B4-BE49-F238E27FC236}">
                <a16:creationId xmlns:a16="http://schemas.microsoft.com/office/drawing/2014/main" id="{4258A81F-4EF6-CE4D-BC4E-7EE68FE62A13}"/>
              </a:ext>
            </a:extLst>
          </p:cNvPr>
          <p:cNvSpPr txBox="1">
            <a:spLocks noChangeArrowheads="1"/>
          </p:cNvSpPr>
          <p:nvPr/>
        </p:nvSpPr>
        <p:spPr bwMode="auto">
          <a:xfrm>
            <a:off x="6540972" y="3743324"/>
            <a:ext cx="1600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物理地址</a:t>
            </a:r>
          </a:p>
        </p:txBody>
      </p:sp>
      <p:sp>
        <p:nvSpPr>
          <p:cNvPr id="46" name="Text Box 21">
            <a:extLst>
              <a:ext uri="{FF2B5EF4-FFF2-40B4-BE49-F238E27FC236}">
                <a16:creationId xmlns:a16="http://schemas.microsoft.com/office/drawing/2014/main" id="{095016AD-6411-CC46-A4BD-AC4EF14BABE4}"/>
              </a:ext>
            </a:extLst>
          </p:cNvPr>
          <p:cNvSpPr txBox="1">
            <a:spLocks noChangeArrowheads="1"/>
          </p:cNvSpPr>
          <p:nvPr/>
        </p:nvSpPr>
        <p:spPr bwMode="auto">
          <a:xfrm>
            <a:off x="7831609" y="3892549"/>
            <a:ext cx="11430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内存</a:t>
            </a:r>
          </a:p>
        </p:txBody>
      </p:sp>
      <p:sp>
        <p:nvSpPr>
          <p:cNvPr id="47" name="Text Box 23">
            <a:extLst>
              <a:ext uri="{FF2B5EF4-FFF2-40B4-BE49-F238E27FC236}">
                <a16:creationId xmlns:a16="http://schemas.microsoft.com/office/drawing/2014/main" id="{248B9A18-CDEF-F545-B242-EF0EF2C02035}"/>
              </a:ext>
            </a:extLst>
          </p:cNvPr>
          <p:cNvSpPr txBox="1">
            <a:spLocks noChangeArrowheads="1"/>
          </p:cNvSpPr>
          <p:nvPr/>
        </p:nvSpPr>
        <p:spPr bwMode="auto">
          <a:xfrm>
            <a:off x="2349972" y="5340349"/>
            <a:ext cx="1371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地址错</a:t>
            </a:r>
          </a:p>
        </p:txBody>
      </p:sp>
      <p:sp>
        <p:nvSpPr>
          <p:cNvPr id="48" name="Text Box 24">
            <a:extLst>
              <a:ext uri="{FF2B5EF4-FFF2-40B4-BE49-F238E27FC236}">
                <a16:creationId xmlns:a16="http://schemas.microsoft.com/office/drawing/2014/main" id="{93EC2076-8302-8F4A-B73A-49705B89DEFD}"/>
              </a:ext>
            </a:extLst>
          </p:cNvPr>
          <p:cNvSpPr txBox="1">
            <a:spLocks noChangeArrowheads="1"/>
          </p:cNvSpPr>
          <p:nvPr/>
        </p:nvSpPr>
        <p:spPr bwMode="auto">
          <a:xfrm>
            <a:off x="2883372" y="4730749"/>
            <a:ext cx="457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否</a:t>
            </a:r>
          </a:p>
        </p:txBody>
      </p:sp>
      <p:sp>
        <p:nvSpPr>
          <p:cNvPr id="49" name="Text Box 25">
            <a:extLst>
              <a:ext uri="{FF2B5EF4-FFF2-40B4-BE49-F238E27FC236}">
                <a16:creationId xmlns:a16="http://schemas.microsoft.com/office/drawing/2014/main" id="{49EEF06D-C560-5442-8E18-8E042D4F5E0E}"/>
              </a:ext>
            </a:extLst>
          </p:cNvPr>
          <p:cNvSpPr txBox="1">
            <a:spLocks noChangeArrowheads="1"/>
          </p:cNvSpPr>
          <p:nvPr/>
        </p:nvSpPr>
        <p:spPr bwMode="auto">
          <a:xfrm>
            <a:off x="5931372" y="3968748"/>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a:t>
            </a:r>
          </a:p>
        </p:txBody>
      </p:sp>
      <p:sp>
        <p:nvSpPr>
          <p:cNvPr id="50" name="Text Box 26">
            <a:extLst>
              <a:ext uri="{FF2B5EF4-FFF2-40B4-BE49-F238E27FC236}">
                <a16:creationId xmlns:a16="http://schemas.microsoft.com/office/drawing/2014/main" id="{6539B2C3-41BC-9640-B725-124DAA01C63C}"/>
              </a:ext>
            </a:extLst>
          </p:cNvPr>
          <p:cNvSpPr txBox="1">
            <a:spLocks noChangeArrowheads="1"/>
          </p:cNvSpPr>
          <p:nvPr/>
        </p:nvSpPr>
        <p:spPr bwMode="auto">
          <a:xfrm>
            <a:off x="2654772" y="3968748"/>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24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&lt;</a:t>
            </a:r>
          </a:p>
        </p:txBody>
      </p:sp>
      <p:sp>
        <p:nvSpPr>
          <p:cNvPr id="51" name="Text Box 27">
            <a:extLst>
              <a:ext uri="{FF2B5EF4-FFF2-40B4-BE49-F238E27FC236}">
                <a16:creationId xmlns:a16="http://schemas.microsoft.com/office/drawing/2014/main" id="{18CA89FB-92D3-8F46-8E97-C09133A9C9C6}"/>
              </a:ext>
            </a:extLst>
          </p:cNvPr>
          <p:cNvSpPr txBox="1">
            <a:spLocks noChangeArrowheads="1"/>
          </p:cNvSpPr>
          <p:nvPr/>
        </p:nvSpPr>
        <p:spPr bwMode="auto">
          <a:xfrm>
            <a:off x="2627784" y="6046787"/>
            <a:ext cx="42672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2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a:t>
            </a:r>
            <a:r>
              <a:rPr kumimoji="1" lang="zh-CN" altLang="en-US" sz="2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地址映射和地址保护</a:t>
            </a:r>
          </a:p>
        </p:txBody>
      </p:sp>
    </p:spTree>
    <p:extLst>
      <p:ext uri="{BB962C8B-B14F-4D97-AF65-F5344CB8AC3E}">
        <p14:creationId xmlns:p14="http://schemas.microsoft.com/office/powerpoint/2010/main" val="4082671052"/>
      </p:ext>
    </p:extLst>
  </p:cSld>
  <p:clrMapOvr>
    <a:masterClrMapping/>
  </p:clrMapOvr>
  <p:transition>
    <p:random/>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C18DE855-E270-6E48-95BE-EB78DB819F3F}"/>
              </a:ext>
            </a:extLst>
          </p:cNvPr>
          <p:cNvSpPr>
            <a:spLocks noGrp="1" noChangeArrowheads="1"/>
          </p:cNvSpPr>
          <p:nvPr>
            <p:ph type="title"/>
          </p:nvPr>
        </p:nvSpPr>
        <p:spPr/>
        <p:txBody>
          <a:bodyPr/>
          <a:lstStyle/>
          <a:p>
            <a:pPr eaLnBrk="1" hangingPunct="1"/>
            <a:r>
              <a:rPr lang="zh-CN" altLang="en-US" sz="2800" dirty="0">
                <a:solidFill>
                  <a:srgbClr val="002060"/>
                </a:solidFill>
                <a:latin typeface="宋体" panose="02010600030101010101" pitchFamily="2" charset="-122"/>
              </a:rPr>
              <a:t>   单一连续分区存储管理</a:t>
            </a:r>
          </a:p>
        </p:txBody>
      </p:sp>
      <p:sp>
        <p:nvSpPr>
          <p:cNvPr id="32771" name="Rectangle 3">
            <a:extLst>
              <a:ext uri="{FF2B5EF4-FFF2-40B4-BE49-F238E27FC236}">
                <a16:creationId xmlns:a16="http://schemas.microsoft.com/office/drawing/2014/main" id="{23DB63C4-8B73-354F-B25F-9D7C772AF0EB}"/>
              </a:ext>
            </a:extLst>
          </p:cNvPr>
          <p:cNvSpPr>
            <a:spLocks noGrp="1" noChangeArrowheads="1"/>
          </p:cNvSpPr>
          <p:nvPr>
            <p:ph type="body" idx="1"/>
          </p:nvPr>
        </p:nvSpPr>
        <p:spPr>
          <a:xfrm>
            <a:off x="785813" y="2000250"/>
            <a:ext cx="7780337" cy="3454400"/>
          </a:xfrm>
        </p:spPr>
        <p:txBody>
          <a:bodyPr/>
          <a:lstStyle/>
          <a:p>
            <a:pPr marL="0" indent="0" eaLnBrk="1" hangingPunct="1">
              <a:lnSpc>
                <a:spcPct val="150000"/>
              </a:lnSpc>
              <a:spcBef>
                <a:spcPct val="0"/>
              </a:spcBef>
              <a:buFont typeface="Wingdings" pitchFamily="2" charset="2"/>
              <a:buNone/>
            </a:pPr>
            <a:r>
              <a:rPr lang="en-US" altLang="zh-CN" dirty="0">
                <a:solidFill>
                  <a:srgbClr val="FF0000"/>
                </a:solidFill>
                <a:effectLst/>
                <a:latin typeface="宋体" panose="02010600030101010101" pitchFamily="2" charset="-122"/>
              </a:rPr>
              <a:t>2. </a:t>
            </a:r>
            <a:r>
              <a:rPr lang="zh-CN" altLang="en-US" dirty="0">
                <a:solidFill>
                  <a:srgbClr val="FF0000"/>
                </a:solidFill>
                <a:effectLst/>
                <a:latin typeface="宋体" panose="02010600030101010101" pitchFamily="2" charset="-122"/>
              </a:rPr>
              <a:t>分配与回收</a:t>
            </a:r>
          </a:p>
          <a:p>
            <a:pPr marL="0" indent="0" eaLnBrk="1" hangingPunct="1">
              <a:lnSpc>
                <a:spcPct val="150000"/>
              </a:lnSpc>
              <a:spcBef>
                <a:spcPct val="0"/>
              </a:spcBef>
              <a:buFont typeface="Wingdings" pitchFamily="2" charset="2"/>
              <a:buNone/>
            </a:pPr>
            <a:r>
              <a:rPr lang="zh-CN" altLang="en-US" dirty="0">
                <a:solidFill>
                  <a:schemeClr val="tx1"/>
                </a:solidFill>
                <a:effectLst/>
                <a:latin typeface="宋体" panose="02010600030101010101" pitchFamily="2" charset="-122"/>
              </a:rPr>
              <a:t>    分配过程是先将待装入内存的程序与用户区进行大小比较，若程序所需内存空间没有超过用户区的大小，则为它分配内存空间；否则内存分配失败。回收操作则是在用户区的程序运行结束后，将该区域标志置为未分配即可。</a:t>
            </a:r>
          </a:p>
          <a:p>
            <a:pPr marL="0" indent="0" eaLnBrk="1" hangingPunct="1">
              <a:lnSpc>
                <a:spcPct val="150000"/>
              </a:lnSpc>
              <a:spcBef>
                <a:spcPct val="0"/>
              </a:spcBef>
              <a:buFont typeface="Wingdings" pitchFamily="2" charset="2"/>
              <a:buNone/>
            </a:pPr>
            <a:endParaRPr lang="en-US" altLang="zh-CN" dirty="0">
              <a:solidFill>
                <a:schemeClr val="tx1"/>
              </a:solidFill>
              <a:effectLst/>
              <a:latin typeface="宋体" panose="02010600030101010101" pitchFamily="2" charset="-122"/>
            </a:endParaRPr>
          </a:p>
        </p:txBody>
      </p:sp>
    </p:spTree>
  </p:cSld>
  <p:clrMapOvr>
    <a:masterClrMapping/>
  </p:clrMapOvr>
  <p:transition>
    <p:random/>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EE38F83F-3E52-4A4A-A9A6-09D6E052FD76}"/>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单一连续分区存储管理</a:t>
            </a:r>
          </a:p>
        </p:txBody>
      </p:sp>
      <p:sp>
        <p:nvSpPr>
          <p:cNvPr id="33795" name="Rectangle 3">
            <a:extLst>
              <a:ext uri="{FF2B5EF4-FFF2-40B4-BE49-F238E27FC236}">
                <a16:creationId xmlns:a16="http://schemas.microsoft.com/office/drawing/2014/main" id="{2016D514-4A5C-0741-AC33-8F9CEF8EF70F}"/>
              </a:ext>
            </a:extLst>
          </p:cNvPr>
          <p:cNvSpPr>
            <a:spLocks noGrp="1" noChangeArrowheads="1"/>
          </p:cNvSpPr>
          <p:nvPr>
            <p:ph type="body" idx="1"/>
          </p:nvPr>
        </p:nvSpPr>
        <p:spPr>
          <a:xfrm>
            <a:off x="679450" y="1357313"/>
            <a:ext cx="7964488" cy="4113212"/>
          </a:xfrm>
        </p:spPr>
        <p:txBody>
          <a:bodyPr/>
          <a:lstStyle/>
          <a:p>
            <a:pPr marL="0" indent="0" eaLnBrk="1" hangingPunct="1">
              <a:lnSpc>
                <a:spcPct val="150000"/>
              </a:lnSpc>
              <a:spcBef>
                <a:spcPct val="0"/>
              </a:spcBef>
              <a:buFont typeface="Wingdings" pitchFamily="2" charset="2"/>
              <a:buNone/>
            </a:pPr>
            <a:r>
              <a:rPr lang="en-US" altLang="zh-CN">
                <a:solidFill>
                  <a:srgbClr val="FF0000"/>
                </a:solidFill>
                <a:effectLst/>
                <a:latin typeface="宋体" panose="02010600030101010101" pitchFamily="2" charset="-122"/>
              </a:rPr>
              <a:t>3. </a:t>
            </a:r>
            <a:r>
              <a:rPr lang="zh-CN" altLang="en-US">
                <a:solidFill>
                  <a:srgbClr val="FF0000"/>
                </a:solidFill>
                <a:effectLst/>
                <a:latin typeface="宋体" panose="02010600030101010101" pitchFamily="2" charset="-122"/>
              </a:rPr>
              <a:t>地址转换与存储保护</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）采用静态重定位方式</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单一连续分区存储管理的地址转换多采用静态重定位，即</a:t>
            </a:r>
            <a:r>
              <a:rPr lang="zh-CN" altLang="zh-CN" sz="2000">
                <a:solidFill>
                  <a:schemeClr val="tx1"/>
                </a:solidFill>
                <a:effectLst/>
                <a:latin typeface="宋体" panose="02010600030101010101" pitchFamily="2" charset="-122"/>
              </a:rPr>
              <a:t>用户程序在装入内存时采用静态重定位方式，一次性对程序中出现的所有访存地址（逻辑地址）进行转换。由于用户程序被装入从界限地址开始的内存区域，因此地址转换工作是对程序中出现的所有访存地址，都以界限地址加访存地址（逻辑地址）所得到的物理地址进行替换</a:t>
            </a:r>
            <a:r>
              <a:rPr lang="zh-CN" altLang="en-US" sz="2000">
                <a:solidFill>
                  <a:schemeClr val="tx1"/>
                </a:solidFill>
                <a:effectLst/>
                <a:latin typeface="宋体" panose="02010600030101010101" pitchFamily="2" charset="-122"/>
              </a:rPr>
              <a:t>。</a:t>
            </a: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pic>
        <p:nvPicPr>
          <p:cNvPr id="33796" name="Picture 4" descr="4-9">
            <a:extLst>
              <a:ext uri="{FF2B5EF4-FFF2-40B4-BE49-F238E27FC236}">
                <a16:creationId xmlns:a16="http://schemas.microsoft.com/office/drawing/2014/main" id="{6E90D1E4-7BFB-B540-A933-E64B1D15ED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4713" y="4797425"/>
            <a:ext cx="7572375" cy="185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DB0360C5-F3CD-E14A-89F3-10147C45C95B}"/>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单一连续分区存储管理</a:t>
            </a:r>
          </a:p>
        </p:txBody>
      </p:sp>
      <p:sp>
        <p:nvSpPr>
          <p:cNvPr id="33795" name="Rectangle 3">
            <a:extLst>
              <a:ext uri="{FF2B5EF4-FFF2-40B4-BE49-F238E27FC236}">
                <a16:creationId xmlns:a16="http://schemas.microsoft.com/office/drawing/2014/main" id="{E5677039-540E-FC45-BD86-64476BDE884D}"/>
              </a:ext>
            </a:extLst>
          </p:cNvPr>
          <p:cNvSpPr>
            <a:spLocks noGrp="1" noChangeArrowheads="1"/>
          </p:cNvSpPr>
          <p:nvPr>
            <p:ph type="body" idx="1"/>
          </p:nvPr>
        </p:nvSpPr>
        <p:spPr>
          <a:xfrm>
            <a:off x="468313" y="1989138"/>
            <a:ext cx="8175625" cy="4176712"/>
          </a:xfrm>
        </p:spPr>
        <p:txBody>
          <a:bodyPr/>
          <a:lstStyle/>
          <a:p>
            <a:pPr indent="0" algn="just">
              <a:lnSpc>
                <a:spcPts val="4000"/>
              </a:lnSpc>
              <a:buFont typeface="Wingdings" pitchFamily="2" charset="2"/>
              <a:buNone/>
            </a:pPr>
            <a:r>
              <a:rPr lang="zh-CN" altLang="en-US">
                <a:solidFill>
                  <a:srgbClr val="FF0000"/>
                </a:solidFill>
                <a:effectLst/>
                <a:latin typeface="Times New Roman" panose="02020603050405020304" pitchFamily="18" charset="0"/>
              </a:rPr>
              <a:t>注意：</a:t>
            </a:r>
            <a:endParaRPr lang="en-US" altLang="zh-CN">
              <a:solidFill>
                <a:srgbClr val="FF0000"/>
              </a:solidFill>
              <a:effectLst/>
              <a:latin typeface="Times New Roman" panose="02020603050405020304" pitchFamily="18" charset="0"/>
            </a:endParaRPr>
          </a:p>
          <a:p>
            <a:pPr indent="0" algn="just">
              <a:lnSpc>
                <a:spcPts val="4000"/>
              </a:lnSpc>
              <a:buFont typeface="Wingdings" pitchFamily="2" charset="2"/>
              <a:buNone/>
            </a:pPr>
            <a:r>
              <a:rPr lang="en-US" altLang="zh-CN">
                <a:solidFill>
                  <a:srgbClr val="FF0000"/>
                </a:solidFill>
                <a:effectLst/>
                <a:latin typeface="Times New Roman" panose="02020603050405020304" pitchFamily="18" charset="0"/>
              </a:rPr>
              <a:t>        </a:t>
            </a:r>
            <a:r>
              <a:rPr lang="zh-CN" altLang="zh-CN">
                <a:solidFill>
                  <a:schemeClr val="tx1"/>
                </a:solidFill>
                <a:effectLst/>
                <a:latin typeface="Times New Roman" panose="02020603050405020304" pitchFamily="18" charset="0"/>
              </a:rPr>
              <a:t>静态重定位之后，程序中出现的</a:t>
            </a:r>
            <a:r>
              <a:rPr lang="zh-CN" altLang="en-US">
                <a:solidFill>
                  <a:schemeClr val="tx1"/>
                </a:solidFill>
                <a:effectLst/>
                <a:latin typeface="Times New Roman" panose="02020603050405020304" pitchFamily="18" charset="0"/>
              </a:rPr>
              <a:t>所有</a:t>
            </a:r>
            <a:r>
              <a:rPr lang="zh-CN" altLang="zh-CN">
                <a:solidFill>
                  <a:schemeClr val="tx1"/>
                </a:solidFill>
                <a:effectLst/>
                <a:latin typeface="Times New Roman" panose="02020603050405020304" pitchFamily="18" charset="0"/>
              </a:rPr>
              <a:t>访存地址都修改成可以直接访问的内存物理地址，这样，程序就可以直接运行了。但是在程序运行期间，不允许对程序再进行修改，也不允许程序在内存中移动位置，因为这种修改和移动会造成地址改变，使程序无法正常运行。如果对程序进行了修改和移动，就必须重新对程序进行地址重定位。</a:t>
            </a:r>
          </a:p>
          <a:p>
            <a:pPr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2">
            <a:extLst>
              <a:ext uri="{FF2B5EF4-FFF2-40B4-BE49-F238E27FC236}">
                <a16:creationId xmlns:a16="http://schemas.microsoft.com/office/drawing/2014/main" id="{C6102D8E-5334-D047-B48F-D5D47FB18AE0}"/>
              </a:ext>
            </a:extLst>
          </p:cNvPr>
          <p:cNvSpPr txBox="1">
            <a:spLocks/>
          </p:cNvSpPr>
          <p:nvPr/>
        </p:nvSpPr>
        <p:spPr bwMode="auto">
          <a:xfrm>
            <a:off x="539552" y="1844824"/>
            <a:ext cx="5715000" cy="4499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0000FF"/>
              </a:buClr>
            </a:pPr>
            <a:r>
              <a:rPr lang="zh-CN" altLang="en-US" sz="1800" b="1">
                <a:solidFill>
                  <a:srgbClr val="0000FF"/>
                </a:solidFill>
                <a:latin typeface="幼圆" pitchFamily="49" charset="-122"/>
                <a:ea typeface="幼圆" pitchFamily="49" charset="-122"/>
              </a:rPr>
              <a:t>单一连续分配</a:t>
            </a:r>
            <a:endParaRPr lang="en-US" altLang="zh-CN" sz="1800" b="1">
              <a:solidFill>
                <a:srgbClr val="0000FF"/>
              </a:solidFill>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在用户区只装一道用户程序，整个内存的用户空间被该程序独占</a:t>
            </a:r>
            <a:endParaRPr lang="en-US" altLang="zh-CN" sz="1800" b="1">
              <a:latin typeface="幼圆" pitchFamily="49" charset="-122"/>
              <a:ea typeface="幼圆" pitchFamily="49" charset="-122"/>
            </a:endParaRPr>
          </a:p>
          <a:p>
            <a:pPr>
              <a:buClr>
                <a:srgbClr val="0000FF"/>
              </a:buClr>
            </a:pPr>
            <a:r>
              <a:rPr lang="zh-CN" altLang="en-US" sz="1800" b="1">
                <a:solidFill>
                  <a:srgbClr val="0000FF"/>
                </a:solidFill>
                <a:latin typeface="幼圆" pitchFamily="49" charset="-122"/>
                <a:ea typeface="幼圆" pitchFamily="49" charset="-122"/>
              </a:rPr>
              <a:t>适用范围</a:t>
            </a:r>
            <a:endParaRPr lang="en-US" altLang="zh-CN" sz="1800" b="1">
              <a:solidFill>
                <a:srgbClr val="0000FF"/>
              </a:solidFill>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单用户单任务系统</a:t>
            </a:r>
            <a:endParaRPr lang="en-US" altLang="zh-CN" sz="1800" b="1">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典型操作系统</a:t>
            </a:r>
            <a:r>
              <a:rPr lang="en-US" altLang="zh-CN" sz="1800" b="1">
                <a:latin typeface="幼圆" pitchFamily="49" charset="-122"/>
                <a:ea typeface="幼圆" pitchFamily="49" charset="-122"/>
              </a:rPr>
              <a:t>CP/M,MS-DOS,RT11</a:t>
            </a:r>
          </a:p>
          <a:p>
            <a:pPr>
              <a:buClr>
                <a:srgbClr val="0000FF"/>
              </a:buClr>
            </a:pPr>
            <a:r>
              <a:rPr lang="zh-CN" altLang="en-US" sz="1800" b="1">
                <a:solidFill>
                  <a:srgbClr val="0000FF"/>
                </a:solidFill>
                <a:latin typeface="幼圆" pitchFamily="49" charset="-122"/>
                <a:ea typeface="幼圆" pitchFamily="49" charset="-122"/>
              </a:rPr>
              <a:t>内存保护（部分</a:t>
            </a:r>
            <a:r>
              <a:rPr lang="en-US" altLang="zh-CN" sz="1800" b="1">
                <a:solidFill>
                  <a:srgbClr val="0000FF"/>
                </a:solidFill>
                <a:latin typeface="幼圆" pitchFamily="49" charset="-122"/>
                <a:ea typeface="幼圆" pitchFamily="49" charset="-122"/>
              </a:rPr>
              <a:t>OS</a:t>
            </a:r>
            <a:r>
              <a:rPr lang="zh-CN" altLang="en-US" sz="1800" b="1">
                <a:solidFill>
                  <a:srgbClr val="0000FF"/>
                </a:solidFill>
                <a:latin typeface="幼圆" pitchFamily="49" charset="-122"/>
                <a:ea typeface="幼圆" pitchFamily="49" charset="-122"/>
              </a:rPr>
              <a:t>设置）</a:t>
            </a:r>
            <a:endParaRPr lang="en-US" altLang="zh-CN" sz="1800" b="1">
              <a:solidFill>
                <a:srgbClr val="0000FF"/>
              </a:solidFill>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基址寄存器</a:t>
            </a:r>
            <a:endParaRPr lang="en-US" altLang="zh-CN" sz="1800" b="1">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界限寄存器</a:t>
            </a:r>
            <a:endParaRPr lang="en-US" altLang="zh-CN" sz="1800" b="1">
              <a:latin typeface="幼圆" pitchFamily="49" charset="-122"/>
              <a:ea typeface="幼圆" pitchFamily="49" charset="-122"/>
            </a:endParaRPr>
          </a:p>
          <a:p>
            <a:pPr>
              <a:buClr>
                <a:srgbClr val="0000FF"/>
              </a:buClr>
            </a:pPr>
            <a:r>
              <a:rPr lang="zh-CN" altLang="en-US" sz="1800" b="1">
                <a:solidFill>
                  <a:srgbClr val="0000FF"/>
                </a:solidFill>
                <a:latin typeface="幼圆" pitchFamily="49" charset="-122"/>
                <a:ea typeface="幼圆" pitchFamily="49" charset="-122"/>
              </a:rPr>
              <a:t>特点</a:t>
            </a:r>
            <a:endParaRPr lang="en-US" altLang="zh-CN" sz="1800" b="1">
              <a:solidFill>
                <a:srgbClr val="0000FF"/>
              </a:solidFill>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存储器利用率低</a:t>
            </a:r>
            <a:endParaRPr lang="en-US" altLang="zh-CN" sz="1800" b="1">
              <a:latin typeface="幼圆" pitchFamily="49" charset="-122"/>
              <a:ea typeface="幼圆" pitchFamily="49" charset="-122"/>
            </a:endParaRPr>
          </a:p>
          <a:p>
            <a:pPr lvl="1">
              <a:buClr>
                <a:srgbClr val="0000FF"/>
              </a:buClr>
            </a:pPr>
            <a:r>
              <a:rPr lang="zh-CN" altLang="en-US" sz="1800" b="1">
                <a:latin typeface="幼圆" pitchFamily="49" charset="-122"/>
                <a:ea typeface="幼圆" pitchFamily="49" charset="-122"/>
              </a:rPr>
              <a:t>不支持多道程序设计技术</a:t>
            </a:r>
            <a:endParaRPr lang="zh-CN" altLang="en-US" sz="1800" b="1" dirty="0">
              <a:latin typeface="幼圆" pitchFamily="49" charset="-122"/>
              <a:ea typeface="幼圆" pitchFamily="49" charset="-122"/>
            </a:endParaRPr>
          </a:p>
        </p:txBody>
      </p:sp>
      <p:sp>
        <p:nvSpPr>
          <p:cNvPr id="10" name="矩形 4">
            <a:extLst>
              <a:ext uri="{FF2B5EF4-FFF2-40B4-BE49-F238E27FC236}">
                <a16:creationId xmlns:a16="http://schemas.microsoft.com/office/drawing/2014/main" id="{38D44407-5DD2-8D4C-98A4-BB3A84F8C61D}"/>
              </a:ext>
            </a:extLst>
          </p:cNvPr>
          <p:cNvSpPr>
            <a:spLocks noChangeArrowheads="1"/>
          </p:cNvSpPr>
          <p:nvPr/>
        </p:nvSpPr>
        <p:spPr bwMode="auto">
          <a:xfrm>
            <a:off x="6361709" y="2111401"/>
            <a:ext cx="1339453" cy="3750469"/>
          </a:xfrm>
          <a:prstGeom prst="rect">
            <a:avLst/>
          </a:prstGeom>
          <a:solidFill>
            <a:srgbClr val="53FFA1"/>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1" name="矩形 5">
            <a:extLst>
              <a:ext uri="{FF2B5EF4-FFF2-40B4-BE49-F238E27FC236}">
                <a16:creationId xmlns:a16="http://schemas.microsoft.com/office/drawing/2014/main" id="{52E4F8F8-2D62-9442-B90C-24EC90070055}"/>
              </a:ext>
            </a:extLst>
          </p:cNvPr>
          <p:cNvSpPr/>
          <p:nvPr/>
        </p:nvSpPr>
        <p:spPr bwMode="auto">
          <a:xfrm>
            <a:off x="6361709" y="2111401"/>
            <a:ext cx="1339453" cy="803672"/>
          </a:xfrm>
          <a:prstGeom prst="rect">
            <a:avLst/>
          </a:prstGeom>
          <a:solidFill>
            <a:srgbClr val="FF0000"/>
          </a:solidFill>
          <a:ln w="12700" cap="flat" cmpd="sng" algn="ctr">
            <a:solidFill>
              <a:srgbClr val="000000"/>
            </a:solidFill>
            <a:prstDash val="solid"/>
            <a:round/>
            <a:headEnd type="none" w="sm" len="sm"/>
            <a:tailEnd type="none" w="sm" len="sm"/>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2100" b="1" i="0" u="none" strike="noStrike" kern="0" cap="none" spc="0" normalizeH="0" baseline="0" noProof="0">
                <a:ln>
                  <a:noFill/>
                </a:ln>
                <a:solidFill>
                  <a:srgbClr val="0000FF"/>
                </a:solidFill>
                <a:effectLst>
                  <a:outerShdw blurRad="38100" dist="38100" dir="2700000" algn="tl">
                    <a:srgbClr val="000000"/>
                  </a:outerShdw>
                </a:effectLst>
                <a:uLnTx/>
                <a:uFillTx/>
                <a:latin typeface="幼圆" pitchFamily="49" charset="-122"/>
                <a:ea typeface="幼圆" pitchFamily="49" charset="-122"/>
              </a:rPr>
              <a:t>操作系统</a:t>
            </a:r>
          </a:p>
        </p:txBody>
      </p:sp>
      <p:sp>
        <p:nvSpPr>
          <p:cNvPr id="12" name="TextBox 8">
            <a:extLst>
              <a:ext uri="{FF2B5EF4-FFF2-40B4-BE49-F238E27FC236}">
                <a16:creationId xmlns:a16="http://schemas.microsoft.com/office/drawing/2014/main" id="{C744DEB5-3C6E-6549-92FF-CFFCE1F84CD4}"/>
              </a:ext>
            </a:extLst>
          </p:cNvPr>
          <p:cNvSpPr txBox="1">
            <a:spLocks noChangeArrowheads="1"/>
          </p:cNvSpPr>
          <p:nvPr/>
        </p:nvSpPr>
        <p:spPr bwMode="auto">
          <a:xfrm>
            <a:off x="6703715" y="3290120"/>
            <a:ext cx="461665" cy="12322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用户区</a:t>
            </a:r>
          </a:p>
        </p:txBody>
      </p:sp>
      <p:sp>
        <p:nvSpPr>
          <p:cNvPr id="13" name="矩形 6">
            <a:extLst>
              <a:ext uri="{FF2B5EF4-FFF2-40B4-BE49-F238E27FC236}">
                <a16:creationId xmlns:a16="http://schemas.microsoft.com/office/drawing/2014/main" id="{DED483D1-304F-3841-B0BB-233EC06A1D94}"/>
              </a:ext>
            </a:extLst>
          </p:cNvPr>
          <p:cNvSpPr>
            <a:spLocks noChangeArrowheads="1"/>
          </p:cNvSpPr>
          <p:nvPr/>
        </p:nvSpPr>
        <p:spPr bwMode="auto">
          <a:xfrm>
            <a:off x="6361709" y="2915073"/>
            <a:ext cx="1339453" cy="1607344"/>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 name="TextBox 9">
            <a:extLst>
              <a:ext uri="{FF2B5EF4-FFF2-40B4-BE49-F238E27FC236}">
                <a16:creationId xmlns:a16="http://schemas.microsoft.com/office/drawing/2014/main" id="{8C63CE7F-2AE7-DE48-A4E6-8C24B23C3D45}"/>
              </a:ext>
            </a:extLst>
          </p:cNvPr>
          <p:cNvSpPr txBox="1">
            <a:spLocks noChangeArrowheads="1"/>
          </p:cNvSpPr>
          <p:nvPr/>
        </p:nvSpPr>
        <p:spPr bwMode="auto">
          <a:xfrm>
            <a:off x="6308130" y="2593603"/>
            <a:ext cx="13930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（系统区）</a:t>
            </a:r>
          </a:p>
        </p:txBody>
      </p:sp>
      <p:sp>
        <p:nvSpPr>
          <p:cNvPr id="15" name="TextBox 14">
            <a:extLst>
              <a:ext uri="{FF2B5EF4-FFF2-40B4-BE49-F238E27FC236}">
                <a16:creationId xmlns:a16="http://schemas.microsoft.com/office/drawing/2014/main" id="{0FD526A3-CF1B-174A-9D61-F9B5FB14848F}"/>
              </a:ext>
            </a:extLst>
          </p:cNvPr>
          <p:cNvSpPr txBox="1">
            <a:spLocks noChangeArrowheads="1"/>
          </p:cNvSpPr>
          <p:nvPr/>
        </p:nvSpPr>
        <p:spPr bwMode="auto">
          <a:xfrm>
            <a:off x="6415287" y="3397275"/>
            <a:ext cx="1232297"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21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用户程序</a:t>
            </a:r>
          </a:p>
        </p:txBody>
      </p:sp>
      <p:sp>
        <p:nvSpPr>
          <p:cNvPr id="16" name="Rectangle 2">
            <a:extLst>
              <a:ext uri="{FF2B5EF4-FFF2-40B4-BE49-F238E27FC236}">
                <a16:creationId xmlns:a16="http://schemas.microsoft.com/office/drawing/2014/main" id="{42DE6C24-3EF4-DB47-9B27-594CB94A868A}"/>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单一连续分区存储管理</a:t>
            </a:r>
          </a:p>
        </p:txBody>
      </p:sp>
    </p:spTree>
    <p:extLst>
      <p:ext uri="{BB962C8B-B14F-4D97-AF65-F5344CB8AC3E}">
        <p14:creationId xmlns:p14="http://schemas.microsoft.com/office/powerpoint/2010/main" val="392157682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blinds(horizontal)">
                                      <p:cBhvr>
                                        <p:cTn id="7" dur="500"/>
                                        <p:tgtEl>
                                          <p:spTgt spid="13"/>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dissolv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9">
                                            <p:txEl>
                                              <p:pRg st="0" end="0"/>
                                            </p:txEl>
                                          </p:spTgt>
                                        </p:tgtEl>
                                        <p:attrNameLst>
                                          <p:attrName>style.visibility</p:attrName>
                                        </p:attrNameLst>
                                      </p:cBhvr>
                                      <p:to>
                                        <p:strVal val="visible"/>
                                      </p:to>
                                    </p:set>
                                    <p:animEffect transition="in" filter="blinds(horizontal)">
                                      <p:cBhvr>
                                        <p:cTn id="15" dur="500"/>
                                        <p:tgtEl>
                                          <p:spTgt spid="9">
                                            <p:txEl>
                                              <p:pRg st="0" end="0"/>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9">
                                            <p:txEl>
                                              <p:pRg st="1" end="1"/>
                                            </p:txEl>
                                          </p:spTgt>
                                        </p:tgtEl>
                                        <p:attrNameLst>
                                          <p:attrName>style.visibility</p:attrName>
                                        </p:attrNameLst>
                                      </p:cBhvr>
                                      <p:to>
                                        <p:strVal val="visible"/>
                                      </p:to>
                                    </p:set>
                                    <p:animEffect transition="in" filter="blinds(horizontal)">
                                      <p:cBhvr>
                                        <p:cTn id="18" dur="500"/>
                                        <p:tgtEl>
                                          <p:spTgt spid="9">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grpId="0" nodeType="clickEffect">
                                  <p:stCondLst>
                                    <p:cond delay="0"/>
                                  </p:stCondLst>
                                  <p:childTnLst>
                                    <p:set>
                                      <p:cBhvr>
                                        <p:cTn id="22" dur="1" fill="hold">
                                          <p:stCondLst>
                                            <p:cond delay="0"/>
                                          </p:stCondLst>
                                        </p:cTn>
                                        <p:tgtEl>
                                          <p:spTgt spid="9">
                                            <p:txEl>
                                              <p:pRg st="2" end="2"/>
                                            </p:txEl>
                                          </p:spTgt>
                                        </p:tgtEl>
                                        <p:attrNameLst>
                                          <p:attrName>style.visibility</p:attrName>
                                        </p:attrNameLst>
                                      </p:cBhvr>
                                      <p:to>
                                        <p:strVal val="visible"/>
                                      </p:to>
                                    </p:set>
                                    <p:animEffect transition="in" filter="blinds(horizontal)">
                                      <p:cBhvr>
                                        <p:cTn id="23" dur="500"/>
                                        <p:tgtEl>
                                          <p:spTgt spid="9">
                                            <p:txEl>
                                              <p:pRg st="2" end="2"/>
                                            </p:txEl>
                                          </p:spTgt>
                                        </p:tgtEl>
                                      </p:cBhvr>
                                    </p:animEffect>
                                  </p:childTnLst>
                                </p:cTn>
                              </p:par>
                              <p:par>
                                <p:cTn id="24" presetID="3" presetClass="entr" presetSubtype="10" fill="hold" grpId="0" nodeType="withEffect">
                                  <p:stCondLst>
                                    <p:cond delay="0"/>
                                  </p:stCondLst>
                                  <p:childTnLst>
                                    <p:set>
                                      <p:cBhvr>
                                        <p:cTn id="25" dur="1" fill="hold">
                                          <p:stCondLst>
                                            <p:cond delay="0"/>
                                          </p:stCondLst>
                                        </p:cTn>
                                        <p:tgtEl>
                                          <p:spTgt spid="9">
                                            <p:txEl>
                                              <p:pRg st="3" end="3"/>
                                            </p:txEl>
                                          </p:spTgt>
                                        </p:tgtEl>
                                        <p:attrNameLst>
                                          <p:attrName>style.visibility</p:attrName>
                                        </p:attrNameLst>
                                      </p:cBhvr>
                                      <p:to>
                                        <p:strVal val="visible"/>
                                      </p:to>
                                    </p:set>
                                    <p:animEffect transition="in" filter="blinds(horizontal)">
                                      <p:cBhvr>
                                        <p:cTn id="26" dur="500"/>
                                        <p:tgtEl>
                                          <p:spTgt spid="9">
                                            <p:txEl>
                                              <p:pRg st="3" end="3"/>
                                            </p:txEl>
                                          </p:spTgt>
                                        </p:tgtEl>
                                      </p:cBhvr>
                                    </p:animEffect>
                                  </p:childTnLst>
                                </p:cTn>
                              </p:par>
                              <p:par>
                                <p:cTn id="27" presetID="3" presetClass="entr" presetSubtype="10" fill="hold" grpId="0" nodeType="withEffect">
                                  <p:stCondLst>
                                    <p:cond delay="0"/>
                                  </p:stCondLst>
                                  <p:childTnLst>
                                    <p:set>
                                      <p:cBhvr>
                                        <p:cTn id="28" dur="1" fill="hold">
                                          <p:stCondLst>
                                            <p:cond delay="0"/>
                                          </p:stCondLst>
                                        </p:cTn>
                                        <p:tgtEl>
                                          <p:spTgt spid="9">
                                            <p:txEl>
                                              <p:pRg st="4" end="4"/>
                                            </p:txEl>
                                          </p:spTgt>
                                        </p:tgtEl>
                                        <p:attrNameLst>
                                          <p:attrName>style.visibility</p:attrName>
                                        </p:attrNameLst>
                                      </p:cBhvr>
                                      <p:to>
                                        <p:strVal val="visible"/>
                                      </p:to>
                                    </p:set>
                                    <p:animEffect transition="in" filter="blinds(horizontal)">
                                      <p:cBhvr>
                                        <p:cTn id="29" dur="500"/>
                                        <p:tgtEl>
                                          <p:spTgt spid="9">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3" presetClass="entr" presetSubtype="10" fill="hold" grpId="0" nodeType="clickEffect">
                                  <p:stCondLst>
                                    <p:cond delay="0"/>
                                  </p:stCondLst>
                                  <p:childTnLst>
                                    <p:set>
                                      <p:cBhvr>
                                        <p:cTn id="33" dur="1" fill="hold">
                                          <p:stCondLst>
                                            <p:cond delay="0"/>
                                          </p:stCondLst>
                                        </p:cTn>
                                        <p:tgtEl>
                                          <p:spTgt spid="9">
                                            <p:txEl>
                                              <p:pRg st="5" end="5"/>
                                            </p:txEl>
                                          </p:spTgt>
                                        </p:tgtEl>
                                        <p:attrNameLst>
                                          <p:attrName>style.visibility</p:attrName>
                                        </p:attrNameLst>
                                      </p:cBhvr>
                                      <p:to>
                                        <p:strVal val="visible"/>
                                      </p:to>
                                    </p:set>
                                    <p:animEffect transition="in" filter="blinds(horizontal)">
                                      <p:cBhvr>
                                        <p:cTn id="34" dur="500"/>
                                        <p:tgtEl>
                                          <p:spTgt spid="9">
                                            <p:txEl>
                                              <p:pRg st="5" end="5"/>
                                            </p:txEl>
                                          </p:spTgt>
                                        </p:tgtEl>
                                      </p:cBhvr>
                                    </p:animEffect>
                                  </p:childTnLst>
                                </p:cTn>
                              </p:par>
                              <p:par>
                                <p:cTn id="35" presetID="3" presetClass="entr" presetSubtype="10" fill="hold" grpId="0" nodeType="withEffect">
                                  <p:stCondLst>
                                    <p:cond delay="0"/>
                                  </p:stCondLst>
                                  <p:childTnLst>
                                    <p:set>
                                      <p:cBhvr>
                                        <p:cTn id="36" dur="1" fill="hold">
                                          <p:stCondLst>
                                            <p:cond delay="0"/>
                                          </p:stCondLst>
                                        </p:cTn>
                                        <p:tgtEl>
                                          <p:spTgt spid="9">
                                            <p:txEl>
                                              <p:pRg st="6" end="6"/>
                                            </p:txEl>
                                          </p:spTgt>
                                        </p:tgtEl>
                                        <p:attrNameLst>
                                          <p:attrName>style.visibility</p:attrName>
                                        </p:attrNameLst>
                                      </p:cBhvr>
                                      <p:to>
                                        <p:strVal val="visible"/>
                                      </p:to>
                                    </p:set>
                                    <p:animEffect transition="in" filter="blinds(horizontal)">
                                      <p:cBhvr>
                                        <p:cTn id="37" dur="500"/>
                                        <p:tgtEl>
                                          <p:spTgt spid="9">
                                            <p:txEl>
                                              <p:pRg st="6" end="6"/>
                                            </p:txEl>
                                          </p:spTgt>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9">
                                            <p:txEl>
                                              <p:pRg st="7" end="7"/>
                                            </p:txEl>
                                          </p:spTgt>
                                        </p:tgtEl>
                                        <p:attrNameLst>
                                          <p:attrName>style.visibility</p:attrName>
                                        </p:attrNameLst>
                                      </p:cBhvr>
                                      <p:to>
                                        <p:strVal val="visible"/>
                                      </p:to>
                                    </p:set>
                                    <p:animEffect transition="in" filter="blinds(horizontal)">
                                      <p:cBhvr>
                                        <p:cTn id="40" dur="500"/>
                                        <p:tgtEl>
                                          <p:spTgt spid="9">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3" presetClass="entr" presetSubtype="10" fill="hold" grpId="0" nodeType="clickEffect">
                                  <p:stCondLst>
                                    <p:cond delay="0"/>
                                  </p:stCondLst>
                                  <p:childTnLst>
                                    <p:set>
                                      <p:cBhvr>
                                        <p:cTn id="44" dur="1" fill="hold">
                                          <p:stCondLst>
                                            <p:cond delay="0"/>
                                          </p:stCondLst>
                                        </p:cTn>
                                        <p:tgtEl>
                                          <p:spTgt spid="9">
                                            <p:txEl>
                                              <p:pRg st="8" end="8"/>
                                            </p:txEl>
                                          </p:spTgt>
                                        </p:tgtEl>
                                        <p:attrNameLst>
                                          <p:attrName>style.visibility</p:attrName>
                                        </p:attrNameLst>
                                      </p:cBhvr>
                                      <p:to>
                                        <p:strVal val="visible"/>
                                      </p:to>
                                    </p:set>
                                    <p:animEffect transition="in" filter="blinds(horizontal)">
                                      <p:cBhvr>
                                        <p:cTn id="45" dur="500"/>
                                        <p:tgtEl>
                                          <p:spTgt spid="9">
                                            <p:txEl>
                                              <p:pRg st="8" end="8"/>
                                            </p:txEl>
                                          </p:spTgt>
                                        </p:tgtEl>
                                      </p:cBhvr>
                                    </p:animEffect>
                                  </p:childTnLst>
                                </p:cTn>
                              </p:par>
                              <p:par>
                                <p:cTn id="46" presetID="3" presetClass="entr" presetSubtype="10" fill="hold" grpId="0" nodeType="withEffect">
                                  <p:stCondLst>
                                    <p:cond delay="0"/>
                                  </p:stCondLst>
                                  <p:childTnLst>
                                    <p:set>
                                      <p:cBhvr>
                                        <p:cTn id="47" dur="1" fill="hold">
                                          <p:stCondLst>
                                            <p:cond delay="0"/>
                                          </p:stCondLst>
                                        </p:cTn>
                                        <p:tgtEl>
                                          <p:spTgt spid="9">
                                            <p:txEl>
                                              <p:pRg st="9" end="9"/>
                                            </p:txEl>
                                          </p:spTgt>
                                        </p:tgtEl>
                                        <p:attrNameLst>
                                          <p:attrName>style.visibility</p:attrName>
                                        </p:attrNameLst>
                                      </p:cBhvr>
                                      <p:to>
                                        <p:strVal val="visible"/>
                                      </p:to>
                                    </p:set>
                                    <p:animEffect transition="in" filter="blinds(horizontal)">
                                      <p:cBhvr>
                                        <p:cTn id="48" dur="500"/>
                                        <p:tgtEl>
                                          <p:spTgt spid="9">
                                            <p:txEl>
                                              <p:pRg st="9" end="9"/>
                                            </p:txEl>
                                          </p:spTgt>
                                        </p:tgtEl>
                                      </p:cBhvr>
                                    </p:animEffect>
                                  </p:childTnLst>
                                </p:cTn>
                              </p:par>
                              <p:par>
                                <p:cTn id="49" presetID="3" presetClass="entr" presetSubtype="10" fill="hold" grpId="0" nodeType="withEffect">
                                  <p:stCondLst>
                                    <p:cond delay="0"/>
                                  </p:stCondLst>
                                  <p:childTnLst>
                                    <p:set>
                                      <p:cBhvr>
                                        <p:cTn id="50" dur="1" fill="hold">
                                          <p:stCondLst>
                                            <p:cond delay="0"/>
                                          </p:stCondLst>
                                        </p:cTn>
                                        <p:tgtEl>
                                          <p:spTgt spid="9">
                                            <p:txEl>
                                              <p:pRg st="10" end="10"/>
                                            </p:txEl>
                                          </p:spTgt>
                                        </p:tgtEl>
                                        <p:attrNameLst>
                                          <p:attrName>style.visibility</p:attrName>
                                        </p:attrNameLst>
                                      </p:cBhvr>
                                      <p:to>
                                        <p:strVal val="visible"/>
                                      </p:to>
                                    </p:set>
                                    <p:animEffect transition="in" filter="blinds(horizontal)">
                                      <p:cBhvr>
                                        <p:cTn id="5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3" grpId="0" animBg="1"/>
      <p:bldP spid="1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AF301832-5D94-0B47-BBE1-E2286FF2357B}"/>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单一连续分区存储管理</a:t>
            </a:r>
          </a:p>
        </p:txBody>
      </p:sp>
      <p:sp>
        <p:nvSpPr>
          <p:cNvPr id="34819" name="Rectangle 3">
            <a:extLst>
              <a:ext uri="{FF2B5EF4-FFF2-40B4-BE49-F238E27FC236}">
                <a16:creationId xmlns:a16="http://schemas.microsoft.com/office/drawing/2014/main" id="{242A1F0A-57E3-E346-993A-A89AE0063680}"/>
              </a:ext>
            </a:extLst>
          </p:cNvPr>
          <p:cNvSpPr>
            <a:spLocks noGrp="1" noChangeArrowheads="1"/>
          </p:cNvSpPr>
          <p:nvPr>
            <p:ph type="body" idx="1"/>
          </p:nvPr>
        </p:nvSpPr>
        <p:spPr>
          <a:xfrm>
            <a:off x="395288" y="1285875"/>
            <a:ext cx="8424862" cy="4113213"/>
          </a:xfrm>
        </p:spPr>
        <p:txBody>
          <a:bodyPr/>
          <a:lstStyle/>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）采用动态重定位方式</a:t>
            </a:r>
          </a:p>
          <a:p>
            <a:pPr marL="0" indent="0" eaLnBrk="1" hangingPunct="1">
              <a:lnSpc>
                <a:spcPct val="150000"/>
              </a:lnSpc>
              <a:spcBef>
                <a:spcPct val="0"/>
              </a:spcBef>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设置一个重定位寄存器并用它来指明内存中系统区和用户区的地址界限，同时作为用户区的基地址。用户程序由装入程序装入从界限地址开始的内存区域，但这时并不进行地址转换。地址转换要推迟到程序运行中，当所执行的指令含有访存地址（逻辑地址）时，这时硬件地址转换机构就将这个逻辑地址与重定位寄存器中的值（界限地址）相加，得到要访问的物理地址</a:t>
            </a:r>
            <a:r>
              <a:rPr lang="zh-CN" altLang="en-US" sz="2000">
                <a:solidFill>
                  <a:schemeClr val="tx1"/>
                </a:solidFill>
                <a:effectLst/>
                <a:latin typeface="宋体" panose="02010600030101010101" pitchFamily="2" charset="-122"/>
              </a:rPr>
              <a:t>。</a:t>
            </a: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pic>
        <p:nvPicPr>
          <p:cNvPr id="35844" name="Picture 5" descr="4-10">
            <a:extLst>
              <a:ext uri="{FF2B5EF4-FFF2-40B4-BE49-F238E27FC236}">
                <a16:creationId xmlns:a16="http://schemas.microsoft.com/office/drawing/2014/main" id="{453DD3EA-EC1F-CE47-B78E-ED31EAAADD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7563" y="4357688"/>
            <a:ext cx="5000625" cy="227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3460932E-02C7-7D40-8802-0C9954CEAD2D}"/>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单一连续分区存储管理</a:t>
            </a:r>
          </a:p>
        </p:txBody>
      </p:sp>
      <p:sp>
        <p:nvSpPr>
          <p:cNvPr id="34819" name="Rectangle 3">
            <a:extLst>
              <a:ext uri="{FF2B5EF4-FFF2-40B4-BE49-F238E27FC236}">
                <a16:creationId xmlns:a16="http://schemas.microsoft.com/office/drawing/2014/main" id="{78825DF2-4F1E-9D46-BAA5-A6DF94E25D7E}"/>
              </a:ext>
            </a:extLst>
          </p:cNvPr>
          <p:cNvSpPr>
            <a:spLocks noGrp="1" noChangeArrowheads="1"/>
          </p:cNvSpPr>
          <p:nvPr>
            <p:ph type="body" idx="1"/>
          </p:nvPr>
        </p:nvSpPr>
        <p:spPr>
          <a:xfrm>
            <a:off x="176213" y="1700213"/>
            <a:ext cx="8640762" cy="4519612"/>
          </a:xfrm>
        </p:spPr>
        <p:txBody>
          <a:bodyPr/>
          <a:lstStyle/>
          <a:p>
            <a:pPr indent="0" algn="just">
              <a:lnSpc>
                <a:spcPts val="4600"/>
              </a:lnSpc>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en-US" sz="2000">
                <a:solidFill>
                  <a:srgbClr val="FF0000"/>
                </a:solidFill>
                <a:effectLst/>
                <a:latin typeface="Times New Roman" panose="02020603050405020304" pitchFamily="18" charset="0"/>
                <a:cs typeface="Times New Roman" panose="02020603050405020304" pitchFamily="18" charset="0"/>
              </a:rPr>
              <a:t>注意：</a:t>
            </a:r>
            <a:endParaRPr lang="en-US" altLang="zh-CN" sz="2000">
              <a:solidFill>
                <a:srgbClr val="FF0000"/>
              </a:solidFill>
              <a:effectLst/>
              <a:latin typeface="Times New Roman" panose="02020603050405020304" pitchFamily="18" charset="0"/>
              <a:cs typeface="Times New Roman" panose="02020603050405020304" pitchFamily="18" charset="0"/>
            </a:endParaRPr>
          </a:p>
          <a:p>
            <a:pPr indent="0" algn="just">
              <a:lnSpc>
                <a:spcPts val="4600"/>
              </a:lnSpc>
              <a:buFont typeface="Wingdings" pitchFamily="2" charset="2"/>
              <a:buNone/>
            </a:pPr>
            <a:r>
              <a:rPr lang="en-US" altLang="zh-CN" sz="2000">
                <a:solidFill>
                  <a:srgbClr val="FF0000"/>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采用动态重定位可以任意修改程序以及在内存中移动程序的存放位置（系统同时将程序移动后存放的内存首地址送入重定位寄存器），由于程序中指令里出现访存地址是逻辑地址，且地址转换是在指令执行过程中完成的，因此程序的修改和移动并不对地址转换造成影响。动态重定位的存储保护也很容易实现，即检查该物理地址是否超出允许的区域范围，若超出则产生地址越界错误。</a:t>
            </a:r>
            <a:endParaRPr lang="zh-CN" altLang="zh-CN" sz="2000">
              <a:solidFill>
                <a:schemeClr val="tx1"/>
              </a:solidFill>
              <a:effectLst/>
              <a:latin typeface="等线" panose="02010600030101010101" pitchFamily="2" charset="-122"/>
              <a:ea typeface="等线" panose="02010600030101010101" pitchFamily="2" charset="-122"/>
              <a:cs typeface="Times New Roman" panose="02020603050405020304" pitchFamily="18" charset="0"/>
            </a:endParaRPr>
          </a:p>
          <a:p>
            <a:pPr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B835756C-E937-E941-AC84-877F038DA83D}"/>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单一连续分区存储管理</a:t>
            </a:r>
          </a:p>
        </p:txBody>
      </p:sp>
      <p:sp>
        <p:nvSpPr>
          <p:cNvPr id="37891" name="Rectangle 3">
            <a:extLst>
              <a:ext uri="{FF2B5EF4-FFF2-40B4-BE49-F238E27FC236}">
                <a16:creationId xmlns:a16="http://schemas.microsoft.com/office/drawing/2014/main" id="{5E7AE742-1769-CC4B-8698-4D48B9DD9DAC}"/>
              </a:ext>
            </a:extLst>
          </p:cNvPr>
          <p:cNvSpPr>
            <a:spLocks noGrp="1" noChangeArrowheads="1"/>
          </p:cNvSpPr>
          <p:nvPr>
            <p:ph type="body" idx="1"/>
          </p:nvPr>
        </p:nvSpPr>
        <p:spPr>
          <a:xfrm>
            <a:off x="571500" y="1357313"/>
            <a:ext cx="8215313" cy="5143500"/>
          </a:xfrm>
        </p:spPr>
        <p:txBody>
          <a:bodyPr/>
          <a:lstStyle/>
          <a:p>
            <a:pPr marL="0" indent="0" algn="just" eaLnBrk="1" hangingPunct="1">
              <a:lnSpc>
                <a:spcPct val="130000"/>
              </a:lnSpc>
              <a:spcBef>
                <a:spcPct val="0"/>
              </a:spcBef>
              <a:buFont typeface="Wingdings" pitchFamily="2" charset="2"/>
              <a:buNone/>
            </a:pPr>
            <a:r>
              <a:rPr lang="en-US" altLang="zh-CN">
                <a:solidFill>
                  <a:srgbClr val="FF0000"/>
                </a:solidFill>
                <a:effectLst/>
                <a:latin typeface="宋体" panose="02010600030101010101" pitchFamily="2" charset="-122"/>
              </a:rPr>
              <a:t>4. </a:t>
            </a:r>
            <a:r>
              <a:rPr lang="zh-CN" altLang="en-US">
                <a:solidFill>
                  <a:srgbClr val="FF0000"/>
                </a:solidFill>
                <a:effectLst/>
                <a:latin typeface="宋体" panose="02010600030101010101" pitchFamily="2" charset="-122"/>
              </a:rPr>
              <a:t>单一连续分区管理的优缺点</a:t>
            </a:r>
          </a:p>
          <a:p>
            <a:pPr marL="0" indent="0" algn="just" eaLnBrk="1" hangingPunct="1">
              <a:lnSpc>
                <a:spcPct val="130000"/>
              </a:lnSpc>
              <a:spcBef>
                <a:spcPct val="0"/>
              </a:spcBef>
              <a:buFont typeface="Wingdings" pitchFamily="2" charset="2"/>
              <a:buNone/>
            </a:pPr>
            <a:r>
              <a:rPr lang="zh-CN" altLang="en-US" sz="2000">
                <a:solidFill>
                  <a:srgbClr val="FF0000"/>
                </a:solidFill>
                <a:effectLst/>
                <a:latin typeface="宋体" panose="02010600030101010101" pitchFamily="2" charset="-122"/>
              </a:rPr>
              <a:t>优点：</a:t>
            </a:r>
            <a:endParaRPr lang="en-US" altLang="zh-CN" sz="2000">
              <a:solidFill>
                <a:srgbClr val="FF0000"/>
              </a:solidFill>
              <a:effectLst/>
              <a:latin typeface="宋体" panose="02010600030101010101" pitchFamily="2" charset="-122"/>
            </a:endParaRP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① 管理简单，开销小；</a:t>
            </a: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② 安全性高，除了系统区外，用户区中只有一个程序，不存在多个程序相互影响的问题；</a:t>
            </a: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③ 采用静态重定位方式时不需要硬件支持。</a:t>
            </a:r>
          </a:p>
          <a:p>
            <a:pPr marL="0" indent="0" algn="just" eaLnBrk="1" hangingPunct="1">
              <a:lnSpc>
                <a:spcPct val="130000"/>
              </a:lnSpc>
              <a:spcBef>
                <a:spcPct val="0"/>
              </a:spcBef>
              <a:buFont typeface="Wingdings" pitchFamily="2" charset="2"/>
              <a:buNone/>
            </a:pPr>
            <a:r>
              <a:rPr lang="zh-CN" altLang="en-US" sz="2000">
                <a:solidFill>
                  <a:srgbClr val="FF0000"/>
                </a:solidFill>
                <a:effectLst/>
                <a:latin typeface="宋体" panose="02010600030101010101" pitchFamily="2" charset="-122"/>
              </a:rPr>
              <a:t>缺点：</a:t>
            </a:r>
            <a:endParaRPr lang="en-US" altLang="zh-CN" sz="2000">
              <a:solidFill>
                <a:srgbClr val="FF0000"/>
              </a:solidFill>
              <a:effectLst/>
              <a:latin typeface="宋体" panose="02010600030101010101" pitchFamily="2" charset="-122"/>
            </a:endParaRP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① 不支持多用户；</a:t>
            </a: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② 程序的地址空间受用户区空间大小的限制，这是因为程序在运行前必须一次性装入内存的连续区域，若程序的地址空间比用户区大则无法装入；</a:t>
            </a:r>
          </a:p>
          <a:p>
            <a:pPr marL="0" indent="0" algn="just" eaLnBrk="1" hangingPunct="1">
              <a:lnSpc>
                <a:spcPct val="130000"/>
              </a:lnSpc>
              <a:spcBef>
                <a:spcPct val="0"/>
              </a:spcBef>
              <a:buFont typeface="Wingdings" pitchFamily="2" charset="2"/>
              <a:buNone/>
            </a:pPr>
            <a:r>
              <a:rPr lang="zh-CN" altLang="en-US" sz="2000">
                <a:solidFill>
                  <a:schemeClr val="tx1"/>
                </a:solidFill>
                <a:effectLst/>
                <a:latin typeface="宋体" panose="02010600030101010101" pitchFamily="2" charset="-122"/>
              </a:rPr>
              <a:t>③ 由于一个程序独占系统资源，这样会造成系统资源的严重浪费。</a:t>
            </a:r>
          </a:p>
        </p:txBody>
      </p:sp>
    </p:spTree>
  </p:cSld>
  <p:clrMapOvr>
    <a:masterClrMapping/>
  </p:clrMapOvr>
  <p:transition>
    <p:random/>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28E19741-6AC4-BE48-BDC7-2E4DCECF27D4}"/>
              </a:ext>
            </a:extLst>
          </p:cNvPr>
          <p:cNvSpPr txBox="1">
            <a:spLocks noChangeArrowheads="1"/>
          </p:cNvSpPr>
          <p:nvPr/>
        </p:nvSpPr>
        <p:spPr>
          <a:xfrm>
            <a:off x="466725" y="368300"/>
            <a:ext cx="5761038" cy="828675"/>
          </a:xfrm>
          <a:prstGeom prst="rect">
            <a:avLst/>
          </a:prstGeom>
          <a:noFill/>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固定分区存储管理</a:t>
            </a:r>
          </a:p>
        </p:txBody>
      </p:sp>
      <p:sp>
        <p:nvSpPr>
          <p:cNvPr id="3" name="Rectangle 2">
            <a:extLst>
              <a:ext uri="{FF2B5EF4-FFF2-40B4-BE49-F238E27FC236}">
                <a16:creationId xmlns:a16="http://schemas.microsoft.com/office/drawing/2014/main" id="{7D6F2A2E-F3C7-9A4E-8C85-DD6300CD8E08}"/>
              </a:ext>
            </a:extLst>
          </p:cNvPr>
          <p:cNvSpPr/>
          <p:nvPr/>
        </p:nvSpPr>
        <p:spPr>
          <a:xfrm>
            <a:off x="189007" y="1196975"/>
            <a:ext cx="3158237" cy="481863"/>
          </a:xfrm>
          <a:prstGeom prst="rect">
            <a:avLst/>
          </a:prstGeom>
        </p:spPr>
        <p:txBody>
          <a:bodyPr wrap="none">
            <a:spAutoFit/>
          </a:bodyPr>
          <a:lstStyle/>
          <a:p>
            <a:pPr>
              <a:lnSpc>
                <a:spcPct val="150000"/>
              </a:lnSpc>
              <a:buFont typeface="Wingdings" pitchFamily="2" charset="2"/>
              <a:buNone/>
            </a:pPr>
            <a:r>
              <a:rPr lang="en-US" altLang="zh-CN" dirty="0">
                <a:solidFill>
                  <a:srgbClr val="FF0000"/>
                </a:solidFill>
                <a:effectLst>
                  <a:outerShdw blurRad="38100" dist="38100" dir="2700000" algn="tl">
                    <a:srgbClr val="FFFFFF"/>
                  </a:outerShdw>
                </a:effectLst>
              </a:rPr>
              <a:t>4.3.2  </a:t>
            </a:r>
            <a:r>
              <a:rPr lang="zh-CN" altLang="en-US" dirty="0">
                <a:solidFill>
                  <a:srgbClr val="FF0000"/>
                </a:solidFill>
                <a:effectLst>
                  <a:outerShdw blurRad="38100" dist="38100" dir="2700000" algn="tl">
                    <a:srgbClr val="FFFFFF"/>
                  </a:outerShdw>
                </a:effectLst>
              </a:rPr>
              <a:t>固定分区存储管理</a:t>
            </a:r>
          </a:p>
        </p:txBody>
      </p:sp>
      <p:sp>
        <p:nvSpPr>
          <p:cNvPr id="10" name="AutoShape 10">
            <a:extLst>
              <a:ext uri="{FF2B5EF4-FFF2-40B4-BE49-F238E27FC236}">
                <a16:creationId xmlns:a16="http://schemas.microsoft.com/office/drawing/2014/main" id="{930EEEEE-14AE-6648-9282-C10534FA6E01}"/>
              </a:ext>
            </a:extLst>
          </p:cNvPr>
          <p:cNvSpPr>
            <a:spLocks noChangeArrowheads="1"/>
          </p:cNvSpPr>
          <p:nvPr/>
        </p:nvSpPr>
        <p:spPr bwMode="auto">
          <a:xfrm>
            <a:off x="760413" y="4287100"/>
            <a:ext cx="8137525" cy="2232025"/>
          </a:xfrm>
          <a:prstGeom prst="roundRect">
            <a:avLst>
              <a:gd name="adj" fmla="val 16667"/>
            </a:avLst>
          </a:prstGeom>
          <a:solidFill>
            <a:srgbClr val="FFFF99"/>
          </a:solidFill>
          <a:ln w="9525">
            <a:solidFill>
              <a:srgbClr val="000000"/>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a typeface="宋体" panose="02010600030101010101" pitchFamily="2" charset="-122"/>
            </a:endParaRPr>
          </a:p>
        </p:txBody>
      </p:sp>
      <p:sp>
        <p:nvSpPr>
          <p:cNvPr id="11" name="AutoShape 9">
            <a:extLst>
              <a:ext uri="{FF2B5EF4-FFF2-40B4-BE49-F238E27FC236}">
                <a16:creationId xmlns:a16="http://schemas.microsoft.com/office/drawing/2014/main" id="{16BFC17A-EA5D-024A-8161-0903ED9033D9}"/>
              </a:ext>
            </a:extLst>
          </p:cNvPr>
          <p:cNvSpPr>
            <a:spLocks noChangeArrowheads="1"/>
          </p:cNvSpPr>
          <p:nvPr/>
        </p:nvSpPr>
        <p:spPr bwMode="auto">
          <a:xfrm>
            <a:off x="760413" y="1767738"/>
            <a:ext cx="8066087" cy="2376487"/>
          </a:xfrm>
          <a:prstGeom prst="roundRect">
            <a:avLst>
              <a:gd name="adj" fmla="val 16667"/>
            </a:avLst>
          </a:prstGeom>
          <a:solidFill>
            <a:srgbClr val="CCFFCC"/>
          </a:solidFill>
          <a:ln w="9525">
            <a:solidFill>
              <a:srgbClr val="000000"/>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a typeface="宋体" panose="02010600030101010101" pitchFamily="2" charset="-122"/>
            </a:endParaRPr>
          </a:p>
        </p:txBody>
      </p:sp>
      <p:sp>
        <p:nvSpPr>
          <p:cNvPr id="12" name="Rectangle 3">
            <a:extLst>
              <a:ext uri="{FF2B5EF4-FFF2-40B4-BE49-F238E27FC236}">
                <a16:creationId xmlns:a16="http://schemas.microsoft.com/office/drawing/2014/main" id="{E3D9037B-54AE-974E-99D9-D51E227A451A}"/>
              </a:ext>
            </a:extLst>
          </p:cNvPr>
          <p:cNvSpPr txBox="1">
            <a:spLocks noChangeArrowheads="1"/>
          </p:cNvSpPr>
          <p:nvPr/>
        </p:nvSpPr>
        <p:spPr bwMode="auto">
          <a:xfrm>
            <a:off x="390525" y="1767738"/>
            <a:ext cx="8362950" cy="5014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31800" marR="0" lvl="0" indent="-431800" algn="just" defTabSz="914400" rtl="0" eaLnBrk="1" fontAlgn="base" latinLnBrk="0" hangingPunct="1">
              <a:lnSpc>
                <a:spcPct val="150000"/>
              </a:lnSpc>
              <a:spcBef>
                <a:spcPct val="20000"/>
              </a:spcBef>
              <a:spcAft>
                <a:spcPct val="0"/>
              </a:spcAft>
              <a:buClr>
                <a:srgbClr val="FF3300"/>
              </a:buClr>
              <a:buSzTx/>
              <a:buFont typeface="Wingdings" panose="05000000000000000000" pitchFamily="2" charset="2"/>
              <a:buChar char="l"/>
              <a:tabLst/>
              <a:defRPr/>
            </a:pPr>
            <a:r>
              <a:rPr kumimoji="0" lang="zh-CN" altLang="en-US" sz="24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分区存储管理</a:t>
            </a:r>
            <a:r>
              <a:rPr kumimoji="0" lang="zh-CN" altLang="en-US" sz="2400" b="1" i="0" u="none" strike="noStrike" kern="1200" cap="none" spc="0" normalizeH="0" baseline="0" noProof="0">
                <a:ln>
                  <a:noFill/>
                </a:ln>
                <a:solidFill>
                  <a:srgbClr val="000000"/>
                </a:solidFill>
                <a:effectLst/>
                <a:uLnTx/>
                <a:uFillTx/>
                <a:latin typeface="Calibri"/>
                <a:ea typeface="宋体"/>
                <a:cs typeface="+mn-cs"/>
              </a:rPr>
              <a:t>能够满足多道程序设计系统的要求，</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它的</a:t>
            </a:r>
            <a:r>
              <a:rPr kumimoji="0" lang="zh-CN" altLang="en-US" sz="2400" b="1" i="0" u="none" strike="noStrike" kern="1200" cap="none" spc="0" normalizeH="0" baseline="0" noProof="0">
                <a:ln>
                  <a:noFill/>
                </a:ln>
                <a:solidFill>
                  <a:srgbClr val="0000FF"/>
                </a:solidFill>
                <a:effectLst/>
                <a:uLnTx/>
                <a:uFillTx/>
                <a:latin typeface="Calibri"/>
                <a:ea typeface="华文行楷" panose="02010800040101010101" pitchFamily="2" charset="-122"/>
                <a:cs typeface="+mn-cs"/>
              </a:rPr>
              <a:t>基本思想</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是将主存的</a:t>
            </a:r>
            <a:r>
              <a:rPr kumimoji="0" lang="zh-CN" altLang="en-US" sz="2400" b="1" i="0" u="none" strike="noStrike" kern="1200" cap="none" spc="0" normalizeH="0" baseline="0" noProof="0">
                <a:ln>
                  <a:noFill/>
                </a:ln>
                <a:solidFill>
                  <a:srgbClr val="FF3300"/>
                </a:solidFill>
                <a:effectLst/>
                <a:uLnTx/>
                <a:uFillTx/>
                <a:latin typeface="Calibri"/>
                <a:ea typeface="华文行楷" panose="02010800040101010101" pitchFamily="2" charset="-122"/>
                <a:cs typeface="+mn-cs"/>
              </a:rPr>
              <a:t>用户区域</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划分为一个个</a:t>
            </a:r>
            <a:r>
              <a:rPr kumimoji="0" lang="zh-CN" altLang="en-US" sz="2400" b="1" i="0" u="none" strike="noStrike" kern="1200" cap="none" spc="0" normalizeH="0" baseline="0" noProof="0">
                <a:ln>
                  <a:noFill/>
                </a:ln>
                <a:solidFill>
                  <a:srgbClr val="FF3300"/>
                </a:solidFill>
                <a:effectLst/>
                <a:uLnTx/>
                <a:uFillTx/>
                <a:latin typeface="Calibri"/>
                <a:ea typeface="华文行楷" panose="02010800040101010101" pitchFamily="2" charset="-122"/>
                <a:cs typeface="+mn-cs"/>
              </a:rPr>
              <a:t>连续区域</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，进入主存的用户作业可以分配一个连续存储区，各作业存储在各自的连续存储区域，从而支持多道作业的并发执行</a:t>
            </a:r>
            <a:r>
              <a:rPr kumimoji="0" lang="zh-CN" altLang="en-US" sz="2400" b="1" i="0" u="none" strike="noStrike" kern="1200" cap="none" spc="0" normalizeH="0" baseline="0" noProof="0">
                <a:ln>
                  <a:noFill/>
                </a:ln>
                <a:solidFill>
                  <a:srgbClr val="000000"/>
                </a:solidFill>
                <a:effectLst/>
                <a:uLnTx/>
                <a:uFillTx/>
                <a:latin typeface="Calibri"/>
                <a:ea typeface="宋体"/>
                <a:cs typeface="+mn-cs"/>
              </a:rPr>
              <a:t>。</a:t>
            </a:r>
          </a:p>
          <a:p>
            <a:pPr marL="431800" marR="0" lvl="0" indent="-431800" algn="just" defTabSz="914400" rtl="0" eaLnBrk="1" fontAlgn="base" latinLnBrk="0" hangingPunct="1">
              <a:lnSpc>
                <a:spcPct val="150000"/>
              </a:lnSpc>
              <a:spcBef>
                <a:spcPts val="2400"/>
              </a:spcBef>
              <a:spcAft>
                <a:spcPct val="0"/>
              </a:spcAft>
              <a:buClr>
                <a:srgbClr val="FF3300"/>
              </a:buClr>
              <a:buSzTx/>
              <a:buFont typeface="Wingdings" panose="05000000000000000000" pitchFamily="2" charset="2"/>
              <a:buChar char="l"/>
              <a:tabLst/>
              <a:defRPr/>
            </a:pPr>
            <a:r>
              <a:rPr kumimoji="0" lang="zh-CN" altLang="en-US" sz="24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固定分区存储管理</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是把主存</a:t>
            </a:r>
            <a:r>
              <a:rPr kumimoji="0" lang="zh-CN" altLang="en-US" sz="2400" b="1" i="0" u="none" strike="noStrike" kern="1200" cap="none" spc="0" normalizeH="0" baseline="0" noProof="0">
                <a:ln>
                  <a:noFill/>
                </a:ln>
                <a:solidFill>
                  <a:srgbClr val="FF3300"/>
                </a:solidFill>
                <a:effectLst/>
                <a:uLnTx/>
                <a:uFillTx/>
                <a:latin typeface="Calibri"/>
                <a:ea typeface="华文行楷" panose="02010800040101010101" pitchFamily="2" charset="-122"/>
                <a:cs typeface="+mn-cs"/>
              </a:rPr>
              <a:t>用户空间</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划分成若干个连续区域，每个区域的</a:t>
            </a:r>
            <a:r>
              <a:rPr kumimoji="0" lang="zh-CN" altLang="en-US" sz="2400" b="1" i="0" u="none" strike="noStrike" kern="1200" cap="none" spc="0" normalizeH="0" baseline="0" noProof="0">
                <a:ln>
                  <a:noFill/>
                </a:ln>
                <a:solidFill>
                  <a:srgbClr val="FF3300"/>
                </a:solidFill>
                <a:effectLst/>
                <a:uLnTx/>
                <a:uFillTx/>
                <a:latin typeface="Calibri"/>
                <a:ea typeface="华文行楷" panose="02010800040101010101" pitchFamily="2" charset="-122"/>
                <a:cs typeface="+mn-cs"/>
              </a:rPr>
              <a:t>位置固定</a:t>
            </a:r>
            <a:r>
              <a:rPr kumimoji="0" lang="zh-CN" altLang="en-US" sz="2400" b="1" i="0" u="none" strike="noStrike" kern="1200" cap="none" spc="0" normalizeH="0" baseline="0" noProof="0">
                <a:ln>
                  <a:noFill/>
                </a:ln>
                <a:solidFill>
                  <a:srgbClr val="000000"/>
                </a:solidFill>
                <a:effectLst/>
                <a:uLnTx/>
                <a:uFillTx/>
                <a:latin typeface="Calibri"/>
                <a:ea typeface="华文行楷" panose="02010800040101010101" pitchFamily="2" charset="-122"/>
                <a:cs typeface="+mn-cs"/>
              </a:rPr>
              <a:t>，但大小可以相同也可以不同，每个分区在</a:t>
            </a:r>
            <a:r>
              <a:rPr kumimoji="0" lang="zh-CN" altLang="en-US" sz="2400" b="1" i="0" u="sng" strike="noStrike" kern="1200" cap="none" spc="0" normalizeH="0" baseline="0" noProof="0">
                <a:ln>
                  <a:noFill/>
                </a:ln>
                <a:solidFill>
                  <a:srgbClr val="0000FF"/>
                </a:solidFill>
                <a:effectLst/>
                <a:uLnTx/>
                <a:uFillTx/>
                <a:latin typeface="Calibri"/>
                <a:ea typeface="华文行楷" panose="02010800040101010101" pitchFamily="2" charset="-122"/>
                <a:cs typeface="+mn-cs"/>
              </a:rPr>
              <a:t>任一时刻只能装入一道程序运行</a:t>
            </a:r>
            <a:r>
              <a:rPr kumimoji="0" lang="zh-CN" altLang="en-US" sz="1800" b="1" i="0" u="none" strike="noStrike" kern="1200" cap="none" spc="0" normalizeH="0" baseline="0" noProof="0">
                <a:ln>
                  <a:noFill/>
                </a:ln>
                <a:solidFill>
                  <a:srgbClr val="000000"/>
                </a:solidFill>
                <a:effectLst/>
                <a:uLnTx/>
                <a:uFillTx/>
                <a:latin typeface="Calibri"/>
                <a:ea typeface="宋体"/>
                <a:cs typeface="+mn-cs"/>
              </a:rPr>
              <a:t>。一旦划分好区域之后，主存中分区的个数就固定了，所以这是一种</a:t>
            </a:r>
            <a:r>
              <a:rPr kumimoji="0" lang="zh-CN" altLang="en-US" sz="1800" b="1" i="0" u="none" strike="noStrike" kern="1200" cap="none" spc="0" normalizeH="0" baseline="0" noProof="0">
                <a:ln>
                  <a:noFill/>
                </a:ln>
                <a:solidFill>
                  <a:srgbClr val="FF3300"/>
                </a:solidFill>
                <a:effectLst/>
                <a:uLnTx/>
                <a:uFillTx/>
                <a:latin typeface="Calibri"/>
                <a:ea typeface="方正粗黑宋简体" panose="02000000000000000000" pitchFamily="2" charset="-122"/>
                <a:cs typeface="+mn-cs"/>
              </a:rPr>
              <a:t>静态分区法</a:t>
            </a:r>
            <a:r>
              <a:rPr kumimoji="0" lang="zh-CN" altLang="en-US" sz="1800" b="1" i="0" u="none" strike="noStrike" kern="1200" cap="none" spc="0" normalizeH="0" baseline="0" noProof="0">
                <a:ln>
                  <a:noFill/>
                </a:ln>
                <a:solidFill>
                  <a:srgbClr val="000000"/>
                </a:solidFill>
                <a:effectLst/>
                <a:uLnTx/>
                <a:uFillTx/>
                <a:latin typeface="Calibri"/>
                <a:ea typeface="宋体"/>
                <a:cs typeface="+mn-cs"/>
              </a:rPr>
              <a:t>。</a:t>
            </a:r>
          </a:p>
        </p:txBody>
      </p:sp>
    </p:spTree>
    <p:extLst>
      <p:ext uri="{BB962C8B-B14F-4D97-AF65-F5344CB8AC3E}">
        <p14:creationId xmlns:p14="http://schemas.microsoft.com/office/powerpoint/2010/main" val="1688469164"/>
      </p:ext>
    </p:extLst>
  </p:cSld>
  <p:clrMapOvr>
    <a:masterClrMapping/>
  </p:clrMapOvr>
  <p:transition>
    <p:random/>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E3CF393F-3649-2244-A09D-9913ADD172E2}"/>
              </a:ext>
            </a:extLst>
          </p:cNvPr>
          <p:cNvSpPr>
            <a:spLocks noGrp="1" noChangeArrowheads="1"/>
          </p:cNvSpPr>
          <p:nvPr>
            <p:ph type="body" idx="1"/>
          </p:nvPr>
        </p:nvSpPr>
        <p:spPr>
          <a:xfrm>
            <a:off x="611188" y="1214438"/>
            <a:ext cx="8175625" cy="5000625"/>
          </a:xfrm>
        </p:spPr>
        <p:txBody>
          <a:bodyPr/>
          <a:lstStyle/>
          <a:p>
            <a:pPr>
              <a:lnSpc>
                <a:spcPct val="150000"/>
              </a:lnSpc>
              <a:buFont typeface="Wingdings" pitchFamily="2" charset="2"/>
              <a:buNone/>
            </a:pPr>
            <a:r>
              <a:rPr lang="en-US" altLang="zh-CN" dirty="0">
                <a:solidFill>
                  <a:srgbClr val="FF0000"/>
                </a:solidFill>
                <a:effectLst>
                  <a:outerShdw blurRad="38100" dist="38100" dir="2700000" algn="tl">
                    <a:srgbClr val="FFFFFF"/>
                  </a:outerShdw>
                </a:effectLst>
              </a:rPr>
              <a:t>4.3.2  </a:t>
            </a:r>
            <a:r>
              <a:rPr lang="zh-CN" altLang="en-US" dirty="0">
                <a:solidFill>
                  <a:srgbClr val="FF0000"/>
                </a:solidFill>
                <a:effectLst>
                  <a:outerShdw blurRad="38100" dist="38100" dir="2700000" algn="tl">
                    <a:srgbClr val="FFFFFF"/>
                  </a:outerShdw>
                </a:effectLst>
              </a:rPr>
              <a:t>固定分区存储管理</a:t>
            </a:r>
          </a:p>
          <a:p>
            <a:pPr eaLnBrk="1" hangingPunct="1">
              <a:lnSpc>
                <a:spcPct val="150000"/>
              </a:lnSpc>
              <a:spcBef>
                <a:spcPct val="0"/>
              </a:spcBef>
              <a:buFont typeface="Wingdings" pitchFamily="2" charset="2"/>
              <a:buNone/>
            </a:pPr>
            <a:r>
              <a:rPr lang="en-US" altLang="zh-CN" sz="2200" dirty="0">
                <a:solidFill>
                  <a:srgbClr val="FF0000"/>
                </a:solidFill>
                <a:effectLst/>
                <a:latin typeface="宋体" panose="02010600030101010101" pitchFamily="2" charset="-122"/>
              </a:rPr>
              <a:t>1. </a:t>
            </a:r>
            <a:r>
              <a:rPr lang="zh-CN" altLang="en-US" sz="2200" dirty="0">
                <a:solidFill>
                  <a:srgbClr val="FF0000"/>
                </a:solidFill>
                <a:effectLst/>
                <a:latin typeface="宋体" panose="02010600030101010101" pitchFamily="2" charset="-122"/>
              </a:rPr>
              <a:t>实现原理</a:t>
            </a: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    将内存系统区之外的用户空间划</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分成若干个固定大小的区域，每个区</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域称为一个分区并可装入一个用户程</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序运行。分区一旦划分完成，就在系</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统的整个运行期间保持不变。</a:t>
            </a: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    每个分区允许装入一道程序运行，</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则系统允许在内存中同时装入多道程</a:t>
            </a:r>
            <a:endParaRPr lang="en-US" altLang="zh-CN" sz="2000" dirty="0">
              <a:solidFill>
                <a:schemeClr val="tx1"/>
              </a:solidFill>
              <a:effectLst/>
              <a:latin typeface="宋体" panose="02010600030101010101" pitchFamily="2" charset="-122"/>
            </a:endParaRPr>
          </a:p>
          <a:p>
            <a:pPr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序并发执行。</a:t>
            </a:r>
          </a:p>
        </p:txBody>
      </p:sp>
      <p:sp>
        <p:nvSpPr>
          <p:cNvPr id="58371" name="AutoShape 3">
            <a:extLst>
              <a:ext uri="{FF2B5EF4-FFF2-40B4-BE49-F238E27FC236}">
                <a16:creationId xmlns:a16="http://schemas.microsoft.com/office/drawing/2014/main" id="{0EA4B645-0146-CD47-A0E9-D4BC5DE3A99C}"/>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4.3 分区式存储管理</a:t>
            </a:r>
          </a:p>
        </p:txBody>
      </p:sp>
      <p:pic>
        <p:nvPicPr>
          <p:cNvPr id="38916" name="Picture 5">
            <a:extLst>
              <a:ext uri="{FF2B5EF4-FFF2-40B4-BE49-F238E27FC236}">
                <a16:creationId xmlns:a16="http://schemas.microsoft.com/office/drawing/2014/main" id="{52CE15D0-36AB-7440-85DB-72707D1B8B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4163" y="2205038"/>
            <a:ext cx="3422650" cy="4103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3253F8B1-697B-E941-84BD-65128642DFCC}"/>
              </a:ext>
            </a:extLst>
          </p:cNvPr>
          <p:cNvSpPr txBox="1">
            <a:spLocks noChangeArrowheads="1"/>
          </p:cNvSpPr>
          <p:nvPr/>
        </p:nvSpPr>
        <p:spPr bwMode="auto">
          <a:xfrm>
            <a:off x="179388" y="1260997"/>
            <a:ext cx="8901112" cy="101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b="1" kern="1200">
                <a:solidFill>
                  <a:schemeClr val="tx1"/>
                </a:solidFill>
                <a:latin typeface="+mj-lt"/>
                <a:ea typeface="+mj-ea"/>
                <a:cs typeface="+mj-cs"/>
              </a:defRPr>
            </a:lvl1pPr>
            <a:lvl2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2pPr>
            <a:lvl3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3pPr>
            <a:lvl4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4pPr>
            <a:lvl5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5pPr>
            <a:lvl6pPr marL="4572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6pPr>
            <a:lvl7pPr marL="9144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7pPr>
            <a:lvl8pPr marL="13716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8pPr>
            <a:lvl9pPr marL="18288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9pPr>
          </a:lstStyle>
          <a:p>
            <a:pPr marL="0" marR="0" lvl="0" indent="0" algn="l" defTabSz="914400" rtl="0" eaLnBrk="1" fontAlgn="base" latinLnBrk="0" hangingPunct="1">
              <a:lnSpc>
                <a:spcPct val="100000"/>
              </a:lnSpc>
              <a:spcBef>
                <a:spcPct val="55000"/>
              </a:spcBef>
              <a:spcAft>
                <a:spcPct val="0"/>
              </a:spcAft>
              <a:buClrTx/>
              <a:buSzTx/>
              <a:buFontTx/>
              <a:buNone/>
              <a:tabLst/>
              <a:defRPr/>
            </a:pPr>
            <a:r>
              <a:rPr kumimoji="0" lang="en-US" altLang="zh-CN" sz="2200" b="0" i="0" u="none" strike="noStrike" kern="1200" cap="none" spc="0" normalizeH="0" baseline="0" noProof="0" dirty="0">
                <a:ln>
                  <a:noFill/>
                </a:ln>
                <a:solidFill>
                  <a:srgbClr val="000000"/>
                </a:solidFill>
                <a:effectLst/>
                <a:uLnTx/>
                <a:uFillTx/>
                <a:latin typeface="方正粗黑宋简体" panose="02000000000000000000" pitchFamily="2" charset="-122"/>
                <a:ea typeface="方正粗黑宋简体" panose="02000000000000000000" pitchFamily="2" charset="-122"/>
              </a:rPr>
              <a:t>1. </a:t>
            </a:r>
            <a:r>
              <a:rPr kumimoji="0" lang="zh-CN" altLang="en-US" sz="2200" b="0" i="0" u="none" strike="noStrike" kern="1200" cap="none" spc="0" normalizeH="0" baseline="0" noProof="0" dirty="0">
                <a:ln>
                  <a:noFill/>
                </a:ln>
                <a:solidFill>
                  <a:srgbClr val="000000"/>
                </a:solidFill>
                <a:effectLst/>
                <a:uLnTx/>
                <a:uFillTx/>
                <a:latin typeface="方正粗黑宋简体" panose="02000000000000000000" pitchFamily="2" charset="-122"/>
                <a:ea typeface="方正粗黑宋简体" panose="02000000000000000000" pitchFamily="2" charset="-122"/>
              </a:rPr>
              <a:t>主存分配表</a:t>
            </a:r>
            <a:br>
              <a:rPr kumimoji="0" lang="zh-CN" altLang="en-US" sz="2200" b="1" i="0" u="none" strike="noStrike" kern="1200" cap="none" spc="0" normalizeH="0" baseline="0" noProof="0" dirty="0">
                <a:ln>
                  <a:noFill/>
                </a:ln>
                <a:solidFill>
                  <a:srgbClr val="000000"/>
                </a:solidFill>
                <a:effectLst/>
                <a:uLnTx/>
                <a:uFillTx/>
                <a:latin typeface="方正粗黑宋简体" panose="02000000000000000000" pitchFamily="2" charset="-122"/>
                <a:ea typeface="方正粗黑宋简体" panose="02000000000000000000" pitchFamily="2" charset="-122"/>
              </a:rPr>
            </a:br>
            <a:r>
              <a:rPr kumimoji="0" lang="zh-CN" altLang="en-US" sz="2000" b="0" i="0" u="none" strike="noStrike" kern="1200" cap="none" spc="0" normalizeH="0" baseline="0" noProof="0" dirty="0">
                <a:ln>
                  <a:noFill/>
                </a:ln>
                <a:solidFill>
                  <a:srgbClr val="000000"/>
                </a:solidFill>
                <a:effectLst/>
                <a:uLnTx/>
                <a:uFillTx/>
                <a:latin typeface="Calibri"/>
                <a:ea typeface="华文中宋"/>
              </a:rPr>
              <a:t>为了说明各分区的</a:t>
            </a:r>
            <a:r>
              <a:rPr kumimoji="0" lang="zh-CN" altLang="en-US" sz="2000" b="1" i="0" u="none" strike="noStrike" kern="1200" cap="none" spc="0" normalizeH="0" baseline="0" noProof="0" dirty="0">
                <a:ln>
                  <a:noFill/>
                </a:ln>
                <a:solidFill>
                  <a:srgbClr val="FF3300"/>
                </a:solidFill>
                <a:effectLst/>
                <a:uLnTx/>
                <a:uFillTx/>
                <a:latin typeface="Calibri"/>
                <a:ea typeface="华文中宋"/>
              </a:rPr>
              <a:t>分配和使用</a:t>
            </a:r>
            <a:r>
              <a:rPr kumimoji="0" lang="zh-CN" altLang="en-US" sz="2000" b="0" i="0" u="none" strike="noStrike" kern="1200" cap="none" spc="0" normalizeH="0" baseline="0" noProof="0" dirty="0">
                <a:ln>
                  <a:noFill/>
                </a:ln>
                <a:solidFill>
                  <a:srgbClr val="000000"/>
                </a:solidFill>
                <a:effectLst/>
                <a:uLnTx/>
                <a:uFillTx/>
                <a:latin typeface="Calibri"/>
                <a:ea typeface="华文中宋"/>
              </a:rPr>
              <a:t>情况，该存储管理系统必须</a:t>
            </a:r>
            <a:r>
              <a:rPr kumimoji="0" lang="zh-CN" altLang="en-US" sz="2000" b="1" i="0" u="none" strike="noStrike" kern="1200" cap="none" spc="0" normalizeH="0" baseline="0" noProof="0" dirty="0">
                <a:ln>
                  <a:noFill/>
                </a:ln>
                <a:solidFill>
                  <a:srgbClr val="0000FF"/>
                </a:solidFill>
                <a:effectLst/>
                <a:uLnTx/>
                <a:uFillTx/>
                <a:latin typeface="Calibri"/>
                <a:ea typeface="方正粗黑宋简体" panose="02000000000000000000" pitchFamily="2" charset="-122"/>
              </a:rPr>
              <a:t>设置一种逻辑结构</a:t>
            </a:r>
            <a:r>
              <a:rPr kumimoji="0" lang="zh-CN" altLang="en-US" sz="2000" b="0" i="0" u="none" strike="noStrike" kern="1200" cap="none" spc="0" normalizeH="0" baseline="0" noProof="0" dirty="0">
                <a:ln>
                  <a:noFill/>
                </a:ln>
                <a:solidFill>
                  <a:srgbClr val="000000"/>
                </a:solidFill>
                <a:effectLst/>
                <a:uLnTx/>
                <a:uFillTx/>
                <a:latin typeface="Calibri"/>
                <a:ea typeface="华文中宋"/>
              </a:rPr>
              <a:t>来</a:t>
            </a:r>
            <a:r>
              <a:rPr kumimoji="0" lang="zh-CN" altLang="en-US" sz="2000" b="1" i="0" u="none" strike="noStrike" kern="1200" cap="none" spc="0" normalizeH="0" baseline="0" noProof="0" dirty="0">
                <a:ln>
                  <a:noFill/>
                </a:ln>
                <a:solidFill>
                  <a:srgbClr val="0000FF"/>
                </a:solidFill>
                <a:effectLst/>
                <a:uLnTx/>
                <a:uFillTx/>
                <a:latin typeface="Calibri"/>
                <a:ea typeface="方正粗黑宋简体" panose="02000000000000000000" pitchFamily="2" charset="-122"/>
              </a:rPr>
              <a:t>记录主存中各分区的使用情况</a:t>
            </a:r>
            <a:r>
              <a:rPr kumimoji="0" lang="zh-CN" altLang="en-US" sz="2000" b="0" i="0" u="none" strike="noStrike" kern="1200" cap="none" spc="0" normalizeH="0" baseline="0" noProof="0" dirty="0">
                <a:ln>
                  <a:noFill/>
                </a:ln>
                <a:solidFill>
                  <a:srgbClr val="000000"/>
                </a:solidFill>
                <a:effectLst/>
                <a:uLnTx/>
                <a:uFillTx/>
                <a:latin typeface="Calibri"/>
                <a:ea typeface="华文中宋"/>
              </a:rPr>
              <a:t>，通常我们称之为“</a:t>
            </a:r>
            <a:r>
              <a:rPr kumimoji="0" lang="zh-CN" altLang="en-US" sz="2000" b="1" i="0" u="none" strike="noStrike" kern="1200" cap="none" spc="0" normalizeH="0" baseline="0" noProof="0" dirty="0">
                <a:ln>
                  <a:noFill/>
                </a:ln>
                <a:solidFill>
                  <a:srgbClr val="0000FF"/>
                </a:solidFill>
                <a:effectLst/>
                <a:uLnTx/>
                <a:uFillTx/>
                <a:latin typeface="Calibri"/>
                <a:ea typeface="方正粗黑宋简体" panose="02000000000000000000" pitchFamily="2" charset="-122"/>
              </a:rPr>
              <a:t>主存分配表</a:t>
            </a:r>
            <a:r>
              <a:rPr kumimoji="0" lang="zh-CN" altLang="en-US" sz="2000" b="0" i="0" u="none" strike="noStrike" kern="1200" cap="none" spc="0" normalizeH="0" baseline="0" noProof="0" dirty="0">
                <a:ln>
                  <a:noFill/>
                </a:ln>
                <a:solidFill>
                  <a:srgbClr val="000000"/>
                </a:solidFill>
                <a:effectLst/>
                <a:uLnTx/>
                <a:uFillTx/>
                <a:latin typeface="Calibri"/>
                <a:ea typeface="华文中宋"/>
              </a:rPr>
              <a:t>”。如表</a:t>
            </a:r>
            <a:r>
              <a:rPr lang="en-US" altLang="zh-CN" sz="2000" b="0" dirty="0">
                <a:solidFill>
                  <a:srgbClr val="000000"/>
                </a:solidFill>
                <a:latin typeface="Calibri"/>
                <a:ea typeface="华文中宋"/>
              </a:rPr>
              <a:t>4</a:t>
            </a:r>
            <a:r>
              <a:rPr kumimoji="0" lang="en-US" altLang="zh-CN" sz="2000" b="0" i="0" u="none" strike="noStrike" kern="1200" cap="none" spc="0" normalizeH="0" baseline="0" noProof="0" dirty="0">
                <a:ln>
                  <a:noFill/>
                </a:ln>
                <a:solidFill>
                  <a:srgbClr val="000000"/>
                </a:solidFill>
                <a:effectLst/>
                <a:uLnTx/>
                <a:uFillTx/>
                <a:latin typeface="Calibri"/>
                <a:ea typeface="华文中宋"/>
              </a:rPr>
              <a:t>-1</a:t>
            </a:r>
            <a:r>
              <a:rPr kumimoji="0" lang="zh-CN" altLang="en-US" sz="2000" b="0" i="0" u="none" strike="noStrike" kern="1200" cap="none" spc="0" normalizeH="0" baseline="0" noProof="0" dirty="0">
                <a:ln>
                  <a:noFill/>
                </a:ln>
                <a:solidFill>
                  <a:srgbClr val="000000"/>
                </a:solidFill>
                <a:effectLst/>
                <a:uLnTx/>
                <a:uFillTx/>
                <a:latin typeface="Calibri"/>
                <a:ea typeface="华文中宋"/>
              </a:rPr>
              <a:t>所示。</a:t>
            </a:r>
          </a:p>
        </p:txBody>
      </p:sp>
      <p:sp>
        <p:nvSpPr>
          <p:cNvPr id="7" name="Rectangle 3">
            <a:extLst>
              <a:ext uri="{FF2B5EF4-FFF2-40B4-BE49-F238E27FC236}">
                <a16:creationId xmlns:a16="http://schemas.microsoft.com/office/drawing/2014/main" id="{5460ED35-8D7E-7F49-8CA1-922A251E2884}"/>
              </a:ext>
            </a:extLst>
          </p:cNvPr>
          <p:cNvSpPr txBox="1">
            <a:spLocks noChangeArrowheads="1"/>
          </p:cNvSpPr>
          <p:nvPr/>
        </p:nvSpPr>
        <p:spPr bwMode="auto">
          <a:xfrm>
            <a:off x="3175" y="4888756"/>
            <a:ext cx="9077325" cy="185261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25000"/>
              </a:lnSpc>
              <a:spcBef>
                <a:spcPct val="20000"/>
              </a:spcBef>
              <a:spcAft>
                <a:spcPct val="0"/>
              </a:spcAft>
              <a:buClrTx/>
              <a:buSzTx/>
              <a:buFont typeface="Arial" panose="020B0604020202020204" pitchFamily="34" charset="0"/>
              <a:buNone/>
              <a:tabLst/>
              <a:defRPr/>
            </a:pPr>
            <a:r>
              <a:rPr kumimoji="0" lang="zh-CN" altLang="en-US" sz="1600" b="0" i="0" u="none" strike="noStrike" kern="1200" cap="none" spc="0" normalizeH="0" baseline="0" noProof="0">
                <a:ln>
                  <a:noFill/>
                </a:ln>
                <a:solidFill>
                  <a:srgbClr val="000000"/>
                </a:solidFill>
                <a:effectLst/>
                <a:uLnTx/>
                <a:uFillTx/>
                <a:latin typeface="Calibri"/>
                <a:ea typeface="宋体"/>
                <a:cs typeface="+mn-cs"/>
              </a:rPr>
              <a:t> 图中主存被划分为</a:t>
            </a:r>
            <a:r>
              <a:rPr kumimoji="0" lang="zh-CN" altLang="en-US" sz="16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cs typeface="+mn-cs"/>
              </a:rPr>
              <a:t>4个分区</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，主存分配表为每个分区设置</a:t>
            </a:r>
            <a:r>
              <a:rPr kumimoji="0" lang="zh-CN" altLang="en-US" sz="1600" b="1" i="0" u="none" strike="noStrike" kern="1200" cap="none" spc="0" normalizeH="0" baseline="0" noProof="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起始地址</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a:t>
            </a:r>
            <a:r>
              <a:rPr kumimoji="0" lang="zh-CN" altLang="en-US" sz="1600" b="1" i="0" u="none" strike="noStrike" kern="1200" cap="none" spc="0" normalizeH="0" baseline="0" noProof="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长度</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以及</a:t>
            </a:r>
            <a:r>
              <a:rPr kumimoji="0" lang="zh-CN" altLang="en-US" sz="1600" b="0" i="0" u="none" strike="noStrike" kern="1200" cap="none" spc="0" normalizeH="0" baseline="0" noProof="0">
                <a:ln>
                  <a:noFill/>
                </a:ln>
                <a:solidFill>
                  <a:srgbClr val="FF3300"/>
                </a:solidFill>
                <a:effectLst/>
                <a:uLnTx/>
                <a:uFillTx/>
                <a:latin typeface="Calibri"/>
                <a:ea typeface="宋体"/>
                <a:cs typeface="+mn-cs"/>
              </a:rPr>
              <a:t>占</a:t>
            </a:r>
            <a:r>
              <a:rPr kumimoji="0" lang="zh-CN" altLang="en-US" sz="1600" b="1" i="0" u="none" strike="noStrike" kern="1200" cap="none" spc="0" normalizeH="0" baseline="0" noProof="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用标志</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信息。</a:t>
            </a:r>
            <a:endParaRPr kumimoji="0" lang="en-US" altLang="zh-CN" sz="1600" b="0" i="0" u="none" strike="noStrike" kern="1200" cap="none" spc="0" normalizeH="0" baseline="0" noProof="0">
              <a:ln>
                <a:noFill/>
              </a:ln>
              <a:solidFill>
                <a:srgbClr val="000000"/>
              </a:solidFill>
              <a:effectLst/>
              <a:uLnTx/>
              <a:uFillTx/>
              <a:latin typeface="Calibri"/>
              <a:ea typeface="宋体"/>
              <a:cs typeface="+mn-cs"/>
            </a:endParaRPr>
          </a:p>
          <a:p>
            <a:pPr marL="342900" marR="0" lvl="0" indent="-342900" algn="l" defTabSz="914400" rtl="0" eaLnBrk="1" fontAlgn="base" latinLnBrk="0" hangingPunct="1">
              <a:lnSpc>
                <a:spcPct val="125000"/>
              </a:lnSpc>
              <a:spcBef>
                <a:spcPct val="20000"/>
              </a:spcBef>
              <a:spcAft>
                <a:spcPct val="0"/>
              </a:spcAft>
              <a:buClr>
                <a:srgbClr val="FF3300"/>
              </a:buClr>
              <a:buSzTx/>
              <a:buFont typeface="Wingdings" panose="05000000000000000000" pitchFamily="2" charset="2"/>
              <a:buChar char="Ø"/>
              <a:tabLst/>
              <a:defRPr/>
            </a:pPr>
            <a:r>
              <a:rPr kumimoji="0" lang="zh-CN" altLang="en-US" sz="16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cs typeface="+mn-cs"/>
              </a:rPr>
              <a:t>起始地址表明</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该分区在主存中的</a:t>
            </a:r>
            <a:r>
              <a:rPr kumimoji="0" lang="zh-CN" altLang="en-US" sz="16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起始位置</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a:t>
            </a:r>
            <a:r>
              <a:rPr kumimoji="0" lang="zh-CN" altLang="en-US" sz="1600" b="1" i="0" u="none" strike="noStrike" kern="1200" cap="none" spc="0" normalizeH="0" baseline="0" noProof="0">
                <a:ln>
                  <a:noFill/>
                </a:ln>
                <a:solidFill>
                  <a:srgbClr val="000000"/>
                </a:solidFill>
                <a:effectLst/>
                <a:uLnTx/>
                <a:uFillTx/>
                <a:latin typeface="Calibri"/>
                <a:ea typeface="宋体"/>
                <a:cs typeface="+mn-cs"/>
              </a:rPr>
              <a:t>在固定分区存储管理中，该信息确定后就不会变更</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a:t>
            </a:r>
            <a:endParaRPr kumimoji="0" lang="en-US" altLang="zh-CN" sz="1600" b="0" i="0" u="none" strike="noStrike" kern="1200" cap="none" spc="0" normalizeH="0" baseline="0" noProof="0">
              <a:ln>
                <a:noFill/>
              </a:ln>
              <a:solidFill>
                <a:srgbClr val="000000"/>
              </a:solidFill>
              <a:effectLst/>
              <a:uLnTx/>
              <a:uFillTx/>
              <a:latin typeface="Calibri"/>
              <a:ea typeface="宋体"/>
              <a:cs typeface="+mn-cs"/>
            </a:endParaRPr>
          </a:p>
          <a:p>
            <a:pPr marL="342900" marR="0" lvl="0" indent="-342900" algn="l" defTabSz="914400" rtl="0" eaLnBrk="1" fontAlgn="base" latinLnBrk="0" hangingPunct="1">
              <a:lnSpc>
                <a:spcPct val="125000"/>
              </a:lnSpc>
              <a:spcBef>
                <a:spcPct val="20000"/>
              </a:spcBef>
              <a:spcAft>
                <a:spcPct val="0"/>
              </a:spcAft>
              <a:buClr>
                <a:srgbClr val="FF3300"/>
              </a:buClr>
              <a:buSzTx/>
              <a:buFont typeface="Wingdings" panose="05000000000000000000" pitchFamily="2" charset="2"/>
              <a:buChar char="Ø"/>
              <a:tabLst/>
              <a:defRPr/>
            </a:pPr>
            <a:r>
              <a:rPr kumimoji="0" lang="zh-CN" altLang="en-US" sz="16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cs typeface="+mn-cs"/>
              </a:rPr>
              <a:t>长度表示</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分区所占有的</a:t>
            </a:r>
            <a:r>
              <a:rPr kumimoji="0" lang="zh-CN" altLang="en-US" sz="1600" b="1" i="0" u="none" strike="noStrike" kern="1200" cap="none" spc="0" normalizeH="0" baseline="0" noProof="0">
                <a:ln>
                  <a:noFill/>
                </a:ln>
                <a:solidFill>
                  <a:srgbClr val="000000"/>
                </a:solidFill>
                <a:effectLst/>
                <a:uLnTx/>
                <a:uFillTx/>
                <a:latin typeface="Calibri"/>
                <a:ea typeface="宋体"/>
                <a:cs typeface="+mn-cs"/>
              </a:rPr>
              <a:t>内存空间的</a:t>
            </a:r>
            <a:r>
              <a:rPr kumimoji="0" lang="zh-CN" altLang="en-US" sz="16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大小</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，确定后也不会变更；</a:t>
            </a:r>
            <a:endParaRPr kumimoji="0" lang="en-US" altLang="zh-CN" sz="1600" b="0" i="0" u="none" strike="noStrike" kern="1200" cap="none" spc="0" normalizeH="0" baseline="0" noProof="0">
              <a:ln>
                <a:noFill/>
              </a:ln>
              <a:solidFill>
                <a:srgbClr val="000000"/>
              </a:solidFill>
              <a:effectLst/>
              <a:uLnTx/>
              <a:uFillTx/>
              <a:latin typeface="Calibri"/>
              <a:ea typeface="宋体"/>
              <a:cs typeface="+mn-cs"/>
            </a:endParaRPr>
          </a:p>
          <a:p>
            <a:pPr marL="342900" marR="0" lvl="0" indent="-342900" algn="l" defTabSz="914400" rtl="0" eaLnBrk="1" fontAlgn="base" latinLnBrk="0" hangingPunct="1">
              <a:lnSpc>
                <a:spcPct val="125000"/>
              </a:lnSpc>
              <a:spcBef>
                <a:spcPct val="20000"/>
              </a:spcBef>
              <a:spcAft>
                <a:spcPct val="0"/>
              </a:spcAft>
              <a:buClr>
                <a:srgbClr val="FF3300"/>
              </a:buClr>
              <a:buSzTx/>
              <a:buFont typeface="Wingdings" panose="05000000000000000000" pitchFamily="2" charset="2"/>
              <a:buChar char="Ø"/>
              <a:tabLst/>
              <a:defRPr/>
            </a:pPr>
            <a:r>
              <a:rPr kumimoji="0" lang="zh-CN" altLang="en-US" sz="16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cs typeface="+mn-cs"/>
              </a:rPr>
              <a:t>占用标志表示</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该分区的</a:t>
            </a:r>
            <a:r>
              <a:rPr kumimoji="0" lang="zh-CN" altLang="en-US" sz="16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使用情况</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，占用标志位如为</a:t>
            </a:r>
            <a:r>
              <a:rPr kumimoji="0" lang="zh-CN" altLang="en-US" sz="1800" b="1" i="0" u="sng" strike="noStrike" kern="1200" cap="none" spc="0" normalizeH="0" baseline="0" noProof="0">
                <a:ln>
                  <a:noFill/>
                </a:ln>
                <a:solidFill>
                  <a:srgbClr val="FF3300"/>
                </a:solidFill>
                <a:effectLst/>
                <a:uLnTx/>
                <a:uFillTx/>
                <a:latin typeface="微软雅黑" panose="020B0503020204020204" pitchFamily="34" charset="-122"/>
                <a:ea typeface="微软雅黑" panose="020B0503020204020204" pitchFamily="34" charset="-122"/>
                <a:cs typeface="+mn-cs"/>
              </a:rPr>
              <a:t>0</a:t>
            </a:r>
            <a:r>
              <a:rPr kumimoji="0" lang="zh-CN" altLang="en-US" sz="1600" b="1" i="0" u="sng" strike="noStrike" kern="1200" cap="none" spc="0" normalizeH="0" baseline="0" noProof="0">
                <a:ln>
                  <a:noFill/>
                </a:ln>
                <a:solidFill>
                  <a:srgbClr val="FF3300"/>
                </a:solidFill>
                <a:effectLst/>
                <a:uLnTx/>
                <a:uFillTx/>
                <a:latin typeface="华文新魏" panose="02010800040101010101" pitchFamily="2" charset="-122"/>
                <a:ea typeface="华文新魏" panose="02010800040101010101" pitchFamily="2" charset="-122"/>
                <a:cs typeface="+mn-cs"/>
              </a:rPr>
              <a:t>则表示该分区是空闲的</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，没有作业占用，如果标志位为</a:t>
            </a:r>
            <a:r>
              <a:rPr kumimoji="0" lang="zh-CN" altLang="en-US" sz="1600" b="1" i="0" u="sng" strike="noStrike" kern="1200" cap="none" spc="0" normalizeH="0" baseline="0" noProof="0">
                <a:ln>
                  <a:noFill/>
                </a:ln>
                <a:solidFill>
                  <a:srgbClr val="FF3300"/>
                </a:solidFill>
                <a:effectLst/>
                <a:uLnTx/>
                <a:uFillTx/>
                <a:latin typeface="华文新魏" panose="02010800040101010101" pitchFamily="2" charset="-122"/>
                <a:ea typeface="华文新魏" panose="02010800040101010101" pitchFamily="2" charset="-122"/>
                <a:cs typeface="+mn-cs"/>
              </a:rPr>
              <a:t>非</a:t>
            </a:r>
            <a:r>
              <a:rPr kumimoji="0" lang="zh-CN" altLang="en-US" sz="1800" b="1" i="0" u="sng" strike="noStrike" kern="1200" cap="none" spc="0" normalizeH="0" baseline="0" noProof="0">
                <a:ln>
                  <a:noFill/>
                </a:ln>
                <a:solidFill>
                  <a:srgbClr val="FF3300"/>
                </a:solidFill>
                <a:effectLst/>
                <a:uLnTx/>
                <a:uFillTx/>
                <a:latin typeface="微软雅黑" panose="020B0503020204020204" pitchFamily="34" charset="-122"/>
                <a:ea typeface="微软雅黑" panose="020B0503020204020204" pitchFamily="34" charset="-122"/>
                <a:cs typeface="+mn-cs"/>
              </a:rPr>
              <a:t>0</a:t>
            </a:r>
            <a:r>
              <a:rPr kumimoji="0" lang="zh-CN" altLang="en-US" sz="1600" b="1" i="0" u="sng" strike="noStrike" kern="1200" cap="none" spc="0" normalizeH="0" baseline="0" noProof="0">
                <a:ln>
                  <a:noFill/>
                </a:ln>
                <a:solidFill>
                  <a:srgbClr val="FF3300"/>
                </a:solidFill>
                <a:effectLst/>
                <a:uLnTx/>
                <a:uFillTx/>
                <a:latin typeface="华文新魏" panose="02010800040101010101" pitchFamily="2" charset="-122"/>
                <a:ea typeface="华文新魏" panose="02010800040101010101" pitchFamily="2" charset="-122"/>
                <a:cs typeface="+mn-cs"/>
              </a:rPr>
              <a:t>信息，表示该分区已被某作业占用</a:t>
            </a:r>
            <a:r>
              <a:rPr kumimoji="0" lang="zh-CN" altLang="en-US" sz="1600" b="0" i="0" u="none" strike="noStrike" kern="1200" cap="none" spc="0" normalizeH="0" baseline="0" noProof="0">
                <a:ln>
                  <a:noFill/>
                </a:ln>
                <a:solidFill>
                  <a:srgbClr val="000000"/>
                </a:solidFill>
                <a:effectLst/>
                <a:uLnTx/>
                <a:uFillTx/>
                <a:latin typeface="Calibri"/>
                <a:ea typeface="宋体"/>
                <a:cs typeface="+mn-cs"/>
              </a:rPr>
              <a:t>，其它作业就不能再使用。</a:t>
            </a:r>
            <a:endParaRPr kumimoji="0" lang="zh-CN" altLang="en-US" sz="1600" b="0" i="0" u="none" strike="noStrike" kern="1200" cap="none" spc="0" normalizeH="0" baseline="0" noProof="0" dirty="0">
              <a:ln>
                <a:noFill/>
              </a:ln>
              <a:solidFill>
                <a:srgbClr val="000000"/>
              </a:solidFill>
              <a:effectLst/>
              <a:uLnTx/>
              <a:uFillTx/>
              <a:latin typeface="Calibri"/>
              <a:ea typeface="宋体"/>
              <a:cs typeface="+mn-cs"/>
            </a:endParaRPr>
          </a:p>
        </p:txBody>
      </p:sp>
      <p:sp>
        <p:nvSpPr>
          <p:cNvPr id="8" name="Text Box 9">
            <a:extLst>
              <a:ext uri="{FF2B5EF4-FFF2-40B4-BE49-F238E27FC236}">
                <a16:creationId xmlns:a16="http://schemas.microsoft.com/office/drawing/2014/main" id="{AFC4F0E4-DD03-3F40-B777-F58ED0131ECB}"/>
              </a:ext>
            </a:extLst>
          </p:cNvPr>
          <p:cNvSpPr txBox="1">
            <a:spLocks noChangeArrowheads="1"/>
          </p:cNvSpPr>
          <p:nvPr/>
        </p:nvSpPr>
        <p:spPr bwMode="auto">
          <a:xfrm>
            <a:off x="2771775" y="2236837"/>
            <a:ext cx="446563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dirty="0">
                <a:solidFill>
                  <a:srgbClr val="000000"/>
                </a:solidFill>
                <a:latin typeface="Arial" panose="020B0604020202020204" pitchFamily="34" charset="0"/>
              </a:rPr>
              <a:t>表</a:t>
            </a:r>
            <a:r>
              <a:rPr lang="en-US" altLang="zh-CN" sz="1800" b="0" dirty="0">
                <a:solidFill>
                  <a:srgbClr val="000000"/>
                </a:solidFill>
                <a:latin typeface="Arial" panose="020B0604020202020204" pitchFamily="34" charset="0"/>
              </a:rPr>
              <a:t>4-1  </a:t>
            </a:r>
            <a:r>
              <a:rPr lang="zh-CN" altLang="en-US" sz="1800" b="0" dirty="0">
                <a:solidFill>
                  <a:srgbClr val="000000"/>
                </a:solidFill>
                <a:latin typeface="Arial" panose="020B0604020202020204" pitchFamily="34" charset="0"/>
              </a:rPr>
              <a:t>固定分区存储管理的主存分配表</a:t>
            </a:r>
          </a:p>
        </p:txBody>
      </p:sp>
      <p:graphicFrame>
        <p:nvGraphicFramePr>
          <p:cNvPr id="9" name="Group 10">
            <a:extLst>
              <a:ext uri="{FF2B5EF4-FFF2-40B4-BE49-F238E27FC236}">
                <a16:creationId xmlns:a16="http://schemas.microsoft.com/office/drawing/2014/main" id="{0FB8EE6A-02FC-A649-AA96-2B23BEDC6D98}"/>
              </a:ext>
            </a:extLst>
          </p:cNvPr>
          <p:cNvGraphicFramePr>
            <a:graphicFrameLocks/>
          </p:cNvGraphicFramePr>
          <p:nvPr>
            <p:extLst>
              <p:ext uri="{D42A27DB-BD31-4B8C-83A1-F6EECF244321}">
                <p14:modId xmlns:p14="http://schemas.microsoft.com/office/powerpoint/2010/main" val="3381815778"/>
              </p:ext>
            </p:extLst>
          </p:nvPr>
        </p:nvGraphicFramePr>
        <p:xfrm>
          <a:off x="1341438" y="2569419"/>
          <a:ext cx="6480175" cy="2225402"/>
        </p:xfrm>
        <a:graphic>
          <a:graphicData uri="http://schemas.openxmlformats.org/drawingml/2006/table">
            <a:tbl>
              <a:tblPr/>
              <a:tblGrid>
                <a:gridCol w="1620837">
                  <a:extLst>
                    <a:ext uri="{9D8B030D-6E8A-4147-A177-3AD203B41FA5}">
                      <a16:colId xmlns:a16="http://schemas.microsoft.com/office/drawing/2014/main" val="20000"/>
                    </a:ext>
                  </a:extLst>
                </a:gridCol>
                <a:gridCol w="1617663">
                  <a:extLst>
                    <a:ext uri="{9D8B030D-6E8A-4147-A177-3AD203B41FA5}">
                      <a16:colId xmlns:a16="http://schemas.microsoft.com/office/drawing/2014/main" val="20001"/>
                    </a:ext>
                  </a:extLst>
                </a:gridCol>
                <a:gridCol w="1622425">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445698">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chemeClr val="bg1"/>
                          </a:solidFill>
                          <a:effectLst/>
                          <a:latin typeface="Calibri" panose="020F0502020204030204" pitchFamily="34" charset="0"/>
                          <a:ea typeface="方正粗黑宋简体" panose="02000000000000000000" pitchFamily="2" charset="-122"/>
                        </a:rPr>
                        <a:t>　分区号</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chemeClr val="bg1"/>
                          </a:solidFill>
                          <a:effectLst/>
                          <a:latin typeface="Calibri" panose="020F0502020204030204" pitchFamily="34" charset="0"/>
                          <a:ea typeface="方正粗黑宋简体" panose="02000000000000000000" pitchFamily="2" charset="-122"/>
                        </a:rPr>
                        <a:t>　起始地址</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chemeClr val="bg1"/>
                          </a:solidFill>
                          <a:effectLst/>
                          <a:latin typeface="Calibri" panose="020F0502020204030204" pitchFamily="34" charset="0"/>
                          <a:ea typeface="方正粗黑宋简体" panose="02000000000000000000" pitchFamily="2" charset="-122"/>
                        </a:rPr>
                        <a:t>　　长度</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chemeClr val="bg1"/>
                          </a:solidFill>
                          <a:effectLst/>
                          <a:latin typeface="Calibri" panose="020F0502020204030204" pitchFamily="34" charset="0"/>
                          <a:ea typeface="方正粗黑宋简体" panose="02000000000000000000" pitchFamily="2" charset="-122"/>
                        </a:rPr>
                        <a:t>  占用标志</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extLst>
                  <a:ext uri="{0D108BD9-81ED-4DB2-BD59-A6C34878D82A}">
                    <a16:rowId xmlns:a16="http://schemas.microsoft.com/office/drawing/2014/main" val="10000"/>
                  </a:ext>
                </a:extLst>
              </a:tr>
              <a:tr h="444155">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10KB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5KB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　　</a:t>
                      </a: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JOB1</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1"/>
                  </a:ext>
                </a:extLst>
              </a:tr>
              <a:tr h="444155">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15KB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　　</a:t>
                      </a: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2"/>
                  </a:ext>
                </a:extLst>
              </a:tr>
              <a:tr h="444155">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3</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25KB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15KB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　　</a:t>
                      </a: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JOB2</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3"/>
                  </a:ext>
                </a:extLst>
              </a:tr>
              <a:tr h="447239">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4</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40KB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　　</a:t>
                      </a: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　　</a:t>
                      </a: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4"/>
                  </a:ext>
                </a:extLst>
              </a:tr>
            </a:tbl>
          </a:graphicData>
        </a:graphic>
      </p:graphicFrame>
      <p:sp>
        <p:nvSpPr>
          <p:cNvPr id="10" name="AutoShape 3">
            <a:extLst>
              <a:ext uri="{FF2B5EF4-FFF2-40B4-BE49-F238E27FC236}">
                <a16:creationId xmlns:a16="http://schemas.microsoft.com/office/drawing/2014/main" id="{66431433-0B01-6341-A840-A0C01EE1BB83}"/>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4.3 分区式存储管理</a:t>
            </a:r>
          </a:p>
        </p:txBody>
      </p:sp>
    </p:spTree>
    <p:extLst>
      <p:ext uri="{BB962C8B-B14F-4D97-AF65-F5344CB8AC3E}">
        <p14:creationId xmlns:p14="http://schemas.microsoft.com/office/powerpoint/2010/main" val="2270840485"/>
      </p:ext>
    </p:extLst>
  </p:cSld>
  <p:clrMapOvr>
    <a:masterClrMapping/>
  </p:clrMapOvr>
  <p:transition>
    <p:random/>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42958541-BA83-6841-B0FE-6A7039572496}"/>
              </a:ext>
            </a:extLst>
          </p:cNvPr>
          <p:cNvSpPr>
            <a:spLocks noGrp="1" noChangeArrowheads="1"/>
          </p:cNvSpPr>
          <p:nvPr>
            <p:ph type="body" idx="1"/>
          </p:nvPr>
        </p:nvSpPr>
        <p:spPr>
          <a:xfrm>
            <a:off x="723900" y="1714500"/>
            <a:ext cx="7848600" cy="4176713"/>
          </a:xfrm>
        </p:spPr>
        <p:txBody>
          <a:bodyPr/>
          <a:lstStyle/>
          <a:p>
            <a:pPr marL="0" indent="0"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分区划分</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在固定分区存储管理方式中，分区的数目和每个分区的大小由系统操作员或操作系统决定。</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分区划分方式：</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）分区大小相等。优点：管理简单，缺点：缺乏灵活性。</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例如，若程序过小则会造成内存空间浪费，若程序过大则因其无法装入分区而导致不能运行。</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）分区大小不等。适量的中分区和较少的大分区。装入程序可以根据用户程序的大小将它装入到适当的分区。</a:t>
            </a:r>
          </a:p>
        </p:txBody>
      </p:sp>
      <p:sp>
        <p:nvSpPr>
          <p:cNvPr id="39939" name="Rectangle 6">
            <a:extLst>
              <a:ext uri="{FF2B5EF4-FFF2-40B4-BE49-F238E27FC236}">
                <a16:creationId xmlns:a16="http://schemas.microsoft.com/office/drawing/2014/main" id="{3F4F4A29-0C51-194A-B67E-D3B0B31C23DB}"/>
              </a:ext>
            </a:extLst>
          </p:cNvPr>
          <p:cNvSpPr>
            <a:spLocks noGrp="1" noChangeArrowheads="1"/>
          </p:cNvSpPr>
          <p:nvPr>
            <p:ph type="title"/>
          </p:nvPr>
        </p:nvSpPr>
        <p:spPr>
          <a:xfrm>
            <a:off x="466725" y="368300"/>
            <a:ext cx="5761038" cy="828675"/>
          </a:xfrm>
          <a:noFill/>
        </p:spPr>
        <p:txBody>
          <a:bodyPr/>
          <a:lstStyle/>
          <a:p>
            <a:pPr eaLnBrk="1" hangingPunct="1"/>
            <a:r>
              <a:rPr lang="zh-CN" altLang="en-US" sz="2800">
                <a:solidFill>
                  <a:srgbClr val="FF0000"/>
                </a:solidFill>
                <a:latin typeface="宋体" panose="02010600030101010101" pitchFamily="2" charset="-122"/>
              </a:rPr>
              <a:t>  固定分区存储管理</a:t>
            </a:r>
          </a:p>
        </p:txBody>
      </p:sp>
    </p:spTree>
  </p:cSld>
  <p:clrMapOvr>
    <a:masterClrMapping/>
  </p:clrMapOvr>
  <p:transition>
    <p:random/>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D2245A85-7C77-964D-8BA1-903F21B64B0C}"/>
              </a:ext>
            </a:extLst>
          </p:cNvPr>
          <p:cNvSpPr>
            <a:spLocks noGrp="1" noChangeArrowheads="1"/>
          </p:cNvSpPr>
          <p:nvPr>
            <p:ph type="title"/>
          </p:nvPr>
        </p:nvSpPr>
        <p:spPr/>
        <p:txBody>
          <a:bodyPr/>
          <a:lstStyle/>
          <a:p>
            <a:pPr eaLnBrk="1" hangingPunct="1"/>
            <a:r>
              <a:rPr lang="zh-CN" altLang="en-US" sz="2800" dirty="0">
                <a:solidFill>
                  <a:schemeClr val="tx1"/>
                </a:solidFill>
                <a:latin typeface="宋体" panose="02010600030101010101" pitchFamily="2" charset="-122"/>
              </a:rPr>
              <a:t>  </a:t>
            </a:r>
            <a:r>
              <a:rPr lang="zh-CN" altLang="en-US" sz="2800" dirty="0">
                <a:solidFill>
                  <a:srgbClr val="FF0000"/>
                </a:solidFill>
                <a:latin typeface="宋体" panose="02010600030101010101" pitchFamily="2" charset="-122"/>
              </a:rPr>
              <a:t>固定分区存储管理</a:t>
            </a:r>
          </a:p>
        </p:txBody>
      </p:sp>
      <p:sp>
        <p:nvSpPr>
          <p:cNvPr id="40963" name="Rectangle 3">
            <a:extLst>
              <a:ext uri="{FF2B5EF4-FFF2-40B4-BE49-F238E27FC236}">
                <a16:creationId xmlns:a16="http://schemas.microsoft.com/office/drawing/2014/main" id="{14BDE67D-B9CA-184C-B668-AF0AC38E5BC3}"/>
              </a:ext>
            </a:extLst>
          </p:cNvPr>
          <p:cNvSpPr>
            <a:spLocks noGrp="1" noChangeArrowheads="1"/>
          </p:cNvSpPr>
          <p:nvPr>
            <p:ph type="body" idx="1"/>
          </p:nvPr>
        </p:nvSpPr>
        <p:spPr>
          <a:xfrm>
            <a:off x="142875" y="1143000"/>
            <a:ext cx="8858250" cy="2873375"/>
          </a:xfrm>
        </p:spPr>
        <p:txBody>
          <a:bodyPr/>
          <a:lstStyle/>
          <a:p>
            <a:pPr marL="0" indent="0" algn="just"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3. </a:t>
            </a:r>
            <a:r>
              <a:rPr lang="zh-CN" altLang="en-US" sz="2200">
                <a:solidFill>
                  <a:srgbClr val="FF0000"/>
                </a:solidFill>
                <a:effectLst/>
                <a:latin typeface="宋体" panose="02010600030101010101" pitchFamily="2" charset="-122"/>
              </a:rPr>
              <a:t>内存空间的分配与回收</a:t>
            </a: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）数据结构：为了有效管理内存中各分区的分配与使用，系统建立了一张内存分区分配表，用来记录内存中所划分的分区以及各分区的使用情况。</a:t>
            </a: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分区分配表的内容包括分区号、起始地址、大小和状态；状态栏的值为</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时表示该分区空闲可以装入程序。</a:t>
            </a:r>
          </a:p>
        </p:txBody>
      </p:sp>
      <p:pic>
        <p:nvPicPr>
          <p:cNvPr id="40964" name="Picture 5">
            <a:extLst>
              <a:ext uri="{FF2B5EF4-FFF2-40B4-BE49-F238E27FC236}">
                <a16:creationId xmlns:a16="http://schemas.microsoft.com/office/drawing/2014/main" id="{3EF015D6-9F24-0145-A5C6-162772BE01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3500438"/>
            <a:ext cx="7459662" cy="3357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1E76334-19CA-8048-A949-A61C294C407E}"/>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dirty="0">
                <a:solidFill>
                  <a:schemeClr val="tx1"/>
                </a:solidFill>
                <a:latin typeface="宋体" panose="02010600030101010101" pitchFamily="2" charset="-122"/>
              </a:rPr>
              <a:t>  </a:t>
            </a:r>
            <a:r>
              <a:rPr lang="zh-CN" altLang="en-US" sz="2800" kern="0" dirty="0">
                <a:solidFill>
                  <a:srgbClr val="FF0000"/>
                </a:solidFill>
                <a:latin typeface="宋体" panose="02010600030101010101" pitchFamily="2" charset="-122"/>
              </a:rPr>
              <a:t>固定分区存储管理</a:t>
            </a:r>
          </a:p>
        </p:txBody>
      </p:sp>
      <p:sp>
        <p:nvSpPr>
          <p:cNvPr id="29" name="内容占位符 2">
            <a:extLst>
              <a:ext uri="{FF2B5EF4-FFF2-40B4-BE49-F238E27FC236}">
                <a16:creationId xmlns:a16="http://schemas.microsoft.com/office/drawing/2014/main" id="{FD60BFE9-24CF-7A45-A5C9-5DB0B3BCB54B}"/>
              </a:ext>
            </a:extLst>
          </p:cNvPr>
          <p:cNvSpPr txBox="1">
            <a:spLocks/>
          </p:cNvSpPr>
          <p:nvPr/>
        </p:nvSpPr>
        <p:spPr bwMode="auto">
          <a:xfrm>
            <a:off x="506687" y="1267371"/>
            <a:ext cx="4529138" cy="578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folHlink"/>
              </a:buClr>
              <a:buSzPct val="50000"/>
              <a:buFont typeface="Wingdings" pitchFamily="2" charset="2"/>
              <a:buChar char="n"/>
              <a:defRPr sz="2400">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55000"/>
              <a:buFont typeface="Wingdings" pitchFamily="2" charset="2"/>
              <a:buChar char="n"/>
              <a:defRPr sz="2000">
                <a:solidFill>
                  <a:schemeClr val="tx1"/>
                </a:solidFill>
                <a:latin typeface="+mn-lt"/>
                <a:ea typeface="+mn-ea"/>
              </a:defRPr>
            </a:lvl4pPr>
            <a:lvl5pPr marL="2057400" indent="-228600" algn="l" rtl="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9pPr>
          </a:lstStyle>
          <a:p>
            <a:pPr marL="342900" marR="0" lvl="0" indent="-342900" algn="l" defTabSz="914400" rtl="0" eaLnBrk="0" fontAlgn="base" latinLnBrk="0" hangingPunct="0">
              <a:lnSpc>
                <a:spcPct val="100000"/>
              </a:lnSpc>
              <a:spcBef>
                <a:spcPct val="20000"/>
              </a:spcBef>
              <a:spcAft>
                <a:spcPct val="0"/>
              </a:spcAft>
              <a:buClr>
                <a:srgbClr val="0000FF"/>
              </a:buClr>
              <a:buSzPct val="50000"/>
              <a:buFont typeface="Wingdings" pitchFamily="2" charset="2"/>
              <a:buChar char="n"/>
              <a:tabLst/>
              <a:defRPr/>
            </a:pPr>
            <a:r>
              <a:rPr kumimoji="0" lang="zh-CN" altLang="en-US"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rPr>
              <a:t>固定分区分配</a:t>
            </a:r>
            <a:r>
              <a:rPr kumimoji="0" lang="en-US" altLang="zh-CN"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rPr>
              <a:t> </a:t>
            </a: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l"/>
              <a:tabLst/>
              <a:defRPr/>
            </a:pP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rPr>
              <a:t>将内存空间划分为若干个固定大小的区域，每个区域的边 界不能改变。每个分区中可以装入一道作业</a:t>
            </a:r>
            <a:endParaRPr kumimoji="0" lang="en-US" altLang="zh-CN"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endParaRPr>
          </a:p>
          <a:p>
            <a:pPr marL="342900" marR="0" lvl="0" indent="-342900" algn="l" defTabSz="914400" rtl="0" eaLnBrk="0" fontAlgn="base" latinLnBrk="0" hangingPunct="0">
              <a:lnSpc>
                <a:spcPct val="100000"/>
              </a:lnSpc>
              <a:spcBef>
                <a:spcPct val="20000"/>
              </a:spcBef>
              <a:spcAft>
                <a:spcPct val="0"/>
              </a:spcAft>
              <a:buClr>
                <a:srgbClr val="0000FF"/>
              </a:buClr>
              <a:buSzPct val="50000"/>
              <a:buFont typeface="Wingdings" pitchFamily="2" charset="2"/>
              <a:buChar char="n"/>
              <a:tabLst/>
              <a:defRPr/>
            </a:pPr>
            <a:r>
              <a:rPr kumimoji="0" lang="zh-CN" altLang="en-US"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sym typeface="Wingdings" pitchFamily="2" charset="2"/>
              </a:rPr>
              <a:t> 适用范围：</a:t>
            </a:r>
            <a:endParaRPr kumimoji="0" lang="en-US" altLang="zh-CN"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sym typeface="Wingdings" pitchFamily="2" charset="2"/>
            </a:endParaRP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l"/>
              <a:tabLst/>
              <a:defRPr/>
            </a:pP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常用于某些控制系统中</a:t>
            </a:r>
            <a:endParaRPr kumimoji="0" lang="en-US" altLang="zh-CN"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endParaRP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l"/>
              <a:tabLst/>
              <a:defRPr/>
            </a:pP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典型应用</a:t>
            </a:r>
            <a:r>
              <a:rPr kumimoji="0" lang="en-US" altLang="zh-CN"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IBM360/MFT</a:t>
            </a: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 </a:t>
            </a:r>
          </a:p>
          <a:p>
            <a:pPr marL="342900" marR="0" lvl="0" indent="-342900" algn="l" defTabSz="914400" rtl="0" eaLnBrk="0" fontAlgn="base" latinLnBrk="0" hangingPunct="0">
              <a:lnSpc>
                <a:spcPct val="100000"/>
              </a:lnSpc>
              <a:spcBef>
                <a:spcPct val="20000"/>
              </a:spcBef>
              <a:spcAft>
                <a:spcPct val="0"/>
              </a:spcAft>
              <a:buClr>
                <a:srgbClr val="0000FF"/>
              </a:buClr>
              <a:buSzPct val="50000"/>
              <a:buFont typeface="Wingdings" pitchFamily="2" charset="2"/>
              <a:buChar char="n"/>
              <a:tabLst/>
              <a:defRPr/>
            </a:pPr>
            <a:r>
              <a:rPr kumimoji="0" lang="zh-CN" altLang="en-US"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sym typeface="Wingdings" pitchFamily="2" charset="2"/>
              </a:rPr>
              <a:t>分区划分方法</a:t>
            </a:r>
            <a:endParaRPr kumimoji="0" lang="en-US" altLang="zh-CN" sz="2400" b="1" i="0" u="none" strike="noStrike" kern="0" cap="none" spc="0" normalizeH="0" baseline="0" noProof="0" dirty="0">
              <a:ln>
                <a:noFill/>
              </a:ln>
              <a:solidFill>
                <a:srgbClr val="0000FF"/>
              </a:solidFill>
              <a:effectLst/>
              <a:uLnTx/>
              <a:uFillTx/>
              <a:latin typeface="Arial" panose="020B0604020202020204" pitchFamily="34" charset="0"/>
              <a:ea typeface="幼圆" pitchFamily="49" charset="-122"/>
              <a:sym typeface="Wingdings" pitchFamily="2" charset="2"/>
            </a:endParaRP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l"/>
              <a:tabLst/>
              <a:defRPr/>
            </a:pP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分区大小相等</a:t>
            </a:r>
            <a:endParaRPr kumimoji="0" lang="en-US" altLang="zh-CN"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endParaRP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l"/>
              <a:tabLst/>
              <a:defRPr/>
            </a:pPr>
            <a:r>
              <a:rPr kumimoji="0" lang="zh-CN" altLang="en-US" sz="2400" b="1" i="0" u="none" strike="noStrike" kern="0" cap="none" spc="0" normalizeH="0" baseline="0" noProof="0" dirty="0">
                <a:ln>
                  <a:noFill/>
                </a:ln>
                <a:solidFill>
                  <a:srgbClr val="000000"/>
                </a:solidFill>
                <a:effectLst/>
                <a:uLnTx/>
                <a:uFillTx/>
                <a:latin typeface="Arial" panose="020B0604020202020204" pitchFamily="34" charset="0"/>
                <a:ea typeface="幼圆" pitchFamily="49" charset="-122"/>
                <a:sym typeface="Wingdings" pitchFamily="2" charset="2"/>
              </a:rPr>
              <a:t>分区大小不等</a:t>
            </a:r>
            <a:endParaRPr kumimoji="0" lang="zh-CN" altLang="en-US" sz="2400" b="1" i="0" u="none" strike="noStrike" kern="0" cap="none" spc="0" normalizeH="0" baseline="0" noProof="0" dirty="0">
              <a:ln>
                <a:noFill/>
              </a:ln>
              <a:solidFill>
                <a:srgbClr val="000000"/>
              </a:solidFill>
              <a:effectLst/>
              <a:uLnTx/>
              <a:uFillTx/>
              <a:latin typeface="Tahoma"/>
              <a:ea typeface="宋体"/>
            </a:endParaRPr>
          </a:p>
        </p:txBody>
      </p:sp>
      <p:sp>
        <p:nvSpPr>
          <p:cNvPr id="30" name="矩形 5">
            <a:extLst>
              <a:ext uri="{FF2B5EF4-FFF2-40B4-BE49-F238E27FC236}">
                <a16:creationId xmlns:a16="http://schemas.microsoft.com/office/drawing/2014/main" id="{0052EEF9-AC1E-5B41-9B5A-8603BF7D2609}"/>
              </a:ext>
            </a:extLst>
          </p:cNvPr>
          <p:cNvSpPr>
            <a:spLocks noChangeArrowheads="1"/>
          </p:cNvSpPr>
          <p:nvPr/>
        </p:nvSpPr>
        <p:spPr bwMode="auto">
          <a:xfrm>
            <a:off x="5385868" y="1403297"/>
            <a:ext cx="1428750" cy="4214812"/>
          </a:xfrm>
          <a:prstGeom prst="rect">
            <a:avLst/>
          </a:prstGeom>
          <a:solidFill>
            <a:srgbClr val="53FFA1"/>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1" name="矩形 6">
            <a:extLst>
              <a:ext uri="{FF2B5EF4-FFF2-40B4-BE49-F238E27FC236}">
                <a16:creationId xmlns:a16="http://schemas.microsoft.com/office/drawing/2014/main" id="{D117A6FE-6610-C94F-B390-F1B5EF80E08C}"/>
              </a:ext>
            </a:extLst>
          </p:cNvPr>
          <p:cNvSpPr>
            <a:spLocks noChangeArrowheads="1"/>
          </p:cNvSpPr>
          <p:nvPr/>
        </p:nvSpPr>
        <p:spPr bwMode="auto">
          <a:xfrm>
            <a:off x="5385868" y="1403297"/>
            <a:ext cx="1428750" cy="785812"/>
          </a:xfrm>
          <a:prstGeom prst="rect">
            <a:avLst/>
          </a:prstGeom>
          <a:solidFill>
            <a:srgbClr val="FF3300"/>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2" name="TextBox 31">
            <a:extLst>
              <a:ext uri="{FF2B5EF4-FFF2-40B4-BE49-F238E27FC236}">
                <a16:creationId xmlns:a16="http://schemas.microsoft.com/office/drawing/2014/main" id="{9EE9355B-FEC2-EE41-9233-E7D49BF65392}"/>
              </a:ext>
            </a:extLst>
          </p:cNvPr>
          <p:cNvSpPr txBox="1"/>
          <p:nvPr/>
        </p:nvSpPr>
        <p:spPr>
          <a:xfrm>
            <a:off x="5385868" y="1584272"/>
            <a:ext cx="1428750" cy="461962"/>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FFFFFF"/>
                </a:solidFill>
                <a:effectLst>
                  <a:outerShdw blurRad="38100" dist="38100" dir="2700000" algn="tl">
                    <a:srgbClr val="C0C0C0"/>
                  </a:outerShdw>
                </a:effectLst>
                <a:latin typeface="幼圆" pitchFamily="49" charset="-122"/>
                <a:ea typeface="幼圆" pitchFamily="49" charset="-122"/>
              </a:rPr>
              <a:t>操作系统</a:t>
            </a:r>
          </a:p>
        </p:txBody>
      </p:sp>
      <p:sp>
        <p:nvSpPr>
          <p:cNvPr id="33" name="矩形 8">
            <a:extLst>
              <a:ext uri="{FF2B5EF4-FFF2-40B4-BE49-F238E27FC236}">
                <a16:creationId xmlns:a16="http://schemas.microsoft.com/office/drawing/2014/main" id="{D41366BC-6F45-6E4E-ACD5-D6BA23E63A30}"/>
              </a:ext>
            </a:extLst>
          </p:cNvPr>
          <p:cNvSpPr>
            <a:spLocks noChangeArrowheads="1"/>
          </p:cNvSpPr>
          <p:nvPr/>
        </p:nvSpPr>
        <p:spPr bwMode="auto">
          <a:xfrm>
            <a:off x="5385868" y="2189109"/>
            <a:ext cx="1428750" cy="857250"/>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4" name="矩形 9">
            <a:extLst>
              <a:ext uri="{FF2B5EF4-FFF2-40B4-BE49-F238E27FC236}">
                <a16:creationId xmlns:a16="http://schemas.microsoft.com/office/drawing/2014/main" id="{9CF00B91-49AA-3349-B720-DC26EC7FE30B}"/>
              </a:ext>
            </a:extLst>
          </p:cNvPr>
          <p:cNvSpPr>
            <a:spLocks noChangeArrowheads="1"/>
          </p:cNvSpPr>
          <p:nvPr/>
        </p:nvSpPr>
        <p:spPr bwMode="auto">
          <a:xfrm>
            <a:off x="5385868" y="3046359"/>
            <a:ext cx="1428750" cy="857250"/>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5" name="矩形 10">
            <a:extLst>
              <a:ext uri="{FF2B5EF4-FFF2-40B4-BE49-F238E27FC236}">
                <a16:creationId xmlns:a16="http://schemas.microsoft.com/office/drawing/2014/main" id="{A8F6238C-FABE-7A47-9D57-4B728A8F1DC5}"/>
              </a:ext>
            </a:extLst>
          </p:cNvPr>
          <p:cNvSpPr>
            <a:spLocks noChangeArrowheads="1"/>
          </p:cNvSpPr>
          <p:nvPr/>
        </p:nvSpPr>
        <p:spPr bwMode="auto">
          <a:xfrm>
            <a:off x="5385868" y="3903609"/>
            <a:ext cx="1428750" cy="857250"/>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6" name="矩形 11">
            <a:extLst>
              <a:ext uri="{FF2B5EF4-FFF2-40B4-BE49-F238E27FC236}">
                <a16:creationId xmlns:a16="http://schemas.microsoft.com/office/drawing/2014/main" id="{A4911B74-5F27-6043-BEB7-3B8253345505}"/>
              </a:ext>
            </a:extLst>
          </p:cNvPr>
          <p:cNvSpPr>
            <a:spLocks noChangeArrowheads="1"/>
          </p:cNvSpPr>
          <p:nvPr/>
        </p:nvSpPr>
        <p:spPr bwMode="auto">
          <a:xfrm>
            <a:off x="5385868" y="4760859"/>
            <a:ext cx="1428750" cy="857250"/>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37" name="TextBox 12">
            <a:extLst>
              <a:ext uri="{FF2B5EF4-FFF2-40B4-BE49-F238E27FC236}">
                <a16:creationId xmlns:a16="http://schemas.microsoft.com/office/drawing/2014/main" id="{55067C2F-DB65-DA4C-8B0D-BCD6EDFE45A6}"/>
              </a:ext>
            </a:extLst>
          </p:cNvPr>
          <p:cNvSpPr txBox="1">
            <a:spLocks noChangeArrowheads="1"/>
          </p:cNvSpPr>
          <p:nvPr/>
        </p:nvSpPr>
        <p:spPr bwMode="auto">
          <a:xfrm>
            <a:off x="5600181" y="2403422"/>
            <a:ext cx="107156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1</a:t>
            </a:r>
            <a:endParaRPr lang="zh-CN" altLang="en-US" sz="2400">
              <a:solidFill>
                <a:srgbClr val="0000FF"/>
              </a:solidFill>
              <a:latin typeface="幼圆" pitchFamily="49" charset="-122"/>
              <a:ea typeface="幼圆" pitchFamily="49" charset="-122"/>
            </a:endParaRPr>
          </a:p>
        </p:txBody>
      </p:sp>
      <p:sp>
        <p:nvSpPr>
          <p:cNvPr id="38" name="TextBox 13">
            <a:extLst>
              <a:ext uri="{FF2B5EF4-FFF2-40B4-BE49-F238E27FC236}">
                <a16:creationId xmlns:a16="http://schemas.microsoft.com/office/drawing/2014/main" id="{7443361F-2D89-2F41-8B01-C3B0E091155E}"/>
              </a:ext>
            </a:extLst>
          </p:cNvPr>
          <p:cNvSpPr txBox="1">
            <a:spLocks noChangeArrowheads="1"/>
          </p:cNvSpPr>
          <p:nvPr/>
        </p:nvSpPr>
        <p:spPr bwMode="auto">
          <a:xfrm>
            <a:off x="5600181" y="3227335"/>
            <a:ext cx="10715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2</a:t>
            </a:r>
            <a:endParaRPr lang="zh-CN" altLang="en-US" sz="2400">
              <a:solidFill>
                <a:srgbClr val="0000FF"/>
              </a:solidFill>
              <a:latin typeface="幼圆" pitchFamily="49" charset="-122"/>
              <a:ea typeface="幼圆" pitchFamily="49" charset="-122"/>
            </a:endParaRPr>
          </a:p>
        </p:txBody>
      </p:sp>
      <p:sp>
        <p:nvSpPr>
          <p:cNvPr id="39" name="TextBox 14">
            <a:extLst>
              <a:ext uri="{FF2B5EF4-FFF2-40B4-BE49-F238E27FC236}">
                <a16:creationId xmlns:a16="http://schemas.microsoft.com/office/drawing/2014/main" id="{ABE687F1-0E1B-D94A-BF0E-03F025194C78}"/>
              </a:ext>
            </a:extLst>
          </p:cNvPr>
          <p:cNvSpPr txBox="1">
            <a:spLocks noChangeArrowheads="1"/>
          </p:cNvSpPr>
          <p:nvPr/>
        </p:nvSpPr>
        <p:spPr bwMode="auto">
          <a:xfrm>
            <a:off x="5528744" y="4084585"/>
            <a:ext cx="10715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3</a:t>
            </a:r>
            <a:endParaRPr lang="zh-CN" altLang="en-US" sz="2400">
              <a:solidFill>
                <a:srgbClr val="0000FF"/>
              </a:solidFill>
              <a:latin typeface="幼圆" pitchFamily="49" charset="-122"/>
              <a:ea typeface="幼圆" pitchFamily="49" charset="-122"/>
            </a:endParaRPr>
          </a:p>
        </p:txBody>
      </p:sp>
      <p:sp>
        <p:nvSpPr>
          <p:cNvPr id="40" name="TextBox 15">
            <a:extLst>
              <a:ext uri="{FF2B5EF4-FFF2-40B4-BE49-F238E27FC236}">
                <a16:creationId xmlns:a16="http://schemas.microsoft.com/office/drawing/2014/main" id="{FA637D53-23A4-304C-B129-CA3F96D5DE57}"/>
              </a:ext>
            </a:extLst>
          </p:cNvPr>
          <p:cNvSpPr txBox="1">
            <a:spLocks noChangeArrowheads="1"/>
          </p:cNvSpPr>
          <p:nvPr/>
        </p:nvSpPr>
        <p:spPr bwMode="auto">
          <a:xfrm>
            <a:off x="5528744" y="5013272"/>
            <a:ext cx="10715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dirty="0">
                <a:solidFill>
                  <a:srgbClr val="0000FF"/>
                </a:solidFill>
                <a:latin typeface="幼圆" pitchFamily="49" charset="-122"/>
                <a:ea typeface="幼圆" pitchFamily="49" charset="-122"/>
              </a:rPr>
              <a:t>分区</a:t>
            </a:r>
            <a:r>
              <a:rPr lang="en-US" altLang="zh-CN" sz="2400" dirty="0">
                <a:solidFill>
                  <a:srgbClr val="0000FF"/>
                </a:solidFill>
                <a:latin typeface="幼圆" pitchFamily="49" charset="-122"/>
                <a:ea typeface="幼圆" pitchFamily="49" charset="-122"/>
              </a:rPr>
              <a:t>4</a:t>
            </a:r>
            <a:endParaRPr lang="zh-CN" altLang="en-US" sz="2400" dirty="0">
              <a:solidFill>
                <a:srgbClr val="0000FF"/>
              </a:solidFill>
              <a:latin typeface="幼圆" pitchFamily="49" charset="-122"/>
              <a:ea typeface="幼圆" pitchFamily="49" charset="-122"/>
            </a:endParaRPr>
          </a:p>
        </p:txBody>
      </p:sp>
      <p:sp>
        <p:nvSpPr>
          <p:cNvPr id="41" name="矩形 16">
            <a:extLst>
              <a:ext uri="{FF2B5EF4-FFF2-40B4-BE49-F238E27FC236}">
                <a16:creationId xmlns:a16="http://schemas.microsoft.com/office/drawing/2014/main" id="{F1A98FB1-7293-A84D-86AF-93130EDAFF00}"/>
              </a:ext>
            </a:extLst>
          </p:cNvPr>
          <p:cNvSpPr>
            <a:spLocks noChangeArrowheads="1"/>
          </p:cNvSpPr>
          <p:nvPr/>
        </p:nvSpPr>
        <p:spPr bwMode="auto">
          <a:xfrm>
            <a:off x="7243243" y="1403297"/>
            <a:ext cx="1428750" cy="4214812"/>
          </a:xfrm>
          <a:prstGeom prst="rect">
            <a:avLst/>
          </a:prstGeom>
          <a:solidFill>
            <a:srgbClr val="53FFA1"/>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2" name="矩形 17">
            <a:extLst>
              <a:ext uri="{FF2B5EF4-FFF2-40B4-BE49-F238E27FC236}">
                <a16:creationId xmlns:a16="http://schemas.microsoft.com/office/drawing/2014/main" id="{5DAF855E-B2AE-BC4C-8C0A-F34B2A16DA6E}"/>
              </a:ext>
            </a:extLst>
          </p:cNvPr>
          <p:cNvSpPr>
            <a:spLocks noChangeArrowheads="1"/>
          </p:cNvSpPr>
          <p:nvPr/>
        </p:nvSpPr>
        <p:spPr bwMode="auto">
          <a:xfrm>
            <a:off x="7243243" y="1403297"/>
            <a:ext cx="1428750" cy="785812"/>
          </a:xfrm>
          <a:prstGeom prst="rect">
            <a:avLst/>
          </a:prstGeom>
          <a:solidFill>
            <a:srgbClr val="FF3300"/>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3" name="TextBox 42">
            <a:extLst>
              <a:ext uri="{FF2B5EF4-FFF2-40B4-BE49-F238E27FC236}">
                <a16:creationId xmlns:a16="http://schemas.microsoft.com/office/drawing/2014/main" id="{E7C440BE-346C-EB49-970A-FCCEB69F71A2}"/>
              </a:ext>
            </a:extLst>
          </p:cNvPr>
          <p:cNvSpPr txBox="1"/>
          <p:nvPr/>
        </p:nvSpPr>
        <p:spPr>
          <a:xfrm>
            <a:off x="7243243" y="1584272"/>
            <a:ext cx="1428750" cy="461962"/>
          </a:xfrm>
          <a:prstGeom prst="rect">
            <a:avLst/>
          </a:prstGeom>
          <a:noFill/>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FFFFFF"/>
                </a:solidFill>
                <a:effectLst>
                  <a:outerShdw blurRad="38100" dist="38100" dir="2700000" algn="tl">
                    <a:srgbClr val="C0C0C0"/>
                  </a:outerShdw>
                </a:effectLst>
                <a:latin typeface="幼圆" pitchFamily="49" charset="-122"/>
                <a:ea typeface="幼圆" pitchFamily="49" charset="-122"/>
              </a:rPr>
              <a:t>操作系统</a:t>
            </a:r>
          </a:p>
        </p:txBody>
      </p:sp>
      <p:sp>
        <p:nvSpPr>
          <p:cNvPr id="44" name="矩形 19">
            <a:extLst>
              <a:ext uri="{FF2B5EF4-FFF2-40B4-BE49-F238E27FC236}">
                <a16:creationId xmlns:a16="http://schemas.microsoft.com/office/drawing/2014/main" id="{C4687522-50D4-4C42-AF7E-13FBCF2CE893}"/>
              </a:ext>
            </a:extLst>
          </p:cNvPr>
          <p:cNvSpPr>
            <a:spLocks noChangeArrowheads="1"/>
          </p:cNvSpPr>
          <p:nvPr/>
        </p:nvSpPr>
        <p:spPr bwMode="auto">
          <a:xfrm>
            <a:off x="7243243" y="2189110"/>
            <a:ext cx="1428750" cy="71437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5" name="矩形 20">
            <a:extLst>
              <a:ext uri="{FF2B5EF4-FFF2-40B4-BE49-F238E27FC236}">
                <a16:creationId xmlns:a16="http://schemas.microsoft.com/office/drawing/2014/main" id="{18F17867-B408-BC40-ABCA-56B15AB72C1F}"/>
              </a:ext>
            </a:extLst>
          </p:cNvPr>
          <p:cNvSpPr>
            <a:spLocks noChangeArrowheads="1"/>
          </p:cNvSpPr>
          <p:nvPr/>
        </p:nvSpPr>
        <p:spPr bwMode="auto">
          <a:xfrm>
            <a:off x="7243243" y="2689172"/>
            <a:ext cx="1428750" cy="785812"/>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6" name="矩形 21">
            <a:extLst>
              <a:ext uri="{FF2B5EF4-FFF2-40B4-BE49-F238E27FC236}">
                <a16:creationId xmlns:a16="http://schemas.microsoft.com/office/drawing/2014/main" id="{27FB6B72-CE50-0D4C-8E23-EDC680559C3C}"/>
              </a:ext>
            </a:extLst>
          </p:cNvPr>
          <p:cNvSpPr>
            <a:spLocks noChangeArrowheads="1"/>
          </p:cNvSpPr>
          <p:nvPr/>
        </p:nvSpPr>
        <p:spPr bwMode="auto">
          <a:xfrm>
            <a:off x="7243243" y="3474985"/>
            <a:ext cx="1428750" cy="128587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7" name="矩形 22">
            <a:extLst>
              <a:ext uri="{FF2B5EF4-FFF2-40B4-BE49-F238E27FC236}">
                <a16:creationId xmlns:a16="http://schemas.microsoft.com/office/drawing/2014/main" id="{5D0E96C3-62B2-3E43-B569-454B0466468A}"/>
              </a:ext>
            </a:extLst>
          </p:cNvPr>
          <p:cNvSpPr>
            <a:spLocks noChangeArrowheads="1"/>
          </p:cNvSpPr>
          <p:nvPr/>
        </p:nvSpPr>
        <p:spPr bwMode="auto">
          <a:xfrm>
            <a:off x="7243243" y="4403673"/>
            <a:ext cx="1428750" cy="1214437"/>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8" name="TextBox 23">
            <a:extLst>
              <a:ext uri="{FF2B5EF4-FFF2-40B4-BE49-F238E27FC236}">
                <a16:creationId xmlns:a16="http://schemas.microsoft.com/office/drawing/2014/main" id="{250B7C36-D4BB-6245-84BD-E6C5CFAC1B2E}"/>
              </a:ext>
            </a:extLst>
          </p:cNvPr>
          <p:cNvSpPr txBox="1">
            <a:spLocks noChangeArrowheads="1"/>
          </p:cNvSpPr>
          <p:nvPr/>
        </p:nvSpPr>
        <p:spPr bwMode="auto">
          <a:xfrm>
            <a:off x="7457556" y="2189110"/>
            <a:ext cx="1071562"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1</a:t>
            </a:r>
            <a:endParaRPr lang="zh-CN" altLang="en-US" sz="2400">
              <a:solidFill>
                <a:srgbClr val="0000FF"/>
              </a:solidFill>
              <a:latin typeface="幼圆" pitchFamily="49" charset="-122"/>
              <a:ea typeface="幼圆" pitchFamily="49" charset="-122"/>
            </a:endParaRPr>
          </a:p>
        </p:txBody>
      </p:sp>
      <p:sp>
        <p:nvSpPr>
          <p:cNvPr id="49" name="TextBox 24">
            <a:extLst>
              <a:ext uri="{FF2B5EF4-FFF2-40B4-BE49-F238E27FC236}">
                <a16:creationId xmlns:a16="http://schemas.microsoft.com/office/drawing/2014/main" id="{761862A8-2101-9143-BCB2-2B19B9FE9DBA}"/>
              </a:ext>
            </a:extLst>
          </p:cNvPr>
          <p:cNvSpPr txBox="1">
            <a:spLocks noChangeArrowheads="1"/>
          </p:cNvSpPr>
          <p:nvPr/>
        </p:nvSpPr>
        <p:spPr bwMode="auto">
          <a:xfrm>
            <a:off x="7457556" y="2832047"/>
            <a:ext cx="107156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2</a:t>
            </a:r>
            <a:endParaRPr lang="zh-CN" altLang="en-US" sz="2400">
              <a:solidFill>
                <a:srgbClr val="0000FF"/>
              </a:solidFill>
              <a:latin typeface="幼圆" pitchFamily="49" charset="-122"/>
              <a:ea typeface="幼圆" pitchFamily="49" charset="-122"/>
            </a:endParaRPr>
          </a:p>
        </p:txBody>
      </p:sp>
      <p:sp>
        <p:nvSpPr>
          <p:cNvPr id="50" name="TextBox 25">
            <a:extLst>
              <a:ext uri="{FF2B5EF4-FFF2-40B4-BE49-F238E27FC236}">
                <a16:creationId xmlns:a16="http://schemas.microsoft.com/office/drawing/2014/main" id="{D44BB09C-72BB-294C-A790-1B4972204DC4}"/>
              </a:ext>
            </a:extLst>
          </p:cNvPr>
          <p:cNvSpPr txBox="1">
            <a:spLocks noChangeArrowheads="1"/>
          </p:cNvSpPr>
          <p:nvPr/>
        </p:nvSpPr>
        <p:spPr bwMode="auto">
          <a:xfrm>
            <a:off x="7386119" y="3832172"/>
            <a:ext cx="10715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3</a:t>
            </a:r>
            <a:endParaRPr lang="zh-CN" altLang="en-US" sz="2400">
              <a:solidFill>
                <a:srgbClr val="0000FF"/>
              </a:solidFill>
              <a:latin typeface="幼圆" pitchFamily="49" charset="-122"/>
              <a:ea typeface="幼圆" pitchFamily="49" charset="-122"/>
            </a:endParaRPr>
          </a:p>
        </p:txBody>
      </p:sp>
      <p:sp>
        <p:nvSpPr>
          <p:cNvPr id="51" name="TextBox 26">
            <a:extLst>
              <a:ext uri="{FF2B5EF4-FFF2-40B4-BE49-F238E27FC236}">
                <a16:creationId xmlns:a16="http://schemas.microsoft.com/office/drawing/2014/main" id="{72EA8044-A76C-A54A-BCE6-4C98FCC26B78}"/>
              </a:ext>
            </a:extLst>
          </p:cNvPr>
          <p:cNvSpPr txBox="1">
            <a:spLocks noChangeArrowheads="1"/>
          </p:cNvSpPr>
          <p:nvPr/>
        </p:nvSpPr>
        <p:spPr bwMode="auto">
          <a:xfrm>
            <a:off x="7386119" y="5013272"/>
            <a:ext cx="10715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sz="2400">
                <a:solidFill>
                  <a:srgbClr val="0000FF"/>
                </a:solidFill>
                <a:latin typeface="幼圆" pitchFamily="49" charset="-122"/>
                <a:ea typeface="幼圆" pitchFamily="49" charset="-122"/>
              </a:rPr>
              <a:t>分区</a:t>
            </a:r>
            <a:r>
              <a:rPr lang="en-US" altLang="zh-CN" sz="2400">
                <a:solidFill>
                  <a:srgbClr val="0000FF"/>
                </a:solidFill>
                <a:latin typeface="幼圆" pitchFamily="49" charset="-122"/>
                <a:ea typeface="幼圆" pitchFamily="49" charset="-122"/>
              </a:rPr>
              <a:t>4</a:t>
            </a:r>
            <a:endParaRPr lang="zh-CN" altLang="en-US" sz="2400">
              <a:solidFill>
                <a:srgbClr val="0000FF"/>
              </a:solidFill>
              <a:latin typeface="幼圆" pitchFamily="49" charset="-122"/>
              <a:ea typeface="幼圆" pitchFamily="49" charset="-122"/>
            </a:endParaRPr>
          </a:p>
        </p:txBody>
      </p:sp>
      <p:sp>
        <p:nvSpPr>
          <p:cNvPr id="52" name="TextBox 27">
            <a:extLst>
              <a:ext uri="{FF2B5EF4-FFF2-40B4-BE49-F238E27FC236}">
                <a16:creationId xmlns:a16="http://schemas.microsoft.com/office/drawing/2014/main" id="{CC16A163-8CE6-1648-9D39-7DB88301F7B4}"/>
              </a:ext>
            </a:extLst>
          </p:cNvPr>
          <p:cNvSpPr txBox="1">
            <a:spLocks noChangeArrowheads="1"/>
          </p:cNvSpPr>
          <p:nvPr/>
        </p:nvSpPr>
        <p:spPr bwMode="auto">
          <a:xfrm>
            <a:off x="5171557" y="5689547"/>
            <a:ext cx="17859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a:solidFill>
                  <a:srgbClr val="0000FF"/>
                </a:solidFill>
                <a:latin typeface="幼圆" pitchFamily="49" charset="-122"/>
                <a:ea typeface="幼圆" pitchFamily="49" charset="-122"/>
              </a:rPr>
              <a:t>（</a:t>
            </a:r>
            <a:r>
              <a:rPr lang="en-US" altLang="zh-CN">
                <a:solidFill>
                  <a:srgbClr val="0000FF"/>
                </a:solidFill>
                <a:latin typeface="幼圆" pitchFamily="49" charset="-122"/>
                <a:ea typeface="幼圆" pitchFamily="49" charset="-122"/>
              </a:rPr>
              <a:t>a)</a:t>
            </a:r>
            <a:r>
              <a:rPr lang="zh-CN" altLang="en-US">
                <a:solidFill>
                  <a:srgbClr val="0000FF"/>
                </a:solidFill>
                <a:latin typeface="幼圆" pitchFamily="49" charset="-122"/>
                <a:ea typeface="幼圆" pitchFamily="49" charset="-122"/>
              </a:rPr>
              <a:t>大小相等</a:t>
            </a:r>
          </a:p>
        </p:txBody>
      </p:sp>
      <p:sp>
        <p:nvSpPr>
          <p:cNvPr id="53" name="TextBox 28">
            <a:extLst>
              <a:ext uri="{FF2B5EF4-FFF2-40B4-BE49-F238E27FC236}">
                <a16:creationId xmlns:a16="http://schemas.microsoft.com/office/drawing/2014/main" id="{ED9B7285-BC14-EC48-9D4A-2CE0E5D42772}"/>
              </a:ext>
            </a:extLst>
          </p:cNvPr>
          <p:cNvSpPr txBox="1">
            <a:spLocks noChangeArrowheads="1"/>
          </p:cNvSpPr>
          <p:nvPr/>
        </p:nvSpPr>
        <p:spPr bwMode="auto">
          <a:xfrm>
            <a:off x="6921774" y="5718121"/>
            <a:ext cx="207168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a:solidFill>
                  <a:srgbClr val="0000FF"/>
                </a:solidFill>
                <a:latin typeface="幼圆" pitchFamily="49" charset="-122"/>
                <a:ea typeface="幼圆" pitchFamily="49" charset="-122"/>
              </a:rPr>
              <a:t>（</a:t>
            </a:r>
            <a:r>
              <a:rPr lang="en-US" altLang="zh-CN">
                <a:solidFill>
                  <a:srgbClr val="0000FF"/>
                </a:solidFill>
                <a:latin typeface="幼圆" pitchFamily="49" charset="-122"/>
                <a:ea typeface="幼圆" pitchFamily="49" charset="-122"/>
              </a:rPr>
              <a:t>b)</a:t>
            </a:r>
            <a:r>
              <a:rPr lang="zh-CN" altLang="en-US">
                <a:solidFill>
                  <a:srgbClr val="0000FF"/>
                </a:solidFill>
                <a:latin typeface="幼圆" pitchFamily="49" charset="-122"/>
                <a:ea typeface="幼圆" pitchFamily="49" charset="-122"/>
              </a:rPr>
              <a:t>大小不相等</a:t>
            </a:r>
          </a:p>
        </p:txBody>
      </p:sp>
      <p:sp>
        <p:nvSpPr>
          <p:cNvPr id="54" name="TextBox 29">
            <a:extLst>
              <a:ext uri="{FF2B5EF4-FFF2-40B4-BE49-F238E27FC236}">
                <a16:creationId xmlns:a16="http://schemas.microsoft.com/office/drawing/2014/main" id="{317C38C9-EC64-D44E-B56B-FD2CB251ED25}"/>
              </a:ext>
            </a:extLst>
          </p:cNvPr>
          <p:cNvSpPr txBox="1">
            <a:spLocks noChangeArrowheads="1"/>
          </p:cNvSpPr>
          <p:nvPr/>
        </p:nvSpPr>
        <p:spPr bwMode="auto">
          <a:xfrm>
            <a:off x="642419" y="5889572"/>
            <a:ext cx="457200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buClr>
                <a:srgbClr val="0000FF"/>
              </a:buClr>
              <a:buSzPct val="50000"/>
              <a:buFont typeface="Wingdings" pitchFamily="2" charset="2"/>
              <a:buChar char="n"/>
            </a:pPr>
            <a:r>
              <a:rPr lang="zh-CN" altLang="en-US" sz="2400" dirty="0">
                <a:solidFill>
                  <a:srgbClr val="0000FF"/>
                </a:solidFill>
                <a:latin typeface="幼圆" pitchFamily="49" charset="-122"/>
                <a:ea typeface="幼圆" pitchFamily="49" charset="-122"/>
              </a:rPr>
              <a:t> 特点：</a:t>
            </a:r>
            <a:r>
              <a:rPr lang="zh-CN" altLang="en-US" sz="2400" dirty="0">
                <a:solidFill>
                  <a:srgbClr val="000000"/>
                </a:solidFill>
                <a:latin typeface="幼圆" pitchFamily="49" charset="-122"/>
                <a:ea typeface="幼圆" pitchFamily="49" charset="-122"/>
              </a:rPr>
              <a:t>存储管理简单；支持多道程序；空间利用率低</a:t>
            </a:r>
          </a:p>
        </p:txBody>
      </p:sp>
    </p:spTree>
    <p:extLst>
      <p:ext uri="{BB962C8B-B14F-4D97-AF65-F5344CB8AC3E}">
        <p14:creationId xmlns:p14="http://schemas.microsoft.com/office/powerpoint/2010/main" val="1460066841"/>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blinds(horizontal)">
                                      <p:cBhvr>
                                        <p:cTn id="7" dur="500"/>
                                        <p:tgtEl>
                                          <p:spTgt spid="29">
                                            <p:txEl>
                                              <p:pRg st="0" end="0"/>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29">
                                            <p:txEl>
                                              <p:pRg st="1" end="1"/>
                                            </p:txEl>
                                          </p:spTgt>
                                        </p:tgtEl>
                                        <p:attrNameLst>
                                          <p:attrName>style.visibility</p:attrName>
                                        </p:attrNameLst>
                                      </p:cBhvr>
                                      <p:to>
                                        <p:strVal val="visible"/>
                                      </p:to>
                                    </p:set>
                                    <p:animEffect transition="in" filter="blinds(horizontal)">
                                      <p:cBhvr>
                                        <p:cTn id="10" dur="500"/>
                                        <p:tgtEl>
                                          <p:spTgt spid="2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29">
                                            <p:txEl>
                                              <p:pRg st="2" end="2"/>
                                            </p:txEl>
                                          </p:spTgt>
                                        </p:tgtEl>
                                        <p:attrNameLst>
                                          <p:attrName>style.visibility</p:attrName>
                                        </p:attrNameLst>
                                      </p:cBhvr>
                                      <p:to>
                                        <p:strVal val="visible"/>
                                      </p:to>
                                    </p:set>
                                    <p:animEffect transition="in" filter="blinds(horizontal)">
                                      <p:cBhvr>
                                        <p:cTn id="15" dur="500"/>
                                        <p:tgtEl>
                                          <p:spTgt spid="29">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29">
                                            <p:txEl>
                                              <p:pRg st="3" end="3"/>
                                            </p:txEl>
                                          </p:spTgt>
                                        </p:tgtEl>
                                        <p:attrNameLst>
                                          <p:attrName>style.visibility</p:attrName>
                                        </p:attrNameLst>
                                      </p:cBhvr>
                                      <p:to>
                                        <p:strVal val="visible"/>
                                      </p:to>
                                    </p:set>
                                    <p:animEffect transition="in" filter="blinds(horizontal)">
                                      <p:cBhvr>
                                        <p:cTn id="18" dur="500"/>
                                        <p:tgtEl>
                                          <p:spTgt spid="29">
                                            <p:txEl>
                                              <p:pRg st="3" end="3"/>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29">
                                            <p:txEl>
                                              <p:pRg st="4" end="4"/>
                                            </p:txEl>
                                          </p:spTgt>
                                        </p:tgtEl>
                                        <p:attrNameLst>
                                          <p:attrName>style.visibility</p:attrName>
                                        </p:attrNameLst>
                                      </p:cBhvr>
                                      <p:to>
                                        <p:strVal val="visible"/>
                                      </p:to>
                                    </p:set>
                                    <p:animEffect transition="in" filter="blinds(horizontal)">
                                      <p:cBhvr>
                                        <p:cTn id="21" dur="500"/>
                                        <p:tgtEl>
                                          <p:spTgt spid="29">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29">
                                            <p:txEl>
                                              <p:pRg st="5" end="5"/>
                                            </p:txEl>
                                          </p:spTgt>
                                        </p:tgtEl>
                                        <p:attrNameLst>
                                          <p:attrName>style.visibility</p:attrName>
                                        </p:attrNameLst>
                                      </p:cBhvr>
                                      <p:to>
                                        <p:strVal val="visible"/>
                                      </p:to>
                                    </p:set>
                                    <p:animEffect transition="in" filter="blinds(horizontal)">
                                      <p:cBhvr>
                                        <p:cTn id="26" dur="500"/>
                                        <p:tgtEl>
                                          <p:spTgt spid="29">
                                            <p:txEl>
                                              <p:pRg st="5" end="5"/>
                                            </p:txEl>
                                          </p:spTgt>
                                        </p:tgtEl>
                                      </p:cBhvr>
                                    </p:animEffect>
                                  </p:childTnLst>
                                </p:cTn>
                              </p:par>
                              <p:par>
                                <p:cTn id="27" presetID="3" presetClass="entr" presetSubtype="10" fill="hold" grpId="0" nodeType="withEffect">
                                  <p:stCondLst>
                                    <p:cond delay="0"/>
                                  </p:stCondLst>
                                  <p:childTnLst>
                                    <p:set>
                                      <p:cBhvr>
                                        <p:cTn id="28" dur="1" fill="hold">
                                          <p:stCondLst>
                                            <p:cond delay="0"/>
                                          </p:stCondLst>
                                        </p:cTn>
                                        <p:tgtEl>
                                          <p:spTgt spid="29">
                                            <p:txEl>
                                              <p:pRg st="6" end="6"/>
                                            </p:txEl>
                                          </p:spTgt>
                                        </p:tgtEl>
                                        <p:attrNameLst>
                                          <p:attrName>style.visibility</p:attrName>
                                        </p:attrNameLst>
                                      </p:cBhvr>
                                      <p:to>
                                        <p:strVal val="visible"/>
                                      </p:to>
                                    </p:set>
                                    <p:animEffect transition="in" filter="blinds(horizontal)">
                                      <p:cBhvr>
                                        <p:cTn id="29" dur="500"/>
                                        <p:tgtEl>
                                          <p:spTgt spid="29">
                                            <p:txEl>
                                              <p:pRg st="6" end="6"/>
                                            </p:txEl>
                                          </p:spTgt>
                                        </p:tgtEl>
                                      </p:cBhvr>
                                    </p:animEffect>
                                  </p:childTnLst>
                                </p:cTn>
                              </p:par>
                              <p:par>
                                <p:cTn id="30" presetID="3" presetClass="entr" presetSubtype="10" fill="hold" grpId="0" nodeType="withEffect">
                                  <p:stCondLst>
                                    <p:cond delay="0"/>
                                  </p:stCondLst>
                                  <p:childTnLst>
                                    <p:set>
                                      <p:cBhvr>
                                        <p:cTn id="31" dur="1" fill="hold">
                                          <p:stCondLst>
                                            <p:cond delay="0"/>
                                          </p:stCondLst>
                                        </p:cTn>
                                        <p:tgtEl>
                                          <p:spTgt spid="29">
                                            <p:txEl>
                                              <p:pRg st="7" end="7"/>
                                            </p:txEl>
                                          </p:spTgt>
                                        </p:tgtEl>
                                        <p:attrNameLst>
                                          <p:attrName>style.visibility</p:attrName>
                                        </p:attrNameLst>
                                      </p:cBhvr>
                                      <p:to>
                                        <p:strVal val="visible"/>
                                      </p:to>
                                    </p:set>
                                    <p:animEffect transition="in" filter="blinds(horizontal)">
                                      <p:cBhvr>
                                        <p:cTn id="32" dur="500"/>
                                        <p:tgtEl>
                                          <p:spTgt spid="2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54"/>
                                        </p:tgtEl>
                                        <p:attrNameLst>
                                          <p:attrName>style.visibility</p:attrName>
                                        </p:attrNameLst>
                                      </p:cBhvr>
                                      <p:to>
                                        <p:strVal val="visible"/>
                                      </p:to>
                                    </p:set>
                                    <p:animEffect transition="in" filter="blinds(horizontal)">
                                      <p:cBhvr>
                                        <p:cTn id="37"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P spid="54"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31CBA66-8BFF-6743-88CB-55C0A0943D61}"/>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dirty="0">
                <a:solidFill>
                  <a:schemeClr val="tx1"/>
                </a:solidFill>
                <a:latin typeface="宋体" panose="02010600030101010101" pitchFamily="2" charset="-122"/>
              </a:rPr>
              <a:t>  </a:t>
            </a:r>
            <a:r>
              <a:rPr lang="zh-CN" altLang="en-US" sz="2800" kern="0" dirty="0">
                <a:solidFill>
                  <a:srgbClr val="FF0000"/>
                </a:solidFill>
                <a:latin typeface="宋体" panose="02010600030101010101" pitchFamily="2" charset="-122"/>
              </a:rPr>
              <a:t>固定分区存储管理</a:t>
            </a:r>
          </a:p>
        </p:txBody>
      </p:sp>
      <p:sp>
        <p:nvSpPr>
          <p:cNvPr id="29" name="内容占位符 2">
            <a:extLst>
              <a:ext uri="{FF2B5EF4-FFF2-40B4-BE49-F238E27FC236}">
                <a16:creationId xmlns:a16="http://schemas.microsoft.com/office/drawing/2014/main" id="{644BB098-2C57-E641-8CBA-81CC4C6F0DC8}"/>
              </a:ext>
            </a:extLst>
          </p:cNvPr>
          <p:cNvSpPr txBox="1">
            <a:spLocks/>
          </p:cNvSpPr>
          <p:nvPr/>
        </p:nvSpPr>
        <p:spPr bwMode="auto">
          <a:xfrm>
            <a:off x="389338" y="1225547"/>
            <a:ext cx="5410200" cy="208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folHlink"/>
              </a:buClr>
              <a:buSzPct val="50000"/>
              <a:buFont typeface="Wingdings" pitchFamily="2" charset="2"/>
              <a:buChar char="n"/>
              <a:defRPr sz="2400">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55000"/>
              <a:buFont typeface="Wingdings" pitchFamily="2" charset="2"/>
              <a:buChar char="n"/>
              <a:defRPr sz="2000">
                <a:solidFill>
                  <a:schemeClr val="tx1"/>
                </a:solidFill>
                <a:latin typeface="+mn-lt"/>
                <a:ea typeface="+mn-ea"/>
              </a:defRPr>
            </a:lvl4pPr>
            <a:lvl5pPr marL="2057400" indent="-228600" algn="l" rtl="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9pPr>
          </a:lstStyle>
          <a:p>
            <a:pPr>
              <a:buClr>
                <a:srgbClr val="0000FF"/>
              </a:buClr>
            </a:pPr>
            <a:r>
              <a:rPr lang="zh-CN" altLang="en-US" sz="2400" b="1" kern="0" dirty="0">
                <a:solidFill>
                  <a:srgbClr val="0000FF"/>
                </a:solidFill>
                <a:latin typeface="幼圆" pitchFamily="49" charset="-122"/>
                <a:ea typeface="幼圆" pitchFamily="49" charset="-122"/>
              </a:rPr>
              <a:t>内存分配</a:t>
            </a:r>
            <a:endParaRPr lang="en-US" altLang="zh-CN" sz="2400" b="1" kern="0" dirty="0">
              <a:solidFill>
                <a:srgbClr val="0000FF"/>
              </a:solidFill>
              <a:latin typeface="幼圆" pitchFamily="49" charset="-122"/>
              <a:ea typeface="幼圆" pitchFamily="49" charset="-122"/>
            </a:endParaRPr>
          </a:p>
          <a:p>
            <a:pPr lvl="1">
              <a:buClr>
                <a:srgbClr val="0000FF"/>
              </a:buClr>
              <a:buFont typeface="Wingdings" pitchFamily="2" charset="2"/>
              <a:buChar char="l"/>
            </a:pPr>
            <a:r>
              <a:rPr lang="en-US" altLang="zh-CN" sz="2400" b="1" kern="0" dirty="0">
                <a:solidFill>
                  <a:srgbClr val="000000"/>
                </a:solidFill>
                <a:latin typeface="幼圆" pitchFamily="49" charset="-122"/>
                <a:ea typeface="幼圆" pitchFamily="49" charset="-122"/>
              </a:rPr>
              <a:t> </a:t>
            </a:r>
            <a:r>
              <a:rPr lang="zh-CN" altLang="en-US" sz="2400" b="1" kern="0" dirty="0">
                <a:solidFill>
                  <a:srgbClr val="000000"/>
                </a:solidFill>
                <a:latin typeface="幼圆" pitchFamily="49" charset="-122"/>
                <a:ea typeface="幼圆" pitchFamily="49" charset="-122"/>
              </a:rPr>
              <a:t>将分区根据其大小进行排队</a:t>
            </a:r>
            <a:endParaRPr lang="en-US" altLang="zh-CN" sz="2400" b="1" kern="0" dirty="0">
              <a:solidFill>
                <a:srgbClr val="000000"/>
              </a:solidFill>
              <a:latin typeface="幼圆" pitchFamily="49" charset="-122"/>
              <a:ea typeface="幼圆" pitchFamily="49" charset="-122"/>
            </a:endParaRPr>
          </a:p>
          <a:p>
            <a:pPr lvl="1">
              <a:buClr>
                <a:srgbClr val="0000FF"/>
              </a:buClr>
              <a:buFont typeface="Wingdings" pitchFamily="2" charset="2"/>
              <a:buChar char="l"/>
            </a:pPr>
            <a:r>
              <a:rPr lang="zh-CN" altLang="en-US" sz="2400" b="1" kern="0" dirty="0">
                <a:solidFill>
                  <a:srgbClr val="000000"/>
                </a:solidFill>
                <a:latin typeface="幼圆" pitchFamily="49" charset="-122"/>
                <a:ea typeface="幼圆" pitchFamily="49" charset="-122"/>
              </a:rPr>
              <a:t> 建立一张分区表，包括：</a:t>
            </a:r>
            <a:endParaRPr lang="en-US" altLang="zh-CN" sz="2400" b="1" kern="0" dirty="0">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b="1" kern="0" dirty="0">
                <a:solidFill>
                  <a:srgbClr val="D60093"/>
                </a:solidFill>
                <a:latin typeface="幼圆" pitchFamily="49" charset="-122"/>
                <a:ea typeface="幼圆" pitchFamily="49" charset="-122"/>
                <a:sym typeface="Symbol" pitchFamily="2" charset="2"/>
              </a:rPr>
              <a:t> </a:t>
            </a:r>
            <a:r>
              <a:rPr lang="zh-CN" altLang="en-US" b="1" kern="0" dirty="0">
                <a:solidFill>
                  <a:srgbClr val="D60093"/>
                </a:solidFill>
                <a:latin typeface="幼圆" pitchFamily="49" charset="-122"/>
                <a:ea typeface="幼圆" pitchFamily="49" charset="-122"/>
              </a:rPr>
              <a:t>分区的起始地址</a:t>
            </a:r>
            <a:endParaRPr lang="en-US" altLang="zh-CN" b="1" kern="0" dirty="0">
              <a:solidFill>
                <a:srgbClr val="D60093"/>
              </a:solidFill>
              <a:latin typeface="幼圆" pitchFamily="49" charset="-122"/>
              <a:ea typeface="幼圆" pitchFamily="49" charset="-122"/>
            </a:endParaRPr>
          </a:p>
          <a:p>
            <a:pPr lvl="2">
              <a:buClr>
                <a:srgbClr val="0000FF"/>
              </a:buClr>
              <a:buFont typeface="Wingdings" pitchFamily="2" charset="2"/>
              <a:buChar char="Ø"/>
            </a:pPr>
            <a:r>
              <a:rPr lang="zh-CN" altLang="en-US" b="1" kern="0" dirty="0">
                <a:solidFill>
                  <a:srgbClr val="D60093"/>
                </a:solidFill>
                <a:latin typeface="幼圆" pitchFamily="49" charset="-122"/>
                <a:ea typeface="幼圆" pitchFamily="49" charset="-122"/>
                <a:sym typeface="Symbol" pitchFamily="2" charset="2"/>
              </a:rPr>
              <a:t> </a:t>
            </a:r>
            <a:r>
              <a:rPr lang="zh-CN" altLang="en-US" b="1" kern="0" dirty="0">
                <a:solidFill>
                  <a:srgbClr val="D60093"/>
                </a:solidFill>
                <a:latin typeface="幼圆" pitchFamily="49" charset="-122"/>
                <a:ea typeface="幼圆" pitchFamily="49" charset="-122"/>
              </a:rPr>
              <a:t>大小及状态</a:t>
            </a:r>
          </a:p>
        </p:txBody>
      </p:sp>
      <p:graphicFrame>
        <p:nvGraphicFramePr>
          <p:cNvPr id="30" name="Group 57">
            <a:extLst>
              <a:ext uri="{FF2B5EF4-FFF2-40B4-BE49-F238E27FC236}">
                <a16:creationId xmlns:a16="http://schemas.microsoft.com/office/drawing/2014/main" id="{754379BE-749B-E44F-AAB2-3B1780AF8BFC}"/>
              </a:ext>
            </a:extLst>
          </p:cNvPr>
          <p:cNvGraphicFramePr>
            <a:graphicFrameLocks noGrp="1"/>
          </p:cNvGraphicFramePr>
          <p:nvPr>
            <p:extLst>
              <p:ext uri="{D42A27DB-BD31-4B8C-83A1-F6EECF244321}">
                <p14:modId xmlns:p14="http://schemas.microsoft.com/office/powerpoint/2010/main" val="4233375485"/>
              </p:ext>
            </p:extLst>
          </p:nvPr>
        </p:nvGraphicFramePr>
        <p:xfrm>
          <a:off x="475063" y="3382078"/>
          <a:ext cx="5486400" cy="2971801"/>
        </p:xfrm>
        <a:graphic>
          <a:graphicData uri="http://schemas.openxmlformats.org/drawingml/2006/table">
            <a:tbl>
              <a:tblPr/>
              <a:tblGrid>
                <a:gridCol w="1371600">
                  <a:extLst>
                    <a:ext uri="{9D8B030D-6E8A-4147-A177-3AD203B41FA5}">
                      <a16:colId xmlns:a16="http://schemas.microsoft.com/office/drawing/2014/main" val="2686065707"/>
                    </a:ext>
                  </a:extLst>
                </a:gridCol>
                <a:gridCol w="1371600">
                  <a:extLst>
                    <a:ext uri="{9D8B030D-6E8A-4147-A177-3AD203B41FA5}">
                      <a16:colId xmlns:a16="http://schemas.microsoft.com/office/drawing/2014/main" val="4110750743"/>
                    </a:ext>
                  </a:extLst>
                </a:gridCol>
                <a:gridCol w="1371600">
                  <a:extLst>
                    <a:ext uri="{9D8B030D-6E8A-4147-A177-3AD203B41FA5}">
                      <a16:colId xmlns:a16="http://schemas.microsoft.com/office/drawing/2014/main" val="3282664643"/>
                    </a:ext>
                  </a:extLst>
                </a:gridCol>
                <a:gridCol w="1371600">
                  <a:extLst>
                    <a:ext uri="{9D8B030D-6E8A-4147-A177-3AD203B41FA5}">
                      <a16:colId xmlns:a16="http://schemas.microsoft.com/office/drawing/2014/main" val="887504130"/>
                    </a:ext>
                  </a:extLst>
                </a:gridCol>
              </a:tblGrid>
              <a:tr h="593725">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77343816"/>
                  </a:ext>
                </a:extLst>
              </a:tr>
              <a:tr h="595313">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2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89180007"/>
                  </a:ext>
                </a:extLst>
              </a:tr>
              <a:tr h="593725">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2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58114870"/>
                  </a:ext>
                </a:extLst>
              </a:tr>
              <a:tr h="595313">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2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54078589"/>
                  </a:ext>
                </a:extLst>
              </a:tr>
              <a:tr h="593725">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2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kumimoji="1" lang="zh-CN" altLang="en-US" sz="2400" b="1" i="0" u="none" strike="noStrike" cap="none" normalizeH="0" baseline="0">
                          <a:ln>
                            <a:noFill/>
                          </a:ln>
                          <a:solidFill>
                            <a:srgbClr val="0000FF"/>
                          </a:solidFill>
                          <a:effectLst/>
                          <a:latin typeface="Times New Roman" panose="02020603050405020304" pitchFamily="18" charset="0"/>
                          <a:ea typeface="宋体" panose="02010600030101010101" pitchFamily="2" charset="-122"/>
                        </a:rPr>
                        <a:t> 空闲</a:t>
                      </a:r>
                      <a:endParaRPr kumimoji="1" lang="zh-CN" altLang="zh-CN" sz="2400" b="1" i="0" u="none" strike="noStrike" cap="none" normalizeH="0" baseline="0">
                        <a:ln>
                          <a:noFill/>
                        </a:ln>
                        <a:solidFill>
                          <a:srgbClr val="0000FF"/>
                        </a:solidFill>
                        <a:effectLst/>
                        <a:latin typeface="Times New Roman" panose="02020603050405020304" pitchFamily="18" charset="0"/>
                        <a:ea typeface="宋体" panose="02010600030101010101" pitchFamily="2" charset="-122"/>
                      </a:endParaRPr>
                    </a:p>
                  </a:txBody>
                  <a:tcPr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87198246"/>
                  </a:ext>
                </a:extLst>
              </a:tr>
            </a:tbl>
          </a:graphicData>
        </a:graphic>
      </p:graphicFrame>
      <p:sp>
        <p:nvSpPr>
          <p:cNvPr id="31" name="Text Box 52">
            <a:extLst>
              <a:ext uri="{FF2B5EF4-FFF2-40B4-BE49-F238E27FC236}">
                <a16:creationId xmlns:a16="http://schemas.microsoft.com/office/drawing/2014/main" id="{7036DBBF-449D-7644-8950-353A041BC671}"/>
              </a:ext>
            </a:extLst>
          </p:cNvPr>
          <p:cNvSpPr txBox="1">
            <a:spLocks noChangeArrowheads="1"/>
          </p:cNvSpPr>
          <p:nvPr/>
        </p:nvSpPr>
        <p:spPr bwMode="auto">
          <a:xfrm>
            <a:off x="551263" y="3491614"/>
            <a:ext cx="12588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分区号</a:t>
            </a:r>
          </a:p>
        </p:txBody>
      </p:sp>
      <p:sp>
        <p:nvSpPr>
          <p:cNvPr id="32" name="Text Box 53">
            <a:extLst>
              <a:ext uri="{FF2B5EF4-FFF2-40B4-BE49-F238E27FC236}">
                <a16:creationId xmlns:a16="http://schemas.microsoft.com/office/drawing/2014/main" id="{FD39B600-F997-3544-8837-1838A28941E1}"/>
              </a:ext>
            </a:extLst>
          </p:cNvPr>
          <p:cNvSpPr txBox="1">
            <a:spLocks noChangeArrowheads="1"/>
          </p:cNvSpPr>
          <p:nvPr/>
        </p:nvSpPr>
        <p:spPr bwMode="auto">
          <a:xfrm>
            <a:off x="1833963" y="3491614"/>
            <a:ext cx="20701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大小（</a:t>
            </a:r>
            <a:r>
              <a:rPr lang="en-US" altLang="zh-CN">
                <a:solidFill>
                  <a:srgbClr val="0000FF"/>
                </a:solidFill>
                <a:latin typeface="幼圆" pitchFamily="49" charset="-122"/>
                <a:ea typeface="幼圆" pitchFamily="49" charset="-122"/>
              </a:rPr>
              <a:t>KB</a:t>
            </a:r>
            <a:r>
              <a:rPr lang="zh-CN" altLang="en-US">
                <a:solidFill>
                  <a:srgbClr val="0000FF"/>
                </a:solidFill>
                <a:latin typeface="幼圆" pitchFamily="49" charset="-122"/>
                <a:ea typeface="幼圆" pitchFamily="49" charset="-122"/>
              </a:rPr>
              <a:t>）</a:t>
            </a:r>
          </a:p>
        </p:txBody>
      </p:sp>
      <p:sp>
        <p:nvSpPr>
          <p:cNvPr id="33" name="Text Box 54">
            <a:extLst>
              <a:ext uri="{FF2B5EF4-FFF2-40B4-BE49-F238E27FC236}">
                <a16:creationId xmlns:a16="http://schemas.microsoft.com/office/drawing/2014/main" id="{2A1D6EAF-C973-CC42-8820-2D3659152F13}"/>
              </a:ext>
            </a:extLst>
          </p:cNvPr>
          <p:cNvSpPr txBox="1">
            <a:spLocks noChangeArrowheads="1"/>
          </p:cNvSpPr>
          <p:nvPr/>
        </p:nvSpPr>
        <p:spPr bwMode="auto">
          <a:xfrm>
            <a:off x="3294463" y="3491614"/>
            <a:ext cx="16764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始址（</a:t>
            </a:r>
            <a:r>
              <a:rPr lang="en-US" altLang="zh-CN">
                <a:solidFill>
                  <a:srgbClr val="0000FF"/>
                </a:solidFill>
                <a:latin typeface="幼圆" pitchFamily="49" charset="-122"/>
                <a:ea typeface="幼圆" pitchFamily="49" charset="-122"/>
              </a:rPr>
              <a:t>K</a:t>
            </a:r>
            <a:r>
              <a:rPr lang="zh-CN" altLang="en-US">
                <a:solidFill>
                  <a:srgbClr val="0000FF"/>
                </a:solidFill>
                <a:latin typeface="幼圆" pitchFamily="49" charset="-122"/>
                <a:ea typeface="幼圆" pitchFamily="49" charset="-122"/>
              </a:rPr>
              <a:t>）</a:t>
            </a:r>
          </a:p>
        </p:txBody>
      </p:sp>
      <p:sp>
        <p:nvSpPr>
          <p:cNvPr id="34" name="Text Box 55">
            <a:extLst>
              <a:ext uri="{FF2B5EF4-FFF2-40B4-BE49-F238E27FC236}">
                <a16:creationId xmlns:a16="http://schemas.microsoft.com/office/drawing/2014/main" id="{3BF78A85-64B6-1B4D-9588-7F7DFEB97312}"/>
              </a:ext>
            </a:extLst>
          </p:cNvPr>
          <p:cNvSpPr txBox="1">
            <a:spLocks noChangeArrowheads="1"/>
          </p:cNvSpPr>
          <p:nvPr/>
        </p:nvSpPr>
        <p:spPr bwMode="auto">
          <a:xfrm>
            <a:off x="4894663" y="3491614"/>
            <a:ext cx="10668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状态</a:t>
            </a:r>
          </a:p>
        </p:txBody>
      </p:sp>
      <p:sp>
        <p:nvSpPr>
          <p:cNvPr id="35" name="Text Box 56">
            <a:extLst>
              <a:ext uri="{FF2B5EF4-FFF2-40B4-BE49-F238E27FC236}">
                <a16:creationId xmlns:a16="http://schemas.microsoft.com/office/drawing/2014/main" id="{EB6ECF6A-5F0D-E948-AEEE-077F6FFB3AA6}"/>
              </a:ext>
            </a:extLst>
          </p:cNvPr>
          <p:cNvSpPr txBox="1">
            <a:spLocks noChangeArrowheads="1"/>
          </p:cNvSpPr>
          <p:nvPr/>
        </p:nvSpPr>
        <p:spPr bwMode="auto">
          <a:xfrm>
            <a:off x="932263" y="4075814"/>
            <a:ext cx="838200" cy="240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lnSpc>
                <a:spcPct val="150000"/>
              </a:lnSpc>
              <a:spcBef>
                <a:spcPct val="50000"/>
              </a:spcBef>
            </a:pPr>
            <a:r>
              <a:rPr lang="en-US" altLang="zh-CN">
                <a:solidFill>
                  <a:srgbClr val="0000FF"/>
                </a:solidFill>
                <a:latin typeface="幼圆" pitchFamily="49" charset="-122"/>
                <a:ea typeface="幼圆" pitchFamily="49" charset="-122"/>
              </a:rPr>
              <a:t>1</a:t>
            </a:r>
          </a:p>
          <a:p>
            <a:pPr eaLnBrk="1" hangingPunct="1">
              <a:lnSpc>
                <a:spcPct val="150000"/>
              </a:lnSpc>
              <a:spcBef>
                <a:spcPct val="50000"/>
              </a:spcBef>
            </a:pPr>
            <a:r>
              <a:rPr lang="en-US" altLang="zh-CN">
                <a:solidFill>
                  <a:srgbClr val="0000FF"/>
                </a:solidFill>
                <a:latin typeface="幼圆" pitchFamily="49" charset="-122"/>
                <a:ea typeface="幼圆" pitchFamily="49" charset="-122"/>
              </a:rPr>
              <a:t>2</a:t>
            </a:r>
          </a:p>
          <a:p>
            <a:pPr eaLnBrk="1" hangingPunct="1">
              <a:lnSpc>
                <a:spcPct val="150000"/>
              </a:lnSpc>
              <a:spcBef>
                <a:spcPct val="50000"/>
              </a:spcBef>
            </a:pPr>
            <a:r>
              <a:rPr lang="en-US" altLang="zh-CN">
                <a:solidFill>
                  <a:srgbClr val="0000FF"/>
                </a:solidFill>
                <a:latin typeface="幼圆" pitchFamily="49" charset="-122"/>
                <a:ea typeface="幼圆" pitchFamily="49" charset="-122"/>
              </a:rPr>
              <a:t>3</a:t>
            </a:r>
          </a:p>
          <a:p>
            <a:pPr eaLnBrk="1" hangingPunct="1">
              <a:lnSpc>
                <a:spcPct val="150000"/>
              </a:lnSpc>
              <a:spcBef>
                <a:spcPct val="50000"/>
              </a:spcBef>
            </a:pPr>
            <a:r>
              <a:rPr lang="en-US" altLang="zh-CN">
                <a:solidFill>
                  <a:srgbClr val="0000FF"/>
                </a:solidFill>
                <a:latin typeface="幼圆" pitchFamily="49" charset="-122"/>
                <a:ea typeface="幼圆" pitchFamily="49" charset="-122"/>
              </a:rPr>
              <a:t>4</a:t>
            </a:r>
          </a:p>
        </p:txBody>
      </p:sp>
      <p:sp>
        <p:nvSpPr>
          <p:cNvPr id="36" name="Text Box 58">
            <a:extLst>
              <a:ext uri="{FF2B5EF4-FFF2-40B4-BE49-F238E27FC236}">
                <a16:creationId xmlns:a16="http://schemas.microsoft.com/office/drawing/2014/main" id="{C183BDF0-7D85-F14A-8E01-20B7EFD1B4FE}"/>
              </a:ext>
            </a:extLst>
          </p:cNvPr>
          <p:cNvSpPr txBox="1">
            <a:spLocks noChangeArrowheads="1"/>
          </p:cNvSpPr>
          <p:nvPr/>
        </p:nvSpPr>
        <p:spPr bwMode="auto">
          <a:xfrm>
            <a:off x="2227663" y="4188527"/>
            <a:ext cx="838200" cy="221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lnSpc>
                <a:spcPct val="135000"/>
              </a:lnSpc>
              <a:spcBef>
                <a:spcPct val="50000"/>
              </a:spcBef>
            </a:pPr>
            <a:r>
              <a:rPr lang="en-US" altLang="zh-CN">
                <a:solidFill>
                  <a:srgbClr val="0000FF"/>
                </a:solidFill>
                <a:latin typeface="幼圆" pitchFamily="49" charset="-122"/>
                <a:ea typeface="幼圆" pitchFamily="49" charset="-122"/>
              </a:rPr>
              <a:t>15</a:t>
            </a:r>
          </a:p>
          <a:p>
            <a:pPr eaLnBrk="1" hangingPunct="1">
              <a:lnSpc>
                <a:spcPct val="135000"/>
              </a:lnSpc>
              <a:spcBef>
                <a:spcPct val="50000"/>
              </a:spcBef>
            </a:pPr>
            <a:r>
              <a:rPr lang="en-US" altLang="zh-CN">
                <a:solidFill>
                  <a:srgbClr val="0000FF"/>
                </a:solidFill>
                <a:latin typeface="幼圆" pitchFamily="49" charset="-122"/>
                <a:ea typeface="幼圆" pitchFamily="49" charset="-122"/>
              </a:rPr>
              <a:t>30</a:t>
            </a:r>
          </a:p>
          <a:p>
            <a:pPr eaLnBrk="1" hangingPunct="1">
              <a:lnSpc>
                <a:spcPct val="135000"/>
              </a:lnSpc>
              <a:spcBef>
                <a:spcPct val="50000"/>
              </a:spcBef>
            </a:pPr>
            <a:r>
              <a:rPr lang="en-US" altLang="zh-CN">
                <a:solidFill>
                  <a:srgbClr val="0000FF"/>
                </a:solidFill>
                <a:latin typeface="幼圆" pitchFamily="49" charset="-122"/>
                <a:ea typeface="幼圆" pitchFamily="49" charset="-122"/>
              </a:rPr>
              <a:t>50</a:t>
            </a:r>
          </a:p>
          <a:p>
            <a:pPr eaLnBrk="1" hangingPunct="1">
              <a:lnSpc>
                <a:spcPct val="135000"/>
              </a:lnSpc>
              <a:spcBef>
                <a:spcPct val="50000"/>
              </a:spcBef>
            </a:pPr>
            <a:r>
              <a:rPr lang="en-US" altLang="zh-CN">
                <a:solidFill>
                  <a:srgbClr val="0000FF"/>
                </a:solidFill>
                <a:latin typeface="幼圆" pitchFamily="49" charset="-122"/>
                <a:ea typeface="幼圆" pitchFamily="49" charset="-122"/>
              </a:rPr>
              <a:t>100</a:t>
            </a:r>
          </a:p>
        </p:txBody>
      </p:sp>
      <p:sp>
        <p:nvSpPr>
          <p:cNvPr id="37" name="Text Box 59">
            <a:extLst>
              <a:ext uri="{FF2B5EF4-FFF2-40B4-BE49-F238E27FC236}">
                <a16:creationId xmlns:a16="http://schemas.microsoft.com/office/drawing/2014/main" id="{20B792F2-466C-7147-B0B6-BF1CC057CF8F}"/>
              </a:ext>
            </a:extLst>
          </p:cNvPr>
          <p:cNvSpPr txBox="1">
            <a:spLocks noChangeArrowheads="1"/>
          </p:cNvSpPr>
          <p:nvPr/>
        </p:nvSpPr>
        <p:spPr bwMode="auto">
          <a:xfrm>
            <a:off x="3675463" y="4125027"/>
            <a:ext cx="762000" cy="2278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lnSpc>
                <a:spcPct val="140000"/>
              </a:lnSpc>
              <a:spcBef>
                <a:spcPct val="50000"/>
              </a:spcBef>
            </a:pPr>
            <a:r>
              <a:rPr lang="en-US" altLang="zh-CN">
                <a:solidFill>
                  <a:srgbClr val="0000FF"/>
                </a:solidFill>
                <a:latin typeface="幼圆" pitchFamily="49" charset="-122"/>
                <a:ea typeface="幼圆" pitchFamily="49" charset="-122"/>
              </a:rPr>
              <a:t>30</a:t>
            </a:r>
          </a:p>
          <a:p>
            <a:pPr eaLnBrk="1" hangingPunct="1">
              <a:lnSpc>
                <a:spcPct val="140000"/>
              </a:lnSpc>
              <a:spcBef>
                <a:spcPct val="50000"/>
              </a:spcBef>
            </a:pPr>
            <a:r>
              <a:rPr lang="en-US" altLang="zh-CN">
                <a:solidFill>
                  <a:srgbClr val="0000FF"/>
                </a:solidFill>
                <a:latin typeface="幼圆" pitchFamily="49" charset="-122"/>
                <a:ea typeface="幼圆" pitchFamily="49" charset="-122"/>
              </a:rPr>
              <a:t>45</a:t>
            </a:r>
          </a:p>
          <a:p>
            <a:pPr eaLnBrk="1" hangingPunct="1">
              <a:lnSpc>
                <a:spcPct val="140000"/>
              </a:lnSpc>
              <a:spcBef>
                <a:spcPct val="50000"/>
              </a:spcBef>
            </a:pPr>
            <a:r>
              <a:rPr lang="en-US" altLang="zh-CN">
                <a:solidFill>
                  <a:srgbClr val="0000FF"/>
                </a:solidFill>
                <a:latin typeface="幼圆" pitchFamily="49" charset="-122"/>
                <a:ea typeface="幼圆" pitchFamily="49" charset="-122"/>
              </a:rPr>
              <a:t>75</a:t>
            </a:r>
          </a:p>
          <a:p>
            <a:pPr eaLnBrk="1" hangingPunct="1">
              <a:lnSpc>
                <a:spcPct val="140000"/>
              </a:lnSpc>
              <a:spcBef>
                <a:spcPct val="50000"/>
              </a:spcBef>
            </a:pPr>
            <a:r>
              <a:rPr lang="en-US" altLang="zh-CN">
                <a:solidFill>
                  <a:srgbClr val="0000FF"/>
                </a:solidFill>
                <a:latin typeface="幼圆" pitchFamily="49" charset="-122"/>
                <a:ea typeface="幼圆" pitchFamily="49" charset="-122"/>
              </a:rPr>
              <a:t>125</a:t>
            </a:r>
          </a:p>
        </p:txBody>
      </p:sp>
      <p:sp>
        <p:nvSpPr>
          <p:cNvPr id="38" name="Text Box 60">
            <a:extLst>
              <a:ext uri="{FF2B5EF4-FFF2-40B4-BE49-F238E27FC236}">
                <a16:creationId xmlns:a16="http://schemas.microsoft.com/office/drawing/2014/main" id="{BB494251-1F50-6A42-AE65-DCD246D8D9AF}"/>
              </a:ext>
            </a:extLst>
          </p:cNvPr>
          <p:cNvSpPr txBox="1">
            <a:spLocks noChangeArrowheads="1"/>
          </p:cNvSpPr>
          <p:nvPr/>
        </p:nvSpPr>
        <p:spPr bwMode="auto">
          <a:xfrm>
            <a:off x="4666063" y="4166302"/>
            <a:ext cx="1143000" cy="149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lnSpc>
                <a:spcPct val="135000"/>
              </a:lnSpc>
              <a:spcBef>
                <a:spcPct val="50000"/>
              </a:spcBef>
            </a:pPr>
            <a:r>
              <a:rPr lang="zh-CN" altLang="en-US">
                <a:solidFill>
                  <a:srgbClr val="FF0000"/>
                </a:solidFill>
                <a:latin typeface="幼圆" pitchFamily="49" charset="-122"/>
                <a:ea typeface="幼圆" pitchFamily="49" charset="-122"/>
              </a:rPr>
              <a:t>已分配已分配</a:t>
            </a:r>
          </a:p>
          <a:p>
            <a:pPr eaLnBrk="1" hangingPunct="1">
              <a:lnSpc>
                <a:spcPct val="135000"/>
              </a:lnSpc>
              <a:spcBef>
                <a:spcPct val="50000"/>
              </a:spcBef>
            </a:pPr>
            <a:r>
              <a:rPr lang="zh-CN" altLang="en-US">
                <a:solidFill>
                  <a:srgbClr val="FF0000"/>
                </a:solidFill>
                <a:latin typeface="幼圆" pitchFamily="49" charset="-122"/>
                <a:ea typeface="幼圆" pitchFamily="49" charset="-122"/>
              </a:rPr>
              <a:t>已分配</a:t>
            </a:r>
          </a:p>
        </p:txBody>
      </p:sp>
      <p:graphicFrame>
        <p:nvGraphicFramePr>
          <p:cNvPr id="39" name="Group 66">
            <a:extLst>
              <a:ext uri="{FF2B5EF4-FFF2-40B4-BE49-F238E27FC236}">
                <a16:creationId xmlns:a16="http://schemas.microsoft.com/office/drawing/2014/main" id="{AC00486F-5A70-F245-9D64-C8ACB66C6FC4}"/>
              </a:ext>
            </a:extLst>
          </p:cNvPr>
          <p:cNvGraphicFramePr>
            <a:graphicFrameLocks noGrp="1"/>
          </p:cNvGraphicFramePr>
          <p:nvPr>
            <p:extLst>
              <p:ext uri="{D42A27DB-BD31-4B8C-83A1-F6EECF244321}">
                <p14:modId xmlns:p14="http://schemas.microsoft.com/office/powerpoint/2010/main" val="1403322545"/>
              </p:ext>
            </p:extLst>
          </p:nvPr>
        </p:nvGraphicFramePr>
        <p:xfrm>
          <a:off x="6828238" y="988128"/>
          <a:ext cx="1905000" cy="5394325"/>
        </p:xfrm>
        <a:graphic>
          <a:graphicData uri="http://schemas.openxmlformats.org/drawingml/2006/table">
            <a:tbl>
              <a:tblPr/>
              <a:tblGrid>
                <a:gridCol w="1905000">
                  <a:extLst>
                    <a:ext uri="{9D8B030D-6E8A-4147-A177-3AD203B41FA5}">
                      <a16:colId xmlns:a16="http://schemas.microsoft.com/office/drawing/2014/main" val="2196963240"/>
                    </a:ext>
                  </a:extLst>
                </a:gridCol>
              </a:tblGrid>
              <a:tr h="533400">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20896297"/>
                  </a:ext>
                </a:extLst>
              </a:tr>
              <a:tr h="533400">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90812100"/>
                  </a:ext>
                </a:extLst>
              </a:tr>
              <a:tr h="914400">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20652562"/>
                  </a:ext>
                </a:extLst>
              </a:tr>
              <a:tr h="1371600">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20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r>
                        <a:rPr kumimoji="1" lang="en-US" altLang="zh-CN" sz="20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        </a:t>
                      </a:r>
                      <a:r>
                        <a:rPr kumimoji="1" lang="zh-CN" altLang="en-US" sz="2000" b="1" i="0" u="none" strike="noStrike" cap="none" normalizeH="0" baseline="0">
                          <a:ln>
                            <a:noFill/>
                          </a:ln>
                          <a:solidFill>
                            <a:srgbClr val="0000FF"/>
                          </a:solidFill>
                          <a:effectLst/>
                          <a:latin typeface="Times New Roman" panose="02020603050405020304" pitchFamily="18" charset="0"/>
                          <a:ea typeface="宋体" panose="02010600030101010101" pitchFamily="2" charset="-122"/>
                        </a:rPr>
                        <a:t>作业</a:t>
                      </a:r>
                      <a:r>
                        <a:rPr kumimoji="1" lang="en-US" altLang="zh-CN" sz="2000" b="1" i="0" u="none" strike="noStrike" cap="none" normalizeH="0" baseline="0">
                          <a:ln>
                            <a:noFill/>
                          </a:ln>
                          <a:solidFill>
                            <a:srgbClr val="0000FF"/>
                          </a:solidFill>
                          <a:effectLst/>
                          <a:latin typeface="Times New Roman" panose="02020603050405020304" pitchFamily="18" charset="0"/>
                          <a:ea typeface="宋体" panose="02010600030101010101" pitchFamily="2" charset="-122"/>
                        </a:rPr>
                        <a:t>C</a:t>
                      </a: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0569285"/>
                  </a:ext>
                </a:extLst>
              </a:tr>
              <a:tr h="1295400">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96447663"/>
                  </a:ext>
                </a:extLst>
              </a:tr>
              <a:tr h="746125">
                <a:tc>
                  <a:txBody>
                    <a:bodyPr/>
                    <a:lstStyle>
                      <a:lvl1pPr marL="0" algn="l" defTabSz="914400" rtl="0" eaLnBrk="1" latinLnBrk="0" hangingPunct="1">
                        <a:spcBef>
                          <a:spcPct val="20000"/>
                        </a:spcBef>
                        <a:buClr>
                          <a:schemeClr val="bg2"/>
                        </a:buClr>
                        <a:buFont typeface="Monotype Sorts" pitchFamily="2" charset="2"/>
                        <a:defRPr kumimoji="1" sz="2800" kern="1200">
                          <a:solidFill>
                            <a:schemeClr val="tx1"/>
                          </a:solidFill>
                          <a:latin typeface="Times New Roman" panose="02020603050405020304" pitchFamily="18" charset="0"/>
                          <a:ea typeface="宋体" panose="02010600030101010101" pitchFamily="2" charset="-122"/>
                        </a:defRPr>
                      </a:lvl1pPr>
                      <a:lvl2pPr marL="742950" indent="-285750" algn="l" defTabSz="914400" rtl="0" eaLnBrk="1" latinLnBrk="0" hangingPunct="1">
                        <a:spcBef>
                          <a:spcPct val="20000"/>
                        </a:spcBef>
                        <a:buClr>
                          <a:schemeClr val="bg2"/>
                        </a:buClr>
                        <a:buSzPct val="50000"/>
                        <a:buFont typeface="Monotype Sorts" pitchFamily="2" charset="2"/>
                        <a:defRPr kumimoji="1" sz="2400" kern="1200">
                          <a:solidFill>
                            <a:schemeClr val="tx1"/>
                          </a:solidFill>
                          <a:latin typeface="Times New Roman" panose="02020603050405020304" pitchFamily="18" charset="0"/>
                          <a:ea typeface="宋体" panose="02010600030101010101" pitchFamily="2" charset="-122"/>
                        </a:defRPr>
                      </a:lvl2pPr>
                      <a:lvl3pPr marL="1143000" indent="-228600" algn="l" defTabSz="914400" rtl="0" eaLnBrk="1" latinLnBrk="0" hangingPunct="1">
                        <a:spcBef>
                          <a:spcPct val="20000"/>
                        </a:spcBef>
                        <a:defRPr kumimoji="1" sz="2000" kern="1200">
                          <a:solidFill>
                            <a:schemeClr val="tx1"/>
                          </a:solidFill>
                          <a:latin typeface="Times New Roman" panose="02020603050405020304" pitchFamily="18" charset="0"/>
                          <a:ea typeface="宋体" panose="02010600030101010101" pitchFamily="2" charset="-122"/>
                        </a:defRPr>
                      </a:lvl3pPr>
                      <a:lvl4pPr marL="16002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4pPr>
                      <a:lvl5pPr marL="2057400" indent="-228600" algn="l" defTabSz="914400" rtl="0" eaLnBrk="1" latinLnBrk="0" hangingPunct="1">
                        <a:spcBef>
                          <a:spcPct val="20000"/>
                        </a:spcBef>
                        <a:defRPr kumimoji="1" sz="1800" kern="1200">
                          <a:solidFill>
                            <a:schemeClr val="tx1"/>
                          </a:solidFill>
                          <a:latin typeface="Times New Roman" panose="02020603050405020304" pitchFamily="18" charset="0"/>
                          <a:ea typeface="宋体" panose="02010600030101010101" pitchFamily="2" charset="-122"/>
                        </a:defRPr>
                      </a:lvl5pPr>
                      <a:lvl6pPr marL="25146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6pPr>
                      <a:lvl7pPr marL="29718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7pPr>
                      <a:lvl8pPr marL="34290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8pPr>
                      <a:lvl9pPr marL="3886200" indent="-228600" algn="l" defTabSz="914400" rtl="0" eaLnBrk="0" fontAlgn="base" latinLnBrk="0" hangingPunct="0">
                        <a:spcBef>
                          <a:spcPct val="20000"/>
                        </a:spcBef>
                        <a:spcAft>
                          <a:spcPct val="0"/>
                        </a:spcAft>
                        <a:defRPr kumimoji="1" sz="1800" kern="12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8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2111232"/>
                  </a:ext>
                </a:extLst>
              </a:tr>
            </a:tbl>
          </a:graphicData>
        </a:graphic>
      </p:graphicFrame>
      <p:sp>
        <p:nvSpPr>
          <p:cNvPr id="40" name="Text Box 61">
            <a:extLst>
              <a:ext uri="{FF2B5EF4-FFF2-40B4-BE49-F238E27FC236}">
                <a16:creationId xmlns:a16="http://schemas.microsoft.com/office/drawing/2014/main" id="{78234628-F14B-E84C-809D-3DCB4740D18A}"/>
              </a:ext>
            </a:extLst>
          </p:cNvPr>
          <p:cNvSpPr txBox="1">
            <a:spLocks noChangeArrowheads="1"/>
          </p:cNvSpPr>
          <p:nvPr/>
        </p:nvSpPr>
        <p:spPr bwMode="auto">
          <a:xfrm>
            <a:off x="6294838" y="896052"/>
            <a:ext cx="533400" cy="862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a:solidFill>
                  <a:srgbClr val="0000FF"/>
                </a:solidFill>
                <a:latin typeface="幼圆" pitchFamily="49" charset="-122"/>
                <a:ea typeface="幼圆" pitchFamily="49" charset="-122"/>
              </a:rPr>
              <a:t>0</a:t>
            </a:r>
          </a:p>
          <a:p>
            <a:pPr eaLnBrk="1" hangingPunct="1">
              <a:spcBef>
                <a:spcPct val="50000"/>
              </a:spcBef>
            </a:pPr>
            <a:r>
              <a:rPr lang="en-US" altLang="zh-CN">
                <a:solidFill>
                  <a:srgbClr val="0000FF"/>
                </a:solidFill>
                <a:latin typeface="幼圆" pitchFamily="49" charset="-122"/>
                <a:ea typeface="幼圆" pitchFamily="49" charset="-122"/>
              </a:rPr>
              <a:t>30</a:t>
            </a:r>
          </a:p>
        </p:txBody>
      </p:sp>
      <p:sp>
        <p:nvSpPr>
          <p:cNvPr id="41" name="Text Box 71">
            <a:extLst>
              <a:ext uri="{FF2B5EF4-FFF2-40B4-BE49-F238E27FC236}">
                <a16:creationId xmlns:a16="http://schemas.microsoft.com/office/drawing/2014/main" id="{A02F5ADC-E3FF-7F41-9ECD-7D304376B14E}"/>
              </a:ext>
            </a:extLst>
          </p:cNvPr>
          <p:cNvSpPr txBox="1">
            <a:spLocks noChangeArrowheads="1"/>
          </p:cNvSpPr>
          <p:nvPr/>
        </p:nvSpPr>
        <p:spPr bwMode="auto">
          <a:xfrm>
            <a:off x="6142438" y="1902527"/>
            <a:ext cx="9144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a:solidFill>
                  <a:srgbClr val="0000FF"/>
                </a:solidFill>
                <a:latin typeface="幼圆" pitchFamily="49" charset="-122"/>
                <a:ea typeface="幼圆" pitchFamily="49" charset="-122"/>
              </a:rPr>
              <a:t>45K</a:t>
            </a:r>
          </a:p>
        </p:txBody>
      </p:sp>
      <p:sp>
        <p:nvSpPr>
          <p:cNvPr id="42" name="Text Box 72">
            <a:extLst>
              <a:ext uri="{FF2B5EF4-FFF2-40B4-BE49-F238E27FC236}">
                <a16:creationId xmlns:a16="http://schemas.microsoft.com/office/drawing/2014/main" id="{6D59FE69-FB40-3B46-B342-7C44D4391724}"/>
              </a:ext>
            </a:extLst>
          </p:cNvPr>
          <p:cNvSpPr txBox="1">
            <a:spLocks noChangeArrowheads="1"/>
          </p:cNvSpPr>
          <p:nvPr/>
        </p:nvSpPr>
        <p:spPr bwMode="auto">
          <a:xfrm>
            <a:off x="6218638" y="2740727"/>
            <a:ext cx="8382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a:solidFill>
                  <a:srgbClr val="0000FF"/>
                </a:solidFill>
                <a:latin typeface="幼圆" pitchFamily="49" charset="-122"/>
                <a:ea typeface="幼圆" pitchFamily="49" charset="-122"/>
              </a:rPr>
              <a:t>75K</a:t>
            </a:r>
          </a:p>
        </p:txBody>
      </p:sp>
      <p:sp>
        <p:nvSpPr>
          <p:cNvPr id="43" name="Text Box 73">
            <a:extLst>
              <a:ext uri="{FF2B5EF4-FFF2-40B4-BE49-F238E27FC236}">
                <a16:creationId xmlns:a16="http://schemas.microsoft.com/office/drawing/2014/main" id="{0C3ACA52-8A94-2944-9FDC-E2DA1A52C3DB}"/>
              </a:ext>
            </a:extLst>
          </p:cNvPr>
          <p:cNvSpPr txBox="1">
            <a:spLocks noChangeArrowheads="1"/>
          </p:cNvSpPr>
          <p:nvPr/>
        </p:nvSpPr>
        <p:spPr bwMode="auto">
          <a:xfrm>
            <a:off x="6066238" y="4188527"/>
            <a:ext cx="990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a:solidFill>
                  <a:srgbClr val="0000FF"/>
                </a:solidFill>
                <a:latin typeface="幼圆" pitchFamily="49" charset="-122"/>
                <a:ea typeface="幼圆" pitchFamily="49" charset="-122"/>
              </a:rPr>
              <a:t>125K</a:t>
            </a:r>
          </a:p>
        </p:txBody>
      </p:sp>
      <p:sp>
        <p:nvSpPr>
          <p:cNvPr id="44" name="Text Box 74">
            <a:extLst>
              <a:ext uri="{FF2B5EF4-FFF2-40B4-BE49-F238E27FC236}">
                <a16:creationId xmlns:a16="http://schemas.microsoft.com/office/drawing/2014/main" id="{57E7BFE1-9AC7-C84A-99DA-F1A669AB0068}"/>
              </a:ext>
            </a:extLst>
          </p:cNvPr>
          <p:cNvSpPr txBox="1">
            <a:spLocks noChangeArrowheads="1"/>
          </p:cNvSpPr>
          <p:nvPr/>
        </p:nvSpPr>
        <p:spPr bwMode="auto">
          <a:xfrm>
            <a:off x="6066238" y="5407727"/>
            <a:ext cx="10668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a:solidFill>
                  <a:srgbClr val="0000FF"/>
                </a:solidFill>
                <a:latin typeface="幼圆" pitchFamily="49" charset="-122"/>
                <a:ea typeface="幼圆" pitchFamily="49" charset="-122"/>
              </a:rPr>
              <a:t>225K</a:t>
            </a:r>
          </a:p>
        </p:txBody>
      </p:sp>
      <p:sp>
        <p:nvSpPr>
          <p:cNvPr id="45" name="矩形 22">
            <a:extLst>
              <a:ext uri="{FF2B5EF4-FFF2-40B4-BE49-F238E27FC236}">
                <a16:creationId xmlns:a16="http://schemas.microsoft.com/office/drawing/2014/main" id="{1E467CFD-0C28-2B4F-9629-A81EB1D2A682}"/>
              </a:ext>
            </a:extLst>
          </p:cNvPr>
          <p:cNvSpPr>
            <a:spLocks noChangeArrowheads="1"/>
          </p:cNvSpPr>
          <p:nvPr/>
        </p:nvSpPr>
        <p:spPr bwMode="auto">
          <a:xfrm>
            <a:off x="6818714" y="953202"/>
            <a:ext cx="1928813" cy="571500"/>
          </a:xfrm>
          <a:prstGeom prst="rect">
            <a:avLst/>
          </a:prstGeom>
          <a:solidFill>
            <a:srgbClr val="FF0000"/>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46" name="Text Box 67">
            <a:extLst>
              <a:ext uri="{FF2B5EF4-FFF2-40B4-BE49-F238E27FC236}">
                <a16:creationId xmlns:a16="http://schemas.microsoft.com/office/drawing/2014/main" id="{DBCB8B03-7428-D44E-AB82-60DBDCE642AB}"/>
              </a:ext>
            </a:extLst>
          </p:cNvPr>
          <p:cNvSpPr txBox="1">
            <a:spLocks noChangeArrowheads="1"/>
          </p:cNvSpPr>
          <p:nvPr/>
        </p:nvSpPr>
        <p:spPr bwMode="auto">
          <a:xfrm>
            <a:off x="7056839" y="1024640"/>
            <a:ext cx="1476375" cy="461963"/>
          </a:xfrm>
          <a:prstGeom prst="rect">
            <a:avLst/>
          </a:prstGeom>
          <a:noFill/>
          <a:ln w="9525">
            <a:noFill/>
            <a:miter lim="800000"/>
            <a:headEnd/>
            <a:tailEnd/>
          </a:ln>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sz="2400">
                <a:solidFill>
                  <a:srgbClr val="FFFFFF"/>
                </a:solidFill>
                <a:effectLst>
                  <a:outerShdw blurRad="38100" dist="38100" dir="2700000" algn="tl">
                    <a:srgbClr val="C0C0C0"/>
                  </a:outerShdw>
                </a:effectLst>
                <a:latin typeface="幼圆" pitchFamily="49" charset="-122"/>
                <a:ea typeface="幼圆" pitchFamily="49" charset="-122"/>
              </a:rPr>
              <a:t>操作系统</a:t>
            </a:r>
          </a:p>
        </p:txBody>
      </p:sp>
      <p:sp>
        <p:nvSpPr>
          <p:cNvPr id="47" name="Text Box 77">
            <a:extLst>
              <a:ext uri="{FF2B5EF4-FFF2-40B4-BE49-F238E27FC236}">
                <a16:creationId xmlns:a16="http://schemas.microsoft.com/office/drawing/2014/main" id="{A3C8DBEB-72AF-3C48-86B4-38FF92DC6CA0}"/>
              </a:ext>
            </a:extLst>
          </p:cNvPr>
          <p:cNvSpPr txBox="1">
            <a:spLocks noChangeArrowheads="1"/>
          </p:cNvSpPr>
          <p:nvPr/>
        </p:nvSpPr>
        <p:spPr bwMode="auto">
          <a:xfrm>
            <a:off x="1076726" y="6382452"/>
            <a:ext cx="4176712"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sz="2400">
                <a:solidFill>
                  <a:srgbClr val="0000FF"/>
                </a:solidFill>
                <a:latin typeface="幼圆" pitchFamily="49" charset="-122"/>
                <a:ea typeface="幼圆" pitchFamily="49" charset="-122"/>
              </a:rPr>
              <a:t>（</a:t>
            </a:r>
            <a:r>
              <a:rPr lang="en-US" altLang="zh-CN" sz="2400">
                <a:solidFill>
                  <a:srgbClr val="0000FF"/>
                </a:solidFill>
                <a:latin typeface="幼圆" pitchFamily="49" charset="-122"/>
                <a:ea typeface="幼圆" pitchFamily="49" charset="-122"/>
              </a:rPr>
              <a:t>a)</a:t>
            </a:r>
            <a:r>
              <a:rPr lang="zh-CN" altLang="en-US" sz="2400">
                <a:solidFill>
                  <a:srgbClr val="0000FF"/>
                </a:solidFill>
                <a:latin typeface="幼圆" pitchFamily="49" charset="-122"/>
                <a:ea typeface="幼圆" pitchFamily="49" charset="-122"/>
              </a:rPr>
              <a:t>固定分区管理内存分配表</a:t>
            </a:r>
          </a:p>
        </p:txBody>
      </p:sp>
      <p:sp>
        <p:nvSpPr>
          <p:cNvPr id="48" name="Text Box 76">
            <a:extLst>
              <a:ext uri="{FF2B5EF4-FFF2-40B4-BE49-F238E27FC236}">
                <a16:creationId xmlns:a16="http://schemas.microsoft.com/office/drawing/2014/main" id="{8547F154-B6C5-E040-BF29-E07B460BFB3B}"/>
              </a:ext>
            </a:extLst>
          </p:cNvPr>
          <p:cNvSpPr txBox="1">
            <a:spLocks noChangeArrowheads="1"/>
          </p:cNvSpPr>
          <p:nvPr/>
        </p:nvSpPr>
        <p:spPr bwMode="auto">
          <a:xfrm>
            <a:off x="5675714" y="6349115"/>
            <a:ext cx="3305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en-US" altLang="zh-CN" sz="2400">
                <a:solidFill>
                  <a:srgbClr val="0000FF"/>
                </a:solidFill>
                <a:latin typeface="幼圆" pitchFamily="49" charset="-122"/>
                <a:ea typeface="幼圆" pitchFamily="49" charset="-122"/>
              </a:rPr>
              <a:t>(b) </a:t>
            </a:r>
            <a:r>
              <a:rPr lang="zh-CN" altLang="en-US" sz="2400">
                <a:solidFill>
                  <a:srgbClr val="0000FF"/>
                </a:solidFill>
                <a:latin typeface="幼圆" pitchFamily="49" charset="-122"/>
                <a:ea typeface="幼圆" pitchFamily="49" charset="-122"/>
              </a:rPr>
              <a:t>存储空间分配情况</a:t>
            </a:r>
          </a:p>
        </p:txBody>
      </p:sp>
      <p:sp>
        <p:nvSpPr>
          <p:cNvPr id="49" name="矩形 25">
            <a:extLst>
              <a:ext uri="{FF2B5EF4-FFF2-40B4-BE49-F238E27FC236}">
                <a16:creationId xmlns:a16="http://schemas.microsoft.com/office/drawing/2014/main" id="{719BF0D6-9D6C-C54D-ABD6-F91AAC45AD72}"/>
              </a:ext>
            </a:extLst>
          </p:cNvPr>
          <p:cNvSpPr>
            <a:spLocks noChangeArrowheads="1"/>
          </p:cNvSpPr>
          <p:nvPr/>
        </p:nvSpPr>
        <p:spPr bwMode="auto">
          <a:xfrm>
            <a:off x="6818714" y="1524702"/>
            <a:ext cx="1928813" cy="571500"/>
          </a:xfrm>
          <a:prstGeom prst="rect">
            <a:avLst/>
          </a:prstGeom>
          <a:solidFill>
            <a:srgbClr val="00E4A8"/>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50" name="矩形 26">
            <a:extLst>
              <a:ext uri="{FF2B5EF4-FFF2-40B4-BE49-F238E27FC236}">
                <a16:creationId xmlns:a16="http://schemas.microsoft.com/office/drawing/2014/main" id="{4EA2FB3E-607C-2041-8CBF-380E9A247A34}"/>
              </a:ext>
            </a:extLst>
          </p:cNvPr>
          <p:cNvSpPr>
            <a:spLocks noChangeArrowheads="1"/>
          </p:cNvSpPr>
          <p:nvPr/>
        </p:nvSpPr>
        <p:spPr bwMode="auto">
          <a:xfrm>
            <a:off x="6818714" y="2096203"/>
            <a:ext cx="1928813" cy="928687"/>
          </a:xfrm>
          <a:prstGeom prst="rect">
            <a:avLst/>
          </a:prstGeom>
          <a:solidFill>
            <a:srgbClr val="FFFFCC"/>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51" name="Text Box 68">
            <a:extLst>
              <a:ext uri="{FF2B5EF4-FFF2-40B4-BE49-F238E27FC236}">
                <a16:creationId xmlns:a16="http://schemas.microsoft.com/office/drawing/2014/main" id="{770C0408-005B-464C-91F6-45EA5171DA49}"/>
              </a:ext>
            </a:extLst>
          </p:cNvPr>
          <p:cNvSpPr txBox="1">
            <a:spLocks noChangeArrowheads="1"/>
          </p:cNvSpPr>
          <p:nvPr/>
        </p:nvSpPr>
        <p:spPr bwMode="auto">
          <a:xfrm>
            <a:off x="7318776" y="1553277"/>
            <a:ext cx="1143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进程</a:t>
            </a:r>
            <a:r>
              <a:rPr lang="en-US" altLang="zh-CN">
                <a:solidFill>
                  <a:srgbClr val="0000FF"/>
                </a:solidFill>
                <a:latin typeface="幼圆" pitchFamily="49" charset="-122"/>
                <a:ea typeface="幼圆" pitchFamily="49" charset="-122"/>
              </a:rPr>
              <a:t>A</a:t>
            </a:r>
          </a:p>
        </p:txBody>
      </p:sp>
      <p:sp>
        <p:nvSpPr>
          <p:cNvPr id="52" name="Text Box 69">
            <a:extLst>
              <a:ext uri="{FF2B5EF4-FFF2-40B4-BE49-F238E27FC236}">
                <a16:creationId xmlns:a16="http://schemas.microsoft.com/office/drawing/2014/main" id="{F57C3594-43EA-B84F-B03E-60EF400DA3F1}"/>
              </a:ext>
            </a:extLst>
          </p:cNvPr>
          <p:cNvSpPr txBox="1">
            <a:spLocks noChangeArrowheads="1"/>
          </p:cNvSpPr>
          <p:nvPr/>
        </p:nvSpPr>
        <p:spPr bwMode="auto">
          <a:xfrm>
            <a:off x="7323538" y="2359727"/>
            <a:ext cx="10668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50000"/>
              </a:spcBef>
            </a:pPr>
            <a:r>
              <a:rPr lang="zh-CN" altLang="en-US">
                <a:solidFill>
                  <a:srgbClr val="0000FF"/>
                </a:solidFill>
                <a:latin typeface="幼圆" pitchFamily="49" charset="-122"/>
                <a:ea typeface="幼圆" pitchFamily="49" charset="-122"/>
              </a:rPr>
              <a:t>进程</a:t>
            </a:r>
            <a:r>
              <a:rPr lang="en-US" altLang="zh-CN">
                <a:solidFill>
                  <a:srgbClr val="0000FF"/>
                </a:solidFill>
                <a:latin typeface="幼圆" pitchFamily="49" charset="-122"/>
                <a:ea typeface="幼圆" pitchFamily="49" charset="-122"/>
              </a:rPr>
              <a:t>B</a:t>
            </a:r>
          </a:p>
        </p:txBody>
      </p:sp>
      <p:sp>
        <p:nvSpPr>
          <p:cNvPr id="53" name="矩形 27">
            <a:extLst>
              <a:ext uri="{FF2B5EF4-FFF2-40B4-BE49-F238E27FC236}">
                <a16:creationId xmlns:a16="http://schemas.microsoft.com/office/drawing/2014/main" id="{C28DCFF5-FF15-184B-8FBE-60F3D3736D91}"/>
              </a:ext>
            </a:extLst>
          </p:cNvPr>
          <p:cNvSpPr>
            <a:spLocks noChangeArrowheads="1"/>
          </p:cNvSpPr>
          <p:nvPr/>
        </p:nvSpPr>
        <p:spPr bwMode="auto">
          <a:xfrm>
            <a:off x="6818714" y="3037590"/>
            <a:ext cx="1928813" cy="1285875"/>
          </a:xfrm>
          <a:prstGeom prst="rect">
            <a:avLst/>
          </a:prstGeom>
          <a:solidFill>
            <a:srgbClr val="53FFA1"/>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20000"/>
              </a:spcBef>
              <a:spcAft>
                <a:spcPts val="0"/>
              </a:spcAft>
              <a:buClrTx/>
              <a:buSzTx/>
              <a:buFontTx/>
              <a:buNone/>
              <a:tabLst/>
              <a:defRPr/>
            </a:pPr>
            <a:endParaRPr kumimoji="1" lang="zh-CN" altLang="en-US" sz="800" b="1" i="0" u="none" strike="noStrike" kern="0" cap="none" spc="0" normalizeH="0" baseline="0" noProof="0">
              <a:ln>
                <a:noFill/>
              </a:ln>
              <a:solidFill>
                <a:srgbClr val="FF0000"/>
              </a:solidFill>
              <a:effectLst/>
              <a:uLnTx/>
              <a:uFillTx/>
              <a:latin typeface="Arial Narrow" panose="020B0604020202020204" pitchFamily="34" charset="0"/>
              <a:ea typeface="宋体" panose="02010600030101010101" pitchFamily="2" charset="-122"/>
            </a:endParaRPr>
          </a:p>
        </p:txBody>
      </p:sp>
      <p:sp>
        <p:nvSpPr>
          <p:cNvPr id="54" name="TextBox 28">
            <a:extLst>
              <a:ext uri="{FF2B5EF4-FFF2-40B4-BE49-F238E27FC236}">
                <a16:creationId xmlns:a16="http://schemas.microsoft.com/office/drawing/2014/main" id="{C428E0FD-60E5-C54B-82FA-E5A461F3D152}"/>
              </a:ext>
            </a:extLst>
          </p:cNvPr>
          <p:cNvSpPr txBox="1">
            <a:spLocks noChangeArrowheads="1"/>
          </p:cNvSpPr>
          <p:nvPr/>
        </p:nvSpPr>
        <p:spPr bwMode="auto">
          <a:xfrm>
            <a:off x="7318776" y="3310639"/>
            <a:ext cx="135731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eaLnBrk="1" hangingPunct="1">
              <a:spcBef>
                <a:spcPct val="20000"/>
              </a:spcBef>
            </a:pPr>
            <a:r>
              <a:rPr lang="zh-CN" altLang="en-US">
                <a:solidFill>
                  <a:srgbClr val="0000FF"/>
                </a:solidFill>
                <a:latin typeface="幼圆" pitchFamily="49" charset="-122"/>
                <a:ea typeface="幼圆" pitchFamily="49" charset="-122"/>
              </a:rPr>
              <a:t>进程</a:t>
            </a:r>
            <a:r>
              <a:rPr lang="en-US" altLang="zh-CN">
                <a:solidFill>
                  <a:srgbClr val="0000FF"/>
                </a:solidFill>
                <a:latin typeface="幼圆" pitchFamily="49" charset="-122"/>
                <a:ea typeface="幼圆" pitchFamily="49" charset="-122"/>
              </a:rPr>
              <a:t>C</a:t>
            </a:r>
            <a:endParaRPr lang="zh-CN" altLang="en-US">
              <a:solidFill>
                <a:srgbClr val="0000FF"/>
              </a:solidFill>
              <a:latin typeface="幼圆" pitchFamily="49" charset="-122"/>
              <a:ea typeface="幼圆" pitchFamily="49" charset="-122"/>
            </a:endParaRPr>
          </a:p>
        </p:txBody>
      </p:sp>
    </p:spTree>
    <p:extLst>
      <p:ext uri="{BB962C8B-B14F-4D97-AF65-F5344CB8AC3E}">
        <p14:creationId xmlns:p14="http://schemas.microsoft.com/office/powerpoint/2010/main" val="3148397600"/>
      </p:ext>
    </p:extLst>
  </p:cSld>
  <p:clrMapOvr>
    <a:masterClrMapping/>
  </p:clrMapOvr>
  <p:transition>
    <p:random/>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3A1162CF-6F62-3743-84EA-469F6E949960}"/>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固定分区存储管理</a:t>
            </a:r>
          </a:p>
        </p:txBody>
      </p:sp>
      <p:sp>
        <p:nvSpPr>
          <p:cNvPr id="39939" name="Rectangle 3">
            <a:extLst>
              <a:ext uri="{FF2B5EF4-FFF2-40B4-BE49-F238E27FC236}">
                <a16:creationId xmlns:a16="http://schemas.microsoft.com/office/drawing/2014/main" id="{B4A3CC76-E417-2144-A44A-3BB8304D433E}"/>
              </a:ext>
            </a:extLst>
          </p:cNvPr>
          <p:cNvSpPr>
            <a:spLocks noGrp="1" noChangeArrowheads="1"/>
          </p:cNvSpPr>
          <p:nvPr>
            <p:ph type="body" idx="1"/>
          </p:nvPr>
        </p:nvSpPr>
        <p:spPr>
          <a:xfrm>
            <a:off x="285750" y="1357313"/>
            <a:ext cx="8572500" cy="4572000"/>
          </a:xfrm>
        </p:spPr>
        <p:txBody>
          <a:bodyPr/>
          <a:lstStyle/>
          <a:p>
            <a:pPr marL="0" indent="342900"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2</a:t>
            </a:r>
            <a:r>
              <a:rPr lang="zh-CN" altLang="en-US" sz="2200">
                <a:solidFill>
                  <a:schemeClr val="tx1"/>
                </a:solidFill>
                <a:effectLst/>
                <a:latin typeface="宋体" panose="02010600030101010101" pitchFamily="2" charset="-122"/>
              </a:rPr>
              <a:t>）内存空间分配</a:t>
            </a:r>
            <a:endParaRPr lang="en-US" altLang="zh-CN" sz="2200">
              <a:solidFill>
                <a:schemeClr val="tx1"/>
              </a:solidFill>
              <a:effectLst/>
              <a:latin typeface="宋体" panose="02010600030101010101" pitchFamily="2" charset="-122"/>
            </a:endParaRPr>
          </a:p>
          <a:p>
            <a:pPr marL="0" indent="342900"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 系统启动后在为程序分配分区之前，根据内存分区的划分在分区分配表中填入每个分区的起始地址和大小，并且将所有的状态栏均填入</a:t>
            </a:r>
            <a:r>
              <a:rPr lang="en-US" altLang="zh-CN" sz="2200">
                <a:solidFill>
                  <a:schemeClr val="tx1"/>
                </a:solidFill>
                <a:effectLst/>
                <a:latin typeface="宋体" panose="02010600030101010101" pitchFamily="2" charset="-122"/>
              </a:rPr>
              <a:t>0</a:t>
            </a:r>
            <a:r>
              <a:rPr lang="zh-CN" altLang="en-US" sz="2200">
                <a:solidFill>
                  <a:schemeClr val="tx1"/>
                </a:solidFill>
                <a:effectLst/>
                <a:latin typeface="宋体" panose="02010600030101010101" pitchFamily="2" charset="-122"/>
              </a:rPr>
              <a:t>表示这些分区可用。</a:t>
            </a:r>
            <a:endParaRPr lang="en-US" altLang="zh-CN" sz="2200">
              <a:solidFill>
                <a:schemeClr val="tx1"/>
              </a:solidFill>
              <a:effectLst/>
              <a:latin typeface="宋体" panose="02010600030101010101" pitchFamily="2" charset="-122"/>
            </a:endParaRPr>
          </a:p>
          <a:p>
            <a:pPr marL="0" indent="342900" eaLnBrk="1" hangingPunct="1">
              <a:lnSpc>
                <a:spcPct val="150000"/>
              </a:lnSpc>
              <a:spcBef>
                <a:spcPct val="0"/>
              </a:spcBef>
              <a:buFont typeface="Wingdings" pitchFamily="2" charset="2"/>
              <a:buNone/>
            </a:pPr>
            <a:r>
              <a:rPr lang="zh-CN" altLang="en-US" sz="2200">
                <a:solidFill>
                  <a:schemeClr val="tx1"/>
                </a:solidFill>
                <a:effectLst>
                  <a:outerShdw blurRad="38100" dist="38100" dir="2700000" algn="tl">
                    <a:srgbClr val="FFFFFF"/>
                  </a:outerShdw>
                </a:effectLst>
              </a:rPr>
              <a:t> 当有程序申请内存空间时，则检查分区分配表，选择那些状态为</a:t>
            </a:r>
            <a:r>
              <a:rPr lang="en-US" altLang="zh-CN" sz="2200">
                <a:solidFill>
                  <a:schemeClr val="tx1"/>
                </a:solidFill>
                <a:effectLst>
                  <a:outerShdw blurRad="38100" dist="38100" dir="2700000" algn="tl">
                    <a:srgbClr val="FFFFFF"/>
                  </a:outerShdw>
                </a:effectLst>
              </a:rPr>
              <a:t>0</a:t>
            </a:r>
            <a:r>
              <a:rPr lang="zh-CN" altLang="en-US" sz="2200">
                <a:solidFill>
                  <a:schemeClr val="tx1"/>
                </a:solidFill>
                <a:effectLst>
                  <a:outerShdw blurRad="38100" dist="38100" dir="2700000" algn="tl">
                    <a:srgbClr val="FFFFFF"/>
                  </a:outerShdw>
                </a:effectLst>
              </a:rPr>
              <a:t>的分区来比较程序地址空间的大小和分区的大小。当所有空闲分区的大小都不能容纳该程序时，则该程序暂时不能进入内存，并由系统显示内存不足的信息；当某个空闲分区的大小能容纳该程序时，则把该程序装入这个分区，并将程序名填入这个分区的状态栏。</a:t>
            </a:r>
          </a:p>
          <a:p>
            <a:pPr marL="0" indent="342900" eaLnBrk="1" hangingPunct="1">
              <a:lnSpc>
                <a:spcPct val="150000"/>
              </a:lnSpc>
              <a:spcBef>
                <a:spcPct val="0"/>
              </a:spcBef>
              <a:buFont typeface="Wingdings" pitchFamily="2" charset="2"/>
              <a:buNone/>
            </a:pPr>
            <a:endParaRPr lang="en-US" altLang="zh-CN" sz="2200">
              <a:solidFill>
                <a:schemeClr val="tx1"/>
              </a:solidFill>
              <a:effectLst/>
              <a:latin typeface="宋体" panose="02010600030101010101" pitchFamily="2" charset="-122"/>
            </a:endParaRPr>
          </a:p>
        </p:txBody>
      </p:sp>
    </p:spTree>
  </p:cSld>
  <p:clrMapOvr>
    <a:masterClrMapping/>
  </p:clrMapOvr>
  <p:transition>
    <p:random/>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66B370B4-349E-B145-80A0-7488FDEB3FB1}"/>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固定分区存储管理</a:t>
            </a:r>
          </a:p>
        </p:txBody>
      </p:sp>
      <p:sp>
        <p:nvSpPr>
          <p:cNvPr id="39939" name="Rectangle 3">
            <a:extLst>
              <a:ext uri="{FF2B5EF4-FFF2-40B4-BE49-F238E27FC236}">
                <a16:creationId xmlns:a16="http://schemas.microsoft.com/office/drawing/2014/main" id="{1570E062-A180-F640-A36F-8B611AF481D2}"/>
              </a:ext>
            </a:extLst>
          </p:cNvPr>
          <p:cNvSpPr>
            <a:spLocks noGrp="1" noChangeArrowheads="1"/>
          </p:cNvSpPr>
          <p:nvPr>
            <p:ph type="body" idx="1"/>
          </p:nvPr>
        </p:nvSpPr>
        <p:spPr>
          <a:xfrm>
            <a:off x="714375" y="1643063"/>
            <a:ext cx="7850188" cy="4572000"/>
          </a:xfrm>
        </p:spPr>
        <p:txBody>
          <a:bodyPr/>
          <a:lstStyle/>
          <a:p>
            <a:pPr marL="0" indent="342900" eaLnBrk="1" hangingPunct="1">
              <a:lnSpc>
                <a:spcPct val="150000"/>
              </a:lnSpc>
              <a:spcBef>
                <a:spcPct val="0"/>
              </a:spcBef>
              <a:buFont typeface="Wingdings" pitchFamily="2" charset="2"/>
              <a:buNone/>
            </a:pPr>
            <a:r>
              <a:rPr lang="zh-CN" altLang="en-US">
                <a:solidFill>
                  <a:srgbClr val="FF0000"/>
                </a:solidFill>
                <a:effectLst>
                  <a:outerShdw blurRad="38100" dist="38100" dir="2700000" algn="tl">
                    <a:srgbClr val="FFFFFF"/>
                  </a:outerShdw>
                </a:effectLst>
              </a:rPr>
              <a:t>程序进入分区的两种排队策略：</a:t>
            </a:r>
            <a:endParaRPr lang="en-US" altLang="zh-CN">
              <a:solidFill>
                <a:srgbClr val="FF0000"/>
              </a:solidFill>
              <a:effectLst>
                <a:outerShdw blurRad="38100" dist="38100" dir="2700000" algn="tl">
                  <a:srgbClr val="FFFFFF"/>
                </a:outerShdw>
              </a:effectLst>
            </a:endParaRPr>
          </a:p>
          <a:p>
            <a:pPr marL="0" indent="342900" eaLnBrk="1" hangingPunct="1">
              <a:lnSpc>
                <a:spcPct val="150000"/>
              </a:lnSpc>
              <a:spcBef>
                <a:spcPct val="0"/>
              </a:spcBef>
              <a:buFont typeface="Wingdings" pitchFamily="2" charset="2"/>
              <a:buNone/>
            </a:pPr>
            <a:r>
              <a:rPr lang="zh-CN" altLang="en-US">
                <a:solidFill>
                  <a:schemeClr val="tx1"/>
                </a:solidFill>
                <a:effectLst>
                  <a:outerShdw blurRad="38100" dist="38100" dir="2700000" algn="tl">
                    <a:srgbClr val="FFFFFF"/>
                  </a:outerShdw>
                </a:effectLst>
              </a:rPr>
              <a:t>（</a:t>
            </a:r>
            <a:r>
              <a:rPr lang="en-US" altLang="zh-CN">
                <a:solidFill>
                  <a:schemeClr val="tx1"/>
                </a:solidFill>
                <a:effectLst>
                  <a:outerShdw blurRad="38100" dist="38100" dir="2700000" algn="tl">
                    <a:srgbClr val="FFFFFF"/>
                  </a:outerShdw>
                </a:effectLst>
              </a:rPr>
              <a:t>1</a:t>
            </a:r>
            <a:r>
              <a:rPr lang="zh-CN" altLang="en-US">
                <a:solidFill>
                  <a:schemeClr val="tx1"/>
                </a:solidFill>
                <a:effectLst>
                  <a:outerShdw blurRad="38100" dist="38100" dir="2700000" algn="tl">
                    <a:srgbClr val="FFFFFF"/>
                  </a:outerShdw>
                </a:effectLst>
              </a:rPr>
              <a:t>）每个程序被调度程序选中时，就将其排到一个能够装入它的最小分区号（不管该分区是否空闲）等待队列中，但这种策略在等待处理的程序大小很不均匀时，会出现有的分区空闲而有的分区忙碌；</a:t>
            </a:r>
            <a:endParaRPr lang="en-US" altLang="zh-CN">
              <a:solidFill>
                <a:schemeClr val="tx1"/>
              </a:solidFill>
              <a:effectLst>
                <a:outerShdw blurRad="38100" dist="38100" dir="2700000" algn="tl">
                  <a:srgbClr val="FFFFFF"/>
                </a:outerShdw>
              </a:effectLst>
            </a:endParaRPr>
          </a:p>
          <a:p>
            <a:pPr marL="0" indent="342900" eaLnBrk="1" hangingPunct="1">
              <a:lnSpc>
                <a:spcPct val="150000"/>
              </a:lnSpc>
              <a:spcBef>
                <a:spcPct val="0"/>
              </a:spcBef>
              <a:buFont typeface="Wingdings" pitchFamily="2" charset="2"/>
              <a:buNone/>
            </a:pPr>
            <a:r>
              <a:rPr lang="zh-CN" altLang="en-US">
                <a:solidFill>
                  <a:schemeClr val="tx1"/>
                </a:solidFill>
                <a:effectLst>
                  <a:outerShdw blurRad="38100" dist="38100" dir="2700000" algn="tl">
                    <a:srgbClr val="FFFFFF"/>
                  </a:outerShdw>
                </a:effectLst>
              </a:rPr>
              <a:t>（</a:t>
            </a:r>
            <a:r>
              <a:rPr lang="en-US" altLang="zh-CN">
                <a:solidFill>
                  <a:schemeClr val="tx1"/>
                </a:solidFill>
                <a:effectLst>
                  <a:outerShdw blurRad="38100" dist="38100" dir="2700000" algn="tl">
                    <a:srgbClr val="FFFFFF"/>
                  </a:outerShdw>
                </a:effectLst>
              </a:rPr>
              <a:t>2</a:t>
            </a:r>
            <a:r>
              <a:rPr lang="zh-CN" altLang="en-US">
                <a:solidFill>
                  <a:schemeClr val="tx1"/>
                </a:solidFill>
                <a:effectLst>
                  <a:outerShdw blurRad="38100" dist="38100" dir="2700000" algn="tl">
                    <a:srgbClr val="FFFFFF"/>
                  </a:outerShdw>
                </a:effectLst>
              </a:rPr>
              <a:t>）所有等待处理的程序排成一个队列，当调度其中一个程序进入内存分区时，则选择可容纳它的最小空闲分区，分配给它以充分利用内存。</a:t>
            </a:r>
            <a:endParaRPr lang="zh-CN" altLang="en-US">
              <a:solidFill>
                <a:schemeClr val="tx1"/>
              </a:solidFill>
              <a:effectLst/>
              <a:latin typeface="宋体" panose="02010600030101010101" pitchFamily="2" charset="-122"/>
            </a:endParaRPr>
          </a:p>
        </p:txBody>
      </p:sp>
    </p:spTree>
  </p:cSld>
  <p:clrMapOvr>
    <a:masterClrMapping/>
  </p:clrMapOvr>
  <p:transition>
    <p:random/>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530952BE-A693-9B45-896D-75F64491E0C4}"/>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固定分区存储管理</a:t>
            </a:r>
          </a:p>
        </p:txBody>
      </p:sp>
      <p:sp>
        <p:nvSpPr>
          <p:cNvPr id="44035" name="Rectangle 3">
            <a:extLst>
              <a:ext uri="{FF2B5EF4-FFF2-40B4-BE49-F238E27FC236}">
                <a16:creationId xmlns:a16="http://schemas.microsoft.com/office/drawing/2014/main" id="{18BDE2D5-8EA2-CE40-AC84-24CAFFEBD4F5}"/>
              </a:ext>
            </a:extLst>
          </p:cNvPr>
          <p:cNvSpPr>
            <a:spLocks noGrp="1" noChangeArrowheads="1"/>
          </p:cNvSpPr>
          <p:nvPr>
            <p:ph type="body" idx="1"/>
          </p:nvPr>
        </p:nvSpPr>
        <p:spPr>
          <a:xfrm>
            <a:off x="714375" y="2286000"/>
            <a:ext cx="7850188" cy="4000500"/>
          </a:xfrm>
        </p:spPr>
        <p:txBody>
          <a:bodyPr/>
          <a:lstStyle/>
          <a:p>
            <a:pPr marL="0" indent="342900" eaLnBrk="1" hangingPunct="1">
              <a:lnSpc>
                <a:spcPct val="200000"/>
              </a:lnSpc>
              <a:spcBef>
                <a:spcPct val="0"/>
              </a:spcBef>
              <a:buFont typeface="Wingdings" pitchFamily="2" charset="2"/>
              <a:buNone/>
            </a:pPr>
            <a:r>
              <a:rPr lang="zh-CN" altLang="en-US" sz="2200">
                <a:solidFill>
                  <a:schemeClr val="tx1"/>
                </a:solidFill>
                <a:effectLst/>
                <a:latin typeface="宋体" panose="02010600030101010101" pitchFamily="2" charset="-122"/>
              </a:rPr>
              <a:t>（</a:t>
            </a:r>
            <a:r>
              <a:rPr lang="en-US" altLang="zh-CN" sz="2200">
                <a:solidFill>
                  <a:schemeClr val="tx1"/>
                </a:solidFill>
                <a:effectLst/>
                <a:latin typeface="宋体" panose="02010600030101010101" pitchFamily="2" charset="-122"/>
              </a:rPr>
              <a:t>3</a:t>
            </a:r>
            <a:r>
              <a:rPr lang="zh-CN" altLang="en-US" sz="2200">
                <a:solidFill>
                  <a:schemeClr val="tx1"/>
                </a:solidFill>
                <a:effectLst/>
                <a:latin typeface="宋体" panose="02010600030101010101" pitchFamily="2" charset="-122"/>
              </a:rPr>
              <a:t>）内存空间回收</a:t>
            </a:r>
          </a:p>
          <a:p>
            <a:pPr marL="0" indent="342900" eaLnBrk="1" hangingPunct="1">
              <a:lnSpc>
                <a:spcPct val="200000"/>
              </a:lnSpc>
              <a:spcBef>
                <a:spcPct val="0"/>
              </a:spcBef>
              <a:buFont typeface="Wingdings" pitchFamily="2" charset="2"/>
              <a:buNone/>
            </a:pPr>
            <a:r>
              <a:rPr lang="zh-CN" altLang="en-US" sz="2200">
                <a:solidFill>
                  <a:schemeClr val="tx1"/>
                </a:solidFill>
                <a:effectLst/>
                <a:latin typeface="宋体" panose="02010600030101010101" pitchFamily="2" charset="-122"/>
              </a:rPr>
              <a:t>  当程序运行结束时，根据程序名检索分区分配表，从状态栏信息可找到该程序所使用的分区，然后将该分区状态栏置为</a:t>
            </a:r>
            <a:r>
              <a:rPr lang="en-US" altLang="zh-CN" sz="2200">
                <a:solidFill>
                  <a:schemeClr val="tx1"/>
                </a:solidFill>
                <a:effectLst/>
                <a:latin typeface="宋体" panose="02010600030101010101" pitchFamily="2" charset="-122"/>
              </a:rPr>
              <a:t>0</a:t>
            </a:r>
            <a:r>
              <a:rPr lang="zh-CN" altLang="en-US" sz="2200">
                <a:solidFill>
                  <a:schemeClr val="tx1"/>
                </a:solidFill>
                <a:effectLst/>
                <a:latin typeface="宋体" panose="02010600030101010101" pitchFamily="2" charset="-122"/>
              </a:rPr>
              <a:t>，表示该分区已经空闲可以装入新的程序。</a:t>
            </a:r>
          </a:p>
        </p:txBody>
      </p:sp>
    </p:spTree>
  </p:cSld>
  <p:clrMapOvr>
    <a:masterClrMapping/>
  </p:clrMapOvr>
  <p:transition>
    <p:random/>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3E3059E0-89D9-3341-B74D-BC44D13F0A78}"/>
              </a:ext>
            </a:extLst>
          </p:cNvPr>
          <p:cNvSpPr txBox="1">
            <a:spLocks noChangeArrowheads="1"/>
          </p:cNvSpPr>
          <p:nvPr/>
        </p:nvSpPr>
        <p:spPr bwMode="auto">
          <a:xfrm>
            <a:off x="53975" y="1432744"/>
            <a:ext cx="8893175" cy="149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b="1" kern="1200">
                <a:solidFill>
                  <a:schemeClr val="tx1"/>
                </a:solidFill>
                <a:latin typeface="+mj-lt"/>
                <a:ea typeface="+mj-ea"/>
                <a:cs typeface="+mj-cs"/>
              </a:defRPr>
            </a:lvl1pPr>
            <a:lvl2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2pPr>
            <a:lvl3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3pPr>
            <a:lvl4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4pPr>
            <a:lvl5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5pPr>
            <a:lvl6pPr marL="4572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6pPr>
            <a:lvl7pPr marL="9144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7pPr>
            <a:lvl8pPr marL="13716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8pPr>
            <a:lvl9pPr marL="18288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9pPr>
          </a:lstStyle>
          <a:p>
            <a:pPr marL="812800" marR="0" lvl="0" indent="-812800" algn="just" defTabSz="914400" rtl="0" eaLnBrk="1" fontAlgn="base" latinLnBrk="0" hangingPunct="1">
              <a:lnSpc>
                <a:spcPct val="125000"/>
              </a:lnSpc>
              <a:spcBef>
                <a:spcPct val="0"/>
              </a:spcBef>
              <a:spcAft>
                <a:spcPct val="0"/>
              </a:spcAft>
              <a:buClrTx/>
              <a:buSzTx/>
              <a:buFontTx/>
              <a:buNone/>
              <a:tabLst/>
              <a:defRPr/>
            </a:pPr>
            <a:r>
              <a:rPr kumimoji="0" lang="en-US" altLang="zh-CN" sz="18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rPr>
              <a:t>【</a:t>
            </a:r>
            <a:r>
              <a:rPr kumimoji="0" lang="zh-CN" altLang="en-US" sz="18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rPr>
              <a:t>例</a:t>
            </a:r>
            <a:r>
              <a:rPr kumimoji="0" lang="en-US" altLang="zh-CN" sz="1800" b="1" i="0" u="none" strike="noStrike" kern="1200" cap="none" spc="0" normalizeH="0" baseline="0" noProof="0">
                <a:ln>
                  <a:noFill/>
                </a:ln>
                <a:solidFill>
                  <a:srgbClr val="000000"/>
                </a:solidFill>
                <a:effectLst/>
                <a:uLnTx/>
                <a:uFillTx/>
                <a:latin typeface="方正粗黑宋简体" panose="02000000000000000000" pitchFamily="2" charset="-122"/>
                <a:ea typeface="方正粗黑宋简体" panose="02000000000000000000" pitchFamily="2" charset="-122"/>
              </a:rPr>
              <a:t>4-1】</a:t>
            </a:r>
            <a:r>
              <a:rPr kumimoji="0" lang="en-US" altLang="zh-CN" sz="1800" b="1" i="0" u="none" strike="noStrike" kern="1200" cap="none" spc="0" normalizeH="0" baseline="0" noProof="0">
                <a:ln>
                  <a:noFill/>
                </a:ln>
                <a:solidFill>
                  <a:srgbClr val="000000"/>
                </a:solidFill>
                <a:effectLst/>
                <a:uLnTx/>
                <a:uFillTx/>
                <a:latin typeface="Calibri"/>
                <a:ea typeface="华文中宋"/>
              </a:rPr>
              <a:t> </a:t>
            </a:r>
            <a:r>
              <a:rPr kumimoji="0" lang="zh-CN" altLang="en-US" sz="1800" b="0" i="0" u="none" strike="noStrike" kern="1200" cap="none" spc="0" normalizeH="0" baseline="0" noProof="0">
                <a:ln>
                  <a:noFill/>
                </a:ln>
                <a:solidFill>
                  <a:srgbClr val="000000"/>
                </a:solidFill>
                <a:effectLst/>
                <a:uLnTx/>
                <a:uFillTx/>
                <a:latin typeface="Calibri"/>
                <a:ea typeface="华文中宋"/>
              </a:rPr>
              <a:t>在固定分区存储管理中，主存空闲分区已划分，用户分区的起始地址为</a:t>
            </a:r>
            <a:r>
              <a:rPr kumimoji="0" lang="en-US" altLang="zh-CN" sz="1800" b="0" i="0" u="none" strike="noStrike" kern="1200" cap="none" spc="0" normalizeH="0" baseline="0" noProof="0">
                <a:ln>
                  <a:noFill/>
                </a:ln>
                <a:solidFill>
                  <a:srgbClr val="000000"/>
                </a:solidFill>
                <a:effectLst/>
                <a:uLnTx/>
                <a:uFillTx/>
                <a:latin typeface="Calibri"/>
                <a:ea typeface="华文中宋"/>
              </a:rPr>
              <a:t>100KB</a:t>
            </a:r>
            <a:r>
              <a:rPr kumimoji="0" lang="zh-CN" altLang="en-US" sz="1800" b="0" i="0" u="none" strike="noStrike" kern="1200" cap="none" spc="0" normalizeH="0" baseline="0" noProof="0">
                <a:ln>
                  <a:noFill/>
                </a:ln>
                <a:solidFill>
                  <a:srgbClr val="000000"/>
                </a:solidFill>
                <a:effectLst/>
                <a:uLnTx/>
                <a:uFillTx/>
                <a:latin typeface="Calibri"/>
                <a:ea typeface="华文中宋"/>
              </a:rPr>
              <a:t>，按地址从小到大为：</a:t>
            </a:r>
            <a:r>
              <a:rPr kumimoji="0" lang="en-US" altLang="zh-CN" sz="1800" b="0" i="0" u="none" strike="noStrike" kern="1200" cap="none" spc="0" normalizeH="0" baseline="0" noProof="0">
                <a:ln>
                  <a:noFill/>
                </a:ln>
                <a:solidFill>
                  <a:srgbClr val="000000"/>
                </a:solidFill>
                <a:effectLst/>
                <a:uLnTx/>
                <a:uFillTx/>
                <a:latin typeface="Calibri"/>
                <a:ea typeface="华文中宋"/>
              </a:rPr>
              <a:t>100KB</a:t>
            </a:r>
            <a:r>
              <a:rPr kumimoji="0" lang="zh-CN" altLang="en-US" sz="1800" b="0" i="0" u="none" strike="noStrike" kern="1200" cap="none" spc="0" normalizeH="0" baseline="0" noProof="0">
                <a:ln>
                  <a:noFill/>
                </a:ln>
                <a:solidFill>
                  <a:srgbClr val="000000"/>
                </a:solidFill>
                <a:effectLst/>
                <a:uLnTx/>
                <a:uFillTx/>
                <a:latin typeface="Calibri"/>
                <a:ea typeface="华文中宋"/>
              </a:rPr>
              <a:t>、</a:t>
            </a:r>
            <a:r>
              <a:rPr kumimoji="0" lang="en-US" altLang="zh-CN" sz="1800" b="0" i="0" u="none" strike="noStrike" kern="1200" cap="none" spc="0" normalizeH="0" baseline="0" noProof="0">
                <a:ln>
                  <a:noFill/>
                </a:ln>
                <a:solidFill>
                  <a:srgbClr val="000000"/>
                </a:solidFill>
                <a:effectLst/>
                <a:uLnTx/>
                <a:uFillTx/>
                <a:latin typeface="Calibri"/>
                <a:ea typeface="华文中宋"/>
              </a:rPr>
              <a:t>500KB</a:t>
            </a:r>
            <a:r>
              <a:rPr kumimoji="0" lang="zh-CN" altLang="en-US" sz="1800" b="0" i="0" u="none" strike="noStrike" kern="1200" cap="none" spc="0" normalizeH="0" baseline="0" noProof="0">
                <a:ln>
                  <a:noFill/>
                </a:ln>
                <a:solidFill>
                  <a:srgbClr val="000000"/>
                </a:solidFill>
                <a:effectLst/>
                <a:uLnTx/>
                <a:uFillTx/>
                <a:latin typeface="Calibri"/>
                <a:ea typeface="华文中宋"/>
              </a:rPr>
              <a:t>、</a:t>
            </a:r>
            <a:r>
              <a:rPr kumimoji="0" lang="en-US" altLang="zh-CN" sz="1800" b="0" i="0" u="none" strike="noStrike" kern="1200" cap="none" spc="0" normalizeH="0" baseline="0" noProof="0">
                <a:ln>
                  <a:noFill/>
                </a:ln>
                <a:solidFill>
                  <a:srgbClr val="000000"/>
                </a:solidFill>
                <a:effectLst/>
                <a:uLnTx/>
                <a:uFillTx/>
                <a:latin typeface="Calibri"/>
                <a:ea typeface="华文中宋"/>
              </a:rPr>
              <a:t>200KB</a:t>
            </a:r>
            <a:r>
              <a:rPr kumimoji="0" lang="zh-CN" altLang="en-US" sz="1800" b="0" i="0" u="none" strike="noStrike" kern="1200" cap="none" spc="0" normalizeH="0" baseline="0" noProof="0">
                <a:ln>
                  <a:noFill/>
                </a:ln>
                <a:solidFill>
                  <a:srgbClr val="000000"/>
                </a:solidFill>
                <a:effectLst/>
                <a:uLnTx/>
                <a:uFillTx/>
                <a:latin typeface="Calibri"/>
                <a:ea typeface="华文中宋"/>
              </a:rPr>
              <a:t>、</a:t>
            </a:r>
            <a:r>
              <a:rPr kumimoji="0" lang="en-US" altLang="zh-CN" sz="1800" b="0" i="0" u="none" strike="noStrike" kern="1200" cap="none" spc="0" normalizeH="0" baseline="0" noProof="0">
                <a:ln>
                  <a:noFill/>
                </a:ln>
                <a:solidFill>
                  <a:srgbClr val="000000"/>
                </a:solidFill>
                <a:effectLst/>
                <a:uLnTx/>
                <a:uFillTx/>
                <a:latin typeface="Calibri"/>
                <a:ea typeface="华文中宋"/>
              </a:rPr>
              <a:t>300KB</a:t>
            </a:r>
            <a:r>
              <a:rPr kumimoji="0" lang="zh-CN" altLang="en-US" sz="1800" b="0" i="0" u="none" strike="noStrike" kern="1200" cap="none" spc="0" normalizeH="0" baseline="0" noProof="0">
                <a:ln>
                  <a:noFill/>
                </a:ln>
                <a:solidFill>
                  <a:srgbClr val="000000"/>
                </a:solidFill>
                <a:effectLst/>
                <a:uLnTx/>
                <a:uFillTx/>
                <a:latin typeface="Calibri"/>
                <a:ea typeface="华文中宋"/>
              </a:rPr>
              <a:t>。现有用户进程大小依次为</a:t>
            </a:r>
            <a:r>
              <a:rPr kumimoji="0" lang="en-US" altLang="zh-CN" sz="1800" b="0" i="0" u="none" strike="noStrike" kern="1200" cap="none" spc="0" normalizeH="0" baseline="0" noProof="0">
                <a:ln>
                  <a:noFill/>
                </a:ln>
                <a:solidFill>
                  <a:srgbClr val="000000"/>
                </a:solidFill>
                <a:effectLst/>
                <a:uLnTx/>
                <a:uFillTx/>
                <a:latin typeface="Calibri"/>
                <a:ea typeface="华文中宋"/>
              </a:rPr>
              <a:t>212KB</a:t>
            </a:r>
            <a:r>
              <a:rPr kumimoji="0" lang="zh-CN" altLang="en-US" sz="1800" b="0" i="0" u="none" strike="noStrike" kern="1200" cap="none" spc="0" normalizeH="0" baseline="0" noProof="0">
                <a:ln>
                  <a:noFill/>
                </a:ln>
                <a:solidFill>
                  <a:srgbClr val="000000"/>
                </a:solidFill>
                <a:effectLst/>
                <a:uLnTx/>
                <a:uFillTx/>
                <a:latin typeface="Calibri"/>
                <a:ea typeface="华文中宋"/>
              </a:rPr>
              <a:t>、</a:t>
            </a:r>
            <a:r>
              <a:rPr kumimoji="0" lang="en-US" altLang="zh-CN" sz="1800" b="0" i="0" u="none" strike="noStrike" kern="1200" cap="none" spc="0" normalizeH="0" baseline="0" noProof="0">
                <a:ln>
                  <a:noFill/>
                </a:ln>
                <a:solidFill>
                  <a:srgbClr val="000000"/>
                </a:solidFill>
                <a:effectLst/>
                <a:uLnTx/>
                <a:uFillTx/>
                <a:latin typeface="Calibri"/>
                <a:ea typeface="华文中宋"/>
              </a:rPr>
              <a:t>417KB</a:t>
            </a:r>
            <a:r>
              <a:rPr kumimoji="0" lang="zh-CN" altLang="en-US" sz="1800" b="0" i="0" u="none" strike="noStrike" kern="1200" cap="none" spc="0" normalizeH="0" baseline="0" noProof="0">
                <a:ln>
                  <a:noFill/>
                </a:ln>
                <a:solidFill>
                  <a:srgbClr val="000000"/>
                </a:solidFill>
                <a:effectLst/>
                <a:uLnTx/>
                <a:uFillTx/>
                <a:latin typeface="Calibri"/>
                <a:ea typeface="华文中宋"/>
              </a:rPr>
              <a:t>、</a:t>
            </a:r>
            <a:r>
              <a:rPr kumimoji="0" lang="en-US" altLang="zh-CN" sz="1800" b="0" i="0" u="none" strike="noStrike" kern="1200" cap="none" spc="0" normalizeH="0" baseline="0" noProof="0">
                <a:ln>
                  <a:noFill/>
                </a:ln>
                <a:solidFill>
                  <a:srgbClr val="000000"/>
                </a:solidFill>
                <a:effectLst/>
                <a:uLnTx/>
                <a:uFillTx/>
                <a:latin typeface="Calibri"/>
                <a:ea typeface="华文中宋"/>
              </a:rPr>
              <a:t>112KB</a:t>
            </a:r>
            <a:r>
              <a:rPr kumimoji="0" lang="zh-CN" altLang="en-US" sz="1800" b="0" i="0" u="none" strike="noStrike" kern="1200" cap="none" spc="0" normalizeH="0" baseline="0" noProof="0">
                <a:ln>
                  <a:noFill/>
                </a:ln>
                <a:solidFill>
                  <a:srgbClr val="000000"/>
                </a:solidFill>
                <a:effectLst/>
                <a:uLnTx/>
                <a:uFillTx/>
                <a:latin typeface="Calibri"/>
                <a:ea typeface="华文中宋"/>
              </a:rPr>
              <a:t>。试问采用顺序分配算法，它们将依次装入到主存的哪个分区？</a:t>
            </a:r>
            <a:endParaRPr kumimoji="0" lang="zh-CN" altLang="en-US" sz="1800" b="0" i="0" u="none" strike="noStrike" kern="1200" cap="none" spc="0" normalizeH="0" baseline="0" noProof="0" dirty="0">
              <a:ln>
                <a:noFill/>
              </a:ln>
              <a:solidFill>
                <a:srgbClr val="000000"/>
              </a:solidFill>
              <a:effectLst/>
              <a:uLnTx/>
              <a:uFillTx/>
              <a:latin typeface="Calibri"/>
              <a:ea typeface="华文中宋"/>
            </a:endParaRPr>
          </a:p>
        </p:txBody>
      </p:sp>
      <p:sp>
        <p:nvSpPr>
          <p:cNvPr id="5" name="Rectangle 3">
            <a:extLst>
              <a:ext uri="{FF2B5EF4-FFF2-40B4-BE49-F238E27FC236}">
                <a16:creationId xmlns:a16="http://schemas.microsoft.com/office/drawing/2014/main" id="{42B6256E-1A8C-EE46-A83B-CAF331812BFF}"/>
              </a:ext>
            </a:extLst>
          </p:cNvPr>
          <p:cNvSpPr txBox="1">
            <a:spLocks noChangeArrowheads="1"/>
          </p:cNvSpPr>
          <p:nvPr/>
        </p:nvSpPr>
        <p:spPr bwMode="auto">
          <a:xfrm>
            <a:off x="53975" y="3068960"/>
            <a:ext cx="9036050" cy="3240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Calibri"/>
                <a:ea typeface="宋体"/>
                <a:cs typeface="+mn-cs"/>
              </a:rPr>
              <a:t>　  </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解答：</a:t>
            </a:r>
          </a:p>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                 </a:t>
            </a:r>
            <a:r>
              <a:rPr kumimoji="0" lang="zh-CN" altLang="en-US" sz="1800" b="0" i="0" u="none" strike="noStrike" kern="1200" cap="none" spc="0" normalizeH="0" baseline="0" noProof="0" dirty="0">
                <a:ln>
                  <a:noFill/>
                </a:ln>
                <a:solidFill>
                  <a:srgbClr val="000000"/>
                </a:solidFill>
                <a:effectLst/>
                <a:uLnTx/>
                <a:uFillTx/>
                <a:latin typeface="Calibri"/>
                <a:ea typeface="宋体"/>
                <a:cs typeface="+mn-cs"/>
              </a:rPr>
              <a:t>根据已知信息，可以得出主存分配表的内容，并绘制简单的主存存储空间分配图。按照顺序分配算法，依次为每个作业查找合适的空闲分区，所以可以得出212KB的用户进程装入分区2， 112KB的用户进程装入分区4，而417KB的用户进程暂时没有合适的空闲分区，必须等待212KB的用户进程释放所占用的分区2才能装入该分区运行。主存空间的释放就是作业运行结束后归还所占用的分区，以便其它作业使用。这时存储管理程序根据作业名查看主存分配表，找到相应表目，把其中的占用标志位修改为0，即表示该分区为空闲区。</a:t>
            </a:r>
          </a:p>
        </p:txBody>
      </p:sp>
      <p:sp>
        <p:nvSpPr>
          <p:cNvPr id="6" name="Rectangle 2">
            <a:extLst>
              <a:ext uri="{FF2B5EF4-FFF2-40B4-BE49-F238E27FC236}">
                <a16:creationId xmlns:a16="http://schemas.microsoft.com/office/drawing/2014/main" id="{DE09EE88-F7C0-8B43-8030-BD83627B6636}"/>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p>
        </p:txBody>
      </p:sp>
    </p:spTree>
    <p:extLst>
      <p:ext uri="{BB962C8B-B14F-4D97-AF65-F5344CB8AC3E}">
        <p14:creationId xmlns:p14="http://schemas.microsoft.com/office/powerpoint/2010/main" val="779681146"/>
      </p:ext>
    </p:extLst>
  </p:cSld>
  <p:clrMapOvr>
    <a:masterClrMapping/>
  </p:clrMapOvr>
  <p:transition>
    <p:random/>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Group 2">
            <a:extLst>
              <a:ext uri="{FF2B5EF4-FFF2-40B4-BE49-F238E27FC236}">
                <a16:creationId xmlns:a16="http://schemas.microsoft.com/office/drawing/2014/main" id="{3E6F8BFF-6418-4E41-9E6D-2DF488A84F3D}"/>
              </a:ext>
            </a:extLst>
          </p:cNvPr>
          <p:cNvGraphicFramePr>
            <a:graphicFrameLocks/>
          </p:cNvGraphicFramePr>
          <p:nvPr>
            <p:extLst>
              <p:ext uri="{D42A27DB-BD31-4B8C-83A1-F6EECF244321}">
                <p14:modId xmlns:p14="http://schemas.microsoft.com/office/powerpoint/2010/main" val="2819172793"/>
              </p:ext>
            </p:extLst>
          </p:nvPr>
        </p:nvGraphicFramePr>
        <p:xfrm>
          <a:off x="437356" y="2546821"/>
          <a:ext cx="4979987" cy="2232026"/>
        </p:xfrm>
        <a:graphic>
          <a:graphicData uri="http://schemas.openxmlformats.org/drawingml/2006/table">
            <a:tbl>
              <a:tblPr/>
              <a:tblGrid>
                <a:gridCol w="1243012">
                  <a:extLst>
                    <a:ext uri="{9D8B030D-6E8A-4147-A177-3AD203B41FA5}">
                      <a16:colId xmlns:a16="http://schemas.microsoft.com/office/drawing/2014/main" val="20000"/>
                    </a:ext>
                  </a:extLst>
                </a:gridCol>
                <a:gridCol w="1246188">
                  <a:extLst>
                    <a:ext uri="{9D8B030D-6E8A-4147-A177-3AD203B41FA5}">
                      <a16:colId xmlns:a16="http://schemas.microsoft.com/office/drawing/2014/main" val="20001"/>
                    </a:ext>
                  </a:extLst>
                </a:gridCol>
                <a:gridCol w="1246187">
                  <a:extLst>
                    <a:ext uri="{9D8B030D-6E8A-4147-A177-3AD203B41FA5}">
                      <a16:colId xmlns:a16="http://schemas.microsoft.com/office/drawing/2014/main" val="20002"/>
                    </a:ext>
                  </a:extLst>
                </a:gridCol>
                <a:gridCol w="1244600">
                  <a:extLst>
                    <a:ext uri="{9D8B030D-6E8A-4147-A177-3AD203B41FA5}">
                      <a16:colId xmlns:a16="http://schemas.microsoft.com/office/drawing/2014/main" val="20003"/>
                    </a:ext>
                  </a:extLst>
                </a:gridCol>
              </a:tblGrid>
              <a:tr h="43815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zh-CN" altLang="en-US" sz="1800" b="1" i="0" u="none" strike="noStrike" cap="none" normalizeH="0" baseline="0">
                          <a:ln>
                            <a:noFill/>
                          </a:ln>
                          <a:solidFill>
                            <a:srgbClr val="FFFFFF"/>
                          </a:solidFill>
                          <a:effectLst/>
                          <a:latin typeface="Calibri" pitchFamily="34" charset="0"/>
                          <a:ea typeface="宋体" charset="-122"/>
                        </a:rPr>
                        <a:t>区号</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zh-CN" altLang="en-US" sz="1800" b="1" i="0" u="none" strike="noStrike" cap="none" normalizeH="0" baseline="0">
                          <a:ln>
                            <a:noFill/>
                          </a:ln>
                          <a:solidFill>
                            <a:srgbClr val="FFFFFF"/>
                          </a:solidFill>
                          <a:effectLst/>
                          <a:latin typeface="Calibri" pitchFamily="34" charset="0"/>
                          <a:ea typeface="宋体" charset="-122"/>
                        </a:rPr>
                        <a:t>起始地址</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zh-CN" altLang="en-US" sz="1800" b="1" i="0" u="none" strike="noStrike" cap="none" normalizeH="0" baseline="0">
                          <a:ln>
                            <a:noFill/>
                          </a:ln>
                          <a:solidFill>
                            <a:srgbClr val="FFFFFF"/>
                          </a:solidFill>
                          <a:effectLst/>
                          <a:latin typeface="Calibri" pitchFamily="34" charset="0"/>
                          <a:ea typeface="宋体" charset="-122"/>
                        </a:rPr>
                        <a:t>长度</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zh-CN" altLang="en-US" sz="1800" b="1" i="0" u="none" strike="noStrike" cap="none" normalizeH="0" baseline="0">
                          <a:ln>
                            <a:noFill/>
                          </a:ln>
                          <a:solidFill>
                            <a:srgbClr val="FFFFFF"/>
                          </a:solidFill>
                          <a:effectLst/>
                          <a:latin typeface="Calibri" pitchFamily="34" charset="0"/>
                          <a:ea typeface="宋体" charset="-122"/>
                        </a:rPr>
                        <a:t>占用标志</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extLst>
                  <a:ext uri="{0D108BD9-81ED-4DB2-BD59-A6C34878D82A}">
                    <a16:rowId xmlns:a16="http://schemas.microsoft.com/office/drawing/2014/main" val="10000"/>
                  </a:ext>
                </a:extLst>
              </a:tr>
              <a:tr h="447675">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1</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100KB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100KB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1"/>
                  </a:ext>
                </a:extLst>
              </a:tr>
              <a:tr h="44926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2</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200KB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500KB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2"/>
                  </a:ext>
                </a:extLst>
              </a:tr>
              <a:tr h="44926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3</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700KB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200KB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3"/>
                  </a:ext>
                </a:extLst>
              </a:tr>
              <a:tr h="447675">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4</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900KB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300KB</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ctr" defTabSz="914400" rtl="0" eaLnBrk="1" fontAlgn="base" latinLnBrk="0" hangingPunct="1">
                        <a:lnSpc>
                          <a:spcPct val="100000"/>
                        </a:lnSpc>
                        <a:spcBef>
                          <a:spcPct val="20000"/>
                        </a:spcBef>
                        <a:spcAft>
                          <a:spcPct val="0"/>
                        </a:spcAft>
                        <a:buClrTx/>
                        <a:buSzTx/>
                        <a:buFont typeface="Arial" charset="0"/>
                        <a:buNone/>
                        <a:tabLst/>
                      </a:pPr>
                      <a:r>
                        <a:rPr kumimoji="0" lang="en-US" altLang="zh-CN" sz="1800" b="0" i="0" u="none" strike="noStrike" cap="none" normalizeH="0" baseline="0">
                          <a:ln>
                            <a:noFill/>
                          </a:ln>
                          <a:solidFill>
                            <a:srgbClr val="000000"/>
                          </a:solidFill>
                          <a:effectLst/>
                          <a:latin typeface="Calibri" pitchFamily="34" charset="0"/>
                          <a:ea typeface="宋体" charset="-122"/>
                        </a:rPr>
                        <a:t>0</a:t>
                      </a:r>
                    </a:p>
                  </a:txBody>
                  <a:tcPr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4"/>
                  </a:ext>
                </a:extLst>
              </a:tr>
            </a:tbl>
          </a:graphicData>
        </a:graphic>
      </p:graphicFrame>
      <p:sp>
        <p:nvSpPr>
          <p:cNvPr id="15" name="Text Box 96">
            <a:extLst>
              <a:ext uri="{FF2B5EF4-FFF2-40B4-BE49-F238E27FC236}">
                <a16:creationId xmlns:a16="http://schemas.microsoft.com/office/drawing/2014/main" id="{5D13C6A7-502E-5343-9B31-E617D46D1EF6}"/>
              </a:ext>
            </a:extLst>
          </p:cNvPr>
          <p:cNvSpPr txBox="1">
            <a:spLocks noChangeArrowheads="1"/>
          </p:cNvSpPr>
          <p:nvPr/>
        </p:nvSpPr>
        <p:spPr bwMode="auto">
          <a:xfrm>
            <a:off x="1518443" y="5364634"/>
            <a:ext cx="35194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a:t>
            </a:r>
            <a:r>
              <a:rPr lang="en-US" altLang="zh-CN" sz="1800" b="0">
                <a:solidFill>
                  <a:srgbClr val="000000"/>
                </a:solidFill>
                <a:latin typeface="Arial" panose="020B0604020202020204" pitchFamily="34" charset="0"/>
              </a:rPr>
              <a:t>a</a:t>
            </a:r>
            <a:r>
              <a:rPr lang="zh-CN" altLang="en-US" sz="1800" b="0">
                <a:solidFill>
                  <a:srgbClr val="000000"/>
                </a:solidFill>
                <a:latin typeface="Arial" panose="020B0604020202020204" pitchFamily="34" charset="0"/>
              </a:rPr>
              <a:t>）主存分配表   </a:t>
            </a:r>
          </a:p>
        </p:txBody>
      </p:sp>
      <p:sp>
        <p:nvSpPr>
          <p:cNvPr id="16" name="Text Box 97">
            <a:extLst>
              <a:ext uri="{FF2B5EF4-FFF2-40B4-BE49-F238E27FC236}">
                <a16:creationId xmlns:a16="http://schemas.microsoft.com/office/drawing/2014/main" id="{153AD0D2-749E-5E4B-9CEA-99C423E8ABA1}"/>
              </a:ext>
            </a:extLst>
          </p:cNvPr>
          <p:cNvSpPr txBox="1">
            <a:spLocks noChangeArrowheads="1"/>
          </p:cNvSpPr>
          <p:nvPr/>
        </p:nvSpPr>
        <p:spPr bwMode="auto">
          <a:xfrm>
            <a:off x="5390356" y="5355109"/>
            <a:ext cx="3471862"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r>
              <a:rPr lang="en-US" altLang="zh-CN" sz="1800" b="0">
                <a:solidFill>
                  <a:srgbClr val="000000"/>
                </a:solidFill>
                <a:latin typeface="Arial" panose="020B0604020202020204" pitchFamily="34" charset="0"/>
              </a:rPr>
              <a:t>b</a:t>
            </a:r>
            <a:r>
              <a:rPr lang="zh-CN" altLang="en-US" sz="1800" b="0">
                <a:solidFill>
                  <a:srgbClr val="000000"/>
                </a:solidFill>
                <a:latin typeface="Arial" panose="020B0604020202020204" pitchFamily="34" charset="0"/>
              </a:rPr>
              <a:t>）主存存储空间分配图</a:t>
            </a:r>
          </a:p>
        </p:txBody>
      </p:sp>
      <p:sp>
        <p:nvSpPr>
          <p:cNvPr id="17" name="Text Box 98">
            <a:extLst>
              <a:ext uri="{FF2B5EF4-FFF2-40B4-BE49-F238E27FC236}">
                <a16:creationId xmlns:a16="http://schemas.microsoft.com/office/drawing/2014/main" id="{3496DE2C-5093-AB40-81B9-D4B52CF92A0B}"/>
              </a:ext>
            </a:extLst>
          </p:cNvPr>
          <p:cNvSpPr txBox="1">
            <a:spLocks noChangeArrowheads="1"/>
          </p:cNvSpPr>
          <p:nvPr/>
        </p:nvSpPr>
        <p:spPr bwMode="auto">
          <a:xfrm>
            <a:off x="2874168" y="6093296"/>
            <a:ext cx="3395663"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2000" b="0" dirty="0">
                <a:solidFill>
                  <a:srgbClr val="000000"/>
                </a:solidFill>
                <a:latin typeface="Arial" panose="020B0604020202020204" pitchFamily="34" charset="0"/>
              </a:rPr>
              <a:t>图</a:t>
            </a:r>
            <a:r>
              <a:rPr lang="en-US" altLang="zh-CN" sz="2000" b="0" dirty="0">
                <a:solidFill>
                  <a:srgbClr val="000000"/>
                </a:solidFill>
                <a:latin typeface="Arial" panose="020B0604020202020204" pitchFamily="34" charset="0"/>
              </a:rPr>
              <a:t>4-4  </a:t>
            </a:r>
            <a:r>
              <a:rPr lang="zh-CN" altLang="en-US" sz="2000" b="0" dirty="0">
                <a:solidFill>
                  <a:srgbClr val="000000"/>
                </a:solidFill>
                <a:latin typeface="Arial" panose="020B0604020202020204" pitchFamily="34" charset="0"/>
              </a:rPr>
              <a:t>固定分区分配示例图</a:t>
            </a:r>
          </a:p>
        </p:txBody>
      </p:sp>
      <p:graphicFrame>
        <p:nvGraphicFramePr>
          <p:cNvPr id="18" name="Group 137">
            <a:extLst>
              <a:ext uri="{FF2B5EF4-FFF2-40B4-BE49-F238E27FC236}">
                <a16:creationId xmlns:a16="http://schemas.microsoft.com/office/drawing/2014/main" id="{164B3B7C-F400-5740-B582-8AC5D170CF1A}"/>
              </a:ext>
            </a:extLst>
          </p:cNvPr>
          <p:cNvGraphicFramePr>
            <a:graphicFrameLocks noGrp="1"/>
          </p:cNvGraphicFramePr>
          <p:nvPr>
            <p:extLst>
              <p:ext uri="{D42A27DB-BD31-4B8C-83A1-F6EECF244321}">
                <p14:modId xmlns:p14="http://schemas.microsoft.com/office/powerpoint/2010/main" val="2809531845"/>
              </p:ext>
            </p:extLst>
          </p:nvPr>
        </p:nvGraphicFramePr>
        <p:xfrm>
          <a:off x="7282656" y="2041996"/>
          <a:ext cx="1579562" cy="2932113"/>
        </p:xfrm>
        <a:graphic>
          <a:graphicData uri="http://schemas.openxmlformats.org/drawingml/2006/table">
            <a:tbl>
              <a:tblPr/>
              <a:tblGrid>
                <a:gridCol w="1579562">
                  <a:extLst>
                    <a:ext uri="{9D8B030D-6E8A-4147-A177-3AD203B41FA5}">
                      <a16:colId xmlns:a16="http://schemas.microsoft.com/office/drawing/2014/main" val="20000"/>
                    </a:ext>
                  </a:extLst>
                </a:gridCol>
              </a:tblGrid>
              <a:tr h="431800">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endPar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endParaRPr>
                    </a:p>
                  </a:txBody>
                  <a:tcPr marL="90170" marR="90170" marT="46990" marB="4699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63600">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212KB</a:t>
                      </a:r>
                    </a:p>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用户进程</a:t>
                      </a:r>
                      <a:endPar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endParaRPr>
                    </a:p>
                  </a:txBody>
                  <a:tcPr marL="90170" marR="90170" marT="46990" marB="4699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817563">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212KB</a:t>
                      </a:r>
                    </a:p>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用户进程</a:t>
                      </a:r>
                    </a:p>
                  </a:txBody>
                  <a:tcPr marL="90170" marR="90170" marT="46990" marB="4699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819150">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112KB</a:t>
                      </a:r>
                    </a:p>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用户进程</a:t>
                      </a:r>
                      <a:endPar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endParaRPr>
                    </a:p>
                  </a:txBody>
                  <a:tcPr marL="90170" marR="90170" marT="46990" marB="4699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19" name="Text Box 135">
            <a:extLst>
              <a:ext uri="{FF2B5EF4-FFF2-40B4-BE49-F238E27FC236}">
                <a16:creationId xmlns:a16="http://schemas.microsoft.com/office/drawing/2014/main" id="{862A30E2-AF5F-0B43-A4A5-826FB3B47273}"/>
              </a:ext>
            </a:extLst>
          </p:cNvPr>
          <p:cNvSpPr txBox="1">
            <a:spLocks noChangeArrowheads="1"/>
          </p:cNvSpPr>
          <p:nvPr/>
        </p:nvSpPr>
        <p:spPr bwMode="auto">
          <a:xfrm>
            <a:off x="6079331" y="1475259"/>
            <a:ext cx="1203325" cy="3662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en-US" altLang="zh-CN" sz="1800" b="0">
                <a:solidFill>
                  <a:srgbClr val="000000"/>
                </a:solidFill>
                <a:latin typeface="Arial" panose="020B0604020202020204" pitchFamily="34" charset="0"/>
              </a:rPr>
              <a:t>100KB</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p>
          <a:p>
            <a:pPr eaLnBrk="1" hangingPunct="1">
              <a:spcBef>
                <a:spcPct val="0"/>
              </a:spcBef>
              <a:buFont typeface="Arial" panose="020B0604020202020204" pitchFamily="34" charset="0"/>
              <a:buNone/>
            </a:pPr>
            <a:endParaRPr lang="zh-CN" altLang="en-US" sz="1800" b="0">
              <a:solidFill>
                <a:srgbClr val="000000"/>
              </a:solidFill>
              <a:latin typeface="Arial" panose="020B0604020202020204" pitchFamily="34" charset="0"/>
            </a:endParaRPr>
          </a:p>
          <a:p>
            <a:pPr eaLnBrk="1" hangingPunct="1">
              <a:spcBef>
                <a:spcPct val="0"/>
              </a:spcBef>
              <a:buFont typeface="Arial" panose="020B0604020202020204" pitchFamily="34" charset="0"/>
              <a:buNone/>
            </a:pPr>
            <a:r>
              <a:rPr lang="en-US" altLang="zh-CN" sz="1800" b="0">
                <a:solidFill>
                  <a:srgbClr val="000000"/>
                </a:solidFill>
                <a:latin typeface="Arial" panose="020B0604020202020204" pitchFamily="34" charset="0"/>
              </a:rPr>
              <a:t>200KB</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p>
          <a:p>
            <a:pPr eaLnBrk="1" hangingPunct="1">
              <a:spcBef>
                <a:spcPct val="0"/>
              </a:spcBef>
              <a:buFont typeface="Arial" panose="020B0604020202020204" pitchFamily="34" charset="0"/>
              <a:buNone/>
            </a:pPr>
            <a:r>
              <a:rPr lang="en-US" altLang="zh-CN" sz="1800" b="0">
                <a:solidFill>
                  <a:srgbClr val="000000"/>
                </a:solidFill>
                <a:latin typeface="Arial" panose="020B0604020202020204" pitchFamily="34" charset="0"/>
              </a:rPr>
              <a:t>700KB</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r>
              <a:rPr lang="en-US" altLang="zh-CN" sz="1800" b="0">
                <a:solidFill>
                  <a:srgbClr val="000000"/>
                </a:solidFill>
                <a:latin typeface="Arial" panose="020B0604020202020204" pitchFamily="34" charset="0"/>
              </a:rPr>
              <a:t>900KB</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p>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　　　                                                   </a:t>
            </a:r>
            <a:r>
              <a:rPr lang="en-US" altLang="zh-CN" sz="1800" b="0">
                <a:solidFill>
                  <a:srgbClr val="000000"/>
                </a:solidFill>
                <a:latin typeface="Arial" panose="020B0604020202020204" pitchFamily="34" charset="0"/>
              </a:rPr>
              <a:t>1200KB</a:t>
            </a:r>
          </a:p>
        </p:txBody>
      </p:sp>
      <p:sp>
        <p:nvSpPr>
          <p:cNvPr id="20" name="Rectangle 2">
            <a:extLst>
              <a:ext uri="{FF2B5EF4-FFF2-40B4-BE49-F238E27FC236}">
                <a16:creationId xmlns:a16="http://schemas.microsoft.com/office/drawing/2014/main" id="{7C7EAFB8-BF69-1649-93BA-7E877BC20DCD}"/>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p>
        </p:txBody>
      </p:sp>
    </p:spTree>
    <p:extLst>
      <p:ext uri="{BB962C8B-B14F-4D97-AF65-F5344CB8AC3E}">
        <p14:creationId xmlns:p14="http://schemas.microsoft.com/office/powerpoint/2010/main" val="1700748536"/>
      </p:ext>
    </p:extLst>
  </p:cSld>
  <p:clrMapOvr>
    <a:masterClrMapping/>
  </p:clrMapOvr>
  <p:transition>
    <p:random/>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5C3D87-BC68-0D48-8040-24F79C954E91}"/>
              </a:ext>
            </a:extLst>
          </p:cNvPr>
          <p:cNvSpPr/>
          <p:nvPr/>
        </p:nvSpPr>
        <p:spPr>
          <a:xfrm>
            <a:off x="251520" y="1196752"/>
            <a:ext cx="2896947" cy="520335"/>
          </a:xfrm>
          <a:prstGeom prst="rect">
            <a:avLst/>
          </a:prstGeom>
        </p:spPr>
        <p:txBody>
          <a:bodyPr wrap="none">
            <a:spAutoFit/>
          </a:bodyPr>
          <a:lstStyle/>
          <a:p>
            <a:pPr eaLnBrk="1" hangingPunct="1">
              <a:lnSpc>
                <a:spcPts val="4000"/>
              </a:lnSpc>
            </a:pPr>
            <a:r>
              <a:rPr lang="en-US" altLang="zh-CN" dirty="0">
                <a:solidFill>
                  <a:srgbClr val="FF0000"/>
                </a:solidFill>
              </a:rPr>
              <a:t>4. </a:t>
            </a:r>
            <a:r>
              <a:rPr lang="zh-CN" altLang="en-US" dirty="0">
                <a:solidFill>
                  <a:srgbClr val="FF0000"/>
                </a:solidFill>
              </a:rPr>
              <a:t>地址转换与存储保护</a:t>
            </a:r>
          </a:p>
        </p:txBody>
      </p:sp>
      <p:sp>
        <p:nvSpPr>
          <p:cNvPr id="3" name="Rectangle 2">
            <a:extLst>
              <a:ext uri="{FF2B5EF4-FFF2-40B4-BE49-F238E27FC236}">
                <a16:creationId xmlns:a16="http://schemas.microsoft.com/office/drawing/2014/main" id="{49CA2567-DAB6-8046-BEA0-66DE4005B6FF}"/>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endParaRPr lang="zh-CN" altLang="en-US" sz="2800" kern="0" dirty="0">
              <a:solidFill>
                <a:srgbClr val="FF0000"/>
              </a:solidFill>
              <a:latin typeface="宋体" panose="02010600030101010101" pitchFamily="2" charset="-122"/>
            </a:endParaRPr>
          </a:p>
        </p:txBody>
      </p:sp>
      <p:sp>
        <p:nvSpPr>
          <p:cNvPr id="15" name="Rectangle 38">
            <a:extLst>
              <a:ext uri="{FF2B5EF4-FFF2-40B4-BE49-F238E27FC236}">
                <a16:creationId xmlns:a16="http://schemas.microsoft.com/office/drawing/2014/main" id="{4E277B11-4908-ED47-BB8C-2C3CCDEF49E7}"/>
              </a:ext>
            </a:extLst>
          </p:cNvPr>
          <p:cNvSpPr txBox="1">
            <a:spLocks noChangeArrowheads="1"/>
          </p:cNvSpPr>
          <p:nvPr/>
        </p:nvSpPr>
        <p:spPr bwMode="auto">
          <a:xfrm>
            <a:off x="4888490" y="3680867"/>
            <a:ext cx="4284662" cy="317713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algn="ctr" rtl="0" eaLnBrk="0" fontAlgn="base" hangingPunct="0">
              <a:spcBef>
                <a:spcPct val="0"/>
              </a:spcBef>
              <a:spcAft>
                <a:spcPct val="0"/>
              </a:spcAft>
              <a:defRPr sz="3200" b="1" kern="1200">
                <a:solidFill>
                  <a:schemeClr val="tx1"/>
                </a:solidFill>
                <a:latin typeface="+mj-lt"/>
                <a:ea typeface="+mj-ea"/>
                <a:cs typeface="+mj-cs"/>
              </a:defRPr>
            </a:lvl1pPr>
            <a:lvl2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2pPr>
            <a:lvl3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3pPr>
            <a:lvl4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4pPr>
            <a:lvl5pPr algn="ctr" rtl="0" eaLnBrk="0" fontAlgn="base" hangingPunct="0">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5pPr>
            <a:lvl6pPr marL="4572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6pPr>
            <a:lvl7pPr marL="9144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7pPr>
            <a:lvl8pPr marL="13716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8pPr>
            <a:lvl9pPr marL="1828800" algn="ctr" rtl="0" fontAlgn="base">
              <a:spcBef>
                <a:spcPct val="0"/>
              </a:spcBef>
              <a:spcAft>
                <a:spcPct val="0"/>
              </a:spcAft>
              <a:defRPr sz="3200" b="1">
                <a:solidFill>
                  <a:schemeClr val="tx1"/>
                </a:solidFill>
                <a:latin typeface="Calibri" panose="020F0502020204030204" pitchFamily="34" charset="0"/>
                <a:ea typeface="华文中宋" panose="02010600040101010101" pitchFamily="2" charset="-122"/>
                <a:cs typeface="宋体" panose="02010600030101010101" pitchFamily="2" charset="-122"/>
              </a:defRPr>
            </a:lvl9pPr>
          </a:lstStyle>
          <a:p>
            <a:pPr marL="342900" marR="0" lvl="0" indent="-342900" algn="l" defTabSz="914400" rtl="0" eaLnBrk="1" fontAlgn="base" latinLnBrk="0" hangingPunct="1">
              <a:lnSpc>
                <a:spcPct val="125000"/>
              </a:lnSpc>
              <a:spcBef>
                <a:spcPct val="20000"/>
              </a:spcBef>
              <a:spcAft>
                <a:spcPct val="0"/>
              </a:spcAft>
              <a:buClr>
                <a:srgbClr val="FF3300"/>
              </a:buClr>
              <a:buSzTx/>
              <a:buFont typeface="Wingdings" panose="05000000000000000000" pitchFamily="2" charset="2"/>
              <a:buChar char="l"/>
              <a:tabLst/>
              <a:defRPr/>
            </a:pPr>
            <a:r>
              <a:rPr kumimoji="0" lang="zh-CN" altLang="en-US" sz="1600" b="1" i="0" u="none" strike="noStrike" kern="1200" cap="none" spc="0" normalizeH="0" baseline="0" noProof="0" dirty="0">
                <a:ln>
                  <a:noFill/>
                </a:ln>
                <a:solidFill>
                  <a:srgbClr val="000000"/>
                </a:solidFill>
                <a:effectLst/>
                <a:uLnTx/>
                <a:uFillTx/>
                <a:latin typeface="Calibri"/>
                <a:ea typeface="华文中宋"/>
              </a:rPr>
              <a:t> </a:t>
            </a:r>
            <a:r>
              <a:rPr kumimoji="0" lang="zh-CN" altLang="en-US" sz="1600" b="0" i="0" u="none" strike="noStrike" kern="1200" cap="none" spc="0" normalizeH="0" baseline="0" noProof="0" dirty="0">
                <a:ln>
                  <a:noFill/>
                </a:ln>
                <a:solidFill>
                  <a:srgbClr val="000000"/>
                </a:solidFill>
                <a:effectLst/>
                <a:uLnTx/>
                <a:uFillTx/>
                <a:latin typeface="Calibri"/>
                <a:ea typeface="华文中宋"/>
              </a:rPr>
              <a:t>为了实现存储保护，处理器执行某作业时，</a:t>
            </a:r>
            <a:r>
              <a:rPr kumimoji="0" lang="zh-CN" altLang="en-US" sz="1600" b="1" i="0" u="sng" strike="noStrike" kern="1200" cap="none" spc="0" normalizeH="0" baseline="0" noProof="0" dirty="0">
                <a:ln>
                  <a:noFill/>
                </a:ln>
                <a:solidFill>
                  <a:srgbClr val="000000"/>
                </a:solidFill>
                <a:effectLst/>
                <a:uLnTx/>
                <a:uFillTx/>
                <a:latin typeface="Calibri"/>
                <a:ea typeface="方正粗黑宋简体" panose="02000000000000000000" pitchFamily="2" charset="-122"/>
              </a:rPr>
              <a:t>修改上、下限寄存器的内容</a:t>
            </a:r>
            <a:r>
              <a:rPr kumimoji="0" lang="zh-CN" altLang="en-US" sz="1600" b="0" i="0" u="none" strike="noStrike" kern="1200" cap="none" spc="0" normalizeH="0" baseline="0" noProof="0" dirty="0">
                <a:ln>
                  <a:noFill/>
                </a:ln>
                <a:solidFill>
                  <a:srgbClr val="000000"/>
                </a:solidFill>
                <a:effectLst/>
                <a:uLnTx/>
                <a:uFillTx/>
                <a:latin typeface="Calibri"/>
                <a:ea typeface="华文中宋"/>
              </a:rPr>
              <a:t>为当前作业的</a:t>
            </a:r>
            <a:r>
              <a:rPr kumimoji="0" lang="zh-CN" altLang="en-US" sz="1600" b="1" i="0" u="none" strike="noStrike" kern="1200" cap="none" spc="0" normalizeH="0" baseline="0" noProof="0" dirty="0">
                <a:ln>
                  <a:noFill/>
                </a:ln>
                <a:solidFill>
                  <a:srgbClr val="FF3300"/>
                </a:solidFill>
                <a:effectLst/>
                <a:uLnTx/>
                <a:uFillTx/>
                <a:latin typeface="Calibri"/>
                <a:ea typeface="华文中宋"/>
              </a:rPr>
              <a:t>上</a:t>
            </a:r>
            <a:r>
              <a:rPr kumimoji="0" lang="zh-CN" altLang="en-US" sz="1600" b="0" i="0" u="none" strike="noStrike" kern="1200" cap="none" spc="0" normalizeH="0" baseline="0" noProof="0" dirty="0">
                <a:ln>
                  <a:noFill/>
                </a:ln>
                <a:solidFill>
                  <a:srgbClr val="000000"/>
                </a:solidFill>
                <a:effectLst/>
                <a:uLnTx/>
                <a:uFillTx/>
                <a:latin typeface="Calibri"/>
                <a:ea typeface="华文中宋"/>
              </a:rPr>
              <a:t>、</a:t>
            </a:r>
            <a:r>
              <a:rPr kumimoji="0" lang="zh-CN" altLang="en-US" sz="1600" b="1" i="0" u="none" strike="noStrike" kern="1200" cap="none" spc="0" normalizeH="0" baseline="0" noProof="0" dirty="0">
                <a:ln>
                  <a:noFill/>
                </a:ln>
                <a:solidFill>
                  <a:srgbClr val="FF3300"/>
                </a:solidFill>
                <a:effectLst/>
                <a:uLnTx/>
                <a:uFillTx/>
                <a:latin typeface="Calibri"/>
                <a:ea typeface="华文中宋"/>
              </a:rPr>
              <a:t>下限地址值</a:t>
            </a:r>
            <a:r>
              <a:rPr kumimoji="0" lang="zh-CN" altLang="en-US" sz="1600" b="0" i="0" u="none" strike="noStrike" kern="1200" cap="none" spc="0" normalizeH="0" baseline="0" noProof="0" dirty="0">
                <a:ln>
                  <a:noFill/>
                </a:ln>
                <a:solidFill>
                  <a:srgbClr val="000000"/>
                </a:solidFill>
                <a:effectLst/>
                <a:uLnTx/>
                <a:uFillTx/>
                <a:latin typeface="Calibri"/>
                <a:ea typeface="华文中宋"/>
              </a:rPr>
              <a:t>，并对作业中的每条指令的地址都要进行检验：</a:t>
            </a:r>
            <a:r>
              <a:rPr kumimoji="0" lang="zh-CN" altLang="en-US" sz="1600" b="0" i="0" u="sng" strike="noStrike" kern="1200" cap="none" spc="0" normalizeH="0" baseline="0" noProof="0" dirty="0">
                <a:ln>
                  <a:noFill/>
                </a:ln>
                <a:solidFill>
                  <a:srgbClr val="FF3300"/>
                </a:solidFill>
                <a:effectLst/>
                <a:uLnTx/>
                <a:uFillTx/>
                <a:latin typeface="Times New Roman" panose="02020603050405020304" pitchFamily="18" charset="0"/>
                <a:ea typeface="华文行楷" panose="02010800040101010101" pitchFamily="2" charset="-122"/>
              </a:rPr>
              <a:t>如果该指令的物理地址处于下限地址到上限地址之间，则按物理地址访问主存</a:t>
            </a:r>
            <a:r>
              <a:rPr kumimoji="0" lang="zh-CN" altLang="en-US" sz="1600" b="0" i="0" u="none" strike="noStrike" kern="1200" cap="none" spc="0" normalizeH="0" baseline="0" noProof="0" dirty="0">
                <a:ln>
                  <a:noFill/>
                </a:ln>
                <a:solidFill>
                  <a:srgbClr val="FF3300"/>
                </a:solidFill>
                <a:effectLst/>
                <a:uLnTx/>
                <a:uFillTx/>
                <a:latin typeface="Times New Roman" panose="02020603050405020304" pitchFamily="18" charset="0"/>
                <a:ea typeface="华文行楷" panose="02010800040101010101" pitchFamily="2" charset="-122"/>
              </a:rPr>
              <a:t>；</a:t>
            </a:r>
            <a:r>
              <a:rPr kumimoji="0" lang="zh-CN" altLang="en-US" sz="1600" b="0" i="0" u="sng" strike="noStrike" kern="1200" cap="none" spc="0" normalizeH="0" baseline="0" noProof="0" dirty="0">
                <a:ln>
                  <a:noFill/>
                </a:ln>
                <a:solidFill>
                  <a:srgbClr val="0000FF"/>
                </a:solidFill>
                <a:effectLst/>
                <a:uLnTx/>
                <a:uFillTx/>
                <a:latin typeface="Calibri"/>
                <a:ea typeface="隶书" panose="02010509060101010101" pitchFamily="49" charset="-122"/>
              </a:rPr>
              <a:t>如果物理地址低于下限地址或大于上限地址，则产生</a:t>
            </a:r>
            <a:r>
              <a:rPr kumimoji="0" lang="zh-CN" altLang="en-US" sz="1600" b="0" i="0" u="sng" strike="noStrike" kern="1200" cap="none" spc="0" normalizeH="0" baseline="0" noProof="0" dirty="0">
                <a:ln>
                  <a:noFill/>
                </a:ln>
                <a:solidFill>
                  <a:srgbClr val="0000FF"/>
                </a:solidFill>
                <a:effectLst/>
                <a:uLnTx/>
                <a:uFillTx/>
                <a:latin typeface="黑体" panose="02010609060101010101" pitchFamily="49" charset="-122"/>
                <a:ea typeface="隶书" panose="02010509060101010101" pitchFamily="49" charset="-122"/>
              </a:rPr>
              <a:t>“</a:t>
            </a:r>
            <a:r>
              <a:rPr kumimoji="0" lang="zh-CN" altLang="en-US" sz="1600" b="0" i="0" u="sng" strike="noStrike" kern="1200" cap="none" spc="0" normalizeH="0" baseline="0" noProof="0" dirty="0">
                <a:ln>
                  <a:noFill/>
                </a:ln>
                <a:solidFill>
                  <a:srgbClr val="0000FF"/>
                </a:solidFill>
                <a:effectLst/>
                <a:uLnTx/>
                <a:uFillTx/>
                <a:latin typeface="Calibri"/>
                <a:ea typeface="隶书" panose="02010509060101010101" pitchFamily="49" charset="-122"/>
              </a:rPr>
              <a:t>地址越界</a:t>
            </a:r>
            <a:r>
              <a:rPr kumimoji="0" lang="zh-CN" altLang="en-US" sz="1600" b="0" i="0" u="sng" strike="noStrike" kern="1200" cap="none" spc="0" normalizeH="0" baseline="0" noProof="0" dirty="0">
                <a:ln>
                  <a:noFill/>
                </a:ln>
                <a:solidFill>
                  <a:srgbClr val="0000FF"/>
                </a:solidFill>
                <a:effectLst/>
                <a:uLnTx/>
                <a:uFillTx/>
                <a:latin typeface="黑体" panose="02010609060101010101" pitchFamily="49" charset="-122"/>
                <a:ea typeface="隶书" panose="02010509060101010101" pitchFamily="49" charset="-122"/>
              </a:rPr>
              <a:t>”</a:t>
            </a:r>
            <a:r>
              <a:rPr kumimoji="0" lang="zh-CN" altLang="en-US" sz="1600" b="1" i="0" u="sng" strike="noStrike" kern="1200" cap="none" spc="0" normalizeH="0" baseline="0" noProof="0" dirty="0">
                <a:ln>
                  <a:noFill/>
                </a:ln>
                <a:solidFill>
                  <a:srgbClr val="FF3300"/>
                </a:solidFill>
                <a:effectLst/>
                <a:uLnTx/>
                <a:uFillTx/>
                <a:latin typeface="Calibri"/>
                <a:ea typeface="华文中宋"/>
              </a:rPr>
              <a:t>中断</a:t>
            </a:r>
            <a:r>
              <a:rPr kumimoji="0" lang="zh-CN" altLang="en-US" sz="1600" b="0" i="0" u="sng" strike="noStrike" kern="1200" cap="none" spc="0" normalizeH="0" baseline="0" noProof="0" dirty="0">
                <a:ln>
                  <a:noFill/>
                </a:ln>
                <a:solidFill>
                  <a:srgbClr val="0000FF"/>
                </a:solidFill>
                <a:effectLst/>
                <a:uLnTx/>
                <a:uFillTx/>
                <a:latin typeface="Calibri"/>
                <a:ea typeface="隶书" panose="02010509060101010101" pitchFamily="49" charset="-122"/>
              </a:rPr>
              <a:t>事件，</a:t>
            </a:r>
            <a:r>
              <a:rPr kumimoji="0" lang="zh-CN" altLang="en-US" sz="1600" b="0" i="0" u="sng" strike="noStrike" kern="1200" cap="none" spc="0" normalizeH="0" baseline="0" noProof="0" dirty="0">
                <a:ln>
                  <a:noFill/>
                </a:ln>
                <a:solidFill>
                  <a:srgbClr val="FF3300"/>
                </a:solidFill>
                <a:effectLst/>
                <a:uLnTx/>
                <a:uFillTx/>
                <a:latin typeface="Calibri"/>
                <a:ea typeface="方正粗黑宋简体" panose="02000000000000000000" pitchFamily="2" charset="-122"/>
              </a:rPr>
              <a:t>达到阻止作业间相互干扰，实现存储保护的效果</a:t>
            </a:r>
            <a:r>
              <a:rPr kumimoji="0" lang="zh-CN" altLang="en-US" sz="1600" b="0" i="0" u="sng" strike="noStrike" kern="1200" cap="none" spc="0" normalizeH="0" baseline="0" noProof="0" dirty="0">
                <a:ln>
                  <a:noFill/>
                </a:ln>
                <a:solidFill>
                  <a:srgbClr val="0000FF"/>
                </a:solidFill>
                <a:effectLst/>
                <a:uLnTx/>
                <a:uFillTx/>
                <a:latin typeface="Calibri"/>
                <a:ea typeface="隶书" panose="02010509060101010101" pitchFamily="49" charset="-122"/>
              </a:rPr>
              <a:t>。</a:t>
            </a:r>
            <a:r>
              <a:rPr kumimoji="0" lang="zh-CN" altLang="en-US" sz="1600" b="0" i="0" u="none" strike="noStrike" kern="1200" cap="none" spc="0" normalizeH="0" baseline="0" noProof="0" dirty="0">
                <a:ln>
                  <a:noFill/>
                </a:ln>
                <a:solidFill>
                  <a:srgbClr val="000000"/>
                </a:solidFill>
                <a:effectLst/>
                <a:uLnTx/>
                <a:uFillTx/>
                <a:latin typeface="Calibri"/>
                <a:ea typeface="华文中宋"/>
              </a:rPr>
              <a:t>这种</a:t>
            </a:r>
            <a:r>
              <a:rPr kumimoji="0" lang="zh-CN" altLang="en-US" sz="1600" b="0" i="0" u="none" strike="noStrike" kern="1200" cap="none" spc="0" normalizeH="0" baseline="0" noProof="0" dirty="0">
                <a:ln>
                  <a:noFill/>
                </a:ln>
                <a:solidFill>
                  <a:srgbClr val="FF3300"/>
                </a:solidFill>
                <a:effectLst/>
                <a:uLnTx/>
                <a:uFillTx/>
                <a:latin typeface="Calibri"/>
                <a:ea typeface="华文中宋"/>
              </a:rPr>
              <a:t>存储保护</a:t>
            </a:r>
            <a:r>
              <a:rPr kumimoji="0" lang="zh-CN" altLang="en-US" sz="1600" b="0" i="0" u="none" strike="noStrike" kern="1200" cap="none" spc="0" normalizeH="0" baseline="0" noProof="0" dirty="0">
                <a:ln>
                  <a:noFill/>
                </a:ln>
                <a:solidFill>
                  <a:srgbClr val="000000"/>
                </a:solidFill>
                <a:effectLst/>
                <a:uLnTx/>
                <a:uFillTx/>
                <a:latin typeface="Calibri"/>
                <a:ea typeface="华文中宋"/>
              </a:rPr>
              <a:t>称为</a:t>
            </a:r>
            <a:r>
              <a:rPr kumimoji="0" lang="zh-CN" altLang="en-US" sz="1600" b="0" i="0" u="none" strike="noStrike" kern="1200" cap="none" spc="0" normalizeH="0" baseline="0" noProof="0" dirty="0">
                <a:ln>
                  <a:noFill/>
                </a:ln>
                <a:solidFill>
                  <a:srgbClr val="000000"/>
                </a:solidFill>
                <a:effectLst/>
                <a:uLnTx/>
                <a:uFillTx/>
                <a:latin typeface="华文中宋" panose="02010600040101010101" pitchFamily="2" charset="-122"/>
                <a:ea typeface="华文中宋"/>
              </a:rPr>
              <a:t>“</a:t>
            </a:r>
            <a:r>
              <a:rPr kumimoji="0" lang="zh-CN" altLang="en-US" sz="1600" b="1" i="0" u="none" strike="noStrike" kern="1200" cap="none" spc="0" normalizeH="0" baseline="0" noProof="0" dirty="0">
                <a:ln>
                  <a:noFill/>
                </a:ln>
                <a:solidFill>
                  <a:srgbClr val="0000FF"/>
                </a:solidFill>
                <a:effectLst/>
                <a:uLnTx/>
                <a:uFillTx/>
                <a:latin typeface="Calibri"/>
                <a:ea typeface="方正粗黑宋简体" panose="02000000000000000000" pitchFamily="2" charset="-122"/>
              </a:rPr>
              <a:t>界限寄存器</a:t>
            </a:r>
            <a:r>
              <a:rPr kumimoji="0" lang="zh-CN" altLang="en-US" sz="1600" b="0" i="0" u="none" strike="noStrike" kern="1200" cap="none" spc="0" normalizeH="0" baseline="0" noProof="0" dirty="0">
                <a:ln>
                  <a:noFill/>
                </a:ln>
                <a:solidFill>
                  <a:srgbClr val="000000"/>
                </a:solidFill>
                <a:effectLst/>
                <a:uLnTx/>
                <a:uFillTx/>
                <a:latin typeface="华文中宋" panose="02010600040101010101" pitchFamily="2" charset="-122"/>
                <a:ea typeface="华文中宋"/>
              </a:rPr>
              <a:t>”</a:t>
            </a:r>
            <a:r>
              <a:rPr kumimoji="0" lang="zh-CN" altLang="en-US" sz="1600" b="0" i="0" u="none" strike="noStrike" kern="1200" cap="none" spc="0" normalizeH="0" baseline="0" noProof="0" dirty="0">
                <a:ln>
                  <a:noFill/>
                </a:ln>
                <a:solidFill>
                  <a:srgbClr val="000000"/>
                </a:solidFill>
                <a:effectLst/>
                <a:uLnTx/>
                <a:uFillTx/>
                <a:latin typeface="Calibri"/>
                <a:ea typeface="华文中宋"/>
              </a:rPr>
              <a:t>法。</a:t>
            </a:r>
            <a:r>
              <a:rPr kumimoji="0" lang="zh-CN" altLang="en-US" sz="1600" b="1" i="0" u="none" strike="noStrike" kern="1200" cap="none" spc="0" normalizeH="0" baseline="0" noProof="0" dirty="0">
                <a:ln>
                  <a:noFill/>
                </a:ln>
                <a:solidFill>
                  <a:srgbClr val="000000"/>
                </a:solidFill>
                <a:effectLst/>
                <a:uLnTx/>
                <a:uFillTx/>
                <a:latin typeface="Calibri"/>
                <a:ea typeface="华文中宋"/>
              </a:rPr>
              <a:t>　</a:t>
            </a:r>
          </a:p>
        </p:txBody>
      </p:sp>
      <p:sp>
        <p:nvSpPr>
          <p:cNvPr id="16" name="Rectangle 3">
            <a:extLst>
              <a:ext uri="{FF2B5EF4-FFF2-40B4-BE49-F238E27FC236}">
                <a16:creationId xmlns:a16="http://schemas.microsoft.com/office/drawing/2014/main" id="{03082199-4786-5442-9AE6-8EF3F34E9AB7}"/>
              </a:ext>
            </a:extLst>
          </p:cNvPr>
          <p:cNvSpPr txBox="1">
            <a:spLocks noChangeArrowheads="1"/>
          </p:cNvSpPr>
          <p:nvPr/>
        </p:nvSpPr>
        <p:spPr bwMode="auto">
          <a:xfrm>
            <a:off x="137102" y="1556792"/>
            <a:ext cx="8893175" cy="2233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50000"/>
              </a:lnSpc>
              <a:spcBef>
                <a:spcPct val="20000"/>
              </a:spcBef>
              <a:spcAft>
                <a:spcPct val="0"/>
              </a:spcAft>
              <a:buClrTx/>
              <a:buSzTx/>
              <a:buFont typeface="Wingdings" panose="05000000000000000000" pitchFamily="2" charset="2"/>
              <a:buChar char="l"/>
              <a:tabLst/>
              <a:defRPr/>
            </a:pPr>
            <a:r>
              <a:rPr kumimoji="0" lang="zh-CN" altLang="en-US" sz="1800" b="1" i="0" u="none" strike="noStrike" kern="1200" cap="none" spc="0" normalizeH="0" baseline="0" noProof="0">
                <a:ln>
                  <a:noFill/>
                </a:ln>
                <a:solidFill>
                  <a:srgbClr val="000000"/>
                </a:solidFill>
                <a:effectLst/>
                <a:uLnTx/>
                <a:uFillTx/>
                <a:latin typeface="Calibri"/>
                <a:ea typeface="方正粗黑宋简体" panose="02000000000000000000" pitchFamily="2" charset="-122"/>
                <a:cs typeface="+mn-cs"/>
              </a:rPr>
              <a:t>固定分区存储管理模式</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下，预先划分好的</a:t>
            </a:r>
            <a:r>
              <a:rPr kumimoji="0" lang="zh-CN" altLang="en-US" sz="18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主存各区的起始地址和大小是固定的</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，并且每个作业</a:t>
            </a:r>
            <a:r>
              <a:rPr kumimoji="0" lang="zh-CN" altLang="en-US" sz="18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只能连续地存放在同一个区域</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，如图3-3所示，划分的各固定分区具有固定的</a:t>
            </a:r>
            <a:r>
              <a:rPr kumimoji="0" lang="zh-CN" altLang="en-US" sz="1800" b="1" i="0" u="none" strike="noStrike" kern="1200" cap="none" spc="0" normalizeH="0" baseline="0" noProof="0">
                <a:ln>
                  <a:noFill/>
                </a:ln>
                <a:solidFill>
                  <a:srgbClr val="FF3300"/>
                </a:solidFill>
                <a:effectLst/>
                <a:uLnTx/>
                <a:uFillTx/>
                <a:latin typeface="Calibri"/>
                <a:ea typeface="方正粗黑宋简体" panose="02000000000000000000" pitchFamily="2" charset="-122"/>
                <a:cs typeface="+mn-cs"/>
              </a:rPr>
              <a:t>下限地址</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和</a:t>
            </a:r>
            <a:r>
              <a:rPr kumimoji="0" lang="zh-CN" altLang="en-US" sz="1800" b="1" i="0" u="none" strike="noStrike" kern="1200" cap="none" spc="0" normalizeH="0" baseline="0" noProof="0">
                <a:ln>
                  <a:noFill/>
                </a:ln>
                <a:solidFill>
                  <a:srgbClr val="FF3300"/>
                </a:solidFill>
                <a:effectLst/>
                <a:uLnTx/>
                <a:uFillTx/>
                <a:latin typeface="Calibri"/>
                <a:ea typeface="方正粗黑宋简体" panose="02000000000000000000" pitchFamily="2" charset="-122"/>
                <a:cs typeface="+mn-cs"/>
              </a:rPr>
              <a:t>上限地址</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，处理机提供</a:t>
            </a:r>
            <a:r>
              <a:rPr kumimoji="0" lang="zh-CN" altLang="en-US" sz="1800" b="0" i="0" u="none" strike="noStrike" kern="1200" cap="none" spc="0" normalizeH="0" baseline="0" noProof="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a:ln>
                  <a:noFill/>
                </a:ln>
                <a:solidFill>
                  <a:srgbClr val="FF3300"/>
                </a:solidFill>
                <a:effectLst/>
                <a:uLnTx/>
                <a:uFillTx/>
                <a:latin typeface="Calibri"/>
                <a:ea typeface="方正粗黑宋简体" panose="02000000000000000000" pitchFamily="2" charset="-122"/>
                <a:cs typeface="+mn-cs"/>
              </a:rPr>
              <a:t>下限寄存器</a:t>
            </a:r>
            <a:r>
              <a:rPr kumimoji="0" lang="zh-CN" altLang="en-US" sz="1800" b="0" i="0" u="none" strike="noStrike" kern="1200" cap="none" spc="0" normalizeH="0" baseline="0" noProof="0">
                <a:ln>
                  <a:noFill/>
                </a:ln>
                <a:solidFill>
                  <a:srgbClr val="000000"/>
                </a:solidFill>
                <a:effectLst/>
                <a:uLnTx/>
                <a:uFillTx/>
                <a:latin typeface="Arial" panose="020B0604020202020204" pitchFamily="34" charset="0"/>
                <a:ea typeface="宋体"/>
                <a:cs typeface="+mn-cs"/>
              </a:rPr>
              <a:t>”</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和</a:t>
            </a:r>
            <a:r>
              <a:rPr kumimoji="0" lang="zh-CN" altLang="en-US" sz="1800" b="0" i="0" u="none" strike="noStrike" kern="1200" cap="none" spc="0" normalizeH="0" baseline="0" noProof="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a:ln>
                  <a:noFill/>
                </a:ln>
                <a:solidFill>
                  <a:srgbClr val="FF3300"/>
                </a:solidFill>
                <a:effectLst/>
                <a:uLnTx/>
                <a:uFillTx/>
                <a:latin typeface="Calibri"/>
                <a:ea typeface="方正粗黑宋简体" panose="02000000000000000000" pitchFamily="2" charset="-122"/>
                <a:cs typeface="+mn-cs"/>
              </a:rPr>
              <a:t>上限寄存器</a:t>
            </a:r>
            <a:r>
              <a:rPr kumimoji="0" lang="zh-CN" altLang="en-US" sz="1800" b="0" i="0" u="none" strike="noStrike" kern="1200" cap="none" spc="0" normalizeH="0" baseline="0" noProof="0">
                <a:ln>
                  <a:noFill/>
                </a:ln>
                <a:solidFill>
                  <a:srgbClr val="000000"/>
                </a:solidFill>
                <a:effectLst/>
                <a:uLnTx/>
                <a:uFillTx/>
                <a:latin typeface="Arial" panose="020B0604020202020204" pitchFamily="34" charset="0"/>
                <a:ea typeface="宋体"/>
                <a:cs typeface="+mn-cs"/>
              </a:rPr>
              <a:t>”</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分别存储它们。所以</a:t>
            </a:r>
            <a:r>
              <a:rPr kumimoji="0" lang="zh-CN" altLang="en-US" sz="1800" b="1" i="0" u="none" strike="noStrike" kern="1200" cap="none" spc="0" normalizeH="0" baseline="0" noProof="0">
                <a:ln>
                  <a:noFill/>
                </a:ln>
                <a:solidFill>
                  <a:srgbClr val="0000FF"/>
                </a:solidFill>
                <a:effectLst/>
                <a:uLnTx/>
                <a:uFillTx/>
                <a:latin typeface="Calibri"/>
                <a:ea typeface="方正粗黑宋简体" panose="02000000000000000000" pitchFamily="2" charset="-122"/>
                <a:cs typeface="+mn-cs"/>
              </a:rPr>
              <a:t>固定分区存储管理的地址转换常采用静态重定位技术</a:t>
            </a:r>
            <a:r>
              <a:rPr kumimoji="0" lang="zh-CN" altLang="en-US" sz="1800" b="0" i="0" u="none" strike="noStrike" kern="1200" cap="none" spc="0" normalizeH="0" baseline="0" noProof="0">
                <a:ln>
                  <a:noFill/>
                </a:ln>
                <a:solidFill>
                  <a:srgbClr val="000000"/>
                </a:solidFill>
                <a:effectLst/>
                <a:uLnTx/>
                <a:uFillTx/>
                <a:latin typeface="Calibri"/>
                <a:ea typeface="宋体"/>
                <a:cs typeface="+mn-cs"/>
              </a:rPr>
              <a:t>。</a:t>
            </a:r>
            <a:r>
              <a:rPr kumimoji="0" lang="zh-CN" altLang="en-US" sz="1800" b="1" i="0" u="none" strike="noStrike" kern="1200" cap="none" spc="0" normalizeH="0" baseline="0" noProof="0">
                <a:ln>
                  <a:noFill/>
                </a:ln>
                <a:solidFill>
                  <a:srgbClr val="000000"/>
                </a:solidFill>
                <a:effectLst/>
                <a:uLnTx/>
                <a:uFillTx/>
                <a:latin typeface="Times New Roman" panose="02020603050405020304" pitchFamily="18" charset="0"/>
                <a:ea typeface="华文行楷" panose="02010800040101010101" pitchFamily="2" charset="-122"/>
                <a:cs typeface="+mn-cs"/>
              </a:rPr>
              <a:t>即在作业运行前，由装入程序把</a:t>
            </a:r>
            <a:r>
              <a:rPr kumimoji="0" lang="zh-CN" altLang="en-US" sz="1800" b="1" i="0" u="sng" strike="noStrike" kern="1200" cap="none" spc="0" normalizeH="0" baseline="0" noProof="0">
                <a:ln>
                  <a:noFill/>
                </a:ln>
                <a:solidFill>
                  <a:srgbClr val="000000"/>
                </a:solidFill>
                <a:effectLst/>
                <a:uLnTx/>
                <a:uFillTx/>
                <a:latin typeface="Times New Roman" panose="02020603050405020304" pitchFamily="18" charset="0"/>
                <a:ea typeface="华文行楷" panose="02010800040101010101" pitchFamily="2" charset="-122"/>
                <a:cs typeface="+mn-cs"/>
              </a:rPr>
              <a:t>作业的</a:t>
            </a:r>
            <a:r>
              <a:rPr kumimoji="0" lang="zh-CN" altLang="en-US" sz="1800" b="1" i="0" u="sng" strike="noStrike" kern="1200" cap="none" spc="0" normalizeH="0" baseline="0" noProof="0">
                <a:ln>
                  <a:noFill/>
                </a:ln>
                <a:solidFill>
                  <a:srgbClr val="FF3300"/>
                </a:solidFill>
                <a:effectLst/>
                <a:uLnTx/>
                <a:uFillTx/>
                <a:latin typeface="Times New Roman" panose="02020603050405020304" pitchFamily="18" charset="0"/>
                <a:ea typeface="华文行楷" panose="02010800040101010101" pitchFamily="2" charset="-122"/>
                <a:cs typeface="+mn-cs"/>
              </a:rPr>
              <a:t>逻辑地址</a:t>
            </a:r>
            <a:r>
              <a:rPr kumimoji="0" lang="zh-CN" altLang="en-US" sz="1800" b="1" i="0" u="sng" strike="noStrike" kern="1200" cap="none" spc="0" normalizeH="0" baseline="0" noProof="0">
                <a:ln>
                  <a:noFill/>
                </a:ln>
                <a:solidFill>
                  <a:srgbClr val="000000"/>
                </a:solidFill>
                <a:effectLst/>
                <a:uLnTx/>
                <a:uFillTx/>
                <a:latin typeface="Times New Roman" panose="02020603050405020304" pitchFamily="18" charset="0"/>
                <a:ea typeface="华文行楷" panose="02010800040101010101" pitchFamily="2" charset="-122"/>
                <a:cs typeface="+mn-cs"/>
              </a:rPr>
              <a:t>与分区的</a:t>
            </a:r>
            <a:r>
              <a:rPr kumimoji="0" lang="zh-CN" altLang="en-US" sz="1800" b="1" i="0" u="sng" strike="noStrike" kern="1200" cap="none" spc="0" normalizeH="0" baseline="0" noProof="0">
                <a:ln>
                  <a:noFill/>
                </a:ln>
                <a:solidFill>
                  <a:srgbClr val="FF3300"/>
                </a:solidFill>
                <a:effectLst/>
                <a:uLnTx/>
                <a:uFillTx/>
                <a:latin typeface="Times New Roman" panose="02020603050405020304" pitchFamily="18" charset="0"/>
                <a:ea typeface="华文行楷" panose="02010800040101010101" pitchFamily="2" charset="-122"/>
                <a:cs typeface="+mn-cs"/>
              </a:rPr>
              <a:t>下限地址</a:t>
            </a:r>
            <a:r>
              <a:rPr kumimoji="0" lang="zh-CN" altLang="en-US" sz="1800" b="1" i="0" u="sng" strike="noStrike" kern="1200" cap="none" spc="0" normalizeH="0" baseline="0" noProof="0">
                <a:ln>
                  <a:noFill/>
                </a:ln>
                <a:solidFill>
                  <a:srgbClr val="000000"/>
                </a:solidFill>
                <a:effectLst/>
                <a:uLnTx/>
                <a:uFillTx/>
                <a:latin typeface="Times New Roman" panose="02020603050405020304" pitchFamily="18" charset="0"/>
                <a:ea typeface="华文行楷" panose="02010800040101010101" pitchFamily="2" charset="-122"/>
                <a:cs typeface="+mn-cs"/>
              </a:rPr>
              <a:t>相加，得到相应的物理地址</a:t>
            </a:r>
            <a:r>
              <a:rPr kumimoji="0" lang="zh-CN" altLang="en-US" sz="1800" b="1" i="0" u="none" strike="noStrike" kern="1200" cap="none" spc="0" normalizeH="0" baseline="0" noProof="0">
                <a:ln>
                  <a:noFill/>
                </a:ln>
                <a:solidFill>
                  <a:srgbClr val="000000"/>
                </a:solidFill>
                <a:effectLst/>
                <a:uLnTx/>
                <a:uFillTx/>
                <a:latin typeface="Times New Roman" panose="02020603050405020304" pitchFamily="18" charset="0"/>
                <a:ea typeface="华文行楷" panose="02010800040101010101" pitchFamily="2" charset="-122"/>
                <a:cs typeface="+mn-cs"/>
              </a:rPr>
              <a:t>。</a:t>
            </a:r>
          </a:p>
        </p:txBody>
      </p:sp>
      <p:grpSp>
        <p:nvGrpSpPr>
          <p:cNvPr id="17" name="Group 9">
            <a:extLst>
              <a:ext uri="{FF2B5EF4-FFF2-40B4-BE49-F238E27FC236}">
                <a16:creationId xmlns:a16="http://schemas.microsoft.com/office/drawing/2014/main" id="{9853063D-873E-D145-82CB-FAC80DF6E9F4}"/>
              </a:ext>
            </a:extLst>
          </p:cNvPr>
          <p:cNvGrpSpPr>
            <a:grpSpLocks/>
          </p:cNvGrpSpPr>
          <p:nvPr/>
        </p:nvGrpSpPr>
        <p:grpSpPr bwMode="auto">
          <a:xfrm>
            <a:off x="1378527" y="4731792"/>
            <a:ext cx="3382963" cy="1152525"/>
            <a:chOff x="0" y="0"/>
            <a:chExt cx="3240" cy="1557"/>
          </a:xfrm>
        </p:grpSpPr>
        <p:sp>
          <p:nvSpPr>
            <p:cNvPr id="18" name="Rectangle 10">
              <a:extLst>
                <a:ext uri="{FF2B5EF4-FFF2-40B4-BE49-F238E27FC236}">
                  <a16:creationId xmlns:a16="http://schemas.microsoft.com/office/drawing/2014/main" id="{9ABA172F-F982-DE4C-9ABD-F294768C0E4C}"/>
                </a:ext>
              </a:extLst>
            </p:cNvPr>
            <p:cNvSpPr>
              <a:spLocks noChangeArrowheads="1"/>
            </p:cNvSpPr>
            <p:nvPr/>
          </p:nvSpPr>
          <p:spPr bwMode="auto">
            <a:xfrm>
              <a:off x="2160" y="153"/>
              <a:ext cx="1080" cy="468"/>
            </a:xfrm>
            <a:prstGeom prst="rect">
              <a:avLst/>
            </a:prstGeom>
            <a:solidFill>
              <a:srgbClr val="FFFFFF"/>
            </a:solidFill>
            <a:ln w="9525">
              <a:solidFill>
                <a:srgbClr val="000000"/>
              </a:solidFill>
              <a:miter lim="800000"/>
              <a:headEnd/>
              <a:tailEnd/>
            </a:ln>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下限地址</a:t>
              </a:r>
            </a:p>
            <a:p>
              <a:pPr eaLnBrk="1" hangingPunct="1">
                <a:spcBef>
                  <a:spcPct val="0"/>
                </a:spcBef>
                <a:buFont typeface="Arial" panose="020B0604020202020204" pitchFamily="34" charset="0"/>
                <a:buNone/>
              </a:pPr>
              <a:endParaRPr lang="zh-CN" altLang="en-US" sz="1800" b="0">
                <a:solidFill>
                  <a:srgbClr val="000000"/>
                </a:solidFill>
                <a:latin typeface="Arial" panose="020B0604020202020204" pitchFamily="34" charset="0"/>
              </a:endParaRPr>
            </a:p>
          </p:txBody>
        </p:sp>
        <p:sp>
          <p:nvSpPr>
            <p:cNvPr id="19" name="Rectangle 11">
              <a:extLst>
                <a:ext uri="{FF2B5EF4-FFF2-40B4-BE49-F238E27FC236}">
                  <a16:creationId xmlns:a16="http://schemas.microsoft.com/office/drawing/2014/main" id="{62DD32AD-3596-814B-BA84-F98FDB353729}"/>
                </a:ext>
              </a:extLst>
            </p:cNvPr>
            <p:cNvSpPr>
              <a:spLocks noChangeArrowheads="1"/>
            </p:cNvSpPr>
            <p:nvPr/>
          </p:nvSpPr>
          <p:spPr bwMode="auto">
            <a:xfrm>
              <a:off x="2160" y="1089"/>
              <a:ext cx="1080" cy="468"/>
            </a:xfrm>
            <a:prstGeom prst="rect">
              <a:avLst/>
            </a:prstGeom>
            <a:solidFill>
              <a:srgbClr val="FFFFFF"/>
            </a:solidFill>
            <a:ln w="9525">
              <a:solidFill>
                <a:srgbClr val="000000"/>
              </a:solidFill>
              <a:miter lim="800000"/>
              <a:headEnd/>
              <a:tailEnd/>
            </a:ln>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上限地址</a:t>
              </a:r>
            </a:p>
            <a:p>
              <a:pPr eaLnBrk="1" hangingPunct="1">
                <a:spcBef>
                  <a:spcPct val="0"/>
                </a:spcBef>
                <a:buFont typeface="Arial" panose="020B0604020202020204" pitchFamily="34" charset="0"/>
                <a:buNone/>
              </a:pPr>
              <a:endParaRPr lang="zh-CN" altLang="en-US" sz="1800" b="0">
                <a:solidFill>
                  <a:srgbClr val="000000"/>
                </a:solidFill>
                <a:latin typeface="Arial" panose="020B0604020202020204" pitchFamily="34" charset="0"/>
              </a:endParaRPr>
            </a:p>
          </p:txBody>
        </p:sp>
        <p:sp>
          <p:nvSpPr>
            <p:cNvPr id="20" name="Rectangle 12">
              <a:extLst>
                <a:ext uri="{FF2B5EF4-FFF2-40B4-BE49-F238E27FC236}">
                  <a16:creationId xmlns:a16="http://schemas.microsoft.com/office/drawing/2014/main" id="{FA99DD52-30A9-F345-9868-0569ECDC6C6A}"/>
                </a:ext>
              </a:extLst>
            </p:cNvPr>
            <p:cNvSpPr>
              <a:spLocks noChangeArrowheads="1"/>
            </p:cNvSpPr>
            <p:nvPr/>
          </p:nvSpPr>
          <p:spPr bwMode="auto">
            <a:xfrm>
              <a:off x="360" y="0"/>
              <a:ext cx="1620" cy="468"/>
            </a:xfrm>
            <a:prstGeom prst="rect">
              <a:avLst/>
            </a:prstGeom>
            <a:solidFill>
              <a:srgbClr val="FFFFFF"/>
            </a:solidFill>
            <a:ln w="9525">
              <a:solidFill>
                <a:srgbClr val="FFFFFF"/>
              </a:solidFill>
              <a:miter lim="800000"/>
              <a:headEnd/>
              <a:tailEnd/>
            </a:ln>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下限寄存器</a:t>
              </a:r>
            </a:p>
            <a:p>
              <a:pPr eaLnBrk="1" hangingPunct="1">
                <a:spcBef>
                  <a:spcPct val="0"/>
                </a:spcBef>
                <a:buFont typeface="Arial" panose="020B0604020202020204" pitchFamily="34" charset="0"/>
                <a:buNone/>
              </a:pPr>
              <a:endParaRPr lang="zh-CN" altLang="en-US" sz="1800" b="0">
                <a:solidFill>
                  <a:srgbClr val="000000"/>
                </a:solidFill>
                <a:latin typeface="Arial" panose="020B0604020202020204" pitchFamily="34" charset="0"/>
              </a:endParaRPr>
            </a:p>
          </p:txBody>
        </p:sp>
        <p:sp>
          <p:nvSpPr>
            <p:cNvPr id="21" name="Rectangle 13">
              <a:extLst>
                <a:ext uri="{FF2B5EF4-FFF2-40B4-BE49-F238E27FC236}">
                  <a16:creationId xmlns:a16="http://schemas.microsoft.com/office/drawing/2014/main" id="{16BE16A6-722D-D844-AC75-C2AE3807EFB5}"/>
                </a:ext>
              </a:extLst>
            </p:cNvPr>
            <p:cNvSpPr>
              <a:spLocks noChangeArrowheads="1"/>
            </p:cNvSpPr>
            <p:nvPr/>
          </p:nvSpPr>
          <p:spPr bwMode="auto">
            <a:xfrm>
              <a:off x="360" y="936"/>
              <a:ext cx="1620" cy="468"/>
            </a:xfrm>
            <a:prstGeom prst="rect">
              <a:avLst/>
            </a:prstGeom>
            <a:solidFill>
              <a:srgbClr val="FFFFFF"/>
            </a:solidFill>
            <a:ln w="9525">
              <a:solidFill>
                <a:srgbClr val="FFFFFF"/>
              </a:solidFill>
              <a:miter lim="800000"/>
              <a:headEnd/>
              <a:tailEnd/>
            </a:ln>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a:solidFill>
                    <a:srgbClr val="000000"/>
                  </a:solidFill>
                  <a:latin typeface="Arial" panose="020B0604020202020204" pitchFamily="34" charset="0"/>
                </a:rPr>
                <a:t>上限寄存器</a:t>
              </a:r>
            </a:p>
            <a:p>
              <a:pPr eaLnBrk="1" hangingPunct="1">
                <a:spcBef>
                  <a:spcPct val="0"/>
                </a:spcBef>
                <a:buFont typeface="Arial" panose="020B0604020202020204" pitchFamily="34" charset="0"/>
                <a:buNone/>
              </a:pPr>
              <a:endParaRPr lang="zh-CN" altLang="en-US" sz="1800" b="0">
                <a:solidFill>
                  <a:srgbClr val="000000"/>
                </a:solidFill>
                <a:latin typeface="Arial" panose="020B0604020202020204" pitchFamily="34" charset="0"/>
              </a:endParaRPr>
            </a:p>
          </p:txBody>
        </p:sp>
        <p:sp>
          <p:nvSpPr>
            <p:cNvPr id="22" name="Line 14">
              <a:extLst>
                <a:ext uri="{FF2B5EF4-FFF2-40B4-BE49-F238E27FC236}">
                  <a16:creationId xmlns:a16="http://schemas.microsoft.com/office/drawing/2014/main" id="{58BBB6BC-003C-B648-A6BB-F823F1352B11}"/>
                </a:ext>
              </a:extLst>
            </p:cNvPr>
            <p:cNvSpPr>
              <a:spLocks noChangeShapeType="1"/>
            </p:cNvSpPr>
            <p:nvPr/>
          </p:nvSpPr>
          <p:spPr bwMode="auto">
            <a:xfrm flipH="1">
              <a:off x="0" y="465"/>
              <a:ext cx="2160" cy="2"/>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sz="1800">
                <a:solidFill>
                  <a:srgbClr val="000000"/>
                </a:solidFill>
                <a:latin typeface="Arial" panose="020B0604020202020204" pitchFamily="34" charset="0"/>
              </a:endParaRPr>
            </a:p>
          </p:txBody>
        </p:sp>
        <p:sp>
          <p:nvSpPr>
            <p:cNvPr id="23" name="Line 15">
              <a:extLst>
                <a:ext uri="{FF2B5EF4-FFF2-40B4-BE49-F238E27FC236}">
                  <a16:creationId xmlns:a16="http://schemas.microsoft.com/office/drawing/2014/main" id="{8F488C98-3DD3-4F49-BAFD-263BDB0546ED}"/>
                </a:ext>
              </a:extLst>
            </p:cNvPr>
            <p:cNvSpPr>
              <a:spLocks noChangeShapeType="1"/>
            </p:cNvSpPr>
            <p:nvPr/>
          </p:nvSpPr>
          <p:spPr bwMode="auto">
            <a:xfrm flipH="1">
              <a:off x="0" y="1401"/>
              <a:ext cx="2160" cy="2"/>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sz="1800">
                <a:solidFill>
                  <a:srgbClr val="000000"/>
                </a:solidFill>
                <a:latin typeface="Arial" panose="020B0604020202020204" pitchFamily="34" charset="0"/>
              </a:endParaRPr>
            </a:p>
          </p:txBody>
        </p:sp>
      </p:grpSp>
      <p:graphicFrame>
        <p:nvGraphicFramePr>
          <p:cNvPr id="24" name="Group 16">
            <a:extLst>
              <a:ext uri="{FF2B5EF4-FFF2-40B4-BE49-F238E27FC236}">
                <a16:creationId xmlns:a16="http://schemas.microsoft.com/office/drawing/2014/main" id="{223C3420-68A8-D340-A7AF-EAB44B4632FF}"/>
              </a:ext>
            </a:extLst>
          </p:cNvPr>
          <p:cNvGraphicFramePr>
            <a:graphicFrameLocks noGrp="1"/>
          </p:cNvGraphicFramePr>
          <p:nvPr>
            <p:extLst>
              <p:ext uri="{D42A27DB-BD31-4B8C-83A1-F6EECF244321}">
                <p14:modId xmlns:p14="http://schemas.microsoft.com/office/powerpoint/2010/main" val="1176038210"/>
              </p:ext>
            </p:extLst>
          </p:nvPr>
        </p:nvGraphicFramePr>
        <p:xfrm>
          <a:off x="279977" y="3868192"/>
          <a:ext cx="1096963" cy="2163763"/>
        </p:xfrm>
        <a:graphic>
          <a:graphicData uri="http://schemas.openxmlformats.org/drawingml/2006/table">
            <a:tbl>
              <a:tblPr/>
              <a:tblGrid>
                <a:gridCol w="1096963">
                  <a:extLst>
                    <a:ext uri="{9D8B030D-6E8A-4147-A177-3AD203B41FA5}">
                      <a16:colId xmlns:a16="http://schemas.microsoft.com/office/drawing/2014/main" val="20000"/>
                    </a:ext>
                  </a:extLst>
                </a:gridCol>
              </a:tblGrid>
              <a:tr h="482520">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600" b="1" i="0" u="none" strike="noStrike" cap="none" normalizeH="0" baseline="0">
                          <a:ln>
                            <a:noFill/>
                          </a:ln>
                          <a:solidFill>
                            <a:schemeClr val="tx1"/>
                          </a:solidFill>
                          <a:effectLst/>
                          <a:latin typeface="宋体" panose="02010600030101010101" pitchFamily="2" charset="-122"/>
                          <a:ea typeface="宋体" panose="02010600030101010101" pitchFamily="2" charset="-122"/>
                          <a:sym typeface="宋体" panose="02010600030101010101" pitchFamily="2" charset="-122"/>
                        </a:rPr>
                        <a:t>操作系统</a:t>
                      </a:r>
                    </a:p>
                  </a:txBody>
                  <a:tcPr marT="45712" marB="45712" anchor="ctr" horzOverflow="overflow">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1875">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分区</a:t>
                      </a: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1</a:t>
                      </a:r>
                    </a:p>
                  </a:txBody>
                  <a:tcPr marT="45712" marB="45712" anchor="ctr" horzOverflow="overflow">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84104">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分区</a:t>
                      </a: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2</a:t>
                      </a:r>
                    </a:p>
                  </a:txBody>
                  <a:tcPr marT="45712" marB="45712" anchor="ctr" horzOverflow="overflow">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5264">
                <a:tc>
                  <a:txBody>
                    <a:bodyPr/>
                    <a:lstStyle>
                      <a:lvl1pPr marL="0" algn="l" defTabSz="914400" rtl="0" eaLnBrk="0" latinLnBrk="0" hangingPunct="0">
                        <a:defRPr sz="2800" kern="1200">
                          <a:solidFill>
                            <a:schemeClr val="tx1"/>
                          </a:solidFill>
                          <a:latin typeface="Calibri" panose="020F0502020204030204" pitchFamily="34" charset="0"/>
                          <a:ea typeface="宋体" panose="02010600030101010101" pitchFamily="2" charset="-122"/>
                        </a:defRPr>
                      </a:lvl1pPr>
                      <a:lvl2pPr marL="742950" indent="-285750" algn="l" defTabSz="914400" rtl="0" eaLnBrk="0" latinLnBrk="0" hangingPunct="0">
                        <a:defRPr sz="2400" kern="1200">
                          <a:solidFill>
                            <a:schemeClr val="tx1"/>
                          </a:solidFill>
                          <a:latin typeface="Calibri" panose="020F0502020204030204" pitchFamily="34" charset="0"/>
                          <a:ea typeface="宋体" panose="02010600030101010101" pitchFamily="2" charset="-122"/>
                        </a:defRPr>
                      </a:lvl2pPr>
                      <a:lvl3pPr marL="1143000" indent="-228600" algn="l" defTabSz="914400" rtl="0" eaLnBrk="0" latinLnBrk="0" hangingPunct="0">
                        <a:defRPr sz="2000" kern="1200">
                          <a:solidFill>
                            <a:schemeClr val="tx1"/>
                          </a:solidFill>
                          <a:latin typeface="Calibri" panose="020F0502020204030204" pitchFamily="34" charset="0"/>
                          <a:ea typeface="宋体" panose="02010600030101010101" pitchFamily="2" charset="-122"/>
                        </a:defRPr>
                      </a:lvl3pPr>
                      <a:lvl4pPr marL="16002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4pPr>
                      <a:lvl5pPr marL="2057400" indent="-228600" algn="l" defTabSz="914400" rtl="0" eaLnBrk="0" latinLnBrk="0" hangingPunct="0">
                        <a:defRPr sz="1800" kern="1200">
                          <a:solidFill>
                            <a:schemeClr val="tx1"/>
                          </a:solidFill>
                          <a:latin typeface="Calibri" panose="020F0502020204030204" pitchFamily="34" charset="0"/>
                          <a:ea typeface="宋体" panose="02010600030101010101" pitchFamily="2" charset="-122"/>
                        </a:defRPr>
                      </a:lvl5pPr>
                      <a:lvl6pPr marL="25146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9718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4290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886200" indent="-228600" algn="l" defTabSz="914400" rtl="0" eaLnBrk="0" fontAlgn="base" latinLnBrk="0" hangingPunct="0">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分区</a:t>
                      </a: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sym typeface="Times New Roman" panose="02020603050405020304" pitchFamily="18" charset="0"/>
                        </a:rPr>
                        <a:t>3</a:t>
                      </a:r>
                    </a:p>
                  </a:txBody>
                  <a:tcPr marT="45712" marB="45712" anchor="ctr" horzOverflow="overflow">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25" name="Text Box 34">
            <a:extLst>
              <a:ext uri="{FF2B5EF4-FFF2-40B4-BE49-F238E27FC236}">
                <a16:creationId xmlns:a16="http://schemas.microsoft.com/office/drawing/2014/main" id="{C20B1296-935F-5541-8399-EE448A69DC14}"/>
              </a:ext>
            </a:extLst>
          </p:cNvPr>
          <p:cNvSpPr txBox="1">
            <a:spLocks noChangeArrowheads="1"/>
          </p:cNvSpPr>
          <p:nvPr/>
        </p:nvSpPr>
        <p:spPr bwMode="auto">
          <a:xfrm>
            <a:off x="1000702" y="6085930"/>
            <a:ext cx="34305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dirty="0">
                <a:solidFill>
                  <a:srgbClr val="000000"/>
                </a:solidFill>
                <a:latin typeface="Arial" panose="020B0604020202020204" pitchFamily="34" charset="0"/>
              </a:rPr>
              <a:t>图</a:t>
            </a:r>
            <a:r>
              <a:rPr lang="en-US" altLang="zh-CN" sz="1800" b="0" dirty="0">
                <a:solidFill>
                  <a:srgbClr val="000000"/>
                </a:solidFill>
                <a:latin typeface="Arial" panose="020B0604020202020204" pitchFamily="34" charset="0"/>
              </a:rPr>
              <a:t>4-3 </a:t>
            </a:r>
            <a:r>
              <a:rPr lang="zh-CN" altLang="en-US" sz="1800" b="0" dirty="0">
                <a:solidFill>
                  <a:srgbClr val="000000"/>
                </a:solidFill>
                <a:latin typeface="Arial" panose="020B0604020202020204" pitchFamily="34" charset="0"/>
              </a:rPr>
              <a:t>固定分区存储管理示意图</a:t>
            </a:r>
          </a:p>
        </p:txBody>
      </p:sp>
    </p:spTree>
    <p:extLst>
      <p:ext uri="{BB962C8B-B14F-4D97-AF65-F5344CB8AC3E}">
        <p14:creationId xmlns:p14="http://schemas.microsoft.com/office/powerpoint/2010/main" val="2032913937"/>
      </p:ext>
    </p:extLst>
  </p:cSld>
  <p:clrMapOvr>
    <a:masterClrMapping/>
  </p:clrMapOvr>
  <p:transition>
    <p:random/>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98CCDCFE-030E-2C42-89D8-72E8C50388C0}"/>
              </a:ext>
            </a:extLst>
          </p:cNvPr>
          <p:cNvSpPr>
            <a:spLocks noGrp="1" noChangeArrowheads="1"/>
          </p:cNvSpPr>
          <p:nvPr>
            <p:ph type="title"/>
          </p:nvPr>
        </p:nvSpPr>
        <p:spPr/>
        <p:txBody>
          <a:bodyPr/>
          <a:lstStyle/>
          <a:p>
            <a:pPr eaLnBrk="1" hangingPunct="1"/>
            <a:r>
              <a:rPr lang="zh-CN" altLang="en-US" sz="2800" dirty="0">
                <a:solidFill>
                  <a:schemeClr val="tx1"/>
                </a:solidFill>
                <a:latin typeface="宋体" panose="02010600030101010101" pitchFamily="2" charset="-122"/>
              </a:rPr>
              <a:t>  </a:t>
            </a:r>
            <a:r>
              <a:rPr lang="zh-CN" altLang="en-US" sz="2800" dirty="0">
                <a:solidFill>
                  <a:srgbClr val="FF0000"/>
                </a:solidFill>
                <a:latin typeface="宋体" panose="02010600030101010101" pitchFamily="2" charset="-122"/>
              </a:rPr>
              <a:t>固定分区存储管理</a:t>
            </a:r>
          </a:p>
        </p:txBody>
      </p:sp>
      <p:sp>
        <p:nvSpPr>
          <p:cNvPr id="33795" name="Rectangle 3">
            <a:extLst>
              <a:ext uri="{FF2B5EF4-FFF2-40B4-BE49-F238E27FC236}">
                <a16:creationId xmlns:a16="http://schemas.microsoft.com/office/drawing/2014/main" id="{89E83D5B-5F34-5745-BA5A-333854F89930}"/>
              </a:ext>
            </a:extLst>
          </p:cNvPr>
          <p:cNvSpPr>
            <a:spLocks noGrp="1" noChangeArrowheads="1"/>
          </p:cNvSpPr>
          <p:nvPr>
            <p:ph type="body" idx="1"/>
          </p:nvPr>
        </p:nvSpPr>
        <p:spPr>
          <a:xfrm>
            <a:off x="611188" y="1428750"/>
            <a:ext cx="8137525" cy="4643438"/>
          </a:xfrm>
        </p:spPr>
        <p:txBody>
          <a:bodyPr/>
          <a:lstStyle/>
          <a:p>
            <a:pPr marL="0" indent="0" eaLnBrk="1" hangingPunct="1">
              <a:lnSpc>
                <a:spcPts val="4000"/>
              </a:lnSpc>
              <a:spcBef>
                <a:spcPct val="0"/>
              </a:spcBef>
              <a:buFont typeface="Wingdings" pitchFamily="2" charset="2"/>
              <a:buNone/>
            </a:pPr>
            <a:r>
              <a:rPr lang="en-US" altLang="zh-CN" dirty="0">
                <a:solidFill>
                  <a:srgbClr val="FF0000"/>
                </a:solidFill>
                <a:effectLst/>
                <a:latin typeface="宋体" panose="02010600030101010101" pitchFamily="2" charset="-122"/>
              </a:rPr>
              <a:t>4. </a:t>
            </a:r>
            <a:r>
              <a:rPr lang="zh-CN" altLang="en-US" dirty="0">
                <a:solidFill>
                  <a:srgbClr val="FF0000"/>
                </a:solidFill>
                <a:effectLst/>
                <a:latin typeface="宋体" panose="02010600030101010101" pitchFamily="2" charset="-122"/>
              </a:rPr>
              <a:t>地址转换与存储保护</a:t>
            </a:r>
          </a:p>
          <a:p>
            <a:pPr marL="0" indent="0" eaLnBrk="1" hangingPunct="1">
              <a:lnSpc>
                <a:spcPts val="4000"/>
              </a:lnSpc>
              <a:spcBef>
                <a:spcPct val="0"/>
              </a:spcBef>
              <a:buFont typeface="Wingdings" pitchFamily="2" charset="2"/>
              <a:buNone/>
            </a:pPr>
            <a:r>
              <a:rPr lang="zh-CN" altLang="en-US" sz="2000" dirty="0">
                <a:solidFill>
                  <a:schemeClr val="tx1"/>
                </a:solidFill>
                <a:effectLst/>
                <a:latin typeface="宋体" panose="02010600030101010101" pitchFamily="2" charset="-122"/>
              </a:rPr>
              <a:t>固定分区存储管理的地址转换可以采用静态重定位方式：</a:t>
            </a:r>
          </a:p>
          <a:p>
            <a:pPr marL="0" indent="0" eaLnBrk="1" hangingPunct="1">
              <a:lnSpc>
                <a:spcPts val="4000"/>
              </a:lnSpc>
              <a:spcBef>
                <a:spcPct val="0"/>
              </a:spcBef>
              <a:buFont typeface="Wingdings" pitchFamily="2" charset="2"/>
              <a:buNone/>
            </a:pPr>
            <a:r>
              <a:rPr lang="en-US" altLang="zh-CN" sz="2000" dirty="0">
                <a:solidFill>
                  <a:schemeClr val="tx1"/>
                </a:solidFill>
                <a:effectLst/>
                <a:latin typeface="宋体" panose="02010600030101010101" pitchFamily="2" charset="-122"/>
              </a:rPr>
              <a:t>	   </a:t>
            </a:r>
            <a:r>
              <a:rPr lang="zh-CN" altLang="en-US" sz="2000" dirty="0">
                <a:solidFill>
                  <a:srgbClr val="FF0000"/>
                </a:solidFill>
                <a:effectLst/>
                <a:latin typeface="宋体" panose="02010600030101010101" pitchFamily="2" charset="-122"/>
              </a:rPr>
              <a:t>物理地址＝逻辑地址＋分区起始地址</a:t>
            </a:r>
            <a:endParaRPr lang="en-US" altLang="zh-CN" sz="2000" dirty="0">
              <a:solidFill>
                <a:srgbClr val="FF0000"/>
              </a:solidFill>
              <a:effectLst/>
              <a:latin typeface="宋体" panose="02010600030101010101" pitchFamily="2" charset="-122"/>
            </a:endParaRPr>
          </a:p>
          <a:p>
            <a:pPr marL="0" indent="0" eaLnBrk="1" hangingPunct="1">
              <a:lnSpc>
                <a:spcPts val="4000"/>
              </a:lnSpc>
              <a:spcBef>
                <a:spcPct val="0"/>
              </a:spcBef>
              <a:buFont typeface="Wingdings" pitchFamily="2" charset="2"/>
              <a:buNone/>
            </a:pPr>
            <a:r>
              <a:rPr lang="zh-CN" altLang="en-US" sz="2000" dirty="0">
                <a:solidFill>
                  <a:schemeClr val="tx1"/>
                </a:solidFill>
                <a:effectLst>
                  <a:outerShdw blurRad="38100" dist="38100" dir="2700000" algn="tl">
                    <a:srgbClr val="FFFFFF"/>
                  </a:outerShdw>
                </a:effectLst>
              </a:rPr>
              <a:t>系统设置了两个地址寄存器，分别称为上界寄存器和下界寄存器。上界寄存器用来存放分区的低地址，即起始地址；下界寄存器用来存放分区的高地址，即结束地址。装入程序在将用户程序和数据装入内存分区时进行地址转换，即将用户程序和数据中出现的逻辑地址，改为由逻辑地址加上上界寄存器中所存放的分区低地址，即转换为可直接访问的物理地址。</a:t>
            </a:r>
            <a:endParaRPr lang="zh-CN" altLang="en-US" sz="2000" dirty="0">
              <a:solidFill>
                <a:schemeClr val="tx1"/>
              </a:solidFill>
              <a:effectLst/>
              <a:latin typeface="宋体" panose="02010600030101010101" pitchFamily="2" charset="-122"/>
            </a:endParaRPr>
          </a:p>
        </p:txBody>
      </p:sp>
    </p:spTree>
  </p:cSld>
  <p:clrMapOvr>
    <a:masterClrMapping/>
  </p:clrMapOvr>
  <p:transition>
    <p:random/>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520B00C6-E049-794D-9BFE-ED8E94C638E4}"/>
              </a:ext>
            </a:extLst>
          </p:cNvPr>
          <p:cNvSpPr>
            <a:spLocks noGrp="1" noChangeArrowheads="1"/>
          </p:cNvSpPr>
          <p:nvPr>
            <p:ph type="title"/>
          </p:nvPr>
        </p:nvSpPr>
        <p:spPr/>
        <p:txBody>
          <a:bodyPr/>
          <a:lstStyle/>
          <a:p>
            <a:pPr eaLnBrk="1" hangingPunct="1"/>
            <a:r>
              <a:rPr lang="zh-CN" altLang="en-US" sz="2800" dirty="0">
                <a:solidFill>
                  <a:schemeClr val="tx1"/>
                </a:solidFill>
                <a:latin typeface="宋体" panose="02010600030101010101" pitchFamily="2" charset="-122"/>
              </a:rPr>
              <a:t>  </a:t>
            </a:r>
            <a:r>
              <a:rPr lang="zh-CN" altLang="en-US" sz="2800" dirty="0">
                <a:solidFill>
                  <a:srgbClr val="FF0000"/>
                </a:solidFill>
                <a:latin typeface="宋体" panose="02010600030101010101" pitchFamily="2" charset="-122"/>
              </a:rPr>
              <a:t>固定分区存储管理</a:t>
            </a:r>
          </a:p>
        </p:txBody>
      </p:sp>
      <p:sp>
        <p:nvSpPr>
          <p:cNvPr id="33795" name="Rectangle 3">
            <a:extLst>
              <a:ext uri="{FF2B5EF4-FFF2-40B4-BE49-F238E27FC236}">
                <a16:creationId xmlns:a16="http://schemas.microsoft.com/office/drawing/2014/main" id="{EDBED195-033B-3049-A6F6-0B03CA5B736D}"/>
              </a:ext>
            </a:extLst>
          </p:cNvPr>
          <p:cNvSpPr>
            <a:spLocks noGrp="1" noChangeArrowheads="1"/>
          </p:cNvSpPr>
          <p:nvPr>
            <p:ph type="body" idx="1"/>
          </p:nvPr>
        </p:nvSpPr>
        <p:spPr>
          <a:xfrm>
            <a:off x="-54260" y="1196975"/>
            <a:ext cx="9252520" cy="1152127"/>
          </a:xfrm>
        </p:spPr>
        <p:txBody>
          <a:bodyPr/>
          <a:lstStyle/>
          <a:p>
            <a:pPr marL="0" indent="0" algn="just" eaLnBrk="1" hangingPunct="1">
              <a:spcBef>
                <a:spcPct val="0"/>
              </a:spcBef>
              <a:buFont typeface="Wingdings" pitchFamily="2" charset="2"/>
              <a:buNone/>
            </a:pPr>
            <a:r>
              <a:rPr lang="zh-CN" altLang="en-US" dirty="0">
                <a:solidFill>
                  <a:srgbClr val="FF0000"/>
                </a:solidFill>
                <a:effectLst/>
                <a:latin typeface="宋体" panose="02010600030101010101" pitchFamily="2" charset="-122"/>
              </a:rPr>
              <a:t>存储保护</a:t>
            </a:r>
            <a:r>
              <a:rPr lang="en-US" altLang="zh-CN" dirty="0">
                <a:solidFill>
                  <a:srgbClr val="FF0000"/>
                </a:solidFill>
                <a:effectLst/>
                <a:latin typeface="宋体" panose="02010600030101010101" pitchFamily="2" charset="-122"/>
              </a:rPr>
              <a:t>:</a:t>
            </a:r>
            <a:r>
              <a:rPr lang="zh-CN" altLang="en-US" sz="2200" dirty="0">
                <a:solidFill>
                  <a:schemeClr val="tx1"/>
                </a:solidFill>
                <a:effectLst/>
                <a:latin typeface="宋体" panose="02010600030101010101" pitchFamily="2" charset="-122"/>
              </a:rPr>
              <a:t>方法是在程序运行过程中，每当</a:t>
            </a:r>
            <a:r>
              <a:rPr lang="en-US" altLang="zh-CN" sz="2200" dirty="0">
                <a:solidFill>
                  <a:schemeClr val="tx1"/>
                </a:solidFill>
                <a:effectLst/>
                <a:latin typeface="宋体" panose="02010600030101010101" pitchFamily="2" charset="-122"/>
              </a:rPr>
              <a:t>CPU</a:t>
            </a:r>
            <a:r>
              <a:rPr lang="zh-CN" altLang="en-US" sz="2200" dirty="0">
                <a:solidFill>
                  <a:schemeClr val="tx1"/>
                </a:solidFill>
                <a:effectLst/>
                <a:latin typeface="宋体" panose="02010600030101010101" pitchFamily="2" charset="-122"/>
              </a:rPr>
              <a:t>获得物理地址时首先与上、下界寄存器的值进行比较，若超出上、下界寄存器的值就发出地址越界中断信号，并由相应的中断处理程序处理。</a:t>
            </a:r>
          </a:p>
        </p:txBody>
      </p:sp>
      <p:sp>
        <p:nvSpPr>
          <p:cNvPr id="5" name="Rectangle 3">
            <a:extLst>
              <a:ext uri="{FF2B5EF4-FFF2-40B4-BE49-F238E27FC236}">
                <a16:creationId xmlns:a16="http://schemas.microsoft.com/office/drawing/2014/main" id="{C6041A5D-AEF5-3142-A565-C97FEC75BD8B}"/>
              </a:ext>
            </a:extLst>
          </p:cNvPr>
          <p:cNvSpPr txBox="1">
            <a:spLocks noChangeArrowheads="1"/>
          </p:cNvSpPr>
          <p:nvPr/>
        </p:nvSpPr>
        <p:spPr bwMode="auto">
          <a:xfrm>
            <a:off x="-54260" y="1260076"/>
            <a:ext cx="9198259" cy="559792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25000"/>
              </a:lnSpc>
              <a:spcBef>
                <a:spcPct val="60000"/>
              </a:spcBef>
              <a:spcAft>
                <a:spcPct val="0"/>
              </a:spcAft>
              <a:buClr>
                <a:srgbClr val="FF3300"/>
              </a:buClr>
              <a:buSzTx/>
              <a:buFont typeface="Wingdings" panose="05000000000000000000" pitchFamily="2" charset="2"/>
              <a:buChar char="l"/>
              <a:tabLst/>
              <a:defRPr/>
            </a:pPr>
            <a:r>
              <a:rPr kumimoji="0" lang="zh-CN" altLang="en-US" sz="2000" b="0" i="0" u="none" strike="noStrike" kern="1200" cap="none" spc="0" normalizeH="0" baseline="0" noProof="0" dirty="0">
                <a:ln>
                  <a:noFill/>
                </a:ln>
                <a:solidFill>
                  <a:srgbClr val="000000"/>
                </a:solidFill>
                <a:effectLst/>
                <a:uLnTx/>
                <a:uFillTx/>
                <a:latin typeface="Calibri"/>
                <a:ea typeface="方正粗黑宋简体" panose="02000000000000000000" pitchFamily="2" charset="-122"/>
                <a:cs typeface="+mn-cs"/>
              </a:rPr>
              <a:t>首先固定分区存储管理方法实现简单，适合于程序大小和出现频率变动不大的情况。</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但采用固定分区存储管理有</a:t>
            </a:r>
            <a:r>
              <a:rPr kumimoji="0" lang="zh-CN" altLang="en-US" sz="2000" b="0" i="0" u="none" strike="noStrike" kern="1200" cap="none" spc="0" normalizeH="0" baseline="0" noProof="0" dirty="0">
                <a:ln>
                  <a:noFill/>
                </a:ln>
                <a:solidFill>
                  <a:srgbClr val="FF3300"/>
                </a:solidFill>
                <a:effectLst/>
                <a:uLnTx/>
                <a:uFillTx/>
                <a:latin typeface="Calibri"/>
                <a:ea typeface="方正粗黑宋简体" panose="02000000000000000000" pitchFamily="2" charset="-122"/>
                <a:cs typeface="+mn-cs"/>
              </a:rPr>
              <a:t>许多缺点</a:t>
            </a:r>
            <a:r>
              <a:rPr kumimoji="0" lang="zh-CN" altLang="zh-CN" sz="2000" b="0" i="0" u="none" strike="noStrike" kern="1200" cap="none" spc="0" normalizeH="0" baseline="0" noProof="0" dirty="0">
                <a:ln>
                  <a:noFill/>
                </a:ln>
                <a:solidFill>
                  <a:srgbClr val="000000"/>
                </a:solidFill>
                <a:effectLst/>
                <a:uLnTx/>
                <a:uFillTx/>
                <a:latin typeface="Calibri"/>
                <a:ea typeface="宋体"/>
                <a:cs typeface="+mn-cs"/>
              </a:rPr>
              <a:t>：</a:t>
            </a:r>
            <a:endParaRPr kumimoji="0" lang="zh-CN" altLang="en-US" sz="2000" b="0" i="0" u="none" strike="noStrike" kern="1200" cap="none" spc="0" normalizeH="0" baseline="0" noProof="0" dirty="0">
              <a:ln>
                <a:noFill/>
              </a:ln>
              <a:solidFill>
                <a:srgbClr val="000000"/>
              </a:solidFill>
              <a:effectLst/>
              <a:uLnTx/>
              <a:uFillTx/>
              <a:latin typeface="Calibri"/>
              <a:ea typeface="宋体"/>
              <a:cs typeface="+mn-cs"/>
            </a:endParaRPr>
          </a:p>
          <a:p>
            <a:pPr marL="342900" marR="0" lvl="0" indent="-342900" algn="l" defTabSz="914400" rtl="0" eaLnBrk="1" fontAlgn="base" latinLnBrk="0" hangingPunct="1">
              <a:lnSpc>
                <a:spcPct val="125000"/>
              </a:lnSpc>
              <a:spcBef>
                <a:spcPct val="60000"/>
              </a:spcBef>
              <a:spcAft>
                <a:spcPct val="0"/>
              </a:spcAft>
              <a:buClr>
                <a:srgbClr val="0000FF"/>
              </a:buClr>
              <a:buSzTx/>
              <a:buFont typeface="Wingdings" panose="05000000000000000000" pitchFamily="2" charset="2"/>
              <a:buChar char="Ø"/>
              <a:tabLst/>
              <a:defRPr/>
            </a:pPr>
            <a:r>
              <a:rPr kumimoji="0" lang="en-US" altLang="zh-CN" sz="1800" b="0" i="0" u="none" strike="noStrike" kern="1200" cap="none" spc="0" normalizeH="0" baseline="0" noProof="0" dirty="0" err="1">
                <a:ln>
                  <a:noFill/>
                </a:ln>
                <a:solidFill>
                  <a:srgbClr val="0000FF"/>
                </a:solidFill>
                <a:effectLst/>
                <a:uLnTx/>
                <a:uFillTx/>
                <a:latin typeface="Calibri"/>
                <a:ea typeface="方正粗黑宋简体" panose="02000000000000000000" pitchFamily="2" charset="-122"/>
                <a:cs typeface="+mn-cs"/>
              </a:rPr>
              <a:t>一是</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由于分区大小固定，使得</a:t>
            </a:r>
            <a:r>
              <a:rPr kumimoji="0" lang="en-US" altLang="zh-CN" sz="1800" b="1" i="0" u="sng" strike="noStrike" kern="1200" cap="none" spc="0" normalizeH="0" baseline="0" noProof="0" dirty="0" err="1">
                <a:ln>
                  <a:noFill/>
                </a:ln>
                <a:solidFill>
                  <a:srgbClr val="000000"/>
                </a:solidFill>
                <a:effectLst/>
                <a:uLnTx/>
                <a:uFillTx/>
                <a:latin typeface="Calibri"/>
                <a:ea typeface="宋体"/>
                <a:cs typeface="+mn-cs"/>
              </a:rPr>
              <a:t>大程序无法装入</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，用户只得采用内存扩充技术来弥补，这样在应用中非常不便</a:t>
            </a:r>
            <a:r>
              <a:rPr kumimoji="0" lang="en-US" altLang="zh-CN" sz="1800" b="0" i="0" u="none" strike="noStrike" kern="1200" cap="none" spc="0" normalizeH="0" baseline="0" noProof="0" dirty="0">
                <a:ln>
                  <a:noFill/>
                </a:ln>
                <a:solidFill>
                  <a:srgbClr val="000000"/>
                </a:solidFill>
                <a:effectLst/>
                <a:uLnTx/>
                <a:uFillTx/>
                <a:latin typeface="Calibri"/>
                <a:ea typeface="宋体"/>
                <a:cs typeface="+mn-cs"/>
              </a:rPr>
              <a:t>；</a:t>
            </a:r>
          </a:p>
          <a:p>
            <a:pPr marL="342900" marR="0" lvl="0" indent="-342900" algn="l" defTabSz="914400" rtl="0" eaLnBrk="1" fontAlgn="base" latinLnBrk="0" hangingPunct="1">
              <a:lnSpc>
                <a:spcPct val="125000"/>
              </a:lnSpc>
              <a:spcBef>
                <a:spcPct val="25000"/>
              </a:spcBef>
              <a:spcAft>
                <a:spcPct val="0"/>
              </a:spcAft>
              <a:buClr>
                <a:srgbClr val="0000FF"/>
              </a:buClr>
              <a:buSzTx/>
              <a:buFont typeface="Wingdings" panose="05000000000000000000" pitchFamily="2" charset="2"/>
              <a:buChar char="Ø"/>
              <a:tabLst/>
              <a:defRPr/>
            </a:pPr>
            <a:r>
              <a:rPr kumimoji="0" lang="en-US" altLang="zh-CN" sz="1800" b="0" i="0" u="none" strike="noStrike" kern="1200" cap="none" spc="0" normalizeH="0" baseline="0" noProof="0" dirty="0" err="1">
                <a:ln>
                  <a:noFill/>
                </a:ln>
                <a:solidFill>
                  <a:srgbClr val="0000FF"/>
                </a:solidFill>
                <a:effectLst/>
                <a:uLnTx/>
                <a:uFillTx/>
                <a:latin typeface="Calibri"/>
                <a:ea typeface="方正粗黑宋简体" panose="02000000000000000000" pitchFamily="2" charset="-122"/>
                <a:cs typeface="+mn-cs"/>
              </a:rPr>
              <a:t>二是</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主存</a:t>
            </a:r>
            <a:r>
              <a:rPr kumimoji="0" lang="en-US" altLang="zh-CN" sz="1800" b="1" i="0" u="sng" strike="noStrike" kern="1200" cap="none" spc="0" normalizeH="0" baseline="0" noProof="0" dirty="0" err="1">
                <a:ln>
                  <a:noFill/>
                </a:ln>
                <a:solidFill>
                  <a:srgbClr val="000000"/>
                </a:solidFill>
                <a:effectLst/>
                <a:uLnTx/>
                <a:uFillTx/>
                <a:latin typeface="Calibri"/>
                <a:ea typeface="宋体"/>
                <a:cs typeface="+mn-cs"/>
              </a:rPr>
              <a:t>利用率不高</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，一个作业大小往往并不正好等于所分配的分区大小，存在不同程度的主存空间的浪费</a:t>
            </a:r>
            <a:r>
              <a:rPr kumimoji="0" lang="en-US" altLang="zh-CN" sz="1800" b="0" i="0" u="none" strike="noStrike" kern="1200" cap="none" spc="0" normalizeH="0" baseline="0" noProof="0" dirty="0">
                <a:ln>
                  <a:noFill/>
                </a:ln>
                <a:solidFill>
                  <a:srgbClr val="000000"/>
                </a:solidFill>
                <a:effectLst/>
                <a:uLnTx/>
                <a:uFillTx/>
                <a:latin typeface="Calibri"/>
                <a:ea typeface="宋体"/>
                <a:cs typeface="+mn-cs"/>
              </a:rPr>
              <a:t>；</a:t>
            </a:r>
          </a:p>
          <a:p>
            <a:pPr marL="342900" marR="0" lvl="0" indent="-342900" algn="l" defTabSz="914400" rtl="0" eaLnBrk="1" fontAlgn="base" latinLnBrk="0" hangingPunct="1">
              <a:lnSpc>
                <a:spcPct val="125000"/>
              </a:lnSpc>
              <a:spcBef>
                <a:spcPct val="25000"/>
              </a:spcBef>
              <a:spcAft>
                <a:spcPct val="0"/>
              </a:spcAft>
              <a:buClr>
                <a:srgbClr val="0000FF"/>
              </a:buClr>
              <a:buSzTx/>
              <a:buFont typeface="Wingdings" panose="05000000000000000000" pitchFamily="2" charset="2"/>
              <a:buChar char="Ø"/>
              <a:tabLst/>
              <a:defRPr/>
            </a:pPr>
            <a:r>
              <a:rPr kumimoji="0" lang="en-US" altLang="zh-CN" sz="1800" b="0" i="0" u="none" strike="noStrike" kern="1200" cap="none" spc="0" normalizeH="0" baseline="0" noProof="0" dirty="0" err="1">
                <a:ln>
                  <a:noFill/>
                </a:ln>
                <a:solidFill>
                  <a:srgbClr val="0000FF"/>
                </a:solidFill>
                <a:effectLst/>
                <a:uLnTx/>
                <a:uFillTx/>
                <a:latin typeface="Calibri"/>
                <a:ea typeface="方正粗黑宋简体" panose="02000000000000000000" pitchFamily="2" charset="-122"/>
                <a:cs typeface="+mn-cs"/>
              </a:rPr>
              <a:t>三是</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由于</a:t>
            </a:r>
            <a:r>
              <a:rPr kumimoji="0" lang="en-US" altLang="zh-CN" sz="1800" b="0" i="0" u="none" strike="noStrike" kern="1200" cap="none" spc="0" normalizeH="0" baseline="0" noProof="0" dirty="0" err="1">
                <a:ln>
                  <a:noFill/>
                </a:ln>
                <a:solidFill>
                  <a:srgbClr val="000000"/>
                </a:solidFill>
                <a:effectLst/>
                <a:uLnTx/>
                <a:uFillTx/>
                <a:latin typeface="Arial" panose="020B0604020202020204" pitchFamily="34" charset="0"/>
                <a:ea typeface="宋体"/>
                <a:cs typeface="+mn-cs"/>
              </a:rPr>
              <a:t>“</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界限寄存器</a:t>
            </a:r>
            <a:r>
              <a:rPr kumimoji="0" lang="en-US" altLang="zh-CN" sz="1800" b="0" i="0" u="none" strike="noStrike" kern="1200" cap="none" spc="0" normalizeH="0" baseline="0" noProof="0" dirty="0" err="1">
                <a:ln>
                  <a:noFill/>
                </a:ln>
                <a:solidFill>
                  <a:srgbClr val="000000"/>
                </a:solidFill>
                <a:effectLst/>
                <a:uLnTx/>
                <a:uFillTx/>
                <a:latin typeface="Arial" panose="020B0604020202020204" pitchFamily="34" charset="0"/>
                <a:ea typeface="宋体"/>
                <a:cs typeface="+mn-cs"/>
              </a:rPr>
              <a:t>”</a:t>
            </a:r>
            <a:r>
              <a:rPr kumimoji="0" lang="en-US" altLang="zh-CN" sz="1800" b="1" i="0" u="sng" strike="noStrike" kern="1200" cap="none" spc="0" normalizeH="0" baseline="0" noProof="0" dirty="0" err="1">
                <a:ln>
                  <a:noFill/>
                </a:ln>
                <a:solidFill>
                  <a:srgbClr val="000000"/>
                </a:solidFill>
                <a:effectLst/>
                <a:uLnTx/>
                <a:uFillTx/>
                <a:latin typeface="Calibri"/>
                <a:ea typeface="宋体"/>
                <a:cs typeface="+mn-cs"/>
              </a:rPr>
              <a:t>存储保护法</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，各分区作业很难实现程序和数据的共享</a:t>
            </a:r>
            <a:r>
              <a:rPr kumimoji="0" lang="en-US" altLang="zh-CN" sz="1800" b="0" i="0" u="none" strike="noStrike" kern="1200" cap="none" spc="0" normalizeH="0" baseline="0" noProof="0" dirty="0">
                <a:ln>
                  <a:noFill/>
                </a:ln>
                <a:solidFill>
                  <a:srgbClr val="000000"/>
                </a:solidFill>
                <a:effectLst/>
                <a:uLnTx/>
                <a:uFillTx/>
                <a:latin typeface="Calibri"/>
                <a:ea typeface="宋体"/>
                <a:cs typeface="+mn-cs"/>
              </a:rPr>
              <a:t>；</a:t>
            </a:r>
          </a:p>
          <a:p>
            <a:pPr marL="342900" marR="0" lvl="0" indent="-342900" algn="l" defTabSz="914400" rtl="0" eaLnBrk="1" fontAlgn="base" latinLnBrk="0" hangingPunct="1">
              <a:lnSpc>
                <a:spcPct val="125000"/>
              </a:lnSpc>
              <a:spcBef>
                <a:spcPct val="25000"/>
              </a:spcBef>
              <a:spcAft>
                <a:spcPct val="0"/>
              </a:spcAft>
              <a:buClr>
                <a:srgbClr val="0000FF"/>
              </a:buClr>
              <a:buSzTx/>
              <a:buFont typeface="Wingdings" panose="05000000000000000000" pitchFamily="2" charset="2"/>
              <a:buChar char="Ø"/>
              <a:tabLst/>
              <a:defRPr/>
            </a:pPr>
            <a:r>
              <a:rPr kumimoji="0" lang="en-US" altLang="zh-CN" sz="1800" b="0" i="0" u="none" strike="noStrike" kern="1200" cap="none" spc="0" normalizeH="0" baseline="0" noProof="0" dirty="0" err="1">
                <a:ln>
                  <a:noFill/>
                </a:ln>
                <a:solidFill>
                  <a:srgbClr val="0000FF"/>
                </a:solidFill>
                <a:effectLst/>
                <a:uLnTx/>
                <a:uFillTx/>
                <a:latin typeface="Calibri"/>
                <a:ea typeface="方正粗黑宋简体" panose="02000000000000000000" pitchFamily="2" charset="-122"/>
                <a:cs typeface="+mn-cs"/>
              </a:rPr>
              <a:t>四是</a:t>
            </a:r>
            <a:r>
              <a:rPr kumimoji="0" lang="en-US" altLang="zh-CN" sz="1800" b="0" i="0" u="none" strike="noStrike" kern="1200" cap="none" spc="0" normalizeH="0" baseline="0" noProof="0" dirty="0" err="1">
                <a:ln>
                  <a:noFill/>
                </a:ln>
                <a:solidFill>
                  <a:srgbClr val="000000"/>
                </a:solidFill>
                <a:effectLst/>
                <a:uLnTx/>
                <a:uFillTx/>
                <a:latin typeface="Calibri"/>
                <a:ea typeface="宋体"/>
                <a:cs typeface="+mn-cs"/>
              </a:rPr>
              <a:t>由于分区数是在系统初始时确定的，</a:t>
            </a:r>
            <a:r>
              <a:rPr kumimoji="0" lang="en-US" altLang="zh-CN" sz="1800" b="1" i="0" u="sng" strike="noStrike" kern="1200" cap="none" spc="0" normalizeH="0" baseline="0" noProof="0" dirty="0" err="1">
                <a:ln>
                  <a:noFill/>
                </a:ln>
                <a:solidFill>
                  <a:srgbClr val="000000"/>
                </a:solidFill>
                <a:effectLst/>
                <a:uLnTx/>
                <a:uFillTx/>
                <a:latin typeface="Calibri"/>
                <a:ea typeface="宋体"/>
                <a:cs typeface="+mn-cs"/>
              </a:rPr>
              <a:t>限制了多道运行的程序数</a:t>
            </a:r>
            <a:r>
              <a:rPr kumimoji="0" lang="en-US" altLang="zh-CN" sz="1800" b="0" i="0" u="none" strike="noStrike" kern="1200" cap="none" spc="0" normalizeH="0" baseline="0" noProof="0" dirty="0">
                <a:ln>
                  <a:noFill/>
                </a:ln>
                <a:solidFill>
                  <a:srgbClr val="000000"/>
                </a:solidFill>
                <a:effectLst/>
                <a:uLnTx/>
                <a:uFillTx/>
                <a:latin typeface="Calibri"/>
                <a:ea typeface="宋体"/>
                <a:cs typeface="+mn-cs"/>
              </a:rPr>
              <a:t>。</a:t>
            </a:r>
          </a:p>
          <a:p>
            <a:pPr marL="342900" marR="0" lvl="0" indent="-342900" algn="l" defTabSz="914400" rtl="0" eaLnBrk="1" fontAlgn="base" latinLnBrk="0" hangingPunct="1">
              <a:lnSpc>
                <a:spcPct val="125000"/>
              </a:lnSpc>
              <a:spcBef>
                <a:spcPct val="60000"/>
              </a:spcBef>
              <a:spcAft>
                <a:spcPct val="0"/>
              </a:spcAft>
              <a:buClr>
                <a:srgbClr val="FF3300"/>
              </a:buClr>
              <a:buSzTx/>
              <a:buFont typeface="Wingdings" panose="05000000000000000000" pitchFamily="2" charset="2"/>
              <a:buChar char="l"/>
              <a:tabLst/>
              <a:defRPr/>
            </a:pP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这种管理模式下，称在分区内部产生的</a:t>
            </a:r>
            <a:r>
              <a:rPr kumimoji="0" lang="zh-CN" altLang="en-US" sz="2000" b="0" i="0" u="sng" strike="noStrike" kern="1200" cap="none" spc="0" normalizeH="0" baseline="0" noProof="0" dirty="0">
                <a:ln>
                  <a:noFill/>
                </a:ln>
                <a:solidFill>
                  <a:srgbClr val="FF3300"/>
                </a:solidFill>
                <a:effectLst/>
                <a:uLnTx/>
                <a:uFillTx/>
                <a:latin typeface="Calibri"/>
                <a:ea typeface="方正粗黑宋简体" panose="02000000000000000000" pitchFamily="2" charset="-122"/>
                <a:cs typeface="+mn-cs"/>
              </a:rPr>
              <a:t>空间浪费</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叫</a:t>
            </a:r>
            <a:r>
              <a:rPr kumimoji="0" lang="zh-CN" altLang="en-US" sz="2000" b="0"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0" i="0" u="none" strike="noStrike" kern="1200" cap="none" spc="0" normalizeH="0" baseline="0" noProof="0" dirty="0">
                <a:ln>
                  <a:noFill/>
                </a:ln>
                <a:solidFill>
                  <a:srgbClr val="0000FF"/>
                </a:solidFill>
                <a:effectLst/>
                <a:uLnTx/>
                <a:uFillTx/>
                <a:latin typeface="Calibri"/>
                <a:ea typeface="方正粗黑宋简体" panose="02000000000000000000" pitchFamily="2" charset="-122"/>
                <a:cs typeface="+mn-cs"/>
              </a:rPr>
              <a:t>内部碎片</a:t>
            </a:r>
            <a:r>
              <a:rPr kumimoji="0" lang="zh-CN" altLang="en-US" sz="2000" b="0"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a:t>
            </a:r>
            <a:r>
              <a:rPr kumimoji="0" lang="zh-CN" altLang="en-US" sz="2000" b="1" i="0" u="none" strike="noStrike" kern="1200" cap="none" spc="0" normalizeH="0" baseline="0" noProof="0" dirty="0">
                <a:ln>
                  <a:noFill/>
                </a:ln>
                <a:solidFill>
                  <a:srgbClr val="0000FF"/>
                </a:solidFill>
                <a:effectLst/>
                <a:uLnTx/>
                <a:uFillTx/>
                <a:latin typeface="Calibri"/>
                <a:ea typeface="华文行楷" panose="02010800040101010101" pitchFamily="2" charset="-122"/>
                <a:cs typeface="+mn-cs"/>
              </a:rPr>
              <a:t>当内部碎片积累到一定程度时，将严重影响主存空间的利用率和系统运行效率</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。比较实用的解决内部碎片问题的方法是</a:t>
            </a:r>
            <a:r>
              <a:rPr kumimoji="0" lang="zh-CN" altLang="en-US" sz="2000" b="0"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0" i="0" u="none" strike="noStrike" kern="1200" cap="none" spc="0" normalizeH="0" baseline="0" noProof="0" dirty="0">
                <a:ln>
                  <a:noFill/>
                </a:ln>
                <a:solidFill>
                  <a:srgbClr val="0000FF"/>
                </a:solidFill>
                <a:effectLst/>
                <a:uLnTx/>
                <a:uFillTx/>
                <a:latin typeface="Calibri"/>
                <a:ea typeface="方正粗黑宋简体" panose="02000000000000000000" pitchFamily="2" charset="-122"/>
                <a:cs typeface="+mn-cs"/>
              </a:rPr>
              <a:t>最佳适应分配算法</a:t>
            </a:r>
            <a:r>
              <a:rPr kumimoji="0" lang="zh-CN" altLang="en-US" sz="2000" b="0"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a:t>
            </a:r>
            <a:r>
              <a:rPr kumimoji="0" lang="zh-CN" altLang="en-US" sz="2000" b="1" i="0" u="none" strike="noStrike" kern="1200" cap="none" spc="0" normalizeH="0" baseline="0" noProof="0" dirty="0">
                <a:ln>
                  <a:noFill/>
                </a:ln>
                <a:solidFill>
                  <a:srgbClr val="000000"/>
                </a:solidFill>
                <a:effectLst/>
                <a:uLnTx/>
                <a:uFillTx/>
                <a:latin typeface="Calibri"/>
                <a:ea typeface="方正粗黑宋简体" panose="02000000000000000000" pitchFamily="2" charset="-122"/>
                <a:cs typeface="+mn-cs"/>
              </a:rPr>
              <a:t>即尽量将满足作业要求的</a:t>
            </a:r>
            <a:r>
              <a:rPr kumimoji="0" lang="zh-CN" altLang="en-US" sz="2000" b="1" i="0" u="none" strike="noStrike" kern="1200" cap="none" spc="0" normalizeH="0" baseline="0" noProof="0" dirty="0">
                <a:ln>
                  <a:noFill/>
                </a:ln>
                <a:solidFill>
                  <a:srgbClr val="FF3300"/>
                </a:solidFill>
                <a:effectLst/>
                <a:uLnTx/>
                <a:uFillTx/>
                <a:latin typeface="Calibri"/>
                <a:ea typeface="方正粗黑宋简体" panose="02000000000000000000" pitchFamily="2" charset="-122"/>
                <a:cs typeface="+mn-cs"/>
              </a:rPr>
              <a:t>最小</a:t>
            </a:r>
            <a:r>
              <a:rPr kumimoji="0" lang="zh-CN" altLang="en-US" sz="2000" b="1" i="0" u="none" strike="noStrike" kern="1200" cap="none" spc="0" normalizeH="0" baseline="0" noProof="0" dirty="0">
                <a:ln>
                  <a:noFill/>
                </a:ln>
                <a:solidFill>
                  <a:srgbClr val="000000"/>
                </a:solidFill>
                <a:effectLst/>
                <a:uLnTx/>
                <a:uFillTx/>
                <a:latin typeface="Calibri"/>
                <a:ea typeface="方正粗黑宋简体" panose="02000000000000000000" pitchFamily="2" charset="-122"/>
                <a:cs typeface="+mn-cs"/>
              </a:rPr>
              <a:t>的分区分配给它，这样，分区内的碎片就是最小的。</a:t>
            </a:r>
          </a:p>
        </p:txBody>
      </p:sp>
    </p:spTree>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3795">
                                            <p:txEl>
                                              <p:pRg st="0" end="0"/>
                                            </p:txEl>
                                          </p:spTgt>
                                        </p:tgtEl>
                                        <p:attrNameLst>
                                          <p:attrName>style.visibility</p:attrName>
                                        </p:attrNameLst>
                                      </p:cBhvr>
                                      <p:to>
                                        <p:strVal val="visible"/>
                                      </p:to>
                                    </p:set>
                                    <p:anim calcmode="lin" valueType="num">
                                      <p:cBhvr additive="base">
                                        <p:cTn id="7" dur="500" fill="hold"/>
                                        <p:tgtEl>
                                          <p:spTgt spid="337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37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 presetClass="entr" presetSubtype="1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checkerboard(across)">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5" grpId="0" build="p"/>
      <p:bldP spid="5"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内容占位符 2">
            <a:extLst>
              <a:ext uri="{FF2B5EF4-FFF2-40B4-BE49-F238E27FC236}">
                <a16:creationId xmlns:a16="http://schemas.microsoft.com/office/drawing/2014/main" id="{EF2757B6-4AED-934A-B697-73FF0A166E6B}"/>
              </a:ext>
            </a:extLst>
          </p:cNvPr>
          <p:cNvSpPr txBox="1">
            <a:spLocks/>
          </p:cNvSpPr>
          <p:nvPr/>
        </p:nvSpPr>
        <p:spPr bwMode="auto">
          <a:xfrm>
            <a:off x="831384" y="1544681"/>
            <a:ext cx="4983212" cy="3161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0000FF"/>
              </a:buClr>
              <a:buSzPct val="50000"/>
              <a:buFont typeface="Wingdings" pitchFamily="2" charset="2"/>
              <a:buChar char="n"/>
            </a:pPr>
            <a:r>
              <a:rPr lang="zh-CN" altLang="en-US" sz="2000" b="1">
                <a:solidFill>
                  <a:srgbClr val="0000FF"/>
                </a:solidFill>
                <a:latin typeface="幼圆" pitchFamily="49" charset="-122"/>
                <a:ea typeface="幼圆" pitchFamily="49" charset="-122"/>
              </a:rPr>
              <a:t>动态分区分配</a:t>
            </a:r>
            <a:endParaRPr lang="en-US" altLang="zh-CN" sz="2000" b="1">
              <a:solidFill>
                <a:srgbClr val="0000FF"/>
              </a:solidFill>
              <a:latin typeface="幼圆" pitchFamily="49" charset="-122"/>
              <a:ea typeface="幼圆" pitchFamily="49" charset="-122"/>
            </a:endParaRPr>
          </a:p>
          <a:p>
            <a:pPr lvl="1">
              <a:buClr>
                <a:srgbClr val="0000FF"/>
              </a:buClr>
              <a:buFont typeface="Wingdings" pitchFamily="2" charset="2"/>
              <a:buChar char="l"/>
            </a:pPr>
            <a:r>
              <a:rPr lang="zh-CN" altLang="en-US" sz="2000" b="1">
                <a:solidFill>
                  <a:srgbClr val="000000"/>
                </a:solidFill>
                <a:latin typeface="Arial" panose="020B0604020202020204" pitchFamily="34" charset="0"/>
                <a:ea typeface="幼圆" pitchFamily="49" charset="-122"/>
              </a:rPr>
              <a:t>根据进程的实际需要，动态地为之分配连续的内存空间</a:t>
            </a:r>
            <a:endParaRPr lang="en-US" altLang="zh-CN" sz="2000" b="1">
              <a:solidFill>
                <a:srgbClr val="000000"/>
              </a:solidFill>
              <a:latin typeface="Arial" panose="020B0604020202020204" pitchFamily="34" charset="0"/>
              <a:ea typeface="幼圆" pitchFamily="49" charset="-122"/>
            </a:endParaRPr>
          </a:p>
          <a:p>
            <a:pPr>
              <a:buClr>
                <a:srgbClr val="0000FF"/>
              </a:buClr>
              <a:buSzPct val="50000"/>
              <a:buFont typeface="Wingdings" pitchFamily="2" charset="2"/>
              <a:buChar char="n"/>
            </a:pPr>
            <a:r>
              <a:rPr lang="zh-CN" altLang="en-US" sz="2000" b="1">
                <a:solidFill>
                  <a:srgbClr val="0000FF"/>
                </a:solidFill>
                <a:latin typeface="幼圆" pitchFamily="49" charset="-122"/>
                <a:ea typeface="幼圆" pitchFamily="49" charset="-122"/>
              </a:rPr>
              <a:t>需要解决的问题</a:t>
            </a:r>
            <a:endParaRPr lang="en-US" altLang="zh-CN" sz="2000" b="1">
              <a:solidFill>
                <a:srgbClr val="0000FF"/>
              </a:solidFill>
              <a:latin typeface="幼圆" pitchFamily="49" charset="-122"/>
              <a:ea typeface="幼圆" pitchFamily="49" charset="-122"/>
            </a:endParaRPr>
          </a:p>
          <a:p>
            <a:pPr lvl="1">
              <a:buClr>
                <a:srgbClr val="0000FF"/>
              </a:buClr>
              <a:buFont typeface="Wingdings" pitchFamily="2" charset="2"/>
              <a:buChar char="l"/>
            </a:pPr>
            <a:r>
              <a:rPr lang="zh-CN" altLang="en-US" sz="2000" b="1">
                <a:solidFill>
                  <a:srgbClr val="C00000"/>
                </a:solidFill>
                <a:latin typeface="幼圆" pitchFamily="49" charset="-122"/>
                <a:ea typeface="幼圆" pitchFamily="49" charset="-122"/>
              </a:rPr>
              <a:t>如何管理空闲分区</a:t>
            </a:r>
            <a:endParaRPr lang="en-US" altLang="zh-CN" sz="2000" b="1">
              <a:solidFill>
                <a:srgbClr val="C00000"/>
              </a:solidFill>
              <a:latin typeface="幼圆" pitchFamily="49" charset="-122"/>
              <a:ea typeface="幼圆" pitchFamily="49" charset="-122"/>
            </a:endParaRPr>
          </a:p>
          <a:p>
            <a:pPr lvl="1">
              <a:buClr>
                <a:srgbClr val="0000FF"/>
              </a:buClr>
              <a:buFont typeface="Wingdings" pitchFamily="2" charset="2"/>
              <a:buChar char="l"/>
            </a:pPr>
            <a:r>
              <a:rPr lang="zh-CN" altLang="en-US" sz="2000" b="1">
                <a:solidFill>
                  <a:srgbClr val="C00000"/>
                </a:solidFill>
                <a:latin typeface="幼圆" pitchFamily="49" charset="-122"/>
                <a:ea typeface="幼圆" pitchFamily="49" charset="-122"/>
              </a:rPr>
              <a:t>如何分配空闲分区</a:t>
            </a:r>
            <a:endParaRPr lang="en-US" altLang="zh-CN" sz="2000" b="1">
              <a:solidFill>
                <a:srgbClr val="C00000"/>
              </a:solidFill>
              <a:latin typeface="幼圆" pitchFamily="49" charset="-122"/>
              <a:ea typeface="幼圆" pitchFamily="49" charset="-122"/>
            </a:endParaRPr>
          </a:p>
          <a:p>
            <a:pPr lvl="1">
              <a:buClr>
                <a:srgbClr val="0000FF"/>
              </a:buClr>
              <a:buFont typeface="Wingdings" pitchFamily="2" charset="2"/>
              <a:buChar char="l"/>
            </a:pPr>
            <a:r>
              <a:rPr lang="zh-CN" altLang="en-US" sz="2000" b="1">
                <a:solidFill>
                  <a:srgbClr val="C00000"/>
                </a:solidFill>
                <a:latin typeface="幼圆" pitchFamily="49" charset="-122"/>
                <a:ea typeface="幼圆" pitchFamily="49" charset="-122"/>
              </a:rPr>
              <a:t>如何回收空闲分区</a:t>
            </a:r>
            <a:endParaRPr lang="zh-CN" altLang="en-US" sz="2000" b="1" dirty="0">
              <a:solidFill>
                <a:srgbClr val="C00000"/>
              </a:solidFill>
              <a:latin typeface="幼圆" pitchFamily="49" charset="-122"/>
              <a:ea typeface="幼圆" pitchFamily="49" charset="-122"/>
            </a:endParaRPr>
          </a:p>
        </p:txBody>
      </p:sp>
      <p:graphicFrame>
        <p:nvGraphicFramePr>
          <p:cNvPr id="17" name="Group 158">
            <a:extLst>
              <a:ext uri="{FF2B5EF4-FFF2-40B4-BE49-F238E27FC236}">
                <a16:creationId xmlns:a16="http://schemas.microsoft.com/office/drawing/2014/main" id="{9CDA5A00-0B09-C045-8C64-17A5CA202749}"/>
              </a:ext>
            </a:extLst>
          </p:cNvPr>
          <p:cNvGraphicFramePr>
            <a:graphicFrameLocks noGrp="1"/>
          </p:cNvGraphicFramePr>
          <p:nvPr>
            <p:extLst>
              <p:ext uri="{D42A27DB-BD31-4B8C-83A1-F6EECF244321}">
                <p14:modId xmlns:p14="http://schemas.microsoft.com/office/powerpoint/2010/main" val="398015819"/>
              </p:ext>
            </p:extLst>
          </p:nvPr>
        </p:nvGraphicFramePr>
        <p:xfrm>
          <a:off x="6878122" y="1814360"/>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18" name="Text Box 159">
            <a:extLst>
              <a:ext uri="{FF2B5EF4-FFF2-40B4-BE49-F238E27FC236}">
                <a16:creationId xmlns:a16="http://schemas.microsoft.com/office/drawing/2014/main" id="{3B889196-3147-3040-A6B3-1048EE9696D7}"/>
              </a:ext>
            </a:extLst>
          </p:cNvPr>
          <p:cNvSpPr txBox="1">
            <a:spLocks noChangeArrowheads="1"/>
          </p:cNvSpPr>
          <p:nvPr/>
        </p:nvSpPr>
        <p:spPr bwMode="auto">
          <a:xfrm>
            <a:off x="6363772" y="1848887"/>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19" name="Text Box 160">
            <a:extLst>
              <a:ext uri="{FF2B5EF4-FFF2-40B4-BE49-F238E27FC236}">
                <a16:creationId xmlns:a16="http://schemas.microsoft.com/office/drawing/2014/main" id="{0E547DF3-BFAA-2947-84B6-6D74BA931FB5}"/>
              </a:ext>
            </a:extLst>
          </p:cNvPr>
          <p:cNvSpPr txBox="1">
            <a:spLocks noChangeArrowheads="1"/>
          </p:cNvSpPr>
          <p:nvPr/>
        </p:nvSpPr>
        <p:spPr bwMode="auto">
          <a:xfrm>
            <a:off x="6410206" y="2825199"/>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20" name="Text Box 161">
            <a:extLst>
              <a:ext uri="{FF2B5EF4-FFF2-40B4-BE49-F238E27FC236}">
                <a16:creationId xmlns:a16="http://schemas.microsoft.com/office/drawing/2014/main" id="{A0DBB829-C7BE-7445-BDC3-E35F7AF1BCF4}"/>
              </a:ext>
            </a:extLst>
          </p:cNvPr>
          <p:cNvSpPr txBox="1">
            <a:spLocks noChangeArrowheads="1"/>
          </p:cNvSpPr>
          <p:nvPr/>
        </p:nvSpPr>
        <p:spPr bwMode="auto">
          <a:xfrm>
            <a:off x="6363772" y="3414559"/>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21" name="Text Box 162">
            <a:extLst>
              <a:ext uri="{FF2B5EF4-FFF2-40B4-BE49-F238E27FC236}">
                <a16:creationId xmlns:a16="http://schemas.microsoft.com/office/drawing/2014/main" id="{7E9F7ADC-7072-5B41-B3B4-ED9F52CCDAA9}"/>
              </a:ext>
            </a:extLst>
          </p:cNvPr>
          <p:cNvSpPr txBox="1">
            <a:spLocks noChangeArrowheads="1"/>
          </p:cNvSpPr>
          <p:nvPr/>
        </p:nvSpPr>
        <p:spPr bwMode="auto">
          <a:xfrm>
            <a:off x="6420922" y="4086071"/>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22" name="Text Box 163">
            <a:extLst>
              <a:ext uri="{FF2B5EF4-FFF2-40B4-BE49-F238E27FC236}">
                <a16:creationId xmlns:a16="http://schemas.microsoft.com/office/drawing/2014/main" id="{882CA74F-9886-EC4C-A8AB-B776BDD2CB0B}"/>
              </a:ext>
            </a:extLst>
          </p:cNvPr>
          <p:cNvSpPr txBox="1">
            <a:spLocks noChangeArrowheads="1"/>
          </p:cNvSpPr>
          <p:nvPr/>
        </p:nvSpPr>
        <p:spPr bwMode="auto">
          <a:xfrm>
            <a:off x="6420922" y="4669478"/>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23" name="Text Box 164">
            <a:extLst>
              <a:ext uri="{FF2B5EF4-FFF2-40B4-BE49-F238E27FC236}">
                <a16:creationId xmlns:a16="http://schemas.microsoft.com/office/drawing/2014/main" id="{88006CF7-1D35-F746-B76C-B5AE194C4ACB}"/>
              </a:ext>
            </a:extLst>
          </p:cNvPr>
          <p:cNvSpPr txBox="1">
            <a:spLocks noChangeArrowheads="1"/>
          </p:cNvSpPr>
          <p:nvPr/>
        </p:nvSpPr>
        <p:spPr bwMode="auto">
          <a:xfrm>
            <a:off x="6410206" y="5289793"/>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24" name="Text Box 165">
            <a:extLst>
              <a:ext uri="{FF2B5EF4-FFF2-40B4-BE49-F238E27FC236}">
                <a16:creationId xmlns:a16="http://schemas.microsoft.com/office/drawing/2014/main" id="{6ED1D010-7161-3848-89FB-DD1BD31BA298}"/>
              </a:ext>
            </a:extLst>
          </p:cNvPr>
          <p:cNvSpPr txBox="1">
            <a:spLocks noChangeArrowheads="1"/>
          </p:cNvSpPr>
          <p:nvPr/>
        </p:nvSpPr>
        <p:spPr bwMode="auto">
          <a:xfrm>
            <a:off x="6413778" y="5932730"/>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25" name="TextBox 24">
            <a:extLst>
              <a:ext uri="{FF2B5EF4-FFF2-40B4-BE49-F238E27FC236}">
                <a16:creationId xmlns:a16="http://schemas.microsoft.com/office/drawing/2014/main" id="{8EE41907-C1DC-9943-A267-416671B590C8}"/>
              </a:ext>
            </a:extLst>
          </p:cNvPr>
          <p:cNvSpPr txBox="1">
            <a:spLocks noChangeArrowheads="1"/>
          </p:cNvSpPr>
          <p:nvPr/>
        </p:nvSpPr>
        <p:spPr bwMode="auto">
          <a:xfrm>
            <a:off x="7655898" y="2671608"/>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26" name="矩形 17">
            <a:extLst>
              <a:ext uri="{FF2B5EF4-FFF2-40B4-BE49-F238E27FC236}">
                <a16:creationId xmlns:a16="http://schemas.microsoft.com/office/drawing/2014/main" id="{5AE349D0-78E3-BC44-8436-F29A923BA0BC}"/>
              </a:ext>
            </a:extLst>
          </p:cNvPr>
          <p:cNvSpPr>
            <a:spLocks noChangeArrowheads="1"/>
          </p:cNvSpPr>
          <p:nvPr/>
        </p:nvSpPr>
        <p:spPr bwMode="auto">
          <a:xfrm>
            <a:off x="6885266" y="4045590"/>
            <a:ext cx="857250" cy="42862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27" name="TextBox 26">
            <a:extLst>
              <a:ext uri="{FF2B5EF4-FFF2-40B4-BE49-F238E27FC236}">
                <a16:creationId xmlns:a16="http://schemas.microsoft.com/office/drawing/2014/main" id="{83036B21-BEE6-734F-8936-2070770C3B4D}"/>
              </a:ext>
            </a:extLst>
          </p:cNvPr>
          <p:cNvSpPr txBox="1">
            <a:spLocks noChangeArrowheads="1"/>
          </p:cNvSpPr>
          <p:nvPr/>
        </p:nvSpPr>
        <p:spPr bwMode="auto">
          <a:xfrm>
            <a:off x="990754" y="4382064"/>
            <a:ext cx="4513660" cy="1061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100" dirty="0">
                <a:solidFill>
                  <a:srgbClr val="D60093"/>
                </a:solidFill>
                <a:latin typeface="幼圆" pitchFamily="49" charset="-122"/>
                <a:ea typeface="幼圆" pitchFamily="49" charset="-122"/>
              </a:rPr>
              <a:t>假如在某一时刻，有进程要求系统分配</a:t>
            </a:r>
            <a:r>
              <a:rPr lang="en-US" altLang="zh-CN" sz="2100" dirty="0">
                <a:solidFill>
                  <a:srgbClr val="0000FF"/>
                </a:solidFill>
                <a:latin typeface="幼圆" pitchFamily="49" charset="-122"/>
                <a:ea typeface="幼圆" pitchFamily="49" charset="-122"/>
              </a:rPr>
              <a:t>16MB</a:t>
            </a:r>
            <a:r>
              <a:rPr lang="zh-CN" altLang="en-US" sz="2100" dirty="0">
                <a:solidFill>
                  <a:srgbClr val="D60093"/>
                </a:solidFill>
                <a:latin typeface="幼圆" pitchFamily="49" charset="-122"/>
                <a:ea typeface="幼圆" pitchFamily="49" charset="-122"/>
              </a:rPr>
              <a:t>存储空间，系统应如何分配？</a:t>
            </a:r>
          </a:p>
        </p:txBody>
      </p:sp>
      <p:sp>
        <p:nvSpPr>
          <p:cNvPr id="28" name="矩形 19">
            <a:extLst>
              <a:ext uri="{FF2B5EF4-FFF2-40B4-BE49-F238E27FC236}">
                <a16:creationId xmlns:a16="http://schemas.microsoft.com/office/drawing/2014/main" id="{EFF0001D-BDED-DE40-AA9E-4328994ACB14}"/>
              </a:ext>
            </a:extLst>
          </p:cNvPr>
          <p:cNvSpPr>
            <a:spLocks noChangeArrowheads="1"/>
          </p:cNvSpPr>
          <p:nvPr/>
        </p:nvSpPr>
        <p:spPr bwMode="auto">
          <a:xfrm>
            <a:off x="6885266" y="3125236"/>
            <a:ext cx="857250" cy="252413"/>
          </a:xfrm>
          <a:prstGeom prst="rect">
            <a:avLst/>
          </a:prstGeom>
          <a:solidFill>
            <a:srgbClr val="FFFF00"/>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29" name="TextBox 28">
            <a:extLst>
              <a:ext uri="{FF2B5EF4-FFF2-40B4-BE49-F238E27FC236}">
                <a16:creationId xmlns:a16="http://schemas.microsoft.com/office/drawing/2014/main" id="{36ED3279-26AF-2248-9D9A-FF56CBA4D8BB}"/>
              </a:ext>
            </a:extLst>
          </p:cNvPr>
          <p:cNvSpPr txBox="1">
            <a:spLocks noChangeArrowheads="1"/>
          </p:cNvSpPr>
          <p:nvPr/>
        </p:nvSpPr>
        <p:spPr bwMode="auto">
          <a:xfrm>
            <a:off x="1043608" y="5517232"/>
            <a:ext cx="4644629"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100">
                <a:solidFill>
                  <a:srgbClr val="FF0000"/>
                </a:solidFill>
                <a:latin typeface="幼圆" pitchFamily="49" charset="-122"/>
                <a:ea typeface="幼圆" pitchFamily="49" charset="-122"/>
              </a:rPr>
              <a:t>要回收黄色进程占用空间怎么操作？</a:t>
            </a:r>
          </a:p>
        </p:txBody>
      </p:sp>
      <p:sp>
        <p:nvSpPr>
          <p:cNvPr id="30" name="Rectangle 2">
            <a:extLst>
              <a:ext uri="{FF2B5EF4-FFF2-40B4-BE49-F238E27FC236}">
                <a16:creationId xmlns:a16="http://schemas.microsoft.com/office/drawing/2014/main" id="{EABC768D-A3ED-964A-B156-FC84D2A6D28F}"/>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1239823228"/>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animEffect transition="in" filter="blinds(horizontal)">
                                      <p:cBhvr>
                                        <p:cTn id="7" dur="500"/>
                                        <p:tgtEl>
                                          <p:spTgt spid="16">
                                            <p:txEl>
                                              <p:pRg st="0" end="0"/>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6">
                                            <p:txEl>
                                              <p:pRg st="1" end="1"/>
                                            </p:txEl>
                                          </p:spTgt>
                                        </p:tgtEl>
                                        <p:attrNameLst>
                                          <p:attrName>style.visibility</p:attrName>
                                        </p:attrNameLst>
                                      </p:cBhvr>
                                      <p:to>
                                        <p:strVal val="visible"/>
                                      </p:to>
                                    </p:set>
                                    <p:animEffect transition="in" filter="blinds(horizontal)">
                                      <p:cBhvr>
                                        <p:cTn id="10" dur="500"/>
                                        <p:tgtEl>
                                          <p:spTgt spid="16">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dissolve">
                                      <p:cBhvr>
                                        <p:cTn id="15" dur="500"/>
                                        <p:tgtEl>
                                          <p:spTgt spid="17"/>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dissolve">
                                      <p:cBhvr>
                                        <p:cTn id="21" dur="500"/>
                                        <p:tgtEl>
                                          <p:spTgt spid="19"/>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dissolve">
                                      <p:cBhvr>
                                        <p:cTn id="24" dur="500"/>
                                        <p:tgtEl>
                                          <p:spTgt spid="20"/>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dissolve">
                                      <p:cBhvr>
                                        <p:cTn id="27" dur="500"/>
                                        <p:tgtEl>
                                          <p:spTgt spid="21"/>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dissolve">
                                      <p:cBhvr>
                                        <p:cTn id="30" dur="500"/>
                                        <p:tgtEl>
                                          <p:spTgt spid="22"/>
                                        </p:tgtEl>
                                      </p:cBhvr>
                                    </p:animEffect>
                                  </p:childTnLst>
                                </p:cTn>
                              </p:par>
                              <p:par>
                                <p:cTn id="31" presetID="9"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dissolve">
                                      <p:cBhvr>
                                        <p:cTn id="33" dur="500"/>
                                        <p:tgtEl>
                                          <p:spTgt spid="23"/>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dissolve">
                                      <p:cBhvr>
                                        <p:cTn id="36" dur="500"/>
                                        <p:tgtEl>
                                          <p:spTgt spid="24"/>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dissolve">
                                      <p:cBhvr>
                                        <p:cTn id="39" dur="500"/>
                                        <p:tgtEl>
                                          <p:spTgt spid="25"/>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dissolve">
                                      <p:cBhvr>
                                        <p:cTn id="42" dur="500"/>
                                        <p:tgtEl>
                                          <p:spTgt spid="26"/>
                                        </p:tgtEl>
                                      </p:cBhvr>
                                    </p:animEffect>
                                  </p:childTnLst>
                                </p:cTn>
                              </p:par>
                              <p:par>
                                <p:cTn id="43" presetID="3" presetClass="entr" presetSubtype="10" fill="hold" grpId="1"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blinds(horizontal)">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5"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 calcmode="lin" valueType="num">
                                      <p:cBhvr>
                                        <p:cTn id="50" dur="1000" fill="hold"/>
                                        <p:tgtEl>
                                          <p:spTgt spid="27"/>
                                        </p:tgtEl>
                                        <p:attrNameLst>
                                          <p:attrName>ppt_w</p:attrName>
                                        </p:attrNameLst>
                                      </p:cBhvr>
                                      <p:tavLst>
                                        <p:tav tm="0">
                                          <p:val>
                                            <p:fltVal val="0"/>
                                          </p:val>
                                        </p:tav>
                                        <p:tav tm="100000">
                                          <p:val>
                                            <p:strVal val="#ppt_w"/>
                                          </p:val>
                                        </p:tav>
                                      </p:tavLst>
                                    </p:anim>
                                    <p:anim calcmode="lin" valueType="num">
                                      <p:cBhvr>
                                        <p:cTn id="51" dur="1000" fill="hold"/>
                                        <p:tgtEl>
                                          <p:spTgt spid="27"/>
                                        </p:tgtEl>
                                        <p:attrNameLst>
                                          <p:attrName>ppt_h</p:attrName>
                                        </p:attrNameLst>
                                      </p:cBhvr>
                                      <p:tavLst>
                                        <p:tav tm="0">
                                          <p:val>
                                            <p:fltVal val="0"/>
                                          </p:val>
                                        </p:tav>
                                        <p:tav tm="100000">
                                          <p:val>
                                            <p:strVal val="#ppt_h"/>
                                          </p:val>
                                        </p:tav>
                                      </p:tavLst>
                                    </p:anim>
                                    <p:anim calcmode="lin" valueType="num">
                                      <p:cBhvr>
                                        <p:cTn id="52"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53" dur="1000" fill="hold"/>
                                        <p:tgtEl>
                                          <p:spTgt spid="27"/>
                                        </p:tgtEl>
                                        <p:attrNameLst>
                                          <p:attrName>ppt_y</p:attrName>
                                        </p:attrNameLst>
                                      </p:cBhvr>
                                      <p:tavLst>
                                        <p:tav tm="0" fmla="#ppt_y+(sin(-2*pi*(1-$))*-#ppt_x+cos(-2*pi*(1-$))*(1-#ppt_y))*(1-$)">
                                          <p:val>
                                            <p:fltVal val="0"/>
                                          </p:val>
                                        </p:tav>
                                        <p:tav tm="100000">
                                          <p:val>
                                            <p:fltVal val="1"/>
                                          </p:val>
                                        </p:tav>
                                      </p:tavLst>
                                    </p:anim>
                                  </p:childTnLst>
                                  <p:subTnLst>
                                    <p:set>
                                      <p:cBhvr override="childStyle">
                                        <p:cTn dur="1" fill="hold" display="0" masterRel="nextClick" afterEffect="1"/>
                                        <p:tgtEl>
                                          <p:spTgt spid="27"/>
                                        </p:tgtEl>
                                        <p:attrNameLst>
                                          <p:attrName>style.visibility</p:attrName>
                                        </p:attrNameLst>
                                      </p:cBhvr>
                                      <p:to>
                                        <p:strVal val="hidden"/>
                                      </p:to>
                                    </p:set>
                                  </p:subTnLst>
                                </p:cTn>
                              </p:par>
                            </p:childTnLst>
                          </p:cTn>
                        </p:par>
                      </p:childTnLst>
                    </p:cTn>
                  </p:par>
                  <p:par>
                    <p:cTn id="54" fill="hold">
                      <p:stCondLst>
                        <p:cond delay="indefinite"/>
                      </p:stCondLst>
                      <p:childTnLst>
                        <p:par>
                          <p:cTn id="55" fill="hold">
                            <p:stCondLst>
                              <p:cond delay="0"/>
                            </p:stCondLst>
                            <p:childTnLst>
                              <p:par>
                                <p:cTn id="56" presetID="15"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 calcmode="lin" valueType="num">
                                      <p:cBhvr>
                                        <p:cTn id="58" dur="1000" fill="hold"/>
                                        <p:tgtEl>
                                          <p:spTgt spid="29"/>
                                        </p:tgtEl>
                                        <p:attrNameLst>
                                          <p:attrName>ppt_w</p:attrName>
                                        </p:attrNameLst>
                                      </p:cBhvr>
                                      <p:tavLst>
                                        <p:tav tm="0">
                                          <p:val>
                                            <p:fltVal val="0"/>
                                          </p:val>
                                        </p:tav>
                                        <p:tav tm="100000">
                                          <p:val>
                                            <p:strVal val="#ppt_w"/>
                                          </p:val>
                                        </p:tav>
                                      </p:tavLst>
                                    </p:anim>
                                    <p:anim calcmode="lin" valueType="num">
                                      <p:cBhvr>
                                        <p:cTn id="59" dur="1000" fill="hold"/>
                                        <p:tgtEl>
                                          <p:spTgt spid="29"/>
                                        </p:tgtEl>
                                        <p:attrNameLst>
                                          <p:attrName>ppt_h</p:attrName>
                                        </p:attrNameLst>
                                      </p:cBhvr>
                                      <p:tavLst>
                                        <p:tav tm="0">
                                          <p:val>
                                            <p:fltVal val="0"/>
                                          </p:val>
                                        </p:tav>
                                        <p:tav tm="100000">
                                          <p:val>
                                            <p:strVal val="#ppt_h"/>
                                          </p:val>
                                        </p:tav>
                                      </p:tavLst>
                                    </p:anim>
                                    <p:anim calcmode="lin" valueType="num">
                                      <p:cBhvr>
                                        <p:cTn id="60" dur="1000" fill="hold"/>
                                        <p:tgtEl>
                                          <p:spTgt spid="29"/>
                                        </p:tgtEl>
                                        <p:attrNameLst>
                                          <p:attrName>ppt_x</p:attrName>
                                        </p:attrNameLst>
                                      </p:cBhvr>
                                      <p:tavLst>
                                        <p:tav tm="0" fmla="#ppt_x+(cos(-2*pi*(1-$))*-#ppt_x-sin(-2*pi*(1-$))*(1-#ppt_y))*(1-$)">
                                          <p:val>
                                            <p:fltVal val="0"/>
                                          </p:val>
                                        </p:tav>
                                        <p:tav tm="100000">
                                          <p:val>
                                            <p:fltVal val="1"/>
                                          </p:val>
                                        </p:tav>
                                      </p:tavLst>
                                    </p:anim>
                                    <p:anim calcmode="lin" valueType="num">
                                      <p:cBhvr>
                                        <p:cTn id="61" dur="1000" fill="hold"/>
                                        <p:tgtEl>
                                          <p:spTgt spid="29"/>
                                        </p:tgtEl>
                                        <p:attrNameLst>
                                          <p:attrName>ppt_y</p:attrName>
                                        </p:attrNameLst>
                                      </p:cBhvr>
                                      <p:tavLst>
                                        <p:tav tm="0" fmla="#ppt_y+(sin(-2*pi*(1-$))*-#ppt_x+cos(-2*pi*(1-$))*(1-#ppt_y))*(1-$)">
                                          <p:val>
                                            <p:fltVal val="0"/>
                                          </p:val>
                                        </p:tav>
                                        <p:tav tm="100000">
                                          <p:val>
                                            <p:fltVal val="1"/>
                                          </p:val>
                                        </p:tav>
                                      </p:tavLst>
                                    </p:anim>
                                  </p:childTnLst>
                                  <p:subTnLst>
                                    <p:set>
                                      <p:cBhvr override="childStyle">
                                        <p:cTn dur="1" fill="hold" display="0" masterRel="nextClick" afterEffect="1"/>
                                        <p:tgtEl>
                                          <p:spTgt spid="29"/>
                                        </p:tgtEl>
                                        <p:attrNameLst>
                                          <p:attrName>style.visibility</p:attrName>
                                        </p:attrNameLst>
                                      </p:cBhvr>
                                      <p:to>
                                        <p:strVal val="hidden"/>
                                      </p:to>
                                    </p:set>
                                  </p:subTnLst>
                                </p:cTn>
                              </p:par>
                              <p:par>
                                <p:cTn id="62" presetID="26" presetClass="emph" presetSubtype="0" fill="hold" grpId="0" nodeType="withEffect">
                                  <p:stCondLst>
                                    <p:cond delay="0"/>
                                  </p:stCondLst>
                                  <p:childTnLst>
                                    <p:animEffect transition="out" filter="fade">
                                      <p:cBhvr>
                                        <p:cTn id="63" dur="500" tmFilter="0, 0; .2, .5; .8, .5; 1, 0"/>
                                        <p:tgtEl>
                                          <p:spTgt spid="28"/>
                                        </p:tgtEl>
                                      </p:cBhvr>
                                    </p:animEffect>
                                    <p:animScale>
                                      <p:cBhvr>
                                        <p:cTn id="64" dur="250" autoRev="1" fill="hold"/>
                                        <p:tgtEl>
                                          <p:spTgt spid="28"/>
                                        </p:tgtEl>
                                      </p:cBhvr>
                                      <p:by x="105000" y="105000"/>
                                    </p:animScale>
                                  </p:childTnLst>
                                </p:cTn>
                              </p:par>
                            </p:childTnLst>
                          </p:cTn>
                        </p:par>
                      </p:childTnLst>
                    </p:cTn>
                  </p:par>
                  <p:par>
                    <p:cTn id="65" fill="hold">
                      <p:stCondLst>
                        <p:cond delay="indefinite"/>
                      </p:stCondLst>
                      <p:childTnLst>
                        <p:par>
                          <p:cTn id="66" fill="hold">
                            <p:stCondLst>
                              <p:cond delay="0"/>
                            </p:stCondLst>
                            <p:childTnLst>
                              <p:par>
                                <p:cTn id="67" presetID="3" presetClass="entr" presetSubtype="10" fill="hold" grpId="0" nodeType="clickEffect">
                                  <p:stCondLst>
                                    <p:cond delay="0"/>
                                  </p:stCondLst>
                                  <p:childTnLst>
                                    <p:set>
                                      <p:cBhvr>
                                        <p:cTn id="68" dur="1" fill="hold">
                                          <p:stCondLst>
                                            <p:cond delay="0"/>
                                          </p:stCondLst>
                                        </p:cTn>
                                        <p:tgtEl>
                                          <p:spTgt spid="16">
                                            <p:txEl>
                                              <p:pRg st="2" end="2"/>
                                            </p:txEl>
                                          </p:spTgt>
                                        </p:tgtEl>
                                        <p:attrNameLst>
                                          <p:attrName>style.visibility</p:attrName>
                                        </p:attrNameLst>
                                      </p:cBhvr>
                                      <p:to>
                                        <p:strVal val="visible"/>
                                      </p:to>
                                    </p:set>
                                    <p:animEffect transition="in" filter="blinds(horizontal)">
                                      <p:cBhvr>
                                        <p:cTn id="69" dur="500"/>
                                        <p:tgtEl>
                                          <p:spTgt spid="16">
                                            <p:txEl>
                                              <p:pRg st="2" end="2"/>
                                            </p:txEl>
                                          </p:spTgt>
                                        </p:tgtEl>
                                      </p:cBhvr>
                                    </p:animEffect>
                                  </p:childTnLst>
                                </p:cTn>
                              </p:par>
                              <p:par>
                                <p:cTn id="70" presetID="3" presetClass="entr" presetSubtype="10" fill="hold" grpId="0" nodeType="withEffect">
                                  <p:stCondLst>
                                    <p:cond delay="0"/>
                                  </p:stCondLst>
                                  <p:childTnLst>
                                    <p:set>
                                      <p:cBhvr>
                                        <p:cTn id="71" dur="1" fill="hold">
                                          <p:stCondLst>
                                            <p:cond delay="0"/>
                                          </p:stCondLst>
                                        </p:cTn>
                                        <p:tgtEl>
                                          <p:spTgt spid="16">
                                            <p:txEl>
                                              <p:pRg st="3" end="3"/>
                                            </p:txEl>
                                          </p:spTgt>
                                        </p:tgtEl>
                                        <p:attrNameLst>
                                          <p:attrName>style.visibility</p:attrName>
                                        </p:attrNameLst>
                                      </p:cBhvr>
                                      <p:to>
                                        <p:strVal val="visible"/>
                                      </p:to>
                                    </p:set>
                                    <p:animEffect transition="in" filter="blinds(horizontal)">
                                      <p:cBhvr>
                                        <p:cTn id="72" dur="500"/>
                                        <p:tgtEl>
                                          <p:spTgt spid="16">
                                            <p:txEl>
                                              <p:pRg st="3" end="3"/>
                                            </p:txEl>
                                          </p:spTgt>
                                        </p:tgtEl>
                                      </p:cBhvr>
                                    </p:animEffect>
                                  </p:childTnLst>
                                </p:cTn>
                              </p:par>
                              <p:par>
                                <p:cTn id="73" presetID="3" presetClass="entr" presetSubtype="10" fill="hold" grpId="0" nodeType="withEffect">
                                  <p:stCondLst>
                                    <p:cond delay="0"/>
                                  </p:stCondLst>
                                  <p:childTnLst>
                                    <p:set>
                                      <p:cBhvr>
                                        <p:cTn id="74" dur="1" fill="hold">
                                          <p:stCondLst>
                                            <p:cond delay="0"/>
                                          </p:stCondLst>
                                        </p:cTn>
                                        <p:tgtEl>
                                          <p:spTgt spid="16">
                                            <p:txEl>
                                              <p:pRg st="4" end="4"/>
                                            </p:txEl>
                                          </p:spTgt>
                                        </p:tgtEl>
                                        <p:attrNameLst>
                                          <p:attrName>style.visibility</p:attrName>
                                        </p:attrNameLst>
                                      </p:cBhvr>
                                      <p:to>
                                        <p:strVal val="visible"/>
                                      </p:to>
                                    </p:set>
                                    <p:animEffect transition="in" filter="blinds(horizontal)">
                                      <p:cBhvr>
                                        <p:cTn id="75" dur="500"/>
                                        <p:tgtEl>
                                          <p:spTgt spid="16">
                                            <p:txEl>
                                              <p:pRg st="4" end="4"/>
                                            </p:txEl>
                                          </p:spTgt>
                                        </p:tgtEl>
                                      </p:cBhvr>
                                    </p:animEffect>
                                  </p:childTnLst>
                                </p:cTn>
                              </p:par>
                              <p:par>
                                <p:cTn id="76" presetID="3" presetClass="entr" presetSubtype="10" fill="hold" grpId="0" nodeType="withEffect">
                                  <p:stCondLst>
                                    <p:cond delay="0"/>
                                  </p:stCondLst>
                                  <p:childTnLst>
                                    <p:set>
                                      <p:cBhvr>
                                        <p:cTn id="77" dur="1" fill="hold">
                                          <p:stCondLst>
                                            <p:cond delay="0"/>
                                          </p:stCondLst>
                                        </p:cTn>
                                        <p:tgtEl>
                                          <p:spTgt spid="16">
                                            <p:txEl>
                                              <p:pRg st="5" end="5"/>
                                            </p:txEl>
                                          </p:spTgt>
                                        </p:tgtEl>
                                        <p:attrNameLst>
                                          <p:attrName>style.visibility</p:attrName>
                                        </p:attrNameLst>
                                      </p:cBhvr>
                                      <p:to>
                                        <p:strVal val="visible"/>
                                      </p:to>
                                    </p:set>
                                    <p:animEffect transition="in" filter="blinds(horizontal)">
                                      <p:cBhvr>
                                        <p:cTn id="78" dur="500"/>
                                        <p:tgtEl>
                                          <p:spTgt spid="1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p"/>
      <p:bldP spid="18" grpId="0"/>
      <p:bldP spid="19" grpId="0"/>
      <p:bldP spid="20" grpId="0"/>
      <p:bldP spid="21" grpId="0"/>
      <p:bldP spid="22" grpId="0"/>
      <p:bldP spid="23" grpId="0"/>
      <p:bldP spid="24" grpId="0"/>
      <p:bldP spid="25" grpId="0"/>
      <p:bldP spid="26" grpId="0" animBg="1"/>
      <p:bldP spid="27" grpId="0"/>
      <p:bldP spid="28" grpId="0" animBg="1"/>
      <p:bldP spid="28" grpId="1" animBg="1"/>
      <p:bldP spid="29"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772DD169-DEA5-5B44-A350-5FCDB232B3AC}"/>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固定分区存储管理</a:t>
            </a:r>
          </a:p>
        </p:txBody>
      </p:sp>
      <p:sp>
        <p:nvSpPr>
          <p:cNvPr id="47107" name="Rectangle 3">
            <a:extLst>
              <a:ext uri="{FF2B5EF4-FFF2-40B4-BE49-F238E27FC236}">
                <a16:creationId xmlns:a16="http://schemas.microsoft.com/office/drawing/2014/main" id="{AA3450FD-8571-5947-96A3-44C572FAA4D7}"/>
              </a:ext>
            </a:extLst>
          </p:cNvPr>
          <p:cNvSpPr>
            <a:spLocks noGrp="1" noChangeArrowheads="1"/>
          </p:cNvSpPr>
          <p:nvPr>
            <p:ph type="body" idx="1"/>
          </p:nvPr>
        </p:nvSpPr>
        <p:spPr>
          <a:xfrm>
            <a:off x="1079500" y="1785938"/>
            <a:ext cx="7350125" cy="3943350"/>
          </a:xfrm>
        </p:spPr>
        <p:txBody>
          <a:bodyPr/>
          <a:lstStyle/>
          <a:p>
            <a:pPr marL="0" indent="342900"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5. </a:t>
            </a:r>
            <a:r>
              <a:rPr lang="zh-CN" altLang="en-US" sz="2200">
                <a:solidFill>
                  <a:srgbClr val="FF0000"/>
                </a:solidFill>
                <a:effectLst/>
                <a:latin typeface="宋体" panose="02010600030101010101" pitchFamily="2" charset="-122"/>
              </a:rPr>
              <a:t>固定分区分配的优缺点</a:t>
            </a:r>
          </a:p>
          <a:p>
            <a:pPr marL="0" indent="342900" eaLnBrk="1" hangingPunct="1">
              <a:lnSpc>
                <a:spcPct val="150000"/>
              </a:lnSpc>
              <a:spcBef>
                <a:spcPct val="0"/>
              </a:spcBef>
              <a:buFont typeface="Wingdings" pitchFamily="2" charset="2"/>
              <a:buNone/>
            </a:pPr>
            <a:r>
              <a:rPr lang="zh-CN" altLang="en-US" sz="2000">
                <a:solidFill>
                  <a:srgbClr val="FF0000"/>
                </a:solidFill>
                <a:effectLst/>
                <a:latin typeface="宋体" panose="02010600030101010101" pitchFamily="2" charset="-122"/>
              </a:rPr>
              <a:t>优点：</a:t>
            </a:r>
            <a:r>
              <a:rPr lang="zh-CN" altLang="en-US" sz="2000">
                <a:solidFill>
                  <a:schemeClr val="tx1"/>
                </a:solidFill>
                <a:effectLst/>
                <a:latin typeface="宋体" panose="02010600030101010101" pitchFamily="2" charset="-122"/>
              </a:rPr>
              <a:t>通过分区分配表来实现内存分配与回收，而且程序执行时采用静态重定位这种方式简单易行，</a:t>
            </a:r>
            <a:r>
              <a:rPr lang="en-US" altLang="zh-CN" sz="2000">
                <a:solidFill>
                  <a:schemeClr val="tx1"/>
                </a:solidFill>
                <a:effectLst/>
                <a:latin typeface="宋体" panose="02010600030101010101" pitchFamily="2" charset="-122"/>
              </a:rPr>
              <a:t>CPU</a:t>
            </a:r>
            <a:r>
              <a:rPr lang="zh-CN" altLang="en-US" sz="2000">
                <a:solidFill>
                  <a:schemeClr val="tx1"/>
                </a:solidFill>
                <a:effectLst/>
                <a:latin typeface="宋体" panose="02010600030101010101" pitchFamily="2" charset="-122"/>
              </a:rPr>
              <a:t>利用率较高。</a:t>
            </a:r>
          </a:p>
          <a:p>
            <a:pPr marL="0" indent="342900" eaLnBrk="1" hangingPunct="1">
              <a:lnSpc>
                <a:spcPct val="150000"/>
              </a:lnSpc>
              <a:spcBef>
                <a:spcPct val="0"/>
              </a:spcBef>
              <a:buFont typeface="Wingdings" pitchFamily="2" charset="2"/>
              <a:buNone/>
            </a:pPr>
            <a:r>
              <a:rPr lang="zh-CN" altLang="en-US" sz="2000">
                <a:solidFill>
                  <a:srgbClr val="FF0000"/>
                </a:solidFill>
                <a:effectLst/>
                <a:latin typeface="宋体" panose="02010600030101010101" pitchFamily="2" charset="-122"/>
              </a:rPr>
              <a:t>缺点：</a:t>
            </a:r>
            <a:r>
              <a:rPr lang="zh-CN" altLang="en-US" sz="2000">
                <a:solidFill>
                  <a:schemeClr val="tx1"/>
                </a:solidFill>
                <a:effectLst/>
                <a:latin typeface="宋体" panose="02010600030101010101" pitchFamily="2" charset="-122"/>
              </a:rPr>
              <a:t>程序大小受分区大小的限制，当分区较大而程序较小时容易形成内部碎片（一个分区内部浪费的空间称为内部碎片）而造成内存空间的浪费；</a:t>
            </a:r>
          </a:p>
          <a:p>
            <a:pPr marL="0" indent="34290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由于固定分区分配方式使分区总数固定，这就限制了并发执行程序的数量。</a:t>
            </a:r>
          </a:p>
        </p:txBody>
      </p:sp>
    </p:spTree>
  </p:cSld>
  <p:clrMapOvr>
    <a:masterClrMapping/>
  </p:clrMapOvr>
  <p:transition>
    <p:random/>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53BB9374-F453-7B42-B227-690254E00DFA}"/>
              </a:ext>
            </a:extLst>
          </p:cNvPr>
          <p:cNvSpPr txBox="1">
            <a:spLocks noChangeArrowheads="1"/>
          </p:cNvSpPr>
          <p:nvPr/>
        </p:nvSpPr>
        <p:spPr bwMode="auto">
          <a:xfrm>
            <a:off x="125412" y="2276872"/>
            <a:ext cx="8893175" cy="3887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200000"/>
              </a:lnSpc>
              <a:spcBef>
                <a:spcPct val="20000"/>
              </a:spcBef>
              <a:spcAft>
                <a:spcPct val="0"/>
              </a:spcAft>
              <a:buClrTx/>
              <a:buSzTx/>
              <a:buFont typeface="Arial" panose="020B0604020202020204" pitchFamily="34" charset="0"/>
              <a:buNone/>
              <a:tabLst/>
              <a:defRPr/>
            </a:pPr>
            <a:r>
              <a:rPr kumimoji="0" lang="zh-CN" altLang="en-US" sz="1800" b="0" i="0" u="none" strike="noStrike" kern="1200" cap="none" spc="0" normalizeH="0" baseline="0" noProof="0">
                <a:ln>
                  <a:noFill/>
                </a:ln>
                <a:solidFill>
                  <a:srgbClr val="000000"/>
                </a:solidFill>
                <a:effectLst/>
                <a:uLnTx/>
                <a:uFillTx/>
                <a:latin typeface="Calibri"/>
                <a:ea typeface="宋体"/>
                <a:cs typeface="+mn-cs"/>
              </a:rPr>
              <a:t>　　</a:t>
            </a:r>
            <a:r>
              <a:rPr kumimoji="0" lang="zh-CN" altLang="en-US" sz="2000" b="0" i="0" u="none" strike="noStrike" kern="1200" cap="none" spc="0" normalizeH="0" baseline="0" noProof="0">
                <a:ln>
                  <a:noFill/>
                </a:ln>
                <a:solidFill>
                  <a:srgbClr val="000000"/>
                </a:solidFill>
                <a:effectLst/>
                <a:uLnTx/>
                <a:uFillTx/>
                <a:latin typeface="Calibri"/>
                <a:ea typeface="宋体"/>
                <a:cs typeface="+mn-cs"/>
              </a:rPr>
              <a:t>　  针对固定分区存储管理中出现的诸多缺点和问题，</a:t>
            </a:r>
            <a:r>
              <a:rPr kumimoji="0" lang="zh-CN" altLang="en-US" sz="2000" b="1" i="0" u="none" strike="noStrike" kern="1200" cap="none" spc="0" normalizeH="0" baseline="0" noProof="0">
                <a:ln>
                  <a:noFill/>
                </a:ln>
                <a:solidFill>
                  <a:srgbClr val="0000FF"/>
                </a:solidFill>
                <a:effectLst/>
                <a:uLnTx/>
                <a:uFillTx/>
                <a:latin typeface="方正粗黑宋简体" panose="02000000000000000000" pitchFamily="2" charset="-122"/>
                <a:ea typeface="方正粗黑宋简体" panose="02000000000000000000" pitchFamily="2" charset="-122"/>
                <a:cs typeface="+mn-cs"/>
              </a:rPr>
              <a:t>可变分区存储管理</a:t>
            </a:r>
            <a:r>
              <a:rPr kumimoji="0" lang="zh-CN" altLang="en-US" sz="2000" b="0" i="0" u="none" strike="noStrike" kern="1200" cap="none" spc="0" normalizeH="0" baseline="0" noProof="0">
                <a:ln>
                  <a:noFill/>
                </a:ln>
                <a:solidFill>
                  <a:srgbClr val="000000"/>
                </a:solidFill>
                <a:effectLst/>
                <a:uLnTx/>
                <a:uFillTx/>
                <a:latin typeface="Calibri"/>
                <a:ea typeface="宋体"/>
                <a:cs typeface="+mn-cs"/>
              </a:rPr>
              <a:t>方法应运而生。在这种管理模式下，</a:t>
            </a:r>
            <a:r>
              <a:rPr kumimoji="0" lang="zh-CN" altLang="en-US" sz="2000" b="1" i="0" u="none" strike="noStrike" kern="1200" cap="none" spc="0" normalizeH="0" baseline="0" noProof="0">
                <a:ln>
                  <a:noFill/>
                </a:ln>
                <a:solidFill>
                  <a:srgbClr val="0000FF"/>
                </a:solidFill>
                <a:effectLst/>
                <a:uLnTx/>
                <a:uFillTx/>
                <a:latin typeface="方正小标宋_GBK" panose="03000509000000000000" pitchFamily="65" charset="-122"/>
                <a:ea typeface="方正小标宋_GBK" panose="03000509000000000000" pitchFamily="65" charset="-122"/>
                <a:cs typeface="+mn-cs"/>
              </a:rPr>
              <a:t>主存中的分区不是预先划分好的，而是在主存空间充足的情况下，根据该作业需要的空间大小划分出一个分区分配给作业</a:t>
            </a:r>
            <a:r>
              <a:rPr kumimoji="0" lang="zh-CN" altLang="en-US" sz="2000" b="0" i="0" u="none" strike="noStrike" kern="1200" cap="none" spc="0" normalizeH="0" baseline="0" noProof="0">
                <a:ln>
                  <a:noFill/>
                </a:ln>
                <a:solidFill>
                  <a:srgbClr val="000000"/>
                </a:solidFill>
                <a:effectLst/>
                <a:uLnTx/>
                <a:uFillTx/>
                <a:latin typeface="Calibri"/>
                <a:ea typeface="宋体"/>
                <a:cs typeface="+mn-cs"/>
              </a:rPr>
              <a:t>，这样就</a:t>
            </a:r>
            <a:r>
              <a:rPr kumimoji="0" lang="zh-CN" altLang="en-US" sz="2000" b="1" i="0" u="sng" strike="noStrike" kern="1200" cap="none" spc="0" normalizeH="0" baseline="0" noProof="0">
                <a:ln>
                  <a:noFill/>
                </a:ln>
                <a:solidFill>
                  <a:srgbClr val="7030A0"/>
                </a:solidFill>
                <a:effectLst/>
                <a:uLnTx/>
                <a:uFillTx/>
                <a:latin typeface="华文行楷" panose="02010800040101010101" pitchFamily="2" charset="-122"/>
                <a:ea typeface="华文行楷" panose="02010800040101010101" pitchFamily="2" charset="-122"/>
                <a:cs typeface="+mn-cs"/>
              </a:rPr>
              <a:t>达到了分区大小就等于作业大小，消除了内部碎片的问题。</a:t>
            </a:r>
            <a:r>
              <a:rPr kumimoji="0" lang="zh-CN" altLang="en-US" sz="2000" b="0" i="0" u="none" strike="noStrike" kern="1200" cap="none" spc="0" normalizeH="0" baseline="0" noProof="0">
                <a:ln>
                  <a:noFill/>
                </a:ln>
                <a:solidFill>
                  <a:srgbClr val="000000"/>
                </a:solidFill>
                <a:effectLst/>
                <a:uLnTx/>
                <a:uFillTx/>
                <a:latin typeface="Calibri"/>
                <a:ea typeface="宋体"/>
                <a:cs typeface="+mn-cs"/>
              </a:rPr>
              <a:t>在可变分区存储管理模式下，</a:t>
            </a:r>
            <a:r>
              <a:rPr kumimoji="0" lang="zh-CN" altLang="en-US" sz="2000" b="1" i="0" u="none" strike="noStrike" kern="1200" cap="none" spc="0" normalizeH="0" baseline="0" noProof="0">
                <a:ln>
                  <a:noFill/>
                </a:ln>
                <a:solidFill>
                  <a:srgbClr val="000000"/>
                </a:solidFill>
                <a:effectLst/>
                <a:uLnTx/>
                <a:uFillTx/>
                <a:latin typeface="方正小标宋_GBK" panose="03000509000000000000" pitchFamily="65" charset="-122"/>
                <a:ea typeface="方正小标宋_GBK" panose="03000509000000000000" pitchFamily="65" charset="-122"/>
                <a:cs typeface="+mn-cs"/>
              </a:rPr>
              <a:t>主存分区的大小、起始地址等都是不固定的</a:t>
            </a:r>
            <a:r>
              <a:rPr kumimoji="0" lang="zh-CN" altLang="en-US" sz="2000" b="0" i="0" u="none" strike="noStrike" kern="1200" cap="none" spc="0" normalizeH="0" baseline="0" noProof="0">
                <a:ln>
                  <a:noFill/>
                </a:ln>
                <a:solidFill>
                  <a:srgbClr val="000000"/>
                </a:solidFill>
                <a:effectLst/>
                <a:uLnTx/>
                <a:uFillTx/>
                <a:latin typeface="Calibri"/>
                <a:ea typeface="宋体"/>
                <a:cs typeface="+mn-cs"/>
              </a:rPr>
              <a:t>。</a:t>
            </a:r>
          </a:p>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1200" b="0" i="0" u="none" strike="noStrike" kern="1200" cap="none" spc="0" normalizeH="0" baseline="0" noProof="0">
                <a:ln>
                  <a:noFill/>
                </a:ln>
                <a:solidFill>
                  <a:srgbClr val="000000"/>
                </a:solidFill>
                <a:effectLst/>
                <a:uLnTx/>
                <a:uFillTx/>
                <a:latin typeface="Calibri"/>
                <a:ea typeface="宋体"/>
                <a:cs typeface="+mn-cs"/>
              </a:rPr>
              <a:t>　　</a:t>
            </a:r>
            <a:endParaRPr kumimoji="0" lang="zh-CN" altLang="en-US" sz="1200" b="0" i="0" u="none" strike="noStrike" kern="1200" cap="none" spc="0" normalizeH="0" baseline="0" noProof="0" dirty="0">
              <a:ln>
                <a:noFill/>
              </a:ln>
              <a:solidFill>
                <a:srgbClr val="000000"/>
              </a:solidFill>
              <a:effectLst/>
              <a:uLnTx/>
              <a:uFillTx/>
              <a:latin typeface="Calibri"/>
              <a:ea typeface="宋体"/>
              <a:cs typeface="+mn-cs"/>
            </a:endParaRPr>
          </a:p>
        </p:txBody>
      </p:sp>
      <p:sp>
        <p:nvSpPr>
          <p:cNvPr id="4" name="AutoShape 3">
            <a:extLst>
              <a:ext uri="{FF2B5EF4-FFF2-40B4-BE49-F238E27FC236}">
                <a16:creationId xmlns:a16="http://schemas.microsoft.com/office/drawing/2014/main" id="{E8994097-B153-9E4C-80FD-0F4F4D36979F}"/>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4.3 </a:t>
            </a:r>
            <a:r>
              <a:rPr lang="en-US" altLang="en-US" sz="2800" b="0" dirty="0" err="1">
                <a:solidFill>
                  <a:srgbClr val="FF0000"/>
                </a:solidFill>
                <a:latin typeface="Verdana" panose="020B0604030504040204" pitchFamily="34" charset="0"/>
                <a:ea typeface="黑体" panose="02010609060101010101" pitchFamily="49" charset="-122"/>
              </a:rPr>
              <a:t>分区式存储管理</a:t>
            </a:r>
            <a:endParaRPr lang="en-US" altLang="en-US" sz="2800" b="0" dirty="0">
              <a:solidFill>
                <a:srgbClr val="FF0000"/>
              </a:solidFill>
              <a:latin typeface="Verdana" panose="020B0604030504040204" pitchFamily="34" charset="0"/>
              <a:ea typeface="黑体" panose="02010609060101010101" pitchFamily="49" charset="-122"/>
            </a:endParaRPr>
          </a:p>
        </p:txBody>
      </p:sp>
      <p:sp>
        <p:nvSpPr>
          <p:cNvPr id="5" name="Rectangle 4">
            <a:extLst>
              <a:ext uri="{FF2B5EF4-FFF2-40B4-BE49-F238E27FC236}">
                <a16:creationId xmlns:a16="http://schemas.microsoft.com/office/drawing/2014/main" id="{B242A03C-338B-774B-BC81-65229CC4CC4B}"/>
              </a:ext>
            </a:extLst>
          </p:cNvPr>
          <p:cNvSpPr/>
          <p:nvPr/>
        </p:nvSpPr>
        <p:spPr>
          <a:xfrm>
            <a:off x="491579" y="1493212"/>
            <a:ext cx="3158237" cy="400110"/>
          </a:xfrm>
          <a:prstGeom prst="rect">
            <a:avLst/>
          </a:prstGeom>
        </p:spPr>
        <p:txBody>
          <a:bodyPr wrap="none">
            <a:spAutoFit/>
          </a:bodyPr>
          <a:lstStyle/>
          <a:p>
            <a:pPr>
              <a:buFont typeface="Wingdings" pitchFamily="2" charset="2"/>
              <a:buNone/>
            </a:pPr>
            <a:r>
              <a:rPr lang="en-US" altLang="zh-CN" dirty="0">
                <a:solidFill>
                  <a:srgbClr val="FF0000"/>
                </a:solidFill>
                <a:effectLst>
                  <a:outerShdw blurRad="38100" dist="38100" dir="2700000" algn="tl">
                    <a:srgbClr val="FFFFFF"/>
                  </a:outerShdw>
                </a:effectLst>
              </a:rPr>
              <a:t>4.3.3  </a:t>
            </a:r>
            <a:r>
              <a:rPr lang="zh-CN" altLang="en-US" dirty="0">
                <a:solidFill>
                  <a:srgbClr val="FF0000"/>
                </a:solidFill>
                <a:effectLst>
                  <a:outerShdw blurRad="38100" dist="38100" dir="2700000" algn="tl">
                    <a:srgbClr val="FFFFFF"/>
                  </a:outerShdw>
                </a:effectLst>
              </a:rPr>
              <a:t>可变分区存储管理</a:t>
            </a:r>
          </a:p>
        </p:txBody>
      </p:sp>
    </p:spTree>
    <p:extLst>
      <p:ext uri="{BB962C8B-B14F-4D97-AF65-F5344CB8AC3E}">
        <p14:creationId xmlns:p14="http://schemas.microsoft.com/office/powerpoint/2010/main" val="1486045361"/>
      </p:ext>
    </p:extLst>
  </p:cSld>
  <p:clrMapOvr>
    <a:masterClrMapping/>
  </p:clrMapOvr>
  <p:transition>
    <p:random/>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a:extLst>
              <a:ext uri="{FF2B5EF4-FFF2-40B4-BE49-F238E27FC236}">
                <a16:creationId xmlns:a16="http://schemas.microsoft.com/office/drawing/2014/main" id="{02BD2A42-336E-AD4F-8FC7-63CDD29864DE}"/>
              </a:ext>
            </a:extLst>
          </p:cNvPr>
          <p:cNvSpPr>
            <a:spLocks noGrp="1" noChangeArrowheads="1"/>
          </p:cNvSpPr>
          <p:nvPr>
            <p:ph type="body" idx="1"/>
          </p:nvPr>
        </p:nvSpPr>
        <p:spPr>
          <a:xfrm>
            <a:off x="723900" y="1214438"/>
            <a:ext cx="7848600" cy="5159375"/>
          </a:xfrm>
        </p:spPr>
        <p:txBody>
          <a:bodyPr/>
          <a:lstStyle/>
          <a:p>
            <a:pPr>
              <a:buFont typeface="Wingdings" pitchFamily="2" charset="2"/>
              <a:buNone/>
            </a:pPr>
            <a:r>
              <a:rPr lang="en-US" altLang="zh-CN" dirty="0">
                <a:solidFill>
                  <a:srgbClr val="FF0000"/>
                </a:solidFill>
                <a:effectLst>
                  <a:outerShdw blurRad="38100" dist="38100" dir="2700000" algn="tl">
                    <a:srgbClr val="FFFFFF"/>
                  </a:outerShdw>
                </a:effectLst>
              </a:rPr>
              <a:t>4.3.3  </a:t>
            </a:r>
            <a:r>
              <a:rPr lang="zh-CN" altLang="en-US" dirty="0">
                <a:solidFill>
                  <a:srgbClr val="FF0000"/>
                </a:solidFill>
                <a:effectLst>
                  <a:outerShdw blurRad="38100" dist="38100" dir="2700000" algn="tl">
                    <a:srgbClr val="FFFFFF"/>
                  </a:outerShdw>
                </a:effectLst>
              </a:rPr>
              <a:t>可变分区存储管理</a:t>
            </a:r>
          </a:p>
          <a:p>
            <a:pPr eaLnBrk="1" hangingPunct="1">
              <a:lnSpc>
                <a:spcPct val="120000"/>
              </a:lnSpc>
              <a:spcBef>
                <a:spcPct val="0"/>
              </a:spcBef>
              <a:buFont typeface="Wingdings" pitchFamily="2" charset="2"/>
              <a:buNone/>
            </a:pPr>
            <a:r>
              <a:rPr lang="en-US" altLang="zh-CN" sz="2200" dirty="0">
                <a:solidFill>
                  <a:srgbClr val="FF0000"/>
                </a:solidFill>
                <a:effectLst/>
                <a:latin typeface="宋体" panose="02010600030101010101" pitchFamily="2" charset="-122"/>
              </a:rPr>
              <a:t>1. </a:t>
            </a:r>
            <a:r>
              <a:rPr lang="zh-CN" altLang="en-US" sz="2200" dirty="0">
                <a:solidFill>
                  <a:srgbClr val="FF0000"/>
                </a:solidFill>
                <a:effectLst/>
                <a:latin typeface="宋体" panose="02010600030101010101" pitchFamily="2" charset="-122"/>
              </a:rPr>
              <a:t>实现原理</a:t>
            </a:r>
          </a:p>
          <a:p>
            <a:pPr eaLnBrk="1" hangingPunct="1">
              <a:lnSpc>
                <a:spcPct val="120000"/>
              </a:lnSpc>
              <a:spcBef>
                <a:spcPct val="0"/>
              </a:spcBef>
              <a:buFont typeface="Wingdings" pitchFamily="2" charset="2"/>
              <a:buNone/>
            </a:pPr>
            <a:r>
              <a:rPr lang="zh-CN" altLang="en-US" sz="2000" dirty="0">
                <a:solidFill>
                  <a:schemeClr val="tx1"/>
                </a:solidFill>
                <a:effectLst/>
                <a:latin typeface="宋体" panose="02010600030101010101" pitchFamily="2" charset="-122"/>
              </a:rPr>
              <a:t>在程序装入内存之前并不建立分区，内存分区是在程序运行时根据程序对内存空间的需要而动态建立的。</a:t>
            </a:r>
          </a:p>
          <a:p>
            <a:pPr eaLnBrk="1" hangingPunct="1">
              <a:lnSpc>
                <a:spcPct val="120000"/>
              </a:lnSpc>
              <a:spcBef>
                <a:spcPct val="0"/>
              </a:spcBef>
              <a:buFont typeface="Wingdings" pitchFamily="2" charset="2"/>
              <a:buNone/>
            </a:pPr>
            <a:r>
              <a:rPr lang="zh-CN" altLang="en-US" sz="2000" dirty="0">
                <a:solidFill>
                  <a:schemeClr val="tx1"/>
                </a:solidFill>
                <a:effectLst/>
                <a:latin typeface="宋体" panose="02010600030101010101" pitchFamily="2" charset="-122"/>
              </a:rPr>
              <a:t>分区的划分时间、大小及其位置都是动态的。</a:t>
            </a:r>
          </a:p>
          <a:p>
            <a:pPr eaLnBrk="1" hangingPunct="1">
              <a:lnSpc>
                <a:spcPct val="120000"/>
              </a:lnSpc>
              <a:spcBef>
                <a:spcPct val="0"/>
              </a:spcBef>
              <a:buFont typeface="Wingdings" pitchFamily="2" charset="2"/>
              <a:buNone/>
            </a:pPr>
            <a:r>
              <a:rPr lang="en-US" altLang="zh-CN" sz="2200" dirty="0">
                <a:solidFill>
                  <a:srgbClr val="FF0000"/>
                </a:solidFill>
                <a:effectLst/>
                <a:latin typeface="宋体" panose="02010600030101010101" pitchFamily="2" charset="-122"/>
              </a:rPr>
              <a:t>2. </a:t>
            </a:r>
            <a:r>
              <a:rPr lang="zh-CN" altLang="en-US" sz="2200" dirty="0">
                <a:solidFill>
                  <a:srgbClr val="FF0000"/>
                </a:solidFill>
                <a:effectLst/>
                <a:latin typeface="宋体" panose="02010600030101010101" pitchFamily="2" charset="-122"/>
              </a:rPr>
              <a:t>数据结构</a:t>
            </a:r>
          </a:p>
          <a:p>
            <a:pPr eaLnBrk="1" hangingPunct="1">
              <a:lnSpc>
                <a:spcPct val="120000"/>
              </a:lnSpc>
              <a:spcBef>
                <a:spcPct val="0"/>
              </a:spcBef>
              <a:buFont typeface="Wingdings" pitchFamily="2" charset="2"/>
              <a:buNone/>
            </a:pPr>
            <a:r>
              <a:rPr lang="zh-CN" altLang="en-US" sz="2000" dirty="0">
                <a:solidFill>
                  <a:srgbClr val="FF0000"/>
                </a:solidFill>
                <a:effectLst/>
                <a:latin typeface="宋体" panose="02010600030101010101" pitchFamily="2" charset="-122"/>
              </a:rPr>
              <a:t>包括：</a:t>
            </a:r>
            <a:r>
              <a:rPr lang="zh-CN" altLang="en-US" sz="2000" dirty="0">
                <a:solidFill>
                  <a:schemeClr val="tx1"/>
                </a:solidFill>
                <a:effectLst/>
                <a:latin typeface="宋体" panose="02010600030101010101" pitchFamily="2" charset="-122"/>
              </a:rPr>
              <a:t>已分配分区表、空闲分区表及空闲分区链。</a:t>
            </a:r>
          </a:p>
          <a:p>
            <a:pPr eaLnBrk="1" hangingPunct="1">
              <a:lnSpc>
                <a:spcPct val="120000"/>
              </a:lnSpc>
              <a:spcBef>
                <a:spcPct val="0"/>
              </a:spcBef>
              <a:buFont typeface="Wingdings" pitchFamily="2" charset="2"/>
              <a:buNone/>
            </a:pPr>
            <a:r>
              <a:rPr lang="zh-CN" altLang="en-US" sz="2000" dirty="0">
                <a:solidFill>
                  <a:srgbClr val="FF0000"/>
                </a:solidFill>
                <a:effectLst/>
                <a:latin typeface="宋体" panose="02010600030101010101" pitchFamily="2" charset="-122"/>
              </a:rPr>
              <a:t>已分配分区表</a:t>
            </a:r>
            <a:r>
              <a:rPr lang="zh-CN" altLang="en-US" sz="2000" dirty="0">
                <a:solidFill>
                  <a:schemeClr val="tx1"/>
                </a:solidFill>
                <a:effectLst/>
                <a:latin typeface="宋体" panose="02010600030101010101" pitchFamily="2" charset="-122"/>
              </a:rPr>
              <a:t>用于登记内存空间中已经分配的分区，每个表项记录一个已分配分区，其内容包括分区号、起始地址、大小和状态。</a:t>
            </a:r>
          </a:p>
          <a:p>
            <a:pPr eaLnBrk="1" hangingPunct="1">
              <a:lnSpc>
                <a:spcPct val="120000"/>
              </a:lnSpc>
              <a:spcBef>
                <a:spcPct val="0"/>
              </a:spcBef>
              <a:buFont typeface="Wingdings" pitchFamily="2" charset="2"/>
              <a:buNone/>
            </a:pPr>
            <a:r>
              <a:rPr lang="zh-CN" altLang="en-US" sz="2000" dirty="0">
                <a:solidFill>
                  <a:srgbClr val="FF0000"/>
                </a:solidFill>
                <a:effectLst/>
                <a:latin typeface="宋体" panose="02010600030101010101" pitchFamily="2" charset="-122"/>
              </a:rPr>
              <a:t>空闲分区表</a:t>
            </a:r>
            <a:r>
              <a:rPr lang="zh-CN" altLang="en-US" sz="2000" dirty="0">
                <a:solidFill>
                  <a:schemeClr val="tx1"/>
                </a:solidFill>
                <a:effectLst/>
                <a:latin typeface="宋体" panose="02010600030101010101" pitchFamily="2" charset="-122"/>
              </a:rPr>
              <a:t>则记录内存中所有空闲的分区，每个表项记录一个空闲分区，其内容包括分区号、起始地址、大小和状态。</a:t>
            </a:r>
          </a:p>
          <a:p>
            <a:pPr eaLnBrk="1" hangingPunct="1">
              <a:lnSpc>
                <a:spcPct val="120000"/>
              </a:lnSpc>
              <a:spcBef>
                <a:spcPct val="0"/>
              </a:spcBef>
              <a:buFont typeface="Wingdings" pitchFamily="2" charset="2"/>
              <a:buNone/>
            </a:pPr>
            <a:r>
              <a:rPr lang="zh-CN" altLang="en-US" sz="2000" dirty="0">
                <a:solidFill>
                  <a:srgbClr val="FF0000"/>
                </a:solidFill>
                <a:effectLst/>
                <a:latin typeface="宋体" panose="02010600030101010101" pitchFamily="2" charset="-122"/>
              </a:rPr>
              <a:t>空闲分区链</a:t>
            </a:r>
            <a:r>
              <a:rPr lang="zh-CN" altLang="en-US" sz="2000" dirty="0">
                <a:solidFill>
                  <a:schemeClr val="tx1"/>
                </a:solidFill>
                <a:effectLst/>
                <a:latin typeface="宋体" panose="02010600030101010101" pitchFamily="2" charset="-122"/>
              </a:rPr>
              <a:t>以系统当前的空闲分区为结点，利用链指针将所有空闲分区结点链接成一个双向循环队列。</a:t>
            </a:r>
          </a:p>
        </p:txBody>
      </p:sp>
      <p:sp>
        <p:nvSpPr>
          <p:cNvPr id="62467" name="AutoShape 3">
            <a:extLst>
              <a:ext uri="{FF2B5EF4-FFF2-40B4-BE49-F238E27FC236}">
                <a16:creationId xmlns:a16="http://schemas.microsoft.com/office/drawing/2014/main" id="{CB5319AB-F1D2-7F4A-A495-F4F4EEC4C3BA}"/>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dirty="0">
                <a:solidFill>
                  <a:srgbClr val="FF0000"/>
                </a:solidFill>
                <a:latin typeface="Verdana" panose="020B0604030504040204" pitchFamily="34" charset="0"/>
                <a:ea typeface="黑体" panose="02010609060101010101" pitchFamily="49" charset="-122"/>
              </a:rPr>
              <a:t>4.3 </a:t>
            </a:r>
            <a:r>
              <a:rPr lang="en-US" altLang="en-US" sz="2800" b="0" dirty="0" err="1">
                <a:solidFill>
                  <a:srgbClr val="FF0000"/>
                </a:solidFill>
                <a:latin typeface="Verdana" panose="020B0604030504040204" pitchFamily="34" charset="0"/>
                <a:ea typeface="黑体" panose="02010609060101010101" pitchFamily="49" charset="-122"/>
              </a:rPr>
              <a:t>分区式存储管理</a:t>
            </a:r>
            <a:endParaRPr lang="en-US" altLang="en-US" sz="2800" b="0" dirty="0">
              <a:solidFill>
                <a:srgbClr val="FF0000"/>
              </a:solidFill>
              <a:latin typeface="Verdana" panose="020B0604030504040204" pitchFamily="34" charset="0"/>
              <a:ea typeface="黑体" panose="02010609060101010101" pitchFamily="49" charset="-122"/>
            </a:endParaRPr>
          </a:p>
        </p:txBody>
      </p:sp>
    </p:spTree>
  </p:cSld>
  <p:clrMapOvr>
    <a:masterClrMapping/>
  </p:clrMapOvr>
  <p:transition>
    <p:random/>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3">
            <a:extLst>
              <a:ext uri="{FF2B5EF4-FFF2-40B4-BE49-F238E27FC236}">
                <a16:creationId xmlns:a16="http://schemas.microsoft.com/office/drawing/2014/main" id="{31513681-27AD-8848-AD5A-602919038358}"/>
              </a:ext>
            </a:extLst>
          </p:cNvPr>
          <p:cNvSpPr>
            <a:spLocks noGrp="1" noChangeArrowheads="1"/>
          </p:cNvSpPr>
          <p:nvPr>
            <p:ph type="title"/>
          </p:nvPr>
        </p:nvSpPr>
        <p:spPr>
          <a:noFill/>
        </p:spPr>
        <p:txBody>
          <a:bodyPr/>
          <a:lstStyle/>
          <a:p>
            <a:pPr eaLnBrk="1" hangingPunct="1"/>
            <a:r>
              <a:rPr lang="zh-CN" altLang="en-US" sz="2800" dirty="0">
                <a:solidFill>
                  <a:schemeClr val="tx1"/>
                </a:solidFill>
                <a:latin typeface="宋体" panose="02010600030101010101" pitchFamily="2" charset="-122"/>
              </a:rPr>
              <a:t>  </a:t>
            </a:r>
            <a:r>
              <a:rPr lang="zh-CN" altLang="en-US" sz="2800" dirty="0">
                <a:solidFill>
                  <a:srgbClr val="FF0000"/>
                </a:solidFill>
                <a:latin typeface="宋体" panose="02010600030101010101" pitchFamily="2" charset="-122"/>
              </a:rPr>
              <a:t>可变分区存储管理</a:t>
            </a:r>
          </a:p>
        </p:txBody>
      </p:sp>
      <p:sp>
        <p:nvSpPr>
          <p:cNvPr id="49155" name="Rectangle 2">
            <a:extLst>
              <a:ext uri="{FF2B5EF4-FFF2-40B4-BE49-F238E27FC236}">
                <a16:creationId xmlns:a16="http://schemas.microsoft.com/office/drawing/2014/main" id="{50966457-AE93-C146-9390-9B13B0C386E4}"/>
              </a:ext>
            </a:extLst>
          </p:cNvPr>
          <p:cNvSpPr>
            <a:spLocks noGrp="1" noChangeArrowheads="1"/>
          </p:cNvSpPr>
          <p:nvPr>
            <p:ph type="body" sz="half" idx="1"/>
          </p:nvPr>
        </p:nvSpPr>
        <p:spPr>
          <a:xfrm>
            <a:off x="500063" y="1214438"/>
            <a:ext cx="8027987" cy="428625"/>
          </a:xfrm>
        </p:spPr>
        <p:txBody>
          <a:bodyPr/>
          <a:lstStyle/>
          <a:p>
            <a:pPr marL="0" indent="0" eaLnBrk="1" hangingPunct="1">
              <a:buFont typeface="Wingdings" pitchFamily="2" charset="2"/>
              <a:buNone/>
            </a:pPr>
            <a:r>
              <a:rPr lang="en-US" altLang="zh-CN"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已分配分区表</a:t>
            </a:r>
            <a:r>
              <a:rPr lang="zh-CN" altLang="en-US"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空闲分区表</a:t>
            </a:r>
          </a:p>
        </p:txBody>
      </p:sp>
      <p:graphicFrame>
        <p:nvGraphicFramePr>
          <p:cNvPr id="63882" name="Group 394">
            <a:extLst>
              <a:ext uri="{FF2B5EF4-FFF2-40B4-BE49-F238E27FC236}">
                <a16:creationId xmlns:a16="http://schemas.microsoft.com/office/drawing/2014/main" id="{A17B0FA2-2B19-884D-89B8-349DC34B78D4}"/>
              </a:ext>
            </a:extLst>
          </p:cNvPr>
          <p:cNvGraphicFramePr>
            <a:graphicFrameLocks noGrp="1"/>
          </p:cNvGraphicFramePr>
          <p:nvPr>
            <p:ph sz="half" idx="2"/>
          </p:nvPr>
        </p:nvGraphicFramePr>
        <p:xfrm>
          <a:off x="360363" y="1643063"/>
          <a:ext cx="8459787" cy="1906590"/>
        </p:xfrm>
        <a:graphic>
          <a:graphicData uri="http://schemas.openxmlformats.org/drawingml/2006/table">
            <a:tbl>
              <a:tblPr/>
              <a:tblGrid>
                <a:gridCol w="820737">
                  <a:extLst>
                    <a:ext uri="{9D8B030D-6E8A-4147-A177-3AD203B41FA5}">
                      <a16:colId xmlns:a16="http://schemas.microsoft.com/office/drawing/2014/main" val="628474872"/>
                    </a:ext>
                  </a:extLst>
                </a:gridCol>
                <a:gridCol w="906463">
                  <a:extLst>
                    <a:ext uri="{9D8B030D-6E8A-4147-A177-3AD203B41FA5}">
                      <a16:colId xmlns:a16="http://schemas.microsoft.com/office/drawing/2014/main" val="3085804724"/>
                    </a:ext>
                  </a:extLst>
                </a:gridCol>
                <a:gridCol w="1060450">
                  <a:extLst>
                    <a:ext uri="{9D8B030D-6E8A-4147-A177-3AD203B41FA5}">
                      <a16:colId xmlns:a16="http://schemas.microsoft.com/office/drawing/2014/main" val="3930746958"/>
                    </a:ext>
                  </a:extLst>
                </a:gridCol>
                <a:gridCol w="919162">
                  <a:extLst>
                    <a:ext uri="{9D8B030D-6E8A-4147-A177-3AD203B41FA5}">
                      <a16:colId xmlns:a16="http://schemas.microsoft.com/office/drawing/2014/main" val="4222081308"/>
                    </a:ext>
                  </a:extLst>
                </a:gridCol>
                <a:gridCol w="376238">
                  <a:extLst>
                    <a:ext uri="{9D8B030D-6E8A-4147-A177-3AD203B41FA5}">
                      <a16:colId xmlns:a16="http://schemas.microsoft.com/office/drawing/2014/main" val="635572580"/>
                    </a:ext>
                  </a:extLst>
                </a:gridCol>
                <a:gridCol w="452437">
                  <a:extLst>
                    <a:ext uri="{9D8B030D-6E8A-4147-A177-3AD203B41FA5}">
                      <a16:colId xmlns:a16="http://schemas.microsoft.com/office/drawing/2014/main" val="1349404344"/>
                    </a:ext>
                  </a:extLst>
                </a:gridCol>
                <a:gridCol w="792163">
                  <a:extLst>
                    <a:ext uri="{9D8B030D-6E8A-4147-A177-3AD203B41FA5}">
                      <a16:colId xmlns:a16="http://schemas.microsoft.com/office/drawing/2014/main" val="1528800591"/>
                    </a:ext>
                  </a:extLst>
                </a:gridCol>
                <a:gridCol w="1152525">
                  <a:extLst>
                    <a:ext uri="{9D8B030D-6E8A-4147-A177-3AD203B41FA5}">
                      <a16:colId xmlns:a16="http://schemas.microsoft.com/office/drawing/2014/main" val="2323406244"/>
                    </a:ext>
                  </a:extLst>
                </a:gridCol>
                <a:gridCol w="1223962">
                  <a:extLst>
                    <a:ext uri="{9D8B030D-6E8A-4147-A177-3AD203B41FA5}">
                      <a16:colId xmlns:a16="http://schemas.microsoft.com/office/drawing/2014/main" val="895679535"/>
                    </a:ext>
                  </a:extLst>
                </a:gridCol>
                <a:gridCol w="755650">
                  <a:extLst>
                    <a:ext uri="{9D8B030D-6E8A-4147-A177-3AD203B41FA5}">
                      <a16:colId xmlns:a16="http://schemas.microsoft.com/office/drawing/2014/main" val="391099036"/>
                    </a:ext>
                  </a:extLst>
                </a:gridCol>
              </a:tblGrid>
              <a:tr h="560388">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分区号</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起始地址</a:t>
                      </a: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KB</a:t>
                      </a: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大小（</a:t>
                      </a: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KB</a:t>
                      </a: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状态</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分区号</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起始地址（</a:t>
                      </a: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KB</a:t>
                      </a: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大小（</a:t>
                      </a: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KB</a:t>
                      </a: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状态</a:t>
                      </a:r>
                      <a:endParaRPr kumimoji="0" lang="zh-CN" altLang="en-US"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94713185"/>
                  </a:ext>
                </a:extLst>
              </a:tr>
              <a:tr h="32861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50</a:t>
                      </a:r>
                      <a:endParaRPr kumimoji="0" lang="en-US" altLang="zh-CN" sz="1400" b="1"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P1</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70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5145892"/>
                  </a:ext>
                </a:extLst>
              </a:tr>
              <a:tr h="36036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90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15</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P2</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105</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155</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79909955"/>
                  </a:ext>
                </a:extLst>
              </a:tr>
              <a:tr h="32861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260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P3</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300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100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53691574"/>
                  </a:ext>
                </a:extLst>
              </a:tr>
              <a:tr h="32861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20000"/>
                        </a:spcBef>
                        <a:spcAft>
                          <a:spcPct val="0"/>
                        </a:spcAft>
                        <a:buClrTx/>
                        <a:buSzTx/>
                        <a:buFont typeface="Wingdings" pitchFamily="2" charset="2"/>
                        <a:buNone/>
                        <a:tabLst/>
                      </a:pPr>
                      <a:endParaRPr kumimoji="0" lang="zh-CN" altLang="zh-CN" sz="1400" b="1" i="0" u="none" strike="noStrike" cap="none" normalizeH="0" baseline="0">
                        <a:ln>
                          <a:noFill/>
                        </a:ln>
                        <a:solidFill>
                          <a:schemeClr val="tx2"/>
                        </a:solidFill>
                        <a:effectLst>
                          <a:outerShdw blurRad="38100" dist="38100" dir="2700000" algn="tl">
                            <a:srgbClr val="DDDDDD"/>
                          </a:outerShdw>
                        </a:effectLst>
                        <a:latin typeface="Verdana" panose="020B0604030504040204" pitchFamily="34" charset="0"/>
                        <a:ea typeface="宋体" panose="02010600030101010101" pitchFamily="2" charset="-122"/>
                      </a:endParaRPr>
                    </a:p>
                  </a:txBody>
                  <a:tcPr marL="91433" marR="91433" marT="45701" marB="45701" anchor="ctr"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rPr>
                        <a:t>…</a:t>
                      </a:r>
                      <a:endParaRPr kumimoji="0" lang="en-US" altLang="zh-CN" sz="1400" b="1"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L="91433" marR="91433" marT="45701" marB="45701" vert="eaVert"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72922306"/>
                  </a:ext>
                </a:extLst>
              </a:tr>
            </a:tbl>
          </a:graphicData>
        </a:graphic>
      </p:graphicFrame>
      <p:pic>
        <p:nvPicPr>
          <p:cNvPr id="49231" name="Picture 395" descr="4-13">
            <a:extLst>
              <a:ext uri="{FF2B5EF4-FFF2-40B4-BE49-F238E27FC236}">
                <a16:creationId xmlns:a16="http://schemas.microsoft.com/office/drawing/2014/main" id="{2DB3810E-6E4C-4145-B0BA-81AE95C590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43338" y="3643313"/>
            <a:ext cx="4943475" cy="3214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232" name="Text Box 396">
            <a:extLst>
              <a:ext uri="{FF2B5EF4-FFF2-40B4-BE49-F238E27FC236}">
                <a16:creationId xmlns:a16="http://schemas.microsoft.com/office/drawing/2014/main" id="{CE756D1B-C932-F04C-8B96-E64C22147E63}"/>
              </a:ext>
            </a:extLst>
          </p:cNvPr>
          <p:cNvSpPr txBox="1">
            <a:spLocks noChangeArrowheads="1"/>
          </p:cNvSpPr>
          <p:nvPr/>
        </p:nvSpPr>
        <p:spPr bwMode="auto">
          <a:xfrm>
            <a:off x="904875" y="4818063"/>
            <a:ext cx="29527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spcBef>
                <a:spcPct val="50000"/>
              </a:spcBef>
              <a:buFontTx/>
              <a:buNone/>
            </a:pPr>
            <a:r>
              <a:rPr lang="zh-CN" altLang="en-US" sz="2000">
                <a:solidFill>
                  <a:srgbClr val="FF0000"/>
                </a:solidFill>
                <a:latin typeface="宋体" panose="02010600030101010101" pitchFamily="2" charset="-122"/>
              </a:rPr>
              <a:t>内存及空闲分区链示意</a:t>
            </a:r>
          </a:p>
        </p:txBody>
      </p:sp>
    </p:spTree>
  </p:cSld>
  <p:clrMapOvr>
    <a:masterClrMapping/>
  </p:clrMapOvr>
  <p:transition>
    <p:random/>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a:extLst>
              <a:ext uri="{FF2B5EF4-FFF2-40B4-BE49-F238E27FC236}">
                <a16:creationId xmlns:a16="http://schemas.microsoft.com/office/drawing/2014/main" id="{FF89ED95-A9A0-EC44-9883-9A56E72C4CF1}"/>
              </a:ext>
            </a:extLst>
          </p:cNvPr>
          <p:cNvSpPr txBox="1">
            <a:spLocks noChangeArrowheads="1"/>
          </p:cNvSpPr>
          <p:nvPr/>
        </p:nvSpPr>
        <p:spPr bwMode="auto">
          <a:xfrm>
            <a:off x="34925" y="5850334"/>
            <a:ext cx="9109075" cy="10350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              已在主存中运行的作业可能运行结束，释放所占用的主存分区；新的作业可能占用未分配的主存分区，所以这</a:t>
            </a:r>
            <a:r>
              <a:rPr kumimoji="0" lang="zh-CN" altLang="en-US" sz="2000" b="1" i="0" u="none" strike="noStrike" kern="1200" cap="none" spc="0" normalizeH="0" baseline="0" noProof="0" dirty="0">
                <a:ln>
                  <a:noFill/>
                </a:ln>
                <a:solidFill>
                  <a:srgbClr val="000000"/>
                </a:solidFill>
                <a:effectLst/>
                <a:uLnTx/>
                <a:uFillTx/>
                <a:latin typeface="华文中宋"/>
                <a:ea typeface="华文中宋"/>
                <a:cs typeface="+mn-cs"/>
              </a:rPr>
              <a:t>两张表中的内容是不断变化的</a:t>
            </a:r>
            <a:r>
              <a:rPr kumimoji="0" lang="zh-CN" altLang="en-US" sz="2000" b="0" i="0" u="none" strike="noStrike" kern="1200" cap="none" spc="0" normalizeH="0" baseline="0" noProof="0" dirty="0">
                <a:ln>
                  <a:noFill/>
                </a:ln>
                <a:solidFill>
                  <a:srgbClr val="000000"/>
                </a:solidFill>
                <a:effectLst/>
                <a:uLnTx/>
                <a:uFillTx/>
                <a:latin typeface="Calibri"/>
                <a:ea typeface="宋体"/>
                <a:cs typeface="+mn-cs"/>
              </a:rPr>
              <a:t>。                 </a:t>
            </a:r>
          </a:p>
        </p:txBody>
      </p:sp>
      <p:graphicFrame>
        <p:nvGraphicFramePr>
          <p:cNvPr id="10" name="Group 3">
            <a:extLst>
              <a:ext uri="{FF2B5EF4-FFF2-40B4-BE49-F238E27FC236}">
                <a16:creationId xmlns:a16="http://schemas.microsoft.com/office/drawing/2014/main" id="{10CA2EC4-AA50-C34A-9572-6725617A9DAB}"/>
              </a:ext>
            </a:extLst>
          </p:cNvPr>
          <p:cNvGraphicFramePr>
            <a:graphicFrameLocks/>
          </p:cNvGraphicFramePr>
          <p:nvPr>
            <p:extLst>
              <p:ext uri="{D42A27DB-BD31-4B8C-83A1-F6EECF244321}">
                <p14:modId xmlns:p14="http://schemas.microsoft.com/office/powerpoint/2010/main" val="1708769801"/>
              </p:ext>
            </p:extLst>
          </p:nvPr>
        </p:nvGraphicFramePr>
        <p:xfrm>
          <a:off x="250825" y="3805584"/>
          <a:ext cx="4487490" cy="1273174"/>
        </p:xfrm>
        <a:graphic>
          <a:graphicData uri="http://schemas.openxmlformats.org/drawingml/2006/table">
            <a:tbl>
              <a:tblPr/>
              <a:tblGrid>
                <a:gridCol w="1029915">
                  <a:extLst>
                    <a:ext uri="{9D8B030D-6E8A-4147-A177-3AD203B41FA5}">
                      <a16:colId xmlns:a16="http://schemas.microsoft.com/office/drawing/2014/main" val="20000"/>
                    </a:ext>
                  </a:extLst>
                </a:gridCol>
                <a:gridCol w="1213036">
                  <a:extLst>
                    <a:ext uri="{9D8B030D-6E8A-4147-A177-3AD203B41FA5}">
                      <a16:colId xmlns:a16="http://schemas.microsoft.com/office/drawing/2014/main" val="20001"/>
                    </a:ext>
                  </a:extLst>
                </a:gridCol>
                <a:gridCol w="927381">
                  <a:extLst>
                    <a:ext uri="{9D8B030D-6E8A-4147-A177-3AD203B41FA5}">
                      <a16:colId xmlns:a16="http://schemas.microsoft.com/office/drawing/2014/main" val="20002"/>
                    </a:ext>
                  </a:extLst>
                </a:gridCol>
                <a:gridCol w="1317158">
                  <a:extLst>
                    <a:ext uri="{9D8B030D-6E8A-4147-A177-3AD203B41FA5}">
                      <a16:colId xmlns:a16="http://schemas.microsoft.com/office/drawing/2014/main" val="20003"/>
                    </a:ext>
                  </a:extLst>
                </a:gridCol>
              </a:tblGrid>
              <a:tr h="423656">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rPr>
                        <a:t>分区号</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rPr>
                        <a:t>起始地址</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FFFF"/>
                          </a:solidFill>
                          <a:effectLst/>
                          <a:latin typeface="Calibri" panose="020F0502020204030204" pitchFamily="34" charset="0"/>
                          <a:ea typeface="宋体" panose="02010600030101010101" pitchFamily="2" charset="-122"/>
                        </a:rPr>
                        <a:t>长度</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rPr>
                        <a:t>占用标志</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extLst>
                  <a:ext uri="{0D108BD9-81ED-4DB2-BD59-A6C34878D82A}">
                    <a16:rowId xmlns:a16="http://schemas.microsoft.com/office/drawing/2014/main" val="10000"/>
                  </a:ext>
                </a:extLst>
              </a:tr>
              <a:tr h="424759">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5KB</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5KB</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JOB1</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1"/>
                  </a:ext>
                </a:extLst>
              </a:tr>
              <a:tr h="424759">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50KB</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20KB</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JOB2</a:t>
                      </a:r>
                    </a:p>
                  </a:txBody>
                  <a:tcPr marL="91443" marR="91443" marT="45726" marB="45726"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2"/>
                  </a:ext>
                </a:extLst>
              </a:tr>
            </a:tbl>
          </a:graphicData>
        </a:graphic>
      </p:graphicFrame>
      <p:graphicFrame>
        <p:nvGraphicFramePr>
          <p:cNvPr id="11" name="Group 53">
            <a:extLst>
              <a:ext uri="{FF2B5EF4-FFF2-40B4-BE49-F238E27FC236}">
                <a16:creationId xmlns:a16="http://schemas.microsoft.com/office/drawing/2014/main" id="{5DAD636A-1D43-B541-A2E0-5FDAD8B174F0}"/>
              </a:ext>
            </a:extLst>
          </p:cNvPr>
          <p:cNvGraphicFramePr>
            <a:graphicFrameLocks/>
          </p:cNvGraphicFramePr>
          <p:nvPr>
            <p:extLst>
              <p:ext uri="{D42A27DB-BD31-4B8C-83A1-F6EECF244321}">
                <p14:modId xmlns:p14="http://schemas.microsoft.com/office/powerpoint/2010/main" val="942462638"/>
              </p:ext>
            </p:extLst>
          </p:nvPr>
        </p:nvGraphicFramePr>
        <p:xfrm>
          <a:off x="5008562" y="3805584"/>
          <a:ext cx="4080421" cy="1273176"/>
        </p:xfrm>
        <a:graphic>
          <a:graphicData uri="http://schemas.openxmlformats.org/drawingml/2006/table">
            <a:tbl>
              <a:tblPr/>
              <a:tblGrid>
                <a:gridCol w="900179">
                  <a:extLst>
                    <a:ext uri="{9D8B030D-6E8A-4147-A177-3AD203B41FA5}">
                      <a16:colId xmlns:a16="http://schemas.microsoft.com/office/drawing/2014/main" val="20000"/>
                    </a:ext>
                  </a:extLst>
                </a:gridCol>
                <a:gridCol w="1139313">
                  <a:extLst>
                    <a:ext uri="{9D8B030D-6E8A-4147-A177-3AD203B41FA5}">
                      <a16:colId xmlns:a16="http://schemas.microsoft.com/office/drawing/2014/main" val="20001"/>
                    </a:ext>
                  </a:extLst>
                </a:gridCol>
                <a:gridCol w="895909">
                  <a:extLst>
                    <a:ext uri="{9D8B030D-6E8A-4147-A177-3AD203B41FA5}">
                      <a16:colId xmlns:a16="http://schemas.microsoft.com/office/drawing/2014/main" val="20002"/>
                    </a:ext>
                  </a:extLst>
                </a:gridCol>
                <a:gridCol w="1145020">
                  <a:extLst>
                    <a:ext uri="{9D8B030D-6E8A-4147-A177-3AD203B41FA5}">
                      <a16:colId xmlns:a16="http://schemas.microsoft.com/office/drawing/2014/main" val="20003"/>
                    </a:ext>
                  </a:extLst>
                </a:gridCol>
              </a:tblGrid>
              <a:tr h="423863">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rPr>
                        <a:t>分区号</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FFFF"/>
                          </a:solidFill>
                          <a:effectLst/>
                          <a:latin typeface="Calibri" panose="020F0502020204030204" pitchFamily="34" charset="0"/>
                          <a:ea typeface="宋体" panose="02010600030101010101" pitchFamily="2" charset="-122"/>
                        </a:rPr>
                        <a:t>起始地址</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dirty="0">
                          <a:ln>
                            <a:noFill/>
                          </a:ln>
                          <a:solidFill>
                            <a:srgbClr val="FFFFFF"/>
                          </a:solidFill>
                          <a:effectLst/>
                          <a:latin typeface="Calibri" panose="020F0502020204030204" pitchFamily="34" charset="0"/>
                          <a:ea typeface="宋体" panose="02010600030101010101" pitchFamily="2" charset="-122"/>
                        </a:rPr>
                        <a:t>长度</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zh-CN" altLang="en-US" sz="1800" b="1" i="0" u="none" strike="noStrike" cap="none" normalizeH="0" baseline="0">
                          <a:ln>
                            <a:noFill/>
                          </a:ln>
                          <a:solidFill>
                            <a:srgbClr val="FFFFFF"/>
                          </a:solidFill>
                          <a:effectLst/>
                          <a:latin typeface="Calibri" panose="020F0502020204030204" pitchFamily="34" charset="0"/>
                          <a:ea typeface="宋体" panose="02010600030101010101" pitchFamily="2" charset="-122"/>
                        </a:rPr>
                        <a:t>占用标志</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extLst>
                  <a:ext uri="{0D108BD9-81ED-4DB2-BD59-A6C34878D82A}">
                    <a16:rowId xmlns:a16="http://schemas.microsoft.com/office/drawing/2014/main" val="10000"/>
                  </a:ext>
                </a:extLst>
              </a:tr>
              <a:tr h="423863">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10KB</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40KB</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0</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1"/>
                  </a:ext>
                </a:extLst>
              </a:tr>
              <a:tr h="425450">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2</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dirty="0">
                          <a:ln>
                            <a:noFill/>
                          </a:ln>
                          <a:solidFill>
                            <a:srgbClr val="000000"/>
                          </a:solidFill>
                          <a:effectLst/>
                          <a:latin typeface="Calibri" panose="020F0502020204030204" pitchFamily="34" charset="0"/>
                          <a:ea typeface="宋体" panose="02010600030101010101" pitchFamily="2" charset="-122"/>
                        </a:rPr>
                        <a:t>70KB</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0" i="0" u="none" strike="noStrike" cap="none" normalizeH="0" baseline="0">
                          <a:ln>
                            <a:noFill/>
                          </a:ln>
                          <a:solidFill>
                            <a:srgbClr val="000000"/>
                          </a:solidFill>
                          <a:effectLst/>
                          <a:latin typeface="Calibri" panose="020F0502020204030204" pitchFamily="34" charset="0"/>
                          <a:ea typeface="宋体" panose="02010600030101010101" pitchFamily="2" charset="-122"/>
                        </a:rPr>
                        <a:t>10KB</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marL="0" algn="l" defTabSz="914400" rtl="0" eaLnBrk="1" latinLnBrk="0" hangingPunct="1">
                        <a:spcBef>
                          <a:spcPct val="20000"/>
                        </a:spcBef>
                        <a:defRPr sz="2800" kern="1200">
                          <a:solidFill>
                            <a:schemeClr val="tx1"/>
                          </a:solidFill>
                          <a:latin typeface="Calibri" panose="020F0502020204030204" pitchFamily="34" charset="0"/>
                          <a:ea typeface="宋体" panose="02010600030101010101" pitchFamily="2" charset="-122"/>
                        </a:defRPr>
                      </a:lvl1pPr>
                      <a:lvl2pPr marL="457200" algn="l" defTabSz="914400" rtl="0" eaLnBrk="1" latinLnBrk="0" hangingPunct="1">
                        <a:spcBef>
                          <a:spcPct val="20000"/>
                        </a:spcBef>
                        <a:defRPr sz="2400" kern="1200">
                          <a:solidFill>
                            <a:schemeClr val="tx1"/>
                          </a:solidFill>
                          <a:latin typeface="Calibri" panose="020F0502020204030204" pitchFamily="34" charset="0"/>
                          <a:ea typeface="宋体" panose="02010600030101010101" pitchFamily="2" charset="-122"/>
                        </a:defRPr>
                      </a:lvl2pPr>
                      <a:lvl3pPr marL="914400" algn="l" defTabSz="914400" rtl="0" eaLnBrk="1" latinLnBrk="0" hangingPunct="1">
                        <a:spcBef>
                          <a:spcPct val="20000"/>
                        </a:spcBef>
                        <a:defRPr sz="2000" kern="1200">
                          <a:solidFill>
                            <a:schemeClr val="tx1"/>
                          </a:solidFill>
                          <a:latin typeface="Calibri" panose="020F0502020204030204" pitchFamily="34" charset="0"/>
                          <a:ea typeface="宋体" panose="02010600030101010101" pitchFamily="2" charset="-122"/>
                        </a:defRPr>
                      </a:lvl3pPr>
                      <a:lvl4pPr marL="13716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4pPr>
                      <a:lvl5pPr marL="1828800" algn="l" defTabSz="914400" rtl="0" eaLnBrk="1" latinLnBrk="0" hangingPunct="1">
                        <a:spcBef>
                          <a:spcPct val="20000"/>
                        </a:spcBef>
                        <a:defRPr sz="1800" kern="1200">
                          <a:solidFill>
                            <a:schemeClr val="tx1"/>
                          </a:solidFill>
                          <a:latin typeface="Calibri" panose="020F0502020204030204" pitchFamily="34" charset="0"/>
                          <a:ea typeface="宋体" panose="02010600030101010101" pitchFamily="2" charset="-122"/>
                        </a:defRPr>
                      </a:lvl5pPr>
                      <a:lvl6pPr marL="22860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6pPr>
                      <a:lvl7pPr marL="27432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7pPr>
                      <a:lvl8pPr marL="32004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8pPr>
                      <a:lvl9pPr marL="3657600" algn="l" defTabSz="914400" rtl="0" eaLnBrk="1" fontAlgn="base" latinLnBrk="0" hangingPunct="1">
                        <a:spcBef>
                          <a:spcPct val="20000"/>
                        </a:spcBef>
                        <a:spcAft>
                          <a:spcPct val="0"/>
                        </a:spcAft>
                        <a:buFont typeface="Arial" panose="020B0604020202020204" pitchFamily="34" charset="0"/>
                        <a:defRPr sz="1800" kern="1200">
                          <a:solidFill>
                            <a:schemeClr val="tx1"/>
                          </a:solidFill>
                          <a:latin typeface="Calibri" panose="020F050202020403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 typeface="Arial" panose="020B0604020202020204" pitchFamily="34" charset="0"/>
                        <a:buNone/>
                        <a:tabLst/>
                      </a:pPr>
                      <a:r>
                        <a:rPr kumimoji="0" lang="en-US" altLang="zh-CN" sz="1800" b="1" i="0" u="none" strike="noStrike" cap="none" normalizeH="0" baseline="0" dirty="0">
                          <a:ln>
                            <a:noFill/>
                          </a:ln>
                          <a:solidFill>
                            <a:srgbClr val="FF3300"/>
                          </a:solidFill>
                          <a:effectLst/>
                          <a:latin typeface="Calibri" panose="020F0502020204030204" pitchFamily="34" charset="0"/>
                          <a:ea typeface="宋体" panose="02010600030101010101" pitchFamily="2" charset="-122"/>
                        </a:rPr>
                        <a:t>0</a:t>
                      </a:r>
                    </a:p>
                  </a:txBody>
                  <a:tcPr marL="91463" marR="91463"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2"/>
                  </a:ext>
                </a:extLst>
              </a:tr>
            </a:tbl>
          </a:graphicData>
        </a:graphic>
      </p:graphicFrame>
      <p:sp>
        <p:nvSpPr>
          <p:cNvPr id="12" name="Text Box 97">
            <a:extLst>
              <a:ext uri="{FF2B5EF4-FFF2-40B4-BE49-F238E27FC236}">
                <a16:creationId xmlns:a16="http://schemas.microsoft.com/office/drawing/2014/main" id="{A1490A9C-1013-DC40-BCAC-4B0ED6639BDD}"/>
              </a:ext>
            </a:extLst>
          </p:cNvPr>
          <p:cNvSpPr txBox="1">
            <a:spLocks noChangeArrowheads="1"/>
          </p:cNvSpPr>
          <p:nvPr/>
        </p:nvSpPr>
        <p:spPr bwMode="auto">
          <a:xfrm>
            <a:off x="3089275" y="5510559"/>
            <a:ext cx="429612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dirty="0">
                <a:solidFill>
                  <a:srgbClr val="000000"/>
                </a:solidFill>
                <a:latin typeface="Arial" panose="020B0604020202020204" pitchFamily="34" charset="0"/>
              </a:rPr>
              <a:t>表</a:t>
            </a:r>
            <a:r>
              <a:rPr lang="en-US" altLang="zh-CN" sz="1800" b="0" dirty="0">
                <a:solidFill>
                  <a:srgbClr val="000000"/>
                </a:solidFill>
                <a:latin typeface="Arial" panose="020B0604020202020204" pitchFamily="34" charset="0"/>
              </a:rPr>
              <a:t>4-2  </a:t>
            </a:r>
            <a:r>
              <a:rPr lang="zh-CN" altLang="en-US" sz="1800" b="0" dirty="0">
                <a:solidFill>
                  <a:srgbClr val="000000"/>
                </a:solidFill>
                <a:latin typeface="Arial" panose="020B0604020202020204" pitchFamily="34" charset="0"/>
              </a:rPr>
              <a:t>已分配区表和未分配表  </a:t>
            </a:r>
          </a:p>
        </p:txBody>
      </p:sp>
      <p:sp>
        <p:nvSpPr>
          <p:cNvPr id="13" name="Text Box 98">
            <a:extLst>
              <a:ext uri="{FF2B5EF4-FFF2-40B4-BE49-F238E27FC236}">
                <a16:creationId xmlns:a16="http://schemas.microsoft.com/office/drawing/2014/main" id="{C4CA44CA-F084-634A-AF48-E0948D3EB99C}"/>
              </a:ext>
            </a:extLst>
          </p:cNvPr>
          <p:cNvSpPr txBox="1">
            <a:spLocks noChangeArrowheads="1"/>
          </p:cNvSpPr>
          <p:nvPr/>
        </p:nvSpPr>
        <p:spPr bwMode="auto">
          <a:xfrm>
            <a:off x="1025525" y="5158134"/>
            <a:ext cx="2651626"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a:spcBef>
                <a:spcPct val="0"/>
              </a:spcBef>
              <a:buFont typeface="Arial" panose="020B0604020202020204" pitchFamily="34" charset="0"/>
              <a:buNone/>
            </a:pPr>
            <a:r>
              <a:rPr lang="zh-CN" altLang="en-US" sz="1800" b="0">
                <a:solidFill>
                  <a:srgbClr val="000000"/>
                </a:solidFill>
                <a:latin typeface="Arial" panose="020B0604020202020204" pitchFamily="34" charset="0"/>
              </a:rPr>
              <a:t>（</a:t>
            </a:r>
            <a:r>
              <a:rPr lang="en-US" altLang="zh-CN" sz="1800" b="0">
                <a:solidFill>
                  <a:srgbClr val="000000"/>
                </a:solidFill>
                <a:latin typeface="Arial" panose="020B0604020202020204" pitchFamily="34" charset="0"/>
              </a:rPr>
              <a:t>a</a:t>
            </a:r>
            <a:r>
              <a:rPr lang="zh-CN" altLang="en-US" sz="1800" b="0">
                <a:solidFill>
                  <a:srgbClr val="000000"/>
                </a:solidFill>
                <a:latin typeface="Arial" panose="020B0604020202020204" pitchFamily="34" charset="0"/>
              </a:rPr>
              <a:t>）  已分配区表</a:t>
            </a:r>
          </a:p>
        </p:txBody>
      </p:sp>
      <p:sp>
        <p:nvSpPr>
          <p:cNvPr id="14" name="Text Box 99">
            <a:extLst>
              <a:ext uri="{FF2B5EF4-FFF2-40B4-BE49-F238E27FC236}">
                <a16:creationId xmlns:a16="http://schemas.microsoft.com/office/drawing/2014/main" id="{1DF339EB-0CF6-334F-B83A-20BBB355DF9C}"/>
              </a:ext>
            </a:extLst>
          </p:cNvPr>
          <p:cNvSpPr txBox="1">
            <a:spLocks noChangeArrowheads="1"/>
          </p:cNvSpPr>
          <p:nvPr/>
        </p:nvSpPr>
        <p:spPr bwMode="auto">
          <a:xfrm>
            <a:off x="6189662" y="5156547"/>
            <a:ext cx="2476471"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a:spcBef>
                <a:spcPct val="0"/>
              </a:spcBef>
              <a:buFont typeface="Arial" panose="020B0604020202020204" pitchFamily="34" charset="0"/>
              <a:buNone/>
            </a:pPr>
            <a:r>
              <a:rPr lang="zh-CN" altLang="en-US" sz="1800" b="0">
                <a:solidFill>
                  <a:srgbClr val="000000"/>
                </a:solidFill>
                <a:latin typeface="Arial" panose="020B0604020202020204" pitchFamily="34" charset="0"/>
              </a:rPr>
              <a:t>（b）  未分配区表</a:t>
            </a:r>
          </a:p>
        </p:txBody>
      </p:sp>
      <p:sp>
        <p:nvSpPr>
          <p:cNvPr id="15" name="Rectangle 3">
            <a:extLst>
              <a:ext uri="{FF2B5EF4-FFF2-40B4-BE49-F238E27FC236}">
                <a16:creationId xmlns:a16="http://schemas.microsoft.com/office/drawing/2014/main" id="{96FB263B-AB01-8047-8543-86E9EE646FD3}"/>
              </a:ext>
            </a:extLst>
          </p:cNvPr>
          <p:cNvSpPr txBox="1">
            <a:spLocks noChangeArrowheads="1"/>
          </p:cNvSpPr>
          <p:nvPr/>
        </p:nvSpPr>
        <p:spPr bwMode="auto">
          <a:xfrm>
            <a:off x="58738" y="1192559"/>
            <a:ext cx="9085262" cy="2573337"/>
          </a:xfrm>
          <a:prstGeom prst="rect">
            <a:avLst/>
          </a:prstGeom>
          <a:noFill/>
          <a:ln>
            <a:noFill/>
          </a:ln>
        </p:spPr>
        <p:txBody>
          <a:bodyPr/>
          <a:lstStyle>
            <a:lvl1pPr marL="342900" indent="-342900" algn="l" rtl="0" fontAlgn="base">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1" hangingPunct="1">
              <a:buFont typeface="Arial" panose="020B0604020202020204" pitchFamily="34" charset="0"/>
              <a:buNone/>
              <a:defRPr/>
            </a:pPr>
            <a:r>
              <a:rPr lang="zh-CN" altLang="en-US" sz="2400" dirty="0">
                <a:solidFill>
                  <a:srgbClr val="000000"/>
                </a:solidFill>
                <a:latin typeface="方正粗黑宋简体" panose="02000000000000000000" pitchFamily="2" charset="-122"/>
                <a:ea typeface="方正粗黑宋简体" panose="02000000000000000000" pitchFamily="2" charset="-122"/>
              </a:rPr>
              <a:t>已分配区表和未分配区表</a:t>
            </a:r>
          </a:p>
          <a:p>
            <a:pPr algn="just" eaLnBrk="1" hangingPunct="1">
              <a:lnSpc>
                <a:spcPct val="125000"/>
              </a:lnSpc>
              <a:spcBef>
                <a:spcPts val="1200"/>
              </a:spcBef>
              <a:buFont typeface="Arial" panose="020B0604020202020204" pitchFamily="34" charset="0"/>
              <a:buNone/>
              <a:defRPr/>
            </a:pPr>
            <a:r>
              <a:rPr lang="zh-CN" altLang="en-US" sz="1800" b="0" dirty="0">
                <a:solidFill>
                  <a:srgbClr val="000000"/>
                </a:solidFill>
                <a:latin typeface="Calibri"/>
              </a:rPr>
              <a:t>　　　</a:t>
            </a:r>
            <a:r>
              <a:rPr lang="zh-CN" altLang="en-US" sz="1800" dirty="0">
                <a:solidFill>
                  <a:srgbClr val="000000"/>
                </a:solidFill>
                <a:latin typeface="方正小标宋_GBK" panose="03000509000000000000" pitchFamily="65" charset="-122"/>
                <a:ea typeface="方正小标宋_GBK" panose="03000509000000000000" pitchFamily="65" charset="-122"/>
              </a:rPr>
              <a:t>  在可变分区存储管理模式下，主存内的分区是不断变化的，</a:t>
            </a:r>
            <a:r>
              <a:rPr lang="zh-CN" altLang="en-US" sz="1800" b="0" dirty="0">
                <a:solidFill>
                  <a:srgbClr val="000000"/>
                </a:solidFill>
                <a:latin typeface="Calibri"/>
              </a:rPr>
              <a:t>各分区的使用情况也在变化，哪些是正在使用的分区，哪些被作业释放后未被使用，管理程序必须掌握这些信息，由此引入了</a:t>
            </a:r>
            <a:r>
              <a:rPr lang="zh-CN" altLang="en-US" sz="1800" dirty="0">
                <a:solidFill>
                  <a:srgbClr val="0000FF"/>
                </a:solidFill>
                <a:latin typeface="方正粗黑宋简体" panose="02000000000000000000" pitchFamily="2" charset="-122"/>
                <a:ea typeface="方正粗黑宋简体" panose="02000000000000000000" pitchFamily="2" charset="-122"/>
              </a:rPr>
              <a:t>已分配区表</a:t>
            </a:r>
            <a:r>
              <a:rPr lang="zh-CN" altLang="en-US" sz="1800" b="0" dirty="0">
                <a:solidFill>
                  <a:srgbClr val="000000"/>
                </a:solidFill>
                <a:latin typeface="Calibri"/>
              </a:rPr>
              <a:t>和</a:t>
            </a:r>
            <a:r>
              <a:rPr lang="zh-CN" altLang="en-US" sz="1800" dirty="0">
                <a:solidFill>
                  <a:srgbClr val="0000FF"/>
                </a:solidFill>
                <a:latin typeface="方正粗黑宋简体" panose="02000000000000000000" pitchFamily="2" charset="-122"/>
                <a:ea typeface="方正粗黑宋简体" panose="02000000000000000000" pitchFamily="2" charset="-122"/>
              </a:rPr>
              <a:t>未分配区表</a:t>
            </a:r>
            <a:r>
              <a:rPr lang="zh-CN" altLang="en-US" sz="1800" b="0" dirty="0">
                <a:solidFill>
                  <a:srgbClr val="000000"/>
                </a:solidFill>
                <a:latin typeface="Calibri"/>
              </a:rPr>
              <a:t>。</a:t>
            </a:r>
            <a:r>
              <a:rPr lang="zh-CN" altLang="en-US" sz="2400" dirty="0">
                <a:solidFill>
                  <a:srgbClr val="000000"/>
                </a:solidFill>
                <a:latin typeface="华文中宋"/>
                <a:ea typeface="华文中宋"/>
              </a:rPr>
              <a:t>如表3-2所示，已分配区表记录了分区的分配情况，未分配区表中各分区是空闲的，可以被再分配。 </a:t>
            </a:r>
          </a:p>
        </p:txBody>
      </p:sp>
      <p:sp>
        <p:nvSpPr>
          <p:cNvPr id="16" name="Rectangle 3">
            <a:extLst>
              <a:ext uri="{FF2B5EF4-FFF2-40B4-BE49-F238E27FC236}">
                <a16:creationId xmlns:a16="http://schemas.microsoft.com/office/drawing/2014/main" id="{D5534A61-07FD-7E41-A5AB-B768E9C5EA4E}"/>
              </a:ext>
            </a:extLst>
          </p:cNvPr>
          <p:cNvSpPr txBox="1">
            <a:spLocks noChangeArrowheads="1"/>
          </p:cNvSpPr>
          <p:nvPr/>
        </p:nvSpPr>
        <p:spPr>
          <a:xfrm>
            <a:off x="179388" y="368300"/>
            <a:ext cx="6480175" cy="828675"/>
          </a:xfrm>
          <a:prstGeom prst="rect">
            <a:avLst/>
          </a:prstGeom>
          <a:noFill/>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3276498724"/>
      </p:ext>
    </p:extLst>
  </p:cSld>
  <p:clrMapOvr>
    <a:masterClrMapping/>
  </p:clrMapOvr>
  <p:transition>
    <p:random/>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 name="Group 51">
            <a:extLst>
              <a:ext uri="{FF2B5EF4-FFF2-40B4-BE49-F238E27FC236}">
                <a16:creationId xmlns:a16="http://schemas.microsoft.com/office/drawing/2014/main" id="{B9EED0BA-4324-8545-87D7-D806A2DC9B8F}"/>
              </a:ext>
            </a:extLst>
          </p:cNvPr>
          <p:cNvGraphicFramePr>
            <a:graphicFrameLocks noGrp="1"/>
          </p:cNvGraphicFramePr>
          <p:nvPr>
            <p:extLst>
              <p:ext uri="{D42A27DB-BD31-4B8C-83A1-F6EECF244321}">
                <p14:modId xmlns:p14="http://schemas.microsoft.com/office/powerpoint/2010/main" val="1535546110"/>
              </p:ext>
            </p:extLst>
          </p:nvPr>
        </p:nvGraphicFramePr>
        <p:xfrm>
          <a:off x="1442391" y="2103809"/>
          <a:ext cx="4572001" cy="3048002"/>
        </p:xfrm>
        <a:graphic>
          <a:graphicData uri="http://schemas.openxmlformats.org/drawingml/2006/table">
            <a:tbl>
              <a:tblPr/>
              <a:tblGrid>
                <a:gridCol w="875084">
                  <a:extLst>
                    <a:ext uri="{9D8B030D-6E8A-4147-A177-3AD203B41FA5}">
                      <a16:colId xmlns:a16="http://schemas.microsoft.com/office/drawing/2014/main" val="20000"/>
                    </a:ext>
                  </a:extLst>
                </a:gridCol>
                <a:gridCol w="1393041">
                  <a:extLst>
                    <a:ext uri="{9D8B030D-6E8A-4147-A177-3AD203B41FA5}">
                      <a16:colId xmlns:a16="http://schemas.microsoft.com/office/drawing/2014/main" val="20001"/>
                    </a:ext>
                  </a:extLst>
                </a:gridCol>
                <a:gridCol w="1339463">
                  <a:extLst>
                    <a:ext uri="{9D8B030D-6E8A-4147-A177-3AD203B41FA5}">
                      <a16:colId xmlns:a16="http://schemas.microsoft.com/office/drawing/2014/main" val="20002"/>
                    </a:ext>
                  </a:extLst>
                </a:gridCol>
                <a:gridCol w="964413">
                  <a:extLst>
                    <a:ext uri="{9D8B030D-6E8A-4147-A177-3AD203B41FA5}">
                      <a16:colId xmlns:a16="http://schemas.microsoft.com/office/drawing/2014/main" val="20003"/>
                    </a:ext>
                  </a:extLst>
                </a:gridCol>
              </a:tblGrid>
              <a:tr h="87034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357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357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357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345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357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90" marB="34290" horzOverflow="overflow">
                    <a:lnL w="12700"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3" name="Text Box 52">
            <a:extLst>
              <a:ext uri="{FF2B5EF4-FFF2-40B4-BE49-F238E27FC236}">
                <a16:creationId xmlns:a16="http://schemas.microsoft.com/office/drawing/2014/main" id="{0D8CFC97-5943-6046-8681-C666946DBA07}"/>
              </a:ext>
            </a:extLst>
          </p:cNvPr>
          <p:cNvSpPr txBox="1">
            <a:spLocks noChangeArrowheads="1"/>
          </p:cNvSpPr>
          <p:nvPr/>
        </p:nvSpPr>
        <p:spPr bwMode="auto">
          <a:xfrm>
            <a:off x="1656704" y="2325265"/>
            <a:ext cx="6965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序号</a:t>
            </a:r>
          </a:p>
        </p:txBody>
      </p:sp>
      <p:sp>
        <p:nvSpPr>
          <p:cNvPr id="24" name="Text Box 53">
            <a:extLst>
              <a:ext uri="{FF2B5EF4-FFF2-40B4-BE49-F238E27FC236}">
                <a16:creationId xmlns:a16="http://schemas.microsoft.com/office/drawing/2014/main" id="{89661C25-2A20-F04E-B0FE-84E0343AE559}"/>
              </a:ext>
            </a:extLst>
          </p:cNvPr>
          <p:cNvSpPr txBox="1">
            <a:spLocks noChangeArrowheads="1"/>
          </p:cNvSpPr>
          <p:nvPr/>
        </p:nvSpPr>
        <p:spPr bwMode="auto">
          <a:xfrm>
            <a:off x="2513955" y="2268116"/>
            <a:ext cx="117871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分区大小（</a:t>
            </a: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KB</a:t>
            </a: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a:t>
            </a:r>
          </a:p>
        </p:txBody>
      </p:sp>
      <p:sp>
        <p:nvSpPr>
          <p:cNvPr id="25" name="Text Box 55">
            <a:extLst>
              <a:ext uri="{FF2B5EF4-FFF2-40B4-BE49-F238E27FC236}">
                <a16:creationId xmlns:a16="http://schemas.microsoft.com/office/drawing/2014/main" id="{87E1AE59-0F1A-564E-BD83-5D37F951696B}"/>
              </a:ext>
            </a:extLst>
          </p:cNvPr>
          <p:cNvSpPr txBox="1">
            <a:spLocks noChangeArrowheads="1"/>
          </p:cNvSpPr>
          <p:nvPr/>
        </p:nvSpPr>
        <p:spPr bwMode="auto">
          <a:xfrm>
            <a:off x="3910558" y="2313359"/>
            <a:ext cx="112156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分区始址     </a:t>
            </a: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(K)</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26" name="Text Box 57">
            <a:extLst>
              <a:ext uri="{FF2B5EF4-FFF2-40B4-BE49-F238E27FC236}">
                <a16:creationId xmlns:a16="http://schemas.microsoft.com/office/drawing/2014/main" id="{C3C0B5CD-1ED3-344E-8E75-4B9211E2ECC7}"/>
              </a:ext>
            </a:extLst>
          </p:cNvPr>
          <p:cNvSpPr txBox="1">
            <a:spLocks noChangeArrowheads="1"/>
          </p:cNvSpPr>
          <p:nvPr/>
        </p:nvSpPr>
        <p:spPr bwMode="auto">
          <a:xfrm>
            <a:off x="5225007" y="2325264"/>
            <a:ext cx="9144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状态</a:t>
            </a:r>
          </a:p>
        </p:txBody>
      </p:sp>
      <p:sp>
        <p:nvSpPr>
          <p:cNvPr id="27" name="Text Box 59">
            <a:extLst>
              <a:ext uri="{FF2B5EF4-FFF2-40B4-BE49-F238E27FC236}">
                <a16:creationId xmlns:a16="http://schemas.microsoft.com/office/drawing/2014/main" id="{60C3632F-3933-2C40-8E29-0E5CC884D0B9}"/>
              </a:ext>
            </a:extLst>
          </p:cNvPr>
          <p:cNvSpPr txBox="1">
            <a:spLocks noChangeArrowheads="1"/>
          </p:cNvSpPr>
          <p:nvPr/>
        </p:nvSpPr>
        <p:spPr bwMode="auto">
          <a:xfrm>
            <a:off x="1796007" y="3075359"/>
            <a:ext cx="342900"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3</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4</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5</a:t>
            </a:r>
          </a:p>
        </p:txBody>
      </p:sp>
      <p:sp>
        <p:nvSpPr>
          <p:cNvPr id="28" name="Text Box 60">
            <a:extLst>
              <a:ext uri="{FF2B5EF4-FFF2-40B4-BE49-F238E27FC236}">
                <a16:creationId xmlns:a16="http://schemas.microsoft.com/office/drawing/2014/main" id="{36C46579-0D72-B140-ADFB-AC82C7F4AF10}"/>
              </a:ext>
            </a:extLst>
          </p:cNvPr>
          <p:cNvSpPr txBox="1">
            <a:spLocks noChangeArrowheads="1"/>
          </p:cNvSpPr>
          <p:nvPr/>
        </p:nvSpPr>
        <p:spPr bwMode="auto">
          <a:xfrm>
            <a:off x="2996157" y="3102743"/>
            <a:ext cx="914400"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64</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24</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40</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30</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a:t>
            </a:r>
          </a:p>
        </p:txBody>
      </p:sp>
      <p:sp>
        <p:nvSpPr>
          <p:cNvPr id="29" name="Text Box 61">
            <a:extLst>
              <a:ext uri="{FF2B5EF4-FFF2-40B4-BE49-F238E27FC236}">
                <a16:creationId xmlns:a16="http://schemas.microsoft.com/office/drawing/2014/main" id="{760EA857-762C-E847-A31A-6B64B638104C}"/>
              </a:ext>
            </a:extLst>
          </p:cNvPr>
          <p:cNvSpPr txBox="1">
            <a:spLocks noChangeArrowheads="1"/>
          </p:cNvSpPr>
          <p:nvPr/>
        </p:nvSpPr>
        <p:spPr bwMode="auto">
          <a:xfrm>
            <a:off x="4082007" y="3049165"/>
            <a:ext cx="800100"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44</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132</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210</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270</a:t>
            </a:r>
          </a:p>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a:t>
            </a:r>
          </a:p>
        </p:txBody>
      </p:sp>
      <p:sp>
        <p:nvSpPr>
          <p:cNvPr id="30" name="Text Box 62">
            <a:extLst>
              <a:ext uri="{FF2B5EF4-FFF2-40B4-BE49-F238E27FC236}">
                <a16:creationId xmlns:a16="http://schemas.microsoft.com/office/drawing/2014/main" id="{AB3879E0-3975-924C-B1E8-B8C2EEBB0EE4}"/>
              </a:ext>
            </a:extLst>
          </p:cNvPr>
          <p:cNvSpPr txBox="1">
            <a:spLocks noChangeArrowheads="1"/>
          </p:cNvSpPr>
          <p:nvPr/>
        </p:nvSpPr>
        <p:spPr bwMode="auto">
          <a:xfrm>
            <a:off x="5225007" y="3049166"/>
            <a:ext cx="742950" cy="16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空闲</a:t>
            </a:r>
          </a:p>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空闲</a:t>
            </a:r>
          </a:p>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空闲</a:t>
            </a:r>
          </a:p>
          <a:p>
            <a:pPr marL="0" marR="0" lvl="0" indent="0" defTabSz="914400" eaLnBrk="1" fontAlgn="auto" latinLnBrk="0" hangingPunct="1">
              <a:lnSpc>
                <a:spcPct val="100000"/>
              </a:lnSpc>
              <a:spcBef>
                <a:spcPct val="50000"/>
              </a:spcBef>
              <a:spcAft>
                <a:spcPts val="0"/>
              </a:spcAft>
              <a:buClrTx/>
              <a:buSzTx/>
              <a:buFontTx/>
              <a:buNone/>
              <a:tabLst/>
              <a:defRPr/>
            </a:pPr>
            <a:r>
              <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a:t>
            </a: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a:t>
            </a:r>
          </a:p>
        </p:txBody>
      </p:sp>
      <p:sp>
        <p:nvSpPr>
          <p:cNvPr id="31" name="Text Box 63">
            <a:extLst>
              <a:ext uri="{FF2B5EF4-FFF2-40B4-BE49-F238E27FC236}">
                <a16:creationId xmlns:a16="http://schemas.microsoft.com/office/drawing/2014/main" id="{4CB7680A-3556-D34E-986F-363AFFBC64E3}"/>
              </a:ext>
            </a:extLst>
          </p:cNvPr>
          <p:cNvSpPr txBox="1">
            <a:spLocks noChangeArrowheads="1"/>
          </p:cNvSpPr>
          <p:nvPr/>
        </p:nvSpPr>
        <p:spPr bwMode="auto">
          <a:xfrm>
            <a:off x="2987824" y="5229200"/>
            <a:ext cx="2103835"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21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a:t>
            </a:r>
            <a:r>
              <a:rPr kumimoji="1" lang="zh-CN" altLang="en-US" sz="21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空闲分区表</a:t>
            </a:r>
          </a:p>
        </p:txBody>
      </p:sp>
      <p:graphicFrame>
        <p:nvGraphicFramePr>
          <p:cNvPr id="32" name="Group 158">
            <a:extLst>
              <a:ext uri="{FF2B5EF4-FFF2-40B4-BE49-F238E27FC236}">
                <a16:creationId xmlns:a16="http://schemas.microsoft.com/office/drawing/2014/main" id="{65A316EA-4CDC-FF4A-83DF-D534671FA6E8}"/>
              </a:ext>
            </a:extLst>
          </p:cNvPr>
          <p:cNvGraphicFramePr>
            <a:graphicFrameLocks noGrp="1"/>
          </p:cNvGraphicFramePr>
          <p:nvPr>
            <p:extLst>
              <p:ext uri="{D42A27DB-BD31-4B8C-83A1-F6EECF244321}">
                <p14:modId xmlns:p14="http://schemas.microsoft.com/office/powerpoint/2010/main" val="2393730399"/>
              </p:ext>
            </p:extLst>
          </p:nvPr>
        </p:nvGraphicFramePr>
        <p:xfrm>
          <a:off x="6525170" y="1843063"/>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33" name="Text Box 159">
            <a:extLst>
              <a:ext uri="{FF2B5EF4-FFF2-40B4-BE49-F238E27FC236}">
                <a16:creationId xmlns:a16="http://schemas.microsoft.com/office/drawing/2014/main" id="{BB34C96E-C9E6-B447-A12D-17F328424111}"/>
              </a:ext>
            </a:extLst>
          </p:cNvPr>
          <p:cNvSpPr txBox="1">
            <a:spLocks noChangeArrowheads="1"/>
          </p:cNvSpPr>
          <p:nvPr/>
        </p:nvSpPr>
        <p:spPr bwMode="auto">
          <a:xfrm>
            <a:off x="6142979" y="1826394"/>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34" name="Text Box 160">
            <a:extLst>
              <a:ext uri="{FF2B5EF4-FFF2-40B4-BE49-F238E27FC236}">
                <a16:creationId xmlns:a16="http://schemas.microsoft.com/office/drawing/2014/main" id="{07DB0C82-674B-5144-BAE9-8C0C34433B1F}"/>
              </a:ext>
            </a:extLst>
          </p:cNvPr>
          <p:cNvSpPr txBox="1">
            <a:spLocks noChangeArrowheads="1"/>
          </p:cNvSpPr>
          <p:nvPr/>
        </p:nvSpPr>
        <p:spPr bwMode="auto">
          <a:xfrm>
            <a:off x="6131073" y="2853902"/>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35" name="Text Box 161">
            <a:extLst>
              <a:ext uri="{FF2B5EF4-FFF2-40B4-BE49-F238E27FC236}">
                <a16:creationId xmlns:a16="http://schemas.microsoft.com/office/drawing/2014/main" id="{F9A1BB24-595A-324B-857C-1A4078A11E0F}"/>
              </a:ext>
            </a:extLst>
          </p:cNvPr>
          <p:cNvSpPr txBox="1">
            <a:spLocks noChangeArrowheads="1"/>
          </p:cNvSpPr>
          <p:nvPr/>
        </p:nvSpPr>
        <p:spPr bwMode="auto">
          <a:xfrm>
            <a:off x="6131073" y="3443262"/>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36" name="Text Box 162">
            <a:extLst>
              <a:ext uri="{FF2B5EF4-FFF2-40B4-BE49-F238E27FC236}">
                <a16:creationId xmlns:a16="http://schemas.microsoft.com/office/drawing/2014/main" id="{78FDC2B4-8766-6343-97E5-2AE58705719C}"/>
              </a:ext>
            </a:extLst>
          </p:cNvPr>
          <p:cNvSpPr txBox="1">
            <a:spLocks noChangeArrowheads="1"/>
          </p:cNvSpPr>
          <p:nvPr/>
        </p:nvSpPr>
        <p:spPr bwMode="auto">
          <a:xfrm>
            <a:off x="6121548" y="4114774"/>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37" name="Text Box 163">
            <a:extLst>
              <a:ext uri="{FF2B5EF4-FFF2-40B4-BE49-F238E27FC236}">
                <a16:creationId xmlns:a16="http://schemas.microsoft.com/office/drawing/2014/main" id="{A22885BC-37F6-F04F-95BB-C6DFB6B3B931}"/>
              </a:ext>
            </a:extLst>
          </p:cNvPr>
          <p:cNvSpPr txBox="1">
            <a:spLocks noChangeArrowheads="1"/>
          </p:cNvSpPr>
          <p:nvPr/>
        </p:nvSpPr>
        <p:spPr bwMode="auto">
          <a:xfrm>
            <a:off x="6222751" y="4698181"/>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38" name="Text Box 164">
            <a:extLst>
              <a:ext uri="{FF2B5EF4-FFF2-40B4-BE49-F238E27FC236}">
                <a16:creationId xmlns:a16="http://schemas.microsoft.com/office/drawing/2014/main" id="{1DAFA3D3-9939-D74E-BB7A-F0A321E2B8A2}"/>
              </a:ext>
            </a:extLst>
          </p:cNvPr>
          <p:cNvSpPr txBox="1">
            <a:spLocks noChangeArrowheads="1"/>
          </p:cNvSpPr>
          <p:nvPr/>
        </p:nvSpPr>
        <p:spPr bwMode="auto">
          <a:xfrm>
            <a:off x="6131073" y="5318496"/>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39" name="Text Box 165">
            <a:extLst>
              <a:ext uri="{FF2B5EF4-FFF2-40B4-BE49-F238E27FC236}">
                <a16:creationId xmlns:a16="http://schemas.microsoft.com/office/drawing/2014/main" id="{19FA51FD-8C35-CB4E-AB1D-CE7A409F76CF}"/>
              </a:ext>
            </a:extLst>
          </p:cNvPr>
          <p:cNvSpPr txBox="1">
            <a:spLocks noChangeArrowheads="1"/>
          </p:cNvSpPr>
          <p:nvPr/>
        </p:nvSpPr>
        <p:spPr bwMode="auto">
          <a:xfrm>
            <a:off x="6134645" y="5961433"/>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40" name="TextBox 39">
            <a:extLst>
              <a:ext uri="{FF2B5EF4-FFF2-40B4-BE49-F238E27FC236}">
                <a16:creationId xmlns:a16="http://schemas.microsoft.com/office/drawing/2014/main" id="{CFD02C0A-BA56-8041-9A87-78FCDBA18774}"/>
              </a:ext>
            </a:extLst>
          </p:cNvPr>
          <p:cNvSpPr txBox="1">
            <a:spLocks noChangeArrowheads="1"/>
          </p:cNvSpPr>
          <p:nvPr/>
        </p:nvSpPr>
        <p:spPr bwMode="auto">
          <a:xfrm>
            <a:off x="7302946" y="2700311"/>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41" name="矩形 24">
            <a:extLst>
              <a:ext uri="{FF2B5EF4-FFF2-40B4-BE49-F238E27FC236}">
                <a16:creationId xmlns:a16="http://schemas.microsoft.com/office/drawing/2014/main" id="{AE759E26-9859-7741-BFA0-012D0FEB2C8C}"/>
              </a:ext>
            </a:extLst>
          </p:cNvPr>
          <p:cNvSpPr>
            <a:spLocks noChangeArrowheads="1"/>
          </p:cNvSpPr>
          <p:nvPr/>
        </p:nvSpPr>
        <p:spPr bwMode="auto">
          <a:xfrm>
            <a:off x="6532314" y="4074293"/>
            <a:ext cx="857250" cy="42862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42" name="Rectangle 3">
            <a:extLst>
              <a:ext uri="{FF2B5EF4-FFF2-40B4-BE49-F238E27FC236}">
                <a16:creationId xmlns:a16="http://schemas.microsoft.com/office/drawing/2014/main" id="{6DD40AEF-FD40-684A-8515-22753B447E9B}"/>
              </a:ext>
            </a:extLst>
          </p:cNvPr>
          <p:cNvSpPr txBox="1">
            <a:spLocks noChangeArrowheads="1"/>
          </p:cNvSpPr>
          <p:nvPr/>
        </p:nvSpPr>
        <p:spPr>
          <a:xfrm>
            <a:off x="179388" y="368300"/>
            <a:ext cx="6480175" cy="828675"/>
          </a:xfrm>
          <a:prstGeom prst="rect">
            <a:avLst/>
          </a:prstGeom>
          <a:noFill/>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2499757603"/>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dissolve">
                                      <p:cBhvr>
                                        <p:cTn id="7" dur="500"/>
                                        <p:tgtEl>
                                          <p:spTgt spid="32"/>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dissolve">
                                      <p:cBhvr>
                                        <p:cTn id="10" dur="500"/>
                                        <p:tgtEl>
                                          <p:spTgt spid="33"/>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dissolve">
                                      <p:cBhvr>
                                        <p:cTn id="13" dur="500"/>
                                        <p:tgtEl>
                                          <p:spTgt spid="34"/>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dissolve">
                                      <p:cBhvr>
                                        <p:cTn id="16" dur="500"/>
                                        <p:tgtEl>
                                          <p:spTgt spid="35"/>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dissolve">
                                      <p:cBhvr>
                                        <p:cTn id="19" dur="500"/>
                                        <p:tgtEl>
                                          <p:spTgt spid="36"/>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dissolve">
                                      <p:cBhvr>
                                        <p:cTn id="25" dur="500"/>
                                        <p:tgtEl>
                                          <p:spTgt spid="3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dissolve">
                                      <p:cBhvr>
                                        <p:cTn id="28" dur="500"/>
                                        <p:tgtEl>
                                          <p:spTgt spid="39"/>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dissolve">
                                      <p:cBhvr>
                                        <p:cTn id="31" dur="500"/>
                                        <p:tgtEl>
                                          <p:spTgt spid="40"/>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dissolve">
                                      <p:cBhvr>
                                        <p:cTn id="34" dur="500"/>
                                        <p:tgtEl>
                                          <p:spTgt spid="41"/>
                                        </p:tgtEl>
                                      </p:cBhvr>
                                    </p:animEffect>
                                  </p:childTnLst>
                                </p:cTn>
                              </p:par>
                            </p:childTnLst>
                          </p:cTn>
                        </p:par>
                      </p:childTnLst>
                    </p:cTn>
                  </p:par>
                  <p:par>
                    <p:cTn id="35" fill="hold">
                      <p:stCondLst>
                        <p:cond delay="indefinite"/>
                      </p:stCondLst>
                      <p:childTnLst>
                        <p:par>
                          <p:cTn id="36" fill="hold">
                            <p:stCondLst>
                              <p:cond delay="0"/>
                            </p:stCondLst>
                            <p:childTnLst>
                              <p:par>
                                <p:cTn id="37" presetID="3" presetClass="entr" presetSubtype="1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blinds(horizontal)">
                                      <p:cBhvr>
                                        <p:cTn id="39" dur="500"/>
                                        <p:tgtEl>
                                          <p:spTgt spid="22"/>
                                        </p:tgtEl>
                                      </p:cBhvr>
                                    </p:animEffect>
                                  </p:childTnLst>
                                </p:cTn>
                              </p:par>
                              <p:par>
                                <p:cTn id="40" presetID="3" presetClass="entr" presetSubtype="1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blinds(horizontal)">
                                      <p:cBhvr>
                                        <p:cTn id="42" dur="500"/>
                                        <p:tgtEl>
                                          <p:spTgt spid="23"/>
                                        </p:tgtEl>
                                      </p:cBhvr>
                                    </p:animEffect>
                                  </p:childTnLst>
                                </p:cTn>
                              </p:par>
                              <p:par>
                                <p:cTn id="43" presetID="3" presetClass="entr" presetSubtype="1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blinds(horizontal)">
                                      <p:cBhvr>
                                        <p:cTn id="45" dur="500"/>
                                        <p:tgtEl>
                                          <p:spTgt spid="24"/>
                                        </p:tgtEl>
                                      </p:cBhvr>
                                    </p:animEffect>
                                  </p:childTnLst>
                                </p:cTn>
                              </p:par>
                              <p:par>
                                <p:cTn id="46" presetID="3" presetClass="entr" presetSubtype="1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blinds(horizontal)">
                                      <p:cBhvr>
                                        <p:cTn id="48" dur="500"/>
                                        <p:tgtEl>
                                          <p:spTgt spid="25"/>
                                        </p:tgtEl>
                                      </p:cBhvr>
                                    </p:animEffect>
                                  </p:childTnLst>
                                </p:cTn>
                              </p:par>
                              <p:par>
                                <p:cTn id="49" presetID="3" presetClass="entr" presetSubtype="1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blinds(horizontal)">
                                      <p:cBhvr>
                                        <p:cTn id="51" dur="500"/>
                                        <p:tgtEl>
                                          <p:spTgt spid="26"/>
                                        </p:tgtEl>
                                      </p:cBhvr>
                                    </p:animEffect>
                                  </p:childTnLst>
                                </p:cTn>
                              </p:par>
                              <p:par>
                                <p:cTn id="52" presetID="3" presetClass="entr" presetSubtype="1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blinds(horizontal)">
                                      <p:cBhvr>
                                        <p:cTn id="54" dur="500"/>
                                        <p:tgtEl>
                                          <p:spTgt spid="27"/>
                                        </p:tgtEl>
                                      </p:cBhvr>
                                    </p:animEffect>
                                  </p:childTnLst>
                                </p:cTn>
                              </p:par>
                              <p:par>
                                <p:cTn id="55" presetID="3" presetClass="entr" presetSubtype="1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blinds(horizontal)">
                                      <p:cBhvr>
                                        <p:cTn id="57" dur="500"/>
                                        <p:tgtEl>
                                          <p:spTgt spid="28"/>
                                        </p:tgtEl>
                                      </p:cBhvr>
                                    </p:animEffect>
                                  </p:childTnLst>
                                </p:cTn>
                              </p:par>
                              <p:par>
                                <p:cTn id="58" presetID="3" presetClass="entr" presetSubtype="1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blinds(horizontal)">
                                      <p:cBhvr>
                                        <p:cTn id="60" dur="500"/>
                                        <p:tgtEl>
                                          <p:spTgt spid="29"/>
                                        </p:tgtEl>
                                      </p:cBhvr>
                                    </p:animEffect>
                                  </p:childTnLst>
                                </p:cTn>
                              </p:par>
                              <p:par>
                                <p:cTn id="61" presetID="3" presetClass="entr" presetSubtype="1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blinds(horizontal)">
                                      <p:cBhvr>
                                        <p:cTn id="63" dur="500"/>
                                        <p:tgtEl>
                                          <p:spTgt spid="30"/>
                                        </p:tgtEl>
                                      </p:cBhvr>
                                    </p:animEffect>
                                  </p:childTnLst>
                                </p:cTn>
                              </p:par>
                              <p:par>
                                <p:cTn id="64" presetID="3" presetClass="entr" presetSubtype="1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blinds(horizontal)">
                                      <p:cBhvr>
                                        <p:cTn id="6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P spid="30" grpId="0"/>
      <p:bldP spid="31" grpId="0"/>
      <p:bldP spid="33" grpId="0"/>
      <p:bldP spid="34" grpId="0"/>
      <p:bldP spid="35" grpId="0"/>
      <p:bldP spid="36" grpId="0"/>
      <p:bldP spid="37" grpId="0"/>
      <p:bldP spid="38" grpId="0"/>
      <p:bldP spid="39" grpId="0"/>
      <p:bldP spid="40" grpId="0"/>
      <p:bldP spid="41"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
            <a:extLst>
              <a:ext uri="{FF2B5EF4-FFF2-40B4-BE49-F238E27FC236}">
                <a16:creationId xmlns:a16="http://schemas.microsoft.com/office/drawing/2014/main" id="{9DDB490C-B7FE-DD4C-A26F-C8EED3B57164}"/>
              </a:ext>
            </a:extLst>
          </p:cNvPr>
          <p:cNvSpPr>
            <a:spLocks noChangeArrowheads="1"/>
          </p:cNvSpPr>
          <p:nvPr/>
        </p:nvSpPr>
        <p:spPr bwMode="auto">
          <a:xfrm>
            <a:off x="1589387" y="1987055"/>
            <a:ext cx="1600200" cy="4572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00"/>
              </a:solidFill>
              <a:effectLst/>
              <a:uLnTx/>
              <a:uFillTx/>
              <a:latin typeface="幼圆" pitchFamily="49" charset="-122"/>
              <a:ea typeface="幼圆" pitchFamily="49" charset="-122"/>
            </a:endParaRPr>
          </a:p>
        </p:txBody>
      </p:sp>
      <p:sp>
        <p:nvSpPr>
          <p:cNvPr id="29" name="Line 3">
            <a:extLst>
              <a:ext uri="{FF2B5EF4-FFF2-40B4-BE49-F238E27FC236}">
                <a16:creationId xmlns:a16="http://schemas.microsoft.com/office/drawing/2014/main" id="{87515A81-AD24-604C-ADA9-897BE7661E41}"/>
              </a:ext>
            </a:extLst>
          </p:cNvPr>
          <p:cNvSpPr>
            <a:spLocks noChangeShapeType="1"/>
          </p:cNvSpPr>
          <p:nvPr/>
        </p:nvSpPr>
        <p:spPr bwMode="auto">
          <a:xfrm>
            <a:off x="193228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0" name="Line 4">
            <a:extLst>
              <a:ext uri="{FF2B5EF4-FFF2-40B4-BE49-F238E27FC236}">
                <a16:creationId xmlns:a16="http://schemas.microsoft.com/office/drawing/2014/main" id="{F75442BD-4D35-9B4B-88B2-FFF83416064D}"/>
              </a:ext>
            </a:extLst>
          </p:cNvPr>
          <p:cNvSpPr>
            <a:spLocks noChangeShapeType="1"/>
          </p:cNvSpPr>
          <p:nvPr/>
        </p:nvSpPr>
        <p:spPr bwMode="auto">
          <a:xfrm>
            <a:off x="284668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1" name="Rectangle 5">
            <a:extLst>
              <a:ext uri="{FF2B5EF4-FFF2-40B4-BE49-F238E27FC236}">
                <a16:creationId xmlns:a16="http://schemas.microsoft.com/office/drawing/2014/main" id="{0D1C74FC-AC2E-2842-8022-5302EB3EFD19}"/>
              </a:ext>
            </a:extLst>
          </p:cNvPr>
          <p:cNvSpPr>
            <a:spLocks noChangeArrowheads="1"/>
          </p:cNvSpPr>
          <p:nvPr/>
        </p:nvSpPr>
        <p:spPr bwMode="auto">
          <a:xfrm>
            <a:off x="3818237" y="1987055"/>
            <a:ext cx="1600200" cy="4572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00"/>
              </a:solidFill>
              <a:effectLst/>
              <a:uLnTx/>
              <a:uFillTx/>
              <a:latin typeface="幼圆" pitchFamily="49" charset="-122"/>
              <a:ea typeface="幼圆" pitchFamily="49" charset="-122"/>
            </a:endParaRPr>
          </a:p>
        </p:txBody>
      </p:sp>
      <p:sp>
        <p:nvSpPr>
          <p:cNvPr id="32" name="Line 6">
            <a:extLst>
              <a:ext uri="{FF2B5EF4-FFF2-40B4-BE49-F238E27FC236}">
                <a16:creationId xmlns:a16="http://schemas.microsoft.com/office/drawing/2014/main" id="{3FD6712D-9163-F54C-A452-8F52186451E0}"/>
              </a:ext>
            </a:extLst>
          </p:cNvPr>
          <p:cNvSpPr>
            <a:spLocks noChangeShapeType="1"/>
          </p:cNvSpPr>
          <p:nvPr/>
        </p:nvSpPr>
        <p:spPr bwMode="auto">
          <a:xfrm>
            <a:off x="416113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3" name="Line 7">
            <a:extLst>
              <a:ext uri="{FF2B5EF4-FFF2-40B4-BE49-F238E27FC236}">
                <a16:creationId xmlns:a16="http://schemas.microsoft.com/office/drawing/2014/main" id="{4EAF4EA3-2B06-854B-B979-228FFB6FB45A}"/>
              </a:ext>
            </a:extLst>
          </p:cNvPr>
          <p:cNvSpPr>
            <a:spLocks noChangeShapeType="1"/>
          </p:cNvSpPr>
          <p:nvPr/>
        </p:nvSpPr>
        <p:spPr bwMode="auto">
          <a:xfrm>
            <a:off x="507553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4" name="Rectangle 8">
            <a:extLst>
              <a:ext uri="{FF2B5EF4-FFF2-40B4-BE49-F238E27FC236}">
                <a16:creationId xmlns:a16="http://schemas.microsoft.com/office/drawing/2014/main" id="{1384357D-7BD2-E14E-A070-0AA4775CDDC6}"/>
              </a:ext>
            </a:extLst>
          </p:cNvPr>
          <p:cNvSpPr>
            <a:spLocks noChangeArrowheads="1"/>
          </p:cNvSpPr>
          <p:nvPr/>
        </p:nvSpPr>
        <p:spPr bwMode="auto">
          <a:xfrm>
            <a:off x="5989937" y="1987055"/>
            <a:ext cx="1600200" cy="457200"/>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00"/>
              </a:solidFill>
              <a:effectLst/>
              <a:uLnTx/>
              <a:uFillTx/>
              <a:latin typeface="幼圆" pitchFamily="49" charset="-122"/>
              <a:ea typeface="幼圆" pitchFamily="49" charset="-122"/>
            </a:endParaRPr>
          </a:p>
        </p:txBody>
      </p:sp>
      <p:sp>
        <p:nvSpPr>
          <p:cNvPr id="35" name="Line 9">
            <a:extLst>
              <a:ext uri="{FF2B5EF4-FFF2-40B4-BE49-F238E27FC236}">
                <a16:creationId xmlns:a16="http://schemas.microsoft.com/office/drawing/2014/main" id="{554C125E-F393-3D40-B9AA-210C14958A6D}"/>
              </a:ext>
            </a:extLst>
          </p:cNvPr>
          <p:cNvSpPr>
            <a:spLocks noChangeShapeType="1"/>
          </p:cNvSpPr>
          <p:nvPr/>
        </p:nvSpPr>
        <p:spPr bwMode="auto">
          <a:xfrm>
            <a:off x="633283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6" name="Line 10">
            <a:extLst>
              <a:ext uri="{FF2B5EF4-FFF2-40B4-BE49-F238E27FC236}">
                <a16:creationId xmlns:a16="http://schemas.microsoft.com/office/drawing/2014/main" id="{805A6A3F-25F0-4F43-BEC9-2940EEC235EF}"/>
              </a:ext>
            </a:extLst>
          </p:cNvPr>
          <p:cNvSpPr>
            <a:spLocks noChangeShapeType="1"/>
          </p:cNvSpPr>
          <p:nvPr/>
        </p:nvSpPr>
        <p:spPr bwMode="auto">
          <a:xfrm>
            <a:off x="7247237" y="1987055"/>
            <a:ext cx="0" cy="4572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37" name="Freeform 13">
            <a:extLst>
              <a:ext uri="{FF2B5EF4-FFF2-40B4-BE49-F238E27FC236}">
                <a16:creationId xmlns:a16="http://schemas.microsoft.com/office/drawing/2014/main" id="{13EE8855-4A03-9349-AC4E-7BDDBE65B0E1}"/>
              </a:ext>
            </a:extLst>
          </p:cNvPr>
          <p:cNvSpPr>
            <a:spLocks/>
          </p:cNvSpPr>
          <p:nvPr/>
        </p:nvSpPr>
        <p:spPr bwMode="auto">
          <a:xfrm>
            <a:off x="3132437" y="1987055"/>
            <a:ext cx="800100" cy="171450"/>
          </a:xfrm>
          <a:custGeom>
            <a:avLst/>
            <a:gdLst>
              <a:gd name="T0" fmla="*/ 0 w 672"/>
              <a:gd name="T1" fmla="*/ 2147483647 h 144"/>
              <a:gd name="T2" fmla="*/ 2147483647 w 672"/>
              <a:gd name="T3" fmla="*/ 0 h 144"/>
              <a:gd name="T4" fmla="*/ 2147483647 w 672"/>
              <a:gd name="T5" fmla="*/ 2147483647 h 144"/>
              <a:gd name="T6" fmla="*/ 0 60000 65536"/>
              <a:gd name="T7" fmla="*/ 0 60000 65536"/>
              <a:gd name="T8" fmla="*/ 0 60000 65536"/>
              <a:gd name="T9" fmla="*/ 0 w 672"/>
              <a:gd name="T10" fmla="*/ 0 h 144"/>
              <a:gd name="T11" fmla="*/ 672 w 672"/>
              <a:gd name="T12" fmla="*/ 144 h 144"/>
            </a:gdLst>
            <a:ahLst/>
            <a:cxnLst>
              <a:cxn ang="T6">
                <a:pos x="T0" y="T1"/>
              </a:cxn>
              <a:cxn ang="T7">
                <a:pos x="T2" y="T3"/>
              </a:cxn>
              <a:cxn ang="T8">
                <a:pos x="T4" y="T5"/>
              </a:cxn>
            </a:cxnLst>
            <a:rect l="T9" t="T10" r="T11" b="T12"/>
            <a:pathLst>
              <a:path w="672" h="144">
                <a:moveTo>
                  <a:pt x="0" y="144"/>
                </a:moveTo>
                <a:cubicBezTo>
                  <a:pt x="64" y="72"/>
                  <a:pt x="128" y="0"/>
                  <a:pt x="240" y="0"/>
                </a:cubicBezTo>
                <a:cubicBezTo>
                  <a:pt x="352" y="0"/>
                  <a:pt x="600" y="120"/>
                  <a:pt x="672" y="144"/>
                </a:cubicBezTo>
              </a:path>
            </a:pathLst>
          </a:custGeom>
          <a:noFill/>
          <a:ln w="19050">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38" name="Freeform 14">
            <a:extLst>
              <a:ext uri="{FF2B5EF4-FFF2-40B4-BE49-F238E27FC236}">
                <a16:creationId xmlns:a16="http://schemas.microsoft.com/office/drawing/2014/main" id="{7771D42D-0DE0-1D4C-A248-52C965951DCC}"/>
              </a:ext>
            </a:extLst>
          </p:cNvPr>
          <p:cNvSpPr>
            <a:spLocks/>
          </p:cNvSpPr>
          <p:nvPr/>
        </p:nvSpPr>
        <p:spPr bwMode="auto">
          <a:xfrm>
            <a:off x="3075287" y="2329955"/>
            <a:ext cx="800100" cy="171450"/>
          </a:xfrm>
          <a:custGeom>
            <a:avLst/>
            <a:gdLst>
              <a:gd name="T0" fmla="*/ 2147483647 w 672"/>
              <a:gd name="T1" fmla="*/ 0 h 144"/>
              <a:gd name="T2" fmla="*/ 2147483647 w 672"/>
              <a:gd name="T3" fmla="*/ 2147483647 h 144"/>
              <a:gd name="T4" fmla="*/ 0 w 672"/>
              <a:gd name="T5" fmla="*/ 0 h 144"/>
              <a:gd name="T6" fmla="*/ 0 60000 65536"/>
              <a:gd name="T7" fmla="*/ 0 60000 65536"/>
              <a:gd name="T8" fmla="*/ 0 60000 65536"/>
              <a:gd name="T9" fmla="*/ 0 w 672"/>
              <a:gd name="T10" fmla="*/ 0 h 144"/>
              <a:gd name="T11" fmla="*/ 672 w 672"/>
              <a:gd name="T12" fmla="*/ 144 h 144"/>
            </a:gdLst>
            <a:ahLst/>
            <a:cxnLst>
              <a:cxn ang="T6">
                <a:pos x="T0" y="T1"/>
              </a:cxn>
              <a:cxn ang="T7">
                <a:pos x="T2" y="T3"/>
              </a:cxn>
              <a:cxn ang="T8">
                <a:pos x="T4" y="T5"/>
              </a:cxn>
            </a:cxnLst>
            <a:rect l="T9" t="T10" r="T11" b="T12"/>
            <a:pathLst>
              <a:path w="672" h="144">
                <a:moveTo>
                  <a:pt x="672" y="0"/>
                </a:moveTo>
                <a:cubicBezTo>
                  <a:pt x="584" y="72"/>
                  <a:pt x="496" y="144"/>
                  <a:pt x="384" y="144"/>
                </a:cubicBezTo>
                <a:cubicBezTo>
                  <a:pt x="272" y="144"/>
                  <a:pt x="136" y="72"/>
                  <a:pt x="0" y="0"/>
                </a:cubicBezTo>
              </a:path>
            </a:pathLst>
          </a:custGeom>
          <a:noFill/>
          <a:ln w="19050">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39" name="Freeform 15">
            <a:extLst>
              <a:ext uri="{FF2B5EF4-FFF2-40B4-BE49-F238E27FC236}">
                <a16:creationId xmlns:a16="http://schemas.microsoft.com/office/drawing/2014/main" id="{DC4A1D64-5314-9E48-98E8-9EB8AD4CCB3F}"/>
              </a:ext>
            </a:extLst>
          </p:cNvPr>
          <p:cNvSpPr>
            <a:spLocks/>
          </p:cNvSpPr>
          <p:nvPr/>
        </p:nvSpPr>
        <p:spPr bwMode="auto">
          <a:xfrm>
            <a:off x="5304137" y="1987055"/>
            <a:ext cx="800100" cy="171450"/>
          </a:xfrm>
          <a:custGeom>
            <a:avLst/>
            <a:gdLst>
              <a:gd name="T0" fmla="*/ 0 w 672"/>
              <a:gd name="T1" fmla="*/ 2147483647 h 144"/>
              <a:gd name="T2" fmla="*/ 2147483647 w 672"/>
              <a:gd name="T3" fmla="*/ 0 h 144"/>
              <a:gd name="T4" fmla="*/ 2147483647 w 672"/>
              <a:gd name="T5" fmla="*/ 2147483647 h 144"/>
              <a:gd name="T6" fmla="*/ 0 60000 65536"/>
              <a:gd name="T7" fmla="*/ 0 60000 65536"/>
              <a:gd name="T8" fmla="*/ 0 60000 65536"/>
              <a:gd name="T9" fmla="*/ 0 w 672"/>
              <a:gd name="T10" fmla="*/ 0 h 144"/>
              <a:gd name="T11" fmla="*/ 672 w 672"/>
              <a:gd name="T12" fmla="*/ 144 h 144"/>
            </a:gdLst>
            <a:ahLst/>
            <a:cxnLst>
              <a:cxn ang="T6">
                <a:pos x="T0" y="T1"/>
              </a:cxn>
              <a:cxn ang="T7">
                <a:pos x="T2" y="T3"/>
              </a:cxn>
              <a:cxn ang="T8">
                <a:pos x="T4" y="T5"/>
              </a:cxn>
            </a:cxnLst>
            <a:rect l="T9" t="T10" r="T11" b="T12"/>
            <a:pathLst>
              <a:path w="672" h="144">
                <a:moveTo>
                  <a:pt x="0" y="144"/>
                </a:moveTo>
                <a:cubicBezTo>
                  <a:pt x="64" y="72"/>
                  <a:pt x="128" y="0"/>
                  <a:pt x="240" y="0"/>
                </a:cubicBezTo>
                <a:cubicBezTo>
                  <a:pt x="352" y="0"/>
                  <a:pt x="600" y="120"/>
                  <a:pt x="672" y="144"/>
                </a:cubicBezTo>
              </a:path>
            </a:pathLst>
          </a:custGeom>
          <a:noFill/>
          <a:ln w="19050">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40" name="Freeform 16">
            <a:extLst>
              <a:ext uri="{FF2B5EF4-FFF2-40B4-BE49-F238E27FC236}">
                <a16:creationId xmlns:a16="http://schemas.microsoft.com/office/drawing/2014/main" id="{FF757280-7DF2-7649-85B6-D50F6562A1BF}"/>
              </a:ext>
            </a:extLst>
          </p:cNvPr>
          <p:cNvSpPr>
            <a:spLocks/>
          </p:cNvSpPr>
          <p:nvPr/>
        </p:nvSpPr>
        <p:spPr bwMode="auto">
          <a:xfrm>
            <a:off x="5246987" y="2272805"/>
            <a:ext cx="800100" cy="171450"/>
          </a:xfrm>
          <a:custGeom>
            <a:avLst/>
            <a:gdLst>
              <a:gd name="T0" fmla="*/ 2147483647 w 672"/>
              <a:gd name="T1" fmla="*/ 0 h 144"/>
              <a:gd name="T2" fmla="*/ 2147483647 w 672"/>
              <a:gd name="T3" fmla="*/ 2147483647 h 144"/>
              <a:gd name="T4" fmla="*/ 0 w 672"/>
              <a:gd name="T5" fmla="*/ 0 h 144"/>
              <a:gd name="T6" fmla="*/ 0 60000 65536"/>
              <a:gd name="T7" fmla="*/ 0 60000 65536"/>
              <a:gd name="T8" fmla="*/ 0 60000 65536"/>
              <a:gd name="T9" fmla="*/ 0 w 672"/>
              <a:gd name="T10" fmla="*/ 0 h 144"/>
              <a:gd name="T11" fmla="*/ 672 w 672"/>
              <a:gd name="T12" fmla="*/ 144 h 144"/>
            </a:gdLst>
            <a:ahLst/>
            <a:cxnLst>
              <a:cxn ang="T6">
                <a:pos x="T0" y="T1"/>
              </a:cxn>
              <a:cxn ang="T7">
                <a:pos x="T2" y="T3"/>
              </a:cxn>
              <a:cxn ang="T8">
                <a:pos x="T4" y="T5"/>
              </a:cxn>
            </a:cxnLst>
            <a:rect l="T9" t="T10" r="T11" b="T12"/>
            <a:pathLst>
              <a:path w="672" h="144">
                <a:moveTo>
                  <a:pt x="672" y="0"/>
                </a:moveTo>
                <a:cubicBezTo>
                  <a:pt x="584" y="72"/>
                  <a:pt x="496" y="144"/>
                  <a:pt x="384" y="144"/>
                </a:cubicBezTo>
                <a:cubicBezTo>
                  <a:pt x="272" y="144"/>
                  <a:pt x="136" y="72"/>
                  <a:pt x="0" y="0"/>
                </a:cubicBezTo>
              </a:path>
            </a:pathLst>
          </a:custGeom>
          <a:noFill/>
          <a:ln w="19050">
            <a:solidFill>
              <a:srgbClr val="000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aphicFrame>
        <p:nvGraphicFramePr>
          <p:cNvPr id="41" name="Group 113">
            <a:extLst>
              <a:ext uri="{FF2B5EF4-FFF2-40B4-BE49-F238E27FC236}">
                <a16:creationId xmlns:a16="http://schemas.microsoft.com/office/drawing/2014/main" id="{D3D12BED-0310-DD48-BCC5-488FCE36FC94}"/>
              </a:ext>
            </a:extLst>
          </p:cNvPr>
          <p:cNvGraphicFramePr>
            <a:graphicFrameLocks noGrp="1"/>
          </p:cNvGraphicFramePr>
          <p:nvPr>
            <p:extLst>
              <p:ext uri="{D42A27DB-BD31-4B8C-83A1-F6EECF244321}">
                <p14:modId xmlns:p14="http://schemas.microsoft.com/office/powerpoint/2010/main" val="3679726374"/>
              </p:ext>
            </p:extLst>
          </p:nvPr>
        </p:nvGraphicFramePr>
        <p:xfrm>
          <a:off x="3646787" y="3072906"/>
          <a:ext cx="2414588" cy="2243139"/>
        </p:xfrm>
        <a:graphic>
          <a:graphicData uri="http://schemas.openxmlformats.org/drawingml/2006/table">
            <a:tbl>
              <a:tblPr/>
              <a:tblGrid>
                <a:gridCol w="483408">
                  <a:extLst>
                    <a:ext uri="{9D8B030D-6E8A-4147-A177-3AD203B41FA5}">
                      <a16:colId xmlns:a16="http://schemas.microsoft.com/office/drawing/2014/main" val="20000"/>
                    </a:ext>
                  </a:extLst>
                </a:gridCol>
                <a:gridCol w="1447772">
                  <a:extLst>
                    <a:ext uri="{9D8B030D-6E8A-4147-A177-3AD203B41FA5}">
                      <a16:colId xmlns:a16="http://schemas.microsoft.com/office/drawing/2014/main" val="20001"/>
                    </a:ext>
                  </a:extLst>
                </a:gridCol>
                <a:gridCol w="483408">
                  <a:extLst>
                    <a:ext uri="{9D8B030D-6E8A-4147-A177-3AD203B41FA5}">
                      <a16:colId xmlns:a16="http://schemas.microsoft.com/office/drawing/2014/main" val="20002"/>
                    </a:ext>
                  </a:extLst>
                </a:gridCol>
              </a:tblGrid>
              <a:tr h="1185212">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rowSpan="3">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828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vMerge="1">
                  <a:txBody>
                    <a:bodyPr/>
                    <a:lstStyle/>
                    <a:p>
                      <a:endParaRPr lang="zh-CN" altLang="en-US"/>
                    </a:p>
                  </a:txBody>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504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endParaRPr lang="zh-CN" altLang="en-US" sz="1400" dirty="0"/>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tc vMerge="1">
                  <a:txBody>
                    <a:bodyPr/>
                    <a:lstStyle/>
                    <a:p>
                      <a:endParaRPr lang="zh-CN" altLang="en-US"/>
                    </a:p>
                  </a:txBody>
                  <a:tcPr/>
                </a:tc>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endParaRPr lang="zh-CN" altLang="en-US" sz="1400" dirty="0"/>
                    </a:p>
                  </a:txBody>
                  <a:tcPr marL="68580" marR="68580" marT="34290" marB="34290" horzOverflow="overflow">
                    <a:lnL w="28575" cap="flat" cmpd="sng" algn="ctr">
                      <a:solidFill>
                        <a:srgbClr val="000000"/>
                      </a:solidFill>
                      <a:prstDash val="solid"/>
                      <a:round/>
                      <a:headEnd type="none" w="med" len="med"/>
                      <a:tailEnd type="none" w="med" len="med"/>
                    </a:lnL>
                    <a:lnR w="28575" cap="flat" cmpd="sng" algn="ctr">
                      <a:solidFill>
                        <a:srgbClr val="000000"/>
                      </a:solidFill>
                      <a:prstDash val="solid"/>
                      <a:round/>
                      <a:headEnd type="none" w="med" len="med"/>
                      <a:tailEnd type="none" w="med" len="med"/>
                    </a:lnR>
                    <a:lnT w="28575" cap="flat" cmpd="sng" algn="ctr">
                      <a:solidFill>
                        <a:srgbClr val="000000"/>
                      </a:solidFill>
                      <a:prstDash val="solid"/>
                      <a:round/>
                      <a:headEnd type="none" w="med" len="med"/>
                      <a:tailEnd type="none" w="med" len="med"/>
                    </a:lnT>
                    <a:lnB w="28575"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42" name="Text Box 111">
            <a:extLst>
              <a:ext uri="{FF2B5EF4-FFF2-40B4-BE49-F238E27FC236}">
                <a16:creationId xmlns:a16="http://schemas.microsoft.com/office/drawing/2014/main" id="{779A0EA2-5D31-FD49-8466-9E524FAF4DA9}"/>
              </a:ext>
            </a:extLst>
          </p:cNvPr>
          <p:cNvSpPr txBox="1">
            <a:spLocks noChangeArrowheads="1"/>
          </p:cNvSpPr>
          <p:nvPr/>
        </p:nvSpPr>
        <p:spPr bwMode="auto">
          <a:xfrm>
            <a:off x="3655420" y="3031234"/>
            <a:ext cx="461665" cy="131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00"/>
                </a:solidFill>
                <a:latin typeface="幼圆" pitchFamily="49" charset="-122"/>
                <a:ea typeface="幼圆" pitchFamily="49" charset="-122"/>
              </a:rPr>
              <a:t>前向指针</a:t>
            </a:r>
          </a:p>
        </p:txBody>
      </p:sp>
      <p:sp>
        <p:nvSpPr>
          <p:cNvPr id="43" name="Text Box 116">
            <a:extLst>
              <a:ext uri="{FF2B5EF4-FFF2-40B4-BE49-F238E27FC236}">
                <a16:creationId xmlns:a16="http://schemas.microsoft.com/office/drawing/2014/main" id="{B16AAEEA-DEEB-4341-951B-BC1DF865D63D}"/>
              </a:ext>
            </a:extLst>
          </p:cNvPr>
          <p:cNvSpPr txBox="1">
            <a:spLocks noChangeArrowheads="1"/>
          </p:cNvSpPr>
          <p:nvPr/>
        </p:nvSpPr>
        <p:spPr bwMode="auto">
          <a:xfrm>
            <a:off x="3761087" y="4250435"/>
            <a:ext cx="353616" cy="708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ct val="25000"/>
              </a:lnSpc>
              <a:spcBef>
                <a:spcPct val="50000"/>
              </a:spcBef>
            </a:pPr>
            <a:endParaRPr lang="en-US" altLang="zh-CN" sz="1800">
              <a:solidFill>
                <a:srgbClr val="000000"/>
              </a:solidFill>
              <a:latin typeface="幼圆" pitchFamily="49" charset="-122"/>
              <a:ea typeface="幼圆" pitchFamily="49" charset="-122"/>
            </a:endParaRPr>
          </a:p>
          <a:p>
            <a:pPr>
              <a:lnSpc>
                <a:spcPct val="10000"/>
              </a:lnSpc>
              <a:spcBef>
                <a:spcPct val="50000"/>
              </a:spcBef>
            </a:pPr>
            <a:r>
              <a:rPr lang="en-US" altLang="zh-CN" sz="1800">
                <a:solidFill>
                  <a:srgbClr val="000000"/>
                </a:solidFill>
                <a:latin typeface="幼圆" pitchFamily="49" charset="-122"/>
                <a:ea typeface="幼圆" pitchFamily="49" charset="-122"/>
              </a:rPr>
              <a:t>N</a:t>
            </a:r>
          </a:p>
          <a:p>
            <a:pPr>
              <a:lnSpc>
                <a:spcPct val="10000"/>
              </a:lnSpc>
              <a:spcBef>
                <a:spcPct val="50000"/>
              </a:spcBef>
            </a:pPr>
            <a:r>
              <a:rPr lang="en-US" altLang="zh-CN" sz="1800">
                <a:solidFill>
                  <a:srgbClr val="000000"/>
                </a:solidFill>
                <a:latin typeface="幼圆" pitchFamily="49" charset="-122"/>
                <a:ea typeface="幼圆" pitchFamily="49" charset="-122"/>
              </a:rPr>
              <a:t>+</a:t>
            </a:r>
          </a:p>
          <a:p>
            <a:pPr>
              <a:lnSpc>
                <a:spcPct val="10000"/>
              </a:lnSpc>
              <a:spcBef>
                <a:spcPct val="50000"/>
              </a:spcBef>
            </a:pPr>
            <a:r>
              <a:rPr lang="en-US" altLang="zh-CN" sz="1800">
                <a:solidFill>
                  <a:srgbClr val="000000"/>
                </a:solidFill>
                <a:latin typeface="幼圆" pitchFamily="49" charset="-122"/>
                <a:ea typeface="幼圆" pitchFamily="49" charset="-122"/>
              </a:rPr>
              <a:t>2</a:t>
            </a:r>
          </a:p>
        </p:txBody>
      </p:sp>
      <p:sp>
        <p:nvSpPr>
          <p:cNvPr id="44" name="Text Box 117">
            <a:extLst>
              <a:ext uri="{FF2B5EF4-FFF2-40B4-BE49-F238E27FC236}">
                <a16:creationId xmlns:a16="http://schemas.microsoft.com/office/drawing/2014/main" id="{91E515C3-4740-A54C-A4DE-313EA217EDFD}"/>
              </a:ext>
            </a:extLst>
          </p:cNvPr>
          <p:cNvSpPr txBox="1">
            <a:spLocks noChangeArrowheads="1"/>
          </p:cNvSpPr>
          <p:nvPr/>
        </p:nvSpPr>
        <p:spPr bwMode="auto">
          <a:xfrm>
            <a:off x="5647037" y="4292106"/>
            <a:ext cx="353616" cy="666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ct val="10000"/>
              </a:lnSpc>
              <a:spcBef>
                <a:spcPct val="50000"/>
              </a:spcBef>
            </a:pPr>
            <a:endParaRPr lang="en-US" altLang="zh-CN" sz="1800">
              <a:solidFill>
                <a:srgbClr val="000000"/>
              </a:solidFill>
              <a:latin typeface="幼圆" pitchFamily="49" charset="-122"/>
              <a:ea typeface="幼圆" pitchFamily="49" charset="-122"/>
            </a:endParaRPr>
          </a:p>
          <a:p>
            <a:pPr>
              <a:lnSpc>
                <a:spcPct val="10000"/>
              </a:lnSpc>
              <a:spcBef>
                <a:spcPct val="50000"/>
              </a:spcBef>
            </a:pPr>
            <a:r>
              <a:rPr lang="en-US" altLang="zh-CN" sz="1800">
                <a:solidFill>
                  <a:srgbClr val="000000"/>
                </a:solidFill>
                <a:latin typeface="幼圆" pitchFamily="49" charset="-122"/>
                <a:ea typeface="幼圆" pitchFamily="49" charset="-122"/>
              </a:rPr>
              <a:t>N</a:t>
            </a:r>
          </a:p>
          <a:p>
            <a:pPr>
              <a:lnSpc>
                <a:spcPct val="10000"/>
              </a:lnSpc>
              <a:spcBef>
                <a:spcPct val="50000"/>
              </a:spcBef>
            </a:pPr>
            <a:r>
              <a:rPr lang="en-US" altLang="zh-CN" sz="1800">
                <a:solidFill>
                  <a:srgbClr val="000000"/>
                </a:solidFill>
                <a:latin typeface="幼圆" pitchFamily="49" charset="-122"/>
                <a:ea typeface="幼圆" pitchFamily="49" charset="-122"/>
              </a:rPr>
              <a:t>+</a:t>
            </a:r>
          </a:p>
          <a:p>
            <a:pPr>
              <a:lnSpc>
                <a:spcPct val="10000"/>
              </a:lnSpc>
              <a:spcBef>
                <a:spcPct val="50000"/>
              </a:spcBef>
            </a:pPr>
            <a:r>
              <a:rPr lang="en-US" altLang="zh-CN" sz="1800">
                <a:solidFill>
                  <a:srgbClr val="000000"/>
                </a:solidFill>
                <a:latin typeface="幼圆" pitchFamily="49" charset="-122"/>
                <a:ea typeface="幼圆" pitchFamily="49" charset="-122"/>
              </a:rPr>
              <a:t>2</a:t>
            </a:r>
          </a:p>
        </p:txBody>
      </p:sp>
      <p:sp>
        <p:nvSpPr>
          <p:cNvPr id="45" name="Text Box 118">
            <a:extLst>
              <a:ext uri="{FF2B5EF4-FFF2-40B4-BE49-F238E27FC236}">
                <a16:creationId xmlns:a16="http://schemas.microsoft.com/office/drawing/2014/main" id="{155EAB7E-193C-704B-B01B-01FF68159974}"/>
              </a:ext>
            </a:extLst>
          </p:cNvPr>
          <p:cNvSpPr txBox="1">
            <a:spLocks noChangeArrowheads="1"/>
          </p:cNvSpPr>
          <p:nvPr/>
        </p:nvSpPr>
        <p:spPr bwMode="auto">
          <a:xfrm>
            <a:off x="3761088" y="4969571"/>
            <a:ext cx="2357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0</a:t>
            </a:r>
          </a:p>
        </p:txBody>
      </p:sp>
      <p:sp>
        <p:nvSpPr>
          <p:cNvPr id="46" name="Text Box 119">
            <a:extLst>
              <a:ext uri="{FF2B5EF4-FFF2-40B4-BE49-F238E27FC236}">
                <a16:creationId xmlns:a16="http://schemas.microsoft.com/office/drawing/2014/main" id="{C80FC3DB-80FE-C34B-BF76-2EB1734AA6E4}"/>
              </a:ext>
            </a:extLst>
          </p:cNvPr>
          <p:cNvSpPr txBox="1">
            <a:spLocks noChangeArrowheads="1"/>
          </p:cNvSpPr>
          <p:nvPr/>
        </p:nvSpPr>
        <p:spPr bwMode="auto">
          <a:xfrm>
            <a:off x="5654181" y="4915993"/>
            <a:ext cx="3536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0</a:t>
            </a:r>
          </a:p>
        </p:txBody>
      </p:sp>
      <p:sp>
        <p:nvSpPr>
          <p:cNvPr id="47" name="Text Box 120">
            <a:extLst>
              <a:ext uri="{FF2B5EF4-FFF2-40B4-BE49-F238E27FC236}">
                <a16:creationId xmlns:a16="http://schemas.microsoft.com/office/drawing/2014/main" id="{950E4E8B-E940-F843-A843-6E242D4C6036}"/>
              </a:ext>
            </a:extLst>
          </p:cNvPr>
          <p:cNvSpPr txBox="1">
            <a:spLocks noChangeArrowheads="1"/>
          </p:cNvSpPr>
          <p:nvPr/>
        </p:nvSpPr>
        <p:spPr bwMode="auto">
          <a:xfrm>
            <a:off x="4134944" y="3918250"/>
            <a:ext cx="188476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N</a:t>
            </a:r>
            <a:r>
              <a:rPr lang="zh-CN" altLang="en-US" sz="1800">
                <a:solidFill>
                  <a:srgbClr val="000000"/>
                </a:solidFill>
                <a:latin typeface="幼圆" pitchFamily="49" charset="-122"/>
                <a:ea typeface="幼圆" pitchFamily="49" charset="-122"/>
              </a:rPr>
              <a:t>个字节可用</a:t>
            </a:r>
          </a:p>
        </p:txBody>
      </p:sp>
      <p:sp>
        <p:nvSpPr>
          <p:cNvPr id="48" name="Text Box 121">
            <a:extLst>
              <a:ext uri="{FF2B5EF4-FFF2-40B4-BE49-F238E27FC236}">
                <a16:creationId xmlns:a16="http://schemas.microsoft.com/office/drawing/2014/main" id="{5BBA7F26-949D-7948-93B0-E34D8F22EC5A}"/>
              </a:ext>
            </a:extLst>
          </p:cNvPr>
          <p:cNvSpPr txBox="1">
            <a:spLocks noChangeArrowheads="1"/>
          </p:cNvSpPr>
          <p:nvPr/>
        </p:nvSpPr>
        <p:spPr bwMode="auto">
          <a:xfrm>
            <a:off x="4011118" y="5530355"/>
            <a:ext cx="28003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FF"/>
                </a:solidFill>
                <a:latin typeface="幼圆" pitchFamily="49" charset="-122"/>
                <a:ea typeface="幼圆" pitchFamily="49" charset="-122"/>
              </a:rPr>
              <a:t>空闲链结构</a:t>
            </a:r>
          </a:p>
        </p:txBody>
      </p:sp>
      <p:sp>
        <p:nvSpPr>
          <p:cNvPr id="49" name="Line 122">
            <a:extLst>
              <a:ext uri="{FF2B5EF4-FFF2-40B4-BE49-F238E27FC236}">
                <a16:creationId xmlns:a16="http://schemas.microsoft.com/office/drawing/2014/main" id="{7DDA7043-7395-4045-9C16-2F19CDF3BDE3}"/>
              </a:ext>
            </a:extLst>
          </p:cNvPr>
          <p:cNvSpPr>
            <a:spLocks noChangeShapeType="1"/>
          </p:cNvSpPr>
          <p:nvPr/>
        </p:nvSpPr>
        <p:spPr bwMode="auto">
          <a:xfrm flipH="1">
            <a:off x="3646787" y="2444255"/>
            <a:ext cx="171450" cy="62865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50" name="Line 123">
            <a:extLst>
              <a:ext uri="{FF2B5EF4-FFF2-40B4-BE49-F238E27FC236}">
                <a16:creationId xmlns:a16="http://schemas.microsoft.com/office/drawing/2014/main" id="{6EB5940A-FC54-924A-9D01-5902E548043C}"/>
              </a:ext>
            </a:extLst>
          </p:cNvPr>
          <p:cNvSpPr>
            <a:spLocks noChangeShapeType="1"/>
          </p:cNvSpPr>
          <p:nvPr/>
        </p:nvSpPr>
        <p:spPr bwMode="auto">
          <a:xfrm>
            <a:off x="5418437" y="2444255"/>
            <a:ext cx="571500" cy="62865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51" name="Text Box 111">
            <a:extLst>
              <a:ext uri="{FF2B5EF4-FFF2-40B4-BE49-F238E27FC236}">
                <a16:creationId xmlns:a16="http://schemas.microsoft.com/office/drawing/2014/main" id="{F94AF404-57D2-0243-A317-F01442F5D218}"/>
              </a:ext>
            </a:extLst>
          </p:cNvPr>
          <p:cNvSpPr txBox="1">
            <a:spLocks noChangeArrowheads="1"/>
          </p:cNvSpPr>
          <p:nvPr/>
        </p:nvSpPr>
        <p:spPr bwMode="auto">
          <a:xfrm>
            <a:off x="5505651" y="3047902"/>
            <a:ext cx="461665" cy="131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00"/>
                </a:solidFill>
                <a:latin typeface="幼圆" pitchFamily="49" charset="-122"/>
                <a:ea typeface="幼圆" pitchFamily="49" charset="-122"/>
              </a:rPr>
              <a:t>后向指针</a:t>
            </a:r>
          </a:p>
        </p:txBody>
      </p:sp>
      <p:sp>
        <p:nvSpPr>
          <p:cNvPr id="52" name="TextBox 51">
            <a:extLst>
              <a:ext uri="{FF2B5EF4-FFF2-40B4-BE49-F238E27FC236}">
                <a16:creationId xmlns:a16="http://schemas.microsoft.com/office/drawing/2014/main" id="{7B4DFFCA-BE08-F64F-9ADF-723E2F322641}"/>
              </a:ext>
            </a:extLst>
          </p:cNvPr>
          <p:cNvSpPr txBox="1">
            <a:spLocks noChangeArrowheads="1"/>
          </p:cNvSpPr>
          <p:nvPr/>
        </p:nvSpPr>
        <p:spPr bwMode="auto">
          <a:xfrm>
            <a:off x="1536999" y="3600352"/>
            <a:ext cx="2052638"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en-US" altLang="zh-CN" sz="2100">
                <a:solidFill>
                  <a:srgbClr val="C00000"/>
                </a:solidFill>
                <a:latin typeface="幼圆" pitchFamily="49" charset="-122"/>
                <a:ea typeface="幼圆" pitchFamily="49" charset="-122"/>
              </a:rPr>
              <a:t>1.</a:t>
            </a:r>
            <a:r>
              <a:rPr lang="zh-CN" altLang="en-US" sz="2100">
                <a:solidFill>
                  <a:srgbClr val="C00000"/>
                </a:solidFill>
                <a:latin typeface="幼圆" pitchFamily="49" charset="-122"/>
                <a:ea typeface="幼圆" pitchFamily="49" charset="-122"/>
              </a:rPr>
              <a:t>有没有必要设置状态位？</a:t>
            </a:r>
            <a:endParaRPr lang="en-US" altLang="zh-CN" sz="2100">
              <a:solidFill>
                <a:srgbClr val="C00000"/>
              </a:solidFill>
              <a:latin typeface="幼圆" pitchFamily="49" charset="-122"/>
              <a:ea typeface="幼圆" pitchFamily="49" charset="-122"/>
            </a:endParaRPr>
          </a:p>
          <a:p>
            <a:r>
              <a:rPr lang="en-US" altLang="zh-CN" sz="2100">
                <a:solidFill>
                  <a:srgbClr val="C00000"/>
                </a:solidFill>
                <a:latin typeface="幼圆" pitchFamily="49" charset="-122"/>
                <a:ea typeface="幼圆" pitchFamily="49" charset="-122"/>
              </a:rPr>
              <a:t>2.</a:t>
            </a:r>
            <a:r>
              <a:rPr lang="zh-CN" altLang="en-US" sz="2100">
                <a:solidFill>
                  <a:srgbClr val="C00000"/>
                </a:solidFill>
                <a:latin typeface="幼圆" pitchFamily="49" charset="-122"/>
                <a:ea typeface="幼圆" pitchFamily="49" charset="-122"/>
              </a:rPr>
              <a:t>前后向指针信息分别保存在空闲分区的前后是否合理？</a:t>
            </a:r>
            <a:endParaRPr lang="en-US" altLang="zh-CN" sz="2100">
              <a:solidFill>
                <a:srgbClr val="C00000"/>
              </a:solidFill>
              <a:latin typeface="幼圆" pitchFamily="49" charset="-122"/>
              <a:ea typeface="幼圆" pitchFamily="49" charset="-122"/>
            </a:endParaRPr>
          </a:p>
        </p:txBody>
      </p:sp>
      <p:sp>
        <p:nvSpPr>
          <p:cNvPr id="53" name="Rectangle 3">
            <a:extLst>
              <a:ext uri="{FF2B5EF4-FFF2-40B4-BE49-F238E27FC236}">
                <a16:creationId xmlns:a16="http://schemas.microsoft.com/office/drawing/2014/main" id="{8C31A306-08A3-8A4A-A784-AD247B4C1DB5}"/>
              </a:ext>
            </a:extLst>
          </p:cNvPr>
          <p:cNvSpPr txBox="1">
            <a:spLocks noChangeArrowheads="1"/>
          </p:cNvSpPr>
          <p:nvPr/>
        </p:nvSpPr>
        <p:spPr>
          <a:xfrm>
            <a:off x="179388" y="368300"/>
            <a:ext cx="6480175" cy="828675"/>
          </a:xfrm>
          <a:prstGeom prst="rect">
            <a:avLst/>
          </a:prstGeom>
          <a:noFill/>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365037583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iterate type="lt">
                                    <p:tmPct val="0"/>
                                  </p:iterate>
                                  <p:childTnLst>
                                    <p:set>
                                      <p:cBhvr>
                                        <p:cTn id="6" dur="1" fill="hold">
                                          <p:stCondLst>
                                            <p:cond delay="0"/>
                                          </p:stCondLst>
                                        </p:cTn>
                                        <p:tgtEl>
                                          <p:spTgt spid="52">
                                            <p:txEl>
                                              <p:pRg st="0" end="0"/>
                                            </p:txEl>
                                          </p:spTgt>
                                        </p:tgtEl>
                                        <p:attrNameLst>
                                          <p:attrName>style.visibility</p:attrName>
                                        </p:attrNameLst>
                                      </p:cBhvr>
                                      <p:to>
                                        <p:strVal val="visible"/>
                                      </p:to>
                                    </p:set>
                                    <p:animEffect transition="in" filter="wipe(down)">
                                      <p:cBhvr>
                                        <p:cTn id="7" dur="580">
                                          <p:stCondLst>
                                            <p:cond delay="0"/>
                                          </p:stCondLst>
                                        </p:cTn>
                                        <p:tgtEl>
                                          <p:spTgt spid="52">
                                            <p:txEl>
                                              <p:pRg st="0" end="0"/>
                                            </p:txEl>
                                          </p:spTgt>
                                        </p:tgtEl>
                                      </p:cBhvr>
                                    </p:animEffect>
                                    <p:anim calcmode="lin" valueType="num">
                                      <p:cBhvr>
                                        <p:cTn id="8" dur="1822" tmFilter="0,0; 0.14,0.36; 0.43,0.73; 0.71,0.91; 1.0,1.0">
                                          <p:stCondLst>
                                            <p:cond delay="0"/>
                                          </p:stCondLst>
                                        </p:cTn>
                                        <p:tgtEl>
                                          <p:spTgt spid="52">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2">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2">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2">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2">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52">
                                            <p:txEl>
                                              <p:pRg st="0" end="0"/>
                                            </p:txEl>
                                          </p:spTgt>
                                        </p:tgtEl>
                                      </p:cBhvr>
                                      <p:to x="100000" y="60000"/>
                                    </p:animScale>
                                    <p:animScale>
                                      <p:cBhvr>
                                        <p:cTn id="14" dur="166" decel="50000">
                                          <p:stCondLst>
                                            <p:cond delay="676"/>
                                          </p:stCondLst>
                                        </p:cTn>
                                        <p:tgtEl>
                                          <p:spTgt spid="52">
                                            <p:txEl>
                                              <p:pRg st="0" end="0"/>
                                            </p:txEl>
                                          </p:spTgt>
                                        </p:tgtEl>
                                      </p:cBhvr>
                                      <p:to x="100000" y="100000"/>
                                    </p:animScale>
                                    <p:animScale>
                                      <p:cBhvr>
                                        <p:cTn id="15" dur="26">
                                          <p:stCondLst>
                                            <p:cond delay="1312"/>
                                          </p:stCondLst>
                                        </p:cTn>
                                        <p:tgtEl>
                                          <p:spTgt spid="52">
                                            <p:txEl>
                                              <p:pRg st="0" end="0"/>
                                            </p:txEl>
                                          </p:spTgt>
                                        </p:tgtEl>
                                      </p:cBhvr>
                                      <p:to x="100000" y="80000"/>
                                    </p:animScale>
                                    <p:animScale>
                                      <p:cBhvr>
                                        <p:cTn id="16" dur="166" decel="50000">
                                          <p:stCondLst>
                                            <p:cond delay="1338"/>
                                          </p:stCondLst>
                                        </p:cTn>
                                        <p:tgtEl>
                                          <p:spTgt spid="52">
                                            <p:txEl>
                                              <p:pRg st="0" end="0"/>
                                            </p:txEl>
                                          </p:spTgt>
                                        </p:tgtEl>
                                      </p:cBhvr>
                                      <p:to x="100000" y="100000"/>
                                    </p:animScale>
                                    <p:animScale>
                                      <p:cBhvr>
                                        <p:cTn id="17" dur="26">
                                          <p:stCondLst>
                                            <p:cond delay="1642"/>
                                          </p:stCondLst>
                                        </p:cTn>
                                        <p:tgtEl>
                                          <p:spTgt spid="52">
                                            <p:txEl>
                                              <p:pRg st="0" end="0"/>
                                            </p:txEl>
                                          </p:spTgt>
                                        </p:tgtEl>
                                      </p:cBhvr>
                                      <p:to x="100000" y="90000"/>
                                    </p:animScale>
                                    <p:animScale>
                                      <p:cBhvr>
                                        <p:cTn id="18" dur="166" decel="50000">
                                          <p:stCondLst>
                                            <p:cond delay="1668"/>
                                          </p:stCondLst>
                                        </p:cTn>
                                        <p:tgtEl>
                                          <p:spTgt spid="52">
                                            <p:txEl>
                                              <p:pRg st="0" end="0"/>
                                            </p:txEl>
                                          </p:spTgt>
                                        </p:tgtEl>
                                      </p:cBhvr>
                                      <p:to x="100000" y="100000"/>
                                    </p:animScale>
                                    <p:animScale>
                                      <p:cBhvr>
                                        <p:cTn id="19" dur="26">
                                          <p:stCondLst>
                                            <p:cond delay="1808"/>
                                          </p:stCondLst>
                                        </p:cTn>
                                        <p:tgtEl>
                                          <p:spTgt spid="52">
                                            <p:txEl>
                                              <p:pRg st="0" end="0"/>
                                            </p:txEl>
                                          </p:spTgt>
                                        </p:tgtEl>
                                      </p:cBhvr>
                                      <p:to x="100000" y="95000"/>
                                    </p:animScale>
                                    <p:animScale>
                                      <p:cBhvr>
                                        <p:cTn id="20" dur="166" decel="50000">
                                          <p:stCondLst>
                                            <p:cond delay="1834"/>
                                          </p:stCondLst>
                                        </p:cTn>
                                        <p:tgtEl>
                                          <p:spTgt spid="52">
                                            <p:txEl>
                                              <p:pRg st="0" end="0"/>
                                            </p:txEl>
                                          </p:spTgt>
                                        </p:tgtEl>
                                      </p:cBhvr>
                                      <p:to x="100000" y="100000"/>
                                    </p:animScale>
                                  </p:childTnLst>
                                  <p:subTnLst>
                                    <p:set>
                                      <p:cBhvr override="childStyle">
                                        <p:cTn dur="1" fill="hold" display="0" masterRel="nextClick" afterEffect="1"/>
                                        <p:tgtEl>
                                          <p:spTgt spid="52">
                                            <p:txEl>
                                              <p:pRg st="0" end="0"/>
                                            </p:txEl>
                                          </p:spTgt>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26" presetClass="entr" presetSubtype="0" fill="hold" grpId="0" nodeType="clickEffect">
                                  <p:stCondLst>
                                    <p:cond delay="0"/>
                                  </p:stCondLst>
                                  <p:iterate type="lt">
                                    <p:tmPct val="0"/>
                                  </p:iterate>
                                  <p:childTnLst>
                                    <p:set>
                                      <p:cBhvr>
                                        <p:cTn id="24" dur="1" fill="hold">
                                          <p:stCondLst>
                                            <p:cond delay="0"/>
                                          </p:stCondLst>
                                        </p:cTn>
                                        <p:tgtEl>
                                          <p:spTgt spid="52">
                                            <p:txEl>
                                              <p:pRg st="1" end="1"/>
                                            </p:txEl>
                                          </p:spTgt>
                                        </p:tgtEl>
                                        <p:attrNameLst>
                                          <p:attrName>style.visibility</p:attrName>
                                        </p:attrNameLst>
                                      </p:cBhvr>
                                      <p:to>
                                        <p:strVal val="visible"/>
                                      </p:to>
                                    </p:set>
                                    <p:animEffect transition="in" filter="wipe(down)">
                                      <p:cBhvr>
                                        <p:cTn id="25" dur="580">
                                          <p:stCondLst>
                                            <p:cond delay="0"/>
                                          </p:stCondLst>
                                        </p:cTn>
                                        <p:tgtEl>
                                          <p:spTgt spid="52">
                                            <p:txEl>
                                              <p:pRg st="1" end="1"/>
                                            </p:txEl>
                                          </p:spTgt>
                                        </p:tgtEl>
                                      </p:cBhvr>
                                    </p:animEffect>
                                    <p:anim calcmode="lin" valueType="num">
                                      <p:cBhvr>
                                        <p:cTn id="26" dur="1822" tmFilter="0,0; 0.14,0.36; 0.43,0.73; 0.71,0.91; 1.0,1.0">
                                          <p:stCondLst>
                                            <p:cond delay="0"/>
                                          </p:stCondLst>
                                        </p:cTn>
                                        <p:tgtEl>
                                          <p:spTgt spid="52">
                                            <p:txEl>
                                              <p:pRg st="1" end="1"/>
                                            </p:txEl>
                                          </p:spTgt>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52">
                                            <p:txEl>
                                              <p:pRg st="1" end="1"/>
                                            </p:txEl>
                                          </p:spTgt>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52">
                                            <p:txEl>
                                              <p:pRg st="1" end="1"/>
                                            </p:txEl>
                                          </p:spTgt>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52">
                                            <p:txEl>
                                              <p:pRg st="1" end="1"/>
                                            </p:txEl>
                                          </p:spTgt>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52">
                                            <p:txEl>
                                              <p:pRg st="1" end="1"/>
                                            </p:txEl>
                                          </p:spTgt>
                                        </p:tgtEl>
                                        <p:attrNameLst>
                                          <p:attrName>ppt_y</p:attrName>
                                        </p:attrNameLst>
                                      </p:cBhvr>
                                      <p:tavLst>
                                        <p:tav tm="0" fmla="#ppt_y-sin(pi*$)/81">
                                          <p:val>
                                            <p:fltVal val="0"/>
                                          </p:val>
                                        </p:tav>
                                        <p:tav tm="100000">
                                          <p:val>
                                            <p:fltVal val="1"/>
                                          </p:val>
                                        </p:tav>
                                      </p:tavLst>
                                    </p:anim>
                                    <p:animScale>
                                      <p:cBhvr>
                                        <p:cTn id="31" dur="26">
                                          <p:stCondLst>
                                            <p:cond delay="650"/>
                                          </p:stCondLst>
                                        </p:cTn>
                                        <p:tgtEl>
                                          <p:spTgt spid="52">
                                            <p:txEl>
                                              <p:pRg st="1" end="1"/>
                                            </p:txEl>
                                          </p:spTgt>
                                        </p:tgtEl>
                                      </p:cBhvr>
                                      <p:to x="100000" y="60000"/>
                                    </p:animScale>
                                    <p:animScale>
                                      <p:cBhvr>
                                        <p:cTn id="32" dur="166" decel="50000">
                                          <p:stCondLst>
                                            <p:cond delay="676"/>
                                          </p:stCondLst>
                                        </p:cTn>
                                        <p:tgtEl>
                                          <p:spTgt spid="52">
                                            <p:txEl>
                                              <p:pRg st="1" end="1"/>
                                            </p:txEl>
                                          </p:spTgt>
                                        </p:tgtEl>
                                      </p:cBhvr>
                                      <p:to x="100000" y="100000"/>
                                    </p:animScale>
                                    <p:animScale>
                                      <p:cBhvr>
                                        <p:cTn id="33" dur="26">
                                          <p:stCondLst>
                                            <p:cond delay="1312"/>
                                          </p:stCondLst>
                                        </p:cTn>
                                        <p:tgtEl>
                                          <p:spTgt spid="52">
                                            <p:txEl>
                                              <p:pRg st="1" end="1"/>
                                            </p:txEl>
                                          </p:spTgt>
                                        </p:tgtEl>
                                      </p:cBhvr>
                                      <p:to x="100000" y="80000"/>
                                    </p:animScale>
                                    <p:animScale>
                                      <p:cBhvr>
                                        <p:cTn id="34" dur="166" decel="50000">
                                          <p:stCondLst>
                                            <p:cond delay="1338"/>
                                          </p:stCondLst>
                                        </p:cTn>
                                        <p:tgtEl>
                                          <p:spTgt spid="52">
                                            <p:txEl>
                                              <p:pRg st="1" end="1"/>
                                            </p:txEl>
                                          </p:spTgt>
                                        </p:tgtEl>
                                      </p:cBhvr>
                                      <p:to x="100000" y="100000"/>
                                    </p:animScale>
                                    <p:animScale>
                                      <p:cBhvr>
                                        <p:cTn id="35" dur="26">
                                          <p:stCondLst>
                                            <p:cond delay="1642"/>
                                          </p:stCondLst>
                                        </p:cTn>
                                        <p:tgtEl>
                                          <p:spTgt spid="52">
                                            <p:txEl>
                                              <p:pRg st="1" end="1"/>
                                            </p:txEl>
                                          </p:spTgt>
                                        </p:tgtEl>
                                      </p:cBhvr>
                                      <p:to x="100000" y="90000"/>
                                    </p:animScale>
                                    <p:animScale>
                                      <p:cBhvr>
                                        <p:cTn id="36" dur="166" decel="50000">
                                          <p:stCondLst>
                                            <p:cond delay="1668"/>
                                          </p:stCondLst>
                                        </p:cTn>
                                        <p:tgtEl>
                                          <p:spTgt spid="52">
                                            <p:txEl>
                                              <p:pRg st="1" end="1"/>
                                            </p:txEl>
                                          </p:spTgt>
                                        </p:tgtEl>
                                      </p:cBhvr>
                                      <p:to x="100000" y="100000"/>
                                    </p:animScale>
                                    <p:animScale>
                                      <p:cBhvr>
                                        <p:cTn id="37" dur="26">
                                          <p:stCondLst>
                                            <p:cond delay="1808"/>
                                          </p:stCondLst>
                                        </p:cTn>
                                        <p:tgtEl>
                                          <p:spTgt spid="52">
                                            <p:txEl>
                                              <p:pRg st="1" end="1"/>
                                            </p:txEl>
                                          </p:spTgt>
                                        </p:tgtEl>
                                      </p:cBhvr>
                                      <p:to x="100000" y="95000"/>
                                    </p:animScale>
                                    <p:animScale>
                                      <p:cBhvr>
                                        <p:cTn id="38" dur="166" decel="50000">
                                          <p:stCondLst>
                                            <p:cond delay="1834"/>
                                          </p:stCondLst>
                                        </p:cTn>
                                        <p:tgtEl>
                                          <p:spTgt spid="52">
                                            <p:txEl>
                                              <p:pRg st="1" end="1"/>
                                            </p:txEl>
                                          </p:spTgt>
                                        </p:tgtEl>
                                      </p:cBhvr>
                                      <p:to x="100000" y="100000"/>
                                    </p:animScale>
                                  </p:childTnLst>
                                  <p:subTnLst>
                                    <p:set>
                                      <p:cBhvr override="childStyle">
                                        <p:cTn dur="1" fill="hold" display="0" masterRel="nextClick" afterEffect="1"/>
                                        <p:tgtEl>
                                          <p:spTgt spid="52">
                                            <p:txEl>
                                              <p:pRg st="1" end="1"/>
                                            </p:txEl>
                                          </p:spTgt>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A5C28DDC-8DC6-6C4A-B188-5DD97530DF05}"/>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p>
        </p:txBody>
      </p:sp>
      <p:sp>
        <p:nvSpPr>
          <p:cNvPr id="3" name="Rectangle 2">
            <a:extLst>
              <a:ext uri="{FF2B5EF4-FFF2-40B4-BE49-F238E27FC236}">
                <a16:creationId xmlns:a16="http://schemas.microsoft.com/office/drawing/2014/main" id="{21353FE4-D51C-194C-ADE7-B5FA6DA12ABB}"/>
              </a:ext>
            </a:extLst>
          </p:cNvPr>
          <p:cNvSpPr/>
          <p:nvPr/>
        </p:nvSpPr>
        <p:spPr>
          <a:xfrm>
            <a:off x="179388" y="1226427"/>
            <a:ext cx="1952779" cy="472245"/>
          </a:xfrm>
          <a:prstGeom prst="rect">
            <a:avLst/>
          </a:prstGeom>
        </p:spPr>
        <p:txBody>
          <a:bodyPr wrap="none">
            <a:spAutoFit/>
          </a:bodyPr>
          <a:lstStyle/>
          <a:p>
            <a:pPr indent="342900" algn="just" eaLnBrk="1" hangingPunct="1">
              <a:lnSpc>
                <a:spcPts val="3500"/>
              </a:lnSpc>
            </a:pPr>
            <a:r>
              <a:rPr lang="en-US" altLang="zh-CN" dirty="0">
                <a:solidFill>
                  <a:srgbClr val="FF0000"/>
                </a:solidFill>
              </a:rPr>
              <a:t>3. </a:t>
            </a:r>
            <a:r>
              <a:rPr lang="zh-CN" altLang="en-US" dirty="0">
                <a:solidFill>
                  <a:srgbClr val="FF0000"/>
                </a:solidFill>
              </a:rPr>
              <a:t>分配算法</a:t>
            </a:r>
          </a:p>
        </p:txBody>
      </p:sp>
      <p:sp>
        <p:nvSpPr>
          <p:cNvPr id="5" name="内容占位符 2">
            <a:extLst>
              <a:ext uri="{FF2B5EF4-FFF2-40B4-BE49-F238E27FC236}">
                <a16:creationId xmlns:a16="http://schemas.microsoft.com/office/drawing/2014/main" id="{94519899-7FC2-5840-9B7F-DF18F9439254}"/>
              </a:ext>
            </a:extLst>
          </p:cNvPr>
          <p:cNvSpPr txBox="1">
            <a:spLocks/>
          </p:cNvSpPr>
          <p:nvPr/>
        </p:nvSpPr>
        <p:spPr bwMode="auto">
          <a:xfrm>
            <a:off x="1691680" y="1698672"/>
            <a:ext cx="6850237" cy="4733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0000FF"/>
              </a:buClr>
              <a:buFont typeface="Monotype Sorts" pitchFamily="2" charset="2"/>
              <a:buNone/>
            </a:pPr>
            <a:r>
              <a:rPr lang="zh-CN" altLang="en-US" sz="2100" b="1">
                <a:solidFill>
                  <a:srgbClr val="FF3300"/>
                </a:solidFill>
                <a:latin typeface="幼圆" pitchFamily="49" charset="-122"/>
                <a:ea typeface="幼圆" pitchFamily="49" charset="-122"/>
              </a:rPr>
              <a:t>分区分配算法：</a:t>
            </a:r>
            <a:r>
              <a:rPr lang="zh-CN" altLang="en-US" sz="2100" b="1">
                <a:solidFill>
                  <a:srgbClr val="000000"/>
                </a:solidFill>
                <a:latin typeface="幼圆" pitchFamily="49" charset="-122"/>
                <a:ea typeface="幼圆" pitchFamily="49" charset="-122"/>
              </a:rPr>
              <a:t>把一个新作业装入内存，须按照一定的分配算法，从空闲分区表或空闲分区链中，选出一分区分配给该作业。</a:t>
            </a:r>
            <a:endParaRPr lang="en-US" altLang="zh-CN" sz="2100" b="1">
              <a:solidFill>
                <a:srgbClr val="0000FF"/>
              </a:solidFill>
              <a:latin typeface="幼圆" pitchFamily="49" charset="-122"/>
              <a:ea typeface="幼圆" pitchFamily="49" charset="-122"/>
            </a:endParaRPr>
          </a:p>
          <a:p>
            <a:pPr lvl="1">
              <a:buClr>
                <a:srgbClr val="0000FF"/>
              </a:buClr>
              <a:buFont typeface="Wingdings" pitchFamily="2" charset="2"/>
              <a:buChar char="n"/>
            </a:pPr>
            <a:r>
              <a:rPr lang="zh-CN" altLang="en-US" b="1">
                <a:solidFill>
                  <a:srgbClr val="D60093"/>
                </a:solidFill>
                <a:latin typeface="幼圆" pitchFamily="49" charset="-122"/>
                <a:ea typeface="幼圆" pitchFamily="49" charset="-122"/>
              </a:rPr>
              <a:t>基于顺序搜索的动态分区分配算法</a:t>
            </a:r>
            <a:endParaRPr lang="en-US" altLang="zh-CN" b="1">
              <a:solidFill>
                <a:srgbClr val="D60093"/>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首次适应算法</a:t>
            </a:r>
            <a:endParaRPr lang="en-US" altLang="zh-CN" sz="2100" b="1">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循环首次适应算法</a:t>
            </a:r>
            <a:endParaRPr lang="en-US" altLang="zh-CN" sz="2100" b="1">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最佳适应算法</a:t>
            </a:r>
            <a:endParaRPr lang="en-US" altLang="zh-CN" sz="2100" b="1">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最坏适应算法</a:t>
            </a:r>
            <a:endParaRPr lang="en-US" altLang="zh-CN" sz="2100" b="1">
              <a:solidFill>
                <a:srgbClr val="000000"/>
              </a:solidFill>
              <a:latin typeface="幼圆" pitchFamily="49" charset="-122"/>
              <a:ea typeface="幼圆" pitchFamily="49" charset="-122"/>
            </a:endParaRPr>
          </a:p>
          <a:p>
            <a:pPr lvl="1">
              <a:buClr>
                <a:srgbClr val="0000FF"/>
              </a:buClr>
              <a:buFont typeface="Wingdings" pitchFamily="2" charset="2"/>
              <a:buChar char="n"/>
            </a:pPr>
            <a:r>
              <a:rPr lang="zh-CN" altLang="en-US" b="1">
                <a:solidFill>
                  <a:srgbClr val="D60093"/>
                </a:solidFill>
                <a:latin typeface="幼圆" pitchFamily="49" charset="-122"/>
                <a:ea typeface="幼圆" pitchFamily="49" charset="-122"/>
              </a:rPr>
              <a:t>基于索引搜索的动态分区分配算法</a:t>
            </a:r>
            <a:endParaRPr lang="en-US" altLang="zh-CN" b="1">
              <a:solidFill>
                <a:srgbClr val="D60093"/>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快速适应算法</a:t>
            </a:r>
            <a:endParaRPr lang="en-US" altLang="zh-CN" sz="2100" b="1">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伙伴系统</a:t>
            </a:r>
            <a:endParaRPr lang="en-US" altLang="zh-CN" sz="2100" b="1">
              <a:solidFill>
                <a:srgbClr val="000000"/>
              </a:solidFill>
              <a:latin typeface="幼圆" pitchFamily="49" charset="-122"/>
              <a:ea typeface="幼圆" pitchFamily="49" charset="-122"/>
            </a:endParaRPr>
          </a:p>
          <a:p>
            <a:pPr lvl="2">
              <a:buClr>
                <a:srgbClr val="0000FF"/>
              </a:buClr>
              <a:buFont typeface="Wingdings" pitchFamily="2" charset="2"/>
              <a:buChar char="Ø"/>
            </a:pPr>
            <a:r>
              <a:rPr lang="zh-CN" altLang="en-US" sz="2100" b="1">
                <a:solidFill>
                  <a:srgbClr val="000000"/>
                </a:solidFill>
                <a:latin typeface="幼圆" pitchFamily="49" charset="-122"/>
                <a:ea typeface="幼圆" pitchFamily="49" charset="-122"/>
              </a:rPr>
              <a:t>哈希算法</a:t>
            </a:r>
            <a:endParaRPr lang="zh-CN" altLang="en-US" sz="2100" b="1" dirty="0">
              <a:solidFill>
                <a:srgbClr val="000000"/>
              </a:solidFill>
              <a:latin typeface="幼圆" pitchFamily="49" charset="-122"/>
              <a:ea typeface="幼圆" pitchFamily="49" charset="-122"/>
            </a:endParaRPr>
          </a:p>
        </p:txBody>
      </p:sp>
    </p:spTree>
    <p:extLst>
      <p:ext uri="{BB962C8B-B14F-4D97-AF65-F5344CB8AC3E}">
        <p14:creationId xmlns:p14="http://schemas.microsoft.com/office/powerpoint/2010/main" val="1284928505"/>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blinds(horizontal)">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blinds(horizontal)">
                                      <p:cBhvr>
                                        <p:cTn id="12" dur="500"/>
                                        <p:tgtEl>
                                          <p:spTgt spid="5">
                                            <p:txEl>
                                              <p:pRg st="1" end="1"/>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blinds(horizontal)">
                                      <p:cBhvr>
                                        <p:cTn id="15" dur="500"/>
                                        <p:tgtEl>
                                          <p:spTgt spid="5">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blinds(horizontal)">
                                      <p:cBhvr>
                                        <p:cTn id="18" dur="500"/>
                                        <p:tgtEl>
                                          <p:spTgt spid="5">
                                            <p:txEl>
                                              <p:pRg st="3" end="3"/>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blinds(horizontal)">
                                      <p:cBhvr>
                                        <p:cTn id="21" dur="500"/>
                                        <p:tgtEl>
                                          <p:spTgt spid="5">
                                            <p:txEl>
                                              <p:pRg st="4" end="4"/>
                                            </p:txEl>
                                          </p:spTgt>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blinds(horizontal)">
                                      <p:cBhvr>
                                        <p:cTn id="24" dur="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3" presetClass="entr" presetSubtype="10" fill="hold" grpId="0" nodeType="clickEffect">
                                  <p:stCondLst>
                                    <p:cond delay="0"/>
                                  </p:stCondLst>
                                  <p:childTnLst>
                                    <p:set>
                                      <p:cBhvr>
                                        <p:cTn id="28" dur="1" fill="hold">
                                          <p:stCondLst>
                                            <p:cond delay="0"/>
                                          </p:stCondLst>
                                        </p:cTn>
                                        <p:tgtEl>
                                          <p:spTgt spid="5">
                                            <p:txEl>
                                              <p:pRg st="6" end="6"/>
                                            </p:txEl>
                                          </p:spTgt>
                                        </p:tgtEl>
                                        <p:attrNameLst>
                                          <p:attrName>style.visibility</p:attrName>
                                        </p:attrNameLst>
                                      </p:cBhvr>
                                      <p:to>
                                        <p:strVal val="visible"/>
                                      </p:to>
                                    </p:set>
                                    <p:animEffect transition="in" filter="blinds(horizontal)">
                                      <p:cBhvr>
                                        <p:cTn id="29" dur="500"/>
                                        <p:tgtEl>
                                          <p:spTgt spid="5">
                                            <p:txEl>
                                              <p:pRg st="6" end="6"/>
                                            </p:txEl>
                                          </p:spTgt>
                                        </p:tgtEl>
                                      </p:cBhvr>
                                    </p:animEffect>
                                  </p:childTnLst>
                                </p:cTn>
                              </p:par>
                              <p:par>
                                <p:cTn id="30" presetID="3" presetClass="entr" presetSubtype="10" fill="hold" grpId="0" nodeType="withEffect">
                                  <p:stCondLst>
                                    <p:cond delay="0"/>
                                  </p:stCondLst>
                                  <p:childTnLst>
                                    <p:set>
                                      <p:cBhvr>
                                        <p:cTn id="31" dur="1" fill="hold">
                                          <p:stCondLst>
                                            <p:cond delay="0"/>
                                          </p:stCondLst>
                                        </p:cTn>
                                        <p:tgtEl>
                                          <p:spTgt spid="5">
                                            <p:txEl>
                                              <p:pRg st="7" end="7"/>
                                            </p:txEl>
                                          </p:spTgt>
                                        </p:tgtEl>
                                        <p:attrNameLst>
                                          <p:attrName>style.visibility</p:attrName>
                                        </p:attrNameLst>
                                      </p:cBhvr>
                                      <p:to>
                                        <p:strVal val="visible"/>
                                      </p:to>
                                    </p:set>
                                    <p:animEffect transition="in" filter="blinds(horizontal)">
                                      <p:cBhvr>
                                        <p:cTn id="32" dur="500"/>
                                        <p:tgtEl>
                                          <p:spTgt spid="5">
                                            <p:txEl>
                                              <p:pRg st="7" end="7"/>
                                            </p:txEl>
                                          </p:spTgt>
                                        </p:tgtEl>
                                      </p:cBhvr>
                                    </p:animEffect>
                                  </p:childTnLst>
                                </p:cTn>
                              </p:par>
                              <p:par>
                                <p:cTn id="33" presetID="3" presetClass="entr" presetSubtype="10" fill="hold" grpId="0" nodeType="withEffect">
                                  <p:stCondLst>
                                    <p:cond delay="0"/>
                                  </p:stCondLst>
                                  <p:childTnLst>
                                    <p:set>
                                      <p:cBhvr>
                                        <p:cTn id="34" dur="1" fill="hold">
                                          <p:stCondLst>
                                            <p:cond delay="0"/>
                                          </p:stCondLst>
                                        </p:cTn>
                                        <p:tgtEl>
                                          <p:spTgt spid="5">
                                            <p:txEl>
                                              <p:pRg st="8" end="8"/>
                                            </p:txEl>
                                          </p:spTgt>
                                        </p:tgtEl>
                                        <p:attrNameLst>
                                          <p:attrName>style.visibility</p:attrName>
                                        </p:attrNameLst>
                                      </p:cBhvr>
                                      <p:to>
                                        <p:strVal val="visible"/>
                                      </p:to>
                                    </p:set>
                                    <p:animEffect transition="in" filter="blinds(horizontal)">
                                      <p:cBhvr>
                                        <p:cTn id="35" dur="500"/>
                                        <p:tgtEl>
                                          <p:spTgt spid="5">
                                            <p:txEl>
                                              <p:pRg st="8" end="8"/>
                                            </p:txEl>
                                          </p:spTgt>
                                        </p:tgtEl>
                                      </p:cBhvr>
                                    </p:animEffect>
                                  </p:childTnLst>
                                </p:cTn>
                              </p:par>
                              <p:par>
                                <p:cTn id="36" presetID="3" presetClass="entr" presetSubtype="10" fill="hold" grpId="0" nodeType="withEffect">
                                  <p:stCondLst>
                                    <p:cond delay="0"/>
                                  </p:stCondLst>
                                  <p:childTnLst>
                                    <p:set>
                                      <p:cBhvr>
                                        <p:cTn id="37" dur="1" fill="hold">
                                          <p:stCondLst>
                                            <p:cond delay="0"/>
                                          </p:stCondLst>
                                        </p:cTn>
                                        <p:tgtEl>
                                          <p:spTgt spid="5">
                                            <p:txEl>
                                              <p:pRg st="9" end="9"/>
                                            </p:txEl>
                                          </p:spTgt>
                                        </p:tgtEl>
                                        <p:attrNameLst>
                                          <p:attrName>style.visibility</p:attrName>
                                        </p:attrNameLst>
                                      </p:cBhvr>
                                      <p:to>
                                        <p:strVal val="visible"/>
                                      </p:to>
                                    </p:set>
                                    <p:animEffect transition="in" filter="blinds(horizontal)">
                                      <p:cBhvr>
                                        <p:cTn id="38" dur="500"/>
                                        <p:tgtEl>
                                          <p:spTgt spid="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bldLvl="2"/>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4E6C9C5A-E431-034C-9822-F3179FE5F8EF}"/>
              </a:ext>
            </a:extLst>
          </p:cNvPr>
          <p:cNvSpPr>
            <a:spLocks noGrp="1" noChangeArrowheads="1"/>
          </p:cNvSpPr>
          <p:nvPr>
            <p:ph type="title"/>
          </p:nvPr>
        </p:nvSpPr>
        <p:spPr/>
        <p:txBody>
          <a:bodyPr/>
          <a:lstStyle/>
          <a:p>
            <a:pPr eaLnBrk="1" hangingPunct="1"/>
            <a:r>
              <a:rPr lang="zh-CN" altLang="en-US" sz="2800" dirty="0">
                <a:solidFill>
                  <a:srgbClr val="FF0000"/>
                </a:solidFill>
                <a:latin typeface="宋体" panose="02010600030101010101" pitchFamily="2" charset="-122"/>
              </a:rPr>
              <a:t>  可变分区存储管理</a:t>
            </a:r>
          </a:p>
        </p:txBody>
      </p:sp>
      <p:sp>
        <p:nvSpPr>
          <p:cNvPr id="45059" name="Rectangle 3">
            <a:extLst>
              <a:ext uri="{FF2B5EF4-FFF2-40B4-BE49-F238E27FC236}">
                <a16:creationId xmlns:a16="http://schemas.microsoft.com/office/drawing/2014/main" id="{B6805CBF-E383-CB41-B2AD-78277050F09C}"/>
              </a:ext>
            </a:extLst>
          </p:cNvPr>
          <p:cNvSpPr>
            <a:spLocks noGrp="1" noChangeArrowheads="1"/>
          </p:cNvSpPr>
          <p:nvPr>
            <p:ph type="body" idx="1"/>
          </p:nvPr>
        </p:nvSpPr>
        <p:spPr>
          <a:xfrm>
            <a:off x="357188" y="1285875"/>
            <a:ext cx="8501062" cy="4714875"/>
          </a:xfrm>
        </p:spPr>
        <p:txBody>
          <a:bodyPr/>
          <a:lstStyle/>
          <a:p>
            <a:pPr marL="0" indent="342900" algn="just" eaLnBrk="1" hangingPunct="1">
              <a:lnSpc>
                <a:spcPts val="3500"/>
              </a:lnSpc>
              <a:spcBef>
                <a:spcPct val="0"/>
              </a:spcBef>
              <a:buFont typeface="Wingdings" pitchFamily="2" charset="2"/>
              <a:buNone/>
            </a:pPr>
            <a:r>
              <a:rPr lang="en-US" altLang="zh-CN" sz="2200" dirty="0">
                <a:solidFill>
                  <a:srgbClr val="FF0000"/>
                </a:solidFill>
                <a:effectLst/>
                <a:latin typeface="宋体" panose="02010600030101010101" pitchFamily="2" charset="-122"/>
              </a:rPr>
              <a:t>3. </a:t>
            </a:r>
            <a:r>
              <a:rPr lang="zh-CN" altLang="en-US" sz="2200" dirty="0">
                <a:solidFill>
                  <a:srgbClr val="FF0000"/>
                </a:solidFill>
                <a:effectLst/>
                <a:latin typeface="宋体" panose="02010600030101010101" pitchFamily="2" charset="-122"/>
              </a:rPr>
              <a:t>分配算法</a:t>
            </a:r>
          </a:p>
          <a:p>
            <a:pPr marL="0" indent="342900" algn="just" eaLnBrk="1" hangingPunct="1">
              <a:lnSpc>
                <a:spcPts val="3500"/>
              </a:lnSpc>
              <a:spcBef>
                <a:spcPct val="0"/>
              </a:spcBef>
              <a:buFont typeface="Wingdings" pitchFamily="2" charset="2"/>
              <a:buNone/>
            </a:pPr>
            <a:r>
              <a:rPr lang="zh-CN" altLang="en-US" sz="2000" dirty="0">
                <a:solidFill>
                  <a:srgbClr val="FF0000"/>
                </a:solidFill>
                <a:effectLst/>
                <a:latin typeface="宋体" panose="02010600030101010101" pitchFamily="2" charset="-122"/>
              </a:rPr>
              <a:t>（</a:t>
            </a:r>
            <a:r>
              <a:rPr lang="en-US" altLang="zh-CN" sz="2000" dirty="0">
                <a:solidFill>
                  <a:srgbClr val="FF0000"/>
                </a:solidFill>
                <a:effectLst/>
                <a:latin typeface="宋体" panose="02010600030101010101" pitchFamily="2" charset="-122"/>
              </a:rPr>
              <a:t>1</a:t>
            </a:r>
            <a:r>
              <a:rPr lang="zh-CN" altLang="en-US" sz="2000" dirty="0">
                <a:solidFill>
                  <a:srgbClr val="FF0000"/>
                </a:solidFill>
                <a:effectLst/>
                <a:latin typeface="宋体" panose="02010600030101010101" pitchFamily="2" charset="-122"/>
              </a:rPr>
              <a:t>）首次适应算法</a:t>
            </a:r>
          </a:p>
          <a:p>
            <a:pPr marL="0" indent="342900" algn="just" eaLnBrk="1" hangingPunct="1">
              <a:lnSpc>
                <a:spcPts val="3500"/>
              </a:lnSpc>
              <a:spcBef>
                <a:spcPct val="0"/>
              </a:spcBef>
              <a:buFont typeface="Wingdings" pitchFamily="2" charset="2"/>
              <a:buNone/>
            </a:pPr>
            <a:r>
              <a:rPr lang="zh-CN" altLang="zh-CN" sz="2000" dirty="0">
                <a:solidFill>
                  <a:schemeClr val="tx1"/>
                </a:solidFill>
                <a:effectLst/>
                <a:latin typeface="宋体" panose="02010600030101010101" pitchFamily="2" charset="-122"/>
              </a:rPr>
              <a:t>要求</a:t>
            </a:r>
            <a:r>
              <a:rPr lang="zh-CN" altLang="zh-CN" sz="2000" dirty="0">
                <a:solidFill>
                  <a:srgbClr val="0000FF"/>
                </a:solidFill>
                <a:effectLst>
                  <a:outerShdw blurRad="38100" dist="38100" dir="2700000" algn="tl">
                    <a:srgbClr val="FFFFFF"/>
                  </a:outerShdw>
                </a:effectLst>
              </a:rPr>
              <a:t>空闲分区按内存地址递增的次序排列</a:t>
            </a:r>
            <a:r>
              <a:rPr lang="zh-CN" altLang="zh-CN" sz="2000" dirty="0">
                <a:solidFill>
                  <a:schemeClr val="tx1"/>
                </a:solidFill>
                <a:effectLst/>
                <a:latin typeface="宋体" panose="02010600030101010101" pitchFamily="2" charset="-122"/>
              </a:rPr>
              <a:t>在空闲分区链上。每当一个程序申请装入内存时，管理程序从空闲分区链链首开始查找空闲分区（按内存地址递增的顺序查找），直到找到一个最先满足此程序需求的空闲分区，并按此程序的大小从该空闲分区中划出一块连续的内存区域给程序使用。而该分区剩余的部分，仍按地址递增的次序保留在空闲分区链中，但还需修改该空闲分区在空闲分区表中的起始地址和大小。若未能找到满足程序需求的空闲分区，则此次分配失败。</a:t>
            </a:r>
            <a:endParaRPr lang="en-US" altLang="zh-CN" sz="2000" dirty="0">
              <a:solidFill>
                <a:schemeClr val="tx1"/>
              </a:solidFill>
              <a:effectLst/>
              <a:latin typeface="宋体" panose="02010600030101010101" pitchFamily="2" charset="-122"/>
            </a:endParaRPr>
          </a:p>
          <a:p>
            <a:pPr marL="0" indent="342900" algn="just" eaLnBrk="1" hangingPunct="1">
              <a:lnSpc>
                <a:spcPts val="3500"/>
              </a:lnSpc>
              <a:spcBef>
                <a:spcPct val="0"/>
              </a:spcBef>
              <a:buFont typeface="Wingdings" pitchFamily="2" charset="2"/>
              <a:buNone/>
            </a:pPr>
            <a:r>
              <a:rPr lang="zh-CN" altLang="en-US" sz="2000" dirty="0">
                <a:solidFill>
                  <a:srgbClr val="FF0000"/>
                </a:solidFill>
                <a:effectLst/>
                <a:latin typeface="宋体" panose="02010600030101010101" pitchFamily="2" charset="-122"/>
              </a:rPr>
              <a:t>特点：</a:t>
            </a:r>
            <a:r>
              <a:rPr lang="zh-CN" altLang="en-US" sz="2000" dirty="0">
                <a:solidFill>
                  <a:schemeClr val="tx1"/>
                </a:solidFill>
                <a:effectLst/>
                <a:latin typeface="宋体" panose="02010600030101010101" pitchFamily="2" charset="-122"/>
              </a:rPr>
              <a:t>每次都从内存的低地址部分开始查找满足要求的空闲分区。</a:t>
            </a:r>
            <a:endParaRPr lang="en-US" altLang="zh-CN" sz="2000" dirty="0">
              <a:solidFill>
                <a:schemeClr val="tx1"/>
              </a:solidFill>
              <a:effectLst/>
              <a:latin typeface="宋体" panose="02010600030101010101" pitchFamily="2" charset="-122"/>
            </a:endParaRPr>
          </a:p>
          <a:p>
            <a:pPr marL="0" indent="342900" algn="just" eaLnBrk="1" hangingPunct="1">
              <a:lnSpc>
                <a:spcPts val="3500"/>
              </a:lnSpc>
              <a:spcBef>
                <a:spcPct val="0"/>
              </a:spcBef>
              <a:buFont typeface="Wingdings" pitchFamily="2" charset="2"/>
              <a:buNone/>
            </a:pPr>
            <a:r>
              <a:rPr lang="zh-CN" altLang="en-US" sz="2000" dirty="0">
                <a:solidFill>
                  <a:srgbClr val="0000FF"/>
                </a:solidFill>
                <a:effectLst>
                  <a:outerShdw blurRad="38100" dist="38100" dir="2700000" algn="tl">
                    <a:srgbClr val="FFFFFF"/>
                  </a:outerShdw>
                </a:effectLst>
              </a:rPr>
              <a:t>首次适应算法中的空闲分区按地址递增排列，这使回收的内存区与相邻空闲分区的合并比较容易。</a:t>
            </a:r>
            <a:endParaRPr lang="zh-CN" altLang="en-US" sz="2000" dirty="0">
              <a:solidFill>
                <a:srgbClr val="0000FF"/>
              </a:solidFill>
              <a:effectLst/>
              <a:latin typeface="宋体" panose="02010600030101010101" pitchFamily="2" charset="-122"/>
            </a:endParaRPr>
          </a:p>
        </p:txBody>
      </p:sp>
    </p:spTree>
  </p:cSld>
  <p:clrMapOvr>
    <a:masterClrMapping/>
  </p:clrMapOvr>
  <p:transition>
    <p:random/>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8" name="Group 158">
            <a:extLst>
              <a:ext uri="{FF2B5EF4-FFF2-40B4-BE49-F238E27FC236}">
                <a16:creationId xmlns:a16="http://schemas.microsoft.com/office/drawing/2014/main" id="{2330BFCA-4AB7-C840-975A-2C92246E82DA}"/>
              </a:ext>
            </a:extLst>
          </p:cNvPr>
          <p:cNvGraphicFramePr>
            <a:graphicFrameLocks noGrp="1"/>
          </p:cNvGraphicFramePr>
          <p:nvPr>
            <p:extLst>
              <p:ext uri="{D42A27DB-BD31-4B8C-83A1-F6EECF244321}">
                <p14:modId xmlns:p14="http://schemas.microsoft.com/office/powerpoint/2010/main" val="2115519624"/>
              </p:ext>
            </p:extLst>
          </p:nvPr>
        </p:nvGraphicFramePr>
        <p:xfrm>
          <a:off x="6196011" y="1700809"/>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39" name="Text Box 159">
            <a:extLst>
              <a:ext uri="{FF2B5EF4-FFF2-40B4-BE49-F238E27FC236}">
                <a16:creationId xmlns:a16="http://schemas.microsoft.com/office/drawing/2014/main" id="{A90D194D-5320-B744-9D76-0EED2A52AED4}"/>
              </a:ext>
            </a:extLst>
          </p:cNvPr>
          <p:cNvSpPr txBox="1">
            <a:spLocks noChangeArrowheads="1"/>
          </p:cNvSpPr>
          <p:nvPr/>
        </p:nvSpPr>
        <p:spPr bwMode="auto">
          <a:xfrm>
            <a:off x="5681661" y="1735336"/>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40" name="Text Box 160">
            <a:extLst>
              <a:ext uri="{FF2B5EF4-FFF2-40B4-BE49-F238E27FC236}">
                <a16:creationId xmlns:a16="http://schemas.microsoft.com/office/drawing/2014/main" id="{501A6499-9E7F-4643-BDFE-C32D0819B8FF}"/>
              </a:ext>
            </a:extLst>
          </p:cNvPr>
          <p:cNvSpPr txBox="1">
            <a:spLocks noChangeArrowheads="1"/>
          </p:cNvSpPr>
          <p:nvPr/>
        </p:nvSpPr>
        <p:spPr bwMode="auto">
          <a:xfrm>
            <a:off x="5728095" y="2711648"/>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41" name="Text Box 161">
            <a:extLst>
              <a:ext uri="{FF2B5EF4-FFF2-40B4-BE49-F238E27FC236}">
                <a16:creationId xmlns:a16="http://schemas.microsoft.com/office/drawing/2014/main" id="{42B7A36E-0506-D04F-8062-D941F41E9A11}"/>
              </a:ext>
            </a:extLst>
          </p:cNvPr>
          <p:cNvSpPr txBox="1">
            <a:spLocks noChangeArrowheads="1"/>
          </p:cNvSpPr>
          <p:nvPr/>
        </p:nvSpPr>
        <p:spPr bwMode="auto">
          <a:xfrm>
            <a:off x="5681661" y="3301008"/>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42" name="Text Box 162">
            <a:extLst>
              <a:ext uri="{FF2B5EF4-FFF2-40B4-BE49-F238E27FC236}">
                <a16:creationId xmlns:a16="http://schemas.microsoft.com/office/drawing/2014/main" id="{AF3FFC2A-6C75-D44D-B80C-BF95E690D2E3}"/>
              </a:ext>
            </a:extLst>
          </p:cNvPr>
          <p:cNvSpPr txBox="1">
            <a:spLocks noChangeArrowheads="1"/>
          </p:cNvSpPr>
          <p:nvPr/>
        </p:nvSpPr>
        <p:spPr bwMode="auto">
          <a:xfrm>
            <a:off x="5738811" y="4133254"/>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8M</a:t>
            </a:r>
          </a:p>
        </p:txBody>
      </p:sp>
      <p:sp>
        <p:nvSpPr>
          <p:cNvPr id="43" name="Text Box 163">
            <a:extLst>
              <a:ext uri="{FF2B5EF4-FFF2-40B4-BE49-F238E27FC236}">
                <a16:creationId xmlns:a16="http://schemas.microsoft.com/office/drawing/2014/main" id="{33024106-DC33-604E-8554-D5918837FFE2}"/>
              </a:ext>
            </a:extLst>
          </p:cNvPr>
          <p:cNvSpPr txBox="1">
            <a:spLocks noChangeArrowheads="1"/>
          </p:cNvSpPr>
          <p:nvPr/>
        </p:nvSpPr>
        <p:spPr bwMode="auto">
          <a:xfrm>
            <a:off x="5738811" y="4555927"/>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44" name="Text Box 164">
            <a:extLst>
              <a:ext uri="{FF2B5EF4-FFF2-40B4-BE49-F238E27FC236}">
                <a16:creationId xmlns:a16="http://schemas.microsoft.com/office/drawing/2014/main" id="{98B574A1-0379-1944-952D-3BF318597D6E}"/>
              </a:ext>
            </a:extLst>
          </p:cNvPr>
          <p:cNvSpPr txBox="1">
            <a:spLocks noChangeArrowheads="1"/>
          </p:cNvSpPr>
          <p:nvPr/>
        </p:nvSpPr>
        <p:spPr bwMode="auto">
          <a:xfrm>
            <a:off x="5728095" y="5176242"/>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45" name="Text Box 165">
            <a:extLst>
              <a:ext uri="{FF2B5EF4-FFF2-40B4-BE49-F238E27FC236}">
                <a16:creationId xmlns:a16="http://schemas.microsoft.com/office/drawing/2014/main" id="{A029BC2F-C55C-9941-882C-FFC507284C52}"/>
              </a:ext>
            </a:extLst>
          </p:cNvPr>
          <p:cNvSpPr txBox="1">
            <a:spLocks noChangeArrowheads="1"/>
          </p:cNvSpPr>
          <p:nvPr/>
        </p:nvSpPr>
        <p:spPr bwMode="auto">
          <a:xfrm>
            <a:off x="5731667" y="5819179"/>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46" name="TextBox 45">
            <a:extLst>
              <a:ext uri="{FF2B5EF4-FFF2-40B4-BE49-F238E27FC236}">
                <a16:creationId xmlns:a16="http://schemas.microsoft.com/office/drawing/2014/main" id="{4DC20AF0-25DF-4740-9E23-F142C7855532}"/>
              </a:ext>
            </a:extLst>
          </p:cNvPr>
          <p:cNvSpPr txBox="1">
            <a:spLocks noChangeArrowheads="1"/>
          </p:cNvSpPr>
          <p:nvPr/>
        </p:nvSpPr>
        <p:spPr bwMode="auto">
          <a:xfrm>
            <a:off x="7001171" y="2558057"/>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47" name="矩形 12">
            <a:extLst>
              <a:ext uri="{FF2B5EF4-FFF2-40B4-BE49-F238E27FC236}">
                <a16:creationId xmlns:a16="http://schemas.microsoft.com/office/drawing/2014/main" id="{FBA3E8E5-FDF7-AF47-BECE-A1F37468F1C6}"/>
              </a:ext>
            </a:extLst>
          </p:cNvPr>
          <p:cNvSpPr>
            <a:spLocks noChangeArrowheads="1"/>
          </p:cNvSpPr>
          <p:nvPr/>
        </p:nvSpPr>
        <p:spPr bwMode="auto">
          <a:xfrm>
            <a:off x="6203155" y="3932039"/>
            <a:ext cx="857250" cy="42862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nvGrpSpPr>
          <p:cNvPr id="48" name="组合 13">
            <a:extLst>
              <a:ext uri="{FF2B5EF4-FFF2-40B4-BE49-F238E27FC236}">
                <a16:creationId xmlns:a16="http://schemas.microsoft.com/office/drawing/2014/main" id="{83498022-8DCC-A541-982B-7E45971EEDA1}"/>
              </a:ext>
            </a:extLst>
          </p:cNvPr>
          <p:cNvGrpSpPr>
            <a:grpSpLocks/>
          </p:cNvGrpSpPr>
          <p:nvPr/>
        </p:nvGrpSpPr>
        <p:grpSpPr bwMode="auto">
          <a:xfrm>
            <a:off x="5137546" y="2968823"/>
            <a:ext cx="1083469" cy="285750"/>
            <a:chOff x="5715000" y="2057400"/>
            <a:chExt cx="1443608" cy="381000"/>
          </a:xfrm>
        </p:grpSpPr>
        <p:sp>
          <p:nvSpPr>
            <p:cNvPr id="49" name="Line 267">
              <a:extLst>
                <a:ext uri="{FF2B5EF4-FFF2-40B4-BE49-F238E27FC236}">
                  <a16:creationId xmlns:a16="http://schemas.microsoft.com/office/drawing/2014/main" id="{11E0C85B-1306-C44A-937F-932DD8DC5DD2}"/>
                </a:ext>
              </a:extLst>
            </p:cNvPr>
            <p:cNvSpPr>
              <a:spLocks noChangeShapeType="1"/>
            </p:cNvSpPr>
            <p:nvPr/>
          </p:nvSpPr>
          <p:spPr bwMode="auto">
            <a:xfrm flipV="1">
              <a:off x="5718448" y="2432695"/>
              <a:ext cx="144016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sp>
          <p:nvSpPr>
            <p:cNvPr id="50" name="Line 272">
              <a:extLst>
                <a:ext uri="{FF2B5EF4-FFF2-40B4-BE49-F238E27FC236}">
                  <a16:creationId xmlns:a16="http://schemas.microsoft.com/office/drawing/2014/main" id="{B1AB9FCA-AED8-7241-9640-E3F084B01233}"/>
                </a:ext>
              </a:extLst>
            </p:cNvPr>
            <p:cNvSpPr>
              <a:spLocks noChangeShapeType="1"/>
            </p:cNvSpPr>
            <p:nvPr/>
          </p:nvSpPr>
          <p:spPr bwMode="auto">
            <a:xfrm flipV="1">
              <a:off x="5715000" y="2057400"/>
              <a:ext cx="0" cy="3810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grpSp>
      <p:sp>
        <p:nvSpPr>
          <p:cNvPr id="51" name="矩形 16">
            <a:extLst>
              <a:ext uri="{FF2B5EF4-FFF2-40B4-BE49-F238E27FC236}">
                <a16:creationId xmlns:a16="http://schemas.microsoft.com/office/drawing/2014/main" id="{F0611FD3-588C-CD44-BC1A-CA0DE2AAA6FA}"/>
              </a:ext>
            </a:extLst>
          </p:cNvPr>
          <p:cNvSpPr>
            <a:spLocks noChangeArrowheads="1"/>
          </p:cNvSpPr>
          <p:nvPr/>
        </p:nvSpPr>
        <p:spPr bwMode="auto">
          <a:xfrm>
            <a:off x="6203155" y="2602111"/>
            <a:ext cx="857250" cy="321469"/>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52" name="TextBox 51">
            <a:extLst>
              <a:ext uri="{FF2B5EF4-FFF2-40B4-BE49-F238E27FC236}">
                <a16:creationId xmlns:a16="http://schemas.microsoft.com/office/drawing/2014/main" id="{26A3F93D-8B1F-8440-9BF1-A4AAC902B7A6}"/>
              </a:ext>
            </a:extLst>
          </p:cNvPr>
          <p:cNvSpPr txBox="1">
            <a:spLocks noChangeArrowheads="1"/>
          </p:cNvSpPr>
          <p:nvPr/>
        </p:nvSpPr>
        <p:spPr bwMode="auto">
          <a:xfrm>
            <a:off x="6256734" y="2602111"/>
            <a:ext cx="80367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D60093"/>
                </a:solidFill>
                <a:effectLst/>
                <a:uLnTx/>
                <a:uFillTx/>
                <a:latin typeface="Arial Narrow" panose="020B0604020202020204" pitchFamily="34" charset="0"/>
                <a:ea typeface="宋体" panose="02010600030101010101" pitchFamily="2" charset="-122"/>
              </a:rPr>
              <a:t>16MB</a:t>
            </a:r>
            <a:endParaRPr kumimoji="1" lang="zh-CN" altLang="en-US" sz="1800" b="1" i="0" u="none" strike="noStrike" kern="0" cap="none" spc="0" normalizeH="0" baseline="0" noProof="0">
              <a:ln>
                <a:noFill/>
              </a:ln>
              <a:solidFill>
                <a:srgbClr val="D60093"/>
              </a:solidFill>
              <a:effectLst/>
              <a:uLnTx/>
              <a:uFillTx/>
              <a:latin typeface="Arial Narrow" panose="020B0604020202020204" pitchFamily="34" charset="0"/>
              <a:ea typeface="宋体" panose="02010600030101010101" pitchFamily="2" charset="-122"/>
            </a:endParaRPr>
          </a:p>
        </p:txBody>
      </p:sp>
      <p:sp>
        <p:nvSpPr>
          <p:cNvPr id="53" name="矩形 18">
            <a:extLst>
              <a:ext uri="{FF2B5EF4-FFF2-40B4-BE49-F238E27FC236}">
                <a16:creationId xmlns:a16="http://schemas.microsoft.com/office/drawing/2014/main" id="{8AD7D6B4-1BBE-384E-B1E3-7F52D23BADA5}"/>
              </a:ext>
            </a:extLst>
          </p:cNvPr>
          <p:cNvSpPr>
            <a:spLocks noChangeArrowheads="1"/>
          </p:cNvSpPr>
          <p:nvPr/>
        </p:nvSpPr>
        <p:spPr bwMode="auto">
          <a:xfrm>
            <a:off x="6203155" y="3922515"/>
            <a:ext cx="857250" cy="267890"/>
          </a:xfrm>
          <a:prstGeom prst="rect">
            <a:avLst/>
          </a:prstGeom>
          <a:solidFill>
            <a:srgbClr val="0000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54" name="直接箭头连接符 20">
            <a:extLst>
              <a:ext uri="{FF2B5EF4-FFF2-40B4-BE49-F238E27FC236}">
                <a16:creationId xmlns:a16="http://schemas.microsoft.com/office/drawing/2014/main" id="{DC87E4F1-7B2C-E540-BEE6-DA63050D4916}"/>
              </a:ext>
            </a:extLst>
          </p:cNvPr>
          <p:cNvCxnSpPr>
            <a:cxnSpLocks noChangeShapeType="1"/>
          </p:cNvCxnSpPr>
          <p:nvPr/>
        </p:nvCxnSpPr>
        <p:spPr bwMode="auto">
          <a:xfrm>
            <a:off x="5238748" y="4058246"/>
            <a:ext cx="803672" cy="1190"/>
          </a:xfrm>
          <a:prstGeom prst="straightConnector1">
            <a:avLst/>
          </a:prstGeom>
          <a:noFill/>
          <a:ln w="3810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55" name="TextBox 54">
            <a:extLst>
              <a:ext uri="{FF2B5EF4-FFF2-40B4-BE49-F238E27FC236}">
                <a16:creationId xmlns:a16="http://schemas.microsoft.com/office/drawing/2014/main" id="{9F01C973-320A-8241-AC31-FAE5AC4F9794}"/>
              </a:ext>
            </a:extLst>
          </p:cNvPr>
          <p:cNvSpPr txBox="1">
            <a:spLocks noChangeArrowheads="1"/>
          </p:cNvSpPr>
          <p:nvPr/>
        </p:nvSpPr>
        <p:spPr bwMode="auto">
          <a:xfrm>
            <a:off x="6174581" y="3897511"/>
            <a:ext cx="112514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最近分配</a:t>
            </a:r>
          </a:p>
        </p:txBody>
      </p:sp>
      <p:sp>
        <p:nvSpPr>
          <p:cNvPr id="56" name="TextBox 55">
            <a:extLst>
              <a:ext uri="{FF2B5EF4-FFF2-40B4-BE49-F238E27FC236}">
                <a16:creationId xmlns:a16="http://schemas.microsoft.com/office/drawing/2014/main" id="{A1DFDD21-C808-4245-91FF-431E1A4AC1B9}"/>
              </a:ext>
            </a:extLst>
          </p:cNvPr>
          <p:cNvSpPr txBox="1">
            <a:spLocks noChangeArrowheads="1"/>
          </p:cNvSpPr>
          <p:nvPr/>
        </p:nvSpPr>
        <p:spPr bwMode="auto">
          <a:xfrm>
            <a:off x="6973536" y="3361730"/>
            <a:ext cx="489301" cy="2035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D60093"/>
                </a:solidFill>
                <a:latin typeface="幼圆" pitchFamily="49" charset="-122"/>
                <a:ea typeface="幼圆" pitchFamily="49" charset="-122"/>
              </a:rPr>
              <a:t>分配</a:t>
            </a:r>
            <a:r>
              <a:rPr lang="en-US" altLang="zh-CN" sz="1800">
                <a:solidFill>
                  <a:srgbClr val="D60093"/>
                </a:solidFill>
                <a:latin typeface="幼圆" pitchFamily="49" charset="-122"/>
                <a:ea typeface="幼圆" pitchFamily="49" charset="-122"/>
              </a:rPr>
              <a:t>16MB</a:t>
            </a:r>
            <a:r>
              <a:rPr lang="zh-CN" altLang="en-US" sz="1800">
                <a:solidFill>
                  <a:srgbClr val="D60093"/>
                </a:solidFill>
                <a:latin typeface="幼圆" pitchFamily="49" charset="-122"/>
                <a:ea typeface="幼圆" pitchFamily="49" charset="-122"/>
              </a:rPr>
              <a:t>空间</a:t>
            </a:r>
          </a:p>
        </p:txBody>
      </p:sp>
      <p:sp>
        <p:nvSpPr>
          <p:cNvPr id="57" name="矩形 47">
            <a:extLst>
              <a:ext uri="{FF2B5EF4-FFF2-40B4-BE49-F238E27FC236}">
                <a16:creationId xmlns:a16="http://schemas.microsoft.com/office/drawing/2014/main" id="{58105854-2861-E14C-9C45-7DC7586A710F}"/>
              </a:ext>
            </a:extLst>
          </p:cNvPr>
          <p:cNvSpPr>
            <a:spLocks noChangeArrowheads="1"/>
          </p:cNvSpPr>
          <p:nvPr/>
        </p:nvSpPr>
        <p:spPr bwMode="auto">
          <a:xfrm>
            <a:off x="3256359" y="2121098"/>
            <a:ext cx="1565672" cy="3239691"/>
          </a:xfrm>
          <a:prstGeom prst="rect">
            <a:avLst/>
          </a:prstGeom>
          <a:solidFill>
            <a:srgbClr val="FFFFFF"/>
          </a:solidFill>
          <a:ln w="19050" algn="ctr">
            <a:solidFill>
              <a:srgbClr val="000000"/>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58" name="矩形 42">
            <a:extLst>
              <a:ext uri="{FF2B5EF4-FFF2-40B4-BE49-F238E27FC236}">
                <a16:creationId xmlns:a16="http://schemas.microsoft.com/office/drawing/2014/main" id="{7814E571-4BBE-AD4F-B9B5-1075ED9FC2BF}"/>
              </a:ext>
            </a:extLst>
          </p:cNvPr>
          <p:cNvSpPr/>
          <p:nvPr/>
        </p:nvSpPr>
        <p:spPr bwMode="auto">
          <a:xfrm>
            <a:off x="3256359" y="3957043"/>
            <a:ext cx="1565672" cy="432197"/>
          </a:xfrm>
          <a:prstGeom prst="rect">
            <a:avLst/>
          </a:prstGeom>
          <a:solidFill>
            <a:srgbClr val="0070C0"/>
          </a:solidFill>
          <a:ln w="9525" cap="flat" cmpd="sng" algn="ctr">
            <a:solidFill>
              <a:srgbClr val="000000"/>
            </a:solidFill>
            <a:prstDash val="solid"/>
            <a:round/>
            <a:headEnd type="none" w="med" len="med"/>
            <a:tailEnd type="none" w="med" len="med"/>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5</a:t>
            </a:r>
            <a:endParaRPr kumimoji="1" lang="zh-CN" altLang="en-US"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endParaRPr>
          </a:p>
        </p:txBody>
      </p:sp>
      <p:sp>
        <p:nvSpPr>
          <p:cNvPr id="59" name="矩形 43">
            <a:extLst>
              <a:ext uri="{FF2B5EF4-FFF2-40B4-BE49-F238E27FC236}">
                <a16:creationId xmlns:a16="http://schemas.microsoft.com/office/drawing/2014/main" id="{7AD93FD0-05D5-6F48-BDCD-35526C01B830}"/>
              </a:ext>
            </a:extLst>
          </p:cNvPr>
          <p:cNvSpPr/>
          <p:nvPr/>
        </p:nvSpPr>
        <p:spPr bwMode="auto">
          <a:xfrm>
            <a:off x="3256359" y="2498527"/>
            <a:ext cx="1565672" cy="378619"/>
          </a:xfrm>
          <a:prstGeom prst="rect">
            <a:avLst/>
          </a:prstGeom>
          <a:solidFill>
            <a:srgbClr val="FF0000"/>
          </a:solidFill>
          <a:ln w="9525" cap="flat" cmpd="sng" algn="ctr">
            <a:solidFill>
              <a:srgbClr val="000000"/>
            </a:solidFill>
            <a:prstDash val="solid"/>
            <a:round/>
            <a:headEnd type="none" w="med" len="med"/>
            <a:tailEnd type="none" w="med" len="med"/>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1</a:t>
            </a:r>
            <a:endParaRPr kumimoji="1" lang="zh-CN" altLang="en-US"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endParaRPr>
          </a:p>
        </p:txBody>
      </p:sp>
      <p:sp>
        <p:nvSpPr>
          <p:cNvPr id="60" name="矩形 44">
            <a:extLst>
              <a:ext uri="{FF2B5EF4-FFF2-40B4-BE49-F238E27FC236}">
                <a16:creationId xmlns:a16="http://schemas.microsoft.com/office/drawing/2014/main" id="{04BEEBFD-AF3B-D14A-808C-45834D761CED}"/>
              </a:ext>
            </a:extLst>
          </p:cNvPr>
          <p:cNvSpPr/>
          <p:nvPr/>
        </p:nvSpPr>
        <p:spPr bwMode="auto">
          <a:xfrm>
            <a:off x="3256359" y="2121098"/>
            <a:ext cx="1565672" cy="377429"/>
          </a:xfrm>
          <a:prstGeom prst="rect">
            <a:avLst/>
          </a:prstGeom>
          <a:solidFill>
            <a:srgbClr val="0000FF"/>
          </a:solidFill>
          <a:ln w="9525" cap="flat" cmpd="sng" algn="ctr">
            <a:solidFill>
              <a:srgbClr val="000000"/>
            </a:solidFill>
            <a:prstDash val="solid"/>
            <a:round/>
            <a:headEnd type="none" w="med" len="med"/>
            <a:tailEnd type="none" w="med" len="med"/>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F8F8F8"/>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操作系统</a:t>
            </a:r>
          </a:p>
        </p:txBody>
      </p:sp>
      <p:sp>
        <p:nvSpPr>
          <p:cNvPr id="61" name="矩形 45">
            <a:extLst>
              <a:ext uri="{FF2B5EF4-FFF2-40B4-BE49-F238E27FC236}">
                <a16:creationId xmlns:a16="http://schemas.microsoft.com/office/drawing/2014/main" id="{B52542D1-4E1E-6E4F-A707-911FBA895412}"/>
              </a:ext>
            </a:extLst>
          </p:cNvPr>
          <p:cNvSpPr/>
          <p:nvPr/>
        </p:nvSpPr>
        <p:spPr bwMode="auto">
          <a:xfrm>
            <a:off x="3250404" y="3200995"/>
            <a:ext cx="1565672" cy="323850"/>
          </a:xfrm>
          <a:prstGeom prst="rect">
            <a:avLst/>
          </a:prstGeom>
          <a:solidFill>
            <a:srgbClr val="FFCC00"/>
          </a:solidFill>
          <a:ln w="9525" cap="flat" cmpd="sng" algn="ctr">
            <a:solidFill>
              <a:srgbClr val="000000"/>
            </a:solidFill>
            <a:prstDash val="solid"/>
            <a:round/>
            <a:headEnd type="none" w="med" len="med"/>
            <a:tailEnd type="none" w="med" len="med"/>
          </a:ln>
          <a:effec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0000FF"/>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rPr>
              <a:t>3</a:t>
            </a:r>
            <a:endParaRPr kumimoji="1" lang="zh-CN" altLang="en-US" sz="1800" b="1" i="0" u="none" strike="noStrike" kern="0" cap="none" spc="0" normalizeH="0" baseline="0" noProof="0">
              <a:ln>
                <a:noFill/>
              </a:ln>
              <a:solidFill>
                <a:srgbClr val="0000FF"/>
              </a:solidFill>
              <a:effectLst>
                <a:outerShdw blurRad="38100" dist="38100" dir="2700000" algn="tl">
                  <a:srgbClr val="000000"/>
                </a:outerShdw>
              </a:effectLst>
              <a:uLnTx/>
              <a:uFillTx/>
              <a:latin typeface="Arial Narrow" panose="020B0604020202020204" pitchFamily="34" charset="0"/>
              <a:ea typeface="宋体" panose="02010600030101010101" pitchFamily="2" charset="-122"/>
            </a:endParaRPr>
          </a:p>
        </p:txBody>
      </p:sp>
      <p:sp>
        <p:nvSpPr>
          <p:cNvPr id="62" name="矩形 46">
            <a:extLst>
              <a:ext uri="{FF2B5EF4-FFF2-40B4-BE49-F238E27FC236}">
                <a16:creationId xmlns:a16="http://schemas.microsoft.com/office/drawing/2014/main" id="{F75CF1F1-B7FE-4347-8B39-634335BD2CEE}"/>
              </a:ext>
            </a:extLst>
          </p:cNvPr>
          <p:cNvSpPr>
            <a:spLocks noChangeArrowheads="1"/>
          </p:cNvSpPr>
          <p:nvPr/>
        </p:nvSpPr>
        <p:spPr bwMode="auto">
          <a:xfrm>
            <a:off x="3257548" y="4654748"/>
            <a:ext cx="1565672" cy="386954"/>
          </a:xfrm>
          <a:prstGeom prst="rect">
            <a:avLst/>
          </a:prstGeom>
          <a:solidFill>
            <a:srgbClr val="FFFF99"/>
          </a:solidFill>
          <a:ln w="9525" algn="ctr">
            <a:solidFill>
              <a:srgbClr val="000000"/>
            </a:solidFill>
            <a:round/>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7</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nvGrpSpPr>
          <p:cNvPr id="63" name="组合 27">
            <a:extLst>
              <a:ext uri="{FF2B5EF4-FFF2-40B4-BE49-F238E27FC236}">
                <a16:creationId xmlns:a16="http://schemas.microsoft.com/office/drawing/2014/main" id="{50D59CD4-91BB-6242-896F-A2754FFF8EA8}"/>
              </a:ext>
            </a:extLst>
          </p:cNvPr>
          <p:cNvGrpSpPr>
            <a:grpSpLocks/>
          </p:cNvGrpSpPr>
          <p:nvPr/>
        </p:nvGrpSpPr>
        <p:grpSpPr bwMode="auto">
          <a:xfrm>
            <a:off x="3269456" y="2879526"/>
            <a:ext cx="1553765" cy="369332"/>
            <a:chOff x="6643702" y="2214554"/>
            <a:chExt cx="2071702" cy="492126"/>
          </a:xfrm>
        </p:grpSpPr>
        <p:sp>
          <p:nvSpPr>
            <p:cNvPr id="64" name="矩形 20">
              <a:extLst>
                <a:ext uri="{FF2B5EF4-FFF2-40B4-BE49-F238E27FC236}">
                  <a16:creationId xmlns:a16="http://schemas.microsoft.com/office/drawing/2014/main" id="{024FF4F0-A7E3-2641-B38B-766E6603B546}"/>
                </a:ext>
              </a:extLst>
            </p:cNvPr>
            <p:cNvSpPr>
              <a:spLocks noChangeArrowheads="1"/>
            </p:cNvSpPr>
            <p:nvPr/>
          </p:nvSpPr>
          <p:spPr bwMode="auto">
            <a:xfrm>
              <a:off x="6643702" y="2214554"/>
              <a:ext cx="2071702" cy="428628"/>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65" name="TextBox 21">
              <a:extLst>
                <a:ext uri="{FF2B5EF4-FFF2-40B4-BE49-F238E27FC236}">
                  <a16:creationId xmlns:a16="http://schemas.microsoft.com/office/drawing/2014/main" id="{BB47842F-C0CB-5E43-BE53-9D5AF11D7EFC}"/>
                </a:ext>
              </a:extLst>
            </p:cNvPr>
            <p:cNvSpPr txBox="1">
              <a:spLocks noChangeArrowheads="1"/>
            </p:cNvSpPr>
            <p:nvPr/>
          </p:nvSpPr>
          <p:spPr bwMode="auto">
            <a:xfrm>
              <a:off x="7218058" y="2214554"/>
              <a:ext cx="1170393" cy="492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grpSp>
        <p:nvGrpSpPr>
          <p:cNvPr id="66" name="组合 28">
            <a:extLst>
              <a:ext uri="{FF2B5EF4-FFF2-40B4-BE49-F238E27FC236}">
                <a16:creationId xmlns:a16="http://schemas.microsoft.com/office/drawing/2014/main" id="{D2EC0B55-A6A9-024B-A59E-F2FF1B843149}"/>
              </a:ext>
            </a:extLst>
          </p:cNvPr>
          <p:cNvGrpSpPr>
            <a:grpSpLocks/>
          </p:cNvGrpSpPr>
          <p:nvPr/>
        </p:nvGrpSpPr>
        <p:grpSpPr bwMode="auto">
          <a:xfrm>
            <a:off x="3262312" y="3522464"/>
            <a:ext cx="1553765" cy="428625"/>
            <a:chOff x="6643702" y="3071810"/>
            <a:chExt cx="2071702" cy="571504"/>
          </a:xfrm>
        </p:grpSpPr>
        <p:sp>
          <p:nvSpPr>
            <p:cNvPr id="67" name="矩形 23">
              <a:extLst>
                <a:ext uri="{FF2B5EF4-FFF2-40B4-BE49-F238E27FC236}">
                  <a16:creationId xmlns:a16="http://schemas.microsoft.com/office/drawing/2014/main" id="{4775B2E0-B5CE-B447-8CCD-DB3BF8577BD0}"/>
                </a:ext>
              </a:extLst>
            </p:cNvPr>
            <p:cNvSpPr>
              <a:spLocks noChangeArrowheads="1"/>
            </p:cNvSpPr>
            <p:nvPr/>
          </p:nvSpPr>
          <p:spPr bwMode="auto">
            <a:xfrm>
              <a:off x="6643702" y="3071810"/>
              <a:ext cx="2071702" cy="571504"/>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68" name="TextBox 22">
              <a:extLst>
                <a:ext uri="{FF2B5EF4-FFF2-40B4-BE49-F238E27FC236}">
                  <a16:creationId xmlns:a16="http://schemas.microsoft.com/office/drawing/2014/main" id="{734A136D-4249-D84C-8AC2-CFC1D20139B5}"/>
                </a:ext>
              </a:extLst>
            </p:cNvPr>
            <p:cNvSpPr txBox="1">
              <a:spLocks noChangeArrowheads="1"/>
            </p:cNvSpPr>
            <p:nvPr/>
          </p:nvSpPr>
          <p:spPr bwMode="auto">
            <a:xfrm>
              <a:off x="7225448" y="3110212"/>
              <a:ext cx="1242401"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4</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grpSp>
        <p:nvGrpSpPr>
          <p:cNvPr id="69" name="组合 29">
            <a:extLst>
              <a:ext uri="{FF2B5EF4-FFF2-40B4-BE49-F238E27FC236}">
                <a16:creationId xmlns:a16="http://schemas.microsoft.com/office/drawing/2014/main" id="{679C5807-5555-7543-85A3-11652077B26E}"/>
              </a:ext>
            </a:extLst>
          </p:cNvPr>
          <p:cNvGrpSpPr>
            <a:grpSpLocks/>
          </p:cNvGrpSpPr>
          <p:nvPr/>
        </p:nvGrpSpPr>
        <p:grpSpPr bwMode="auto">
          <a:xfrm>
            <a:off x="3268264" y="4354712"/>
            <a:ext cx="1685925" cy="369332"/>
            <a:chOff x="6643702" y="4181781"/>
            <a:chExt cx="2248818" cy="492124"/>
          </a:xfrm>
        </p:grpSpPr>
        <p:sp>
          <p:nvSpPr>
            <p:cNvPr id="70" name="矩形 24">
              <a:extLst>
                <a:ext uri="{FF2B5EF4-FFF2-40B4-BE49-F238E27FC236}">
                  <a16:creationId xmlns:a16="http://schemas.microsoft.com/office/drawing/2014/main" id="{C347C9F2-EA93-6D4B-9C11-CAA31698B712}"/>
                </a:ext>
              </a:extLst>
            </p:cNvPr>
            <p:cNvSpPr>
              <a:spLocks noChangeArrowheads="1"/>
            </p:cNvSpPr>
            <p:nvPr/>
          </p:nvSpPr>
          <p:spPr bwMode="auto">
            <a:xfrm>
              <a:off x="6643702" y="4227697"/>
              <a:ext cx="2071702" cy="357190"/>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1" name="TextBox 26">
              <a:extLst>
                <a:ext uri="{FF2B5EF4-FFF2-40B4-BE49-F238E27FC236}">
                  <a16:creationId xmlns:a16="http://schemas.microsoft.com/office/drawing/2014/main" id="{43FBA66A-74D4-1A46-B54C-C7924BBC486D}"/>
                </a:ext>
              </a:extLst>
            </p:cNvPr>
            <p:cNvSpPr txBox="1">
              <a:spLocks noChangeArrowheads="1"/>
            </p:cNvSpPr>
            <p:nvPr/>
          </p:nvSpPr>
          <p:spPr bwMode="auto">
            <a:xfrm>
              <a:off x="7249447" y="4181781"/>
              <a:ext cx="1643073" cy="4921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进程</a:t>
              </a: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sp>
        <p:nvSpPr>
          <p:cNvPr id="72" name="矩形 40">
            <a:extLst>
              <a:ext uri="{FF2B5EF4-FFF2-40B4-BE49-F238E27FC236}">
                <a16:creationId xmlns:a16="http://schemas.microsoft.com/office/drawing/2014/main" id="{55806DAA-A4BF-9848-84B9-F3ED00B93DB4}"/>
              </a:ext>
            </a:extLst>
          </p:cNvPr>
          <p:cNvSpPr>
            <a:spLocks noChangeArrowheads="1"/>
          </p:cNvSpPr>
          <p:nvPr/>
        </p:nvSpPr>
        <p:spPr bwMode="auto">
          <a:xfrm>
            <a:off x="1306113" y="1737717"/>
            <a:ext cx="3768378" cy="4502823"/>
          </a:xfrm>
          <a:prstGeom prst="rect">
            <a:avLst/>
          </a:prstGeom>
          <a:solidFill>
            <a:srgbClr val="FFFFFF"/>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3" name="内容占位符 2">
            <a:extLst>
              <a:ext uri="{FF2B5EF4-FFF2-40B4-BE49-F238E27FC236}">
                <a16:creationId xmlns:a16="http://schemas.microsoft.com/office/drawing/2014/main" id="{15CAA80F-5EF1-F94C-950B-4AAF54E835EC}"/>
              </a:ext>
            </a:extLst>
          </p:cNvPr>
          <p:cNvSpPr txBox="1">
            <a:spLocks/>
          </p:cNvSpPr>
          <p:nvPr/>
        </p:nvSpPr>
        <p:spPr bwMode="auto">
          <a:xfrm>
            <a:off x="982265" y="1700807"/>
            <a:ext cx="3745705" cy="45028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57175" lvl="2" indent="-257175">
              <a:buClr>
                <a:srgbClr val="0000FF"/>
              </a:buClr>
              <a:buFont typeface="Monotype Sorts" pitchFamily="2" charset="2"/>
              <a:buChar char="§"/>
            </a:pPr>
            <a:r>
              <a:rPr lang="zh-CN" altLang="en-US" sz="2100" b="1" dirty="0">
                <a:solidFill>
                  <a:srgbClr val="0000FF"/>
                </a:solidFill>
                <a:latin typeface="幼圆" pitchFamily="49" charset="-122"/>
                <a:ea typeface="幼圆" pitchFamily="49" charset="-122"/>
              </a:rPr>
              <a:t>首次适应算法</a:t>
            </a:r>
            <a:endParaRPr lang="en-US" altLang="zh-CN" sz="2100" b="1" dirty="0">
              <a:solidFill>
                <a:srgbClr val="0000FF"/>
              </a:solidFill>
              <a:latin typeface="幼圆" pitchFamily="49" charset="-122"/>
              <a:ea typeface="幼圆" pitchFamily="49" charset="-122"/>
            </a:endParaRPr>
          </a:p>
          <a:p>
            <a:pPr lvl="1">
              <a:buClr>
                <a:srgbClr val="0000FF"/>
              </a:buClr>
              <a:buSzPct val="100000"/>
              <a:buFontTx/>
              <a:buChar char="•"/>
            </a:pPr>
            <a:r>
              <a:rPr lang="zh-CN" altLang="en-US" sz="1800" b="1" dirty="0">
                <a:solidFill>
                  <a:srgbClr val="000000"/>
                </a:solidFill>
                <a:latin typeface="Arial" panose="020B0604020202020204" pitchFamily="34" charset="0"/>
                <a:ea typeface="幼圆" pitchFamily="49" charset="-122"/>
              </a:rPr>
              <a:t>每次分配从低地址开始查找，找到与要求相适应的空闲分区</a:t>
            </a:r>
            <a:endParaRPr lang="en-US" altLang="zh-CN" sz="1800" b="1" dirty="0">
              <a:solidFill>
                <a:srgbClr val="000000"/>
              </a:solidFill>
              <a:latin typeface="Arial" panose="020B0604020202020204" pitchFamily="34" charset="0"/>
              <a:ea typeface="幼圆" pitchFamily="49" charset="-122"/>
            </a:endParaRPr>
          </a:p>
          <a:p>
            <a:pPr>
              <a:buClr>
                <a:srgbClr val="0000FF"/>
              </a:buClr>
              <a:buSzPct val="50000"/>
              <a:buFont typeface="Wingdings" pitchFamily="2" charset="2"/>
              <a:buChar char="n"/>
            </a:pPr>
            <a:r>
              <a:rPr lang="zh-CN" altLang="en-US" sz="2100" b="1" dirty="0">
                <a:solidFill>
                  <a:srgbClr val="0000FF"/>
                </a:solidFill>
                <a:latin typeface="Arial" panose="020B0604020202020204" pitchFamily="34" charset="0"/>
                <a:ea typeface="幼圆" pitchFamily="49" charset="-122"/>
              </a:rPr>
              <a:t>特点</a:t>
            </a:r>
            <a:endParaRPr lang="en-US" altLang="zh-CN" sz="2100" b="1" dirty="0">
              <a:solidFill>
                <a:srgbClr val="0000FF"/>
              </a:solidFill>
              <a:latin typeface="Arial" panose="020B0604020202020204" pitchFamily="34" charset="0"/>
              <a:ea typeface="幼圆" pitchFamily="49" charset="-122"/>
            </a:endParaRPr>
          </a:p>
          <a:p>
            <a:pPr lvl="1">
              <a:buClr>
                <a:srgbClr val="0000FF"/>
              </a:buClr>
              <a:buSzPct val="100000"/>
              <a:buFontTx/>
              <a:buChar char="•"/>
            </a:pPr>
            <a:r>
              <a:rPr lang="zh-CN" altLang="en-US" sz="1800" b="1" dirty="0">
                <a:solidFill>
                  <a:srgbClr val="000000"/>
                </a:solidFill>
                <a:latin typeface="Arial" panose="020B0604020202020204" pitchFamily="34" charset="0"/>
                <a:ea typeface="幼圆" pitchFamily="49" charset="-122"/>
              </a:rPr>
              <a:t>空闲分区（链）按地址递增排列</a:t>
            </a:r>
            <a:endParaRPr lang="en-US" altLang="zh-CN" sz="1800" b="1" dirty="0">
              <a:solidFill>
                <a:srgbClr val="000000"/>
              </a:solidFill>
              <a:latin typeface="Arial" panose="020B0604020202020204" pitchFamily="34" charset="0"/>
              <a:ea typeface="幼圆" pitchFamily="49" charset="-122"/>
            </a:endParaRPr>
          </a:p>
          <a:p>
            <a:pPr lvl="1">
              <a:buClr>
                <a:srgbClr val="0000FF"/>
              </a:buClr>
              <a:buSzPct val="100000"/>
              <a:buFontTx/>
              <a:buChar char="•"/>
            </a:pPr>
            <a:r>
              <a:rPr lang="zh-CN" altLang="en-US" sz="1800" b="1" dirty="0">
                <a:solidFill>
                  <a:srgbClr val="000000"/>
                </a:solidFill>
                <a:latin typeface="Arial" panose="020B0604020202020204" pitchFamily="34" charset="0"/>
                <a:ea typeface="幼圆" pitchFamily="49" charset="-122"/>
              </a:rPr>
              <a:t>优先利用内存中低址部分的空闲分区；高地址部分大分区得以保留 </a:t>
            </a:r>
            <a:endParaRPr lang="en-US" altLang="zh-CN" sz="1800" b="1" dirty="0">
              <a:solidFill>
                <a:srgbClr val="000000"/>
              </a:solidFill>
              <a:latin typeface="Arial" panose="020B0604020202020204" pitchFamily="34" charset="0"/>
              <a:ea typeface="幼圆" pitchFamily="49" charset="-122"/>
            </a:endParaRPr>
          </a:p>
          <a:p>
            <a:pPr lvl="1">
              <a:buClr>
                <a:srgbClr val="0000FF"/>
              </a:buClr>
              <a:buSzPct val="100000"/>
              <a:buFontTx/>
              <a:buChar char="•"/>
            </a:pPr>
            <a:r>
              <a:rPr lang="zh-CN" altLang="en-US" sz="1800" b="1" dirty="0">
                <a:solidFill>
                  <a:srgbClr val="000000"/>
                </a:solidFill>
                <a:latin typeface="Arial" panose="020B0604020202020204" pitchFamily="34" charset="0"/>
                <a:ea typeface="幼圆" pitchFamily="49" charset="-122"/>
              </a:rPr>
              <a:t>低 地址部分不断划分，会留下许多难以利用的、很 小的 空闲空间</a:t>
            </a:r>
            <a:endParaRPr lang="en-US" altLang="zh-CN" sz="1800" b="1" dirty="0">
              <a:solidFill>
                <a:srgbClr val="000000"/>
              </a:solidFill>
              <a:latin typeface="Arial" panose="020B0604020202020204" pitchFamily="34" charset="0"/>
              <a:ea typeface="幼圆" pitchFamily="49" charset="-122"/>
            </a:endParaRPr>
          </a:p>
          <a:p>
            <a:pPr lvl="1">
              <a:buClr>
                <a:srgbClr val="0000FF"/>
              </a:buClr>
              <a:buSzPct val="100000"/>
              <a:buFontTx/>
              <a:buChar char="•"/>
            </a:pPr>
            <a:r>
              <a:rPr lang="zh-CN" altLang="en-US" sz="1800" b="1" dirty="0">
                <a:solidFill>
                  <a:srgbClr val="000000"/>
                </a:solidFill>
                <a:latin typeface="Arial" panose="020B0604020202020204" pitchFamily="34" charset="0"/>
                <a:ea typeface="幼圆" pitchFamily="49" charset="-122"/>
              </a:rPr>
              <a:t> 查找可用空闲分区的开销大</a:t>
            </a:r>
            <a:endParaRPr lang="zh-CN" altLang="en-US" b="0" dirty="0">
              <a:latin typeface="幼圆" pitchFamily="49" charset="-122"/>
              <a:ea typeface="幼圆" pitchFamily="49" charset="-122"/>
            </a:endParaRPr>
          </a:p>
        </p:txBody>
      </p:sp>
      <p:sp>
        <p:nvSpPr>
          <p:cNvPr id="74" name="Rectangle 2">
            <a:extLst>
              <a:ext uri="{FF2B5EF4-FFF2-40B4-BE49-F238E27FC236}">
                <a16:creationId xmlns:a16="http://schemas.microsoft.com/office/drawing/2014/main" id="{2E640C5B-416F-694A-B6A1-C4D669C3005D}"/>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3623483053"/>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blinds(horizontal)">
                                      <p:cBhvr>
                                        <p:cTn id="7" dur="5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blinds(horizontal)">
                                      <p:cBhvr>
                                        <p:cTn id="12" dur="5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61"/>
                                        </p:tgtEl>
                                        <p:attrNameLst>
                                          <p:attrName>style.visibility</p:attrName>
                                        </p:attrNameLst>
                                      </p:cBhvr>
                                      <p:to>
                                        <p:strVal val="visible"/>
                                      </p:to>
                                    </p:set>
                                    <p:animEffect transition="in" filter="blinds(horizontal)">
                                      <p:cBhvr>
                                        <p:cTn id="17" dur="500"/>
                                        <p:tgtEl>
                                          <p:spTgt spid="61"/>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animEffect transition="in" filter="blinds(horizontal)">
                                      <p:cBhvr>
                                        <p:cTn id="22" dur="500"/>
                                        <p:tgtEl>
                                          <p:spTgt spid="66"/>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58"/>
                                        </p:tgtEl>
                                        <p:attrNameLst>
                                          <p:attrName>style.visibility</p:attrName>
                                        </p:attrNameLst>
                                      </p:cBhvr>
                                      <p:to>
                                        <p:strVal val="visible"/>
                                      </p:to>
                                    </p:set>
                                    <p:animEffect transition="in" filter="blinds(horizontal)">
                                      <p:cBhvr>
                                        <p:cTn id="27" dur="500"/>
                                        <p:tgtEl>
                                          <p:spTgt spid="58"/>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blinds(horizontal)">
                                      <p:cBhvr>
                                        <p:cTn id="32" dur="500"/>
                                        <p:tgtEl>
                                          <p:spTgt spid="69"/>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blinds(horizontal)">
                                      <p:cBhvr>
                                        <p:cTn id="37" dur="500"/>
                                        <p:tgtEl>
                                          <p:spTgt spid="62"/>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1" nodeType="clickEffect">
                                  <p:stCondLst>
                                    <p:cond delay="0"/>
                                  </p:stCondLst>
                                  <p:childTnLst>
                                    <p:set>
                                      <p:cBhvr>
                                        <p:cTn id="41" dur="1" fill="hold">
                                          <p:stCondLst>
                                            <p:cond delay="0"/>
                                          </p:stCondLst>
                                        </p:cTn>
                                        <p:tgtEl>
                                          <p:spTgt spid="62"/>
                                        </p:tgtEl>
                                        <p:attrNameLst>
                                          <p:attrName>style.visibility</p:attrName>
                                        </p:attrNameLst>
                                      </p:cBhvr>
                                      <p:to>
                                        <p:strVal val="visible"/>
                                      </p:to>
                                    </p:set>
                                    <p:animEffect transition="in" filter="blinds(horizontal)">
                                      <p:cBhvr>
                                        <p:cTn id="42" dur="500"/>
                                        <p:tgtEl>
                                          <p:spTgt spid="62"/>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xit" presetSubtype="0" fill="hold" nodeType="clickEffect">
                                  <p:stCondLst>
                                    <p:cond delay="0"/>
                                  </p:stCondLst>
                                  <p:childTnLst>
                                    <p:animEffect transition="out" filter="dissolve">
                                      <p:cBhvr>
                                        <p:cTn id="46" dur="500"/>
                                        <p:tgtEl>
                                          <p:spTgt spid="63"/>
                                        </p:tgtEl>
                                      </p:cBhvr>
                                    </p:animEffect>
                                    <p:set>
                                      <p:cBhvr>
                                        <p:cTn id="47" dur="1" fill="hold">
                                          <p:stCondLst>
                                            <p:cond delay="499"/>
                                          </p:stCondLst>
                                        </p:cTn>
                                        <p:tgtEl>
                                          <p:spTgt spid="63"/>
                                        </p:tgtEl>
                                        <p:attrNameLst>
                                          <p:attrName>style.visibility</p:attrName>
                                        </p:attrNameLst>
                                      </p:cBhvr>
                                      <p:to>
                                        <p:strVal val="hidden"/>
                                      </p:to>
                                    </p:set>
                                  </p:childTnLst>
                                </p:cTn>
                              </p:par>
                            </p:childTnLst>
                          </p:cTn>
                        </p:par>
                      </p:childTnLst>
                    </p:cTn>
                  </p:par>
                  <p:par>
                    <p:cTn id="48" fill="hold">
                      <p:stCondLst>
                        <p:cond delay="indefinite"/>
                      </p:stCondLst>
                      <p:childTnLst>
                        <p:par>
                          <p:cTn id="49" fill="hold">
                            <p:stCondLst>
                              <p:cond delay="0"/>
                            </p:stCondLst>
                            <p:childTnLst>
                              <p:par>
                                <p:cTn id="50" presetID="9" presetClass="exit" presetSubtype="0" fill="hold" nodeType="clickEffect">
                                  <p:stCondLst>
                                    <p:cond delay="0"/>
                                  </p:stCondLst>
                                  <p:childTnLst>
                                    <p:animEffect transition="out" filter="dissolve">
                                      <p:cBhvr>
                                        <p:cTn id="51" dur="500"/>
                                        <p:tgtEl>
                                          <p:spTgt spid="66"/>
                                        </p:tgtEl>
                                      </p:cBhvr>
                                    </p:animEffect>
                                    <p:set>
                                      <p:cBhvr>
                                        <p:cTn id="52" dur="1" fill="hold">
                                          <p:stCondLst>
                                            <p:cond delay="499"/>
                                          </p:stCondLst>
                                        </p:cTn>
                                        <p:tgtEl>
                                          <p:spTgt spid="66"/>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7" presetClass="exit" presetSubtype="4" fill="hold" nodeType="clickEffect">
                                  <p:stCondLst>
                                    <p:cond delay="0"/>
                                  </p:stCondLst>
                                  <p:childTnLst>
                                    <p:anim calcmode="lin" valueType="num">
                                      <p:cBhvr additive="base">
                                        <p:cTn id="56" dur="5000"/>
                                        <p:tgtEl>
                                          <p:spTgt spid="69"/>
                                        </p:tgtEl>
                                        <p:attrNameLst>
                                          <p:attrName>ppt_x</p:attrName>
                                        </p:attrNameLst>
                                      </p:cBhvr>
                                      <p:tavLst>
                                        <p:tav tm="0">
                                          <p:val>
                                            <p:strVal val="ppt_x"/>
                                          </p:val>
                                        </p:tav>
                                        <p:tav tm="100000">
                                          <p:val>
                                            <p:strVal val="ppt_x"/>
                                          </p:val>
                                        </p:tav>
                                      </p:tavLst>
                                    </p:anim>
                                    <p:anim calcmode="lin" valueType="num">
                                      <p:cBhvr additive="base">
                                        <p:cTn id="57" dur="5000"/>
                                        <p:tgtEl>
                                          <p:spTgt spid="69"/>
                                        </p:tgtEl>
                                        <p:attrNameLst>
                                          <p:attrName>ppt_y</p:attrName>
                                        </p:attrNameLst>
                                      </p:cBhvr>
                                      <p:tavLst>
                                        <p:tav tm="0">
                                          <p:val>
                                            <p:strVal val="ppt_y"/>
                                          </p:val>
                                        </p:tav>
                                        <p:tav tm="100000">
                                          <p:val>
                                            <p:strVal val="1+ppt_h/2"/>
                                          </p:val>
                                        </p:tav>
                                      </p:tavLst>
                                    </p:anim>
                                    <p:set>
                                      <p:cBhvr>
                                        <p:cTn id="58" dur="1" fill="hold">
                                          <p:stCondLst>
                                            <p:cond delay="4999"/>
                                          </p:stCondLst>
                                        </p:cTn>
                                        <p:tgtEl>
                                          <p:spTgt spid="69"/>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nodeType="click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dissolve">
                                      <p:cBhvr>
                                        <p:cTn id="63" dur="500"/>
                                        <p:tgtEl>
                                          <p:spTgt spid="38"/>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dissolve">
                                      <p:cBhvr>
                                        <p:cTn id="66" dur="500"/>
                                        <p:tgtEl>
                                          <p:spTgt spid="39"/>
                                        </p:tgtEl>
                                      </p:cBhvr>
                                    </p:animEffect>
                                  </p:childTnLst>
                                </p:cTn>
                              </p:par>
                              <p:par>
                                <p:cTn id="67" presetID="9"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dissolve">
                                      <p:cBhvr>
                                        <p:cTn id="69" dur="500"/>
                                        <p:tgtEl>
                                          <p:spTgt spid="40"/>
                                        </p:tgtEl>
                                      </p:cBhvr>
                                    </p:animEffect>
                                  </p:childTnLst>
                                </p:cTn>
                              </p:par>
                              <p:par>
                                <p:cTn id="70" presetID="9"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dissolve">
                                      <p:cBhvr>
                                        <p:cTn id="72" dur="500"/>
                                        <p:tgtEl>
                                          <p:spTgt spid="41"/>
                                        </p:tgtEl>
                                      </p:cBhvr>
                                    </p:animEffect>
                                  </p:childTnLst>
                                </p:cTn>
                              </p:par>
                              <p:par>
                                <p:cTn id="73" presetID="9"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dissolve">
                                      <p:cBhvr>
                                        <p:cTn id="75" dur="500"/>
                                        <p:tgtEl>
                                          <p:spTgt spid="42"/>
                                        </p:tgtEl>
                                      </p:cBhvr>
                                    </p:animEffect>
                                  </p:childTnLst>
                                </p:cTn>
                              </p:par>
                              <p:par>
                                <p:cTn id="76" presetID="9"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dissolve">
                                      <p:cBhvr>
                                        <p:cTn id="78" dur="500"/>
                                        <p:tgtEl>
                                          <p:spTgt spid="43"/>
                                        </p:tgtEl>
                                      </p:cBhvr>
                                    </p:animEffect>
                                  </p:childTnLst>
                                </p:cTn>
                              </p:par>
                              <p:par>
                                <p:cTn id="79" presetID="9" presetClass="entr" presetSubtype="0" fill="hold" grpId="0" nodeType="withEffect">
                                  <p:stCondLst>
                                    <p:cond delay="0"/>
                                  </p:stCondLst>
                                  <p:childTnLst>
                                    <p:set>
                                      <p:cBhvr>
                                        <p:cTn id="80" dur="1" fill="hold">
                                          <p:stCondLst>
                                            <p:cond delay="0"/>
                                          </p:stCondLst>
                                        </p:cTn>
                                        <p:tgtEl>
                                          <p:spTgt spid="44"/>
                                        </p:tgtEl>
                                        <p:attrNameLst>
                                          <p:attrName>style.visibility</p:attrName>
                                        </p:attrNameLst>
                                      </p:cBhvr>
                                      <p:to>
                                        <p:strVal val="visible"/>
                                      </p:to>
                                    </p:set>
                                    <p:animEffect transition="in" filter="dissolve">
                                      <p:cBhvr>
                                        <p:cTn id="81" dur="500"/>
                                        <p:tgtEl>
                                          <p:spTgt spid="44"/>
                                        </p:tgtEl>
                                      </p:cBhvr>
                                    </p:animEffect>
                                  </p:childTnLst>
                                </p:cTn>
                              </p:par>
                              <p:par>
                                <p:cTn id="82" presetID="9" presetClass="entr" presetSubtype="0" fill="hold" grpId="0" nodeType="withEffect">
                                  <p:stCondLst>
                                    <p:cond delay="0"/>
                                  </p:stCondLst>
                                  <p:childTnLst>
                                    <p:set>
                                      <p:cBhvr>
                                        <p:cTn id="83" dur="1" fill="hold">
                                          <p:stCondLst>
                                            <p:cond delay="0"/>
                                          </p:stCondLst>
                                        </p:cTn>
                                        <p:tgtEl>
                                          <p:spTgt spid="45"/>
                                        </p:tgtEl>
                                        <p:attrNameLst>
                                          <p:attrName>style.visibility</p:attrName>
                                        </p:attrNameLst>
                                      </p:cBhvr>
                                      <p:to>
                                        <p:strVal val="visible"/>
                                      </p:to>
                                    </p:set>
                                    <p:animEffect transition="in" filter="dissolve">
                                      <p:cBhvr>
                                        <p:cTn id="84" dur="500"/>
                                        <p:tgtEl>
                                          <p:spTgt spid="45"/>
                                        </p:tgtEl>
                                      </p:cBhvr>
                                    </p:animEffect>
                                  </p:childTnLst>
                                </p:cTn>
                              </p:par>
                              <p:par>
                                <p:cTn id="85" presetID="3" presetClass="entr" presetSubtype="10" fill="hold" grpId="0" nodeType="withEffect">
                                  <p:stCondLst>
                                    <p:cond delay="0"/>
                                  </p:stCondLst>
                                  <p:childTnLst>
                                    <p:set>
                                      <p:cBhvr>
                                        <p:cTn id="86" dur="1" fill="hold">
                                          <p:stCondLst>
                                            <p:cond delay="0"/>
                                          </p:stCondLst>
                                        </p:cTn>
                                        <p:tgtEl>
                                          <p:spTgt spid="53"/>
                                        </p:tgtEl>
                                        <p:attrNameLst>
                                          <p:attrName>style.visibility</p:attrName>
                                        </p:attrNameLst>
                                      </p:cBhvr>
                                      <p:to>
                                        <p:strVal val="visible"/>
                                      </p:to>
                                    </p:set>
                                    <p:animEffect transition="in" filter="blinds(horizontal)">
                                      <p:cBhvr>
                                        <p:cTn id="87" dur="500"/>
                                        <p:tgtEl>
                                          <p:spTgt spid="53"/>
                                        </p:tgtEl>
                                      </p:cBhvr>
                                    </p:animEffect>
                                  </p:childTnLst>
                                </p:cTn>
                              </p:par>
                              <p:par>
                                <p:cTn id="88" presetID="9" presetClass="entr" presetSubtype="0" fill="hold" grpId="0" nodeType="withEffect">
                                  <p:stCondLst>
                                    <p:cond delay="0"/>
                                  </p:stCondLst>
                                  <p:childTnLst>
                                    <p:set>
                                      <p:cBhvr>
                                        <p:cTn id="89" dur="1" fill="hold">
                                          <p:stCondLst>
                                            <p:cond delay="0"/>
                                          </p:stCondLst>
                                        </p:cTn>
                                        <p:tgtEl>
                                          <p:spTgt spid="47"/>
                                        </p:tgtEl>
                                        <p:attrNameLst>
                                          <p:attrName>style.visibility</p:attrName>
                                        </p:attrNameLst>
                                      </p:cBhvr>
                                      <p:to>
                                        <p:strVal val="visible"/>
                                      </p:to>
                                    </p:set>
                                    <p:animEffect transition="in" filter="dissolve">
                                      <p:cBhvr>
                                        <p:cTn id="90" dur="500"/>
                                        <p:tgtEl>
                                          <p:spTgt spid="47"/>
                                        </p:tgtEl>
                                      </p:cBhvr>
                                    </p:animEffect>
                                  </p:childTnLst>
                                </p:cTn>
                              </p:par>
                              <p:par>
                                <p:cTn id="91" presetID="3" presetClass="entr" presetSubtype="10" fill="hold" grpId="0" nodeType="withEffect">
                                  <p:stCondLst>
                                    <p:cond delay="0"/>
                                  </p:stCondLst>
                                  <p:childTnLst>
                                    <p:set>
                                      <p:cBhvr>
                                        <p:cTn id="92" dur="1" fill="hold">
                                          <p:stCondLst>
                                            <p:cond delay="0"/>
                                          </p:stCondLst>
                                        </p:cTn>
                                        <p:tgtEl>
                                          <p:spTgt spid="55"/>
                                        </p:tgtEl>
                                        <p:attrNameLst>
                                          <p:attrName>style.visibility</p:attrName>
                                        </p:attrNameLst>
                                      </p:cBhvr>
                                      <p:to>
                                        <p:strVal val="visible"/>
                                      </p:to>
                                    </p:set>
                                    <p:animEffect transition="in" filter="blinds(horizontal)">
                                      <p:cBhvr>
                                        <p:cTn id="93" dur="500"/>
                                        <p:tgtEl>
                                          <p:spTgt spid="55"/>
                                        </p:tgtEl>
                                      </p:cBhvr>
                                    </p:animEffect>
                                  </p:childTnLst>
                                </p:cTn>
                              </p:par>
                              <p:par>
                                <p:cTn id="94" presetID="3" presetClass="entr" presetSubtype="10" fill="hold"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blinds(horizontal)">
                                      <p:cBhvr>
                                        <p:cTn id="96" dur="500"/>
                                        <p:tgtEl>
                                          <p:spTgt spid="54"/>
                                        </p:tgtEl>
                                      </p:cBhvr>
                                    </p:animEffect>
                                  </p:childTnLst>
                                </p:cTn>
                              </p:par>
                              <p:par>
                                <p:cTn id="97" presetID="9"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dissolve">
                                      <p:cBhvr>
                                        <p:cTn id="99" dur="500"/>
                                        <p:tgtEl>
                                          <p:spTgt spid="46"/>
                                        </p:tgtEl>
                                      </p:cBhvr>
                                    </p:animEffect>
                                  </p:childTnLst>
                                  <p:subTnLst>
                                    <p:set>
                                      <p:cBhvr override="childStyle">
                                        <p:cTn dur="1" fill="hold" display="0" masterRel="nextClick" afterEffect="1"/>
                                        <p:tgtEl>
                                          <p:spTgt spid="46"/>
                                        </p:tgtEl>
                                        <p:attrNameLst>
                                          <p:attrName>style.visibility</p:attrName>
                                        </p:attrNameLst>
                                      </p:cBhvr>
                                      <p:to>
                                        <p:strVal val="hidden"/>
                                      </p:to>
                                    </p:set>
                                  </p:subTnLst>
                                </p:cTn>
                              </p:par>
                            </p:childTnLst>
                          </p:cTn>
                        </p:par>
                      </p:childTnLst>
                    </p:cTn>
                  </p:par>
                  <p:par>
                    <p:cTn id="100" fill="hold">
                      <p:stCondLst>
                        <p:cond delay="indefinite"/>
                      </p:stCondLst>
                      <p:childTnLst>
                        <p:par>
                          <p:cTn id="101" fill="hold">
                            <p:stCondLst>
                              <p:cond delay="0"/>
                            </p:stCondLst>
                            <p:childTnLst>
                              <p:par>
                                <p:cTn id="102" presetID="3" presetClass="entr" presetSubtype="10" fill="hold" grpId="0" nodeType="clickEffect">
                                  <p:stCondLst>
                                    <p:cond delay="0"/>
                                  </p:stCondLst>
                                  <p:childTnLst>
                                    <p:set>
                                      <p:cBhvr>
                                        <p:cTn id="103" dur="1" fill="hold">
                                          <p:stCondLst>
                                            <p:cond delay="0"/>
                                          </p:stCondLst>
                                        </p:cTn>
                                        <p:tgtEl>
                                          <p:spTgt spid="72"/>
                                        </p:tgtEl>
                                        <p:attrNameLst>
                                          <p:attrName>style.visibility</p:attrName>
                                        </p:attrNameLst>
                                      </p:cBhvr>
                                      <p:to>
                                        <p:strVal val="visible"/>
                                      </p:to>
                                    </p:set>
                                    <p:animEffect transition="in" filter="blinds(horizontal)">
                                      <p:cBhvr>
                                        <p:cTn id="104" dur="500"/>
                                        <p:tgtEl>
                                          <p:spTgt spid="72"/>
                                        </p:tgtEl>
                                      </p:cBhvr>
                                    </p:animEffect>
                                  </p:childTnLst>
                                </p:cTn>
                              </p:par>
                            </p:childTnLst>
                          </p:cTn>
                        </p:par>
                      </p:childTnLst>
                    </p:cTn>
                  </p:par>
                  <p:par>
                    <p:cTn id="105" fill="hold">
                      <p:stCondLst>
                        <p:cond delay="indefinite"/>
                      </p:stCondLst>
                      <p:childTnLst>
                        <p:par>
                          <p:cTn id="106" fill="hold">
                            <p:stCondLst>
                              <p:cond delay="0"/>
                            </p:stCondLst>
                            <p:childTnLst>
                              <p:par>
                                <p:cTn id="107" presetID="3" presetClass="entr" presetSubtype="10" fill="hold" grpId="0" nodeType="clickEffect">
                                  <p:stCondLst>
                                    <p:cond delay="0"/>
                                  </p:stCondLst>
                                  <p:childTnLst>
                                    <p:set>
                                      <p:cBhvr>
                                        <p:cTn id="108" dur="1" fill="hold">
                                          <p:stCondLst>
                                            <p:cond delay="0"/>
                                          </p:stCondLst>
                                        </p:cTn>
                                        <p:tgtEl>
                                          <p:spTgt spid="73">
                                            <p:txEl>
                                              <p:pRg st="0" end="0"/>
                                            </p:txEl>
                                          </p:spTgt>
                                        </p:tgtEl>
                                        <p:attrNameLst>
                                          <p:attrName>style.visibility</p:attrName>
                                        </p:attrNameLst>
                                      </p:cBhvr>
                                      <p:to>
                                        <p:strVal val="visible"/>
                                      </p:to>
                                    </p:set>
                                    <p:animEffect transition="in" filter="blinds(horizontal)">
                                      <p:cBhvr>
                                        <p:cTn id="109" dur="500"/>
                                        <p:tgtEl>
                                          <p:spTgt spid="73">
                                            <p:txEl>
                                              <p:pRg st="0" end="0"/>
                                            </p:txEl>
                                          </p:spTgt>
                                        </p:tgtEl>
                                      </p:cBhvr>
                                    </p:animEffect>
                                  </p:childTnLst>
                                </p:cTn>
                              </p:par>
                              <p:par>
                                <p:cTn id="110" presetID="3" presetClass="entr" presetSubtype="10" fill="hold" grpId="0" nodeType="withEffect">
                                  <p:stCondLst>
                                    <p:cond delay="0"/>
                                  </p:stCondLst>
                                  <p:childTnLst>
                                    <p:set>
                                      <p:cBhvr>
                                        <p:cTn id="111" dur="1" fill="hold">
                                          <p:stCondLst>
                                            <p:cond delay="0"/>
                                          </p:stCondLst>
                                        </p:cTn>
                                        <p:tgtEl>
                                          <p:spTgt spid="73">
                                            <p:txEl>
                                              <p:pRg st="1" end="1"/>
                                            </p:txEl>
                                          </p:spTgt>
                                        </p:tgtEl>
                                        <p:attrNameLst>
                                          <p:attrName>style.visibility</p:attrName>
                                        </p:attrNameLst>
                                      </p:cBhvr>
                                      <p:to>
                                        <p:strVal val="visible"/>
                                      </p:to>
                                    </p:set>
                                    <p:animEffect transition="in" filter="blinds(horizontal)">
                                      <p:cBhvr>
                                        <p:cTn id="112" dur="500"/>
                                        <p:tgtEl>
                                          <p:spTgt spid="73">
                                            <p:txEl>
                                              <p:pRg st="1" end="1"/>
                                            </p:txEl>
                                          </p:spTgt>
                                        </p:tgtEl>
                                      </p:cBhvr>
                                    </p:animEffect>
                                  </p:childTnLst>
                                </p:cTn>
                              </p:par>
                            </p:childTnLst>
                          </p:cTn>
                        </p:par>
                      </p:childTnLst>
                    </p:cTn>
                  </p:par>
                  <p:par>
                    <p:cTn id="113" fill="hold">
                      <p:stCondLst>
                        <p:cond delay="indefinite"/>
                      </p:stCondLst>
                      <p:childTnLst>
                        <p:par>
                          <p:cTn id="114" fill="hold">
                            <p:stCondLst>
                              <p:cond delay="0"/>
                            </p:stCondLst>
                            <p:childTnLst>
                              <p:par>
                                <p:cTn id="115" presetID="15" presetClass="entr" presetSubtype="0" fill="hold" grpId="0" nodeType="clickEffect">
                                  <p:stCondLst>
                                    <p:cond delay="0"/>
                                  </p:stCondLst>
                                  <p:childTnLst>
                                    <p:set>
                                      <p:cBhvr>
                                        <p:cTn id="116" dur="1" fill="hold">
                                          <p:stCondLst>
                                            <p:cond delay="0"/>
                                          </p:stCondLst>
                                        </p:cTn>
                                        <p:tgtEl>
                                          <p:spTgt spid="56"/>
                                        </p:tgtEl>
                                        <p:attrNameLst>
                                          <p:attrName>style.visibility</p:attrName>
                                        </p:attrNameLst>
                                      </p:cBhvr>
                                      <p:to>
                                        <p:strVal val="visible"/>
                                      </p:to>
                                    </p:set>
                                    <p:anim calcmode="lin" valueType="num">
                                      <p:cBhvr>
                                        <p:cTn id="117" dur="1000" fill="hold"/>
                                        <p:tgtEl>
                                          <p:spTgt spid="56"/>
                                        </p:tgtEl>
                                        <p:attrNameLst>
                                          <p:attrName>ppt_w</p:attrName>
                                        </p:attrNameLst>
                                      </p:cBhvr>
                                      <p:tavLst>
                                        <p:tav tm="0">
                                          <p:val>
                                            <p:fltVal val="0"/>
                                          </p:val>
                                        </p:tav>
                                        <p:tav tm="100000">
                                          <p:val>
                                            <p:strVal val="#ppt_w"/>
                                          </p:val>
                                        </p:tav>
                                      </p:tavLst>
                                    </p:anim>
                                    <p:anim calcmode="lin" valueType="num">
                                      <p:cBhvr>
                                        <p:cTn id="118" dur="1000" fill="hold"/>
                                        <p:tgtEl>
                                          <p:spTgt spid="56"/>
                                        </p:tgtEl>
                                        <p:attrNameLst>
                                          <p:attrName>ppt_h</p:attrName>
                                        </p:attrNameLst>
                                      </p:cBhvr>
                                      <p:tavLst>
                                        <p:tav tm="0">
                                          <p:val>
                                            <p:fltVal val="0"/>
                                          </p:val>
                                        </p:tav>
                                        <p:tav tm="100000">
                                          <p:val>
                                            <p:strVal val="#ppt_h"/>
                                          </p:val>
                                        </p:tav>
                                      </p:tavLst>
                                    </p:anim>
                                    <p:anim calcmode="lin" valueType="num">
                                      <p:cBhvr>
                                        <p:cTn id="119" dur="1000" fill="hold"/>
                                        <p:tgtEl>
                                          <p:spTgt spid="56"/>
                                        </p:tgtEl>
                                        <p:attrNameLst>
                                          <p:attrName>ppt_x</p:attrName>
                                        </p:attrNameLst>
                                      </p:cBhvr>
                                      <p:tavLst>
                                        <p:tav tm="0" fmla="#ppt_x+(cos(-2*pi*(1-$))*-#ppt_x-sin(-2*pi*(1-$))*(1-#ppt_y))*(1-$)">
                                          <p:val>
                                            <p:fltVal val="0"/>
                                          </p:val>
                                        </p:tav>
                                        <p:tav tm="100000">
                                          <p:val>
                                            <p:fltVal val="1"/>
                                          </p:val>
                                        </p:tav>
                                      </p:tavLst>
                                    </p:anim>
                                    <p:anim calcmode="lin" valueType="num">
                                      <p:cBhvr>
                                        <p:cTn id="120" dur="1000" fill="hold"/>
                                        <p:tgtEl>
                                          <p:spTgt spid="56"/>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21" fill="hold">
                      <p:stCondLst>
                        <p:cond delay="indefinite"/>
                      </p:stCondLst>
                      <p:childTnLst>
                        <p:par>
                          <p:cTn id="122" fill="hold">
                            <p:stCondLst>
                              <p:cond delay="0"/>
                            </p:stCondLst>
                            <p:childTnLst>
                              <p:par>
                                <p:cTn id="123" presetID="3" presetClass="entr" presetSubtype="10" fill="hold" nodeType="clickEffect">
                                  <p:stCondLst>
                                    <p:cond delay="0"/>
                                  </p:stCondLst>
                                  <p:childTnLst>
                                    <p:set>
                                      <p:cBhvr>
                                        <p:cTn id="124" dur="1" fill="hold">
                                          <p:stCondLst>
                                            <p:cond delay="0"/>
                                          </p:stCondLst>
                                        </p:cTn>
                                        <p:tgtEl>
                                          <p:spTgt spid="48"/>
                                        </p:tgtEl>
                                        <p:attrNameLst>
                                          <p:attrName>style.visibility</p:attrName>
                                        </p:attrNameLst>
                                      </p:cBhvr>
                                      <p:to>
                                        <p:strVal val="visible"/>
                                      </p:to>
                                    </p:set>
                                    <p:animEffect transition="in" filter="blinds(horizontal)">
                                      <p:cBhvr>
                                        <p:cTn id="125" dur="500"/>
                                        <p:tgtEl>
                                          <p:spTgt spid="48"/>
                                        </p:tgtEl>
                                      </p:cBhvr>
                                    </p:animEffect>
                                  </p:childTnLst>
                                </p:cTn>
                              </p:par>
                              <p:par>
                                <p:cTn id="126" presetID="42" presetClass="path" presetSubtype="0" accel="50000" decel="50000" fill="hold" nodeType="withEffect">
                                  <p:stCondLst>
                                    <p:cond delay="0"/>
                                  </p:stCondLst>
                                  <p:childTnLst>
                                    <p:animMotion origin="layout" path="M -0.00122 -0.34027 L -0.00122 -0.09907 " pathEditMode="relative" rAng="0" ptsTypes="AA">
                                      <p:cBhvr>
                                        <p:cTn id="127" dur="2000" fill="hold"/>
                                        <p:tgtEl>
                                          <p:spTgt spid="48"/>
                                        </p:tgtEl>
                                        <p:attrNameLst>
                                          <p:attrName>ppt_x</p:attrName>
                                          <p:attrName>ppt_y</p:attrName>
                                        </p:attrNameLst>
                                      </p:cBhvr>
                                      <p:rCtr x="0" y="12060"/>
                                    </p:animMotion>
                                  </p:childTnLst>
                                </p:cTn>
                              </p:par>
                            </p:childTnLst>
                          </p:cTn>
                        </p:par>
                      </p:childTnLst>
                    </p:cTn>
                  </p:par>
                  <p:par>
                    <p:cTn id="128" fill="hold">
                      <p:stCondLst>
                        <p:cond delay="indefinite"/>
                      </p:stCondLst>
                      <p:childTnLst>
                        <p:par>
                          <p:cTn id="129" fill="hold">
                            <p:stCondLst>
                              <p:cond delay="0"/>
                            </p:stCondLst>
                            <p:childTnLst>
                              <p:par>
                                <p:cTn id="130" presetID="3" presetClass="entr" presetSubtype="10" fill="hold" grpId="0" nodeType="clickEffect">
                                  <p:stCondLst>
                                    <p:cond delay="0"/>
                                  </p:stCondLst>
                                  <p:childTnLst>
                                    <p:set>
                                      <p:cBhvr>
                                        <p:cTn id="131" dur="1" fill="hold">
                                          <p:stCondLst>
                                            <p:cond delay="0"/>
                                          </p:stCondLst>
                                        </p:cTn>
                                        <p:tgtEl>
                                          <p:spTgt spid="51"/>
                                        </p:tgtEl>
                                        <p:attrNameLst>
                                          <p:attrName>style.visibility</p:attrName>
                                        </p:attrNameLst>
                                      </p:cBhvr>
                                      <p:to>
                                        <p:strVal val="visible"/>
                                      </p:to>
                                    </p:set>
                                    <p:animEffect transition="in" filter="blinds(horizontal)">
                                      <p:cBhvr>
                                        <p:cTn id="132" dur="500"/>
                                        <p:tgtEl>
                                          <p:spTgt spid="51"/>
                                        </p:tgtEl>
                                      </p:cBhvr>
                                    </p:animEffect>
                                  </p:childTnLst>
                                </p:cTn>
                              </p:par>
                              <p:par>
                                <p:cTn id="133" presetID="3" presetClass="entr" presetSubtype="10" fill="hold" grpId="0" nodeType="withEffect">
                                  <p:stCondLst>
                                    <p:cond delay="0"/>
                                  </p:stCondLst>
                                  <p:childTnLst>
                                    <p:set>
                                      <p:cBhvr>
                                        <p:cTn id="134" dur="1" fill="hold">
                                          <p:stCondLst>
                                            <p:cond delay="0"/>
                                          </p:stCondLst>
                                        </p:cTn>
                                        <p:tgtEl>
                                          <p:spTgt spid="52"/>
                                        </p:tgtEl>
                                        <p:attrNameLst>
                                          <p:attrName>style.visibility</p:attrName>
                                        </p:attrNameLst>
                                      </p:cBhvr>
                                      <p:to>
                                        <p:strVal val="visible"/>
                                      </p:to>
                                    </p:set>
                                    <p:animEffect transition="in" filter="blinds(horizontal)">
                                      <p:cBhvr>
                                        <p:cTn id="135" dur="500"/>
                                        <p:tgtEl>
                                          <p:spTgt spid="52"/>
                                        </p:tgtEl>
                                      </p:cBhvr>
                                    </p:animEffect>
                                  </p:childTnLst>
                                </p:cTn>
                              </p:par>
                            </p:childTnLst>
                          </p:cTn>
                        </p:par>
                      </p:childTnLst>
                    </p:cTn>
                  </p:par>
                  <p:par>
                    <p:cTn id="136" fill="hold">
                      <p:stCondLst>
                        <p:cond delay="indefinite"/>
                      </p:stCondLst>
                      <p:childTnLst>
                        <p:par>
                          <p:cTn id="137" fill="hold">
                            <p:stCondLst>
                              <p:cond delay="0"/>
                            </p:stCondLst>
                            <p:childTnLst>
                              <p:par>
                                <p:cTn id="138" presetID="3" presetClass="entr" presetSubtype="10" fill="hold" grpId="0" nodeType="clickEffect">
                                  <p:stCondLst>
                                    <p:cond delay="0"/>
                                  </p:stCondLst>
                                  <p:childTnLst>
                                    <p:set>
                                      <p:cBhvr>
                                        <p:cTn id="139" dur="1" fill="hold">
                                          <p:stCondLst>
                                            <p:cond delay="0"/>
                                          </p:stCondLst>
                                        </p:cTn>
                                        <p:tgtEl>
                                          <p:spTgt spid="73">
                                            <p:txEl>
                                              <p:pRg st="2" end="2"/>
                                            </p:txEl>
                                          </p:spTgt>
                                        </p:tgtEl>
                                        <p:attrNameLst>
                                          <p:attrName>style.visibility</p:attrName>
                                        </p:attrNameLst>
                                      </p:cBhvr>
                                      <p:to>
                                        <p:strVal val="visible"/>
                                      </p:to>
                                    </p:set>
                                    <p:animEffect transition="in" filter="blinds(horizontal)">
                                      <p:cBhvr>
                                        <p:cTn id="140" dur="500"/>
                                        <p:tgtEl>
                                          <p:spTgt spid="73">
                                            <p:txEl>
                                              <p:pRg st="2" end="2"/>
                                            </p:txEl>
                                          </p:spTgt>
                                        </p:tgtEl>
                                      </p:cBhvr>
                                    </p:animEffect>
                                  </p:childTnLst>
                                </p:cTn>
                              </p:par>
                              <p:par>
                                <p:cTn id="141" presetID="3" presetClass="entr" presetSubtype="10" fill="hold" grpId="0" nodeType="withEffect">
                                  <p:stCondLst>
                                    <p:cond delay="0"/>
                                  </p:stCondLst>
                                  <p:childTnLst>
                                    <p:set>
                                      <p:cBhvr>
                                        <p:cTn id="142" dur="1" fill="hold">
                                          <p:stCondLst>
                                            <p:cond delay="0"/>
                                          </p:stCondLst>
                                        </p:cTn>
                                        <p:tgtEl>
                                          <p:spTgt spid="73">
                                            <p:txEl>
                                              <p:pRg st="3" end="3"/>
                                            </p:txEl>
                                          </p:spTgt>
                                        </p:tgtEl>
                                        <p:attrNameLst>
                                          <p:attrName>style.visibility</p:attrName>
                                        </p:attrNameLst>
                                      </p:cBhvr>
                                      <p:to>
                                        <p:strVal val="visible"/>
                                      </p:to>
                                    </p:set>
                                    <p:animEffect transition="in" filter="blinds(horizontal)">
                                      <p:cBhvr>
                                        <p:cTn id="143" dur="500"/>
                                        <p:tgtEl>
                                          <p:spTgt spid="73">
                                            <p:txEl>
                                              <p:pRg st="3" end="3"/>
                                            </p:txEl>
                                          </p:spTgt>
                                        </p:tgtEl>
                                      </p:cBhvr>
                                    </p:animEffect>
                                  </p:childTnLst>
                                </p:cTn>
                              </p:par>
                              <p:par>
                                <p:cTn id="144" presetID="3" presetClass="entr" presetSubtype="10" fill="hold" grpId="0" nodeType="withEffect">
                                  <p:stCondLst>
                                    <p:cond delay="0"/>
                                  </p:stCondLst>
                                  <p:childTnLst>
                                    <p:set>
                                      <p:cBhvr>
                                        <p:cTn id="145" dur="1" fill="hold">
                                          <p:stCondLst>
                                            <p:cond delay="0"/>
                                          </p:stCondLst>
                                        </p:cTn>
                                        <p:tgtEl>
                                          <p:spTgt spid="73">
                                            <p:txEl>
                                              <p:pRg st="4" end="4"/>
                                            </p:txEl>
                                          </p:spTgt>
                                        </p:tgtEl>
                                        <p:attrNameLst>
                                          <p:attrName>style.visibility</p:attrName>
                                        </p:attrNameLst>
                                      </p:cBhvr>
                                      <p:to>
                                        <p:strVal val="visible"/>
                                      </p:to>
                                    </p:set>
                                    <p:animEffect transition="in" filter="blinds(horizontal)">
                                      <p:cBhvr>
                                        <p:cTn id="146" dur="500"/>
                                        <p:tgtEl>
                                          <p:spTgt spid="73">
                                            <p:txEl>
                                              <p:pRg st="4" end="4"/>
                                            </p:txEl>
                                          </p:spTgt>
                                        </p:tgtEl>
                                      </p:cBhvr>
                                    </p:animEffect>
                                  </p:childTnLst>
                                </p:cTn>
                              </p:par>
                              <p:par>
                                <p:cTn id="147" presetID="3" presetClass="entr" presetSubtype="10" fill="hold" grpId="0" nodeType="withEffect">
                                  <p:stCondLst>
                                    <p:cond delay="0"/>
                                  </p:stCondLst>
                                  <p:childTnLst>
                                    <p:set>
                                      <p:cBhvr>
                                        <p:cTn id="148" dur="1" fill="hold">
                                          <p:stCondLst>
                                            <p:cond delay="0"/>
                                          </p:stCondLst>
                                        </p:cTn>
                                        <p:tgtEl>
                                          <p:spTgt spid="73">
                                            <p:txEl>
                                              <p:pRg st="5" end="5"/>
                                            </p:txEl>
                                          </p:spTgt>
                                        </p:tgtEl>
                                        <p:attrNameLst>
                                          <p:attrName>style.visibility</p:attrName>
                                        </p:attrNameLst>
                                      </p:cBhvr>
                                      <p:to>
                                        <p:strVal val="visible"/>
                                      </p:to>
                                    </p:set>
                                    <p:animEffect transition="in" filter="blinds(horizontal)">
                                      <p:cBhvr>
                                        <p:cTn id="149" dur="500"/>
                                        <p:tgtEl>
                                          <p:spTgt spid="73">
                                            <p:txEl>
                                              <p:pRg st="5" end="5"/>
                                            </p:txEl>
                                          </p:spTgt>
                                        </p:tgtEl>
                                      </p:cBhvr>
                                    </p:animEffect>
                                  </p:childTnLst>
                                </p:cTn>
                              </p:par>
                              <p:par>
                                <p:cTn id="150" presetID="3" presetClass="entr" presetSubtype="10" fill="hold" grpId="0" nodeType="withEffect">
                                  <p:stCondLst>
                                    <p:cond delay="0"/>
                                  </p:stCondLst>
                                  <p:childTnLst>
                                    <p:set>
                                      <p:cBhvr>
                                        <p:cTn id="151" dur="1" fill="hold">
                                          <p:stCondLst>
                                            <p:cond delay="0"/>
                                          </p:stCondLst>
                                        </p:cTn>
                                        <p:tgtEl>
                                          <p:spTgt spid="73">
                                            <p:txEl>
                                              <p:pRg st="6" end="6"/>
                                            </p:txEl>
                                          </p:spTgt>
                                        </p:tgtEl>
                                        <p:attrNameLst>
                                          <p:attrName>style.visibility</p:attrName>
                                        </p:attrNameLst>
                                      </p:cBhvr>
                                      <p:to>
                                        <p:strVal val="visible"/>
                                      </p:to>
                                    </p:set>
                                    <p:animEffect transition="in" filter="blinds(horizontal)">
                                      <p:cBhvr>
                                        <p:cTn id="152" dur="500"/>
                                        <p:tgtEl>
                                          <p:spTgt spid="7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40" grpId="0"/>
      <p:bldP spid="41" grpId="0"/>
      <p:bldP spid="42" grpId="0"/>
      <p:bldP spid="43" grpId="0"/>
      <p:bldP spid="44" grpId="0"/>
      <p:bldP spid="45" grpId="0"/>
      <p:bldP spid="46" grpId="0"/>
      <p:bldP spid="47" grpId="0" animBg="1"/>
      <p:bldP spid="51" grpId="0" animBg="1"/>
      <p:bldP spid="52" grpId="0"/>
      <p:bldP spid="53" grpId="0" animBg="1"/>
      <p:bldP spid="55" grpId="0"/>
      <p:bldP spid="56" grpId="0"/>
      <p:bldP spid="58" grpId="0" animBg="1"/>
      <p:bldP spid="59" grpId="0" animBg="1"/>
      <p:bldP spid="61" grpId="0" animBg="1"/>
      <p:bldP spid="62" grpId="0" animBg="1"/>
      <p:bldP spid="62" grpId="1" animBg="1"/>
      <p:bldP spid="72" grpId="0" animBg="1"/>
      <p:bldP spid="73"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a:extLst>
              <a:ext uri="{FF2B5EF4-FFF2-40B4-BE49-F238E27FC236}">
                <a16:creationId xmlns:a16="http://schemas.microsoft.com/office/drawing/2014/main" id="{EEB7863E-C2E2-954A-8423-3B62E41DF843}"/>
              </a:ext>
            </a:extLst>
          </p:cNvPr>
          <p:cNvSpPr>
            <a:spLocks noGrp="1" noChangeArrowheads="1"/>
          </p:cNvSpPr>
          <p:nvPr>
            <p:ph type="title"/>
          </p:nvPr>
        </p:nvSpPr>
        <p:spPr/>
        <p:txBody>
          <a:bodyPr/>
          <a:lstStyle/>
          <a:p>
            <a:pPr eaLnBrk="1" hangingPunct="1"/>
            <a:r>
              <a:rPr lang="zh-CN" altLang="en-US" sz="2800" dirty="0">
                <a:solidFill>
                  <a:srgbClr val="FF0000"/>
                </a:solidFill>
                <a:latin typeface="宋体" panose="02010600030101010101" pitchFamily="2" charset="-122"/>
              </a:rPr>
              <a:t>  可变分区存储管理</a:t>
            </a:r>
          </a:p>
        </p:txBody>
      </p:sp>
      <p:sp>
        <p:nvSpPr>
          <p:cNvPr id="37891" name="Rectangle 3">
            <a:extLst>
              <a:ext uri="{FF2B5EF4-FFF2-40B4-BE49-F238E27FC236}">
                <a16:creationId xmlns:a16="http://schemas.microsoft.com/office/drawing/2014/main" id="{31177452-104B-D94A-BC03-D8A2110F3136}"/>
              </a:ext>
            </a:extLst>
          </p:cNvPr>
          <p:cNvSpPr>
            <a:spLocks noGrp="1" noChangeArrowheads="1"/>
          </p:cNvSpPr>
          <p:nvPr>
            <p:ph type="body" idx="1"/>
          </p:nvPr>
        </p:nvSpPr>
        <p:spPr>
          <a:xfrm>
            <a:off x="468313" y="1268413"/>
            <a:ext cx="8429625" cy="5221287"/>
          </a:xfrm>
        </p:spPr>
        <p:txBody>
          <a:bodyPr/>
          <a:lstStyle/>
          <a:p>
            <a:pPr marL="0" indent="0" algn="just" eaLnBrk="1" hangingPunct="1">
              <a:lnSpc>
                <a:spcPts val="3500"/>
              </a:lnSpc>
              <a:spcBef>
                <a:spcPct val="0"/>
              </a:spcBef>
              <a:buFont typeface="Wingdings" pitchFamily="2" charset="2"/>
              <a:buNone/>
            </a:pPr>
            <a:r>
              <a:rPr lang="zh-CN" altLang="en-US" sz="2000">
                <a:solidFill>
                  <a:srgbClr val="FF0000"/>
                </a:solidFill>
                <a:effectLst/>
                <a:latin typeface="宋体" panose="02010600030101010101" pitchFamily="2" charset="-122"/>
              </a:rPr>
              <a:t>（</a:t>
            </a:r>
            <a:r>
              <a:rPr lang="en-US" altLang="zh-CN" sz="2000">
                <a:solidFill>
                  <a:srgbClr val="FF0000"/>
                </a:solidFill>
                <a:effectLst/>
                <a:latin typeface="宋体" panose="02010600030101010101" pitchFamily="2" charset="-122"/>
              </a:rPr>
              <a:t>2</a:t>
            </a:r>
            <a:r>
              <a:rPr lang="zh-CN" altLang="en-US" sz="2000">
                <a:solidFill>
                  <a:srgbClr val="FF0000"/>
                </a:solidFill>
                <a:effectLst/>
                <a:latin typeface="宋体" panose="02010600030101010101" pitchFamily="2" charset="-122"/>
              </a:rPr>
              <a:t>）最佳适应算法</a:t>
            </a:r>
          </a:p>
          <a:p>
            <a:pPr marL="0" indent="0" algn="just" eaLnBrk="1" hangingPunct="1">
              <a:lnSpc>
                <a:spcPts val="3500"/>
              </a:lnSpc>
              <a:spcBef>
                <a:spcPct val="0"/>
              </a:spcBef>
              <a:buFont typeface="Wingdings" pitchFamily="2" charset="2"/>
              <a:buNone/>
            </a:pPr>
            <a:r>
              <a:rPr lang="zh-CN" altLang="zh-CN" sz="2000">
                <a:solidFill>
                  <a:schemeClr val="tx1"/>
                </a:solidFill>
                <a:effectLst/>
                <a:latin typeface="宋体" panose="02010600030101010101" pitchFamily="2" charset="-122"/>
              </a:rPr>
              <a:t>要求</a:t>
            </a:r>
            <a:r>
              <a:rPr lang="zh-CN" altLang="zh-CN" sz="2000">
                <a:solidFill>
                  <a:srgbClr val="0000FF"/>
                </a:solidFill>
                <a:effectLst>
                  <a:outerShdw blurRad="38100" dist="38100" dir="2700000" algn="tl">
                    <a:srgbClr val="FFFFFF"/>
                  </a:outerShdw>
                </a:effectLst>
              </a:rPr>
              <a:t>空闲分区按分区大小递增的次序排列</a:t>
            </a:r>
            <a:r>
              <a:rPr lang="zh-CN" altLang="zh-CN" sz="2000">
                <a:solidFill>
                  <a:schemeClr val="tx1"/>
                </a:solidFill>
                <a:effectLst/>
                <a:latin typeface="宋体" panose="02010600030101010101" pitchFamily="2" charset="-122"/>
              </a:rPr>
              <a:t>在空闲分区链上。最佳适应算法在为用户程序分配内存空闲分区时，从空闲分区链链首的最小空闲分区开始查找，找到的第一个大小满足程序需求的空闲分区就是最佳空闲分区。该分区能满足程序的存储需求，并且在分配后剩余的空闲空间最小（因浪费最小故称为最佳）。剩余的小空闲分区仍按分区的大小插入空闲分区链上，同时修改该空闲分区在空闲分区表中的起始地址和大小。</a:t>
            </a:r>
            <a:endParaRPr lang="en-US" altLang="zh-CN" sz="2000">
              <a:solidFill>
                <a:schemeClr val="tx1"/>
              </a:solidFill>
              <a:effectLst/>
              <a:latin typeface="宋体" panose="02010600030101010101" pitchFamily="2" charset="-122"/>
            </a:endParaRPr>
          </a:p>
          <a:p>
            <a:pPr marL="0" indent="0" algn="just" eaLnBrk="1" hangingPunct="1">
              <a:lnSpc>
                <a:spcPts val="3800"/>
              </a:lnSpc>
              <a:spcBef>
                <a:spcPct val="0"/>
              </a:spcBef>
              <a:buFont typeface="Wingdings" pitchFamily="2" charset="2"/>
              <a:buNone/>
            </a:pPr>
            <a:r>
              <a:rPr lang="zh-CN" altLang="en-US" sz="2000">
                <a:solidFill>
                  <a:srgbClr val="FF0000"/>
                </a:solidFill>
                <a:effectLst/>
                <a:latin typeface="宋体" panose="02010600030101010101" pitchFamily="2" charset="-122"/>
              </a:rPr>
              <a:t>优点：</a:t>
            </a:r>
            <a:r>
              <a:rPr lang="zh-CN" altLang="en-US" sz="2000">
                <a:solidFill>
                  <a:schemeClr val="tx1"/>
                </a:solidFill>
                <a:effectLst/>
                <a:latin typeface="宋体" panose="02010600030101010101" pitchFamily="2" charset="-122"/>
              </a:rPr>
              <a:t>保留了内存中的大空闲区，当大程序到来时有足够大的空闲区可以为其分配。</a:t>
            </a:r>
            <a:endParaRPr lang="en-US" altLang="zh-CN" sz="2000">
              <a:solidFill>
                <a:schemeClr val="tx1"/>
              </a:solidFill>
              <a:effectLst/>
              <a:latin typeface="宋体" panose="02010600030101010101" pitchFamily="2" charset="-122"/>
            </a:endParaRPr>
          </a:p>
          <a:p>
            <a:pPr marL="0" indent="0" algn="just" eaLnBrk="1" hangingPunct="1">
              <a:lnSpc>
                <a:spcPts val="3500"/>
              </a:lnSpc>
              <a:spcBef>
                <a:spcPct val="0"/>
              </a:spcBef>
              <a:buFont typeface="Wingdings" pitchFamily="2" charset="2"/>
              <a:buNone/>
            </a:pPr>
            <a:r>
              <a:rPr lang="zh-CN" altLang="en-US" sz="2000">
                <a:solidFill>
                  <a:srgbClr val="0000FF"/>
                </a:solidFill>
                <a:effectLst>
                  <a:outerShdw blurRad="38100" dist="38100" dir="2700000" algn="tl">
                    <a:srgbClr val="FFFFFF"/>
                  </a:outerShdw>
                </a:effectLst>
              </a:rPr>
              <a:t>在回收内存区时，为了将回收的内存区与相邻的空闲分区合并成一个空闲分区，可能要查遍整个空闲分区链。</a:t>
            </a:r>
            <a:endParaRPr lang="zh-CN" altLang="en-US" sz="2000">
              <a:solidFill>
                <a:srgbClr val="0000FF"/>
              </a:solidFill>
              <a:effectLst/>
              <a:latin typeface="宋体" panose="02010600030101010101" pitchFamily="2" charset="-122"/>
            </a:endParaRP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内容占位符 2">
            <a:extLst>
              <a:ext uri="{FF2B5EF4-FFF2-40B4-BE49-F238E27FC236}">
                <a16:creationId xmlns:a16="http://schemas.microsoft.com/office/drawing/2014/main" id="{D09B7229-4350-A642-BC06-4647D943110D}"/>
              </a:ext>
            </a:extLst>
          </p:cNvPr>
          <p:cNvSpPr txBox="1">
            <a:spLocks/>
          </p:cNvSpPr>
          <p:nvPr/>
        </p:nvSpPr>
        <p:spPr bwMode="auto">
          <a:xfrm>
            <a:off x="827584" y="1412776"/>
            <a:ext cx="5154213" cy="4339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1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rPr>
              <a:t>最佳（最优）适应算法</a:t>
            </a:r>
            <a:endParaRPr kumimoji="0" lang="en-US" altLang="zh-CN" sz="21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Wingdings" pitchFamily="2" charset="2"/>
              <a:buChar char="l"/>
              <a:tabLst/>
              <a:defRPr/>
            </a:pPr>
            <a:r>
              <a:rPr kumimoji="0" lang="zh-CN" altLang="en-US" sz="2800" b="1" i="0" u="none" strike="noStrike" kern="1200" cap="none" spc="0" normalizeH="0" baseline="0" noProof="0">
                <a:ln>
                  <a:noFill/>
                </a:ln>
                <a:solidFill>
                  <a:srgbClr val="000000"/>
                </a:solidFill>
                <a:effectLst/>
                <a:uLnTx/>
                <a:uFillTx/>
                <a:latin typeface="Arial" panose="020B0604020202020204" pitchFamily="34" charset="0"/>
                <a:ea typeface="幼圆" pitchFamily="49" charset="-122"/>
                <a:cs typeface="+mn-cs"/>
              </a:rPr>
              <a:t>每次为作业分配内存时，总是把既能满足要求、</a:t>
            </a:r>
            <a:r>
              <a:rPr kumimoji="0" lang="zh-CN" altLang="en-US" sz="2800" b="1" i="0" u="none" strike="noStrike" kern="1200" cap="none" spc="0" normalizeH="0" baseline="0" noProof="0">
                <a:ln>
                  <a:noFill/>
                </a:ln>
                <a:solidFill>
                  <a:srgbClr val="000000"/>
                </a:solidFill>
                <a:effectLst/>
                <a:uLnTx/>
                <a:uFillTx/>
                <a:latin typeface="Calibri"/>
                <a:ea typeface="幼圆" pitchFamily="49" charset="-122"/>
                <a:cs typeface="+mn-cs"/>
              </a:rPr>
              <a:t>又是最小的空闲分区分配给作业，避免“大材小用”。</a:t>
            </a:r>
            <a:endParaRPr kumimoji="0" lang="en-US" altLang="zh-CN" sz="2800" b="1" i="0" u="none" strike="noStrike" kern="1200" cap="none" spc="0" normalizeH="0" baseline="0" noProof="0">
              <a:ln>
                <a:noFill/>
              </a:ln>
              <a:solidFill>
                <a:srgbClr val="000000"/>
              </a:solidFill>
              <a:effectLst/>
              <a:uLnTx/>
              <a:uFillTx/>
              <a:latin typeface="Calibri"/>
              <a:ea typeface="幼圆" pitchFamily="49" charset="-122"/>
              <a:cs typeface="+mn-cs"/>
            </a:endParaRPr>
          </a:p>
          <a:p>
            <a:pPr marL="342900" marR="0" lvl="0" indent="-342900" algn="l" defTabSz="914400" rtl="0" eaLnBrk="0" fontAlgn="base" latinLnBrk="0" hangingPunct="0">
              <a:lnSpc>
                <a:spcPct val="100000"/>
              </a:lnSpc>
              <a:spcBef>
                <a:spcPct val="20000"/>
              </a:spcBef>
              <a:spcAft>
                <a:spcPct val="0"/>
              </a:spcAft>
              <a:buClr>
                <a:srgbClr val="0000FF"/>
              </a:buClr>
              <a:buSzPct val="50000"/>
              <a:buFont typeface="Wingdings" pitchFamily="2" charset="2"/>
              <a:buChar char="n"/>
              <a:tabLst/>
              <a:defRPr/>
            </a:pPr>
            <a:r>
              <a:rPr kumimoji="0" lang="zh-CN" altLang="en-US" sz="2100" b="1" i="0" u="none" strike="noStrike" kern="1200" cap="none" spc="0" normalizeH="0" baseline="0" noProof="0">
                <a:ln>
                  <a:noFill/>
                </a:ln>
                <a:solidFill>
                  <a:srgbClr val="0000FF"/>
                </a:solidFill>
                <a:effectLst/>
                <a:uLnTx/>
                <a:uFillTx/>
                <a:latin typeface="Calibri"/>
                <a:ea typeface="幼圆" pitchFamily="49" charset="-122"/>
                <a:cs typeface="+mn-cs"/>
              </a:rPr>
              <a:t>特点</a:t>
            </a:r>
            <a:endParaRPr kumimoji="0" lang="en-US" altLang="zh-CN" sz="2100" b="1" i="0" u="none" strike="noStrike" kern="1200" cap="none" spc="0" normalizeH="0" baseline="0" noProof="0">
              <a:ln>
                <a:noFill/>
              </a:ln>
              <a:solidFill>
                <a:srgbClr val="0000FF"/>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Wingdings" pitchFamily="2" charset="2"/>
              <a:buChar char="l"/>
              <a:tabLst/>
              <a:defRPr/>
            </a:pPr>
            <a:r>
              <a:rPr kumimoji="0" lang="zh-CN" altLang="en-US" sz="2800" b="1" i="0" u="none" strike="noStrike" kern="1200" cap="none" spc="0" normalizeH="0" baseline="0" noProof="0">
                <a:ln>
                  <a:noFill/>
                </a:ln>
                <a:solidFill>
                  <a:srgbClr val="000000"/>
                </a:solidFill>
                <a:effectLst/>
                <a:uLnTx/>
                <a:uFillTx/>
                <a:latin typeface="Calibri"/>
                <a:ea typeface="幼圆" pitchFamily="49" charset="-122"/>
                <a:cs typeface="+mn-cs"/>
              </a:rPr>
              <a:t> 所有的空闲区按其大小以递增的顺序形成一空闲区链</a:t>
            </a:r>
            <a:endParaRPr kumimoji="0" lang="en-US" altLang="zh-CN" sz="2800" b="1" i="0" u="none" strike="noStrike" kern="1200" cap="none" spc="0" normalizeH="0" baseline="0" noProof="0">
              <a:ln>
                <a:noFill/>
              </a:ln>
              <a:solidFill>
                <a:srgbClr val="000000"/>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Wingdings" pitchFamily="2" charset="2"/>
              <a:buChar char="l"/>
              <a:tabLst/>
              <a:defRPr/>
            </a:pPr>
            <a:r>
              <a:rPr kumimoji="0" lang="zh-CN" altLang="en-US" sz="2800" b="1" i="0" u="none" strike="noStrike" kern="1200" cap="none" spc="0" normalizeH="0" baseline="0" noProof="0">
                <a:ln>
                  <a:noFill/>
                </a:ln>
                <a:solidFill>
                  <a:srgbClr val="000000"/>
                </a:solidFill>
                <a:effectLst/>
                <a:uLnTx/>
                <a:uFillTx/>
                <a:latin typeface="Calibri"/>
                <a:ea typeface="幼圆" pitchFamily="49" charset="-122"/>
                <a:cs typeface="+mn-cs"/>
              </a:rPr>
              <a:t>容易留下许多难以利用的碎片</a:t>
            </a:r>
            <a:endParaRPr kumimoji="0" lang="zh-CN" altLang="en-US" sz="2800" b="1" i="0" u="none" strike="noStrike" kern="1200" cap="none" spc="0" normalizeH="0" baseline="0" noProof="0" dirty="0">
              <a:ln>
                <a:noFill/>
              </a:ln>
              <a:solidFill>
                <a:srgbClr val="0000FF"/>
              </a:solidFill>
              <a:effectLst/>
              <a:uLnTx/>
              <a:uFillTx/>
              <a:latin typeface="Calibri"/>
              <a:ea typeface="宋体"/>
              <a:cs typeface="+mn-cs"/>
            </a:endParaRPr>
          </a:p>
        </p:txBody>
      </p:sp>
      <p:graphicFrame>
        <p:nvGraphicFramePr>
          <p:cNvPr id="59" name="Group 158">
            <a:extLst>
              <a:ext uri="{FF2B5EF4-FFF2-40B4-BE49-F238E27FC236}">
                <a16:creationId xmlns:a16="http://schemas.microsoft.com/office/drawing/2014/main" id="{5D1EAB6D-E5F7-604A-A0C7-1537D96F8990}"/>
              </a:ext>
            </a:extLst>
          </p:cNvPr>
          <p:cNvGraphicFramePr>
            <a:graphicFrameLocks noGrp="1"/>
          </p:cNvGraphicFramePr>
          <p:nvPr>
            <p:extLst>
              <p:ext uri="{D42A27DB-BD31-4B8C-83A1-F6EECF244321}">
                <p14:modId xmlns:p14="http://schemas.microsoft.com/office/powerpoint/2010/main" val="3197297838"/>
              </p:ext>
            </p:extLst>
          </p:nvPr>
        </p:nvGraphicFramePr>
        <p:xfrm>
          <a:off x="6948584" y="1621105"/>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60" name="Text Box 159">
            <a:extLst>
              <a:ext uri="{FF2B5EF4-FFF2-40B4-BE49-F238E27FC236}">
                <a16:creationId xmlns:a16="http://schemas.microsoft.com/office/drawing/2014/main" id="{EFB865EF-1F65-204C-916E-C2824A479869}"/>
              </a:ext>
            </a:extLst>
          </p:cNvPr>
          <p:cNvSpPr txBox="1">
            <a:spLocks noChangeArrowheads="1"/>
          </p:cNvSpPr>
          <p:nvPr/>
        </p:nvSpPr>
        <p:spPr bwMode="auto">
          <a:xfrm>
            <a:off x="6480669" y="1655632"/>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61" name="Text Box 160">
            <a:extLst>
              <a:ext uri="{FF2B5EF4-FFF2-40B4-BE49-F238E27FC236}">
                <a16:creationId xmlns:a16="http://schemas.microsoft.com/office/drawing/2014/main" id="{8069FB0A-09EB-C94A-92A0-8BD230307DF2}"/>
              </a:ext>
            </a:extLst>
          </p:cNvPr>
          <p:cNvSpPr txBox="1">
            <a:spLocks noChangeArrowheads="1"/>
          </p:cNvSpPr>
          <p:nvPr/>
        </p:nvSpPr>
        <p:spPr bwMode="auto">
          <a:xfrm>
            <a:off x="6527103" y="2631944"/>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62" name="Text Box 161">
            <a:extLst>
              <a:ext uri="{FF2B5EF4-FFF2-40B4-BE49-F238E27FC236}">
                <a16:creationId xmlns:a16="http://schemas.microsoft.com/office/drawing/2014/main" id="{DB4D2C59-0128-EA4D-B939-05597F4CC45C}"/>
              </a:ext>
            </a:extLst>
          </p:cNvPr>
          <p:cNvSpPr txBox="1">
            <a:spLocks noChangeArrowheads="1"/>
          </p:cNvSpPr>
          <p:nvPr/>
        </p:nvSpPr>
        <p:spPr bwMode="auto">
          <a:xfrm>
            <a:off x="6480669" y="3221304"/>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63" name="Text Box 162">
            <a:extLst>
              <a:ext uri="{FF2B5EF4-FFF2-40B4-BE49-F238E27FC236}">
                <a16:creationId xmlns:a16="http://schemas.microsoft.com/office/drawing/2014/main" id="{DD33C6ED-2879-5746-8F20-203279368C69}"/>
              </a:ext>
            </a:extLst>
          </p:cNvPr>
          <p:cNvSpPr txBox="1">
            <a:spLocks noChangeArrowheads="1"/>
          </p:cNvSpPr>
          <p:nvPr/>
        </p:nvSpPr>
        <p:spPr bwMode="auto">
          <a:xfrm>
            <a:off x="6537819" y="4053550"/>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8M</a:t>
            </a:r>
          </a:p>
        </p:txBody>
      </p:sp>
      <p:sp>
        <p:nvSpPr>
          <p:cNvPr id="64" name="Text Box 163">
            <a:extLst>
              <a:ext uri="{FF2B5EF4-FFF2-40B4-BE49-F238E27FC236}">
                <a16:creationId xmlns:a16="http://schemas.microsoft.com/office/drawing/2014/main" id="{76C02E3A-4CD1-6442-AF6B-C785BCD69B8B}"/>
              </a:ext>
            </a:extLst>
          </p:cNvPr>
          <p:cNvSpPr txBox="1">
            <a:spLocks noChangeArrowheads="1"/>
          </p:cNvSpPr>
          <p:nvPr/>
        </p:nvSpPr>
        <p:spPr bwMode="auto">
          <a:xfrm>
            <a:off x="6537819" y="4476223"/>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65" name="Text Box 164">
            <a:extLst>
              <a:ext uri="{FF2B5EF4-FFF2-40B4-BE49-F238E27FC236}">
                <a16:creationId xmlns:a16="http://schemas.microsoft.com/office/drawing/2014/main" id="{BCBB7B40-0E2F-4547-AF7E-E7D0F1B6CC57}"/>
              </a:ext>
            </a:extLst>
          </p:cNvPr>
          <p:cNvSpPr txBox="1">
            <a:spLocks noChangeArrowheads="1"/>
          </p:cNvSpPr>
          <p:nvPr/>
        </p:nvSpPr>
        <p:spPr bwMode="auto">
          <a:xfrm>
            <a:off x="6527103" y="5096538"/>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66" name="Text Box 165">
            <a:extLst>
              <a:ext uri="{FF2B5EF4-FFF2-40B4-BE49-F238E27FC236}">
                <a16:creationId xmlns:a16="http://schemas.microsoft.com/office/drawing/2014/main" id="{A114C1BC-581B-6045-9B7A-56EEE61B50D5}"/>
              </a:ext>
            </a:extLst>
          </p:cNvPr>
          <p:cNvSpPr txBox="1">
            <a:spLocks noChangeArrowheads="1"/>
          </p:cNvSpPr>
          <p:nvPr/>
        </p:nvSpPr>
        <p:spPr bwMode="auto">
          <a:xfrm>
            <a:off x="6530675" y="5739475"/>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67" name="TextBox 66">
            <a:extLst>
              <a:ext uri="{FF2B5EF4-FFF2-40B4-BE49-F238E27FC236}">
                <a16:creationId xmlns:a16="http://schemas.microsoft.com/office/drawing/2014/main" id="{9AFCAE85-D51C-CC44-B710-A3747AC47D82}"/>
              </a:ext>
            </a:extLst>
          </p:cNvPr>
          <p:cNvSpPr txBox="1">
            <a:spLocks noChangeArrowheads="1"/>
          </p:cNvSpPr>
          <p:nvPr/>
        </p:nvSpPr>
        <p:spPr bwMode="auto">
          <a:xfrm>
            <a:off x="7772795" y="2478353"/>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68" name="矩形 18">
            <a:extLst>
              <a:ext uri="{FF2B5EF4-FFF2-40B4-BE49-F238E27FC236}">
                <a16:creationId xmlns:a16="http://schemas.microsoft.com/office/drawing/2014/main" id="{D3B80DD9-CCE9-3A46-838C-4489AF76E87B}"/>
              </a:ext>
            </a:extLst>
          </p:cNvPr>
          <p:cNvSpPr>
            <a:spLocks noChangeArrowheads="1"/>
          </p:cNvSpPr>
          <p:nvPr/>
        </p:nvSpPr>
        <p:spPr bwMode="auto">
          <a:xfrm>
            <a:off x="6948584" y="3842811"/>
            <a:ext cx="857250" cy="267890"/>
          </a:xfrm>
          <a:prstGeom prst="rect">
            <a:avLst/>
          </a:prstGeom>
          <a:solidFill>
            <a:srgbClr val="0000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69" name="直接箭头连接符 19">
            <a:extLst>
              <a:ext uri="{FF2B5EF4-FFF2-40B4-BE49-F238E27FC236}">
                <a16:creationId xmlns:a16="http://schemas.microsoft.com/office/drawing/2014/main" id="{ECB214BF-23E4-A043-B55E-C32812587337}"/>
              </a:ext>
            </a:extLst>
          </p:cNvPr>
          <p:cNvCxnSpPr>
            <a:cxnSpLocks noChangeShapeType="1"/>
          </p:cNvCxnSpPr>
          <p:nvPr/>
        </p:nvCxnSpPr>
        <p:spPr bwMode="auto">
          <a:xfrm>
            <a:off x="6037757" y="3978542"/>
            <a:ext cx="910828" cy="1190"/>
          </a:xfrm>
          <a:prstGeom prst="straightConnector1">
            <a:avLst/>
          </a:prstGeom>
          <a:noFill/>
          <a:ln w="3810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70" name="TextBox 69">
            <a:extLst>
              <a:ext uri="{FF2B5EF4-FFF2-40B4-BE49-F238E27FC236}">
                <a16:creationId xmlns:a16="http://schemas.microsoft.com/office/drawing/2014/main" id="{D7B6F1AA-5D32-C641-8207-0486FA5EB4FD}"/>
              </a:ext>
            </a:extLst>
          </p:cNvPr>
          <p:cNvSpPr txBox="1">
            <a:spLocks noChangeArrowheads="1"/>
          </p:cNvSpPr>
          <p:nvPr/>
        </p:nvSpPr>
        <p:spPr bwMode="auto">
          <a:xfrm>
            <a:off x="6895008" y="3785660"/>
            <a:ext cx="112514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最近分配</a:t>
            </a:r>
          </a:p>
        </p:txBody>
      </p:sp>
      <p:sp>
        <p:nvSpPr>
          <p:cNvPr id="71" name="TextBox 70">
            <a:extLst>
              <a:ext uri="{FF2B5EF4-FFF2-40B4-BE49-F238E27FC236}">
                <a16:creationId xmlns:a16="http://schemas.microsoft.com/office/drawing/2014/main" id="{A6484E80-1C5A-B846-831A-19670D95948F}"/>
              </a:ext>
            </a:extLst>
          </p:cNvPr>
          <p:cNvSpPr txBox="1">
            <a:spLocks noChangeArrowheads="1"/>
          </p:cNvSpPr>
          <p:nvPr/>
        </p:nvSpPr>
        <p:spPr bwMode="auto">
          <a:xfrm>
            <a:off x="7732063" y="3174870"/>
            <a:ext cx="489301" cy="2035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D60093"/>
                </a:solidFill>
                <a:latin typeface="幼圆" pitchFamily="49" charset="-122"/>
                <a:ea typeface="幼圆" pitchFamily="49" charset="-122"/>
              </a:rPr>
              <a:t>分配</a:t>
            </a:r>
            <a:r>
              <a:rPr lang="en-US" altLang="zh-CN" sz="1800">
                <a:solidFill>
                  <a:srgbClr val="D60093"/>
                </a:solidFill>
                <a:latin typeface="幼圆" pitchFamily="49" charset="-122"/>
                <a:ea typeface="幼圆" pitchFamily="49" charset="-122"/>
              </a:rPr>
              <a:t>16MB</a:t>
            </a:r>
            <a:r>
              <a:rPr lang="zh-CN" altLang="en-US" sz="1800">
                <a:solidFill>
                  <a:srgbClr val="D60093"/>
                </a:solidFill>
                <a:latin typeface="幼圆" pitchFamily="49" charset="-122"/>
                <a:ea typeface="幼圆" pitchFamily="49" charset="-122"/>
              </a:rPr>
              <a:t>空间</a:t>
            </a:r>
          </a:p>
        </p:txBody>
      </p:sp>
      <p:grpSp>
        <p:nvGrpSpPr>
          <p:cNvPr id="72" name="组合 60">
            <a:extLst>
              <a:ext uri="{FF2B5EF4-FFF2-40B4-BE49-F238E27FC236}">
                <a16:creationId xmlns:a16="http://schemas.microsoft.com/office/drawing/2014/main" id="{E48C1EEC-5C52-9F44-B9C1-E5D8D4014E89}"/>
              </a:ext>
            </a:extLst>
          </p:cNvPr>
          <p:cNvGrpSpPr>
            <a:grpSpLocks/>
          </p:cNvGrpSpPr>
          <p:nvPr/>
        </p:nvGrpSpPr>
        <p:grpSpPr bwMode="auto">
          <a:xfrm>
            <a:off x="5574604" y="1567525"/>
            <a:ext cx="2250281" cy="4554141"/>
            <a:chOff x="2500298" y="571480"/>
            <a:chExt cx="3000396" cy="6072230"/>
          </a:xfrm>
        </p:grpSpPr>
        <p:grpSp>
          <p:nvGrpSpPr>
            <p:cNvPr id="73" name="组合 40">
              <a:extLst>
                <a:ext uri="{FF2B5EF4-FFF2-40B4-BE49-F238E27FC236}">
                  <a16:creationId xmlns:a16="http://schemas.microsoft.com/office/drawing/2014/main" id="{7E9247FD-91EC-944C-8BA5-D37EA0345451}"/>
                </a:ext>
              </a:extLst>
            </p:cNvPr>
            <p:cNvGrpSpPr/>
            <p:nvPr/>
          </p:nvGrpSpPr>
          <p:grpSpPr>
            <a:xfrm>
              <a:off x="2500298" y="571480"/>
              <a:ext cx="3000396" cy="6072230"/>
              <a:chOff x="3000364" y="571480"/>
              <a:chExt cx="3000396" cy="6143668"/>
            </a:xfrm>
            <a:solidFill>
              <a:srgbClr val="FFFFFF"/>
            </a:solidFill>
          </p:grpSpPr>
          <p:sp>
            <p:nvSpPr>
              <p:cNvPr id="90" name="矩形 23">
                <a:extLst>
                  <a:ext uri="{FF2B5EF4-FFF2-40B4-BE49-F238E27FC236}">
                    <a16:creationId xmlns:a16="http://schemas.microsoft.com/office/drawing/2014/main" id="{5E6D71ED-E044-314F-8083-14DA06621FEA}"/>
                  </a:ext>
                </a:extLst>
              </p:cNvPr>
              <p:cNvSpPr/>
              <p:nvPr/>
            </p:nvSpPr>
            <p:spPr bwMode="auto">
              <a:xfrm>
                <a:off x="4286248" y="1357298"/>
                <a:ext cx="1285884" cy="214314"/>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1" name="矩形 24">
                <a:extLst>
                  <a:ext uri="{FF2B5EF4-FFF2-40B4-BE49-F238E27FC236}">
                    <a16:creationId xmlns:a16="http://schemas.microsoft.com/office/drawing/2014/main" id="{2109171B-B2D8-7249-90EB-D16E9CE50876}"/>
                  </a:ext>
                </a:extLst>
              </p:cNvPr>
              <p:cNvSpPr/>
              <p:nvPr/>
            </p:nvSpPr>
            <p:spPr bwMode="auto">
              <a:xfrm>
                <a:off x="4286248" y="2643182"/>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2" name="矩形 25">
                <a:extLst>
                  <a:ext uri="{FF2B5EF4-FFF2-40B4-BE49-F238E27FC236}">
                    <a16:creationId xmlns:a16="http://schemas.microsoft.com/office/drawing/2014/main" id="{39F67077-F89C-3F4E-B5F9-A7743ACEA41A}"/>
                  </a:ext>
                </a:extLst>
              </p:cNvPr>
              <p:cNvSpPr/>
              <p:nvPr/>
            </p:nvSpPr>
            <p:spPr bwMode="auto">
              <a:xfrm>
                <a:off x="4286248" y="2143116"/>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3" name="矩形 26">
                <a:extLst>
                  <a:ext uri="{FF2B5EF4-FFF2-40B4-BE49-F238E27FC236}">
                    <a16:creationId xmlns:a16="http://schemas.microsoft.com/office/drawing/2014/main" id="{526C70EB-71B7-AA45-A21F-FC376DE70FAA}"/>
                  </a:ext>
                </a:extLst>
              </p:cNvPr>
              <p:cNvSpPr/>
              <p:nvPr/>
            </p:nvSpPr>
            <p:spPr bwMode="auto">
              <a:xfrm>
                <a:off x="4286248" y="3143248"/>
                <a:ext cx="1285884" cy="500066"/>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4" name="矩形 27">
                <a:extLst>
                  <a:ext uri="{FF2B5EF4-FFF2-40B4-BE49-F238E27FC236}">
                    <a16:creationId xmlns:a16="http://schemas.microsoft.com/office/drawing/2014/main" id="{7C35B2B0-3C03-974C-B6B8-1A7C950329E1}"/>
                  </a:ext>
                </a:extLst>
              </p:cNvPr>
              <p:cNvSpPr/>
              <p:nvPr/>
            </p:nvSpPr>
            <p:spPr bwMode="auto">
              <a:xfrm>
                <a:off x="4286248" y="3786190"/>
                <a:ext cx="1285884" cy="571504"/>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5" name="矩形 28">
                <a:extLst>
                  <a:ext uri="{FF2B5EF4-FFF2-40B4-BE49-F238E27FC236}">
                    <a16:creationId xmlns:a16="http://schemas.microsoft.com/office/drawing/2014/main" id="{2BAAD7F0-E07B-5648-BA61-D0D18707C589}"/>
                  </a:ext>
                </a:extLst>
              </p:cNvPr>
              <p:cNvSpPr/>
              <p:nvPr/>
            </p:nvSpPr>
            <p:spPr bwMode="auto">
              <a:xfrm>
                <a:off x="4286248" y="4500570"/>
                <a:ext cx="1285884" cy="642942"/>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6" name="矩形 29">
                <a:extLst>
                  <a:ext uri="{FF2B5EF4-FFF2-40B4-BE49-F238E27FC236}">
                    <a16:creationId xmlns:a16="http://schemas.microsoft.com/office/drawing/2014/main" id="{5DA3B3B8-3209-6B43-AD97-BEFA09F41C14}"/>
                  </a:ext>
                </a:extLst>
              </p:cNvPr>
              <p:cNvSpPr/>
              <p:nvPr/>
            </p:nvSpPr>
            <p:spPr bwMode="auto">
              <a:xfrm>
                <a:off x="4286248" y="5286388"/>
                <a:ext cx="1285884" cy="785818"/>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7" name="矩形 30">
                <a:extLst>
                  <a:ext uri="{FF2B5EF4-FFF2-40B4-BE49-F238E27FC236}">
                    <a16:creationId xmlns:a16="http://schemas.microsoft.com/office/drawing/2014/main" id="{C2232409-7921-9A47-9F60-DDA7C7206C74}"/>
                  </a:ext>
                </a:extLst>
              </p:cNvPr>
              <p:cNvSpPr/>
              <p:nvPr/>
            </p:nvSpPr>
            <p:spPr bwMode="auto">
              <a:xfrm>
                <a:off x="4286248" y="1643050"/>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8" name="TextBox 97">
                <a:extLst>
                  <a:ext uri="{FF2B5EF4-FFF2-40B4-BE49-F238E27FC236}">
                    <a16:creationId xmlns:a16="http://schemas.microsoft.com/office/drawing/2014/main" id="{FCE11A38-E1BA-2D42-985F-2A61479B0E53}"/>
                  </a:ext>
                </a:extLst>
              </p:cNvPr>
              <p:cNvSpPr txBox="1"/>
              <p:nvPr/>
            </p:nvSpPr>
            <p:spPr>
              <a:xfrm>
                <a:off x="4714876" y="1273718"/>
                <a:ext cx="428628"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6</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99" name="TextBox 98">
                <a:extLst>
                  <a:ext uri="{FF2B5EF4-FFF2-40B4-BE49-F238E27FC236}">
                    <a16:creationId xmlns:a16="http://schemas.microsoft.com/office/drawing/2014/main" id="{C9F156D8-6295-7647-9D19-9BA741521C15}"/>
                  </a:ext>
                </a:extLst>
              </p:cNvPr>
              <p:cNvSpPr txBox="1"/>
              <p:nvPr/>
            </p:nvSpPr>
            <p:spPr>
              <a:xfrm>
                <a:off x="4714876" y="1571612"/>
                <a:ext cx="428628"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8</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0" name="TextBox 99">
                <a:extLst>
                  <a:ext uri="{FF2B5EF4-FFF2-40B4-BE49-F238E27FC236}">
                    <a16:creationId xmlns:a16="http://schemas.microsoft.com/office/drawing/2014/main" id="{D98A0568-34D5-E143-8C3A-01B4CE2693BE}"/>
                  </a:ext>
                </a:extLst>
              </p:cNvPr>
              <p:cNvSpPr txBox="1"/>
              <p:nvPr/>
            </p:nvSpPr>
            <p:spPr>
              <a:xfrm>
                <a:off x="4714876" y="2538707"/>
                <a:ext cx="642943"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12</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1" name="TextBox 100">
                <a:extLst>
                  <a:ext uri="{FF2B5EF4-FFF2-40B4-BE49-F238E27FC236}">
                    <a16:creationId xmlns:a16="http://schemas.microsoft.com/office/drawing/2014/main" id="{5F44FAC8-FEFF-554A-A0EA-BEE88E394D2E}"/>
                  </a:ext>
                </a:extLst>
              </p:cNvPr>
              <p:cNvSpPr txBox="1"/>
              <p:nvPr/>
            </p:nvSpPr>
            <p:spPr>
              <a:xfrm>
                <a:off x="4714876" y="3181649"/>
                <a:ext cx="642943"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14</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2" name="TextBox 101">
                <a:extLst>
                  <a:ext uri="{FF2B5EF4-FFF2-40B4-BE49-F238E27FC236}">
                    <a16:creationId xmlns:a16="http://schemas.microsoft.com/office/drawing/2014/main" id="{EF1B0E6C-810D-314D-B490-0A33822597A7}"/>
                  </a:ext>
                </a:extLst>
              </p:cNvPr>
              <p:cNvSpPr txBox="1"/>
              <p:nvPr/>
            </p:nvSpPr>
            <p:spPr>
              <a:xfrm>
                <a:off x="4714876" y="3824590"/>
                <a:ext cx="714380"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18</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3" name="TextBox 102">
                <a:extLst>
                  <a:ext uri="{FF2B5EF4-FFF2-40B4-BE49-F238E27FC236}">
                    <a16:creationId xmlns:a16="http://schemas.microsoft.com/office/drawing/2014/main" id="{181D7BB1-1600-DE40-B6E3-6DFFAF60F3D5}"/>
                  </a:ext>
                </a:extLst>
              </p:cNvPr>
              <p:cNvSpPr txBox="1"/>
              <p:nvPr/>
            </p:nvSpPr>
            <p:spPr>
              <a:xfrm>
                <a:off x="4714876" y="4538971"/>
                <a:ext cx="714380"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22</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4" name="TextBox 103">
                <a:extLst>
                  <a:ext uri="{FF2B5EF4-FFF2-40B4-BE49-F238E27FC236}">
                    <a16:creationId xmlns:a16="http://schemas.microsoft.com/office/drawing/2014/main" id="{1EEB5A2B-B2B2-6C48-B70D-C7477F5821FD}"/>
                  </a:ext>
                </a:extLst>
              </p:cNvPr>
              <p:cNvSpPr txBox="1"/>
              <p:nvPr/>
            </p:nvSpPr>
            <p:spPr>
              <a:xfrm>
                <a:off x="4714876" y="5357827"/>
                <a:ext cx="714380" cy="498240"/>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36</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5" name="矩形 22">
                <a:extLst>
                  <a:ext uri="{FF2B5EF4-FFF2-40B4-BE49-F238E27FC236}">
                    <a16:creationId xmlns:a16="http://schemas.microsoft.com/office/drawing/2014/main" id="{4F05E2A5-342F-064A-91E3-E1E4D2670A77}"/>
                  </a:ext>
                </a:extLst>
              </p:cNvPr>
              <p:cNvSpPr/>
              <p:nvPr/>
            </p:nvSpPr>
            <p:spPr bwMode="auto">
              <a:xfrm>
                <a:off x="3000364" y="571480"/>
                <a:ext cx="3000396" cy="6143668"/>
              </a:xfrm>
              <a:prstGeom prst="rect">
                <a:avLst/>
              </a:prstGeom>
              <a:grpFill/>
              <a:ln w="12700" cap="flat" cmpd="sng" algn="ctr">
                <a:solidFill>
                  <a:srgbClr val="FFFFCC"/>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grpSp>
        <p:sp>
          <p:nvSpPr>
            <p:cNvPr id="74" name="矩形 43">
              <a:extLst>
                <a:ext uri="{FF2B5EF4-FFF2-40B4-BE49-F238E27FC236}">
                  <a16:creationId xmlns:a16="http://schemas.microsoft.com/office/drawing/2014/main" id="{2F232CC4-60A6-E248-A1BE-CC264FFED06A}"/>
                </a:ext>
              </a:extLst>
            </p:cNvPr>
            <p:cNvSpPr>
              <a:spLocks noChangeArrowheads="1"/>
            </p:cNvSpPr>
            <p:nvPr/>
          </p:nvSpPr>
          <p:spPr bwMode="auto">
            <a:xfrm>
              <a:off x="3929058" y="818831"/>
              <a:ext cx="1214446" cy="285752"/>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5" name="TextBox 44">
              <a:extLst>
                <a:ext uri="{FF2B5EF4-FFF2-40B4-BE49-F238E27FC236}">
                  <a16:creationId xmlns:a16="http://schemas.microsoft.com/office/drawing/2014/main" id="{98BFF0FD-CE67-004A-BB28-30A147D0B99C}"/>
                </a:ext>
              </a:extLst>
            </p:cNvPr>
            <p:cNvSpPr txBox="1">
              <a:spLocks noChangeArrowheads="1"/>
            </p:cNvSpPr>
            <p:nvPr/>
          </p:nvSpPr>
          <p:spPr bwMode="auto">
            <a:xfrm>
              <a:off x="4429125" y="714356"/>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6</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6" name="矩形 46">
              <a:extLst>
                <a:ext uri="{FF2B5EF4-FFF2-40B4-BE49-F238E27FC236}">
                  <a16:creationId xmlns:a16="http://schemas.microsoft.com/office/drawing/2014/main" id="{1661F358-E208-1F4A-B705-E45B777F60F4}"/>
                </a:ext>
              </a:extLst>
            </p:cNvPr>
            <p:cNvSpPr>
              <a:spLocks noChangeArrowheads="1"/>
            </p:cNvSpPr>
            <p:nvPr/>
          </p:nvSpPr>
          <p:spPr bwMode="auto">
            <a:xfrm>
              <a:off x="3929058" y="1247459"/>
              <a:ext cx="1214446"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7" name="TextBox 47">
              <a:extLst>
                <a:ext uri="{FF2B5EF4-FFF2-40B4-BE49-F238E27FC236}">
                  <a16:creationId xmlns:a16="http://schemas.microsoft.com/office/drawing/2014/main" id="{EE56EEAB-8D34-1644-B90C-F5AF54B7BD11}"/>
                </a:ext>
              </a:extLst>
            </p:cNvPr>
            <p:cNvSpPr txBox="1">
              <a:spLocks noChangeArrowheads="1"/>
            </p:cNvSpPr>
            <p:nvPr/>
          </p:nvSpPr>
          <p:spPr bwMode="auto">
            <a:xfrm>
              <a:off x="4429125" y="1214422"/>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8" name="矩形 48">
              <a:extLst>
                <a:ext uri="{FF2B5EF4-FFF2-40B4-BE49-F238E27FC236}">
                  <a16:creationId xmlns:a16="http://schemas.microsoft.com/office/drawing/2014/main" id="{3E27F970-50D1-2D44-980A-9A90715EC650}"/>
                </a:ext>
              </a:extLst>
            </p:cNvPr>
            <p:cNvSpPr>
              <a:spLocks noChangeArrowheads="1"/>
            </p:cNvSpPr>
            <p:nvPr/>
          </p:nvSpPr>
          <p:spPr bwMode="auto">
            <a:xfrm>
              <a:off x="3929058" y="1818963"/>
              <a:ext cx="1214446"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9" name="TextBox 49">
              <a:extLst>
                <a:ext uri="{FF2B5EF4-FFF2-40B4-BE49-F238E27FC236}">
                  <a16:creationId xmlns:a16="http://schemas.microsoft.com/office/drawing/2014/main" id="{8FA76815-5E95-3745-B4A9-D5AD6380B920}"/>
                </a:ext>
              </a:extLst>
            </p:cNvPr>
            <p:cNvSpPr txBox="1">
              <a:spLocks noChangeArrowheads="1"/>
            </p:cNvSpPr>
            <p:nvPr/>
          </p:nvSpPr>
          <p:spPr bwMode="auto">
            <a:xfrm>
              <a:off x="4429125" y="1785926"/>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0" name="矩形 50">
              <a:extLst>
                <a:ext uri="{FF2B5EF4-FFF2-40B4-BE49-F238E27FC236}">
                  <a16:creationId xmlns:a16="http://schemas.microsoft.com/office/drawing/2014/main" id="{A0145954-2794-8546-8DA7-899AE3C6D8F0}"/>
                </a:ext>
              </a:extLst>
            </p:cNvPr>
            <p:cNvSpPr>
              <a:spLocks noChangeArrowheads="1"/>
            </p:cNvSpPr>
            <p:nvPr/>
          </p:nvSpPr>
          <p:spPr bwMode="auto">
            <a:xfrm>
              <a:off x="3929058" y="2390467"/>
              <a:ext cx="1214446"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1" name="TextBox 51">
              <a:extLst>
                <a:ext uri="{FF2B5EF4-FFF2-40B4-BE49-F238E27FC236}">
                  <a16:creationId xmlns:a16="http://schemas.microsoft.com/office/drawing/2014/main" id="{CAF3F809-1FD4-324A-A321-8B9C5452BBC9}"/>
                </a:ext>
              </a:extLst>
            </p:cNvPr>
            <p:cNvSpPr txBox="1">
              <a:spLocks noChangeArrowheads="1"/>
            </p:cNvSpPr>
            <p:nvPr/>
          </p:nvSpPr>
          <p:spPr bwMode="auto">
            <a:xfrm>
              <a:off x="4429125" y="2357430"/>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12</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2" name="矩形 52">
              <a:extLst>
                <a:ext uri="{FF2B5EF4-FFF2-40B4-BE49-F238E27FC236}">
                  <a16:creationId xmlns:a16="http://schemas.microsoft.com/office/drawing/2014/main" id="{E5EFC333-7327-C147-BB8E-56E42D2ADE5F}"/>
                </a:ext>
              </a:extLst>
            </p:cNvPr>
            <p:cNvSpPr>
              <a:spLocks noChangeArrowheads="1"/>
            </p:cNvSpPr>
            <p:nvPr/>
          </p:nvSpPr>
          <p:spPr bwMode="auto">
            <a:xfrm>
              <a:off x="3929058" y="2961971"/>
              <a:ext cx="1214446" cy="571504"/>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3" name="TextBox 53">
              <a:extLst>
                <a:ext uri="{FF2B5EF4-FFF2-40B4-BE49-F238E27FC236}">
                  <a16:creationId xmlns:a16="http://schemas.microsoft.com/office/drawing/2014/main" id="{55CC56F3-B522-564E-87CE-339609EFE623}"/>
                </a:ext>
              </a:extLst>
            </p:cNvPr>
            <p:cNvSpPr txBox="1">
              <a:spLocks noChangeArrowheads="1"/>
            </p:cNvSpPr>
            <p:nvPr/>
          </p:nvSpPr>
          <p:spPr bwMode="auto">
            <a:xfrm>
              <a:off x="4429125" y="2928934"/>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14</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4" name="矩形 54">
              <a:extLst>
                <a:ext uri="{FF2B5EF4-FFF2-40B4-BE49-F238E27FC236}">
                  <a16:creationId xmlns:a16="http://schemas.microsoft.com/office/drawing/2014/main" id="{6129B7F4-9C70-2246-B1D3-BFCB394C0667}"/>
                </a:ext>
              </a:extLst>
            </p:cNvPr>
            <p:cNvSpPr>
              <a:spLocks noChangeArrowheads="1"/>
            </p:cNvSpPr>
            <p:nvPr/>
          </p:nvSpPr>
          <p:spPr bwMode="auto">
            <a:xfrm>
              <a:off x="3929058" y="3676351"/>
              <a:ext cx="1214446" cy="714380"/>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5" name="矩形 55">
              <a:extLst>
                <a:ext uri="{FF2B5EF4-FFF2-40B4-BE49-F238E27FC236}">
                  <a16:creationId xmlns:a16="http://schemas.microsoft.com/office/drawing/2014/main" id="{5A78FD7D-3F9C-4345-A16B-0520A218E726}"/>
                </a:ext>
              </a:extLst>
            </p:cNvPr>
            <p:cNvSpPr>
              <a:spLocks noChangeArrowheads="1"/>
            </p:cNvSpPr>
            <p:nvPr/>
          </p:nvSpPr>
          <p:spPr bwMode="auto">
            <a:xfrm>
              <a:off x="3929058" y="4462169"/>
              <a:ext cx="1214446" cy="857256"/>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6" name="矩形 56">
              <a:extLst>
                <a:ext uri="{FF2B5EF4-FFF2-40B4-BE49-F238E27FC236}">
                  <a16:creationId xmlns:a16="http://schemas.microsoft.com/office/drawing/2014/main" id="{287C6373-7E6A-7540-8BE1-CA86BB1EE897}"/>
                </a:ext>
              </a:extLst>
            </p:cNvPr>
            <p:cNvSpPr>
              <a:spLocks noChangeArrowheads="1"/>
            </p:cNvSpPr>
            <p:nvPr/>
          </p:nvSpPr>
          <p:spPr bwMode="auto">
            <a:xfrm>
              <a:off x="3929058" y="5390863"/>
              <a:ext cx="1214446" cy="1071570"/>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7" name="TextBox 57">
              <a:extLst>
                <a:ext uri="{FF2B5EF4-FFF2-40B4-BE49-F238E27FC236}">
                  <a16:creationId xmlns:a16="http://schemas.microsoft.com/office/drawing/2014/main" id="{0B13BF48-18AE-9342-AEFE-2FC6DB77CC91}"/>
                </a:ext>
              </a:extLst>
            </p:cNvPr>
            <p:cNvSpPr txBox="1">
              <a:spLocks noChangeArrowheads="1"/>
            </p:cNvSpPr>
            <p:nvPr/>
          </p:nvSpPr>
          <p:spPr bwMode="auto">
            <a:xfrm>
              <a:off x="4429125" y="3824591"/>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8" name="TextBox 58">
              <a:extLst>
                <a:ext uri="{FF2B5EF4-FFF2-40B4-BE49-F238E27FC236}">
                  <a16:creationId xmlns:a16="http://schemas.microsoft.com/office/drawing/2014/main" id="{0F55A096-0EEE-BC4C-A9A6-2C82528F6170}"/>
                </a:ext>
              </a:extLst>
            </p:cNvPr>
            <p:cNvSpPr txBox="1">
              <a:spLocks noChangeArrowheads="1"/>
            </p:cNvSpPr>
            <p:nvPr/>
          </p:nvSpPr>
          <p:spPr bwMode="auto">
            <a:xfrm>
              <a:off x="4429125" y="4681847"/>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22</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9" name="TextBox 59">
              <a:extLst>
                <a:ext uri="{FF2B5EF4-FFF2-40B4-BE49-F238E27FC236}">
                  <a16:creationId xmlns:a16="http://schemas.microsoft.com/office/drawing/2014/main" id="{9189C4D8-7DD3-CF40-AC16-D8AA636FA696}"/>
                </a:ext>
              </a:extLst>
            </p:cNvPr>
            <p:cNvSpPr txBox="1">
              <a:spLocks noChangeArrowheads="1"/>
            </p:cNvSpPr>
            <p:nvPr/>
          </p:nvSpPr>
          <p:spPr bwMode="auto">
            <a:xfrm>
              <a:off x="4429125" y="5610542"/>
              <a:ext cx="714380"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36</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grpSp>
      <p:grpSp>
        <p:nvGrpSpPr>
          <p:cNvPr id="106" name="组合 13">
            <a:extLst>
              <a:ext uri="{FF2B5EF4-FFF2-40B4-BE49-F238E27FC236}">
                <a16:creationId xmlns:a16="http://schemas.microsoft.com/office/drawing/2014/main" id="{B7CF4A72-0D43-D445-8750-375F5D40EB74}"/>
              </a:ext>
            </a:extLst>
          </p:cNvPr>
          <p:cNvGrpSpPr>
            <a:grpSpLocks/>
          </p:cNvGrpSpPr>
          <p:nvPr/>
        </p:nvGrpSpPr>
        <p:grpSpPr bwMode="auto">
          <a:xfrm>
            <a:off x="5609131" y="1513947"/>
            <a:ext cx="1028700" cy="285750"/>
            <a:chOff x="5715000" y="2057400"/>
            <a:chExt cx="1371600" cy="381000"/>
          </a:xfrm>
        </p:grpSpPr>
        <p:sp>
          <p:nvSpPr>
            <p:cNvPr id="107" name="Line 267">
              <a:extLst>
                <a:ext uri="{FF2B5EF4-FFF2-40B4-BE49-F238E27FC236}">
                  <a16:creationId xmlns:a16="http://schemas.microsoft.com/office/drawing/2014/main" id="{BF76D6B9-18BA-F849-8F95-A9289A832176}"/>
                </a:ext>
              </a:extLst>
            </p:cNvPr>
            <p:cNvSpPr>
              <a:spLocks noChangeShapeType="1"/>
            </p:cNvSpPr>
            <p:nvPr/>
          </p:nvSpPr>
          <p:spPr bwMode="auto">
            <a:xfrm>
              <a:off x="5715000" y="2438400"/>
              <a:ext cx="13716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sp>
          <p:nvSpPr>
            <p:cNvPr id="108" name="Line 272">
              <a:extLst>
                <a:ext uri="{FF2B5EF4-FFF2-40B4-BE49-F238E27FC236}">
                  <a16:creationId xmlns:a16="http://schemas.microsoft.com/office/drawing/2014/main" id="{6D06CA76-5D23-C047-975F-9C9588B18F60}"/>
                </a:ext>
              </a:extLst>
            </p:cNvPr>
            <p:cNvSpPr>
              <a:spLocks noChangeShapeType="1"/>
            </p:cNvSpPr>
            <p:nvPr/>
          </p:nvSpPr>
          <p:spPr bwMode="auto">
            <a:xfrm flipV="1">
              <a:off x="5715000" y="2057400"/>
              <a:ext cx="0" cy="3810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grpSp>
      <p:grpSp>
        <p:nvGrpSpPr>
          <p:cNvPr id="109" name="组合 61">
            <a:extLst>
              <a:ext uri="{FF2B5EF4-FFF2-40B4-BE49-F238E27FC236}">
                <a16:creationId xmlns:a16="http://schemas.microsoft.com/office/drawing/2014/main" id="{FB1282EF-DE13-A54D-9F97-EB710EF05C86}"/>
              </a:ext>
            </a:extLst>
          </p:cNvPr>
          <p:cNvGrpSpPr>
            <a:grpSpLocks/>
          </p:cNvGrpSpPr>
          <p:nvPr/>
        </p:nvGrpSpPr>
        <p:grpSpPr bwMode="auto">
          <a:xfrm>
            <a:off x="5609131" y="1513947"/>
            <a:ext cx="1028700" cy="285750"/>
            <a:chOff x="5715000" y="2057400"/>
            <a:chExt cx="1371600" cy="381000"/>
          </a:xfrm>
        </p:grpSpPr>
        <p:sp>
          <p:nvSpPr>
            <p:cNvPr id="110" name="Line 267">
              <a:extLst>
                <a:ext uri="{FF2B5EF4-FFF2-40B4-BE49-F238E27FC236}">
                  <a16:creationId xmlns:a16="http://schemas.microsoft.com/office/drawing/2014/main" id="{0A2B402C-F330-6343-B87D-9B5C542016F0}"/>
                </a:ext>
              </a:extLst>
            </p:cNvPr>
            <p:cNvSpPr>
              <a:spLocks noChangeShapeType="1"/>
            </p:cNvSpPr>
            <p:nvPr/>
          </p:nvSpPr>
          <p:spPr bwMode="auto">
            <a:xfrm>
              <a:off x="5715000" y="2438400"/>
              <a:ext cx="13716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sp>
          <p:nvSpPr>
            <p:cNvPr id="111" name="Line 272">
              <a:extLst>
                <a:ext uri="{FF2B5EF4-FFF2-40B4-BE49-F238E27FC236}">
                  <a16:creationId xmlns:a16="http://schemas.microsoft.com/office/drawing/2014/main" id="{83FCF99B-DC1B-9047-A6ED-F1B77AE66E0B}"/>
                </a:ext>
              </a:extLst>
            </p:cNvPr>
            <p:cNvSpPr>
              <a:spLocks noChangeShapeType="1"/>
            </p:cNvSpPr>
            <p:nvPr/>
          </p:nvSpPr>
          <p:spPr bwMode="auto">
            <a:xfrm flipV="1">
              <a:off x="5715000" y="2057400"/>
              <a:ext cx="0" cy="3810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grpSp>
      <p:sp>
        <p:nvSpPr>
          <p:cNvPr id="112" name="矩形 64">
            <a:extLst>
              <a:ext uri="{FF2B5EF4-FFF2-40B4-BE49-F238E27FC236}">
                <a16:creationId xmlns:a16="http://schemas.microsoft.com/office/drawing/2014/main" id="{63F46F9E-004D-4842-843C-525BFDE1D9BC}"/>
              </a:ext>
            </a:extLst>
          </p:cNvPr>
          <p:cNvSpPr>
            <a:spLocks noChangeArrowheads="1"/>
          </p:cNvSpPr>
          <p:nvPr/>
        </p:nvSpPr>
        <p:spPr bwMode="auto">
          <a:xfrm>
            <a:off x="6646165" y="3899961"/>
            <a:ext cx="910829" cy="482203"/>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13" name="TextBox 112">
            <a:extLst>
              <a:ext uri="{FF2B5EF4-FFF2-40B4-BE49-F238E27FC236}">
                <a16:creationId xmlns:a16="http://schemas.microsoft.com/office/drawing/2014/main" id="{130415EF-7018-2A46-B3B6-6F816540296B}"/>
              </a:ext>
            </a:extLst>
          </p:cNvPr>
          <p:cNvSpPr txBox="1">
            <a:spLocks noChangeArrowheads="1"/>
          </p:cNvSpPr>
          <p:nvPr/>
        </p:nvSpPr>
        <p:spPr bwMode="auto">
          <a:xfrm>
            <a:off x="6895007" y="3978541"/>
            <a:ext cx="48220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16</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14" name="Rectangle 2">
            <a:extLst>
              <a:ext uri="{FF2B5EF4-FFF2-40B4-BE49-F238E27FC236}">
                <a16:creationId xmlns:a16="http://schemas.microsoft.com/office/drawing/2014/main" id="{C711E14B-520F-B547-BA95-AE9741ED39CC}"/>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183651883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dissolve">
                                      <p:cBhvr>
                                        <p:cTn id="7" dur="500"/>
                                        <p:tgtEl>
                                          <p:spTgt spid="5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dissolve">
                                      <p:cBhvr>
                                        <p:cTn id="10" dur="500"/>
                                        <p:tgtEl>
                                          <p:spTgt spid="60"/>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dissolve">
                                      <p:cBhvr>
                                        <p:cTn id="13" dur="500"/>
                                        <p:tgtEl>
                                          <p:spTgt spid="61"/>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dissolve">
                                      <p:cBhvr>
                                        <p:cTn id="16" dur="500"/>
                                        <p:tgtEl>
                                          <p:spTgt spid="62"/>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dissolve">
                                      <p:cBhvr>
                                        <p:cTn id="19" dur="500"/>
                                        <p:tgtEl>
                                          <p:spTgt spid="63"/>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dissolve">
                                      <p:cBhvr>
                                        <p:cTn id="22" dur="500"/>
                                        <p:tgtEl>
                                          <p:spTgt spid="64"/>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dissolve">
                                      <p:cBhvr>
                                        <p:cTn id="25" dur="500"/>
                                        <p:tgtEl>
                                          <p:spTgt spid="65"/>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dissolve">
                                      <p:cBhvr>
                                        <p:cTn id="28" dur="500"/>
                                        <p:tgtEl>
                                          <p:spTgt spid="66"/>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animEffect transition="in" filter="blinds(horizontal)">
                                      <p:cBhvr>
                                        <p:cTn id="31" dur="500"/>
                                        <p:tgtEl>
                                          <p:spTgt spid="68"/>
                                        </p:tgtEl>
                                      </p:cBhvr>
                                    </p:animEffect>
                                  </p:childTnLst>
                                </p:cTn>
                              </p:par>
                              <p:par>
                                <p:cTn id="32" presetID="3" presetClass="entr" presetSubtype="10" fill="hold" grpId="0" nodeType="withEffect">
                                  <p:stCondLst>
                                    <p:cond delay="0"/>
                                  </p:stCondLst>
                                  <p:childTnLst>
                                    <p:set>
                                      <p:cBhvr>
                                        <p:cTn id="33" dur="1" fill="hold">
                                          <p:stCondLst>
                                            <p:cond delay="0"/>
                                          </p:stCondLst>
                                        </p:cTn>
                                        <p:tgtEl>
                                          <p:spTgt spid="70"/>
                                        </p:tgtEl>
                                        <p:attrNameLst>
                                          <p:attrName>style.visibility</p:attrName>
                                        </p:attrNameLst>
                                      </p:cBhvr>
                                      <p:to>
                                        <p:strVal val="visible"/>
                                      </p:to>
                                    </p:set>
                                    <p:animEffect transition="in" filter="blinds(horizontal)">
                                      <p:cBhvr>
                                        <p:cTn id="34" dur="500"/>
                                        <p:tgtEl>
                                          <p:spTgt spid="70"/>
                                        </p:tgtEl>
                                      </p:cBhvr>
                                    </p:animEffect>
                                  </p:childTnLst>
                                </p:cTn>
                              </p:par>
                              <p:par>
                                <p:cTn id="35" presetID="3" presetClass="entr" presetSubtype="10" fill="hold" nodeType="withEffect">
                                  <p:stCondLst>
                                    <p:cond delay="0"/>
                                  </p:stCondLst>
                                  <p:childTnLst>
                                    <p:set>
                                      <p:cBhvr>
                                        <p:cTn id="36" dur="1" fill="hold">
                                          <p:stCondLst>
                                            <p:cond delay="0"/>
                                          </p:stCondLst>
                                        </p:cTn>
                                        <p:tgtEl>
                                          <p:spTgt spid="69"/>
                                        </p:tgtEl>
                                        <p:attrNameLst>
                                          <p:attrName>style.visibility</p:attrName>
                                        </p:attrNameLst>
                                      </p:cBhvr>
                                      <p:to>
                                        <p:strVal val="visible"/>
                                      </p:to>
                                    </p:set>
                                    <p:animEffect transition="in" filter="blinds(horizontal)">
                                      <p:cBhvr>
                                        <p:cTn id="37" dur="500"/>
                                        <p:tgtEl>
                                          <p:spTgt spid="69"/>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dissolve">
                                      <p:cBhvr>
                                        <p:cTn id="40" dur="500"/>
                                        <p:tgtEl>
                                          <p:spTgt spid="67"/>
                                        </p:tgtEl>
                                      </p:cBhvr>
                                    </p:animEffect>
                                  </p:childTnLst>
                                  <p:subTnLst>
                                    <p:set>
                                      <p:cBhvr override="childStyle">
                                        <p:cTn dur="1" fill="hold" display="0" masterRel="nextClick" afterEffect="1"/>
                                        <p:tgtEl>
                                          <p:spTgt spid="67"/>
                                        </p:tgtEl>
                                        <p:attrNameLst>
                                          <p:attrName>style.visibility</p:attrName>
                                        </p:attrNameLst>
                                      </p:cBhvr>
                                      <p:to>
                                        <p:strVal val="hidden"/>
                                      </p:to>
                                    </p:set>
                                  </p:subTnLst>
                                </p:cTn>
                              </p:par>
                            </p:childTnLst>
                          </p:cTn>
                        </p:par>
                      </p:childTnLst>
                    </p:cTn>
                  </p:par>
                  <p:par>
                    <p:cTn id="41" fill="hold">
                      <p:stCondLst>
                        <p:cond delay="indefinite"/>
                      </p:stCondLst>
                      <p:childTnLst>
                        <p:par>
                          <p:cTn id="42" fill="hold">
                            <p:stCondLst>
                              <p:cond delay="0"/>
                            </p:stCondLst>
                            <p:childTnLst>
                              <p:par>
                                <p:cTn id="43" presetID="15" presetClass="entr" presetSubtype="0" fill="hold" grpId="0" nodeType="clickEffect">
                                  <p:stCondLst>
                                    <p:cond delay="0"/>
                                  </p:stCondLst>
                                  <p:childTnLst>
                                    <p:set>
                                      <p:cBhvr>
                                        <p:cTn id="44" dur="1" fill="hold">
                                          <p:stCondLst>
                                            <p:cond delay="0"/>
                                          </p:stCondLst>
                                        </p:cTn>
                                        <p:tgtEl>
                                          <p:spTgt spid="71"/>
                                        </p:tgtEl>
                                        <p:attrNameLst>
                                          <p:attrName>style.visibility</p:attrName>
                                        </p:attrNameLst>
                                      </p:cBhvr>
                                      <p:to>
                                        <p:strVal val="visible"/>
                                      </p:to>
                                    </p:set>
                                    <p:anim calcmode="lin" valueType="num">
                                      <p:cBhvr>
                                        <p:cTn id="45" dur="1000" fill="hold"/>
                                        <p:tgtEl>
                                          <p:spTgt spid="71"/>
                                        </p:tgtEl>
                                        <p:attrNameLst>
                                          <p:attrName>ppt_w</p:attrName>
                                        </p:attrNameLst>
                                      </p:cBhvr>
                                      <p:tavLst>
                                        <p:tav tm="0">
                                          <p:val>
                                            <p:fltVal val="0"/>
                                          </p:val>
                                        </p:tav>
                                        <p:tav tm="100000">
                                          <p:val>
                                            <p:strVal val="#ppt_w"/>
                                          </p:val>
                                        </p:tav>
                                      </p:tavLst>
                                    </p:anim>
                                    <p:anim calcmode="lin" valueType="num">
                                      <p:cBhvr>
                                        <p:cTn id="46" dur="1000" fill="hold"/>
                                        <p:tgtEl>
                                          <p:spTgt spid="71"/>
                                        </p:tgtEl>
                                        <p:attrNameLst>
                                          <p:attrName>ppt_h</p:attrName>
                                        </p:attrNameLst>
                                      </p:cBhvr>
                                      <p:tavLst>
                                        <p:tav tm="0">
                                          <p:val>
                                            <p:fltVal val="0"/>
                                          </p:val>
                                        </p:tav>
                                        <p:tav tm="100000">
                                          <p:val>
                                            <p:strVal val="#ppt_h"/>
                                          </p:val>
                                        </p:tav>
                                      </p:tavLst>
                                    </p:anim>
                                    <p:anim calcmode="lin" valueType="num">
                                      <p:cBhvr>
                                        <p:cTn id="47" dur="1000" fill="hold"/>
                                        <p:tgtEl>
                                          <p:spTgt spid="71"/>
                                        </p:tgtEl>
                                        <p:attrNameLst>
                                          <p:attrName>ppt_x</p:attrName>
                                        </p:attrNameLst>
                                      </p:cBhvr>
                                      <p:tavLst>
                                        <p:tav tm="0" fmla="#ppt_x+(cos(-2*pi*(1-$))*-#ppt_x-sin(-2*pi*(1-$))*(1-#ppt_y))*(1-$)">
                                          <p:val>
                                            <p:fltVal val="0"/>
                                          </p:val>
                                        </p:tav>
                                        <p:tav tm="100000">
                                          <p:val>
                                            <p:fltVal val="1"/>
                                          </p:val>
                                        </p:tav>
                                      </p:tavLst>
                                    </p:anim>
                                    <p:anim calcmode="lin" valueType="num">
                                      <p:cBhvr>
                                        <p:cTn id="48" dur="1000" fill="hold"/>
                                        <p:tgtEl>
                                          <p:spTgt spid="7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49" fill="hold">
                      <p:stCondLst>
                        <p:cond delay="indefinite"/>
                      </p:stCondLst>
                      <p:childTnLst>
                        <p:par>
                          <p:cTn id="50" fill="hold">
                            <p:stCondLst>
                              <p:cond delay="0"/>
                            </p:stCondLst>
                            <p:childTnLst>
                              <p:par>
                                <p:cTn id="51" presetID="3" presetClass="entr" presetSubtype="10" fill="hold" nodeType="clickEffect">
                                  <p:stCondLst>
                                    <p:cond delay="0"/>
                                  </p:stCondLst>
                                  <p:childTnLst>
                                    <p:set>
                                      <p:cBhvr>
                                        <p:cTn id="52" dur="1" fill="hold">
                                          <p:stCondLst>
                                            <p:cond delay="0"/>
                                          </p:stCondLst>
                                        </p:cTn>
                                        <p:tgtEl>
                                          <p:spTgt spid="72"/>
                                        </p:tgtEl>
                                        <p:attrNameLst>
                                          <p:attrName>style.visibility</p:attrName>
                                        </p:attrNameLst>
                                      </p:cBhvr>
                                      <p:to>
                                        <p:strVal val="visible"/>
                                      </p:to>
                                    </p:set>
                                    <p:animEffect transition="in" filter="blinds(horizontal)">
                                      <p:cBhvr>
                                        <p:cTn id="53" dur="500"/>
                                        <p:tgtEl>
                                          <p:spTgt spid="72"/>
                                        </p:tgtEl>
                                      </p:cBhvr>
                                    </p:animEffect>
                                  </p:childTnLst>
                                </p:cTn>
                              </p:par>
                            </p:childTnLst>
                          </p:cTn>
                        </p:par>
                      </p:childTnLst>
                    </p:cTn>
                  </p:par>
                  <p:par>
                    <p:cTn id="54" fill="hold">
                      <p:stCondLst>
                        <p:cond delay="indefinite"/>
                      </p:stCondLst>
                      <p:childTnLst>
                        <p:par>
                          <p:cTn id="55" fill="hold">
                            <p:stCondLst>
                              <p:cond delay="0"/>
                            </p:stCondLst>
                            <p:childTnLst>
                              <p:par>
                                <p:cTn id="56" presetID="3" presetClass="entr" presetSubtype="10" fill="hold" nodeType="click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blinds(horizontal)">
                                      <p:cBhvr>
                                        <p:cTn id="58" dur="500"/>
                                        <p:tgtEl>
                                          <p:spTgt spid="109"/>
                                        </p:tgtEl>
                                      </p:cBhvr>
                                    </p:animEffect>
                                  </p:childTnLst>
                                  <p:subTnLst>
                                    <p:set>
                                      <p:cBhvr override="childStyle">
                                        <p:cTn dur="1" fill="hold" display="0" masterRel="nextClick" afterEffect="1"/>
                                        <p:tgtEl>
                                          <p:spTgt spid="109"/>
                                        </p:tgtEl>
                                        <p:attrNameLst>
                                          <p:attrName>style.visibility</p:attrName>
                                        </p:attrNameLst>
                                      </p:cBhvr>
                                      <p:to>
                                        <p:strVal val="hidden"/>
                                      </p:to>
                                    </p:set>
                                  </p:subTnLst>
                                </p:cTn>
                              </p:par>
                            </p:childTnLst>
                          </p:cTn>
                        </p:par>
                      </p:childTnLst>
                    </p:cTn>
                  </p:par>
                  <p:par>
                    <p:cTn id="59" fill="hold">
                      <p:stCondLst>
                        <p:cond delay="indefinite"/>
                      </p:stCondLst>
                      <p:childTnLst>
                        <p:par>
                          <p:cTn id="60" fill="hold">
                            <p:stCondLst>
                              <p:cond delay="0"/>
                            </p:stCondLst>
                            <p:childTnLst>
                              <p:par>
                                <p:cTn id="61" presetID="3" presetClass="entr" presetSubtype="10" fill="hold" nodeType="clickEffect">
                                  <p:stCondLst>
                                    <p:cond delay="0"/>
                                  </p:stCondLst>
                                  <p:childTnLst>
                                    <p:set>
                                      <p:cBhvr>
                                        <p:cTn id="62" dur="1" fill="hold">
                                          <p:stCondLst>
                                            <p:cond delay="0"/>
                                          </p:stCondLst>
                                        </p:cTn>
                                        <p:tgtEl>
                                          <p:spTgt spid="106"/>
                                        </p:tgtEl>
                                        <p:attrNameLst>
                                          <p:attrName>style.visibility</p:attrName>
                                        </p:attrNameLst>
                                      </p:cBhvr>
                                      <p:to>
                                        <p:strVal val="visible"/>
                                      </p:to>
                                    </p:set>
                                    <p:animEffect transition="in" filter="blinds(horizontal)">
                                      <p:cBhvr>
                                        <p:cTn id="63" dur="500"/>
                                        <p:tgtEl>
                                          <p:spTgt spid="106"/>
                                        </p:tgtEl>
                                      </p:cBhvr>
                                    </p:animEffect>
                                  </p:childTnLst>
                                </p:cTn>
                              </p:par>
                              <p:par>
                                <p:cTn id="64" presetID="42" presetClass="path" presetSubtype="0" accel="50000" decel="50000" fill="hold" nodeType="withEffect">
                                  <p:stCondLst>
                                    <p:cond delay="0"/>
                                  </p:stCondLst>
                                  <p:childTnLst>
                                    <p:animMotion origin="layout" path="M 1.94444E-6 0.03171 L 1.94444E-6 0.4618 " pathEditMode="relative" rAng="0" ptsTypes="AA">
                                      <p:cBhvr>
                                        <p:cTn id="65" dur="5000" fill="hold"/>
                                        <p:tgtEl>
                                          <p:spTgt spid="106"/>
                                        </p:tgtEl>
                                        <p:attrNameLst>
                                          <p:attrName>ppt_x</p:attrName>
                                          <p:attrName>ppt_y</p:attrName>
                                        </p:attrNameLst>
                                      </p:cBhvr>
                                      <p:rCtr x="0" y="21505"/>
                                    </p:animMotion>
                                  </p:childTnLst>
                                </p:cTn>
                              </p:par>
                            </p:childTnLst>
                          </p:cTn>
                        </p:par>
                      </p:childTnLst>
                    </p:cTn>
                  </p:par>
                  <p:par>
                    <p:cTn id="66" fill="hold">
                      <p:stCondLst>
                        <p:cond delay="indefinite"/>
                      </p:stCondLst>
                      <p:childTnLst>
                        <p:par>
                          <p:cTn id="67" fill="hold">
                            <p:stCondLst>
                              <p:cond delay="0"/>
                            </p:stCondLst>
                            <p:childTnLst>
                              <p:par>
                                <p:cTn id="68" presetID="3" presetClass="entr" presetSubtype="10" fill="hold" grpId="0" nodeType="clickEffect">
                                  <p:stCondLst>
                                    <p:cond delay="0"/>
                                  </p:stCondLst>
                                  <p:childTnLst>
                                    <p:set>
                                      <p:cBhvr>
                                        <p:cTn id="69" dur="1" fill="hold">
                                          <p:stCondLst>
                                            <p:cond delay="0"/>
                                          </p:stCondLst>
                                        </p:cTn>
                                        <p:tgtEl>
                                          <p:spTgt spid="112"/>
                                        </p:tgtEl>
                                        <p:attrNameLst>
                                          <p:attrName>style.visibility</p:attrName>
                                        </p:attrNameLst>
                                      </p:cBhvr>
                                      <p:to>
                                        <p:strVal val="visible"/>
                                      </p:to>
                                    </p:set>
                                    <p:animEffect transition="in" filter="blinds(horizontal)">
                                      <p:cBhvr>
                                        <p:cTn id="70" dur="500"/>
                                        <p:tgtEl>
                                          <p:spTgt spid="112"/>
                                        </p:tgtEl>
                                      </p:cBhvr>
                                    </p:animEffect>
                                  </p:childTnLst>
                                </p:cTn>
                              </p:par>
                              <p:par>
                                <p:cTn id="71" presetID="3" presetClass="entr" presetSubtype="10" fill="hold" grpId="0" nodeType="withEffect">
                                  <p:stCondLst>
                                    <p:cond delay="0"/>
                                  </p:stCondLst>
                                  <p:childTnLst>
                                    <p:set>
                                      <p:cBhvr>
                                        <p:cTn id="72" dur="1" fill="hold">
                                          <p:stCondLst>
                                            <p:cond delay="0"/>
                                          </p:stCondLst>
                                        </p:cTn>
                                        <p:tgtEl>
                                          <p:spTgt spid="113"/>
                                        </p:tgtEl>
                                        <p:attrNameLst>
                                          <p:attrName>style.visibility</p:attrName>
                                        </p:attrNameLst>
                                      </p:cBhvr>
                                      <p:to>
                                        <p:strVal val="visible"/>
                                      </p:to>
                                    </p:set>
                                    <p:animEffect transition="in" filter="blinds(horizontal)">
                                      <p:cBhvr>
                                        <p:cTn id="73" dur="500"/>
                                        <p:tgtEl>
                                          <p:spTgt spid="113"/>
                                        </p:tgtEl>
                                      </p:cBhvr>
                                    </p:animEffect>
                                  </p:childTnLst>
                                </p:cTn>
                              </p:par>
                            </p:childTnLst>
                          </p:cTn>
                        </p:par>
                      </p:childTnLst>
                    </p:cTn>
                  </p:par>
                  <p:par>
                    <p:cTn id="74" fill="hold">
                      <p:stCondLst>
                        <p:cond delay="indefinite"/>
                      </p:stCondLst>
                      <p:childTnLst>
                        <p:par>
                          <p:cTn id="75" fill="hold">
                            <p:stCondLst>
                              <p:cond delay="0"/>
                            </p:stCondLst>
                            <p:childTnLst>
                              <p:par>
                                <p:cTn id="76" presetID="3" presetClass="entr" presetSubtype="10" fill="hold" grpId="0" nodeType="clickEffect">
                                  <p:stCondLst>
                                    <p:cond delay="0"/>
                                  </p:stCondLst>
                                  <p:childTnLst>
                                    <p:set>
                                      <p:cBhvr>
                                        <p:cTn id="77" dur="1" fill="hold">
                                          <p:stCondLst>
                                            <p:cond delay="0"/>
                                          </p:stCondLst>
                                        </p:cTn>
                                        <p:tgtEl>
                                          <p:spTgt spid="58">
                                            <p:txEl>
                                              <p:pRg st="0" end="0"/>
                                            </p:txEl>
                                          </p:spTgt>
                                        </p:tgtEl>
                                        <p:attrNameLst>
                                          <p:attrName>style.visibility</p:attrName>
                                        </p:attrNameLst>
                                      </p:cBhvr>
                                      <p:to>
                                        <p:strVal val="visible"/>
                                      </p:to>
                                    </p:set>
                                    <p:animEffect transition="in" filter="blinds(horizontal)">
                                      <p:cBhvr>
                                        <p:cTn id="78" dur="500"/>
                                        <p:tgtEl>
                                          <p:spTgt spid="58">
                                            <p:txEl>
                                              <p:pRg st="0" end="0"/>
                                            </p:txEl>
                                          </p:spTgt>
                                        </p:tgtEl>
                                      </p:cBhvr>
                                    </p:animEffect>
                                  </p:childTnLst>
                                </p:cTn>
                              </p:par>
                              <p:par>
                                <p:cTn id="79" presetID="3" presetClass="entr" presetSubtype="10" fill="hold" grpId="0" nodeType="withEffect">
                                  <p:stCondLst>
                                    <p:cond delay="0"/>
                                  </p:stCondLst>
                                  <p:childTnLst>
                                    <p:set>
                                      <p:cBhvr>
                                        <p:cTn id="80" dur="1" fill="hold">
                                          <p:stCondLst>
                                            <p:cond delay="0"/>
                                          </p:stCondLst>
                                        </p:cTn>
                                        <p:tgtEl>
                                          <p:spTgt spid="58">
                                            <p:txEl>
                                              <p:pRg st="1" end="1"/>
                                            </p:txEl>
                                          </p:spTgt>
                                        </p:tgtEl>
                                        <p:attrNameLst>
                                          <p:attrName>style.visibility</p:attrName>
                                        </p:attrNameLst>
                                      </p:cBhvr>
                                      <p:to>
                                        <p:strVal val="visible"/>
                                      </p:to>
                                    </p:set>
                                    <p:animEffect transition="in" filter="blinds(horizontal)">
                                      <p:cBhvr>
                                        <p:cTn id="81" dur="500"/>
                                        <p:tgtEl>
                                          <p:spTgt spid="58">
                                            <p:txEl>
                                              <p:pRg st="1" end="1"/>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3" presetClass="entr" presetSubtype="10" fill="hold" grpId="0" nodeType="clickEffect">
                                  <p:stCondLst>
                                    <p:cond delay="0"/>
                                  </p:stCondLst>
                                  <p:childTnLst>
                                    <p:set>
                                      <p:cBhvr>
                                        <p:cTn id="85" dur="1" fill="hold">
                                          <p:stCondLst>
                                            <p:cond delay="0"/>
                                          </p:stCondLst>
                                        </p:cTn>
                                        <p:tgtEl>
                                          <p:spTgt spid="58">
                                            <p:txEl>
                                              <p:pRg st="2" end="2"/>
                                            </p:txEl>
                                          </p:spTgt>
                                        </p:tgtEl>
                                        <p:attrNameLst>
                                          <p:attrName>style.visibility</p:attrName>
                                        </p:attrNameLst>
                                      </p:cBhvr>
                                      <p:to>
                                        <p:strVal val="visible"/>
                                      </p:to>
                                    </p:set>
                                    <p:animEffect transition="in" filter="blinds(horizontal)">
                                      <p:cBhvr>
                                        <p:cTn id="86" dur="500"/>
                                        <p:tgtEl>
                                          <p:spTgt spid="58">
                                            <p:txEl>
                                              <p:pRg st="2" end="2"/>
                                            </p:txEl>
                                          </p:spTgt>
                                        </p:tgtEl>
                                      </p:cBhvr>
                                    </p:animEffect>
                                  </p:childTnLst>
                                </p:cTn>
                              </p:par>
                              <p:par>
                                <p:cTn id="87" presetID="3" presetClass="entr" presetSubtype="10" fill="hold" grpId="0" nodeType="withEffect">
                                  <p:stCondLst>
                                    <p:cond delay="0"/>
                                  </p:stCondLst>
                                  <p:childTnLst>
                                    <p:set>
                                      <p:cBhvr>
                                        <p:cTn id="88" dur="1" fill="hold">
                                          <p:stCondLst>
                                            <p:cond delay="0"/>
                                          </p:stCondLst>
                                        </p:cTn>
                                        <p:tgtEl>
                                          <p:spTgt spid="58">
                                            <p:txEl>
                                              <p:pRg st="3" end="3"/>
                                            </p:txEl>
                                          </p:spTgt>
                                        </p:tgtEl>
                                        <p:attrNameLst>
                                          <p:attrName>style.visibility</p:attrName>
                                        </p:attrNameLst>
                                      </p:cBhvr>
                                      <p:to>
                                        <p:strVal val="visible"/>
                                      </p:to>
                                    </p:set>
                                    <p:animEffect transition="in" filter="blinds(horizontal)">
                                      <p:cBhvr>
                                        <p:cTn id="89" dur="500"/>
                                        <p:tgtEl>
                                          <p:spTgt spid="58">
                                            <p:txEl>
                                              <p:pRg st="3" end="3"/>
                                            </p:txEl>
                                          </p:spTgt>
                                        </p:tgtEl>
                                      </p:cBhvr>
                                    </p:animEffect>
                                  </p:childTnLst>
                                </p:cTn>
                              </p:par>
                              <p:par>
                                <p:cTn id="90" presetID="3" presetClass="entr" presetSubtype="10" fill="hold" grpId="0" nodeType="withEffect">
                                  <p:stCondLst>
                                    <p:cond delay="0"/>
                                  </p:stCondLst>
                                  <p:childTnLst>
                                    <p:set>
                                      <p:cBhvr>
                                        <p:cTn id="91" dur="1" fill="hold">
                                          <p:stCondLst>
                                            <p:cond delay="0"/>
                                          </p:stCondLst>
                                        </p:cTn>
                                        <p:tgtEl>
                                          <p:spTgt spid="58">
                                            <p:txEl>
                                              <p:pRg st="4" end="4"/>
                                            </p:txEl>
                                          </p:spTgt>
                                        </p:tgtEl>
                                        <p:attrNameLst>
                                          <p:attrName>style.visibility</p:attrName>
                                        </p:attrNameLst>
                                      </p:cBhvr>
                                      <p:to>
                                        <p:strVal val="visible"/>
                                      </p:to>
                                    </p:set>
                                    <p:animEffect transition="in" filter="blinds(horizontal)">
                                      <p:cBhvr>
                                        <p:cTn id="92" dur="500"/>
                                        <p:tgtEl>
                                          <p:spTgt spid="5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build="p"/>
      <p:bldP spid="60" grpId="0"/>
      <p:bldP spid="61" grpId="0"/>
      <p:bldP spid="62" grpId="0"/>
      <p:bldP spid="63" grpId="0"/>
      <p:bldP spid="64" grpId="0"/>
      <p:bldP spid="65" grpId="0"/>
      <p:bldP spid="66" grpId="0"/>
      <p:bldP spid="67" grpId="0"/>
      <p:bldP spid="68" grpId="0" animBg="1"/>
      <p:bldP spid="70" grpId="0"/>
      <p:bldP spid="71" grpId="0"/>
      <p:bldP spid="112" grpId="0" animBg="1"/>
      <p:bldP spid="11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0A2774C6-6DA1-2547-84E3-F6CDB62A2C16}"/>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可变分区存储管理</a:t>
            </a:r>
          </a:p>
        </p:txBody>
      </p:sp>
      <p:sp>
        <p:nvSpPr>
          <p:cNvPr id="37891" name="Rectangle 3">
            <a:extLst>
              <a:ext uri="{FF2B5EF4-FFF2-40B4-BE49-F238E27FC236}">
                <a16:creationId xmlns:a16="http://schemas.microsoft.com/office/drawing/2014/main" id="{9900DC44-9BE9-2A4C-979C-DF297FE9E75A}"/>
              </a:ext>
            </a:extLst>
          </p:cNvPr>
          <p:cNvSpPr>
            <a:spLocks noGrp="1" noChangeArrowheads="1"/>
          </p:cNvSpPr>
          <p:nvPr>
            <p:ph type="body" idx="1"/>
          </p:nvPr>
        </p:nvSpPr>
        <p:spPr>
          <a:xfrm>
            <a:off x="468313" y="1284288"/>
            <a:ext cx="8429625" cy="5221287"/>
          </a:xfrm>
        </p:spPr>
        <p:txBody>
          <a:bodyPr/>
          <a:lstStyle/>
          <a:p>
            <a:pPr marL="0" indent="0" algn="just" eaLnBrk="1" hangingPunct="1">
              <a:lnSpc>
                <a:spcPts val="4500"/>
              </a:lnSpc>
              <a:spcBef>
                <a:spcPct val="0"/>
              </a:spcBef>
              <a:buFont typeface="Wingdings" pitchFamily="2" charset="2"/>
              <a:buNone/>
            </a:pPr>
            <a:r>
              <a:rPr lang="zh-CN" altLang="zh-CN" sz="2000">
                <a:solidFill>
                  <a:srgbClr val="FF0000"/>
                </a:solidFill>
                <a:effectLst/>
                <a:latin typeface="Times New Roman" panose="02020603050405020304" pitchFamily="18" charset="0"/>
                <a:cs typeface="Times New Roman" panose="02020603050405020304" pitchFamily="18" charset="0"/>
              </a:rPr>
              <a:t>注意</a:t>
            </a:r>
            <a:r>
              <a:rPr lang="zh-CN" altLang="en-US" sz="2000">
                <a:solidFill>
                  <a:srgbClr val="FF0000"/>
                </a:solidFill>
                <a:effectLst/>
                <a:latin typeface="宋体" panose="02010600030101010101" pitchFamily="2" charset="-122"/>
                <a:cs typeface="Times New Roman" panose="02020603050405020304" pitchFamily="18" charset="0"/>
              </a:rPr>
              <a:t>：</a:t>
            </a:r>
            <a:endParaRPr lang="zh-CN" altLang="en-US" sz="2000">
              <a:solidFill>
                <a:srgbClr val="FF0000"/>
              </a:solidFill>
              <a:effectLst/>
              <a:latin typeface="宋体" panose="02010600030101010101" pitchFamily="2" charset="-122"/>
            </a:endParaRPr>
          </a:p>
          <a:p>
            <a:pPr marL="0" indent="0" algn="just" eaLnBrk="1" hangingPunct="1">
              <a:lnSpc>
                <a:spcPts val="4500"/>
              </a:lnSpc>
              <a:spcBef>
                <a:spcPct val="0"/>
              </a:spcBef>
              <a:buFont typeface="Wingdings" pitchFamily="2" charset="2"/>
              <a:buNone/>
            </a:pPr>
            <a:r>
              <a:rPr lang="zh-CN" altLang="en-US" sz="2000">
                <a:solidFill>
                  <a:schemeClr val="tx1"/>
                </a:solidFill>
                <a:effectLst/>
                <a:latin typeface="宋体" panose="02010600030101010101" pitchFamily="2" charset="-122"/>
              </a:rPr>
              <a:t> 最佳适应算法</a:t>
            </a:r>
            <a:r>
              <a:rPr lang="zh-CN" altLang="zh-CN" sz="2000">
                <a:solidFill>
                  <a:schemeClr val="tx1"/>
                </a:solidFill>
                <a:effectLst/>
                <a:latin typeface="Times New Roman" panose="02020603050405020304" pitchFamily="18" charset="0"/>
                <a:cs typeface="Times New Roman" panose="02020603050405020304" pitchFamily="18" charset="0"/>
              </a:rPr>
              <a:t>的最佳仅仅是针对每次分配而言的。若从分配的整体情况来看，由于每次分配后所剩余的空闲空间总是最小，那么随着分配的不断进行，就会在内存留下越来越多无法再继续使用的小空闲分区。而且每次分配都是从空闲分区链链首的最小空闲分区开始查找，这必然增加了查找时间。此外在回收内存区时，首先考虑的是该回收内存区是否存在与之相邻的空闲分区，为了将回收的内存区与相邻的空闲分区合并成一个空闲分区，可能要查遍整个空闲分区链</a:t>
            </a:r>
            <a:r>
              <a:rPr lang="zh-CN" altLang="en-US" sz="2000">
                <a:solidFill>
                  <a:schemeClr val="tx1"/>
                </a:solidFill>
                <a:effectLst/>
                <a:latin typeface="Times New Roman" panose="02020603050405020304" pitchFamily="18" charset="0"/>
                <a:cs typeface="Times New Roman" panose="02020603050405020304" pitchFamily="18" charset="0"/>
              </a:rPr>
              <a:t>，因为空闲分区是按大小排列而不是按地址排列的。 </a:t>
            </a:r>
            <a:endParaRPr lang="en-US" altLang="zh-CN" sz="2000">
              <a:solidFill>
                <a:schemeClr val="tx1"/>
              </a:solidFill>
              <a:effectLst/>
              <a:latin typeface="Times New Roman" panose="02020603050405020304" pitchFamily="18" charset="0"/>
              <a:cs typeface="Times New Roman" panose="02020603050405020304" pitchFamily="18" charset="0"/>
            </a:endParaRPr>
          </a:p>
        </p:txBody>
      </p:sp>
    </p:spTree>
  </p:cSld>
  <p:clrMapOvr>
    <a:masterClrMapping/>
  </p:clrMapOvr>
  <p:transition>
    <p:random/>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a:extLst>
              <a:ext uri="{FF2B5EF4-FFF2-40B4-BE49-F238E27FC236}">
                <a16:creationId xmlns:a16="http://schemas.microsoft.com/office/drawing/2014/main" id="{422CC34E-01DD-F947-B37F-C161BEA0CC05}"/>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可变分区存储管理</a:t>
            </a:r>
          </a:p>
        </p:txBody>
      </p:sp>
      <p:sp>
        <p:nvSpPr>
          <p:cNvPr id="47107" name="Rectangle 3">
            <a:extLst>
              <a:ext uri="{FF2B5EF4-FFF2-40B4-BE49-F238E27FC236}">
                <a16:creationId xmlns:a16="http://schemas.microsoft.com/office/drawing/2014/main" id="{344BF148-12B2-8144-AA30-1990D65762A8}"/>
              </a:ext>
            </a:extLst>
          </p:cNvPr>
          <p:cNvSpPr>
            <a:spLocks noGrp="1" noChangeArrowheads="1"/>
          </p:cNvSpPr>
          <p:nvPr>
            <p:ph type="body" idx="1"/>
          </p:nvPr>
        </p:nvSpPr>
        <p:spPr>
          <a:xfrm>
            <a:off x="571500" y="1341438"/>
            <a:ext cx="8001000" cy="5148262"/>
          </a:xfrm>
        </p:spPr>
        <p:txBody>
          <a:bodyPr/>
          <a:lstStyle/>
          <a:p>
            <a:pPr marL="0" indent="342900" algn="just" eaLnBrk="1" hangingPunct="1">
              <a:lnSpc>
                <a:spcPts val="4000"/>
              </a:lnSpc>
              <a:spcBef>
                <a:spcPct val="0"/>
              </a:spcBef>
              <a:buFont typeface="Wingdings" pitchFamily="2" charset="2"/>
              <a:buNone/>
            </a:pPr>
            <a:r>
              <a:rPr lang="zh-CN" altLang="en-US" sz="2000">
                <a:solidFill>
                  <a:srgbClr val="FF0000"/>
                </a:solidFill>
                <a:effectLst/>
                <a:latin typeface="宋体" panose="02010600030101010101" pitchFamily="2" charset="-122"/>
              </a:rPr>
              <a:t>（</a:t>
            </a:r>
            <a:r>
              <a:rPr lang="en-US" altLang="zh-CN" sz="2000">
                <a:solidFill>
                  <a:srgbClr val="FF0000"/>
                </a:solidFill>
                <a:effectLst/>
                <a:latin typeface="宋体" panose="02010600030101010101" pitchFamily="2" charset="-122"/>
              </a:rPr>
              <a:t>3</a:t>
            </a:r>
            <a:r>
              <a:rPr lang="zh-CN" altLang="en-US" sz="2000">
                <a:solidFill>
                  <a:srgbClr val="FF0000"/>
                </a:solidFill>
                <a:effectLst/>
                <a:latin typeface="宋体" panose="02010600030101010101" pitchFamily="2" charset="-122"/>
              </a:rPr>
              <a:t>）最差适应算法</a:t>
            </a:r>
          </a:p>
          <a:p>
            <a:pPr marL="0" indent="342900" algn="just" eaLnBrk="1" hangingPunct="1">
              <a:lnSpc>
                <a:spcPts val="4000"/>
              </a:lnSpc>
              <a:spcBef>
                <a:spcPct val="0"/>
              </a:spcBef>
              <a:buFont typeface="Wingdings" pitchFamily="2" charset="2"/>
              <a:buNone/>
            </a:pPr>
            <a:r>
              <a:rPr lang="zh-CN" altLang="en-US" sz="2000">
                <a:solidFill>
                  <a:schemeClr val="tx1"/>
                </a:solidFill>
                <a:effectLst/>
                <a:latin typeface="宋体" panose="02010600030101010101" pitchFamily="2" charset="-122"/>
              </a:rPr>
              <a:t>要求</a:t>
            </a:r>
            <a:r>
              <a:rPr lang="zh-CN" altLang="en-US" sz="2000">
                <a:solidFill>
                  <a:srgbClr val="0000FF"/>
                </a:solidFill>
                <a:effectLst/>
                <a:latin typeface="宋体" panose="02010600030101010101" pitchFamily="2" charset="-122"/>
              </a:rPr>
              <a:t>空闲分区按分区大小递减的次序排列</a:t>
            </a:r>
            <a:r>
              <a:rPr lang="zh-CN" altLang="en-US" sz="2000">
                <a:solidFill>
                  <a:schemeClr val="tx1"/>
                </a:solidFill>
                <a:effectLst/>
                <a:latin typeface="宋体" panose="02010600030101010101" pitchFamily="2" charset="-122"/>
              </a:rPr>
              <a:t>在空闲分区链上，每一次总是把空闲分区链链首的最大的空闲分区分配给请求的用户程序；若该空闲分区小于程序要求的大小则分配失败；若能够满足程序的要求，则按程序要求的大小从该空闲分区中划出一块连续区域分配给它。</a:t>
            </a:r>
          </a:p>
          <a:p>
            <a:pPr marL="0" indent="342900" algn="just" eaLnBrk="1" hangingPunct="1">
              <a:lnSpc>
                <a:spcPts val="4000"/>
              </a:lnSpc>
              <a:spcBef>
                <a:spcPct val="0"/>
              </a:spcBef>
              <a:buFont typeface="Wingdings" pitchFamily="2" charset="2"/>
              <a:buNone/>
            </a:pPr>
            <a:r>
              <a:rPr lang="zh-CN" altLang="en-US" sz="2000">
                <a:solidFill>
                  <a:srgbClr val="FF0000"/>
                </a:solidFill>
                <a:effectLst/>
                <a:latin typeface="宋体" panose="02010600030101010101" pitchFamily="2" charset="-122"/>
              </a:rPr>
              <a:t>优点：</a:t>
            </a:r>
            <a:r>
              <a:rPr lang="zh-CN" altLang="zh-CN" sz="2000">
                <a:solidFill>
                  <a:schemeClr val="tx1"/>
                </a:solidFill>
                <a:effectLst/>
                <a:latin typeface="宋体" panose="02010600030101010101" pitchFamily="2" charset="-122"/>
              </a:rPr>
              <a:t>总是选择内存中最大的空闲分区进行分配，因此分配后所剩余的部分也相对较大，这有利于以后再分配给其他程序使用。</a:t>
            </a:r>
            <a:endParaRPr lang="en-US" altLang="zh-CN" sz="2000">
              <a:solidFill>
                <a:schemeClr val="tx1"/>
              </a:solidFill>
              <a:effectLst/>
              <a:latin typeface="宋体" panose="02010600030101010101" pitchFamily="2" charset="-122"/>
            </a:endParaRPr>
          </a:p>
          <a:p>
            <a:pPr marL="0" indent="342900" algn="just" eaLnBrk="1" hangingPunct="1">
              <a:lnSpc>
                <a:spcPts val="4000"/>
              </a:lnSpc>
              <a:spcBef>
                <a:spcPct val="0"/>
              </a:spcBef>
              <a:buFont typeface="Wingdings" pitchFamily="2" charset="2"/>
              <a:buNone/>
            </a:pPr>
            <a:r>
              <a:rPr lang="zh-CN" altLang="en-US" sz="2000">
                <a:solidFill>
                  <a:srgbClr val="0000FF"/>
                </a:solidFill>
                <a:effectLst>
                  <a:outerShdw blurRad="38100" dist="38100" dir="2700000" algn="tl">
                    <a:srgbClr val="FFFFFF"/>
                  </a:outerShdw>
                </a:effectLst>
              </a:rPr>
              <a:t>在回收内存区时，为了将回收的内存区与相邻的空闲分区合并成一个空闲分区，可能要查遍整个空闲分区链，因为空闲分区是按大小排列而不是按地址排列的。</a:t>
            </a:r>
            <a:endParaRPr lang="en-US" altLang="zh-CN" sz="2000">
              <a:solidFill>
                <a:schemeClr val="tx1"/>
              </a:solidFill>
              <a:effectLst/>
              <a:latin typeface="宋体" panose="02010600030101010101" pitchFamily="2" charset="-122"/>
            </a:endParaRPr>
          </a:p>
          <a:p>
            <a:pPr marL="0" indent="342900" eaLnBrk="1" hangingPunct="1">
              <a:lnSpc>
                <a:spcPct val="150000"/>
              </a:lnSpc>
              <a:spcBef>
                <a:spcPct val="0"/>
              </a:spcBef>
              <a:buFont typeface="Wingdings" pitchFamily="2" charset="2"/>
              <a:buNone/>
            </a:pPr>
            <a:endParaRPr lang="zh-CN" altLang="en-US" sz="2000">
              <a:solidFill>
                <a:schemeClr val="tx1"/>
              </a:solidFill>
              <a:effectLst/>
              <a:latin typeface="宋体" panose="02010600030101010101" pitchFamily="2" charset="-122"/>
            </a:endParaRPr>
          </a:p>
          <a:p>
            <a:pPr marL="0" indent="34290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内容占位符 2">
            <a:extLst>
              <a:ext uri="{FF2B5EF4-FFF2-40B4-BE49-F238E27FC236}">
                <a16:creationId xmlns:a16="http://schemas.microsoft.com/office/drawing/2014/main" id="{0E71B606-1F0D-F34E-9A3D-541690726E98}"/>
              </a:ext>
            </a:extLst>
          </p:cNvPr>
          <p:cNvSpPr txBox="1">
            <a:spLocks/>
          </p:cNvSpPr>
          <p:nvPr/>
        </p:nvSpPr>
        <p:spPr bwMode="auto">
          <a:xfrm>
            <a:off x="755576" y="1484784"/>
            <a:ext cx="5038147" cy="435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rPr>
              <a:t>最坏适应算法</a:t>
            </a:r>
            <a:endParaRPr kumimoji="0" lang="en-US" altLang="zh-CN" sz="24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Arial" panose="020B0604020202020204" pitchFamily="34" charset="0"/>
                <a:ea typeface="幼圆" pitchFamily="49" charset="-122"/>
                <a:cs typeface="+mn-cs"/>
              </a:rPr>
              <a:t>扫描整个空闲分区表或链，找最大的分区分配</a:t>
            </a:r>
            <a:endParaRPr kumimoji="0" lang="en-US" altLang="zh-CN" sz="2400" b="1" i="0" u="none" strike="noStrike" kern="1200" cap="none" spc="0" normalizeH="0" baseline="0" noProof="0">
              <a:ln>
                <a:noFill/>
              </a:ln>
              <a:solidFill>
                <a:srgbClr val="000000"/>
              </a:solidFill>
              <a:effectLst/>
              <a:uLnTx/>
              <a:uFillTx/>
              <a:latin typeface="Arial" panose="020B0604020202020204" pitchFamily="34" charset="0"/>
              <a:ea typeface="幼圆" pitchFamily="49" charset="-122"/>
              <a:cs typeface="+mn-cs"/>
            </a:endParaRPr>
          </a:p>
          <a:p>
            <a:pPr marL="342900" marR="0" lvl="0" indent="-34290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rPr>
              <a:t>特点</a:t>
            </a:r>
            <a:endParaRPr kumimoji="0" lang="en-US" altLang="zh-CN" sz="2400" b="1" i="0" u="none" strike="noStrike" kern="1200" cap="none" spc="0" normalizeH="0" baseline="0" noProof="0">
              <a:ln>
                <a:noFill/>
              </a:ln>
              <a:solidFill>
                <a:srgbClr val="0000FF"/>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Calibri"/>
                <a:ea typeface="幼圆" pitchFamily="49" charset="-122"/>
                <a:cs typeface="+mn-cs"/>
              </a:rPr>
              <a:t>所有的空闲区按其大小以递减的顺序形成一空闲区链</a:t>
            </a:r>
            <a:endParaRPr kumimoji="0" lang="en-US" altLang="zh-CN" sz="2400" b="1" i="0" u="none" strike="noStrike" kern="1200" cap="none" spc="0" normalizeH="0" baseline="0" noProof="0">
              <a:ln>
                <a:noFill/>
              </a:ln>
              <a:solidFill>
                <a:srgbClr val="000000"/>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Calibri"/>
                <a:ea typeface="幼圆" pitchFamily="49" charset="-122"/>
                <a:cs typeface="+mn-cs"/>
              </a:rPr>
              <a:t>可能会缺少大的分区</a:t>
            </a:r>
            <a:endParaRPr kumimoji="0" lang="en-US" altLang="zh-CN" sz="2400" b="1" i="0" u="none" strike="noStrike" kern="1200" cap="none" spc="0" normalizeH="0" baseline="0" noProof="0">
              <a:ln>
                <a:noFill/>
              </a:ln>
              <a:solidFill>
                <a:srgbClr val="000000"/>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Calibri"/>
                <a:ea typeface="幼圆" pitchFamily="49" charset="-122"/>
                <a:cs typeface="+mn-cs"/>
              </a:rPr>
              <a:t>产生碎片的可能性小</a:t>
            </a:r>
            <a:endParaRPr kumimoji="0" lang="en-US" altLang="zh-CN" sz="2400" b="1" i="0" u="none" strike="noStrike" kern="1200" cap="none" spc="0" normalizeH="0" baseline="0" noProof="0">
              <a:ln>
                <a:noFill/>
              </a:ln>
              <a:solidFill>
                <a:srgbClr val="000000"/>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Calibri"/>
                <a:ea typeface="幼圆" pitchFamily="49" charset="-122"/>
                <a:cs typeface="+mn-cs"/>
              </a:rPr>
              <a:t>查找效率高</a:t>
            </a:r>
            <a:endParaRPr kumimoji="0" lang="en-US" altLang="zh-CN" sz="2400" b="1" i="0" u="none" strike="noStrike" kern="1200" cap="none" spc="0" normalizeH="0" baseline="0" noProof="0">
              <a:ln>
                <a:noFill/>
              </a:ln>
              <a:solidFill>
                <a:srgbClr val="000000"/>
              </a:solidFill>
              <a:effectLst/>
              <a:uLnTx/>
              <a:uFillTx/>
              <a:latin typeface="Calibri"/>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a:ln>
                  <a:noFill/>
                </a:ln>
                <a:solidFill>
                  <a:srgbClr val="000000"/>
                </a:solidFill>
                <a:effectLst/>
                <a:uLnTx/>
                <a:uFillTx/>
                <a:latin typeface="Calibri"/>
                <a:ea typeface="幼圆" pitchFamily="49" charset="-122"/>
                <a:cs typeface="+mn-cs"/>
              </a:rPr>
              <a:t>对中小作业有利</a:t>
            </a:r>
            <a:endParaRPr kumimoji="0" lang="zh-CN" altLang="en-US" sz="2400" b="1" i="0" u="none" strike="noStrike" kern="1200" cap="none" spc="0" normalizeH="0" baseline="0" noProof="0" dirty="0">
              <a:ln>
                <a:noFill/>
              </a:ln>
              <a:solidFill>
                <a:srgbClr val="0000FF"/>
              </a:solidFill>
              <a:effectLst/>
              <a:uLnTx/>
              <a:uFillTx/>
              <a:latin typeface="Calibri"/>
              <a:ea typeface="宋体"/>
              <a:cs typeface="+mn-cs"/>
            </a:endParaRPr>
          </a:p>
        </p:txBody>
      </p:sp>
      <p:graphicFrame>
        <p:nvGraphicFramePr>
          <p:cNvPr id="56" name="Group 158">
            <a:extLst>
              <a:ext uri="{FF2B5EF4-FFF2-40B4-BE49-F238E27FC236}">
                <a16:creationId xmlns:a16="http://schemas.microsoft.com/office/drawing/2014/main" id="{589DBA46-D6B4-244A-B7A7-129C17BD426F}"/>
              </a:ext>
            </a:extLst>
          </p:cNvPr>
          <p:cNvGraphicFramePr>
            <a:graphicFrameLocks noGrp="1"/>
          </p:cNvGraphicFramePr>
          <p:nvPr>
            <p:extLst>
              <p:ext uri="{D42A27DB-BD31-4B8C-83A1-F6EECF244321}">
                <p14:modId xmlns:p14="http://schemas.microsoft.com/office/powerpoint/2010/main" val="857385067"/>
              </p:ext>
            </p:extLst>
          </p:nvPr>
        </p:nvGraphicFramePr>
        <p:xfrm>
          <a:off x="6964108" y="1681992"/>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57" name="Text Box 159">
            <a:extLst>
              <a:ext uri="{FF2B5EF4-FFF2-40B4-BE49-F238E27FC236}">
                <a16:creationId xmlns:a16="http://schemas.microsoft.com/office/drawing/2014/main" id="{8E2C77E9-7E9D-3345-B06B-E5A29AFF46D8}"/>
              </a:ext>
            </a:extLst>
          </p:cNvPr>
          <p:cNvSpPr txBox="1">
            <a:spLocks noChangeArrowheads="1"/>
          </p:cNvSpPr>
          <p:nvPr/>
        </p:nvSpPr>
        <p:spPr bwMode="auto">
          <a:xfrm>
            <a:off x="7091505" y="1665323"/>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58" name="Text Box 160">
            <a:extLst>
              <a:ext uri="{FF2B5EF4-FFF2-40B4-BE49-F238E27FC236}">
                <a16:creationId xmlns:a16="http://schemas.microsoft.com/office/drawing/2014/main" id="{A1D63067-6EF3-2548-95F3-19E69CC7CE94}"/>
              </a:ext>
            </a:extLst>
          </p:cNvPr>
          <p:cNvSpPr txBox="1">
            <a:spLocks noChangeArrowheads="1"/>
          </p:cNvSpPr>
          <p:nvPr/>
        </p:nvSpPr>
        <p:spPr bwMode="auto">
          <a:xfrm>
            <a:off x="7078408" y="2692831"/>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59" name="Text Box 161">
            <a:extLst>
              <a:ext uri="{FF2B5EF4-FFF2-40B4-BE49-F238E27FC236}">
                <a16:creationId xmlns:a16="http://schemas.microsoft.com/office/drawing/2014/main" id="{4E05FB4A-AD96-CC47-9E2D-3E25C83E4B36}"/>
              </a:ext>
            </a:extLst>
          </p:cNvPr>
          <p:cNvSpPr txBox="1">
            <a:spLocks noChangeArrowheads="1"/>
          </p:cNvSpPr>
          <p:nvPr/>
        </p:nvSpPr>
        <p:spPr bwMode="auto">
          <a:xfrm>
            <a:off x="7078408" y="3282191"/>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60" name="Text Box 162">
            <a:extLst>
              <a:ext uri="{FF2B5EF4-FFF2-40B4-BE49-F238E27FC236}">
                <a16:creationId xmlns:a16="http://schemas.microsoft.com/office/drawing/2014/main" id="{EA26CCBD-23B8-B747-B571-26AF52C779E5}"/>
              </a:ext>
            </a:extLst>
          </p:cNvPr>
          <p:cNvSpPr txBox="1">
            <a:spLocks noChangeArrowheads="1"/>
          </p:cNvSpPr>
          <p:nvPr/>
        </p:nvSpPr>
        <p:spPr bwMode="auto">
          <a:xfrm>
            <a:off x="7123652" y="4114437"/>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8M</a:t>
            </a:r>
          </a:p>
        </p:txBody>
      </p:sp>
      <p:sp>
        <p:nvSpPr>
          <p:cNvPr id="61" name="Text Box 163">
            <a:extLst>
              <a:ext uri="{FF2B5EF4-FFF2-40B4-BE49-F238E27FC236}">
                <a16:creationId xmlns:a16="http://schemas.microsoft.com/office/drawing/2014/main" id="{365F1171-9427-BF44-8BAB-CB57F9764388}"/>
              </a:ext>
            </a:extLst>
          </p:cNvPr>
          <p:cNvSpPr txBox="1">
            <a:spLocks noChangeArrowheads="1"/>
          </p:cNvSpPr>
          <p:nvPr/>
        </p:nvSpPr>
        <p:spPr bwMode="auto">
          <a:xfrm>
            <a:off x="7117698" y="4537110"/>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62" name="Text Box 164">
            <a:extLst>
              <a:ext uri="{FF2B5EF4-FFF2-40B4-BE49-F238E27FC236}">
                <a16:creationId xmlns:a16="http://schemas.microsoft.com/office/drawing/2014/main" id="{990AC4D4-2E40-974E-AEC9-718B32A5E10E}"/>
              </a:ext>
            </a:extLst>
          </p:cNvPr>
          <p:cNvSpPr txBox="1">
            <a:spLocks noChangeArrowheads="1"/>
          </p:cNvSpPr>
          <p:nvPr/>
        </p:nvSpPr>
        <p:spPr bwMode="auto">
          <a:xfrm>
            <a:off x="7078408" y="5157425"/>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63" name="Text Box 165">
            <a:extLst>
              <a:ext uri="{FF2B5EF4-FFF2-40B4-BE49-F238E27FC236}">
                <a16:creationId xmlns:a16="http://schemas.microsoft.com/office/drawing/2014/main" id="{19C567E7-7B48-4D43-B210-951B25F016AC}"/>
              </a:ext>
            </a:extLst>
          </p:cNvPr>
          <p:cNvSpPr txBox="1">
            <a:spLocks noChangeArrowheads="1"/>
          </p:cNvSpPr>
          <p:nvPr/>
        </p:nvSpPr>
        <p:spPr bwMode="auto">
          <a:xfrm>
            <a:off x="7055786" y="5800362"/>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64" name="TextBox 63">
            <a:extLst>
              <a:ext uri="{FF2B5EF4-FFF2-40B4-BE49-F238E27FC236}">
                <a16:creationId xmlns:a16="http://schemas.microsoft.com/office/drawing/2014/main" id="{8C071ABC-E62B-DC4F-BB8E-1D792B6A28B6}"/>
              </a:ext>
            </a:extLst>
          </p:cNvPr>
          <p:cNvSpPr txBox="1">
            <a:spLocks noChangeArrowheads="1"/>
          </p:cNvSpPr>
          <p:nvPr/>
        </p:nvSpPr>
        <p:spPr bwMode="auto">
          <a:xfrm>
            <a:off x="7788319" y="2539240"/>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65" name="矩形 12">
            <a:extLst>
              <a:ext uri="{FF2B5EF4-FFF2-40B4-BE49-F238E27FC236}">
                <a16:creationId xmlns:a16="http://schemas.microsoft.com/office/drawing/2014/main" id="{604AAD85-4DEA-0542-BE69-E2C1A419C288}"/>
              </a:ext>
            </a:extLst>
          </p:cNvPr>
          <p:cNvSpPr>
            <a:spLocks noChangeArrowheads="1"/>
          </p:cNvSpPr>
          <p:nvPr/>
        </p:nvSpPr>
        <p:spPr bwMode="auto">
          <a:xfrm>
            <a:off x="6964108" y="3903698"/>
            <a:ext cx="857250" cy="267890"/>
          </a:xfrm>
          <a:prstGeom prst="rect">
            <a:avLst/>
          </a:prstGeom>
          <a:solidFill>
            <a:srgbClr val="0000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66" name="直接箭头连接符 13">
            <a:extLst>
              <a:ext uri="{FF2B5EF4-FFF2-40B4-BE49-F238E27FC236}">
                <a16:creationId xmlns:a16="http://schemas.microsoft.com/office/drawing/2014/main" id="{32F90CAA-38A8-2A45-9619-3B5FBCC540D0}"/>
              </a:ext>
            </a:extLst>
          </p:cNvPr>
          <p:cNvCxnSpPr>
            <a:cxnSpLocks noChangeShapeType="1"/>
          </p:cNvCxnSpPr>
          <p:nvPr/>
        </p:nvCxnSpPr>
        <p:spPr bwMode="auto">
          <a:xfrm>
            <a:off x="6040184" y="4039429"/>
            <a:ext cx="910828" cy="1190"/>
          </a:xfrm>
          <a:prstGeom prst="straightConnector1">
            <a:avLst/>
          </a:prstGeom>
          <a:noFill/>
          <a:ln w="3810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67" name="TextBox 66">
            <a:extLst>
              <a:ext uri="{FF2B5EF4-FFF2-40B4-BE49-F238E27FC236}">
                <a16:creationId xmlns:a16="http://schemas.microsoft.com/office/drawing/2014/main" id="{EB4E9E58-BBF0-174A-98D4-A531A8AEEDED}"/>
              </a:ext>
            </a:extLst>
          </p:cNvPr>
          <p:cNvSpPr txBox="1">
            <a:spLocks noChangeArrowheads="1"/>
          </p:cNvSpPr>
          <p:nvPr/>
        </p:nvSpPr>
        <p:spPr bwMode="auto">
          <a:xfrm>
            <a:off x="6966491" y="3850119"/>
            <a:ext cx="112514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最近分配</a:t>
            </a:r>
          </a:p>
        </p:txBody>
      </p:sp>
      <p:sp>
        <p:nvSpPr>
          <p:cNvPr id="68" name="TextBox 67">
            <a:extLst>
              <a:ext uri="{FF2B5EF4-FFF2-40B4-BE49-F238E27FC236}">
                <a16:creationId xmlns:a16="http://schemas.microsoft.com/office/drawing/2014/main" id="{7723EDF5-E020-9A4F-891E-023B0352006B}"/>
              </a:ext>
            </a:extLst>
          </p:cNvPr>
          <p:cNvSpPr txBox="1">
            <a:spLocks noChangeArrowheads="1"/>
          </p:cNvSpPr>
          <p:nvPr/>
        </p:nvSpPr>
        <p:spPr bwMode="auto">
          <a:xfrm>
            <a:off x="7747586" y="3235757"/>
            <a:ext cx="489301" cy="2035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D60093"/>
                </a:solidFill>
                <a:latin typeface="幼圆" pitchFamily="49" charset="-122"/>
                <a:ea typeface="幼圆" pitchFamily="49" charset="-122"/>
              </a:rPr>
              <a:t>分配</a:t>
            </a:r>
            <a:r>
              <a:rPr lang="en-US" altLang="zh-CN" sz="1800">
                <a:solidFill>
                  <a:srgbClr val="D60093"/>
                </a:solidFill>
                <a:latin typeface="幼圆" pitchFamily="49" charset="-122"/>
                <a:ea typeface="幼圆" pitchFamily="49" charset="-122"/>
              </a:rPr>
              <a:t>16MB</a:t>
            </a:r>
            <a:r>
              <a:rPr lang="zh-CN" altLang="en-US" sz="1800">
                <a:solidFill>
                  <a:srgbClr val="D60093"/>
                </a:solidFill>
                <a:latin typeface="幼圆" pitchFamily="49" charset="-122"/>
                <a:ea typeface="幼圆" pitchFamily="49" charset="-122"/>
              </a:rPr>
              <a:t>空间</a:t>
            </a:r>
          </a:p>
        </p:txBody>
      </p:sp>
      <p:grpSp>
        <p:nvGrpSpPr>
          <p:cNvPr id="69" name="组合 60">
            <a:extLst>
              <a:ext uri="{FF2B5EF4-FFF2-40B4-BE49-F238E27FC236}">
                <a16:creationId xmlns:a16="http://schemas.microsoft.com/office/drawing/2014/main" id="{5008DEC6-0AC7-3D4A-8C10-2E9966012AD9}"/>
              </a:ext>
            </a:extLst>
          </p:cNvPr>
          <p:cNvGrpSpPr>
            <a:grpSpLocks/>
          </p:cNvGrpSpPr>
          <p:nvPr/>
        </p:nvGrpSpPr>
        <p:grpSpPr bwMode="auto">
          <a:xfrm>
            <a:off x="5602034" y="1665323"/>
            <a:ext cx="2250281" cy="4581974"/>
            <a:chOff x="2500298" y="620667"/>
            <a:chExt cx="3000396" cy="6109089"/>
          </a:xfrm>
        </p:grpSpPr>
        <p:grpSp>
          <p:nvGrpSpPr>
            <p:cNvPr id="70" name="组合 40">
              <a:extLst>
                <a:ext uri="{FF2B5EF4-FFF2-40B4-BE49-F238E27FC236}">
                  <a16:creationId xmlns:a16="http://schemas.microsoft.com/office/drawing/2014/main" id="{8F5E60EA-1AF1-F64F-84BB-A4492E57B9DB}"/>
                </a:ext>
              </a:extLst>
            </p:cNvPr>
            <p:cNvGrpSpPr/>
            <p:nvPr/>
          </p:nvGrpSpPr>
          <p:grpSpPr>
            <a:xfrm>
              <a:off x="2500298" y="620667"/>
              <a:ext cx="3000396" cy="6072230"/>
              <a:chOff x="3000364" y="621245"/>
              <a:chExt cx="3000396" cy="6143668"/>
            </a:xfrm>
            <a:solidFill>
              <a:srgbClr val="FFFFFF"/>
            </a:solidFill>
          </p:grpSpPr>
          <p:sp>
            <p:nvSpPr>
              <p:cNvPr id="87" name="矩形 34">
                <a:extLst>
                  <a:ext uri="{FF2B5EF4-FFF2-40B4-BE49-F238E27FC236}">
                    <a16:creationId xmlns:a16="http://schemas.microsoft.com/office/drawing/2014/main" id="{E42B1322-5AF6-474D-88F3-B21ABA2BC515}"/>
                  </a:ext>
                </a:extLst>
              </p:cNvPr>
              <p:cNvSpPr/>
              <p:nvPr/>
            </p:nvSpPr>
            <p:spPr bwMode="auto">
              <a:xfrm>
                <a:off x="4286248" y="1357298"/>
                <a:ext cx="1285884" cy="214314"/>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88" name="矩形 35">
                <a:extLst>
                  <a:ext uri="{FF2B5EF4-FFF2-40B4-BE49-F238E27FC236}">
                    <a16:creationId xmlns:a16="http://schemas.microsoft.com/office/drawing/2014/main" id="{BE211F6D-5120-0B4C-A030-FDBF70DDE733}"/>
                  </a:ext>
                </a:extLst>
              </p:cNvPr>
              <p:cNvSpPr/>
              <p:nvPr/>
            </p:nvSpPr>
            <p:spPr bwMode="auto">
              <a:xfrm>
                <a:off x="4286248" y="2643182"/>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89" name="矩形 36">
                <a:extLst>
                  <a:ext uri="{FF2B5EF4-FFF2-40B4-BE49-F238E27FC236}">
                    <a16:creationId xmlns:a16="http://schemas.microsoft.com/office/drawing/2014/main" id="{B8312C12-5DB9-C34A-8710-DF82683ADFA2}"/>
                  </a:ext>
                </a:extLst>
              </p:cNvPr>
              <p:cNvSpPr/>
              <p:nvPr/>
            </p:nvSpPr>
            <p:spPr bwMode="auto">
              <a:xfrm>
                <a:off x="4286248" y="2143116"/>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0" name="矩形 37">
                <a:extLst>
                  <a:ext uri="{FF2B5EF4-FFF2-40B4-BE49-F238E27FC236}">
                    <a16:creationId xmlns:a16="http://schemas.microsoft.com/office/drawing/2014/main" id="{40953727-E3B5-6745-AF9F-707B8B291CEB}"/>
                  </a:ext>
                </a:extLst>
              </p:cNvPr>
              <p:cNvSpPr/>
              <p:nvPr/>
            </p:nvSpPr>
            <p:spPr bwMode="auto">
              <a:xfrm>
                <a:off x="4286248" y="3143248"/>
                <a:ext cx="1285884" cy="500066"/>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1" name="矩形 38">
                <a:extLst>
                  <a:ext uri="{FF2B5EF4-FFF2-40B4-BE49-F238E27FC236}">
                    <a16:creationId xmlns:a16="http://schemas.microsoft.com/office/drawing/2014/main" id="{35E021A7-80C5-BB49-98D5-9316E988A58F}"/>
                  </a:ext>
                </a:extLst>
              </p:cNvPr>
              <p:cNvSpPr/>
              <p:nvPr/>
            </p:nvSpPr>
            <p:spPr bwMode="auto">
              <a:xfrm>
                <a:off x="4286248" y="3786190"/>
                <a:ext cx="1285884" cy="571504"/>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2" name="矩形 39">
                <a:extLst>
                  <a:ext uri="{FF2B5EF4-FFF2-40B4-BE49-F238E27FC236}">
                    <a16:creationId xmlns:a16="http://schemas.microsoft.com/office/drawing/2014/main" id="{DCBBE0F2-3FBC-544E-9006-1EA412555E2F}"/>
                  </a:ext>
                </a:extLst>
              </p:cNvPr>
              <p:cNvSpPr/>
              <p:nvPr/>
            </p:nvSpPr>
            <p:spPr bwMode="auto">
              <a:xfrm>
                <a:off x="4286248" y="4500570"/>
                <a:ext cx="1285884" cy="642942"/>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3" name="矩形 40">
                <a:extLst>
                  <a:ext uri="{FF2B5EF4-FFF2-40B4-BE49-F238E27FC236}">
                    <a16:creationId xmlns:a16="http://schemas.microsoft.com/office/drawing/2014/main" id="{83989F04-DF15-3E43-A65A-0A9048676C88}"/>
                  </a:ext>
                </a:extLst>
              </p:cNvPr>
              <p:cNvSpPr/>
              <p:nvPr/>
            </p:nvSpPr>
            <p:spPr bwMode="auto">
              <a:xfrm>
                <a:off x="4286248" y="5286388"/>
                <a:ext cx="1285884" cy="785818"/>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4" name="矩形 41">
                <a:extLst>
                  <a:ext uri="{FF2B5EF4-FFF2-40B4-BE49-F238E27FC236}">
                    <a16:creationId xmlns:a16="http://schemas.microsoft.com/office/drawing/2014/main" id="{D4E96EAE-4D50-E445-A573-659B3079EC0A}"/>
                  </a:ext>
                </a:extLst>
              </p:cNvPr>
              <p:cNvSpPr/>
              <p:nvPr/>
            </p:nvSpPr>
            <p:spPr bwMode="auto">
              <a:xfrm>
                <a:off x="4286248" y="1643050"/>
                <a:ext cx="1285884" cy="357190"/>
              </a:xfrm>
              <a:prstGeom prst="rect">
                <a:avLst/>
              </a:prstGeom>
              <a:grpFill/>
              <a:ln w="28575" cap="flat" cmpd="sng" algn="ctr">
                <a:solidFill>
                  <a:srgbClr val="000000"/>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95" name="TextBox 94">
                <a:extLst>
                  <a:ext uri="{FF2B5EF4-FFF2-40B4-BE49-F238E27FC236}">
                    <a16:creationId xmlns:a16="http://schemas.microsoft.com/office/drawing/2014/main" id="{A91ACBDB-7ACB-084A-808F-25F2192CE10D}"/>
                  </a:ext>
                </a:extLst>
              </p:cNvPr>
              <p:cNvSpPr txBox="1"/>
              <p:nvPr/>
            </p:nvSpPr>
            <p:spPr>
              <a:xfrm>
                <a:off x="4714876" y="1273718"/>
                <a:ext cx="428628"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6</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96" name="TextBox 95">
                <a:extLst>
                  <a:ext uri="{FF2B5EF4-FFF2-40B4-BE49-F238E27FC236}">
                    <a16:creationId xmlns:a16="http://schemas.microsoft.com/office/drawing/2014/main" id="{3A08F2A4-BF78-DE45-8B9D-2F1DC0DA5322}"/>
                  </a:ext>
                </a:extLst>
              </p:cNvPr>
              <p:cNvSpPr txBox="1"/>
              <p:nvPr/>
            </p:nvSpPr>
            <p:spPr>
              <a:xfrm>
                <a:off x="4714876" y="1571611"/>
                <a:ext cx="428628"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8</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97" name="TextBox 96">
                <a:extLst>
                  <a:ext uri="{FF2B5EF4-FFF2-40B4-BE49-F238E27FC236}">
                    <a16:creationId xmlns:a16="http://schemas.microsoft.com/office/drawing/2014/main" id="{4E6B8CD7-F1F7-1D4F-8367-E256A870345C}"/>
                  </a:ext>
                </a:extLst>
              </p:cNvPr>
              <p:cNvSpPr txBox="1"/>
              <p:nvPr/>
            </p:nvSpPr>
            <p:spPr>
              <a:xfrm>
                <a:off x="4714876" y="2538707"/>
                <a:ext cx="642943"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12</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98" name="TextBox 97">
                <a:extLst>
                  <a:ext uri="{FF2B5EF4-FFF2-40B4-BE49-F238E27FC236}">
                    <a16:creationId xmlns:a16="http://schemas.microsoft.com/office/drawing/2014/main" id="{0006F073-E407-C246-B0A6-03EFEBEDDC5D}"/>
                  </a:ext>
                </a:extLst>
              </p:cNvPr>
              <p:cNvSpPr txBox="1"/>
              <p:nvPr/>
            </p:nvSpPr>
            <p:spPr>
              <a:xfrm>
                <a:off x="4714876" y="3181649"/>
                <a:ext cx="642943"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14</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99" name="TextBox 98">
                <a:extLst>
                  <a:ext uri="{FF2B5EF4-FFF2-40B4-BE49-F238E27FC236}">
                    <a16:creationId xmlns:a16="http://schemas.microsoft.com/office/drawing/2014/main" id="{90D728A6-B34C-BA40-9AEE-B075934FC32C}"/>
                  </a:ext>
                </a:extLst>
              </p:cNvPr>
              <p:cNvSpPr txBox="1"/>
              <p:nvPr/>
            </p:nvSpPr>
            <p:spPr>
              <a:xfrm>
                <a:off x="4714876" y="3824591"/>
                <a:ext cx="714380"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18</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0" name="TextBox 99">
                <a:extLst>
                  <a:ext uri="{FF2B5EF4-FFF2-40B4-BE49-F238E27FC236}">
                    <a16:creationId xmlns:a16="http://schemas.microsoft.com/office/drawing/2014/main" id="{C8DCF305-C14E-0947-BFB8-0711614866E5}"/>
                  </a:ext>
                </a:extLst>
              </p:cNvPr>
              <p:cNvSpPr txBox="1"/>
              <p:nvPr/>
            </p:nvSpPr>
            <p:spPr>
              <a:xfrm>
                <a:off x="4714876" y="4538971"/>
                <a:ext cx="714380"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22</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1" name="TextBox 100">
                <a:extLst>
                  <a:ext uri="{FF2B5EF4-FFF2-40B4-BE49-F238E27FC236}">
                    <a16:creationId xmlns:a16="http://schemas.microsoft.com/office/drawing/2014/main" id="{5BC32B36-B00B-FC48-9C42-0EEB68225C5A}"/>
                  </a:ext>
                </a:extLst>
              </p:cNvPr>
              <p:cNvSpPr txBox="1"/>
              <p:nvPr/>
            </p:nvSpPr>
            <p:spPr>
              <a:xfrm>
                <a:off x="4714876" y="5357826"/>
                <a:ext cx="714380" cy="498219"/>
              </a:xfrm>
              <a:prstGeom prst="rect">
                <a:avLst/>
              </a:prstGeom>
              <a:grpFill/>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pitchFamily="34" charset="0"/>
                  </a:rPr>
                  <a:t>36</a:t>
                </a:r>
                <a:endParaRPr kumimoji="0" lang="zh-CN" altLang="en-US" sz="1800" b="0" i="0" u="none" strike="noStrike" kern="0" cap="none" spc="0" normalizeH="0" baseline="0" noProof="0" dirty="0">
                  <a:ln>
                    <a:noFill/>
                  </a:ln>
                  <a:solidFill>
                    <a:srgbClr val="000000"/>
                  </a:solidFill>
                  <a:effectLst/>
                  <a:uLnTx/>
                  <a:uFillTx/>
                  <a:latin typeface="Arial" panose="020B0604020202020204" pitchFamily="34" charset="0"/>
                </a:endParaRPr>
              </a:p>
            </p:txBody>
          </p:sp>
          <p:sp>
            <p:nvSpPr>
              <p:cNvPr id="102" name="矩形 49">
                <a:extLst>
                  <a:ext uri="{FF2B5EF4-FFF2-40B4-BE49-F238E27FC236}">
                    <a16:creationId xmlns:a16="http://schemas.microsoft.com/office/drawing/2014/main" id="{3827CE30-DFA6-9348-8DF2-8AA40381BF77}"/>
                  </a:ext>
                </a:extLst>
              </p:cNvPr>
              <p:cNvSpPr/>
              <p:nvPr/>
            </p:nvSpPr>
            <p:spPr bwMode="auto">
              <a:xfrm>
                <a:off x="3000364" y="621245"/>
                <a:ext cx="3000396" cy="6143668"/>
              </a:xfrm>
              <a:prstGeom prst="rect">
                <a:avLst/>
              </a:prstGeom>
              <a:grpFill/>
              <a:ln w="12700" cap="flat" cmpd="sng" algn="ctr">
                <a:solidFill>
                  <a:srgbClr val="FFFFCC"/>
                </a:solidFill>
                <a:prstDash val="solid"/>
                <a:round/>
                <a:headEnd type="none" w="sm" len="sm"/>
                <a:tailEnd type="none" w="sm" len="sm"/>
              </a:ln>
              <a:effec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panose="020B0604020202020204" pitchFamily="34" charset="0"/>
                </a:endParaRPr>
              </a:p>
            </p:txBody>
          </p:sp>
        </p:grpSp>
        <p:sp>
          <p:nvSpPr>
            <p:cNvPr id="71" name="矩形 43">
              <a:extLst>
                <a:ext uri="{FF2B5EF4-FFF2-40B4-BE49-F238E27FC236}">
                  <a16:creationId xmlns:a16="http://schemas.microsoft.com/office/drawing/2014/main" id="{CCB6C950-389F-1047-832B-C976F12C2DFC}"/>
                </a:ext>
              </a:extLst>
            </p:cNvPr>
            <p:cNvSpPr>
              <a:spLocks noChangeArrowheads="1"/>
            </p:cNvSpPr>
            <p:nvPr/>
          </p:nvSpPr>
          <p:spPr bwMode="auto">
            <a:xfrm>
              <a:off x="3436409" y="6311621"/>
              <a:ext cx="1214447" cy="285752"/>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2" name="TextBox 44">
              <a:extLst>
                <a:ext uri="{FF2B5EF4-FFF2-40B4-BE49-F238E27FC236}">
                  <a16:creationId xmlns:a16="http://schemas.microsoft.com/office/drawing/2014/main" id="{9CC59EE7-FB09-AB44-BAE8-9C414BAAA3B0}"/>
                </a:ext>
              </a:extLst>
            </p:cNvPr>
            <p:cNvSpPr txBox="1">
              <a:spLocks noChangeArrowheads="1"/>
            </p:cNvSpPr>
            <p:nvPr/>
          </p:nvSpPr>
          <p:spPr bwMode="auto">
            <a:xfrm>
              <a:off x="3940468" y="6237330"/>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6</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3" name="矩形 46">
              <a:extLst>
                <a:ext uri="{FF2B5EF4-FFF2-40B4-BE49-F238E27FC236}">
                  <a16:creationId xmlns:a16="http://schemas.microsoft.com/office/drawing/2014/main" id="{ECB3A134-F0EA-3640-AF28-F7EF54390442}"/>
                </a:ext>
              </a:extLst>
            </p:cNvPr>
            <p:cNvSpPr>
              <a:spLocks noChangeArrowheads="1"/>
            </p:cNvSpPr>
            <p:nvPr/>
          </p:nvSpPr>
          <p:spPr bwMode="auto">
            <a:xfrm>
              <a:off x="3436409" y="5808702"/>
              <a:ext cx="1214447"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4" name="TextBox 47">
              <a:extLst>
                <a:ext uri="{FF2B5EF4-FFF2-40B4-BE49-F238E27FC236}">
                  <a16:creationId xmlns:a16="http://schemas.microsoft.com/office/drawing/2014/main" id="{7C775723-5B4A-9B41-BA6D-D6A5D81C0623}"/>
                </a:ext>
              </a:extLst>
            </p:cNvPr>
            <p:cNvSpPr txBox="1">
              <a:spLocks noChangeArrowheads="1"/>
            </p:cNvSpPr>
            <p:nvPr/>
          </p:nvSpPr>
          <p:spPr bwMode="auto">
            <a:xfrm>
              <a:off x="3940468" y="5775665"/>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5" name="矩形 48">
              <a:extLst>
                <a:ext uri="{FF2B5EF4-FFF2-40B4-BE49-F238E27FC236}">
                  <a16:creationId xmlns:a16="http://schemas.microsoft.com/office/drawing/2014/main" id="{39824B3D-A3C4-8942-9096-A412296C798A}"/>
                </a:ext>
              </a:extLst>
            </p:cNvPr>
            <p:cNvSpPr>
              <a:spLocks noChangeArrowheads="1"/>
            </p:cNvSpPr>
            <p:nvPr/>
          </p:nvSpPr>
          <p:spPr bwMode="auto">
            <a:xfrm>
              <a:off x="3436409" y="5301220"/>
              <a:ext cx="1214447"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6" name="TextBox 49">
              <a:extLst>
                <a:ext uri="{FF2B5EF4-FFF2-40B4-BE49-F238E27FC236}">
                  <a16:creationId xmlns:a16="http://schemas.microsoft.com/office/drawing/2014/main" id="{154437F7-545B-2745-8E91-52D8F490D977}"/>
                </a:ext>
              </a:extLst>
            </p:cNvPr>
            <p:cNvSpPr txBox="1">
              <a:spLocks noChangeArrowheads="1"/>
            </p:cNvSpPr>
            <p:nvPr/>
          </p:nvSpPr>
          <p:spPr bwMode="auto">
            <a:xfrm>
              <a:off x="3940468" y="5271605"/>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7" name="矩形 50">
              <a:extLst>
                <a:ext uri="{FF2B5EF4-FFF2-40B4-BE49-F238E27FC236}">
                  <a16:creationId xmlns:a16="http://schemas.microsoft.com/office/drawing/2014/main" id="{C726C278-EA59-8D40-8443-897DE2E8A3A6}"/>
                </a:ext>
              </a:extLst>
            </p:cNvPr>
            <p:cNvSpPr>
              <a:spLocks noChangeArrowheads="1"/>
            </p:cNvSpPr>
            <p:nvPr/>
          </p:nvSpPr>
          <p:spPr bwMode="auto">
            <a:xfrm>
              <a:off x="3436409" y="4758189"/>
              <a:ext cx="1214447" cy="428628"/>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78" name="TextBox 51">
              <a:extLst>
                <a:ext uri="{FF2B5EF4-FFF2-40B4-BE49-F238E27FC236}">
                  <a16:creationId xmlns:a16="http://schemas.microsoft.com/office/drawing/2014/main" id="{F0BB6AF8-8BDA-2E48-9B22-9CB25EF744EC}"/>
                </a:ext>
              </a:extLst>
            </p:cNvPr>
            <p:cNvSpPr txBox="1">
              <a:spLocks noChangeArrowheads="1"/>
            </p:cNvSpPr>
            <p:nvPr/>
          </p:nvSpPr>
          <p:spPr bwMode="auto">
            <a:xfrm>
              <a:off x="3868460" y="4725151"/>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12</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79" name="矩形 52">
              <a:extLst>
                <a:ext uri="{FF2B5EF4-FFF2-40B4-BE49-F238E27FC236}">
                  <a16:creationId xmlns:a16="http://schemas.microsoft.com/office/drawing/2014/main" id="{A8797A42-FF21-3345-AD89-BBB3F4B48413}"/>
                </a:ext>
              </a:extLst>
            </p:cNvPr>
            <p:cNvSpPr>
              <a:spLocks noChangeArrowheads="1"/>
            </p:cNvSpPr>
            <p:nvPr/>
          </p:nvSpPr>
          <p:spPr bwMode="auto">
            <a:xfrm>
              <a:off x="3436409" y="4009632"/>
              <a:ext cx="1214447" cy="571504"/>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0" name="TextBox 53">
              <a:extLst>
                <a:ext uri="{FF2B5EF4-FFF2-40B4-BE49-F238E27FC236}">
                  <a16:creationId xmlns:a16="http://schemas.microsoft.com/office/drawing/2014/main" id="{D4A9A3E8-173E-E84B-A515-13200636723B}"/>
                </a:ext>
              </a:extLst>
            </p:cNvPr>
            <p:cNvSpPr txBox="1">
              <a:spLocks noChangeArrowheads="1"/>
            </p:cNvSpPr>
            <p:nvPr/>
          </p:nvSpPr>
          <p:spPr bwMode="auto">
            <a:xfrm>
              <a:off x="3868460" y="3976594"/>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14</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1" name="矩形 54">
              <a:extLst>
                <a:ext uri="{FF2B5EF4-FFF2-40B4-BE49-F238E27FC236}">
                  <a16:creationId xmlns:a16="http://schemas.microsoft.com/office/drawing/2014/main" id="{AF7D69CC-BD69-DA43-A856-F07D2474E989}"/>
                </a:ext>
              </a:extLst>
            </p:cNvPr>
            <p:cNvSpPr>
              <a:spLocks noChangeArrowheads="1"/>
            </p:cNvSpPr>
            <p:nvPr/>
          </p:nvSpPr>
          <p:spPr bwMode="auto">
            <a:xfrm>
              <a:off x="3436409" y="3140966"/>
              <a:ext cx="1214447" cy="714380"/>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2" name="矩形 55">
              <a:extLst>
                <a:ext uri="{FF2B5EF4-FFF2-40B4-BE49-F238E27FC236}">
                  <a16:creationId xmlns:a16="http://schemas.microsoft.com/office/drawing/2014/main" id="{7DA9D3E5-F5EE-A24E-95DC-B05250E1F006}"/>
                </a:ext>
              </a:extLst>
            </p:cNvPr>
            <p:cNvSpPr>
              <a:spLocks noChangeArrowheads="1"/>
            </p:cNvSpPr>
            <p:nvPr/>
          </p:nvSpPr>
          <p:spPr bwMode="auto">
            <a:xfrm>
              <a:off x="3436409" y="2060838"/>
              <a:ext cx="1214447" cy="857256"/>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3" name="矩形 56">
              <a:extLst>
                <a:ext uri="{FF2B5EF4-FFF2-40B4-BE49-F238E27FC236}">
                  <a16:creationId xmlns:a16="http://schemas.microsoft.com/office/drawing/2014/main" id="{AEE62D1B-D3F1-C04A-BD69-6B8B5DBF0DD9}"/>
                </a:ext>
              </a:extLst>
            </p:cNvPr>
            <p:cNvSpPr>
              <a:spLocks noChangeArrowheads="1"/>
            </p:cNvSpPr>
            <p:nvPr/>
          </p:nvSpPr>
          <p:spPr bwMode="auto">
            <a:xfrm>
              <a:off x="3436409" y="764685"/>
              <a:ext cx="1214447" cy="1071570"/>
            </a:xfrm>
            <a:prstGeom prst="rect">
              <a:avLst/>
            </a:prstGeom>
            <a:noFill/>
            <a:ln w="19050" algn="ctr">
              <a:solidFill>
                <a:srgbClr val="00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4" name="TextBox 57">
              <a:extLst>
                <a:ext uri="{FF2B5EF4-FFF2-40B4-BE49-F238E27FC236}">
                  <a16:creationId xmlns:a16="http://schemas.microsoft.com/office/drawing/2014/main" id="{76F46E6E-9517-6F4C-A8DE-604DAD48FA3A}"/>
                </a:ext>
              </a:extLst>
            </p:cNvPr>
            <p:cNvSpPr txBox="1">
              <a:spLocks noChangeArrowheads="1"/>
            </p:cNvSpPr>
            <p:nvPr/>
          </p:nvSpPr>
          <p:spPr bwMode="auto">
            <a:xfrm>
              <a:off x="3868460" y="3284982"/>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18</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5" name="TextBox 58">
              <a:extLst>
                <a:ext uri="{FF2B5EF4-FFF2-40B4-BE49-F238E27FC236}">
                  <a16:creationId xmlns:a16="http://schemas.microsoft.com/office/drawing/2014/main" id="{45F31E83-2ED0-2649-8077-0824452C453E}"/>
                </a:ext>
              </a:extLst>
            </p:cNvPr>
            <p:cNvSpPr txBox="1">
              <a:spLocks noChangeArrowheads="1"/>
            </p:cNvSpPr>
            <p:nvPr/>
          </p:nvSpPr>
          <p:spPr bwMode="auto">
            <a:xfrm>
              <a:off x="3868460" y="2276863"/>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22</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sp>
          <p:nvSpPr>
            <p:cNvPr id="86" name="TextBox 59">
              <a:extLst>
                <a:ext uri="{FF2B5EF4-FFF2-40B4-BE49-F238E27FC236}">
                  <a16:creationId xmlns:a16="http://schemas.microsoft.com/office/drawing/2014/main" id="{C715D182-9A9E-6140-918B-58D7C50FDCFC}"/>
                </a:ext>
              </a:extLst>
            </p:cNvPr>
            <p:cNvSpPr txBox="1">
              <a:spLocks noChangeArrowheads="1"/>
            </p:cNvSpPr>
            <p:nvPr/>
          </p:nvSpPr>
          <p:spPr bwMode="auto">
            <a:xfrm>
              <a:off x="3796451" y="980711"/>
              <a:ext cx="714380" cy="492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36</a:t>
              </a:r>
              <a:endParaRPr kumimoji="1" lang="zh-CN" altLang="en-US"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endParaRPr>
            </a:p>
          </p:txBody>
        </p:sp>
      </p:grpSp>
      <p:sp>
        <p:nvSpPr>
          <p:cNvPr id="103" name="矩形 50">
            <a:extLst>
              <a:ext uri="{FF2B5EF4-FFF2-40B4-BE49-F238E27FC236}">
                <a16:creationId xmlns:a16="http://schemas.microsoft.com/office/drawing/2014/main" id="{E51F1847-0768-7C4E-8D4B-CB98C6889247}"/>
              </a:ext>
            </a:extLst>
          </p:cNvPr>
          <p:cNvSpPr>
            <a:spLocks noChangeArrowheads="1"/>
          </p:cNvSpPr>
          <p:nvPr/>
        </p:nvSpPr>
        <p:spPr bwMode="auto">
          <a:xfrm>
            <a:off x="6300929" y="1773668"/>
            <a:ext cx="910829" cy="482204"/>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04" name="TextBox 103">
            <a:extLst>
              <a:ext uri="{FF2B5EF4-FFF2-40B4-BE49-F238E27FC236}">
                <a16:creationId xmlns:a16="http://schemas.microsoft.com/office/drawing/2014/main" id="{4A49D7A0-A494-144E-9F9B-B5B758C724A2}"/>
              </a:ext>
            </a:extLst>
          </p:cNvPr>
          <p:cNvSpPr txBox="1">
            <a:spLocks noChangeArrowheads="1"/>
          </p:cNvSpPr>
          <p:nvPr/>
        </p:nvSpPr>
        <p:spPr bwMode="auto">
          <a:xfrm>
            <a:off x="6571203" y="1801053"/>
            <a:ext cx="48220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16</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05" name="直接箭头连接符 53">
            <a:extLst>
              <a:ext uri="{FF2B5EF4-FFF2-40B4-BE49-F238E27FC236}">
                <a16:creationId xmlns:a16="http://schemas.microsoft.com/office/drawing/2014/main" id="{38AB470B-9B85-1F41-89E2-CC206C026FDD}"/>
              </a:ext>
            </a:extLst>
          </p:cNvPr>
          <p:cNvCxnSpPr>
            <a:cxnSpLocks noChangeShapeType="1"/>
          </p:cNvCxnSpPr>
          <p:nvPr/>
        </p:nvCxnSpPr>
        <p:spPr bwMode="auto">
          <a:xfrm>
            <a:off x="5769911" y="1773668"/>
            <a:ext cx="539354" cy="0"/>
          </a:xfrm>
          <a:prstGeom prst="straightConnector1">
            <a:avLst/>
          </a:prstGeom>
          <a:noFill/>
          <a:ln w="28575" algn="ctr">
            <a:solidFill>
              <a:srgbClr val="FF3300"/>
            </a:solidFill>
            <a:round/>
            <a:headEnd type="none" w="sm" len="sm"/>
            <a:tailEnd type="arrow" w="med" len="med"/>
          </a:ln>
          <a:extLst>
            <a:ext uri="{909E8E84-426E-40DD-AFC4-6F175D3DCCD1}">
              <a14:hiddenFill xmlns:a14="http://schemas.microsoft.com/office/drawing/2010/main">
                <a:noFill/>
              </a14:hiddenFill>
            </a:ext>
          </a:extLst>
        </p:spPr>
      </p:cxnSp>
      <p:cxnSp>
        <p:nvCxnSpPr>
          <p:cNvPr id="106" name="直接箭头连接符 55">
            <a:extLst>
              <a:ext uri="{FF2B5EF4-FFF2-40B4-BE49-F238E27FC236}">
                <a16:creationId xmlns:a16="http://schemas.microsoft.com/office/drawing/2014/main" id="{8A7D53B0-E74D-134B-AD40-1195CFB2FD4E}"/>
              </a:ext>
            </a:extLst>
          </p:cNvPr>
          <p:cNvCxnSpPr>
            <a:cxnSpLocks noChangeShapeType="1"/>
          </p:cNvCxnSpPr>
          <p:nvPr/>
        </p:nvCxnSpPr>
        <p:spPr bwMode="auto">
          <a:xfrm>
            <a:off x="6093761" y="2043942"/>
            <a:ext cx="0" cy="3563540"/>
          </a:xfrm>
          <a:prstGeom prst="straightConnector1">
            <a:avLst/>
          </a:prstGeom>
          <a:noFill/>
          <a:ln w="1270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07" name="TextBox 106">
            <a:extLst>
              <a:ext uri="{FF2B5EF4-FFF2-40B4-BE49-F238E27FC236}">
                <a16:creationId xmlns:a16="http://schemas.microsoft.com/office/drawing/2014/main" id="{B1A418DB-A64C-D447-9784-8C4DDB17B5CD}"/>
              </a:ext>
            </a:extLst>
          </p:cNvPr>
          <p:cNvSpPr txBox="1">
            <a:spLocks noChangeArrowheads="1"/>
          </p:cNvSpPr>
          <p:nvPr/>
        </p:nvSpPr>
        <p:spPr bwMode="auto">
          <a:xfrm>
            <a:off x="5740444" y="2853567"/>
            <a:ext cx="461665" cy="1782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查找方向</a:t>
            </a:r>
          </a:p>
        </p:txBody>
      </p:sp>
      <p:sp>
        <p:nvSpPr>
          <p:cNvPr id="108" name="Rectangle 2">
            <a:extLst>
              <a:ext uri="{FF2B5EF4-FFF2-40B4-BE49-F238E27FC236}">
                <a16:creationId xmlns:a16="http://schemas.microsoft.com/office/drawing/2014/main" id="{5A2CB8D4-3B77-694E-BD01-C349775E7412}"/>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p>
        </p:txBody>
      </p:sp>
    </p:spTree>
    <p:extLst>
      <p:ext uri="{BB962C8B-B14F-4D97-AF65-F5344CB8AC3E}">
        <p14:creationId xmlns:p14="http://schemas.microsoft.com/office/powerpoint/2010/main" val="326821596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dissolve">
                                      <p:cBhvr>
                                        <p:cTn id="7" dur="500"/>
                                        <p:tgtEl>
                                          <p:spTgt spid="5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dissolve">
                                      <p:cBhvr>
                                        <p:cTn id="10" dur="500"/>
                                        <p:tgtEl>
                                          <p:spTgt spid="5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dissolve">
                                      <p:cBhvr>
                                        <p:cTn id="13" dur="500"/>
                                        <p:tgtEl>
                                          <p:spTgt spid="5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59"/>
                                        </p:tgtEl>
                                        <p:attrNameLst>
                                          <p:attrName>style.visibility</p:attrName>
                                        </p:attrNameLst>
                                      </p:cBhvr>
                                      <p:to>
                                        <p:strVal val="visible"/>
                                      </p:to>
                                    </p:set>
                                    <p:animEffect transition="in" filter="dissolve">
                                      <p:cBhvr>
                                        <p:cTn id="16" dur="500"/>
                                        <p:tgtEl>
                                          <p:spTgt spid="5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dissolve">
                                      <p:cBhvr>
                                        <p:cTn id="19" dur="500"/>
                                        <p:tgtEl>
                                          <p:spTgt spid="60"/>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dissolve">
                                      <p:cBhvr>
                                        <p:cTn id="22" dur="500"/>
                                        <p:tgtEl>
                                          <p:spTgt spid="6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2"/>
                                        </p:tgtEl>
                                        <p:attrNameLst>
                                          <p:attrName>style.visibility</p:attrName>
                                        </p:attrNameLst>
                                      </p:cBhvr>
                                      <p:to>
                                        <p:strVal val="visible"/>
                                      </p:to>
                                    </p:set>
                                    <p:animEffect transition="in" filter="dissolve">
                                      <p:cBhvr>
                                        <p:cTn id="25" dur="500"/>
                                        <p:tgtEl>
                                          <p:spTgt spid="62"/>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3"/>
                                        </p:tgtEl>
                                        <p:attrNameLst>
                                          <p:attrName>style.visibility</p:attrName>
                                        </p:attrNameLst>
                                      </p:cBhvr>
                                      <p:to>
                                        <p:strVal val="visible"/>
                                      </p:to>
                                    </p:set>
                                    <p:animEffect transition="in" filter="dissolve">
                                      <p:cBhvr>
                                        <p:cTn id="28" dur="500"/>
                                        <p:tgtEl>
                                          <p:spTgt spid="63"/>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blinds(horizontal)">
                                      <p:cBhvr>
                                        <p:cTn id="31" dur="500"/>
                                        <p:tgtEl>
                                          <p:spTgt spid="65"/>
                                        </p:tgtEl>
                                      </p:cBhvr>
                                    </p:animEffect>
                                  </p:childTnLst>
                                </p:cTn>
                              </p:par>
                              <p:par>
                                <p:cTn id="32" presetID="3" presetClass="entr" presetSubtype="10" fill="hold" grpId="0" nodeType="withEffect">
                                  <p:stCondLst>
                                    <p:cond delay="0"/>
                                  </p:stCondLst>
                                  <p:childTnLst>
                                    <p:set>
                                      <p:cBhvr>
                                        <p:cTn id="33" dur="1" fill="hold">
                                          <p:stCondLst>
                                            <p:cond delay="0"/>
                                          </p:stCondLst>
                                        </p:cTn>
                                        <p:tgtEl>
                                          <p:spTgt spid="67"/>
                                        </p:tgtEl>
                                        <p:attrNameLst>
                                          <p:attrName>style.visibility</p:attrName>
                                        </p:attrNameLst>
                                      </p:cBhvr>
                                      <p:to>
                                        <p:strVal val="visible"/>
                                      </p:to>
                                    </p:set>
                                    <p:animEffect transition="in" filter="blinds(horizontal)">
                                      <p:cBhvr>
                                        <p:cTn id="34" dur="500"/>
                                        <p:tgtEl>
                                          <p:spTgt spid="67"/>
                                        </p:tgtEl>
                                      </p:cBhvr>
                                    </p:animEffect>
                                  </p:childTnLst>
                                </p:cTn>
                              </p:par>
                              <p:par>
                                <p:cTn id="35" presetID="3" presetClass="entr" presetSubtype="10" fill="hold" nodeType="withEffect">
                                  <p:stCondLst>
                                    <p:cond delay="0"/>
                                  </p:stCondLst>
                                  <p:childTnLst>
                                    <p:set>
                                      <p:cBhvr>
                                        <p:cTn id="36" dur="1" fill="hold">
                                          <p:stCondLst>
                                            <p:cond delay="0"/>
                                          </p:stCondLst>
                                        </p:cTn>
                                        <p:tgtEl>
                                          <p:spTgt spid="66"/>
                                        </p:tgtEl>
                                        <p:attrNameLst>
                                          <p:attrName>style.visibility</p:attrName>
                                        </p:attrNameLst>
                                      </p:cBhvr>
                                      <p:to>
                                        <p:strVal val="visible"/>
                                      </p:to>
                                    </p:set>
                                    <p:animEffect transition="in" filter="blinds(horizontal)">
                                      <p:cBhvr>
                                        <p:cTn id="37" dur="500"/>
                                        <p:tgtEl>
                                          <p:spTgt spid="66"/>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dissolve">
                                      <p:cBhvr>
                                        <p:cTn id="40" dur="500"/>
                                        <p:tgtEl>
                                          <p:spTgt spid="64"/>
                                        </p:tgtEl>
                                      </p:cBhvr>
                                    </p:animEffect>
                                  </p:childTnLst>
                                  <p:subTnLst>
                                    <p:set>
                                      <p:cBhvr override="childStyle">
                                        <p:cTn dur="1" fill="hold" display="0" masterRel="nextClick" afterEffect="1"/>
                                        <p:tgtEl>
                                          <p:spTgt spid="64"/>
                                        </p:tgtEl>
                                        <p:attrNameLst>
                                          <p:attrName>style.visibility</p:attrName>
                                        </p:attrNameLst>
                                      </p:cBhvr>
                                      <p:to>
                                        <p:strVal val="hidden"/>
                                      </p:to>
                                    </p:set>
                                  </p:subTnLst>
                                </p:cTn>
                              </p:par>
                            </p:childTnLst>
                          </p:cTn>
                        </p:par>
                      </p:childTnLst>
                    </p:cTn>
                  </p:par>
                  <p:par>
                    <p:cTn id="41" fill="hold">
                      <p:stCondLst>
                        <p:cond delay="indefinite"/>
                      </p:stCondLst>
                      <p:childTnLst>
                        <p:par>
                          <p:cTn id="42" fill="hold">
                            <p:stCondLst>
                              <p:cond delay="0"/>
                            </p:stCondLst>
                            <p:childTnLst>
                              <p:par>
                                <p:cTn id="43" presetID="15" presetClass="entr" presetSubtype="0" fill="hold" grpId="0" nodeType="clickEffect">
                                  <p:stCondLst>
                                    <p:cond delay="0"/>
                                  </p:stCondLst>
                                  <p:childTnLst>
                                    <p:set>
                                      <p:cBhvr>
                                        <p:cTn id="44" dur="1" fill="hold">
                                          <p:stCondLst>
                                            <p:cond delay="0"/>
                                          </p:stCondLst>
                                        </p:cTn>
                                        <p:tgtEl>
                                          <p:spTgt spid="68"/>
                                        </p:tgtEl>
                                        <p:attrNameLst>
                                          <p:attrName>style.visibility</p:attrName>
                                        </p:attrNameLst>
                                      </p:cBhvr>
                                      <p:to>
                                        <p:strVal val="visible"/>
                                      </p:to>
                                    </p:set>
                                    <p:anim calcmode="lin" valueType="num">
                                      <p:cBhvr>
                                        <p:cTn id="45" dur="1000" fill="hold"/>
                                        <p:tgtEl>
                                          <p:spTgt spid="68"/>
                                        </p:tgtEl>
                                        <p:attrNameLst>
                                          <p:attrName>ppt_w</p:attrName>
                                        </p:attrNameLst>
                                      </p:cBhvr>
                                      <p:tavLst>
                                        <p:tav tm="0">
                                          <p:val>
                                            <p:fltVal val="0"/>
                                          </p:val>
                                        </p:tav>
                                        <p:tav tm="100000">
                                          <p:val>
                                            <p:strVal val="#ppt_w"/>
                                          </p:val>
                                        </p:tav>
                                      </p:tavLst>
                                    </p:anim>
                                    <p:anim calcmode="lin" valueType="num">
                                      <p:cBhvr>
                                        <p:cTn id="46" dur="1000" fill="hold"/>
                                        <p:tgtEl>
                                          <p:spTgt spid="68"/>
                                        </p:tgtEl>
                                        <p:attrNameLst>
                                          <p:attrName>ppt_h</p:attrName>
                                        </p:attrNameLst>
                                      </p:cBhvr>
                                      <p:tavLst>
                                        <p:tav tm="0">
                                          <p:val>
                                            <p:fltVal val="0"/>
                                          </p:val>
                                        </p:tav>
                                        <p:tav tm="100000">
                                          <p:val>
                                            <p:strVal val="#ppt_h"/>
                                          </p:val>
                                        </p:tav>
                                      </p:tavLst>
                                    </p:anim>
                                    <p:anim calcmode="lin" valueType="num">
                                      <p:cBhvr>
                                        <p:cTn id="47" dur="1000" fill="hold"/>
                                        <p:tgtEl>
                                          <p:spTgt spid="68"/>
                                        </p:tgtEl>
                                        <p:attrNameLst>
                                          <p:attrName>ppt_x</p:attrName>
                                        </p:attrNameLst>
                                      </p:cBhvr>
                                      <p:tavLst>
                                        <p:tav tm="0" fmla="#ppt_x+(cos(-2*pi*(1-$))*-#ppt_x-sin(-2*pi*(1-$))*(1-#ppt_y))*(1-$)">
                                          <p:val>
                                            <p:fltVal val="0"/>
                                          </p:val>
                                        </p:tav>
                                        <p:tav tm="100000">
                                          <p:val>
                                            <p:fltVal val="1"/>
                                          </p:val>
                                        </p:tav>
                                      </p:tavLst>
                                    </p:anim>
                                    <p:anim calcmode="lin" valueType="num">
                                      <p:cBhvr>
                                        <p:cTn id="48" dur="1000" fill="hold"/>
                                        <p:tgtEl>
                                          <p:spTgt spid="68"/>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49" fill="hold">
                      <p:stCondLst>
                        <p:cond delay="indefinite"/>
                      </p:stCondLst>
                      <p:childTnLst>
                        <p:par>
                          <p:cTn id="50" fill="hold">
                            <p:stCondLst>
                              <p:cond delay="0"/>
                            </p:stCondLst>
                            <p:childTnLst>
                              <p:par>
                                <p:cTn id="51" presetID="3" presetClass="entr" presetSubtype="10" fill="hold" nodeType="clickEffect">
                                  <p:stCondLst>
                                    <p:cond delay="0"/>
                                  </p:stCondLst>
                                  <p:childTnLst>
                                    <p:set>
                                      <p:cBhvr>
                                        <p:cTn id="52" dur="1" fill="hold">
                                          <p:stCondLst>
                                            <p:cond delay="0"/>
                                          </p:stCondLst>
                                        </p:cTn>
                                        <p:tgtEl>
                                          <p:spTgt spid="69"/>
                                        </p:tgtEl>
                                        <p:attrNameLst>
                                          <p:attrName>style.visibility</p:attrName>
                                        </p:attrNameLst>
                                      </p:cBhvr>
                                      <p:to>
                                        <p:strVal val="visible"/>
                                      </p:to>
                                    </p:set>
                                    <p:animEffect transition="in" filter="blinds(horizontal)">
                                      <p:cBhvr>
                                        <p:cTn id="53" dur="500"/>
                                        <p:tgtEl>
                                          <p:spTgt spid="69"/>
                                        </p:tgtEl>
                                      </p:cBhvr>
                                    </p:animEffect>
                                  </p:childTnLst>
                                </p:cTn>
                              </p:par>
                              <p:par>
                                <p:cTn id="54" presetID="3" presetClass="entr" presetSubtype="10" fill="hold" nodeType="withEffect">
                                  <p:stCondLst>
                                    <p:cond delay="0"/>
                                  </p:stCondLst>
                                  <p:childTnLst>
                                    <p:set>
                                      <p:cBhvr>
                                        <p:cTn id="55" dur="1" fill="hold">
                                          <p:stCondLst>
                                            <p:cond delay="0"/>
                                          </p:stCondLst>
                                        </p:cTn>
                                        <p:tgtEl>
                                          <p:spTgt spid="106"/>
                                        </p:tgtEl>
                                        <p:attrNameLst>
                                          <p:attrName>style.visibility</p:attrName>
                                        </p:attrNameLst>
                                      </p:cBhvr>
                                      <p:to>
                                        <p:strVal val="visible"/>
                                      </p:to>
                                    </p:set>
                                    <p:animEffect transition="in" filter="blinds(horizontal)">
                                      <p:cBhvr>
                                        <p:cTn id="56" dur="500"/>
                                        <p:tgtEl>
                                          <p:spTgt spid="106"/>
                                        </p:tgtEl>
                                      </p:cBhvr>
                                    </p:animEffect>
                                  </p:childTnLst>
                                </p:cTn>
                              </p:par>
                            </p:childTnLst>
                          </p:cTn>
                        </p:par>
                        <p:par>
                          <p:cTn id="57" fill="hold">
                            <p:stCondLst>
                              <p:cond delay="500"/>
                            </p:stCondLst>
                            <p:childTnLst>
                              <p:par>
                                <p:cTn id="58" presetID="3" presetClass="entr" presetSubtype="10" fill="hold" grpId="0" nodeType="afterEffect">
                                  <p:stCondLst>
                                    <p:cond delay="0"/>
                                  </p:stCondLst>
                                  <p:childTnLst>
                                    <p:set>
                                      <p:cBhvr>
                                        <p:cTn id="59" dur="1" fill="hold">
                                          <p:stCondLst>
                                            <p:cond delay="0"/>
                                          </p:stCondLst>
                                        </p:cTn>
                                        <p:tgtEl>
                                          <p:spTgt spid="107"/>
                                        </p:tgtEl>
                                        <p:attrNameLst>
                                          <p:attrName>style.visibility</p:attrName>
                                        </p:attrNameLst>
                                      </p:cBhvr>
                                      <p:to>
                                        <p:strVal val="visible"/>
                                      </p:to>
                                    </p:set>
                                    <p:animEffect transition="in" filter="blinds(horizontal)">
                                      <p:cBhvr>
                                        <p:cTn id="60" dur="500"/>
                                        <p:tgtEl>
                                          <p:spTgt spid="107"/>
                                        </p:tgtEl>
                                      </p:cBhvr>
                                    </p:animEffect>
                                  </p:childTnLst>
                                </p:cTn>
                              </p:par>
                            </p:childTnLst>
                          </p:cTn>
                        </p:par>
                      </p:childTnLst>
                    </p:cTn>
                  </p:par>
                  <p:par>
                    <p:cTn id="61" fill="hold">
                      <p:stCondLst>
                        <p:cond delay="indefinite"/>
                      </p:stCondLst>
                      <p:childTnLst>
                        <p:par>
                          <p:cTn id="62" fill="hold">
                            <p:stCondLst>
                              <p:cond delay="0"/>
                            </p:stCondLst>
                            <p:childTnLst>
                              <p:par>
                                <p:cTn id="63" presetID="3" presetClass="entr" presetSubtype="10" fill="hold" nodeType="clickEffect">
                                  <p:stCondLst>
                                    <p:cond delay="0"/>
                                  </p:stCondLst>
                                  <p:childTnLst>
                                    <p:set>
                                      <p:cBhvr>
                                        <p:cTn id="64" dur="1" fill="hold">
                                          <p:stCondLst>
                                            <p:cond delay="0"/>
                                          </p:stCondLst>
                                        </p:cTn>
                                        <p:tgtEl>
                                          <p:spTgt spid="105"/>
                                        </p:tgtEl>
                                        <p:attrNameLst>
                                          <p:attrName>style.visibility</p:attrName>
                                        </p:attrNameLst>
                                      </p:cBhvr>
                                      <p:to>
                                        <p:strVal val="visible"/>
                                      </p:to>
                                    </p:set>
                                    <p:animEffect transition="in" filter="blinds(horizontal)">
                                      <p:cBhvr>
                                        <p:cTn id="65" dur="500"/>
                                        <p:tgtEl>
                                          <p:spTgt spid="105"/>
                                        </p:tgtEl>
                                      </p:cBhvr>
                                    </p:animEffect>
                                  </p:childTnLst>
                                </p:cTn>
                              </p:par>
                            </p:childTnLst>
                          </p:cTn>
                        </p:par>
                      </p:childTnLst>
                    </p:cTn>
                  </p:par>
                  <p:par>
                    <p:cTn id="66" fill="hold">
                      <p:stCondLst>
                        <p:cond delay="indefinite"/>
                      </p:stCondLst>
                      <p:childTnLst>
                        <p:par>
                          <p:cTn id="67" fill="hold">
                            <p:stCondLst>
                              <p:cond delay="0"/>
                            </p:stCondLst>
                            <p:childTnLst>
                              <p:par>
                                <p:cTn id="68" presetID="3" presetClass="entr" presetSubtype="10" fill="hold" grpId="0" nodeType="clickEffect">
                                  <p:stCondLst>
                                    <p:cond delay="0"/>
                                  </p:stCondLst>
                                  <p:childTnLst>
                                    <p:set>
                                      <p:cBhvr>
                                        <p:cTn id="69" dur="1" fill="hold">
                                          <p:stCondLst>
                                            <p:cond delay="0"/>
                                          </p:stCondLst>
                                        </p:cTn>
                                        <p:tgtEl>
                                          <p:spTgt spid="103"/>
                                        </p:tgtEl>
                                        <p:attrNameLst>
                                          <p:attrName>style.visibility</p:attrName>
                                        </p:attrNameLst>
                                      </p:cBhvr>
                                      <p:to>
                                        <p:strVal val="visible"/>
                                      </p:to>
                                    </p:set>
                                    <p:animEffect transition="in" filter="blinds(horizontal)">
                                      <p:cBhvr>
                                        <p:cTn id="70" dur="500"/>
                                        <p:tgtEl>
                                          <p:spTgt spid="103"/>
                                        </p:tgtEl>
                                      </p:cBhvr>
                                    </p:animEffect>
                                  </p:childTnLst>
                                </p:cTn>
                              </p:par>
                              <p:par>
                                <p:cTn id="71" presetID="3" presetClass="entr" presetSubtype="10" fill="hold" grpId="0" nodeType="withEffect">
                                  <p:stCondLst>
                                    <p:cond delay="0"/>
                                  </p:stCondLst>
                                  <p:childTnLst>
                                    <p:set>
                                      <p:cBhvr>
                                        <p:cTn id="72" dur="1" fill="hold">
                                          <p:stCondLst>
                                            <p:cond delay="0"/>
                                          </p:stCondLst>
                                        </p:cTn>
                                        <p:tgtEl>
                                          <p:spTgt spid="104"/>
                                        </p:tgtEl>
                                        <p:attrNameLst>
                                          <p:attrName>style.visibility</p:attrName>
                                        </p:attrNameLst>
                                      </p:cBhvr>
                                      <p:to>
                                        <p:strVal val="visible"/>
                                      </p:to>
                                    </p:set>
                                    <p:animEffect transition="in" filter="blinds(horizontal)">
                                      <p:cBhvr>
                                        <p:cTn id="7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p:bldP spid="60" grpId="0"/>
      <p:bldP spid="61" grpId="0"/>
      <p:bldP spid="62" grpId="0"/>
      <p:bldP spid="63" grpId="0"/>
      <p:bldP spid="64" grpId="0"/>
      <p:bldP spid="65" grpId="0" animBg="1"/>
      <p:bldP spid="67" grpId="0"/>
      <p:bldP spid="68" grpId="0"/>
      <p:bldP spid="103" grpId="0" animBg="1"/>
      <p:bldP spid="104" grpId="0"/>
      <p:bldP spid="10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ext Box 202">
            <a:extLst>
              <a:ext uri="{FF2B5EF4-FFF2-40B4-BE49-F238E27FC236}">
                <a16:creationId xmlns:a16="http://schemas.microsoft.com/office/drawing/2014/main" id="{4B11758D-3514-8E41-9CE9-0C65AAA6E44F}"/>
              </a:ext>
            </a:extLst>
          </p:cNvPr>
          <p:cNvSpPr txBox="1">
            <a:spLocks noChangeArrowheads="1"/>
          </p:cNvSpPr>
          <p:nvPr/>
        </p:nvSpPr>
        <p:spPr bwMode="auto">
          <a:xfrm>
            <a:off x="5750744" y="1715047"/>
            <a:ext cx="514350" cy="1698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nSpc>
                <a:spcPct val="80000"/>
              </a:lnSpc>
              <a:spcBef>
                <a:spcPct val="50000"/>
              </a:spcBef>
            </a:pPr>
            <a:r>
              <a:rPr lang="en-US" altLang="zh-CN" sz="1800">
                <a:solidFill>
                  <a:srgbClr val="000000"/>
                </a:solidFill>
                <a:latin typeface="幼圆" pitchFamily="49" charset="-122"/>
                <a:ea typeface="幼圆" pitchFamily="49" charset="-122"/>
              </a:rPr>
              <a:t> 8M</a:t>
            </a:r>
          </a:p>
          <a:p>
            <a:pPr>
              <a:lnSpc>
                <a:spcPct val="80000"/>
              </a:lnSpc>
              <a:spcBef>
                <a:spcPct val="50000"/>
              </a:spcBef>
            </a:pPr>
            <a:endParaRPr lang="en-US" altLang="zh-CN" sz="1800">
              <a:solidFill>
                <a:srgbClr val="000000"/>
              </a:solidFill>
              <a:latin typeface="幼圆" pitchFamily="49" charset="-122"/>
              <a:ea typeface="幼圆" pitchFamily="49" charset="-122"/>
            </a:endParaRPr>
          </a:p>
          <a:p>
            <a:pPr>
              <a:lnSpc>
                <a:spcPct val="80000"/>
              </a:lnSpc>
              <a:spcBef>
                <a:spcPct val="50000"/>
              </a:spcBef>
            </a:pPr>
            <a:r>
              <a:rPr lang="en-US" altLang="zh-CN" sz="1800">
                <a:solidFill>
                  <a:srgbClr val="000000"/>
                </a:solidFill>
                <a:latin typeface="幼圆" pitchFamily="49" charset="-122"/>
                <a:ea typeface="幼圆" pitchFamily="49" charset="-122"/>
              </a:rPr>
              <a:t>12M</a:t>
            </a:r>
          </a:p>
        </p:txBody>
      </p:sp>
      <p:sp>
        <p:nvSpPr>
          <p:cNvPr id="48" name="Text Box 203">
            <a:extLst>
              <a:ext uri="{FF2B5EF4-FFF2-40B4-BE49-F238E27FC236}">
                <a16:creationId xmlns:a16="http://schemas.microsoft.com/office/drawing/2014/main" id="{40848EA3-1C49-8F44-9546-116B606C4F92}"/>
              </a:ext>
            </a:extLst>
          </p:cNvPr>
          <p:cNvSpPr txBox="1">
            <a:spLocks noChangeArrowheads="1"/>
          </p:cNvSpPr>
          <p:nvPr/>
        </p:nvSpPr>
        <p:spPr bwMode="auto">
          <a:xfrm>
            <a:off x="5807894" y="2774703"/>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6M</a:t>
            </a:r>
          </a:p>
        </p:txBody>
      </p:sp>
      <p:sp>
        <p:nvSpPr>
          <p:cNvPr id="49" name="Text Box 204">
            <a:extLst>
              <a:ext uri="{FF2B5EF4-FFF2-40B4-BE49-F238E27FC236}">
                <a16:creationId xmlns:a16="http://schemas.microsoft.com/office/drawing/2014/main" id="{6DE5BB26-AF76-074D-B8AE-1827B566D909}"/>
              </a:ext>
            </a:extLst>
          </p:cNvPr>
          <p:cNvSpPr txBox="1">
            <a:spLocks noChangeArrowheads="1"/>
          </p:cNvSpPr>
          <p:nvPr/>
        </p:nvSpPr>
        <p:spPr bwMode="auto">
          <a:xfrm>
            <a:off x="5807894" y="3471219"/>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2M</a:t>
            </a:r>
          </a:p>
        </p:txBody>
      </p:sp>
      <p:sp>
        <p:nvSpPr>
          <p:cNvPr id="50" name="Text Box 205">
            <a:extLst>
              <a:ext uri="{FF2B5EF4-FFF2-40B4-BE49-F238E27FC236}">
                <a16:creationId xmlns:a16="http://schemas.microsoft.com/office/drawing/2014/main" id="{443BA176-41FC-D44E-8E78-343BB680B8AF}"/>
              </a:ext>
            </a:extLst>
          </p:cNvPr>
          <p:cNvSpPr txBox="1">
            <a:spLocks noChangeArrowheads="1"/>
          </p:cNvSpPr>
          <p:nvPr/>
        </p:nvSpPr>
        <p:spPr bwMode="auto">
          <a:xfrm>
            <a:off x="5807894" y="4185594"/>
            <a:ext cx="9144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8M</a:t>
            </a:r>
          </a:p>
        </p:txBody>
      </p:sp>
      <p:sp>
        <p:nvSpPr>
          <p:cNvPr id="51" name="Text Box 206">
            <a:extLst>
              <a:ext uri="{FF2B5EF4-FFF2-40B4-BE49-F238E27FC236}">
                <a16:creationId xmlns:a16="http://schemas.microsoft.com/office/drawing/2014/main" id="{23BADD12-8D25-FE4A-ABEE-6FE1DFF11303}"/>
              </a:ext>
            </a:extLst>
          </p:cNvPr>
          <p:cNvSpPr txBox="1">
            <a:spLocks noChangeArrowheads="1"/>
          </p:cNvSpPr>
          <p:nvPr/>
        </p:nvSpPr>
        <p:spPr bwMode="auto">
          <a:xfrm>
            <a:off x="5807894" y="4618981"/>
            <a:ext cx="10287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6M</a:t>
            </a:r>
          </a:p>
        </p:txBody>
      </p:sp>
      <p:sp>
        <p:nvSpPr>
          <p:cNvPr id="52" name="Text Box 207">
            <a:extLst>
              <a:ext uri="{FF2B5EF4-FFF2-40B4-BE49-F238E27FC236}">
                <a16:creationId xmlns:a16="http://schemas.microsoft.com/office/drawing/2014/main" id="{4AE77C5E-DAFB-674F-8555-BCE267F7D735}"/>
              </a:ext>
            </a:extLst>
          </p:cNvPr>
          <p:cNvSpPr txBox="1">
            <a:spLocks noChangeArrowheads="1"/>
          </p:cNvSpPr>
          <p:nvPr/>
        </p:nvSpPr>
        <p:spPr bwMode="auto">
          <a:xfrm>
            <a:off x="5693594" y="5225010"/>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000000"/>
                </a:solidFill>
                <a:latin typeface="幼圆" pitchFamily="49" charset="-122"/>
                <a:ea typeface="幼圆" pitchFamily="49" charset="-122"/>
              </a:rPr>
              <a:t>14M</a:t>
            </a:r>
          </a:p>
        </p:txBody>
      </p:sp>
      <p:sp>
        <p:nvSpPr>
          <p:cNvPr id="53" name="Text Box 208">
            <a:extLst>
              <a:ext uri="{FF2B5EF4-FFF2-40B4-BE49-F238E27FC236}">
                <a16:creationId xmlns:a16="http://schemas.microsoft.com/office/drawing/2014/main" id="{93BAB4C6-9981-354B-BE48-AC72BC2B41F4}"/>
              </a:ext>
            </a:extLst>
          </p:cNvPr>
          <p:cNvSpPr txBox="1">
            <a:spLocks noChangeArrowheads="1"/>
          </p:cNvSpPr>
          <p:nvPr/>
        </p:nvSpPr>
        <p:spPr bwMode="auto">
          <a:xfrm>
            <a:off x="5693594" y="5989390"/>
            <a:ext cx="6858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20M</a:t>
            </a:r>
          </a:p>
        </p:txBody>
      </p:sp>
      <p:grpSp>
        <p:nvGrpSpPr>
          <p:cNvPr id="54" name="组合 41">
            <a:extLst>
              <a:ext uri="{FF2B5EF4-FFF2-40B4-BE49-F238E27FC236}">
                <a16:creationId xmlns:a16="http://schemas.microsoft.com/office/drawing/2014/main" id="{E301F688-FF21-A94A-8EED-4A3B3B9B6819}"/>
              </a:ext>
            </a:extLst>
          </p:cNvPr>
          <p:cNvGrpSpPr>
            <a:grpSpLocks/>
          </p:cNvGrpSpPr>
          <p:nvPr/>
        </p:nvGrpSpPr>
        <p:grpSpPr bwMode="auto">
          <a:xfrm>
            <a:off x="5236394" y="2471093"/>
            <a:ext cx="1028700" cy="285750"/>
            <a:chOff x="5715000" y="1524000"/>
            <a:chExt cx="1371600" cy="381000"/>
          </a:xfrm>
        </p:grpSpPr>
        <p:sp>
          <p:nvSpPr>
            <p:cNvPr id="55" name="Line 230">
              <a:extLst>
                <a:ext uri="{FF2B5EF4-FFF2-40B4-BE49-F238E27FC236}">
                  <a16:creationId xmlns:a16="http://schemas.microsoft.com/office/drawing/2014/main" id="{4556F35B-B678-2D4B-B037-07611F345E62}"/>
                </a:ext>
              </a:extLst>
            </p:cNvPr>
            <p:cNvSpPr>
              <a:spLocks noChangeShapeType="1"/>
            </p:cNvSpPr>
            <p:nvPr/>
          </p:nvSpPr>
          <p:spPr bwMode="auto">
            <a:xfrm>
              <a:off x="5715000" y="1905000"/>
              <a:ext cx="1371600" cy="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56" name="Line 270">
              <a:extLst>
                <a:ext uri="{FF2B5EF4-FFF2-40B4-BE49-F238E27FC236}">
                  <a16:creationId xmlns:a16="http://schemas.microsoft.com/office/drawing/2014/main" id="{8B817F28-522F-1047-85A3-C3848F62C2E1}"/>
                </a:ext>
              </a:extLst>
            </p:cNvPr>
            <p:cNvSpPr>
              <a:spLocks noChangeShapeType="1"/>
            </p:cNvSpPr>
            <p:nvPr/>
          </p:nvSpPr>
          <p:spPr bwMode="auto">
            <a:xfrm flipV="1">
              <a:off x="5715000" y="1524000"/>
              <a:ext cx="0" cy="381000"/>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grpSp>
      <p:grpSp>
        <p:nvGrpSpPr>
          <p:cNvPr id="57" name="组合 14">
            <a:extLst>
              <a:ext uri="{FF2B5EF4-FFF2-40B4-BE49-F238E27FC236}">
                <a16:creationId xmlns:a16="http://schemas.microsoft.com/office/drawing/2014/main" id="{FB424AF4-96E8-D84D-84F3-5A83433C8014}"/>
              </a:ext>
            </a:extLst>
          </p:cNvPr>
          <p:cNvGrpSpPr>
            <a:grpSpLocks/>
          </p:cNvGrpSpPr>
          <p:nvPr/>
        </p:nvGrpSpPr>
        <p:grpSpPr bwMode="auto">
          <a:xfrm>
            <a:off x="5236394" y="3156893"/>
            <a:ext cx="1028700" cy="285750"/>
            <a:chOff x="5715000" y="2057400"/>
            <a:chExt cx="1371600" cy="381000"/>
          </a:xfrm>
        </p:grpSpPr>
        <p:sp>
          <p:nvSpPr>
            <p:cNvPr id="58" name="Line 267">
              <a:extLst>
                <a:ext uri="{FF2B5EF4-FFF2-40B4-BE49-F238E27FC236}">
                  <a16:creationId xmlns:a16="http://schemas.microsoft.com/office/drawing/2014/main" id="{F5B807F6-661C-E649-A35D-1D0CFA926FE7}"/>
                </a:ext>
              </a:extLst>
            </p:cNvPr>
            <p:cNvSpPr>
              <a:spLocks noChangeShapeType="1"/>
            </p:cNvSpPr>
            <p:nvPr/>
          </p:nvSpPr>
          <p:spPr bwMode="auto">
            <a:xfrm>
              <a:off x="5715000" y="2438400"/>
              <a:ext cx="1371600" cy="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59" name="Line 272">
              <a:extLst>
                <a:ext uri="{FF2B5EF4-FFF2-40B4-BE49-F238E27FC236}">
                  <a16:creationId xmlns:a16="http://schemas.microsoft.com/office/drawing/2014/main" id="{D4C43468-753E-ED42-91FF-03D59B87C350}"/>
                </a:ext>
              </a:extLst>
            </p:cNvPr>
            <p:cNvSpPr>
              <a:spLocks noChangeShapeType="1"/>
            </p:cNvSpPr>
            <p:nvPr/>
          </p:nvSpPr>
          <p:spPr bwMode="auto">
            <a:xfrm flipV="1">
              <a:off x="5715000" y="2057400"/>
              <a:ext cx="0" cy="381000"/>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grpSp>
      <p:grpSp>
        <p:nvGrpSpPr>
          <p:cNvPr id="60" name="组合 42">
            <a:extLst>
              <a:ext uri="{FF2B5EF4-FFF2-40B4-BE49-F238E27FC236}">
                <a16:creationId xmlns:a16="http://schemas.microsoft.com/office/drawing/2014/main" id="{E50E925F-09C0-3A4A-B586-9D2A11A4CAE4}"/>
              </a:ext>
            </a:extLst>
          </p:cNvPr>
          <p:cNvGrpSpPr>
            <a:grpSpLocks/>
          </p:cNvGrpSpPr>
          <p:nvPr/>
        </p:nvGrpSpPr>
        <p:grpSpPr bwMode="auto">
          <a:xfrm>
            <a:off x="5236394" y="5614343"/>
            <a:ext cx="1028700" cy="285750"/>
            <a:chOff x="5715000" y="5715000"/>
            <a:chExt cx="1371600" cy="381000"/>
          </a:xfrm>
        </p:grpSpPr>
        <p:sp>
          <p:nvSpPr>
            <p:cNvPr id="61" name="Line 268">
              <a:extLst>
                <a:ext uri="{FF2B5EF4-FFF2-40B4-BE49-F238E27FC236}">
                  <a16:creationId xmlns:a16="http://schemas.microsoft.com/office/drawing/2014/main" id="{B569BDBA-00F2-4A40-B8A4-4CE1AA31DF39}"/>
                </a:ext>
              </a:extLst>
            </p:cNvPr>
            <p:cNvSpPr>
              <a:spLocks noChangeShapeType="1"/>
            </p:cNvSpPr>
            <p:nvPr/>
          </p:nvSpPr>
          <p:spPr bwMode="auto">
            <a:xfrm>
              <a:off x="5715000" y="6096000"/>
              <a:ext cx="1371600" cy="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62" name="Line 273">
              <a:extLst>
                <a:ext uri="{FF2B5EF4-FFF2-40B4-BE49-F238E27FC236}">
                  <a16:creationId xmlns:a16="http://schemas.microsoft.com/office/drawing/2014/main" id="{F6BFC24C-ABB2-7645-941C-B917CCE25F15}"/>
                </a:ext>
              </a:extLst>
            </p:cNvPr>
            <p:cNvSpPr>
              <a:spLocks noChangeShapeType="1"/>
            </p:cNvSpPr>
            <p:nvPr/>
          </p:nvSpPr>
          <p:spPr bwMode="auto">
            <a:xfrm flipV="1">
              <a:off x="5715000" y="5715000"/>
              <a:ext cx="0" cy="381000"/>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grpSp>
      <p:sp>
        <p:nvSpPr>
          <p:cNvPr id="63" name="Text Box 274">
            <a:extLst>
              <a:ext uri="{FF2B5EF4-FFF2-40B4-BE49-F238E27FC236}">
                <a16:creationId xmlns:a16="http://schemas.microsoft.com/office/drawing/2014/main" id="{82853C4D-9530-5F4D-992B-8CFD5E9F0D7C}"/>
              </a:ext>
            </a:extLst>
          </p:cNvPr>
          <p:cNvSpPr txBox="1">
            <a:spLocks noChangeArrowheads="1"/>
          </p:cNvSpPr>
          <p:nvPr/>
        </p:nvSpPr>
        <p:spPr bwMode="auto">
          <a:xfrm>
            <a:off x="4150544" y="2185344"/>
            <a:ext cx="16002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FF"/>
                </a:solidFill>
                <a:latin typeface="幼圆" pitchFamily="49" charset="-122"/>
                <a:ea typeface="幼圆" pitchFamily="49" charset="-122"/>
              </a:rPr>
              <a:t>首次适应算法</a:t>
            </a:r>
          </a:p>
        </p:txBody>
      </p:sp>
      <p:sp>
        <p:nvSpPr>
          <p:cNvPr id="64" name="Text Box 275">
            <a:extLst>
              <a:ext uri="{FF2B5EF4-FFF2-40B4-BE49-F238E27FC236}">
                <a16:creationId xmlns:a16="http://schemas.microsoft.com/office/drawing/2014/main" id="{DC0DBE55-0794-E040-9C4C-464398CA7ECA}"/>
              </a:ext>
            </a:extLst>
          </p:cNvPr>
          <p:cNvSpPr txBox="1">
            <a:spLocks noChangeArrowheads="1"/>
          </p:cNvSpPr>
          <p:nvPr/>
        </p:nvSpPr>
        <p:spPr bwMode="auto">
          <a:xfrm>
            <a:off x="3807644" y="2871144"/>
            <a:ext cx="17716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FF"/>
                </a:solidFill>
                <a:latin typeface="幼圆" pitchFamily="49" charset="-122"/>
                <a:ea typeface="幼圆" pitchFamily="49" charset="-122"/>
              </a:rPr>
              <a:t>最佳适应算法</a:t>
            </a:r>
          </a:p>
        </p:txBody>
      </p:sp>
      <p:sp>
        <p:nvSpPr>
          <p:cNvPr id="65" name="Text Box 276">
            <a:extLst>
              <a:ext uri="{FF2B5EF4-FFF2-40B4-BE49-F238E27FC236}">
                <a16:creationId xmlns:a16="http://schemas.microsoft.com/office/drawing/2014/main" id="{6F2A6996-E284-D544-9567-1EADF641D957}"/>
              </a:ext>
            </a:extLst>
          </p:cNvPr>
          <p:cNvSpPr txBox="1">
            <a:spLocks noChangeArrowheads="1"/>
          </p:cNvSpPr>
          <p:nvPr/>
        </p:nvSpPr>
        <p:spPr bwMode="auto">
          <a:xfrm>
            <a:off x="3807644" y="5303591"/>
            <a:ext cx="17145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gn="ctr">
              <a:spcBef>
                <a:spcPct val="50000"/>
              </a:spcBef>
            </a:pPr>
            <a:r>
              <a:rPr lang="zh-CN" altLang="en-US" sz="1800">
                <a:solidFill>
                  <a:srgbClr val="0000FF"/>
                </a:solidFill>
                <a:latin typeface="幼圆" pitchFamily="49" charset="-122"/>
                <a:ea typeface="幼圆" pitchFamily="49" charset="-122"/>
              </a:rPr>
              <a:t>循环首次适应、最坏算法</a:t>
            </a:r>
          </a:p>
        </p:txBody>
      </p:sp>
      <p:sp>
        <p:nvSpPr>
          <p:cNvPr id="66" name="AutoShape 280">
            <a:extLst>
              <a:ext uri="{FF2B5EF4-FFF2-40B4-BE49-F238E27FC236}">
                <a16:creationId xmlns:a16="http://schemas.microsoft.com/office/drawing/2014/main" id="{79DCAF74-96EB-C449-8BA2-FC0AFDFE9E5D}"/>
              </a:ext>
            </a:extLst>
          </p:cNvPr>
          <p:cNvSpPr>
            <a:spLocks/>
          </p:cNvSpPr>
          <p:nvPr/>
        </p:nvSpPr>
        <p:spPr bwMode="auto">
          <a:xfrm>
            <a:off x="7122344" y="2585393"/>
            <a:ext cx="171450" cy="457200"/>
          </a:xfrm>
          <a:prstGeom prst="rightBrace">
            <a:avLst>
              <a:gd name="adj1" fmla="val 22222"/>
              <a:gd name="adj2" fmla="val 50000"/>
            </a:avLst>
          </a:prstGeom>
          <a:noFill/>
          <a:ln w="19050">
            <a:solidFill>
              <a:srgbClr val="FF0066"/>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1800">
              <a:solidFill>
                <a:srgbClr val="000000"/>
              </a:solidFill>
              <a:latin typeface="幼圆" pitchFamily="49" charset="-122"/>
              <a:ea typeface="幼圆" pitchFamily="49" charset="-122"/>
            </a:endParaRPr>
          </a:p>
        </p:txBody>
      </p:sp>
      <p:sp>
        <p:nvSpPr>
          <p:cNvPr id="67" name="AutoShape 281">
            <a:extLst>
              <a:ext uri="{FF2B5EF4-FFF2-40B4-BE49-F238E27FC236}">
                <a16:creationId xmlns:a16="http://schemas.microsoft.com/office/drawing/2014/main" id="{5A9F444A-D69B-B445-B81F-EB9775CE60A4}"/>
              </a:ext>
            </a:extLst>
          </p:cNvPr>
          <p:cNvSpPr>
            <a:spLocks/>
          </p:cNvSpPr>
          <p:nvPr/>
        </p:nvSpPr>
        <p:spPr bwMode="auto">
          <a:xfrm>
            <a:off x="7122344" y="3271193"/>
            <a:ext cx="114300" cy="457200"/>
          </a:xfrm>
          <a:prstGeom prst="rightBrace">
            <a:avLst>
              <a:gd name="adj1" fmla="val 33333"/>
              <a:gd name="adj2" fmla="val 50000"/>
            </a:avLst>
          </a:prstGeom>
          <a:noFill/>
          <a:ln w="19050">
            <a:solidFill>
              <a:srgbClr val="FF0066"/>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1800">
              <a:solidFill>
                <a:srgbClr val="000000"/>
              </a:solidFill>
              <a:latin typeface="幼圆" pitchFamily="49" charset="-122"/>
              <a:ea typeface="幼圆" pitchFamily="49" charset="-122"/>
            </a:endParaRPr>
          </a:p>
        </p:txBody>
      </p:sp>
      <p:sp>
        <p:nvSpPr>
          <p:cNvPr id="68" name="AutoShape 282">
            <a:extLst>
              <a:ext uri="{FF2B5EF4-FFF2-40B4-BE49-F238E27FC236}">
                <a16:creationId xmlns:a16="http://schemas.microsoft.com/office/drawing/2014/main" id="{66B14E0D-3E29-8941-AC62-AFF7911911D6}"/>
              </a:ext>
            </a:extLst>
          </p:cNvPr>
          <p:cNvSpPr>
            <a:spLocks/>
          </p:cNvSpPr>
          <p:nvPr/>
        </p:nvSpPr>
        <p:spPr bwMode="auto">
          <a:xfrm>
            <a:off x="7187830" y="5682210"/>
            <a:ext cx="105965" cy="539353"/>
          </a:xfrm>
          <a:prstGeom prst="rightBrace">
            <a:avLst>
              <a:gd name="adj1" fmla="val 27830"/>
              <a:gd name="adj2" fmla="val 50000"/>
            </a:avLst>
          </a:prstGeom>
          <a:noFill/>
          <a:ln w="19050">
            <a:solidFill>
              <a:srgbClr val="FF0066"/>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sz="1800">
              <a:solidFill>
                <a:srgbClr val="000000"/>
              </a:solidFill>
              <a:latin typeface="幼圆" pitchFamily="49" charset="-122"/>
              <a:ea typeface="幼圆" pitchFamily="49" charset="-122"/>
            </a:endParaRPr>
          </a:p>
        </p:txBody>
      </p:sp>
      <p:sp>
        <p:nvSpPr>
          <p:cNvPr id="69" name="Text Box 283">
            <a:extLst>
              <a:ext uri="{FF2B5EF4-FFF2-40B4-BE49-F238E27FC236}">
                <a16:creationId xmlns:a16="http://schemas.microsoft.com/office/drawing/2014/main" id="{6DBD6482-E730-CE41-99E2-D306BE6CB392}"/>
              </a:ext>
            </a:extLst>
          </p:cNvPr>
          <p:cNvSpPr txBox="1">
            <a:spLocks noChangeArrowheads="1"/>
          </p:cNvSpPr>
          <p:nvPr/>
        </p:nvSpPr>
        <p:spPr bwMode="auto">
          <a:xfrm>
            <a:off x="7293794" y="2642544"/>
            <a:ext cx="6286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22M</a:t>
            </a:r>
          </a:p>
        </p:txBody>
      </p:sp>
      <p:sp>
        <p:nvSpPr>
          <p:cNvPr id="70" name="Text Box 284">
            <a:extLst>
              <a:ext uri="{FF2B5EF4-FFF2-40B4-BE49-F238E27FC236}">
                <a16:creationId xmlns:a16="http://schemas.microsoft.com/office/drawing/2014/main" id="{2E2EA303-3418-0949-BA8B-13741AC4FD16}"/>
              </a:ext>
            </a:extLst>
          </p:cNvPr>
          <p:cNvSpPr txBox="1">
            <a:spLocks noChangeArrowheads="1"/>
          </p:cNvSpPr>
          <p:nvPr/>
        </p:nvSpPr>
        <p:spPr bwMode="auto">
          <a:xfrm>
            <a:off x="7236644" y="3328344"/>
            <a:ext cx="5715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18M</a:t>
            </a:r>
          </a:p>
        </p:txBody>
      </p:sp>
      <p:sp>
        <p:nvSpPr>
          <p:cNvPr id="71" name="Text Box 285">
            <a:extLst>
              <a:ext uri="{FF2B5EF4-FFF2-40B4-BE49-F238E27FC236}">
                <a16:creationId xmlns:a16="http://schemas.microsoft.com/office/drawing/2014/main" id="{47684FC6-377F-3948-A79C-0397A9CA7B7F}"/>
              </a:ext>
            </a:extLst>
          </p:cNvPr>
          <p:cNvSpPr txBox="1">
            <a:spLocks noChangeArrowheads="1"/>
          </p:cNvSpPr>
          <p:nvPr/>
        </p:nvSpPr>
        <p:spPr bwMode="auto">
          <a:xfrm>
            <a:off x="7293794" y="5957244"/>
            <a:ext cx="8001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sz="1800">
                <a:solidFill>
                  <a:srgbClr val="FF3300"/>
                </a:solidFill>
                <a:latin typeface="幼圆" pitchFamily="49" charset="-122"/>
                <a:ea typeface="幼圆" pitchFamily="49" charset="-122"/>
              </a:rPr>
              <a:t>36M</a:t>
            </a:r>
          </a:p>
        </p:txBody>
      </p:sp>
      <p:sp>
        <p:nvSpPr>
          <p:cNvPr id="72" name="Rectangle 290">
            <a:extLst>
              <a:ext uri="{FF2B5EF4-FFF2-40B4-BE49-F238E27FC236}">
                <a16:creationId xmlns:a16="http://schemas.microsoft.com/office/drawing/2014/main" id="{44BE34DB-75E8-034B-B63C-A8760E5CA62D}"/>
              </a:ext>
            </a:extLst>
          </p:cNvPr>
          <p:cNvSpPr>
            <a:spLocks noChangeArrowheads="1"/>
          </p:cNvSpPr>
          <p:nvPr/>
        </p:nvSpPr>
        <p:spPr bwMode="auto">
          <a:xfrm>
            <a:off x="3807644" y="3728393"/>
            <a:ext cx="285750" cy="285750"/>
          </a:xfrm>
          <a:prstGeom prst="rect">
            <a:avLst/>
          </a:prstGeom>
          <a:solidFill>
            <a:srgbClr val="0000FF"/>
          </a:solidFill>
          <a:ln w="19050">
            <a:solidFill>
              <a:srgbClr val="000000"/>
            </a:solidFill>
            <a:miter lim="800000"/>
            <a:headEnd/>
            <a:tailEnd/>
          </a:ln>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00"/>
              </a:solidFill>
              <a:effectLst/>
              <a:uLnTx/>
              <a:uFillTx/>
              <a:latin typeface="幼圆" pitchFamily="49" charset="-122"/>
              <a:ea typeface="幼圆" pitchFamily="49" charset="-122"/>
            </a:endParaRPr>
          </a:p>
        </p:txBody>
      </p:sp>
      <p:sp>
        <p:nvSpPr>
          <p:cNvPr id="73" name="Rectangle 291">
            <a:extLst>
              <a:ext uri="{FF2B5EF4-FFF2-40B4-BE49-F238E27FC236}">
                <a16:creationId xmlns:a16="http://schemas.microsoft.com/office/drawing/2014/main" id="{841D42EE-47F1-EF41-8C68-3397C4F87248}"/>
              </a:ext>
            </a:extLst>
          </p:cNvPr>
          <p:cNvSpPr>
            <a:spLocks noChangeArrowheads="1"/>
          </p:cNvSpPr>
          <p:nvPr/>
        </p:nvSpPr>
        <p:spPr bwMode="auto">
          <a:xfrm>
            <a:off x="3807644" y="4185593"/>
            <a:ext cx="285750" cy="285750"/>
          </a:xfrm>
          <a:prstGeom prst="rect">
            <a:avLst/>
          </a:prstGeom>
          <a:noFill/>
          <a:ln w="19050">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00"/>
              </a:solidFill>
              <a:effectLst/>
              <a:uLnTx/>
              <a:uFillTx/>
              <a:latin typeface="幼圆" pitchFamily="49" charset="-122"/>
              <a:ea typeface="幼圆" pitchFamily="49" charset="-122"/>
            </a:endParaRPr>
          </a:p>
        </p:txBody>
      </p:sp>
      <p:sp>
        <p:nvSpPr>
          <p:cNvPr id="74" name="Text Box 292">
            <a:extLst>
              <a:ext uri="{FF2B5EF4-FFF2-40B4-BE49-F238E27FC236}">
                <a16:creationId xmlns:a16="http://schemas.microsoft.com/office/drawing/2014/main" id="{92E41FC7-7402-B147-9D56-33D37D39A1BA}"/>
              </a:ext>
            </a:extLst>
          </p:cNvPr>
          <p:cNvSpPr txBox="1">
            <a:spLocks noChangeArrowheads="1"/>
          </p:cNvSpPr>
          <p:nvPr/>
        </p:nvSpPr>
        <p:spPr bwMode="auto">
          <a:xfrm>
            <a:off x="4207694" y="3728394"/>
            <a:ext cx="16002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00"/>
                </a:solidFill>
                <a:latin typeface="幼圆" pitchFamily="49" charset="-122"/>
                <a:ea typeface="幼圆" pitchFamily="49" charset="-122"/>
              </a:rPr>
              <a:t>已分配的块</a:t>
            </a:r>
          </a:p>
        </p:txBody>
      </p:sp>
      <p:sp>
        <p:nvSpPr>
          <p:cNvPr id="75" name="Text Box 293">
            <a:extLst>
              <a:ext uri="{FF2B5EF4-FFF2-40B4-BE49-F238E27FC236}">
                <a16:creationId xmlns:a16="http://schemas.microsoft.com/office/drawing/2014/main" id="{9AD4B5A6-A233-CF4E-A2AD-1993A781E432}"/>
              </a:ext>
            </a:extLst>
          </p:cNvPr>
          <p:cNvSpPr txBox="1">
            <a:spLocks noChangeArrowheads="1"/>
          </p:cNvSpPr>
          <p:nvPr/>
        </p:nvSpPr>
        <p:spPr bwMode="auto">
          <a:xfrm>
            <a:off x="4207694" y="4185594"/>
            <a:ext cx="13144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1800">
                <a:solidFill>
                  <a:srgbClr val="000000"/>
                </a:solidFill>
                <a:latin typeface="幼圆" pitchFamily="49" charset="-122"/>
                <a:ea typeface="幼圆" pitchFamily="49" charset="-122"/>
              </a:rPr>
              <a:t>空闲块</a:t>
            </a:r>
          </a:p>
        </p:txBody>
      </p:sp>
      <p:graphicFrame>
        <p:nvGraphicFramePr>
          <p:cNvPr id="76" name="Group 158">
            <a:extLst>
              <a:ext uri="{FF2B5EF4-FFF2-40B4-BE49-F238E27FC236}">
                <a16:creationId xmlns:a16="http://schemas.microsoft.com/office/drawing/2014/main" id="{8CD21937-9445-F94A-818B-53A973CF8097}"/>
              </a:ext>
            </a:extLst>
          </p:cNvPr>
          <p:cNvGraphicFramePr>
            <a:graphicFrameLocks noGrp="1"/>
          </p:cNvGraphicFramePr>
          <p:nvPr>
            <p:extLst>
              <p:ext uri="{D42A27DB-BD31-4B8C-83A1-F6EECF244321}">
                <p14:modId xmlns:p14="http://schemas.microsoft.com/office/powerpoint/2010/main" val="1419693985"/>
              </p:ext>
            </p:extLst>
          </p:nvPr>
        </p:nvGraphicFramePr>
        <p:xfrm>
          <a:off x="2771800" y="1844824"/>
          <a:ext cx="857250" cy="4523471"/>
        </p:xfrm>
        <a:graphic>
          <a:graphicData uri="http://schemas.openxmlformats.org/drawingml/2006/table">
            <a:tbl>
              <a:tblPr/>
              <a:tblGrid>
                <a:gridCol w="857250">
                  <a:extLst>
                    <a:ext uri="{9D8B030D-6E8A-4147-A177-3AD203B41FA5}">
                      <a16:colId xmlns:a16="http://schemas.microsoft.com/office/drawing/2014/main" val="20000"/>
                    </a:ext>
                  </a:extLst>
                </a:gridCol>
              </a:tblGrid>
              <a:tr h="180766">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22">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39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39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39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6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77" name="Text Box 159">
            <a:extLst>
              <a:ext uri="{FF2B5EF4-FFF2-40B4-BE49-F238E27FC236}">
                <a16:creationId xmlns:a16="http://schemas.microsoft.com/office/drawing/2014/main" id="{E911BE01-1BAA-7745-8A83-9FB7A9BAB6FC}"/>
              </a:ext>
            </a:extLst>
          </p:cNvPr>
          <p:cNvSpPr txBox="1">
            <a:spLocks noChangeArrowheads="1"/>
          </p:cNvSpPr>
          <p:nvPr/>
        </p:nvSpPr>
        <p:spPr bwMode="auto">
          <a:xfrm>
            <a:off x="2352700" y="1826965"/>
            <a:ext cx="514350"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 8M</a:t>
            </a:r>
          </a:p>
        </p:txBody>
      </p:sp>
      <p:sp>
        <p:nvSpPr>
          <p:cNvPr id="78" name="Text Box 160">
            <a:extLst>
              <a:ext uri="{FF2B5EF4-FFF2-40B4-BE49-F238E27FC236}">
                <a16:creationId xmlns:a16="http://schemas.microsoft.com/office/drawing/2014/main" id="{5A02935C-8708-7747-AF08-83B1501C1521}"/>
              </a:ext>
            </a:extLst>
          </p:cNvPr>
          <p:cNvSpPr txBox="1">
            <a:spLocks noChangeArrowheads="1"/>
          </p:cNvSpPr>
          <p:nvPr/>
        </p:nvSpPr>
        <p:spPr bwMode="auto">
          <a:xfrm>
            <a:off x="2257450" y="2816375"/>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79" name="Text Box 161">
            <a:extLst>
              <a:ext uri="{FF2B5EF4-FFF2-40B4-BE49-F238E27FC236}">
                <a16:creationId xmlns:a16="http://schemas.microsoft.com/office/drawing/2014/main" id="{783720C3-8C59-E84B-8AAA-87404708D8D1}"/>
              </a:ext>
            </a:extLst>
          </p:cNvPr>
          <p:cNvSpPr txBox="1">
            <a:spLocks noChangeArrowheads="1"/>
          </p:cNvSpPr>
          <p:nvPr/>
        </p:nvSpPr>
        <p:spPr bwMode="auto">
          <a:xfrm>
            <a:off x="2257450" y="3455740"/>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FF3300"/>
                </a:solidFill>
                <a:effectLst/>
                <a:uLnTx/>
                <a:uFillTx/>
                <a:latin typeface="Arial Narrow" panose="020B0604020202020204" pitchFamily="34" charset="0"/>
                <a:ea typeface="宋体" panose="02010600030101010101" pitchFamily="2" charset="-122"/>
              </a:rPr>
              <a:t>18M</a:t>
            </a:r>
          </a:p>
        </p:txBody>
      </p:sp>
      <p:sp>
        <p:nvSpPr>
          <p:cNvPr id="80" name="Text Box 162">
            <a:extLst>
              <a:ext uri="{FF2B5EF4-FFF2-40B4-BE49-F238E27FC236}">
                <a16:creationId xmlns:a16="http://schemas.microsoft.com/office/drawing/2014/main" id="{67A3155F-8519-7543-AE32-7259C117DDDF}"/>
              </a:ext>
            </a:extLst>
          </p:cNvPr>
          <p:cNvSpPr txBox="1">
            <a:spLocks noChangeArrowheads="1"/>
          </p:cNvSpPr>
          <p:nvPr/>
        </p:nvSpPr>
        <p:spPr bwMode="auto">
          <a:xfrm>
            <a:off x="2314600" y="4302275"/>
            <a:ext cx="9144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8M</a:t>
            </a:r>
          </a:p>
        </p:txBody>
      </p:sp>
      <p:sp>
        <p:nvSpPr>
          <p:cNvPr id="81" name="Text Box 163">
            <a:extLst>
              <a:ext uri="{FF2B5EF4-FFF2-40B4-BE49-F238E27FC236}">
                <a16:creationId xmlns:a16="http://schemas.microsoft.com/office/drawing/2014/main" id="{D7265262-B424-5642-B594-66739E63FF17}"/>
              </a:ext>
            </a:extLst>
          </p:cNvPr>
          <p:cNvSpPr txBox="1">
            <a:spLocks noChangeArrowheads="1"/>
          </p:cNvSpPr>
          <p:nvPr/>
        </p:nvSpPr>
        <p:spPr bwMode="auto">
          <a:xfrm>
            <a:off x="2314600" y="4735663"/>
            <a:ext cx="10287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6M</a:t>
            </a:r>
          </a:p>
        </p:txBody>
      </p:sp>
      <p:sp>
        <p:nvSpPr>
          <p:cNvPr id="82" name="Text Box 164">
            <a:extLst>
              <a:ext uri="{FF2B5EF4-FFF2-40B4-BE49-F238E27FC236}">
                <a16:creationId xmlns:a16="http://schemas.microsoft.com/office/drawing/2014/main" id="{E584BAAC-1126-954D-800F-7D71FEE18C01}"/>
              </a:ext>
            </a:extLst>
          </p:cNvPr>
          <p:cNvSpPr txBox="1">
            <a:spLocks noChangeArrowheads="1"/>
          </p:cNvSpPr>
          <p:nvPr/>
        </p:nvSpPr>
        <p:spPr bwMode="auto">
          <a:xfrm>
            <a:off x="2200300" y="5341690"/>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14M</a:t>
            </a:r>
          </a:p>
        </p:txBody>
      </p:sp>
      <p:sp>
        <p:nvSpPr>
          <p:cNvPr id="83" name="Text Box 165">
            <a:extLst>
              <a:ext uri="{FF2B5EF4-FFF2-40B4-BE49-F238E27FC236}">
                <a16:creationId xmlns:a16="http://schemas.microsoft.com/office/drawing/2014/main" id="{4821BB3F-970D-B64C-AC69-1979A6B121D1}"/>
              </a:ext>
            </a:extLst>
          </p:cNvPr>
          <p:cNvSpPr txBox="1">
            <a:spLocks noChangeArrowheads="1"/>
          </p:cNvSpPr>
          <p:nvPr/>
        </p:nvSpPr>
        <p:spPr bwMode="auto">
          <a:xfrm>
            <a:off x="2200300" y="6027490"/>
            <a:ext cx="6858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800" b="1" i="0" u="none" strike="noStrike" kern="0" cap="none" spc="0" normalizeH="0" baseline="0" noProof="0">
                <a:ln>
                  <a:noFill/>
                </a:ln>
                <a:solidFill>
                  <a:srgbClr val="D60093"/>
                </a:solidFill>
                <a:effectLst/>
                <a:uLnTx/>
                <a:uFillTx/>
                <a:latin typeface="Arial Narrow" panose="020B0604020202020204" pitchFamily="34" charset="0"/>
                <a:ea typeface="宋体" panose="02010600030101010101" pitchFamily="2" charset="-122"/>
              </a:rPr>
              <a:t>36M</a:t>
            </a:r>
          </a:p>
        </p:txBody>
      </p:sp>
      <p:sp>
        <p:nvSpPr>
          <p:cNvPr id="84" name="Line 269">
            <a:extLst>
              <a:ext uri="{FF2B5EF4-FFF2-40B4-BE49-F238E27FC236}">
                <a16:creationId xmlns:a16="http://schemas.microsoft.com/office/drawing/2014/main" id="{94782920-7A34-F148-8448-4B76CB305584}"/>
              </a:ext>
            </a:extLst>
          </p:cNvPr>
          <p:cNvSpPr>
            <a:spLocks noChangeShapeType="1"/>
          </p:cNvSpPr>
          <p:nvPr/>
        </p:nvSpPr>
        <p:spPr bwMode="auto">
          <a:xfrm>
            <a:off x="2028850" y="4245124"/>
            <a:ext cx="742950" cy="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85" name="Line 271">
            <a:extLst>
              <a:ext uri="{FF2B5EF4-FFF2-40B4-BE49-F238E27FC236}">
                <a16:creationId xmlns:a16="http://schemas.microsoft.com/office/drawing/2014/main" id="{99D92D8D-61AB-C443-BD4D-A9F4BCC49D98}"/>
              </a:ext>
            </a:extLst>
          </p:cNvPr>
          <p:cNvSpPr>
            <a:spLocks noChangeShapeType="1"/>
          </p:cNvSpPr>
          <p:nvPr/>
        </p:nvSpPr>
        <p:spPr bwMode="auto">
          <a:xfrm flipV="1">
            <a:off x="2028850" y="3959374"/>
            <a:ext cx="0" cy="285750"/>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ndParaRPr>
          </a:p>
        </p:txBody>
      </p:sp>
      <p:sp>
        <p:nvSpPr>
          <p:cNvPr id="86" name="TextBox 42">
            <a:extLst>
              <a:ext uri="{FF2B5EF4-FFF2-40B4-BE49-F238E27FC236}">
                <a16:creationId xmlns:a16="http://schemas.microsoft.com/office/drawing/2014/main" id="{DF79E809-D6BA-4B44-9BCF-CDC31C8CE00D}"/>
              </a:ext>
            </a:extLst>
          </p:cNvPr>
          <p:cNvSpPr txBox="1">
            <a:spLocks noChangeArrowheads="1"/>
          </p:cNvSpPr>
          <p:nvPr/>
        </p:nvSpPr>
        <p:spPr bwMode="auto">
          <a:xfrm>
            <a:off x="1520220" y="2721126"/>
            <a:ext cx="405047" cy="26789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gn="ctr">
              <a:lnSpc>
                <a:spcPct val="70000"/>
              </a:lnSpc>
              <a:spcBef>
                <a:spcPct val="50000"/>
              </a:spcBef>
            </a:pPr>
            <a:r>
              <a:rPr lang="zh-CN" altLang="en-US" sz="1800">
                <a:solidFill>
                  <a:srgbClr val="000000"/>
                </a:solidFill>
                <a:latin typeface="幼圆" pitchFamily="49" charset="-122"/>
                <a:ea typeface="幼圆" pitchFamily="49" charset="-122"/>
              </a:rPr>
              <a:t>最后分配的块（</a:t>
            </a:r>
            <a:r>
              <a:rPr lang="en-US" altLang="zh-CN" sz="1800">
                <a:solidFill>
                  <a:srgbClr val="000000"/>
                </a:solidFill>
                <a:latin typeface="幼圆" pitchFamily="49" charset="-122"/>
                <a:ea typeface="幼圆" pitchFamily="49" charset="-122"/>
              </a:rPr>
              <a:t>14M</a:t>
            </a:r>
            <a:r>
              <a:rPr lang="zh-CN" altLang="en-US" sz="1800">
                <a:solidFill>
                  <a:srgbClr val="000000"/>
                </a:solidFill>
                <a:latin typeface="幼圆" pitchFamily="49" charset="-122"/>
                <a:ea typeface="幼圆" pitchFamily="49" charset="-122"/>
              </a:rPr>
              <a:t>）</a:t>
            </a:r>
            <a:endParaRPr lang="zh-CN" altLang="en-US" sz="1800">
              <a:solidFill>
                <a:srgbClr val="0000FF"/>
              </a:solidFill>
              <a:latin typeface="幼圆" pitchFamily="49" charset="-122"/>
              <a:ea typeface="幼圆" pitchFamily="49" charset="-122"/>
            </a:endParaRPr>
          </a:p>
        </p:txBody>
      </p:sp>
      <p:graphicFrame>
        <p:nvGraphicFramePr>
          <p:cNvPr id="87" name="Group 158">
            <a:extLst>
              <a:ext uri="{FF2B5EF4-FFF2-40B4-BE49-F238E27FC236}">
                <a16:creationId xmlns:a16="http://schemas.microsoft.com/office/drawing/2014/main" id="{075DA428-252C-0E43-932F-765AF321AED9}"/>
              </a:ext>
            </a:extLst>
          </p:cNvPr>
          <p:cNvGraphicFramePr>
            <a:graphicFrameLocks noGrp="1"/>
          </p:cNvGraphicFramePr>
          <p:nvPr>
            <p:extLst>
              <p:ext uri="{D42A27DB-BD31-4B8C-83A1-F6EECF244321}">
                <p14:modId xmlns:p14="http://schemas.microsoft.com/office/powerpoint/2010/main" val="3986640453"/>
              </p:ext>
            </p:extLst>
          </p:nvPr>
        </p:nvGraphicFramePr>
        <p:xfrm>
          <a:off x="6275810" y="1685281"/>
          <a:ext cx="857250" cy="4523471"/>
        </p:xfrm>
        <a:graphic>
          <a:graphicData uri="http://schemas.openxmlformats.org/drawingml/2006/table">
            <a:tbl>
              <a:tblPr/>
              <a:tblGrid>
                <a:gridCol w="857250">
                  <a:extLst>
                    <a:ext uri="{9D8B030D-6E8A-4147-A177-3AD203B41FA5}">
                      <a16:colId xmlns:a16="http://schemas.microsoft.com/office/drawing/2014/main" val="20000"/>
                    </a:ext>
                  </a:extLst>
                </a:gridCol>
              </a:tblGrid>
              <a:tr h="180766">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22">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39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39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4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39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6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6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0" marB="34250"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88" name="TextBox 44">
            <a:extLst>
              <a:ext uri="{FF2B5EF4-FFF2-40B4-BE49-F238E27FC236}">
                <a16:creationId xmlns:a16="http://schemas.microsoft.com/office/drawing/2014/main" id="{8F5B8533-C333-BF4A-B79A-64CE6614B577}"/>
              </a:ext>
            </a:extLst>
          </p:cNvPr>
          <p:cNvSpPr txBox="1">
            <a:spLocks noChangeArrowheads="1"/>
          </p:cNvSpPr>
          <p:nvPr/>
        </p:nvSpPr>
        <p:spPr bwMode="auto">
          <a:xfrm>
            <a:off x="2272930" y="2318694"/>
            <a:ext cx="54054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Arial Narrow" panose="020B0604020202020204" pitchFamily="34" charset="0"/>
                <a:ea typeface="宋体" panose="02010600030101010101" pitchFamily="2" charset="-122"/>
              </a:rPr>
              <a:t>12M</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89" name="矩形 45">
            <a:extLst>
              <a:ext uri="{FF2B5EF4-FFF2-40B4-BE49-F238E27FC236}">
                <a16:creationId xmlns:a16="http://schemas.microsoft.com/office/drawing/2014/main" id="{15B9CF04-9727-4D4A-9136-A1591F3E0FE8}"/>
              </a:ext>
            </a:extLst>
          </p:cNvPr>
          <p:cNvSpPr>
            <a:spLocks noChangeArrowheads="1"/>
          </p:cNvSpPr>
          <p:nvPr/>
        </p:nvSpPr>
        <p:spPr bwMode="auto">
          <a:xfrm>
            <a:off x="6269856" y="2603253"/>
            <a:ext cx="863204" cy="270272"/>
          </a:xfrm>
          <a:prstGeom prst="rect">
            <a:avLst/>
          </a:prstGeom>
          <a:solidFill>
            <a:srgbClr val="0000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90" name="矩形 46">
            <a:extLst>
              <a:ext uri="{FF2B5EF4-FFF2-40B4-BE49-F238E27FC236}">
                <a16:creationId xmlns:a16="http://schemas.microsoft.com/office/drawing/2014/main" id="{DFF6E750-963C-3248-A1AC-BEF2C0C6F86B}"/>
              </a:ext>
            </a:extLst>
          </p:cNvPr>
          <p:cNvSpPr>
            <a:spLocks noChangeArrowheads="1"/>
          </p:cNvSpPr>
          <p:nvPr/>
        </p:nvSpPr>
        <p:spPr bwMode="auto">
          <a:xfrm>
            <a:off x="6269856" y="3283101"/>
            <a:ext cx="863204" cy="270272"/>
          </a:xfrm>
          <a:prstGeom prst="rect">
            <a:avLst/>
          </a:prstGeom>
          <a:solidFill>
            <a:srgbClr val="FF3300"/>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FF3300"/>
              </a:solidFill>
              <a:effectLst/>
              <a:uLnTx/>
              <a:uFillTx/>
              <a:latin typeface="Arial Narrow" panose="020B0604020202020204" pitchFamily="34" charset="0"/>
              <a:ea typeface="宋体" panose="02010600030101010101" pitchFamily="2" charset="-122"/>
            </a:endParaRPr>
          </a:p>
        </p:txBody>
      </p:sp>
      <p:sp>
        <p:nvSpPr>
          <p:cNvPr id="91" name="矩形 47">
            <a:extLst>
              <a:ext uri="{FF2B5EF4-FFF2-40B4-BE49-F238E27FC236}">
                <a16:creationId xmlns:a16="http://schemas.microsoft.com/office/drawing/2014/main" id="{62B8A33D-B15C-3E42-B9EB-CE8198A12356}"/>
              </a:ext>
            </a:extLst>
          </p:cNvPr>
          <p:cNvSpPr>
            <a:spLocks noChangeArrowheads="1"/>
          </p:cNvSpPr>
          <p:nvPr/>
        </p:nvSpPr>
        <p:spPr bwMode="auto">
          <a:xfrm>
            <a:off x="6269856" y="5711976"/>
            <a:ext cx="863204" cy="270272"/>
          </a:xfrm>
          <a:prstGeom prst="rect">
            <a:avLst/>
          </a:prstGeom>
          <a:solidFill>
            <a:srgbClr val="D60093"/>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FF3300"/>
              </a:solidFill>
              <a:effectLst/>
              <a:uLnTx/>
              <a:uFillTx/>
              <a:latin typeface="Arial Narrow" panose="020B0604020202020204" pitchFamily="34" charset="0"/>
              <a:ea typeface="宋体" panose="02010600030101010101" pitchFamily="2" charset="-122"/>
            </a:endParaRPr>
          </a:p>
        </p:txBody>
      </p:sp>
      <p:sp>
        <p:nvSpPr>
          <p:cNvPr id="92" name="Rectangle 2">
            <a:extLst>
              <a:ext uri="{FF2B5EF4-FFF2-40B4-BE49-F238E27FC236}">
                <a16:creationId xmlns:a16="http://schemas.microsoft.com/office/drawing/2014/main" id="{471E7B2E-9AAD-FA4C-9BF7-3E3C88A96A85}"/>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p>
        </p:txBody>
      </p:sp>
    </p:spTree>
    <p:extLst>
      <p:ext uri="{BB962C8B-B14F-4D97-AF65-F5344CB8AC3E}">
        <p14:creationId xmlns:p14="http://schemas.microsoft.com/office/powerpoint/2010/main" val="271420908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blinds(horizontal)">
                                      <p:cBhvr>
                                        <p:cTn id="7" dur="500"/>
                                        <p:tgtEl>
                                          <p:spTgt spid="63"/>
                                        </p:tgtEl>
                                      </p:cBhvr>
                                    </p:animEffect>
                                  </p:childTnLst>
                                </p:cTn>
                              </p:par>
                              <p:par>
                                <p:cTn id="8" presetID="3" presetClass="entr" presetSubtype="10" fill="hold" nodeType="withEffect">
                                  <p:stCondLst>
                                    <p:cond delay="0"/>
                                  </p:stCondLst>
                                  <p:childTnLst>
                                    <p:set>
                                      <p:cBhvr>
                                        <p:cTn id="9" dur="1" fill="hold">
                                          <p:stCondLst>
                                            <p:cond delay="0"/>
                                          </p:stCondLst>
                                        </p:cTn>
                                        <p:tgtEl>
                                          <p:spTgt spid="54"/>
                                        </p:tgtEl>
                                        <p:attrNameLst>
                                          <p:attrName>style.visibility</p:attrName>
                                        </p:attrNameLst>
                                      </p:cBhvr>
                                      <p:to>
                                        <p:strVal val="visible"/>
                                      </p:to>
                                    </p:set>
                                    <p:animEffect transition="in" filter="blinds(horizontal)">
                                      <p:cBhvr>
                                        <p:cTn id="10" dur="500"/>
                                        <p:tgtEl>
                                          <p:spTgt spid="54"/>
                                        </p:tgtEl>
                                      </p:cBhvr>
                                    </p:animEffect>
                                  </p:childTnLst>
                                </p:cTn>
                              </p:par>
                            </p:childTnLst>
                          </p:cTn>
                        </p:par>
                        <p:par>
                          <p:cTn id="11" fill="hold">
                            <p:stCondLst>
                              <p:cond delay="500"/>
                            </p:stCondLst>
                            <p:childTnLst>
                              <p:par>
                                <p:cTn id="12" presetID="9" presetClass="entr" presetSubtype="0" fill="hold" grpId="0" nodeType="afterEffect">
                                  <p:stCondLst>
                                    <p:cond delay="0"/>
                                  </p:stCondLst>
                                  <p:childTnLst>
                                    <p:set>
                                      <p:cBhvr>
                                        <p:cTn id="13" dur="1" fill="hold">
                                          <p:stCondLst>
                                            <p:cond delay="0"/>
                                          </p:stCondLst>
                                        </p:cTn>
                                        <p:tgtEl>
                                          <p:spTgt spid="89"/>
                                        </p:tgtEl>
                                        <p:attrNameLst>
                                          <p:attrName>style.visibility</p:attrName>
                                        </p:attrNameLst>
                                      </p:cBhvr>
                                      <p:to>
                                        <p:strVal val="visible"/>
                                      </p:to>
                                    </p:set>
                                    <p:animEffect transition="in" filter="dissolve">
                                      <p:cBhvr>
                                        <p:cTn id="14" dur="500"/>
                                        <p:tgtEl>
                                          <p:spTgt spid="89"/>
                                        </p:tgtEl>
                                      </p:cBhvr>
                                    </p:animEffec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65"/>
                                        </p:tgtEl>
                                        <p:attrNameLst>
                                          <p:attrName>style.visibility</p:attrName>
                                        </p:attrNameLst>
                                      </p:cBhvr>
                                      <p:to>
                                        <p:strVal val="visible"/>
                                      </p:to>
                                    </p:set>
                                    <p:animEffect transition="in" filter="blinds(horizontal)">
                                      <p:cBhvr>
                                        <p:cTn id="19" dur="500"/>
                                        <p:tgtEl>
                                          <p:spTgt spid="65"/>
                                        </p:tgtEl>
                                      </p:cBhvr>
                                    </p:animEffect>
                                  </p:childTnLst>
                                </p:cTn>
                              </p:par>
                              <p:par>
                                <p:cTn id="20" presetID="3" presetClass="entr" presetSubtype="10" fill="hold" nodeType="withEffect">
                                  <p:stCondLst>
                                    <p:cond delay="0"/>
                                  </p:stCondLst>
                                  <p:childTnLst>
                                    <p:set>
                                      <p:cBhvr>
                                        <p:cTn id="21" dur="1" fill="hold">
                                          <p:stCondLst>
                                            <p:cond delay="0"/>
                                          </p:stCondLst>
                                        </p:cTn>
                                        <p:tgtEl>
                                          <p:spTgt spid="60"/>
                                        </p:tgtEl>
                                        <p:attrNameLst>
                                          <p:attrName>style.visibility</p:attrName>
                                        </p:attrNameLst>
                                      </p:cBhvr>
                                      <p:to>
                                        <p:strVal val="visible"/>
                                      </p:to>
                                    </p:set>
                                    <p:animEffect transition="in" filter="blinds(horizontal)">
                                      <p:cBhvr>
                                        <p:cTn id="22" dur="500"/>
                                        <p:tgtEl>
                                          <p:spTgt spid="60"/>
                                        </p:tgtEl>
                                      </p:cBhvr>
                                    </p:animEffect>
                                  </p:childTnLst>
                                </p:cTn>
                              </p:par>
                              <p:par>
                                <p:cTn id="23" presetID="3" presetClass="entr" presetSubtype="10" fill="hold" grpId="0" nodeType="withEffect">
                                  <p:stCondLst>
                                    <p:cond delay="0"/>
                                  </p:stCondLst>
                                  <p:childTnLst>
                                    <p:set>
                                      <p:cBhvr>
                                        <p:cTn id="24" dur="1" fill="hold">
                                          <p:stCondLst>
                                            <p:cond delay="0"/>
                                          </p:stCondLst>
                                        </p:cTn>
                                        <p:tgtEl>
                                          <p:spTgt spid="91"/>
                                        </p:tgtEl>
                                        <p:attrNameLst>
                                          <p:attrName>style.visibility</p:attrName>
                                        </p:attrNameLst>
                                      </p:cBhvr>
                                      <p:to>
                                        <p:strVal val="visible"/>
                                      </p:to>
                                    </p:set>
                                    <p:animEffect transition="in" filter="blinds(horizontal)">
                                      <p:cBhvr>
                                        <p:cTn id="25" dur="500"/>
                                        <p:tgtEl>
                                          <p:spTgt spid="91"/>
                                        </p:tgtEl>
                                      </p:cBhvr>
                                    </p:animEffec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64"/>
                                        </p:tgtEl>
                                        <p:attrNameLst>
                                          <p:attrName>style.visibility</p:attrName>
                                        </p:attrNameLst>
                                      </p:cBhvr>
                                      <p:to>
                                        <p:strVal val="visible"/>
                                      </p:to>
                                    </p:set>
                                    <p:animEffect transition="in" filter="blinds(horizontal)">
                                      <p:cBhvr>
                                        <p:cTn id="30" dur="500"/>
                                        <p:tgtEl>
                                          <p:spTgt spid="64"/>
                                        </p:tgtEl>
                                      </p:cBhvr>
                                    </p:animEffect>
                                  </p:childTnLst>
                                </p:cTn>
                              </p:par>
                              <p:par>
                                <p:cTn id="31" presetID="3" presetClass="entr" presetSubtype="10"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blinds(horizontal)">
                                      <p:cBhvr>
                                        <p:cTn id="33" dur="500"/>
                                        <p:tgtEl>
                                          <p:spTgt spid="57"/>
                                        </p:tgtEl>
                                      </p:cBhvr>
                                    </p:animEffect>
                                  </p:childTnLst>
                                </p:cTn>
                              </p:par>
                              <p:par>
                                <p:cTn id="34" presetID="11" presetClass="entr" presetSubtype="0" fill="hold" grpId="0" nodeType="withEffect">
                                  <p:stCondLst>
                                    <p:cond delay="0"/>
                                  </p:stCondLst>
                                  <p:childTnLst>
                                    <p:set>
                                      <p:cBhvr>
                                        <p:cTn id="35" dur="1000">
                                          <p:stCondLst>
                                            <p:cond delay="0"/>
                                          </p:stCondLst>
                                        </p:cTn>
                                        <p:tgtEl>
                                          <p:spTgt spid="90"/>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1" nodeType="clickEffect">
                                  <p:stCondLst>
                                    <p:cond delay="0"/>
                                  </p:stCondLst>
                                  <p:childTnLst>
                                    <p:set>
                                      <p:cBhvr>
                                        <p:cTn id="39" dur="1" fill="hold">
                                          <p:stCondLst>
                                            <p:cond delay="0"/>
                                          </p:stCondLst>
                                        </p:cTn>
                                        <p:tgtEl>
                                          <p:spTgt spid="90"/>
                                        </p:tgtEl>
                                        <p:attrNameLst>
                                          <p:attrName>style.visibility</p:attrName>
                                        </p:attrNameLst>
                                      </p:cBhvr>
                                      <p:to>
                                        <p:strVal val="visible"/>
                                      </p:to>
                                    </p:set>
                                    <p:animEffect transition="in" filter="dissolve">
                                      <p:cBhvr>
                                        <p:cTn id="40" dur="500"/>
                                        <p:tgtEl>
                                          <p:spTgt spid="90"/>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1" nodeType="clickEffect">
                                  <p:stCondLst>
                                    <p:cond delay="0"/>
                                  </p:stCondLst>
                                  <p:childTnLst>
                                    <p:set>
                                      <p:cBhvr>
                                        <p:cTn id="44" dur="1" fill="hold">
                                          <p:stCondLst>
                                            <p:cond delay="0"/>
                                          </p:stCondLst>
                                        </p:cTn>
                                        <p:tgtEl>
                                          <p:spTgt spid="91"/>
                                        </p:tgtEl>
                                        <p:attrNameLst>
                                          <p:attrName>style.visibility</p:attrName>
                                        </p:attrNameLst>
                                      </p:cBhvr>
                                      <p:to>
                                        <p:strVal val="visible"/>
                                      </p:to>
                                    </p:set>
                                    <p:animEffect transition="in" filter="dissolve">
                                      <p:cBhvr>
                                        <p:cTn id="45"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64" grpId="0"/>
      <p:bldP spid="65" grpId="0"/>
      <p:bldP spid="89" grpId="0" animBg="1"/>
      <p:bldP spid="90" grpId="0" animBg="1"/>
      <p:bldP spid="90" grpId="1" animBg="1"/>
      <p:bldP spid="91" grpId="0" animBg="1"/>
      <p:bldP spid="91"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a:extLst>
              <a:ext uri="{FF2B5EF4-FFF2-40B4-BE49-F238E27FC236}">
                <a16:creationId xmlns:a16="http://schemas.microsoft.com/office/drawing/2014/main" id="{2873B0A8-3161-0649-A47C-996E25EC9340}"/>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可变分区存储管理</a:t>
            </a:r>
          </a:p>
        </p:txBody>
      </p:sp>
      <p:sp>
        <p:nvSpPr>
          <p:cNvPr id="54275" name="Rectangle 3">
            <a:extLst>
              <a:ext uri="{FF2B5EF4-FFF2-40B4-BE49-F238E27FC236}">
                <a16:creationId xmlns:a16="http://schemas.microsoft.com/office/drawing/2014/main" id="{F5251CAE-DF07-804D-903D-1FBE1526637C}"/>
              </a:ext>
            </a:extLst>
          </p:cNvPr>
          <p:cNvSpPr>
            <a:spLocks noGrp="1" noChangeArrowheads="1"/>
          </p:cNvSpPr>
          <p:nvPr>
            <p:ph type="body" idx="1"/>
          </p:nvPr>
        </p:nvSpPr>
        <p:spPr>
          <a:xfrm>
            <a:off x="500063" y="1428750"/>
            <a:ext cx="8215312" cy="1439863"/>
          </a:xfrm>
        </p:spPr>
        <p:txBody>
          <a:bodyPr/>
          <a:lstStyle/>
          <a:p>
            <a:pPr marL="0" indent="34290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例</a:t>
            </a:r>
            <a:r>
              <a:rPr lang="en-US" altLang="zh-CN" sz="2000">
                <a:solidFill>
                  <a:schemeClr val="tx1"/>
                </a:solidFill>
                <a:effectLst/>
                <a:latin typeface="宋体" panose="02010600030101010101" pitchFamily="2" charset="-122"/>
              </a:rPr>
              <a:t>4.1 </a:t>
            </a:r>
            <a:r>
              <a:rPr lang="zh-CN" altLang="en-US" sz="2000">
                <a:solidFill>
                  <a:schemeClr val="tx1"/>
                </a:solidFill>
                <a:effectLst/>
                <a:latin typeface="宋体" panose="02010600030101010101" pitchFamily="2" charset="-122"/>
              </a:rPr>
              <a:t>有一程序序列：程序</a:t>
            </a:r>
            <a:r>
              <a:rPr lang="en-US" altLang="zh-CN" sz="2000">
                <a:solidFill>
                  <a:schemeClr val="tx1"/>
                </a:solidFill>
                <a:effectLst/>
                <a:latin typeface="宋体" panose="02010600030101010101" pitchFamily="2" charset="-122"/>
              </a:rPr>
              <a:t>A</a:t>
            </a:r>
            <a:r>
              <a:rPr lang="zh-CN" altLang="en-US" sz="2000">
                <a:solidFill>
                  <a:schemeClr val="tx1"/>
                </a:solidFill>
                <a:effectLst/>
                <a:latin typeface="宋体" panose="02010600030101010101" pitchFamily="2" charset="-122"/>
              </a:rPr>
              <a:t>要求</a:t>
            </a:r>
            <a:r>
              <a:rPr lang="en-US" altLang="zh-CN" sz="2000">
                <a:solidFill>
                  <a:schemeClr val="tx1"/>
                </a:solidFill>
                <a:effectLst/>
                <a:latin typeface="宋体" panose="02010600030101010101" pitchFamily="2" charset="-122"/>
              </a:rPr>
              <a:t>18KB</a:t>
            </a:r>
            <a:r>
              <a:rPr lang="zh-CN" altLang="en-US" sz="2000">
                <a:solidFill>
                  <a:schemeClr val="tx1"/>
                </a:solidFill>
                <a:effectLst/>
                <a:latin typeface="宋体" panose="02010600030101010101" pitchFamily="2" charset="-122"/>
              </a:rPr>
              <a:t>，程序</a:t>
            </a:r>
            <a:r>
              <a:rPr lang="en-US" altLang="zh-CN" sz="2000">
                <a:solidFill>
                  <a:schemeClr val="tx1"/>
                </a:solidFill>
                <a:effectLst/>
                <a:latin typeface="宋体" panose="02010600030101010101" pitchFamily="2" charset="-122"/>
              </a:rPr>
              <a:t>B</a:t>
            </a:r>
            <a:r>
              <a:rPr lang="zh-CN" altLang="en-US" sz="2000">
                <a:solidFill>
                  <a:schemeClr val="tx1"/>
                </a:solidFill>
                <a:effectLst/>
                <a:latin typeface="宋体" panose="02010600030101010101" pitchFamily="2" charset="-122"/>
              </a:rPr>
              <a:t>要求</a:t>
            </a:r>
            <a:r>
              <a:rPr lang="en-US" altLang="zh-CN" sz="2000">
                <a:solidFill>
                  <a:schemeClr val="tx1"/>
                </a:solidFill>
                <a:effectLst/>
                <a:latin typeface="宋体" panose="02010600030101010101" pitchFamily="2" charset="-122"/>
              </a:rPr>
              <a:t>25KB</a:t>
            </a:r>
            <a:r>
              <a:rPr lang="zh-CN" altLang="en-US" sz="2000">
                <a:solidFill>
                  <a:schemeClr val="tx1"/>
                </a:solidFill>
                <a:effectLst/>
                <a:latin typeface="宋体" panose="02010600030101010101" pitchFamily="2" charset="-122"/>
              </a:rPr>
              <a:t>，程序</a:t>
            </a:r>
            <a:r>
              <a:rPr lang="en-US" altLang="zh-CN" sz="2000">
                <a:solidFill>
                  <a:schemeClr val="tx1"/>
                </a:solidFill>
                <a:effectLst/>
                <a:latin typeface="宋体" panose="02010600030101010101" pitchFamily="2" charset="-122"/>
              </a:rPr>
              <a:t>C</a:t>
            </a:r>
            <a:r>
              <a:rPr lang="zh-CN" altLang="en-US" sz="2000">
                <a:solidFill>
                  <a:schemeClr val="tx1"/>
                </a:solidFill>
                <a:effectLst/>
                <a:latin typeface="宋体" panose="02010600030101010101" pitchFamily="2" charset="-122"/>
              </a:rPr>
              <a:t>要求</a:t>
            </a:r>
            <a:r>
              <a:rPr lang="en-US" altLang="zh-CN" sz="2000">
                <a:solidFill>
                  <a:schemeClr val="tx1"/>
                </a:solidFill>
                <a:effectLst/>
                <a:latin typeface="宋体" panose="02010600030101010101" pitchFamily="2" charset="-122"/>
              </a:rPr>
              <a:t>30KB</a:t>
            </a:r>
            <a:r>
              <a:rPr lang="zh-CN" altLang="en-US" sz="2000">
                <a:solidFill>
                  <a:schemeClr val="tx1"/>
                </a:solidFill>
                <a:effectLst/>
                <a:latin typeface="宋体" panose="02010600030101010101" pitchFamily="2" charset="-122"/>
              </a:rPr>
              <a:t>，初始内存分配情况如图所示（其中阴影为分配区）。问首次适应算法、最佳适应算法和最差适应算法中哪种能满足该程序序列的分配？</a:t>
            </a:r>
          </a:p>
        </p:txBody>
      </p:sp>
      <p:pic>
        <p:nvPicPr>
          <p:cNvPr id="54276" name="Picture 5" descr="4-14">
            <a:extLst>
              <a:ext uri="{FF2B5EF4-FFF2-40B4-BE49-F238E27FC236}">
                <a16:creationId xmlns:a16="http://schemas.microsoft.com/office/drawing/2014/main" id="{D936CEAA-B065-A740-829A-D3CB4C42ED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9000" y="3081338"/>
            <a:ext cx="1857375" cy="341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a:extLst>
              <a:ext uri="{FF2B5EF4-FFF2-40B4-BE49-F238E27FC236}">
                <a16:creationId xmlns:a16="http://schemas.microsoft.com/office/drawing/2014/main" id="{B768B583-1C7B-614D-ABDC-FC5DADCADA0F}"/>
              </a:ext>
            </a:extLst>
          </p:cNvPr>
          <p:cNvSpPr>
            <a:spLocks noGrp="1" noChangeArrowheads="1"/>
          </p:cNvSpPr>
          <p:nvPr>
            <p:ph type="title"/>
          </p:nvPr>
        </p:nvSpPr>
        <p:spPr/>
        <p:txBody>
          <a:bodyPr/>
          <a:lstStyle/>
          <a:p>
            <a:pPr eaLnBrk="1" hangingPunct="1"/>
            <a:r>
              <a:rPr lang="zh-CN" altLang="en-US" sz="2800" dirty="0">
                <a:solidFill>
                  <a:srgbClr val="FF0000"/>
                </a:solidFill>
                <a:latin typeface="宋体" panose="02010600030101010101" pitchFamily="2" charset="-122"/>
              </a:rPr>
              <a:t>  可变分区存储管理</a:t>
            </a:r>
          </a:p>
        </p:txBody>
      </p:sp>
      <p:sp>
        <p:nvSpPr>
          <p:cNvPr id="55299" name="Text Box 4">
            <a:extLst>
              <a:ext uri="{FF2B5EF4-FFF2-40B4-BE49-F238E27FC236}">
                <a16:creationId xmlns:a16="http://schemas.microsoft.com/office/drawing/2014/main" id="{6256EEE2-1BDA-EA4E-92E0-AD3366ADE344}"/>
              </a:ext>
            </a:extLst>
          </p:cNvPr>
          <p:cNvSpPr txBox="1">
            <a:spLocks noChangeArrowheads="1"/>
          </p:cNvSpPr>
          <p:nvPr/>
        </p:nvSpPr>
        <p:spPr bwMode="auto">
          <a:xfrm>
            <a:off x="0" y="1212850"/>
            <a:ext cx="8715375"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indent="457200">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lnSpc>
                <a:spcPct val="150000"/>
              </a:lnSpc>
              <a:spcBef>
                <a:spcPct val="0"/>
              </a:spcBef>
              <a:buFontTx/>
              <a:buNone/>
            </a:pPr>
            <a:r>
              <a:rPr lang="en-US" altLang="zh-CN" sz="1800">
                <a:solidFill>
                  <a:srgbClr val="FF0000"/>
                </a:solidFill>
                <a:latin typeface="宋体" panose="02010600030101010101" pitchFamily="2" charset="-122"/>
              </a:rPr>
              <a:t>【</a:t>
            </a:r>
            <a:r>
              <a:rPr lang="zh-CN" altLang="en-US" sz="1800">
                <a:solidFill>
                  <a:srgbClr val="FF0000"/>
                </a:solidFill>
                <a:latin typeface="宋体" panose="02010600030101010101" pitchFamily="2" charset="-122"/>
              </a:rPr>
              <a:t>解答</a:t>
            </a:r>
            <a:r>
              <a:rPr lang="en-US" altLang="zh-CN" sz="1800">
                <a:solidFill>
                  <a:srgbClr val="FF0000"/>
                </a:solidFill>
                <a:latin typeface="宋体" panose="02010600030101010101" pitchFamily="2" charset="-122"/>
              </a:rPr>
              <a:t>】 </a:t>
            </a:r>
            <a:r>
              <a:rPr lang="zh-CN" altLang="en-US" sz="1800">
                <a:solidFill>
                  <a:schemeClr val="tx1"/>
                </a:solidFill>
                <a:latin typeface="宋体" panose="02010600030101010101" pitchFamily="2" charset="-122"/>
              </a:rPr>
              <a:t>结合系统中初始内存的</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分配情况，建立的首次适应算法、</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最佳适应算法和最差适应算法的</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空闲区链分别如图：</a:t>
            </a:r>
          </a:p>
        </p:txBody>
      </p:sp>
      <p:pic>
        <p:nvPicPr>
          <p:cNvPr id="55300" name="Picture 6" descr="4-15">
            <a:extLst>
              <a:ext uri="{FF2B5EF4-FFF2-40B4-BE49-F238E27FC236}">
                <a16:creationId xmlns:a16="http://schemas.microsoft.com/office/drawing/2014/main" id="{F4745E56-8D82-1740-B7F4-5F612EBA80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7750" y="1285875"/>
            <a:ext cx="4089400" cy="340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1" name="Text Box 8">
            <a:extLst>
              <a:ext uri="{FF2B5EF4-FFF2-40B4-BE49-F238E27FC236}">
                <a16:creationId xmlns:a16="http://schemas.microsoft.com/office/drawing/2014/main" id="{BFD0D041-C6A0-B34E-BA19-A96564872BBF}"/>
              </a:ext>
            </a:extLst>
          </p:cNvPr>
          <p:cNvSpPr txBox="1">
            <a:spLocks noChangeArrowheads="1"/>
          </p:cNvSpPr>
          <p:nvPr/>
        </p:nvSpPr>
        <p:spPr bwMode="auto">
          <a:xfrm>
            <a:off x="0" y="2928938"/>
            <a:ext cx="8858250" cy="3767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indent="341313">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lnSpc>
                <a:spcPct val="150000"/>
              </a:lnSpc>
              <a:spcBef>
                <a:spcPct val="0"/>
              </a:spcBef>
              <a:buFontTx/>
              <a:buNone/>
            </a:pPr>
            <a:r>
              <a:rPr lang="zh-CN" altLang="en-US" sz="1800">
                <a:solidFill>
                  <a:schemeClr val="tx1"/>
                </a:solidFill>
                <a:latin typeface="宋体" panose="02010600030101010101" pitchFamily="2" charset="-122"/>
              </a:rPr>
              <a:t>    对于首次适应算法，程序</a:t>
            </a:r>
            <a:r>
              <a:rPr lang="en-US" altLang="zh-CN" sz="1800">
                <a:solidFill>
                  <a:schemeClr val="tx1"/>
                </a:solidFill>
                <a:latin typeface="宋体" panose="02010600030101010101" pitchFamily="2" charset="-122"/>
              </a:rPr>
              <a:t>A</a:t>
            </a:r>
            <a:r>
              <a:rPr lang="zh-CN" altLang="en-US" sz="1800">
                <a:solidFill>
                  <a:schemeClr val="tx1"/>
                </a:solidFill>
                <a:latin typeface="宋体" panose="02010600030101010101" pitchFamily="2" charset="-122"/>
              </a:rPr>
              <a:t>分配</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en-US" altLang="zh-CN" sz="1800">
                <a:solidFill>
                  <a:schemeClr val="tx1"/>
                </a:solidFill>
                <a:latin typeface="宋体" panose="02010600030101010101" pitchFamily="2" charset="-122"/>
              </a:rPr>
              <a:t>30KB</a:t>
            </a:r>
            <a:r>
              <a:rPr lang="zh-CN" altLang="en-US" sz="1800">
                <a:solidFill>
                  <a:schemeClr val="tx1"/>
                </a:solidFill>
                <a:latin typeface="宋体" panose="02010600030101010101" pitchFamily="2" charset="-122"/>
              </a:rPr>
              <a:t>的空闲分区，程序</a:t>
            </a:r>
            <a:r>
              <a:rPr lang="en-US" altLang="zh-CN" sz="1800">
                <a:solidFill>
                  <a:schemeClr val="tx1"/>
                </a:solidFill>
                <a:latin typeface="宋体" panose="02010600030101010101" pitchFamily="2" charset="-122"/>
              </a:rPr>
              <a:t>B</a:t>
            </a:r>
            <a:r>
              <a:rPr lang="zh-CN" altLang="en-US" sz="1800">
                <a:solidFill>
                  <a:schemeClr val="tx1"/>
                </a:solidFill>
                <a:latin typeface="宋体" panose="02010600030101010101" pitchFamily="2" charset="-122"/>
              </a:rPr>
              <a:t>分配</a:t>
            </a:r>
            <a:r>
              <a:rPr lang="en-US" altLang="zh-CN" sz="1800">
                <a:solidFill>
                  <a:schemeClr val="tx1"/>
                </a:solidFill>
                <a:latin typeface="宋体" panose="02010600030101010101" pitchFamily="2" charset="-122"/>
              </a:rPr>
              <a:t>46KB</a:t>
            </a:r>
            <a:r>
              <a:rPr lang="zh-CN" altLang="en-US" sz="1800">
                <a:solidFill>
                  <a:schemeClr val="tx1"/>
                </a:solidFill>
                <a:latin typeface="宋体" panose="02010600030101010101" pitchFamily="2" charset="-122"/>
              </a:rPr>
              <a:t>的</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空闲分区，此后就无法为程序</a:t>
            </a:r>
            <a:r>
              <a:rPr lang="en-US" altLang="zh-CN" sz="1800">
                <a:solidFill>
                  <a:schemeClr val="tx1"/>
                </a:solidFill>
                <a:latin typeface="宋体" panose="02010600030101010101" pitchFamily="2" charset="-122"/>
              </a:rPr>
              <a:t>C</a:t>
            </a:r>
            <a:r>
              <a:rPr lang="zh-CN" altLang="en-US" sz="1800">
                <a:solidFill>
                  <a:schemeClr val="tx1"/>
                </a:solidFill>
                <a:latin typeface="宋体" panose="02010600030101010101" pitchFamily="2" charset="-122"/>
              </a:rPr>
              <a:t>分配</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合适的空闲分区了。</a:t>
            </a:r>
          </a:p>
          <a:p>
            <a:pPr eaLnBrk="1" hangingPunct="1">
              <a:lnSpc>
                <a:spcPct val="150000"/>
              </a:lnSpc>
              <a:spcBef>
                <a:spcPct val="0"/>
              </a:spcBef>
              <a:buFontTx/>
              <a:buNone/>
            </a:pPr>
            <a:r>
              <a:rPr lang="zh-CN" altLang="en-US" sz="1800">
                <a:solidFill>
                  <a:schemeClr val="tx1"/>
                </a:solidFill>
                <a:latin typeface="宋体" panose="02010600030101010101" pitchFamily="2" charset="-122"/>
              </a:rPr>
              <a:t>    对于最佳适应算法，程序</a:t>
            </a:r>
            <a:r>
              <a:rPr lang="en-US" altLang="zh-CN" sz="1800">
                <a:solidFill>
                  <a:schemeClr val="tx1"/>
                </a:solidFill>
                <a:latin typeface="宋体" panose="02010600030101010101" pitchFamily="2" charset="-122"/>
              </a:rPr>
              <a:t>A</a:t>
            </a:r>
            <a:r>
              <a:rPr lang="zh-CN" altLang="en-US" sz="1800">
                <a:solidFill>
                  <a:schemeClr val="tx1"/>
                </a:solidFill>
                <a:latin typeface="宋体" panose="02010600030101010101" pitchFamily="2" charset="-122"/>
              </a:rPr>
              <a:t>分配</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en-US" altLang="zh-CN" sz="1800">
                <a:solidFill>
                  <a:schemeClr val="tx1"/>
                </a:solidFill>
                <a:latin typeface="宋体" panose="02010600030101010101" pitchFamily="2" charset="-122"/>
              </a:rPr>
              <a:t>20KB</a:t>
            </a:r>
            <a:r>
              <a:rPr lang="zh-CN" altLang="en-US" sz="1800">
                <a:solidFill>
                  <a:schemeClr val="tx1"/>
                </a:solidFill>
                <a:latin typeface="宋体" panose="02010600030101010101" pitchFamily="2" charset="-122"/>
              </a:rPr>
              <a:t>的空闲分区，程序</a:t>
            </a:r>
            <a:r>
              <a:rPr lang="en-US" altLang="zh-CN" sz="1800">
                <a:solidFill>
                  <a:schemeClr val="tx1"/>
                </a:solidFill>
                <a:latin typeface="宋体" panose="02010600030101010101" pitchFamily="2" charset="-122"/>
              </a:rPr>
              <a:t>B</a:t>
            </a:r>
            <a:r>
              <a:rPr lang="zh-CN" altLang="en-US" sz="1800">
                <a:solidFill>
                  <a:schemeClr val="tx1"/>
                </a:solidFill>
                <a:latin typeface="宋体" panose="02010600030101010101" pitchFamily="2" charset="-122"/>
              </a:rPr>
              <a:t>分配</a:t>
            </a:r>
            <a:r>
              <a:rPr lang="en-US" altLang="zh-CN" sz="1800">
                <a:solidFill>
                  <a:schemeClr val="tx1"/>
                </a:solidFill>
                <a:latin typeface="宋体" panose="02010600030101010101" pitchFamily="2" charset="-122"/>
              </a:rPr>
              <a:t>30KB</a:t>
            </a:r>
            <a:r>
              <a:rPr lang="zh-CN" altLang="en-US" sz="1800">
                <a:solidFill>
                  <a:schemeClr val="tx1"/>
                </a:solidFill>
                <a:latin typeface="宋体" panose="02010600030101010101" pitchFamily="2" charset="-122"/>
              </a:rPr>
              <a:t>的空闲分区，程序</a:t>
            </a:r>
            <a:r>
              <a:rPr lang="en-US" altLang="zh-CN" sz="1800">
                <a:solidFill>
                  <a:schemeClr val="tx1"/>
                </a:solidFill>
                <a:latin typeface="宋体" panose="02010600030101010101" pitchFamily="2" charset="-122"/>
              </a:rPr>
              <a:t>C</a:t>
            </a:r>
            <a:r>
              <a:rPr lang="zh-CN" altLang="en-US" sz="1800">
                <a:solidFill>
                  <a:schemeClr val="tx1"/>
                </a:solidFill>
                <a:latin typeface="宋体" panose="02010600030101010101" pitchFamily="2" charset="-122"/>
              </a:rPr>
              <a:t>分配</a:t>
            </a:r>
            <a:r>
              <a:rPr lang="en-US" altLang="zh-CN" sz="1800">
                <a:solidFill>
                  <a:schemeClr val="tx1"/>
                </a:solidFill>
                <a:latin typeface="宋体" panose="02010600030101010101" pitchFamily="2" charset="-122"/>
              </a:rPr>
              <a:t>46KB</a:t>
            </a:r>
            <a:r>
              <a:rPr lang="zh-CN" altLang="en-US" sz="1800">
                <a:solidFill>
                  <a:schemeClr val="tx1"/>
                </a:solidFill>
                <a:latin typeface="宋体" panose="02010600030101010101" pitchFamily="2" charset="-122"/>
              </a:rPr>
              <a:t>的空闲分区。</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    对于最差适应算法，程序</a:t>
            </a:r>
            <a:r>
              <a:rPr lang="en-US" altLang="zh-CN" sz="1800">
                <a:solidFill>
                  <a:schemeClr val="tx1"/>
                </a:solidFill>
                <a:latin typeface="宋体" panose="02010600030101010101" pitchFamily="2" charset="-122"/>
              </a:rPr>
              <a:t>A</a:t>
            </a:r>
            <a:r>
              <a:rPr lang="zh-CN" altLang="en-US" sz="1800">
                <a:solidFill>
                  <a:schemeClr val="tx1"/>
                </a:solidFill>
                <a:latin typeface="宋体" panose="02010600030101010101" pitchFamily="2" charset="-122"/>
              </a:rPr>
              <a:t>分配</a:t>
            </a:r>
            <a:r>
              <a:rPr lang="en-US" altLang="zh-CN" sz="1800">
                <a:solidFill>
                  <a:schemeClr val="tx1"/>
                </a:solidFill>
                <a:latin typeface="宋体" panose="02010600030101010101" pitchFamily="2" charset="-122"/>
              </a:rPr>
              <a:t>46KB</a:t>
            </a:r>
            <a:r>
              <a:rPr lang="zh-CN" altLang="en-US" sz="1800">
                <a:solidFill>
                  <a:schemeClr val="tx1"/>
                </a:solidFill>
                <a:latin typeface="宋体" panose="02010600030101010101" pitchFamily="2" charset="-122"/>
              </a:rPr>
              <a:t>的空闲分区，程序</a:t>
            </a:r>
            <a:r>
              <a:rPr lang="en-US" altLang="zh-CN" sz="1800">
                <a:solidFill>
                  <a:schemeClr val="tx1"/>
                </a:solidFill>
                <a:latin typeface="宋体" panose="02010600030101010101" pitchFamily="2" charset="-122"/>
              </a:rPr>
              <a:t>B</a:t>
            </a:r>
            <a:r>
              <a:rPr lang="zh-CN" altLang="en-US" sz="1800">
                <a:solidFill>
                  <a:schemeClr val="tx1"/>
                </a:solidFill>
                <a:latin typeface="宋体" panose="02010600030101010101" pitchFamily="2" charset="-122"/>
              </a:rPr>
              <a:t>分配</a:t>
            </a:r>
            <a:r>
              <a:rPr lang="en-US" altLang="zh-CN" sz="1800">
                <a:solidFill>
                  <a:schemeClr val="tx1"/>
                </a:solidFill>
                <a:latin typeface="宋体" panose="02010600030101010101" pitchFamily="2" charset="-122"/>
              </a:rPr>
              <a:t>30KB</a:t>
            </a:r>
            <a:r>
              <a:rPr lang="zh-CN" altLang="en-US" sz="1800">
                <a:solidFill>
                  <a:schemeClr val="tx1"/>
                </a:solidFill>
                <a:latin typeface="宋体" panose="02010600030101010101" pitchFamily="2" charset="-122"/>
              </a:rPr>
              <a:t>的空闲分区，</a:t>
            </a:r>
            <a:endParaRPr lang="en-US" altLang="zh-CN" sz="1800">
              <a:solidFill>
                <a:schemeClr val="tx1"/>
              </a:solidFill>
              <a:latin typeface="宋体" panose="02010600030101010101" pitchFamily="2" charset="-122"/>
            </a:endParaRPr>
          </a:p>
          <a:p>
            <a:pPr eaLnBrk="1" hangingPunct="1">
              <a:lnSpc>
                <a:spcPct val="150000"/>
              </a:lnSpc>
              <a:spcBef>
                <a:spcPct val="0"/>
              </a:spcBef>
              <a:buFontTx/>
              <a:buNone/>
            </a:pPr>
            <a:r>
              <a:rPr lang="zh-CN" altLang="en-US" sz="1800">
                <a:solidFill>
                  <a:schemeClr val="tx1"/>
                </a:solidFill>
                <a:latin typeface="宋体" panose="02010600030101010101" pitchFamily="2" charset="-122"/>
              </a:rPr>
              <a:t>此后就无法为程序</a:t>
            </a:r>
            <a:r>
              <a:rPr lang="en-US" altLang="zh-CN" sz="1800">
                <a:solidFill>
                  <a:schemeClr val="tx1"/>
                </a:solidFill>
                <a:latin typeface="宋体" panose="02010600030101010101" pitchFamily="2" charset="-122"/>
              </a:rPr>
              <a:t>C</a:t>
            </a:r>
            <a:r>
              <a:rPr lang="zh-CN" altLang="en-US" sz="1800">
                <a:solidFill>
                  <a:schemeClr val="tx1"/>
                </a:solidFill>
                <a:latin typeface="宋体" panose="02010600030101010101" pitchFamily="2" charset="-122"/>
              </a:rPr>
              <a:t>分配合适的空闲分区了。</a:t>
            </a:r>
          </a:p>
          <a:p>
            <a:pPr eaLnBrk="1" hangingPunct="1">
              <a:lnSpc>
                <a:spcPct val="150000"/>
              </a:lnSpc>
              <a:spcBef>
                <a:spcPct val="0"/>
              </a:spcBef>
              <a:buFontTx/>
              <a:buNone/>
            </a:pPr>
            <a:r>
              <a:rPr lang="zh-CN" altLang="en-US" sz="1800">
                <a:solidFill>
                  <a:schemeClr val="tx1"/>
                </a:solidFill>
                <a:latin typeface="宋体" panose="02010600030101010101" pitchFamily="2" charset="-122"/>
              </a:rPr>
              <a:t>    因此，本题最佳适应算法对这个程序序列的内存分配是合适的。</a:t>
            </a:r>
          </a:p>
        </p:txBody>
      </p:sp>
    </p:spTree>
  </p:cSld>
  <p:clrMapOvr>
    <a:masterClrMapping/>
  </p:clrMapOvr>
  <p:transition>
    <p:random/>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内容占位符 2">
            <a:extLst>
              <a:ext uri="{FF2B5EF4-FFF2-40B4-BE49-F238E27FC236}">
                <a16:creationId xmlns:a16="http://schemas.microsoft.com/office/drawing/2014/main" id="{1DB5E4FD-432F-144F-854C-6DF74DFE102A}"/>
              </a:ext>
            </a:extLst>
          </p:cNvPr>
          <p:cNvSpPr txBox="1">
            <a:spLocks/>
          </p:cNvSpPr>
          <p:nvPr/>
        </p:nvSpPr>
        <p:spPr bwMode="auto">
          <a:xfrm>
            <a:off x="395536" y="1268760"/>
            <a:ext cx="5533486" cy="2969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0000FF"/>
              </a:buClr>
            </a:pPr>
            <a:r>
              <a:rPr lang="zh-CN" altLang="en-US" sz="1800" b="1">
                <a:solidFill>
                  <a:srgbClr val="0000FF"/>
                </a:solidFill>
                <a:latin typeface="Arial" panose="020B0604020202020204" pitchFamily="34" charset="0"/>
                <a:ea typeface="幼圆" pitchFamily="49" charset="-122"/>
              </a:rPr>
              <a:t>快速适应算法</a:t>
            </a:r>
            <a:endParaRPr lang="en-US" altLang="zh-CN" sz="1800" b="1">
              <a:solidFill>
                <a:srgbClr val="0000FF"/>
              </a:solidFill>
              <a:latin typeface="Arial" panose="020B0604020202020204" pitchFamily="34" charset="0"/>
              <a:ea typeface="幼圆" pitchFamily="49" charset="-122"/>
            </a:endParaRPr>
          </a:p>
          <a:p>
            <a:pPr lvl="1">
              <a:buClr>
                <a:srgbClr val="0000FF"/>
              </a:buClr>
              <a:buFont typeface="Wingdings" pitchFamily="2" charset="2"/>
              <a:buChar char="l"/>
            </a:pPr>
            <a:r>
              <a:rPr lang="zh-CN" altLang="en-US" sz="1800" b="1">
                <a:solidFill>
                  <a:srgbClr val="000000"/>
                </a:solidFill>
                <a:latin typeface="Arial" panose="020B0604020202020204" pitchFamily="34" charset="0"/>
                <a:ea typeface="幼圆" pitchFamily="49" charset="-122"/>
              </a:rPr>
              <a:t>将空闲分区按容量大小分类，每类大小相同，单独设置空闲分区链表</a:t>
            </a:r>
            <a:endParaRPr lang="en-US" altLang="zh-CN" sz="1800" b="1">
              <a:solidFill>
                <a:srgbClr val="000000"/>
              </a:solidFill>
              <a:latin typeface="Arial" panose="020B0604020202020204" pitchFamily="34" charset="0"/>
              <a:ea typeface="幼圆" pitchFamily="49" charset="-122"/>
            </a:endParaRPr>
          </a:p>
          <a:p>
            <a:pPr lvl="1">
              <a:buClr>
                <a:srgbClr val="0000FF"/>
              </a:buClr>
              <a:buFont typeface="Wingdings" pitchFamily="2" charset="2"/>
              <a:buChar char="l"/>
            </a:pPr>
            <a:r>
              <a:rPr lang="zh-CN" altLang="en-US" sz="1800" b="1">
                <a:solidFill>
                  <a:srgbClr val="000000"/>
                </a:solidFill>
                <a:latin typeface="Arial" panose="020B0604020202020204" pitchFamily="34" charset="0"/>
                <a:ea typeface="幼圆" pitchFamily="49" charset="-122"/>
              </a:rPr>
              <a:t>内存设索引表，一个索引项对应一个空闲分区类型及分区类型链首指针</a:t>
            </a:r>
            <a:endParaRPr lang="en-US" altLang="zh-CN" sz="1800" b="1">
              <a:solidFill>
                <a:srgbClr val="000000"/>
              </a:solidFill>
              <a:latin typeface="Arial" panose="020B0604020202020204" pitchFamily="34" charset="0"/>
              <a:ea typeface="幼圆" pitchFamily="49" charset="-122"/>
            </a:endParaRPr>
          </a:p>
          <a:p>
            <a:pPr lvl="1">
              <a:buClr>
                <a:srgbClr val="0000FF"/>
              </a:buClr>
              <a:buFont typeface="Wingdings" pitchFamily="2" charset="2"/>
              <a:buChar char="l"/>
            </a:pPr>
            <a:r>
              <a:rPr lang="zh-CN" altLang="en-US" sz="1800" b="1">
                <a:solidFill>
                  <a:srgbClr val="000000"/>
                </a:solidFill>
                <a:latin typeface="Arial" panose="020B0604020202020204" pitchFamily="34" charset="0"/>
                <a:ea typeface="幼圆" pitchFamily="49" charset="-122"/>
              </a:rPr>
              <a:t>分配以进程为单位找最接近的内存块</a:t>
            </a:r>
            <a:endParaRPr lang="en-US" altLang="zh-CN" sz="1800" b="1">
              <a:solidFill>
                <a:srgbClr val="000000"/>
              </a:solidFill>
              <a:latin typeface="Arial" panose="020B0604020202020204" pitchFamily="34" charset="0"/>
              <a:ea typeface="幼圆" pitchFamily="49" charset="-122"/>
            </a:endParaRPr>
          </a:p>
          <a:p>
            <a:pPr>
              <a:buClr>
                <a:srgbClr val="0000FF"/>
              </a:buClr>
              <a:buSzPct val="50000"/>
              <a:buFont typeface="Wingdings" pitchFamily="2" charset="2"/>
              <a:buChar char="n"/>
            </a:pPr>
            <a:r>
              <a:rPr lang="zh-CN" altLang="en-US" sz="1800" b="1">
                <a:solidFill>
                  <a:srgbClr val="0000FF"/>
                </a:solidFill>
                <a:ea typeface="幼圆" pitchFamily="49" charset="-122"/>
              </a:rPr>
              <a:t>空闲分区分配方式</a:t>
            </a:r>
            <a:endParaRPr lang="en-US" altLang="zh-CN" sz="1800" b="1">
              <a:solidFill>
                <a:srgbClr val="0000FF"/>
              </a:solidFill>
              <a:ea typeface="幼圆" pitchFamily="49" charset="-122"/>
            </a:endParaRPr>
          </a:p>
          <a:p>
            <a:pPr lvl="1">
              <a:buClr>
                <a:srgbClr val="0000FF"/>
              </a:buClr>
              <a:buFont typeface="Wingdings" pitchFamily="2" charset="2"/>
              <a:buChar char="l"/>
            </a:pPr>
            <a:r>
              <a:rPr lang="zh-CN" altLang="en-US" sz="1800" b="1">
                <a:solidFill>
                  <a:srgbClr val="000000"/>
                </a:solidFill>
                <a:ea typeface="幼圆" pitchFamily="49" charset="-122"/>
              </a:rPr>
              <a:t>按进程长度查找最接近的小分区链表</a:t>
            </a:r>
            <a:endParaRPr lang="en-US" altLang="zh-CN" sz="1800" b="1">
              <a:solidFill>
                <a:srgbClr val="000000"/>
              </a:solidFill>
              <a:ea typeface="幼圆" pitchFamily="49" charset="-122"/>
            </a:endParaRPr>
          </a:p>
          <a:p>
            <a:pPr lvl="1">
              <a:buClr>
                <a:srgbClr val="0000FF"/>
              </a:buClr>
              <a:buFont typeface="Wingdings" pitchFamily="2" charset="2"/>
              <a:buChar char="l"/>
            </a:pPr>
            <a:r>
              <a:rPr lang="zh-CN" altLang="en-US" sz="1800" b="1">
                <a:solidFill>
                  <a:srgbClr val="000000"/>
                </a:solidFill>
                <a:ea typeface="幼圆" pitchFamily="49" charset="-122"/>
              </a:rPr>
              <a:t>将链表链首分区分配给进程</a:t>
            </a:r>
            <a:endParaRPr lang="zh-CN" altLang="en-US" sz="1800" b="1" dirty="0">
              <a:solidFill>
                <a:srgbClr val="000000"/>
              </a:solidFill>
              <a:ea typeface="幼圆" pitchFamily="49" charset="-122"/>
            </a:endParaRPr>
          </a:p>
        </p:txBody>
      </p:sp>
      <p:sp>
        <p:nvSpPr>
          <p:cNvPr id="117" name="矩形 3">
            <a:extLst>
              <a:ext uri="{FF2B5EF4-FFF2-40B4-BE49-F238E27FC236}">
                <a16:creationId xmlns:a16="http://schemas.microsoft.com/office/drawing/2014/main" id="{3F5C0433-993A-1340-8076-409C6EEDFBC8}"/>
              </a:ext>
            </a:extLst>
          </p:cNvPr>
          <p:cNvSpPr>
            <a:spLocks noChangeArrowheads="1"/>
          </p:cNvSpPr>
          <p:nvPr/>
        </p:nvSpPr>
        <p:spPr bwMode="auto">
          <a:xfrm>
            <a:off x="6306898" y="1936507"/>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18" name="矩形 4">
            <a:extLst>
              <a:ext uri="{FF2B5EF4-FFF2-40B4-BE49-F238E27FC236}">
                <a16:creationId xmlns:a16="http://schemas.microsoft.com/office/drawing/2014/main" id="{B8D8A339-7C58-6B4F-AADC-CA9654F79914}"/>
              </a:ext>
            </a:extLst>
          </p:cNvPr>
          <p:cNvSpPr>
            <a:spLocks noChangeArrowheads="1"/>
          </p:cNvSpPr>
          <p:nvPr/>
        </p:nvSpPr>
        <p:spPr bwMode="auto">
          <a:xfrm>
            <a:off x="6630748" y="1936507"/>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19" name="矩形 5">
            <a:extLst>
              <a:ext uri="{FF2B5EF4-FFF2-40B4-BE49-F238E27FC236}">
                <a16:creationId xmlns:a16="http://schemas.microsoft.com/office/drawing/2014/main" id="{B185B50C-7653-B942-AA68-E752F3314CE8}"/>
              </a:ext>
            </a:extLst>
          </p:cNvPr>
          <p:cNvSpPr>
            <a:spLocks noChangeArrowheads="1"/>
          </p:cNvSpPr>
          <p:nvPr/>
        </p:nvSpPr>
        <p:spPr bwMode="auto">
          <a:xfrm>
            <a:off x="6954598" y="1936507"/>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0" name="矩形 6">
            <a:extLst>
              <a:ext uri="{FF2B5EF4-FFF2-40B4-BE49-F238E27FC236}">
                <a16:creationId xmlns:a16="http://schemas.microsoft.com/office/drawing/2014/main" id="{930E81DC-BD28-304F-B377-ED49E0D4870B}"/>
              </a:ext>
            </a:extLst>
          </p:cNvPr>
          <p:cNvSpPr>
            <a:spLocks noChangeArrowheads="1"/>
          </p:cNvSpPr>
          <p:nvPr/>
        </p:nvSpPr>
        <p:spPr bwMode="auto">
          <a:xfrm>
            <a:off x="7279639" y="1936507"/>
            <a:ext cx="269081"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1" name="矩形 7">
            <a:extLst>
              <a:ext uri="{FF2B5EF4-FFF2-40B4-BE49-F238E27FC236}">
                <a16:creationId xmlns:a16="http://schemas.microsoft.com/office/drawing/2014/main" id="{07310930-FE69-A640-A4AE-CE215B470F85}"/>
              </a:ext>
            </a:extLst>
          </p:cNvPr>
          <p:cNvSpPr>
            <a:spLocks noChangeArrowheads="1"/>
          </p:cNvSpPr>
          <p:nvPr/>
        </p:nvSpPr>
        <p:spPr bwMode="auto">
          <a:xfrm>
            <a:off x="7603488" y="1936507"/>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22" name="直接箭头连接符 11">
            <a:extLst>
              <a:ext uri="{FF2B5EF4-FFF2-40B4-BE49-F238E27FC236}">
                <a16:creationId xmlns:a16="http://schemas.microsoft.com/office/drawing/2014/main" id="{00EFEA5F-04E4-504F-A5AE-1CDB1575E2D0}"/>
              </a:ext>
            </a:extLst>
          </p:cNvPr>
          <p:cNvCxnSpPr>
            <a:cxnSpLocks noChangeShapeType="1"/>
          </p:cNvCxnSpPr>
          <p:nvPr/>
        </p:nvCxnSpPr>
        <p:spPr bwMode="auto">
          <a:xfrm>
            <a:off x="6091395" y="1990086"/>
            <a:ext cx="215503" cy="0"/>
          </a:xfrm>
          <a:prstGeom prst="straightConnector1">
            <a:avLst/>
          </a:prstGeom>
          <a:noFill/>
          <a:ln w="1905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23" name="矩形 12">
            <a:extLst>
              <a:ext uri="{FF2B5EF4-FFF2-40B4-BE49-F238E27FC236}">
                <a16:creationId xmlns:a16="http://schemas.microsoft.com/office/drawing/2014/main" id="{48370419-713E-CB44-9A37-DEC01D80CBC3}"/>
              </a:ext>
            </a:extLst>
          </p:cNvPr>
          <p:cNvSpPr>
            <a:spLocks noChangeArrowheads="1"/>
          </p:cNvSpPr>
          <p:nvPr/>
        </p:nvSpPr>
        <p:spPr bwMode="auto">
          <a:xfrm>
            <a:off x="6306898" y="2530630"/>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4" name="矩形 13">
            <a:extLst>
              <a:ext uri="{FF2B5EF4-FFF2-40B4-BE49-F238E27FC236}">
                <a16:creationId xmlns:a16="http://schemas.microsoft.com/office/drawing/2014/main" id="{DC49EA5D-3D1E-874F-9CA0-4FE7E1B4A085}"/>
              </a:ext>
            </a:extLst>
          </p:cNvPr>
          <p:cNvSpPr>
            <a:spLocks noChangeArrowheads="1"/>
          </p:cNvSpPr>
          <p:nvPr/>
        </p:nvSpPr>
        <p:spPr bwMode="auto">
          <a:xfrm>
            <a:off x="6630748" y="2530630"/>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5" name="矩形 14">
            <a:extLst>
              <a:ext uri="{FF2B5EF4-FFF2-40B4-BE49-F238E27FC236}">
                <a16:creationId xmlns:a16="http://schemas.microsoft.com/office/drawing/2014/main" id="{A8FBF50B-8A5A-FA41-ABE4-7A1F3394F78F}"/>
              </a:ext>
            </a:extLst>
          </p:cNvPr>
          <p:cNvSpPr>
            <a:spLocks noChangeArrowheads="1"/>
          </p:cNvSpPr>
          <p:nvPr/>
        </p:nvSpPr>
        <p:spPr bwMode="auto">
          <a:xfrm>
            <a:off x="6954598" y="2530630"/>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6" name="矩形 15">
            <a:extLst>
              <a:ext uri="{FF2B5EF4-FFF2-40B4-BE49-F238E27FC236}">
                <a16:creationId xmlns:a16="http://schemas.microsoft.com/office/drawing/2014/main" id="{6113BF6F-2B35-F94B-BE41-62D6FFF3412F}"/>
              </a:ext>
            </a:extLst>
          </p:cNvPr>
          <p:cNvSpPr>
            <a:spLocks noChangeArrowheads="1"/>
          </p:cNvSpPr>
          <p:nvPr/>
        </p:nvSpPr>
        <p:spPr bwMode="auto">
          <a:xfrm>
            <a:off x="7279639" y="2530630"/>
            <a:ext cx="269081"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27" name="矩形 16">
            <a:extLst>
              <a:ext uri="{FF2B5EF4-FFF2-40B4-BE49-F238E27FC236}">
                <a16:creationId xmlns:a16="http://schemas.microsoft.com/office/drawing/2014/main" id="{5E6D41A6-CCCB-1B47-AFF3-925F126425E6}"/>
              </a:ext>
            </a:extLst>
          </p:cNvPr>
          <p:cNvSpPr>
            <a:spLocks noChangeArrowheads="1"/>
          </p:cNvSpPr>
          <p:nvPr/>
        </p:nvSpPr>
        <p:spPr bwMode="auto">
          <a:xfrm>
            <a:off x="7603488" y="2530630"/>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28" name="直接箭头连接符 17">
            <a:extLst>
              <a:ext uri="{FF2B5EF4-FFF2-40B4-BE49-F238E27FC236}">
                <a16:creationId xmlns:a16="http://schemas.microsoft.com/office/drawing/2014/main" id="{429F1345-F10F-3946-A4FE-1096805F38CC}"/>
              </a:ext>
            </a:extLst>
          </p:cNvPr>
          <p:cNvCxnSpPr>
            <a:cxnSpLocks noChangeShapeType="1"/>
          </p:cNvCxnSpPr>
          <p:nvPr/>
        </p:nvCxnSpPr>
        <p:spPr bwMode="auto">
          <a:xfrm>
            <a:off x="6091395" y="2584207"/>
            <a:ext cx="215503" cy="0"/>
          </a:xfrm>
          <a:prstGeom prst="straightConnector1">
            <a:avLst/>
          </a:prstGeom>
          <a:noFill/>
          <a:ln w="1905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29" name="矩形 18">
            <a:extLst>
              <a:ext uri="{FF2B5EF4-FFF2-40B4-BE49-F238E27FC236}">
                <a16:creationId xmlns:a16="http://schemas.microsoft.com/office/drawing/2014/main" id="{E81A8059-E712-F646-9A62-1633CA2D97B3}"/>
              </a:ext>
            </a:extLst>
          </p:cNvPr>
          <p:cNvSpPr>
            <a:spLocks noChangeArrowheads="1"/>
          </p:cNvSpPr>
          <p:nvPr/>
        </p:nvSpPr>
        <p:spPr bwMode="auto">
          <a:xfrm>
            <a:off x="6306898" y="3069982"/>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0" name="矩形 19">
            <a:extLst>
              <a:ext uri="{FF2B5EF4-FFF2-40B4-BE49-F238E27FC236}">
                <a16:creationId xmlns:a16="http://schemas.microsoft.com/office/drawing/2014/main" id="{E1E99BF9-541B-7B41-A112-5D56D9A3CE74}"/>
              </a:ext>
            </a:extLst>
          </p:cNvPr>
          <p:cNvSpPr>
            <a:spLocks noChangeArrowheads="1"/>
          </p:cNvSpPr>
          <p:nvPr/>
        </p:nvSpPr>
        <p:spPr bwMode="auto">
          <a:xfrm>
            <a:off x="6630748" y="3069982"/>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1" name="矩形 20">
            <a:extLst>
              <a:ext uri="{FF2B5EF4-FFF2-40B4-BE49-F238E27FC236}">
                <a16:creationId xmlns:a16="http://schemas.microsoft.com/office/drawing/2014/main" id="{02E189AA-0B24-FA4C-B673-6B265F4B60E3}"/>
              </a:ext>
            </a:extLst>
          </p:cNvPr>
          <p:cNvSpPr>
            <a:spLocks noChangeArrowheads="1"/>
          </p:cNvSpPr>
          <p:nvPr/>
        </p:nvSpPr>
        <p:spPr bwMode="auto">
          <a:xfrm>
            <a:off x="6954598" y="3069982"/>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2" name="矩形 21">
            <a:extLst>
              <a:ext uri="{FF2B5EF4-FFF2-40B4-BE49-F238E27FC236}">
                <a16:creationId xmlns:a16="http://schemas.microsoft.com/office/drawing/2014/main" id="{0C1D5523-27A3-0546-A011-6E7BC224CFFF}"/>
              </a:ext>
            </a:extLst>
          </p:cNvPr>
          <p:cNvSpPr>
            <a:spLocks noChangeArrowheads="1"/>
          </p:cNvSpPr>
          <p:nvPr/>
        </p:nvSpPr>
        <p:spPr bwMode="auto">
          <a:xfrm>
            <a:off x="7279639" y="3069982"/>
            <a:ext cx="269081"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3" name="矩形 22">
            <a:extLst>
              <a:ext uri="{FF2B5EF4-FFF2-40B4-BE49-F238E27FC236}">
                <a16:creationId xmlns:a16="http://schemas.microsoft.com/office/drawing/2014/main" id="{FCBE45AC-A181-424D-929D-2B6FAE0282A1}"/>
              </a:ext>
            </a:extLst>
          </p:cNvPr>
          <p:cNvSpPr>
            <a:spLocks noChangeArrowheads="1"/>
          </p:cNvSpPr>
          <p:nvPr/>
        </p:nvSpPr>
        <p:spPr bwMode="auto">
          <a:xfrm>
            <a:off x="7603488" y="3069982"/>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34" name="直接箭头连接符 23">
            <a:extLst>
              <a:ext uri="{FF2B5EF4-FFF2-40B4-BE49-F238E27FC236}">
                <a16:creationId xmlns:a16="http://schemas.microsoft.com/office/drawing/2014/main" id="{D07170EC-EDCF-6A4C-8246-E47A8151CA04}"/>
              </a:ext>
            </a:extLst>
          </p:cNvPr>
          <p:cNvCxnSpPr>
            <a:cxnSpLocks noChangeShapeType="1"/>
          </p:cNvCxnSpPr>
          <p:nvPr/>
        </p:nvCxnSpPr>
        <p:spPr bwMode="auto">
          <a:xfrm>
            <a:off x="6091395" y="3124751"/>
            <a:ext cx="215503" cy="0"/>
          </a:xfrm>
          <a:prstGeom prst="straightConnector1">
            <a:avLst/>
          </a:prstGeom>
          <a:noFill/>
          <a:ln w="1905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35" name="矩形 24">
            <a:extLst>
              <a:ext uri="{FF2B5EF4-FFF2-40B4-BE49-F238E27FC236}">
                <a16:creationId xmlns:a16="http://schemas.microsoft.com/office/drawing/2014/main" id="{04CD3C15-8E47-0547-96F8-57FF6A1EEAB9}"/>
              </a:ext>
            </a:extLst>
          </p:cNvPr>
          <p:cNvSpPr>
            <a:spLocks noChangeArrowheads="1"/>
          </p:cNvSpPr>
          <p:nvPr/>
        </p:nvSpPr>
        <p:spPr bwMode="auto">
          <a:xfrm>
            <a:off x="6306898" y="3610526"/>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6" name="矩形 25">
            <a:extLst>
              <a:ext uri="{FF2B5EF4-FFF2-40B4-BE49-F238E27FC236}">
                <a16:creationId xmlns:a16="http://schemas.microsoft.com/office/drawing/2014/main" id="{B670A81D-C3C5-DB40-AE47-3ABD2ADC75AC}"/>
              </a:ext>
            </a:extLst>
          </p:cNvPr>
          <p:cNvSpPr>
            <a:spLocks noChangeArrowheads="1"/>
          </p:cNvSpPr>
          <p:nvPr/>
        </p:nvSpPr>
        <p:spPr bwMode="auto">
          <a:xfrm>
            <a:off x="6630748" y="3610526"/>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7" name="矩形 26">
            <a:extLst>
              <a:ext uri="{FF2B5EF4-FFF2-40B4-BE49-F238E27FC236}">
                <a16:creationId xmlns:a16="http://schemas.microsoft.com/office/drawing/2014/main" id="{82E7CECD-D1C6-B64E-94B7-0FB4E048F1D0}"/>
              </a:ext>
            </a:extLst>
          </p:cNvPr>
          <p:cNvSpPr>
            <a:spLocks noChangeArrowheads="1"/>
          </p:cNvSpPr>
          <p:nvPr/>
        </p:nvSpPr>
        <p:spPr bwMode="auto">
          <a:xfrm>
            <a:off x="6954598" y="3610526"/>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8" name="矩形 27">
            <a:extLst>
              <a:ext uri="{FF2B5EF4-FFF2-40B4-BE49-F238E27FC236}">
                <a16:creationId xmlns:a16="http://schemas.microsoft.com/office/drawing/2014/main" id="{9D89667B-709C-C549-8CE0-503CE05BE9FB}"/>
              </a:ext>
            </a:extLst>
          </p:cNvPr>
          <p:cNvSpPr>
            <a:spLocks noChangeArrowheads="1"/>
          </p:cNvSpPr>
          <p:nvPr/>
        </p:nvSpPr>
        <p:spPr bwMode="auto">
          <a:xfrm>
            <a:off x="7279639" y="3610526"/>
            <a:ext cx="269081"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39" name="矩形 28">
            <a:extLst>
              <a:ext uri="{FF2B5EF4-FFF2-40B4-BE49-F238E27FC236}">
                <a16:creationId xmlns:a16="http://schemas.microsoft.com/office/drawing/2014/main" id="{A50C0E0F-DE73-0F40-A5B8-77ECA491A4DB}"/>
              </a:ext>
            </a:extLst>
          </p:cNvPr>
          <p:cNvSpPr>
            <a:spLocks noChangeArrowheads="1"/>
          </p:cNvSpPr>
          <p:nvPr/>
        </p:nvSpPr>
        <p:spPr bwMode="auto">
          <a:xfrm>
            <a:off x="7603488" y="3610526"/>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40" name="直接箭头连接符 29">
            <a:extLst>
              <a:ext uri="{FF2B5EF4-FFF2-40B4-BE49-F238E27FC236}">
                <a16:creationId xmlns:a16="http://schemas.microsoft.com/office/drawing/2014/main" id="{F00E8E09-66DF-BB41-9B1E-EA38A5C4D0DC}"/>
              </a:ext>
            </a:extLst>
          </p:cNvPr>
          <p:cNvCxnSpPr>
            <a:cxnSpLocks noChangeShapeType="1"/>
          </p:cNvCxnSpPr>
          <p:nvPr/>
        </p:nvCxnSpPr>
        <p:spPr bwMode="auto">
          <a:xfrm>
            <a:off x="6091395" y="3664105"/>
            <a:ext cx="215503" cy="0"/>
          </a:xfrm>
          <a:prstGeom prst="straightConnector1">
            <a:avLst/>
          </a:prstGeom>
          <a:noFill/>
          <a:ln w="1905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41" name="矩形 30">
            <a:extLst>
              <a:ext uri="{FF2B5EF4-FFF2-40B4-BE49-F238E27FC236}">
                <a16:creationId xmlns:a16="http://schemas.microsoft.com/office/drawing/2014/main" id="{59923955-C8B1-7D4F-97F6-D652B5680DE4}"/>
              </a:ext>
            </a:extLst>
          </p:cNvPr>
          <p:cNvSpPr>
            <a:spLocks noChangeArrowheads="1"/>
          </p:cNvSpPr>
          <p:nvPr/>
        </p:nvSpPr>
        <p:spPr bwMode="auto">
          <a:xfrm>
            <a:off x="6306898" y="4204648"/>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2" name="矩形 31">
            <a:extLst>
              <a:ext uri="{FF2B5EF4-FFF2-40B4-BE49-F238E27FC236}">
                <a16:creationId xmlns:a16="http://schemas.microsoft.com/office/drawing/2014/main" id="{81AAB044-DF4D-FD43-9613-54207CB8D4F0}"/>
              </a:ext>
            </a:extLst>
          </p:cNvPr>
          <p:cNvSpPr>
            <a:spLocks noChangeArrowheads="1"/>
          </p:cNvSpPr>
          <p:nvPr/>
        </p:nvSpPr>
        <p:spPr bwMode="auto">
          <a:xfrm>
            <a:off x="6630748" y="4204648"/>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3" name="矩形 32">
            <a:extLst>
              <a:ext uri="{FF2B5EF4-FFF2-40B4-BE49-F238E27FC236}">
                <a16:creationId xmlns:a16="http://schemas.microsoft.com/office/drawing/2014/main" id="{FF89065F-AD18-3A49-A242-840D47BB3654}"/>
              </a:ext>
            </a:extLst>
          </p:cNvPr>
          <p:cNvSpPr>
            <a:spLocks noChangeArrowheads="1"/>
          </p:cNvSpPr>
          <p:nvPr/>
        </p:nvSpPr>
        <p:spPr bwMode="auto">
          <a:xfrm>
            <a:off x="6954598" y="4204648"/>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4" name="矩形 33">
            <a:extLst>
              <a:ext uri="{FF2B5EF4-FFF2-40B4-BE49-F238E27FC236}">
                <a16:creationId xmlns:a16="http://schemas.microsoft.com/office/drawing/2014/main" id="{BB03D44B-B7DA-5A40-8249-D2AB2DEDD1EE}"/>
              </a:ext>
            </a:extLst>
          </p:cNvPr>
          <p:cNvSpPr>
            <a:spLocks noChangeArrowheads="1"/>
          </p:cNvSpPr>
          <p:nvPr/>
        </p:nvSpPr>
        <p:spPr bwMode="auto">
          <a:xfrm>
            <a:off x="7279639" y="4204648"/>
            <a:ext cx="269081"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5" name="矩形 34">
            <a:extLst>
              <a:ext uri="{FF2B5EF4-FFF2-40B4-BE49-F238E27FC236}">
                <a16:creationId xmlns:a16="http://schemas.microsoft.com/office/drawing/2014/main" id="{6AA2DABF-BAC8-CE47-ACEF-DBF3E00D6317}"/>
              </a:ext>
            </a:extLst>
          </p:cNvPr>
          <p:cNvSpPr>
            <a:spLocks noChangeArrowheads="1"/>
          </p:cNvSpPr>
          <p:nvPr/>
        </p:nvSpPr>
        <p:spPr bwMode="auto">
          <a:xfrm>
            <a:off x="7603488" y="4204648"/>
            <a:ext cx="270272" cy="161925"/>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146" name="直接箭头连接符 35">
            <a:extLst>
              <a:ext uri="{FF2B5EF4-FFF2-40B4-BE49-F238E27FC236}">
                <a16:creationId xmlns:a16="http://schemas.microsoft.com/office/drawing/2014/main" id="{459B77C8-E28A-134A-88A9-E69A2251F35E}"/>
              </a:ext>
            </a:extLst>
          </p:cNvPr>
          <p:cNvCxnSpPr>
            <a:cxnSpLocks noChangeShapeType="1"/>
          </p:cNvCxnSpPr>
          <p:nvPr/>
        </p:nvCxnSpPr>
        <p:spPr bwMode="auto">
          <a:xfrm>
            <a:off x="6091395" y="4258226"/>
            <a:ext cx="215503" cy="0"/>
          </a:xfrm>
          <a:prstGeom prst="straightConnector1">
            <a:avLst/>
          </a:prstGeom>
          <a:noFill/>
          <a:ln w="1905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147" name="TextBox 36">
            <a:extLst>
              <a:ext uri="{FF2B5EF4-FFF2-40B4-BE49-F238E27FC236}">
                <a16:creationId xmlns:a16="http://schemas.microsoft.com/office/drawing/2014/main" id="{06D8DEAA-402C-A143-8278-EAF7DF422338}"/>
              </a:ext>
            </a:extLst>
          </p:cNvPr>
          <p:cNvSpPr txBox="1">
            <a:spLocks noChangeArrowheads="1"/>
          </p:cNvSpPr>
          <p:nvPr/>
        </p:nvSpPr>
        <p:spPr bwMode="auto">
          <a:xfrm>
            <a:off x="6847442" y="1612658"/>
            <a:ext cx="7560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2KB</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8" name="TextBox 37">
            <a:extLst>
              <a:ext uri="{FF2B5EF4-FFF2-40B4-BE49-F238E27FC236}">
                <a16:creationId xmlns:a16="http://schemas.microsoft.com/office/drawing/2014/main" id="{FB0C02DF-138A-6844-BC19-D11A9601143D}"/>
              </a:ext>
            </a:extLst>
          </p:cNvPr>
          <p:cNvSpPr txBox="1">
            <a:spLocks noChangeArrowheads="1"/>
          </p:cNvSpPr>
          <p:nvPr/>
        </p:nvSpPr>
        <p:spPr bwMode="auto">
          <a:xfrm>
            <a:off x="6847442" y="2237736"/>
            <a:ext cx="7560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4KB</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49" name="TextBox 38">
            <a:extLst>
              <a:ext uri="{FF2B5EF4-FFF2-40B4-BE49-F238E27FC236}">
                <a16:creationId xmlns:a16="http://schemas.microsoft.com/office/drawing/2014/main" id="{E28DFBDB-BC59-1844-B461-16A67806EE87}"/>
              </a:ext>
            </a:extLst>
          </p:cNvPr>
          <p:cNvSpPr txBox="1">
            <a:spLocks noChangeArrowheads="1"/>
          </p:cNvSpPr>
          <p:nvPr/>
        </p:nvSpPr>
        <p:spPr bwMode="auto">
          <a:xfrm>
            <a:off x="6847442" y="2778280"/>
            <a:ext cx="7560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8KB</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50" name="TextBox 39">
            <a:extLst>
              <a:ext uri="{FF2B5EF4-FFF2-40B4-BE49-F238E27FC236}">
                <a16:creationId xmlns:a16="http://schemas.microsoft.com/office/drawing/2014/main" id="{E05155B0-1D73-4546-8151-5D6B772F817D}"/>
              </a:ext>
            </a:extLst>
          </p:cNvPr>
          <p:cNvSpPr txBox="1">
            <a:spLocks noChangeArrowheads="1"/>
          </p:cNvSpPr>
          <p:nvPr/>
        </p:nvSpPr>
        <p:spPr bwMode="auto">
          <a:xfrm>
            <a:off x="6847442" y="3317633"/>
            <a:ext cx="7560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16KB</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51" name="TextBox 40">
            <a:extLst>
              <a:ext uri="{FF2B5EF4-FFF2-40B4-BE49-F238E27FC236}">
                <a16:creationId xmlns:a16="http://schemas.microsoft.com/office/drawing/2014/main" id="{48C31E27-6C6F-AC48-A6F2-491701A1BA40}"/>
              </a:ext>
            </a:extLst>
          </p:cNvPr>
          <p:cNvSpPr txBox="1">
            <a:spLocks noChangeArrowheads="1"/>
          </p:cNvSpPr>
          <p:nvPr/>
        </p:nvSpPr>
        <p:spPr bwMode="auto">
          <a:xfrm>
            <a:off x="6847442" y="3911755"/>
            <a:ext cx="7560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32KB</a:t>
            </a: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152" name="内容占位符 2">
            <a:extLst>
              <a:ext uri="{FF2B5EF4-FFF2-40B4-BE49-F238E27FC236}">
                <a16:creationId xmlns:a16="http://schemas.microsoft.com/office/drawing/2014/main" id="{2B70FBF8-A6C0-3D4E-AA2E-3BEB8D7C7F8B}"/>
              </a:ext>
            </a:extLst>
          </p:cNvPr>
          <p:cNvSpPr txBox="1">
            <a:spLocks/>
          </p:cNvSpPr>
          <p:nvPr/>
        </p:nvSpPr>
        <p:spPr bwMode="auto">
          <a:xfrm>
            <a:off x="447237" y="4471028"/>
            <a:ext cx="6318647" cy="1662113"/>
          </a:xfrm>
          <a:prstGeom prst="rect">
            <a:avLst/>
          </a:prstGeom>
          <a:noFill/>
          <a:ln w="9525">
            <a:noFill/>
            <a:miter lim="800000"/>
            <a:headEnd/>
            <a:tailEnd/>
          </a:ln>
        </p:spPr>
        <p:txBody>
          <a:bodyPr/>
          <a:lstStyle>
            <a:lvl1pPr marL="342900" indent="-342900">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285750" indent="-285750">
              <a:spcBef>
                <a:spcPct val="20000"/>
              </a:spcBef>
              <a:buClr>
                <a:srgbClr val="0000FF"/>
              </a:buClr>
              <a:buFont typeface="Arial" panose="020B0604020202020204" pitchFamily="34" charset="0"/>
              <a:buChar char="•"/>
            </a:pPr>
            <a:r>
              <a:rPr lang="zh-CN" altLang="en-US" sz="1800" dirty="0">
                <a:solidFill>
                  <a:srgbClr val="0000FF"/>
                </a:solidFill>
                <a:latin typeface="幼圆" pitchFamily="49" charset="-122"/>
                <a:ea typeface="幼圆" pitchFamily="49" charset="-122"/>
              </a:rPr>
              <a:t>特点</a:t>
            </a:r>
            <a:endParaRPr lang="en-US" altLang="zh-CN" sz="1800" dirty="0">
              <a:solidFill>
                <a:srgbClr val="0000FF"/>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1800" dirty="0">
                <a:solidFill>
                  <a:srgbClr val="000000"/>
                </a:solidFill>
                <a:latin typeface="幼圆" pitchFamily="49" charset="-122"/>
                <a:ea typeface="幼圆" pitchFamily="49" charset="-122"/>
              </a:rPr>
              <a:t>分配时不会进行分区分割，不会产生碎片，保留大分区</a:t>
            </a:r>
            <a:endParaRPr lang="en-US" altLang="zh-CN" sz="1800" dirty="0">
              <a:solidFill>
                <a:srgbClr val="000000"/>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1800" dirty="0">
                <a:solidFill>
                  <a:srgbClr val="000000"/>
                </a:solidFill>
                <a:latin typeface="幼圆" pitchFamily="49" charset="-122"/>
                <a:ea typeface="幼圆" pitchFamily="49" charset="-122"/>
              </a:rPr>
              <a:t>查找效率高</a:t>
            </a:r>
            <a:endParaRPr lang="en-US" altLang="zh-CN" sz="1800" dirty="0">
              <a:solidFill>
                <a:srgbClr val="000000"/>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1800" dirty="0">
                <a:solidFill>
                  <a:srgbClr val="000000"/>
                </a:solidFill>
                <a:latin typeface="幼圆" pitchFamily="49" charset="-122"/>
                <a:ea typeface="幼圆" pitchFamily="49" charset="-122"/>
              </a:rPr>
              <a:t>分区回收算法复杂，系统开销大</a:t>
            </a:r>
            <a:endParaRPr lang="en-US" altLang="zh-CN" sz="1800" dirty="0">
              <a:solidFill>
                <a:srgbClr val="000000"/>
              </a:solidFill>
              <a:latin typeface="幼圆" pitchFamily="49" charset="-122"/>
              <a:ea typeface="幼圆" pitchFamily="49" charset="-122"/>
            </a:endParaRPr>
          </a:p>
          <a:p>
            <a:pPr lvl="1">
              <a:spcBef>
                <a:spcPct val="20000"/>
              </a:spcBef>
              <a:buClr>
                <a:srgbClr val="0000FF"/>
              </a:buClr>
              <a:buSzPct val="50000"/>
              <a:buFont typeface="Monotype Sorts" pitchFamily="2" charset="2"/>
              <a:buChar char="l"/>
            </a:pPr>
            <a:r>
              <a:rPr lang="zh-CN" altLang="en-US" sz="1800" dirty="0">
                <a:solidFill>
                  <a:srgbClr val="000000"/>
                </a:solidFill>
                <a:latin typeface="幼圆" pitchFamily="49" charset="-122"/>
                <a:ea typeface="幼圆" pitchFamily="49" charset="-122"/>
              </a:rPr>
              <a:t>分区分配采用以</a:t>
            </a:r>
            <a:r>
              <a:rPr lang="zh-CN" altLang="en-US" sz="1800" dirty="0">
                <a:solidFill>
                  <a:srgbClr val="FF0000"/>
                </a:solidFill>
                <a:latin typeface="幼圆" pitchFamily="49" charset="-122"/>
                <a:ea typeface="幼圆" pitchFamily="49" charset="-122"/>
              </a:rPr>
              <a:t>空间换时间</a:t>
            </a:r>
            <a:r>
              <a:rPr lang="zh-CN" altLang="en-US" sz="1800" dirty="0">
                <a:solidFill>
                  <a:srgbClr val="000000"/>
                </a:solidFill>
                <a:latin typeface="幼圆" pitchFamily="49" charset="-122"/>
                <a:ea typeface="幼圆" pitchFamily="49" charset="-122"/>
              </a:rPr>
              <a:t>，存在一定浪费</a:t>
            </a:r>
            <a:endParaRPr lang="zh-CN" altLang="en-US" sz="1800" b="0" dirty="0">
              <a:solidFill>
                <a:srgbClr val="000000"/>
              </a:solidFill>
              <a:latin typeface="幼圆" pitchFamily="49" charset="-122"/>
              <a:ea typeface="幼圆" pitchFamily="49" charset="-122"/>
            </a:endParaRPr>
          </a:p>
        </p:txBody>
      </p:sp>
      <p:sp>
        <p:nvSpPr>
          <p:cNvPr id="153" name="TextBox 42">
            <a:extLst>
              <a:ext uri="{FF2B5EF4-FFF2-40B4-BE49-F238E27FC236}">
                <a16:creationId xmlns:a16="http://schemas.microsoft.com/office/drawing/2014/main" id="{2F5678C1-1F87-3143-B7A8-ABC9C126EAF9}"/>
              </a:ext>
            </a:extLst>
          </p:cNvPr>
          <p:cNvSpPr txBox="1">
            <a:spLocks noChangeArrowheads="1"/>
          </p:cNvSpPr>
          <p:nvPr/>
        </p:nvSpPr>
        <p:spPr bwMode="auto">
          <a:xfrm>
            <a:off x="6306897" y="4420152"/>
            <a:ext cx="156686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空闲分区管理</a:t>
            </a:r>
          </a:p>
        </p:txBody>
      </p:sp>
      <p:sp>
        <p:nvSpPr>
          <p:cNvPr id="154" name="Rectangle 2">
            <a:extLst>
              <a:ext uri="{FF2B5EF4-FFF2-40B4-BE49-F238E27FC236}">
                <a16:creationId xmlns:a16="http://schemas.microsoft.com/office/drawing/2014/main" id="{8FA3FA55-DF5D-3649-B5F2-99333405893A}"/>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78110158"/>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16">
                                            <p:txEl>
                                              <p:pRg st="0" end="0"/>
                                            </p:txEl>
                                          </p:spTgt>
                                        </p:tgtEl>
                                        <p:attrNameLst>
                                          <p:attrName>style.visibility</p:attrName>
                                        </p:attrNameLst>
                                      </p:cBhvr>
                                      <p:to>
                                        <p:strVal val="visible"/>
                                      </p:to>
                                    </p:set>
                                    <p:animEffect transition="in" filter="blinds(horizontal)">
                                      <p:cBhvr>
                                        <p:cTn id="7" dur="500"/>
                                        <p:tgtEl>
                                          <p:spTgt spid="11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16">
                                            <p:txEl>
                                              <p:pRg st="1" end="1"/>
                                            </p:txEl>
                                          </p:spTgt>
                                        </p:tgtEl>
                                        <p:attrNameLst>
                                          <p:attrName>style.visibility</p:attrName>
                                        </p:attrNameLst>
                                      </p:cBhvr>
                                      <p:to>
                                        <p:strVal val="visible"/>
                                      </p:to>
                                    </p:set>
                                    <p:animEffect transition="in" filter="blinds(horizontal)">
                                      <p:cBhvr>
                                        <p:cTn id="12" dur="500"/>
                                        <p:tgtEl>
                                          <p:spTgt spid="11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16">
                                            <p:txEl>
                                              <p:pRg st="2" end="2"/>
                                            </p:txEl>
                                          </p:spTgt>
                                        </p:tgtEl>
                                        <p:attrNameLst>
                                          <p:attrName>style.visibility</p:attrName>
                                        </p:attrNameLst>
                                      </p:cBhvr>
                                      <p:to>
                                        <p:strVal val="visible"/>
                                      </p:to>
                                    </p:set>
                                    <p:animEffect transition="in" filter="blinds(horizontal)">
                                      <p:cBhvr>
                                        <p:cTn id="17" dur="500"/>
                                        <p:tgtEl>
                                          <p:spTgt spid="11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16">
                                            <p:txEl>
                                              <p:pRg st="3" end="3"/>
                                            </p:txEl>
                                          </p:spTgt>
                                        </p:tgtEl>
                                        <p:attrNameLst>
                                          <p:attrName>style.visibility</p:attrName>
                                        </p:attrNameLst>
                                      </p:cBhvr>
                                      <p:to>
                                        <p:strVal val="visible"/>
                                      </p:to>
                                    </p:set>
                                    <p:animEffect transition="in" filter="blinds(horizontal)">
                                      <p:cBhvr>
                                        <p:cTn id="22" dur="500"/>
                                        <p:tgtEl>
                                          <p:spTgt spid="11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16">
                                            <p:txEl>
                                              <p:pRg st="4" end="4"/>
                                            </p:txEl>
                                          </p:spTgt>
                                        </p:tgtEl>
                                        <p:attrNameLst>
                                          <p:attrName>style.visibility</p:attrName>
                                        </p:attrNameLst>
                                      </p:cBhvr>
                                      <p:to>
                                        <p:strVal val="visible"/>
                                      </p:to>
                                    </p:set>
                                    <p:animEffect transition="in" filter="blinds(horizontal)">
                                      <p:cBhvr>
                                        <p:cTn id="27" dur="500"/>
                                        <p:tgtEl>
                                          <p:spTgt spid="11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16">
                                            <p:txEl>
                                              <p:pRg st="5" end="5"/>
                                            </p:txEl>
                                          </p:spTgt>
                                        </p:tgtEl>
                                        <p:attrNameLst>
                                          <p:attrName>style.visibility</p:attrName>
                                        </p:attrNameLst>
                                      </p:cBhvr>
                                      <p:to>
                                        <p:strVal val="visible"/>
                                      </p:to>
                                    </p:set>
                                    <p:animEffect transition="in" filter="blinds(horizontal)">
                                      <p:cBhvr>
                                        <p:cTn id="32" dur="500"/>
                                        <p:tgtEl>
                                          <p:spTgt spid="11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16">
                                            <p:txEl>
                                              <p:pRg st="6" end="6"/>
                                            </p:txEl>
                                          </p:spTgt>
                                        </p:tgtEl>
                                        <p:attrNameLst>
                                          <p:attrName>style.visibility</p:attrName>
                                        </p:attrNameLst>
                                      </p:cBhvr>
                                      <p:to>
                                        <p:strVal val="visible"/>
                                      </p:to>
                                    </p:set>
                                    <p:animEffect transition="in" filter="blinds(horizontal)">
                                      <p:cBhvr>
                                        <p:cTn id="37" dur="500"/>
                                        <p:tgtEl>
                                          <p:spTgt spid="11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52"/>
                                        </p:tgtEl>
                                        <p:attrNameLst>
                                          <p:attrName>style.visibility</p:attrName>
                                        </p:attrNameLst>
                                      </p:cBhvr>
                                      <p:to>
                                        <p:strVal val="visible"/>
                                      </p:to>
                                    </p:set>
                                    <p:animEffect transition="in" filter="blinds(horizontal)">
                                      <p:cBhvr>
                                        <p:cTn id="42" dur="500"/>
                                        <p:tgtEl>
                                          <p:spTgt spid="1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build="p" bldLvl="2"/>
      <p:bldP spid="152"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a:extLst>
              <a:ext uri="{FF2B5EF4-FFF2-40B4-BE49-F238E27FC236}">
                <a16:creationId xmlns:a16="http://schemas.microsoft.com/office/drawing/2014/main" id="{F415FF77-2303-AF41-A243-9392F8CB6BA3}"/>
              </a:ext>
            </a:extLst>
          </p:cNvPr>
          <p:cNvSpPr>
            <a:spLocks noGrp="1" noChangeArrowheads="1"/>
          </p:cNvSpPr>
          <p:nvPr>
            <p:ph type="title"/>
          </p:nvPr>
        </p:nvSpPr>
        <p:spPr/>
        <p:txBody>
          <a:bodyPr/>
          <a:lstStyle/>
          <a:p>
            <a:pPr eaLnBrk="1" hangingPunct="1"/>
            <a:r>
              <a:rPr lang="zh-CN" altLang="en-US" sz="2800" dirty="0">
                <a:solidFill>
                  <a:srgbClr val="FF0000"/>
                </a:solidFill>
                <a:latin typeface="宋体" panose="02010600030101010101" pitchFamily="2" charset="-122"/>
              </a:rPr>
              <a:t>  可变分区存储管理</a:t>
            </a:r>
          </a:p>
        </p:txBody>
      </p:sp>
      <p:sp>
        <p:nvSpPr>
          <p:cNvPr id="56323" name="Rectangle 3">
            <a:extLst>
              <a:ext uri="{FF2B5EF4-FFF2-40B4-BE49-F238E27FC236}">
                <a16:creationId xmlns:a16="http://schemas.microsoft.com/office/drawing/2014/main" id="{3FDBC9F1-163E-C84D-8D4E-0DB74ABFE52B}"/>
              </a:ext>
            </a:extLst>
          </p:cNvPr>
          <p:cNvSpPr>
            <a:spLocks noGrp="1" noChangeArrowheads="1"/>
          </p:cNvSpPr>
          <p:nvPr>
            <p:ph type="body" idx="1"/>
          </p:nvPr>
        </p:nvSpPr>
        <p:spPr>
          <a:xfrm>
            <a:off x="0" y="1196975"/>
            <a:ext cx="6492557" cy="1943993"/>
          </a:xfrm>
        </p:spPr>
        <p:txBody>
          <a:bodyPr/>
          <a:lstStyle/>
          <a:p>
            <a:pPr marL="0" indent="342900" eaLnBrk="1" hangingPunct="1">
              <a:spcBef>
                <a:spcPct val="0"/>
              </a:spcBef>
              <a:buFont typeface="Wingdings" pitchFamily="2" charset="2"/>
              <a:buNone/>
            </a:pPr>
            <a:r>
              <a:rPr lang="en-US" altLang="zh-CN" sz="2200" dirty="0">
                <a:solidFill>
                  <a:srgbClr val="FF0000"/>
                </a:solidFill>
                <a:effectLst/>
                <a:latin typeface="宋体" panose="02010600030101010101" pitchFamily="2" charset="-122"/>
              </a:rPr>
              <a:t>4.</a:t>
            </a:r>
            <a:r>
              <a:rPr lang="zh-CN" altLang="en-US" sz="2200" dirty="0">
                <a:solidFill>
                  <a:srgbClr val="FF0000"/>
                </a:solidFill>
                <a:effectLst/>
                <a:latin typeface="宋体" panose="02010600030101010101" pitchFamily="2" charset="-122"/>
              </a:rPr>
              <a:t>分配与回收</a:t>
            </a:r>
          </a:p>
          <a:p>
            <a:pPr marL="0" indent="342900" eaLnBrk="1" hangingPunct="1">
              <a:spcBef>
                <a:spcPct val="0"/>
              </a:spcBef>
              <a:buFont typeface="Wingdings" pitchFamily="2" charset="2"/>
              <a:buNone/>
            </a:pPr>
            <a:r>
              <a:rPr lang="zh-CN" altLang="en-US" sz="2000" dirty="0">
                <a:solidFill>
                  <a:schemeClr val="tx1"/>
                </a:solidFill>
                <a:effectLst/>
                <a:latin typeface="宋体" panose="02010600030101010101" pitchFamily="2" charset="-122"/>
              </a:rPr>
              <a:t> 系统进行内存分配时采用相应的分配算法来查找系统中是否存在满足要求的空闲分区；若找到就为程序分配相应的内存空间，并修改相关的数据结构，否则此次分配失败。</a:t>
            </a:r>
          </a:p>
          <a:p>
            <a:pPr marL="0" indent="342900" eaLnBrk="1" hangingPunct="1">
              <a:spcBef>
                <a:spcPct val="0"/>
              </a:spcBef>
              <a:buFont typeface="Wingdings" pitchFamily="2" charset="2"/>
              <a:buNone/>
            </a:pPr>
            <a:r>
              <a:rPr lang="zh-CN" altLang="en-US" sz="2000" dirty="0">
                <a:solidFill>
                  <a:schemeClr val="tx1"/>
                </a:solidFill>
                <a:effectLst/>
                <a:latin typeface="宋体" panose="02010600030101010101" pitchFamily="2" charset="-122"/>
              </a:rPr>
              <a:t> 内存的回收指在程序运行结束后，系统要把该程序释放的内存空间及时收回以便重新分配给需要的程序。</a:t>
            </a:r>
          </a:p>
        </p:txBody>
      </p:sp>
      <p:sp>
        <p:nvSpPr>
          <p:cNvPr id="24" name="内容占位符 2">
            <a:extLst>
              <a:ext uri="{FF2B5EF4-FFF2-40B4-BE49-F238E27FC236}">
                <a16:creationId xmlns:a16="http://schemas.microsoft.com/office/drawing/2014/main" id="{FE1DAA5B-050A-364E-996C-A13FB635C775}"/>
              </a:ext>
            </a:extLst>
          </p:cNvPr>
          <p:cNvSpPr txBox="1">
            <a:spLocks/>
          </p:cNvSpPr>
          <p:nvPr/>
        </p:nvSpPr>
        <p:spPr bwMode="auto">
          <a:xfrm>
            <a:off x="430973" y="3571473"/>
            <a:ext cx="5088909" cy="29454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0" fontAlgn="base" latinLnBrk="0" hangingPunct="0">
              <a:lnSpc>
                <a:spcPct val="100000"/>
              </a:lnSpc>
              <a:spcBef>
                <a:spcPct val="20000"/>
              </a:spcBef>
              <a:spcAft>
                <a:spcPct val="0"/>
              </a:spcAft>
              <a:buClr>
                <a:srgbClr val="0000FF"/>
              </a:buClr>
              <a:buSzPct val="50000"/>
              <a:buFont typeface="Wingdings" pitchFamily="2" charset="2"/>
              <a:buChar char="n"/>
              <a:tabLst/>
              <a:defRPr/>
            </a:pPr>
            <a:r>
              <a:rPr kumimoji="0" lang="zh-CN" altLang="en-US" sz="3200" b="1" i="0" u="none" strike="noStrike" kern="1200" cap="none" spc="0" normalizeH="0" baseline="0" noProof="0" dirty="0">
                <a:ln>
                  <a:noFill/>
                </a:ln>
                <a:solidFill>
                  <a:srgbClr val="0000FF"/>
                </a:solidFill>
                <a:effectLst/>
                <a:uLnTx/>
                <a:uFillTx/>
                <a:latin typeface="Arial" panose="020B0604020202020204" pitchFamily="34" charset="0"/>
                <a:ea typeface="幼圆" pitchFamily="49" charset="-122"/>
                <a:cs typeface="+mn-cs"/>
              </a:rPr>
              <a:t>分配内存</a:t>
            </a:r>
            <a:endParaRPr kumimoji="0" lang="en-US" altLang="zh-CN" sz="3200" b="1" i="0" u="none" strike="noStrike" kern="1200" cap="none" spc="0" normalizeH="0" baseline="0" noProof="0" dirty="0">
              <a:ln>
                <a:noFill/>
              </a:ln>
              <a:solidFill>
                <a:srgbClr val="0000FF"/>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dirty="0">
                <a:ln>
                  <a:noFill/>
                </a:ln>
                <a:solidFill>
                  <a:srgbClr val="000000"/>
                </a:solidFill>
                <a:effectLst/>
                <a:uLnTx/>
                <a:uFillTx/>
                <a:latin typeface="Arial" panose="020B0604020202020204" pitchFamily="34" charset="0"/>
                <a:ea typeface="幼圆" pitchFamily="49" charset="-122"/>
                <a:cs typeface="+mn-cs"/>
              </a:rPr>
              <a:t>系统利用某种分配算法，从空闲分区链（表）中找到所需的分区</a:t>
            </a:r>
            <a:endParaRPr kumimoji="0" lang="en-US" altLang="zh-CN" sz="2400" b="1" i="0" u="none" strike="noStrike" kern="1200" cap="none" spc="0" normalizeH="0" baseline="0" noProof="0" dirty="0">
              <a:ln>
                <a:noFill/>
              </a:ln>
              <a:solidFill>
                <a:srgbClr val="000000"/>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dirty="0">
                <a:ln>
                  <a:noFill/>
                </a:ln>
                <a:solidFill>
                  <a:srgbClr val="000000"/>
                </a:solidFill>
                <a:effectLst/>
                <a:uLnTx/>
                <a:uFillTx/>
                <a:latin typeface="Arial" panose="020B0604020202020204" pitchFamily="34" charset="0"/>
                <a:ea typeface="幼圆" pitchFamily="49" charset="-122"/>
                <a:cs typeface="+mn-cs"/>
              </a:rPr>
              <a:t>从该分区中划分出与请求的大小相等的内存空间分配出去</a:t>
            </a:r>
            <a:endParaRPr kumimoji="0" lang="en-US" altLang="zh-CN" sz="2400" b="1" i="0" u="none" strike="noStrike" kern="1200" cap="none" spc="0" normalizeH="0" baseline="0" noProof="0" dirty="0">
              <a:ln>
                <a:noFill/>
              </a:ln>
              <a:solidFill>
                <a:srgbClr val="000000"/>
              </a:solidFill>
              <a:effectLst/>
              <a:uLnTx/>
              <a:uFillTx/>
              <a:latin typeface="Arial" panose="020B0604020202020204" pitchFamily="34" charset="0"/>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Tx/>
              <a:buFont typeface="Arial" panose="020B0604020202020204" pitchFamily="34" charset="0"/>
              <a:buChar char="–"/>
              <a:tabLst/>
              <a:defRPr/>
            </a:pPr>
            <a:r>
              <a:rPr kumimoji="0" lang="zh-CN" altLang="en-US" sz="2400" b="1" i="0" u="none" strike="noStrike" kern="1200" cap="none" spc="0" normalizeH="0" baseline="0" noProof="0" dirty="0">
                <a:ln>
                  <a:noFill/>
                </a:ln>
                <a:solidFill>
                  <a:srgbClr val="000000"/>
                </a:solidFill>
                <a:effectLst/>
                <a:uLnTx/>
                <a:uFillTx/>
                <a:latin typeface="Arial" panose="020B0604020202020204" pitchFamily="34" charset="0"/>
                <a:ea typeface="幼圆" pitchFamily="49" charset="-122"/>
                <a:cs typeface="+mn-cs"/>
              </a:rPr>
              <a:t>将分配区的首址返回给调用者</a:t>
            </a:r>
            <a:endParaRPr kumimoji="0" lang="zh-CN" altLang="en-US" sz="2400" b="1" i="0" u="none" strike="noStrike" kern="1200" cap="none" spc="0" normalizeH="0" baseline="0" noProof="0" dirty="0">
              <a:ln>
                <a:noFill/>
              </a:ln>
              <a:solidFill>
                <a:srgbClr val="0000FF"/>
              </a:solidFill>
              <a:effectLst/>
              <a:uLnTx/>
              <a:uFillTx/>
              <a:latin typeface="Calibri"/>
              <a:ea typeface="宋体"/>
              <a:cs typeface="+mn-cs"/>
            </a:endParaRPr>
          </a:p>
        </p:txBody>
      </p:sp>
      <p:graphicFrame>
        <p:nvGraphicFramePr>
          <p:cNvPr id="25" name="Group 158">
            <a:extLst>
              <a:ext uri="{FF2B5EF4-FFF2-40B4-BE49-F238E27FC236}">
                <a16:creationId xmlns:a16="http://schemas.microsoft.com/office/drawing/2014/main" id="{86DFA5CD-FB98-DA42-B595-B444732F2772}"/>
              </a:ext>
            </a:extLst>
          </p:cNvPr>
          <p:cNvGraphicFramePr>
            <a:graphicFrameLocks noGrp="1"/>
          </p:cNvGraphicFramePr>
          <p:nvPr>
            <p:extLst>
              <p:ext uri="{D42A27DB-BD31-4B8C-83A1-F6EECF244321}">
                <p14:modId xmlns:p14="http://schemas.microsoft.com/office/powerpoint/2010/main" val="2634609889"/>
              </p:ext>
            </p:extLst>
          </p:nvPr>
        </p:nvGraphicFramePr>
        <p:xfrm>
          <a:off x="7724408" y="2017709"/>
          <a:ext cx="857250" cy="4502823"/>
        </p:xfrm>
        <a:graphic>
          <a:graphicData uri="http://schemas.openxmlformats.org/drawingml/2006/table">
            <a:tbl>
              <a:tblPr/>
              <a:tblGrid>
                <a:gridCol w="857250">
                  <a:extLst>
                    <a:ext uri="{9D8B030D-6E8A-4147-A177-3AD203B41FA5}">
                      <a16:colId xmlns:a16="http://schemas.microsoft.com/office/drawing/2014/main" val="20000"/>
                    </a:ext>
                  </a:extLst>
                </a:gridCol>
              </a:tblGrid>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13733">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Arial Black" pitchFamily="34" charset="0"/>
                        <a:ea typeface="幼圆" pitchFamily="49"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1"/>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3"/>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5"/>
                  </a:ext>
                </a:extLst>
              </a:tr>
              <a:tr h="379407">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7"/>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08"/>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0"/>
                  </a:ext>
                </a:extLst>
              </a:tr>
              <a:tr h="159951">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98410">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2"/>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69679">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100000"/>
                        </a:lnSpc>
                        <a:spcBef>
                          <a:spcPct val="20000"/>
                        </a:spcBef>
                        <a:spcAft>
                          <a:spcPct val="0"/>
                        </a:spcAft>
                        <a:buClrTx/>
                        <a:buSzTx/>
                        <a:buFontTx/>
                        <a:buNone/>
                        <a:tabLst/>
                      </a:pPr>
                      <a:endParaRPr kumimoji="1" lang="en-US" altLang="zh-CN" sz="6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0014"/>
                  </a:ext>
                </a:extLst>
              </a:tr>
              <a:tr h="485278">
                <a:tc>
                  <a:txBody>
                    <a:bodyPr/>
                    <a:lstStyle>
                      <a:lvl1pPr marL="0" algn="l" defTabSz="914400" rtl="0" eaLnBrk="1" latinLnBrk="0" hangingPunct="1">
                        <a:defRPr sz="1800" kern="1200">
                          <a:solidFill>
                            <a:schemeClr val="tx1"/>
                          </a:solidFill>
                          <a:latin typeface="Calibri"/>
                          <a:ea typeface="宋体"/>
                        </a:defRPr>
                      </a:lvl1pPr>
                      <a:lvl2pPr marL="457200" algn="l" defTabSz="914400" rtl="0" eaLnBrk="1" latinLnBrk="0" hangingPunct="1">
                        <a:defRPr sz="1800" kern="1200">
                          <a:solidFill>
                            <a:schemeClr val="tx1"/>
                          </a:solidFill>
                          <a:latin typeface="Calibri"/>
                          <a:ea typeface="宋体"/>
                        </a:defRPr>
                      </a:lvl2pPr>
                      <a:lvl3pPr marL="914400" algn="l" defTabSz="914400" rtl="0" eaLnBrk="1" latinLnBrk="0" hangingPunct="1">
                        <a:defRPr sz="1800" kern="1200">
                          <a:solidFill>
                            <a:schemeClr val="tx1"/>
                          </a:solidFill>
                          <a:latin typeface="Calibri"/>
                          <a:ea typeface="宋体"/>
                        </a:defRPr>
                      </a:lvl3pPr>
                      <a:lvl4pPr marL="1371600" algn="l" defTabSz="914400" rtl="0" eaLnBrk="1" latinLnBrk="0" hangingPunct="1">
                        <a:defRPr sz="1800" kern="1200">
                          <a:solidFill>
                            <a:schemeClr val="tx1"/>
                          </a:solidFill>
                          <a:latin typeface="Calibri"/>
                          <a:ea typeface="宋体"/>
                        </a:defRPr>
                      </a:lvl4pPr>
                      <a:lvl5pPr marL="1828800" algn="l" defTabSz="914400" rtl="0" eaLnBrk="1" latinLnBrk="0" hangingPunct="1">
                        <a:defRPr sz="1800" kern="1200">
                          <a:solidFill>
                            <a:schemeClr val="tx1"/>
                          </a:solidFill>
                          <a:latin typeface="Calibri"/>
                          <a:ea typeface="宋体"/>
                        </a:defRPr>
                      </a:lvl5pPr>
                      <a:lvl6pPr marL="2286000" algn="l" defTabSz="914400" rtl="0" eaLnBrk="1" latinLnBrk="0" hangingPunct="1">
                        <a:defRPr sz="1800" kern="1200">
                          <a:solidFill>
                            <a:schemeClr val="tx1"/>
                          </a:solidFill>
                          <a:latin typeface="Calibri"/>
                          <a:ea typeface="宋体"/>
                        </a:defRPr>
                      </a:lvl6pPr>
                      <a:lvl7pPr marL="2743200" algn="l" defTabSz="914400" rtl="0" eaLnBrk="1" latinLnBrk="0" hangingPunct="1">
                        <a:defRPr sz="1800" kern="1200">
                          <a:solidFill>
                            <a:schemeClr val="tx1"/>
                          </a:solidFill>
                          <a:latin typeface="Calibri"/>
                          <a:ea typeface="宋体"/>
                        </a:defRPr>
                      </a:lvl7pPr>
                      <a:lvl8pPr marL="3200400" algn="l" defTabSz="914400" rtl="0" eaLnBrk="1" latinLnBrk="0" hangingPunct="1">
                        <a:defRPr sz="1800" kern="1200">
                          <a:solidFill>
                            <a:schemeClr val="tx1"/>
                          </a:solidFill>
                          <a:latin typeface="Calibri"/>
                          <a:ea typeface="宋体"/>
                        </a:defRPr>
                      </a:lvl8pPr>
                      <a:lvl9pPr marL="3657600" algn="l" defTabSz="914400" rtl="0" eaLnBrk="1" latinLnBrk="0" hangingPunct="1">
                        <a:defRPr sz="1800" kern="1200">
                          <a:solidFill>
                            <a:schemeClr val="tx1"/>
                          </a:solidFill>
                          <a:latin typeface="Calibri"/>
                          <a:ea typeface="宋体"/>
                        </a:defRPr>
                      </a:lvl9pPr>
                    </a:lstStyle>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p>
                      <a:pPr marL="0" marR="0" lvl="0" indent="0" algn="l" defTabSz="914400" rtl="0" eaLnBrk="1" fontAlgn="base" latinLnBrk="0" hangingPunct="1">
                        <a:lnSpc>
                          <a:spcPct val="75000"/>
                        </a:lnSpc>
                        <a:spcBef>
                          <a:spcPct val="20000"/>
                        </a:spcBef>
                        <a:spcAft>
                          <a:spcPct val="0"/>
                        </a:spcAft>
                        <a:buClrTx/>
                        <a:buSzTx/>
                        <a:buFontTx/>
                        <a:buNone/>
                        <a:tabLst/>
                      </a:pPr>
                      <a:endParaRPr kumimoji="1" lang="en-US" altLang="zh-CN" sz="6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56" marB="34256" horzOverflow="overflow">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bl>
          </a:graphicData>
        </a:graphic>
      </p:graphicFrame>
      <p:sp>
        <p:nvSpPr>
          <p:cNvPr id="26" name="Text Box 159">
            <a:extLst>
              <a:ext uri="{FF2B5EF4-FFF2-40B4-BE49-F238E27FC236}">
                <a16:creationId xmlns:a16="http://schemas.microsoft.com/office/drawing/2014/main" id="{CDC1EB75-28CC-5D41-9B20-39E4ECB4400A}"/>
              </a:ext>
            </a:extLst>
          </p:cNvPr>
          <p:cNvSpPr txBox="1">
            <a:spLocks noChangeArrowheads="1"/>
          </p:cNvSpPr>
          <p:nvPr/>
        </p:nvSpPr>
        <p:spPr bwMode="auto">
          <a:xfrm>
            <a:off x="7210058" y="2052236"/>
            <a:ext cx="514350" cy="877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 8M</a:t>
            </a:r>
          </a:p>
          <a:p>
            <a:pPr marL="0" marR="0" lvl="0" indent="0" defTabSz="914400" eaLnBrk="1" fontAlgn="auto" latinLnBrk="0" hangingPunct="1">
              <a:lnSpc>
                <a:spcPct val="80000"/>
              </a:lnSpc>
              <a:spcBef>
                <a:spcPct val="50000"/>
              </a:spcBef>
              <a:spcAft>
                <a:spcPts val="0"/>
              </a:spcAft>
              <a:buClrTx/>
              <a:buSzTx/>
              <a:buFontTx/>
              <a:buNone/>
              <a:tabLst/>
              <a:defRPr/>
            </a:pPr>
            <a:endPar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a:p>
            <a:pPr marL="0" marR="0" lvl="0" indent="0" defTabSz="914400" eaLnBrk="1" fontAlgn="auto" latinLnBrk="0" hangingPunct="1">
              <a:lnSpc>
                <a:spcPct val="8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12M</a:t>
            </a:r>
          </a:p>
        </p:txBody>
      </p:sp>
      <p:sp>
        <p:nvSpPr>
          <p:cNvPr id="27" name="Text Box 160">
            <a:extLst>
              <a:ext uri="{FF2B5EF4-FFF2-40B4-BE49-F238E27FC236}">
                <a16:creationId xmlns:a16="http://schemas.microsoft.com/office/drawing/2014/main" id="{5A51962F-E0CD-DE43-947C-4F5F5E6DE218}"/>
              </a:ext>
            </a:extLst>
          </p:cNvPr>
          <p:cNvSpPr txBox="1">
            <a:spLocks noChangeArrowheads="1"/>
          </p:cNvSpPr>
          <p:nvPr/>
        </p:nvSpPr>
        <p:spPr bwMode="auto">
          <a:xfrm>
            <a:off x="7256492" y="3028548"/>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22M</a:t>
            </a:r>
          </a:p>
        </p:txBody>
      </p:sp>
      <p:sp>
        <p:nvSpPr>
          <p:cNvPr id="28" name="Text Box 161">
            <a:extLst>
              <a:ext uri="{FF2B5EF4-FFF2-40B4-BE49-F238E27FC236}">
                <a16:creationId xmlns:a16="http://schemas.microsoft.com/office/drawing/2014/main" id="{3C92DB48-2B0E-9545-AAF6-B56284CA1770}"/>
              </a:ext>
            </a:extLst>
          </p:cNvPr>
          <p:cNvSpPr txBox="1">
            <a:spLocks noChangeArrowheads="1"/>
          </p:cNvSpPr>
          <p:nvPr/>
        </p:nvSpPr>
        <p:spPr bwMode="auto">
          <a:xfrm>
            <a:off x="7210058" y="3617908"/>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18M</a:t>
            </a:r>
          </a:p>
        </p:txBody>
      </p:sp>
      <p:sp>
        <p:nvSpPr>
          <p:cNvPr id="29" name="Text Box 162">
            <a:extLst>
              <a:ext uri="{FF2B5EF4-FFF2-40B4-BE49-F238E27FC236}">
                <a16:creationId xmlns:a16="http://schemas.microsoft.com/office/drawing/2014/main" id="{D1A5E04A-C97A-644C-9E90-4CBE1D2ECACF}"/>
              </a:ext>
            </a:extLst>
          </p:cNvPr>
          <p:cNvSpPr txBox="1">
            <a:spLocks noChangeArrowheads="1"/>
          </p:cNvSpPr>
          <p:nvPr/>
        </p:nvSpPr>
        <p:spPr bwMode="auto">
          <a:xfrm>
            <a:off x="7267208" y="4450154"/>
            <a:ext cx="9144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8M</a:t>
            </a:r>
          </a:p>
        </p:txBody>
      </p:sp>
      <p:sp>
        <p:nvSpPr>
          <p:cNvPr id="30" name="Text Box 163">
            <a:extLst>
              <a:ext uri="{FF2B5EF4-FFF2-40B4-BE49-F238E27FC236}">
                <a16:creationId xmlns:a16="http://schemas.microsoft.com/office/drawing/2014/main" id="{43FA5B4C-60D6-8F47-A7CD-8FE3C9FF8C43}"/>
              </a:ext>
            </a:extLst>
          </p:cNvPr>
          <p:cNvSpPr txBox="1">
            <a:spLocks noChangeArrowheads="1"/>
          </p:cNvSpPr>
          <p:nvPr/>
        </p:nvSpPr>
        <p:spPr bwMode="auto">
          <a:xfrm>
            <a:off x="7267208" y="4872827"/>
            <a:ext cx="10287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6M</a:t>
            </a:r>
          </a:p>
        </p:txBody>
      </p:sp>
      <p:sp>
        <p:nvSpPr>
          <p:cNvPr id="31" name="Text Box 164">
            <a:extLst>
              <a:ext uri="{FF2B5EF4-FFF2-40B4-BE49-F238E27FC236}">
                <a16:creationId xmlns:a16="http://schemas.microsoft.com/office/drawing/2014/main" id="{3DD2B36B-81AE-EF4B-A890-E2C9E2B1A0B7}"/>
              </a:ext>
            </a:extLst>
          </p:cNvPr>
          <p:cNvSpPr txBox="1">
            <a:spLocks noChangeArrowheads="1"/>
          </p:cNvSpPr>
          <p:nvPr/>
        </p:nvSpPr>
        <p:spPr bwMode="auto">
          <a:xfrm>
            <a:off x="7256492" y="5493142"/>
            <a:ext cx="74295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14M</a:t>
            </a:r>
          </a:p>
        </p:txBody>
      </p:sp>
      <p:sp>
        <p:nvSpPr>
          <p:cNvPr id="32" name="Text Box 165">
            <a:extLst>
              <a:ext uri="{FF2B5EF4-FFF2-40B4-BE49-F238E27FC236}">
                <a16:creationId xmlns:a16="http://schemas.microsoft.com/office/drawing/2014/main" id="{BC3A97BA-0FFD-7A47-8912-836E9A75DB63}"/>
              </a:ext>
            </a:extLst>
          </p:cNvPr>
          <p:cNvSpPr txBox="1">
            <a:spLocks noChangeArrowheads="1"/>
          </p:cNvSpPr>
          <p:nvPr/>
        </p:nvSpPr>
        <p:spPr bwMode="auto">
          <a:xfrm>
            <a:off x="7260064" y="6136079"/>
            <a:ext cx="68580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ct val="50000"/>
              </a:spcBef>
              <a:spcAft>
                <a:spcPts val="0"/>
              </a:spcAft>
              <a:buClrTx/>
              <a:buSzTx/>
              <a:buFontTx/>
              <a:buNone/>
              <a:tabLst/>
              <a:defRPr/>
            </a:pPr>
            <a:r>
              <a:rPr kumimoji="1" lang="en-US" altLang="zh-CN" sz="15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36M</a:t>
            </a:r>
          </a:p>
        </p:txBody>
      </p:sp>
      <p:sp>
        <p:nvSpPr>
          <p:cNvPr id="33" name="TextBox 32">
            <a:extLst>
              <a:ext uri="{FF2B5EF4-FFF2-40B4-BE49-F238E27FC236}">
                <a16:creationId xmlns:a16="http://schemas.microsoft.com/office/drawing/2014/main" id="{953B2BF8-AF88-A348-BE65-AF585BA74441}"/>
              </a:ext>
            </a:extLst>
          </p:cNvPr>
          <p:cNvSpPr txBox="1">
            <a:spLocks noChangeArrowheads="1"/>
          </p:cNvSpPr>
          <p:nvPr/>
        </p:nvSpPr>
        <p:spPr bwMode="auto">
          <a:xfrm>
            <a:off x="8502184" y="2874957"/>
            <a:ext cx="461665" cy="2518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0000FF"/>
                </a:solidFill>
                <a:latin typeface="幼圆" pitchFamily="49" charset="-122"/>
                <a:ea typeface="幼圆" pitchFamily="49" charset="-122"/>
              </a:rPr>
              <a:t>某一时刻内存使用情况</a:t>
            </a:r>
          </a:p>
        </p:txBody>
      </p:sp>
      <p:sp>
        <p:nvSpPr>
          <p:cNvPr id="34" name="矩形 12">
            <a:extLst>
              <a:ext uri="{FF2B5EF4-FFF2-40B4-BE49-F238E27FC236}">
                <a16:creationId xmlns:a16="http://schemas.microsoft.com/office/drawing/2014/main" id="{3508D9FA-F173-DF46-BE3F-F37FA79D757F}"/>
              </a:ext>
            </a:extLst>
          </p:cNvPr>
          <p:cNvSpPr>
            <a:spLocks noChangeArrowheads="1"/>
          </p:cNvSpPr>
          <p:nvPr/>
        </p:nvSpPr>
        <p:spPr bwMode="auto">
          <a:xfrm>
            <a:off x="7731552" y="4248939"/>
            <a:ext cx="857250" cy="428625"/>
          </a:xfrm>
          <a:prstGeom prst="rect">
            <a:avLst/>
          </a:prstGeom>
          <a:solidFill>
            <a:srgbClr val="FFFF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grpSp>
        <p:nvGrpSpPr>
          <p:cNvPr id="35" name="组合 13">
            <a:extLst>
              <a:ext uri="{FF2B5EF4-FFF2-40B4-BE49-F238E27FC236}">
                <a16:creationId xmlns:a16="http://schemas.microsoft.com/office/drawing/2014/main" id="{6D5BB019-0BAD-3A4E-898B-C14E4CCCED8D}"/>
              </a:ext>
            </a:extLst>
          </p:cNvPr>
          <p:cNvGrpSpPr>
            <a:grpSpLocks/>
          </p:cNvGrpSpPr>
          <p:nvPr/>
        </p:nvGrpSpPr>
        <p:grpSpPr bwMode="auto">
          <a:xfrm>
            <a:off x="6649273" y="3285723"/>
            <a:ext cx="1028700" cy="285750"/>
            <a:chOff x="5715000" y="2057400"/>
            <a:chExt cx="1371600" cy="381000"/>
          </a:xfrm>
        </p:grpSpPr>
        <p:sp>
          <p:nvSpPr>
            <p:cNvPr id="36" name="Line 267">
              <a:extLst>
                <a:ext uri="{FF2B5EF4-FFF2-40B4-BE49-F238E27FC236}">
                  <a16:creationId xmlns:a16="http://schemas.microsoft.com/office/drawing/2014/main" id="{199E3575-67B3-B545-8708-ECE0CA325EBB}"/>
                </a:ext>
              </a:extLst>
            </p:cNvPr>
            <p:cNvSpPr>
              <a:spLocks noChangeShapeType="1"/>
            </p:cNvSpPr>
            <p:nvPr/>
          </p:nvSpPr>
          <p:spPr bwMode="auto">
            <a:xfrm>
              <a:off x="5715000" y="2438400"/>
              <a:ext cx="13716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sp>
          <p:nvSpPr>
            <p:cNvPr id="37" name="Line 272">
              <a:extLst>
                <a:ext uri="{FF2B5EF4-FFF2-40B4-BE49-F238E27FC236}">
                  <a16:creationId xmlns:a16="http://schemas.microsoft.com/office/drawing/2014/main" id="{AA1EAF4D-B3B1-9F42-B43D-70501A0E49B7}"/>
                </a:ext>
              </a:extLst>
            </p:cNvPr>
            <p:cNvSpPr>
              <a:spLocks noChangeShapeType="1"/>
            </p:cNvSpPr>
            <p:nvPr/>
          </p:nvSpPr>
          <p:spPr bwMode="auto">
            <a:xfrm flipV="1">
              <a:off x="5715000" y="2057400"/>
              <a:ext cx="0" cy="3810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en-US" sz="1800">
                <a:solidFill>
                  <a:srgbClr val="000000"/>
                </a:solidFill>
                <a:latin typeface="Arial" panose="020B0604020202020204" pitchFamily="34" charset="0"/>
              </a:endParaRPr>
            </a:p>
          </p:txBody>
        </p:sp>
      </p:grpSp>
      <p:sp>
        <p:nvSpPr>
          <p:cNvPr id="38" name="矩形 16">
            <a:extLst>
              <a:ext uri="{FF2B5EF4-FFF2-40B4-BE49-F238E27FC236}">
                <a16:creationId xmlns:a16="http://schemas.microsoft.com/office/drawing/2014/main" id="{27974B0E-0960-0146-87FF-43DAAA0B3952}"/>
              </a:ext>
            </a:extLst>
          </p:cNvPr>
          <p:cNvSpPr>
            <a:spLocks noChangeArrowheads="1"/>
          </p:cNvSpPr>
          <p:nvPr/>
        </p:nvSpPr>
        <p:spPr bwMode="auto">
          <a:xfrm>
            <a:off x="7731552" y="3571474"/>
            <a:ext cx="857250" cy="321469"/>
          </a:xfrm>
          <a:prstGeom prst="rect">
            <a:avLst/>
          </a:prstGeom>
          <a:solidFill>
            <a:srgbClr val="4F81BD"/>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sp>
        <p:nvSpPr>
          <p:cNvPr id="39" name="TextBox 38">
            <a:extLst>
              <a:ext uri="{FF2B5EF4-FFF2-40B4-BE49-F238E27FC236}">
                <a16:creationId xmlns:a16="http://schemas.microsoft.com/office/drawing/2014/main" id="{DB371E48-9BED-CD4E-954E-F3655E2B580E}"/>
              </a:ext>
            </a:extLst>
          </p:cNvPr>
          <p:cNvSpPr txBox="1">
            <a:spLocks noChangeArrowheads="1"/>
          </p:cNvSpPr>
          <p:nvPr/>
        </p:nvSpPr>
        <p:spPr bwMode="auto">
          <a:xfrm>
            <a:off x="7785131" y="3571474"/>
            <a:ext cx="80367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D60093"/>
                </a:solidFill>
                <a:effectLst/>
                <a:uLnTx/>
                <a:uFillTx/>
                <a:latin typeface="Arial Narrow" panose="020B0604020202020204" pitchFamily="34" charset="0"/>
                <a:ea typeface="宋体" panose="02010600030101010101" pitchFamily="2" charset="-122"/>
              </a:rPr>
              <a:t>16MB</a:t>
            </a:r>
            <a:endParaRPr kumimoji="1" lang="zh-CN" altLang="en-US" sz="1800" b="1" i="0" u="none" strike="noStrike" kern="0" cap="none" spc="0" normalizeH="0" baseline="0" noProof="0">
              <a:ln>
                <a:noFill/>
              </a:ln>
              <a:solidFill>
                <a:srgbClr val="D60093"/>
              </a:solidFill>
              <a:effectLst/>
              <a:uLnTx/>
              <a:uFillTx/>
              <a:latin typeface="Arial Narrow" panose="020B0604020202020204" pitchFamily="34" charset="0"/>
              <a:ea typeface="宋体" panose="02010600030101010101" pitchFamily="2" charset="-122"/>
            </a:endParaRPr>
          </a:p>
        </p:txBody>
      </p:sp>
      <p:sp>
        <p:nvSpPr>
          <p:cNvPr id="40" name="矩形 18">
            <a:extLst>
              <a:ext uri="{FF2B5EF4-FFF2-40B4-BE49-F238E27FC236}">
                <a16:creationId xmlns:a16="http://schemas.microsoft.com/office/drawing/2014/main" id="{F2E4069F-15E7-594E-B6F6-14317B94C935}"/>
              </a:ext>
            </a:extLst>
          </p:cNvPr>
          <p:cNvSpPr>
            <a:spLocks noChangeArrowheads="1"/>
          </p:cNvSpPr>
          <p:nvPr/>
        </p:nvSpPr>
        <p:spPr bwMode="auto">
          <a:xfrm>
            <a:off x="7731552" y="4239415"/>
            <a:ext cx="857250" cy="267890"/>
          </a:xfrm>
          <a:prstGeom prst="rect">
            <a:avLst/>
          </a:prstGeom>
          <a:solidFill>
            <a:srgbClr val="0000FF"/>
          </a:solidFill>
          <a:ln w="12700" algn="ctr">
            <a:solidFill>
              <a:srgbClr val="000000"/>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endParaRPr>
          </a:p>
        </p:txBody>
      </p:sp>
      <p:cxnSp>
        <p:nvCxnSpPr>
          <p:cNvPr id="41" name="直接箭头连接符 19">
            <a:extLst>
              <a:ext uri="{FF2B5EF4-FFF2-40B4-BE49-F238E27FC236}">
                <a16:creationId xmlns:a16="http://schemas.microsoft.com/office/drawing/2014/main" id="{D0819EB0-7DFA-FA4B-AFB2-27A96CF7FA3A}"/>
              </a:ext>
            </a:extLst>
          </p:cNvPr>
          <p:cNvCxnSpPr>
            <a:cxnSpLocks noChangeShapeType="1"/>
          </p:cNvCxnSpPr>
          <p:nvPr/>
        </p:nvCxnSpPr>
        <p:spPr bwMode="auto">
          <a:xfrm>
            <a:off x="6767145" y="4375146"/>
            <a:ext cx="803672" cy="1190"/>
          </a:xfrm>
          <a:prstGeom prst="straightConnector1">
            <a:avLst/>
          </a:prstGeom>
          <a:noFill/>
          <a:ln w="38100" algn="ctr">
            <a:solidFill>
              <a:srgbClr val="0000FF"/>
            </a:solidFill>
            <a:round/>
            <a:headEnd type="none" w="sm" len="sm"/>
            <a:tailEnd type="arrow" w="med" len="med"/>
          </a:ln>
          <a:extLst>
            <a:ext uri="{909E8E84-426E-40DD-AFC4-6F175D3DCCD1}">
              <a14:hiddenFill xmlns:a14="http://schemas.microsoft.com/office/drawing/2010/main">
                <a:noFill/>
              </a14:hiddenFill>
            </a:ext>
          </a:extLst>
        </p:spPr>
      </p:cxnSp>
      <p:sp>
        <p:nvSpPr>
          <p:cNvPr id="42" name="TextBox 41">
            <a:extLst>
              <a:ext uri="{FF2B5EF4-FFF2-40B4-BE49-F238E27FC236}">
                <a16:creationId xmlns:a16="http://schemas.microsoft.com/office/drawing/2014/main" id="{8794E920-1516-874A-80EA-B5BD9A8ABB06}"/>
              </a:ext>
            </a:extLst>
          </p:cNvPr>
          <p:cNvSpPr txBox="1">
            <a:spLocks noChangeArrowheads="1"/>
          </p:cNvSpPr>
          <p:nvPr/>
        </p:nvSpPr>
        <p:spPr bwMode="auto">
          <a:xfrm>
            <a:off x="7702978" y="4214411"/>
            <a:ext cx="1125140"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最近分配</a:t>
            </a:r>
          </a:p>
        </p:txBody>
      </p:sp>
      <p:sp>
        <p:nvSpPr>
          <p:cNvPr id="43" name="TextBox 42">
            <a:extLst>
              <a:ext uri="{FF2B5EF4-FFF2-40B4-BE49-F238E27FC236}">
                <a16:creationId xmlns:a16="http://schemas.microsoft.com/office/drawing/2014/main" id="{1951B80C-677C-A043-8AA2-EAA007FA21EC}"/>
              </a:ext>
            </a:extLst>
          </p:cNvPr>
          <p:cNvSpPr txBox="1">
            <a:spLocks noChangeArrowheads="1"/>
          </p:cNvSpPr>
          <p:nvPr/>
        </p:nvSpPr>
        <p:spPr bwMode="auto">
          <a:xfrm>
            <a:off x="8474548" y="3678630"/>
            <a:ext cx="489301" cy="2035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800">
                <a:solidFill>
                  <a:srgbClr val="D60093"/>
                </a:solidFill>
                <a:latin typeface="幼圆" pitchFamily="49" charset="-122"/>
                <a:ea typeface="幼圆" pitchFamily="49" charset="-122"/>
              </a:rPr>
              <a:t>分配</a:t>
            </a:r>
            <a:r>
              <a:rPr lang="en-US" altLang="zh-CN" sz="1800">
                <a:solidFill>
                  <a:srgbClr val="D60093"/>
                </a:solidFill>
                <a:latin typeface="幼圆" pitchFamily="49" charset="-122"/>
                <a:ea typeface="幼圆" pitchFamily="49" charset="-122"/>
              </a:rPr>
              <a:t>16MB</a:t>
            </a:r>
            <a:r>
              <a:rPr lang="zh-CN" altLang="en-US" sz="1800">
                <a:solidFill>
                  <a:srgbClr val="D60093"/>
                </a:solidFill>
                <a:latin typeface="幼圆" pitchFamily="49" charset="-122"/>
                <a:ea typeface="幼圆" pitchFamily="49" charset="-122"/>
              </a:rPr>
              <a:t>空间</a:t>
            </a:r>
          </a:p>
        </p:txBody>
      </p:sp>
    </p:spTree>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dissolve">
                                      <p:cBhvr>
                                        <p:cTn id="7" dur="500"/>
                                        <p:tgtEl>
                                          <p:spTgt spid="2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dissolve">
                                      <p:cBhvr>
                                        <p:cTn id="10" dur="500"/>
                                        <p:tgtEl>
                                          <p:spTgt spid="26"/>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dissolve">
                                      <p:cBhvr>
                                        <p:cTn id="13" dur="500"/>
                                        <p:tgtEl>
                                          <p:spTgt spid="27"/>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dissolve">
                                      <p:cBhvr>
                                        <p:cTn id="16" dur="500"/>
                                        <p:tgtEl>
                                          <p:spTgt spid="28"/>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dissolve">
                                      <p:cBhvr>
                                        <p:cTn id="19" dur="500"/>
                                        <p:tgtEl>
                                          <p:spTgt spid="2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dissolve">
                                      <p:cBhvr>
                                        <p:cTn id="22" dur="500"/>
                                        <p:tgtEl>
                                          <p:spTgt spid="30"/>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dissolve">
                                      <p:cBhvr>
                                        <p:cTn id="25" dur="500"/>
                                        <p:tgtEl>
                                          <p:spTgt spid="31"/>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dissolve">
                                      <p:cBhvr>
                                        <p:cTn id="28" dur="500"/>
                                        <p:tgtEl>
                                          <p:spTgt spid="32"/>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blinds(horizontal)">
                                      <p:cBhvr>
                                        <p:cTn id="31" dur="500"/>
                                        <p:tgtEl>
                                          <p:spTgt spid="40"/>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dissolve">
                                      <p:cBhvr>
                                        <p:cTn id="34" dur="500"/>
                                        <p:tgtEl>
                                          <p:spTgt spid="34"/>
                                        </p:tgtEl>
                                      </p:cBhvr>
                                    </p:animEffect>
                                  </p:childTnLst>
                                </p:cTn>
                              </p:par>
                              <p:par>
                                <p:cTn id="35" presetID="3" presetClass="entr" presetSubtype="1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blinds(horizontal)">
                                      <p:cBhvr>
                                        <p:cTn id="37" dur="500"/>
                                        <p:tgtEl>
                                          <p:spTgt spid="42"/>
                                        </p:tgtEl>
                                      </p:cBhvr>
                                    </p:animEffect>
                                  </p:childTnLst>
                                </p:cTn>
                              </p:par>
                              <p:par>
                                <p:cTn id="38" presetID="3" presetClass="entr" presetSubtype="10" fill="hold" nodeType="with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blinds(horizontal)">
                                      <p:cBhvr>
                                        <p:cTn id="40" dur="500"/>
                                        <p:tgtEl>
                                          <p:spTgt spid="41"/>
                                        </p:tgtEl>
                                      </p:cBhvr>
                                    </p:animEffect>
                                  </p:childTnLst>
                                </p:cTn>
                              </p:par>
                              <p:par>
                                <p:cTn id="41" presetID="9"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dissolve">
                                      <p:cBhvr>
                                        <p:cTn id="43" dur="500"/>
                                        <p:tgtEl>
                                          <p:spTgt spid="33"/>
                                        </p:tgtEl>
                                      </p:cBhvr>
                                    </p:animEffect>
                                  </p:childTnLst>
                                  <p:subTnLst>
                                    <p:set>
                                      <p:cBhvr override="childStyle">
                                        <p:cTn dur="1" fill="hold" display="0" masterRel="nextClick" afterEffect="1"/>
                                        <p:tgtEl>
                                          <p:spTgt spid="33"/>
                                        </p:tgtEl>
                                        <p:attrNameLst>
                                          <p:attrName>style.visibility</p:attrName>
                                        </p:attrNameLst>
                                      </p:cBhvr>
                                      <p:to>
                                        <p:strVal val="hidden"/>
                                      </p:to>
                                    </p:set>
                                  </p:subTnLst>
                                </p:cTn>
                              </p:par>
                            </p:childTnLst>
                          </p:cTn>
                        </p:par>
                      </p:childTnLst>
                    </p:cTn>
                  </p:par>
                  <p:par>
                    <p:cTn id="44" fill="hold">
                      <p:stCondLst>
                        <p:cond delay="indefinite"/>
                      </p:stCondLst>
                      <p:childTnLst>
                        <p:par>
                          <p:cTn id="45" fill="hold">
                            <p:stCondLst>
                              <p:cond delay="0"/>
                            </p:stCondLst>
                            <p:childTnLst>
                              <p:par>
                                <p:cTn id="46" presetID="15" presetClass="entr" presetSubtype="0" fill="hold" grpId="0" nodeType="clickEffect">
                                  <p:stCondLst>
                                    <p:cond delay="0"/>
                                  </p:stCondLst>
                                  <p:childTnLst>
                                    <p:set>
                                      <p:cBhvr>
                                        <p:cTn id="47" dur="1" fill="hold">
                                          <p:stCondLst>
                                            <p:cond delay="0"/>
                                          </p:stCondLst>
                                        </p:cTn>
                                        <p:tgtEl>
                                          <p:spTgt spid="43"/>
                                        </p:tgtEl>
                                        <p:attrNameLst>
                                          <p:attrName>style.visibility</p:attrName>
                                        </p:attrNameLst>
                                      </p:cBhvr>
                                      <p:to>
                                        <p:strVal val="visible"/>
                                      </p:to>
                                    </p:set>
                                    <p:anim calcmode="lin" valueType="num">
                                      <p:cBhvr>
                                        <p:cTn id="48" dur="1000" fill="hold"/>
                                        <p:tgtEl>
                                          <p:spTgt spid="43"/>
                                        </p:tgtEl>
                                        <p:attrNameLst>
                                          <p:attrName>ppt_w</p:attrName>
                                        </p:attrNameLst>
                                      </p:cBhvr>
                                      <p:tavLst>
                                        <p:tav tm="0">
                                          <p:val>
                                            <p:fltVal val="0"/>
                                          </p:val>
                                        </p:tav>
                                        <p:tav tm="100000">
                                          <p:val>
                                            <p:strVal val="#ppt_w"/>
                                          </p:val>
                                        </p:tav>
                                      </p:tavLst>
                                    </p:anim>
                                    <p:anim calcmode="lin" valueType="num">
                                      <p:cBhvr>
                                        <p:cTn id="49" dur="1000" fill="hold"/>
                                        <p:tgtEl>
                                          <p:spTgt spid="43"/>
                                        </p:tgtEl>
                                        <p:attrNameLst>
                                          <p:attrName>ppt_h</p:attrName>
                                        </p:attrNameLst>
                                      </p:cBhvr>
                                      <p:tavLst>
                                        <p:tav tm="0">
                                          <p:val>
                                            <p:fltVal val="0"/>
                                          </p:val>
                                        </p:tav>
                                        <p:tav tm="100000">
                                          <p:val>
                                            <p:strVal val="#ppt_h"/>
                                          </p:val>
                                        </p:tav>
                                      </p:tavLst>
                                    </p:anim>
                                    <p:anim calcmode="lin" valueType="num">
                                      <p:cBhvr>
                                        <p:cTn id="50" dur="1000" fill="hold"/>
                                        <p:tgtEl>
                                          <p:spTgt spid="43"/>
                                        </p:tgtEl>
                                        <p:attrNameLst>
                                          <p:attrName>ppt_x</p:attrName>
                                        </p:attrNameLst>
                                      </p:cBhvr>
                                      <p:tavLst>
                                        <p:tav tm="0" fmla="#ppt_x+(cos(-2*pi*(1-$))*-#ppt_x-sin(-2*pi*(1-$))*(1-#ppt_y))*(1-$)">
                                          <p:val>
                                            <p:fltVal val="0"/>
                                          </p:val>
                                        </p:tav>
                                        <p:tav tm="100000">
                                          <p:val>
                                            <p:fltVal val="1"/>
                                          </p:val>
                                        </p:tav>
                                      </p:tavLst>
                                    </p:anim>
                                    <p:anim calcmode="lin" valueType="num">
                                      <p:cBhvr>
                                        <p:cTn id="51" dur="1000" fill="hold"/>
                                        <p:tgtEl>
                                          <p:spTgt spid="43"/>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52" fill="hold">
                      <p:stCondLst>
                        <p:cond delay="indefinite"/>
                      </p:stCondLst>
                      <p:childTnLst>
                        <p:par>
                          <p:cTn id="53" fill="hold">
                            <p:stCondLst>
                              <p:cond delay="0"/>
                            </p:stCondLst>
                            <p:childTnLst>
                              <p:par>
                                <p:cTn id="54" presetID="3" presetClass="entr" presetSubtype="10" fill="hold" nodeType="click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blinds(horizontal)">
                                      <p:cBhvr>
                                        <p:cTn id="56" dur="500"/>
                                        <p:tgtEl>
                                          <p:spTgt spid="35"/>
                                        </p:tgtEl>
                                      </p:cBhvr>
                                    </p:animEffect>
                                  </p:childTnLst>
                                </p:cTn>
                              </p:par>
                              <p:par>
                                <p:cTn id="57" presetID="42" presetClass="path" presetSubtype="0" accel="50000" decel="50000" fill="hold" nodeType="withEffect">
                                  <p:stCondLst>
                                    <p:cond delay="0"/>
                                  </p:stCondLst>
                                  <p:childTnLst>
                                    <p:animMotion origin="layout" path="M -0.00122 -0.25625 L -0.00122 0.0375 " pathEditMode="relative" rAng="0" ptsTypes="AA">
                                      <p:cBhvr>
                                        <p:cTn id="58" dur="2000" fill="hold"/>
                                        <p:tgtEl>
                                          <p:spTgt spid="35"/>
                                        </p:tgtEl>
                                        <p:attrNameLst>
                                          <p:attrName>ppt_x</p:attrName>
                                          <p:attrName>ppt_y</p:attrName>
                                        </p:attrNameLst>
                                      </p:cBhvr>
                                      <p:rCtr x="0" y="14676"/>
                                    </p:animMotion>
                                  </p:childTnLst>
                                </p:cTn>
                              </p:par>
                            </p:childTnLst>
                          </p:cTn>
                        </p:par>
                      </p:childTnLst>
                    </p:cTn>
                  </p:par>
                  <p:par>
                    <p:cTn id="59" fill="hold">
                      <p:stCondLst>
                        <p:cond delay="indefinite"/>
                      </p:stCondLst>
                      <p:childTnLst>
                        <p:par>
                          <p:cTn id="60" fill="hold">
                            <p:stCondLst>
                              <p:cond delay="0"/>
                            </p:stCondLst>
                            <p:childTnLst>
                              <p:par>
                                <p:cTn id="61" presetID="3" presetClass="entr" presetSubtype="10" fill="hold" grpId="0" nodeType="click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blinds(horizontal)">
                                      <p:cBhvr>
                                        <p:cTn id="63" dur="500"/>
                                        <p:tgtEl>
                                          <p:spTgt spid="38"/>
                                        </p:tgtEl>
                                      </p:cBhvr>
                                    </p:animEffect>
                                  </p:childTnLst>
                                </p:cTn>
                              </p:par>
                              <p:par>
                                <p:cTn id="64" presetID="3" presetClass="entr" presetSubtype="1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blinds(horizontal)">
                                      <p:cBhvr>
                                        <p:cTn id="66"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8" grpId="0"/>
      <p:bldP spid="29" grpId="0"/>
      <p:bldP spid="30" grpId="0"/>
      <p:bldP spid="31" grpId="0"/>
      <p:bldP spid="32" grpId="0"/>
      <p:bldP spid="33" grpId="0"/>
      <p:bldP spid="34" grpId="0" animBg="1"/>
      <p:bldP spid="38" grpId="0" animBg="1"/>
      <p:bldP spid="39" grpId="0"/>
      <p:bldP spid="40" grpId="0" animBg="1"/>
      <p:bldP spid="42" grpId="0"/>
      <p:bldP spid="4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4-8">
            <a:extLst>
              <a:ext uri="{FF2B5EF4-FFF2-40B4-BE49-F238E27FC236}">
                <a16:creationId xmlns:a16="http://schemas.microsoft.com/office/drawing/2014/main" id="{A53BED5B-B278-724D-856E-78E7831C60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43808" y="1700808"/>
            <a:ext cx="3911203" cy="440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2D59B8F-D0A2-B848-B5D4-796EA7268270}"/>
              </a:ext>
            </a:extLst>
          </p:cNvPr>
          <p:cNvSpPr txBox="1">
            <a:spLocks noChangeArrowheads="1"/>
          </p:cNvSpPr>
          <p:nvPr/>
        </p:nvSpPr>
        <p:spPr bwMode="auto">
          <a:xfrm>
            <a:off x="1700450" y="2343746"/>
            <a:ext cx="553998" cy="19823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eaVert">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2400">
                <a:solidFill>
                  <a:srgbClr val="0000FF"/>
                </a:solidFill>
                <a:latin typeface="幼圆" pitchFamily="49" charset="-122"/>
                <a:ea typeface="幼圆" pitchFamily="49" charset="-122"/>
              </a:rPr>
              <a:t>内存分配流程</a:t>
            </a:r>
          </a:p>
        </p:txBody>
      </p:sp>
      <p:sp>
        <p:nvSpPr>
          <p:cNvPr id="6" name="Rectangle 2">
            <a:extLst>
              <a:ext uri="{FF2B5EF4-FFF2-40B4-BE49-F238E27FC236}">
                <a16:creationId xmlns:a16="http://schemas.microsoft.com/office/drawing/2014/main" id="{776B1ACE-B182-0846-A748-B47877D03757}"/>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562219932"/>
      </p:ext>
    </p:extLst>
  </p:cSld>
  <p:clrMapOvr>
    <a:masterClrMapping/>
  </p:clrMapOvr>
  <p:transition>
    <p:random/>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a:extLst>
              <a:ext uri="{FF2B5EF4-FFF2-40B4-BE49-F238E27FC236}">
                <a16:creationId xmlns:a16="http://schemas.microsoft.com/office/drawing/2014/main" id="{9FE95051-E39B-5643-8E92-A230EEEB868D}"/>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可变分区存储管理</a:t>
            </a:r>
          </a:p>
        </p:txBody>
      </p:sp>
      <p:sp>
        <p:nvSpPr>
          <p:cNvPr id="41987" name="Rectangle 3">
            <a:extLst>
              <a:ext uri="{FF2B5EF4-FFF2-40B4-BE49-F238E27FC236}">
                <a16:creationId xmlns:a16="http://schemas.microsoft.com/office/drawing/2014/main" id="{BC30682F-B80A-9D48-9133-74DFB25E05F0}"/>
              </a:ext>
            </a:extLst>
          </p:cNvPr>
          <p:cNvSpPr>
            <a:spLocks noGrp="1" noChangeArrowheads="1"/>
          </p:cNvSpPr>
          <p:nvPr>
            <p:ph type="body" idx="1"/>
          </p:nvPr>
        </p:nvSpPr>
        <p:spPr>
          <a:xfrm>
            <a:off x="500063" y="1339850"/>
            <a:ext cx="7959725" cy="2803525"/>
          </a:xfrm>
        </p:spPr>
        <p:txBody>
          <a:bodyPr/>
          <a:lstStyle/>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回收的内存区与内存中的空闲分区在位置上存在</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种关系：</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）回收的内存区与上、下两个空闲分区相邻</a:t>
            </a: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）回收的内存区只与上空闲区相邻</a:t>
            </a: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）回收的内存区只与下空闲分区相邻</a:t>
            </a: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）回收的内存区上、下都不与空闲分区相邻</a:t>
            </a:r>
          </a:p>
        </p:txBody>
      </p:sp>
      <p:pic>
        <p:nvPicPr>
          <p:cNvPr id="57348" name="Picture 4" descr="4-16">
            <a:extLst>
              <a:ext uri="{FF2B5EF4-FFF2-40B4-BE49-F238E27FC236}">
                <a16:creationId xmlns:a16="http://schemas.microsoft.com/office/drawing/2014/main" id="{3A3DA443-CE63-154A-9C96-B68A4EEF0E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6463" y="4071938"/>
            <a:ext cx="7451725" cy="242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79CCD1B2-5C0D-E649-9D71-3DAD8A53D9E3}"/>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  可变分区存储管理</a:t>
            </a:r>
            <a:endParaRPr lang="zh-CN" altLang="en-US" sz="2800" kern="0" dirty="0">
              <a:solidFill>
                <a:srgbClr val="FF0000"/>
              </a:solidFill>
              <a:latin typeface="宋体" panose="02010600030101010101" pitchFamily="2" charset="-122"/>
            </a:endParaRPr>
          </a:p>
        </p:txBody>
      </p:sp>
      <p:sp>
        <p:nvSpPr>
          <p:cNvPr id="4" name="内容占位符 2">
            <a:extLst>
              <a:ext uri="{FF2B5EF4-FFF2-40B4-BE49-F238E27FC236}">
                <a16:creationId xmlns:a16="http://schemas.microsoft.com/office/drawing/2014/main" id="{09BA6A45-E1E0-2946-84EC-0AFC0314E00C}"/>
              </a:ext>
            </a:extLst>
          </p:cNvPr>
          <p:cNvSpPr txBox="1">
            <a:spLocks/>
          </p:cNvSpPr>
          <p:nvPr/>
        </p:nvSpPr>
        <p:spPr>
          <a:xfrm>
            <a:off x="95498" y="1196974"/>
            <a:ext cx="2167087" cy="5544393"/>
          </a:xfrm>
          <a:prstGeom prst="rect">
            <a:avLst/>
          </a:prstGeom>
        </p:spPr>
        <p:txBody>
          <a:bodyPr/>
          <a:lstStyle>
            <a:lvl1pPr marL="342900" indent="-342900" algn="l" rtl="0" eaLnBrk="0" fontAlgn="base" hangingPunct="0">
              <a:spcBef>
                <a:spcPct val="20000"/>
              </a:spcBef>
              <a:spcAft>
                <a:spcPct val="0"/>
              </a:spcAft>
              <a:buFont typeface="Wingdings" pitchFamily="2" charset="2"/>
              <a:buChar char="•"/>
              <a:defRPr sz="2400" b="1">
                <a:solidFill>
                  <a:schemeClr val="tx2"/>
                </a:solidFill>
                <a:effectLst>
                  <a:outerShdw blurRad="38100" dist="38100" dir="2700000" algn="tl">
                    <a:srgbClr val="DDDDDD"/>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2pPr>
            <a:lvl3pPr marL="11430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3pPr>
            <a:lvl4pPr marL="16002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4pPr>
            <a:lvl5pPr marL="2057400" indent="-228600" algn="l" rtl="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mn-lt"/>
                <a:ea typeface="+mn-ea"/>
              </a:defRPr>
            </a:lvl5pPr>
            <a:lvl6pPr marL="25146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6pPr>
            <a:lvl7pPr marL="29718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7pPr>
            <a:lvl8pPr marL="34290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8pPr>
            <a:lvl9pPr marL="3886200" indent="-228600" algn="l" rtl="0" fontAlgn="base">
              <a:spcBef>
                <a:spcPct val="20000"/>
              </a:spcBef>
              <a:spcAft>
                <a:spcPct val="0"/>
              </a:spcAft>
              <a:buClr>
                <a:schemeClr val="tx2"/>
              </a:buClr>
              <a:buSzPct val="60000"/>
              <a:buFont typeface="Wingdings" pitchFamily="2" charset="2"/>
              <a:buChar char="n"/>
              <a:defRPr>
                <a:solidFill>
                  <a:schemeClr val="tx2"/>
                </a:solidFill>
                <a:latin typeface="+mn-lt"/>
                <a:ea typeface="+mn-ea"/>
              </a:defRPr>
            </a:lvl9pPr>
          </a:lstStyle>
          <a:p>
            <a:pPr marL="0" indent="0">
              <a:buClr>
                <a:srgbClr val="0000FF"/>
              </a:buClr>
              <a:buNone/>
            </a:pPr>
            <a:r>
              <a:rPr lang="zh-CN" altLang="en-US" sz="1800" kern="0" dirty="0">
                <a:solidFill>
                  <a:srgbClr val="0000FF"/>
                </a:solidFill>
                <a:latin typeface="SimSun" panose="02010600030101010101" pitchFamily="2" charset="-122"/>
                <a:ea typeface="SimSun" panose="02010600030101010101" pitchFamily="2" charset="-122"/>
              </a:rPr>
              <a:t>回收内存</a:t>
            </a:r>
            <a:r>
              <a:rPr lang="zh-CN" altLang="en-US" sz="1800" b="1" kern="0" dirty="0">
                <a:solidFill>
                  <a:srgbClr val="000000"/>
                </a:solidFill>
                <a:latin typeface="SimSun" panose="02010600030101010101" pitchFamily="2" charset="-122"/>
                <a:ea typeface="SimSun" panose="02010600030101010101" pitchFamily="2" charset="-122"/>
              </a:rPr>
              <a:t>当进程运行完毕释放内存时，系统根据回收区的首址，从空闲区链中找到相应的插入点：</a:t>
            </a:r>
            <a:endParaRPr lang="en-US" altLang="zh-CN" sz="1800" b="1" kern="0" dirty="0">
              <a:solidFill>
                <a:srgbClr val="000000"/>
              </a:solidFill>
              <a:latin typeface="SimSun" panose="02010600030101010101" pitchFamily="2" charset="-122"/>
              <a:ea typeface="SimSun" panose="02010600030101010101" pitchFamily="2" charset="-122"/>
            </a:endParaRPr>
          </a:p>
          <a:p>
            <a:pPr>
              <a:buClr>
                <a:srgbClr val="0000FF"/>
              </a:buClr>
              <a:buAutoNum type="arabicPeriod"/>
            </a:pPr>
            <a:r>
              <a:rPr lang="zh-CN" altLang="en-US" sz="1800" b="1" kern="0" dirty="0">
                <a:solidFill>
                  <a:srgbClr val="000000"/>
                </a:solidFill>
                <a:latin typeface="SimSun" panose="02010600030101010101" pitchFamily="2" charset="-122"/>
                <a:ea typeface="SimSun" panose="02010600030101010101" pitchFamily="2" charset="-122"/>
              </a:rPr>
              <a:t>回收区与插入点的前一个分区相邻接</a:t>
            </a:r>
            <a:endParaRPr lang="en-US" altLang="zh-CN" sz="1800" b="1" kern="0" dirty="0">
              <a:solidFill>
                <a:srgbClr val="000000"/>
              </a:solidFill>
              <a:latin typeface="SimSun" panose="02010600030101010101" pitchFamily="2" charset="-122"/>
              <a:ea typeface="SimSun" panose="02010600030101010101" pitchFamily="2" charset="-122"/>
            </a:endParaRPr>
          </a:p>
          <a:p>
            <a:pPr>
              <a:buClr>
                <a:srgbClr val="0000FF"/>
              </a:buClr>
              <a:buAutoNum type="arabicPeriod"/>
            </a:pPr>
            <a:r>
              <a:rPr lang="zh-CN" altLang="en-US" sz="1800" b="1" kern="0" dirty="0">
                <a:solidFill>
                  <a:srgbClr val="000000"/>
                </a:solidFill>
                <a:latin typeface="SimSun" panose="02010600030101010101" pitchFamily="2" charset="-122"/>
                <a:ea typeface="SimSun" panose="02010600030101010101" pitchFamily="2" charset="-122"/>
              </a:rPr>
              <a:t>回收区与插入点的后一分区相邻接</a:t>
            </a:r>
            <a:endParaRPr lang="en-US" altLang="zh-CN" sz="1800" kern="0" dirty="0">
              <a:solidFill>
                <a:srgbClr val="000000"/>
              </a:solidFill>
              <a:latin typeface="SimSun" panose="02010600030101010101" pitchFamily="2" charset="-122"/>
              <a:ea typeface="SimSun" panose="02010600030101010101" pitchFamily="2" charset="-122"/>
            </a:endParaRPr>
          </a:p>
          <a:p>
            <a:pPr>
              <a:buClr>
                <a:srgbClr val="0000FF"/>
              </a:buClr>
              <a:buAutoNum type="arabicPeriod"/>
            </a:pPr>
            <a:r>
              <a:rPr lang="zh-CN" altLang="en-US" sz="1800" b="1" kern="0" dirty="0">
                <a:solidFill>
                  <a:srgbClr val="000000"/>
                </a:solidFill>
                <a:latin typeface="SimSun" panose="02010600030101010101" pitchFamily="2" charset="-122"/>
                <a:ea typeface="SimSun" panose="02010600030101010101" pitchFamily="2" charset="-122"/>
              </a:rPr>
              <a:t>回收区同时与插入点的前、后两个分区邻接</a:t>
            </a:r>
            <a:endParaRPr lang="en-US" altLang="zh-CN" sz="1800" kern="0" dirty="0">
              <a:solidFill>
                <a:srgbClr val="000000"/>
              </a:solidFill>
              <a:latin typeface="SimSun" panose="02010600030101010101" pitchFamily="2" charset="-122"/>
              <a:ea typeface="SimSun" panose="02010600030101010101" pitchFamily="2" charset="-122"/>
            </a:endParaRPr>
          </a:p>
          <a:p>
            <a:pPr>
              <a:buClr>
                <a:srgbClr val="0000FF"/>
              </a:buClr>
              <a:buAutoNum type="arabicPeriod"/>
            </a:pPr>
            <a:r>
              <a:rPr lang="zh-CN" altLang="en-US" sz="1800" b="1" kern="0" dirty="0">
                <a:solidFill>
                  <a:srgbClr val="000000"/>
                </a:solidFill>
                <a:latin typeface="SimSun" panose="02010600030101010101" pitchFamily="2" charset="-122"/>
                <a:ea typeface="SimSun" panose="02010600030101010101" pitchFamily="2" charset="-122"/>
              </a:rPr>
              <a:t>回收区不与任何分区邻接</a:t>
            </a:r>
          </a:p>
        </p:txBody>
      </p:sp>
      <p:sp>
        <p:nvSpPr>
          <p:cNvPr id="6" name="矩形 28">
            <a:extLst>
              <a:ext uri="{FF2B5EF4-FFF2-40B4-BE49-F238E27FC236}">
                <a16:creationId xmlns:a16="http://schemas.microsoft.com/office/drawing/2014/main" id="{7F369C3D-7357-484B-A03B-77B3182F5D18}"/>
              </a:ext>
            </a:extLst>
          </p:cNvPr>
          <p:cNvSpPr>
            <a:spLocks noChangeArrowheads="1"/>
          </p:cNvSpPr>
          <p:nvPr/>
        </p:nvSpPr>
        <p:spPr bwMode="auto">
          <a:xfrm>
            <a:off x="2280443" y="1346200"/>
            <a:ext cx="6858000" cy="5143500"/>
          </a:xfrm>
          <a:prstGeom prst="rect">
            <a:avLst/>
          </a:prstGeom>
          <a:solidFill>
            <a:srgbClr val="FFFFFF"/>
          </a:solidFill>
          <a:ln w="1270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graphicFrame>
        <p:nvGraphicFramePr>
          <p:cNvPr id="7" name="Group 111">
            <a:extLst>
              <a:ext uri="{FF2B5EF4-FFF2-40B4-BE49-F238E27FC236}">
                <a16:creationId xmlns:a16="http://schemas.microsoft.com/office/drawing/2014/main" id="{3CA11A4A-02C3-FB4C-9EEE-64CA481FF97F}"/>
              </a:ext>
            </a:extLst>
          </p:cNvPr>
          <p:cNvGraphicFramePr>
            <a:graphicFrameLocks noGrp="1"/>
          </p:cNvGraphicFramePr>
          <p:nvPr>
            <p:extLst>
              <p:ext uri="{D42A27DB-BD31-4B8C-83A1-F6EECF244321}">
                <p14:modId xmlns:p14="http://schemas.microsoft.com/office/powerpoint/2010/main" val="1289411203"/>
              </p:ext>
            </p:extLst>
          </p:nvPr>
        </p:nvGraphicFramePr>
        <p:xfrm>
          <a:off x="3309143" y="2603501"/>
          <a:ext cx="1371600" cy="2171701"/>
        </p:xfrm>
        <a:graphic>
          <a:graphicData uri="http://schemas.openxmlformats.org/drawingml/2006/table">
            <a:tbl>
              <a:tblPr/>
              <a:tblGrid>
                <a:gridCol w="1371600">
                  <a:extLst>
                    <a:ext uri="{9D8B030D-6E8A-4147-A177-3AD203B41FA5}">
                      <a16:colId xmlns:a16="http://schemas.microsoft.com/office/drawing/2014/main" val="20000"/>
                    </a:ext>
                  </a:extLst>
                </a:gridCol>
              </a:tblGrid>
              <a:tr h="45601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0362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362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08447">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8" name="Group 112">
            <a:extLst>
              <a:ext uri="{FF2B5EF4-FFF2-40B4-BE49-F238E27FC236}">
                <a16:creationId xmlns:a16="http://schemas.microsoft.com/office/drawing/2014/main" id="{16013CD0-6B10-994A-9393-A401EB7CF5EE}"/>
              </a:ext>
            </a:extLst>
          </p:cNvPr>
          <p:cNvGraphicFramePr>
            <a:graphicFrameLocks noGrp="1"/>
          </p:cNvGraphicFramePr>
          <p:nvPr>
            <p:extLst>
              <p:ext uri="{D42A27DB-BD31-4B8C-83A1-F6EECF244321}">
                <p14:modId xmlns:p14="http://schemas.microsoft.com/office/powerpoint/2010/main" val="3663052904"/>
              </p:ext>
            </p:extLst>
          </p:nvPr>
        </p:nvGraphicFramePr>
        <p:xfrm>
          <a:off x="5252243" y="2603500"/>
          <a:ext cx="1257300" cy="2172998"/>
        </p:xfrm>
        <a:graphic>
          <a:graphicData uri="http://schemas.openxmlformats.org/drawingml/2006/table">
            <a:tbl>
              <a:tblPr/>
              <a:tblGrid>
                <a:gridCol w="1257300">
                  <a:extLst>
                    <a:ext uri="{9D8B030D-6E8A-4147-A177-3AD203B41FA5}">
                      <a16:colId xmlns:a16="http://schemas.microsoft.com/office/drawing/2014/main" val="20000"/>
                    </a:ext>
                  </a:extLst>
                </a:gridCol>
              </a:tblGrid>
              <a:tr h="457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5000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dirty="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9" name="Group 113">
            <a:extLst>
              <a:ext uri="{FF2B5EF4-FFF2-40B4-BE49-F238E27FC236}">
                <a16:creationId xmlns:a16="http://schemas.microsoft.com/office/drawing/2014/main" id="{AA2FB648-2CB8-5242-BBB3-C38425BF90C9}"/>
              </a:ext>
            </a:extLst>
          </p:cNvPr>
          <p:cNvGraphicFramePr>
            <a:graphicFrameLocks noGrp="1"/>
          </p:cNvGraphicFramePr>
          <p:nvPr>
            <p:extLst>
              <p:ext uri="{D42A27DB-BD31-4B8C-83A1-F6EECF244321}">
                <p14:modId xmlns:p14="http://schemas.microsoft.com/office/powerpoint/2010/main" val="1102944347"/>
              </p:ext>
            </p:extLst>
          </p:nvPr>
        </p:nvGraphicFramePr>
        <p:xfrm>
          <a:off x="7366793" y="2603500"/>
          <a:ext cx="1257300" cy="2172998"/>
        </p:xfrm>
        <a:graphic>
          <a:graphicData uri="http://schemas.openxmlformats.org/drawingml/2006/table">
            <a:tbl>
              <a:tblPr/>
              <a:tblGrid>
                <a:gridCol w="1257300">
                  <a:extLst>
                    <a:ext uri="{9D8B030D-6E8A-4147-A177-3AD203B41FA5}">
                      <a16:colId xmlns:a16="http://schemas.microsoft.com/office/drawing/2014/main" val="20000"/>
                    </a:ext>
                  </a:extLst>
                </a:gridCol>
              </a:tblGrid>
              <a:tr h="457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88613">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5000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1" lang="zh-CN" altLang="zh-CN" sz="2100" b="0" i="0" u="none" strike="noStrike" cap="none" normalizeH="0" baseline="0">
                        <a:ln>
                          <a:noFill/>
                        </a:ln>
                        <a:solidFill>
                          <a:schemeClr val="tx1"/>
                        </a:solidFill>
                        <a:effectLst/>
                        <a:latin typeface="Times New Roman" pitchFamily="18" charset="0"/>
                        <a:ea typeface="宋体" pitchFamily="2" charset="-122"/>
                      </a:endParaRPr>
                    </a:p>
                  </a:txBody>
                  <a:tcPr marL="68580" marR="68580" marT="34286" marB="34286"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 name="Text Box 90">
            <a:extLst>
              <a:ext uri="{FF2B5EF4-FFF2-40B4-BE49-F238E27FC236}">
                <a16:creationId xmlns:a16="http://schemas.microsoft.com/office/drawing/2014/main" id="{90CC911D-6E33-B34F-B077-F6F345D47D54}"/>
              </a:ext>
            </a:extLst>
          </p:cNvPr>
          <p:cNvSpPr txBox="1">
            <a:spLocks noChangeArrowheads="1"/>
          </p:cNvSpPr>
          <p:nvPr/>
        </p:nvSpPr>
        <p:spPr bwMode="auto">
          <a:xfrm>
            <a:off x="3652043" y="3117851"/>
            <a:ext cx="4572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F1</a:t>
            </a:r>
          </a:p>
        </p:txBody>
      </p:sp>
      <p:sp>
        <p:nvSpPr>
          <p:cNvPr id="11" name="Text Box 91">
            <a:extLst>
              <a:ext uri="{FF2B5EF4-FFF2-40B4-BE49-F238E27FC236}">
                <a16:creationId xmlns:a16="http://schemas.microsoft.com/office/drawing/2014/main" id="{81799B26-FC57-1F41-9E34-4DA0E0375153}"/>
              </a:ext>
            </a:extLst>
          </p:cNvPr>
          <p:cNvSpPr txBox="1">
            <a:spLocks noChangeArrowheads="1"/>
          </p:cNvSpPr>
          <p:nvPr/>
        </p:nvSpPr>
        <p:spPr bwMode="auto">
          <a:xfrm>
            <a:off x="3594893" y="3460751"/>
            <a:ext cx="1143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回收区</a:t>
            </a:r>
          </a:p>
        </p:txBody>
      </p:sp>
      <p:sp>
        <p:nvSpPr>
          <p:cNvPr id="12" name="Text Box 92">
            <a:extLst>
              <a:ext uri="{FF2B5EF4-FFF2-40B4-BE49-F238E27FC236}">
                <a16:creationId xmlns:a16="http://schemas.microsoft.com/office/drawing/2014/main" id="{58ECEE64-501A-0948-8F56-57070DC2B1CD}"/>
              </a:ext>
            </a:extLst>
          </p:cNvPr>
          <p:cNvSpPr txBox="1">
            <a:spLocks noChangeArrowheads="1"/>
          </p:cNvSpPr>
          <p:nvPr/>
        </p:nvSpPr>
        <p:spPr bwMode="auto">
          <a:xfrm>
            <a:off x="5537993" y="3460751"/>
            <a:ext cx="10858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回收区</a:t>
            </a:r>
          </a:p>
        </p:txBody>
      </p:sp>
      <p:sp>
        <p:nvSpPr>
          <p:cNvPr id="13" name="Text Box 93">
            <a:extLst>
              <a:ext uri="{FF2B5EF4-FFF2-40B4-BE49-F238E27FC236}">
                <a16:creationId xmlns:a16="http://schemas.microsoft.com/office/drawing/2014/main" id="{FA5F4E7F-458C-3F4B-AC9B-9604CDA0296C}"/>
              </a:ext>
            </a:extLst>
          </p:cNvPr>
          <p:cNvSpPr txBox="1">
            <a:spLocks noChangeArrowheads="1"/>
          </p:cNvSpPr>
          <p:nvPr/>
        </p:nvSpPr>
        <p:spPr bwMode="auto">
          <a:xfrm>
            <a:off x="7538243" y="3489326"/>
            <a:ext cx="9144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回收区</a:t>
            </a:r>
          </a:p>
        </p:txBody>
      </p:sp>
      <p:sp>
        <p:nvSpPr>
          <p:cNvPr id="14" name="Text Box 94">
            <a:extLst>
              <a:ext uri="{FF2B5EF4-FFF2-40B4-BE49-F238E27FC236}">
                <a16:creationId xmlns:a16="http://schemas.microsoft.com/office/drawing/2014/main" id="{3E3ABA88-FD38-B140-93B6-26D93D91643D}"/>
              </a:ext>
            </a:extLst>
          </p:cNvPr>
          <p:cNvSpPr txBox="1">
            <a:spLocks noChangeArrowheads="1"/>
          </p:cNvSpPr>
          <p:nvPr/>
        </p:nvSpPr>
        <p:spPr bwMode="auto">
          <a:xfrm>
            <a:off x="5537993" y="3860801"/>
            <a:ext cx="5143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F2</a:t>
            </a:r>
          </a:p>
        </p:txBody>
      </p:sp>
      <p:sp>
        <p:nvSpPr>
          <p:cNvPr id="15" name="Text Box 95">
            <a:extLst>
              <a:ext uri="{FF2B5EF4-FFF2-40B4-BE49-F238E27FC236}">
                <a16:creationId xmlns:a16="http://schemas.microsoft.com/office/drawing/2014/main" id="{4718C356-9600-CB42-BF1F-31BF7FE0E303}"/>
              </a:ext>
            </a:extLst>
          </p:cNvPr>
          <p:cNvSpPr txBox="1">
            <a:spLocks noChangeArrowheads="1"/>
          </p:cNvSpPr>
          <p:nvPr/>
        </p:nvSpPr>
        <p:spPr bwMode="auto">
          <a:xfrm>
            <a:off x="7709693" y="3060701"/>
            <a:ext cx="4572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F1</a:t>
            </a:r>
          </a:p>
        </p:txBody>
      </p:sp>
      <p:sp>
        <p:nvSpPr>
          <p:cNvPr id="16" name="Text Box 96">
            <a:extLst>
              <a:ext uri="{FF2B5EF4-FFF2-40B4-BE49-F238E27FC236}">
                <a16:creationId xmlns:a16="http://schemas.microsoft.com/office/drawing/2014/main" id="{84AFF697-0971-4D47-AA3B-2371AB96EB4B}"/>
              </a:ext>
            </a:extLst>
          </p:cNvPr>
          <p:cNvSpPr txBox="1">
            <a:spLocks noChangeArrowheads="1"/>
          </p:cNvSpPr>
          <p:nvPr/>
        </p:nvSpPr>
        <p:spPr bwMode="auto">
          <a:xfrm>
            <a:off x="7766843" y="3860801"/>
            <a:ext cx="4000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F2</a:t>
            </a:r>
          </a:p>
        </p:txBody>
      </p:sp>
      <p:sp>
        <p:nvSpPr>
          <p:cNvPr id="17" name="AutoShape 97">
            <a:extLst>
              <a:ext uri="{FF2B5EF4-FFF2-40B4-BE49-F238E27FC236}">
                <a16:creationId xmlns:a16="http://schemas.microsoft.com/office/drawing/2014/main" id="{C4C41E81-EEE2-3645-BB1E-17BDA2BE6BDF}"/>
              </a:ext>
            </a:extLst>
          </p:cNvPr>
          <p:cNvSpPr>
            <a:spLocks/>
          </p:cNvSpPr>
          <p:nvPr/>
        </p:nvSpPr>
        <p:spPr bwMode="auto">
          <a:xfrm>
            <a:off x="4680743" y="3060700"/>
            <a:ext cx="57150" cy="800100"/>
          </a:xfrm>
          <a:prstGeom prst="rightBrace">
            <a:avLst>
              <a:gd name="adj1" fmla="val 11666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solidFill>
                <a:srgbClr val="000000"/>
              </a:solidFill>
              <a:latin typeface="幼圆" pitchFamily="49" charset="-122"/>
              <a:ea typeface="幼圆" pitchFamily="49" charset="-122"/>
            </a:endParaRPr>
          </a:p>
        </p:txBody>
      </p:sp>
      <p:sp>
        <p:nvSpPr>
          <p:cNvPr id="18" name="AutoShape 98">
            <a:extLst>
              <a:ext uri="{FF2B5EF4-FFF2-40B4-BE49-F238E27FC236}">
                <a16:creationId xmlns:a16="http://schemas.microsoft.com/office/drawing/2014/main" id="{E0E1024E-FF97-4B4F-961B-5FC04BC1CFD7}"/>
              </a:ext>
            </a:extLst>
          </p:cNvPr>
          <p:cNvSpPr>
            <a:spLocks/>
          </p:cNvSpPr>
          <p:nvPr/>
        </p:nvSpPr>
        <p:spPr bwMode="auto">
          <a:xfrm>
            <a:off x="6509543" y="3403600"/>
            <a:ext cx="57150" cy="800100"/>
          </a:xfrm>
          <a:prstGeom prst="rightBrace">
            <a:avLst>
              <a:gd name="adj1" fmla="val 11666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solidFill>
                <a:srgbClr val="000000"/>
              </a:solidFill>
              <a:latin typeface="幼圆" pitchFamily="49" charset="-122"/>
              <a:ea typeface="幼圆" pitchFamily="49" charset="-122"/>
            </a:endParaRPr>
          </a:p>
        </p:txBody>
      </p:sp>
      <p:sp>
        <p:nvSpPr>
          <p:cNvPr id="19" name="AutoShape 99">
            <a:extLst>
              <a:ext uri="{FF2B5EF4-FFF2-40B4-BE49-F238E27FC236}">
                <a16:creationId xmlns:a16="http://schemas.microsoft.com/office/drawing/2014/main" id="{6F06B327-98D4-2C4F-8956-C92C8A7C64D6}"/>
              </a:ext>
            </a:extLst>
          </p:cNvPr>
          <p:cNvSpPr>
            <a:spLocks/>
          </p:cNvSpPr>
          <p:nvPr/>
        </p:nvSpPr>
        <p:spPr bwMode="auto">
          <a:xfrm>
            <a:off x="8624093" y="3060700"/>
            <a:ext cx="114300" cy="1143000"/>
          </a:xfrm>
          <a:prstGeom prst="rightBrace">
            <a:avLst>
              <a:gd name="adj1" fmla="val 83333"/>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solidFill>
                <a:srgbClr val="000000"/>
              </a:solidFill>
              <a:latin typeface="幼圆" pitchFamily="49" charset="-122"/>
              <a:ea typeface="幼圆" pitchFamily="49" charset="-122"/>
            </a:endParaRPr>
          </a:p>
        </p:txBody>
      </p:sp>
      <p:sp>
        <p:nvSpPr>
          <p:cNvPr id="20" name="AutoShape 100">
            <a:extLst>
              <a:ext uri="{FF2B5EF4-FFF2-40B4-BE49-F238E27FC236}">
                <a16:creationId xmlns:a16="http://schemas.microsoft.com/office/drawing/2014/main" id="{9A8F003B-E63C-9F4D-9676-C463F86DE1E8}"/>
              </a:ext>
            </a:extLst>
          </p:cNvPr>
          <p:cNvSpPr>
            <a:spLocks noChangeArrowheads="1"/>
          </p:cNvSpPr>
          <p:nvPr/>
        </p:nvSpPr>
        <p:spPr bwMode="auto">
          <a:xfrm>
            <a:off x="2509043" y="2149873"/>
            <a:ext cx="571500" cy="910828"/>
          </a:xfrm>
          <a:prstGeom prst="wedgeRectCallout">
            <a:avLst>
              <a:gd name="adj1" fmla="val 86250"/>
              <a:gd name="adj2" fmla="val 47472"/>
            </a:avLst>
          </a:prstGeom>
          <a:solidFill>
            <a:srgbClr val="0000FF"/>
          </a:solidFill>
          <a:ln w="9525">
            <a:solidFill>
              <a:schemeClr val="tx1"/>
            </a:solidFill>
            <a:miter lim="800000"/>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合并后首地址</a:t>
            </a:r>
          </a:p>
        </p:txBody>
      </p:sp>
      <p:sp>
        <p:nvSpPr>
          <p:cNvPr id="21" name="AutoShape 101">
            <a:extLst>
              <a:ext uri="{FF2B5EF4-FFF2-40B4-BE49-F238E27FC236}">
                <a16:creationId xmlns:a16="http://schemas.microsoft.com/office/drawing/2014/main" id="{9DF15780-304B-DA4E-B4C9-D900A340F4C8}"/>
              </a:ext>
            </a:extLst>
          </p:cNvPr>
          <p:cNvSpPr>
            <a:spLocks noChangeArrowheads="1"/>
          </p:cNvSpPr>
          <p:nvPr/>
        </p:nvSpPr>
        <p:spPr bwMode="auto">
          <a:xfrm>
            <a:off x="4452143" y="2239169"/>
            <a:ext cx="1657350" cy="285750"/>
          </a:xfrm>
          <a:prstGeom prst="wedgeRectCallout">
            <a:avLst>
              <a:gd name="adj1" fmla="val -1292"/>
              <a:gd name="adj2" fmla="val 377917"/>
            </a:avLst>
          </a:prstGeom>
          <a:solidFill>
            <a:srgbClr val="0000FF"/>
          </a:solidFill>
          <a:ln w="9525">
            <a:solidFill>
              <a:schemeClr val="tx1"/>
            </a:solidFill>
            <a:miter lim="800000"/>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a:solidFill>
                  <a:srgbClr val="FFFFFF"/>
                </a:solidFill>
                <a:latin typeface="幼圆" pitchFamily="49" charset="-122"/>
                <a:ea typeface="幼圆" pitchFamily="49" charset="-122"/>
              </a:rPr>
              <a:t>合并后首地址</a:t>
            </a:r>
          </a:p>
        </p:txBody>
      </p:sp>
      <p:sp>
        <p:nvSpPr>
          <p:cNvPr id="22" name="AutoShape 102">
            <a:extLst>
              <a:ext uri="{FF2B5EF4-FFF2-40B4-BE49-F238E27FC236}">
                <a16:creationId xmlns:a16="http://schemas.microsoft.com/office/drawing/2014/main" id="{9052E958-D639-544A-BEBF-6A54B043D175}"/>
              </a:ext>
            </a:extLst>
          </p:cNvPr>
          <p:cNvSpPr>
            <a:spLocks noChangeArrowheads="1"/>
          </p:cNvSpPr>
          <p:nvPr/>
        </p:nvSpPr>
        <p:spPr bwMode="auto">
          <a:xfrm>
            <a:off x="6623843" y="2260600"/>
            <a:ext cx="571500" cy="800100"/>
          </a:xfrm>
          <a:prstGeom prst="wedgeRectCallout">
            <a:avLst>
              <a:gd name="adj1" fmla="val 76250"/>
              <a:gd name="adj2" fmla="val 49255"/>
            </a:avLst>
          </a:prstGeom>
          <a:solidFill>
            <a:srgbClr val="0000FF"/>
          </a:solidFill>
          <a:ln w="9525">
            <a:solidFill>
              <a:schemeClr val="tx1"/>
            </a:solidFill>
            <a:miter lim="800000"/>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合并后首地址</a:t>
            </a:r>
          </a:p>
        </p:txBody>
      </p:sp>
      <p:sp>
        <p:nvSpPr>
          <p:cNvPr id="23" name="Text Box 103">
            <a:extLst>
              <a:ext uri="{FF2B5EF4-FFF2-40B4-BE49-F238E27FC236}">
                <a16:creationId xmlns:a16="http://schemas.microsoft.com/office/drawing/2014/main" id="{22480A99-A860-EB4E-83CC-2C46D6145A54}"/>
              </a:ext>
            </a:extLst>
          </p:cNvPr>
          <p:cNvSpPr txBox="1">
            <a:spLocks noChangeArrowheads="1"/>
          </p:cNvSpPr>
          <p:nvPr/>
        </p:nvSpPr>
        <p:spPr bwMode="auto">
          <a:xfrm>
            <a:off x="4737893" y="3232151"/>
            <a:ext cx="4000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合并</a:t>
            </a:r>
          </a:p>
        </p:txBody>
      </p:sp>
      <p:sp>
        <p:nvSpPr>
          <p:cNvPr id="24" name="Text Box 104">
            <a:extLst>
              <a:ext uri="{FF2B5EF4-FFF2-40B4-BE49-F238E27FC236}">
                <a16:creationId xmlns:a16="http://schemas.microsoft.com/office/drawing/2014/main" id="{E5556225-6BF8-C748-894D-031CC4452C41}"/>
              </a:ext>
            </a:extLst>
          </p:cNvPr>
          <p:cNvSpPr txBox="1">
            <a:spLocks noChangeArrowheads="1"/>
          </p:cNvSpPr>
          <p:nvPr/>
        </p:nvSpPr>
        <p:spPr bwMode="auto">
          <a:xfrm>
            <a:off x="6509543" y="3517901"/>
            <a:ext cx="4000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合并</a:t>
            </a:r>
          </a:p>
        </p:txBody>
      </p:sp>
      <p:sp>
        <p:nvSpPr>
          <p:cNvPr id="25" name="Text Box 105">
            <a:extLst>
              <a:ext uri="{FF2B5EF4-FFF2-40B4-BE49-F238E27FC236}">
                <a16:creationId xmlns:a16="http://schemas.microsoft.com/office/drawing/2014/main" id="{F4376BE8-9F30-9846-A32A-A7A754CC2C8C}"/>
              </a:ext>
            </a:extLst>
          </p:cNvPr>
          <p:cNvSpPr txBox="1">
            <a:spLocks noChangeArrowheads="1"/>
          </p:cNvSpPr>
          <p:nvPr/>
        </p:nvSpPr>
        <p:spPr bwMode="auto">
          <a:xfrm>
            <a:off x="8738393" y="3289301"/>
            <a:ext cx="4000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合并</a:t>
            </a:r>
          </a:p>
        </p:txBody>
      </p:sp>
      <p:sp>
        <p:nvSpPr>
          <p:cNvPr id="26" name="Text Box 106">
            <a:extLst>
              <a:ext uri="{FF2B5EF4-FFF2-40B4-BE49-F238E27FC236}">
                <a16:creationId xmlns:a16="http://schemas.microsoft.com/office/drawing/2014/main" id="{F893674D-CE1B-C248-9D4E-5BB6E7E61DFD}"/>
              </a:ext>
            </a:extLst>
          </p:cNvPr>
          <p:cNvSpPr txBox="1">
            <a:spLocks noChangeArrowheads="1"/>
          </p:cNvSpPr>
          <p:nvPr/>
        </p:nvSpPr>
        <p:spPr bwMode="auto">
          <a:xfrm>
            <a:off x="3594893" y="4889501"/>
            <a:ext cx="74295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a:solidFill>
                  <a:srgbClr val="000000"/>
                </a:solidFill>
                <a:latin typeface="幼圆" pitchFamily="49" charset="-122"/>
                <a:ea typeface="幼圆" pitchFamily="49" charset="-122"/>
              </a:rPr>
              <a:t>（</a:t>
            </a:r>
            <a:r>
              <a:rPr lang="en-US" altLang="zh-CN">
                <a:solidFill>
                  <a:srgbClr val="000000"/>
                </a:solidFill>
                <a:latin typeface="幼圆" pitchFamily="49" charset="-122"/>
                <a:ea typeface="幼圆" pitchFamily="49" charset="-122"/>
              </a:rPr>
              <a:t>a</a:t>
            </a:r>
            <a:r>
              <a:rPr lang="zh-CN" altLang="en-US">
                <a:solidFill>
                  <a:srgbClr val="000000"/>
                </a:solidFill>
                <a:latin typeface="幼圆" pitchFamily="49" charset="-122"/>
                <a:ea typeface="幼圆" pitchFamily="49" charset="-122"/>
              </a:rPr>
              <a:t>）</a:t>
            </a:r>
          </a:p>
        </p:txBody>
      </p:sp>
      <p:sp>
        <p:nvSpPr>
          <p:cNvPr id="27" name="Text Box 107">
            <a:extLst>
              <a:ext uri="{FF2B5EF4-FFF2-40B4-BE49-F238E27FC236}">
                <a16:creationId xmlns:a16="http://schemas.microsoft.com/office/drawing/2014/main" id="{A6CA6B7E-F3A8-1343-8807-2FE1F82AEF25}"/>
              </a:ext>
            </a:extLst>
          </p:cNvPr>
          <p:cNvSpPr txBox="1">
            <a:spLocks noChangeArrowheads="1"/>
          </p:cNvSpPr>
          <p:nvPr/>
        </p:nvSpPr>
        <p:spPr bwMode="auto">
          <a:xfrm>
            <a:off x="5709443" y="4889501"/>
            <a:ext cx="7429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(b)</a:t>
            </a:r>
          </a:p>
        </p:txBody>
      </p:sp>
      <p:sp>
        <p:nvSpPr>
          <p:cNvPr id="28" name="Text Box 108">
            <a:extLst>
              <a:ext uri="{FF2B5EF4-FFF2-40B4-BE49-F238E27FC236}">
                <a16:creationId xmlns:a16="http://schemas.microsoft.com/office/drawing/2014/main" id="{D9CF9090-7256-D342-A6E3-6C8C792B5896}"/>
              </a:ext>
            </a:extLst>
          </p:cNvPr>
          <p:cNvSpPr txBox="1">
            <a:spLocks noChangeArrowheads="1"/>
          </p:cNvSpPr>
          <p:nvPr/>
        </p:nvSpPr>
        <p:spPr bwMode="auto">
          <a:xfrm>
            <a:off x="7709693" y="4889501"/>
            <a:ext cx="5715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en-US" altLang="zh-CN">
                <a:solidFill>
                  <a:srgbClr val="000000"/>
                </a:solidFill>
                <a:latin typeface="幼圆" pitchFamily="49" charset="-122"/>
                <a:ea typeface="幼圆" pitchFamily="49" charset="-122"/>
              </a:rPr>
              <a:t>(c)</a:t>
            </a:r>
          </a:p>
        </p:txBody>
      </p:sp>
      <p:sp>
        <p:nvSpPr>
          <p:cNvPr id="29" name="Text Box 109">
            <a:extLst>
              <a:ext uri="{FF2B5EF4-FFF2-40B4-BE49-F238E27FC236}">
                <a16:creationId xmlns:a16="http://schemas.microsoft.com/office/drawing/2014/main" id="{80B8E3FD-938F-094C-8727-4AAB86FFC679}"/>
              </a:ext>
            </a:extLst>
          </p:cNvPr>
          <p:cNvSpPr txBox="1">
            <a:spLocks noChangeArrowheads="1"/>
          </p:cNvSpPr>
          <p:nvPr/>
        </p:nvSpPr>
        <p:spPr bwMode="auto">
          <a:xfrm>
            <a:off x="4280694" y="5578873"/>
            <a:ext cx="2875360"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spcBef>
                <a:spcPct val="50000"/>
              </a:spcBef>
            </a:pPr>
            <a:r>
              <a:rPr lang="zh-CN" altLang="en-US" sz="2100">
                <a:solidFill>
                  <a:srgbClr val="0000FF"/>
                </a:solidFill>
                <a:latin typeface="幼圆" pitchFamily="49" charset="-122"/>
                <a:ea typeface="幼圆" pitchFamily="49" charset="-122"/>
              </a:rPr>
              <a:t>内存回收时的情况</a:t>
            </a:r>
          </a:p>
        </p:txBody>
      </p:sp>
      <p:sp>
        <p:nvSpPr>
          <p:cNvPr id="30" name="AutoShape 110">
            <a:extLst>
              <a:ext uri="{FF2B5EF4-FFF2-40B4-BE49-F238E27FC236}">
                <a16:creationId xmlns:a16="http://schemas.microsoft.com/office/drawing/2014/main" id="{0CA345F5-82A1-E541-8875-A59F92213126}"/>
              </a:ext>
            </a:extLst>
          </p:cNvPr>
          <p:cNvSpPr>
            <a:spLocks noChangeArrowheads="1"/>
          </p:cNvSpPr>
          <p:nvPr/>
        </p:nvSpPr>
        <p:spPr bwMode="auto">
          <a:xfrm flipV="1">
            <a:off x="2509043" y="3860800"/>
            <a:ext cx="571500" cy="1396604"/>
          </a:xfrm>
          <a:prstGeom prst="wedgeRoundRectCallout">
            <a:avLst>
              <a:gd name="adj1" fmla="val 87681"/>
              <a:gd name="adj2" fmla="val 74694"/>
              <a:gd name="adj3" fmla="val 16667"/>
            </a:avLst>
          </a:prstGeom>
          <a:solidFill>
            <a:srgbClr val="CC3399"/>
          </a:solidFill>
          <a:ln w="9525">
            <a:solidFill>
              <a:schemeClr val="tx1"/>
            </a:solidFill>
            <a:miter lim="800000"/>
            <a:headEnd/>
            <a:tailEnd/>
          </a:ln>
        </p:spPr>
        <p:txBody>
          <a:bodyPr rot="10800000"/>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FFFFFF"/>
                </a:solidFill>
                <a:latin typeface="幼圆" pitchFamily="49" charset="-122"/>
                <a:ea typeface="幼圆" pitchFamily="49" charset="-122"/>
              </a:rPr>
              <a:t>回收区首地址</a:t>
            </a:r>
          </a:p>
        </p:txBody>
      </p:sp>
      <p:sp>
        <p:nvSpPr>
          <p:cNvPr id="31" name="AutoShape 115">
            <a:extLst>
              <a:ext uri="{FF2B5EF4-FFF2-40B4-BE49-F238E27FC236}">
                <a16:creationId xmlns:a16="http://schemas.microsoft.com/office/drawing/2014/main" id="{4424DC52-5BCA-0A46-893D-F9A4FA166729}"/>
              </a:ext>
            </a:extLst>
          </p:cNvPr>
          <p:cNvSpPr>
            <a:spLocks noChangeArrowheads="1"/>
          </p:cNvSpPr>
          <p:nvPr/>
        </p:nvSpPr>
        <p:spPr bwMode="auto">
          <a:xfrm>
            <a:off x="2337593" y="3175000"/>
            <a:ext cx="800100" cy="285750"/>
          </a:xfrm>
          <a:prstGeom prst="wedgeRoundRectCallout">
            <a:avLst>
              <a:gd name="adj1" fmla="val 72769"/>
              <a:gd name="adj2" fmla="val 50000"/>
              <a:gd name="adj3" fmla="val 16667"/>
            </a:avLst>
          </a:prstGeom>
          <a:solidFill>
            <a:schemeClr val="hlink"/>
          </a:solidFill>
          <a:ln w="9525">
            <a:solidFill>
              <a:schemeClr val="tx1"/>
            </a:solidFill>
            <a:miter lim="800000"/>
            <a:headEnd/>
            <a:tailEnd/>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r>
              <a:rPr lang="zh-CN" altLang="en-US" sz="1500">
                <a:solidFill>
                  <a:srgbClr val="000000"/>
                </a:solidFill>
                <a:latin typeface="幼圆" pitchFamily="49" charset="-122"/>
                <a:ea typeface="幼圆" pitchFamily="49" charset="-122"/>
              </a:rPr>
              <a:t>插入点</a:t>
            </a:r>
          </a:p>
        </p:txBody>
      </p:sp>
      <p:sp>
        <p:nvSpPr>
          <p:cNvPr id="32" name="矩形 29">
            <a:extLst>
              <a:ext uri="{FF2B5EF4-FFF2-40B4-BE49-F238E27FC236}">
                <a16:creationId xmlns:a16="http://schemas.microsoft.com/office/drawing/2014/main" id="{C4D36BE9-3026-134A-AEFC-A9A8F65CB106}"/>
              </a:ext>
            </a:extLst>
          </p:cNvPr>
          <p:cNvSpPr>
            <a:spLocks noChangeArrowheads="1"/>
          </p:cNvSpPr>
          <p:nvPr/>
        </p:nvSpPr>
        <p:spPr bwMode="auto">
          <a:xfrm>
            <a:off x="3327004" y="3060701"/>
            <a:ext cx="1339453" cy="803672"/>
          </a:xfrm>
          <a:prstGeom prst="rect">
            <a:avLst/>
          </a:prstGeom>
          <a:solidFill>
            <a:schemeClr val="accent1"/>
          </a:solidFill>
          <a:ln w="1270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33" name="矩形 30">
            <a:extLst>
              <a:ext uri="{FF2B5EF4-FFF2-40B4-BE49-F238E27FC236}">
                <a16:creationId xmlns:a16="http://schemas.microsoft.com/office/drawing/2014/main" id="{7116A72A-4C92-FC43-A6C9-5E69260043AA}"/>
              </a:ext>
            </a:extLst>
          </p:cNvPr>
          <p:cNvSpPr>
            <a:spLocks noChangeArrowheads="1"/>
          </p:cNvSpPr>
          <p:nvPr/>
        </p:nvSpPr>
        <p:spPr bwMode="auto">
          <a:xfrm>
            <a:off x="5265340" y="3435747"/>
            <a:ext cx="1232297" cy="803672"/>
          </a:xfrm>
          <a:prstGeom prst="rect">
            <a:avLst/>
          </a:prstGeom>
          <a:solidFill>
            <a:schemeClr val="accent1"/>
          </a:solidFill>
          <a:ln w="1270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
        <p:nvSpPr>
          <p:cNvPr id="34" name="矩形 31">
            <a:extLst>
              <a:ext uri="{FF2B5EF4-FFF2-40B4-BE49-F238E27FC236}">
                <a16:creationId xmlns:a16="http://schemas.microsoft.com/office/drawing/2014/main" id="{46A91F02-2243-D84D-9C65-E4246CE7C5A3}"/>
              </a:ext>
            </a:extLst>
          </p:cNvPr>
          <p:cNvSpPr>
            <a:spLocks noChangeArrowheads="1"/>
          </p:cNvSpPr>
          <p:nvPr/>
        </p:nvSpPr>
        <p:spPr bwMode="auto">
          <a:xfrm>
            <a:off x="7373938" y="3060701"/>
            <a:ext cx="1232297" cy="1178719"/>
          </a:xfrm>
          <a:prstGeom prst="rect">
            <a:avLst/>
          </a:prstGeom>
          <a:solidFill>
            <a:schemeClr val="accent1"/>
          </a:solidFill>
          <a:ln w="12700" algn="ctr">
            <a:solidFill>
              <a:schemeClr val="tx1"/>
            </a:solidFill>
            <a:round/>
            <a:headEnd type="none" w="sm" len="sm"/>
            <a:tailEnd type="none" w="sm" len="sm"/>
          </a:ln>
        </p:spPr>
        <p:txBody>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endParaRPr lang="zh-CN" altLang="en-US"/>
          </a:p>
        </p:txBody>
      </p:sp>
    </p:spTree>
    <p:extLst>
      <p:ext uri="{BB962C8B-B14F-4D97-AF65-F5344CB8AC3E}">
        <p14:creationId xmlns:p14="http://schemas.microsoft.com/office/powerpoint/2010/main" val="2296168318"/>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blinds(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blinds(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blinds(horizontal)">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blinds(horizontal)">
                                      <p:cBhvr>
                                        <p:cTn id="22" dur="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blinds(horizontal)">
                                      <p:cBhvr>
                                        <p:cTn id="27" dur="500"/>
                                        <p:tgtEl>
                                          <p:spTgt spid="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8" fill="hold" grpId="0" nodeType="clickEffect">
                                  <p:stCondLst>
                                    <p:cond delay="0"/>
                                  </p:st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fill="hold"/>
                                        <p:tgtEl>
                                          <p:spTgt spid="30"/>
                                        </p:tgtEl>
                                        <p:attrNameLst>
                                          <p:attrName>ppt_x</p:attrName>
                                        </p:attrNameLst>
                                      </p:cBhvr>
                                      <p:tavLst>
                                        <p:tav tm="0">
                                          <p:val>
                                            <p:strVal val="0-#ppt_w/2"/>
                                          </p:val>
                                        </p:tav>
                                        <p:tav tm="100000">
                                          <p:val>
                                            <p:strVal val="#ppt_x"/>
                                          </p:val>
                                        </p:tav>
                                      </p:tavLst>
                                    </p:anim>
                                    <p:anim calcmode="lin" valueType="num">
                                      <p:cBhvr additive="base">
                                        <p:cTn id="33" dur="500" fill="hold"/>
                                        <p:tgtEl>
                                          <p:spTgt spid="30"/>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30"/>
                                            </p:cond>
                                          </p:stCondLst>
                                          <p:endCondLst>
                                            <p:cond evt="onStopAudio" delay="0">
                                              <p:tgtEl>
                                                <p:sldTgt/>
                                              </p:tgtEl>
                                            </p:cond>
                                          </p:endCondLst>
                                        </p:cTn>
                                        <p:tgtEl>
                                          <p:sndTgt r:embed="rId2" name="whoosh.wav"/>
                                        </p:tgtEl>
                                      </p:cMediaNode>
                                    </p:audio>
                                  </p:subTnLst>
                                </p:cTn>
                              </p:par>
                            </p:childTnLst>
                          </p:cTn>
                        </p:par>
                      </p:childTnLst>
                    </p:cTn>
                  </p:par>
                  <p:par>
                    <p:cTn id="34" fill="hold">
                      <p:stCondLst>
                        <p:cond delay="indefinite"/>
                      </p:stCondLst>
                      <p:childTnLst>
                        <p:par>
                          <p:cTn id="35" fill="hold">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31"/>
                                        </p:tgtEl>
                                        <p:attrNameLst>
                                          <p:attrName>style.visibility</p:attrName>
                                        </p:attrNameLst>
                                      </p:cBhvr>
                                      <p:to>
                                        <p:strVal val="visible"/>
                                      </p:to>
                                    </p:set>
                                    <p:anim calcmode="lin" valueType="num">
                                      <p:cBhvr additive="base">
                                        <p:cTn id="38" dur="500" fill="hold"/>
                                        <p:tgtEl>
                                          <p:spTgt spid="31"/>
                                        </p:tgtEl>
                                        <p:attrNameLst>
                                          <p:attrName>ppt_x</p:attrName>
                                        </p:attrNameLst>
                                      </p:cBhvr>
                                      <p:tavLst>
                                        <p:tav tm="0">
                                          <p:val>
                                            <p:strVal val="0-#ppt_w/2"/>
                                          </p:val>
                                        </p:tav>
                                        <p:tav tm="100000">
                                          <p:val>
                                            <p:strVal val="#ppt_x"/>
                                          </p:val>
                                        </p:tav>
                                      </p:tavLst>
                                    </p:anim>
                                    <p:anim calcmode="lin" valueType="num">
                                      <p:cBhvr additive="base">
                                        <p:cTn id="39" dur="500" fill="hold"/>
                                        <p:tgtEl>
                                          <p:spTgt spid="31"/>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36"/>
                                            </p:cond>
                                          </p:stCondLst>
                                          <p:endCondLst>
                                            <p:cond evt="onStopAudio" delay="0">
                                              <p:tgtEl>
                                                <p:sldTgt/>
                                              </p:tgtEl>
                                            </p:cond>
                                          </p:endCondLst>
                                        </p:cTn>
                                        <p:tgtEl>
                                          <p:sndTgt r:embed="rId2" name="whoosh.wav"/>
                                        </p:tgtEl>
                                      </p:cMediaNode>
                                    </p:audio>
                                  </p:subTnLst>
                                </p:cTn>
                              </p:par>
                            </p:childTnLst>
                          </p:cTn>
                        </p:par>
                      </p:childTnLst>
                    </p:cTn>
                  </p:par>
                  <p:par>
                    <p:cTn id="40" fill="hold">
                      <p:stCondLst>
                        <p:cond delay="indefinite"/>
                      </p:stCondLst>
                      <p:childTnLst>
                        <p:par>
                          <p:cTn id="41" fill="hold">
                            <p:stCondLst>
                              <p:cond delay="0"/>
                            </p:stCondLst>
                            <p:childTnLst>
                              <p:par>
                                <p:cTn id="42" presetID="2" presetClass="entr" presetSubtype="8" fill="hold" grpId="0" nodeType="clickEffect">
                                  <p:stCondLst>
                                    <p:cond delay="0"/>
                                  </p:stCondLst>
                                  <p:childTnLst>
                                    <p:set>
                                      <p:cBhvr>
                                        <p:cTn id="43" dur="1" fill="hold">
                                          <p:stCondLst>
                                            <p:cond delay="0"/>
                                          </p:stCondLst>
                                        </p:cTn>
                                        <p:tgtEl>
                                          <p:spTgt spid="20"/>
                                        </p:tgtEl>
                                        <p:attrNameLst>
                                          <p:attrName>style.visibility</p:attrName>
                                        </p:attrNameLst>
                                      </p:cBhvr>
                                      <p:to>
                                        <p:strVal val="visible"/>
                                      </p:to>
                                    </p:set>
                                    <p:anim calcmode="lin" valueType="num">
                                      <p:cBhvr additive="base">
                                        <p:cTn id="44" dur="500" fill="hold"/>
                                        <p:tgtEl>
                                          <p:spTgt spid="20"/>
                                        </p:tgtEl>
                                        <p:attrNameLst>
                                          <p:attrName>ppt_x</p:attrName>
                                        </p:attrNameLst>
                                      </p:cBhvr>
                                      <p:tavLst>
                                        <p:tav tm="0">
                                          <p:val>
                                            <p:strVal val="0-#ppt_w/2"/>
                                          </p:val>
                                        </p:tav>
                                        <p:tav tm="100000">
                                          <p:val>
                                            <p:strVal val="#ppt_x"/>
                                          </p:val>
                                        </p:tav>
                                      </p:tavLst>
                                    </p:anim>
                                    <p:anim calcmode="lin" valueType="num">
                                      <p:cBhvr additive="base">
                                        <p:cTn id="45" dur="500" fill="hold"/>
                                        <p:tgtEl>
                                          <p:spTgt spid="20"/>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42"/>
                                            </p:cond>
                                          </p:stCondLst>
                                          <p:endCondLst>
                                            <p:cond evt="onStopAudio" delay="0">
                                              <p:tgtEl>
                                                <p:sldTgt/>
                                              </p:tgtEl>
                                            </p:cond>
                                          </p:endCondLst>
                                        </p:cTn>
                                        <p:tgtEl>
                                          <p:sndTgt r:embed="rId2" name="whoosh.wav"/>
                                        </p:tgtEl>
                                      </p:cMediaNode>
                                    </p:audio>
                                  </p:subTnLst>
                                </p:cTn>
                              </p:par>
                            </p:childTnLst>
                          </p:cTn>
                        </p:par>
                      </p:childTnLst>
                    </p:cTn>
                  </p:par>
                  <p:par>
                    <p:cTn id="46" fill="hold">
                      <p:stCondLst>
                        <p:cond delay="indefinite"/>
                      </p:stCondLst>
                      <p:childTnLst>
                        <p:par>
                          <p:cTn id="47" fill="hold">
                            <p:stCondLst>
                              <p:cond delay="0"/>
                            </p:stCondLst>
                            <p:childTnLst>
                              <p:par>
                                <p:cTn id="48" presetID="3" presetClass="entr" presetSubtype="10" fill="hold" grpId="0" nodeType="click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blinds(horizontal)">
                                      <p:cBhvr>
                                        <p:cTn id="50" dur="5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 calcmode="lin" valueType="num">
                                      <p:cBhvr additive="base">
                                        <p:cTn id="55" dur="500" fill="hold"/>
                                        <p:tgtEl>
                                          <p:spTgt spid="21"/>
                                        </p:tgtEl>
                                        <p:attrNameLst>
                                          <p:attrName>ppt_x</p:attrName>
                                        </p:attrNameLst>
                                      </p:cBhvr>
                                      <p:tavLst>
                                        <p:tav tm="0">
                                          <p:val>
                                            <p:strVal val="0-#ppt_w/2"/>
                                          </p:val>
                                        </p:tav>
                                        <p:tav tm="100000">
                                          <p:val>
                                            <p:strVal val="#ppt_x"/>
                                          </p:val>
                                        </p:tav>
                                      </p:tavLst>
                                    </p:anim>
                                    <p:anim calcmode="lin" valueType="num">
                                      <p:cBhvr additive="base">
                                        <p:cTn id="56" dur="500" fill="hold"/>
                                        <p:tgtEl>
                                          <p:spTgt spid="21"/>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3"/>
                                            </p:cond>
                                          </p:stCondLst>
                                          <p:endCondLst>
                                            <p:cond evt="onStopAudio" delay="0">
                                              <p:tgtEl>
                                                <p:sldTgt/>
                                              </p:tgtEl>
                                            </p:cond>
                                          </p:endCondLst>
                                        </p:cTn>
                                        <p:tgtEl>
                                          <p:sndTgt r:embed="rId2" name="whoosh.wav"/>
                                        </p:tgtEl>
                                      </p:cMediaNode>
                                    </p:audio>
                                  </p:subTnLst>
                                </p:cTn>
                              </p:par>
                            </p:childTnLst>
                          </p:cTn>
                        </p:par>
                      </p:childTnLst>
                    </p:cTn>
                  </p:par>
                  <p:par>
                    <p:cTn id="57" fill="hold">
                      <p:stCondLst>
                        <p:cond delay="indefinite"/>
                      </p:stCondLst>
                      <p:childTnLst>
                        <p:par>
                          <p:cTn id="58" fill="hold">
                            <p:stCondLst>
                              <p:cond delay="0"/>
                            </p:stCondLst>
                            <p:childTnLst>
                              <p:par>
                                <p:cTn id="59" presetID="3" presetClass="entr" presetSubtype="10" fill="hold" grpId="0" nodeType="clickEffect">
                                  <p:stCondLst>
                                    <p:cond delay="0"/>
                                  </p:stCondLst>
                                  <p:childTnLst>
                                    <p:set>
                                      <p:cBhvr>
                                        <p:cTn id="60" dur="1" fill="hold">
                                          <p:stCondLst>
                                            <p:cond delay="0"/>
                                          </p:stCondLst>
                                        </p:cTn>
                                        <p:tgtEl>
                                          <p:spTgt spid="33"/>
                                        </p:tgtEl>
                                        <p:attrNameLst>
                                          <p:attrName>style.visibility</p:attrName>
                                        </p:attrNameLst>
                                      </p:cBhvr>
                                      <p:to>
                                        <p:strVal val="visible"/>
                                      </p:to>
                                    </p:set>
                                    <p:animEffect transition="in" filter="blinds(horizontal)">
                                      <p:cBhvr>
                                        <p:cTn id="61" dur="500"/>
                                        <p:tgtEl>
                                          <p:spTgt spid="33"/>
                                        </p:tgtEl>
                                      </p:cBhvr>
                                    </p:animEffect>
                                  </p:childTnLst>
                                </p:cTn>
                              </p:par>
                            </p:childTnLst>
                          </p:cTn>
                        </p:par>
                      </p:childTnLst>
                    </p:cTn>
                  </p:par>
                  <p:par>
                    <p:cTn id="62" fill="hold">
                      <p:stCondLst>
                        <p:cond delay="indefinite"/>
                      </p:stCondLst>
                      <p:childTnLst>
                        <p:par>
                          <p:cTn id="63" fill="hold">
                            <p:stCondLst>
                              <p:cond delay="0"/>
                            </p:stCondLst>
                            <p:childTnLst>
                              <p:par>
                                <p:cTn id="64" presetID="2" presetClass="entr" presetSubtype="8" fill="hold" grpId="0" nodeType="clickEffect">
                                  <p:stCondLst>
                                    <p:cond delay="0"/>
                                  </p:stCondLst>
                                  <p:childTnLst>
                                    <p:set>
                                      <p:cBhvr>
                                        <p:cTn id="65" dur="1" fill="hold">
                                          <p:stCondLst>
                                            <p:cond delay="0"/>
                                          </p:stCondLst>
                                        </p:cTn>
                                        <p:tgtEl>
                                          <p:spTgt spid="22"/>
                                        </p:tgtEl>
                                        <p:attrNameLst>
                                          <p:attrName>style.visibility</p:attrName>
                                        </p:attrNameLst>
                                      </p:cBhvr>
                                      <p:to>
                                        <p:strVal val="visible"/>
                                      </p:to>
                                    </p:set>
                                    <p:anim calcmode="lin" valueType="num">
                                      <p:cBhvr additive="base">
                                        <p:cTn id="66" dur="500" fill="hold"/>
                                        <p:tgtEl>
                                          <p:spTgt spid="22"/>
                                        </p:tgtEl>
                                        <p:attrNameLst>
                                          <p:attrName>ppt_x</p:attrName>
                                        </p:attrNameLst>
                                      </p:cBhvr>
                                      <p:tavLst>
                                        <p:tav tm="0">
                                          <p:val>
                                            <p:strVal val="0-#ppt_w/2"/>
                                          </p:val>
                                        </p:tav>
                                        <p:tav tm="100000">
                                          <p:val>
                                            <p:strVal val="#ppt_x"/>
                                          </p:val>
                                        </p:tav>
                                      </p:tavLst>
                                    </p:anim>
                                    <p:anim calcmode="lin" valueType="num">
                                      <p:cBhvr additive="base">
                                        <p:cTn id="67" dur="500" fill="hold"/>
                                        <p:tgtEl>
                                          <p:spTgt spid="22"/>
                                        </p:tgtEl>
                                        <p:attrNameLst>
                                          <p:attrName>ppt_y</p:attrName>
                                        </p:attrNameLst>
                                      </p:cBhvr>
                                      <p:tavLst>
                                        <p:tav tm="0">
                                          <p:val>
                                            <p:strVal val="#ppt_y"/>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3" presetClass="entr" presetSubtype="10" fill="hold" grpId="0" nodeType="clickEffect">
                                  <p:stCondLst>
                                    <p:cond delay="0"/>
                                  </p:stCondLst>
                                  <p:childTnLst>
                                    <p:set>
                                      <p:cBhvr>
                                        <p:cTn id="71" dur="1" fill="hold">
                                          <p:stCondLst>
                                            <p:cond delay="0"/>
                                          </p:stCondLst>
                                        </p:cTn>
                                        <p:tgtEl>
                                          <p:spTgt spid="34"/>
                                        </p:tgtEl>
                                        <p:attrNameLst>
                                          <p:attrName>style.visibility</p:attrName>
                                        </p:attrNameLst>
                                      </p:cBhvr>
                                      <p:to>
                                        <p:strVal val="visible"/>
                                      </p:to>
                                    </p:set>
                                    <p:animEffect transition="in" filter="blinds(horizontal)">
                                      <p:cBhvr>
                                        <p:cTn id="7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bldLvl="3"/>
      <p:bldP spid="20" grpId="0" animBg="1" autoUpdateAnimBg="0"/>
      <p:bldP spid="21" grpId="0" animBg="1" autoUpdateAnimBg="0"/>
      <p:bldP spid="22" grpId="0" animBg="1" autoUpdateAnimBg="0"/>
      <p:bldP spid="30" grpId="0" animBg="1" autoUpdateAnimBg="0"/>
      <p:bldP spid="31" grpId="0" animBg="1" autoUpdateAnimBg="0"/>
      <p:bldP spid="32" grpId="0" animBg="1"/>
      <p:bldP spid="33" grpId="0" animBg="1"/>
      <p:bldP spid="3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4-10">
            <a:extLst>
              <a:ext uri="{FF2B5EF4-FFF2-40B4-BE49-F238E27FC236}">
                <a16:creationId xmlns:a16="http://schemas.microsoft.com/office/drawing/2014/main" id="{FA06A30C-CF7A-3D41-BB5D-CB0D96A2EE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1772816"/>
            <a:ext cx="5514975" cy="4446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3">
            <a:extLst>
              <a:ext uri="{FF2B5EF4-FFF2-40B4-BE49-F238E27FC236}">
                <a16:creationId xmlns:a16="http://schemas.microsoft.com/office/drawing/2014/main" id="{96A2C6D3-6D5D-E840-9B0A-99F1E8AD7239}"/>
              </a:ext>
            </a:extLst>
          </p:cNvPr>
          <p:cNvSpPr txBox="1">
            <a:spLocks noChangeArrowheads="1"/>
          </p:cNvSpPr>
          <p:nvPr/>
        </p:nvSpPr>
        <p:spPr bwMode="auto">
          <a:xfrm>
            <a:off x="1905795" y="2079997"/>
            <a:ext cx="18359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a:ln>
                  <a:noFill/>
                </a:ln>
                <a:solidFill>
                  <a:srgbClr val="0000FF"/>
                </a:solidFill>
                <a:effectLst/>
                <a:uLnTx/>
                <a:uFillTx/>
                <a:latin typeface="Arial Narrow" panose="020B0604020202020204" pitchFamily="34" charset="0"/>
                <a:ea typeface="宋体" panose="02010600030101010101" pitchFamily="2" charset="-122"/>
              </a:rPr>
              <a:t>内存回收流程</a:t>
            </a:r>
          </a:p>
        </p:txBody>
      </p:sp>
    </p:spTree>
    <p:extLst>
      <p:ext uri="{BB962C8B-B14F-4D97-AF65-F5344CB8AC3E}">
        <p14:creationId xmlns:p14="http://schemas.microsoft.com/office/powerpoint/2010/main" val="1574555831"/>
      </p:ext>
    </p:extLst>
  </p:cSld>
  <p:clrMapOvr>
    <a:masterClrMapping/>
  </p:clrMapOvr>
  <p:transition>
    <p:random/>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577C51D7-8BB6-244B-91F0-F21EC1E996D6}"/>
              </a:ext>
            </a:extLst>
          </p:cNvPr>
          <p:cNvSpPr>
            <a:spLocks noGrp="1" noChangeArrowheads="1"/>
          </p:cNvSpPr>
          <p:nvPr>
            <p:ph type="title"/>
          </p:nvPr>
        </p:nvSpPr>
        <p:spPr/>
        <p:txBody>
          <a:bodyPr/>
          <a:lstStyle/>
          <a:p>
            <a:pPr eaLnBrk="1" hangingPunct="1"/>
            <a:r>
              <a:rPr lang="zh-CN" altLang="en-US" sz="2800" dirty="0">
                <a:solidFill>
                  <a:schemeClr val="tx1"/>
                </a:solidFill>
                <a:latin typeface="宋体" panose="02010600030101010101" pitchFamily="2" charset="-122"/>
              </a:rPr>
              <a:t>  </a:t>
            </a:r>
            <a:r>
              <a:rPr lang="zh-CN" altLang="en-US" sz="2800" dirty="0">
                <a:solidFill>
                  <a:srgbClr val="FF0000"/>
                </a:solidFill>
                <a:latin typeface="宋体" panose="02010600030101010101" pitchFamily="2" charset="-122"/>
              </a:rPr>
              <a:t>可变分区存储管理</a:t>
            </a:r>
          </a:p>
        </p:txBody>
      </p:sp>
      <p:sp>
        <p:nvSpPr>
          <p:cNvPr id="58371" name="Rectangle 3">
            <a:extLst>
              <a:ext uri="{FF2B5EF4-FFF2-40B4-BE49-F238E27FC236}">
                <a16:creationId xmlns:a16="http://schemas.microsoft.com/office/drawing/2014/main" id="{CD170370-9F3C-A846-B462-36BA6A2F7A82}"/>
              </a:ext>
            </a:extLst>
          </p:cNvPr>
          <p:cNvSpPr>
            <a:spLocks noGrp="1" noChangeArrowheads="1"/>
          </p:cNvSpPr>
          <p:nvPr>
            <p:ph type="body" idx="1"/>
          </p:nvPr>
        </p:nvSpPr>
        <p:spPr>
          <a:xfrm>
            <a:off x="857250" y="1214438"/>
            <a:ext cx="7643813" cy="4714875"/>
          </a:xfrm>
        </p:spPr>
        <p:txBody>
          <a:bodyPr/>
          <a:lstStyle/>
          <a:p>
            <a:pPr marL="0" indent="0" eaLnBrk="1" hangingPunct="1">
              <a:lnSpc>
                <a:spcPct val="200000"/>
              </a:lnSpc>
              <a:spcBef>
                <a:spcPct val="0"/>
              </a:spcBef>
              <a:buFont typeface="Wingdings" pitchFamily="2" charset="2"/>
              <a:buNone/>
            </a:pPr>
            <a:r>
              <a:rPr lang="en-US" altLang="zh-CN" sz="2200">
                <a:solidFill>
                  <a:srgbClr val="FF0000"/>
                </a:solidFill>
                <a:effectLst/>
                <a:latin typeface="宋体" panose="02010600030101010101" pitchFamily="2" charset="-122"/>
              </a:rPr>
              <a:t>5. </a:t>
            </a:r>
            <a:r>
              <a:rPr lang="zh-CN" altLang="en-US" sz="2200">
                <a:solidFill>
                  <a:srgbClr val="FF0000"/>
                </a:solidFill>
                <a:effectLst/>
                <a:latin typeface="宋体" panose="02010600030101010101" pitchFamily="2" charset="-122"/>
              </a:rPr>
              <a:t>地址转换与存储保护</a:t>
            </a:r>
          </a:p>
          <a:p>
            <a:pPr marL="0" indent="0" eaLnBrk="1" hangingPunct="1">
              <a:lnSpc>
                <a:spcPct val="20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）地址转换</a:t>
            </a:r>
          </a:p>
          <a:p>
            <a:pPr marL="0" indent="0" algn="just" eaLnBrk="1" hangingPunct="1">
              <a:lnSpc>
                <a:spcPct val="200000"/>
              </a:lnSpc>
              <a:spcBef>
                <a:spcPct val="0"/>
              </a:spcBef>
              <a:buFont typeface="Wingdings" pitchFamily="2" charset="2"/>
              <a:buNone/>
            </a:pPr>
            <a:r>
              <a:rPr lang="zh-CN" altLang="en-US" sz="2000">
                <a:solidFill>
                  <a:schemeClr val="tx1"/>
                </a:solidFill>
                <a:effectLst/>
                <a:latin typeface="宋体" panose="02010600030101010101" pitchFamily="2" charset="-122"/>
              </a:rPr>
              <a:t>    步骤如下：</a:t>
            </a:r>
          </a:p>
          <a:p>
            <a:pPr marL="0" indent="0" eaLnBrk="1" hangingPunct="1">
              <a:lnSpc>
                <a:spcPct val="200000"/>
              </a:lnSpc>
              <a:spcBef>
                <a:spcPct val="0"/>
              </a:spcBef>
              <a:buFont typeface="Wingdings" pitchFamily="2" charset="2"/>
              <a:buNone/>
            </a:pPr>
            <a:r>
              <a:rPr lang="zh-CN" altLang="en-US" sz="2000">
                <a:solidFill>
                  <a:schemeClr val="tx1"/>
                </a:solidFill>
                <a:effectLst/>
                <a:latin typeface="宋体" panose="02010600030101010101" pitchFamily="2" charset="-122"/>
              </a:rPr>
              <a:t>① 当程序占用</a:t>
            </a:r>
            <a:r>
              <a:rPr lang="en-US" altLang="zh-CN" sz="2000">
                <a:solidFill>
                  <a:schemeClr val="tx1"/>
                </a:solidFill>
                <a:effectLst/>
                <a:latin typeface="宋体" panose="02010600030101010101" pitchFamily="2" charset="-122"/>
              </a:rPr>
              <a:t>CPU</a:t>
            </a:r>
            <a:r>
              <a:rPr lang="zh-CN" altLang="en-US" sz="2000">
                <a:solidFill>
                  <a:schemeClr val="tx1"/>
                </a:solidFill>
                <a:effectLst/>
                <a:latin typeface="宋体" panose="02010600030101010101" pitchFamily="2" charset="-122"/>
              </a:rPr>
              <a:t>时，进程调度程序就把该程序所占分区的起始地址送入基址寄存器，把程序所占分区的大小送入限长寄存器。</a:t>
            </a:r>
          </a:p>
          <a:p>
            <a:pPr marL="0" indent="0" eaLnBrk="1" hangingPunct="1">
              <a:lnSpc>
                <a:spcPct val="200000"/>
              </a:lnSpc>
              <a:spcBef>
                <a:spcPct val="0"/>
              </a:spcBef>
              <a:buFont typeface="Wingdings" pitchFamily="2" charset="2"/>
              <a:buNone/>
            </a:pPr>
            <a:r>
              <a:rPr lang="zh-CN" altLang="en-US" sz="2000">
                <a:solidFill>
                  <a:schemeClr val="tx1"/>
                </a:solidFill>
                <a:effectLst/>
                <a:latin typeface="宋体" panose="02010600030101010101" pitchFamily="2" charset="-122"/>
              </a:rPr>
              <a:t>② 程序执行过程中，每当</a:t>
            </a:r>
            <a:r>
              <a:rPr lang="en-US" altLang="zh-CN" sz="2000">
                <a:solidFill>
                  <a:schemeClr val="tx1"/>
                </a:solidFill>
                <a:effectLst/>
                <a:latin typeface="宋体" panose="02010600030101010101" pitchFamily="2" charset="-122"/>
              </a:rPr>
              <a:t>CPU</a:t>
            </a:r>
            <a:r>
              <a:rPr lang="zh-CN" altLang="en-US" sz="2000">
                <a:solidFill>
                  <a:schemeClr val="tx1"/>
                </a:solidFill>
                <a:effectLst/>
                <a:latin typeface="宋体" panose="02010600030101010101" pitchFamily="2" charset="-122"/>
              </a:rPr>
              <a:t>执行到涉及地址的指令时都要由地址转换机构把程序中的逻辑地址转换成物理地址。</a:t>
            </a:r>
          </a:p>
        </p:txBody>
      </p:sp>
    </p:spTree>
  </p:cSld>
  <p:clrMapOvr>
    <a:masterClrMapping/>
  </p:clrMapOvr>
  <p:transition>
    <p:random/>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7" descr="图片1">
            <a:extLst>
              <a:ext uri="{FF2B5EF4-FFF2-40B4-BE49-F238E27FC236}">
                <a16:creationId xmlns:a16="http://schemas.microsoft.com/office/drawing/2014/main" id="{DA27BF37-E2DC-4844-837E-A5DCA739FA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3343" y="1541636"/>
            <a:ext cx="6437313" cy="2247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8">
            <a:extLst>
              <a:ext uri="{FF2B5EF4-FFF2-40B4-BE49-F238E27FC236}">
                <a16:creationId xmlns:a16="http://schemas.microsoft.com/office/drawing/2014/main" id="{6E6BFA4D-36E5-A64D-B2B8-3265245A9626}"/>
              </a:ext>
            </a:extLst>
          </p:cNvPr>
          <p:cNvSpPr txBox="1">
            <a:spLocks noChangeArrowheads="1"/>
          </p:cNvSpPr>
          <p:nvPr/>
        </p:nvSpPr>
        <p:spPr bwMode="auto">
          <a:xfrm>
            <a:off x="2185193" y="3894311"/>
            <a:ext cx="62960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dirty="0">
                <a:solidFill>
                  <a:srgbClr val="000000"/>
                </a:solidFill>
                <a:latin typeface="Arial" panose="020B0604020202020204" pitchFamily="34" charset="0"/>
              </a:rPr>
              <a:t>图</a:t>
            </a:r>
            <a:r>
              <a:rPr lang="en-US" altLang="zh-CN" sz="1800" b="0" dirty="0">
                <a:solidFill>
                  <a:srgbClr val="000000"/>
                </a:solidFill>
                <a:latin typeface="Arial" panose="020B0604020202020204" pitchFamily="34" charset="0"/>
              </a:rPr>
              <a:t>4-6 </a:t>
            </a:r>
            <a:r>
              <a:rPr lang="zh-CN" altLang="en-US" sz="1800" b="0" dirty="0">
                <a:solidFill>
                  <a:srgbClr val="000000"/>
                </a:solidFill>
                <a:latin typeface="Arial" panose="020B0604020202020204" pitchFamily="34" charset="0"/>
              </a:rPr>
              <a:t>可变分区存储管理的地址转换和存储保护示意图</a:t>
            </a:r>
          </a:p>
        </p:txBody>
      </p:sp>
      <p:sp>
        <p:nvSpPr>
          <p:cNvPr id="7" name="Text Box 9">
            <a:extLst>
              <a:ext uri="{FF2B5EF4-FFF2-40B4-BE49-F238E27FC236}">
                <a16:creationId xmlns:a16="http://schemas.microsoft.com/office/drawing/2014/main" id="{08329D04-7B37-B043-90AD-B486B0DD5E85}"/>
              </a:ext>
            </a:extLst>
          </p:cNvPr>
          <p:cNvSpPr txBox="1">
            <a:spLocks noChangeArrowheads="1"/>
          </p:cNvSpPr>
          <p:nvPr/>
        </p:nvSpPr>
        <p:spPr bwMode="auto">
          <a:xfrm>
            <a:off x="304006" y="4653136"/>
            <a:ext cx="8535987" cy="170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lnSpc>
                <a:spcPct val="150000"/>
              </a:lnSpc>
              <a:spcBef>
                <a:spcPct val="0"/>
              </a:spcBef>
              <a:buFont typeface="Arial" panose="020B0604020202020204" pitchFamily="34" charset="0"/>
              <a:buNone/>
            </a:pPr>
            <a:r>
              <a:rPr lang="zh-CN" altLang="en-US" sz="1800" b="0">
                <a:solidFill>
                  <a:srgbClr val="000000"/>
                </a:solidFill>
                <a:latin typeface="Arial" panose="020B0604020202020204" pitchFamily="34" charset="0"/>
              </a:rPr>
              <a:t>        “基址—限长寄存器对”法</a:t>
            </a:r>
            <a:r>
              <a:rPr lang="zh-CN" altLang="en-US" sz="1800">
                <a:solidFill>
                  <a:srgbClr val="000000"/>
                </a:solidFill>
                <a:latin typeface="方正正粗黑简体" panose="02000000000000000000" pitchFamily="2" charset="-122"/>
                <a:ea typeface="方正正粗黑简体" panose="02000000000000000000" pitchFamily="2" charset="-122"/>
              </a:rPr>
              <a:t>适用于多道程序系统</a:t>
            </a:r>
            <a:r>
              <a:rPr lang="zh-CN" altLang="en-US" sz="1800" b="0">
                <a:solidFill>
                  <a:srgbClr val="000000"/>
                </a:solidFill>
                <a:latin typeface="Arial" panose="020B0604020202020204" pitchFamily="34" charset="0"/>
              </a:rPr>
              <a:t>。硬件</a:t>
            </a:r>
            <a:r>
              <a:rPr lang="zh-CN" altLang="en-US" sz="1800">
                <a:solidFill>
                  <a:srgbClr val="0000FF"/>
                </a:solidFill>
                <a:latin typeface="Arial" panose="020B0604020202020204" pitchFamily="34" charset="0"/>
              </a:rPr>
              <a:t>只需设置一对基址—限长寄存器</a:t>
            </a:r>
            <a:r>
              <a:rPr lang="zh-CN" altLang="en-US" sz="1800" b="0">
                <a:solidFill>
                  <a:srgbClr val="000000"/>
                </a:solidFill>
                <a:latin typeface="Arial" panose="020B0604020202020204" pitchFamily="34" charset="0"/>
              </a:rPr>
              <a:t>，作业相应的进程在执行中出现等待时，系统程序将基址—限长寄存器的内容随同该进程的PSW等信息保存起来，再把选中的作业的基址—限长寄存器值送入基址—限长寄存器中。      </a:t>
            </a:r>
          </a:p>
        </p:txBody>
      </p:sp>
      <p:sp>
        <p:nvSpPr>
          <p:cNvPr id="8" name="Rectangle 2">
            <a:extLst>
              <a:ext uri="{FF2B5EF4-FFF2-40B4-BE49-F238E27FC236}">
                <a16:creationId xmlns:a16="http://schemas.microsoft.com/office/drawing/2014/main" id="{5C7B968C-AB26-2E48-A6C7-D16DBBA6E058}"/>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可变分区存储管理</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2670966892"/>
      </p:ext>
    </p:extLst>
  </p:cSld>
  <p:clrMapOvr>
    <a:masterClrMapping/>
  </p:clrMapOvr>
  <p:transition>
    <p:random/>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a:extLst>
              <a:ext uri="{FF2B5EF4-FFF2-40B4-BE49-F238E27FC236}">
                <a16:creationId xmlns:a16="http://schemas.microsoft.com/office/drawing/2014/main" id="{976BFAE9-B610-3845-94EE-E1A1EAA5E400}"/>
              </a:ext>
            </a:extLst>
          </p:cNvPr>
          <p:cNvSpPr>
            <a:spLocks noGrp="1" noChangeArrowheads="1"/>
          </p:cNvSpPr>
          <p:nvPr>
            <p:ph type="title"/>
          </p:nvPr>
        </p:nvSpPr>
        <p:spPr/>
        <p:txBody>
          <a:bodyPr/>
          <a:lstStyle/>
          <a:p>
            <a:pPr eaLnBrk="1" hangingPunct="1"/>
            <a:r>
              <a:rPr lang="zh-CN" altLang="en-US" sz="2800">
                <a:solidFill>
                  <a:srgbClr val="FF0000"/>
                </a:solidFill>
                <a:latin typeface="宋体" panose="02010600030101010101" pitchFamily="2" charset="-122"/>
              </a:rPr>
              <a:t>  可变分区存储管理</a:t>
            </a:r>
          </a:p>
        </p:txBody>
      </p:sp>
      <p:sp>
        <p:nvSpPr>
          <p:cNvPr id="56323" name="Rectangle 3">
            <a:extLst>
              <a:ext uri="{FF2B5EF4-FFF2-40B4-BE49-F238E27FC236}">
                <a16:creationId xmlns:a16="http://schemas.microsoft.com/office/drawing/2014/main" id="{C0101445-7996-E145-8903-522993A93DD2}"/>
              </a:ext>
            </a:extLst>
          </p:cNvPr>
          <p:cNvSpPr>
            <a:spLocks noGrp="1" noChangeArrowheads="1"/>
          </p:cNvSpPr>
          <p:nvPr>
            <p:ph type="body" idx="1"/>
          </p:nvPr>
        </p:nvSpPr>
        <p:spPr>
          <a:xfrm>
            <a:off x="395288" y="1736725"/>
            <a:ext cx="8064500" cy="4752975"/>
          </a:xfrm>
        </p:spPr>
        <p:txBody>
          <a:bodyPr/>
          <a:lstStyle/>
          <a:p>
            <a:pPr marL="0" indent="0" eaLnBrk="1" hangingPunct="1">
              <a:lnSpc>
                <a:spcPts val="4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）存储保护</a:t>
            </a:r>
          </a:p>
          <a:p>
            <a:pPr marL="0" indent="0" algn="just">
              <a:lnSpc>
                <a:spcPts val="4500"/>
              </a:lnSpc>
              <a:buFont typeface="Wingdings" pitchFamily="2" charset="2"/>
              <a:buNone/>
            </a:pPr>
            <a:r>
              <a:rPr lang="en-US" altLang="zh-CN" sz="2000">
                <a:solidFill>
                  <a:schemeClr val="tx1"/>
                </a:solidFill>
                <a:effectLst/>
                <a:latin typeface="Times New Roman" panose="02020603050405020304" pitchFamily="18" charset="0"/>
              </a:rPr>
              <a:t>        </a:t>
            </a:r>
            <a:r>
              <a:rPr lang="zh-CN" altLang="zh-CN" sz="2000">
                <a:solidFill>
                  <a:schemeClr val="tx1"/>
                </a:solidFill>
                <a:effectLst/>
                <a:latin typeface="Times New Roman" panose="02020603050405020304" pitchFamily="18" charset="0"/>
              </a:rPr>
              <a:t>基址寄存器和限长寄存器分别记录当前运行程序在内存中所占分区的起始地址和大小。在程序执行中，当</a:t>
            </a:r>
            <a:r>
              <a:rPr lang="en-US" altLang="zh-CN" sz="2000">
                <a:solidFill>
                  <a:schemeClr val="tx1"/>
                </a:solidFill>
                <a:effectLst/>
                <a:latin typeface="Times New Roman" panose="02020603050405020304" pitchFamily="18" charset="0"/>
              </a:rPr>
              <a:t>CPU</a:t>
            </a:r>
            <a:r>
              <a:rPr lang="zh-CN" altLang="zh-CN" sz="2000">
                <a:solidFill>
                  <a:schemeClr val="tx1"/>
                </a:solidFill>
                <a:effectLst/>
                <a:latin typeface="Times New Roman" panose="02020603050405020304" pitchFamily="18" charset="0"/>
              </a:rPr>
              <a:t>执行到含有访存地址的指令时，必须核对该指令中的访存地址（逻辑地址）是否满足条件“</a:t>
            </a:r>
            <a:r>
              <a:rPr lang="en-US" altLang="zh-CN" sz="2000">
                <a:solidFill>
                  <a:schemeClr val="tx1"/>
                </a:solidFill>
                <a:effectLst/>
                <a:latin typeface="Times New Roman" panose="02020603050405020304" pitchFamily="18" charset="0"/>
              </a:rPr>
              <a:t>0</a:t>
            </a:r>
            <a:r>
              <a:rPr lang="zh-CN" altLang="zh-CN" sz="2000">
                <a:solidFill>
                  <a:schemeClr val="tx1"/>
                </a:solidFill>
                <a:effectLst/>
                <a:latin typeface="Times New Roman" panose="02020603050405020304" pitchFamily="18" charset="0"/>
              </a:rPr>
              <a:t>≤逻辑地址</a:t>
            </a:r>
            <a:r>
              <a:rPr lang="en-US" altLang="zh-CN" sz="2000">
                <a:solidFill>
                  <a:schemeClr val="tx1"/>
                </a:solidFill>
                <a:effectLst/>
                <a:latin typeface="Times New Roman" panose="02020603050405020304" pitchFamily="18" charset="0"/>
              </a:rPr>
              <a:t>&lt;</a:t>
            </a:r>
            <a:r>
              <a:rPr lang="zh-CN" altLang="zh-CN" sz="2000">
                <a:solidFill>
                  <a:schemeClr val="tx1"/>
                </a:solidFill>
                <a:effectLst/>
                <a:latin typeface="Times New Roman" panose="02020603050405020304" pitchFamily="18" charset="0"/>
              </a:rPr>
              <a:t>限长寄存器中内容（分区大小）”。若满足，则将该访存地址（逻辑地址）转换为物理地址后执行该指令；否则产生地址越界错误并停止该程序的执行。</a:t>
            </a:r>
          </a:p>
          <a:p>
            <a:pPr marL="0" indent="0" eaLnBrk="1" hangingPunct="1">
              <a:lnSpc>
                <a:spcPts val="4500"/>
              </a:lnSpc>
              <a:spcBef>
                <a:spcPct val="0"/>
              </a:spcBef>
              <a:buFont typeface="Wingdings" pitchFamily="2" charset="2"/>
              <a:buNone/>
            </a:pPr>
            <a:endParaRPr lang="zh-CN" altLang="en-US" sz="2000">
              <a:solidFill>
                <a:schemeClr val="tx1"/>
              </a:solidFill>
              <a:effectLst/>
              <a:latin typeface="宋体" panose="02010600030101010101" pitchFamily="2" charset="-122"/>
            </a:endParaRPr>
          </a:p>
        </p:txBody>
      </p:sp>
    </p:spTree>
  </p:cSld>
  <p:clrMapOvr>
    <a:masterClrMapping/>
  </p:clrMapOvr>
  <p:transition>
    <p:random/>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a:extLst>
              <a:ext uri="{FF2B5EF4-FFF2-40B4-BE49-F238E27FC236}">
                <a16:creationId xmlns:a16="http://schemas.microsoft.com/office/drawing/2014/main" id="{414795F1-B5D2-534D-965A-1831F86E5DA7}"/>
              </a:ext>
            </a:extLst>
          </p:cNvPr>
          <p:cNvSpPr>
            <a:spLocks noGrp="1" noChangeArrowheads="1"/>
          </p:cNvSpPr>
          <p:nvPr>
            <p:ph type="title"/>
          </p:nvPr>
        </p:nvSpPr>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固定分区存储管理</a:t>
            </a:r>
          </a:p>
        </p:txBody>
      </p:sp>
      <p:sp>
        <p:nvSpPr>
          <p:cNvPr id="60419" name="Rectangle 3">
            <a:extLst>
              <a:ext uri="{FF2B5EF4-FFF2-40B4-BE49-F238E27FC236}">
                <a16:creationId xmlns:a16="http://schemas.microsoft.com/office/drawing/2014/main" id="{D022947B-C86C-4F4F-B74C-6BC56AFE3B34}"/>
              </a:ext>
            </a:extLst>
          </p:cNvPr>
          <p:cNvSpPr>
            <a:spLocks noGrp="1" noChangeArrowheads="1"/>
          </p:cNvSpPr>
          <p:nvPr>
            <p:ph type="body" idx="1"/>
          </p:nvPr>
        </p:nvSpPr>
        <p:spPr>
          <a:xfrm>
            <a:off x="684213" y="1462088"/>
            <a:ext cx="7745412" cy="4752975"/>
          </a:xfrm>
        </p:spPr>
        <p:txBody>
          <a:bodyPr/>
          <a:lstStyle/>
          <a:p>
            <a:pPr marL="0" indent="0" eaLnBrk="1" hangingPunct="1">
              <a:lnSpc>
                <a:spcPct val="150000"/>
              </a:lnSpc>
              <a:spcBef>
                <a:spcPct val="0"/>
              </a:spcBef>
              <a:buFont typeface="Wingdings" pitchFamily="2" charset="2"/>
              <a:buNone/>
            </a:pPr>
            <a:r>
              <a:rPr lang="en-US" altLang="zh-CN" sz="2200" dirty="0">
                <a:solidFill>
                  <a:srgbClr val="FF0000"/>
                </a:solidFill>
                <a:effectLst/>
                <a:latin typeface="宋体" panose="02010600030101010101" pitchFamily="2" charset="-122"/>
              </a:rPr>
              <a:t>6. </a:t>
            </a:r>
            <a:r>
              <a:rPr lang="zh-CN" altLang="en-US" sz="2200" dirty="0">
                <a:solidFill>
                  <a:srgbClr val="FF0000"/>
                </a:solidFill>
                <a:effectLst/>
                <a:latin typeface="宋体" panose="02010600030101010101" pitchFamily="2" charset="-122"/>
              </a:rPr>
              <a:t>碎片问题</a:t>
            </a:r>
          </a:p>
          <a:p>
            <a:pPr marL="0" indent="0"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    在采用可变分区存储管理方式下，随着分配与回收的不断进行，内存中会出现很多离散分布且容量很小的空闲小分区，虽然这些空闲小分区的总容量能够满足程序对内存的要求，但由于一个程序需要装入到一个连续的内存分区，而这些空闲小分区单个又不能满足程序对内存大小的需求，于是这些小的空闲分区就成为内存中无法再利用的资源，称为内存碎片或零头。</a:t>
            </a:r>
          </a:p>
          <a:p>
            <a:pPr marL="0" indent="0" eaLnBrk="1" hangingPunct="1">
              <a:lnSpc>
                <a:spcPct val="150000"/>
              </a:lnSpc>
              <a:spcBef>
                <a:spcPct val="0"/>
              </a:spcBef>
              <a:buFont typeface="Wingdings" pitchFamily="2" charset="2"/>
              <a:buNone/>
            </a:pPr>
            <a:r>
              <a:rPr lang="zh-CN" altLang="en-US" sz="2000" dirty="0">
                <a:solidFill>
                  <a:schemeClr val="tx1"/>
                </a:solidFill>
                <a:effectLst/>
                <a:latin typeface="宋体" panose="02010600030101010101" pitchFamily="2" charset="-122"/>
              </a:rPr>
              <a:t>    在可变分区分配中，系统解决外部碎片的思路是通过某种方法，将内存中无法利用的小空闲分区合并在一起组成一个较大的空闲分区来满足程序的需要，这种方法被称为紧凑技术。</a:t>
            </a:r>
          </a:p>
        </p:txBody>
      </p:sp>
    </p:spTree>
  </p:cSld>
  <p:clrMapOvr>
    <a:masterClrMapping/>
  </p:clrMapOvr>
  <p:transition>
    <p:random/>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7E36D4E9-9D4D-CB46-8C27-12E03B2004D0}"/>
              </a:ext>
            </a:extLst>
          </p:cNvPr>
          <p:cNvSpPr txBox="1">
            <a:spLocks noChangeArrowheads="1"/>
          </p:cNvSpPr>
          <p:nvPr/>
        </p:nvSpPr>
        <p:spPr bwMode="auto">
          <a:xfrm>
            <a:off x="0" y="1438275"/>
            <a:ext cx="9144000" cy="5400253"/>
          </a:xfrm>
          <a:prstGeom prst="rect">
            <a:avLst/>
          </a:prstGeom>
          <a:noFill/>
          <a:ln>
            <a:noFill/>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Calibri"/>
                <a:ea typeface="宋体"/>
                <a:cs typeface="+mn-cs"/>
              </a:rPr>
              <a:t>　　</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　   可变分区相对于固定分区有了比较大的进步，它克服了固定分区中</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内部碎片</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多并导致主存利用率低的缺点，但该方法却存在</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外部碎片</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的问题。如何解决外部碎片问题在可变分区存储管理方案中就显得尤为重要，</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移动技术</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应运而生了。</a:t>
            </a:r>
          </a:p>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　　　   </a:t>
            </a:r>
            <a:r>
              <a:rPr kumimoji="0" lang="zh-CN" altLang="en-US" sz="2000" b="1" i="0" u="sng" strike="noStrike" kern="1200" cap="none" spc="0" normalizeH="0" baseline="0" noProof="0" dirty="0">
                <a:ln>
                  <a:noFill/>
                </a:ln>
                <a:solidFill>
                  <a:srgbClr val="0000FF"/>
                </a:solidFill>
                <a:effectLst/>
                <a:uLnTx/>
                <a:uFillTx/>
                <a:latin typeface="方正粗黑宋简体" panose="02000000000000000000" pitchFamily="2" charset="-122"/>
                <a:ea typeface="方正粗黑宋简体" panose="02000000000000000000" pitchFamily="2" charset="-122"/>
                <a:cs typeface="+mn-cs"/>
              </a:rPr>
              <a:t>移动技术的基本思想</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是：</a:t>
            </a:r>
            <a:r>
              <a:rPr kumimoji="0" lang="zh-CN" altLang="en-US" sz="1800" b="1" i="0" u="none" strike="noStrike" kern="1200" cap="none" spc="0" normalizeH="0" baseline="0" noProof="0" dirty="0">
                <a:ln>
                  <a:noFill/>
                </a:ln>
                <a:solidFill>
                  <a:srgbClr val="000000"/>
                </a:solidFill>
                <a:effectLst/>
                <a:uLnTx/>
                <a:uFillTx/>
                <a:latin typeface="华文新魏" panose="02010800040101010101" pitchFamily="2" charset="-122"/>
                <a:ea typeface="华文新魏" panose="02010800040101010101" pitchFamily="2" charset="-122"/>
                <a:cs typeface="+mn-cs"/>
              </a:rPr>
              <a:t>把作业所占用的已分配分区移向内存的一端，使之成为一个连续的区域，并把所有空闲区集中成一个较大的空闲区</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。通常也称这个移动的过程为</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紧缩</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。为了支持移动技术，</a:t>
            </a:r>
            <a:r>
              <a:rPr kumimoji="0" lang="zh-CN" altLang="en-US" sz="1800" b="1" i="0" u="sng" strike="noStrike" kern="1200" cap="none" spc="0" normalizeH="0" baseline="0" noProof="0" dirty="0">
                <a:ln>
                  <a:noFill/>
                </a:ln>
                <a:solidFill>
                  <a:srgbClr val="000000"/>
                </a:solidFill>
                <a:effectLst/>
                <a:uLnTx/>
                <a:uFillTx/>
                <a:latin typeface="方正小标宋_GBK" panose="03000509000000000000" pitchFamily="65" charset="-122"/>
                <a:ea typeface="方正小标宋_GBK" panose="03000509000000000000" pitchFamily="65" charset="-122"/>
                <a:cs typeface="+mn-cs"/>
              </a:rPr>
              <a:t>作业的地址转换必须采用动态重定位技术，这样作业在主存中移动时，</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只需改变重定位寄存器中的内容为移动后所在分区的起始地址。图3-7为移动技术实施过程示意图。</a:t>
            </a:r>
          </a:p>
          <a:p>
            <a:pPr marL="342900" marR="0" lvl="0" indent="-342900" algn="l" defTabSz="914400" rtl="0" eaLnBrk="1" fontAlgn="base" latinLnBrk="0" hangingPunct="1">
              <a:lnSpc>
                <a:spcPct val="150000"/>
              </a:lnSpc>
              <a:spcBef>
                <a:spcPct val="20000"/>
              </a:spcBef>
              <a:spcAft>
                <a:spcPct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　　　   移动技术虽然整理了主存空间，使本来零散的</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外部碎片</a:t>
            </a:r>
            <a:r>
              <a:rPr kumimoji="0" lang="zh-CN" altLang="en-US" sz="1800" b="1" i="0" u="none" strike="noStrike" kern="1200" cap="none" spc="0" normalizeH="0" baseline="0" noProof="0" dirty="0">
                <a:ln>
                  <a:noFill/>
                </a:ln>
                <a:solidFill>
                  <a:srgbClr val="000000"/>
                </a:solidFill>
                <a:effectLst/>
                <a:uLnTx/>
                <a:uFillTx/>
                <a:latin typeface="Arial" panose="020B0604020202020204" pitchFamily="34" charset="0"/>
                <a:ea typeface="宋体"/>
                <a:cs typeface="+mn-cs"/>
              </a:rPr>
              <a:t>”</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集中起来，但它采取的是</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以时间换取空间的策略</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，移动技术将</a:t>
            </a:r>
            <a:r>
              <a:rPr kumimoji="0" lang="zh-CN" altLang="en-US" sz="2000" b="1" i="0" u="none" strike="noStrike" kern="1200" cap="none" spc="0" normalizeH="0" baseline="0" noProof="0" dirty="0">
                <a:ln>
                  <a:noFill/>
                </a:ln>
                <a:solidFill>
                  <a:srgbClr val="FF3300"/>
                </a:solidFill>
                <a:effectLst/>
                <a:uLnTx/>
                <a:uFillTx/>
                <a:latin typeface="方正粗黑宋简体" panose="02000000000000000000" pitchFamily="2" charset="-122"/>
                <a:ea typeface="方正粗黑宋简体" panose="02000000000000000000" pitchFamily="2" charset="-122"/>
                <a:cs typeface="+mn-cs"/>
              </a:rPr>
              <a:t>大大增加系统的开销</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，所以应尽量减少移动。</a:t>
            </a:r>
            <a:r>
              <a:rPr kumimoji="0" lang="zh-CN" altLang="en-US" sz="1800" b="0" i="0" u="none" strike="noStrike" kern="1200" cap="none" spc="0" normalizeH="0" baseline="0" noProof="0" dirty="0">
                <a:ln>
                  <a:noFill/>
                </a:ln>
                <a:solidFill>
                  <a:srgbClr val="000000"/>
                </a:solidFill>
                <a:effectLst/>
                <a:uLnTx/>
                <a:uFillTx/>
                <a:latin typeface="华文行楷" panose="02010800040101010101" pitchFamily="2" charset="-122"/>
                <a:ea typeface="华文行楷" panose="02010800040101010101" pitchFamily="2" charset="-122"/>
                <a:cs typeface="+mn-cs"/>
              </a:rPr>
              <a:t>一般是当主存分区中无大分区能够满足大作业的要求，但各空闲分区容量之和却能满足时，才进行移动操作</a:t>
            </a:r>
            <a:r>
              <a:rPr kumimoji="0" lang="zh-CN" altLang="en-US" sz="1800" b="1" i="0" u="none" strike="noStrike" kern="1200" cap="none" spc="0" normalizeH="0" baseline="0" noProof="0" dirty="0">
                <a:ln>
                  <a:noFill/>
                </a:ln>
                <a:solidFill>
                  <a:srgbClr val="000000"/>
                </a:solidFill>
                <a:effectLst/>
                <a:uLnTx/>
                <a:uFillTx/>
                <a:latin typeface="Calibri"/>
                <a:ea typeface="宋体"/>
                <a:cs typeface="+mn-cs"/>
              </a:rPr>
              <a:t>。</a:t>
            </a:r>
          </a:p>
        </p:txBody>
      </p:sp>
      <p:sp>
        <p:nvSpPr>
          <p:cNvPr id="4" name="Rectangle 3">
            <a:extLst>
              <a:ext uri="{FF2B5EF4-FFF2-40B4-BE49-F238E27FC236}">
                <a16:creationId xmlns:a16="http://schemas.microsoft.com/office/drawing/2014/main" id="{90F42C61-B0D5-D246-8CF5-56ABB6391A95}"/>
              </a:ext>
            </a:extLst>
          </p:cNvPr>
          <p:cNvSpPr/>
          <p:nvPr/>
        </p:nvSpPr>
        <p:spPr>
          <a:xfrm>
            <a:off x="-33199" y="1074929"/>
            <a:ext cx="1606530" cy="481863"/>
          </a:xfrm>
          <a:prstGeom prst="rect">
            <a:avLst/>
          </a:prstGeom>
        </p:spPr>
        <p:txBody>
          <a:bodyPr wrap="none">
            <a:spAutoFit/>
          </a:bodyPr>
          <a:lstStyle/>
          <a:p>
            <a:pPr eaLnBrk="1" hangingPunct="1">
              <a:lnSpc>
                <a:spcPct val="150000"/>
              </a:lnSpc>
            </a:pPr>
            <a:r>
              <a:rPr lang="en-US" altLang="zh-CN" dirty="0">
                <a:solidFill>
                  <a:srgbClr val="FF0000"/>
                </a:solidFill>
              </a:rPr>
              <a:t>6. </a:t>
            </a:r>
            <a:r>
              <a:rPr lang="zh-CN" altLang="en-US" dirty="0">
                <a:solidFill>
                  <a:srgbClr val="FF0000"/>
                </a:solidFill>
              </a:rPr>
              <a:t>碎片问题</a:t>
            </a:r>
          </a:p>
        </p:txBody>
      </p:sp>
      <p:sp>
        <p:nvSpPr>
          <p:cNvPr id="5" name="Rectangle 2">
            <a:extLst>
              <a:ext uri="{FF2B5EF4-FFF2-40B4-BE49-F238E27FC236}">
                <a16:creationId xmlns:a16="http://schemas.microsoft.com/office/drawing/2014/main" id="{A27A787E-59DF-6E4B-8BB2-1BBC0383CEE2}"/>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p>
        </p:txBody>
      </p:sp>
    </p:spTree>
    <p:extLst>
      <p:ext uri="{BB962C8B-B14F-4D97-AF65-F5344CB8AC3E}">
        <p14:creationId xmlns:p14="http://schemas.microsoft.com/office/powerpoint/2010/main" val="267282488"/>
      </p:ext>
    </p:extLst>
  </p:cSld>
  <p:clrMapOvr>
    <a:masterClrMapping/>
  </p:clrMapOvr>
  <p:transition>
    <p:random/>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7" descr="图片1">
            <a:extLst>
              <a:ext uri="{FF2B5EF4-FFF2-40B4-BE49-F238E27FC236}">
                <a16:creationId xmlns:a16="http://schemas.microsoft.com/office/drawing/2014/main" id="{DC29BF33-C689-A54E-AD86-D758BFCED0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4069" y="1628502"/>
            <a:ext cx="4968875" cy="258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8" descr="图片1">
            <a:extLst>
              <a:ext uri="{FF2B5EF4-FFF2-40B4-BE49-F238E27FC236}">
                <a16:creationId xmlns:a16="http://schemas.microsoft.com/office/drawing/2014/main" id="{CB78503A-F63E-E54B-BC75-EDF07B2DC0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4656" y="2704827"/>
            <a:ext cx="720725"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 Box 9">
            <a:extLst>
              <a:ext uri="{FF2B5EF4-FFF2-40B4-BE49-F238E27FC236}">
                <a16:creationId xmlns:a16="http://schemas.microsoft.com/office/drawing/2014/main" id="{C8B424EF-D027-0C4F-8A7C-69EC22ED85F9}"/>
              </a:ext>
            </a:extLst>
          </p:cNvPr>
          <p:cNvSpPr txBox="1">
            <a:spLocks noChangeArrowheads="1"/>
          </p:cNvSpPr>
          <p:nvPr/>
        </p:nvSpPr>
        <p:spPr bwMode="auto">
          <a:xfrm>
            <a:off x="3694906" y="4387577"/>
            <a:ext cx="313213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 typeface="Arial" panose="020B0604020202020204" pitchFamily="34" charset="0"/>
              <a:buNone/>
            </a:pPr>
            <a:r>
              <a:rPr lang="zh-CN" altLang="en-US" sz="1800" b="0" dirty="0">
                <a:solidFill>
                  <a:srgbClr val="000000"/>
                </a:solidFill>
                <a:latin typeface="Arial" panose="020B0604020202020204" pitchFamily="34" charset="0"/>
              </a:rPr>
              <a:t>图</a:t>
            </a:r>
            <a:r>
              <a:rPr lang="en-US" altLang="zh-CN" sz="1800" b="0" dirty="0">
                <a:solidFill>
                  <a:srgbClr val="000000"/>
                </a:solidFill>
                <a:latin typeface="Arial" panose="020B0604020202020204" pitchFamily="34" charset="0"/>
              </a:rPr>
              <a:t>4-5 </a:t>
            </a:r>
            <a:r>
              <a:rPr lang="zh-CN" altLang="en-US" sz="1800" b="0" dirty="0">
                <a:solidFill>
                  <a:srgbClr val="000000"/>
                </a:solidFill>
                <a:latin typeface="Arial" panose="020B0604020202020204" pitchFamily="34" charset="0"/>
              </a:rPr>
              <a:t>移动技术示意图</a:t>
            </a:r>
          </a:p>
        </p:txBody>
      </p:sp>
      <p:sp>
        <p:nvSpPr>
          <p:cNvPr id="9" name="Text Box 10">
            <a:extLst>
              <a:ext uri="{FF2B5EF4-FFF2-40B4-BE49-F238E27FC236}">
                <a16:creationId xmlns:a16="http://schemas.microsoft.com/office/drawing/2014/main" id="{DE0A736E-030C-AC49-824E-AA467748FB6F}"/>
              </a:ext>
            </a:extLst>
          </p:cNvPr>
          <p:cNvSpPr txBox="1">
            <a:spLocks noChangeArrowheads="1"/>
          </p:cNvSpPr>
          <p:nvPr/>
        </p:nvSpPr>
        <p:spPr bwMode="auto">
          <a:xfrm>
            <a:off x="264319" y="4797152"/>
            <a:ext cx="8615362" cy="1330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lnSpc>
                <a:spcPct val="150000"/>
              </a:lnSpc>
              <a:spcBef>
                <a:spcPct val="0"/>
              </a:spcBef>
              <a:buFont typeface="Arial" panose="020B0604020202020204" pitchFamily="34" charset="0"/>
              <a:buNone/>
            </a:pPr>
            <a:r>
              <a:rPr lang="zh-CN" altLang="en-US" sz="1800" dirty="0">
                <a:solidFill>
                  <a:srgbClr val="000000"/>
                </a:solidFill>
                <a:latin typeface="Arial" panose="020B0604020202020204" pitchFamily="34" charset="0"/>
              </a:rPr>
              <a:t>       </a:t>
            </a:r>
            <a:r>
              <a:rPr lang="zh-CN" altLang="en-US" sz="2000" dirty="0">
                <a:solidFill>
                  <a:srgbClr val="0000FF"/>
                </a:solidFill>
                <a:latin typeface="黑体" panose="02010609060101010101" pitchFamily="49" charset="-122"/>
                <a:ea typeface="黑体" panose="02010609060101010101" pitchFamily="49" charset="-122"/>
              </a:rPr>
              <a:t>移动技术支持动态扩充主存技术</a:t>
            </a:r>
            <a:r>
              <a:rPr lang="zh-CN" altLang="en-US" sz="1800" dirty="0">
                <a:solidFill>
                  <a:srgbClr val="000000"/>
                </a:solidFill>
                <a:latin typeface="Arial" panose="020B0604020202020204" pitchFamily="34" charset="0"/>
              </a:rPr>
              <a:t>。当一道作业在执行过程中要求增加占用主存空间时，可以移动邻近作业，将邻近的空闲区集中并成为该作业相邻的空闲区，从而达到扩大作业占用连续主存空间的效果。</a:t>
            </a:r>
          </a:p>
        </p:txBody>
      </p:sp>
      <p:sp>
        <p:nvSpPr>
          <p:cNvPr id="10" name="Rectangle 2">
            <a:extLst>
              <a:ext uri="{FF2B5EF4-FFF2-40B4-BE49-F238E27FC236}">
                <a16:creationId xmlns:a16="http://schemas.microsoft.com/office/drawing/2014/main" id="{A47A3CCB-2A20-114B-A779-A2D2F4834BD5}"/>
              </a:ext>
            </a:extLst>
          </p:cNvPr>
          <p:cNvSpPr txBox="1">
            <a:spLocks noChangeArrowheads="1"/>
          </p:cNvSpPr>
          <p:nvPr/>
        </p:nvSpPr>
        <p:spPr>
          <a:xfrm>
            <a:off x="179388" y="368300"/>
            <a:ext cx="6480175" cy="828675"/>
          </a:xfrm>
          <a:prstGeom prst="rect">
            <a:avLst/>
          </a:prstGeom>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chemeClr val="tx1"/>
                </a:solidFill>
                <a:latin typeface="宋体" panose="02010600030101010101" pitchFamily="2" charset="-122"/>
              </a:rPr>
              <a:t>  </a:t>
            </a:r>
            <a:r>
              <a:rPr lang="zh-CN" altLang="en-US" sz="2800" kern="0">
                <a:solidFill>
                  <a:srgbClr val="FF0000"/>
                </a:solidFill>
                <a:latin typeface="宋体" panose="02010600030101010101" pitchFamily="2" charset="-122"/>
              </a:rPr>
              <a:t>固定分区存储管理</a:t>
            </a:r>
          </a:p>
        </p:txBody>
      </p:sp>
    </p:spTree>
    <p:extLst>
      <p:ext uri="{BB962C8B-B14F-4D97-AF65-F5344CB8AC3E}">
        <p14:creationId xmlns:p14="http://schemas.microsoft.com/office/powerpoint/2010/main" val="1042088540"/>
      </p:ext>
    </p:extLst>
  </p:cSld>
  <p:clrMapOvr>
    <a:masterClrMapping/>
  </p:clrMapOvr>
  <p:transition>
    <p:random/>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ECE3503E-9287-564B-9836-79C4E7CBE7BD}"/>
              </a:ext>
            </a:extLst>
          </p:cNvPr>
          <p:cNvSpPr>
            <a:spLocks noGrp="1" noChangeArrowheads="1"/>
          </p:cNvSpPr>
          <p:nvPr>
            <p:ph type="body" idx="1"/>
          </p:nvPr>
        </p:nvSpPr>
        <p:spPr>
          <a:xfrm>
            <a:off x="0" y="1285876"/>
            <a:ext cx="9252520" cy="2927392"/>
          </a:xfrm>
        </p:spPr>
        <p:txBody>
          <a:bodyPr/>
          <a:lstStyle/>
          <a:p>
            <a:pPr>
              <a:buFont typeface="Wingdings" pitchFamily="2" charset="2"/>
              <a:buNone/>
            </a:pPr>
            <a:r>
              <a:rPr lang="en-US" altLang="zh-CN" dirty="0">
                <a:solidFill>
                  <a:srgbClr val="FF0000"/>
                </a:solidFill>
                <a:effectLst>
                  <a:outerShdw blurRad="38100" dist="38100" dir="2700000" algn="tl">
                    <a:srgbClr val="FFFFFF"/>
                  </a:outerShdw>
                </a:effectLst>
              </a:rPr>
              <a:t>4.3.4  </a:t>
            </a:r>
            <a:r>
              <a:rPr lang="zh-CN" altLang="en-US" dirty="0">
                <a:solidFill>
                  <a:srgbClr val="FF0000"/>
                </a:solidFill>
                <a:effectLst>
                  <a:outerShdw blurRad="38100" dist="38100" dir="2700000" algn="tl">
                    <a:srgbClr val="FFFFFF"/>
                  </a:outerShdw>
                </a:effectLst>
              </a:rPr>
              <a:t>覆盖与交换技术</a:t>
            </a:r>
          </a:p>
          <a:p>
            <a:pPr marL="457200" indent="-457200" eaLnBrk="1" hangingPunct="1">
              <a:spcBef>
                <a:spcPct val="0"/>
              </a:spcBef>
              <a:buFont typeface="Wingdings" pitchFamily="2" charset="2"/>
              <a:buAutoNum type="arabicPeriod"/>
            </a:pPr>
            <a:r>
              <a:rPr lang="zh-CN" altLang="en-US" sz="2000" dirty="0">
                <a:solidFill>
                  <a:srgbClr val="FF0000"/>
                </a:solidFill>
                <a:effectLst/>
                <a:latin typeface="宋体" panose="02010600030101010101" pitchFamily="2" charset="-122"/>
              </a:rPr>
              <a:t>覆盖技术</a:t>
            </a:r>
            <a:endParaRPr lang="en-US" altLang="zh-CN" sz="2000" dirty="0">
              <a:solidFill>
                <a:srgbClr val="FF0000"/>
              </a:solidFill>
              <a:effectLst/>
              <a:latin typeface="宋体" panose="02010600030101010101" pitchFamily="2" charset="-122"/>
            </a:endParaRPr>
          </a:p>
          <a:p>
            <a:pPr marL="0" indent="0" eaLnBrk="1" hangingPunct="1">
              <a:spcBef>
                <a:spcPct val="0"/>
              </a:spcBef>
              <a:buNone/>
            </a:pPr>
            <a:r>
              <a:rPr lang="zh-CN" altLang="en-US" sz="1800" dirty="0">
                <a:solidFill>
                  <a:schemeClr val="tx1"/>
                </a:solidFill>
                <a:effectLst/>
                <a:latin typeface="宋体" panose="02010600030101010101" pitchFamily="2" charset="-122"/>
              </a:rPr>
              <a:t>单</a:t>
            </a:r>
            <a:r>
              <a:rPr lang="en-US" altLang="zh-CN" sz="1800" dirty="0">
                <a:solidFill>
                  <a:schemeClr val="tx1"/>
                </a:solidFill>
                <a:effectLst/>
                <a:latin typeface="宋体" panose="02010600030101010101" pitchFamily="2" charset="-122"/>
              </a:rPr>
              <a:t>CPU</a:t>
            </a:r>
            <a:r>
              <a:rPr lang="zh-CN" altLang="en-US" sz="1800" dirty="0">
                <a:solidFill>
                  <a:schemeClr val="tx1"/>
                </a:solidFill>
                <a:effectLst/>
                <a:latin typeface="宋体" panose="02010600030101010101" pitchFamily="2" charset="-122"/>
              </a:rPr>
              <a:t>系统中的任一时刻只能执行一条指令，而一个用户程序通常由若干个在功能上相互独立的程序段组成。在用户程序运行的某一时刻，这些相互独立的程序段不可能同时运行，因此可以采用覆盖（</a:t>
            </a:r>
            <a:r>
              <a:rPr lang="en-US" altLang="zh-CN" sz="1800" dirty="0">
                <a:solidFill>
                  <a:schemeClr val="tx1"/>
                </a:solidFill>
                <a:effectLst/>
                <a:latin typeface="宋体" panose="02010600030101010101" pitchFamily="2" charset="-122"/>
              </a:rPr>
              <a:t>Overlay</a:t>
            </a:r>
            <a:r>
              <a:rPr lang="zh-CN" altLang="en-US" sz="1800" dirty="0">
                <a:solidFill>
                  <a:schemeClr val="tx1"/>
                </a:solidFill>
                <a:effectLst/>
                <a:latin typeface="宋体" panose="02010600030101010101" pitchFamily="2" charset="-122"/>
              </a:rPr>
              <a:t>）技术按程序自身的逻辑结构让那些不会同时执行的程序段共享同一块内存区域；即这些程序段先保存在外存上，仅将最初执行的一部分程序（程序段）装入内存，当程序前一部分程序段执行结束时，再把后一部分要执行的程序段陆续调入内存去覆盖前一部分已执行结束的程序段。</a:t>
            </a:r>
          </a:p>
          <a:p>
            <a:pPr marL="14288" indent="-14288" eaLnBrk="1" hangingPunct="1">
              <a:spcBef>
                <a:spcPct val="0"/>
              </a:spcBef>
              <a:buFont typeface="Wingdings" pitchFamily="2" charset="2"/>
              <a:buNone/>
            </a:pPr>
            <a:r>
              <a:rPr lang="zh-CN" altLang="en-US" sz="1800" dirty="0">
                <a:solidFill>
                  <a:schemeClr val="tx1"/>
                </a:solidFill>
                <a:effectLst/>
                <a:latin typeface="宋体" panose="02010600030101010101" pitchFamily="2" charset="-122"/>
              </a:rPr>
              <a:t>用户要根据程序的逻辑结构将一个程序划分为不同的程序段，并事先规定好内存的覆盖区及程序的执行顺序和覆盖顺序，否则就会导致程序段的覆盖次序与执行次序之间发生冲突。</a:t>
            </a:r>
          </a:p>
        </p:txBody>
      </p:sp>
      <p:sp>
        <p:nvSpPr>
          <p:cNvPr id="72707" name="AutoShape 3">
            <a:extLst>
              <a:ext uri="{FF2B5EF4-FFF2-40B4-BE49-F238E27FC236}">
                <a16:creationId xmlns:a16="http://schemas.microsoft.com/office/drawing/2014/main" id="{DF706B02-2014-5542-9F75-CF3A9F826580}"/>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4.3 分区式存储管理</a:t>
            </a:r>
          </a:p>
        </p:txBody>
      </p:sp>
      <p:grpSp>
        <p:nvGrpSpPr>
          <p:cNvPr id="22" name="组合 1">
            <a:extLst>
              <a:ext uri="{FF2B5EF4-FFF2-40B4-BE49-F238E27FC236}">
                <a16:creationId xmlns:a16="http://schemas.microsoft.com/office/drawing/2014/main" id="{F3AD9271-C18D-B742-A81D-A88FF32CB74C}"/>
              </a:ext>
            </a:extLst>
          </p:cNvPr>
          <p:cNvGrpSpPr/>
          <p:nvPr/>
        </p:nvGrpSpPr>
        <p:grpSpPr>
          <a:xfrm>
            <a:off x="-15360" y="4970854"/>
            <a:ext cx="823079" cy="1026133"/>
            <a:chOff x="737171" y="5636574"/>
            <a:chExt cx="1266290" cy="554804"/>
          </a:xfrm>
        </p:grpSpPr>
        <p:sp>
          <p:nvSpPr>
            <p:cNvPr id="23" name="圆角矩形 3">
              <a:extLst>
                <a:ext uri="{FF2B5EF4-FFF2-40B4-BE49-F238E27FC236}">
                  <a16:creationId xmlns:a16="http://schemas.microsoft.com/office/drawing/2014/main" id="{31F59886-6F25-2A40-A0D2-98768AAF768D}"/>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4" name="文本框 4">
              <a:extLst>
                <a:ext uri="{FF2B5EF4-FFF2-40B4-BE49-F238E27FC236}">
                  <a16:creationId xmlns:a16="http://schemas.microsoft.com/office/drawing/2014/main" id="{212A083C-11F3-AA4F-8E21-723555EB0EAE}"/>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覆盖技术</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25" name="组合 5">
            <a:extLst>
              <a:ext uri="{FF2B5EF4-FFF2-40B4-BE49-F238E27FC236}">
                <a16:creationId xmlns:a16="http://schemas.microsoft.com/office/drawing/2014/main" id="{98BAEA5B-13F2-1040-B1BC-F0D61EF3C323}"/>
              </a:ext>
            </a:extLst>
          </p:cNvPr>
          <p:cNvGrpSpPr/>
          <p:nvPr/>
        </p:nvGrpSpPr>
        <p:grpSpPr>
          <a:xfrm>
            <a:off x="956868" y="4268243"/>
            <a:ext cx="950836" cy="554804"/>
            <a:chOff x="737171" y="5636574"/>
            <a:chExt cx="1266290" cy="554804"/>
          </a:xfrm>
        </p:grpSpPr>
        <p:sp>
          <p:nvSpPr>
            <p:cNvPr id="26" name="圆角矩形 6">
              <a:extLst>
                <a:ext uri="{FF2B5EF4-FFF2-40B4-BE49-F238E27FC236}">
                  <a16:creationId xmlns:a16="http://schemas.microsoft.com/office/drawing/2014/main" id="{388E2F74-5904-224E-AA7E-7920C0DCDEA0}"/>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27" name="文本框 8">
              <a:extLst>
                <a:ext uri="{FF2B5EF4-FFF2-40B4-BE49-F238E27FC236}">
                  <a16:creationId xmlns:a16="http://schemas.microsoft.com/office/drawing/2014/main" id="{CA56C3DC-F15A-7F48-8311-A096548F64FD}"/>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10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定义</a:t>
              </a:r>
              <a:endPar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p:txBody>
        </p:sp>
      </p:grpSp>
      <p:grpSp>
        <p:nvGrpSpPr>
          <p:cNvPr id="28" name="组合 9">
            <a:extLst>
              <a:ext uri="{FF2B5EF4-FFF2-40B4-BE49-F238E27FC236}">
                <a16:creationId xmlns:a16="http://schemas.microsoft.com/office/drawing/2014/main" id="{18200742-B8D8-3D41-B5BF-8F391938F90D}"/>
              </a:ext>
            </a:extLst>
          </p:cNvPr>
          <p:cNvGrpSpPr/>
          <p:nvPr/>
        </p:nvGrpSpPr>
        <p:grpSpPr>
          <a:xfrm>
            <a:off x="971600" y="5025225"/>
            <a:ext cx="950836" cy="920410"/>
            <a:chOff x="737171" y="5636574"/>
            <a:chExt cx="1266290" cy="554804"/>
          </a:xfrm>
        </p:grpSpPr>
        <p:sp>
          <p:nvSpPr>
            <p:cNvPr id="29" name="圆角矩形 10">
              <a:extLst>
                <a:ext uri="{FF2B5EF4-FFF2-40B4-BE49-F238E27FC236}">
                  <a16:creationId xmlns:a16="http://schemas.microsoft.com/office/drawing/2014/main" id="{DBBD8F64-557C-3A43-922F-D3DC3E9F8FAD}"/>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0" name="文本框 11">
              <a:extLst>
                <a:ext uri="{FF2B5EF4-FFF2-40B4-BE49-F238E27FC236}">
                  <a16:creationId xmlns:a16="http://schemas.microsoft.com/office/drawing/2014/main" id="{B412F94A-4C8D-BC4B-B009-6F9DF40CF3A0}"/>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实现</a:t>
              </a:r>
              <a:endParaRPr kumimoji="0" lang="en-US" altLang="zh-CN"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方式</a:t>
              </a:r>
            </a:p>
          </p:txBody>
        </p:sp>
      </p:grpSp>
      <p:grpSp>
        <p:nvGrpSpPr>
          <p:cNvPr id="31" name="组合 12">
            <a:extLst>
              <a:ext uri="{FF2B5EF4-FFF2-40B4-BE49-F238E27FC236}">
                <a16:creationId xmlns:a16="http://schemas.microsoft.com/office/drawing/2014/main" id="{66D5CE68-2214-9145-9A19-2D7FFFA450B7}"/>
              </a:ext>
            </a:extLst>
          </p:cNvPr>
          <p:cNvGrpSpPr/>
          <p:nvPr/>
        </p:nvGrpSpPr>
        <p:grpSpPr>
          <a:xfrm>
            <a:off x="971600" y="6219536"/>
            <a:ext cx="950836" cy="554804"/>
            <a:chOff x="737171" y="5636574"/>
            <a:chExt cx="1266290" cy="554804"/>
          </a:xfrm>
        </p:grpSpPr>
        <p:sp>
          <p:nvSpPr>
            <p:cNvPr id="32" name="圆角矩形 13">
              <a:extLst>
                <a:ext uri="{FF2B5EF4-FFF2-40B4-BE49-F238E27FC236}">
                  <a16:creationId xmlns:a16="http://schemas.microsoft.com/office/drawing/2014/main" id="{16216B7D-9989-6048-A792-21FF5E96CA8D}"/>
                </a:ext>
              </a:extLst>
            </p:cNvPr>
            <p:cNvSpPr/>
            <p:nvPr/>
          </p:nvSpPr>
          <p:spPr>
            <a:xfrm>
              <a:off x="737171" y="5636574"/>
              <a:ext cx="1266290" cy="554804"/>
            </a:xfrm>
            <a:prstGeom prst="roundRect">
              <a:avLst>
                <a:gd name="adj" fmla="val 11111"/>
              </a:avLst>
            </a:prstGeom>
            <a:solidFill>
              <a:srgbClr val="9A000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zh-CN" altLang="en-US" sz="1800" b="0" i="0" u="none" strike="noStrike" kern="0" cap="none" spc="0" normalizeH="0" baseline="0" noProof="0">
                <a:ln>
                  <a:noFill/>
                </a:ln>
                <a:solidFill>
                  <a:srgbClr val="FFFFFF"/>
                </a:solidFill>
                <a:effectLst/>
                <a:uLnTx/>
                <a:uFillTx/>
                <a:latin typeface="Microsoft YaHei" panose="020B0503020204020204" pitchFamily="34" charset="-122"/>
                <a:ea typeface="Microsoft YaHei" panose="020B0503020204020204" pitchFamily="34" charset="-122"/>
                <a:cs typeface="+mn-cs"/>
              </a:endParaRPr>
            </a:p>
          </p:txBody>
        </p:sp>
        <p:sp>
          <p:nvSpPr>
            <p:cNvPr id="33" name="文本框 14">
              <a:extLst>
                <a:ext uri="{FF2B5EF4-FFF2-40B4-BE49-F238E27FC236}">
                  <a16:creationId xmlns:a16="http://schemas.microsoft.com/office/drawing/2014/main" id="{D997ADCB-5070-7547-A9C1-007D6CCEF3CE}"/>
                </a:ext>
              </a:extLst>
            </p:cNvPr>
            <p:cNvSpPr txBox="1"/>
            <p:nvPr/>
          </p:nvSpPr>
          <p:spPr>
            <a:xfrm>
              <a:off x="737171" y="5713921"/>
              <a:ext cx="1266290" cy="40011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800" b="0" i="0" u="none" strike="noStrike" kern="0" cap="none" spc="0" normalizeH="0" baseline="0" noProof="0" dirty="0">
                  <a:ln>
                    <a:noFill/>
                  </a:ln>
                  <a:solidFill>
                    <a:srgbClr val="FFFFFF"/>
                  </a:solidFill>
                  <a:effectLst/>
                  <a:uLnTx/>
                  <a:uFillTx/>
                  <a:latin typeface="Microsoft YaHei" panose="020B0503020204020204" pitchFamily="34" charset="-122"/>
                  <a:ea typeface="Microsoft YaHei" panose="020B0503020204020204" pitchFamily="34" charset="-122"/>
                </a:rPr>
                <a:t>意义</a:t>
              </a:r>
            </a:p>
          </p:txBody>
        </p:sp>
      </p:grpSp>
      <p:sp>
        <p:nvSpPr>
          <p:cNvPr id="34" name="圆角矩形 15">
            <a:extLst>
              <a:ext uri="{FF2B5EF4-FFF2-40B4-BE49-F238E27FC236}">
                <a16:creationId xmlns:a16="http://schemas.microsoft.com/office/drawing/2014/main" id="{A96AB5B6-BDC9-0248-96D7-1642E570698D}"/>
              </a:ext>
            </a:extLst>
          </p:cNvPr>
          <p:cNvSpPr/>
          <p:nvPr/>
        </p:nvSpPr>
        <p:spPr>
          <a:xfrm>
            <a:off x="1907704" y="4243213"/>
            <a:ext cx="7221564" cy="510311"/>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微软雅黑"/>
                <a:ea typeface="微软雅黑"/>
                <a:cs typeface="Times New Roman" panose="02020603050405020304" pitchFamily="18" charset="0"/>
              </a:rPr>
              <a:t>程序的若干程序段，或几个程序的某些部分共享某一个存储空间</a:t>
            </a:r>
            <a:endParaRPr kumimoji="0" lang="zh-CN" altLang="en-US" sz="1800" b="0" i="0" u="none" strike="noStrike" kern="0" cap="none" spc="0" normalizeH="0" baseline="0" noProof="0" dirty="0">
              <a:ln>
                <a:noFill/>
              </a:ln>
              <a:solidFill>
                <a:srgbClr val="000000"/>
              </a:solidFill>
              <a:effectLst/>
              <a:uLnTx/>
              <a:uFillTx/>
              <a:latin typeface="微软雅黑"/>
              <a:ea typeface="微软雅黑"/>
              <a:cs typeface="+mn-cs"/>
            </a:endParaRPr>
          </a:p>
        </p:txBody>
      </p:sp>
      <p:sp>
        <p:nvSpPr>
          <p:cNvPr id="35" name="圆角矩形 16">
            <a:extLst>
              <a:ext uri="{FF2B5EF4-FFF2-40B4-BE49-F238E27FC236}">
                <a16:creationId xmlns:a16="http://schemas.microsoft.com/office/drawing/2014/main" id="{456DED6D-A110-074D-B738-1C580633B3A7}"/>
              </a:ext>
            </a:extLst>
          </p:cNvPr>
          <p:cNvSpPr/>
          <p:nvPr/>
        </p:nvSpPr>
        <p:spPr>
          <a:xfrm>
            <a:off x="1922436" y="4846805"/>
            <a:ext cx="7221564" cy="1166306"/>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R="0" lvl="0" algn="just" defTabSz="914400" eaLnBrk="1" fontAlgn="auto" latinLnBrk="0" hangingPunct="1">
              <a:spcBef>
                <a:spcPts val="0"/>
              </a:spcBef>
              <a:spcAft>
                <a:spcPts val="0"/>
              </a:spcAft>
              <a:buClrTx/>
              <a:buSzTx/>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Times New Roman" panose="02020603050405020304" pitchFamily="18" charset="0"/>
              </a:rPr>
              <a:t>把程序划分为若干个功能上相对独立的程序段，按照其自身的逻辑结构使那些不会同时执行的程序段共享同一块内存区域。未执行的程序段先保存在磁盘上，当有关程序段的前一部分执行结束后，把后续程序段调入内存，覆盖前面的程序段</a:t>
            </a:r>
            <a:endPar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p:txBody>
      </p:sp>
      <p:sp>
        <p:nvSpPr>
          <p:cNvPr id="36" name="圆角矩形 17">
            <a:extLst>
              <a:ext uri="{FF2B5EF4-FFF2-40B4-BE49-F238E27FC236}">
                <a16:creationId xmlns:a16="http://schemas.microsoft.com/office/drawing/2014/main" id="{9CC866FE-0CBF-F547-815A-E4714AD47CCC}"/>
              </a:ext>
            </a:extLst>
          </p:cNvPr>
          <p:cNvSpPr/>
          <p:nvPr/>
        </p:nvSpPr>
        <p:spPr>
          <a:xfrm>
            <a:off x="1907704" y="6073952"/>
            <a:ext cx="7221564" cy="784048"/>
          </a:xfrm>
          <a:prstGeom prst="roundRect">
            <a:avLst>
              <a:gd name="adj" fmla="val 7026"/>
            </a:avLst>
          </a:prstGeom>
          <a:solidFill>
            <a:srgbClr val="FFFFFF"/>
          </a:solidFill>
          <a:ln w="12700" cap="flat" cmpd="sng" algn="ctr">
            <a:solidFill>
              <a:srgbClr val="9A0001"/>
            </a:solidFill>
            <a:prstDash val="sysDot"/>
            <a:miter lim="800000"/>
          </a:ln>
          <a:effectLst/>
        </p:spPr>
        <p:txBody>
          <a:bodyPr rtlCol="0" anchor="ctr"/>
          <a:lstStyle/>
          <a:p>
            <a:pPr marL="0" marR="0" lvl="0" indent="0" defTabSz="914400" eaLnBrk="1" fontAlgn="auto" latinLnBrk="0" hangingPunct="1">
              <a:spcBef>
                <a:spcPts val="0"/>
              </a:spcBef>
              <a:spcAft>
                <a:spcPts val="0"/>
              </a:spcAft>
              <a:buClrTx/>
              <a:buSzTx/>
              <a:buFontTx/>
              <a:buNone/>
              <a:tabLst/>
              <a:defRPr/>
            </a:pPr>
            <a:r>
              <a:rPr kumimoji="0" lang="zh-CN" altLang="zh-CN" sz="1800" b="0" i="0" u="none" strike="noStrike" kern="1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打破需要将一个程序的全部信息装入内存后程序才能运行的限制逻辑上扩充了内存空间，从而在某种程度上实现了在小容量内存上运行较大程序的功能</a:t>
            </a:r>
          </a:p>
        </p:txBody>
      </p:sp>
      <p:cxnSp>
        <p:nvCxnSpPr>
          <p:cNvPr id="37" name="直线连接符 18">
            <a:extLst>
              <a:ext uri="{FF2B5EF4-FFF2-40B4-BE49-F238E27FC236}">
                <a16:creationId xmlns:a16="http://schemas.microsoft.com/office/drawing/2014/main" id="{CE118D75-B212-6A4F-BFD8-81EF8F06512F}"/>
              </a:ext>
            </a:extLst>
          </p:cNvPr>
          <p:cNvCxnSpPr>
            <a:stCxn id="24" idx="3"/>
            <a:endCxn id="27" idx="1"/>
          </p:cNvCxnSpPr>
          <p:nvPr/>
        </p:nvCxnSpPr>
        <p:spPr>
          <a:xfrm flipV="1">
            <a:off x="807719" y="4545645"/>
            <a:ext cx="149149" cy="938275"/>
          </a:xfrm>
          <a:prstGeom prst="line">
            <a:avLst/>
          </a:prstGeom>
          <a:noFill/>
          <a:ln w="6350" cap="flat" cmpd="sng" algn="ctr">
            <a:solidFill>
              <a:srgbClr val="9A0001"/>
            </a:solidFill>
            <a:prstDash val="solid"/>
            <a:miter lim="800000"/>
          </a:ln>
          <a:effectLst/>
        </p:spPr>
      </p:cxnSp>
      <p:cxnSp>
        <p:nvCxnSpPr>
          <p:cNvPr id="38" name="直线连接符 19">
            <a:extLst>
              <a:ext uri="{FF2B5EF4-FFF2-40B4-BE49-F238E27FC236}">
                <a16:creationId xmlns:a16="http://schemas.microsoft.com/office/drawing/2014/main" id="{DA0CC8B0-62C1-5649-B160-9D100DB0CB59}"/>
              </a:ext>
            </a:extLst>
          </p:cNvPr>
          <p:cNvCxnSpPr>
            <a:cxnSpLocks/>
            <a:stCxn id="24" idx="3"/>
            <a:endCxn id="33" idx="1"/>
          </p:cNvCxnSpPr>
          <p:nvPr/>
        </p:nvCxnSpPr>
        <p:spPr>
          <a:xfrm>
            <a:off x="807719" y="5483920"/>
            <a:ext cx="163881" cy="1013018"/>
          </a:xfrm>
          <a:prstGeom prst="line">
            <a:avLst/>
          </a:prstGeom>
          <a:noFill/>
          <a:ln w="6350" cap="flat" cmpd="sng" algn="ctr">
            <a:solidFill>
              <a:srgbClr val="9A0001"/>
            </a:solidFill>
            <a:prstDash val="solid"/>
            <a:miter lim="800000"/>
          </a:ln>
          <a:effectLst/>
        </p:spPr>
      </p:cxnSp>
      <p:cxnSp>
        <p:nvCxnSpPr>
          <p:cNvPr id="39" name="直线连接符 20">
            <a:extLst>
              <a:ext uri="{FF2B5EF4-FFF2-40B4-BE49-F238E27FC236}">
                <a16:creationId xmlns:a16="http://schemas.microsoft.com/office/drawing/2014/main" id="{831C9B8F-C1CB-1148-9CA5-0A9779AAB697}"/>
              </a:ext>
            </a:extLst>
          </p:cNvPr>
          <p:cNvCxnSpPr>
            <a:cxnSpLocks/>
            <a:stCxn id="24" idx="3"/>
            <a:endCxn id="30" idx="1"/>
          </p:cNvCxnSpPr>
          <p:nvPr/>
        </p:nvCxnSpPr>
        <p:spPr>
          <a:xfrm>
            <a:off x="807719" y="5483920"/>
            <a:ext cx="163881" cy="1510"/>
          </a:xfrm>
          <a:prstGeom prst="line">
            <a:avLst/>
          </a:prstGeom>
          <a:noFill/>
          <a:ln w="6350" cap="flat" cmpd="sng" algn="ctr">
            <a:solidFill>
              <a:srgbClr val="9A0001"/>
            </a:solidFill>
            <a:prstDash val="solid"/>
            <a:miter lim="800000"/>
          </a:ln>
          <a:effectLst/>
        </p:spPr>
      </p:cxnSp>
    </p:spTree>
  </p:cSld>
  <p:clrMapOvr>
    <a:masterClrMapping/>
  </p:clrMapOvr>
  <p:transition>
    <p:random/>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a:extLst>
              <a:ext uri="{FF2B5EF4-FFF2-40B4-BE49-F238E27FC236}">
                <a16:creationId xmlns:a16="http://schemas.microsoft.com/office/drawing/2014/main" id="{8236C033-86C6-7A43-A4B0-4C90B3317142}"/>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覆盖与交换技术</a:t>
            </a:r>
          </a:p>
        </p:txBody>
      </p:sp>
      <p:sp>
        <p:nvSpPr>
          <p:cNvPr id="62467" name="Rectangle 3">
            <a:extLst>
              <a:ext uri="{FF2B5EF4-FFF2-40B4-BE49-F238E27FC236}">
                <a16:creationId xmlns:a16="http://schemas.microsoft.com/office/drawing/2014/main" id="{AC0F4DB5-39FA-D643-8E65-FCA5AFF83732}"/>
              </a:ext>
            </a:extLst>
          </p:cNvPr>
          <p:cNvSpPr>
            <a:spLocks noGrp="1" noChangeArrowheads="1"/>
          </p:cNvSpPr>
          <p:nvPr>
            <p:ph type="body" sz="half" idx="1"/>
          </p:nvPr>
        </p:nvSpPr>
        <p:spPr>
          <a:xfrm>
            <a:off x="500063" y="1285875"/>
            <a:ext cx="8389937" cy="3671888"/>
          </a:xfrm>
        </p:spPr>
        <p:txBody>
          <a:bodyPr/>
          <a:lstStyle/>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例：</a:t>
            </a:r>
            <a:r>
              <a:rPr lang="zh-CN" altLang="zh-CN" sz="2000">
                <a:solidFill>
                  <a:schemeClr val="tx1"/>
                </a:solidFill>
                <a:effectLst/>
                <a:latin typeface="宋体" panose="02010600030101010101" pitchFamily="2" charset="-122"/>
              </a:rPr>
              <a:t>程序</a:t>
            </a:r>
            <a:r>
              <a:rPr lang="zh-CN" altLang="en-US" sz="2000">
                <a:solidFill>
                  <a:schemeClr val="tx1"/>
                </a:solidFill>
                <a:effectLst/>
                <a:latin typeface="宋体" panose="02010600030101010101" pitchFamily="2" charset="-122"/>
              </a:rPr>
              <a:t>中</a:t>
            </a:r>
            <a:r>
              <a:rPr lang="zh-CN" altLang="zh-CN" sz="2000">
                <a:solidFill>
                  <a:schemeClr val="tx1"/>
                </a:solidFill>
                <a:effectLst/>
                <a:latin typeface="宋体" panose="02010600030101010101" pitchFamily="2" charset="-122"/>
              </a:rPr>
              <a:t>包含了6个程序段，它们之间的调用关系如图(a) 所示：M0调用了M1和M2，M1调用了M1.1和M1.2，M2调用了M2.1。通过调用关系可知，程序段M1和M2相互之间没有调用关系，它们不需要同时驻留在内存，可以共享同一覆盖区；同理程序段M1.1、M1.2和M2.1也可以共享同一覆盖区，其覆盖结构如图(b) 所示。</a:t>
            </a:r>
            <a:endParaRPr lang="zh-CN" altLang="en-US" sz="2000">
              <a:solidFill>
                <a:schemeClr val="tx1"/>
              </a:solidFill>
              <a:effectLst/>
              <a:latin typeface="宋体" panose="02010600030101010101" pitchFamily="2" charset="-122"/>
            </a:endParaRPr>
          </a:p>
        </p:txBody>
      </p:sp>
      <p:pic>
        <p:nvPicPr>
          <p:cNvPr id="62468" name="Picture 89" descr="4-17">
            <a:extLst>
              <a:ext uri="{FF2B5EF4-FFF2-40B4-BE49-F238E27FC236}">
                <a16:creationId xmlns:a16="http://schemas.microsoft.com/office/drawing/2014/main" id="{0DE0D26B-C762-5C47-97E6-95EA1848A8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625" y="3786188"/>
            <a:ext cx="5929313" cy="290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a:extLst>
              <a:ext uri="{FF2B5EF4-FFF2-40B4-BE49-F238E27FC236}">
                <a16:creationId xmlns:a16="http://schemas.microsoft.com/office/drawing/2014/main" id="{6FCC8A23-6761-D44F-8E8B-01E2F2469287}"/>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覆盖与交换技术</a:t>
            </a:r>
          </a:p>
        </p:txBody>
      </p:sp>
      <p:sp>
        <p:nvSpPr>
          <p:cNvPr id="63491" name="Rectangle 3">
            <a:extLst>
              <a:ext uri="{FF2B5EF4-FFF2-40B4-BE49-F238E27FC236}">
                <a16:creationId xmlns:a16="http://schemas.microsoft.com/office/drawing/2014/main" id="{0FAC42C5-7A67-6B40-A8ED-1A545444913E}"/>
              </a:ext>
            </a:extLst>
          </p:cNvPr>
          <p:cNvSpPr>
            <a:spLocks noGrp="1" noChangeArrowheads="1"/>
          </p:cNvSpPr>
          <p:nvPr>
            <p:ph type="body" sz="half" idx="1"/>
          </p:nvPr>
        </p:nvSpPr>
        <p:spPr>
          <a:xfrm>
            <a:off x="687388" y="1390650"/>
            <a:ext cx="7885112" cy="4824413"/>
          </a:xfrm>
        </p:spPr>
        <p:txBody>
          <a:bodyPr/>
          <a:lstStyle/>
          <a:p>
            <a:pPr marL="0" indent="457200" algn="just" eaLnBrk="1" hangingPunct="1">
              <a:lnSpc>
                <a:spcPct val="120000"/>
              </a:lnSpc>
              <a:spcBef>
                <a:spcPct val="0"/>
              </a:spcBef>
              <a:buFont typeface="Wingdings" pitchFamily="2" charset="2"/>
              <a:buNone/>
            </a:pPr>
            <a:r>
              <a:rPr lang="zh-CN" altLang="zh-CN" sz="2200">
                <a:solidFill>
                  <a:srgbClr val="FF0000"/>
                </a:solidFill>
                <a:effectLst/>
                <a:latin typeface="宋体" panose="02010600030101010101" pitchFamily="2" charset="-122"/>
              </a:rPr>
              <a:t>2. 交换技术</a:t>
            </a:r>
          </a:p>
          <a:p>
            <a:pPr marL="0" indent="457200" algn="just" eaLnBrk="1" hangingPunct="1">
              <a:lnSpc>
                <a:spcPct val="120000"/>
              </a:lnSpc>
              <a:spcBef>
                <a:spcPct val="0"/>
              </a:spcBef>
              <a:buFont typeface="Wingdings" pitchFamily="2" charset="2"/>
              <a:buNone/>
            </a:pPr>
            <a:r>
              <a:rPr lang="zh-CN" altLang="zh-CN" sz="2000">
                <a:solidFill>
                  <a:schemeClr val="tx1"/>
                </a:solidFill>
                <a:effectLst/>
                <a:latin typeface="宋体" panose="02010600030101010101" pitchFamily="2" charset="-122"/>
              </a:rPr>
              <a:t>在操作系统中增加交换（对换）功能，即由操作系统根据需要，将内存中暂时不具备运行条件的部分程序或数据移到外存，以便腾出足够的内存空间将外存中急需运行的程序或数据调入内存投入运行。</a:t>
            </a:r>
            <a:endParaRPr lang="zh-CN" altLang="en-US" sz="2000">
              <a:solidFill>
                <a:schemeClr val="tx1"/>
              </a:solidFill>
              <a:effectLst/>
              <a:latin typeface="宋体" panose="02010600030101010101" pitchFamily="2" charset="-122"/>
            </a:endParaRPr>
          </a:p>
          <a:p>
            <a:pPr marL="0" indent="457200" algn="just" eaLnBrk="1" hangingPunct="1">
              <a:lnSpc>
                <a:spcPct val="120000"/>
              </a:lnSpc>
              <a:spcBef>
                <a:spcPct val="0"/>
              </a:spcBef>
              <a:buFont typeface="Wingdings" pitchFamily="2" charset="2"/>
              <a:buNone/>
            </a:pPr>
            <a:r>
              <a:rPr lang="zh-CN" altLang="zh-CN" sz="2000">
                <a:solidFill>
                  <a:srgbClr val="FF0000"/>
                </a:solidFill>
                <a:effectLst/>
                <a:latin typeface="宋体" panose="02010600030101010101" pitchFamily="2" charset="-122"/>
              </a:rPr>
              <a:t>交换技术</a:t>
            </a:r>
            <a:r>
              <a:rPr lang="zh-CN" altLang="en-US" sz="2000">
                <a:solidFill>
                  <a:srgbClr val="FF0000"/>
                </a:solidFill>
                <a:effectLst/>
                <a:latin typeface="宋体" panose="02010600030101010101" pitchFamily="2" charset="-122"/>
              </a:rPr>
              <a:t>实现</a:t>
            </a:r>
            <a:r>
              <a:rPr lang="zh-CN" altLang="zh-CN" sz="2000">
                <a:solidFill>
                  <a:srgbClr val="FF0000"/>
                </a:solidFill>
                <a:effectLst/>
                <a:latin typeface="宋体" panose="02010600030101010101" pitchFamily="2" charset="-122"/>
              </a:rPr>
              <a:t>方式：</a:t>
            </a:r>
          </a:p>
          <a:p>
            <a:pPr marL="0" indent="457200" algn="just" eaLnBrk="1" hangingPunct="1">
              <a:lnSpc>
                <a:spcPct val="120000"/>
              </a:lnSpc>
              <a:spcBef>
                <a:spcPct val="0"/>
              </a:spcBef>
              <a:buFont typeface="Wingdings" pitchFamily="2" charset="2"/>
              <a:buNone/>
            </a:pPr>
            <a:r>
              <a:rPr lang="zh-CN" altLang="zh-CN" sz="2000">
                <a:solidFill>
                  <a:schemeClr val="tx1"/>
                </a:solidFill>
                <a:effectLst/>
                <a:latin typeface="宋体" panose="02010600030101010101" pitchFamily="2" charset="-122"/>
              </a:rPr>
              <a:t>（1）若交换以进程为单位，即每次换进/换出的是整个进程，则把这种交换称为进程交换（进程对换）或整体交换（整体对换）。进程交换广泛应用于分时系统，主要解决内存紧张问题。</a:t>
            </a:r>
          </a:p>
          <a:p>
            <a:pPr marL="0" indent="457200" algn="just" eaLnBrk="1" hangingPunct="1">
              <a:lnSpc>
                <a:spcPct val="120000"/>
              </a:lnSpc>
              <a:spcBef>
                <a:spcPct val="0"/>
              </a:spcBef>
              <a:buFont typeface="Wingdings" pitchFamily="2" charset="2"/>
              <a:buNone/>
            </a:pPr>
            <a:r>
              <a:rPr lang="zh-CN" altLang="zh-CN" sz="2000">
                <a:solidFill>
                  <a:schemeClr val="tx1"/>
                </a:solidFill>
                <a:effectLst/>
                <a:latin typeface="宋体" panose="02010600030101010101" pitchFamily="2" charset="-122"/>
              </a:rPr>
              <a:t>（2）若交换以页或段为单位，则把这种交换分别称为页置换（页交换或页对换）或段置换（段交换或段对换）。页置换和段置换是以进程中的某一部分为交换单位，因此又称为部分交换（部分对换）。部分交换广泛应用于现代操作系统中，是实现虚拟存储器的基础。</a:t>
            </a:r>
          </a:p>
          <a:p>
            <a:pPr marL="0" indent="457200" algn="just" eaLnBrk="1" hangingPunct="1">
              <a:lnSpc>
                <a:spcPct val="120000"/>
              </a:lnSpc>
              <a:spcBef>
                <a:spcPct val="0"/>
              </a:spcBef>
              <a:buFont typeface="Wingdings" pitchFamily="2" charset="2"/>
              <a:buNone/>
            </a:pPr>
            <a:endParaRPr lang="zh-CN"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5CCCF71F-56FA-6E42-B164-4C40C8CE54C2}"/>
              </a:ext>
            </a:extLst>
          </p:cNvPr>
          <p:cNvGrpSpPr/>
          <p:nvPr/>
        </p:nvGrpSpPr>
        <p:grpSpPr>
          <a:xfrm>
            <a:off x="1987700" y="3576284"/>
            <a:ext cx="6097712" cy="2944231"/>
            <a:chOff x="2234301" y="3394477"/>
            <a:chExt cx="6097712" cy="2944231"/>
          </a:xfrm>
        </p:grpSpPr>
        <p:pic>
          <p:nvPicPr>
            <p:cNvPr id="7" name="图片 1">
              <a:extLst>
                <a:ext uri="{FF2B5EF4-FFF2-40B4-BE49-F238E27FC236}">
                  <a16:creationId xmlns:a16="http://schemas.microsoft.com/office/drawing/2014/main" id="{2AA513FC-1C12-E548-95DA-A392DE83EF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84843" y="3394477"/>
              <a:ext cx="4996628" cy="2636454"/>
            </a:xfrm>
            <a:prstGeom prst="rect">
              <a:avLst/>
            </a:prstGeom>
            <a:noFill/>
          </p:spPr>
        </p:pic>
        <p:sp>
          <p:nvSpPr>
            <p:cNvPr id="8" name="文本框 4">
              <a:extLst>
                <a:ext uri="{FF2B5EF4-FFF2-40B4-BE49-F238E27FC236}">
                  <a16:creationId xmlns:a16="http://schemas.microsoft.com/office/drawing/2014/main" id="{0BF69B6E-20DB-FC4C-80A9-F3187AD4AE8A}"/>
                </a:ext>
              </a:extLst>
            </p:cNvPr>
            <p:cNvSpPr txBox="1"/>
            <p:nvPr/>
          </p:nvSpPr>
          <p:spPr>
            <a:xfrm>
              <a:off x="2234301" y="6030931"/>
              <a:ext cx="6097712" cy="307777"/>
            </a:xfrm>
            <a:prstGeom prst="rect">
              <a:avLst/>
            </a:prstGeom>
            <a:noFill/>
          </p:spPr>
          <p:txBody>
            <a:bodyPr wrap="square">
              <a:spAutoFit/>
            </a:bodyPr>
            <a:lstStyle/>
            <a:p>
              <a:pPr indent="269875" algn="ctr" eaLnBrk="1" fontAlgn="auto" hangingPunct="1">
                <a:spcBef>
                  <a:spcPts val="0"/>
                </a:spcBef>
                <a:spcAft>
                  <a:spcPts val="0"/>
                </a:spcAft>
              </a:pPr>
              <a:r>
                <a:rPr lang="zh-CN" altLang="zh-CN" sz="1400" b="0" kern="100" dirty="0">
                  <a:solidFill>
                    <a:srgbClr val="000000"/>
                  </a:solidFill>
                  <a:latin typeface="Times New Roman" panose="02020603050405020304" pitchFamily="18" charset="0"/>
                  <a:cs typeface="Times New Roman" panose="02020603050405020304" pitchFamily="18" charset="0"/>
                </a:rPr>
                <a:t>图</a:t>
              </a:r>
              <a:r>
                <a:rPr lang="en-US" altLang="zh-CN" sz="1400" b="0" kern="100" dirty="0">
                  <a:solidFill>
                    <a:srgbClr val="000000"/>
                  </a:solidFill>
                  <a:latin typeface="Times New Roman" panose="02020603050405020304" pitchFamily="18" charset="0"/>
                  <a:cs typeface="Times New Roman" panose="02020603050405020304" pitchFamily="18" charset="0"/>
                </a:rPr>
                <a:t>5-14 </a:t>
              </a:r>
              <a:r>
                <a:rPr lang="zh-CN" altLang="zh-CN" sz="1400" b="0" kern="100" dirty="0">
                  <a:solidFill>
                    <a:srgbClr val="000000"/>
                  </a:solidFill>
                  <a:latin typeface="Times New Roman" panose="02020603050405020304" pitchFamily="18" charset="0"/>
                  <a:cs typeface="Times New Roman" panose="02020603050405020304" pitchFamily="18" charset="0"/>
                </a:rPr>
                <a:t>磁盘交换空间的管理</a:t>
              </a:r>
              <a:endParaRPr lang="zh-CN" altLang="zh-CN" sz="1400" b="0" kern="100" dirty="0">
                <a:solidFill>
                  <a:srgbClr val="000000"/>
                </a:solidFill>
                <a:cs typeface="Times New Roman" panose="02020603050405020304" pitchFamily="18" charset="0"/>
              </a:endParaRPr>
            </a:p>
          </p:txBody>
        </p:sp>
      </p:grpSp>
      <p:sp>
        <p:nvSpPr>
          <p:cNvPr id="9" name="文本框 6">
            <a:extLst>
              <a:ext uri="{FF2B5EF4-FFF2-40B4-BE49-F238E27FC236}">
                <a16:creationId xmlns:a16="http://schemas.microsoft.com/office/drawing/2014/main" id="{D28FE698-D0F8-B14B-9527-6B659650797B}"/>
              </a:ext>
            </a:extLst>
          </p:cNvPr>
          <p:cNvSpPr txBox="1"/>
          <p:nvPr/>
        </p:nvSpPr>
        <p:spPr>
          <a:xfrm>
            <a:off x="1" y="1412776"/>
            <a:ext cx="9144000" cy="2064476"/>
          </a:xfrm>
          <a:prstGeom prst="rect">
            <a:avLst/>
          </a:prstGeom>
          <a:noFill/>
        </p:spPr>
        <p:txBody>
          <a:bodyPr wrap="square">
            <a:spAutoFit/>
          </a:bodyPr>
          <a:lstStyle/>
          <a:p>
            <a:pPr eaLnBrk="1" fontAlgn="auto" hangingPunct="1">
              <a:lnSpc>
                <a:spcPts val="2600"/>
              </a:lnSpc>
              <a:spcBef>
                <a:spcPts val="0"/>
              </a:spcBef>
              <a:spcAft>
                <a:spcPts val="0"/>
              </a:spcAft>
            </a:pPr>
            <a:r>
              <a:rPr lang="zh-CN" altLang="en-US"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       </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在一些系统中，当进程在内存中时，不再为它分配磁盘空间。当它被换出时，必须为它分配磁盘交换空间，如图</a:t>
            </a:r>
            <a:r>
              <a:rPr lang="en-US"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5-14</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a:t>
            </a:r>
            <a:r>
              <a:rPr lang="en-US"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b</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）。每次交换，进程都可能被换到磁盘的不同地方，这种管理交换区的方法与管理内存的方法相同</a:t>
            </a:r>
            <a:r>
              <a:rPr lang="zh-CN" altLang="en-US"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在另外一些系统中，进程一旦创建，就分配给它磁盘上的交换空间，如图</a:t>
            </a:r>
            <a:r>
              <a:rPr lang="en-US"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5-14</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a:t>
            </a:r>
            <a:r>
              <a:rPr lang="en-US"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a</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）。无论何时进程被换出，它都被换到已经为它分配的空间，而不是每次换到不同的空间。当进程结束时，交换空间被回收。图</a:t>
            </a:r>
            <a:r>
              <a:rPr lang="en-US"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5-14</a:t>
            </a:r>
            <a:r>
              <a:rPr lang="zh-CN" altLang="zh-CN" sz="1800" b="0" kern="100" dirty="0">
                <a:solidFill>
                  <a:srgbClr val="000000"/>
                </a:solidFill>
                <a:latin typeface="Microsoft YaHei" panose="020B0503020204020204" pitchFamily="34" charset="-122"/>
                <a:ea typeface="Microsoft YaHei" panose="020B0503020204020204" pitchFamily="34" charset="-122"/>
                <a:cs typeface="Times New Roman" panose="02020603050405020304" pitchFamily="18" charset="0"/>
              </a:rPr>
              <a:t>说明了上述二种情形</a:t>
            </a:r>
          </a:p>
        </p:txBody>
      </p:sp>
      <p:sp>
        <p:nvSpPr>
          <p:cNvPr id="10" name="Rectangle 9">
            <a:extLst>
              <a:ext uri="{FF2B5EF4-FFF2-40B4-BE49-F238E27FC236}">
                <a16:creationId xmlns:a16="http://schemas.microsoft.com/office/drawing/2014/main" id="{4625848C-98F6-1F4C-8B63-2D71BA74AF1D}"/>
              </a:ext>
            </a:extLst>
          </p:cNvPr>
          <p:cNvSpPr/>
          <p:nvPr/>
        </p:nvSpPr>
        <p:spPr>
          <a:xfrm>
            <a:off x="24277" y="346795"/>
            <a:ext cx="2289409" cy="550343"/>
          </a:xfrm>
          <a:prstGeom prst="rect">
            <a:avLst/>
          </a:prstGeom>
        </p:spPr>
        <p:txBody>
          <a:bodyPr wrap="none">
            <a:spAutoFit/>
          </a:bodyPr>
          <a:lstStyle/>
          <a:p>
            <a:pPr>
              <a:lnSpc>
                <a:spcPct val="172000"/>
              </a:lnSpc>
            </a:pPr>
            <a:r>
              <a:rPr lang="en-US" altLang="zh-CN" dirty="0">
                <a:solidFill>
                  <a:srgbClr val="9A0001"/>
                </a:solidFill>
                <a:latin typeface="Microsoft YaHei" panose="020B0503020204020204" pitchFamily="34" charset="-122"/>
                <a:ea typeface="Microsoft YaHei" panose="020B0503020204020204" pitchFamily="34" charset="-122"/>
                <a:cs typeface="E-HZ-PK748a2-Identity-H"/>
              </a:rPr>
              <a:t>3.</a:t>
            </a:r>
            <a:r>
              <a:rPr lang="zh-CN" altLang="en-US" dirty="0">
                <a:solidFill>
                  <a:srgbClr val="9A0001"/>
                </a:solidFill>
                <a:latin typeface="Microsoft YaHei" panose="020B0503020204020204" pitchFamily="34" charset="-122"/>
                <a:ea typeface="Microsoft YaHei" panose="020B0503020204020204" pitchFamily="34" charset="-122"/>
                <a:cs typeface="E-HZ-PK748a2-Identity-H"/>
              </a:rPr>
              <a:t> </a:t>
            </a:r>
            <a:r>
              <a:rPr lang="zh-CN" altLang="zh-CN" dirty="0">
                <a:solidFill>
                  <a:srgbClr val="9A0001"/>
                </a:solidFill>
                <a:latin typeface="Microsoft YaHei" panose="020B0503020204020204" pitchFamily="34" charset="-122"/>
                <a:ea typeface="Microsoft YaHei" panose="020B0503020204020204" pitchFamily="34" charset="-122"/>
                <a:cs typeface="E-HZ-PK748a2-Identity-H"/>
              </a:rPr>
              <a:t>交换空间的分配</a:t>
            </a:r>
          </a:p>
        </p:txBody>
      </p:sp>
    </p:spTree>
    <p:extLst>
      <p:ext uri="{BB962C8B-B14F-4D97-AF65-F5344CB8AC3E}">
        <p14:creationId xmlns:p14="http://schemas.microsoft.com/office/powerpoint/2010/main" val="1007354079"/>
      </p:ext>
    </p:extLst>
  </p:cSld>
  <p:clrMapOvr>
    <a:masterClrMapping/>
  </p:clrMapOvr>
  <p:transition>
    <p:random/>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FDB20073-E5D2-F84C-A318-FA179B624D93}"/>
              </a:ext>
            </a:extLst>
          </p:cNvPr>
          <p:cNvSpPr>
            <a:spLocks noGrp="1" noChangeArrowheads="1"/>
          </p:cNvSpPr>
          <p:nvPr>
            <p:ph type="body" idx="1"/>
          </p:nvPr>
        </p:nvSpPr>
        <p:spPr>
          <a:xfrm>
            <a:off x="34925" y="1500188"/>
            <a:ext cx="8713788" cy="5143500"/>
          </a:xfrm>
        </p:spPr>
        <p:txBody>
          <a:bodyPr/>
          <a:lstStyle/>
          <a:p>
            <a:pPr algn="just">
              <a:lnSpc>
                <a:spcPts val="3600"/>
              </a:lnSpc>
              <a:buFont typeface="Wingdings" pitchFamily="2" charset="2"/>
              <a:buNone/>
            </a:pPr>
            <a:r>
              <a:rPr lang="en-US" altLang="zh-CN">
                <a:solidFill>
                  <a:schemeClr val="tx1"/>
                </a:solidFill>
                <a:effectLst/>
                <a:latin typeface="Times New Roman" panose="02020603050405020304" pitchFamily="18" charset="0"/>
                <a:cs typeface="Times New Roman" panose="02020603050405020304" pitchFamily="18" charset="0"/>
              </a:rPr>
              <a:t>     </a:t>
            </a:r>
            <a:r>
              <a:rPr lang="zh-CN" altLang="en-US" sz="2000">
                <a:solidFill>
                  <a:srgbClr val="FF0000"/>
                </a:solidFill>
                <a:effectLst/>
                <a:latin typeface="Times New Roman" panose="02020603050405020304" pitchFamily="18" charset="0"/>
                <a:cs typeface="Times New Roman" panose="02020603050405020304" pitchFamily="18" charset="0"/>
              </a:rPr>
              <a:t>思路：</a:t>
            </a:r>
            <a:r>
              <a:rPr lang="zh-CN" altLang="zh-CN" sz="2000">
                <a:solidFill>
                  <a:schemeClr val="tx1"/>
                </a:solidFill>
                <a:effectLst/>
                <a:latin typeface="Times New Roman" panose="02020603050405020304" pitchFamily="18" charset="0"/>
                <a:cs typeface="Times New Roman" panose="02020603050405020304" pitchFamily="18" charset="0"/>
              </a:rPr>
              <a:t>无论是固定分区管理还是可变分区管理，在内存空间利用率上都是较低的，这是因为前者产生内部碎片（分区内部的碎片），后者产生外部碎片（无法分配的小分区碎片）。在可变分区管理中，虽然紧凑技术是解决内存外部碎片的一种途径，但需要在内存移动大量信息而花费不少</a:t>
            </a:r>
            <a:r>
              <a:rPr lang="en-US" altLang="zh-CN" sz="2000">
                <a:solidFill>
                  <a:schemeClr val="tx1"/>
                </a:solidFill>
                <a:effectLst/>
                <a:latin typeface="Times New Roman" panose="02020603050405020304" pitchFamily="18" charset="0"/>
              </a:rPr>
              <a:t>CPU</a:t>
            </a:r>
            <a:r>
              <a:rPr lang="zh-CN" altLang="zh-CN" sz="2000">
                <a:solidFill>
                  <a:schemeClr val="tx1"/>
                </a:solidFill>
                <a:effectLst/>
                <a:latin typeface="Times New Roman" panose="02020603050405020304" pitchFamily="18" charset="0"/>
                <a:cs typeface="Times New Roman" panose="02020603050405020304" pitchFamily="18" charset="0"/>
              </a:rPr>
              <a:t>时间，代价较高。</a:t>
            </a:r>
            <a:endParaRPr lang="en-US" altLang="zh-CN" sz="2000">
              <a:solidFill>
                <a:schemeClr val="tx1"/>
              </a:solidFill>
              <a:effectLst/>
              <a:latin typeface="Times New Roman" panose="02020603050405020304" pitchFamily="18" charset="0"/>
              <a:cs typeface="Times New Roman" panose="02020603050405020304" pitchFamily="18" charset="0"/>
            </a:endParaRPr>
          </a:p>
          <a:p>
            <a:pPr algn="just">
              <a:lnSpc>
                <a:spcPts val="3600"/>
              </a:lnSpc>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为了彻底解决连续分配方式所存在的问题，内存的分配发展出离散分配方式。在离散分配方式下，允许程序可以分散地放入不连续的内存区，这样既能减少内存的碎片，提高内存的利用率，也无须在内存紧张时进行内存的紧凑工作，因此节省了</a:t>
            </a:r>
            <a:r>
              <a:rPr lang="en-US" altLang="zh-CN" sz="2000">
                <a:solidFill>
                  <a:schemeClr val="tx1"/>
                </a:solidFill>
                <a:effectLst/>
                <a:latin typeface="Times New Roman" panose="02020603050405020304" pitchFamily="18" charset="0"/>
              </a:rPr>
              <a:t>CPU</a:t>
            </a:r>
            <a:r>
              <a:rPr lang="zh-CN" altLang="zh-CN" sz="2000">
                <a:solidFill>
                  <a:schemeClr val="tx1"/>
                </a:solidFill>
                <a:effectLst/>
                <a:latin typeface="Times New Roman" panose="02020603050405020304" pitchFamily="18" charset="0"/>
                <a:cs typeface="Times New Roman" panose="02020603050405020304" pitchFamily="18" charset="0"/>
              </a:rPr>
              <a:t>时间。分页存储管理就是跳出了内存区连续分配的限制，而采取了离散分配内存空间的方式，离散分配的基本单位是页（</a:t>
            </a:r>
            <a:r>
              <a:rPr lang="en-US" altLang="zh-CN" sz="2000">
                <a:solidFill>
                  <a:schemeClr val="tx1"/>
                </a:solidFill>
                <a:effectLst/>
                <a:latin typeface="Times New Roman" panose="02020603050405020304" pitchFamily="18" charset="0"/>
              </a:rPr>
              <a:t>Page</a:t>
            </a:r>
            <a:r>
              <a:rPr lang="zh-CN" altLang="zh-CN" sz="2000">
                <a:solidFill>
                  <a:schemeClr val="tx1"/>
                </a:solidFill>
                <a:effectLst/>
                <a:latin typeface="Times New Roman" panose="02020603050405020304" pitchFamily="18" charset="0"/>
                <a:cs typeface="Times New Roman" panose="02020603050405020304" pitchFamily="18" charset="0"/>
              </a:rPr>
              <a:t>）。</a:t>
            </a:r>
            <a:endParaRPr lang="zh-CN" altLang="en-US" sz="2000">
              <a:solidFill>
                <a:schemeClr val="tx1"/>
              </a:solidFill>
              <a:effectLst/>
              <a:latin typeface="宋体" panose="02010600030101010101" pitchFamily="2" charset="-122"/>
            </a:endParaRPr>
          </a:p>
        </p:txBody>
      </p:sp>
      <p:sp>
        <p:nvSpPr>
          <p:cNvPr id="77827" name="AutoShape 3">
            <a:extLst>
              <a:ext uri="{FF2B5EF4-FFF2-40B4-BE49-F238E27FC236}">
                <a16:creationId xmlns:a16="http://schemas.microsoft.com/office/drawing/2014/main" id="{4CDC94E8-A366-9B4F-9260-3ADADB6376F5}"/>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4.4 分页存储管理</a:t>
            </a:r>
          </a:p>
        </p:txBody>
      </p:sp>
    </p:spTree>
  </p:cSld>
  <p:clrMapOvr>
    <a:masterClrMapping/>
  </p:clrMapOvr>
  <p:transition>
    <p:random/>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63C3DA61-58B4-9644-BA93-C3AFFF93ED25}"/>
              </a:ext>
            </a:extLst>
          </p:cNvPr>
          <p:cNvSpPr>
            <a:spLocks noGrp="1" noChangeArrowheads="1"/>
          </p:cNvSpPr>
          <p:nvPr>
            <p:ph type="body" idx="1"/>
          </p:nvPr>
        </p:nvSpPr>
        <p:spPr>
          <a:xfrm>
            <a:off x="0" y="1500188"/>
            <a:ext cx="5000625" cy="5143500"/>
          </a:xfrm>
        </p:spPr>
        <p:txBody>
          <a:bodyPr/>
          <a:lstStyle/>
          <a:p>
            <a:pPr algn="just">
              <a:buFont typeface="Wingdings" pitchFamily="2" charset="2"/>
              <a:buNone/>
            </a:pPr>
            <a:r>
              <a:rPr lang="en-US" altLang="zh-CN" dirty="0">
                <a:solidFill>
                  <a:srgbClr val="FF0000"/>
                </a:solidFill>
                <a:effectLst>
                  <a:outerShdw blurRad="38100" dist="38100" dir="2700000" algn="tl">
                    <a:srgbClr val="FFFFFF"/>
                  </a:outerShdw>
                </a:effectLst>
              </a:rPr>
              <a:t>4.4.1  </a:t>
            </a:r>
            <a:r>
              <a:rPr lang="zh-CN" altLang="en-US" dirty="0">
                <a:solidFill>
                  <a:srgbClr val="FF0000"/>
                </a:solidFill>
                <a:effectLst>
                  <a:outerShdw blurRad="38100" dist="38100" dir="2700000" algn="tl">
                    <a:srgbClr val="FFFFFF"/>
                  </a:outerShdw>
                </a:effectLst>
              </a:rPr>
              <a:t>分页存储管理的基本原理</a:t>
            </a:r>
          </a:p>
          <a:p>
            <a:pPr algn="just" eaLnBrk="1" hangingPunct="1">
              <a:lnSpc>
                <a:spcPts val="3200"/>
              </a:lnSpc>
              <a:spcBef>
                <a:spcPct val="0"/>
              </a:spcBef>
              <a:buFont typeface="Wingdings" pitchFamily="2" charset="2"/>
              <a:buNone/>
            </a:pPr>
            <a:r>
              <a:rPr lang="en-US" altLang="zh-CN" sz="2200" dirty="0">
                <a:solidFill>
                  <a:srgbClr val="FF0000"/>
                </a:solidFill>
                <a:effectLst/>
                <a:latin typeface="宋体" panose="02010600030101010101" pitchFamily="2" charset="-122"/>
              </a:rPr>
              <a:t>1. </a:t>
            </a:r>
            <a:r>
              <a:rPr lang="zh-CN" altLang="en-US" sz="2200" dirty="0">
                <a:solidFill>
                  <a:srgbClr val="FF0000"/>
                </a:solidFill>
                <a:effectLst/>
                <a:latin typeface="宋体" panose="02010600030101010101" pitchFamily="2" charset="-122"/>
              </a:rPr>
              <a:t>实现原理</a:t>
            </a:r>
          </a:p>
          <a:p>
            <a:pPr marL="58738" indent="-58738" algn="just" eaLnBrk="1" hangingPunct="1">
              <a:lnSpc>
                <a:spcPts val="3200"/>
              </a:lnSpc>
              <a:spcBef>
                <a:spcPct val="0"/>
              </a:spcBef>
              <a:buFont typeface="Wingdings" pitchFamily="2" charset="2"/>
              <a:buNone/>
            </a:pPr>
            <a:r>
              <a:rPr lang="zh-CN" altLang="en-US" sz="2000" dirty="0">
                <a:solidFill>
                  <a:schemeClr val="tx1"/>
                </a:solidFill>
                <a:effectLst>
                  <a:outerShdw blurRad="38100" dist="38100" dir="2700000" algn="tl">
                    <a:srgbClr val="FFFFFF"/>
                  </a:outerShdw>
                </a:effectLst>
              </a:rPr>
              <a:t>在分页存储管理中，一个程序的逻辑地址空间被划分成若干个大小相等的区域，每个区域称为页或页面，并且程序地址空间中所有的页从</a:t>
            </a:r>
            <a:r>
              <a:rPr lang="en-US" altLang="zh-CN" sz="2000" dirty="0">
                <a:solidFill>
                  <a:schemeClr val="tx1"/>
                </a:solidFill>
                <a:effectLst>
                  <a:outerShdw blurRad="38100" dist="38100" dir="2700000" algn="tl">
                    <a:srgbClr val="FFFFFF"/>
                  </a:outerShdw>
                </a:effectLst>
              </a:rPr>
              <a:t>0</a:t>
            </a:r>
            <a:r>
              <a:rPr lang="zh-CN" altLang="en-US" sz="2000" dirty="0">
                <a:solidFill>
                  <a:schemeClr val="tx1"/>
                </a:solidFill>
                <a:effectLst>
                  <a:outerShdw blurRad="38100" dist="38100" dir="2700000" algn="tl">
                    <a:srgbClr val="FFFFFF"/>
                  </a:outerShdw>
                </a:effectLst>
              </a:rPr>
              <a:t>开始顺序编号。相应地，内存物理地址空间也按同样方式划分成与页大小相同的区域，每个区域称为物理块或页框，与页一样内存空间中的所有物理块也从</a:t>
            </a:r>
            <a:r>
              <a:rPr lang="en-US" altLang="zh-CN" sz="2000" dirty="0">
                <a:solidFill>
                  <a:schemeClr val="tx1"/>
                </a:solidFill>
                <a:effectLst>
                  <a:outerShdw blurRad="38100" dist="38100" dir="2700000" algn="tl">
                    <a:srgbClr val="FFFFFF"/>
                  </a:outerShdw>
                </a:effectLst>
              </a:rPr>
              <a:t>0</a:t>
            </a:r>
            <a:r>
              <a:rPr lang="zh-CN" altLang="en-US" sz="2000" dirty="0">
                <a:solidFill>
                  <a:schemeClr val="tx1"/>
                </a:solidFill>
                <a:effectLst>
                  <a:outerShdw blurRad="38100" dist="38100" dir="2700000" algn="tl">
                    <a:srgbClr val="FFFFFF"/>
                  </a:outerShdw>
                </a:effectLst>
              </a:rPr>
              <a:t>开始顺序编号。在为程序分配内存时，允许以页为单位将程序的各个页分别装入内存中相邻或不相邻的物理块中。</a:t>
            </a:r>
            <a:endParaRPr lang="zh-CN" altLang="en-US" sz="2000" dirty="0">
              <a:solidFill>
                <a:schemeClr val="tx1"/>
              </a:solidFill>
              <a:effectLst/>
              <a:latin typeface="宋体" panose="02010600030101010101" pitchFamily="2" charset="-122"/>
            </a:endParaRPr>
          </a:p>
        </p:txBody>
      </p:sp>
      <p:sp>
        <p:nvSpPr>
          <p:cNvPr id="77827" name="AutoShape 3">
            <a:extLst>
              <a:ext uri="{FF2B5EF4-FFF2-40B4-BE49-F238E27FC236}">
                <a16:creationId xmlns:a16="http://schemas.microsoft.com/office/drawing/2014/main" id="{9CD9C42D-D552-FB46-BF08-187E6A71C3BA}"/>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4.4 分页存储管理</a:t>
            </a:r>
          </a:p>
        </p:txBody>
      </p:sp>
      <p:pic>
        <p:nvPicPr>
          <p:cNvPr id="65540" name="Picture 4" descr="4-18">
            <a:extLst>
              <a:ext uri="{FF2B5EF4-FFF2-40B4-BE49-F238E27FC236}">
                <a16:creationId xmlns:a16="http://schemas.microsoft.com/office/drawing/2014/main" id="{DE7018BB-A9F4-DE45-9388-F9D012F2B7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4938" y="1785938"/>
            <a:ext cx="3714750" cy="3733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E5BD0E6B-AE17-BE45-8CD9-39FAC83AF969}"/>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分页存储管理的基本原理</a:t>
            </a:r>
          </a:p>
        </p:txBody>
      </p:sp>
      <p:sp>
        <p:nvSpPr>
          <p:cNvPr id="62467" name="Rectangle 3">
            <a:extLst>
              <a:ext uri="{FF2B5EF4-FFF2-40B4-BE49-F238E27FC236}">
                <a16:creationId xmlns:a16="http://schemas.microsoft.com/office/drawing/2014/main" id="{3133AD94-B2BB-524C-99AA-394CD19E5A08}"/>
              </a:ext>
            </a:extLst>
          </p:cNvPr>
          <p:cNvSpPr>
            <a:spLocks noGrp="1" noChangeArrowheads="1"/>
          </p:cNvSpPr>
          <p:nvPr>
            <p:ph type="body" sz="half" idx="1"/>
          </p:nvPr>
        </p:nvSpPr>
        <p:spPr>
          <a:xfrm>
            <a:off x="179388" y="1357313"/>
            <a:ext cx="8640762" cy="4375150"/>
          </a:xfrm>
        </p:spPr>
        <p:txBody>
          <a:bodyPr/>
          <a:lstStyle/>
          <a:p>
            <a:pPr marL="0" indent="341313" eaLnBrk="1" hangingPunct="1">
              <a:lnSpc>
                <a:spcPts val="3200"/>
              </a:lnSpc>
              <a:spcBef>
                <a:spcPct val="0"/>
              </a:spcBef>
              <a:buFont typeface="Wingdings" pitchFamily="2" charset="2"/>
              <a:buNone/>
            </a:pPr>
            <a:r>
              <a:rPr lang="zh-CN" altLang="zh-CN" sz="2200">
                <a:solidFill>
                  <a:srgbClr val="FF0000"/>
                </a:solidFill>
                <a:effectLst/>
                <a:latin typeface="宋体" panose="02010600030101010101" pitchFamily="2" charset="-122"/>
              </a:rPr>
              <a:t>2. 逻辑地址结构</a:t>
            </a:r>
          </a:p>
          <a:p>
            <a:pPr marL="0" indent="341313">
              <a:lnSpc>
                <a:spcPts val="3200"/>
              </a:lnSpc>
              <a:buFont typeface="Wingdings" pitchFamily="2" charset="2"/>
              <a:buNone/>
            </a:pPr>
            <a:r>
              <a:rPr lang="en-US" altLang="zh-CN" sz="2000">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在分页存储管理中，程序（进程）中的逻辑地址被转换为页号和页内地址。这个转换工作在程序执行时由系统硬件自动完成，整个过程对用户透明。因此用户编程时不需要知道逻辑地址与页号和页内地址的对应关系，只需要使用一维的逻辑地址。</a:t>
            </a:r>
            <a:endParaRPr lang="en-US" altLang="zh-CN" sz="2000">
              <a:solidFill>
                <a:schemeClr val="tx1"/>
              </a:solidFill>
              <a:effectLst/>
              <a:latin typeface="Times New Roman" panose="02020603050405020304" pitchFamily="18" charset="0"/>
              <a:cs typeface="Times New Roman" panose="02020603050405020304" pitchFamily="18" charset="0"/>
            </a:endParaRPr>
          </a:p>
          <a:p>
            <a:pPr marL="0" indent="341313">
              <a:lnSpc>
                <a:spcPts val="3200"/>
              </a:lnSpc>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程序的一维逻辑空间经过系统硬件自动分页后，形成“页号</a:t>
            </a:r>
            <a:r>
              <a:rPr lang="en-US" altLang="zh-CN" sz="2000">
                <a:solidFill>
                  <a:schemeClr val="tx1"/>
                </a:solidFill>
                <a:effectLst/>
                <a:latin typeface="Times New Roman" panose="02020603050405020304" pitchFamily="18" charset="0"/>
                <a:cs typeface="Times New Roman" panose="02020603050405020304" pitchFamily="18" charset="0"/>
              </a:rPr>
              <a:t>+</a:t>
            </a:r>
            <a:r>
              <a:rPr lang="zh-CN" altLang="zh-CN" sz="2000">
                <a:solidFill>
                  <a:schemeClr val="tx1"/>
                </a:solidFill>
                <a:effectLst/>
                <a:latin typeface="Times New Roman" panose="02020603050405020304" pitchFamily="18" charset="0"/>
                <a:cs typeface="Times New Roman" panose="02020603050405020304" pitchFamily="18" charset="0"/>
              </a:rPr>
              <a:t>页内地址”的地址结构。其中，</a:t>
            </a:r>
            <a:r>
              <a:rPr lang="en-US" altLang="zh-CN" sz="2000">
                <a:solidFill>
                  <a:schemeClr val="tx1"/>
                </a:solidFill>
                <a:effectLst/>
                <a:latin typeface="Times New Roman" panose="02020603050405020304" pitchFamily="18" charset="0"/>
                <a:cs typeface="Times New Roman" panose="02020603050405020304" pitchFamily="18" charset="0"/>
              </a:rPr>
              <a:t>0</a:t>
            </a:r>
            <a:r>
              <a:rPr lang="zh-CN" altLang="zh-CN" sz="2000">
                <a:solidFill>
                  <a:schemeClr val="tx1"/>
                </a:solidFill>
                <a:effectLst/>
                <a:latin typeface="Times New Roman" panose="02020603050405020304" pitchFamily="18" charset="0"/>
                <a:cs typeface="Times New Roman" panose="02020603050405020304" pitchFamily="18" charset="0"/>
              </a:rPr>
              <a:t>～</a:t>
            </a:r>
            <a:r>
              <a:rPr lang="en-US" altLang="zh-CN" sz="2000">
                <a:solidFill>
                  <a:schemeClr val="tx1"/>
                </a:solidFill>
                <a:effectLst/>
                <a:latin typeface="Times New Roman" panose="02020603050405020304" pitchFamily="18" charset="0"/>
                <a:cs typeface="Times New Roman" panose="02020603050405020304" pitchFamily="18" charset="0"/>
              </a:rPr>
              <a:t>11</a:t>
            </a:r>
            <a:r>
              <a:rPr lang="zh-CN" altLang="zh-CN" sz="2000">
                <a:solidFill>
                  <a:schemeClr val="tx1"/>
                </a:solidFill>
                <a:effectLst/>
                <a:latin typeface="Times New Roman" panose="02020603050405020304" pitchFamily="18" charset="0"/>
                <a:cs typeface="Times New Roman" panose="02020603050405020304" pitchFamily="18" charset="0"/>
              </a:rPr>
              <a:t>位是页内地址，即每个页的大小是</a:t>
            </a:r>
            <a:r>
              <a:rPr lang="en-US" altLang="zh-CN" sz="2000">
                <a:solidFill>
                  <a:schemeClr val="tx1"/>
                </a:solidFill>
                <a:effectLst/>
                <a:latin typeface="Times New Roman" panose="02020603050405020304" pitchFamily="18" charset="0"/>
                <a:cs typeface="Times New Roman" panose="02020603050405020304" pitchFamily="18" charset="0"/>
              </a:rPr>
              <a:t>4KB</a:t>
            </a:r>
            <a:r>
              <a:rPr lang="zh-CN" altLang="zh-CN" sz="2000">
                <a:solidFill>
                  <a:schemeClr val="tx1"/>
                </a:solidFill>
                <a:effectLst/>
                <a:latin typeface="Times New Roman" panose="02020603050405020304" pitchFamily="18" charset="0"/>
                <a:cs typeface="Times New Roman" panose="02020603050405020304" pitchFamily="18" charset="0"/>
              </a:rPr>
              <a:t>；</a:t>
            </a:r>
            <a:r>
              <a:rPr lang="en-US" altLang="zh-CN" sz="2000">
                <a:solidFill>
                  <a:schemeClr val="tx1"/>
                </a:solidFill>
                <a:effectLst/>
                <a:latin typeface="Times New Roman" panose="02020603050405020304" pitchFamily="18" charset="0"/>
                <a:cs typeface="Times New Roman" panose="02020603050405020304" pitchFamily="18" charset="0"/>
              </a:rPr>
              <a:t>12</a:t>
            </a:r>
            <a:r>
              <a:rPr lang="zh-CN" altLang="zh-CN" sz="2000">
                <a:solidFill>
                  <a:schemeClr val="tx1"/>
                </a:solidFill>
                <a:effectLst/>
                <a:latin typeface="Times New Roman" panose="02020603050405020304" pitchFamily="18" charset="0"/>
                <a:cs typeface="Times New Roman" panose="02020603050405020304" pitchFamily="18" charset="0"/>
              </a:rPr>
              <a:t>～</a:t>
            </a:r>
            <a:r>
              <a:rPr lang="en-US" altLang="zh-CN" sz="2000">
                <a:solidFill>
                  <a:schemeClr val="tx1"/>
                </a:solidFill>
                <a:effectLst/>
                <a:latin typeface="Times New Roman" panose="02020603050405020304" pitchFamily="18" charset="0"/>
                <a:cs typeface="Times New Roman" panose="02020603050405020304" pitchFamily="18" charset="0"/>
              </a:rPr>
              <a:t>31</a:t>
            </a:r>
            <a:r>
              <a:rPr lang="zh-CN" altLang="zh-CN" sz="2000">
                <a:solidFill>
                  <a:schemeClr val="tx1"/>
                </a:solidFill>
                <a:effectLst/>
                <a:latin typeface="Times New Roman" panose="02020603050405020304" pitchFamily="18" charset="0"/>
                <a:cs typeface="Times New Roman" panose="02020603050405020304" pitchFamily="18" charset="0"/>
              </a:rPr>
              <a:t>位是页号，即地址空间最多允许有</a:t>
            </a:r>
            <a:r>
              <a:rPr lang="en-US" altLang="zh-CN" sz="2000">
                <a:solidFill>
                  <a:schemeClr val="tx1"/>
                </a:solidFill>
                <a:effectLst/>
                <a:latin typeface="Times New Roman" panose="02020603050405020304" pitchFamily="18" charset="0"/>
                <a:cs typeface="Times New Roman" panose="02020603050405020304" pitchFamily="18" charset="0"/>
              </a:rPr>
              <a:t>1M</a:t>
            </a:r>
            <a:r>
              <a:rPr lang="zh-CN" altLang="zh-CN" sz="2000">
                <a:solidFill>
                  <a:schemeClr val="tx1"/>
                </a:solidFill>
                <a:effectLst/>
                <a:latin typeface="Times New Roman" panose="02020603050405020304" pitchFamily="18" charset="0"/>
                <a:cs typeface="Times New Roman" panose="02020603050405020304" pitchFamily="18" charset="0"/>
              </a:rPr>
              <a:t>个页。一维逻辑地址与页号和页内地址的关系是（注：页长即一页的大小）：</a:t>
            </a:r>
            <a:endParaRPr lang="zh-CN" altLang="zh-CN" sz="2000">
              <a:solidFill>
                <a:schemeClr val="tx1"/>
              </a:solidFill>
              <a:effectLst/>
              <a:latin typeface="等线" panose="02010600030101010101" pitchFamily="2" charset="-122"/>
              <a:ea typeface="等线" panose="02010600030101010101" pitchFamily="2" charset="-122"/>
              <a:cs typeface="Times New Roman" panose="02020603050405020304" pitchFamily="18" charset="0"/>
            </a:endParaRPr>
          </a:p>
          <a:p>
            <a:pPr marL="0" indent="341313" algn="just">
              <a:buFont typeface="Wingdings" pitchFamily="2" charset="2"/>
              <a:buNone/>
            </a:pPr>
            <a:r>
              <a:rPr lang="en-US" altLang="zh-CN" sz="2000">
                <a:solidFill>
                  <a:srgbClr val="FF0000"/>
                </a:solidFill>
                <a:effectLst/>
                <a:latin typeface="Times New Roman" panose="02020603050405020304" pitchFamily="18" charset="0"/>
                <a:cs typeface="Times New Roman" panose="02020603050405020304" pitchFamily="18" charset="0"/>
              </a:rPr>
              <a:t>                               </a:t>
            </a:r>
            <a:r>
              <a:rPr lang="zh-CN" altLang="zh-CN" sz="2000">
                <a:solidFill>
                  <a:srgbClr val="FF0000"/>
                </a:solidFill>
                <a:effectLst/>
                <a:latin typeface="Times New Roman" panose="02020603050405020304" pitchFamily="18" charset="0"/>
                <a:cs typeface="Times New Roman" panose="02020603050405020304" pitchFamily="18" charset="0"/>
              </a:rPr>
              <a:t>一维逻辑地址＝页号×页长＋页内地址</a:t>
            </a:r>
            <a:endParaRPr lang="zh-CN" altLang="zh-CN" sz="2000">
              <a:solidFill>
                <a:srgbClr val="FF0000"/>
              </a:solidFill>
              <a:effectLst/>
              <a:latin typeface="等线" panose="02010600030101010101" pitchFamily="2" charset="-122"/>
              <a:ea typeface="等线" panose="02010600030101010101" pitchFamily="2" charset="-122"/>
            </a:endParaRPr>
          </a:p>
        </p:txBody>
      </p:sp>
      <p:pic>
        <p:nvPicPr>
          <p:cNvPr id="66564" name="Picture 5" descr="4-19">
            <a:extLst>
              <a:ext uri="{FF2B5EF4-FFF2-40B4-BE49-F238E27FC236}">
                <a16:creationId xmlns:a16="http://schemas.microsoft.com/office/drawing/2014/main" id="{894F2C82-A6A2-6444-A09C-6F68FE0E51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4625" y="5805488"/>
            <a:ext cx="3714750" cy="862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a:extLst>
              <a:ext uri="{FF2B5EF4-FFF2-40B4-BE49-F238E27FC236}">
                <a16:creationId xmlns:a16="http://schemas.microsoft.com/office/drawing/2014/main" id="{7337B81B-F7C1-A240-8EAF-AD5D319FE4E8}"/>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分页存储管理的基本原理</a:t>
            </a:r>
          </a:p>
        </p:txBody>
      </p:sp>
      <p:sp>
        <p:nvSpPr>
          <p:cNvPr id="63491" name="Rectangle 3">
            <a:extLst>
              <a:ext uri="{FF2B5EF4-FFF2-40B4-BE49-F238E27FC236}">
                <a16:creationId xmlns:a16="http://schemas.microsoft.com/office/drawing/2014/main" id="{F9ACE1C0-7B5E-3C42-8395-8C355DCD2580}"/>
              </a:ext>
            </a:extLst>
          </p:cNvPr>
          <p:cNvSpPr>
            <a:spLocks noGrp="1" noChangeArrowheads="1"/>
          </p:cNvSpPr>
          <p:nvPr>
            <p:ph type="body" sz="half" idx="1"/>
          </p:nvPr>
        </p:nvSpPr>
        <p:spPr>
          <a:xfrm>
            <a:off x="285750" y="1201738"/>
            <a:ext cx="4929188" cy="2155825"/>
          </a:xfrm>
        </p:spPr>
        <p:txBody>
          <a:bodyPr/>
          <a:lstStyle/>
          <a:p>
            <a:pPr marL="0" indent="341313" eaLnBrk="1" hangingPunct="1">
              <a:lnSpc>
                <a:spcPct val="150000"/>
              </a:lnSpc>
              <a:spcBef>
                <a:spcPct val="0"/>
              </a:spcBef>
              <a:buFont typeface="Wingdings" pitchFamily="2" charset="2"/>
              <a:buNone/>
            </a:pPr>
            <a:r>
              <a:rPr lang="zh-CN" altLang="zh-CN" sz="2200">
                <a:solidFill>
                  <a:srgbClr val="FF0000"/>
                </a:solidFill>
                <a:effectLst/>
                <a:latin typeface="宋体" panose="02010600030101010101" pitchFamily="2" charset="-122"/>
              </a:rPr>
              <a:t>3. 数据结构</a:t>
            </a:r>
          </a:p>
          <a:p>
            <a:pPr marL="0" indent="341313" algn="just" eaLnBrk="1" hangingPunct="1">
              <a:lnSpc>
                <a:spcPct val="150000"/>
              </a:lnSpc>
              <a:spcBef>
                <a:spcPct val="0"/>
              </a:spcBef>
              <a:buFont typeface="Wingdings" pitchFamily="2" charset="2"/>
              <a:buNone/>
            </a:pPr>
            <a:r>
              <a:rPr lang="zh-CN" altLang="zh-CN" sz="1800">
                <a:solidFill>
                  <a:schemeClr val="tx1"/>
                </a:solidFill>
                <a:effectLst/>
                <a:latin typeface="宋体" panose="02010600030101010101" pitchFamily="2" charset="-122"/>
              </a:rPr>
              <a:t>（1）页表</a:t>
            </a:r>
          </a:p>
          <a:p>
            <a:pPr marL="0" indent="341313" algn="just" eaLnBrk="1" hangingPunct="1">
              <a:lnSpc>
                <a:spcPct val="150000"/>
              </a:lnSpc>
              <a:spcBef>
                <a:spcPct val="0"/>
              </a:spcBef>
              <a:buFont typeface="Wingdings" pitchFamily="2" charset="2"/>
              <a:buNone/>
            </a:pPr>
            <a:r>
              <a:rPr lang="zh-CN" altLang="en-US" sz="1800">
                <a:solidFill>
                  <a:schemeClr val="tx1"/>
                </a:solidFill>
                <a:effectLst>
                  <a:outerShdw blurRad="38100" dist="38100" dir="2700000" algn="tl">
                    <a:srgbClr val="FFFFFF"/>
                  </a:outerShdw>
                </a:effectLst>
              </a:rPr>
              <a:t>在分页系统中，允许页以离散方式存储在内存不同的物理块里，为了使程序能够正确运行，必须在内存空间中找到存放每个页的物理块。因此操作系统为每个程序（进程）建立了一张页表，</a:t>
            </a:r>
            <a:r>
              <a:rPr lang="zh-CN" altLang="zh-CN" sz="1800">
                <a:solidFill>
                  <a:schemeClr val="tx1"/>
                </a:solidFill>
                <a:effectLst/>
                <a:latin typeface="宋体" panose="02010600030101010101" pitchFamily="2" charset="-122"/>
              </a:rPr>
              <a:t>用来映射页号与内存物理块号之间的对应关系</a:t>
            </a:r>
            <a:r>
              <a:rPr lang="zh-CN" altLang="en-US" sz="1800">
                <a:solidFill>
                  <a:schemeClr val="tx1"/>
                </a:solidFill>
                <a:effectLst/>
                <a:latin typeface="宋体" panose="02010600030101010101" pitchFamily="2" charset="-122"/>
              </a:rPr>
              <a:t>。</a:t>
            </a:r>
            <a:endParaRPr lang="zh-CN" altLang="zh-CN" sz="1800">
              <a:solidFill>
                <a:schemeClr val="tx1"/>
              </a:solidFill>
              <a:effectLst/>
              <a:latin typeface="宋体" panose="02010600030101010101" pitchFamily="2" charset="-122"/>
            </a:endParaRPr>
          </a:p>
        </p:txBody>
      </p:sp>
      <p:sp>
        <p:nvSpPr>
          <p:cNvPr id="67588" name="Text Box 6">
            <a:extLst>
              <a:ext uri="{FF2B5EF4-FFF2-40B4-BE49-F238E27FC236}">
                <a16:creationId xmlns:a16="http://schemas.microsoft.com/office/drawing/2014/main" id="{87EB1E38-9919-734D-ABE2-3B1482F3780A}"/>
              </a:ext>
            </a:extLst>
          </p:cNvPr>
          <p:cNvSpPr txBox="1">
            <a:spLocks noChangeArrowheads="1"/>
          </p:cNvSpPr>
          <p:nvPr/>
        </p:nvSpPr>
        <p:spPr bwMode="auto">
          <a:xfrm>
            <a:off x="285750" y="4500563"/>
            <a:ext cx="5072063" cy="2586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indent="341313">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lnSpc>
                <a:spcPct val="150000"/>
              </a:lnSpc>
              <a:spcBef>
                <a:spcPct val="0"/>
              </a:spcBef>
              <a:buFontTx/>
              <a:buNone/>
            </a:pPr>
            <a:r>
              <a:rPr lang="zh-CN" altLang="en-US" sz="1800">
                <a:solidFill>
                  <a:schemeClr val="tx1"/>
                </a:solidFill>
                <a:latin typeface="宋体" panose="02010600030101010101" pitchFamily="2" charset="-122"/>
              </a:rPr>
              <a:t>（</a:t>
            </a:r>
            <a:r>
              <a:rPr lang="en-US" altLang="zh-CN" sz="1800">
                <a:solidFill>
                  <a:schemeClr val="tx1"/>
                </a:solidFill>
                <a:latin typeface="宋体" panose="02010600030101010101" pitchFamily="2" charset="-122"/>
              </a:rPr>
              <a:t>2</a:t>
            </a:r>
            <a:r>
              <a:rPr lang="zh-CN" altLang="en-US" sz="1800">
                <a:solidFill>
                  <a:schemeClr val="tx1"/>
                </a:solidFill>
                <a:latin typeface="宋体" panose="02010600030101010101" pitchFamily="2" charset="-122"/>
              </a:rPr>
              <a:t>）内存分配表</a:t>
            </a:r>
          </a:p>
          <a:p>
            <a:pPr eaLnBrk="1" hangingPunct="1">
              <a:lnSpc>
                <a:spcPct val="150000"/>
              </a:lnSpc>
              <a:spcBef>
                <a:spcPct val="0"/>
              </a:spcBef>
              <a:buFontTx/>
              <a:buNone/>
            </a:pPr>
            <a:r>
              <a:rPr lang="zh-CN" altLang="en-US" sz="1800">
                <a:solidFill>
                  <a:schemeClr val="tx1"/>
                </a:solidFill>
                <a:latin typeface="宋体" panose="02010600030101010101" pitchFamily="2" charset="-122"/>
              </a:rPr>
              <a:t>系统建立一张内存分配表来记录内存中物理块的分配情况。</a:t>
            </a:r>
          </a:p>
          <a:p>
            <a:pPr eaLnBrk="1" hangingPunct="1">
              <a:lnSpc>
                <a:spcPct val="150000"/>
              </a:lnSpc>
              <a:spcBef>
                <a:spcPct val="0"/>
              </a:spcBef>
              <a:buFontTx/>
              <a:buNone/>
            </a:pPr>
            <a:r>
              <a:rPr lang="zh-CN" altLang="en-US" sz="1800">
                <a:solidFill>
                  <a:schemeClr val="tx1"/>
                </a:solidFill>
                <a:latin typeface="宋体" panose="02010600030101010101" pitchFamily="2" charset="-122"/>
              </a:rPr>
              <a:t>最简单的办法是用一张位示图（</a:t>
            </a:r>
            <a:r>
              <a:rPr lang="en-US" altLang="zh-CN" sz="1800">
                <a:solidFill>
                  <a:schemeClr val="tx1"/>
                </a:solidFill>
                <a:latin typeface="宋体" panose="02010600030101010101" pitchFamily="2" charset="-122"/>
              </a:rPr>
              <a:t>Bitmap</a:t>
            </a:r>
            <a:r>
              <a:rPr lang="zh-CN" altLang="en-US" sz="1800">
                <a:solidFill>
                  <a:schemeClr val="tx1"/>
                </a:solidFill>
                <a:latin typeface="宋体" panose="02010600030101010101" pitchFamily="2" charset="-122"/>
              </a:rPr>
              <a:t>）来构成内存分配表。</a:t>
            </a:r>
          </a:p>
          <a:p>
            <a:pPr eaLnBrk="1" hangingPunct="1">
              <a:lnSpc>
                <a:spcPct val="150000"/>
              </a:lnSpc>
              <a:spcBef>
                <a:spcPct val="0"/>
              </a:spcBef>
              <a:buFontTx/>
              <a:buNone/>
            </a:pPr>
            <a:endParaRPr lang="en-US" altLang="zh-CN" sz="1800">
              <a:solidFill>
                <a:schemeClr val="tx1"/>
              </a:solidFill>
              <a:latin typeface="宋体" panose="02010600030101010101" pitchFamily="2" charset="-122"/>
            </a:endParaRPr>
          </a:p>
        </p:txBody>
      </p:sp>
      <p:pic>
        <p:nvPicPr>
          <p:cNvPr id="67589" name="Picture 7" descr="4-21">
            <a:extLst>
              <a:ext uri="{FF2B5EF4-FFF2-40B4-BE49-F238E27FC236}">
                <a16:creationId xmlns:a16="http://schemas.microsoft.com/office/drawing/2014/main" id="{D0D0D0B3-CD33-7C45-98BF-B6AFFDDB2B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0" y="4857750"/>
            <a:ext cx="3529013" cy="1865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590" name="Picture 7">
            <a:extLst>
              <a:ext uri="{FF2B5EF4-FFF2-40B4-BE49-F238E27FC236}">
                <a16:creationId xmlns:a16="http://schemas.microsoft.com/office/drawing/2014/main" id="{2B96D53E-A56E-814C-8C03-B8D2E36A99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29250" y="1385888"/>
            <a:ext cx="3594100" cy="3267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B0656A2E-322E-A14D-BBF3-E4A1BC24E817}"/>
              </a:ext>
            </a:extLst>
          </p:cNvPr>
          <p:cNvSpPr>
            <a:spLocks noGrp="1" noChangeArrowheads="1"/>
          </p:cNvSpPr>
          <p:nvPr>
            <p:ph type="body" idx="1"/>
          </p:nvPr>
        </p:nvSpPr>
        <p:spPr>
          <a:xfrm>
            <a:off x="571500" y="1214438"/>
            <a:ext cx="7848600" cy="3000375"/>
          </a:xfrm>
        </p:spPr>
        <p:txBody>
          <a:bodyPr/>
          <a:lstStyle/>
          <a:p>
            <a:pPr algn="just">
              <a:buFont typeface="Wingdings" pitchFamily="2" charset="2"/>
              <a:buNone/>
            </a:pPr>
            <a:r>
              <a:rPr lang="en-US" altLang="zh-CN">
                <a:solidFill>
                  <a:srgbClr val="FF0000"/>
                </a:solidFill>
                <a:effectLst>
                  <a:outerShdw blurRad="38100" dist="38100" dir="2700000" algn="tl">
                    <a:srgbClr val="FFFFFF"/>
                  </a:outerShdw>
                </a:effectLst>
              </a:rPr>
              <a:t>4.4.2  </a:t>
            </a:r>
            <a:r>
              <a:rPr lang="zh-CN" altLang="en-US">
                <a:solidFill>
                  <a:srgbClr val="FF0000"/>
                </a:solidFill>
                <a:effectLst>
                  <a:outerShdw blurRad="38100" dist="38100" dir="2700000" algn="tl">
                    <a:srgbClr val="FFFFFF"/>
                  </a:outerShdw>
                </a:effectLst>
              </a:rPr>
              <a:t>分页存储管理的地址转换与存储保护</a:t>
            </a:r>
          </a:p>
          <a:p>
            <a:pPr algn="just" eaLnBrk="1" hangingPunct="1">
              <a:lnSpc>
                <a:spcPct val="120000"/>
              </a:lnSpc>
              <a:spcBef>
                <a:spcPct val="0"/>
              </a:spcBef>
              <a:buFont typeface="Wingdings" pitchFamily="2" charset="2"/>
              <a:buNone/>
            </a:pPr>
            <a:r>
              <a:rPr lang="en-US" altLang="zh-CN" sz="2200">
                <a:solidFill>
                  <a:srgbClr val="FF0000"/>
                </a:solidFill>
                <a:effectLst/>
                <a:latin typeface="宋体" panose="02010600030101010101" pitchFamily="2" charset="-122"/>
              </a:rPr>
              <a:t>1. </a:t>
            </a:r>
            <a:r>
              <a:rPr lang="zh-CN" altLang="en-US" sz="2200">
                <a:solidFill>
                  <a:srgbClr val="FF0000"/>
                </a:solidFill>
                <a:effectLst/>
                <a:latin typeface="宋体" panose="02010600030101010101" pitchFamily="2" charset="-122"/>
              </a:rPr>
              <a:t>地址转换</a:t>
            </a:r>
          </a:p>
          <a:p>
            <a:pPr algn="just" eaLnBrk="1" hangingPunct="1">
              <a:lnSpc>
                <a:spcPct val="120000"/>
              </a:lnSpc>
              <a:spcBef>
                <a:spcPct val="0"/>
              </a:spcBef>
              <a:buFont typeface="Wingdings" pitchFamily="2" charset="2"/>
              <a:buNone/>
            </a:pPr>
            <a:r>
              <a:rPr lang="zh-CN" altLang="en-US" sz="2000">
                <a:solidFill>
                  <a:schemeClr val="tx1"/>
                </a:solidFill>
                <a:effectLst/>
                <a:latin typeface="宋体" panose="02010600030101010101" pitchFamily="2" charset="-122"/>
              </a:rPr>
              <a:t>在分页存储管理系统中，系统为每个程序建立了一张页表。当程序被装入内存但尚未运行时，页表起始地址和页表长度等信息被保存到为该程序（进程）创建的</a:t>
            </a:r>
            <a:r>
              <a:rPr lang="en-US" altLang="zh-CN" sz="2000">
                <a:solidFill>
                  <a:schemeClr val="tx1"/>
                </a:solidFill>
                <a:effectLst/>
                <a:latin typeface="宋体" panose="02010600030101010101" pitchFamily="2" charset="-122"/>
              </a:rPr>
              <a:t>PCB</a:t>
            </a:r>
            <a:r>
              <a:rPr lang="zh-CN" altLang="en-US" sz="2000">
                <a:solidFill>
                  <a:schemeClr val="tx1"/>
                </a:solidFill>
                <a:effectLst/>
                <a:latin typeface="宋体" panose="02010600030101010101" pitchFamily="2" charset="-122"/>
              </a:rPr>
              <a:t>中；一旦调度程序调度该进程运行时，其</a:t>
            </a:r>
            <a:r>
              <a:rPr lang="en-US" altLang="zh-CN" sz="2000">
                <a:solidFill>
                  <a:schemeClr val="tx1"/>
                </a:solidFill>
                <a:effectLst/>
                <a:latin typeface="宋体" panose="02010600030101010101" pitchFamily="2" charset="-122"/>
              </a:rPr>
              <a:t>PCB</a:t>
            </a:r>
            <a:r>
              <a:rPr lang="zh-CN" altLang="en-US" sz="2000">
                <a:solidFill>
                  <a:schemeClr val="tx1"/>
                </a:solidFill>
                <a:effectLst/>
                <a:latin typeface="宋体" panose="02010600030101010101" pitchFamily="2" charset="-122"/>
              </a:rPr>
              <a:t>中保存的页表始址和页表长度信息便被装入页表控制寄存器中。</a:t>
            </a:r>
          </a:p>
        </p:txBody>
      </p:sp>
      <p:sp>
        <p:nvSpPr>
          <p:cNvPr id="81923" name="AutoShape 3">
            <a:extLst>
              <a:ext uri="{FF2B5EF4-FFF2-40B4-BE49-F238E27FC236}">
                <a16:creationId xmlns:a16="http://schemas.microsoft.com/office/drawing/2014/main" id="{D4593207-2E2B-2E42-AFB3-8D5562D29564}"/>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4.4 分页存储管理</a:t>
            </a:r>
          </a:p>
        </p:txBody>
      </p:sp>
      <p:pic>
        <p:nvPicPr>
          <p:cNvPr id="68612" name="Picture 5" descr="4-22">
            <a:extLst>
              <a:ext uri="{FF2B5EF4-FFF2-40B4-BE49-F238E27FC236}">
                <a16:creationId xmlns:a16="http://schemas.microsoft.com/office/drawing/2014/main" id="{932CCD8F-5E72-2C46-A196-63066A30B8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47900" y="3571875"/>
            <a:ext cx="6110288" cy="3214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99843867-E601-4546-8AE6-BA21C2B8262F}"/>
              </a:ext>
            </a:extLst>
          </p:cNvPr>
          <p:cNvSpPr>
            <a:spLocks noGrp="1" noChangeArrowheads="1"/>
          </p:cNvSpPr>
          <p:nvPr>
            <p:ph type="title"/>
          </p:nvPr>
        </p:nvSpPr>
        <p:spPr>
          <a:noFill/>
        </p:spPr>
        <p:txBody>
          <a:bodyPr/>
          <a:lstStyle/>
          <a:p>
            <a:pPr eaLnBrk="1" hangingPunct="1"/>
            <a:r>
              <a:rPr lang="zh-CN" altLang="en-US" sz="2800" dirty="0">
                <a:solidFill>
                  <a:srgbClr val="FF0000"/>
                </a:solidFill>
                <a:latin typeface="宋体" panose="02010600030101010101" pitchFamily="2" charset="-122"/>
              </a:rPr>
              <a:t>分页存储管理的地址转换与存储保护</a:t>
            </a:r>
          </a:p>
        </p:txBody>
      </p:sp>
      <p:sp>
        <p:nvSpPr>
          <p:cNvPr id="59395" name="Rectangle 3">
            <a:extLst>
              <a:ext uri="{FF2B5EF4-FFF2-40B4-BE49-F238E27FC236}">
                <a16:creationId xmlns:a16="http://schemas.microsoft.com/office/drawing/2014/main" id="{7C68E505-24C5-0B4B-BB6E-22D0B93E9CC5}"/>
              </a:ext>
            </a:extLst>
          </p:cNvPr>
          <p:cNvSpPr>
            <a:spLocks noGrp="1" noChangeArrowheads="1"/>
          </p:cNvSpPr>
          <p:nvPr>
            <p:ph type="body" sz="half" idx="1"/>
          </p:nvPr>
        </p:nvSpPr>
        <p:spPr>
          <a:xfrm>
            <a:off x="395288" y="1320800"/>
            <a:ext cx="8640762" cy="5168900"/>
          </a:xfrm>
        </p:spPr>
        <p:txBody>
          <a:bodyPr/>
          <a:lstStyle/>
          <a:p>
            <a:pPr marL="0" indent="341313" eaLnBrk="1" hangingPunct="1">
              <a:lnSpc>
                <a:spcPts val="32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地址转换机构按照下列步骤完成逻辑地址到物理地址的转换工作：</a:t>
            </a:r>
          </a:p>
          <a:p>
            <a:pPr marL="0" indent="341313" eaLnBrk="1" hangingPunct="1">
              <a:lnSpc>
                <a:spcPts val="32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硬件</a:t>
            </a:r>
            <a:r>
              <a:rPr lang="zh-CN" altLang="zh-CN" sz="2000">
                <a:solidFill>
                  <a:schemeClr val="tx1"/>
                </a:solidFill>
                <a:effectLst/>
                <a:latin typeface="宋体" panose="02010600030101010101" pitchFamily="2" charset="-122"/>
              </a:rPr>
              <a:t>地址转换机构自动将一维逻辑地址划分为页号和页内地址。</a:t>
            </a:r>
            <a:endParaRPr lang="zh-CN" altLang="en-US" sz="2000">
              <a:solidFill>
                <a:schemeClr val="tx1"/>
              </a:solidFill>
              <a:effectLst/>
              <a:latin typeface="宋体" panose="02010600030101010101" pitchFamily="2" charset="-122"/>
            </a:endParaRPr>
          </a:p>
          <a:p>
            <a:pPr marL="0" indent="341313" eaLnBrk="1" hangingPunct="1">
              <a:lnSpc>
                <a:spcPts val="32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（2）将</a:t>
            </a:r>
            <a:r>
              <a:rPr lang="zh-CN" altLang="zh-CN" sz="2000">
                <a:solidFill>
                  <a:schemeClr val="tx1"/>
                </a:solidFill>
                <a:effectLst/>
                <a:latin typeface="Times New Roman" panose="02020603050405020304" pitchFamily="18" charset="0"/>
                <a:cs typeface="Times New Roman" panose="02020603050405020304" pitchFamily="18" charset="0"/>
              </a:rPr>
              <a:t>从逻辑地址中</a:t>
            </a:r>
            <a:r>
              <a:rPr lang="zh-CN" altLang="zh-CN" sz="2000">
                <a:solidFill>
                  <a:schemeClr val="tx1"/>
                </a:solidFill>
                <a:effectLst/>
                <a:latin typeface="宋体" panose="02010600030101010101" pitchFamily="2" charset="-122"/>
              </a:rPr>
              <a:t>得到的页号与页表控制寄存器中存放的页表长度进行比较，如果页号大于页表长度，系统就产生地址越界中断，表示要访问的</a:t>
            </a:r>
            <a:r>
              <a:rPr lang="zh-CN" altLang="en-US" sz="2000">
                <a:solidFill>
                  <a:schemeClr val="tx1"/>
                </a:solidFill>
                <a:effectLst/>
                <a:latin typeface="宋体" panose="02010600030101010101" pitchFamily="2" charset="-122"/>
              </a:rPr>
              <a:t>逻辑</a:t>
            </a:r>
            <a:r>
              <a:rPr lang="zh-CN" altLang="zh-CN" sz="2000">
                <a:solidFill>
                  <a:schemeClr val="tx1"/>
                </a:solidFill>
                <a:effectLst/>
                <a:latin typeface="宋体" panose="02010600030101010101" pitchFamily="2" charset="-122"/>
              </a:rPr>
              <a:t>地址已经超过了该进程的</a:t>
            </a:r>
            <a:r>
              <a:rPr lang="zh-CN" altLang="en-US" sz="2000">
                <a:solidFill>
                  <a:schemeClr val="tx1"/>
                </a:solidFill>
                <a:effectLst/>
                <a:latin typeface="宋体" panose="02010600030101010101" pitchFamily="2" charset="-122"/>
              </a:rPr>
              <a:t>逻辑</a:t>
            </a:r>
            <a:r>
              <a:rPr lang="zh-CN" altLang="zh-CN" sz="2000">
                <a:solidFill>
                  <a:schemeClr val="tx1"/>
                </a:solidFill>
                <a:effectLst/>
                <a:latin typeface="宋体" panose="02010600030101010101" pitchFamily="2" charset="-122"/>
              </a:rPr>
              <a:t>地址空间；否则就根据页表控制寄存器中的页表始址</a:t>
            </a:r>
            <a:r>
              <a:rPr lang="zh-CN" altLang="en-US" sz="2000">
                <a:solidFill>
                  <a:schemeClr val="tx1"/>
                </a:solidFill>
                <a:effectLst/>
                <a:latin typeface="宋体" panose="02010600030101010101" pitchFamily="2" charset="-122"/>
              </a:rPr>
              <a:t>，</a:t>
            </a:r>
            <a:r>
              <a:rPr lang="zh-CN" altLang="zh-CN" sz="2000">
                <a:solidFill>
                  <a:schemeClr val="tx1"/>
                </a:solidFill>
                <a:effectLst/>
                <a:latin typeface="宋体" panose="02010600030101010101" pitchFamily="2" charset="-122"/>
              </a:rPr>
              <a:t>找到页表在内存中存放的</a:t>
            </a:r>
            <a:r>
              <a:rPr lang="zh-CN" altLang="en-US" sz="2000">
                <a:solidFill>
                  <a:schemeClr val="tx1"/>
                </a:solidFill>
                <a:effectLst/>
                <a:latin typeface="宋体" panose="02010600030101010101" pitchFamily="2" charset="-122"/>
              </a:rPr>
              <a:t>起始</a:t>
            </a:r>
            <a:r>
              <a:rPr lang="zh-CN" altLang="zh-CN" sz="2000">
                <a:solidFill>
                  <a:schemeClr val="tx1"/>
                </a:solidFill>
                <a:effectLst/>
                <a:latin typeface="宋体" panose="02010600030101010101" pitchFamily="2" charset="-122"/>
              </a:rPr>
              <a:t>地址。</a:t>
            </a:r>
            <a:endParaRPr lang="zh-CN" altLang="en-US" sz="2000">
              <a:solidFill>
                <a:schemeClr val="tx1"/>
              </a:solidFill>
              <a:effectLst/>
              <a:latin typeface="宋体" panose="02010600030101010101" pitchFamily="2" charset="-122"/>
            </a:endParaRPr>
          </a:p>
          <a:p>
            <a:pPr marL="0" indent="341313" eaLnBrk="1" hangingPunct="1">
              <a:lnSpc>
                <a:spcPts val="32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（3）</a:t>
            </a:r>
            <a:r>
              <a:rPr lang="zh-CN" altLang="zh-CN" sz="2000">
                <a:solidFill>
                  <a:schemeClr val="tx1"/>
                </a:solidFill>
                <a:effectLst/>
                <a:latin typeface="Times New Roman" panose="02020603050405020304" pitchFamily="18" charset="0"/>
                <a:cs typeface="Times New Roman" panose="02020603050405020304" pitchFamily="18" charset="0"/>
              </a:rPr>
              <a:t>由页表的起始地址（指向</a:t>
            </a:r>
            <a:r>
              <a:rPr lang="en-US" altLang="zh-CN" sz="2000">
                <a:solidFill>
                  <a:schemeClr val="tx1"/>
                </a:solidFill>
                <a:effectLst/>
                <a:latin typeface="Times New Roman" panose="02020603050405020304" pitchFamily="18" charset="0"/>
              </a:rPr>
              <a:t>0</a:t>
            </a:r>
            <a:r>
              <a:rPr lang="zh-CN" altLang="zh-CN" sz="2000">
                <a:solidFill>
                  <a:schemeClr val="tx1"/>
                </a:solidFill>
                <a:effectLst/>
                <a:latin typeface="Times New Roman" panose="02020603050405020304" pitchFamily="18" charset="0"/>
                <a:cs typeface="Times New Roman" panose="02020603050405020304" pitchFamily="18" charset="0"/>
              </a:rPr>
              <a:t>号页）加上逻辑地址中的页号（在页表中该页号又表示页表项的相对位移）得到该页号所在的页表项位置，由这个页表项可得到该页映射（装入）的内存物理块号。最后，将这个物理块号与逻辑地址中的页内地址拼接在一起（不是相加），即用物理块号取代逻辑地址中的页号，而页内地址保持不变就形成了要访问的内存物理地址</a:t>
            </a:r>
            <a:r>
              <a:rPr lang="zh-CN" altLang="zh-CN" sz="2000">
                <a:solidFill>
                  <a:schemeClr val="tx1"/>
                </a:solidFill>
                <a:effectLst/>
                <a:latin typeface="宋体" panose="02010600030101010101" pitchFamily="2" charset="-122"/>
              </a:rPr>
              <a:t>。</a:t>
            </a:r>
            <a:endParaRPr lang="zh-CN" altLang="en-US" sz="2000">
              <a:solidFill>
                <a:schemeClr val="tx1"/>
              </a:solidFill>
              <a:effectLst/>
              <a:latin typeface="宋体" panose="02010600030101010101" pitchFamily="2" charset="-122"/>
            </a:endParaRPr>
          </a:p>
          <a:p>
            <a:pPr marL="0" indent="341313"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实际要访问的物理地址与物理块号和页内地址的关系是：</a:t>
            </a:r>
          </a:p>
          <a:p>
            <a:pPr marL="0" indent="341313" eaLnBrk="1" hangingPunct="1">
              <a:lnSpc>
                <a:spcPts val="3200"/>
              </a:lnSpc>
              <a:spcBef>
                <a:spcPct val="0"/>
              </a:spcBef>
              <a:buFont typeface="Wingdings" pitchFamily="2" charset="2"/>
              <a:buNone/>
            </a:pPr>
            <a:r>
              <a:rPr lang="zh-CN" altLang="zh-CN" sz="2000">
                <a:solidFill>
                  <a:srgbClr val="FF0000"/>
                </a:solidFill>
                <a:effectLst/>
                <a:latin typeface="宋体" panose="02010600030101010101" pitchFamily="2" charset="-122"/>
              </a:rPr>
              <a:t>           物理地址＝物理块号×页长＋页内地址</a:t>
            </a:r>
          </a:p>
          <a:p>
            <a:pPr marL="0" indent="341313" eaLnBrk="1" hangingPunct="1">
              <a:lnSpc>
                <a:spcPct val="120000"/>
              </a:lnSpc>
              <a:spcBef>
                <a:spcPct val="0"/>
              </a:spcBef>
              <a:buFont typeface="Wingdings" pitchFamily="2" charset="2"/>
              <a:buNone/>
            </a:pPr>
            <a:endParaRPr lang="zh-CN"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4">
            <a:extLst>
              <a:ext uri="{FF2B5EF4-FFF2-40B4-BE49-F238E27FC236}">
                <a16:creationId xmlns:a16="http://schemas.microsoft.com/office/drawing/2014/main" id="{8162C5E2-A867-D043-A1E6-DD63CE804154}"/>
              </a:ext>
            </a:extLst>
          </p:cNvPr>
          <p:cNvSpPr txBox="1"/>
          <p:nvPr/>
        </p:nvSpPr>
        <p:spPr>
          <a:xfrm>
            <a:off x="35315" y="5356878"/>
            <a:ext cx="8929174" cy="981423"/>
          </a:xfrm>
          <a:prstGeom prst="rect">
            <a:avLst/>
          </a:prstGeom>
          <a:noFill/>
        </p:spPr>
        <p:txBody>
          <a:bodyPr wrap="square">
            <a:spAutoFit/>
          </a:bodyPr>
          <a:lstStyle/>
          <a:p>
            <a:pPr eaLnBrk="1" fontAlgn="auto" hangingPunct="1">
              <a:lnSpc>
                <a:spcPts val="2400"/>
              </a:lnSpc>
              <a:spcBef>
                <a:spcPts val="0"/>
              </a:spcBef>
              <a:spcAft>
                <a:spcPts val="0"/>
              </a:spcAft>
            </a:pPr>
            <a:r>
              <a:rPr lang="zh-CN" altLang="zh-CN" sz="1400" b="0" kern="100" dirty="0">
                <a:latin typeface="Microsoft YaHei" panose="020B0503020204020204" pitchFamily="34" charset="-122"/>
                <a:ea typeface="Microsoft YaHei" panose="020B0503020204020204" pitchFamily="34" charset="-122"/>
              </a:rPr>
              <a:t>需要强调的是，物理页面号又称为页帧或页框号</a:t>
            </a:r>
          </a:p>
          <a:p>
            <a:pPr eaLnBrk="1" fontAlgn="auto" hangingPunct="1">
              <a:lnSpc>
                <a:spcPts val="2400"/>
              </a:lnSpc>
              <a:spcBef>
                <a:spcPts val="0"/>
              </a:spcBef>
              <a:spcAft>
                <a:spcPts val="0"/>
              </a:spcAft>
            </a:pPr>
            <a:r>
              <a:rPr lang="zh-CN" altLang="zh-CN" sz="1400" b="0" kern="100" dirty="0">
                <a:latin typeface="Microsoft YaHei" panose="020B0503020204020204" pitchFamily="34" charset="-122"/>
                <a:ea typeface="Microsoft YaHei" panose="020B0503020204020204" pitchFamily="34" charset="-122"/>
                <a:cs typeface="Times New Roman" panose="02020603050405020304" pitchFamily="18" charset="0"/>
              </a:rPr>
              <a:t>根据二进制乘法运算的性质，一个二进制数乘以</a:t>
            </a:r>
            <a:r>
              <a:rPr lang="en-US" altLang="zh-CN" sz="1400" b="0" kern="100" dirty="0">
                <a:latin typeface="Microsoft YaHei" panose="020B0503020204020204" pitchFamily="34" charset="-122"/>
                <a:ea typeface="Microsoft YaHei" panose="020B0503020204020204" pitchFamily="34" charset="-122"/>
              </a:rPr>
              <a:t>2</a:t>
            </a:r>
            <a:r>
              <a:rPr lang="en-US" altLang="zh-CN" sz="1400" b="0" kern="100" baseline="30000" dirty="0">
                <a:latin typeface="Microsoft YaHei" panose="020B0503020204020204" pitchFamily="34" charset="-122"/>
                <a:ea typeface="Microsoft YaHei" panose="020B0503020204020204" pitchFamily="34" charset="-122"/>
              </a:rPr>
              <a:t>n</a:t>
            </a:r>
            <a:r>
              <a:rPr lang="zh-CN" altLang="zh-CN" sz="1400" b="0" kern="100" dirty="0">
                <a:latin typeface="Microsoft YaHei" panose="020B0503020204020204" pitchFamily="34" charset="-122"/>
                <a:ea typeface="Microsoft YaHei" panose="020B0503020204020204" pitchFamily="34" charset="-122"/>
                <a:cs typeface="Times New Roman" panose="02020603050405020304" pitchFamily="18" charset="0"/>
              </a:rPr>
              <a:t>结果实际上是将该数左移</a:t>
            </a:r>
            <a:r>
              <a:rPr lang="en-US" altLang="zh-CN" sz="1400" b="0" kern="100" dirty="0">
                <a:latin typeface="Microsoft YaHei" panose="020B0503020204020204" pitchFamily="34" charset="-122"/>
                <a:ea typeface="Microsoft YaHei" panose="020B0503020204020204" pitchFamily="34" charset="-122"/>
              </a:rPr>
              <a:t>n</a:t>
            </a:r>
            <a:r>
              <a:rPr lang="zh-CN" altLang="zh-CN" sz="1400" b="0" kern="100" dirty="0">
                <a:latin typeface="Microsoft YaHei" panose="020B0503020204020204" pitchFamily="34" charset="-122"/>
                <a:ea typeface="Microsoft YaHei" panose="020B0503020204020204" pitchFamily="34" charset="-122"/>
                <a:cs typeface="Times New Roman" panose="02020603050405020304" pitchFamily="18" charset="0"/>
              </a:rPr>
              <a:t>位。所以，实际上是把物理页面号作为绝对地址的高位地址，而页内地址作为它的低地址部分。地址转换关系如图</a:t>
            </a:r>
            <a:r>
              <a:rPr lang="zh-CN" altLang="zh-CN" sz="1400" b="0" dirty="0">
                <a:latin typeface="Microsoft YaHei" panose="020B0503020204020204" pitchFamily="34" charset="-122"/>
                <a:ea typeface="Microsoft YaHei" panose="020B0503020204020204" pitchFamily="34" charset="-122"/>
              </a:rPr>
              <a:t> </a:t>
            </a:r>
            <a:endParaRPr lang="zh-CN" altLang="zh-CN" sz="1400" b="0" kern="100" dirty="0">
              <a:latin typeface="Microsoft YaHei" panose="020B0503020204020204" pitchFamily="34" charset="-122"/>
              <a:ea typeface="Microsoft YaHei" panose="020B0503020204020204" pitchFamily="34" charset="-122"/>
            </a:endParaRPr>
          </a:p>
        </p:txBody>
      </p:sp>
      <p:grpSp>
        <p:nvGrpSpPr>
          <p:cNvPr id="7" name="组合 3">
            <a:extLst>
              <a:ext uri="{FF2B5EF4-FFF2-40B4-BE49-F238E27FC236}">
                <a16:creationId xmlns:a16="http://schemas.microsoft.com/office/drawing/2014/main" id="{9C0AC628-F7E7-094B-8091-EA7B2D28A2DF}"/>
              </a:ext>
            </a:extLst>
          </p:cNvPr>
          <p:cNvGrpSpPr/>
          <p:nvPr/>
        </p:nvGrpSpPr>
        <p:grpSpPr>
          <a:xfrm>
            <a:off x="1209992" y="1268761"/>
            <a:ext cx="6890399" cy="3978880"/>
            <a:chOff x="4971338" y="3132402"/>
            <a:chExt cx="4927600" cy="3370693"/>
          </a:xfrm>
        </p:grpSpPr>
        <p:pic>
          <p:nvPicPr>
            <p:cNvPr id="8" name="图片 1" descr="5-8">
              <a:extLst>
                <a:ext uri="{FF2B5EF4-FFF2-40B4-BE49-F238E27FC236}">
                  <a16:creationId xmlns:a16="http://schemas.microsoft.com/office/drawing/2014/main" id="{AA358A4F-3634-DE4D-B3B1-E51B1D178722}"/>
                </a:ext>
              </a:extLst>
            </p:cNvPr>
            <p:cNvPicPr>
              <a:picLocks noChangeAspect="1"/>
            </p:cNvPicPr>
            <p:nvPr/>
          </p:nvPicPr>
          <p:blipFill>
            <a:blip r:embed="rId2" cstate="print"/>
            <a:srcRect l="6425" t="12311" r="4514" b="16193"/>
            <a:stretch>
              <a:fillRect/>
            </a:stretch>
          </p:blipFill>
          <p:spPr bwMode="auto">
            <a:xfrm>
              <a:off x="4971338" y="3132402"/>
              <a:ext cx="4927600" cy="2971800"/>
            </a:xfrm>
            <a:prstGeom prst="rect">
              <a:avLst/>
            </a:prstGeom>
            <a:noFill/>
            <a:ln w="9525">
              <a:noFill/>
              <a:miter lim="800000"/>
              <a:headEnd/>
              <a:tailEnd/>
            </a:ln>
          </p:spPr>
        </p:pic>
        <p:sp>
          <p:nvSpPr>
            <p:cNvPr id="9" name="文本框 2">
              <a:extLst>
                <a:ext uri="{FF2B5EF4-FFF2-40B4-BE49-F238E27FC236}">
                  <a16:creationId xmlns:a16="http://schemas.microsoft.com/office/drawing/2014/main" id="{E39CDD85-7E9F-5248-83EA-AA7D4C9F6F0B}"/>
                </a:ext>
              </a:extLst>
            </p:cNvPr>
            <p:cNvSpPr txBox="1"/>
            <p:nvPr/>
          </p:nvSpPr>
          <p:spPr>
            <a:xfrm>
              <a:off x="5899301" y="6195318"/>
              <a:ext cx="3071674" cy="307777"/>
            </a:xfrm>
            <a:prstGeom prst="rect">
              <a:avLst/>
            </a:prstGeom>
            <a:noFill/>
          </p:spPr>
          <p:txBody>
            <a:bodyPr wrap="none" rtlCol="0">
              <a:spAutoFit/>
            </a:bodyPr>
            <a:lstStyle/>
            <a:p>
              <a:pPr algn="ctr" eaLnBrk="1" fontAlgn="auto" hangingPunct="1">
                <a:spcBef>
                  <a:spcPts val="0"/>
                </a:spcBef>
                <a:spcAft>
                  <a:spcPts val="0"/>
                </a:spcAft>
              </a:pPr>
              <a:r>
                <a:rPr lang="zh-CN" altLang="zh-CN" sz="1400" b="0" kern="100" dirty="0">
                  <a:solidFill>
                    <a:srgbClr val="000000"/>
                  </a:solidFill>
                  <a:latin typeface="Times New Roman" panose="02020603050405020304" pitchFamily="18" charset="0"/>
                </a:rPr>
                <a:t>图</a:t>
              </a:r>
              <a:r>
                <a:rPr lang="en-US" altLang="zh-CN" sz="1400" b="0" kern="100" dirty="0">
                  <a:solidFill>
                    <a:srgbClr val="000000"/>
                  </a:solidFill>
                  <a:latin typeface="Times New Roman" panose="02020603050405020304" pitchFamily="18" charset="0"/>
                </a:rPr>
                <a:t>5-16 </a:t>
              </a:r>
              <a:r>
                <a:rPr lang="zh-CN" altLang="zh-CN" sz="1400" b="0" kern="100" dirty="0">
                  <a:solidFill>
                    <a:srgbClr val="000000"/>
                  </a:solidFill>
                  <a:latin typeface="Times New Roman" panose="02020603050405020304" pitchFamily="18" charset="0"/>
                </a:rPr>
                <a:t>页式存储管理的地址转换关系</a:t>
              </a:r>
            </a:p>
          </p:txBody>
        </p:sp>
      </p:grpSp>
      <p:sp>
        <p:nvSpPr>
          <p:cNvPr id="10" name="Rectangle 2">
            <a:extLst>
              <a:ext uri="{FF2B5EF4-FFF2-40B4-BE49-F238E27FC236}">
                <a16:creationId xmlns:a16="http://schemas.microsoft.com/office/drawing/2014/main" id="{CD1DE82A-EA39-894A-8969-03293ADE34C6}"/>
              </a:ext>
            </a:extLst>
          </p:cNvPr>
          <p:cNvSpPr txBox="1">
            <a:spLocks noChangeArrowheads="1"/>
          </p:cNvSpPr>
          <p:nvPr/>
        </p:nvSpPr>
        <p:spPr>
          <a:xfrm>
            <a:off x="179388" y="368300"/>
            <a:ext cx="6480175" cy="828675"/>
          </a:xfrm>
          <a:prstGeom prst="rect">
            <a:avLst/>
          </a:prstGeom>
          <a:noFill/>
        </p:spPr>
        <p:txBody>
          <a:bodyPr/>
          <a:lstStyle>
            <a:lvl1pPr algn="l" rtl="0" eaLnBrk="0" fontAlgn="base" hangingPunct="0">
              <a:spcBef>
                <a:spcPct val="0"/>
              </a:spcBef>
              <a:spcAft>
                <a:spcPct val="0"/>
              </a:spcAft>
              <a:defRPr sz="3200" b="1">
                <a:solidFill>
                  <a:schemeClr val="tx2"/>
                </a:solidFill>
                <a:latin typeface="+mj-lt"/>
                <a:ea typeface="+mj-ea"/>
                <a:cs typeface="+mj-cs"/>
              </a:defRPr>
            </a:lvl1pPr>
            <a:lvl2pPr algn="l" rtl="0" eaLnBrk="0" fontAlgn="base" hangingPunct="0">
              <a:spcBef>
                <a:spcPct val="0"/>
              </a:spcBef>
              <a:spcAft>
                <a:spcPct val="0"/>
              </a:spcAft>
              <a:defRPr sz="3200" b="1">
                <a:solidFill>
                  <a:schemeClr val="tx2"/>
                </a:solidFill>
                <a:latin typeface="Verdana" pitchFamily="34" charset="0"/>
                <a:ea typeface="宋体" pitchFamily="2" charset="-122"/>
              </a:defRPr>
            </a:lvl2pPr>
            <a:lvl3pPr algn="l" rtl="0" eaLnBrk="0" fontAlgn="base" hangingPunct="0">
              <a:spcBef>
                <a:spcPct val="0"/>
              </a:spcBef>
              <a:spcAft>
                <a:spcPct val="0"/>
              </a:spcAft>
              <a:defRPr sz="3200" b="1">
                <a:solidFill>
                  <a:schemeClr val="tx2"/>
                </a:solidFill>
                <a:latin typeface="Verdana" pitchFamily="34" charset="0"/>
                <a:ea typeface="宋体" pitchFamily="2" charset="-122"/>
              </a:defRPr>
            </a:lvl3pPr>
            <a:lvl4pPr algn="l" rtl="0" eaLnBrk="0" fontAlgn="base" hangingPunct="0">
              <a:spcBef>
                <a:spcPct val="0"/>
              </a:spcBef>
              <a:spcAft>
                <a:spcPct val="0"/>
              </a:spcAft>
              <a:defRPr sz="3200" b="1">
                <a:solidFill>
                  <a:schemeClr val="tx2"/>
                </a:solidFill>
                <a:latin typeface="Verdana" pitchFamily="34" charset="0"/>
                <a:ea typeface="宋体" pitchFamily="2" charset="-122"/>
              </a:defRPr>
            </a:lvl4pPr>
            <a:lvl5pPr algn="l" rtl="0" eaLnBrk="0" fontAlgn="base" hangingPunct="0">
              <a:spcBef>
                <a:spcPct val="0"/>
              </a:spcBef>
              <a:spcAft>
                <a:spcPct val="0"/>
              </a:spcAft>
              <a:defRPr sz="3200" b="1">
                <a:solidFill>
                  <a:schemeClr val="tx2"/>
                </a:solidFill>
                <a:latin typeface="Verdana" pitchFamily="34" charset="0"/>
                <a:ea typeface="宋体" pitchFamily="2" charset="-122"/>
              </a:defRPr>
            </a:lvl5pPr>
            <a:lvl6pPr marL="457200" algn="l" rtl="0" fontAlgn="base">
              <a:spcBef>
                <a:spcPct val="0"/>
              </a:spcBef>
              <a:spcAft>
                <a:spcPct val="0"/>
              </a:spcAft>
              <a:defRPr sz="3200" b="1">
                <a:solidFill>
                  <a:schemeClr val="tx2"/>
                </a:solidFill>
                <a:latin typeface="Verdana" pitchFamily="34" charset="0"/>
                <a:ea typeface="宋体" pitchFamily="2" charset="-122"/>
              </a:defRPr>
            </a:lvl6pPr>
            <a:lvl7pPr marL="914400" algn="l" rtl="0" fontAlgn="base">
              <a:spcBef>
                <a:spcPct val="0"/>
              </a:spcBef>
              <a:spcAft>
                <a:spcPct val="0"/>
              </a:spcAft>
              <a:defRPr sz="3200" b="1">
                <a:solidFill>
                  <a:schemeClr val="tx2"/>
                </a:solidFill>
                <a:latin typeface="Verdana" pitchFamily="34" charset="0"/>
                <a:ea typeface="宋体" pitchFamily="2" charset="-122"/>
              </a:defRPr>
            </a:lvl7pPr>
            <a:lvl8pPr marL="1371600" algn="l" rtl="0" fontAlgn="base">
              <a:spcBef>
                <a:spcPct val="0"/>
              </a:spcBef>
              <a:spcAft>
                <a:spcPct val="0"/>
              </a:spcAft>
              <a:defRPr sz="3200" b="1">
                <a:solidFill>
                  <a:schemeClr val="tx2"/>
                </a:solidFill>
                <a:latin typeface="Verdana" pitchFamily="34" charset="0"/>
                <a:ea typeface="宋体" pitchFamily="2" charset="-122"/>
              </a:defRPr>
            </a:lvl8pPr>
            <a:lvl9pPr marL="1828800" algn="l" rtl="0" fontAlgn="base">
              <a:spcBef>
                <a:spcPct val="0"/>
              </a:spcBef>
              <a:spcAft>
                <a:spcPct val="0"/>
              </a:spcAft>
              <a:defRPr sz="3200" b="1">
                <a:solidFill>
                  <a:schemeClr val="tx2"/>
                </a:solidFill>
                <a:latin typeface="Verdana" pitchFamily="34" charset="0"/>
                <a:ea typeface="宋体" pitchFamily="2" charset="-122"/>
              </a:defRPr>
            </a:lvl9pPr>
          </a:lstStyle>
          <a:p>
            <a:pPr eaLnBrk="1" hangingPunct="1"/>
            <a:r>
              <a:rPr lang="zh-CN" altLang="en-US" sz="2800" kern="0">
                <a:solidFill>
                  <a:srgbClr val="FF0000"/>
                </a:solidFill>
                <a:latin typeface="宋体" panose="02010600030101010101" pitchFamily="2" charset="-122"/>
              </a:rPr>
              <a:t>分页存储管理的地址转换与存储保护</a:t>
            </a:r>
            <a:endParaRPr lang="zh-CN" altLang="en-US" sz="2800" kern="0" dirty="0">
              <a:solidFill>
                <a:srgbClr val="FF0000"/>
              </a:solidFill>
              <a:latin typeface="宋体" panose="02010600030101010101" pitchFamily="2" charset="-122"/>
            </a:endParaRPr>
          </a:p>
        </p:txBody>
      </p:sp>
    </p:spTree>
    <p:extLst>
      <p:ext uri="{BB962C8B-B14F-4D97-AF65-F5344CB8AC3E}">
        <p14:creationId xmlns:p14="http://schemas.microsoft.com/office/powerpoint/2010/main" val="2037123159"/>
      </p:ext>
    </p:extLst>
  </p:cSld>
  <p:clrMapOvr>
    <a:masterClrMapping/>
  </p:clrMapOvr>
  <p:transition>
    <p:random/>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10735A77-EB13-7143-9850-160E6C2BB5BB}"/>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分页存储管理的地址转换与存储保护</a:t>
            </a:r>
          </a:p>
        </p:txBody>
      </p:sp>
      <p:sp>
        <p:nvSpPr>
          <p:cNvPr id="70659" name="Rectangle 3">
            <a:extLst>
              <a:ext uri="{FF2B5EF4-FFF2-40B4-BE49-F238E27FC236}">
                <a16:creationId xmlns:a16="http://schemas.microsoft.com/office/drawing/2014/main" id="{0FA48F3F-5853-9846-8B68-27C53C43DB09}"/>
              </a:ext>
            </a:extLst>
          </p:cNvPr>
          <p:cNvSpPr>
            <a:spLocks noGrp="1" noChangeArrowheads="1"/>
          </p:cNvSpPr>
          <p:nvPr>
            <p:ph type="body" sz="half" idx="1"/>
          </p:nvPr>
        </p:nvSpPr>
        <p:spPr>
          <a:xfrm>
            <a:off x="468313" y="1214438"/>
            <a:ext cx="8175625" cy="3240087"/>
          </a:xfrm>
        </p:spPr>
        <p:txBody>
          <a:bodyPr/>
          <a:lstStyle/>
          <a:p>
            <a:pPr marL="0" indent="0" eaLnBrk="1" hangingPunct="1">
              <a:lnSpc>
                <a:spcPct val="110000"/>
              </a:lnSpc>
              <a:spcBef>
                <a:spcPct val="0"/>
              </a:spcBef>
              <a:buFont typeface="Wingdings" pitchFamily="2" charset="2"/>
              <a:buNone/>
            </a:pPr>
            <a:r>
              <a:rPr lang="zh-CN" altLang="zh-CN" sz="2000">
                <a:solidFill>
                  <a:srgbClr val="FF0000"/>
                </a:solidFill>
                <a:effectLst/>
                <a:latin typeface="宋体" panose="02010600030101010101" pitchFamily="2" charset="-122"/>
              </a:rPr>
              <a:t>例</a:t>
            </a:r>
            <a:r>
              <a:rPr lang="zh-CN" altLang="en-US" sz="2000">
                <a:solidFill>
                  <a:srgbClr val="FF0000"/>
                </a:solidFill>
                <a:effectLst/>
                <a:latin typeface="宋体" panose="02010600030101010101" pitchFamily="2" charset="-122"/>
              </a:rPr>
              <a:t>：</a:t>
            </a:r>
            <a:r>
              <a:rPr lang="zh-CN" altLang="zh-CN" sz="2000">
                <a:solidFill>
                  <a:schemeClr val="tx1"/>
                </a:solidFill>
                <a:effectLst/>
                <a:latin typeface="宋体" panose="02010600030101010101" pitchFamily="2" charset="-122"/>
              </a:rPr>
              <a:t>在一采用分页存储管理的系统中，一程序有4个页并被分别装入到内存的第3、4、6、8号物理块中，已知页和物理块的大小均为1024B，该程序在CPU上运行并执行到如下的一条传送指令： MOV AX,[2100]</a:t>
            </a:r>
          </a:p>
          <a:p>
            <a:pPr marL="0" indent="0" eaLnBrk="1" hangingPunct="1">
              <a:lnSpc>
                <a:spcPct val="110000"/>
              </a:lnSpc>
              <a:spcBef>
                <a:spcPct val="0"/>
              </a:spcBef>
              <a:buFont typeface="Wingdings" pitchFamily="2" charset="2"/>
              <a:buNone/>
            </a:pPr>
            <a:r>
              <a:rPr lang="zh-CN" altLang="zh-CN" sz="2000">
                <a:solidFill>
                  <a:schemeClr val="tx1"/>
                </a:solidFill>
                <a:effectLst/>
                <a:latin typeface="宋体" panose="02010600030101010101" pitchFamily="2" charset="-122"/>
              </a:rPr>
              <a:t>请用地址转换图计算MOV指令中操作数2100的物理地址。</a:t>
            </a:r>
          </a:p>
          <a:p>
            <a:pPr marL="0" indent="0" eaLnBrk="1" hangingPunct="1">
              <a:lnSpc>
                <a:spcPct val="110000"/>
              </a:lnSpc>
              <a:spcBef>
                <a:spcPct val="0"/>
              </a:spcBef>
              <a:buFont typeface="Wingdings" pitchFamily="2" charset="2"/>
              <a:buNone/>
            </a:pPr>
            <a:r>
              <a:rPr lang="zh-CN" altLang="zh-CN" sz="2000">
                <a:solidFill>
                  <a:srgbClr val="FF0000"/>
                </a:solidFill>
                <a:effectLst/>
                <a:latin typeface="宋体" panose="02010600030101010101" pitchFamily="2" charset="-122"/>
              </a:rPr>
              <a:t>【解答】 </a:t>
            </a:r>
            <a:r>
              <a:rPr lang="zh-CN" altLang="zh-CN" sz="2000">
                <a:solidFill>
                  <a:schemeClr val="tx1"/>
                </a:solidFill>
                <a:effectLst/>
                <a:latin typeface="宋体" panose="02010600030101010101" pitchFamily="2" charset="-122"/>
              </a:rPr>
              <a:t>本题的页的大小为1024B，可知页内地址为0～9位，即逻辑地址2100的页号＝2100/1024＝2（取整后），页内地址＝2100－2×1024＝52。逻辑地址2100的地址转换过程如图4-23所示。根据图4-23，可以得到页号2对应的物理块号为6，即物理地址＝6×1024＋52＝6196</a:t>
            </a:r>
            <a:r>
              <a:rPr lang="zh-CN" altLang="en-US" sz="2000">
                <a:solidFill>
                  <a:schemeClr val="tx1"/>
                </a:solidFill>
                <a:effectLst/>
                <a:latin typeface="宋体" panose="02010600030101010101" pitchFamily="2" charset="-122"/>
              </a:rPr>
              <a:t>。</a:t>
            </a:r>
            <a:endParaRPr lang="zh-CN" altLang="zh-CN" sz="2000">
              <a:solidFill>
                <a:schemeClr val="tx1"/>
              </a:solidFill>
              <a:effectLst/>
              <a:latin typeface="宋体" panose="02010600030101010101" pitchFamily="2" charset="-122"/>
            </a:endParaRPr>
          </a:p>
        </p:txBody>
      </p:sp>
      <p:pic>
        <p:nvPicPr>
          <p:cNvPr id="70660" name="Picture 4" descr="4-23">
            <a:extLst>
              <a:ext uri="{FF2B5EF4-FFF2-40B4-BE49-F238E27FC236}">
                <a16:creationId xmlns:a16="http://schemas.microsoft.com/office/drawing/2014/main" id="{493A668E-2103-B54D-BB48-B1EC9CC30F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81288" y="4000500"/>
            <a:ext cx="4819650" cy="285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a:extLst>
              <a:ext uri="{FF2B5EF4-FFF2-40B4-BE49-F238E27FC236}">
                <a16:creationId xmlns:a16="http://schemas.microsoft.com/office/drawing/2014/main" id="{F66FC8F2-FD86-6A44-B1C2-69F600BDAB90}"/>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分页存储管理的地址转换与存储保护</a:t>
            </a:r>
          </a:p>
        </p:txBody>
      </p:sp>
      <p:sp>
        <p:nvSpPr>
          <p:cNvPr id="61443" name="Rectangle 3">
            <a:extLst>
              <a:ext uri="{FF2B5EF4-FFF2-40B4-BE49-F238E27FC236}">
                <a16:creationId xmlns:a16="http://schemas.microsoft.com/office/drawing/2014/main" id="{B368B03B-B54C-DB4E-BC4B-317A3CEE1624}"/>
              </a:ext>
            </a:extLst>
          </p:cNvPr>
          <p:cNvSpPr>
            <a:spLocks noGrp="1" noChangeArrowheads="1"/>
          </p:cNvSpPr>
          <p:nvPr>
            <p:ph type="body" sz="half" idx="1"/>
          </p:nvPr>
        </p:nvSpPr>
        <p:spPr>
          <a:xfrm>
            <a:off x="571500" y="1214438"/>
            <a:ext cx="7954963" cy="5318125"/>
          </a:xfrm>
        </p:spPr>
        <p:txBody>
          <a:bodyPr/>
          <a:lstStyle/>
          <a:p>
            <a:pPr marL="0" indent="0" algn="just" eaLnBrk="1" hangingPunct="1">
              <a:lnSpc>
                <a:spcPts val="3200"/>
              </a:lnSpc>
              <a:spcBef>
                <a:spcPct val="0"/>
              </a:spcBef>
              <a:buFont typeface="Wingdings" pitchFamily="2" charset="2"/>
              <a:buNone/>
            </a:pPr>
            <a:r>
              <a:rPr lang="zh-CN" altLang="zh-CN" sz="2200">
                <a:solidFill>
                  <a:srgbClr val="FF0000"/>
                </a:solidFill>
                <a:effectLst/>
                <a:latin typeface="宋体" panose="02010600030101010101" pitchFamily="2" charset="-122"/>
              </a:rPr>
              <a:t>2. 具有快表的地址转换</a:t>
            </a:r>
          </a:p>
          <a:p>
            <a:pPr marL="0" indent="0" algn="just" eaLnBrk="1" hangingPunct="1">
              <a:lnSpc>
                <a:spcPts val="3200"/>
              </a:lnSpc>
              <a:spcBef>
                <a:spcPct val="0"/>
              </a:spcBef>
              <a:buFont typeface="Wingdings" pitchFamily="2" charset="2"/>
              <a:buNone/>
            </a:pPr>
            <a:r>
              <a:rPr lang="zh-CN" altLang="zh-CN" sz="2000">
                <a:solidFill>
                  <a:schemeClr val="tx1"/>
                </a:solidFill>
                <a:effectLst/>
                <a:latin typeface="宋体" panose="02010600030101010101" pitchFamily="2" charset="-122"/>
              </a:rPr>
              <a:t>为了提高地址转换的速度，可以将页表存放在一组专门的寄存器中，即一个页表项专用一个寄存器存放。</a:t>
            </a:r>
          </a:p>
          <a:p>
            <a:pPr marL="0" indent="0" algn="just" eaLnBrk="1" hangingPunct="1">
              <a:lnSpc>
                <a:spcPts val="3200"/>
              </a:lnSpc>
              <a:spcBef>
                <a:spcPct val="0"/>
              </a:spcBef>
              <a:buFont typeface="Wingdings" pitchFamily="2" charset="2"/>
              <a:buNone/>
            </a:pPr>
            <a:r>
              <a:rPr lang="zh-CN" altLang="zh-CN" sz="2000">
                <a:solidFill>
                  <a:schemeClr val="tx1"/>
                </a:solidFill>
                <a:effectLst/>
                <a:latin typeface="宋体" panose="02010600030101010101" pitchFamily="2" charset="-122"/>
              </a:rPr>
              <a:t>另一种是在地址转换机构中增加一个具备并行查找能力的高速缓冲寄存器，又称为</a:t>
            </a:r>
            <a:r>
              <a:rPr lang="zh-CN" altLang="zh-CN" sz="2000">
                <a:solidFill>
                  <a:srgbClr val="FF0000"/>
                </a:solidFill>
                <a:effectLst/>
                <a:latin typeface="宋体" panose="02010600030101010101" pitchFamily="2" charset="-122"/>
              </a:rPr>
              <a:t>联想存储器</a:t>
            </a:r>
            <a:r>
              <a:rPr lang="zh-CN" altLang="zh-CN" sz="2000">
                <a:solidFill>
                  <a:schemeClr val="tx1"/>
                </a:solidFill>
                <a:effectLst/>
                <a:latin typeface="宋体" panose="02010600030101010101" pitchFamily="2" charset="-122"/>
              </a:rPr>
              <a:t>（Associative Memory）来构成一张</a:t>
            </a:r>
            <a:r>
              <a:rPr lang="zh-CN" altLang="zh-CN" sz="2000">
                <a:solidFill>
                  <a:srgbClr val="FF0000"/>
                </a:solidFill>
                <a:effectLst/>
                <a:latin typeface="宋体" panose="02010600030101010101" pitchFamily="2" charset="-122"/>
              </a:rPr>
              <a:t>快表</a:t>
            </a:r>
            <a:r>
              <a:rPr lang="zh-CN" altLang="zh-CN" sz="2000">
                <a:solidFill>
                  <a:schemeClr val="tx1"/>
                </a:solidFill>
                <a:effectLst/>
                <a:latin typeface="宋体" panose="02010600030101010101" pitchFamily="2" charset="-122"/>
              </a:rPr>
              <a:t>，快表中保存着当前运行进程最常用的页号和其对应的物理块号。</a:t>
            </a:r>
          </a:p>
          <a:p>
            <a:pPr marL="0" indent="0" algn="just" eaLnBrk="1" hangingPunct="1">
              <a:lnSpc>
                <a:spcPts val="3200"/>
              </a:lnSpc>
              <a:spcBef>
                <a:spcPct val="0"/>
              </a:spcBef>
              <a:buFont typeface="Wingdings" pitchFamily="2" charset="2"/>
              <a:buNone/>
            </a:pPr>
            <a:r>
              <a:rPr lang="zh-CN" altLang="zh-CN" sz="2000">
                <a:solidFill>
                  <a:srgbClr val="FF0000"/>
                </a:solidFill>
                <a:effectLst/>
                <a:latin typeface="宋体" panose="02010600030101010101" pitchFamily="2" charset="-122"/>
              </a:rPr>
              <a:t>具有快表时其地址转换过程如下：</a:t>
            </a:r>
            <a:r>
              <a:rPr lang="zh-CN" altLang="zh-CN" sz="2000">
                <a:solidFill>
                  <a:schemeClr val="tx1"/>
                </a:solidFill>
                <a:effectLst/>
                <a:latin typeface="宋体" panose="02010600030101010101" pitchFamily="2" charset="-122"/>
              </a:rPr>
              <a:t>当CPU给出需要访问的逻辑地址后，地址转换机构根据所得到的页号在快表中查找其所对应的物理块号；若要访问的页号其页表项已在快表中，则可直接从快表中获得该页所对应的物理块号并完成物理地址的转换；若在快表中没有找到与页号对应的页表项，则仍然通过内存中的页表进行查找，并从页号所对应的页表项中获得相应的物理块号来完成物理地址的转换，同时将所获得的页表项存入快表。</a:t>
            </a:r>
          </a:p>
        </p:txBody>
      </p:sp>
    </p:spTree>
  </p:cSld>
  <p:clrMapOvr>
    <a:masterClrMapping/>
  </p:clrMapOvr>
  <p:transition>
    <p:random/>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A376DFB3-0990-A545-A784-F516736D2639}"/>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分页存储管理的地址转换与存储保护</a:t>
            </a:r>
          </a:p>
        </p:txBody>
      </p:sp>
      <p:sp>
        <p:nvSpPr>
          <p:cNvPr id="72707" name="Rectangle 3">
            <a:extLst>
              <a:ext uri="{FF2B5EF4-FFF2-40B4-BE49-F238E27FC236}">
                <a16:creationId xmlns:a16="http://schemas.microsoft.com/office/drawing/2014/main" id="{544BFD78-2B99-2F44-95DB-73F88AE91BE8}"/>
              </a:ext>
            </a:extLst>
          </p:cNvPr>
          <p:cNvSpPr>
            <a:spLocks noGrp="1" noChangeArrowheads="1"/>
          </p:cNvSpPr>
          <p:nvPr>
            <p:ph type="body" sz="half" idx="1"/>
          </p:nvPr>
        </p:nvSpPr>
        <p:spPr>
          <a:xfrm>
            <a:off x="642938" y="1500188"/>
            <a:ext cx="7740650" cy="574675"/>
          </a:xfrm>
        </p:spPr>
        <p:txBody>
          <a:bodyPr/>
          <a:lstStyle/>
          <a:p>
            <a:pPr marL="0" indent="0" eaLnBrk="1" hangingPunct="1">
              <a:lnSpc>
                <a:spcPct val="90000"/>
              </a:lnSpc>
              <a:buFont typeface="Wingdings" pitchFamily="2" charset="2"/>
              <a:buNone/>
            </a:pPr>
            <a:r>
              <a:rPr lang="zh-CN" altLang="zh-CN" sz="2000">
                <a:solidFill>
                  <a:srgbClr val="FF0000"/>
                </a:solidFill>
                <a:effectLst/>
                <a:latin typeface="宋体" panose="02010600030101010101" pitchFamily="2" charset="-122"/>
              </a:rPr>
              <a:t>具有快表的地址转换示意图</a:t>
            </a:r>
            <a:r>
              <a:rPr lang="zh-CN" altLang="en-US" sz="2000">
                <a:solidFill>
                  <a:srgbClr val="FF0000"/>
                </a:solidFill>
                <a:effectLst/>
                <a:latin typeface="宋体" panose="02010600030101010101" pitchFamily="2" charset="-122"/>
              </a:rPr>
              <a:t>：</a:t>
            </a:r>
            <a:endParaRPr lang="zh-CN" altLang="zh-CN" sz="2000">
              <a:solidFill>
                <a:srgbClr val="FF0000"/>
              </a:solidFill>
              <a:effectLst/>
              <a:latin typeface="宋体" panose="02010600030101010101" pitchFamily="2" charset="-122"/>
            </a:endParaRPr>
          </a:p>
        </p:txBody>
      </p:sp>
      <p:pic>
        <p:nvPicPr>
          <p:cNvPr id="72708" name="Picture 4" descr="4-24">
            <a:extLst>
              <a:ext uri="{FF2B5EF4-FFF2-40B4-BE49-F238E27FC236}">
                <a16:creationId xmlns:a16="http://schemas.microsoft.com/office/drawing/2014/main" id="{ED22F940-4DE8-4040-AF05-ACA15720AE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0188" y="2071688"/>
            <a:ext cx="6500812" cy="4214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8ABEA10E-BD99-B04E-B07A-C51EAB07EC62}"/>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分页存储管理的地址转换与存储保护</a:t>
            </a:r>
          </a:p>
        </p:txBody>
      </p:sp>
      <p:sp>
        <p:nvSpPr>
          <p:cNvPr id="73731" name="Rectangle 3">
            <a:extLst>
              <a:ext uri="{FF2B5EF4-FFF2-40B4-BE49-F238E27FC236}">
                <a16:creationId xmlns:a16="http://schemas.microsoft.com/office/drawing/2014/main" id="{C3AC52AD-B5D2-7E41-831B-AD8A77E023C5}"/>
              </a:ext>
            </a:extLst>
          </p:cNvPr>
          <p:cNvSpPr>
            <a:spLocks noGrp="1" noChangeArrowheads="1"/>
          </p:cNvSpPr>
          <p:nvPr>
            <p:ph type="body" sz="half" idx="1"/>
          </p:nvPr>
        </p:nvSpPr>
        <p:spPr>
          <a:xfrm>
            <a:off x="755650" y="1285875"/>
            <a:ext cx="7888288" cy="5357813"/>
          </a:xfrm>
        </p:spPr>
        <p:txBody>
          <a:bodyPr/>
          <a:lstStyle/>
          <a:p>
            <a:pPr marL="0" indent="0" eaLnBrk="1" hangingPunct="1">
              <a:lnSpc>
                <a:spcPct val="130000"/>
              </a:lnSpc>
              <a:buFont typeface="Wingdings" pitchFamily="2" charset="2"/>
              <a:buNone/>
            </a:pPr>
            <a:r>
              <a:rPr lang="zh-CN" altLang="zh-CN" sz="2000" dirty="0">
                <a:solidFill>
                  <a:schemeClr val="tx1"/>
                </a:solidFill>
                <a:effectLst/>
                <a:latin typeface="宋体" panose="02010600030101010101" pitchFamily="2" charset="-122"/>
              </a:rPr>
              <a:t>3. 页的共享和保护</a:t>
            </a:r>
          </a:p>
          <a:p>
            <a:pPr marL="0" indent="0" eaLnBrk="1" hangingPunct="1">
              <a:lnSpc>
                <a:spcPct val="130000"/>
              </a:lnSpc>
              <a:buFont typeface="Wingdings" pitchFamily="2" charset="2"/>
              <a:buNone/>
            </a:pPr>
            <a:r>
              <a:rPr lang="zh-CN" altLang="zh-CN" sz="2000" dirty="0">
                <a:solidFill>
                  <a:schemeClr val="tx1"/>
                </a:solidFill>
                <a:effectLst/>
                <a:latin typeface="宋体" panose="02010600030101010101" pitchFamily="2" charset="-122"/>
              </a:rPr>
              <a:t>（1）页的共享</a:t>
            </a:r>
            <a:endParaRPr lang="en-US" altLang="zh-CN" sz="2000" dirty="0">
              <a:solidFill>
                <a:schemeClr val="tx1"/>
              </a:solidFill>
              <a:effectLst/>
              <a:latin typeface="宋体" panose="02010600030101010101" pitchFamily="2" charset="-122"/>
            </a:endParaRPr>
          </a:p>
          <a:p>
            <a:pPr marL="0" indent="0" eaLnBrk="1" hangingPunct="1">
              <a:lnSpc>
                <a:spcPct val="130000"/>
              </a:lnSpc>
              <a:buFont typeface="Wingdings" pitchFamily="2" charset="2"/>
              <a:buNone/>
            </a:pPr>
            <a:r>
              <a:rPr lang="zh-CN" altLang="zh-CN" sz="2000" dirty="0">
                <a:solidFill>
                  <a:srgbClr val="FF0000"/>
                </a:solidFill>
                <a:effectLst/>
                <a:latin typeface="宋体" panose="02010600030101010101" pitchFamily="2" charset="-122"/>
              </a:rPr>
              <a:t>数据共享</a:t>
            </a:r>
            <a:r>
              <a:rPr lang="zh-CN" altLang="en-US" sz="2000" dirty="0">
                <a:solidFill>
                  <a:schemeClr val="tx1"/>
                </a:solidFill>
                <a:effectLst/>
                <a:latin typeface="宋体" panose="02010600030101010101" pitchFamily="2" charset="-122"/>
              </a:rPr>
              <a:t>：</a:t>
            </a:r>
            <a:r>
              <a:rPr lang="zh-CN" altLang="zh-CN" sz="2000" dirty="0">
                <a:solidFill>
                  <a:schemeClr val="tx1"/>
                </a:solidFill>
                <a:effectLst/>
                <a:latin typeface="宋体" panose="02010600030101010101" pitchFamily="2" charset="-122"/>
              </a:rPr>
              <a:t>允许不同的程序对共享的数据页使用不同的页号，只要让各自页表中有关表项指向共享信息的物理块即可；</a:t>
            </a:r>
            <a:endParaRPr lang="zh-CN" altLang="en-US" sz="2000" dirty="0">
              <a:solidFill>
                <a:schemeClr val="tx1"/>
              </a:solidFill>
              <a:effectLst/>
              <a:latin typeface="宋体" panose="02010600030101010101" pitchFamily="2" charset="-122"/>
            </a:endParaRPr>
          </a:p>
          <a:p>
            <a:pPr marL="0" indent="0" eaLnBrk="1" hangingPunct="1">
              <a:lnSpc>
                <a:spcPct val="130000"/>
              </a:lnSpc>
              <a:buFont typeface="Wingdings" pitchFamily="2" charset="2"/>
              <a:buNone/>
            </a:pPr>
            <a:r>
              <a:rPr lang="zh-CN" altLang="zh-CN" sz="2000" dirty="0">
                <a:solidFill>
                  <a:srgbClr val="FF0000"/>
                </a:solidFill>
                <a:effectLst/>
                <a:latin typeface="宋体" panose="02010600030101010101" pitchFamily="2" charset="-122"/>
              </a:rPr>
              <a:t>程序共享</a:t>
            </a:r>
            <a:r>
              <a:rPr lang="zh-CN" altLang="en-US" sz="2000" dirty="0">
                <a:solidFill>
                  <a:schemeClr val="tx1"/>
                </a:solidFill>
                <a:effectLst/>
                <a:latin typeface="宋体" panose="02010600030101010101" pitchFamily="2" charset="-122"/>
              </a:rPr>
              <a:t>：</a:t>
            </a:r>
            <a:r>
              <a:rPr lang="zh-CN" altLang="zh-CN" sz="2000" dirty="0">
                <a:solidFill>
                  <a:schemeClr val="tx1"/>
                </a:solidFill>
                <a:effectLst/>
                <a:latin typeface="宋体" panose="02010600030101010101" pitchFamily="2" charset="-122"/>
              </a:rPr>
              <a:t>必须把共享的程序安排到所有共享它的程序地址空间具有相同页号的页中</a:t>
            </a:r>
            <a:r>
              <a:rPr lang="en-US" altLang="zh-CN" sz="2000" dirty="0">
                <a:solidFill>
                  <a:schemeClr val="tx1"/>
                </a:solidFill>
                <a:effectLst/>
                <a:latin typeface="宋体" panose="02010600030101010101" pitchFamily="2" charset="-122"/>
              </a:rPr>
              <a:t>,</a:t>
            </a:r>
            <a:r>
              <a:rPr lang="zh-CN" altLang="en-US" sz="2000" dirty="0">
                <a:solidFill>
                  <a:schemeClr val="tx1"/>
                </a:solidFill>
                <a:effectLst/>
                <a:latin typeface="宋体" panose="02010600030101010101" pitchFamily="2" charset="-122"/>
              </a:rPr>
              <a:t>否则地址转换将出现问题</a:t>
            </a:r>
            <a:r>
              <a:rPr lang="zh-CN" altLang="zh-CN" sz="2000" dirty="0">
                <a:solidFill>
                  <a:schemeClr val="tx1"/>
                </a:solidFill>
                <a:effectLst/>
                <a:latin typeface="宋体" panose="02010600030101010101" pitchFamily="2" charset="-122"/>
              </a:rPr>
              <a:t>。</a:t>
            </a:r>
          </a:p>
          <a:p>
            <a:pPr marL="0" indent="0" eaLnBrk="1" hangingPunct="1">
              <a:lnSpc>
                <a:spcPct val="130000"/>
              </a:lnSpc>
              <a:buFont typeface="Wingdings" pitchFamily="2" charset="2"/>
              <a:buNone/>
            </a:pPr>
            <a:r>
              <a:rPr lang="zh-CN" altLang="zh-CN" sz="2000" dirty="0">
                <a:solidFill>
                  <a:schemeClr val="tx1"/>
                </a:solidFill>
                <a:effectLst/>
                <a:latin typeface="宋体" panose="02010600030101010101" pitchFamily="2" charset="-122"/>
              </a:rPr>
              <a:t>（2）页的保护</a:t>
            </a:r>
          </a:p>
          <a:p>
            <a:pPr marL="0" indent="0" eaLnBrk="1" hangingPunct="1">
              <a:lnSpc>
                <a:spcPct val="130000"/>
              </a:lnSpc>
              <a:buFont typeface="Wingdings" pitchFamily="2" charset="2"/>
              <a:buNone/>
            </a:pPr>
            <a:r>
              <a:rPr lang="zh-CN" altLang="zh-CN" sz="2000" dirty="0">
                <a:solidFill>
                  <a:srgbClr val="FF0000"/>
                </a:solidFill>
                <a:effectLst/>
                <a:latin typeface="宋体" panose="02010600030101010101" pitchFamily="2" charset="-122"/>
              </a:rPr>
              <a:t>逻辑地址转换成物理地址时的保护</a:t>
            </a:r>
            <a:r>
              <a:rPr lang="zh-CN" altLang="en-US" sz="2000" dirty="0">
                <a:solidFill>
                  <a:schemeClr val="tx1"/>
                </a:solidFill>
                <a:effectLst/>
                <a:latin typeface="宋体" panose="02010600030101010101" pitchFamily="2" charset="-122"/>
              </a:rPr>
              <a:t>：</a:t>
            </a:r>
            <a:r>
              <a:rPr lang="zh-CN" altLang="zh-CN" sz="2000" dirty="0">
                <a:solidFill>
                  <a:schemeClr val="tx1"/>
                </a:solidFill>
                <a:effectLst/>
                <a:latin typeface="宋体" panose="02010600030101010101" pitchFamily="2" charset="-122"/>
              </a:rPr>
              <a:t>通过页号与页表长度的比较防止地址越界；</a:t>
            </a:r>
            <a:endParaRPr lang="zh-CN" altLang="en-US" sz="2000" dirty="0">
              <a:solidFill>
                <a:schemeClr val="tx1"/>
              </a:solidFill>
              <a:effectLst/>
              <a:latin typeface="宋体" panose="02010600030101010101" pitchFamily="2" charset="-122"/>
            </a:endParaRPr>
          </a:p>
          <a:p>
            <a:pPr marL="0" indent="0" eaLnBrk="1" hangingPunct="1">
              <a:lnSpc>
                <a:spcPct val="130000"/>
              </a:lnSpc>
              <a:buFont typeface="Wingdings" pitchFamily="2" charset="2"/>
              <a:buNone/>
            </a:pPr>
            <a:r>
              <a:rPr lang="zh-CN" altLang="zh-CN" sz="2000" dirty="0">
                <a:solidFill>
                  <a:srgbClr val="FF0000"/>
                </a:solidFill>
                <a:effectLst/>
                <a:latin typeface="宋体" panose="02010600030101010101" pitchFamily="2" charset="-122"/>
              </a:rPr>
              <a:t>对共享信息的保护</a:t>
            </a:r>
            <a:r>
              <a:rPr lang="zh-CN" altLang="en-US" sz="2000" dirty="0">
                <a:solidFill>
                  <a:schemeClr val="tx1"/>
                </a:solidFill>
                <a:effectLst/>
                <a:latin typeface="宋体" panose="02010600030101010101" pitchFamily="2" charset="-122"/>
              </a:rPr>
              <a:t>：</a:t>
            </a:r>
            <a:r>
              <a:rPr lang="zh-CN" altLang="zh-CN" sz="2000" dirty="0">
                <a:solidFill>
                  <a:schemeClr val="tx1"/>
                </a:solidFill>
                <a:effectLst/>
                <a:latin typeface="宋体" panose="02010600030101010101" pitchFamily="2" charset="-122"/>
              </a:rPr>
              <a:t>通常是在页表中增加一些标志位来设置存取控制字段，一般设置只读、读写、读和执行等权限；如果某进程试图去执行一个只允许读的内存物理块，系统就会发出访问性中断。</a:t>
            </a:r>
          </a:p>
        </p:txBody>
      </p:sp>
    </p:spTree>
  </p:cSld>
  <p:clrMapOvr>
    <a:masterClrMapping/>
  </p:clrMapOvr>
  <p:transition>
    <p:random/>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a:extLst>
              <a:ext uri="{FF2B5EF4-FFF2-40B4-BE49-F238E27FC236}">
                <a16:creationId xmlns:a16="http://schemas.microsoft.com/office/drawing/2014/main" id="{C3A006A4-4775-8D4A-B4FB-0C8F9D1D686A}"/>
              </a:ext>
            </a:extLst>
          </p:cNvPr>
          <p:cNvSpPr>
            <a:spLocks noGrp="1" noChangeArrowheads="1"/>
          </p:cNvSpPr>
          <p:nvPr>
            <p:ph type="body" idx="1"/>
          </p:nvPr>
        </p:nvSpPr>
        <p:spPr>
          <a:xfrm>
            <a:off x="0" y="1357313"/>
            <a:ext cx="8786813" cy="5000625"/>
          </a:xfrm>
        </p:spPr>
        <p:txBody>
          <a:bodyPr/>
          <a:lstStyle/>
          <a:p>
            <a:pPr>
              <a:lnSpc>
                <a:spcPts val="4000"/>
              </a:lnSpc>
              <a:buFont typeface="Wingdings" pitchFamily="2" charset="2"/>
              <a:buNone/>
            </a:pPr>
            <a:r>
              <a:rPr lang="en-US" altLang="zh-CN" sz="2800">
                <a:solidFill>
                  <a:srgbClr val="FF0000"/>
                </a:solidFill>
                <a:effectLst>
                  <a:outerShdw blurRad="38100" dist="38100" dir="2700000" algn="tl">
                    <a:srgbClr val="FFFFFF"/>
                  </a:outerShdw>
                </a:effectLst>
              </a:rPr>
              <a:t>  </a:t>
            </a:r>
            <a:r>
              <a:rPr lang="en-US" altLang="zh-CN">
                <a:solidFill>
                  <a:srgbClr val="FF0000"/>
                </a:solidFill>
                <a:effectLst>
                  <a:outerShdw blurRad="38100" dist="38100" dir="2700000" algn="tl">
                    <a:srgbClr val="FFFFFF"/>
                  </a:outerShdw>
                </a:effectLst>
              </a:rPr>
              <a:t>4.4.3  </a:t>
            </a:r>
            <a:r>
              <a:rPr lang="zh-CN" altLang="en-US">
                <a:solidFill>
                  <a:srgbClr val="FF0000"/>
                </a:solidFill>
                <a:effectLst>
                  <a:outerShdw blurRad="38100" dist="38100" dir="2700000" algn="tl">
                    <a:srgbClr val="FFFFFF"/>
                  </a:outerShdw>
                </a:effectLst>
              </a:rPr>
              <a:t>两级页表和多级页表</a:t>
            </a:r>
          </a:p>
          <a:p>
            <a:pPr algn="just">
              <a:lnSpc>
                <a:spcPts val="4000"/>
              </a:lnSpc>
              <a:buFont typeface="Wingdings" pitchFamily="2" charset="2"/>
              <a:buNone/>
            </a:pPr>
            <a:r>
              <a:rPr lang="zh-CN" altLang="en-US" sz="2200"/>
              <a:t>          </a:t>
            </a:r>
            <a:r>
              <a:rPr lang="zh-CN" altLang="en-US" sz="2200">
                <a:solidFill>
                  <a:schemeClr val="tx1"/>
                </a:solidFill>
                <a:effectLst>
                  <a:outerShdw blurRad="38100" dist="38100" dir="2700000" algn="tl">
                    <a:srgbClr val="FFFFFF"/>
                  </a:outerShdw>
                </a:effectLst>
              </a:rPr>
              <a:t>现代计算机已普遍使用</a:t>
            </a:r>
            <a:r>
              <a:rPr lang="en-US" altLang="zh-CN" sz="2200">
                <a:solidFill>
                  <a:schemeClr val="tx1"/>
                </a:solidFill>
                <a:effectLst>
                  <a:outerShdw blurRad="38100" dist="38100" dir="2700000" algn="tl">
                    <a:srgbClr val="FFFFFF"/>
                  </a:outerShdw>
                </a:effectLst>
              </a:rPr>
              <a:t>32</a:t>
            </a:r>
            <a:r>
              <a:rPr lang="zh-CN" altLang="en-US" sz="2200">
                <a:solidFill>
                  <a:schemeClr val="tx1"/>
                </a:solidFill>
                <a:effectLst>
                  <a:outerShdw blurRad="38100" dist="38100" dir="2700000" algn="tl">
                    <a:srgbClr val="FFFFFF"/>
                  </a:outerShdw>
                </a:effectLst>
              </a:rPr>
              <a:t>位或</a:t>
            </a:r>
            <a:r>
              <a:rPr lang="en-US" altLang="zh-CN" sz="2200">
                <a:solidFill>
                  <a:schemeClr val="tx1"/>
                </a:solidFill>
                <a:effectLst>
                  <a:outerShdw blurRad="38100" dist="38100" dir="2700000" algn="tl">
                    <a:srgbClr val="FFFFFF"/>
                  </a:outerShdw>
                </a:effectLst>
              </a:rPr>
              <a:t>64</a:t>
            </a:r>
            <a:r>
              <a:rPr lang="zh-CN" altLang="en-US" sz="2200">
                <a:solidFill>
                  <a:schemeClr val="tx1"/>
                </a:solidFill>
                <a:effectLst>
                  <a:outerShdw blurRad="38100" dist="38100" dir="2700000" algn="tl">
                    <a:srgbClr val="FFFFFF"/>
                  </a:outerShdw>
                </a:effectLst>
              </a:rPr>
              <a:t>位逻辑地址，可以支持</a:t>
            </a:r>
            <a:r>
              <a:rPr lang="en-US" altLang="zh-CN" sz="2200">
                <a:solidFill>
                  <a:schemeClr val="tx1"/>
                </a:solidFill>
                <a:effectLst>
                  <a:outerShdw blurRad="38100" dist="38100" dir="2700000" algn="tl">
                    <a:srgbClr val="FFFFFF"/>
                  </a:outerShdw>
                </a:effectLst>
              </a:rPr>
              <a:t>2</a:t>
            </a:r>
            <a:r>
              <a:rPr lang="en-US" altLang="zh-CN" sz="2200" baseline="30000">
                <a:solidFill>
                  <a:schemeClr val="tx1"/>
                </a:solidFill>
                <a:effectLst>
                  <a:outerShdw blurRad="38100" dist="38100" dir="2700000" algn="tl">
                    <a:srgbClr val="FFFFFF"/>
                  </a:outerShdw>
                </a:effectLst>
              </a:rPr>
              <a:t>32</a:t>
            </a:r>
            <a:r>
              <a:rPr lang="en-US" altLang="zh-CN" sz="2200">
                <a:solidFill>
                  <a:schemeClr val="tx1"/>
                </a:solidFill>
                <a:effectLst>
                  <a:outerShdw blurRad="38100" dist="38100" dir="2700000" algn="tl">
                    <a:srgbClr val="FFFFFF"/>
                  </a:outerShdw>
                </a:effectLst>
              </a:rPr>
              <a:t>B</a:t>
            </a:r>
            <a:r>
              <a:rPr lang="zh-CN" altLang="en-US" sz="2200">
                <a:solidFill>
                  <a:schemeClr val="tx1"/>
                </a:solidFill>
                <a:effectLst>
                  <a:outerShdw blurRad="38100" dist="38100" dir="2700000" algn="tl">
                    <a:srgbClr val="FFFFFF"/>
                  </a:outerShdw>
                </a:effectLst>
              </a:rPr>
              <a:t>～</a:t>
            </a:r>
            <a:r>
              <a:rPr lang="en-US" altLang="zh-CN" sz="2200">
                <a:solidFill>
                  <a:schemeClr val="tx1"/>
                </a:solidFill>
                <a:effectLst>
                  <a:outerShdw blurRad="38100" dist="38100" dir="2700000" algn="tl">
                    <a:srgbClr val="FFFFFF"/>
                  </a:outerShdw>
                </a:effectLst>
              </a:rPr>
              <a:t>2</a:t>
            </a:r>
            <a:r>
              <a:rPr lang="en-US" altLang="zh-CN" sz="2200" baseline="30000">
                <a:solidFill>
                  <a:schemeClr val="tx1"/>
                </a:solidFill>
                <a:effectLst>
                  <a:outerShdw blurRad="38100" dist="38100" dir="2700000" algn="tl">
                    <a:srgbClr val="FFFFFF"/>
                  </a:outerShdw>
                </a:effectLst>
              </a:rPr>
              <a:t>64</a:t>
            </a:r>
            <a:r>
              <a:rPr lang="en-US" altLang="zh-CN" sz="2200">
                <a:solidFill>
                  <a:schemeClr val="tx1"/>
                </a:solidFill>
                <a:effectLst>
                  <a:outerShdw blurRad="38100" dist="38100" dir="2700000" algn="tl">
                    <a:srgbClr val="FFFFFF"/>
                  </a:outerShdw>
                </a:effectLst>
              </a:rPr>
              <a:t>B</a:t>
            </a:r>
            <a:r>
              <a:rPr lang="zh-CN" altLang="en-US" sz="2200">
                <a:solidFill>
                  <a:schemeClr val="tx1"/>
                </a:solidFill>
                <a:effectLst>
                  <a:outerShdw blurRad="38100" dist="38100" dir="2700000" algn="tl">
                    <a:srgbClr val="FFFFFF"/>
                  </a:outerShdw>
                </a:effectLst>
              </a:rPr>
              <a:t>容量的逻辑地址空间。这样，采用分页存储管理时页表会相当大，在内存中找到一个连续空间来存放页表就不容易了。例如，对</a:t>
            </a:r>
            <a:r>
              <a:rPr lang="en-US" altLang="zh-CN" sz="2200">
                <a:solidFill>
                  <a:schemeClr val="tx1"/>
                </a:solidFill>
                <a:effectLst>
                  <a:outerShdw blurRad="38100" dist="38100" dir="2700000" algn="tl">
                    <a:srgbClr val="FFFFFF"/>
                  </a:outerShdw>
                </a:effectLst>
              </a:rPr>
              <a:t>2</a:t>
            </a:r>
            <a:r>
              <a:rPr lang="en-US" altLang="zh-CN" sz="2200" baseline="30000">
                <a:solidFill>
                  <a:schemeClr val="tx1"/>
                </a:solidFill>
                <a:effectLst>
                  <a:outerShdw blurRad="38100" dist="38100" dir="2700000" algn="tl">
                    <a:srgbClr val="FFFFFF"/>
                  </a:outerShdw>
                </a:effectLst>
              </a:rPr>
              <a:t>32</a:t>
            </a:r>
            <a:r>
              <a:rPr lang="en-US" altLang="zh-CN" sz="2200">
                <a:solidFill>
                  <a:schemeClr val="tx1"/>
                </a:solidFill>
                <a:effectLst>
                  <a:outerShdw blurRad="38100" dist="38100" dir="2700000" algn="tl">
                    <a:srgbClr val="FFFFFF"/>
                  </a:outerShdw>
                </a:effectLst>
              </a:rPr>
              <a:t>B</a:t>
            </a:r>
            <a:r>
              <a:rPr lang="zh-CN" altLang="en-US" sz="2200">
                <a:solidFill>
                  <a:schemeClr val="tx1"/>
                </a:solidFill>
                <a:effectLst>
                  <a:outerShdw blurRad="38100" dist="38100" dir="2700000" algn="tl">
                    <a:srgbClr val="FFFFFF"/>
                  </a:outerShdw>
                </a:effectLst>
              </a:rPr>
              <a:t>的逻辑地址空间来说，如果页的大小为</a:t>
            </a:r>
            <a:r>
              <a:rPr lang="en-US" altLang="zh-CN" sz="2200">
                <a:solidFill>
                  <a:schemeClr val="tx1"/>
                </a:solidFill>
                <a:effectLst>
                  <a:outerShdw blurRad="38100" dist="38100" dir="2700000" algn="tl">
                    <a:srgbClr val="FFFFFF"/>
                  </a:outerShdw>
                </a:effectLst>
              </a:rPr>
              <a:t>4KB</a:t>
            </a:r>
            <a:r>
              <a:rPr lang="zh-CN" altLang="en-US" sz="2200">
                <a:solidFill>
                  <a:schemeClr val="tx1"/>
                </a:solidFill>
                <a:effectLst>
                  <a:outerShdw blurRad="38100" dist="38100" dir="2700000" algn="tl">
                    <a:srgbClr val="FFFFFF"/>
                  </a:outerShdw>
                </a:effectLst>
              </a:rPr>
              <a:t>（</a:t>
            </a:r>
            <a:r>
              <a:rPr lang="en-US" altLang="zh-CN" sz="2200">
                <a:solidFill>
                  <a:schemeClr val="tx1"/>
                </a:solidFill>
                <a:effectLst>
                  <a:outerShdw blurRad="38100" dist="38100" dir="2700000" algn="tl">
                    <a:srgbClr val="FFFFFF"/>
                  </a:outerShdw>
                </a:effectLst>
              </a:rPr>
              <a:t>2</a:t>
            </a:r>
            <a:r>
              <a:rPr lang="en-US" altLang="zh-CN" sz="2200" baseline="30000">
                <a:solidFill>
                  <a:schemeClr val="tx1"/>
                </a:solidFill>
                <a:effectLst>
                  <a:outerShdw blurRad="38100" dist="38100" dir="2700000" algn="tl">
                    <a:srgbClr val="FFFFFF"/>
                  </a:outerShdw>
                </a:effectLst>
              </a:rPr>
              <a:t>12</a:t>
            </a:r>
            <a:r>
              <a:rPr lang="en-US" altLang="zh-CN" sz="2200">
                <a:solidFill>
                  <a:schemeClr val="tx1"/>
                </a:solidFill>
                <a:effectLst>
                  <a:outerShdw blurRad="38100" dist="38100" dir="2700000" algn="tl">
                    <a:srgbClr val="FFFFFF"/>
                  </a:outerShdw>
                </a:effectLst>
              </a:rPr>
              <a:t>B</a:t>
            </a:r>
            <a:r>
              <a:rPr lang="zh-CN" altLang="en-US" sz="2200">
                <a:solidFill>
                  <a:schemeClr val="tx1"/>
                </a:solidFill>
                <a:effectLst>
                  <a:outerShdw blurRad="38100" dist="38100" dir="2700000" algn="tl">
                    <a:srgbClr val="FFFFFF"/>
                  </a:outerShdw>
                </a:effectLst>
              </a:rPr>
              <a:t>）则页表项达</a:t>
            </a:r>
            <a:r>
              <a:rPr lang="en-US" altLang="zh-CN" sz="2200">
                <a:solidFill>
                  <a:schemeClr val="tx1"/>
                </a:solidFill>
                <a:effectLst>
                  <a:outerShdw blurRad="38100" dist="38100" dir="2700000" algn="tl">
                    <a:srgbClr val="FFFFFF"/>
                  </a:outerShdw>
                </a:effectLst>
              </a:rPr>
              <a:t>1M</a:t>
            </a:r>
            <a:r>
              <a:rPr lang="zh-CN" altLang="en-US" sz="2200">
                <a:solidFill>
                  <a:schemeClr val="tx1"/>
                </a:solidFill>
                <a:effectLst>
                  <a:outerShdw blurRad="38100" dist="38100" dir="2700000" algn="tl">
                    <a:srgbClr val="FFFFFF"/>
                  </a:outerShdw>
                </a:effectLst>
              </a:rPr>
              <a:t>个，如果每个页表项仅占用</a:t>
            </a:r>
            <a:r>
              <a:rPr lang="en-US" altLang="zh-CN" sz="2200">
                <a:solidFill>
                  <a:schemeClr val="tx1"/>
                </a:solidFill>
                <a:effectLst>
                  <a:outerShdw blurRad="38100" dist="38100" dir="2700000" algn="tl">
                    <a:srgbClr val="FFFFFF"/>
                  </a:outerShdw>
                </a:effectLst>
              </a:rPr>
              <a:t>1B</a:t>
            </a:r>
            <a:r>
              <a:rPr lang="zh-CN" altLang="en-US" sz="2200">
                <a:solidFill>
                  <a:schemeClr val="tx1"/>
                </a:solidFill>
                <a:effectLst>
                  <a:outerShdw blurRad="38100" dist="38100" dir="2700000" algn="tl">
                    <a:srgbClr val="FFFFFF"/>
                  </a:outerShdw>
                </a:effectLst>
              </a:rPr>
              <a:t>，则每个进程的页表要占用</a:t>
            </a:r>
            <a:r>
              <a:rPr lang="en-US" altLang="zh-CN" sz="2200">
                <a:solidFill>
                  <a:schemeClr val="tx1"/>
                </a:solidFill>
                <a:effectLst>
                  <a:outerShdw blurRad="38100" dist="38100" dir="2700000" algn="tl">
                    <a:srgbClr val="FFFFFF"/>
                  </a:outerShdw>
                </a:effectLst>
              </a:rPr>
              <a:t>1MB</a:t>
            </a:r>
            <a:r>
              <a:rPr lang="zh-CN" altLang="en-US" sz="2200">
                <a:solidFill>
                  <a:schemeClr val="tx1"/>
                </a:solidFill>
                <a:effectLst>
                  <a:outerShdw blurRad="38100" dist="38100" dir="2700000" algn="tl">
                    <a:srgbClr val="FFFFFF"/>
                  </a:outerShdw>
                </a:effectLst>
              </a:rPr>
              <a:t>的连续内存空间，这显然是不现实的。为了减少页表所占用的连续内存空间，一个简单的解决方法是使用两级或多级分页方法，即将页表再进行分页。</a:t>
            </a:r>
          </a:p>
        </p:txBody>
      </p:sp>
      <p:sp>
        <p:nvSpPr>
          <p:cNvPr id="88067" name="AutoShape 3">
            <a:extLst>
              <a:ext uri="{FF2B5EF4-FFF2-40B4-BE49-F238E27FC236}">
                <a16:creationId xmlns:a16="http://schemas.microsoft.com/office/drawing/2014/main" id="{7F1BE929-3FE3-EE43-B09B-94B3BC26C58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4.4 分页存储管理</a:t>
            </a:r>
          </a:p>
        </p:txBody>
      </p:sp>
    </p:spTree>
  </p:cSld>
  <p:clrMapOvr>
    <a:masterClrMapping/>
  </p:clrMapOvr>
  <p:transition>
    <p:random/>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a:extLst>
              <a:ext uri="{FF2B5EF4-FFF2-40B4-BE49-F238E27FC236}">
                <a16:creationId xmlns:a16="http://schemas.microsoft.com/office/drawing/2014/main" id="{26AFA9EB-D87F-304B-8D0B-228145ABAA42}"/>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两级页表和多级页表</a:t>
            </a:r>
          </a:p>
        </p:txBody>
      </p:sp>
      <p:sp>
        <p:nvSpPr>
          <p:cNvPr id="65539" name="Rectangle 3">
            <a:extLst>
              <a:ext uri="{FF2B5EF4-FFF2-40B4-BE49-F238E27FC236}">
                <a16:creationId xmlns:a16="http://schemas.microsoft.com/office/drawing/2014/main" id="{74EC1109-DBCE-3942-86E5-6A57CE569354}"/>
              </a:ext>
            </a:extLst>
          </p:cNvPr>
          <p:cNvSpPr>
            <a:spLocks noGrp="1" noChangeArrowheads="1"/>
          </p:cNvSpPr>
          <p:nvPr>
            <p:ph type="body" sz="half" idx="1"/>
          </p:nvPr>
        </p:nvSpPr>
        <p:spPr>
          <a:xfrm>
            <a:off x="714375" y="1214438"/>
            <a:ext cx="8215313" cy="4286250"/>
          </a:xfrm>
        </p:spPr>
        <p:txBody>
          <a:bodyPr/>
          <a:lstStyle/>
          <a:p>
            <a:pPr marL="0" indent="0" eaLnBrk="1" hangingPunct="1">
              <a:lnSpc>
                <a:spcPct val="150000"/>
              </a:lnSpc>
              <a:spcBef>
                <a:spcPct val="0"/>
              </a:spcBef>
              <a:buFont typeface="Wingdings" pitchFamily="2" charset="2"/>
              <a:buNone/>
            </a:pPr>
            <a:r>
              <a:rPr lang="zh-CN" altLang="zh-CN">
                <a:solidFill>
                  <a:srgbClr val="FF0000"/>
                </a:solidFill>
                <a:effectLst/>
                <a:latin typeface="宋体" panose="02010600030101010101" pitchFamily="2" charset="-122"/>
              </a:rPr>
              <a:t>1. 两级页表</a:t>
            </a:r>
          </a:p>
          <a:p>
            <a:pPr marL="0" indent="0" eaLnBrk="1" hangingPunct="1">
              <a:lnSpc>
                <a:spcPct val="150000"/>
              </a:lnSpc>
              <a:spcBef>
                <a:spcPct val="0"/>
              </a:spcBef>
              <a:buFont typeface="Wingdings" pitchFamily="2" charset="2"/>
              <a:buNone/>
            </a:pPr>
            <a:r>
              <a:rPr lang="zh-CN" altLang="zh-CN" sz="2000">
                <a:solidFill>
                  <a:schemeClr val="tx1"/>
                </a:solidFill>
                <a:effectLst/>
                <a:latin typeface="宋体" panose="02010600030101010101" pitchFamily="2" charset="-122"/>
              </a:rPr>
              <a:t>为了将一个大页表存放在内存中，可以考虑先对页表进行分页，然后把页表分页后形成的各个页（称为页表分页）分别存储在内存中不一定相邻的物理块中。由于各个页表分页以离散方式存放，为了将它们组织起来，可以以页表分页为单位建立更高一级索引，该索引称为外层页表。每个页表分页在外层页表中有一个外层页表项，它记录了对应页表分页在内存中所存放的物理块号。引入外层页表后，分页存储管理就建立在两级页表的基础上，这时进程的逻辑地址可以通过外层页号、内层页号、页内地址来描述。</a:t>
            </a:r>
          </a:p>
        </p:txBody>
      </p:sp>
      <p:pic>
        <p:nvPicPr>
          <p:cNvPr id="75780" name="Picture 4" descr="4-25">
            <a:extLst>
              <a:ext uri="{FF2B5EF4-FFF2-40B4-BE49-F238E27FC236}">
                <a16:creationId xmlns:a16="http://schemas.microsoft.com/office/drawing/2014/main" id="{C11B5A50-5C28-C546-B59E-839A66683E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4563" y="5786438"/>
            <a:ext cx="4968875" cy="817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a:extLst>
              <a:ext uri="{FF2B5EF4-FFF2-40B4-BE49-F238E27FC236}">
                <a16:creationId xmlns:a16="http://schemas.microsoft.com/office/drawing/2014/main" id="{05132815-65FF-8B40-A7B4-5D3776B4C9BC}"/>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两级页表和多级页表</a:t>
            </a:r>
          </a:p>
        </p:txBody>
      </p:sp>
      <p:sp>
        <p:nvSpPr>
          <p:cNvPr id="76803" name="Rectangle 3">
            <a:extLst>
              <a:ext uri="{FF2B5EF4-FFF2-40B4-BE49-F238E27FC236}">
                <a16:creationId xmlns:a16="http://schemas.microsoft.com/office/drawing/2014/main" id="{7F4B8DF9-3C49-7E44-8FF3-DC545C59AEBE}"/>
              </a:ext>
            </a:extLst>
          </p:cNvPr>
          <p:cNvSpPr>
            <a:spLocks noGrp="1" noChangeArrowheads="1"/>
          </p:cNvSpPr>
          <p:nvPr>
            <p:ph type="body" sz="half" idx="1"/>
          </p:nvPr>
        </p:nvSpPr>
        <p:spPr>
          <a:xfrm>
            <a:off x="428625" y="1500188"/>
            <a:ext cx="3000375" cy="576262"/>
          </a:xfrm>
        </p:spPr>
        <p:txBody>
          <a:bodyPr/>
          <a:lstStyle/>
          <a:p>
            <a:pPr marL="0" indent="0" eaLnBrk="1" hangingPunct="1">
              <a:buFont typeface="Wingdings" pitchFamily="2" charset="2"/>
              <a:buNone/>
            </a:pPr>
            <a:r>
              <a:rPr lang="zh-CN" altLang="zh-CN">
                <a:solidFill>
                  <a:srgbClr val="FF0000"/>
                </a:solidFill>
                <a:effectLst/>
                <a:latin typeface="宋体" panose="02010600030101010101" pitchFamily="2" charset="-122"/>
              </a:rPr>
              <a:t>两级页表及其关系</a:t>
            </a:r>
            <a:r>
              <a:rPr lang="zh-CN" altLang="en-US">
                <a:solidFill>
                  <a:srgbClr val="FF0000"/>
                </a:solidFill>
                <a:effectLst/>
                <a:latin typeface="宋体" panose="02010600030101010101" pitchFamily="2" charset="-122"/>
              </a:rPr>
              <a:t>：</a:t>
            </a:r>
            <a:endParaRPr lang="zh-CN" altLang="zh-CN">
              <a:solidFill>
                <a:srgbClr val="FF0000"/>
              </a:solidFill>
              <a:effectLst/>
              <a:latin typeface="宋体" panose="02010600030101010101" pitchFamily="2" charset="-122"/>
            </a:endParaRPr>
          </a:p>
        </p:txBody>
      </p:sp>
      <p:pic>
        <p:nvPicPr>
          <p:cNvPr id="76804" name="Picture 5" descr="4-26">
            <a:extLst>
              <a:ext uri="{FF2B5EF4-FFF2-40B4-BE49-F238E27FC236}">
                <a16:creationId xmlns:a16="http://schemas.microsoft.com/office/drawing/2014/main" id="{6CE2796B-C5FA-EF44-AE5B-E0E4579FC1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0438" y="1285875"/>
            <a:ext cx="5500687" cy="557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9FEA1910-8C39-5A43-8127-5B6539698321}"/>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两级页表和多级页表</a:t>
            </a:r>
          </a:p>
        </p:txBody>
      </p:sp>
      <p:sp>
        <p:nvSpPr>
          <p:cNvPr id="67587" name="Rectangle 3">
            <a:extLst>
              <a:ext uri="{FF2B5EF4-FFF2-40B4-BE49-F238E27FC236}">
                <a16:creationId xmlns:a16="http://schemas.microsoft.com/office/drawing/2014/main" id="{EE837FF3-241D-334A-9E34-43DCA2531114}"/>
              </a:ext>
            </a:extLst>
          </p:cNvPr>
          <p:cNvSpPr>
            <a:spLocks noGrp="1" noChangeArrowheads="1"/>
          </p:cNvSpPr>
          <p:nvPr>
            <p:ph type="body" sz="half" idx="1"/>
          </p:nvPr>
        </p:nvSpPr>
        <p:spPr>
          <a:xfrm>
            <a:off x="468313" y="1214438"/>
            <a:ext cx="8135937" cy="3294062"/>
          </a:xfrm>
        </p:spPr>
        <p:txBody>
          <a:bodyPr/>
          <a:lstStyle/>
          <a:p>
            <a:pPr marL="0" indent="0" eaLnBrk="1" hangingPunct="1">
              <a:lnSpc>
                <a:spcPct val="150000"/>
              </a:lnSpc>
              <a:spcBef>
                <a:spcPct val="0"/>
              </a:spcBef>
              <a:buFont typeface="Wingdings" pitchFamily="2" charset="2"/>
              <a:buNone/>
            </a:pPr>
            <a:r>
              <a:rPr lang="zh-CN" altLang="zh-CN" sz="2200">
                <a:solidFill>
                  <a:srgbClr val="FF0000"/>
                </a:solidFill>
                <a:effectLst/>
                <a:latin typeface="宋体" panose="02010600030101010101" pitchFamily="2" charset="-122"/>
              </a:rPr>
              <a:t>具有两级页表的地址转换过程</a:t>
            </a:r>
          </a:p>
          <a:p>
            <a:pPr marL="0" indent="0" eaLnBrk="1" hangingPunct="1">
              <a:lnSpc>
                <a:spcPct val="150000"/>
              </a:lnSpc>
              <a:spcBef>
                <a:spcPct val="0"/>
              </a:spcBef>
              <a:buFont typeface="Wingdings" pitchFamily="2" charset="2"/>
              <a:buNone/>
            </a:pPr>
            <a:r>
              <a:rPr lang="zh-CN" altLang="zh-CN" sz="2000">
                <a:solidFill>
                  <a:schemeClr val="tx1"/>
                </a:solidFill>
                <a:effectLst/>
                <a:latin typeface="宋体" panose="02010600030101010101" pitchFamily="2" charset="-122"/>
              </a:rPr>
              <a:t>地址转换机构首先从外层页表控制寄存器中取出外层页表在内存中的起始地址，以进程逻辑地址中的外层页号检索外层页表，找到指定内层页表（页表分页）在内存中的起始地址；然后在内层页表中按内层页号找到指定的页表项，而该页表项则给出了要访问页在内存中的物理块号；最后，将该物理块号与逻辑地址中的页内地址进行拼接就形成了真正要访问的内存物理地址。</a:t>
            </a:r>
          </a:p>
          <a:p>
            <a:pPr marL="0" indent="0" eaLnBrk="1" hangingPunct="1">
              <a:lnSpc>
                <a:spcPct val="150000"/>
              </a:lnSpc>
              <a:spcBef>
                <a:spcPct val="0"/>
              </a:spcBef>
              <a:buFont typeface="Wingdings" pitchFamily="2" charset="2"/>
              <a:buNone/>
            </a:pPr>
            <a:endParaRPr lang="zh-CN" altLang="zh-CN" sz="2000">
              <a:solidFill>
                <a:schemeClr val="tx1"/>
              </a:solidFill>
              <a:effectLst/>
              <a:latin typeface="宋体" panose="02010600030101010101" pitchFamily="2" charset="-122"/>
            </a:endParaRPr>
          </a:p>
        </p:txBody>
      </p:sp>
      <p:pic>
        <p:nvPicPr>
          <p:cNvPr id="77828" name="Picture 5" descr="4-27">
            <a:extLst>
              <a:ext uri="{FF2B5EF4-FFF2-40B4-BE49-F238E27FC236}">
                <a16:creationId xmlns:a16="http://schemas.microsoft.com/office/drawing/2014/main" id="{3FB6C6E3-576C-EE40-A3B8-4D47FB46F0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8688" y="4643438"/>
            <a:ext cx="7143750" cy="2214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a:extLst>
              <a:ext uri="{FF2B5EF4-FFF2-40B4-BE49-F238E27FC236}">
                <a16:creationId xmlns:a16="http://schemas.microsoft.com/office/drawing/2014/main" id="{7C8BD602-8FC6-B741-AFC9-F5A02EB82088}"/>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两级页表和多级页表</a:t>
            </a:r>
          </a:p>
        </p:txBody>
      </p:sp>
      <p:sp>
        <p:nvSpPr>
          <p:cNvPr id="74755" name="Rectangle 3">
            <a:extLst>
              <a:ext uri="{FF2B5EF4-FFF2-40B4-BE49-F238E27FC236}">
                <a16:creationId xmlns:a16="http://schemas.microsoft.com/office/drawing/2014/main" id="{67D0CE05-040D-594C-9193-CBAE15191AEC}"/>
              </a:ext>
            </a:extLst>
          </p:cNvPr>
          <p:cNvSpPr>
            <a:spLocks noGrp="1" noChangeArrowheads="1"/>
          </p:cNvSpPr>
          <p:nvPr>
            <p:ph type="body" sz="half" idx="1"/>
          </p:nvPr>
        </p:nvSpPr>
        <p:spPr>
          <a:xfrm>
            <a:off x="714375" y="1357313"/>
            <a:ext cx="7889875" cy="5143500"/>
          </a:xfrm>
        </p:spPr>
        <p:txBody>
          <a:bodyPr/>
          <a:lstStyle/>
          <a:p>
            <a:pPr marL="0" indent="0" eaLnBrk="1" hangingPunct="1">
              <a:lnSpc>
                <a:spcPct val="150000"/>
              </a:lnSpc>
              <a:spcBef>
                <a:spcPct val="0"/>
              </a:spcBef>
              <a:buFont typeface="Wingdings" pitchFamily="2" charset="2"/>
              <a:buNone/>
            </a:pPr>
            <a:r>
              <a:rPr lang="zh-CN" altLang="zh-CN">
                <a:solidFill>
                  <a:srgbClr val="FF0000"/>
                </a:solidFill>
                <a:effectLst/>
                <a:latin typeface="宋体" panose="02010600030101010101" pitchFamily="2" charset="-122"/>
              </a:rPr>
              <a:t>2. 多级页表</a:t>
            </a:r>
            <a:endParaRPr lang="zh-CN" altLang="en-US">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采用多级页表</a:t>
            </a:r>
            <a:r>
              <a:rPr lang="zh-CN" altLang="en-US" sz="2000">
                <a:solidFill>
                  <a:schemeClr val="tx1"/>
                </a:solidFill>
                <a:effectLst/>
                <a:latin typeface="宋体" panose="02010600030101010101" pitchFamily="2" charset="-122"/>
              </a:rPr>
              <a:t>的原理是</a:t>
            </a:r>
            <a:r>
              <a:rPr lang="zh-CN" altLang="zh-CN" sz="2000">
                <a:solidFill>
                  <a:schemeClr val="tx1"/>
                </a:solidFill>
                <a:effectLst/>
                <a:latin typeface="宋体" panose="02010600030101010101" pitchFamily="2" charset="-122"/>
              </a:rPr>
              <a:t>对外层页表再进行分页，将外层页表的不同分页以离散分配方式装入到内存不同位置的物理块中，再利用第2级的外层页表来映射它们之间的对应关系，这样逐级进行分页，直至到最终映射到物理块为止。</a:t>
            </a:r>
            <a:endParaRPr lang="zh-CN" altLang="en-US" sz="2000">
              <a:solidFill>
                <a:schemeClr val="tx1"/>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en-US" altLang="zh-CN">
                <a:solidFill>
                  <a:srgbClr val="FF0000"/>
                </a:solidFill>
                <a:effectLst/>
                <a:latin typeface="宋体" panose="02010600030101010101" pitchFamily="2" charset="-122"/>
              </a:rPr>
              <a:t>3</a:t>
            </a:r>
            <a:r>
              <a:rPr lang="zh-CN" altLang="zh-CN">
                <a:solidFill>
                  <a:srgbClr val="FF0000"/>
                </a:solidFill>
                <a:effectLst/>
                <a:latin typeface="宋体" panose="02010600030101010101" pitchFamily="2" charset="-122"/>
              </a:rPr>
              <a:t>.倒置页表</a:t>
            </a:r>
            <a:endParaRPr lang="zh-CN" altLang="en-US">
              <a:solidFill>
                <a:srgbClr val="FF0000"/>
              </a:solidFill>
              <a:effectLst/>
              <a:latin typeface="宋体" panose="02010600030101010101" pitchFamily="2" charset="-122"/>
            </a:endParaRPr>
          </a:p>
          <a:p>
            <a:pPr marL="0" indent="0" eaLnBrk="1" hangingPunct="1">
              <a:lnSpc>
                <a:spcPct val="150000"/>
              </a:lnSpc>
              <a:spcBef>
                <a:spcPct val="0"/>
              </a:spcBef>
              <a:buFont typeface="Wingdings" pitchFamily="2" charset="2"/>
              <a:buNone/>
            </a:pPr>
            <a:r>
              <a:rPr lang="en-US" altLang="zh-CN" sz="2000">
                <a:solidFill>
                  <a:srgbClr val="FF0000"/>
                </a:solidFill>
                <a:effectLst/>
                <a:latin typeface="宋体" panose="02010600030101010101" pitchFamily="2" charset="-122"/>
              </a:rPr>
              <a:t>    </a:t>
            </a:r>
            <a:r>
              <a:rPr lang="zh-CN" altLang="en-US" sz="2000">
                <a:solidFill>
                  <a:schemeClr val="tx1"/>
                </a:solidFill>
                <a:effectLst>
                  <a:outerShdw blurRad="38100" dist="38100" dir="2700000" algn="tl">
                    <a:srgbClr val="FFFFFF"/>
                  </a:outerShdw>
                </a:effectLst>
              </a:rPr>
              <a:t>一般页表的表项是按页号进行排序，页表项中的内容是物理块号，而倒置页表则是为每一个物理块设置一个页表项，并按物理块号排序，页表项的内容是页号及其隶属进程的标识符。在利用倒置页表进行地址转换时，则根据进程标识符和页号去检索倒置页表，</a:t>
            </a:r>
            <a:endParaRPr lang="zh-CN" altLang="zh-CN" sz="2000">
              <a:solidFill>
                <a:schemeClr val="tx1"/>
              </a:solidFill>
              <a:effectLst/>
              <a:latin typeface="宋体" panose="02010600030101010101" pitchFamily="2" charset="-122"/>
            </a:endParaRPr>
          </a:p>
          <a:p>
            <a:pPr marL="0" indent="0" eaLnBrk="1" hangingPunct="1">
              <a:lnSpc>
                <a:spcPct val="150000"/>
              </a:lnSpc>
              <a:spcBef>
                <a:spcPct val="0"/>
              </a:spcBef>
              <a:buFont typeface="Wingdings" pitchFamily="2" charset="2"/>
              <a:buNone/>
            </a:pPr>
            <a:endParaRPr lang="zh-CN"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a:extLst>
              <a:ext uri="{FF2B5EF4-FFF2-40B4-BE49-F238E27FC236}">
                <a16:creationId xmlns:a16="http://schemas.microsoft.com/office/drawing/2014/main" id="{3F2F53CC-ABA0-DB48-B846-82298DDBA8D5}"/>
              </a:ext>
            </a:extLst>
          </p:cNvPr>
          <p:cNvSpPr>
            <a:spLocks noGrp="1" noChangeArrowheads="1"/>
          </p:cNvSpPr>
          <p:nvPr>
            <p:ph type="body" idx="1"/>
          </p:nvPr>
        </p:nvSpPr>
        <p:spPr>
          <a:xfrm>
            <a:off x="539750" y="1214438"/>
            <a:ext cx="8032750" cy="5572125"/>
          </a:xfrm>
        </p:spPr>
        <p:txBody>
          <a:bodyPr/>
          <a:lstStyle/>
          <a:p>
            <a:pPr algn="just">
              <a:buFont typeface="Wingdings" pitchFamily="2" charset="2"/>
              <a:buNone/>
            </a:pPr>
            <a:r>
              <a:rPr lang="en-US" altLang="zh-CN">
                <a:solidFill>
                  <a:srgbClr val="FF0000"/>
                </a:solidFill>
                <a:effectLst>
                  <a:outerShdw blurRad="38100" dist="38100" dir="2700000" algn="tl">
                    <a:srgbClr val="FFFFFF"/>
                  </a:outerShdw>
                </a:effectLst>
              </a:rPr>
              <a:t>4.4.4  </a:t>
            </a:r>
            <a:r>
              <a:rPr lang="zh-CN" altLang="en-US">
                <a:solidFill>
                  <a:srgbClr val="FF0000"/>
                </a:solidFill>
                <a:effectLst>
                  <a:outerShdw blurRad="38100" dist="38100" dir="2700000" algn="tl">
                    <a:srgbClr val="FFFFFF"/>
                  </a:outerShdw>
                </a:effectLst>
              </a:rPr>
              <a:t>内存物理块的分配与回收</a:t>
            </a:r>
          </a:p>
          <a:p>
            <a:pPr algn="just" eaLnBrk="1" hangingPunct="1">
              <a:lnSpc>
                <a:spcPct val="120000"/>
              </a:lnSpc>
              <a:spcBef>
                <a:spcPct val="0"/>
              </a:spcBef>
              <a:buFont typeface="Wingdings" pitchFamily="2" charset="2"/>
              <a:buNone/>
            </a:pPr>
            <a:r>
              <a:rPr lang="zh-CN" altLang="en-US" sz="2000">
                <a:solidFill>
                  <a:schemeClr val="tx1"/>
                </a:solidFill>
                <a:effectLst/>
                <a:latin typeface="宋体" panose="02010600030101010101" pitchFamily="2" charset="-122"/>
              </a:rPr>
              <a:t>    为了实现内存物理块的分配与回收，系统设置了一张请求表和一张内存分配表。</a:t>
            </a:r>
          </a:p>
          <a:p>
            <a:pPr algn="just" eaLnBrk="1" hangingPunct="1">
              <a:lnSpc>
                <a:spcPct val="120000"/>
              </a:lnSpc>
              <a:spcBef>
                <a:spcPct val="0"/>
              </a:spcBef>
              <a:buFont typeface="Wingdings" pitchFamily="2" charset="2"/>
              <a:buNone/>
            </a:pPr>
            <a:r>
              <a:rPr lang="zh-CN" altLang="en-US" sz="2000">
                <a:solidFill>
                  <a:srgbClr val="FF0000"/>
                </a:solidFill>
                <a:effectLst/>
                <a:latin typeface="宋体" panose="02010600030101010101" pitchFamily="2" charset="-122"/>
              </a:rPr>
              <a:t>    请求表：</a:t>
            </a:r>
            <a:r>
              <a:rPr lang="zh-CN" altLang="en-US" sz="2000">
                <a:solidFill>
                  <a:schemeClr val="tx1"/>
                </a:solidFill>
                <a:effectLst/>
                <a:latin typeface="宋体" panose="02010600030101010101" pitchFamily="2" charset="-122"/>
              </a:rPr>
              <a:t>用来确定作业或进程的各页在内存中的实际对应位置，它包括以下信息：进程号、请求页数、页表始址、页表长度、状态（已分配、未分配）等。</a:t>
            </a:r>
          </a:p>
          <a:p>
            <a:pPr algn="just" eaLnBrk="1" hangingPunct="1">
              <a:lnSpc>
                <a:spcPct val="120000"/>
              </a:lnSpc>
              <a:spcBef>
                <a:spcPct val="0"/>
              </a:spcBef>
              <a:buFont typeface="Wingdings" pitchFamily="2" charset="2"/>
              <a:buNone/>
            </a:pPr>
            <a:r>
              <a:rPr lang="zh-CN" altLang="en-US" sz="2000">
                <a:solidFill>
                  <a:srgbClr val="FF0000"/>
                </a:solidFill>
                <a:effectLst/>
                <a:latin typeface="宋体" panose="02010600030101010101" pitchFamily="2" charset="-122"/>
              </a:rPr>
              <a:t>    内存分配表：</a:t>
            </a:r>
            <a:r>
              <a:rPr lang="zh-CN" altLang="en-US" sz="2000">
                <a:solidFill>
                  <a:schemeClr val="tx1"/>
                </a:solidFill>
                <a:effectLst/>
                <a:latin typeface="宋体" panose="02010600030101010101" pitchFamily="2" charset="-122"/>
              </a:rPr>
              <a:t>用来记录内存空间中物理块的分配情况和空闲物理块的总数，并可以通过前面介绍的位示图或空闲链等方法来实现。</a:t>
            </a:r>
          </a:p>
          <a:p>
            <a:pPr algn="just" eaLnBrk="1" hangingPunct="1">
              <a:lnSpc>
                <a:spcPct val="120000"/>
              </a:lnSpc>
              <a:spcBef>
                <a:spcPct val="0"/>
              </a:spcBef>
              <a:buFont typeface="Wingdings" pitchFamily="2" charset="2"/>
              <a:buNone/>
            </a:pPr>
            <a:r>
              <a:rPr lang="zh-CN" altLang="en-US" sz="2000">
                <a:solidFill>
                  <a:srgbClr val="FF0000"/>
                </a:solidFill>
                <a:effectLst/>
                <a:latin typeface="宋体" panose="02010600030101010101" pitchFamily="2" charset="-122"/>
              </a:rPr>
              <a:t>系统为进程分配内存空间步骤：</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）查找请求表，根据请求表中该进程的页数查找内存分配表，是否有足够的空闲物理块；（</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）有则先为该进程建立一个页表，同时在请求表中填写页表始址、页表长度、以及状态等相关信息；（</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）根据具体的查找算法找出用于分配的空闲物理块并把它们分配给该进程，同时将该进程各个页与物理块的对应关系填入该进程的页表中；否则，此次内存空间分配失败。</a:t>
            </a:r>
          </a:p>
        </p:txBody>
      </p:sp>
      <p:sp>
        <p:nvSpPr>
          <p:cNvPr id="94211" name="AutoShape 3">
            <a:extLst>
              <a:ext uri="{FF2B5EF4-FFF2-40B4-BE49-F238E27FC236}">
                <a16:creationId xmlns:a16="http://schemas.microsoft.com/office/drawing/2014/main" id="{A4F32BDF-E2D5-2844-B5DB-1DF6C6C35006}"/>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4.4 分页存储管理</a:t>
            </a:r>
          </a:p>
        </p:txBody>
      </p:sp>
    </p:spTree>
  </p:cSld>
  <p:clrMapOvr>
    <a:masterClrMapping/>
  </p:clrMapOvr>
  <p:transition>
    <p:random/>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a:extLst>
              <a:ext uri="{FF2B5EF4-FFF2-40B4-BE49-F238E27FC236}">
                <a16:creationId xmlns:a16="http://schemas.microsoft.com/office/drawing/2014/main" id="{CCE2E94E-C74E-DA43-B334-670B4661FD61}"/>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内存物理块的分配与回收</a:t>
            </a:r>
          </a:p>
        </p:txBody>
      </p:sp>
      <p:sp>
        <p:nvSpPr>
          <p:cNvPr id="80899" name="Rectangle 3">
            <a:extLst>
              <a:ext uri="{FF2B5EF4-FFF2-40B4-BE49-F238E27FC236}">
                <a16:creationId xmlns:a16="http://schemas.microsoft.com/office/drawing/2014/main" id="{2D5B0B6C-9AB4-F34D-B1EA-2185B6653014}"/>
              </a:ext>
            </a:extLst>
          </p:cNvPr>
          <p:cNvSpPr>
            <a:spLocks noGrp="1" noChangeArrowheads="1"/>
          </p:cNvSpPr>
          <p:nvPr>
            <p:ph type="body" sz="half" idx="1"/>
          </p:nvPr>
        </p:nvSpPr>
        <p:spPr>
          <a:xfrm>
            <a:off x="630238" y="1341438"/>
            <a:ext cx="7883525" cy="4929187"/>
          </a:xfrm>
        </p:spPr>
        <p:txBody>
          <a:bodyPr/>
          <a:lstStyle/>
          <a:p>
            <a:pPr marL="0" indent="0" eaLnBrk="1" hangingPunct="1">
              <a:lnSpc>
                <a:spcPts val="3200"/>
              </a:lnSpc>
              <a:spcBef>
                <a:spcPct val="0"/>
              </a:spcBef>
              <a:buFont typeface="Wingdings" pitchFamily="2" charset="2"/>
              <a:buNone/>
            </a:pPr>
            <a:r>
              <a:rPr lang="en-US" altLang="zh-CN" sz="2000">
                <a:solidFill>
                  <a:schemeClr val="tx1"/>
                </a:solidFill>
                <a:effectLst/>
                <a:latin typeface="宋体" panose="02010600030101010101" pitchFamily="2" charset="-122"/>
              </a:rPr>
              <a:t>    </a:t>
            </a:r>
            <a:r>
              <a:rPr lang="zh-CN" altLang="zh-CN" sz="2000">
                <a:solidFill>
                  <a:schemeClr val="tx1"/>
                </a:solidFill>
                <a:effectLst/>
                <a:latin typeface="宋体" panose="02010600030101010101" pitchFamily="2" charset="-122"/>
              </a:rPr>
              <a:t>系统在回收某个物理块时只需访问页表，并将回收页对应的物理块号从页表中删除并更新内存分配表即可。</a:t>
            </a:r>
            <a:endParaRPr lang="zh-CN" altLang="en-US" sz="2000">
              <a:solidFill>
                <a:schemeClr val="tx1"/>
              </a:solidFill>
              <a:effectLst/>
              <a:latin typeface="宋体" panose="02010600030101010101" pitchFamily="2" charset="-122"/>
            </a:endParaRP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zh-CN" sz="2000">
                <a:solidFill>
                  <a:srgbClr val="FF0000"/>
                </a:solidFill>
                <a:effectLst/>
                <a:latin typeface="宋体" panose="02010600030101010101" pitchFamily="2" charset="-122"/>
              </a:rPr>
              <a:t>分页存储管理总结：</a:t>
            </a:r>
          </a:p>
          <a:p>
            <a:pPr marL="0" indent="0" eaLnBrk="1" hangingPunct="1">
              <a:lnSpc>
                <a:spcPts val="3200"/>
              </a:lnSpc>
              <a:spcBef>
                <a:spcPct val="0"/>
              </a:spcBef>
              <a:buFont typeface="Wingdings" pitchFamily="2" charset="2"/>
              <a:buNone/>
            </a:pPr>
            <a:r>
              <a:rPr lang="zh-CN" altLang="zh-CN" sz="2000">
                <a:solidFill>
                  <a:schemeClr val="tx1"/>
                </a:solidFill>
                <a:effectLst/>
                <a:latin typeface="宋体" panose="02010600030101010101" pitchFamily="2" charset="-122"/>
              </a:rPr>
              <a:t>（1）</a:t>
            </a:r>
            <a:r>
              <a:rPr lang="zh-CN" altLang="zh-CN" sz="2000">
                <a:solidFill>
                  <a:srgbClr val="FF0000"/>
                </a:solidFill>
                <a:effectLst/>
                <a:latin typeface="宋体" panose="02010600030101010101" pitchFamily="2" charset="-122"/>
              </a:rPr>
              <a:t>优点</a:t>
            </a:r>
            <a:r>
              <a:rPr lang="zh-CN" altLang="en-US" sz="2000">
                <a:solidFill>
                  <a:srgbClr val="FF0000"/>
                </a:solidFill>
                <a:effectLst/>
                <a:latin typeface="宋体" panose="02010600030101010101" pitchFamily="2" charset="-122"/>
              </a:rPr>
              <a:t>：</a:t>
            </a:r>
            <a:r>
              <a:rPr lang="zh-CN" altLang="zh-CN" sz="2000">
                <a:solidFill>
                  <a:schemeClr val="tx1"/>
                </a:solidFill>
                <a:effectLst/>
                <a:latin typeface="宋体" panose="02010600030101010101" pitchFamily="2" charset="-122"/>
              </a:rPr>
              <a:t>分页存储管理并不要求各个页之间连续存储，实现了离散存储并可以避免外部碎片，为以后实现程序的“部分装入、部分对换”奠定了基础。</a:t>
            </a:r>
          </a:p>
          <a:p>
            <a:pPr marL="0" indent="0" eaLnBrk="1" hangingPunct="1">
              <a:lnSpc>
                <a:spcPts val="3200"/>
              </a:lnSpc>
              <a:spcBef>
                <a:spcPct val="0"/>
              </a:spcBef>
              <a:buFont typeface="Wingdings" pitchFamily="2" charset="2"/>
              <a:buNone/>
            </a:pPr>
            <a:r>
              <a:rPr lang="zh-CN" altLang="zh-CN" sz="2000">
                <a:solidFill>
                  <a:schemeClr val="tx1"/>
                </a:solidFill>
                <a:effectLst/>
                <a:latin typeface="宋体" panose="02010600030101010101" pitchFamily="2" charset="-122"/>
              </a:rPr>
              <a:t>（2）</a:t>
            </a:r>
            <a:r>
              <a:rPr lang="zh-CN" altLang="zh-CN" sz="2000">
                <a:solidFill>
                  <a:srgbClr val="FF0000"/>
                </a:solidFill>
                <a:effectLst/>
                <a:latin typeface="宋体" panose="02010600030101010101" pitchFamily="2" charset="-122"/>
              </a:rPr>
              <a:t>缺点</a:t>
            </a:r>
            <a:r>
              <a:rPr lang="zh-CN" altLang="en-US" sz="2000">
                <a:solidFill>
                  <a:srgbClr val="FF0000"/>
                </a:solidFill>
                <a:effectLst/>
                <a:latin typeface="宋体" panose="02010600030101010101" pitchFamily="2" charset="-122"/>
              </a:rPr>
              <a:t>：</a:t>
            </a:r>
            <a:r>
              <a:rPr lang="zh-CN" altLang="zh-CN" sz="2000">
                <a:solidFill>
                  <a:schemeClr val="tx1"/>
                </a:solidFill>
                <a:effectLst/>
                <a:latin typeface="宋体" panose="02010600030101010101" pitchFamily="2" charset="-122"/>
              </a:rPr>
              <a:t>① 当内存和程序都很大时，通过位示图和页表来记录内存使用情况和每个程序内存分配情况会使位示图和页表占用较大的存储空间；② 分页存储管理方法要求有相应的硬件支持，如需要地址转换机构和快表等，增加了计算机的成本和系统的开销；③ 分页存储管理虽然消除了外部碎片，但页内的内部碎片依然存在；④ 分页破坏了程序的完整性，这给程序的共享、动态链接等技术的实现带来了困难。</a:t>
            </a:r>
          </a:p>
        </p:txBody>
      </p:sp>
    </p:spTree>
  </p:cSld>
  <p:clrMapOvr>
    <a:masterClrMapping/>
  </p:clrMapOvr>
  <p:transition>
    <p:random/>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9F6E1321-4DF7-6049-B618-D66F0BA740B3}"/>
              </a:ext>
            </a:extLst>
          </p:cNvPr>
          <p:cNvSpPr>
            <a:spLocks noGrp="1" noChangeArrowheads="1"/>
          </p:cNvSpPr>
          <p:nvPr>
            <p:ph type="body" idx="1"/>
          </p:nvPr>
        </p:nvSpPr>
        <p:spPr>
          <a:xfrm>
            <a:off x="179388" y="1484313"/>
            <a:ext cx="8496300" cy="5040312"/>
          </a:xfrm>
        </p:spPr>
        <p:txBody>
          <a:bodyPr/>
          <a:lstStyle/>
          <a:p>
            <a:pPr indent="0" algn="just">
              <a:lnSpc>
                <a:spcPts val="4000"/>
              </a:lnSpc>
              <a:buFont typeface="Wingdings" pitchFamily="2" charset="2"/>
              <a:buNone/>
            </a:pPr>
            <a:r>
              <a:rPr lang="zh-CN" altLang="en-US" sz="2000">
                <a:solidFill>
                  <a:srgbClr val="FF0000"/>
                </a:solidFill>
                <a:effectLst/>
                <a:latin typeface="Times New Roman" panose="02020603050405020304" pitchFamily="18" charset="0"/>
              </a:rPr>
              <a:t>思路：</a:t>
            </a:r>
            <a:r>
              <a:rPr lang="zh-CN" altLang="zh-CN" sz="2000">
                <a:solidFill>
                  <a:schemeClr val="tx1"/>
                </a:solidFill>
                <a:effectLst/>
                <a:latin typeface="Times New Roman" panose="02020603050405020304" pitchFamily="18" charset="0"/>
              </a:rPr>
              <a:t>存储管理从固定分区分配发展到可变分区分配，再发展到分页存储管理，主要是为了提高内存空间的利用率。</a:t>
            </a:r>
            <a:endParaRPr lang="en-US" altLang="zh-CN" sz="2000">
              <a:solidFill>
                <a:schemeClr val="tx1"/>
              </a:solidFill>
              <a:effectLst/>
              <a:latin typeface="Times New Roman" panose="02020603050405020304" pitchFamily="18" charset="0"/>
            </a:endParaRPr>
          </a:p>
          <a:p>
            <a:pPr indent="0" algn="just">
              <a:lnSpc>
                <a:spcPts val="4000"/>
              </a:lnSpc>
              <a:buFont typeface="Wingdings" pitchFamily="2" charset="2"/>
              <a:buNone/>
            </a:pPr>
            <a:r>
              <a:rPr lang="en-US" altLang="zh-CN" sz="2000">
                <a:solidFill>
                  <a:schemeClr val="tx1"/>
                </a:solidFill>
                <a:effectLst/>
                <a:latin typeface="Times New Roman" panose="02020603050405020304" pitchFamily="18" charset="0"/>
              </a:rPr>
              <a:t>        </a:t>
            </a:r>
            <a:r>
              <a:rPr lang="zh-CN" altLang="zh-CN" sz="2000">
                <a:solidFill>
                  <a:schemeClr val="tx1"/>
                </a:solidFill>
                <a:effectLst/>
                <a:latin typeface="Times New Roman" panose="02020603050405020304" pitchFamily="18" charset="0"/>
              </a:rPr>
              <a:t>但从用户角度看，以上几种管理方式都存在局限性，难以满足用户在编程和使用上的多方面需求。如在分页存储管理方式中，程序的逻辑地址空间是一维线性的，虽然可以将程序划分为若干页，但页与程序之间并不存在逻辑关系，也就很难以模块为单位来对程序进行分配、共享和保护。事实上，程序大多采用分段结构，若能以段为单位为程序离散分配内存空间，则可满足用户多方面的需求，由此导致了分段存储管理的出现。</a:t>
            </a:r>
          </a:p>
        </p:txBody>
      </p:sp>
      <p:sp>
        <p:nvSpPr>
          <p:cNvPr id="97283" name="AutoShape 3">
            <a:extLst>
              <a:ext uri="{FF2B5EF4-FFF2-40B4-BE49-F238E27FC236}">
                <a16:creationId xmlns:a16="http://schemas.microsoft.com/office/drawing/2014/main" id="{B319CBB2-1038-C747-8308-92C0061B03A9}"/>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cSld>
  <p:clrMapOvr>
    <a:masterClrMapping/>
  </p:clrMapOvr>
  <p:transition>
    <p:random/>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1F452953-023E-C44D-A6DB-E3F15A0576E2}"/>
              </a:ext>
            </a:extLst>
          </p:cNvPr>
          <p:cNvSpPr>
            <a:spLocks noGrp="1" noChangeArrowheads="1"/>
          </p:cNvSpPr>
          <p:nvPr>
            <p:ph type="body" idx="1"/>
          </p:nvPr>
        </p:nvSpPr>
        <p:spPr>
          <a:xfrm>
            <a:off x="611188" y="1214438"/>
            <a:ext cx="7848600" cy="2232025"/>
          </a:xfrm>
        </p:spPr>
        <p:txBody>
          <a:bodyPr/>
          <a:lstStyle/>
          <a:p>
            <a:pPr>
              <a:buFont typeface="Wingdings" pitchFamily="2" charset="2"/>
              <a:buNone/>
            </a:pPr>
            <a:r>
              <a:rPr lang="en-US" altLang="zh-CN">
                <a:solidFill>
                  <a:srgbClr val="FF0000"/>
                </a:solidFill>
                <a:effectLst>
                  <a:outerShdw blurRad="38100" dist="38100" dir="2700000" algn="tl">
                    <a:srgbClr val="FFFFFF"/>
                  </a:outerShdw>
                </a:effectLst>
              </a:rPr>
              <a:t>4.5.1  </a:t>
            </a:r>
            <a:r>
              <a:rPr lang="zh-CN" altLang="en-US">
                <a:solidFill>
                  <a:srgbClr val="FF0000"/>
                </a:solidFill>
                <a:effectLst>
                  <a:outerShdw blurRad="38100" dist="38100" dir="2700000" algn="tl">
                    <a:srgbClr val="FFFFFF"/>
                  </a:outerShdw>
                </a:effectLst>
              </a:rPr>
              <a:t>分段存储管理的基本原理</a:t>
            </a:r>
          </a:p>
          <a:p>
            <a:pPr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程序大多采用分段结构，一个程序可以由主程序段、子程序段和数据段等组成，每个段都从逻辑地址</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开始编制，有各自的名字和长度并实现不同的功能，</a:t>
            </a:r>
            <a:r>
              <a:rPr lang="zh-CN" altLang="en-US" sz="2000">
                <a:solidFill>
                  <a:schemeClr val="tx1"/>
                </a:solidFill>
                <a:effectLst>
                  <a:outerShdw blurRad="38100" dist="38100" dir="2700000" algn="tl">
                    <a:srgbClr val="FFFFFF"/>
                  </a:outerShdw>
                </a:effectLst>
              </a:rPr>
              <a:t>整个程序的所有段则构成了二维地址空间</a:t>
            </a:r>
            <a:r>
              <a:rPr lang="zh-CN" altLang="en-US" sz="2000">
                <a:solidFill>
                  <a:schemeClr val="tx1"/>
                </a:solidFill>
                <a:effectLst/>
                <a:latin typeface="宋体" panose="02010600030101010101" pitchFamily="2" charset="-122"/>
              </a:rPr>
              <a:t>。</a:t>
            </a:r>
          </a:p>
          <a:p>
            <a:pPr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分段存储管理方式</a:t>
            </a:r>
            <a:r>
              <a:rPr lang="en-US" altLang="zh-CN" sz="2000">
                <a:solidFill>
                  <a:schemeClr val="tx1"/>
                </a:solidFill>
                <a:effectLst/>
                <a:latin typeface="宋体" panose="02010600030101010101" pitchFamily="2" charset="-122"/>
              </a:rPr>
              <a:t>----</a:t>
            </a:r>
            <a:r>
              <a:rPr lang="zh-CN" altLang="en-US" sz="2000">
                <a:solidFill>
                  <a:schemeClr val="tx1"/>
                </a:solidFill>
                <a:effectLst/>
                <a:latin typeface="宋体" panose="02010600030101010101" pitchFamily="2" charset="-122"/>
              </a:rPr>
              <a:t>以段为单位为程序离散分配内存空间，</a:t>
            </a:r>
            <a:endParaRPr lang="en-US" altLang="zh-CN" sz="2000">
              <a:solidFill>
                <a:schemeClr val="tx1"/>
              </a:solidFill>
              <a:effectLst/>
              <a:latin typeface="宋体" panose="02010600030101010101" pitchFamily="2" charset="-122"/>
            </a:endParaRPr>
          </a:p>
        </p:txBody>
      </p:sp>
      <p:sp>
        <p:nvSpPr>
          <p:cNvPr id="97283" name="AutoShape 3">
            <a:extLst>
              <a:ext uri="{FF2B5EF4-FFF2-40B4-BE49-F238E27FC236}">
                <a16:creationId xmlns:a16="http://schemas.microsoft.com/office/drawing/2014/main" id="{4F67E546-DE74-1A4F-86D0-1274FE07C52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pic>
        <p:nvPicPr>
          <p:cNvPr id="82948" name="Picture 4" descr="4-28">
            <a:extLst>
              <a:ext uri="{FF2B5EF4-FFF2-40B4-BE49-F238E27FC236}">
                <a16:creationId xmlns:a16="http://schemas.microsoft.com/office/drawing/2014/main" id="{EFFAF6E2-1282-6140-BA4B-6430BC7FDC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3125" y="3643313"/>
            <a:ext cx="5000625" cy="307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82948"/>
                                        </p:tgtEl>
                                        <p:attrNameLst>
                                          <p:attrName>style.visibility</p:attrName>
                                        </p:attrNameLst>
                                      </p:cBhvr>
                                      <p:to>
                                        <p:strVal val="visible"/>
                                      </p:to>
                                    </p:set>
                                    <p:animEffect transition="in" filter="blinds(horizontal)">
                                      <p:cBhvr>
                                        <p:cTn id="7" dur="500"/>
                                        <p:tgtEl>
                                          <p:spTgt spid="829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a:extLst>
              <a:ext uri="{FF2B5EF4-FFF2-40B4-BE49-F238E27FC236}">
                <a16:creationId xmlns:a16="http://schemas.microsoft.com/office/drawing/2014/main" id="{993D88C1-D94A-E443-97F8-9DDEB592476D}"/>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分段存储管理的基本原理</a:t>
            </a:r>
          </a:p>
        </p:txBody>
      </p:sp>
      <p:sp>
        <p:nvSpPr>
          <p:cNvPr id="78851" name="Rectangle 3">
            <a:extLst>
              <a:ext uri="{FF2B5EF4-FFF2-40B4-BE49-F238E27FC236}">
                <a16:creationId xmlns:a16="http://schemas.microsoft.com/office/drawing/2014/main" id="{5E314BC3-46F0-D34A-A2B4-4856574DF4D6}"/>
              </a:ext>
            </a:extLst>
          </p:cNvPr>
          <p:cNvSpPr>
            <a:spLocks noGrp="1" noChangeArrowheads="1"/>
          </p:cNvSpPr>
          <p:nvPr>
            <p:ph type="body" sz="half" idx="1"/>
          </p:nvPr>
        </p:nvSpPr>
        <p:spPr>
          <a:xfrm>
            <a:off x="539750" y="1428750"/>
            <a:ext cx="8032750" cy="4157663"/>
          </a:xfrm>
        </p:spPr>
        <p:txBody>
          <a:bodyPr/>
          <a:lstStyle/>
          <a:p>
            <a:pPr marL="0" indent="0"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1. </a:t>
            </a:r>
            <a:r>
              <a:rPr lang="zh-CN" altLang="en-US" sz="2200">
                <a:solidFill>
                  <a:srgbClr val="FF0000"/>
                </a:solidFill>
                <a:effectLst/>
                <a:latin typeface="宋体" panose="02010600030101010101" pitchFamily="2" charset="-122"/>
              </a:rPr>
              <a:t>实现原理</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在为程序分配内存时，允许以段为单位将程序离散地装入不相邻的内存空间中，每一个段本身</a:t>
            </a:r>
            <a:r>
              <a:rPr lang="zh-CN" altLang="zh-CN" sz="2000">
                <a:solidFill>
                  <a:schemeClr val="tx1"/>
                </a:solidFill>
                <a:effectLst/>
                <a:latin typeface="Times New Roman" panose="02020603050405020304" pitchFamily="18" charset="0"/>
                <a:cs typeface="Times New Roman" panose="02020603050405020304" pitchFamily="18" charset="0"/>
              </a:rPr>
              <a:t>都是一组逻辑意义完整的信息集合，</a:t>
            </a:r>
            <a:r>
              <a:rPr lang="zh-CN" altLang="en-US" sz="2000">
                <a:solidFill>
                  <a:schemeClr val="tx1"/>
                </a:solidFill>
                <a:effectLst/>
                <a:latin typeface="宋体" panose="02010600030101010101" pitchFamily="2" charset="-122"/>
              </a:rPr>
              <a:t>并要在内存占用一段连续的区域，系统通过地址转换机构将段的逻辑地址转换为实际的内存物理地址，使程序能够顺利执行。</a:t>
            </a:r>
          </a:p>
          <a:p>
            <a:pPr marL="0" indent="0"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逻辑地址结构</a:t>
            </a:r>
          </a:p>
          <a:p>
            <a:pPr marL="0" indent="0"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如下图所示的地址结构中，一个程序最多允许</a:t>
            </a:r>
            <a:r>
              <a:rPr lang="en-US" altLang="zh-CN" sz="2000">
                <a:solidFill>
                  <a:schemeClr val="tx1"/>
                </a:solidFill>
                <a:effectLst/>
                <a:latin typeface="宋体" panose="02010600030101010101" pitchFamily="2" charset="-122"/>
              </a:rPr>
              <a:t>256</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en-US" altLang="zh-CN" sz="2000" baseline="30000">
                <a:solidFill>
                  <a:schemeClr val="tx1"/>
                </a:solidFill>
                <a:effectLst/>
                <a:latin typeface="宋体" panose="02010600030101010101" pitchFamily="2" charset="-122"/>
              </a:rPr>
              <a:t>8</a:t>
            </a:r>
            <a:r>
              <a:rPr lang="zh-CN" altLang="en-US" sz="2000">
                <a:solidFill>
                  <a:schemeClr val="tx1"/>
                </a:solidFill>
                <a:effectLst/>
                <a:latin typeface="宋体" panose="02010600030101010101" pitchFamily="2" charset="-122"/>
              </a:rPr>
              <a:t>）个段，每个段的长度为</a:t>
            </a:r>
            <a:r>
              <a:rPr lang="en-US" altLang="zh-CN" sz="2000">
                <a:solidFill>
                  <a:schemeClr val="tx1"/>
                </a:solidFill>
                <a:effectLst/>
                <a:latin typeface="宋体" panose="02010600030101010101" pitchFamily="2" charset="-122"/>
              </a:rPr>
              <a:t>16MB</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en-US" altLang="zh-CN" sz="2000" baseline="30000">
                <a:solidFill>
                  <a:schemeClr val="tx1"/>
                </a:solidFill>
                <a:effectLst/>
                <a:latin typeface="宋体" panose="02010600030101010101" pitchFamily="2" charset="-122"/>
              </a:rPr>
              <a:t>24</a:t>
            </a:r>
            <a:r>
              <a:rPr lang="zh-CN" altLang="en-US" sz="2000">
                <a:solidFill>
                  <a:schemeClr val="tx1"/>
                </a:solidFill>
                <a:effectLst/>
                <a:latin typeface="宋体" panose="02010600030101010101" pitchFamily="2" charset="-122"/>
              </a:rPr>
              <a:t>）。</a:t>
            </a: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pic>
        <p:nvPicPr>
          <p:cNvPr id="83972" name="Picture 4" descr="4-29">
            <a:extLst>
              <a:ext uri="{FF2B5EF4-FFF2-40B4-BE49-F238E27FC236}">
                <a16:creationId xmlns:a16="http://schemas.microsoft.com/office/drawing/2014/main" id="{A0DC07C0-134D-B248-9EE3-350DEC64FB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1588" y="5286375"/>
            <a:ext cx="388778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BB3382CC-619A-CA4B-AC1B-3ED2DE2E222F}"/>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分段存储管理的基本原理</a:t>
            </a:r>
          </a:p>
        </p:txBody>
      </p:sp>
      <p:sp>
        <p:nvSpPr>
          <p:cNvPr id="84995" name="Rectangle 3">
            <a:extLst>
              <a:ext uri="{FF2B5EF4-FFF2-40B4-BE49-F238E27FC236}">
                <a16:creationId xmlns:a16="http://schemas.microsoft.com/office/drawing/2014/main" id="{71D7CB02-8003-0E4B-90D4-1543A627C48A}"/>
              </a:ext>
            </a:extLst>
          </p:cNvPr>
          <p:cNvSpPr>
            <a:spLocks noGrp="1" noChangeArrowheads="1"/>
          </p:cNvSpPr>
          <p:nvPr>
            <p:ph type="body" sz="half" idx="1"/>
          </p:nvPr>
        </p:nvSpPr>
        <p:spPr>
          <a:xfrm>
            <a:off x="0" y="1143000"/>
            <a:ext cx="8643938" cy="3143250"/>
          </a:xfrm>
        </p:spPr>
        <p:txBody>
          <a:bodyPr/>
          <a:lstStyle/>
          <a:p>
            <a:pPr marL="0" indent="341313"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3. </a:t>
            </a:r>
            <a:r>
              <a:rPr lang="zh-CN" altLang="en-US" sz="2200">
                <a:solidFill>
                  <a:srgbClr val="FF0000"/>
                </a:solidFill>
                <a:effectLst/>
                <a:latin typeface="宋体" panose="02010600030101010101" pitchFamily="2" charset="-122"/>
              </a:rPr>
              <a:t>段表</a:t>
            </a: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在分段存储管理中，程序的各段以离散分配方式装入到内存中各不相</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邻的空闲分区，而每个段在该分区中是连续的。</a:t>
            </a: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系统为每个程序建立了一张段表，以实现将二维逻辑地址转换为一维</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物理地址。程序的每个段在段表中占有一个表项，该表项记录了该段的</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段号（段名）、</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该段在内存中的</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起始地址以及该</a:t>
            </a:r>
            <a:endParaRPr lang="en-US" altLang="zh-CN" sz="2000">
              <a:solidFill>
                <a:schemeClr val="tx1"/>
              </a:solidFill>
              <a:effectLst/>
              <a:latin typeface="宋体" panose="02010600030101010101" pitchFamily="2" charset="-122"/>
            </a:endParaRPr>
          </a:p>
          <a:p>
            <a:pPr marL="0" indent="341313"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段的长度等信息。</a:t>
            </a:r>
          </a:p>
          <a:p>
            <a:pPr marL="0" indent="341313"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pic>
        <p:nvPicPr>
          <p:cNvPr id="84996" name="Picture 6" descr="4-30">
            <a:extLst>
              <a:ext uri="{FF2B5EF4-FFF2-40B4-BE49-F238E27FC236}">
                <a16:creationId xmlns:a16="http://schemas.microsoft.com/office/drawing/2014/main" id="{A0272C75-39BB-504C-BF90-6AC9720820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500" y="3571875"/>
            <a:ext cx="5786438" cy="314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3DBA15F4-747B-4A42-856F-1DEB73E158F5}"/>
              </a:ext>
            </a:extLst>
          </p:cNvPr>
          <p:cNvSpPr>
            <a:spLocks noGrp="1" noChangeArrowheads="1"/>
          </p:cNvSpPr>
          <p:nvPr>
            <p:ph type="body" idx="1"/>
          </p:nvPr>
        </p:nvSpPr>
        <p:spPr>
          <a:xfrm>
            <a:off x="642938" y="1285875"/>
            <a:ext cx="8032750" cy="3071813"/>
          </a:xfrm>
        </p:spPr>
        <p:txBody>
          <a:bodyPr/>
          <a:lstStyle/>
          <a:p>
            <a:pPr>
              <a:buFont typeface="Wingdings" pitchFamily="2" charset="2"/>
              <a:buNone/>
            </a:pPr>
            <a:r>
              <a:rPr lang="en-US" altLang="zh-CN">
                <a:solidFill>
                  <a:srgbClr val="FF0000"/>
                </a:solidFill>
                <a:effectLst>
                  <a:outerShdw blurRad="38100" dist="38100" dir="2700000" algn="tl">
                    <a:srgbClr val="FFFFFF"/>
                  </a:outerShdw>
                </a:effectLst>
              </a:rPr>
              <a:t>4.5.2  </a:t>
            </a:r>
            <a:r>
              <a:rPr lang="zh-CN" altLang="en-US">
                <a:solidFill>
                  <a:srgbClr val="FF0000"/>
                </a:solidFill>
                <a:effectLst>
                  <a:outerShdw blurRad="38100" dist="38100" dir="2700000" algn="tl">
                    <a:srgbClr val="FFFFFF"/>
                  </a:outerShdw>
                </a:effectLst>
              </a:rPr>
              <a:t>分段存储管理的地址转换与存储保护</a:t>
            </a:r>
          </a:p>
          <a:p>
            <a:pPr algn="just"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1. </a:t>
            </a:r>
            <a:r>
              <a:rPr lang="zh-CN" altLang="en-US" sz="2200">
                <a:solidFill>
                  <a:srgbClr val="FF0000"/>
                </a:solidFill>
                <a:effectLst/>
                <a:latin typeface="宋体" panose="02010600030101010101" pitchFamily="2" charset="-122"/>
              </a:rPr>
              <a:t>地址转换</a:t>
            </a:r>
          </a:p>
          <a:p>
            <a:pPr algn="just" eaLnBrk="1" hangingPunct="1">
              <a:lnSpc>
                <a:spcPct val="150000"/>
              </a:lnSpc>
              <a:spcBef>
                <a:spcPct val="0"/>
              </a:spcBef>
              <a:buFont typeface="Wingdings" pitchFamily="2" charset="2"/>
              <a:buNone/>
            </a:pPr>
            <a:r>
              <a:rPr lang="zh-CN" altLang="en-US" sz="2200">
                <a:solidFill>
                  <a:schemeClr val="tx1"/>
                </a:solidFill>
                <a:effectLst/>
                <a:latin typeface="宋体" panose="02010600030101010101" pitchFamily="2" charset="-122"/>
              </a:rPr>
              <a:t>先通过段表控制寄存器中存放的段表始址找到段表，然后再从段表中找到对应的表项来完成逻辑段与内存物理分区的映射。</a:t>
            </a:r>
          </a:p>
        </p:txBody>
      </p:sp>
      <p:sp>
        <p:nvSpPr>
          <p:cNvPr id="100355" name="AutoShape 3">
            <a:extLst>
              <a:ext uri="{FF2B5EF4-FFF2-40B4-BE49-F238E27FC236}">
                <a16:creationId xmlns:a16="http://schemas.microsoft.com/office/drawing/2014/main" id="{23929995-97EB-AC4F-BFE8-13DE079802FF}"/>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pic>
        <p:nvPicPr>
          <p:cNvPr id="86020" name="Picture 5" descr="4-31">
            <a:extLst>
              <a:ext uri="{FF2B5EF4-FFF2-40B4-BE49-F238E27FC236}">
                <a16:creationId xmlns:a16="http://schemas.microsoft.com/office/drawing/2014/main" id="{8B6419EA-0810-F24C-A2C7-1BE64AC3E1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7125" y="3286125"/>
            <a:ext cx="6103938" cy="335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6ABE5932-1D7F-F84A-B909-C300169317CC}"/>
              </a:ext>
            </a:extLst>
          </p:cNvPr>
          <p:cNvSpPr>
            <a:spLocks noGrp="1" noChangeArrowheads="1"/>
          </p:cNvSpPr>
          <p:nvPr>
            <p:ph type="body" idx="1"/>
          </p:nvPr>
        </p:nvSpPr>
        <p:spPr>
          <a:xfrm>
            <a:off x="287338" y="1341438"/>
            <a:ext cx="8569325" cy="5329237"/>
          </a:xfrm>
        </p:spPr>
        <p:txBody>
          <a:bodyPr/>
          <a:lstStyle/>
          <a:p>
            <a:pPr indent="0" algn="just">
              <a:lnSpc>
                <a:spcPts val="3400"/>
              </a:lnSpc>
              <a:buFont typeface="Wingdings" pitchFamily="2" charset="2"/>
              <a:buNone/>
            </a:pPr>
            <a:r>
              <a:rPr lang="zh-CN" altLang="en-US" sz="2000">
                <a:solidFill>
                  <a:srgbClr val="FF0000"/>
                </a:solidFill>
                <a:effectLst/>
                <a:latin typeface="Times New Roman" panose="02020603050405020304" pitchFamily="18" charset="0"/>
              </a:rPr>
              <a:t>说明：</a:t>
            </a:r>
            <a:r>
              <a:rPr lang="zh-CN" altLang="zh-CN" sz="2000">
                <a:solidFill>
                  <a:schemeClr val="tx1"/>
                </a:solidFill>
                <a:effectLst/>
                <a:latin typeface="Times New Roman" panose="02020603050405020304" pitchFamily="18" charset="0"/>
              </a:rPr>
              <a:t>在地址转换过程中，硬件地址转换机构首先将逻辑地址中的段号与段表控制寄存器中的段表长度（程序中允许的最大段号）进行比较，若段号超过了段表长度，则产生一个段越界中断信号；否则，将段表控制寄存器中的段表始址和逻辑地址中的段号（在段表中又表示段表项的相对位移）相加，找到该段在段表中对应的段表项，并从此段表项中获得该段映射到内存中的起始地址（内存始址）。然后根据逻辑地址中的段内地址是否大于段表项中的段长，来判断是否产生段内地址越界，若大于，则产生地址越界中断信号；若不大于（段内地址未越界），则将已获得的该段在内存中的起始地址（内存始址）与逻辑地址中的段内地址相加，得到要访问的内存物理地址。</a:t>
            </a:r>
            <a:endParaRPr lang="en-US" altLang="zh-CN" sz="2000">
              <a:solidFill>
                <a:schemeClr val="tx1"/>
              </a:solidFill>
              <a:effectLst/>
              <a:latin typeface="Times New Roman" panose="02020603050405020304" pitchFamily="18" charset="0"/>
            </a:endParaRPr>
          </a:p>
          <a:p>
            <a:pPr indent="0" algn="just">
              <a:lnSpc>
                <a:spcPts val="3400"/>
              </a:lnSpc>
              <a:buFont typeface="Wingdings" pitchFamily="2" charset="2"/>
              <a:buNone/>
            </a:pPr>
            <a:r>
              <a:rPr lang="zh-CN" altLang="en-US" sz="2000">
                <a:solidFill>
                  <a:srgbClr val="FF0000"/>
                </a:solidFill>
                <a:effectLst/>
                <a:latin typeface="Times New Roman" panose="02020603050405020304" pitchFamily="18" charset="0"/>
                <a:cs typeface="Times New Roman" panose="02020603050405020304" pitchFamily="18" charset="0"/>
              </a:rPr>
              <a:t>注意：在分段存储管理的</a:t>
            </a:r>
            <a:r>
              <a:rPr lang="zh-CN" altLang="zh-CN" sz="2000">
                <a:solidFill>
                  <a:srgbClr val="FF0000"/>
                </a:solidFill>
                <a:effectLst/>
                <a:latin typeface="Times New Roman" panose="02020603050405020304" pitchFamily="18" charset="0"/>
              </a:rPr>
              <a:t>地址转换过程中，</a:t>
            </a:r>
            <a:r>
              <a:rPr lang="zh-CN" altLang="zh-CN" sz="2000">
                <a:solidFill>
                  <a:srgbClr val="FF0000"/>
                </a:solidFill>
                <a:effectLst/>
                <a:latin typeface="Times New Roman" panose="02020603050405020304" pitchFamily="18" charset="0"/>
                <a:cs typeface="Times New Roman" panose="02020603050405020304" pitchFamily="18" charset="0"/>
              </a:rPr>
              <a:t>根据所执行指令中的访存地址（逻辑地址）找到要访问的内存物理地址，</a:t>
            </a:r>
            <a:r>
              <a:rPr lang="en-US" altLang="zh-CN" sz="2000">
                <a:solidFill>
                  <a:srgbClr val="FF0000"/>
                </a:solidFill>
                <a:effectLst/>
                <a:latin typeface="Times New Roman" panose="02020603050405020304" pitchFamily="18" charset="0"/>
              </a:rPr>
              <a:t>CPU</a:t>
            </a:r>
            <a:r>
              <a:rPr lang="zh-CN" altLang="zh-CN" sz="2000">
                <a:solidFill>
                  <a:srgbClr val="FF0000"/>
                </a:solidFill>
                <a:effectLst/>
                <a:latin typeface="Times New Roman" panose="02020603050405020304" pitchFamily="18" charset="0"/>
                <a:cs typeface="Times New Roman" panose="02020603050405020304" pitchFamily="18" charset="0"/>
              </a:rPr>
              <a:t>需要两次访问内存。</a:t>
            </a:r>
            <a:endParaRPr lang="zh-CN" altLang="zh-CN" sz="2000">
              <a:solidFill>
                <a:srgbClr val="FF0000"/>
              </a:solidFill>
              <a:effectLst/>
              <a:latin typeface="Times New Roman" panose="02020603050405020304" pitchFamily="18" charset="0"/>
            </a:endParaRPr>
          </a:p>
        </p:txBody>
      </p:sp>
      <p:sp>
        <p:nvSpPr>
          <p:cNvPr id="100355" name="AutoShape 3">
            <a:extLst>
              <a:ext uri="{FF2B5EF4-FFF2-40B4-BE49-F238E27FC236}">
                <a16:creationId xmlns:a16="http://schemas.microsoft.com/office/drawing/2014/main" id="{5BE33A90-B979-D749-A541-D022FD79F38C}"/>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cSld>
  <p:clrMapOvr>
    <a:masterClrMapping/>
  </p:clrMapOvr>
  <p:transition>
    <p:random/>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a:extLst>
              <a:ext uri="{FF2B5EF4-FFF2-40B4-BE49-F238E27FC236}">
                <a16:creationId xmlns:a16="http://schemas.microsoft.com/office/drawing/2014/main" id="{82A41EBD-CEBB-3149-B082-3AAAB61ECFF7}"/>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地址转换与存储保护</a:t>
            </a:r>
          </a:p>
        </p:txBody>
      </p:sp>
      <p:sp>
        <p:nvSpPr>
          <p:cNvPr id="88067" name="Rectangle 3">
            <a:extLst>
              <a:ext uri="{FF2B5EF4-FFF2-40B4-BE49-F238E27FC236}">
                <a16:creationId xmlns:a16="http://schemas.microsoft.com/office/drawing/2014/main" id="{02C30493-7797-9F4F-92B1-34D50603B367}"/>
              </a:ext>
            </a:extLst>
          </p:cNvPr>
          <p:cNvSpPr>
            <a:spLocks noGrp="1" noChangeArrowheads="1"/>
          </p:cNvSpPr>
          <p:nvPr>
            <p:ph type="body" sz="half" idx="1"/>
          </p:nvPr>
        </p:nvSpPr>
        <p:spPr>
          <a:xfrm>
            <a:off x="647700" y="1214438"/>
            <a:ext cx="7956550" cy="935037"/>
          </a:xfrm>
        </p:spPr>
        <p:txBody>
          <a:bodyPr/>
          <a:lstStyle/>
          <a:p>
            <a:pPr marL="0" indent="0" eaLnBrk="1" hangingPunct="1">
              <a:lnSpc>
                <a:spcPct val="150000"/>
              </a:lnSpc>
              <a:spcBef>
                <a:spcPct val="0"/>
              </a:spcBef>
              <a:buFont typeface="Wingdings" pitchFamily="2" charset="2"/>
              <a:buNone/>
            </a:pPr>
            <a:r>
              <a:rPr lang="zh-CN" altLang="en-US" sz="2000">
                <a:solidFill>
                  <a:srgbClr val="FF0000"/>
                </a:solidFill>
                <a:effectLst/>
                <a:latin typeface="宋体" panose="02010600030101010101" pitchFamily="2" charset="-122"/>
              </a:rPr>
              <a:t>例：</a:t>
            </a:r>
            <a:r>
              <a:rPr lang="zh-CN" altLang="en-US" sz="2000">
                <a:solidFill>
                  <a:schemeClr val="tx1"/>
                </a:solidFill>
                <a:effectLst/>
                <a:latin typeface="宋体" panose="02010600030101010101" pitchFamily="2" charset="-122"/>
              </a:rPr>
              <a:t>在一个分段存储管理系统中，其段表如下左表所示，试求右表中逻辑地址所对应的物理地址。</a:t>
            </a:r>
          </a:p>
        </p:txBody>
      </p:sp>
      <p:graphicFrame>
        <p:nvGraphicFramePr>
          <p:cNvPr id="101535" name="Group 159">
            <a:extLst>
              <a:ext uri="{FF2B5EF4-FFF2-40B4-BE49-F238E27FC236}">
                <a16:creationId xmlns:a16="http://schemas.microsoft.com/office/drawing/2014/main" id="{4B023341-2307-8D46-AB1F-044A0DB2905E}"/>
              </a:ext>
            </a:extLst>
          </p:cNvPr>
          <p:cNvGraphicFramePr>
            <a:graphicFrameLocks noGrp="1"/>
          </p:cNvGraphicFramePr>
          <p:nvPr>
            <p:ph sz="quarter" idx="2"/>
          </p:nvPr>
        </p:nvGraphicFramePr>
        <p:xfrm>
          <a:off x="714375" y="2481263"/>
          <a:ext cx="3848100" cy="2090739"/>
        </p:xfrm>
        <a:graphic>
          <a:graphicData uri="http://schemas.openxmlformats.org/drawingml/2006/table">
            <a:tbl>
              <a:tblPr/>
              <a:tblGrid>
                <a:gridCol w="887413">
                  <a:extLst>
                    <a:ext uri="{9D8B030D-6E8A-4147-A177-3AD203B41FA5}">
                      <a16:colId xmlns:a16="http://schemas.microsoft.com/office/drawing/2014/main" val="609230989"/>
                    </a:ext>
                  </a:extLst>
                </a:gridCol>
                <a:gridCol w="987425">
                  <a:extLst>
                    <a:ext uri="{9D8B030D-6E8A-4147-A177-3AD203B41FA5}">
                      <a16:colId xmlns:a16="http://schemas.microsoft.com/office/drawing/2014/main" val="4044420268"/>
                    </a:ext>
                  </a:extLst>
                </a:gridCol>
                <a:gridCol w="1973262">
                  <a:extLst>
                    <a:ext uri="{9D8B030D-6E8A-4147-A177-3AD203B41FA5}">
                      <a16:colId xmlns:a16="http://schemas.microsoft.com/office/drawing/2014/main" val="2608877508"/>
                    </a:ext>
                  </a:extLst>
                </a:gridCol>
              </a:tblGrid>
              <a:tr h="349250">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段号</a:t>
                      </a:r>
                      <a:endParaRPr kumimoji="0" lang="zh-CN" altLang="en-US"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段长</a:t>
                      </a:r>
                      <a:endParaRPr kumimoji="0" lang="zh-CN" altLang="en-US"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内存起始地址</a:t>
                      </a:r>
                      <a:endParaRPr kumimoji="0" lang="zh-CN" altLang="en-US"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14772134"/>
                  </a:ext>
                </a:extLst>
              </a:tr>
              <a:tr h="34766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500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210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52029003"/>
                  </a:ext>
                </a:extLst>
              </a:tr>
              <a:tr h="349250">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2350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42502523"/>
                  </a:ext>
                </a:extLst>
              </a:tr>
              <a:tr h="34766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90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100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68504264"/>
                  </a:ext>
                </a:extLst>
              </a:tr>
              <a:tr h="347663">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590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1350</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54601670"/>
                  </a:ext>
                </a:extLst>
              </a:tr>
              <a:tr h="349250">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95</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1938</a:t>
                      </a:r>
                      <a:endParaRPr kumimoji="0" lang="en-US" altLang="zh-CN" sz="1600" b="1"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L="91433" marR="91433" marT="45716" marB="45716"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76731754"/>
                  </a:ext>
                </a:extLst>
              </a:tr>
            </a:tbl>
          </a:graphicData>
        </a:graphic>
      </p:graphicFrame>
      <p:graphicFrame>
        <p:nvGraphicFramePr>
          <p:cNvPr id="101654" name="Group 278">
            <a:extLst>
              <a:ext uri="{FF2B5EF4-FFF2-40B4-BE49-F238E27FC236}">
                <a16:creationId xmlns:a16="http://schemas.microsoft.com/office/drawing/2014/main" id="{B5459822-76F9-7F45-9C40-00982E828785}"/>
              </a:ext>
            </a:extLst>
          </p:cNvPr>
          <p:cNvGraphicFramePr>
            <a:graphicFrameLocks noGrp="1"/>
          </p:cNvGraphicFramePr>
          <p:nvPr>
            <p:ph sz="quarter" idx="3"/>
          </p:nvPr>
        </p:nvGraphicFramePr>
        <p:xfrm>
          <a:off x="5572125" y="2279650"/>
          <a:ext cx="2232025" cy="2363799"/>
        </p:xfrm>
        <a:graphic>
          <a:graphicData uri="http://schemas.openxmlformats.org/drawingml/2006/table">
            <a:tbl>
              <a:tblPr/>
              <a:tblGrid>
                <a:gridCol w="830263">
                  <a:extLst>
                    <a:ext uri="{9D8B030D-6E8A-4147-A177-3AD203B41FA5}">
                      <a16:colId xmlns:a16="http://schemas.microsoft.com/office/drawing/2014/main" val="20000"/>
                    </a:ext>
                  </a:extLst>
                </a:gridCol>
                <a:gridCol w="1401762">
                  <a:extLst>
                    <a:ext uri="{9D8B030D-6E8A-4147-A177-3AD203B41FA5}">
                      <a16:colId xmlns:a16="http://schemas.microsoft.com/office/drawing/2014/main" val="20001"/>
                    </a:ext>
                  </a:extLst>
                </a:gridCol>
              </a:tblGrid>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段号</a:t>
                      </a:r>
                      <a:endParaRPr kumimoji="0" lang="zh-CN" altLang="en-US"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段内地址</a:t>
                      </a:r>
                      <a:endParaRPr kumimoji="0" lang="zh-CN" altLang="en-US"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0</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430</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1</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10</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52323">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2</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500</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3</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400</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4</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112</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5244">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a:ln>
                            <a:noFill/>
                          </a:ln>
                          <a:solidFill>
                            <a:schemeClr val="tx1"/>
                          </a:solidFill>
                          <a:effectLst/>
                          <a:latin typeface="Times New Roman" pitchFamily="18" charset="0"/>
                          <a:ea typeface="宋体" pitchFamily="2" charset="-122"/>
                          <a:cs typeface="Times New Roman" pitchFamily="18" charset="0"/>
                        </a:rPr>
                        <a:t>5</a:t>
                      </a:r>
                      <a:endParaRPr kumimoji="0" lang="en-US" altLang="zh-CN" sz="1600" b="1" i="0" u="none" strike="noStrike" cap="none" normalizeH="0" baseline="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32</a:t>
                      </a:r>
                      <a:endParaRPr kumimoji="0" lang="en-US" altLang="zh-CN" sz="1600" b="1" i="0" u="none" strike="noStrike" cap="none" normalizeH="0" baseline="0" dirty="0">
                        <a:ln>
                          <a:noFill/>
                        </a:ln>
                        <a:solidFill>
                          <a:schemeClr val="tx1"/>
                        </a:solidFill>
                        <a:effectLst/>
                        <a:latin typeface="Arial" charset="0"/>
                        <a:ea typeface="宋体" pitchFamily="2" charset="-122"/>
                      </a:endParaRPr>
                    </a:p>
                  </a:txBody>
                  <a:tcPr marL="91433" marR="91433" marT="45703" marB="45703"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88126" name="Text Box 279">
            <a:extLst>
              <a:ext uri="{FF2B5EF4-FFF2-40B4-BE49-F238E27FC236}">
                <a16:creationId xmlns:a16="http://schemas.microsoft.com/office/drawing/2014/main" id="{D77DD81B-A5FC-5340-BD87-FD8E16F26597}"/>
              </a:ext>
            </a:extLst>
          </p:cNvPr>
          <p:cNvSpPr txBox="1">
            <a:spLocks noChangeArrowheads="1"/>
          </p:cNvSpPr>
          <p:nvPr/>
        </p:nvSpPr>
        <p:spPr bwMode="auto">
          <a:xfrm>
            <a:off x="869950" y="4857750"/>
            <a:ext cx="7273925" cy="176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spcBef>
                <a:spcPct val="50000"/>
              </a:spcBef>
              <a:buFontTx/>
              <a:buNone/>
            </a:pPr>
            <a:r>
              <a:rPr lang="en-US" altLang="zh-CN" sz="2000">
                <a:solidFill>
                  <a:srgbClr val="FF0000"/>
                </a:solidFill>
                <a:latin typeface="宋体" panose="02010600030101010101" pitchFamily="2" charset="-122"/>
              </a:rPr>
              <a:t>【</a:t>
            </a:r>
            <a:r>
              <a:rPr lang="zh-CN" altLang="en-US" sz="2000">
                <a:solidFill>
                  <a:srgbClr val="FF0000"/>
                </a:solidFill>
                <a:latin typeface="宋体" panose="02010600030101010101" pitchFamily="2" charset="-122"/>
              </a:rPr>
              <a:t>解答</a:t>
            </a:r>
            <a:r>
              <a:rPr lang="en-US" altLang="zh-CN" sz="2000">
                <a:solidFill>
                  <a:srgbClr val="FF0000"/>
                </a:solidFill>
                <a:latin typeface="宋体" panose="02010600030101010101" pitchFamily="2" charset="-122"/>
              </a:rPr>
              <a:t>】 </a:t>
            </a:r>
            <a:r>
              <a:rPr lang="zh-CN" altLang="en-US" sz="2000">
                <a:solidFill>
                  <a:srgbClr val="000000"/>
                </a:solidFill>
                <a:latin typeface="宋体" panose="02010600030101010101" pitchFamily="2" charset="-122"/>
              </a:rPr>
              <a:t>（</a:t>
            </a:r>
            <a:r>
              <a:rPr lang="en-US" altLang="zh-CN" sz="2000">
                <a:solidFill>
                  <a:srgbClr val="000000"/>
                </a:solidFill>
                <a:latin typeface="宋体" panose="02010600030101010101" pitchFamily="2" charset="-122"/>
              </a:rPr>
              <a:t>1</a:t>
            </a:r>
            <a:r>
              <a:rPr lang="zh-CN" altLang="en-US" sz="2000">
                <a:solidFill>
                  <a:srgbClr val="000000"/>
                </a:solidFill>
                <a:latin typeface="宋体" panose="02010600030101010101" pitchFamily="2" charset="-122"/>
              </a:rPr>
              <a:t>）</a:t>
            </a:r>
            <a:r>
              <a:rPr lang="en-US" altLang="zh-CN" sz="2000">
                <a:solidFill>
                  <a:srgbClr val="000000"/>
                </a:solidFill>
                <a:latin typeface="宋体" panose="02010600030101010101" pitchFamily="2" charset="-122"/>
              </a:rPr>
              <a:t>640	         </a:t>
            </a:r>
            <a:r>
              <a:rPr lang="zh-CN" altLang="en-US" sz="2000">
                <a:solidFill>
                  <a:srgbClr val="000000"/>
                </a:solidFill>
                <a:latin typeface="宋体" panose="02010600030101010101" pitchFamily="2" charset="-122"/>
              </a:rPr>
              <a:t>（</a:t>
            </a:r>
            <a:r>
              <a:rPr lang="en-US" altLang="zh-CN" sz="2000">
                <a:solidFill>
                  <a:srgbClr val="000000"/>
                </a:solidFill>
                <a:latin typeface="宋体" panose="02010600030101010101" pitchFamily="2" charset="-122"/>
              </a:rPr>
              <a:t>2</a:t>
            </a:r>
            <a:r>
              <a:rPr lang="zh-CN" altLang="en-US" sz="2000">
                <a:solidFill>
                  <a:srgbClr val="000000"/>
                </a:solidFill>
                <a:latin typeface="宋体" panose="02010600030101010101" pitchFamily="2" charset="-122"/>
              </a:rPr>
              <a:t>）</a:t>
            </a:r>
            <a:r>
              <a:rPr lang="en-US" altLang="zh-CN" sz="2000">
                <a:solidFill>
                  <a:srgbClr val="000000"/>
                </a:solidFill>
                <a:latin typeface="宋体" panose="02010600030101010101" pitchFamily="2" charset="-122"/>
              </a:rPr>
              <a:t>2360</a:t>
            </a:r>
          </a:p>
          <a:p>
            <a:pPr eaLnBrk="1" hangingPunct="1">
              <a:spcBef>
                <a:spcPct val="50000"/>
              </a:spcBef>
              <a:buFontTx/>
              <a:buNone/>
            </a:pPr>
            <a:r>
              <a:rPr lang="zh-CN" altLang="en-US" sz="2000">
                <a:solidFill>
                  <a:srgbClr val="000000"/>
                </a:solidFill>
                <a:latin typeface="宋体" panose="02010600030101010101" pitchFamily="2" charset="-122"/>
              </a:rPr>
              <a:t>         （</a:t>
            </a:r>
            <a:r>
              <a:rPr lang="en-US" altLang="zh-CN" sz="2000">
                <a:solidFill>
                  <a:srgbClr val="000000"/>
                </a:solidFill>
                <a:latin typeface="宋体" panose="02010600030101010101" pitchFamily="2" charset="-122"/>
              </a:rPr>
              <a:t>3</a:t>
            </a:r>
            <a:r>
              <a:rPr lang="zh-CN" altLang="en-US" sz="2000">
                <a:solidFill>
                  <a:srgbClr val="000000"/>
                </a:solidFill>
                <a:latin typeface="宋体" panose="02010600030101010101" pitchFamily="2" charset="-122"/>
              </a:rPr>
              <a:t>）产生越界中断	  （</a:t>
            </a:r>
            <a:r>
              <a:rPr lang="en-US" altLang="zh-CN" sz="2000">
                <a:solidFill>
                  <a:srgbClr val="000000"/>
                </a:solidFill>
                <a:latin typeface="宋体" panose="02010600030101010101" pitchFamily="2" charset="-122"/>
              </a:rPr>
              <a:t>4</a:t>
            </a:r>
            <a:r>
              <a:rPr lang="zh-CN" altLang="en-US" sz="2000">
                <a:solidFill>
                  <a:srgbClr val="000000"/>
                </a:solidFill>
                <a:latin typeface="宋体" panose="02010600030101010101" pitchFamily="2" charset="-122"/>
              </a:rPr>
              <a:t>）</a:t>
            </a:r>
            <a:r>
              <a:rPr lang="en-US" altLang="zh-CN" sz="2000">
                <a:solidFill>
                  <a:srgbClr val="000000"/>
                </a:solidFill>
                <a:latin typeface="宋体" panose="02010600030101010101" pitchFamily="2" charset="-122"/>
              </a:rPr>
              <a:t>1750</a:t>
            </a:r>
          </a:p>
          <a:p>
            <a:pPr eaLnBrk="1" hangingPunct="1">
              <a:spcBef>
                <a:spcPct val="50000"/>
              </a:spcBef>
              <a:buFontTx/>
              <a:buNone/>
            </a:pPr>
            <a:r>
              <a:rPr lang="zh-CN" altLang="en-US" sz="2000">
                <a:solidFill>
                  <a:srgbClr val="000000"/>
                </a:solidFill>
                <a:latin typeface="宋体" panose="02010600030101010101" pitchFamily="2" charset="-122"/>
              </a:rPr>
              <a:t>         （</a:t>
            </a:r>
            <a:r>
              <a:rPr lang="en-US" altLang="zh-CN" sz="2000">
                <a:solidFill>
                  <a:srgbClr val="000000"/>
                </a:solidFill>
                <a:latin typeface="宋体" panose="02010600030101010101" pitchFamily="2" charset="-122"/>
              </a:rPr>
              <a:t>5</a:t>
            </a:r>
            <a:r>
              <a:rPr lang="zh-CN" altLang="en-US" sz="2000">
                <a:solidFill>
                  <a:srgbClr val="000000"/>
                </a:solidFill>
                <a:latin typeface="宋体" panose="02010600030101010101" pitchFamily="2" charset="-122"/>
              </a:rPr>
              <a:t>）产生越界中断	  （</a:t>
            </a:r>
            <a:r>
              <a:rPr lang="en-US" altLang="zh-CN" sz="2000">
                <a:solidFill>
                  <a:srgbClr val="000000"/>
                </a:solidFill>
                <a:latin typeface="宋体" panose="02010600030101010101" pitchFamily="2" charset="-122"/>
              </a:rPr>
              <a:t>6</a:t>
            </a:r>
            <a:r>
              <a:rPr lang="zh-CN" altLang="en-US" sz="2000">
                <a:solidFill>
                  <a:srgbClr val="000000"/>
                </a:solidFill>
                <a:latin typeface="宋体" panose="02010600030101010101" pitchFamily="2" charset="-122"/>
              </a:rPr>
              <a:t>）产生越界中断</a:t>
            </a:r>
          </a:p>
          <a:p>
            <a:pPr eaLnBrk="1" hangingPunct="1">
              <a:spcBef>
                <a:spcPct val="50000"/>
              </a:spcBef>
              <a:buFontTx/>
              <a:buNone/>
            </a:pPr>
            <a:endParaRPr lang="en-US" altLang="zh-CN" sz="2000">
              <a:solidFill>
                <a:srgbClr val="000000"/>
              </a:solidFill>
              <a:latin typeface="宋体" panose="02010600030101010101" pitchFamily="2" charset="-122"/>
            </a:endParaRPr>
          </a:p>
        </p:txBody>
      </p:sp>
    </p:spTree>
  </p:cSld>
  <p:clrMapOvr>
    <a:masterClrMapping/>
  </p:clrMapOvr>
  <p:transition>
    <p:random/>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a:extLst>
              <a:ext uri="{FF2B5EF4-FFF2-40B4-BE49-F238E27FC236}">
                <a16:creationId xmlns:a16="http://schemas.microsoft.com/office/drawing/2014/main" id="{A152B760-A830-EB41-B61D-8313C8723ED1}"/>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地址转换与存储保护</a:t>
            </a:r>
          </a:p>
        </p:txBody>
      </p:sp>
      <p:sp>
        <p:nvSpPr>
          <p:cNvPr id="89091" name="Rectangle 3">
            <a:extLst>
              <a:ext uri="{FF2B5EF4-FFF2-40B4-BE49-F238E27FC236}">
                <a16:creationId xmlns:a16="http://schemas.microsoft.com/office/drawing/2014/main" id="{6119C3DE-9275-884B-9473-8E7D7690A943}"/>
              </a:ext>
            </a:extLst>
          </p:cNvPr>
          <p:cNvSpPr>
            <a:spLocks noGrp="1" noChangeArrowheads="1"/>
          </p:cNvSpPr>
          <p:nvPr>
            <p:ph type="body" sz="half" idx="1"/>
          </p:nvPr>
        </p:nvSpPr>
        <p:spPr>
          <a:xfrm>
            <a:off x="615950" y="1285875"/>
            <a:ext cx="7956550" cy="1008063"/>
          </a:xfrm>
        </p:spPr>
        <p:txBody>
          <a:bodyPr/>
          <a:lstStyle/>
          <a:p>
            <a:pPr marL="0" indent="0" eaLnBrk="1" hangingPunct="1">
              <a:lnSpc>
                <a:spcPct val="150000"/>
              </a:lnSpc>
              <a:spcBef>
                <a:spcPct val="0"/>
              </a:spcBef>
              <a:buFont typeface="Wingdings" pitchFamily="2" charset="2"/>
              <a:buNone/>
            </a:pPr>
            <a:r>
              <a:rPr lang="en-US" altLang="en-US" sz="2200">
                <a:solidFill>
                  <a:srgbClr val="FF0000"/>
                </a:solidFill>
                <a:effectLst/>
                <a:latin typeface="宋体" panose="02010600030101010101" pitchFamily="2" charset="-122"/>
              </a:rPr>
              <a:t>2. 分段共享</a:t>
            </a:r>
          </a:p>
          <a:p>
            <a:pPr marL="0" indent="0" eaLnBrk="1" hangingPunct="1">
              <a:lnSpc>
                <a:spcPct val="150000"/>
              </a:lnSpc>
              <a:spcBef>
                <a:spcPct val="0"/>
              </a:spcBef>
              <a:buFont typeface="Wingdings" pitchFamily="2" charset="2"/>
              <a:buNone/>
            </a:pPr>
            <a:r>
              <a:rPr lang="en-US" altLang="en-US" sz="2000">
                <a:solidFill>
                  <a:schemeClr val="tx1"/>
                </a:solidFill>
                <a:effectLst/>
                <a:latin typeface="宋体" panose="02010600030101010101" pitchFamily="2" charset="-122"/>
              </a:rPr>
              <a:t>（1）数据结构</a:t>
            </a:r>
          </a:p>
        </p:txBody>
      </p:sp>
      <p:pic>
        <p:nvPicPr>
          <p:cNvPr id="89092" name="Picture 66" descr="4-32">
            <a:extLst>
              <a:ext uri="{FF2B5EF4-FFF2-40B4-BE49-F238E27FC236}">
                <a16:creationId xmlns:a16="http://schemas.microsoft.com/office/drawing/2014/main" id="{7BA6F108-5FA6-3A48-A6D3-5E6358B2C7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2713" y="2143125"/>
            <a:ext cx="5221287" cy="3749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2">
            <a:extLst>
              <a:ext uri="{FF2B5EF4-FFF2-40B4-BE49-F238E27FC236}">
                <a16:creationId xmlns:a16="http://schemas.microsoft.com/office/drawing/2014/main" id="{77797870-364C-8D46-9A13-AEA32F7E4963}"/>
              </a:ext>
            </a:extLst>
          </p:cNvPr>
          <p:cNvSpPr txBox="1">
            <a:spLocks noChangeArrowheads="1"/>
          </p:cNvSpPr>
          <p:nvPr/>
        </p:nvSpPr>
        <p:spPr bwMode="auto">
          <a:xfrm>
            <a:off x="214313" y="2428875"/>
            <a:ext cx="3500437" cy="3929063"/>
          </a:xfrm>
          <a:prstGeom prst="rect">
            <a:avLst/>
          </a:prstGeom>
          <a:noFill/>
          <a:ln w="9525">
            <a:noFill/>
            <a:miter lim="800000"/>
            <a:headEnd/>
            <a:tailEnd/>
          </a:ln>
        </p:spPr>
        <p:txBody>
          <a:bodyPr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just" eaLnBrk="1" hangingPunct="1">
              <a:lnSpc>
                <a:spcPts val="3500"/>
              </a:lnSpc>
            </a:pPr>
            <a:r>
              <a:rPr lang="zh-CN" altLang="en-US"/>
              <a:t>    在系统中需要设置共享段表，每个共享段在表中占据一个表项，它记录了为实现该段共享所需的全部信息，包括共享段的段名、段长、状态、内存始址等共享段自身的信息，以及进程名、段号等共享此段的所有进程的相关信息。</a:t>
            </a:r>
            <a:endParaRPr lang="zh-CN" altLang="en-US">
              <a:solidFill>
                <a:srgbClr val="FF0000"/>
              </a:solidFill>
            </a:endParaRPr>
          </a:p>
        </p:txBody>
      </p:sp>
    </p:spTree>
  </p:cSld>
  <p:clrMapOvr>
    <a:masterClrMapping/>
  </p:clrMapOvr>
  <p:transition>
    <p:random/>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a:extLst>
              <a:ext uri="{FF2B5EF4-FFF2-40B4-BE49-F238E27FC236}">
                <a16:creationId xmlns:a16="http://schemas.microsoft.com/office/drawing/2014/main" id="{3BD79A74-299B-0E4C-83E2-EE2DACC6F697}"/>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地址转换与存储保护</a:t>
            </a:r>
          </a:p>
        </p:txBody>
      </p:sp>
      <p:sp>
        <p:nvSpPr>
          <p:cNvPr id="90115" name="Rectangle 3">
            <a:extLst>
              <a:ext uri="{FF2B5EF4-FFF2-40B4-BE49-F238E27FC236}">
                <a16:creationId xmlns:a16="http://schemas.microsoft.com/office/drawing/2014/main" id="{67B34F14-40B7-B84A-8513-CCF52CB2FD58}"/>
              </a:ext>
            </a:extLst>
          </p:cNvPr>
          <p:cNvSpPr>
            <a:spLocks noGrp="1" noChangeArrowheads="1"/>
          </p:cNvSpPr>
          <p:nvPr>
            <p:ph type="body" sz="half" idx="1"/>
          </p:nvPr>
        </p:nvSpPr>
        <p:spPr>
          <a:xfrm>
            <a:off x="571500" y="1643063"/>
            <a:ext cx="8067675" cy="4429125"/>
          </a:xfrm>
        </p:spPr>
        <p:txBody>
          <a:bodyPr/>
          <a:lstStyle/>
          <a:p>
            <a:pPr marL="0" indent="0" eaLnBrk="1" hangingPunct="1">
              <a:lnSpc>
                <a:spcPct val="2000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）共享段的分配与回收</a:t>
            </a:r>
          </a:p>
          <a:p>
            <a:pPr marL="0" indent="0" eaLnBrk="1" hangingPunct="1">
              <a:lnSpc>
                <a:spcPct val="200000"/>
              </a:lnSpc>
              <a:spcBef>
                <a:spcPct val="0"/>
              </a:spcBef>
              <a:buFont typeface="Wingdings" pitchFamily="2" charset="2"/>
              <a:buNone/>
            </a:pPr>
            <a:r>
              <a:rPr lang="zh-CN" altLang="en-US" sz="2000">
                <a:solidFill>
                  <a:srgbClr val="FF0000"/>
                </a:solidFill>
                <a:effectLst/>
                <a:latin typeface="宋体" panose="02010600030101010101" pitchFamily="2" charset="-122"/>
              </a:rPr>
              <a:t>分配</a:t>
            </a:r>
            <a:r>
              <a:rPr lang="zh-CN" altLang="en-US" sz="2000">
                <a:solidFill>
                  <a:schemeClr val="tx1"/>
                </a:solidFill>
                <a:effectLst/>
                <a:latin typeface="宋体" panose="02010600030101010101" pitchFamily="2" charset="-122"/>
              </a:rPr>
              <a:t>：当一个进程请求使用某共享段时，若该共享段尚未调入内存则为它分配相应的内存空间，并将内存始址填入请求进程的段表中，同时在共享段表的有关表项中填入该共享段的相关信息和调用进程的相关信息，并将</a:t>
            </a:r>
            <a:r>
              <a:rPr lang="en-US" altLang="zh-CN" sz="2000">
                <a:solidFill>
                  <a:schemeClr val="tx1"/>
                </a:solidFill>
                <a:effectLst/>
                <a:latin typeface="宋体" panose="02010600030101010101" pitchFamily="2" charset="-122"/>
              </a:rPr>
              <a:t>count</a:t>
            </a:r>
            <a:r>
              <a:rPr lang="zh-CN" altLang="en-US" sz="2000">
                <a:solidFill>
                  <a:schemeClr val="tx1"/>
                </a:solidFill>
                <a:effectLst/>
                <a:latin typeface="宋体" panose="02010600030101010101" pitchFamily="2" charset="-122"/>
              </a:rPr>
              <a:t>置</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a:t>
            </a:r>
          </a:p>
          <a:p>
            <a:pPr marL="0" indent="0" eaLnBrk="1" hangingPunct="1">
              <a:lnSpc>
                <a:spcPct val="200000"/>
              </a:lnSpc>
              <a:spcBef>
                <a:spcPct val="0"/>
              </a:spcBef>
              <a:buFont typeface="Wingdings" pitchFamily="2" charset="2"/>
              <a:buNone/>
            </a:pPr>
            <a:r>
              <a:rPr lang="zh-CN" altLang="en-US" sz="2000">
                <a:solidFill>
                  <a:srgbClr val="FF0000"/>
                </a:solidFill>
                <a:effectLst/>
                <a:latin typeface="宋体" panose="02010600030101010101" pitchFamily="2" charset="-122"/>
              </a:rPr>
              <a:t>回收</a:t>
            </a:r>
            <a:r>
              <a:rPr lang="zh-CN" altLang="en-US" sz="2000">
                <a:solidFill>
                  <a:schemeClr val="tx1"/>
                </a:solidFill>
                <a:effectLst/>
                <a:latin typeface="宋体" panose="02010600030101010101" pitchFamily="2" charset="-122"/>
              </a:rPr>
              <a:t>：仅当所有共享段的进程都使用完之后才能进行共享段的内存空间回收，并撤销该共享段在共享段表中的相应表项。</a:t>
            </a:r>
          </a:p>
          <a:p>
            <a:pPr marL="0" indent="0" eaLnBrk="1" hangingPunct="1">
              <a:lnSpc>
                <a:spcPct val="150000"/>
              </a:lnSpc>
              <a:spcBef>
                <a:spcPct val="0"/>
              </a:spcBef>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a:extLst>
              <a:ext uri="{FF2B5EF4-FFF2-40B4-BE49-F238E27FC236}">
                <a16:creationId xmlns:a16="http://schemas.microsoft.com/office/drawing/2014/main" id="{DCDEB168-17A7-7E49-A4C2-89E906586649}"/>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地址转换与存储保护</a:t>
            </a:r>
          </a:p>
        </p:txBody>
      </p:sp>
      <p:sp>
        <p:nvSpPr>
          <p:cNvPr id="83971" name="Rectangle 3">
            <a:extLst>
              <a:ext uri="{FF2B5EF4-FFF2-40B4-BE49-F238E27FC236}">
                <a16:creationId xmlns:a16="http://schemas.microsoft.com/office/drawing/2014/main" id="{F7CA93D6-18F4-B34E-AA44-A918E05D2CD5}"/>
              </a:ext>
            </a:extLst>
          </p:cNvPr>
          <p:cNvSpPr>
            <a:spLocks noGrp="1" noChangeArrowheads="1"/>
          </p:cNvSpPr>
          <p:nvPr>
            <p:ph type="body" sz="half" idx="1"/>
          </p:nvPr>
        </p:nvSpPr>
        <p:spPr>
          <a:xfrm>
            <a:off x="358775" y="1341438"/>
            <a:ext cx="8424863" cy="5000625"/>
          </a:xfrm>
        </p:spPr>
        <p:txBody>
          <a:bodyPr/>
          <a:lstStyle/>
          <a:p>
            <a:pPr marL="0" indent="0" algn="just" eaLnBrk="1" hangingPunct="1">
              <a:lnSpc>
                <a:spcPts val="3300"/>
              </a:lnSpc>
              <a:spcBef>
                <a:spcPct val="0"/>
              </a:spcBef>
              <a:buFont typeface="Wingdings" pitchFamily="2" charset="2"/>
              <a:buNone/>
            </a:pPr>
            <a:r>
              <a:rPr lang="en-US" altLang="zh-CN" sz="2200">
                <a:solidFill>
                  <a:srgbClr val="FF0000"/>
                </a:solidFill>
                <a:effectLst/>
                <a:latin typeface="宋体" panose="02010600030101010101" pitchFamily="2" charset="-122"/>
              </a:rPr>
              <a:t>3. </a:t>
            </a:r>
            <a:r>
              <a:rPr lang="zh-CN" altLang="en-US" sz="2200">
                <a:solidFill>
                  <a:srgbClr val="FF0000"/>
                </a:solidFill>
                <a:effectLst/>
                <a:latin typeface="宋体" panose="02010600030101010101" pitchFamily="2" charset="-122"/>
              </a:rPr>
              <a:t>分段保护</a:t>
            </a:r>
          </a:p>
          <a:p>
            <a:pPr marL="0" indent="0" algn="just">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在分段存储管理系统中，实现分段保护常用以下两种方法。</a:t>
            </a:r>
          </a:p>
          <a:p>
            <a:pPr marL="0" indent="0" algn="just">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段越界检查。由分段存储管理的地址转换过程可知，在逻辑地址到物理地址的转换过程中要进行两次地址越界检查：第一次是通过段号和段表长度进行比较；第二次是通过段内地址与段长进行比较。只有这两次地址越界检查都通过后，才实施地址转换操作否则发出地址越界中断，这就保证了每个进程只能在属于自己的各内存区间内进行操作或执行。</a:t>
            </a:r>
          </a:p>
          <a:p>
            <a:pPr marL="0" indent="0" algn="just">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存取控制检查。可以通过在每个进程的段表中增设存取控制字段，来限制进程对各段操作的权限。一般情况下，进程对分段的操作方式有三种：只允许读、只允许执行和允许读和写。在共享段表中就是通过设置这个存取控制字段，赋予各进程对共享段不同的操作权限。</a:t>
            </a:r>
          </a:p>
        </p:txBody>
      </p:sp>
    </p:spTree>
  </p:cSld>
  <p:clrMapOvr>
    <a:masterClrMapping/>
  </p:clrMapOvr>
  <p:transition>
    <p:random/>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a:extLst>
              <a:ext uri="{FF2B5EF4-FFF2-40B4-BE49-F238E27FC236}">
                <a16:creationId xmlns:a16="http://schemas.microsoft.com/office/drawing/2014/main" id="{AC73562E-4F45-EB4D-B706-B99918B41FE3}"/>
              </a:ext>
            </a:extLst>
          </p:cNvPr>
          <p:cNvSpPr>
            <a:spLocks noGrp="1" noChangeArrowheads="1"/>
          </p:cNvSpPr>
          <p:nvPr>
            <p:ph type="body" idx="1"/>
          </p:nvPr>
        </p:nvSpPr>
        <p:spPr>
          <a:xfrm>
            <a:off x="0" y="1341438"/>
            <a:ext cx="8858250" cy="5327650"/>
          </a:xfrm>
        </p:spPr>
        <p:txBody>
          <a:bodyPr/>
          <a:lstStyle/>
          <a:p>
            <a:pPr marL="0" indent="0" eaLnBrk="1" hangingPunct="1">
              <a:lnSpc>
                <a:spcPct val="1200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   4.5.3 </a:t>
            </a:r>
            <a:r>
              <a:rPr lang="zh-CN" altLang="en-US">
                <a:solidFill>
                  <a:srgbClr val="FF0000"/>
                </a:solidFill>
                <a:effectLst>
                  <a:outerShdw blurRad="38100" dist="38100" dir="2700000" algn="tl">
                    <a:srgbClr val="FFFFFF"/>
                  </a:outerShdw>
                </a:effectLst>
              </a:rPr>
              <a:t>分段存储管理的优缺点</a:t>
            </a:r>
            <a:endParaRPr lang="zh-CN" altLang="en-US">
              <a:solidFill>
                <a:srgbClr val="FF0000"/>
              </a:solidFill>
              <a:effectLst/>
              <a:latin typeface="宋体" panose="02010600030101010101" pitchFamily="2" charset="-122"/>
            </a:endParaRPr>
          </a:p>
          <a:p>
            <a:pPr marL="0" indent="0">
              <a:lnSpc>
                <a:spcPts val="2600"/>
              </a:lnSpc>
              <a:buFont typeface="Wingdings" pitchFamily="2" charset="2"/>
              <a:buNone/>
            </a:pPr>
            <a:r>
              <a:rPr lang="en-US"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．分段与分页比较</a:t>
            </a:r>
          </a:p>
          <a:p>
            <a:pPr marL="0" indent="0">
              <a:lnSpc>
                <a:spcPts val="2600"/>
              </a:lnSpc>
              <a:buFont typeface="Wingdings" pitchFamily="2" charset="2"/>
              <a:buNone/>
            </a:pPr>
            <a:r>
              <a:rPr lang="zh-CN" altLang="en-US" sz="2000">
                <a:solidFill>
                  <a:schemeClr val="tx1"/>
                </a:solidFill>
                <a:effectLst>
                  <a:outerShdw blurRad="38100" dist="38100" dir="2700000" algn="tl">
                    <a:srgbClr val="FFFFFF"/>
                  </a:outerShdw>
                </a:effectLst>
              </a:rPr>
              <a:t>         分段与分页对程序的内存空间都采用离散分配方式；其次，为了实现各自的管理它们都设置了相似的数据结构；最后，在地址转换时都要通过地址转换机构，即分别利用段表或页表来实现地址的转换。在指令执行中，对数据进行操作都需要多次访问内存，且都可以通过设置联想存储器来提高地址转换的速度。</a:t>
            </a:r>
          </a:p>
          <a:p>
            <a:pPr marL="0" indent="0">
              <a:lnSpc>
                <a:spcPts val="2600"/>
              </a:lnSpc>
              <a:buFont typeface="Wingdings" pitchFamily="2" charset="2"/>
              <a:buNone/>
            </a:pPr>
            <a:r>
              <a:rPr lang="zh-CN" altLang="en-US" sz="2000">
                <a:solidFill>
                  <a:srgbClr val="FF0000"/>
                </a:solidFill>
                <a:effectLst>
                  <a:outerShdw blurRad="38100" dist="38100" dir="2700000" algn="tl">
                    <a:srgbClr val="FFFFFF"/>
                  </a:outerShdw>
                </a:effectLst>
              </a:rPr>
              <a:t>    差异：</a:t>
            </a:r>
            <a:r>
              <a:rPr lang="zh-CN" altLang="en-US" sz="2000">
                <a:solidFill>
                  <a:schemeClr val="tx1"/>
                </a:solidFill>
                <a:effectLst>
                  <a:outerShdw blurRad="38100" dist="38100" dir="2700000" algn="tl">
                    <a:srgbClr val="FFFFFF"/>
                  </a:outerShdw>
                </a:effectLst>
              </a:rPr>
              <a:t>分段是信息的逻辑单位，且分段由源程序的逻辑结构所决定，分段是用户的需要且用户可见，段长可以根据用户需要来确定，段的起始地址可以从任何内存地址开始。在分段方式中，源程序中的逻辑地址（段号、段内地址）经连接装配后仍然保持二维结构。而分页是信息的物理单位，分页是系统管理内存的需要而不是用户的需要，即分页与源程序的逻辑结构无关，且用户也不可见。页长由系统决定，每一页只能从页大小的整数倍地址开始，源程序中的逻辑地址（页号、页内地址）经连接装配后其地址已变成了一维结构。</a:t>
            </a:r>
          </a:p>
          <a:p>
            <a:pPr marL="0" indent="0">
              <a:buFont typeface="Wingdings" pitchFamily="2" charset="2"/>
              <a:buNone/>
            </a:pPr>
            <a:r>
              <a:rPr lang="zh-CN" altLang="en-US" sz="2000">
                <a:solidFill>
                  <a:schemeClr val="tx1"/>
                </a:solidFill>
                <a:effectLst>
                  <a:outerShdw blurRad="38100" dist="38100" dir="2700000" algn="tl">
                    <a:srgbClr val="FFFFFF"/>
                  </a:outerShdw>
                </a:effectLst>
              </a:rPr>
              <a:t>         </a:t>
            </a:r>
          </a:p>
        </p:txBody>
      </p:sp>
      <p:sp>
        <p:nvSpPr>
          <p:cNvPr id="105475" name="AutoShape 3">
            <a:extLst>
              <a:ext uri="{FF2B5EF4-FFF2-40B4-BE49-F238E27FC236}">
                <a16:creationId xmlns:a16="http://schemas.microsoft.com/office/drawing/2014/main" id="{433F3A71-019F-144E-896A-27D35D72FAF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cSld>
  <p:clrMapOvr>
    <a:masterClrMapping/>
  </p:clrMapOvr>
  <p:transition>
    <p:random/>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2">
            <a:extLst>
              <a:ext uri="{FF2B5EF4-FFF2-40B4-BE49-F238E27FC236}">
                <a16:creationId xmlns:a16="http://schemas.microsoft.com/office/drawing/2014/main" id="{6B5AB105-9550-FB4F-9D8C-0EE5F4EA562F}"/>
              </a:ext>
            </a:extLst>
          </p:cNvPr>
          <p:cNvSpPr txBox="1">
            <a:spLocks/>
          </p:cNvSpPr>
          <p:nvPr/>
        </p:nvSpPr>
        <p:spPr bwMode="auto">
          <a:xfrm>
            <a:off x="469106" y="1412701"/>
            <a:ext cx="77724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folHlink"/>
              </a:buClr>
              <a:buSzPct val="50000"/>
              <a:buFont typeface="Wingdings" pitchFamily="2" charset="2"/>
              <a:buChar char="n"/>
              <a:defRPr sz="2400">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55000"/>
              <a:buFont typeface="Wingdings" pitchFamily="2" charset="2"/>
              <a:buChar char="n"/>
              <a:defRPr sz="2000">
                <a:solidFill>
                  <a:schemeClr val="tx1"/>
                </a:solidFill>
                <a:latin typeface="+mn-lt"/>
                <a:ea typeface="+mn-ea"/>
              </a:defRPr>
            </a:lvl4pPr>
            <a:lvl5pPr marL="2057400" indent="-228600" algn="l" rtl="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9pPr>
          </a:lstStyle>
          <a:p>
            <a:pPr marL="342900" marR="0" lvl="0" indent="-342900" algn="l" defTabSz="914400" rtl="0" eaLnBrk="0" fontAlgn="base" latinLnBrk="0" hangingPunct="0">
              <a:lnSpc>
                <a:spcPct val="100000"/>
              </a:lnSpc>
              <a:spcBef>
                <a:spcPct val="20000"/>
              </a:spcBef>
              <a:spcAft>
                <a:spcPct val="0"/>
              </a:spcAft>
              <a:buClr>
                <a:srgbClr val="0000FF"/>
              </a:buClr>
              <a:buSzPct val="60000"/>
              <a:buFont typeface="Wingdings" pitchFamily="2" charset="2"/>
              <a:buChar char="n"/>
              <a:tabLst/>
              <a:defRPr/>
            </a:pPr>
            <a:r>
              <a:rPr kumimoji="0" lang="zh-CN" altLang="en-US" sz="3200" b="1" i="0" u="none" strike="noStrike" kern="0" cap="none" spc="0" normalizeH="0" baseline="0" noProof="0">
                <a:ln>
                  <a:noFill/>
                </a:ln>
                <a:solidFill>
                  <a:srgbClr val="0000FF"/>
                </a:solidFill>
                <a:effectLst/>
                <a:uLnTx/>
                <a:uFillTx/>
                <a:latin typeface="幼圆" pitchFamily="49" charset="-122"/>
                <a:ea typeface="幼圆" pitchFamily="49" charset="-122"/>
                <a:cs typeface="+mn-cs"/>
              </a:rPr>
              <a:t>分页和分段的主要区别    </a:t>
            </a:r>
          </a:p>
          <a:p>
            <a:pPr marL="342900" marR="0" lvl="0" indent="-342900" algn="l" defTabSz="914400" rtl="0" eaLnBrk="0" fontAlgn="base" latinLnBrk="0" hangingPunct="0">
              <a:lnSpc>
                <a:spcPct val="100000"/>
              </a:lnSpc>
              <a:spcBef>
                <a:spcPct val="20000"/>
              </a:spcBef>
              <a:spcAft>
                <a:spcPct val="0"/>
              </a:spcAft>
              <a:buClr>
                <a:srgbClr val="3333CC"/>
              </a:buClr>
              <a:buSzPct val="60000"/>
              <a:buFont typeface="Wingdings" pitchFamily="2" charset="2"/>
              <a:buChar char="n"/>
              <a:tabLst/>
              <a:defRPr/>
            </a:pPr>
            <a:endParaRPr kumimoji="0" lang="zh-CN" altLang="en-US" sz="3200" b="1" i="0" u="none" strike="noStrike" kern="0" cap="none" spc="0" normalizeH="0" baseline="0" noProof="0">
              <a:ln>
                <a:noFill/>
              </a:ln>
              <a:solidFill>
                <a:srgbClr val="0000FF"/>
              </a:solidFill>
              <a:effectLst/>
              <a:uLnTx/>
              <a:uFillTx/>
              <a:latin typeface="Tahoma"/>
              <a:ea typeface="宋体"/>
              <a:cs typeface="+mn-cs"/>
            </a:endParaRPr>
          </a:p>
        </p:txBody>
      </p:sp>
      <p:sp>
        <p:nvSpPr>
          <p:cNvPr id="13" name="TextBox 12">
            <a:extLst>
              <a:ext uri="{FF2B5EF4-FFF2-40B4-BE49-F238E27FC236}">
                <a16:creationId xmlns:a16="http://schemas.microsoft.com/office/drawing/2014/main" id="{F4E662EB-1ACF-754F-898C-7DD316CCC833}"/>
              </a:ext>
            </a:extLst>
          </p:cNvPr>
          <p:cNvSpPr txBox="1">
            <a:spLocks noChangeArrowheads="1"/>
          </p:cNvSpPr>
          <p:nvPr/>
        </p:nvSpPr>
        <p:spPr bwMode="auto">
          <a:xfrm>
            <a:off x="538957" y="2060401"/>
            <a:ext cx="8137525" cy="4417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b="1">
                <a:solidFill>
                  <a:schemeClr val="hlink"/>
                </a:solidFill>
                <a:latin typeface="Arial Narrow" panose="020B0604020202020204" pitchFamily="34" charset="0"/>
                <a:ea typeface="宋体" panose="02010600030101010101" pitchFamily="2" charset="-122"/>
              </a:defRPr>
            </a:lvl1pPr>
            <a:lvl2pPr marL="742950" indent="-285750">
              <a:defRPr kumimoji="1" b="1">
                <a:solidFill>
                  <a:schemeClr val="hlink"/>
                </a:solidFill>
                <a:latin typeface="Arial Narrow" panose="020B0604020202020204" pitchFamily="34" charset="0"/>
                <a:ea typeface="宋体" panose="02010600030101010101" pitchFamily="2" charset="-122"/>
              </a:defRPr>
            </a:lvl2pPr>
            <a:lvl3pPr marL="1143000" indent="-228600">
              <a:defRPr kumimoji="1" b="1">
                <a:solidFill>
                  <a:schemeClr val="hlink"/>
                </a:solidFill>
                <a:latin typeface="Arial Narrow" panose="020B0604020202020204" pitchFamily="34" charset="0"/>
                <a:ea typeface="宋体" panose="02010600030101010101" pitchFamily="2" charset="-122"/>
              </a:defRPr>
            </a:lvl3pPr>
            <a:lvl4pPr marL="1600200" indent="-228600">
              <a:defRPr kumimoji="1" b="1">
                <a:solidFill>
                  <a:schemeClr val="hlink"/>
                </a:solidFill>
                <a:latin typeface="Arial Narrow" panose="020B0604020202020204" pitchFamily="34" charset="0"/>
                <a:ea typeface="宋体" panose="02010600030101010101" pitchFamily="2" charset="-122"/>
              </a:defRPr>
            </a:lvl4pPr>
            <a:lvl5pPr marL="2057400" indent="-228600">
              <a:defRPr kumimoji="1" b="1">
                <a:solidFill>
                  <a:schemeClr val="hlink"/>
                </a:solidFill>
                <a:latin typeface="Arial Narrow"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b="1">
                <a:solidFill>
                  <a:schemeClr val="hlink"/>
                </a:solidFill>
                <a:latin typeface="Arial Narrow" panose="020B0604020202020204" pitchFamily="34" charset="0"/>
                <a:ea typeface="宋体" panose="02010600030101010101" pitchFamily="2" charset="-122"/>
              </a:defRPr>
            </a:lvl9pPr>
          </a:lstStyle>
          <a:p>
            <a:pPr algn="just" eaLnBrk="1" hangingPunct="1">
              <a:lnSpc>
                <a:spcPct val="150000"/>
              </a:lnSpc>
              <a:spcBef>
                <a:spcPct val="20000"/>
              </a:spcBef>
            </a:pPr>
            <a:r>
              <a:rPr lang="zh-CN" altLang="en-US" sz="2800">
                <a:solidFill>
                  <a:srgbClr val="000000"/>
                </a:solidFill>
                <a:latin typeface="幼圆" pitchFamily="49" charset="-122"/>
                <a:ea typeface="幼圆" pitchFamily="49" charset="-122"/>
              </a:rPr>
              <a:t>      </a:t>
            </a:r>
            <a:r>
              <a:rPr lang="zh-CN" altLang="en-US" sz="2800">
                <a:solidFill>
                  <a:srgbClr val="D60093"/>
                </a:solidFill>
                <a:latin typeface="幼圆" pitchFamily="49" charset="-122"/>
                <a:ea typeface="幼圆" pitchFamily="49" charset="-122"/>
              </a:rPr>
              <a:t> </a:t>
            </a:r>
            <a:r>
              <a:rPr lang="zh-CN" altLang="en-US" sz="3200">
                <a:solidFill>
                  <a:srgbClr val="D60093"/>
                </a:solidFill>
                <a:latin typeface="幼圆" pitchFamily="49" charset="-122"/>
                <a:ea typeface="幼圆" pitchFamily="49" charset="-122"/>
              </a:rPr>
              <a:t>分页                  </a:t>
            </a:r>
            <a:r>
              <a:rPr lang="zh-CN" altLang="en-US" sz="3200">
                <a:solidFill>
                  <a:srgbClr val="0000FF"/>
                </a:solidFill>
                <a:latin typeface="幼圆" pitchFamily="49" charset="-122"/>
                <a:ea typeface="幼圆" pitchFamily="49" charset="-122"/>
              </a:rPr>
              <a:t>分段      </a:t>
            </a:r>
            <a:endParaRPr lang="en-US" altLang="zh-CN" sz="3200">
              <a:solidFill>
                <a:srgbClr val="0000FF"/>
              </a:solidFill>
              <a:latin typeface="幼圆" pitchFamily="49" charset="-122"/>
              <a:ea typeface="幼圆" pitchFamily="49" charset="-122"/>
            </a:endParaRPr>
          </a:p>
          <a:p>
            <a:pPr algn="just" eaLnBrk="1" hangingPunct="1">
              <a:lnSpc>
                <a:spcPct val="150000"/>
              </a:lnSpc>
              <a:spcBef>
                <a:spcPct val="20000"/>
              </a:spcBef>
            </a:pPr>
            <a:r>
              <a:rPr lang="zh-CN" altLang="en-US" sz="2800">
                <a:solidFill>
                  <a:srgbClr val="000000"/>
                </a:solidFill>
                <a:latin typeface="幼圆" pitchFamily="49" charset="-122"/>
                <a:ea typeface="幼圆" pitchFamily="49" charset="-122"/>
              </a:rPr>
              <a:t>      </a:t>
            </a:r>
            <a:r>
              <a:rPr lang="zh-CN" altLang="en-US" sz="2800">
                <a:solidFill>
                  <a:srgbClr val="D60093"/>
                </a:solidFill>
                <a:latin typeface="幼圆" pitchFamily="49" charset="-122"/>
                <a:ea typeface="幼圆" pitchFamily="49" charset="-122"/>
              </a:rPr>
              <a:t>信息的物理单位    </a:t>
            </a:r>
            <a:r>
              <a:rPr lang="zh-CN" altLang="en-US" sz="2800">
                <a:solidFill>
                  <a:srgbClr val="0000FF"/>
                </a:solidFill>
                <a:latin typeface="幼圆" pitchFamily="49" charset="-122"/>
                <a:ea typeface="幼圆" pitchFamily="49" charset="-122"/>
              </a:rPr>
              <a:t>信息的逻辑单位</a:t>
            </a:r>
          </a:p>
          <a:p>
            <a:pPr algn="just" eaLnBrk="1" hangingPunct="1">
              <a:lnSpc>
                <a:spcPct val="150000"/>
              </a:lnSpc>
              <a:spcBef>
                <a:spcPct val="20000"/>
              </a:spcBef>
            </a:pPr>
            <a:r>
              <a:rPr lang="zh-CN" altLang="en-US" sz="2800">
                <a:solidFill>
                  <a:srgbClr val="D60093"/>
                </a:solidFill>
                <a:latin typeface="幼圆" pitchFamily="49" charset="-122"/>
                <a:ea typeface="幼圆" pitchFamily="49" charset="-122"/>
              </a:rPr>
              <a:t>  出于系统管理的需要    </a:t>
            </a:r>
            <a:r>
              <a:rPr lang="zh-CN" altLang="en-US" sz="2800">
                <a:solidFill>
                  <a:srgbClr val="0000FF"/>
                </a:solidFill>
                <a:latin typeface="幼圆" pitchFamily="49" charset="-122"/>
                <a:ea typeface="幼圆" pitchFamily="49" charset="-122"/>
              </a:rPr>
              <a:t>出于用户的需要</a:t>
            </a:r>
          </a:p>
          <a:p>
            <a:pPr algn="just" eaLnBrk="1" hangingPunct="1">
              <a:lnSpc>
                <a:spcPct val="150000"/>
              </a:lnSpc>
              <a:spcBef>
                <a:spcPct val="20000"/>
              </a:spcBef>
            </a:pPr>
            <a:r>
              <a:rPr lang="zh-CN" altLang="en-US" sz="2800">
                <a:solidFill>
                  <a:srgbClr val="D60093"/>
                </a:solidFill>
                <a:latin typeface="幼圆" pitchFamily="49" charset="-122"/>
                <a:ea typeface="幼圆" pitchFamily="49" charset="-122"/>
              </a:rPr>
              <a:t>大小固定且由系统确定    </a:t>
            </a:r>
            <a:r>
              <a:rPr lang="zh-CN" altLang="en-US" sz="2800">
                <a:solidFill>
                  <a:srgbClr val="0000FF"/>
                </a:solidFill>
                <a:latin typeface="幼圆" pitchFamily="49" charset="-122"/>
                <a:ea typeface="幼圆" pitchFamily="49" charset="-122"/>
              </a:rPr>
              <a:t>长度不固定由编译确定</a:t>
            </a:r>
          </a:p>
          <a:p>
            <a:pPr algn="just" eaLnBrk="1" hangingPunct="1">
              <a:lnSpc>
                <a:spcPct val="150000"/>
              </a:lnSpc>
              <a:spcBef>
                <a:spcPct val="20000"/>
              </a:spcBef>
            </a:pPr>
            <a:r>
              <a:rPr lang="zh-CN" altLang="en-US" sz="2800">
                <a:solidFill>
                  <a:srgbClr val="000000"/>
                </a:solidFill>
                <a:latin typeface="幼圆" pitchFamily="49" charset="-122"/>
                <a:ea typeface="幼圆" pitchFamily="49" charset="-122"/>
              </a:rPr>
              <a:t>  </a:t>
            </a:r>
            <a:r>
              <a:rPr lang="zh-CN" altLang="en-US" sz="2800">
                <a:solidFill>
                  <a:srgbClr val="D60093"/>
                </a:solidFill>
                <a:latin typeface="幼圆" pitchFamily="49" charset="-122"/>
                <a:ea typeface="幼圆" pitchFamily="49" charset="-122"/>
              </a:rPr>
              <a:t>作业地址空间是一维    </a:t>
            </a:r>
            <a:r>
              <a:rPr lang="zh-CN" altLang="en-US" sz="2800">
                <a:solidFill>
                  <a:srgbClr val="0000FF"/>
                </a:solidFill>
                <a:latin typeface="幼圆" pitchFamily="49" charset="-122"/>
                <a:ea typeface="幼圆" pitchFamily="49" charset="-122"/>
              </a:rPr>
              <a:t>二维</a:t>
            </a:r>
          </a:p>
          <a:p>
            <a:pPr algn="just" eaLnBrk="1" hangingPunct="1">
              <a:lnSpc>
                <a:spcPct val="150000"/>
              </a:lnSpc>
              <a:spcBef>
                <a:spcPct val="20000"/>
              </a:spcBef>
            </a:pPr>
            <a:r>
              <a:rPr lang="zh-CN" altLang="en-US" sz="2800">
                <a:solidFill>
                  <a:srgbClr val="000000"/>
                </a:solidFill>
                <a:latin typeface="幼圆" pitchFamily="49" charset="-122"/>
                <a:ea typeface="幼圆" pitchFamily="49" charset="-122"/>
              </a:rPr>
              <a:t>        </a:t>
            </a:r>
            <a:r>
              <a:rPr lang="zh-CN" altLang="en-US" sz="2800">
                <a:solidFill>
                  <a:srgbClr val="D60093"/>
                </a:solidFill>
                <a:latin typeface="幼圆" pitchFamily="49" charset="-122"/>
                <a:ea typeface="幼圆" pitchFamily="49" charset="-122"/>
              </a:rPr>
              <a:t>产生页内碎片    </a:t>
            </a:r>
            <a:r>
              <a:rPr lang="zh-CN" altLang="en-US" sz="2800">
                <a:solidFill>
                  <a:srgbClr val="0000FF"/>
                </a:solidFill>
                <a:latin typeface="幼圆" pitchFamily="49" charset="-122"/>
                <a:ea typeface="幼圆" pitchFamily="49" charset="-122"/>
              </a:rPr>
              <a:t>产生外部碎片 </a:t>
            </a:r>
          </a:p>
        </p:txBody>
      </p:sp>
      <p:graphicFrame>
        <p:nvGraphicFramePr>
          <p:cNvPr id="14" name="表格 5">
            <a:extLst>
              <a:ext uri="{FF2B5EF4-FFF2-40B4-BE49-F238E27FC236}">
                <a16:creationId xmlns:a16="http://schemas.microsoft.com/office/drawing/2014/main" id="{83311382-9A1A-8C4F-B6AD-614678037E0A}"/>
              </a:ext>
            </a:extLst>
          </p:cNvPr>
          <p:cNvGraphicFramePr>
            <a:graphicFrameLocks noGrp="1"/>
          </p:cNvGraphicFramePr>
          <p:nvPr>
            <p:extLst>
              <p:ext uri="{D42A27DB-BD31-4B8C-83A1-F6EECF244321}">
                <p14:modId xmlns:p14="http://schemas.microsoft.com/office/powerpoint/2010/main" val="204318743"/>
              </p:ext>
            </p:extLst>
          </p:nvPr>
        </p:nvGraphicFramePr>
        <p:xfrm>
          <a:off x="469107" y="2204864"/>
          <a:ext cx="8208963" cy="4019550"/>
        </p:xfrm>
        <a:graphic>
          <a:graphicData uri="http://schemas.openxmlformats.org/drawingml/2006/table">
            <a:tbl>
              <a:tblPr/>
              <a:tblGrid>
                <a:gridCol w="8208963">
                  <a:extLst>
                    <a:ext uri="{9D8B030D-6E8A-4147-A177-3AD203B41FA5}">
                      <a16:colId xmlns:a16="http://schemas.microsoft.com/office/drawing/2014/main" val="20000"/>
                    </a:ext>
                  </a:extLst>
                </a:gridCol>
              </a:tblGrid>
              <a:tr h="4019550">
                <a:tc>
                  <a:txBody>
                    <a:bodyPr/>
                    <a:lstStyle>
                      <a:lvl1pPr marL="0" algn="l" defTabSz="914400" rtl="0" eaLnBrk="1" latinLnBrk="0" hangingPunct="1">
                        <a:defRPr sz="1800" kern="1200">
                          <a:solidFill>
                            <a:schemeClr val="tx1"/>
                          </a:solidFill>
                          <a:latin typeface="Tahoma"/>
                          <a:ea typeface="宋体"/>
                        </a:defRPr>
                      </a:lvl1pPr>
                      <a:lvl2pPr marL="457200" algn="l" defTabSz="914400" rtl="0" eaLnBrk="1" latinLnBrk="0" hangingPunct="1">
                        <a:defRPr sz="1800" kern="1200">
                          <a:solidFill>
                            <a:schemeClr val="tx1"/>
                          </a:solidFill>
                          <a:latin typeface="Tahoma"/>
                          <a:ea typeface="宋体"/>
                        </a:defRPr>
                      </a:lvl2pPr>
                      <a:lvl3pPr marL="914400" algn="l" defTabSz="914400" rtl="0" eaLnBrk="1" latinLnBrk="0" hangingPunct="1">
                        <a:defRPr sz="1800" kern="1200">
                          <a:solidFill>
                            <a:schemeClr val="tx1"/>
                          </a:solidFill>
                          <a:latin typeface="Tahoma"/>
                          <a:ea typeface="宋体"/>
                        </a:defRPr>
                      </a:lvl3pPr>
                      <a:lvl4pPr marL="1371600" algn="l" defTabSz="914400" rtl="0" eaLnBrk="1" latinLnBrk="0" hangingPunct="1">
                        <a:defRPr sz="1800" kern="1200">
                          <a:solidFill>
                            <a:schemeClr val="tx1"/>
                          </a:solidFill>
                          <a:latin typeface="Tahoma"/>
                          <a:ea typeface="宋体"/>
                        </a:defRPr>
                      </a:lvl4pPr>
                      <a:lvl5pPr marL="1828800" algn="l" defTabSz="914400" rtl="0" eaLnBrk="1" latinLnBrk="0" hangingPunct="1">
                        <a:defRPr sz="1800" kern="1200">
                          <a:solidFill>
                            <a:schemeClr val="tx1"/>
                          </a:solidFill>
                          <a:latin typeface="Tahoma"/>
                          <a:ea typeface="宋体"/>
                        </a:defRPr>
                      </a:lvl5pPr>
                      <a:lvl6pPr marL="2286000" algn="l" defTabSz="914400" rtl="0" eaLnBrk="1" latinLnBrk="0" hangingPunct="1">
                        <a:defRPr sz="1800" kern="1200">
                          <a:solidFill>
                            <a:schemeClr val="tx1"/>
                          </a:solidFill>
                          <a:latin typeface="Tahoma"/>
                          <a:ea typeface="宋体"/>
                        </a:defRPr>
                      </a:lvl6pPr>
                      <a:lvl7pPr marL="2743200" algn="l" defTabSz="914400" rtl="0" eaLnBrk="1" latinLnBrk="0" hangingPunct="1">
                        <a:defRPr sz="1800" kern="1200">
                          <a:solidFill>
                            <a:schemeClr val="tx1"/>
                          </a:solidFill>
                          <a:latin typeface="Tahoma"/>
                          <a:ea typeface="宋体"/>
                        </a:defRPr>
                      </a:lvl7pPr>
                      <a:lvl8pPr marL="3200400" algn="l" defTabSz="914400" rtl="0" eaLnBrk="1" latinLnBrk="0" hangingPunct="1">
                        <a:defRPr sz="1800" kern="1200">
                          <a:solidFill>
                            <a:schemeClr val="tx1"/>
                          </a:solidFill>
                          <a:latin typeface="Tahoma"/>
                          <a:ea typeface="宋体"/>
                        </a:defRPr>
                      </a:lvl8pPr>
                      <a:lvl9pPr marL="3657600" algn="l" defTabSz="914400" rtl="0" eaLnBrk="1" latinLnBrk="0" hangingPunct="1">
                        <a:defRPr sz="1800" kern="1200">
                          <a:solidFill>
                            <a:schemeClr val="tx1"/>
                          </a:solidFill>
                          <a:latin typeface="Tahoma"/>
                          <a:ea typeface="宋体"/>
                        </a:defRPr>
                      </a:lvl9pPr>
                    </a:lstStyle>
                    <a:p>
                      <a:endParaRPr lang="zh-CN" altLang="en-US" sz="1800" dirty="0"/>
                    </a:p>
                  </a:txBody>
                  <a:tcPr marL="91442" marR="91442" marT="45712" marB="45712">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pSp>
        <p:nvGrpSpPr>
          <p:cNvPr id="15" name="组合 15">
            <a:extLst>
              <a:ext uri="{FF2B5EF4-FFF2-40B4-BE49-F238E27FC236}">
                <a16:creationId xmlns:a16="http://schemas.microsoft.com/office/drawing/2014/main" id="{FE2882DD-2219-A14C-96F4-E1037106C9BA}"/>
              </a:ext>
            </a:extLst>
          </p:cNvPr>
          <p:cNvGrpSpPr>
            <a:grpSpLocks/>
          </p:cNvGrpSpPr>
          <p:nvPr/>
        </p:nvGrpSpPr>
        <p:grpSpPr bwMode="auto">
          <a:xfrm>
            <a:off x="467519" y="2204864"/>
            <a:ext cx="8208962" cy="4032250"/>
            <a:chOff x="683568" y="1556792"/>
            <a:chExt cx="8208912" cy="4032448"/>
          </a:xfrm>
        </p:grpSpPr>
        <p:cxnSp>
          <p:nvCxnSpPr>
            <p:cNvPr id="16" name="直接连接符 7">
              <a:extLst>
                <a:ext uri="{FF2B5EF4-FFF2-40B4-BE49-F238E27FC236}">
                  <a16:creationId xmlns:a16="http://schemas.microsoft.com/office/drawing/2014/main" id="{6B2B2BA3-BF83-0D42-AD4F-D76EB6D24D11}"/>
                </a:ext>
              </a:extLst>
            </p:cNvPr>
            <p:cNvCxnSpPr>
              <a:cxnSpLocks noChangeShapeType="1"/>
            </p:cNvCxnSpPr>
            <p:nvPr/>
          </p:nvCxnSpPr>
          <p:spPr bwMode="auto">
            <a:xfrm>
              <a:off x="683568" y="2204864"/>
              <a:ext cx="8208912" cy="0"/>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cxnSp>
          <p:nvCxnSpPr>
            <p:cNvPr id="17" name="直接连接符 9">
              <a:extLst>
                <a:ext uri="{FF2B5EF4-FFF2-40B4-BE49-F238E27FC236}">
                  <a16:creationId xmlns:a16="http://schemas.microsoft.com/office/drawing/2014/main" id="{C532441B-21E0-2046-AD17-3B480E7AF722}"/>
                </a:ext>
              </a:extLst>
            </p:cNvPr>
            <p:cNvCxnSpPr>
              <a:cxnSpLocks noChangeShapeType="1"/>
            </p:cNvCxnSpPr>
            <p:nvPr/>
          </p:nvCxnSpPr>
          <p:spPr bwMode="auto">
            <a:xfrm>
              <a:off x="683568" y="2852936"/>
              <a:ext cx="8208912" cy="0"/>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cxnSp>
          <p:nvCxnSpPr>
            <p:cNvPr id="18" name="直接连接符 10">
              <a:extLst>
                <a:ext uri="{FF2B5EF4-FFF2-40B4-BE49-F238E27FC236}">
                  <a16:creationId xmlns:a16="http://schemas.microsoft.com/office/drawing/2014/main" id="{AA4FD670-8285-854D-AFDB-978B7ABDF42E}"/>
                </a:ext>
              </a:extLst>
            </p:cNvPr>
            <p:cNvCxnSpPr>
              <a:cxnSpLocks noChangeShapeType="1"/>
            </p:cNvCxnSpPr>
            <p:nvPr/>
          </p:nvCxnSpPr>
          <p:spPr bwMode="auto">
            <a:xfrm>
              <a:off x="683568" y="3501008"/>
              <a:ext cx="8208912" cy="0"/>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cxnSp>
          <p:nvCxnSpPr>
            <p:cNvPr id="19" name="直接连接符 11">
              <a:extLst>
                <a:ext uri="{FF2B5EF4-FFF2-40B4-BE49-F238E27FC236}">
                  <a16:creationId xmlns:a16="http://schemas.microsoft.com/office/drawing/2014/main" id="{A6C9BE09-9FE8-B04B-84FE-34C5B885DE2E}"/>
                </a:ext>
              </a:extLst>
            </p:cNvPr>
            <p:cNvCxnSpPr>
              <a:cxnSpLocks noChangeShapeType="1"/>
            </p:cNvCxnSpPr>
            <p:nvPr/>
          </p:nvCxnSpPr>
          <p:spPr bwMode="auto">
            <a:xfrm>
              <a:off x="683568" y="4149080"/>
              <a:ext cx="8208912" cy="0"/>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cxnSp>
          <p:nvCxnSpPr>
            <p:cNvPr id="20" name="直接连接符 12">
              <a:extLst>
                <a:ext uri="{FF2B5EF4-FFF2-40B4-BE49-F238E27FC236}">
                  <a16:creationId xmlns:a16="http://schemas.microsoft.com/office/drawing/2014/main" id="{511646D9-C248-754A-8716-A9B4954C4C75}"/>
                </a:ext>
              </a:extLst>
            </p:cNvPr>
            <p:cNvCxnSpPr>
              <a:cxnSpLocks noChangeShapeType="1"/>
            </p:cNvCxnSpPr>
            <p:nvPr/>
          </p:nvCxnSpPr>
          <p:spPr bwMode="auto">
            <a:xfrm>
              <a:off x="683568" y="4797152"/>
              <a:ext cx="8208912" cy="0"/>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cxnSp>
          <p:nvCxnSpPr>
            <p:cNvPr id="21" name="直接连接符 14">
              <a:extLst>
                <a:ext uri="{FF2B5EF4-FFF2-40B4-BE49-F238E27FC236}">
                  <a16:creationId xmlns:a16="http://schemas.microsoft.com/office/drawing/2014/main" id="{2F9E9492-BA74-B843-B69D-25C5FFCABA54}"/>
                </a:ext>
              </a:extLst>
            </p:cNvPr>
            <p:cNvCxnSpPr>
              <a:cxnSpLocks noChangeShapeType="1"/>
            </p:cNvCxnSpPr>
            <p:nvPr/>
          </p:nvCxnSpPr>
          <p:spPr bwMode="auto">
            <a:xfrm>
              <a:off x="4716016" y="1556792"/>
              <a:ext cx="0" cy="4032448"/>
            </a:xfrm>
            <a:prstGeom prst="line">
              <a:avLst/>
            </a:prstGeom>
            <a:noFill/>
            <a:ln w="12700" algn="ctr">
              <a:solidFill>
                <a:srgbClr val="000000"/>
              </a:solidFill>
              <a:round/>
              <a:headEnd type="none" w="sm" len="sm"/>
              <a:tailEnd type="none" w="sm" len="sm"/>
            </a:ln>
            <a:extLst>
              <a:ext uri="{909E8E84-426E-40DD-AFC4-6F175D3DCCD1}">
                <a14:hiddenFill xmlns:a14="http://schemas.microsoft.com/office/drawing/2010/main">
                  <a:noFill/>
                </a14:hiddenFill>
              </a:ext>
            </a:extLst>
          </p:spPr>
        </p:cxnSp>
      </p:grpSp>
      <p:sp>
        <p:nvSpPr>
          <p:cNvPr id="22" name="AutoShape 3">
            <a:extLst>
              <a:ext uri="{FF2B5EF4-FFF2-40B4-BE49-F238E27FC236}">
                <a16:creationId xmlns:a16="http://schemas.microsoft.com/office/drawing/2014/main" id="{A36D2EDA-A3F8-6346-A26E-FB2D48065233}"/>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extLst>
      <p:ext uri="{BB962C8B-B14F-4D97-AF65-F5344CB8AC3E}">
        <p14:creationId xmlns:p14="http://schemas.microsoft.com/office/powerpoint/2010/main" val="95213852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blinds(horizontal)">
                                      <p:cBhvr>
                                        <p:cTn id="7" dur="500"/>
                                        <p:tgtEl>
                                          <p:spTgt spid="12">
                                            <p:txEl>
                                              <p:pRg st="0" end="0"/>
                                            </p:txEl>
                                          </p:spTgt>
                                        </p:tgtEl>
                                      </p:cBhvr>
                                    </p:animEffect>
                                  </p:childTnLst>
                                </p:cTn>
                              </p:par>
                            </p:childTnLst>
                          </p:cTn>
                        </p:par>
                        <p:par>
                          <p:cTn id="8" fill="hold">
                            <p:stCondLst>
                              <p:cond delay="500"/>
                            </p:stCondLst>
                            <p:childTnLst>
                              <p:par>
                                <p:cTn id="9" presetID="3" presetClass="entr" presetSubtype="10"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blinds(horizontal)">
                                      <p:cBhvr>
                                        <p:cTn id="11" dur="500"/>
                                        <p:tgtEl>
                                          <p:spTgt spid="14"/>
                                        </p:tgtEl>
                                      </p:cBhvr>
                                    </p:animEffect>
                                  </p:childTnLst>
                                </p:cTn>
                              </p:par>
                            </p:childTnLst>
                          </p:cTn>
                        </p:par>
                        <p:par>
                          <p:cTn id="12" fill="hold">
                            <p:stCondLst>
                              <p:cond delay="1000"/>
                            </p:stCondLst>
                            <p:childTnLst>
                              <p:par>
                                <p:cTn id="13" presetID="3" presetClass="entr" presetSubtype="1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blinds(horizontal)">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grpId="0" nodeType="clickEffect">
                                  <p:stCondLst>
                                    <p:cond delay="0"/>
                                  </p:stCondLst>
                                  <p:childTnLst>
                                    <p:set>
                                      <p:cBhvr>
                                        <p:cTn id="19" dur="1" fill="hold">
                                          <p:stCondLst>
                                            <p:cond delay="0"/>
                                          </p:stCondLst>
                                        </p:cTn>
                                        <p:tgtEl>
                                          <p:spTgt spid="13">
                                            <p:txEl>
                                              <p:pRg st="0" end="0"/>
                                            </p:txEl>
                                          </p:spTgt>
                                        </p:tgtEl>
                                        <p:attrNameLst>
                                          <p:attrName>style.visibility</p:attrName>
                                        </p:attrNameLst>
                                      </p:cBhvr>
                                      <p:to>
                                        <p:strVal val="visible"/>
                                      </p:to>
                                    </p:set>
                                    <p:animEffect transition="in" filter="blinds(horizontal)">
                                      <p:cBhvr>
                                        <p:cTn id="20" dur="500"/>
                                        <p:tgtEl>
                                          <p:spTgt spid="13">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3" presetClass="entr" presetSubtype="10" fill="hold" grpId="0" nodeType="clickEffect">
                                  <p:stCondLst>
                                    <p:cond delay="0"/>
                                  </p:stCondLst>
                                  <p:childTnLst>
                                    <p:set>
                                      <p:cBhvr>
                                        <p:cTn id="24" dur="1" fill="hold">
                                          <p:stCondLst>
                                            <p:cond delay="0"/>
                                          </p:stCondLst>
                                        </p:cTn>
                                        <p:tgtEl>
                                          <p:spTgt spid="13">
                                            <p:txEl>
                                              <p:pRg st="1" end="1"/>
                                            </p:txEl>
                                          </p:spTgt>
                                        </p:tgtEl>
                                        <p:attrNameLst>
                                          <p:attrName>style.visibility</p:attrName>
                                        </p:attrNameLst>
                                      </p:cBhvr>
                                      <p:to>
                                        <p:strVal val="visible"/>
                                      </p:to>
                                    </p:set>
                                    <p:animEffect transition="in" filter="blinds(horizontal)">
                                      <p:cBhvr>
                                        <p:cTn id="25" dur="500"/>
                                        <p:tgtEl>
                                          <p:spTgt spid="13">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xEl>
                                              <p:pRg st="2" end="2"/>
                                            </p:txEl>
                                          </p:spTgt>
                                        </p:tgtEl>
                                        <p:attrNameLst>
                                          <p:attrName>style.visibility</p:attrName>
                                        </p:attrNameLst>
                                      </p:cBhvr>
                                      <p:to>
                                        <p:strVal val="visible"/>
                                      </p:to>
                                    </p:set>
                                    <p:animEffect transition="in" filter="blinds(horizontal)">
                                      <p:cBhvr>
                                        <p:cTn id="30" dur="500"/>
                                        <p:tgtEl>
                                          <p:spTgt spid="13">
                                            <p:txEl>
                                              <p:pRg st="2" end="2"/>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3" presetClass="entr" presetSubtype="10" fill="hold" grpId="0" nodeType="clickEffect">
                                  <p:stCondLst>
                                    <p:cond delay="0"/>
                                  </p:stCondLst>
                                  <p:childTnLst>
                                    <p:set>
                                      <p:cBhvr>
                                        <p:cTn id="34" dur="1" fill="hold">
                                          <p:stCondLst>
                                            <p:cond delay="0"/>
                                          </p:stCondLst>
                                        </p:cTn>
                                        <p:tgtEl>
                                          <p:spTgt spid="13">
                                            <p:txEl>
                                              <p:pRg st="3" end="3"/>
                                            </p:txEl>
                                          </p:spTgt>
                                        </p:tgtEl>
                                        <p:attrNameLst>
                                          <p:attrName>style.visibility</p:attrName>
                                        </p:attrNameLst>
                                      </p:cBhvr>
                                      <p:to>
                                        <p:strVal val="visible"/>
                                      </p:to>
                                    </p:set>
                                    <p:animEffect transition="in" filter="blinds(horizontal)">
                                      <p:cBhvr>
                                        <p:cTn id="35" dur="500"/>
                                        <p:tgtEl>
                                          <p:spTgt spid="13">
                                            <p:txEl>
                                              <p:pRg st="3" end="3"/>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3" presetClass="entr" presetSubtype="10" fill="hold" grpId="0" nodeType="clickEffect">
                                  <p:stCondLst>
                                    <p:cond delay="0"/>
                                  </p:stCondLst>
                                  <p:childTnLst>
                                    <p:set>
                                      <p:cBhvr>
                                        <p:cTn id="39" dur="1" fill="hold">
                                          <p:stCondLst>
                                            <p:cond delay="0"/>
                                          </p:stCondLst>
                                        </p:cTn>
                                        <p:tgtEl>
                                          <p:spTgt spid="13">
                                            <p:txEl>
                                              <p:pRg st="4" end="4"/>
                                            </p:txEl>
                                          </p:spTgt>
                                        </p:tgtEl>
                                        <p:attrNameLst>
                                          <p:attrName>style.visibility</p:attrName>
                                        </p:attrNameLst>
                                      </p:cBhvr>
                                      <p:to>
                                        <p:strVal val="visible"/>
                                      </p:to>
                                    </p:set>
                                    <p:animEffect transition="in" filter="blinds(horizontal)">
                                      <p:cBhvr>
                                        <p:cTn id="40" dur="500"/>
                                        <p:tgtEl>
                                          <p:spTgt spid="13">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3" presetClass="entr" presetSubtype="10" fill="hold" grpId="0" nodeType="clickEffect">
                                  <p:stCondLst>
                                    <p:cond delay="0"/>
                                  </p:stCondLst>
                                  <p:childTnLst>
                                    <p:set>
                                      <p:cBhvr>
                                        <p:cTn id="44" dur="1" fill="hold">
                                          <p:stCondLst>
                                            <p:cond delay="0"/>
                                          </p:stCondLst>
                                        </p:cTn>
                                        <p:tgtEl>
                                          <p:spTgt spid="13">
                                            <p:txEl>
                                              <p:pRg st="5" end="5"/>
                                            </p:txEl>
                                          </p:spTgt>
                                        </p:tgtEl>
                                        <p:attrNameLst>
                                          <p:attrName>style.visibility</p:attrName>
                                        </p:attrNameLst>
                                      </p:cBhvr>
                                      <p:to>
                                        <p:strVal val="visible"/>
                                      </p:to>
                                    </p:set>
                                    <p:animEffect transition="in" filter="blinds(horizontal)">
                                      <p:cBhvr>
                                        <p:cTn id="45" dur="500"/>
                                        <p:tgtEl>
                                          <p:spTgt spid="1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3" grpId="0" build="p" bldLvl="2"/>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a:extLst>
              <a:ext uri="{FF2B5EF4-FFF2-40B4-BE49-F238E27FC236}">
                <a16:creationId xmlns:a16="http://schemas.microsoft.com/office/drawing/2014/main" id="{2B06328B-010A-7F47-A90D-382579583607}"/>
              </a:ext>
            </a:extLst>
          </p:cNvPr>
          <p:cNvSpPr>
            <a:spLocks noGrp="1" noChangeArrowheads="1"/>
          </p:cNvSpPr>
          <p:nvPr>
            <p:ph type="body" idx="1"/>
          </p:nvPr>
        </p:nvSpPr>
        <p:spPr>
          <a:xfrm>
            <a:off x="611188" y="1428750"/>
            <a:ext cx="7993062" cy="4786313"/>
          </a:xfrm>
        </p:spPr>
        <p:txBody>
          <a:bodyPr/>
          <a:lstStyle/>
          <a:p>
            <a:pPr marL="0" indent="0" eaLnBrk="1" hangingPunct="1">
              <a:lnSpc>
                <a:spcPct val="120000"/>
              </a:lnSpc>
              <a:spcBef>
                <a:spcPct val="0"/>
              </a:spcBef>
              <a:buFont typeface="Wingdings" pitchFamily="2" charset="2"/>
              <a:buNone/>
            </a:pPr>
            <a:r>
              <a:rPr lang="zh-CN" altLang="en-US" dirty="0">
                <a:solidFill>
                  <a:srgbClr val="FF0000"/>
                </a:solidFill>
                <a:effectLst>
                  <a:outerShdw blurRad="38100" dist="38100" dir="2700000" algn="tl">
                    <a:srgbClr val="FFFFFF"/>
                  </a:outerShdw>
                </a:effectLst>
              </a:rPr>
              <a:t>分段存储管理的优缺点</a:t>
            </a:r>
            <a:endParaRPr lang="zh-CN" altLang="en-US" dirty="0">
              <a:solidFill>
                <a:srgbClr val="FF0000"/>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zh-CN" altLang="en-US" sz="2000" dirty="0">
                <a:solidFill>
                  <a:srgbClr val="FF0000"/>
                </a:solidFill>
                <a:effectLst/>
                <a:latin typeface="宋体" panose="02010600030101010101" pitchFamily="2" charset="-122"/>
              </a:rPr>
              <a:t>优点：</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1</a:t>
            </a:r>
            <a:r>
              <a:rPr lang="zh-CN" altLang="en-US" sz="2000" dirty="0">
                <a:solidFill>
                  <a:schemeClr val="tx1"/>
                </a:solidFill>
                <a:effectLst/>
                <a:latin typeface="宋体" panose="02010600030101010101" pitchFamily="2" charset="-122"/>
              </a:rPr>
              <a:t>）信息共享；</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2</a:t>
            </a:r>
            <a:r>
              <a:rPr lang="zh-CN" altLang="en-US" sz="2000" dirty="0">
                <a:solidFill>
                  <a:schemeClr val="tx1"/>
                </a:solidFill>
                <a:effectLst/>
                <a:latin typeface="宋体" panose="02010600030101010101" pitchFamily="2" charset="-122"/>
              </a:rPr>
              <a:t>）动态增长；</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3</a:t>
            </a:r>
            <a:r>
              <a:rPr lang="zh-CN" altLang="en-US" sz="2000" dirty="0">
                <a:solidFill>
                  <a:schemeClr val="tx1"/>
                </a:solidFill>
                <a:effectLst/>
                <a:latin typeface="宋体" panose="02010600030101010101" pitchFamily="2" charset="-122"/>
              </a:rPr>
              <a:t>）动态链接；</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4</a:t>
            </a:r>
            <a:r>
              <a:rPr lang="zh-CN" altLang="en-US" sz="2000" dirty="0">
                <a:solidFill>
                  <a:schemeClr val="tx1"/>
                </a:solidFill>
                <a:effectLst/>
                <a:latin typeface="宋体" panose="02010600030101010101" pitchFamily="2" charset="-122"/>
              </a:rPr>
              <a:t>）便于实现存取访问控制。</a:t>
            </a:r>
          </a:p>
          <a:p>
            <a:pPr marL="0" indent="0" eaLnBrk="1" hangingPunct="1">
              <a:lnSpc>
                <a:spcPts val="3400"/>
              </a:lnSpc>
              <a:spcBef>
                <a:spcPct val="0"/>
              </a:spcBef>
              <a:buFont typeface="Wingdings" pitchFamily="2" charset="2"/>
              <a:buNone/>
            </a:pPr>
            <a:r>
              <a:rPr lang="zh-CN" altLang="en-US" sz="2000" dirty="0">
                <a:solidFill>
                  <a:srgbClr val="FF0000"/>
                </a:solidFill>
                <a:effectLst/>
                <a:latin typeface="宋体" panose="02010600030101010101" pitchFamily="2" charset="-122"/>
              </a:rPr>
              <a:t>缺点：</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1</a:t>
            </a:r>
            <a:r>
              <a:rPr lang="zh-CN" altLang="en-US" sz="2000" dirty="0">
                <a:solidFill>
                  <a:schemeClr val="tx1"/>
                </a:solidFill>
                <a:effectLst/>
                <a:latin typeface="宋体" panose="02010600030101010101" pitchFamily="2" charset="-122"/>
              </a:rPr>
              <a:t>）分段存储管理需要更多的硬件支持，增加了计算机的成本。</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2</a:t>
            </a:r>
            <a:r>
              <a:rPr lang="zh-CN" altLang="en-US" sz="2000" dirty="0">
                <a:solidFill>
                  <a:schemeClr val="tx1"/>
                </a:solidFill>
                <a:effectLst/>
                <a:latin typeface="宋体" panose="02010600030101010101" pitchFamily="2" charset="-122"/>
              </a:rPr>
              <a:t>）分段存储管理在内存空闲区的管理方式上与分区存储管理相同，</a:t>
            </a:r>
            <a:endParaRPr lang="en-US" altLang="zh-CN" sz="2000" dirty="0">
              <a:solidFill>
                <a:schemeClr val="tx1"/>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     存在着碎片（外部碎片）问题。</a:t>
            </a:r>
          </a:p>
          <a:p>
            <a:pPr marL="0" indent="0" eaLnBrk="1" hangingPunct="1">
              <a:lnSpc>
                <a:spcPts val="3400"/>
              </a:lnSpc>
              <a:spcBef>
                <a:spcPct val="0"/>
              </a:spcBef>
              <a:buFont typeface="Wingdings" pitchFamily="2" charset="2"/>
              <a:buNone/>
            </a:pPr>
            <a:r>
              <a:rPr lang="zh-CN" altLang="en-US" sz="2000" dirty="0">
                <a:solidFill>
                  <a:schemeClr val="tx1"/>
                </a:solidFill>
                <a:effectLst/>
                <a:latin typeface="宋体" panose="02010600030101010101" pitchFamily="2" charset="-122"/>
              </a:rPr>
              <a:t>（</a:t>
            </a:r>
            <a:r>
              <a:rPr lang="en-US" altLang="zh-CN" sz="2000" dirty="0">
                <a:solidFill>
                  <a:schemeClr val="tx1"/>
                </a:solidFill>
                <a:effectLst/>
                <a:latin typeface="宋体" panose="02010600030101010101" pitchFamily="2" charset="-122"/>
              </a:rPr>
              <a:t>3</a:t>
            </a:r>
            <a:r>
              <a:rPr lang="zh-CN" altLang="en-US" sz="2000" dirty="0">
                <a:solidFill>
                  <a:schemeClr val="tx1"/>
                </a:solidFill>
                <a:effectLst/>
                <a:latin typeface="宋体" panose="02010600030101010101" pitchFamily="2" charset="-122"/>
              </a:rPr>
              <a:t>）缺段中断处理以及允许段的动态增长会给系统增加难度和开销。</a:t>
            </a:r>
            <a:endParaRPr lang="en-US" altLang="zh-CN" sz="2000" dirty="0">
              <a:solidFill>
                <a:schemeClr val="tx1"/>
              </a:solidFill>
              <a:effectLst/>
              <a:latin typeface="宋体" panose="02010600030101010101" pitchFamily="2" charset="-122"/>
            </a:endParaRPr>
          </a:p>
          <a:p>
            <a:pPr marL="0" indent="0" eaLnBrk="1" hangingPunct="1">
              <a:lnSpc>
                <a:spcPts val="3400"/>
              </a:lnSpc>
              <a:spcBef>
                <a:spcPct val="0"/>
              </a:spcBef>
              <a:buFont typeface="Wingdings" pitchFamily="2" charset="2"/>
              <a:buNone/>
            </a:pPr>
            <a:r>
              <a:rPr lang="en-US" altLang="zh-CN" sz="2000" dirty="0">
                <a:solidFill>
                  <a:schemeClr val="tx1"/>
                </a:solidFill>
                <a:effectLst/>
                <a:latin typeface="宋体" panose="02010600030101010101" pitchFamily="2" charset="-122"/>
              </a:rPr>
              <a:t>     </a:t>
            </a:r>
            <a:endParaRPr lang="zh-CN" altLang="en-US" sz="2000" dirty="0">
              <a:solidFill>
                <a:schemeClr val="tx1"/>
              </a:solidFill>
              <a:effectLst/>
              <a:latin typeface="宋体" panose="02010600030101010101" pitchFamily="2" charset="-122"/>
            </a:endParaRPr>
          </a:p>
        </p:txBody>
      </p:sp>
      <p:sp>
        <p:nvSpPr>
          <p:cNvPr id="105475" name="AutoShape 3">
            <a:extLst>
              <a:ext uri="{FF2B5EF4-FFF2-40B4-BE49-F238E27FC236}">
                <a16:creationId xmlns:a16="http://schemas.microsoft.com/office/drawing/2014/main" id="{8DDD123A-72C3-2947-8F84-2E16C15BFB77}"/>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cSld>
  <p:clrMapOvr>
    <a:masterClrMapping/>
  </p:clrMapOvr>
  <p:transition>
    <p:random/>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1DB90969-2B6E-AB47-9B27-D810B2A0DDAA}"/>
              </a:ext>
            </a:extLst>
          </p:cNvPr>
          <p:cNvSpPr txBox="1">
            <a:spLocks/>
          </p:cNvSpPr>
          <p:nvPr/>
        </p:nvSpPr>
        <p:spPr bwMode="auto">
          <a:xfrm>
            <a:off x="251520" y="1268760"/>
            <a:ext cx="8278813" cy="5400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folHlink"/>
              </a:buClr>
              <a:buSzPct val="50000"/>
              <a:buFont typeface="Wingdings" pitchFamily="2" charset="2"/>
              <a:buChar char="n"/>
              <a:defRPr sz="2400">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55000"/>
              <a:buFont typeface="Wingdings" pitchFamily="2" charset="2"/>
              <a:buChar char="n"/>
              <a:defRPr sz="2000">
                <a:solidFill>
                  <a:schemeClr val="tx1"/>
                </a:solidFill>
                <a:latin typeface="+mn-lt"/>
                <a:ea typeface="+mn-ea"/>
              </a:defRPr>
            </a:lvl4pPr>
            <a:lvl5pPr marL="2057400" indent="-228600" algn="l" rtl="0"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ea typeface="+mn-ea"/>
              </a:defRPr>
            </a:lvl9pPr>
          </a:lstStyle>
          <a:p>
            <a:pPr marL="342900" marR="0" lvl="0" indent="-342900" algn="l" defTabSz="914400" rtl="0" eaLnBrk="0" fontAlgn="base" latinLnBrk="0" hangingPunct="0">
              <a:lnSpc>
                <a:spcPct val="100000"/>
              </a:lnSpc>
              <a:spcBef>
                <a:spcPct val="20000"/>
              </a:spcBef>
              <a:spcAft>
                <a:spcPct val="0"/>
              </a:spcAft>
              <a:buClr>
                <a:srgbClr val="0000FF"/>
              </a:buClr>
              <a:buSzPct val="60000"/>
              <a:buFont typeface="Wingdings" pitchFamily="2" charset="2"/>
              <a:buChar char="n"/>
              <a:tabLst/>
              <a:defRPr/>
            </a:pPr>
            <a:r>
              <a:rPr kumimoji="0" lang="zh-CN" altLang="en-US" sz="2800" b="1" i="0" u="none" strike="noStrike" kern="0" cap="none" spc="0" normalizeH="0" baseline="0" noProof="0">
                <a:ln>
                  <a:noFill/>
                </a:ln>
                <a:solidFill>
                  <a:srgbClr val="0000FF"/>
                </a:solidFill>
                <a:effectLst/>
                <a:uLnTx/>
                <a:uFillTx/>
                <a:latin typeface="幼圆" pitchFamily="49" charset="-122"/>
                <a:ea typeface="幼圆" pitchFamily="49" charset="-122"/>
                <a:cs typeface="+mn-cs"/>
              </a:rPr>
              <a:t>分段系统的共享</a:t>
            </a:r>
            <a:endParaRPr kumimoji="0" lang="en-US" altLang="zh-CN" sz="2800" b="1" i="0" u="none" strike="noStrike" kern="0" cap="none" spc="0" normalizeH="0" baseline="0" noProof="0">
              <a:ln>
                <a:noFill/>
              </a:ln>
              <a:solidFill>
                <a:srgbClr val="0000FF"/>
              </a:solidFill>
              <a:effectLst/>
              <a:uLnTx/>
              <a:uFillTx/>
              <a:latin typeface="幼圆" pitchFamily="49" charset="-122"/>
              <a:ea typeface="幼圆" pitchFamily="49" charset="-122"/>
              <a:cs typeface="+mn-cs"/>
            </a:endParaRP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n"/>
              <a:tabLst/>
              <a:defRPr/>
            </a:pPr>
            <a:r>
              <a:rPr kumimoji="0" lang="zh-CN" altLang="en-US" sz="2400" b="1" i="0" u="none" strike="noStrike" kern="0" cap="none" spc="0" normalizeH="0" baseline="0" noProof="0">
                <a:ln>
                  <a:noFill/>
                </a:ln>
                <a:solidFill>
                  <a:srgbClr val="000000"/>
                </a:solidFill>
                <a:effectLst/>
                <a:uLnTx/>
                <a:uFillTx/>
                <a:latin typeface="幼圆" pitchFamily="49" charset="-122"/>
                <a:ea typeface="幼圆" pitchFamily="49" charset="-122"/>
              </a:rPr>
              <a:t>允许若干个进程共享一个或多个段</a:t>
            </a:r>
            <a:endParaRPr kumimoji="0" lang="en-US" altLang="zh-CN" sz="2400" b="1" i="0" u="none" strike="noStrike" kern="0" cap="none" spc="0" normalizeH="0" baseline="0" noProof="0">
              <a:ln>
                <a:noFill/>
              </a:ln>
              <a:solidFill>
                <a:srgbClr val="000000"/>
              </a:solidFill>
              <a:effectLst/>
              <a:uLnTx/>
              <a:uFillTx/>
              <a:latin typeface="幼圆" pitchFamily="49" charset="-122"/>
              <a:ea typeface="幼圆" pitchFamily="49" charset="-122"/>
            </a:endParaRPr>
          </a:p>
          <a:p>
            <a:pPr marL="342900" marR="0" lvl="0" indent="-342900" algn="l" defTabSz="914400" rtl="0" eaLnBrk="0" fontAlgn="base" latinLnBrk="0" hangingPunct="0">
              <a:lnSpc>
                <a:spcPct val="100000"/>
              </a:lnSpc>
              <a:spcBef>
                <a:spcPct val="20000"/>
              </a:spcBef>
              <a:spcAft>
                <a:spcPct val="0"/>
              </a:spcAft>
              <a:buClr>
                <a:srgbClr val="0000FF"/>
              </a:buClr>
              <a:buSzPct val="60000"/>
              <a:buFont typeface="Wingdings" pitchFamily="2" charset="2"/>
              <a:buChar char="n"/>
              <a:tabLst/>
              <a:defRPr/>
            </a:pPr>
            <a:r>
              <a:rPr kumimoji="0" lang="zh-CN" altLang="en-US" sz="2800" b="1" i="0" u="none" strike="noStrike" kern="0" cap="none" spc="0" normalizeH="0" baseline="0" noProof="0">
                <a:ln>
                  <a:noFill/>
                </a:ln>
                <a:solidFill>
                  <a:srgbClr val="0000FF"/>
                </a:solidFill>
                <a:effectLst/>
                <a:uLnTx/>
                <a:uFillTx/>
                <a:latin typeface="Tahoma"/>
                <a:ea typeface="幼圆" pitchFamily="49" charset="-122"/>
                <a:cs typeface="+mn-cs"/>
              </a:rPr>
              <a:t>可重入代码</a:t>
            </a:r>
          </a:p>
          <a:p>
            <a:pPr marL="742950" marR="0" lvl="1" indent="-285750" algn="l" defTabSz="914400" rtl="0" eaLnBrk="0" fontAlgn="base" latinLnBrk="0" hangingPunct="0">
              <a:lnSpc>
                <a:spcPct val="100000"/>
              </a:lnSpc>
              <a:spcBef>
                <a:spcPct val="20000"/>
              </a:spcBef>
              <a:spcAft>
                <a:spcPct val="0"/>
              </a:spcAft>
              <a:buClr>
                <a:srgbClr val="0000FF"/>
              </a:buClr>
              <a:buSzPct val="55000"/>
              <a:buFont typeface="Wingdings" pitchFamily="2" charset="2"/>
              <a:buChar char="n"/>
              <a:tabLst/>
              <a:defRPr/>
            </a:pPr>
            <a:r>
              <a:rPr kumimoji="0" lang="en-US" altLang="zh-CN" sz="2800" b="0" i="0" u="none" strike="noStrike" kern="0" cap="none" spc="0" normalizeH="0" baseline="0" noProof="0">
                <a:ln>
                  <a:noFill/>
                </a:ln>
                <a:solidFill>
                  <a:srgbClr val="FFFFFF"/>
                </a:solidFill>
                <a:effectLst>
                  <a:outerShdw blurRad="38100" dist="38100" dir="2700000" algn="tl">
                    <a:srgbClr val="C0C0C0"/>
                  </a:outerShdw>
                </a:effectLst>
                <a:uLnTx/>
                <a:uFillTx/>
                <a:latin typeface="Arial" panose="020B0604020202020204" pitchFamily="34" charset="0"/>
                <a:ea typeface="幼圆" pitchFamily="49" charset="-122"/>
              </a:rPr>
              <a:t> </a:t>
            </a:r>
            <a:r>
              <a:rPr kumimoji="0" lang="zh-CN" altLang="en-US" sz="2400" b="1" i="0" u="none" strike="noStrike" kern="0" cap="none" spc="0" normalizeH="0" baseline="0" noProof="0">
                <a:ln>
                  <a:noFill/>
                </a:ln>
                <a:solidFill>
                  <a:srgbClr val="000000"/>
                </a:solidFill>
                <a:effectLst/>
                <a:uLnTx/>
                <a:uFillTx/>
                <a:latin typeface="Tahoma"/>
                <a:ea typeface="幼圆" pitchFamily="49" charset="-122"/>
              </a:rPr>
              <a:t>是一种允许多个进程同时访问的代码（只读不写）</a:t>
            </a:r>
            <a:endParaRPr kumimoji="0" lang="en-US" altLang="zh-CN" sz="2400" b="1" i="0" u="none" strike="noStrike" kern="0" cap="none" spc="0" normalizeH="0" baseline="0" noProof="0">
              <a:ln>
                <a:noFill/>
              </a:ln>
              <a:solidFill>
                <a:srgbClr val="000000"/>
              </a:solidFill>
              <a:effectLst/>
              <a:uLnTx/>
              <a:uFillTx/>
              <a:latin typeface="Tahoma"/>
              <a:ea typeface="幼圆" pitchFamily="49" charset="-122"/>
            </a:endParaRPr>
          </a:p>
          <a:p>
            <a:pPr marL="342900" marR="0" lvl="0" indent="-342900" algn="l" defTabSz="914400" rtl="0" eaLnBrk="0" fontAlgn="base" latinLnBrk="0" hangingPunct="0">
              <a:lnSpc>
                <a:spcPct val="100000"/>
              </a:lnSpc>
              <a:spcBef>
                <a:spcPct val="20000"/>
              </a:spcBef>
              <a:spcAft>
                <a:spcPct val="0"/>
              </a:spcAft>
              <a:buClr>
                <a:srgbClr val="0000FF"/>
              </a:buClr>
              <a:buSzPct val="60000"/>
              <a:buFont typeface="Wingdings" pitchFamily="2" charset="2"/>
              <a:buChar char="n"/>
              <a:tabLst/>
              <a:defRPr/>
            </a:pPr>
            <a:r>
              <a:rPr kumimoji="0" lang="zh-CN" altLang="en-US" sz="2800" b="1" i="0" u="none" strike="noStrike" kern="0" cap="none" spc="0" normalizeH="0" baseline="0" noProof="0">
                <a:ln>
                  <a:noFill/>
                </a:ln>
                <a:solidFill>
                  <a:srgbClr val="D60093"/>
                </a:solidFill>
                <a:effectLst/>
                <a:uLnTx/>
                <a:uFillTx/>
                <a:latin typeface="Arial" panose="020B0604020202020204" pitchFamily="34" charset="0"/>
                <a:ea typeface="幼圆" pitchFamily="49" charset="-122"/>
                <a:cs typeface="+mn-cs"/>
              </a:rPr>
              <a:t>实例</a:t>
            </a:r>
            <a:endParaRPr kumimoji="0" lang="zh-CN" altLang="en-US" sz="2800" b="1" i="0" u="none" strike="noStrike" kern="0" cap="none" spc="0" normalizeH="0" baseline="0" noProof="0">
              <a:ln>
                <a:noFill/>
              </a:ln>
              <a:solidFill>
                <a:srgbClr val="D60093"/>
              </a:solidFill>
              <a:effectLst/>
              <a:uLnTx/>
              <a:uFillTx/>
              <a:latin typeface="幼圆" pitchFamily="49" charset="-122"/>
              <a:ea typeface="幼圆" pitchFamily="49" charset="-122"/>
              <a:cs typeface="+mn-cs"/>
            </a:endParaRPr>
          </a:p>
          <a:p>
            <a:pPr marL="742950" marR="0" lvl="1" indent="-285750" algn="l" defTabSz="914400" rtl="0" eaLnBrk="0" fontAlgn="base" latinLnBrk="0" hangingPunct="0">
              <a:lnSpc>
                <a:spcPts val="3700"/>
              </a:lnSpc>
              <a:spcBef>
                <a:spcPct val="20000"/>
              </a:spcBef>
              <a:spcAft>
                <a:spcPct val="0"/>
              </a:spcAft>
              <a:buClr>
                <a:srgbClr val="0000FF"/>
              </a:buClr>
              <a:buSzPct val="55000"/>
              <a:buFont typeface="Wingdings" pitchFamily="2" charset="2"/>
              <a:buChar char="n"/>
              <a:tabLst/>
              <a:defRPr/>
            </a:pPr>
            <a:r>
              <a:rPr kumimoji="0" lang="zh-CN" altLang="en-US" sz="2400" b="1" i="0" u="none" strike="noStrike" kern="0" cap="none" spc="0" normalizeH="0" baseline="0" noProof="0">
                <a:ln>
                  <a:noFill/>
                </a:ln>
                <a:solidFill>
                  <a:srgbClr val="000000"/>
                </a:solidFill>
                <a:effectLst/>
                <a:uLnTx/>
                <a:uFillTx/>
                <a:latin typeface="Tahoma"/>
                <a:ea typeface="幼圆" pitchFamily="49" charset="-122"/>
              </a:rPr>
              <a:t>有一个多用户系统可同时接４０个用户，都同时执行一个文本编辑程序。如果文本编辑程序含有１６０ＫＢ的代码和４０ＫＢ的数据区，则总共需８ＭＢ的空间来支持４０个用户。如果代码是</a:t>
            </a:r>
            <a:r>
              <a:rPr kumimoji="0" lang="zh-CN" altLang="en-US" sz="2400" b="1" i="0" u="none" strike="noStrike" kern="0" cap="none" spc="0" normalizeH="0" baseline="0" noProof="0">
                <a:ln>
                  <a:noFill/>
                </a:ln>
                <a:solidFill>
                  <a:srgbClr val="0000FF"/>
                </a:solidFill>
                <a:effectLst/>
                <a:uLnTx/>
                <a:uFillTx/>
                <a:latin typeface="Tahoma"/>
                <a:ea typeface="幼圆" pitchFamily="49" charset="-122"/>
              </a:rPr>
              <a:t>可重入的</a:t>
            </a:r>
            <a:r>
              <a:rPr kumimoji="0" lang="zh-CN" altLang="en-US" sz="2400" b="1" i="0" u="none" strike="noStrike" kern="0" cap="none" spc="0" normalizeH="0" baseline="0" noProof="0">
                <a:ln>
                  <a:noFill/>
                </a:ln>
                <a:solidFill>
                  <a:srgbClr val="000000"/>
                </a:solidFill>
                <a:effectLst/>
                <a:uLnTx/>
                <a:uFillTx/>
                <a:latin typeface="Tahoma"/>
                <a:ea typeface="幼圆" pitchFamily="49" charset="-122"/>
              </a:rPr>
              <a:t>，此时内存中只需留一份文本编辑程序的副本，因而所需的内存空间是１７６０Ｋ</a:t>
            </a:r>
            <a:r>
              <a:rPr kumimoji="0" lang="en-US" altLang="zh-CN" sz="2400" b="1" i="0" u="none" strike="noStrike" kern="0" cap="none" spc="0" normalizeH="0" baseline="0" noProof="0">
                <a:ln>
                  <a:noFill/>
                </a:ln>
                <a:solidFill>
                  <a:srgbClr val="000000"/>
                </a:solidFill>
                <a:effectLst/>
                <a:uLnTx/>
                <a:uFillTx/>
                <a:latin typeface="Tahoma"/>
                <a:ea typeface="幼圆" pitchFamily="49" charset="-122"/>
              </a:rPr>
              <a:t>B</a:t>
            </a:r>
            <a:r>
              <a:rPr kumimoji="0" lang="zh-CN" altLang="en-US" sz="2400" b="1" i="0" u="none" strike="noStrike" kern="0" cap="none" spc="0" normalizeH="0" baseline="0" noProof="0">
                <a:ln>
                  <a:noFill/>
                </a:ln>
                <a:solidFill>
                  <a:srgbClr val="000000"/>
                </a:solidFill>
                <a:effectLst/>
                <a:uLnTx/>
                <a:uFillTx/>
                <a:latin typeface="Tahoma"/>
                <a:ea typeface="幼圆" pitchFamily="49" charset="-122"/>
              </a:rPr>
              <a:t>（４０＊４０＋１６０），而不是８ＭＢ。</a:t>
            </a:r>
            <a:endParaRPr kumimoji="0" lang="zh-CN" altLang="en-US" sz="2400" b="1" i="0" u="none" strike="noStrike" kern="0" cap="none" spc="0" normalizeH="0" baseline="0" noProof="0" dirty="0">
              <a:ln>
                <a:noFill/>
              </a:ln>
              <a:solidFill>
                <a:srgbClr val="000000"/>
              </a:solidFill>
              <a:effectLst/>
              <a:uLnTx/>
              <a:uFillTx/>
              <a:latin typeface="Tahoma"/>
              <a:ea typeface="宋体"/>
            </a:endParaRPr>
          </a:p>
        </p:txBody>
      </p:sp>
      <p:sp>
        <p:nvSpPr>
          <p:cNvPr id="4" name="AutoShape 3">
            <a:extLst>
              <a:ext uri="{FF2B5EF4-FFF2-40B4-BE49-F238E27FC236}">
                <a16:creationId xmlns:a16="http://schemas.microsoft.com/office/drawing/2014/main" id="{D12717FD-A73B-6642-A521-F69663353076}"/>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4.5 分段存储管理</a:t>
            </a:r>
          </a:p>
        </p:txBody>
      </p:sp>
    </p:spTree>
    <p:extLst>
      <p:ext uri="{BB962C8B-B14F-4D97-AF65-F5344CB8AC3E}">
        <p14:creationId xmlns:p14="http://schemas.microsoft.com/office/powerpoint/2010/main" val="1409996280"/>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linds(horizontal)">
                                      <p:cBhvr>
                                        <p:cTn id="7" dur="500"/>
                                        <p:tgtEl>
                                          <p:spTgt spid="3">
                                            <p:txEl>
                                              <p:pRg st="0" end="0"/>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linds(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blinds(horizontal)">
                                      <p:cBhvr>
                                        <p:cTn id="15" dur="500"/>
                                        <p:tgtEl>
                                          <p:spTgt spid="3">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blinds(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blinds(horizontal)">
                                      <p:cBhvr>
                                        <p:cTn id="23" dur="500"/>
                                        <p:tgtEl>
                                          <p:spTgt spid="3">
                                            <p:txEl>
                                              <p:pRg st="4" end="4"/>
                                            </p:txEl>
                                          </p:spTgt>
                                        </p:tgtEl>
                                      </p:cBhvr>
                                    </p:animEffect>
                                  </p:childTnLst>
                                </p:cTn>
                              </p:par>
                              <p:par>
                                <p:cTn id="24" presetID="3" presetClass="entr" presetSubtype="1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blinds(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2E657C36-90A7-D643-A512-7B0418D58693}"/>
              </a:ext>
            </a:extLst>
          </p:cNvPr>
          <p:cNvSpPr>
            <a:spLocks noGrp="1" noChangeArrowheads="1"/>
          </p:cNvSpPr>
          <p:nvPr>
            <p:ph type="body" idx="1"/>
          </p:nvPr>
        </p:nvSpPr>
        <p:spPr>
          <a:xfrm>
            <a:off x="571500" y="1412875"/>
            <a:ext cx="8001000" cy="5357813"/>
          </a:xfrm>
        </p:spPr>
        <p:txBody>
          <a:bodyPr/>
          <a:lstStyle/>
          <a:p>
            <a:pPr marL="0" indent="0" eaLnBrk="1" hangingPunct="1">
              <a:lnSpc>
                <a:spcPts val="4000"/>
              </a:lnSpc>
              <a:spcBef>
                <a:spcPct val="0"/>
              </a:spcBef>
              <a:buFont typeface="Wingdings" pitchFamily="2" charset="2"/>
              <a:buNone/>
            </a:pPr>
            <a:r>
              <a:rPr lang="zh-CN" altLang="en-US" sz="2000">
                <a:solidFill>
                  <a:srgbClr val="FF0000"/>
                </a:solidFill>
                <a:effectLst/>
                <a:latin typeface="Times New Roman" panose="02020603050405020304" pitchFamily="18" charset="0"/>
                <a:cs typeface="Times New Roman" panose="02020603050405020304" pitchFamily="18" charset="0"/>
              </a:rPr>
              <a:t>思路：</a:t>
            </a:r>
            <a:r>
              <a:rPr lang="zh-CN" altLang="zh-CN" sz="2000">
                <a:solidFill>
                  <a:schemeClr val="tx1"/>
                </a:solidFill>
                <a:effectLst/>
                <a:latin typeface="Times New Roman" panose="02020603050405020304" pitchFamily="18" charset="0"/>
                <a:cs typeface="Times New Roman" panose="02020603050405020304" pitchFamily="18" charset="0"/>
              </a:rPr>
              <a:t>分页存储管理与分段存储管理在离散分配中各有优点，分段存储管理是基于用户程序结构的存储管理技术，有利于模块化程序设计，便于段的扩充、动态链接、共享和保护，但往往会产生段之间的外部碎片而浪费内存空间。分页存储管理是基于系统存储器结构的存储管理技术，内存利用率高，便于系统管理，可以避免产生外部碎片，但不易实现共享。</a:t>
            </a:r>
            <a:endParaRPr lang="en-US" altLang="zh-CN" sz="2000">
              <a:solidFill>
                <a:schemeClr val="tx1"/>
              </a:solidFill>
              <a:effectLst/>
              <a:latin typeface="Times New Roman" panose="02020603050405020304" pitchFamily="18" charset="0"/>
              <a:cs typeface="Times New Roman" panose="02020603050405020304" pitchFamily="18" charset="0"/>
            </a:endParaRPr>
          </a:p>
          <a:p>
            <a:pPr marL="0" indent="0" eaLnBrk="1" hangingPunct="1">
              <a:lnSpc>
                <a:spcPts val="4000"/>
              </a:lnSpc>
              <a:spcBef>
                <a:spcPct val="0"/>
              </a:spcBef>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如果这两种存储管理方式各取所长，就可形成一种新的存储管理方式——段页式存储管理。这种新的存储管理方式既具有分页存储管理能够有效提高内存利用率的优点，又具有分段存储管理能够很好满足用户需要的长处，显然是一种比较有效的存储管理方式</a:t>
            </a:r>
            <a:r>
              <a:rPr lang="zh-CN" altLang="en-US" sz="2000">
                <a:solidFill>
                  <a:schemeClr val="tx1"/>
                </a:solidFill>
                <a:effectLst/>
                <a:latin typeface="宋体" panose="02010600030101010101" pitchFamily="2" charset="-122"/>
              </a:rPr>
              <a:t>。</a:t>
            </a:r>
          </a:p>
        </p:txBody>
      </p:sp>
      <p:sp>
        <p:nvSpPr>
          <p:cNvPr id="108547" name="AutoShape 3">
            <a:extLst>
              <a:ext uri="{FF2B5EF4-FFF2-40B4-BE49-F238E27FC236}">
                <a16:creationId xmlns:a16="http://schemas.microsoft.com/office/drawing/2014/main" id="{362735AE-1C33-E840-A41B-CFAF2FA9B058}"/>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4.6 段页式存储管理</a:t>
            </a:r>
          </a:p>
        </p:txBody>
      </p:sp>
    </p:spTree>
  </p:cSld>
  <p:clrMapOvr>
    <a:masterClrMapping/>
  </p:clrMapOvr>
  <p:transition>
    <p:random/>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F0808967-D5DC-7148-93AF-E6498D509C1C}"/>
              </a:ext>
            </a:extLst>
          </p:cNvPr>
          <p:cNvSpPr>
            <a:spLocks noGrp="1" noChangeArrowheads="1"/>
          </p:cNvSpPr>
          <p:nvPr>
            <p:ph type="body" idx="1"/>
          </p:nvPr>
        </p:nvSpPr>
        <p:spPr>
          <a:xfrm>
            <a:off x="571500" y="1285875"/>
            <a:ext cx="8001000" cy="5357813"/>
          </a:xfrm>
        </p:spPr>
        <p:txBody>
          <a:bodyPr/>
          <a:lstStyle/>
          <a:p>
            <a:pPr>
              <a:buFont typeface="Wingdings" pitchFamily="2" charset="2"/>
              <a:buNone/>
            </a:pPr>
            <a:r>
              <a:rPr lang="en-US" altLang="zh-CN">
                <a:solidFill>
                  <a:srgbClr val="FF0000"/>
                </a:solidFill>
                <a:effectLst>
                  <a:outerShdw blurRad="38100" dist="38100" dir="2700000" algn="tl">
                    <a:srgbClr val="FFFFFF"/>
                  </a:outerShdw>
                </a:effectLst>
              </a:rPr>
              <a:t>4.6.1  </a:t>
            </a:r>
            <a:r>
              <a:rPr lang="zh-CN" altLang="en-US">
                <a:solidFill>
                  <a:srgbClr val="FF0000"/>
                </a:solidFill>
                <a:effectLst>
                  <a:outerShdw blurRad="38100" dist="38100" dir="2700000" algn="tl">
                    <a:srgbClr val="FFFFFF"/>
                  </a:outerShdw>
                </a:effectLst>
              </a:rPr>
              <a:t>段页式存储管理的基本原理</a:t>
            </a:r>
          </a:p>
          <a:p>
            <a:pPr eaLnBrk="1" hangingPunct="1">
              <a:lnSpc>
                <a:spcPts val="3800"/>
              </a:lnSpc>
              <a:spcBef>
                <a:spcPct val="0"/>
              </a:spcBef>
              <a:buFont typeface="Wingdings" pitchFamily="2" charset="2"/>
              <a:buNone/>
            </a:pPr>
            <a:r>
              <a:rPr lang="zh-CN" altLang="en-US" sz="2000">
                <a:solidFill>
                  <a:schemeClr val="tx1"/>
                </a:solidFill>
                <a:effectLst/>
                <a:latin typeface="宋体" panose="02010600030101010101" pitchFamily="2" charset="-122"/>
              </a:rPr>
              <a:t>    结合了分段存储管理和分页存储管理的优点，在为程序分配内存空间时，采用的是“各段之间按分段存储管理进行，每个段的内部则按分页存储管理进行分配”。</a:t>
            </a:r>
          </a:p>
          <a:p>
            <a:pPr eaLnBrk="1" hangingPunct="1">
              <a:lnSpc>
                <a:spcPts val="3800"/>
              </a:lnSpc>
              <a:spcBef>
                <a:spcPct val="0"/>
              </a:spcBef>
              <a:buFont typeface="Wingdings" pitchFamily="2" charset="2"/>
              <a:buNone/>
            </a:pPr>
            <a:r>
              <a:rPr lang="zh-CN" altLang="en-US" sz="2000">
                <a:solidFill>
                  <a:schemeClr val="tx1"/>
                </a:solidFill>
                <a:effectLst/>
                <a:latin typeface="宋体" panose="02010600030101010101" pitchFamily="2" charset="-122"/>
              </a:rPr>
              <a:t>    首先根据程序自身的逻辑结构，运用分段存储管理的思想把程序的逻辑地址空间划分为若干个段，每个段有各自的段名或段号；然后，再运用分页存储管理的思想，在每个段内按固定大小将该段划分为不同的页，每个段内的所有页从</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开始依次编号。内存空间也划分成与页大小相等的物理块，并对内存中所有物理块从</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开始依次编号。在为程序分配内存空间时，允许以页为单位一次性将一个程序中每个段的所有页装入内存中若干不相邻的物理块中。</a:t>
            </a:r>
          </a:p>
        </p:txBody>
      </p:sp>
      <p:sp>
        <p:nvSpPr>
          <p:cNvPr id="108547" name="AutoShape 3">
            <a:extLst>
              <a:ext uri="{FF2B5EF4-FFF2-40B4-BE49-F238E27FC236}">
                <a16:creationId xmlns:a16="http://schemas.microsoft.com/office/drawing/2014/main" id="{DE9FACA0-1EE7-5E45-B26A-DBF3209A722B}"/>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4.6 段页式存储管理</a:t>
            </a:r>
          </a:p>
        </p:txBody>
      </p:sp>
    </p:spTree>
  </p:cSld>
  <p:clrMapOvr>
    <a:masterClrMapping/>
  </p:clrMapOvr>
  <p:transition>
    <p:random/>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a:extLst>
              <a:ext uri="{FF2B5EF4-FFF2-40B4-BE49-F238E27FC236}">
                <a16:creationId xmlns:a16="http://schemas.microsoft.com/office/drawing/2014/main" id="{B4744D8E-4A10-7345-A08A-9030EAF80FCF}"/>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段页式存储管理的基本原理</a:t>
            </a:r>
          </a:p>
        </p:txBody>
      </p:sp>
      <p:sp>
        <p:nvSpPr>
          <p:cNvPr id="96259" name="Rectangle 3">
            <a:extLst>
              <a:ext uri="{FF2B5EF4-FFF2-40B4-BE49-F238E27FC236}">
                <a16:creationId xmlns:a16="http://schemas.microsoft.com/office/drawing/2014/main" id="{4CE120B5-CD0C-E74A-95E0-16ECC62F46F5}"/>
              </a:ext>
            </a:extLst>
          </p:cNvPr>
          <p:cNvSpPr>
            <a:spLocks noGrp="1" noChangeArrowheads="1"/>
          </p:cNvSpPr>
          <p:nvPr>
            <p:ph type="body" sz="half" idx="1"/>
          </p:nvPr>
        </p:nvSpPr>
        <p:spPr>
          <a:xfrm>
            <a:off x="684213" y="1412875"/>
            <a:ext cx="7956550" cy="792163"/>
          </a:xfrm>
        </p:spPr>
        <p:txBody>
          <a:bodyPr/>
          <a:lstStyle/>
          <a:p>
            <a:pPr marL="0" indent="0" eaLnBrk="1" hangingPunct="1">
              <a:lnSpc>
                <a:spcPct val="150000"/>
              </a:lnSpc>
              <a:buFont typeface="Wingdings" pitchFamily="2" charset="2"/>
              <a:buNone/>
            </a:pPr>
            <a:r>
              <a:rPr lang="en-US" altLang="en-US" sz="2200">
                <a:solidFill>
                  <a:srgbClr val="FF0000"/>
                </a:solidFill>
                <a:effectLst/>
                <a:latin typeface="宋体" panose="02010600030101010101" pitchFamily="2" charset="-122"/>
              </a:rPr>
              <a:t>1. 逻辑地址结构</a:t>
            </a:r>
            <a:endParaRPr lang="zh-CN" altLang="en-US" sz="2200">
              <a:solidFill>
                <a:srgbClr val="FF0000"/>
              </a:solidFill>
              <a:effectLst/>
              <a:latin typeface="宋体" panose="02010600030101010101" pitchFamily="2" charset="-122"/>
            </a:endParaRPr>
          </a:p>
        </p:txBody>
      </p:sp>
      <p:sp>
        <p:nvSpPr>
          <p:cNvPr id="96260" name="Text Box 62">
            <a:extLst>
              <a:ext uri="{FF2B5EF4-FFF2-40B4-BE49-F238E27FC236}">
                <a16:creationId xmlns:a16="http://schemas.microsoft.com/office/drawing/2014/main" id="{9FF6176C-830A-4C46-8C7B-73EED196D183}"/>
              </a:ext>
            </a:extLst>
          </p:cNvPr>
          <p:cNvSpPr txBox="1">
            <a:spLocks noChangeArrowheads="1"/>
          </p:cNvSpPr>
          <p:nvPr/>
        </p:nvSpPr>
        <p:spPr bwMode="auto">
          <a:xfrm>
            <a:off x="714375" y="3071813"/>
            <a:ext cx="7416800" cy="3170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lIns="91433" tIns="45716" rIns="91433" bIns="45716">
            <a:spAutoFit/>
          </a:bodyPr>
          <a:lstStyle>
            <a:lvl1pPr>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eaLnBrk="1" hangingPunct="1">
              <a:lnSpc>
                <a:spcPts val="3000"/>
              </a:lnSpc>
              <a:spcBef>
                <a:spcPct val="50000"/>
              </a:spcBef>
              <a:buFontTx/>
              <a:buNone/>
            </a:pPr>
            <a:r>
              <a:rPr lang="zh-CN" altLang="en-US" sz="2000">
                <a:solidFill>
                  <a:schemeClr val="tx1"/>
                </a:solidFill>
                <a:latin typeface="宋体" panose="02010600030101010101" pitchFamily="2" charset="-122"/>
              </a:rPr>
              <a:t>    假定逻辑地址长度为</a:t>
            </a:r>
            <a:r>
              <a:rPr lang="en-US" altLang="zh-CN" sz="2000">
                <a:solidFill>
                  <a:schemeClr val="tx1"/>
                </a:solidFill>
                <a:latin typeface="宋体" panose="02010600030101010101" pitchFamily="2" charset="-122"/>
              </a:rPr>
              <a:t>32</a:t>
            </a:r>
            <a:r>
              <a:rPr lang="zh-CN" altLang="en-US" sz="2000">
                <a:solidFill>
                  <a:schemeClr val="tx1"/>
                </a:solidFill>
                <a:latin typeface="宋体" panose="02010600030101010101" pitchFamily="2" charset="-122"/>
              </a:rPr>
              <a:t>位，若段号占</a:t>
            </a:r>
            <a:r>
              <a:rPr lang="en-US" altLang="zh-CN" sz="2000">
                <a:solidFill>
                  <a:schemeClr val="tx1"/>
                </a:solidFill>
                <a:latin typeface="宋体" panose="02010600030101010101" pitchFamily="2" charset="-122"/>
              </a:rPr>
              <a:t>8</a:t>
            </a:r>
            <a:r>
              <a:rPr lang="zh-CN" altLang="en-US" sz="2000">
                <a:solidFill>
                  <a:schemeClr val="tx1"/>
                </a:solidFill>
                <a:latin typeface="宋体" panose="02010600030101010101" pitchFamily="2" charset="-122"/>
              </a:rPr>
              <a:t>位，段内页号占</a:t>
            </a:r>
            <a:r>
              <a:rPr lang="en-US" altLang="zh-CN" sz="2000">
                <a:solidFill>
                  <a:schemeClr val="tx1"/>
                </a:solidFill>
                <a:latin typeface="宋体" panose="02010600030101010101" pitchFamily="2" charset="-122"/>
              </a:rPr>
              <a:t>12</a:t>
            </a:r>
            <a:r>
              <a:rPr lang="zh-CN" altLang="en-US" sz="2000">
                <a:solidFill>
                  <a:schemeClr val="tx1"/>
                </a:solidFill>
                <a:latin typeface="宋体" panose="02010600030101010101" pitchFamily="2" charset="-122"/>
              </a:rPr>
              <a:t>位，页内地址占</a:t>
            </a:r>
            <a:r>
              <a:rPr lang="en-US" altLang="zh-CN" sz="2000">
                <a:solidFill>
                  <a:schemeClr val="tx1"/>
                </a:solidFill>
                <a:latin typeface="宋体" panose="02010600030101010101" pitchFamily="2" charset="-122"/>
              </a:rPr>
              <a:t>12</a:t>
            </a:r>
            <a:r>
              <a:rPr lang="zh-CN" altLang="en-US" sz="2000">
                <a:solidFill>
                  <a:schemeClr val="tx1"/>
                </a:solidFill>
                <a:latin typeface="宋体" panose="02010600030101010101" pitchFamily="2" charset="-122"/>
              </a:rPr>
              <a:t>位，则一个程序最多允许有</a:t>
            </a:r>
            <a:r>
              <a:rPr lang="en-US" altLang="zh-CN" sz="2000">
                <a:solidFill>
                  <a:schemeClr val="tx1"/>
                </a:solidFill>
                <a:latin typeface="宋体" panose="02010600030101010101" pitchFamily="2" charset="-122"/>
              </a:rPr>
              <a:t>256</a:t>
            </a:r>
            <a:r>
              <a:rPr lang="zh-CN" altLang="en-US" sz="2000">
                <a:solidFill>
                  <a:schemeClr val="tx1"/>
                </a:solidFill>
                <a:latin typeface="宋体" panose="02010600030101010101" pitchFamily="2" charset="-122"/>
              </a:rPr>
              <a:t>（</a:t>
            </a:r>
            <a:r>
              <a:rPr lang="en-US" altLang="zh-CN" sz="2000">
                <a:solidFill>
                  <a:schemeClr val="tx1"/>
                </a:solidFill>
                <a:latin typeface="宋体" panose="02010600030101010101" pitchFamily="2" charset="-122"/>
              </a:rPr>
              <a:t>2</a:t>
            </a:r>
            <a:r>
              <a:rPr lang="en-US" altLang="zh-CN" sz="2000" baseline="30000">
                <a:solidFill>
                  <a:schemeClr val="tx1"/>
                </a:solidFill>
                <a:latin typeface="宋体" panose="02010600030101010101" pitchFamily="2" charset="-122"/>
              </a:rPr>
              <a:t>8</a:t>
            </a:r>
            <a:r>
              <a:rPr lang="zh-CN" altLang="en-US" sz="2000">
                <a:solidFill>
                  <a:schemeClr val="tx1"/>
                </a:solidFill>
                <a:latin typeface="宋体" panose="02010600030101010101" pitchFamily="2" charset="-122"/>
              </a:rPr>
              <a:t>）个段，每段最多允许</a:t>
            </a:r>
            <a:r>
              <a:rPr lang="en-US" altLang="zh-CN" sz="2000">
                <a:solidFill>
                  <a:schemeClr val="tx1"/>
                </a:solidFill>
                <a:latin typeface="宋体" panose="02010600030101010101" pitchFamily="2" charset="-122"/>
              </a:rPr>
              <a:t>4096</a:t>
            </a:r>
            <a:r>
              <a:rPr lang="zh-CN" altLang="en-US" sz="2000">
                <a:solidFill>
                  <a:schemeClr val="tx1"/>
                </a:solidFill>
                <a:latin typeface="宋体" panose="02010600030101010101" pitchFamily="2" charset="-122"/>
              </a:rPr>
              <a:t>（</a:t>
            </a:r>
            <a:r>
              <a:rPr lang="en-US" altLang="zh-CN" sz="2000">
                <a:solidFill>
                  <a:schemeClr val="tx1"/>
                </a:solidFill>
                <a:latin typeface="宋体" panose="02010600030101010101" pitchFamily="2" charset="-122"/>
              </a:rPr>
              <a:t>2</a:t>
            </a:r>
            <a:r>
              <a:rPr lang="en-US" altLang="zh-CN" sz="2000" baseline="30000">
                <a:solidFill>
                  <a:schemeClr val="tx1"/>
                </a:solidFill>
                <a:latin typeface="宋体" panose="02010600030101010101" pitchFamily="2" charset="-122"/>
              </a:rPr>
              <a:t>12</a:t>
            </a:r>
            <a:r>
              <a:rPr lang="zh-CN" altLang="en-US" sz="2000">
                <a:solidFill>
                  <a:schemeClr val="tx1"/>
                </a:solidFill>
                <a:latin typeface="宋体" panose="02010600030101010101" pitchFamily="2" charset="-122"/>
              </a:rPr>
              <a:t>）个页，每页的大小为</a:t>
            </a:r>
            <a:r>
              <a:rPr lang="en-US" altLang="zh-CN" sz="2000">
                <a:solidFill>
                  <a:schemeClr val="tx1"/>
                </a:solidFill>
                <a:latin typeface="宋体" panose="02010600030101010101" pitchFamily="2" charset="-122"/>
              </a:rPr>
              <a:t>4KB</a:t>
            </a:r>
            <a:r>
              <a:rPr lang="zh-CN" altLang="en-US" sz="2000">
                <a:solidFill>
                  <a:schemeClr val="tx1"/>
                </a:solidFill>
                <a:latin typeface="宋体" panose="02010600030101010101" pitchFamily="2" charset="-122"/>
              </a:rPr>
              <a:t>（</a:t>
            </a:r>
            <a:r>
              <a:rPr lang="en-US" altLang="zh-CN" sz="2000">
                <a:solidFill>
                  <a:schemeClr val="tx1"/>
                </a:solidFill>
                <a:latin typeface="宋体" panose="02010600030101010101" pitchFamily="2" charset="-122"/>
              </a:rPr>
              <a:t>2</a:t>
            </a:r>
            <a:r>
              <a:rPr lang="en-US" altLang="zh-CN" sz="2000" baseline="30000">
                <a:solidFill>
                  <a:schemeClr val="tx1"/>
                </a:solidFill>
                <a:latin typeface="宋体" panose="02010600030101010101" pitchFamily="2" charset="-122"/>
              </a:rPr>
              <a:t>12</a:t>
            </a:r>
            <a:r>
              <a:rPr lang="zh-CN" altLang="en-US" sz="2000">
                <a:solidFill>
                  <a:schemeClr val="tx1"/>
                </a:solidFill>
                <a:latin typeface="宋体" panose="02010600030101010101" pitchFamily="2" charset="-122"/>
              </a:rPr>
              <a:t>）。</a:t>
            </a:r>
          </a:p>
          <a:p>
            <a:pPr eaLnBrk="1" hangingPunct="1">
              <a:lnSpc>
                <a:spcPts val="3000"/>
              </a:lnSpc>
              <a:spcBef>
                <a:spcPct val="0"/>
              </a:spcBef>
              <a:buFontTx/>
              <a:buNone/>
            </a:pPr>
            <a:r>
              <a:rPr lang="en-US" altLang="zh-CN" sz="2000">
                <a:solidFill>
                  <a:srgbClr val="FF0000"/>
                </a:solidFill>
                <a:latin typeface="宋体" panose="02010600030101010101" pitchFamily="2" charset="-122"/>
              </a:rPr>
              <a:t>2. </a:t>
            </a:r>
            <a:r>
              <a:rPr lang="zh-CN" altLang="en-US" sz="2000">
                <a:solidFill>
                  <a:srgbClr val="FF0000"/>
                </a:solidFill>
                <a:latin typeface="宋体" panose="02010600030101010101" pitchFamily="2" charset="-122"/>
              </a:rPr>
              <a:t>数据结构</a:t>
            </a:r>
          </a:p>
          <a:p>
            <a:pPr eaLnBrk="1" hangingPunct="1">
              <a:lnSpc>
                <a:spcPts val="3000"/>
              </a:lnSpc>
              <a:spcBef>
                <a:spcPct val="0"/>
              </a:spcBef>
              <a:buFontTx/>
              <a:buNone/>
            </a:pPr>
            <a:r>
              <a:rPr lang="zh-CN" altLang="en-US" sz="2000">
                <a:solidFill>
                  <a:schemeClr val="tx1"/>
                </a:solidFill>
                <a:latin typeface="宋体" panose="02010600030101010101" pitchFamily="2" charset="-122"/>
              </a:rPr>
              <a:t>（</a:t>
            </a:r>
            <a:r>
              <a:rPr lang="en-US" altLang="zh-CN" sz="2000">
                <a:solidFill>
                  <a:schemeClr val="tx1"/>
                </a:solidFill>
                <a:latin typeface="宋体" panose="02010600030101010101" pitchFamily="2" charset="-122"/>
              </a:rPr>
              <a:t>1</a:t>
            </a:r>
            <a:r>
              <a:rPr lang="zh-CN" altLang="en-US" sz="2000">
                <a:solidFill>
                  <a:schemeClr val="tx1"/>
                </a:solidFill>
                <a:latin typeface="宋体" panose="02010600030101010101" pitchFamily="2" charset="-122"/>
              </a:rPr>
              <a:t>）段表。系统为</a:t>
            </a:r>
            <a:r>
              <a:rPr lang="zh-CN" altLang="en-US" sz="2000">
                <a:solidFill>
                  <a:srgbClr val="0000FF"/>
                </a:solidFill>
                <a:latin typeface="宋体" panose="02010600030101010101" pitchFamily="2" charset="-122"/>
              </a:rPr>
              <a:t>每个程序建立一张段表</a:t>
            </a:r>
            <a:r>
              <a:rPr lang="zh-CN" altLang="en-US" sz="2000">
                <a:solidFill>
                  <a:schemeClr val="tx1"/>
                </a:solidFill>
                <a:latin typeface="宋体" panose="02010600030101010101" pitchFamily="2" charset="-122"/>
              </a:rPr>
              <a:t>，程序的每个段在段表中有一个段表项。</a:t>
            </a:r>
          </a:p>
          <a:p>
            <a:pPr eaLnBrk="1" hangingPunct="1">
              <a:lnSpc>
                <a:spcPts val="3000"/>
              </a:lnSpc>
              <a:spcBef>
                <a:spcPct val="0"/>
              </a:spcBef>
              <a:buFontTx/>
              <a:buNone/>
            </a:pPr>
            <a:r>
              <a:rPr lang="zh-CN" altLang="en-US" sz="2000">
                <a:solidFill>
                  <a:schemeClr val="tx1"/>
                </a:solidFill>
                <a:latin typeface="宋体" panose="02010600030101010101" pitchFamily="2" charset="-122"/>
              </a:rPr>
              <a:t>（</a:t>
            </a:r>
            <a:r>
              <a:rPr lang="en-US" altLang="zh-CN" sz="2000">
                <a:solidFill>
                  <a:schemeClr val="tx1"/>
                </a:solidFill>
                <a:latin typeface="宋体" panose="02010600030101010101" pitchFamily="2" charset="-122"/>
              </a:rPr>
              <a:t>2</a:t>
            </a:r>
            <a:r>
              <a:rPr lang="zh-CN" altLang="en-US" sz="2000">
                <a:solidFill>
                  <a:schemeClr val="tx1"/>
                </a:solidFill>
                <a:latin typeface="宋体" panose="02010600030101010101" pitchFamily="2" charset="-122"/>
              </a:rPr>
              <a:t>）页表。系统为</a:t>
            </a:r>
            <a:r>
              <a:rPr lang="zh-CN" altLang="en-US" sz="2000">
                <a:solidFill>
                  <a:srgbClr val="0000FF"/>
                </a:solidFill>
                <a:latin typeface="宋体" panose="02010600030101010101" pitchFamily="2" charset="-122"/>
              </a:rPr>
              <a:t>程序中的每一个段都建立一张页表</a:t>
            </a:r>
            <a:r>
              <a:rPr lang="zh-CN" altLang="en-US" sz="2000">
                <a:solidFill>
                  <a:schemeClr val="tx1"/>
                </a:solidFill>
                <a:latin typeface="宋体" panose="02010600030101010101" pitchFamily="2" charset="-122"/>
              </a:rPr>
              <a:t>，一个段中的每个页在该段的页表中都有一个页表项。</a:t>
            </a:r>
          </a:p>
        </p:txBody>
      </p:sp>
      <p:pic>
        <p:nvPicPr>
          <p:cNvPr id="96261" name="Picture 65" descr="4-33">
            <a:extLst>
              <a:ext uri="{FF2B5EF4-FFF2-40B4-BE49-F238E27FC236}">
                <a16:creationId xmlns:a16="http://schemas.microsoft.com/office/drawing/2014/main" id="{07125B88-FCE8-4C4F-BC9D-075DBE684E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6188" y="1643063"/>
            <a:ext cx="4210050" cy="129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a:extLst>
              <a:ext uri="{FF2B5EF4-FFF2-40B4-BE49-F238E27FC236}">
                <a16:creationId xmlns:a16="http://schemas.microsoft.com/office/drawing/2014/main" id="{7D92CE18-B899-CC48-B723-0AF67FFA8E21}"/>
              </a:ext>
            </a:extLst>
          </p:cNvPr>
          <p:cNvSpPr>
            <a:spLocks noGrp="1" noChangeArrowheads="1"/>
          </p:cNvSpPr>
          <p:nvPr>
            <p:ph type="body" idx="1"/>
          </p:nvPr>
        </p:nvSpPr>
        <p:spPr>
          <a:xfrm>
            <a:off x="428625" y="1214438"/>
            <a:ext cx="8429625" cy="5500687"/>
          </a:xfrm>
        </p:spPr>
        <p:txBody>
          <a:bodyPr/>
          <a:lstStyle/>
          <a:p>
            <a:pPr>
              <a:buFont typeface="Wingdings" pitchFamily="2" charset="2"/>
              <a:buNone/>
            </a:pPr>
            <a:r>
              <a:rPr lang="en-US" altLang="zh-CN">
                <a:solidFill>
                  <a:srgbClr val="FF0000"/>
                </a:solidFill>
                <a:effectLst>
                  <a:outerShdw blurRad="38100" dist="38100" dir="2700000" algn="tl">
                    <a:srgbClr val="FFFFFF"/>
                  </a:outerShdw>
                </a:effectLst>
              </a:rPr>
              <a:t>4.6.2  </a:t>
            </a:r>
            <a:r>
              <a:rPr lang="zh-CN" altLang="en-US">
                <a:solidFill>
                  <a:srgbClr val="FF0000"/>
                </a:solidFill>
                <a:effectLst>
                  <a:outerShdw blurRad="38100" dist="38100" dir="2700000" algn="tl">
                    <a:srgbClr val="FFFFFF"/>
                  </a:outerShdw>
                </a:effectLst>
              </a:rPr>
              <a:t>段页式存储管理的地址转换与特点</a:t>
            </a:r>
          </a:p>
          <a:p>
            <a:pPr algn="just" eaLnBrk="1" hangingPunct="1">
              <a:lnSpc>
                <a:spcPts val="3000"/>
              </a:lnSpc>
              <a:spcBef>
                <a:spcPct val="0"/>
              </a:spcBef>
              <a:buFont typeface="Wingdings" pitchFamily="2" charset="2"/>
              <a:buNone/>
            </a:pPr>
            <a:r>
              <a:rPr lang="en-US" altLang="zh-CN" sz="2000">
                <a:solidFill>
                  <a:srgbClr val="FF0000"/>
                </a:solidFill>
                <a:effectLst/>
                <a:latin typeface="宋体" panose="02010600030101010101" pitchFamily="2" charset="-122"/>
              </a:rPr>
              <a:t>1. </a:t>
            </a:r>
            <a:r>
              <a:rPr lang="zh-CN" altLang="en-US" sz="2000">
                <a:solidFill>
                  <a:srgbClr val="FF0000"/>
                </a:solidFill>
                <a:effectLst/>
                <a:latin typeface="宋体" panose="02010600030101010101" pitchFamily="2" charset="-122"/>
              </a:rPr>
              <a:t>地址转换</a:t>
            </a:r>
          </a:p>
          <a:p>
            <a:pPr algn="just" eaLnBrk="1" hangingPunct="1">
              <a:lnSpc>
                <a:spcPts val="3000"/>
              </a:lnSpc>
              <a:spcBef>
                <a:spcPct val="0"/>
              </a:spcBef>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硬件地址转换机构首先将逻辑地址中的段号与段表控制寄存器中的段表长度（程序中允许的最大段号）进行比较，若段号大于段表长度，则产生段越界中断；否则未越界，这时将段表控制寄存器中的段表始址和逻辑地址中的段号（表示段表项的相对位移）相加，获得该段号所对应的段表项在段表中的位置，找到该段表项后，从中获得该段的页表在内存中存放的起始地址（页表始址）和页表长度。若逻辑地址中的段内页号（页号）大于该段表项中的页表长度（该段所允许的最大页号），则产生页越界中断；否则，将该段表项中的页表始址和逻辑地址中的段内页号（页表项的相对位移）相加，获得该段的页表中该页号（段内页号）对应的页表项位置，并从此页表项中获得该页号所映射的内存物理块号，最后将此物理块号和逻辑地址中的页内地址拼接（由物理块号替换逻辑地址中的段内页号而页内地址不变），形成要访问的内存物理地址</a:t>
            </a:r>
            <a:r>
              <a:rPr lang="zh-CN" altLang="en-US" sz="2000">
                <a:solidFill>
                  <a:schemeClr val="tx1"/>
                </a:solidFill>
                <a:effectLst/>
                <a:latin typeface="宋体" panose="02010600030101010101" pitchFamily="2" charset="-122"/>
              </a:rPr>
              <a:t>。</a:t>
            </a:r>
          </a:p>
        </p:txBody>
      </p:sp>
      <p:sp>
        <p:nvSpPr>
          <p:cNvPr id="109571" name="AutoShape 3">
            <a:extLst>
              <a:ext uri="{FF2B5EF4-FFF2-40B4-BE49-F238E27FC236}">
                <a16:creationId xmlns:a16="http://schemas.microsoft.com/office/drawing/2014/main" id="{3190AEA0-26A5-3448-AD1E-CCB25041E368}"/>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4.6 段页式存储管理</a:t>
            </a:r>
          </a:p>
        </p:txBody>
      </p:sp>
    </p:spTree>
  </p:cSld>
  <p:clrMapOvr>
    <a:masterClrMapping/>
  </p:clrMapOvr>
  <p:transition>
    <p:random/>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a:extLst>
              <a:ext uri="{FF2B5EF4-FFF2-40B4-BE49-F238E27FC236}">
                <a16:creationId xmlns:a16="http://schemas.microsoft.com/office/drawing/2014/main" id="{D838ADAC-FE99-3445-ABB6-373E926274A4}"/>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段页式存储管理的地址转换与特点</a:t>
            </a:r>
          </a:p>
        </p:txBody>
      </p:sp>
      <p:sp>
        <p:nvSpPr>
          <p:cNvPr id="98307" name="Rectangle 3">
            <a:extLst>
              <a:ext uri="{FF2B5EF4-FFF2-40B4-BE49-F238E27FC236}">
                <a16:creationId xmlns:a16="http://schemas.microsoft.com/office/drawing/2014/main" id="{AF4C8851-0EF3-7948-AA11-6EC77A73DBC6}"/>
              </a:ext>
            </a:extLst>
          </p:cNvPr>
          <p:cNvSpPr>
            <a:spLocks noGrp="1" noChangeArrowheads="1"/>
          </p:cNvSpPr>
          <p:nvPr>
            <p:ph type="body" sz="half" idx="1"/>
          </p:nvPr>
        </p:nvSpPr>
        <p:spPr>
          <a:xfrm>
            <a:off x="684213" y="1638300"/>
            <a:ext cx="7956550" cy="647700"/>
          </a:xfrm>
        </p:spPr>
        <p:txBody>
          <a:bodyPr/>
          <a:lstStyle/>
          <a:p>
            <a:pPr marL="0" indent="0" eaLnBrk="1" hangingPunct="1">
              <a:buFont typeface="Wingdings" pitchFamily="2" charset="2"/>
              <a:buNone/>
            </a:pPr>
            <a:r>
              <a:rPr lang="zh-CN" altLang="en-US">
                <a:solidFill>
                  <a:srgbClr val="FF0000"/>
                </a:solidFill>
                <a:effectLst/>
                <a:latin typeface="宋体" panose="02010600030101010101" pitchFamily="2" charset="-122"/>
              </a:rPr>
              <a:t>段页式存储管理的地址转换过程</a:t>
            </a:r>
          </a:p>
        </p:txBody>
      </p:sp>
      <p:pic>
        <p:nvPicPr>
          <p:cNvPr id="98308" name="图片 37" descr="4t34">
            <a:extLst>
              <a:ext uri="{FF2B5EF4-FFF2-40B4-BE49-F238E27FC236}">
                <a16:creationId xmlns:a16="http://schemas.microsoft.com/office/drawing/2014/main" id="{64B99A1A-69D0-504E-9C95-AF3EBA0D52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7188" y="2357438"/>
            <a:ext cx="8501062"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a:extLst>
              <a:ext uri="{FF2B5EF4-FFF2-40B4-BE49-F238E27FC236}">
                <a16:creationId xmlns:a16="http://schemas.microsoft.com/office/drawing/2014/main" id="{69F4131B-D5A1-3B48-888B-FE5F91E46317}"/>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段页式存储管理的地址转换与特点</a:t>
            </a:r>
          </a:p>
        </p:txBody>
      </p:sp>
      <p:sp>
        <p:nvSpPr>
          <p:cNvPr id="92163" name="Rectangle 3">
            <a:extLst>
              <a:ext uri="{FF2B5EF4-FFF2-40B4-BE49-F238E27FC236}">
                <a16:creationId xmlns:a16="http://schemas.microsoft.com/office/drawing/2014/main" id="{D8EBD253-4F37-0441-BDB3-4B80BD5C6C39}"/>
              </a:ext>
            </a:extLst>
          </p:cNvPr>
          <p:cNvSpPr>
            <a:spLocks noGrp="1" noChangeArrowheads="1"/>
          </p:cNvSpPr>
          <p:nvPr>
            <p:ph type="body" sz="half" idx="1"/>
          </p:nvPr>
        </p:nvSpPr>
        <p:spPr>
          <a:xfrm>
            <a:off x="485775" y="1628775"/>
            <a:ext cx="8172450" cy="4735513"/>
          </a:xfrm>
        </p:spPr>
        <p:txBody>
          <a:bodyPr/>
          <a:lstStyle/>
          <a:p>
            <a:pPr marL="0" indent="0" eaLnBrk="1" hangingPunct="1">
              <a:lnSpc>
                <a:spcPct val="150000"/>
              </a:lnSpc>
              <a:buFont typeface="Wingdings" pitchFamily="2" charset="2"/>
              <a:buNone/>
            </a:pPr>
            <a:r>
              <a:rPr lang="en-US" altLang="zh-CN" sz="2000">
                <a:solidFill>
                  <a:srgbClr val="FF0000"/>
                </a:solidFill>
                <a:effectLst/>
                <a:latin typeface="Times New Roman" panose="02020603050405020304" pitchFamily="18" charset="0"/>
                <a:cs typeface="Times New Roman" panose="02020603050405020304" pitchFamily="18" charset="0"/>
              </a:rPr>
              <a:t>  </a:t>
            </a:r>
            <a:r>
              <a:rPr lang="zh-CN" altLang="en-US" sz="2000">
                <a:solidFill>
                  <a:srgbClr val="FF0000"/>
                </a:solidFill>
                <a:effectLst/>
                <a:latin typeface="Times New Roman" panose="02020603050405020304" pitchFamily="18" charset="0"/>
                <a:cs typeface="Times New Roman" panose="02020603050405020304" pitchFamily="18" charset="0"/>
              </a:rPr>
              <a:t>注意：</a:t>
            </a:r>
            <a:r>
              <a:rPr lang="en-US" altLang="zh-CN" sz="2000">
                <a:solidFill>
                  <a:srgbClr val="FF0000"/>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对段页式存储管理而言，要完成对内存中某个数据的访问，至少要访问内存三次：第一次访问内存是根据段表控制寄存器中的段表始址与逻辑地址中的段号（段表项的相对位移）之和在内存中查找程序的段表，找到该段号对应的段表项，并在此段表项中找到该段号所对应的页表在内存中的起始地址（页表始址）；第二次访问内存是根据页表始址与逻辑地址中的段内页号之和到内存中访问页表，找到对应的页表项，并从此页表项中找到该页号（段内页号）映射的物理块号，并将该物理块号与逻辑地址中的页内地址拼接，形成要访问的内存物理地址；第三次才是根据这个内存物理地址去访问该地址中存放的数据。显然，内存访问次数的增加会使计算机的运行速度受到很大的影响</a:t>
            </a:r>
            <a:r>
              <a:rPr lang="zh-CN" altLang="en-US" sz="2000">
                <a:solidFill>
                  <a:schemeClr val="tx1"/>
                </a:solidFill>
                <a:effectLst/>
                <a:latin typeface="宋体" panose="02010600030101010101" pitchFamily="2" charset="-122"/>
              </a:rPr>
              <a:t>。</a:t>
            </a:r>
          </a:p>
        </p:txBody>
      </p:sp>
    </p:spTree>
  </p:cSld>
  <p:clrMapOvr>
    <a:masterClrMapping/>
  </p:clrMapOvr>
  <p:transition>
    <p:random/>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F353DE13-07A5-6B42-91DE-434D0A04FA2A}"/>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段页式存储管理的地址转换与特点</a:t>
            </a:r>
          </a:p>
        </p:txBody>
      </p:sp>
      <p:sp>
        <p:nvSpPr>
          <p:cNvPr id="100355" name="Rectangle 3">
            <a:extLst>
              <a:ext uri="{FF2B5EF4-FFF2-40B4-BE49-F238E27FC236}">
                <a16:creationId xmlns:a16="http://schemas.microsoft.com/office/drawing/2014/main" id="{C6858A78-CD02-8846-951F-E576CF958752}"/>
              </a:ext>
            </a:extLst>
          </p:cNvPr>
          <p:cNvSpPr>
            <a:spLocks noGrp="1" noChangeArrowheads="1"/>
          </p:cNvSpPr>
          <p:nvPr>
            <p:ph type="body" sz="half" idx="1"/>
          </p:nvPr>
        </p:nvSpPr>
        <p:spPr>
          <a:xfrm>
            <a:off x="684213" y="1285875"/>
            <a:ext cx="7956550" cy="647700"/>
          </a:xfrm>
        </p:spPr>
        <p:txBody>
          <a:bodyPr/>
          <a:lstStyle/>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例：下图给出了一种段页式管理配置方案，一页的大小为</a:t>
            </a:r>
            <a:r>
              <a:rPr lang="en-US" altLang="zh-CN" sz="2000">
                <a:solidFill>
                  <a:schemeClr val="tx1"/>
                </a:solidFill>
                <a:effectLst/>
                <a:latin typeface="宋体" panose="02010600030101010101" pitchFamily="2" charset="-122"/>
              </a:rPr>
              <a:t>1KB</a:t>
            </a:r>
            <a:r>
              <a:rPr lang="zh-CN" altLang="en-US" sz="2000">
                <a:solidFill>
                  <a:schemeClr val="tx1"/>
                </a:solidFill>
                <a:effectLst/>
                <a:latin typeface="宋体" panose="02010600030101010101" pitchFamily="2" charset="-122"/>
              </a:rPr>
              <a:t>，根据地址转换过程，求出逻辑地址所对应的物理地址。</a:t>
            </a:r>
          </a:p>
        </p:txBody>
      </p:sp>
      <p:sp>
        <p:nvSpPr>
          <p:cNvPr id="6" name="Rectangle 2">
            <a:extLst>
              <a:ext uri="{FF2B5EF4-FFF2-40B4-BE49-F238E27FC236}">
                <a16:creationId xmlns:a16="http://schemas.microsoft.com/office/drawing/2014/main" id="{24E09635-5493-C14D-812F-1335754A4E5D}"/>
              </a:ext>
            </a:extLst>
          </p:cNvPr>
          <p:cNvSpPr txBox="1">
            <a:spLocks noChangeArrowheads="1"/>
          </p:cNvSpPr>
          <p:nvPr/>
        </p:nvSpPr>
        <p:spPr bwMode="auto">
          <a:xfrm>
            <a:off x="5500688" y="6357938"/>
            <a:ext cx="3643312" cy="500062"/>
          </a:xfrm>
          <a:prstGeom prst="rect">
            <a:avLst/>
          </a:prstGeom>
          <a:noFill/>
          <a:ln w="9525">
            <a:noFill/>
            <a:miter lim="800000"/>
            <a:headEnd/>
            <a:tailEnd/>
          </a:ln>
        </p:spPr>
        <p:txBody>
          <a:bodyPr anchor="ctr"/>
          <a:lstStyle/>
          <a:p>
            <a:pPr eaLnBrk="1" hangingPunct="1">
              <a:defRPr/>
            </a:pPr>
            <a:r>
              <a:rPr lang="en-US" sz="2800" dirty="0">
                <a:solidFill>
                  <a:srgbClr val="0000FF"/>
                </a:solidFill>
              </a:rPr>
              <a:t>14×1024+237=14573</a:t>
            </a:r>
            <a:endParaRPr lang="zh-CN" altLang="en-US" sz="2800" kern="0" dirty="0">
              <a:solidFill>
                <a:srgbClr val="0000FF"/>
              </a:solidFill>
              <a:ea typeface="宋体"/>
            </a:endParaRPr>
          </a:p>
        </p:txBody>
      </p:sp>
      <p:pic>
        <p:nvPicPr>
          <p:cNvPr id="100357" name="Picture 6">
            <a:extLst>
              <a:ext uri="{FF2B5EF4-FFF2-40B4-BE49-F238E27FC236}">
                <a16:creationId xmlns:a16="http://schemas.microsoft.com/office/drawing/2014/main" id="{AB115F03-A257-074F-8D02-7CF3671DA3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3575" y="2349500"/>
            <a:ext cx="7997825" cy="400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a:extLst>
              <a:ext uri="{FF2B5EF4-FFF2-40B4-BE49-F238E27FC236}">
                <a16:creationId xmlns:a16="http://schemas.microsoft.com/office/drawing/2014/main" id="{35E10B3D-5B4B-9C4B-AEE2-34F67F3F138E}"/>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段页式存储管理的地址转换与特点</a:t>
            </a:r>
          </a:p>
        </p:txBody>
      </p:sp>
      <p:sp>
        <p:nvSpPr>
          <p:cNvPr id="101379" name="Rectangle 3">
            <a:extLst>
              <a:ext uri="{FF2B5EF4-FFF2-40B4-BE49-F238E27FC236}">
                <a16:creationId xmlns:a16="http://schemas.microsoft.com/office/drawing/2014/main" id="{3F8867AB-8C17-074E-8231-8F1D3C1A371D}"/>
              </a:ext>
            </a:extLst>
          </p:cNvPr>
          <p:cNvSpPr>
            <a:spLocks noGrp="1" noChangeArrowheads="1"/>
          </p:cNvSpPr>
          <p:nvPr>
            <p:ph type="body" sz="half" idx="1"/>
          </p:nvPr>
        </p:nvSpPr>
        <p:spPr>
          <a:xfrm>
            <a:off x="428625" y="1285875"/>
            <a:ext cx="8358188" cy="5286375"/>
          </a:xfrm>
        </p:spPr>
        <p:txBody>
          <a:bodyPr/>
          <a:lstStyle/>
          <a:p>
            <a:pPr marL="0" indent="0" eaLnBrk="1" hangingPunct="1">
              <a:spcBef>
                <a:spcPct val="0"/>
              </a:spcBef>
              <a:buFont typeface="Wingdings" pitchFamily="2" charset="2"/>
              <a:buNone/>
            </a:pP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段页式存储管理的优缺点</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优点：</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1</a:t>
            </a:r>
            <a:r>
              <a:rPr lang="zh-CN" altLang="en-US" sz="1800">
                <a:solidFill>
                  <a:schemeClr val="tx1"/>
                </a:solidFill>
                <a:effectLst/>
                <a:latin typeface="宋体" panose="02010600030101010101" pitchFamily="2" charset="-122"/>
              </a:rPr>
              <a:t>）因为以页为单位分配内存所以无紧凑问题，也不存在外部碎片。</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2</a:t>
            </a:r>
            <a:r>
              <a:rPr lang="zh-CN" altLang="en-US" sz="1800">
                <a:solidFill>
                  <a:schemeClr val="tx1"/>
                </a:solidFill>
                <a:effectLst/>
                <a:latin typeface="宋体" panose="02010600030101010101" pitchFamily="2" charset="-122"/>
              </a:rPr>
              <a:t>）便于处理变化的数据结构，段可以动态增长。</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3</a:t>
            </a:r>
            <a:r>
              <a:rPr lang="zh-CN" altLang="en-US" sz="1800">
                <a:solidFill>
                  <a:schemeClr val="tx1"/>
                </a:solidFill>
                <a:effectLst/>
                <a:latin typeface="宋体" panose="02010600030101010101" pitchFamily="2" charset="-122"/>
              </a:rPr>
              <a:t>）便于共享，只需将程序的段表中相应表项指向该共享段在内存中的页表始址即可。</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4</a:t>
            </a:r>
            <a:r>
              <a:rPr lang="zh-CN" altLang="en-US" sz="1800">
                <a:solidFill>
                  <a:schemeClr val="tx1"/>
                </a:solidFill>
                <a:effectLst/>
                <a:latin typeface="宋体" panose="02010600030101010101" pitchFamily="2" charset="-122"/>
              </a:rPr>
              <a:t>）因具有段的特点，所以便于提供动态链接。</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5</a:t>
            </a:r>
            <a:r>
              <a:rPr lang="zh-CN" altLang="en-US" sz="1800">
                <a:solidFill>
                  <a:schemeClr val="tx1"/>
                </a:solidFill>
                <a:effectLst/>
                <a:latin typeface="宋体" panose="02010600030101010101" pitchFamily="2" charset="-122"/>
              </a:rPr>
              <a:t>）因具有段的特点，所以便于控制存取访问。</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缺点：</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1</a:t>
            </a:r>
            <a:r>
              <a:rPr lang="zh-CN" altLang="en-US" sz="1800">
                <a:solidFill>
                  <a:schemeClr val="tx1"/>
                </a:solidFill>
                <a:effectLst/>
                <a:latin typeface="宋体" panose="02010600030101010101" pitchFamily="2" charset="-122"/>
              </a:rPr>
              <a:t>）增加了硬件成本，需要更多的硬件支持。</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2</a:t>
            </a:r>
            <a:r>
              <a:rPr lang="zh-CN" altLang="en-US" sz="1800">
                <a:solidFill>
                  <a:schemeClr val="tx1"/>
                </a:solidFill>
                <a:effectLst/>
                <a:latin typeface="宋体" panose="02010600030101010101" pitchFamily="2" charset="-122"/>
              </a:rPr>
              <a:t>）增加了系统开销和软件复杂性，如地址重定位过程需多次访问内存。</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a:t>
            </a:r>
            <a:r>
              <a:rPr lang="en-US" altLang="zh-CN" sz="1800">
                <a:solidFill>
                  <a:schemeClr val="tx1"/>
                </a:solidFill>
                <a:effectLst/>
                <a:latin typeface="宋体" panose="02010600030101010101" pitchFamily="2" charset="-122"/>
              </a:rPr>
              <a:t>3</a:t>
            </a:r>
            <a:r>
              <a:rPr lang="zh-CN" altLang="en-US" sz="1800">
                <a:solidFill>
                  <a:schemeClr val="tx1"/>
                </a:solidFill>
                <a:effectLst/>
                <a:latin typeface="宋体" panose="02010600030101010101" pitchFamily="2" charset="-122"/>
              </a:rPr>
              <a:t>）空间浪费比分页管理多，程序各段的最后一页都有可能浪费一部分空间（仍然存在内部碎片），另外段表和页表所占的空间都比分页管理和分段管理多。</a:t>
            </a:r>
          </a:p>
        </p:txBody>
      </p:sp>
    </p:spTree>
  </p:cSld>
  <p:clrMapOvr>
    <a:masterClrMapping/>
  </p:clrMapOvr>
  <p:transition>
    <p:random/>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E47D7E7E-E6D8-C94E-9596-ECD7EB00A189}"/>
              </a:ext>
            </a:extLst>
          </p:cNvPr>
          <p:cNvSpPr>
            <a:spLocks noGrp="1" noChangeArrowheads="1"/>
          </p:cNvSpPr>
          <p:nvPr>
            <p:ph type="body" idx="1"/>
          </p:nvPr>
        </p:nvSpPr>
        <p:spPr>
          <a:xfrm>
            <a:off x="469900" y="1495425"/>
            <a:ext cx="8286750" cy="5373688"/>
          </a:xfrm>
        </p:spPr>
        <p:txBody>
          <a:bodyPr/>
          <a:lstStyle/>
          <a:p>
            <a:pPr marL="0" indent="0" eaLnBrk="1" hangingPunct="1">
              <a:lnSpc>
                <a:spcPts val="3800"/>
              </a:lnSpc>
              <a:spcBef>
                <a:spcPct val="0"/>
              </a:spcBef>
              <a:buFont typeface="Wingdings" pitchFamily="2" charset="2"/>
              <a:buNone/>
            </a:pPr>
            <a:r>
              <a:rPr lang="zh-CN" altLang="en-US" sz="2000">
                <a:solidFill>
                  <a:srgbClr val="FF0000"/>
                </a:solidFill>
                <a:effectLst/>
                <a:latin typeface="Times New Roman" panose="02020603050405020304" pitchFamily="18" charset="0"/>
                <a:cs typeface="Times New Roman" panose="02020603050405020304" pitchFamily="18" charset="0"/>
              </a:rPr>
              <a:t>问题的提出：</a:t>
            </a:r>
            <a:endParaRPr lang="en-US" altLang="zh-CN" sz="2000">
              <a:solidFill>
                <a:srgbClr val="FF0000"/>
              </a:solidFill>
              <a:effectLst/>
              <a:latin typeface="Times New Roman" panose="02020603050405020304" pitchFamily="18" charset="0"/>
              <a:cs typeface="Times New Roman" panose="02020603050405020304" pitchFamily="18" charset="0"/>
            </a:endParaRPr>
          </a:p>
          <a:p>
            <a:pPr marL="0" indent="0" eaLnBrk="1" hangingPunct="1">
              <a:lnSpc>
                <a:spcPts val="3800"/>
              </a:lnSpc>
              <a:spcBef>
                <a:spcPct val="0"/>
              </a:spcBef>
              <a:buFont typeface="Wingdings" pitchFamily="2" charset="2"/>
              <a:buNone/>
            </a:pPr>
            <a:r>
              <a:rPr lang="en-US" altLang="zh-CN" sz="2000">
                <a:solidFill>
                  <a:srgbClr val="FF0000"/>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前面介绍的各种存储管理方式都有一个共同的特点，即程序运行时必须先将该程序和数据一次性全部装入内存。当程序和数据的大小超出内存可用空间大小时，就无法装入内存，即该程序不能运行。此外，也存在着多个程序（进程）需要并发运行，却因内存容量不足只能装入部分程序投入运行，而未装入的其他程序只好驻留在外存等待的情况。为了解决内存不足的问题，可从物理上增加内存容量，但由于受多方面因素的制约，不可能在系统中无限制地扩大物理内存。于是就提出了这样一个问题：在一个程序（进程）未全部装入内存的情况下能否正常运行呢？由此产生了虚拟存储管理</a:t>
            </a:r>
            <a:r>
              <a:rPr lang="zh-CN" altLang="en-US" sz="1800">
                <a:solidFill>
                  <a:schemeClr val="tx1"/>
                </a:solidFill>
                <a:effectLst/>
                <a:latin typeface="宋体" panose="02010600030101010101" pitchFamily="2" charset="-122"/>
              </a:rPr>
              <a:t>。</a:t>
            </a:r>
          </a:p>
        </p:txBody>
      </p:sp>
      <p:sp>
        <p:nvSpPr>
          <p:cNvPr id="113667" name="AutoShape 3">
            <a:extLst>
              <a:ext uri="{FF2B5EF4-FFF2-40B4-BE49-F238E27FC236}">
                <a16:creationId xmlns:a16="http://schemas.microsoft.com/office/drawing/2014/main" id="{0318650D-94B9-F046-B1D6-5F56E5237A54}"/>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2A6B402D-1CC0-FF48-9A16-35B4FA1F5FED}"/>
              </a:ext>
            </a:extLst>
          </p:cNvPr>
          <p:cNvSpPr>
            <a:spLocks noGrp="1" noChangeArrowheads="1"/>
          </p:cNvSpPr>
          <p:nvPr>
            <p:ph type="body" idx="1"/>
          </p:nvPr>
        </p:nvSpPr>
        <p:spPr>
          <a:xfrm>
            <a:off x="500063" y="1412875"/>
            <a:ext cx="8286750" cy="5087938"/>
          </a:xfrm>
        </p:spPr>
        <p:txBody>
          <a:bodyPr/>
          <a:lstStyle/>
          <a:p>
            <a:pPr marL="0" indent="0" eaLnBrk="1" hangingPunct="1">
              <a:lnSpc>
                <a:spcPct val="150000"/>
              </a:lnSpc>
              <a:spcBef>
                <a:spcPct val="0"/>
              </a:spcBef>
              <a:buFont typeface="Wingdings" pitchFamily="2" charset="2"/>
              <a:buNone/>
            </a:pPr>
            <a:r>
              <a:rPr lang="zh-CN" altLang="zh-CN" sz="2000">
                <a:solidFill>
                  <a:srgbClr val="FF0000"/>
                </a:solidFill>
                <a:effectLst/>
                <a:latin typeface="Times New Roman" panose="02020603050405020304" pitchFamily="18" charset="0"/>
                <a:cs typeface="Times New Roman" panose="02020603050405020304" pitchFamily="18" charset="0"/>
              </a:rPr>
              <a:t>连续分配方式</a:t>
            </a:r>
            <a:r>
              <a:rPr lang="zh-CN" altLang="en-US" sz="2000">
                <a:solidFill>
                  <a:srgbClr val="FF0000"/>
                </a:solidFill>
                <a:effectLst/>
                <a:latin typeface="Times New Roman" panose="02020603050405020304" pitchFamily="18" charset="0"/>
                <a:cs typeface="Times New Roman" panose="02020603050405020304" pitchFamily="18" charset="0"/>
              </a:rPr>
              <a:t>存在的问题：</a:t>
            </a:r>
            <a:endParaRPr lang="en-US" altLang="zh-CN" sz="2000">
              <a:solidFill>
                <a:srgbClr val="FF0000"/>
              </a:solidFill>
              <a:effectLst/>
              <a:latin typeface="Times New Roman" panose="02020603050405020304" pitchFamily="18" charset="0"/>
              <a:cs typeface="Times New Roman" panose="02020603050405020304" pitchFamily="18" charset="0"/>
            </a:endParaRPr>
          </a:p>
          <a:p>
            <a:pPr marL="0" indent="0" eaLnBrk="1" hangingPunct="1">
              <a:lnSpc>
                <a:spcPct val="150000"/>
              </a:lnSpc>
              <a:spcBef>
                <a:spcPct val="0"/>
              </a:spcBef>
              <a:buFont typeface="Wingdings" pitchFamily="2" charset="2"/>
              <a:buNone/>
            </a:pPr>
            <a:r>
              <a:rPr lang="en-US" altLang="zh-CN" sz="1800">
                <a:solidFill>
                  <a:srgbClr val="FF0000"/>
                </a:solidFill>
                <a:effectLst/>
                <a:latin typeface="Times New Roman" panose="02020603050405020304" pitchFamily="18" charset="0"/>
                <a:cs typeface="Times New Roman" panose="02020603050405020304" pitchFamily="18" charset="0"/>
              </a:rPr>
              <a:t>        </a:t>
            </a:r>
            <a:r>
              <a:rPr lang="zh-CN" altLang="zh-CN" sz="1800">
                <a:solidFill>
                  <a:schemeClr val="tx1"/>
                </a:solidFill>
                <a:effectLst/>
                <a:latin typeface="Times New Roman" panose="02020603050405020304" pitchFamily="18" charset="0"/>
                <a:cs typeface="Times New Roman" panose="02020603050405020304" pitchFamily="18" charset="0"/>
              </a:rPr>
              <a:t>如果采用连续分配方式为进程分配内存空间，即使一个进程的程序和数据可以分多次装入内存，但是连续分配方式要求进程在内存空间中的地址必须是连续的，因此在为进程分配内存空间时，必须按其逻辑地址大小一次性为其分配足够的连续内存空间。在这种情况下，若不将整个进程的程序和数据一次性装入内存，就会造成在某一时间段为该进程分配的部分内存空间处于空闲状态，且受连续分配方式的制约，这部分空闲的内存空间又无法分配给其他进程使用，于是造成了内存资源的严重浪费，同时也不可能从逻辑上对内存容量进行扩充。基于上述理由可以得出这样一个结论：要想实现虚拟存储器，就必须采用建立在离散分配基础上的存储管理方式。</a:t>
            </a:r>
            <a:endParaRPr lang="en-US" altLang="zh-CN" sz="1800">
              <a:solidFill>
                <a:schemeClr val="tx1"/>
              </a:solidFill>
              <a:effectLst/>
              <a:latin typeface="Times New Roman" panose="02020603050405020304" pitchFamily="18" charset="0"/>
              <a:cs typeface="Times New Roman" panose="02020603050405020304" pitchFamily="18" charset="0"/>
            </a:endParaRPr>
          </a:p>
          <a:p>
            <a:pPr marL="0" indent="0" eaLnBrk="1" hangingPunct="1">
              <a:lnSpc>
                <a:spcPct val="150000"/>
              </a:lnSpc>
              <a:spcBef>
                <a:spcPct val="0"/>
              </a:spcBef>
              <a:buFont typeface="Wingdings" pitchFamily="2" charset="2"/>
              <a:buNone/>
            </a:pPr>
            <a:r>
              <a:rPr lang="en-US" altLang="zh-CN" sz="1800">
                <a:solidFill>
                  <a:srgbClr val="000000"/>
                </a:solidFill>
                <a:effectLst/>
                <a:latin typeface="Times New Roman" panose="02020603050405020304" pitchFamily="18" charset="0"/>
                <a:cs typeface="Times New Roman" panose="02020603050405020304" pitchFamily="18" charset="0"/>
              </a:rPr>
              <a:t>         </a:t>
            </a:r>
            <a:r>
              <a:rPr lang="zh-CN" altLang="zh-CN" sz="1800">
                <a:solidFill>
                  <a:srgbClr val="000000"/>
                </a:solidFill>
                <a:effectLst/>
                <a:latin typeface="Times New Roman" panose="02020603050405020304" pitchFamily="18" charset="0"/>
                <a:cs typeface="Times New Roman" panose="02020603050405020304" pitchFamily="18" charset="0"/>
              </a:rPr>
              <a:t>虚拟存储器是指内存采取离散方式分配，自动实现进程在内外存之间的部分装入和部分对换，仅将进程的一部分程序和数据装入内存即可运行的存储器。</a:t>
            </a:r>
            <a:endParaRPr lang="zh-CN" altLang="en-US" sz="1800">
              <a:solidFill>
                <a:schemeClr val="tx1"/>
              </a:solidFill>
              <a:effectLst/>
              <a:latin typeface="宋体" panose="02010600030101010101" pitchFamily="2" charset="-122"/>
            </a:endParaRPr>
          </a:p>
        </p:txBody>
      </p:sp>
      <p:sp>
        <p:nvSpPr>
          <p:cNvPr id="113667" name="AutoShape 3">
            <a:extLst>
              <a:ext uri="{FF2B5EF4-FFF2-40B4-BE49-F238E27FC236}">
                <a16:creationId xmlns:a16="http://schemas.microsoft.com/office/drawing/2014/main" id="{A707CF24-FCED-B74A-BB1B-5703AE5125B6}"/>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5A5A4106-D283-AC4B-85AD-38C381DF0CC7}"/>
              </a:ext>
            </a:extLst>
          </p:cNvPr>
          <p:cNvSpPr>
            <a:spLocks noGrp="1" noChangeArrowheads="1"/>
          </p:cNvSpPr>
          <p:nvPr>
            <p:ph type="body" idx="1"/>
          </p:nvPr>
        </p:nvSpPr>
        <p:spPr>
          <a:xfrm>
            <a:off x="500063" y="1127125"/>
            <a:ext cx="8286750" cy="5373688"/>
          </a:xfrm>
        </p:spPr>
        <p:txBody>
          <a:bodyPr/>
          <a:lstStyle/>
          <a:p>
            <a:pPr marL="0" indent="0" eaLnBrk="1" hangingPunct="1">
              <a:lnSpc>
                <a:spcPct val="150000"/>
              </a:lnSpc>
              <a:spcBef>
                <a:spcPct val="0"/>
              </a:spcBef>
              <a:buFont typeface="Wingdings" pitchFamily="2" charset="2"/>
              <a:buNone/>
            </a:pPr>
            <a:r>
              <a:rPr lang="en-US" altLang="zh-CN">
                <a:solidFill>
                  <a:srgbClr val="FF0000"/>
                </a:solidFill>
                <a:effectLst>
                  <a:outerShdw blurRad="38100" dist="38100" dir="2700000" algn="tl">
                    <a:srgbClr val="FFFFFF"/>
                  </a:outerShdw>
                </a:effectLst>
              </a:rPr>
              <a:t>4.7.1  </a:t>
            </a:r>
            <a:r>
              <a:rPr lang="zh-CN" altLang="en-US">
                <a:solidFill>
                  <a:srgbClr val="FF0000"/>
                </a:solidFill>
                <a:effectLst>
                  <a:outerShdw blurRad="38100" dist="38100" dir="2700000" algn="tl">
                    <a:srgbClr val="FFFFFF"/>
                  </a:outerShdw>
                </a:effectLst>
              </a:rPr>
              <a:t>虚拟存储器的概念</a:t>
            </a:r>
            <a:endParaRPr lang="en-US" altLang="zh-CN">
              <a:solidFill>
                <a:srgbClr val="FF0000"/>
              </a:solidFill>
              <a:effectLst>
                <a:outerShdw blurRad="38100" dist="38100" dir="2700000" algn="tl">
                  <a:srgbClr val="FFFFFF"/>
                </a:outerShdw>
              </a:effectLst>
            </a:endParaRP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一次性</a:t>
            </a:r>
            <a:r>
              <a:rPr lang="zh-CN" altLang="en-US" sz="1800">
                <a:solidFill>
                  <a:schemeClr val="tx1"/>
                </a:solidFill>
                <a:effectLst/>
                <a:latin typeface="宋体" panose="02010600030101010101" pitchFamily="2" charset="-122"/>
              </a:rPr>
              <a:t>：指进程在执行前必须将它所有的程序和数据全部装入内存。</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驻留性</a:t>
            </a:r>
            <a:r>
              <a:rPr lang="zh-CN" altLang="en-US" sz="1800">
                <a:solidFill>
                  <a:schemeClr val="tx1"/>
                </a:solidFill>
                <a:effectLst/>
                <a:latin typeface="宋体" panose="02010600030101010101" pitchFamily="2" charset="-122"/>
              </a:rPr>
              <a:t>：指程序和数据一旦装入内存后就一直在内存中存放，直到进程运行结束。</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时间局部性</a:t>
            </a:r>
            <a:r>
              <a:rPr lang="zh-CN" altLang="en-US" sz="1800">
                <a:solidFill>
                  <a:schemeClr val="tx1"/>
                </a:solidFill>
                <a:effectLst/>
                <a:latin typeface="宋体" panose="02010600030101010101" pitchFamily="2" charset="-122"/>
              </a:rPr>
              <a:t>：如果程序中某条指令一旦执行，则不久的将来该指令可能会再次执行；如果某个存储单元被访问，则不久以后该存储单元可能再次被访问。产生时间局部性的典型原因是在程序中存在着大量的循环操作。</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空间局部性</a:t>
            </a:r>
            <a:r>
              <a:rPr lang="zh-CN" altLang="en-US" sz="1800">
                <a:solidFill>
                  <a:schemeClr val="tx1"/>
                </a:solidFill>
                <a:effectLst/>
                <a:latin typeface="宋体" panose="02010600030101010101" pitchFamily="2" charset="-122"/>
              </a:rPr>
              <a:t>：一旦程序访问了某个存储单元，则在不久的将来，与该存储单元邻近的那些存储单元也最有可能被访问；即程序在一段时间内所访问的地址可能集中在一定的范围内。</a:t>
            </a:r>
          </a:p>
          <a:p>
            <a:pPr marL="0" indent="0" eaLnBrk="1" hangingPunct="1">
              <a:lnSpc>
                <a:spcPct val="150000"/>
              </a:lnSpc>
              <a:spcBef>
                <a:spcPct val="0"/>
              </a:spcBef>
              <a:buFont typeface="Wingdings" pitchFamily="2" charset="2"/>
              <a:buNone/>
            </a:pPr>
            <a:r>
              <a:rPr lang="zh-CN" altLang="en-US" sz="1800">
                <a:solidFill>
                  <a:srgbClr val="FF0000"/>
                </a:solidFill>
                <a:effectLst/>
                <a:latin typeface="宋体" panose="02010600030101010101" pitchFamily="2" charset="-122"/>
              </a:rPr>
              <a:t>虚拟存储器</a:t>
            </a:r>
            <a:r>
              <a:rPr lang="zh-CN" altLang="en-US" sz="1800">
                <a:solidFill>
                  <a:schemeClr val="tx1"/>
                </a:solidFill>
                <a:effectLst/>
                <a:latin typeface="宋体" panose="02010600030101010101" pitchFamily="2" charset="-122"/>
              </a:rPr>
              <a:t>：具有自动实现部分装入和部分对换的功能，仅将进程的一部分装入内存即可运行；从逻辑上讲，是对内存容量进行扩充的一种虚拟的存储器系统。</a:t>
            </a:r>
          </a:p>
          <a:p>
            <a:pPr marL="0" indent="0" eaLnBrk="1" hangingPunct="1">
              <a:lnSpc>
                <a:spcPct val="150000"/>
              </a:lnSpc>
              <a:spcBef>
                <a:spcPct val="0"/>
              </a:spcBef>
              <a:buFont typeface="Wingdings" pitchFamily="2" charset="2"/>
              <a:buNone/>
            </a:pPr>
            <a:r>
              <a:rPr lang="zh-CN" altLang="en-US" sz="1800">
                <a:solidFill>
                  <a:schemeClr val="tx1"/>
                </a:solidFill>
                <a:effectLst/>
                <a:latin typeface="宋体" panose="02010600030101010101" pitchFamily="2" charset="-122"/>
              </a:rPr>
              <a:t>虚拟存储器的逻辑容量由内存和外存容量之和决定，其运行速度接近于内存速度，而存储信息的成本接近于外存。</a:t>
            </a:r>
          </a:p>
        </p:txBody>
      </p:sp>
      <p:sp>
        <p:nvSpPr>
          <p:cNvPr id="113667" name="AutoShape 3">
            <a:extLst>
              <a:ext uri="{FF2B5EF4-FFF2-40B4-BE49-F238E27FC236}">
                <a16:creationId xmlns:a16="http://schemas.microsoft.com/office/drawing/2014/main" id="{8BF7B6F2-B5F9-5340-854F-095C5D83F285}"/>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a:extLst>
              <a:ext uri="{FF2B5EF4-FFF2-40B4-BE49-F238E27FC236}">
                <a16:creationId xmlns:a16="http://schemas.microsoft.com/office/drawing/2014/main" id="{695469AB-D02A-154E-B8C0-4A3677F0267B}"/>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虚拟存储器的概念</a:t>
            </a:r>
          </a:p>
        </p:txBody>
      </p:sp>
      <p:sp>
        <p:nvSpPr>
          <p:cNvPr id="93187" name="Rectangle 3">
            <a:extLst>
              <a:ext uri="{FF2B5EF4-FFF2-40B4-BE49-F238E27FC236}">
                <a16:creationId xmlns:a16="http://schemas.microsoft.com/office/drawing/2014/main" id="{01346F3C-35C5-0A4A-B607-205CDC7A416E}"/>
              </a:ext>
            </a:extLst>
          </p:cNvPr>
          <p:cNvSpPr>
            <a:spLocks noGrp="1" noChangeArrowheads="1"/>
          </p:cNvSpPr>
          <p:nvPr>
            <p:ph type="body" sz="half" idx="1"/>
          </p:nvPr>
        </p:nvSpPr>
        <p:spPr>
          <a:xfrm>
            <a:off x="611188" y="1285875"/>
            <a:ext cx="7993062" cy="5214938"/>
          </a:xfrm>
        </p:spPr>
        <p:txBody>
          <a:bodyPr/>
          <a:lstStyle/>
          <a:p>
            <a:pPr marL="0" indent="0" eaLnBrk="1" hangingPunct="1">
              <a:lnSpc>
                <a:spcPts val="4200"/>
              </a:lnSpc>
              <a:buFont typeface="Wingdings" pitchFamily="2" charset="2"/>
              <a:buNone/>
            </a:pPr>
            <a:r>
              <a:rPr lang="zh-CN" altLang="en-US">
                <a:solidFill>
                  <a:srgbClr val="FF0000"/>
                </a:solidFill>
                <a:effectLst/>
                <a:latin typeface="宋体" panose="02010600030101010101" pitchFamily="2" charset="-122"/>
              </a:rPr>
              <a:t>实现虚拟存储器应具备的条件：</a:t>
            </a:r>
          </a:p>
          <a:p>
            <a:pPr marL="0" indent="0" eaLnBrk="1" hangingPunct="1">
              <a:lnSpc>
                <a:spcPts val="4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）能够完成虚拟地址到物理地址的转换。</a:t>
            </a:r>
            <a:r>
              <a:rPr lang="zh-CN" altLang="en-US" sz="2000">
                <a:solidFill>
                  <a:schemeClr val="tx1"/>
                </a:solidFill>
                <a:effectLst>
                  <a:outerShdw blurRad="38100" dist="38100" dir="2700000" algn="tl">
                    <a:srgbClr val="FFFFFF"/>
                  </a:outerShdw>
                </a:effectLst>
              </a:rPr>
              <a:t>为了实现虚拟存储器，就必须完成虚拟地址到内存物理地址的重定位。</a:t>
            </a:r>
            <a:endParaRPr lang="zh-CN" altLang="en-US" sz="2000">
              <a:solidFill>
                <a:schemeClr val="tx1"/>
              </a:solidFill>
              <a:effectLst/>
              <a:latin typeface="宋体" panose="02010600030101010101" pitchFamily="2" charset="-122"/>
            </a:endParaRPr>
          </a:p>
          <a:p>
            <a:pPr marL="0" indent="0" eaLnBrk="1" hangingPunct="1">
              <a:lnSpc>
                <a:spcPts val="4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）实际内存空间。</a:t>
            </a:r>
            <a:r>
              <a:rPr lang="zh-CN" altLang="en-US" sz="2000">
                <a:solidFill>
                  <a:schemeClr val="tx1"/>
                </a:solidFill>
                <a:effectLst>
                  <a:outerShdw blurRad="38100" dist="38100" dir="2700000" algn="tl">
                    <a:srgbClr val="FFFFFF"/>
                  </a:outerShdw>
                </a:effectLst>
              </a:rPr>
              <a:t>内存空间是构成虚拟存储空间的基础。所以内存空间越大所构成的虚拟存储器的运行速度也就越快。</a:t>
            </a:r>
            <a:endParaRPr lang="zh-CN" altLang="en-US" sz="2000">
              <a:solidFill>
                <a:schemeClr val="tx1"/>
              </a:solidFill>
              <a:effectLst/>
              <a:latin typeface="宋体" panose="02010600030101010101" pitchFamily="2" charset="-122"/>
            </a:endParaRPr>
          </a:p>
          <a:p>
            <a:pPr marL="0" indent="0" eaLnBrk="1" hangingPunct="1">
              <a:lnSpc>
                <a:spcPts val="4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）外存交换区。</a:t>
            </a:r>
            <a:r>
              <a:rPr lang="zh-CN" altLang="en-US" sz="2000">
                <a:solidFill>
                  <a:schemeClr val="tx1"/>
                </a:solidFill>
                <a:effectLst>
                  <a:outerShdw blurRad="38100" dist="38100" dir="2700000" algn="tl">
                    <a:srgbClr val="FFFFFF"/>
                  </a:outerShdw>
                </a:effectLst>
              </a:rPr>
              <a:t>在内、外存之间交换的程序和数据</a:t>
            </a:r>
            <a:r>
              <a:rPr lang="en-US" altLang="zh-CN" sz="2000">
                <a:solidFill>
                  <a:schemeClr val="tx1"/>
                </a:solidFill>
                <a:effectLst>
                  <a:outerShdw blurRad="38100" dist="38100" dir="2700000" algn="tl">
                    <a:srgbClr val="FFFFFF"/>
                  </a:outerShdw>
                </a:effectLst>
              </a:rPr>
              <a:t>,</a:t>
            </a:r>
            <a:r>
              <a:rPr lang="zh-CN" altLang="en-US" sz="2000">
                <a:solidFill>
                  <a:schemeClr val="tx1"/>
                </a:solidFill>
                <a:effectLst>
                  <a:outerShdw blurRad="38100" dist="38100" dir="2700000" algn="tl">
                    <a:srgbClr val="FFFFFF"/>
                  </a:outerShdw>
                </a:effectLst>
              </a:rPr>
              <a:t>实现从逻辑上扩大内存空间</a:t>
            </a:r>
            <a:r>
              <a:rPr lang="en-US" altLang="zh-CN" sz="2000">
                <a:solidFill>
                  <a:schemeClr val="tx1"/>
                </a:solidFill>
                <a:effectLst>
                  <a:outerShdw blurRad="38100" dist="38100" dir="2700000" algn="tl">
                    <a:srgbClr val="FFFFFF"/>
                  </a:outerShdw>
                </a:effectLst>
              </a:rPr>
              <a:t>.</a:t>
            </a:r>
            <a:endParaRPr lang="zh-CN" altLang="en-US" sz="2000">
              <a:solidFill>
                <a:schemeClr val="tx1"/>
              </a:solidFill>
              <a:effectLst/>
              <a:latin typeface="宋体" panose="02010600030101010101" pitchFamily="2" charset="-122"/>
            </a:endParaRPr>
          </a:p>
          <a:p>
            <a:pPr marL="0" indent="0" eaLnBrk="1" hangingPunct="1">
              <a:lnSpc>
                <a:spcPts val="4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）换进、换出机制。</a:t>
            </a:r>
            <a:r>
              <a:rPr lang="zh-CN" altLang="en-US" sz="2000">
                <a:solidFill>
                  <a:schemeClr val="tx1"/>
                </a:solidFill>
                <a:effectLst>
                  <a:outerShdw blurRad="38100" dist="38100" dir="2700000" algn="tl">
                    <a:srgbClr val="FFFFFF"/>
                  </a:outerShdw>
                </a:effectLst>
              </a:rPr>
              <a:t>表现为中断请求机构、淘汰算法及换入、换出软件。</a:t>
            </a:r>
            <a:endParaRPr lang="zh-CN" altLang="en-US" sz="20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a:extLst>
              <a:ext uri="{FF2B5EF4-FFF2-40B4-BE49-F238E27FC236}">
                <a16:creationId xmlns:a16="http://schemas.microsoft.com/office/drawing/2014/main" id="{9CC6C0E2-EB7B-254B-9FA1-DFC61E4FC50C}"/>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虚拟存储器的概念</a:t>
            </a:r>
          </a:p>
        </p:txBody>
      </p:sp>
      <p:sp>
        <p:nvSpPr>
          <p:cNvPr id="93187" name="Rectangle 3">
            <a:extLst>
              <a:ext uri="{FF2B5EF4-FFF2-40B4-BE49-F238E27FC236}">
                <a16:creationId xmlns:a16="http://schemas.microsoft.com/office/drawing/2014/main" id="{A051F64F-B8E4-0245-A879-798785E232F3}"/>
              </a:ext>
            </a:extLst>
          </p:cNvPr>
          <p:cNvSpPr>
            <a:spLocks noGrp="1" noChangeArrowheads="1"/>
          </p:cNvSpPr>
          <p:nvPr>
            <p:ph type="body" sz="half" idx="1"/>
          </p:nvPr>
        </p:nvSpPr>
        <p:spPr>
          <a:xfrm>
            <a:off x="357188" y="1285875"/>
            <a:ext cx="8501062" cy="5214938"/>
          </a:xfrm>
        </p:spPr>
        <p:txBody>
          <a:bodyPr/>
          <a:lstStyle/>
          <a:p>
            <a:pPr marL="0" indent="0" eaLnBrk="1" hangingPunct="1">
              <a:lnSpc>
                <a:spcPct val="150000"/>
              </a:lnSpc>
              <a:buFont typeface="Wingdings" pitchFamily="2" charset="2"/>
              <a:buNone/>
            </a:pPr>
            <a:r>
              <a:rPr lang="zh-CN" altLang="en-US" sz="2200">
                <a:solidFill>
                  <a:srgbClr val="FF0000"/>
                </a:solidFill>
                <a:effectLst/>
                <a:latin typeface="宋体" panose="02010600030101010101" pitchFamily="2" charset="-122"/>
              </a:rPr>
              <a:t> 虚拟存储器的特征：</a:t>
            </a:r>
          </a:p>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）离散性：</a:t>
            </a:r>
            <a:r>
              <a:rPr lang="zh-CN" altLang="en-US" sz="2000">
                <a:solidFill>
                  <a:schemeClr val="tx1"/>
                </a:solidFill>
                <a:effectLst>
                  <a:outerShdw blurRad="38100" dist="38100" dir="2700000" algn="tl">
                    <a:srgbClr val="FFFFFF"/>
                  </a:outerShdw>
                </a:effectLst>
              </a:rPr>
              <a:t>在内存分配时，采用离散分配方式，它是虚拟存储器最本质的特征。</a:t>
            </a:r>
            <a:endParaRPr lang="zh-CN" altLang="en-US" sz="20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）多次性：</a:t>
            </a:r>
            <a:r>
              <a:rPr lang="zh-CN" altLang="en-US" sz="2000">
                <a:solidFill>
                  <a:schemeClr val="tx1"/>
                </a:solidFill>
                <a:effectLst>
                  <a:outerShdw blurRad="38100" dist="38100" dir="2700000" algn="tl">
                    <a:srgbClr val="FFFFFF"/>
                  </a:outerShdw>
                </a:effectLst>
              </a:rPr>
              <a:t>一个进程运行时，只装入一部分程序和数据到内存，在运行过程中再根据需要逐次装入其余的程序和数据。多次性是虚拟存储器最重要的特征。</a:t>
            </a:r>
            <a:endParaRPr lang="zh-CN" altLang="en-US" sz="20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）对换性：</a:t>
            </a:r>
            <a:r>
              <a:rPr lang="zh-CN" altLang="en-US" sz="2000">
                <a:solidFill>
                  <a:schemeClr val="tx1"/>
                </a:solidFill>
                <a:effectLst>
                  <a:outerShdw blurRad="38100" dist="38100" dir="2700000" algn="tl">
                    <a:srgbClr val="FFFFFF"/>
                  </a:outerShdw>
                </a:effectLst>
              </a:rPr>
              <a:t>允许在进程运行过程中，将那些暂时不用的程序和数据，由内存调出至外存的交换区以腾出内存空间，当需要时，再由外存调入内存。</a:t>
            </a:r>
          </a:p>
          <a:p>
            <a:pPr marL="0" indent="0" eaLnBrk="1" hangingPunct="1">
              <a:lnSpc>
                <a:spcPct val="1500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）虚拟性：</a:t>
            </a:r>
            <a:r>
              <a:rPr lang="zh-CN" altLang="en-US" sz="2000">
                <a:solidFill>
                  <a:schemeClr val="tx1"/>
                </a:solidFill>
                <a:effectLst>
                  <a:outerShdw blurRad="38100" dist="38100" dir="2700000" algn="tl">
                    <a:srgbClr val="FFFFFF"/>
                  </a:outerShdw>
                </a:effectLst>
              </a:rPr>
              <a:t>从逻辑上扩充了内存的容量，使用户能够使用比实际物理内存更大的逻辑地址空间，但它并非真实存在。</a:t>
            </a:r>
            <a:endParaRPr lang="zh-CN" altLang="en-US" sz="20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a:extLst>
              <a:ext uri="{FF2B5EF4-FFF2-40B4-BE49-F238E27FC236}">
                <a16:creationId xmlns:a16="http://schemas.microsoft.com/office/drawing/2014/main" id="{A95A31D5-C99D-1342-A37B-1A67A1898826}"/>
              </a:ext>
            </a:extLst>
          </p:cNvPr>
          <p:cNvSpPr>
            <a:spLocks noGrp="1" noChangeArrowheads="1"/>
          </p:cNvSpPr>
          <p:nvPr>
            <p:ph type="body" idx="1"/>
          </p:nvPr>
        </p:nvSpPr>
        <p:spPr>
          <a:xfrm>
            <a:off x="323850" y="1289050"/>
            <a:ext cx="8640763" cy="5087938"/>
          </a:xfrm>
        </p:spPr>
        <p:txBody>
          <a:bodyPr/>
          <a:lstStyle/>
          <a:p>
            <a:pPr>
              <a:lnSpc>
                <a:spcPts val="3000"/>
              </a:lnSpc>
              <a:buFont typeface="Wingdings" pitchFamily="2" charset="2"/>
              <a:buNone/>
            </a:pPr>
            <a:r>
              <a:rPr lang="en-US" altLang="zh-CN" sz="2000">
                <a:solidFill>
                  <a:srgbClr val="FF0000"/>
                </a:solidFill>
                <a:effectLst>
                  <a:outerShdw blurRad="38100" dist="38100" dir="2700000" algn="tl">
                    <a:srgbClr val="FFFFFF"/>
                  </a:outerShdw>
                </a:effectLst>
              </a:rPr>
              <a:t>4.7.2  </a:t>
            </a:r>
            <a:r>
              <a:rPr lang="zh-CN" altLang="en-US" sz="2000">
                <a:solidFill>
                  <a:srgbClr val="FF0000"/>
                </a:solidFill>
                <a:effectLst>
                  <a:outerShdw blurRad="38100" dist="38100" dir="2700000" algn="tl">
                    <a:srgbClr val="FFFFFF"/>
                  </a:outerShdw>
                </a:effectLst>
              </a:rPr>
              <a:t>请求分页存储管理</a:t>
            </a:r>
          </a:p>
          <a:p>
            <a:pPr eaLnBrk="1" hangingPunct="1">
              <a:lnSpc>
                <a:spcPts val="3000"/>
              </a:lnSpc>
              <a:spcBef>
                <a:spcPct val="35000"/>
              </a:spcBef>
              <a:buFont typeface="Wingdings" pitchFamily="2" charset="2"/>
              <a:buNone/>
            </a:pPr>
            <a:r>
              <a:rPr lang="en-US" altLang="zh-CN" sz="2000">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请求分页存储管理是在分页存储管理的基础上，增加了请求调页功能和页置换功能所形成的页式虚拟存储管理。这样，就无须将一个进程的所有页（全部程序和数据）装入内存就可以运行，当需要不在内存中的页时，再通过请求调页功能将需要的页调入内存，从而可以在内存中装入更多的进程并发执行，提高系统的效率和内存的使用率。</a:t>
            </a:r>
            <a:endParaRPr lang="en-US" altLang="zh-CN" sz="2000">
              <a:solidFill>
                <a:schemeClr val="tx1"/>
              </a:solidFill>
              <a:effectLst/>
              <a:latin typeface="Times New Roman" panose="02020603050405020304" pitchFamily="18" charset="0"/>
              <a:cs typeface="Times New Roman" panose="02020603050405020304" pitchFamily="18" charset="0"/>
            </a:endParaRPr>
          </a:p>
          <a:p>
            <a:pPr eaLnBrk="1" hangingPunct="1">
              <a:lnSpc>
                <a:spcPts val="3000"/>
              </a:lnSpc>
              <a:spcBef>
                <a:spcPct val="35000"/>
              </a:spcBef>
              <a:buFont typeface="Wingdings" pitchFamily="2" charset="2"/>
              <a:buNone/>
            </a:pPr>
            <a:r>
              <a:rPr lang="en-US" altLang="zh-CN" sz="2000">
                <a:solidFill>
                  <a:srgbClr val="FF0000"/>
                </a:solidFill>
                <a:effectLst/>
                <a:latin typeface="宋体" panose="02010600030101010101" pitchFamily="2" charset="-122"/>
              </a:rPr>
              <a:t>1. </a:t>
            </a:r>
            <a:r>
              <a:rPr lang="zh-CN" altLang="en-US" sz="2000">
                <a:solidFill>
                  <a:srgbClr val="FF0000"/>
                </a:solidFill>
                <a:effectLst/>
                <a:latin typeface="宋体" panose="02010600030101010101" pitchFamily="2" charset="-122"/>
              </a:rPr>
              <a:t>请求分页存储管理中的页表机制</a:t>
            </a:r>
          </a:p>
          <a:p>
            <a:pPr eaLnBrk="1" hangingPunct="1">
              <a:lnSpc>
                <a:spcPts val="3000"/>
              </a:lnSpc>
              <a:spcBef>
                <a:spcPct val="35000"/>
              </a:spcBef>
              <a:buFont typeface="Wingdings" pitchFamily="2" charset="2"/>
              <a:buNone/>
            </a:pPr>
            <a:r>
              <a:rPr lang="zh-CN" altLang="en-US" sz="2000">
                <a:solidFill>
                  <a:schemeClr val="tx1"/>
                </a:solidFill>
                <a:effectLst/>
                <a:latin typeface="宋体" panose="02010600030101010101" pitchFamily="2" charset="-122"/>
              </a:rPr>
              <a:t>    请求分页存储管理把程序划分为大小相等的若干页，称为</a:t>
            </a:r>
            <a:r>
              <a:rPr lang="zh-CN" altLang="en-US" sz="2000">
                <a:solidFill>
                  <a:srgbClr val="FF0000"/>
                </a:solidFill>
                <a:effectLst/>
                <a:latin typeface="宋体" panose="02010600030101010101" pitchFamily="2" charset="-122"/>
              </a:rPr>
              <a:t>虚页</a:t>
            </a:r>
            <a:r>
              <a:rPr lang="zh-CN" altLang="en-US" sz="2000">
                <a:solidFill>
                  <a:schemeClr val="tx1"/>
                </a:solidFill>
                <a:effectLst/>
                <a:latin typeface="宋体" panose="02010600030101010101" pitchFamily="2" charset="-122"/>
              </a:rPr>
              <a:t>；</a:t>
            </a:r>
          </a:p>
          <a:p>
            <a:pPr eaLnBrk="1" hangingPunct="1">
              <a:lnSpc>
                <a:spcPts val="3000"/>
              </a:lnSpc>
              <a:spcBef>
                <a:spcPct val="35000"/>
              </a:spcBef>
              <a:buFont typeface="Wingdings" pitchFamily="2" charset="2"/>
              <a:buNone/>
            </a:pPr>
            <a:r>
              <a:rPr lang="zh-CN" altLang="en-US" sz="2000">
                <a:solidFill>
                  <a:schemeClr val="tx1"/>
                </a:solidFill>
                <a:effectLst/>
                <a:latin typeface="宋体" panose="02010600030101010101" pitchFamily="2" charset="-122"/>
              </a:rPr>
              <a:t>    把内存划分成与页大小相同的若干块，称为</a:t>
            </a:r>
            <a:r>
              <a:rPr lang="zh-CN" altLang="en-US" sz="2000">
                <a:solidFill>
                  <a:srgbClr val="FF0000"/>
                </a:solidFill>
                <a:effectLst/>
                <a:latin typeface="宋体" panose="02010600030101010101" pitchFamily="2" charset="-122"/>
              </a:rPr>
              <a:t>实块</a:t>
            </a:r>
            <a:r>
              <a:rPr lang="zh-CN" altLang="en-US" sz="2000">
                <a:solidFill>
                  <a:schemeClr val="tx1"/>
                </a:solidFill>
                <a:effectLst/>
                <a:latin typeface="宋体" panose="02010600030101010101" pitchFamily="2" charset="-122"/>
              </a:rPr>
              <a:t>（物理块）。</a:t>
            </a:r>
            <a:endParaRPr lang="en-US" altLang="zh-CN" sz="2000">
              <a:solidFill>
                <a:schemeClr val="tx1"/>
              </a:solidFill>
              <a:effectLst/>
              <a:latin typeface="宋体" panose="02010600030101010101" pitchFamily="2" charset="-122"/>
            </a:endParaRPr>
          </a:p>
          <a:p>
            <a:pPr eaLnBrk="1" hangingPunct="1">
              <a:lnSpc>
                <a:spcPts val="3000"/>
              </a:lnSpc>
              <a:spcBef>
                <a:spcPct val="35000"/>
              </a:spcBef>
              <a:buFont typeface="Wingdings" pitchFamily="2" charset="2"/>
              <a:buNone/>
            </a:pPr>
            <a:r>
              <a:rPr lang="zh-CN" altLang="en-US" sz="2000">
                <a:solidFill>
                  <a:schemeClr val="tx1"/>
                </a:solidFill>
                <a:effectLst>
                  <a:outerShdw blurRad="38100" dist="38100" dir="2700000" algn="tl">
                    <a:srgbClr val="FFFFFF"/>
                  </a:outerShdw>
                </a:effectLst>
              </a:rPr>
              <a:t>      在进程（程序）的页表中增加一些相关的字段，来实现对页调入调出的管理：</a:t>
            </a:r>
            <a:endParaRPr lang="en-US" altLang="zh-CN" sz="2000">
              <a:solidFill>
                <a:schemeClr val="tx1"/>
              </a:solidFill>
              <a:effectLst/>
              <a:latin typeface="宋体" panose="02010600030101010101" pitchFamily="2" charset="-122"/>
            </a:endParaRPr>
          </a:p>
          <a:p>
            <a:pPr eaLnBrk="1" hangingPunct="1">
              <a:lnSpc>
                <a:spcPct val="150000"/>
              </a:lnSpc>
              <a:spcBef>
                <a:spcPct val="35000"/>
              </a:spcBef>
              <a:buFont typeface="Wingdings" pitchFamily="2" charset="2"/>
              <a:buNone/>
            </a:pPr>
            <a:endParaRPr lang="zh-CN" altLang="en-US">
              <a:solidFill>
                <a:schemeClr val="tx1"/>
              </a:solidFill>
              <a:effectLst/>
              <a:latin typeface="宋体" panose="02010600030101010101" pitchFamily="2" charset="-122"/>
            </a:endParaRPr>
          </a:p>
        </p:txBody>
      </p:sp>
      <p:sp>
        <p:nvSpPr>
          <p:cNvPr id="115715" name="AutoShape 3">
            <a:extLst>
              <a:ext uri="{FF2B5EF4-FFF2-40B4-BE49-F238E27FC236}">
                <a16:creationId xmlns:a16="http://schemas.microsoft.com/office/drawing/2014/main" id="{EC7709A5-B42F-2D45-8D1C-7A5DCBC6AC90}"/>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pic>
        <p:nvPicPr>
          <p:cNvPr id="107524" name="Picture 4" descr="4-36">
            <a:extLst>
              <a:ext uri="{FF2B5EF4-FFF2-40B4-BE49-F238E27FC236}">
                <a16:creationId xmlns:a16="http://schemas.microsoft.com/office/drawing/2014/main" id="{CE7F0926-3E24-824B-8152-E53731841C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6363" y="5911850"/>
            <a:ext cx="7443787" cy="43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0FA38528-D93A-7E40-B61F-0C76830D781C}"/>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5235" name="Rectangle 3">
            <a:extLst>
              <a:ext uri="{FF2B5EF4-FFF2-40B4-BE49-F238E27FC236}">
                <a16:creationId xmlns:a16="http://schemas.microsoft.com/office/drawing/2014/main" id="{9BDD0D51-C956-CD44-A665-03C97FF0BF12}"/>
              </a:ext>
            </a:extLst>
          </p:cNvPr>
          <p:cNvSpPr>
            <a:spLocks noGrp="1" noChangeArrowheads="1"/>
          </p:cNvSpPr>
          <p:nvPr>
            <p:ph type="body" sz="half" idx="1"/>
          </p:nvPr>
        </p:nvSpPr>
        <p:spPr>
          <a:xfrm>
            <a:off x="428625" y="1143000"/>
            <a:ext cx="8215313" cy="4824413"/>
          </a:xfrm>
        </p:spPr>
        <p:txBody>
          <a:bodyPr/>
          <a:lstStyle/>
          <a:p>
            <a:pPr marL="0" indent="0" algn="just" eaLnBrk="1" hangingPunct="1">
              <a:lnSpc>
                <a:spcPct val="150000"/>
              </a:lnSpc>
              <a:spcBef>
                <a:spcPct val="0"/>
              </a:spcBef>
              <a:buFont typeface="Wingdings" pitchFamily="2" charset="2"/>
              <a:buNone/>
            </a:pP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缺页中断机构</a:t>
            </a: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在请求分页存储管理中，当中断位反映出进程当前欲访问的页不在内存时（</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表示该页在内存，</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表示该页不在内存），就产生一次缺页中断。系统收到缺页中断信号后就立即执行相应的缺页中断处理程序。</a:t>
            </a:r>
          </a:p>
          <a:p>
            <a:pPr marL="0" indent="0" algn="just" eaLnBrk="1" hangingPunct="1">
              <a:lnSpc>
                <a:spcPct val="150000"/>
              </a:lnSpc>
              <a:spcBef>
                <a:spcPct val="0"/>
              </a:spcBef>
              <a:buFont typeface="Wingdings" pitchFamily="2" charset="2"/>
              <a:buNone/>
            </a:pPr>
            <a:r>
              <a:rPr lang="zh-CN" altLang="en-US" sz="2000">
                <a:solidFill>
                  <a:srgbClr val="FF0000"/>
                </a:solidFill>
                <a:effectLst>
                  <a:outerShdw blurRad="38100" dist="38100" dir="2700000" algn="tl">
                    <a:srgbClr val="FFFFFF"/>
                  </a:outerShdw>
                </a:effectLst>
              </a:rPr>
              <a:t>特点：</a:t>
            </a:r>
            <a:r>
              <a:rPr lang="zh-CN" altLang="en-US" sz="2000">
                <a:solidFill>
                  <a:schemeClr val="tx1"/>
                </a:solidFill>
                <a:effectLst>
                  <a:outerShdw blurRad="38100" dist="38100" dir="2700000" algn="tl">
                    <a:srgbClr val="FFFFFF"/>
                  </a:outerShdw>
                </a:effectLst>
              </a:rPr>
              <a:t>（</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）缺页中断的产生和处理（中</a:t>
            </a:r>
            <a:endParaRPr lang="en-US" altLang="zh-CN" sz="2000">
              <a:solidFill>
                <a:schemeClr val="tx1"/>
              </a:solidFill>
              <a:effectLst>
                <a:outerShdw blurRad="38100" dist="38100" dir="2700000" algn="tl">
                  <a:srgbClr val="FFFFFF"/>
                </a:outerShdw>
              </a:effectLst>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outerShdw blurRad="38100" dist="38100" dir="2700000" algn="tl">
                    <a:srgbClr val="FFFFFF"/>
                  </a:outerShdw>
                </a:effectLst>
              </a:rPr>
              <a:t>断的响应）出现在一条指令的执行期内。</a:t>
            </a:r>
            <a:endParaRPr lang="en-US" altLang="zh-CN" sz="2000">
              <a:solidFill>
                <a:schemeClr val="tx1"/>
              </a:solidFill>
              <a:effectLst>
                <a:outerShdw blurRad="38100" dist="38100" dir="2700000" algn="tl">
                  <a:srgbClr val="FFFFFF"/>
                </a:outerShdw>
              </a:effectLst>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outerShdw blurRad="38100" dist="38100" dir="2700000" algn="tl">
                    <a:srgbClr val="FFFFFF"/>
                  </a:outerShdw>
                </a:effectLst>
              </a:rPr>
              <a:t>（</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）程序运行过程中，一条指令的执行</a:t>
            </a:r>
            <a:endParaRPr lang="en-US" altLang="zh-CN" sz="2000">
              <a:solidFill>
                <a:schemeClr val="tx1"/>
              </a:solidFill>
              <a:effectLst>
                <a:outerShdw blurRad="38100" dist="38100" dir="2700000" algn="tl">
                  <a:srgbClr val="FFFFFF"/>
                </a:outerShdw>
              </a:effectLst>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outerShdw blurRad="38100" dist="38100" dir="2700000" algn="tl">
                    <a:srgbClr val="FFFFFF"/>
                  </a:outerShdw>
                </a:effectLst>
              </a:rPr>
              <a:t>期间内可能会产生多次缺页中断。</a:t>
            </a:r>
            <a:endParaRPr lang="en-US" altLang="zh-CN" sz="2000">
              <a:solidFill>
                <a:schemeClr val="tx1"/>
              </a:solidFill>
              <a:effectLst>
                <a:outerShdw blurRad="38100" dist="38100" dir="2700000" algn="tl">
                  <a:srgbClr val="FFFFFF"/>
                </a:outerShdw>
              </a:effectLst>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 例：右图中，指令自身位于两个页上，指</a:t>
            </a:r>
            <a:endParaRPr lang="en-US" altLang="zh-CN" sz="2000">
              <a:solidFill>
                <a:schemeClr val="tx1"/>
              </a:solidFill>
              <a:effectLst/>
              <a:latin typeface="宋体" panose="02010600030101010101" pitchFamily="2" charset="-122"/>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令操作的对象也横跨了</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个页，则在该指令</a:t>
            </a:r>
            <a:endParaRPr lang="en-US" altLang="zh-CN" sz="2000">
              <a:solidFill>
                <a:schemeClr val="tx1"/>
              </a:solidFill>
              <a:effectLst/>
              <a:latin typeface="宋体" panose="02010600030101010101" pitchFamily="2" charset="-122"/>
            </a:endParaRPr>
          </a:p>
          <a:p>
            <a:pPr marL="0" indent="0" algn="just" eaLnBrk="1" hangingPunct="1">
              <a:lnSpc>
                <a:spcPct val="150000"/>
              </a:lnSpc>
              <a:spcBef>
                <a:spcPct val="0"/>
              </a:spcBef>
              <a:buFont typeface="Wingdings" pitchFamily="2" charset="2"/>
              <a:buNone/>
            </a:pPr>
            <a:r>
              <a:rPr lang="zh-CN" altLang="en-US" sz="2000">
                <a:solidFill>
                  <a:schemeClr val="tx1"/>
                </a:solidFill>
                <a:effectLst/>
                <a:latin typeface="宋体" panose="02010600030101010101" pitchFamily="2" charset="-122"/>
              </a:rPr>
              <a:t>的执行期间就可能产生</a:t>
            </a:r>
            <a:r>
              <a:rPr lang="en-US" altLang="zh-CN" sz="2000">
                <a:solidFill>
                  <a:schemeClr val="tx1"/>
                </a:solidFill>
                <a:effectLst/>
                <a:latin typeface="宋体" panose="02010600030101010101" pitchFamily="2" charset="-122"/>
              </a:rPr>
              <a:t>6</a:t>
            </a:r>
            <a:r>
              <a:rPr lang="zh-CN" altLang="en-US" sz="2000">
                <a:solidFill>
                  <a:schemeClr val="tx1"/>
                </a:solidFill>
                <a:effectLst/>
                <a:latin typeface="宋体" panose="02010600030101010101" pitchFamily="2" charset="-122"/>
              </a:rPr>
              <a:t>次缺页中断。</a:t>
            </a:r>
          </a:p>
        </p:txBody>
      </p:sp>
      <p:pic>
        <p:nvPicPr>
          <p:cNvPr id="108548" name="图片 103" descr="4t37">
            <a:extLst>
              <a:ext uri="{FF2B5EF4-FFF2-40B4-BE49-F238E27FC236}">
                <a16:creationId xmlns:a16="http://schemas.microsoft.com/office/drawing/2014/main" id="{18D4ECAE-70A6-D849-810C-01DC836090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00750" y="3214688"/>
            <a:ext cx="285750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a:extLst>
              <a:ext uri="{FF2B5EF4-FFF2-40B4-BE49-F238E27FC236}">
                <a16:creationId xmlns:a16="http://schemas.microsoft.com/office/drawing/2014/main" id="{B1A3B054-0D69-5844-ABB6-47C6966E6B53}"/>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5235" name="Rectangle 3">
            <a:extLst>
              <a:ext uri="{FF2B5EF4-FFF2-40B4-BE49-F238E27FC236}">
                <a16:creationId xmlns:a16="http://schemas.microsoft.com/office/drawing/2014/main" id="{6CBBF57B-924B-AD42-94AA-C958D5801983}"/>
              </a:ext>
            </a:extLst>
          </p:cNvPr>
          <p:cNvSpPr>
            <a:spLocks noGrp="1" noChangeArrowheads="1"/>
          </p:cNvSpPr>
          <p:nvPr>
            <p:ph type="body" sz="half" idx="1"/>
          </p:nvPr>
        </p:nvSpPr>
        <p:spPr>
          <a:xfrm>
            <a:off x="463550" y="1412875"/>
            <a:ext cx="8215313" cy="5040313"/>
          </a:xfrm>
        </p:spPr>
        <p:txBody>
          <a:bodyPr/>
          <a:lstStyle/>
          <a:p>
            <a:pPr marL="0" indent="0" algn="just" eaLnBrk="1" hangingPunct="1">
              <a:lnSpc>
                <a:spcPts val="3900"/>
              </a:lnSpc>
              <a:spcBef>
                <a:spcPct val="0"/>
              </a:spcBef>
              <a:buFont typeface="Wingdings" pitchFamily="2" charset="2"/>
              <a:buNone/>
            </a:pPr>
            <a:r>
              <a:rPr lang="zh-CN" altLang="en-US" sz="2200">
                <a:solidFill>
                  <a:srgbClr val="FF0000"/>
                </a:solidFill>
                <a:effectLst/>
                <a:latin typeface="宋体" panose="02010600030101010101" pitchFamily="2" charset="-122"/>
              </a:rPr>
              <a:t>缺页中断说明</a:t>
            </a:r>
          </a:p>
          <a:p>
            <a:pPr marL="0" indent="0" algn="just" eaLnBrk="1" hangingPunct="1">
              <a:lnSpc>
                <a:spcPts val="3900"/>
              </a:lnSpc>
              <a:spcBef>
                <a:spcPct val="0"/>
              </a:spcBef>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当进程执行中发生缺页中断时，系统将进程所需的页从外存调入内存要花费一定的时间。为了提高</a:t>
            </a:r>
            <a:r>
              <a:rPr lang="en-US" altLang="zh-CN" sz="2000">
                <a:solidFill>
                  <a:schemeClr val="tx1"/>
                </a:solidFill>
                <a:effectLst/>
                <a:latin typeface="Times New Roman" panose="02020603050405020304" pitchFamily="18" charset="0"/>
              </a:rPr>
              <a:t>CPU</a:t>
            </a:r>
            <a:r>
              <a:rPr lang="zh-CN" altLang="zh-CN" sz="2000">
                <a:solidFill>
                  <a:schemeClr val="tx1"/>
                </a:solidFill>
                <a:effectLst/>
                <a:latin typeface="Times New Roman" panose="02020603050405020304" pitchFamily="18" charset="0"/>
                <a:cs typeface="Times New Roman" panose="02020603050405020304" pitchFamily="18" charset="0"/>
              </a:rPr>
              <a:t>的利用率，系统此时应将产生缺页的进程放入进程阻塞队列，然后进程调度程序调度另一就绪进程运行。产生缺页中断时，可以通过加锁方式对被中断进程所占用的内存物理块实施保护，以免被其他进程占用而导致系统混乱。当缺页中断处理程序处理完成（进程所需要的页被装入内存）后，再唤醒这个因缺页被阻塞的进程，并将其放入进程就绪队列，等待进程调度程序的下一次调度。而缺页中断的进程被再次调度运行时，则重新执行刚发生缺页中断的那条指令（该指令的执行因缺页中断并未完成），并由此向下继续运行</a:t>
            </a:r>
            <a:r>
              <a:rPr lang="zh-CN" altLang="en-US" sz="2000">
                <a:solidFill>
                  <a:schemeClr val="tx1"/>
                </a:solidFill>
                <a:effectLst/>
                <a:latin typeface="宋体" panose="02010600030101010101" pitchFamily="2" charset="-122"/>
              </a:rPr>
              <a:t>。</a:t>
            </a:r>
          </a:p>
        </p:txBody>
      </p:sp>
    </p:spTree>
  </p:cSld>
  <p:clrMapOvr>
    <a:masterClrMapping/>
  </p:clrMapOvr>
  <p:transition>
    <p:random/>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2">
            <a:extLst>
              <a:ext uri="{FF2B5EF4-FFF2-40B4-BE49-F238E27FC236}">
                <a16:creationId xmlns:a16="http://schemas.microsoft.com/office/drawing/2014/main" id="{0169BADA-A931-DE4E-A85F-DB19416E1B31}"/>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请求分页存储管理</a:t>
            </a:r>
          </a:p>
        </p:txBody>
      </p:sp>
      <p:sp>
        <p:nvSpPr>
          <p:cNvPr id="110595" name="Rectangle 3">
            <a:extLst>
              <a:ext uri="{FF2B5EF4-FFF2-40B4-BE49-F238E27FC236}">
                <a16:creationId xmlns:a16="http://schemas.microsoft.com/office/drawing/2014/main" id="{93B46616-93A3-DA46-BBCB-2AF8AF9375C5}"/>
              </a:ext>
            </a:extLst>
          </p:cNvPr>
          <p:cNvSpPr>
            <a:spLocks noGrp="1" noChangeArrowheads="1"/>
          </p:cNvSpPr>
          <p:nvPr>
            <p:ph type="body" sz="half" idx="1"/>
          </p:nvPr>
        </p:nvSpPr>
        <p:spPr>
          <a:xfrm>
            <a:off x="971550" y="1628775"/>
            <a:ext cx="7129463" cy="4824413"/>
          </a:xfrm>
        </p:spPr>
        <p:txBody>
          <a:bodyPr/>
          <a:lstStyle/>
          <a:p>
            <a:pPr marL="0" indent="0" eaLnBrk="1" hangingPunct="1">
              <a:buFont typeface="Wingdings" pitchFamily="2" charset="2"/>
              <a:buNone/>
            </a:pPr>
            <a:r>
              <a:rPr lang="en-US" altLang="en-US">
                <a:solidFill>
                  <a:srgbClr val="FF0000"/>
                </a:solidFill>
                <a:effectLst/>
                <a:latin typeface="宋体" panose="02010600030101010101" pitchFamily="2" charset="-122"/>
              </a:rPr>
              <a:t>3. 地址转换</a:t>
            </a:r>
            <a:endParaRPr lang="zh-CN" altLang="en-US">
              <a:solidFill>
                <a:srgbClr val="FF0000"/>
              </a:solidFill>
              <a:effectLst/>
              <a:latin typeface="宋体" panose="02010600030101010101" pitchFamily="2" charset="-122"/>
            </a:endParaRPr>
          </a:p>
        </p:txBody>
      </p:sp>
      <p:pic>
        <p:nvPicPr>
          <p:cNvPr id="110596" name="Picture 5">
            <a:extLst>
              <a:ext uri="{FF2B5EF4-FFF2-40B4-BE49-F238E27FC236}">
                <a16:creationId xmlns:a16="http://schemas.microsoft.com/office/drawing/2014/main" id="{BF5F048D-C316-5744-AB84-7ACDCA7C98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3575" y="0"/>
            <a:ext cx="594042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a:extLst>
              <a:ext uri="{FF2B5EF4-FFF2-40B4-BE49-F238E27FC236}">
                <a16:creationId xmlns:a16="http://schemas.microsoft.com/office/drawing/2014/main" id="{41CB1402-69DA-3242-B74D-4728354F2A83}"/>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7283" name="Rectangle 3">
            <a:extLst>
              <a:ext uri="{FF2B5EF4-FFF2-40B4-BE49-F238E27FC236}">
                <a16:creationId xmlns:a16="http://schemas.microsoft.com/office/drawing/2014/main" id="{ED786729-030A-5D4E-A010-15EF2D67BE1C}"/>
              </a:ext>
            </a:extLst>
          </p:cNvPr>
          <p:cNvSpPr>
            <a:spLocks noGrp="1" noChangeArrowheads="1"/>
          </p:cNvSpPr>
          <p:nvPr>
            <p:ph type="body" sz="half" idx="1"/>
          </p:nvPr>
        </p:nvSpPr>
        <p:spPr>
          <a:xfrm>
            <a:off x="285750" y="1357313"/>
            <a:ext cx="8501063" cy="5500687"/>
          </a:xfrm>
        </p:spPr>
        <p:txBody>
          <a:bodyPr/>
          <a:lstStyle/>
          <a:p>
            <a:pPr marL="0" indent="0" algn="just" eaLnBrk="1" hangingPunct="1">
              <a:lnSpc>
                <a:spcPts val="3000"/>
              </a:lnSpc>
              <a:buFont typeface="Wingdings" pitchFamily="2" charset="2"/>
              <a:buNone/>
            </a:pPr>
            <a:r>
              <a:rPr lang="zh-CN" altLang="en-US" sz="1600">
                <a:solidFill>
                  <a:srgbClr val="FF0000"/>
                </a:solidFill>
                <a:effectLst/>
                <a:latin typeface="宋体" panose="02010600030101010101" pitchFamily="2" charset="-122"/>
              </a:rPr>
              <a:t>地址转换说明：</a:t>
            </a:r>
            <a:r>
              <a:rPr lang="zh-CN" altLang="zh-CN" sz="1600">
                <a:solidFill>
                  <a:schemeClr val="tx1"/>
                </a:solidFill>
                <a:effectLst/>
                <a:latin typeface="Times New Roman" panose="02020603050405020304" pitchFamily="18" charset="0"/>
                <a:cs typeface="Times New Roman" panose="02020603050405020304" pitchFamily="18" charset="0"/>
              </a:rPr>
              <a:t>根据当前执行指令中的访存地址（逻辑地址），按照该逻辑地址中的页号到快表中查找相应的页表项，若找到（该页一定在内存中），就将该页表项中给出的物理块号和逻辑地址中的页内地址进行拼接，得到要访问的内存物理地址，并修改该页表项中的访问位。如果当前执行的这条指令是写指令，则还需要修改该页表项中的修改位。若在快表中未找到所需的页表项，则需要访问内存中的页表，并根据页表中对应页表项的中断位（状态位），来判断此次访问的页是否已在内存中。若该页已在内存中，则将该页的相关信息填入快表（若快表已满，则还需按某种置换算法将快表中某一页表项淘汰），同时将从页表项中获得的物理块号和逻辑地址中的页内地址进行拼接，得到要访问的内存物理地址，并根据需要修改该页表项中的访问位和修改位。若由该页表项中的中断位得知本次访问的页不在内存中，则产生一次缺页中断，由系统根据页表内该页表项中的外存地址，将该页由外存调入内存，若此时内存中已无空闲的物理块可用，则系统根据某种置换算法淘汰内存中的某页（回收淘汰页所占用的物理块），以腾出内存空间装入该页，且同时修改该页对应的页表项，并将该页表项信息填入快表，然后将页表项中的物理块号和逻辑地址中的页内地址拼接成要访问的内存物理地址</a:t>
            </a:r>
            <a:r>
              <a:rPr lang="zh-CN" altLang="en-US" sz="1600">
                <a:solidFill>
                  <a:schemeClr val="tx1"/>
                </a:solidFill>
                <a:effectLst>
                  <a:outerShdw blurRad="38100" dist="38100" dir="2700000" algn="tl">
                    <a:srgbClr val="FFFFFF"/>
                  </a:outerShdw>
                </a:effectLst>
              </a:rPr>
              <a:t>。</a:t>
            </a:r>
            <a:endParaRPr lang="zh-CN" altLang="en-US" sz="16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a:extLst>
              <a:ext uri="{FF2B5EF4-FFF2-40B4-BE49-F238E27FC236}">
                <a16:creationId xmlns:a16="http://schemas.microsoft.com/office/drawing/2014/main" id="{54AD0705-DB36-9943-A484-E8CDEB468CA1}"/>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7283" name="Rectangle 3">
            <a:extLst>
              <a:ext uri="{FF2B5EF4-FFF2-40B4-BE49-F238E27FC236}">
                <a16:creationId xmlns:a16="http://schemas.microsoft.com/office/drawing/2014/main" id="{600FEC72-05C7-6B4B-A8E7-8D0D7530F11F}"/>
              </a:ext>
            </a:extLst>
          </p:cNvPr>
          <p:cNvSpPr>
            <a:spLocks noGrp="1" noChangeArrowheads="1"/>
          </p:cNvSpPr>
          <p:nvPr>
            <p:ph type="body" sz="half" idx="1"/>
          </p:nvPr>
        </p:nvSpPr>
        <p:spPr>
          <a:xfrm>
            <a:off x="285750" y="1357313"/>
            <a:ext cx="8501063" cy="5500687"/>
          </a:xfrm>
        </p:spPr>
        <p:txBody>
          <a:bodyPr/>
          <a:lstStyle/>
          <a:p>
            <a:pPr marL="0" indent="0" algn="just" eaLnBrk="1" hangingPunct="1">
              <a:lnSpc>
                <a:spcPts val="3200"/>
              </a:lnSpc>
              <a:buFont typeface="Wingdings" pitchFamily="2" charset="2"/>
              <a:buNone/>
            </a:pPr>
            <a:r>
              <a:rPr lang="en-US" altLang="zh-CN" sz="2200">
                <a:solidFill>
                  <a:srgbClr val="FF0000"/>
                </a:solidFill>
                <a:effectLst/>
                <a:latin typeface="宋体" panose="02010600030101010101" pitchFamily="2" charset="-122"/>
              </a:rPr>
              <a:t>4. </a:t>
            </a:r>
            <a:r>
              <a:rPr lang="zh-CN" altLang="en-US" sz="2200">
                <a:solidFill>
                  <a:srgbClr val="FF0000"/>
                </a:solidFill>
                <a:effectLst/>
                <a:latin typeface="宋体" panose="02010600030101010101" pitchFamily="2" charset="-122"/>
              </a:rPr>
              <a:t>页置换算法</a:t>
            </a:r>
          </a:p>
          <a:p>
            <a:pPr marL="0" indent="0" algn="just" eaLnBrk="1" hangingPunct="1">
              <a:lnSpc>
                <a:spcPts val="3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最佳置换算法：</a:t>
            </a:r>
            <a:r>
              <a:rPr lang="zh-CN" altLang="en-US" sz="2000">
                <a:solidFill>
                  <a:schemeClr val="tx1"/>
                </a:solidFill>
                <a:effectLst>
                  <a:outerShdw blurRad="38100" dist="38100" dir="2700000" algn="tl">
                    <a:srgbClr val="FFFFFF"/>
                  </a:outerShdw>
                </a:effectLst>
              </a:rPr>
              <a:t>所选择的置换页是那些将来不会被访问的页，或者是在最长时间后才被访问的页，即置换该页不会造成刚将此页置换出内存又要立即把它再置换回内存的情况出现。可获得最低缺页中断率，性能最好。</a:t>
            </a:r>
            <a:endParaRPr lang="en-US" altLang="zh-CN" sz="2000">
              <a:solidFill>
                <a:schemeClr val="tx1"/>
              </a:solidFill>
              <a:effectLst/>
              <a:latin typeface="宋体" panose="02010600030101010101" pitchFamily="2" charset="-122"/>
            </a:endParaRPr>
          </a:p>
          <a:p>
            <a:pPr marL="0" indent="0" algn="just" eaLnBrk="1" hangingPunct="1">
              <a:lnSpc>
                <a:spcPts val="3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先进先出算法 ：</a:t>
            </a:r>
            <a:r>
              <a:rPr lang="zh-CN" altLang="en-US" sz="2000">
                <a:solidFill>
                  <a:schemeClr val="tx1"/>
                </a:solidFill>
                <a:effectLst>
                  <a:outerShdw blurRad="38100" dist="38100" dir="2700000" algn="tl">
                    <a:srgbClr val="FFFFFF"/>
                  </a:outerShdw>
                </a:effectLst>
              </a:rPr>
              <a:t>总是淘汰最先进入内存的页，即选择在内存中驻留时间最久的页予以淘汰。该算法实现简单，性能较差。</a:t>
            </a:r>
            <a:endParaRPr lang="en-US" altLang="zh-CN" sz="2000">
              <a:solidFill>
                <a:schemeClr val="tx1"/>
              </a:solidFill>
              <a:effectLst/>
              <a:latin typeface="宋体" panose="02010600030101010101" pitchFamily="2" charset="-122"/>
            </a:endParaRPr>
          </a:p>
          <a:p>
            <a:pPr marL="0" indent="0" algn="just" eaLnBrk="1" hangingPunct="1">
              <a:lnSpc>
                <a:spcPts val="32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a:t>
            </a:r>
            <a:r>
              <a:rPr lang="zh-CN" altLang="en-US" sz="2000">
                <a:solidFill>
                  <a:srgbClr val="FF0000"/>
                </a:solidFill>
                <a:effectLst/>
                <a:latin typeface="宋体" panose="02010600030101010101" pitchFamily="2" charset="-122"/>
              </a:rPr>
              <a:t>最近最久未使用算法：</a:t>
            </a:r>
            <a:r>
              <a:rPr lang="zh-CN" altLang="en-US" sz="2000">
                <a:solidFill>
                  <a:schemeClr val="tx1"/>
                </a:solidFill>
                <a:effectLst>
                  <a:outerShdw blurRad="38100" dist="38100" dir="2700000" algn="tl">
                    <a:srgbClr val="FFFFFF"/>
                  </a:outerShdw>
                </a:effectLst>
              </a:rPr>
              <a:t>根据某页调入内存后的使用情况来确定该页的调出。由于无法预测各页将来的使用情况，则只能利用“最近的过去”作为“最近的将来”的一种近似。如果某页最近被访问了，则不久之后还可能被访问；反之，如果某页在最近的过去有很长一段时间未被访问，则在最近的将来这一段时间内该页也可能不会被访问。也就是说，</a:t>
            </a:r>
            <a:r>
              <a:rPr lang="en-US" altLang="zh-CN" sz="2000">
                <a:solidFill>
                  <a:schemeClr val="tx1"/>
                </a:solidFill>
                <a:effectLst>
                  <a:outerShdw blurRad="38100" dist="38100" dir="2700000" algn="tl">
                    <a:srgbClr val="FFFFFF"/>
                  </a:outerShdw>
                </a:effectLst>
              </a:rPr>
              <a:t>LRU</a:t>
            </a:r>
            <a:r>
              <a:rPr lang="zh-CN" altLang="en-US" sz="2000">
                <a:solidFill>
                  <a:schemeClr val="tx1"/>
                </a:solidFill>
                <a:effectLst>
                  <a:outerShdw blurRad="38100" dist="38100" dir="2700000" algn="tl">
                    <a:srgbClr val="FFFFFF"/>
                  </a:outerShdw>
                </a:effectLst>
              </a:rPr>
              <a:t>算法是根据前面页的使用历史来决定未来页的使用。</a:t>
            </a:r>
            <a:endParaRPr lang="zh-CN" altLang="en-US" sz="2000">
              <a:solidFill>
                <a:schemeClr val="tx1"/>
              </a:solidFill>
              <a:effectLst/>
              <a:latin typeface="宋体" panose="02010600030101010101" pitchFamily="2" charset="-122"/>
            </a:endParaRPr>
          </a:p>
          <a:p>
            <a:pPr marL="0" indent="0"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E248507C-154C-9745-B209-080258D81776}"/>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113667" name="Rectangle 3">
            <a:extLst>
              <a:ext uri="{FF2B5EF4-FFF2-40B4-BE49-F238E27FC236}">
                <a16:creationId xmlns:a16="http://schemas.microsoft.com/office/drawing/2014/main" id="{306DEA16-A30F-F444-A4E7-FC842835E166}"/>
              </a:ext>
            </a:extLst>
          </p:cNvPr>
          <p:cNvSpPr>
            <a:spLocks noGrp="1" noChangeArrowheads="1"/>
          </p:cNvSpPr>
          <p:nvPr>
            <p:ph type="body" sz="half" idx="1"/>
          </p:nvPr>
        </p:nvSpPr>
        <p:spPr>
          <a:xfrm>
            <a:off x="785813" y="1571625"/>
            <a:ext cx="7643812" cy="5000625"/>
          </a:xfrm>
        </p:spPr>
        <p:txBody>
          <a:bodyPr/>
          <a:lstStyle/>
          <a:p>
            <a:pPr marL="0" indent="0" eaLnBrk="1" hangingPunct="1">
              <a:lnSpc>
                <a:spcPts val="4300"/>
              </a:lnSpc>
              <a:buFont typeface="Wingdings" pitchFamily="2" charset="2"/>
              <a:buNone/>
            </a:pPr>
            <a:r>
              <a:rPr lang="zh-CN" altLang="en-US" sz="2000">
                <a:solidFill>
                  <a:schemeClr val="tx1"/>
                </a:solidFill>
                <a:effectLst/>
                <a:latin typeface="宋体" panose="02010600030101010101" pitchFamily="2" charset="-122"/>
              </a:rPr>
              <a:t>例：在某个请求分页系统中，某程序在一个时间段内有如下的地址访问：</a:t>
            </a:r>
            <a:r>
              <a:rPr lang="en-US" altLang="zh-CN" sz="2000">
                <a:solidFill>
                  <a:schemeClr val="tx1"/>
                </a:solidFill>
                <a:effectLst/>
                <a:latin typeface="宋体" panose="02010600030101010101" pitchFamily="2" charset="-122"/>
              </a:rPr>
              <a:t>12</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351</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190</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90</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430</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30</a:t>
            </a: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550</a:t>
            </a:r>
            <a:r>
              <a:rPr lang="zh-CN" altLang="en-US" sz="2000">
                <a:solidFill>
                  <a:schemeClr val="tx1"/>
                </a:solidFill>
                <a:effectLst/>
                <a:latin typeface="宋体" panose="02010600030101010101" pitchFamily="2" charset="-122"/>
              </a:rPr>
              <a:t>（以上数字为虚拟的逻辑地址）。假定内存中每个物理块的大小为</a:t>
            </a:r>
            <a:r>
              <a:rPr lang="en-US" altLang="zh-CN" sz="2000">
                <a:solidFill>
                  <a:schemeClr val="tx1"/>
                </a:solidFill>
                <a:effectLst/>
                <a:latin typeface="宋体" panose="02010600030101010101" pitchFamily="2" charset="-122"/>
              </a:rPr>
              <a:t>100B</a:t>
            </a:r>
            <a:r>
              <a:rPr lang="zh-CN" altLang="en-US" sz="2000">
                <a:solidFill>
                  <a:schemeClr val="tx1"/>
                </a:solidFill>
                <a:effectLst/>
                <a:latin typeface="宋体" panose="02010600030101010101" pitchFamily="2" charset="-122"/>
              </a:rPr>
              <a:t>，系统分配给该程序的内存物理块为</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块。回答下列问题：</a:t>
            </a:r>
          </a:p>
          <a:p>
            <a:pPr marL="0" indent="0" eaLnBrk="1" hangingPunct="1">
              <a:lnSpc>
                <a:spcPts val="43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）对本题的地址访问序列，给出其页的走向。</a:t>
            </a:r>
          </a:p>
          <a:p>
            <a:pPr marL="0" indent="0" eaLnBrk="1" hangingPunct="1">
              <a:lnSpc>
                <a:spcPts val="43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）设程序开始运行时已经装入第</a:t>
            </a:r>
            <a:r>
              <a:rPr lang="en-US" altLang="zh-CN" sz="2000">
                <a:solidFill>
                  <a:schemeClr val="tx1"/>
                </a:solidFill>
                <a:effectLst/>
                <a:latin typeface="宋体" panose="02010600030101010101" pitchFamily="2" charset="-122"/>
              </a:rPr>
              <a:t>0</a:t>
            </a:r>
            <a:r>
              <a:rPr lang="zh-CN" altLang="en-US" sz="2000">
                <a:solidFill>
                  <a:schemeClr val="tx1"/>
                </a:solidFill>
                <a:effectLst/>
                <a:latin typeface="宋体" panose="02010600030101010101" pitchFamily="2" charset="-122"/>
              </a:rPr>
              <a:t>页，在先进先出算法和最近最久未使用（</a:t>
            </a:r>
            <a:r>
              <a:rPr lang="en-US" altLang="zh-CN" sz="2000">
                <a:solidFill>
                  <a:schemeClr val="tx1"/>
                </a:solidFill>
                <a:effectLst/>
                <a:latin typeface="宋体" panose="02010600030101010101" pitchFamily="2" charset="-122"/>
              </a:rPr>
              <a:t>LRU</a:t>
            </a:r>
            <a:r>
              <a:rPr lang="zh-CN" altLang="en-US" sz="2000">
                <a:solidFill>
                  <a:schemeClr val="tx1"/>
                </a:solidFill>
                <a:effectLst/>
                <a:latin typeface="宋体" panose="02010600030101010101" pitchFamily="2" charset="-122"/>
              </a:rPr>
              <a:t>）算法下，分别给出每次访问时该程序内存页的使用情况，并计算出缺页中断次数和缺页率。</a:t>
            </a:r>
          </a:p>
          <a:p>
            <a:pPr marL="0" indent="0"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2">
            <a:extLst>
              <a:ext uri="{FF2B5EF4-FFF2-40B4-BE49-F238E27FC236}">
                <a16:creationId xmlns:a16="http://schemas.microsoft.com/office/drawing/2014/main" id="{5A877A30-82A8-D244-8B8A-04CF42A184D3}"/>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graphicFrame>
        <p:nvGraphicFramePr>
          <p:cNvPr id="4" name="表格 3">
            <a:extLst>
              <a:ext uri="{FF2B5EF4-FFF2-40B4-BE49-F238E27FC236}">
                <a16:creationId xmlns:a16="http://schemas.microsoft.com/office/drawing/2014/main" id="{AFA42F2E-1483-4142-9999-8F232A815B64}"/>
              </a:ext>
            </a:extLst>
          </p:cNvPr>
          <p:cNvGraphicFramePr>
            <a:graphicFrameLocks noGrp="1"/>
          </p:cNvGraphicFramePr>
          <p:nvPr/>
        </p:nvGraphicFramePr>
        <p:xfrm>
          <a:off x="357188" y="1714500"/>
          <a:ext cx="8072437" cy="2076450"/>
        </p:xfrm>
        <a:graphic>
          <a:graphicData uri="http://schemas.openxmlformats.org/drawingml/2006/table">
            <a:tbl>
              <a:tblPr/>
              <a:tblGrid>
                <a:gridCol w="2219325">
                  <a:extLst>
                    <a:ext uri="{9D8B030D-6E8A-4147-A177-3AD203B41FA5}">
                      <a16:colId xmlns:a16="http://schemas.microsoft.com/office/drawing/2014/main" val="3092580749"/>
                    </a:ext>
                  </a:extLst>
                </a:gridCol>
                <a:gridCol w="485775">
                  <a:extLst>
                    <a:ext uri="{9D8B030D-6E8A-4147-A177-3AD203B41FA5}">
                      <a16:colId xmlns:a16="http://schemas.microsoft.com/office/drawing/2014/main" val="81471551"/>
                    </a:ext>
                  </a:extLst>
                </a:gridCol>
                <a:gridCol w="488950">
                  <a:extLst>
                    <a:ext uri="{9D8B030D-6E8A-4147-A177-3AD203B41FA5}">
                      <a16:colId xmlns:a16="http://schemas.microsoft.com/office/drawing/2014/main" val="1225570427"/>
                    </a:ext>
                  </a:extLst>
                </a:gridCol>
                <a:gridCol w="487362">
                  <a:extLst>
                    <a:ext uri="{9D8B030D-6E8A-4147-A177-3AD203B41FA5}">
                      <a16:colId xmlns:a16="http://schemas.microsoft.com/office/drawing/2014/main" val="3587530953"/>
                    </a:ext>
                  </a:extLst>
                </a:gridCol>
                <a:gridCol w="487363">
                  <a:extLst>
                    <a:ext uri="{9D8B030D-6E8A-4147-A177-3AD203B41FA5}">
                      <a16:colId xmlns:a16="http://schemas.microsoft.com/office/drawing/2014/main" val="4159633725"/>
                    </a:ext>
                  </a:extLst>
                </a:gridCol>
                <a:gridCol w="488950">
                  <a:extLst>
                    <a:ext uri="{9D8B030D-6E8A-4147-A177-3AD203B41FA5}">
                      <a16:colId xmlns:a16="http://schemas.microsoft.com/office/drawing/2014/main" val="345221557"/>
                    </a:ext>
                  </a:extLst>
                </a:gridCol>
                <a:gridCol w="487362">
                  <a:extLst>
                    <a:ext uri="{9D8B030D-6E8A-4147-A177-3AD203B41FA5}">
                      <a16:colId xmlns:a16="http://schemas.microsoft.com/office/drawing/2014/main" val="384517217"/>
                    </a:ext>
                  </a:extLst>
                </a:gridCol>
                <a:gridCol w="487363">
                  <a:extLst>
                    <a:ext uri="{9D8B030D-6E8A-4147-A177-3AD203B41FA5}">
                      <a16:colId xmlns:a16="http://schemas.microsoft.com/office/drawing/2014/main" val="1418434215"/>
                    </a:ext>
                  </a:extLst>
                </a:gridCol>
                <a:gridCol w="488950">
                  <a:extLst>
                    <a:ext uri="{9D8B030D-6E8A-4147-A177-3AD203B41FA5}">
                      <a16:colId xmlns:a16="http://schemas.microsoft.com/office/drawing/2014/main" val="3883998420"/>
                    </a:ext>
                  </a:extLst>
                </a:gridCol>
                <a:gridCol w="487362">
                  <a:extLst>
                    <a:ext uri="{9D8B030D-6E8A-4147-A177-3AD203B41FA5}">
                      <a16:colId xmlns:a16="http://schemas.microsoft.com/office/drawing/2014/main" val="385004723"/>
                    </a:ext>
                  </a:extLst>
                </a:gridCol>
                <a:gridCol w="487363">
                  <a:extLst>
                    <a:ext uri="{9D8B030D-6E8A-4147-A177-3AD203B41FA5}">
                      <a16:colId xmlns:a16="http://schemas.microsoft.com/office/drawing/2014/main" val="2811114625"/>
                    </a:ext>
                  </a:extLst>
                </a:gridCol>
                <a:gridCol w="488950">
                  <a:extLst>
                    <a:ext uri="{9D8B030D-6E8A-4147-A177-3AD203B41FA5}">
                      <a16:colId xmlns:a16="http://schemas.microsoft.com/office/drawing/2014/main" val="816343552"/>
                    </a:ext>
                  </a:extLst>
                </a:gridCol>
                <a:gridCol w="487362">
                  <a:extLst>
                    <a:ext uri="{9D8B030D-6E8A-4147-A177-3AD203B41FA5}">
                      <a16:colId xmlns:a16="http://schemas.microsoft.com/office/drawing/2014/main" val="3942323859"/>
                    </a:ext>
                  </a:extLst>
                </a:gridCol>
              </a:tblGrid>
              <a:tr h="346075">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页访问序列</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3373119"/>
                  </a:ext>
                </a:extLst>
              </a:tr>
              <a:tr h="346075">
                <a:tc rowSpan="3">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内存块数</a:t>
                      </a:r>
                      <a:r>
                        <a:rPr kumimoji="0" lang="en-US" altLang="zh-CN"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2907608604"/>
                  </a:ext>
                </a:extLst>
              </a:tr>
              <a:tr h="346075">
                <a:tc vMerge="1">
                  <a:txBody>
                    <a:bodyPr/>
                    <a:lstStyle/>
                    <a:p>
                      <a:endParaRPr lang="en-US"/>
                    </a:p>
                  </a:txBody>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3761401138"/>
                  </a:ext>
                </a:extLst>
              </a:tr>
              <a:tr h="346075">
                <a:tc vMerge="1">
                  <a:txBody>
                    <a:bodyPr/>
                    <a:lstStyle/>
                    <a:p>
                      <a:endParaRPr lang="en-US"/>
                    </a:p>
                  </a:txBody>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71778204"/>
                  </a:ext>
                </a:extLst>
              </a:tr>
              <a:tr h="346075">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缺页</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47117782"/>
                  </a:ext>
                </a:extLst>
              </a:tr>
              <a:tr h="346075">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置换</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4098913"/>
                  </a:ext>
                </a:extLst>
              </a:tr>
            </a:tbl>
          </a:graphicData>
        </a:graphic>
      </p:graphicFrame>
      <p:sp>
        <p:nvSpPr>
          <p:cNvPr id="114785" name="Rectangle 1">
            <a:extLst>
              <a:ext uri="{FF2B5EF4-FFF2-40B4-BE49-F238E27FC236}">
                <a16:creationId xmlns:a16="http://schemas.microsoft.com/office/drawing/2014/main" id="{EB6A636D-E56F-7E49-ABCF-B7DE74F662B2}"/>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wrap="none" lIns="91433" tIns="45716" rIns="91433" bIns="45716" anchor="ctr">
            <a:spAutoFit/>
          </a:bodyPr>
          <a:lstStyle>
            <a:lvl1pPr indent="269875">
              <a:spcBef>
                <a:spcPct val="20000"/>
              </a:spcBef>
              <a:buFont typeface="Wingdings" pitchFamily="2" charset="2"/>
              <a:buChar char="•"/>
              <a:defRPr sz="24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buChar char="n"/>
              <a:defRPr sz="2000">
                <a:solidFill>
                  <a:schemeClr val="tx2"/>
                </a:solidFill>
                <a:latin typeface="Verdana" panose="020B0604030504040204" pitchFamily="34" charset="0"/>
                <a:ea typeface="宋体" panose="02010600030101010101" pitchFamily="2" charset="-122"/>
              </a:defRPr>
            </a:lvl9pPr>
          </a:lstStyle>
          <a:p>
            <a:pPr>
              <a:spcBef>
                <a:spcPct val="0"/>
              </a:spcBef>
              <a:buFontTx/>
              <a:buNone/>
            </a:pPr>
            <a:r>
              <a:rPr lang="zh-CN" altLang="zh-CN" sz="900">
                <a:solidFill>
                  <a:schemeClr val="tx1"/>
                </a:solidFill>
                <a:latin typeface="Arial" panose="020B0604020202020204" pitchFamily="34" charset="0"/>
                <a:cs typeface="Arial" panose="020B0604020202020204" pitchFamily="34" charset="0"/>
              </a:rPr>
              <a:t>表</a:t>
            </a:r>
            <a:r>
              <a:rPr lang="en-US" altLang="zh-CN" sz="900">
                <a:solidFill>
                  <a:schemeClr val="tx1"/>
                </a:solidFill>
                <a:latin typeface="Arial" panose="020B0604020202020204" pitchFamily="34" charset="0"/>
                <a:cs typeface="Arial" panose="020B0604020202020204" pitchFamily="34" charset="0"/>
              </a:rPr>
              <a:t>4.6  </a:t>
            </a:r>
            <a:r>
              <a:rPr lang="zh-CN" altLang="en-US" sz="900">
                <a:solidFill>
                  <a:schemeClr val="tx1"/>
                </a:solidFill>
                <a:latin typeface="Arial" panose="020B0604020202020204" pitchFamily="34" charset="0"/>
                <a:cs typeface="Arial" panose="020B0604020202020204" pitchFamily="34" charset="0"/>
              </a:rPr>
              <a:t>按先进先出算法进行页置换（</a:t>
            </a:r>
            <a:r>
              <a:rPr lang="en-US" altLang="zh-CN" sz="900">
                <a:solidFill>
                  <a:schemeClr val="tx1"/>
                </a:solidFill>
                <a:latin typeface="Arial" panose="020B0604020202020204" pitchFamily="34" charset="0"/>
                <a:cs typeface="Arial" panose="020B0604020202020204" pitchFamily="34" charset="0"/>
              </a:rPr>
              <a:t>1</a:t>
            </a:r>
            <a:r>
              <a:rPr lang="zh-CN" altLang="en-US" sz="900">
                <a:solidFill>
                  <a:schemeClr val="tx1"/>
                </a:solidFill>
                <a:latin typeface="Arial" panose="020B0604020202020204" pitchFamily="34" charset="0"/>
                <a:cs typeface="Arial" panose="020B0604020202020204" pitchFamily="34" charset="0"/>
              </a:rPr>
              <a:t>）</a:t>
            </a:r>
            <a:endParaRPr lang="zh-CN" altLang="en-US" sz="600">
              <a:solidFill>
                <a:schemeClr val="tx1"/>
              </a:solidFill>
              <a:latin typeface="宋体" panose="02010600030101010101" pitchFamily="2" charset="-122"/>
            </a:endParaRPr>
          </a:p>
          <a:p>
            <a:pPr>
              <a:spcBef>
                <a:spcPct val="0"/>
              </a:spcBef>
              <a:buFontTx/>
              <a:buNone/>
            </a:pPr>
            <a:endParaRPr lang="zh-CN" altLang="en-US" sz="2000">
              <a:solidFill>
                <a:schemeClr val="tx1"/>
              </a:solidFill>
              <a:latin typeface="宋体" panose="02010600030101010101" pitchFamily="2" charset="-122"/>
            </a:endParaRPr>
          </a:p>
        </p:txBody>
      </p:sp>
      <p:sp>
        <p:nvSpPr>
          <p:cNvPr id="6" name="Rectangle 2">
            <a:extLst>
              <a:ext uri="{FF2B5EF4-FFF2-40B4-BE49-F238E27FC236}">
                <a16:creationId xmlns:a16="http://schemas.microsoft.com/office/drawing/2014/main" id="{6232FE01-1676-4541-B654-978604C53E70}"/>
              </a:ext>
            </a:extLst>
          </p:cNvPr>
          <p:cNvSpPr txBox="1">
            <a:spLocks noChangeArrowheads="1"/>
          </p:cNvSpPr>
          <p:nvPr/>
        </p:nvSpPr>
        <p:spPr bwMode="auto">
          <a:xfrm>
            <a:off x="500063" y="1214438"/>
            <a:ext cx="3500437" cy="500062"/>
          </a:xfrm>
          <a:prstGeom prst="rect">
            <a:avLst/>
          </a:prstGeom>
          <a:noFill/>
          <a:ln w="9525">
            <a:noFill/>
            <a:miter lim="800000"/>
            <a:headEnd/>
            <a:tailEnd/>
          </a:ln>
        </p:spPr>
        <p:txBody>
          <a:bodyPr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eaLnBrk="1" hangingPunct="1"/>
            <a:r>
              <a:rPr lang="zh-CN" altLang="en-US"/>
              <a:t>按先进先出算法进行页置换</a:t>
            </a:r>
            <a:endParaRPr lang="zh-CN" altLang="en-US">
              <a:solidFill>
                <a:srgbClr val="FF0000"/>
              </a:solidFill>
            </a:endParaRPr>
          </a:p>
        </p:txBody>
      </p:sp>
      <p:sp>
        <p:nvSpPr>
          <p:cNvPr id="7" name="Rectangle 2">
            <a:extLst>
              <a:ext uri="{FF2B5EF4-FFF2-40B4-BE49-F238E27FC236}">
                <a16:creationId xmlns:a16="http://schemas.microsoft.com/office/drawing/2014/main" id="{E0237A78-92BC-F348-8241-0BBBF257C109}"/>
              </a:ext>
            </a:extLst>
          </p:cNvPr>
          <p:cNvSpPr txBox="1">
            <a:spLocks noChangeArrowheads="1"/>
          </p:cNvSpPr>
          <p:nvPr/>
        </p:nvSpPr>
        <p:spPr bwMode="auto">
          <a:xfrm>
            <a:off x="571500" y="3786188"/>
            <a:ext cx="4143375" cy="500062"/>
          </a:xfrm>
          <a:prstGeom prst="rect">
            <a:avLst/>
          </a:prstGeom>
          <a:noFill/>
          <a:ln w="9525">
            <a:noFill/>
            <a:miter lim="800000"/>
            <a:headEnd/>
            <a:tailEnd/>
          </a:ln>
        </p:spPr>
        <p:txBody>
          <a:bodyPr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eaLnBrk="1" hangingPunct="1"/>
            <a:r>
              <a:rPr lang="zh-CN" altLang="en-US"/>
              <a:t>按最近最久未使用算法进行页置换</a:t>
            </a:r>
            <a:endParaRPr lang="zh-CN" altLang="en-US">
              <a:solidFill>
                <a:srgbClr val="FF0000"/>
              </a:solidFill>
            </a:endParaRPr>
          </a:p>
        </p:txBody>
      </p:sp>
      <p:graphicFrame>
        <p:nvGraphicFramePr>
          <p:cNvPr id="8" name="表格 7">
            <a:extLst>
              <a:ext uri="{FF2B5EF4-FFF2-40B4-BE49-F238E27FC236}">
                <a16:creationId xmlns:a16="http://schemas.microsoft.com/office/drawing/2014/main" id="{8A564CA5-DAAD-104D-A34C-192F3D0A4C71}"/>
              </a:ext>
            </a:extLst>
          </p:cNvPr>
          <p:cNvGraphicFramePr>
            <a:graphicFrameLocks noGrp="1"/>
          </p:cNvGraphicFramePr>
          <p:nvPr/>
        </p:nvGraphicFramePr>
        <p:xfrm>
          <a:off x="357188" y="4429125"/>
          <a:ext cx="8072437" cy="2219325"/>
        </p:xfrm>
        <a:graphic>
          <a:graphicData uri="http://schemas.openxmlformats.org/drawingml/2006/table">
            <a:tbl>
              <a:tblPr/>
              <a:tblGrid>
                <a:gridCol w="2219325">
                  <a:extLst>
                    <a:ext uri="{9D8B030D-6E8A-4147-A177-3AD203B41FA5}">
                      <a16:colId xmlns:a16="http://schemas.microsoft.com/office/drawing/2014/main" val="442039912"/>
                    </a:ext>
                  </a:extLst>
                </a:gridCol>
                <a:gridCol w="485775">
                  <a:extLst>
                    <a:ext uri="{9D8B030D-6E8A-4147-A177-3AD203B41FA5}">
                      <a16:colId xmlns:a16="http://schemas.microsoft.com/office/drawing/2014/main" val="660433041"/>
                    </a:ext>
                  </a:extLst>
                </a:gridCol>
                <a:gridCol w="488950">
                  <a:extLst>
                    <a:ext uri="{9D8B030D-6E8A-4147-A177-3AD203B41FA5}">
                      <a16:colId xmlns:a16="http://schemas.microsoft.com/office/drawing/2014/main" val="2350162901"/>
                    </a:ext>
                  </a:extLst>
                </a:gridCol>
                <a:gridCol w="487362">
                  <a:extLst>
                    <a:ext uri="{9D8B030D-6E8A-4147-A177-3AD203B41FA5}">
                      <a16:colId xmlns:a16="http://schemas.microsoft.com/office/drawing/2014/main" val="640136149"/>
                    </a:ext>
                  </a:extLst>
                </a:gridCol>
                <a:gridCol w="487363">
                  <a:extLst>
                    <a:ext uri="{9D8B030D-6E8A-4147-A177-3AD203B41FA5}">
                      <a16:colId xmlns:a16="http://schemas.microsoft.com/office/drawing/2014/main" val="3428084272"/>
                    </a:ext>
                  </a:extLst>
                </a:gridCol>
                <a:gridCol w="488950">
                  <a:extLst>
                    <a:ext uri="{9D8B030D-6E8A-4147-A177-3AD203B41FA5}">
                      <a16:colId xmlns:a16="http://schemas.microsoft.com/office/drawing/2014/main" val="248342280"/>
                    </a:ext>
                  </a:extLst>
                </a:gridCol>
                <a:gridCol w="487362">
                  <a:extLst>
                    <a:ext uri="{9D8B030D-6E8A-4147-A177-3AD203B41FA5}">
                      <a16:colId xmlns:a16="http://schemas.microsoft.com/office/drawing/2014/main" val="4047808637"/>
                    </a:ext>
                  </a:extLst>
                </a:gridCol>
                <a:gridCol w="487363">
                  <a:extLst>
                    <a:ext uri="{9D8B030D-6E8A-4147-A177-3AD203B41FA5}">
                      <a16:colId xmlns:a16="http://schemas.microsoft.com/office/drawing/2014/main" val="1495063426"/>
                    </a:ext>
                  </a:extLst>
                </a:gridCol>
                <a:gridCol w="488950">
                  <a:extLst>
                    <a:ext uri="{9D8B030D-6E8A-4147-A177-3AD203B41FA5}">
                      <a16:colId xmlns:a16="http://schemas.microsoft.com/office/drawing/2014/main" val="3786436965"/>
                    </a:ext>
                  </a:extLst>
                </a:gridCol>
                <a:gridCol w="487362">
                  <a:extLst>
                    <a:ext uri="{9D8B030D-6E8A-4147-A177-3AD203B41FA5}">
                      <a16:colId xmlns:a16="http://schemas.microsoft.com/office/drawing/2014/main" val="2078299231"/>
                    </a:ext>
                  </a:extLst>
                </a:gridCol>
                <a:gridCol w="487363">
                  <a:extLst>
                    <a:ext uri="{9D8B030D-6E8A-4147-A177-3AD203B41FA5}">
                      <a16:colId xmlns:a16="http://schemas.microsoft.com/office/drawing/2014/main" val="1285071962"/>
                    </a:ext>
                  </a:extLst>
                </a:gridCol>
                <a:gridCol w="488950">
                  <a:extLst>
                    <a:ext uri="{9D8B030D-6E8A-4147-A177-3AD203B41FA5}">
                      <a16:colId xmlns:a16="http://schemas.microsoft.com/office/drawing/2014/main" val="1391455635"/>
                    </a:ext>
                  </a:extLst>
                </a:gridCol>
                <a:gridCol w="487362">
                  <a:extLst>
                    <a:ext uri="{9D8B030D-6E8A-4147-A177-3AD203B41FA5}">
                      <a16:colId xmlns:a16="http://schemas.microsoft.com/office/drawing/2014/main" val="1436388204"/>
                    </a:ext>
                  </a:extLst>
                </a:gridCol>
              </a:tblGrid>
              <a:tr h="369888">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页访问序列</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85139153"/>
                  </a:ext>
                </a:extLst>
              </a:tr>
              <a:tr h="369888">
                <a:tc rowSpan="3">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内存块数</a:t>
                      </a:r>
                      <a:r>
                        <a:rPr kumimoji="0" lang="en-US" altLang="zh-CN"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81065842"/>
                  </a:ext>
                </a:extLst>
              </a:tr>
              <a:tr h="369888">
                <a:tc vMerge="1">
                  <a:txBody>
                    <a:bodyPr/>
                    <a:lstStyle/>
                    <a:p>
                      <a:endParaRPr lang="en-US"/>
                    </a:p>
                  </a:txBody>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556490422"/>
                  </a:ext>
                </a:extLst>
              </a:tr>
              <a:tr h="369888">
                <a:tc vMerge="1">
                  <a:txBody>
                    <a:bodyPr/>
                    <a:lstStyle/>
                    <a:p>
                      <a:endParaRPr lang="en-US"/>
                    </a:p>
                  </a:txBody>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2</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16983887"/>
                  </a:ext>
                </a:extLst>
              </a:tr>
              <a:tr h="369888">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缺页</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15611473"/>
                  </a:ext>
                </a:extLst>
              </a:tr>
              <a:tr h="369888">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zh-CN" altLang="en-US" sz="1600" b="0" i="0" u="none" strike="noStrike" cap="none" normalizeH="0" baseline="0">
                          <a:ln>
                            <a:noFill/>
                          </a:ln>
                          <a:solidFill>
                            <a:schemeClr val="tx1"/>
                          </a:solidFill>
                          <a:effectLst/>
                          <a:latin typeface="Arial" panose="020B0604020202020204" pitchFamily="34" charset="0"/>
                          <a:ea typeface="黑体" panose="02010609060101010101" pitchFamily="49" charset="-122"/>
                          <a:cs typeface="Arial" panose="020B0604020202020204" pitchFamily="34" charset="0"/>
                        </a:rPr>
                        <a:t>置换</a:t>
                      </a:r>
                      <a:endParaRPr kumimoji="0" lang="zh-CN" altLang="en-US" sz="1600" b="0" i="0" u="none" strike="noStrike" cap="none" normalizeH="0" baseline="0">
                        <a:ln>
                          <a:noFill/>
                        </a:ln>
                        <a:solidFill>
                          <a:schemeClr val="tx1"/>
                        </a:solidFill>
                        <a:effectLst/>
                        <a:latin typeface="Times New Roman" panose="02020603050405020304" pitchFamily="18" charset="0"/>
                        <a:ea typeface="黑体" panose="02010609060101010101" pitchFamily="49" charset="-122"/>
                        <a:cs typeface="Times New Roman" panose="02020603050405020304" pitchFamily="18" charset="0"/>
                      </a:endParaRPr>
                    </a:p>
                  </a:txBody>
                  <a:tcPr marL="68580" marR="68580" marT="0" marB="0" anchor="ctr" horzOverflow="overflow">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endPar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indent="269875">
                        <a:spcBef>
                          <a:spcPct val="20000"/>
                        </a:spcBef>
                        <a:buFont typeface="Wingdings" pitchFamily="2" charset="2"/>
                        <a:defRPr sz="2000" b="1">
                          <a:solidFill>
                            <a:schemeClr val="tx2"/>
                          </a:solidFill>
                          <a:latin typeface="Verdana" panose="020B0604030504040204" pitchFamily="34" charset="0"/>
                          <a:ea typeface="宋体" panose="02010600030101010101" pitchFamily="2" charset="-122"/>
                        </a:defRPr>
                      </a:lvl1pPr>
                      <a:lvl2pPr marL="742950" indent="-28575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2pPr>
                      <a:lvl3pPr marL="11430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3pPr>
                      <a:lvl4pPr marL="16002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4pPr>
                      <a:lvl5pPr marL="2057400" indent="-228600">
                        <a:spcBef>
                          <a:spcPct val="20000"/>
                        </a:spcBef>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tx2"/>
                        </a:buClr>
                        <a:buSzPct val="60000"/>
                        <a:buFont typeface="Wingdings" pitchFamily="2" charset="2"/>
                        <a:defRPr>
                          <a:solidFill>
                            <a:schemeClr val="tx2"/>
                          </a:solidFill>
                          <a:latin typeface="Verdana" panose="020B0604030504040204" pitchFamily="34" charset="0"/>
                          <a:ea typeface="宋体" panose="02010600030101010101" pitchFamily="2" charset="-122"/>
                        </a:defRPr>
                      </a:lvl9pPr>
                    </a:lstStyle>
                    <a:p>
                      <a:pPr marL="0" marR="0" lvl="0" indent="269875" algn="ctr" defTabSz="914400" rtl="0" eaLnBrk="1" fontAlgn="base" latinLnBrk="0" hangingPunct="1">
                        <a:lnSpc>
                          <a:spcPts val="1575"/>
                        </a:lnSpc>
                        <a:spcBef>
                          <a:spcPct val="0"/>
                        </a:spcBef>
                        <a:spcAft>
                          <a:spcPct val="0"/>
                        </a:spcAft>
                        <a:buClrTx/>
                        <a:buSzTx/>
                        <a:buFontTx/>
                        <a:buNone/>
                        <a:tabLst/>
                      </a:pPr>
                      <a:r>
                        <a:rPr kumimoji="0" lang="en-US"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a:t>
                      </a:r>
                      <a:endParaRPr kumimoji="0" lang="zh-CN" altLang="zh-CN" sz="1600" b="0" i="0" u="none" strike="noStrike" cap="none" normalizeH="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horzOverflow="overflow">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99511023"/>
                  </a:ext>
                </a:extLst>
              </a:tr>
            </a:tbl>
          </a:graphicData>
        </a:graphic>
      </p:graphicFrame>
    </p:spTree>
  </p:cSld>
  <p:clrMapOvr>
    <a:masterClrMapping/>
  </p:clrMapOvr>
  <p:transition>
    <p:random/>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a:extLst>
              <a:ext uri="{FF2B5EF4-FFF2-40B4-BE49-F238E27FC236}">
                <a16:creationId xmlns:a16="http://schemas.microsoft.com/office/drawing/2014/main" id="{637D8AB4-C132-EA43-B922-8B3654EB20E5}"/>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8307" name="Rectangle 3">
            <a:extLst>
              <a:ext uri="{FF2B5EF4-FFF2-40B4-BE49-F238E27FC236}">
                <a16:creationId xmlns:a16="http://schemas.microsoft.com/office/drawing/2014/main" id="{9EC31B31-EBEC-4E4A-8AC9-EEC183E7827D}"/>
              </a:ext>
            </a:extLst>
          </p:cNvPr>
          <p:cNvSpPr>
            <a:spLocks noGrp="1" noChangeArrowheads="1"/>
          </p:cNvSpPr>
          <p:nvPr>
            <p:ph type="body" sz="half" idx="1"/>
          </p:nvPr>
        </p:nvSpPr>
        <p:spPr>
          <a:xfrm>
            <a:off x="0" y="1285875"/>
            <a:ext cx="8858250" cy="5572125"/>
          </a:xfrm>
        </p:spPr>
        <p:txBody>
          <a:bodyPr/>
          <a:lstStyle/>
          <a:p>
            <a:pPr algn="just">
              <a:lnSpc>
                <a:spcPts val="3000"/>
              </a:lnSpc>
              <a:buFont typeface="Wingdings" pitchFamily="2" charset="2"/>
              <a:buNone/>
            </a:pPr>
            <a:r>
              <a:rPr lang="zh-CN" altLang="en-US" sz="2000"/>
              <a:t>          </a:t>
            </a:r>
            <a:r>
              <a:rPr lang="zh-CN" altLang="en-US" sz="2000">
                <a:solidFill>
                  <a:schemeClr val="tx1"/>
                </a:solidFill>
                <a:effectLst>
                  <a:outerShdw blurRad="38100" dist="38100" dir="2700000" algn="tl">
                    <a:srgbClr val="FFFFFF"/>
                  </a:outerShdw>
                </a:effectLst>
              </a:rPr>
              <a:t>为完全实现</a:t>
            </a:r>
            <a:r>
              <a:rPr lang="en-US" altLang="zh-CN" sz="2000">
                <a:solidFill>
                  <a:schemeClr val="tx1"/>
                </a:solidFill>
                <a:effectLst>
                  <a:outerShdw blurRad="38100" dist="38100" dir="2700000" algn="tl">
                    <a:srgbClr val="FFFFFF"/>
                  </a:outerShdw>
                </a:effectLst>
              </a:rPr>
              <a:t>LRU</a:t>
            </a:r>
            <a:r>
              <a:rPr lang="zh-CN" altLang="en-US" sz="2000">
                <a:solidFill>
                  <a:schemeClr val="tx1"/>
                </a:solidFill>
                <a:effectLst>
                  <a:outerShdw blurRad="38100" dist="38100" dir="2700000" algn="tl">
                    <a:srgbClr val="FFFFFF"/>
                  </a:outerShdw>
                </a:effectLst>
              </a:rPr>
              <a:t>，需要在内存中维护一个由所有页组成的链表，最近使用最多的页在表头，最近最久未使用的页在表尾，并且每次访问内存时都必须更新该链表，这无疑会增大系统的开销。所以在具体实现中，一般都是采用该算法的近似算法：</a:t>
            </a:r>
            <a:endParaRPr lang="en-US" altLang="zh-CN" sz="2000">
              <a:solidFill>
                <a:schemeClr val="tx1"/>
              </a:solidFill>
              <a:effectLst>
                <a:outerShdw blurRad="38100" dist="38100" dir="2700000" algn="tl">
                  <a:srgbClr val="FFFFFF"/>
                </a:outerShdw>
              </a:effectLst>
            </a:endParaRPr>
          </a:p>
          <a:p>
            <a:pPr algn="just">
              <a:lnSpc>
                <a:spcPts val="3000"/>
              </a:lnSpc>
              <a:buFont typeface="Wingdings" pitchFamily="2" charset="2"/>
              <a:buNone/>
            </a:pPr>
            <a:r>
              <a:rPr lang="zh-CN" altLang="en-US" sz="2000"/>
              <a:t>    </a:t>
            </a:r>
            <a:r>
              <a:rPr lang="zh-CN" altLang="en-US" sz="2000">
                <a:solidFill>
                  <a:schemeClr val="tx1"/>
                </a:solidFill>
                <a:effectLst>
                  <a:outerShdw blurRad="38100" dist="38100" dir="2700000" algn="tl">
                    <a:srgbClr val="FFFFFF"/>
                  </a:outerShdw>
                </a:effectLst>
              </a:rPr>
              <a:t>（</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 </a:t>
            </a:r>
            <a:r>
              <a:rPr lang="zh-CN" altLang="en-US" sz="2000">
                <a:solidFill>
                  <a:srgbClr val="FF0000"/>
                </a:solidFill>
                <a:effectLst>
                  <a:outerShdw blurRad="38100" dist="38100" dir="2700000" algn="tl">
                    <a:srgbClr val="FFFFFF"/>
                  </a:outerShdw>
                </a:effectLst>
              </a:rPr>
              <a:t>最不经常使用（</a:t>
            </a:r>
            <a:r>
              <a:rPr lang="en-US" altLang="zh-CN" sz="2000">
                <a:solidFill>
                  <a:srgbClr val="FF0000"/>
                </a:solidFill>
                <a:effectLst>
                  <a:outerShdw blurRad="38100" dist="38100" dir="2700000" algn="tl">
                    <a:srgbClr val="FFFFFF"/>
                  </a:outerShdw>
                </a:effectLst>
              </a:rPr>
              <a:t>LFU</a:t>
            </a:r>
            <a:r>
              <a:rPr lang="zh-CN" altLang="en-US" sz="2000">
                <a:solidFill>
                  <a:srgbClr val="FF0000"/>
                </a:solidFill>
                <a:effectLst>
                  <a:outerShdw blurRad="38100" dist="38100" dir="2700000" algn="tl">
                    <a:srgbClr val="FFFFFF"/>
                  </a:outerShdw>
                </a:effectLst>
              </a:rPr>
              <a:t>）算法。</a:t>
            </a:r>
            <a:r>
              <a:rPr lang="zh-CN" altLang="en-US" sz="2000">
                <a:solidFill>
                  <a:schemeClr val="tx1"/>
                </a:solidFill>
                <a:effectLst>
                  <a:outerShdw blurRad="38100" dist="38100" dir="2700000" algn="tl">
                    <a:srgbClr val="FFFFFF"/>
                  </a:outerShdw>
                </a:effectLst>
              </a:rPr>
              <a:t>在需要淘汰一个页时，首先淘汰截止目前时间访问次数最少的那个页。该算法实现比较简单，在页表项中增设一个访问计数器就可以解决问题。具体方法是当某个页被访问一次时，该计数器加</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；在发生缺页中断需要从内存中淘汰一个页时，就根据访问计数器的值，淘汰值最小的那个页，同时将所有的计数器清</a:t>
            </a:r>
            <a:r>
              <a:rPr lang="en-US" altLang="zh-CN" sz="2000">
                <a:solidFill>
                  <a:schemeClr val="tx1"/>
                </a:solidFill>
                <a:effectLst>
                  <a:outerShdw blurRad="38100" dist="38100" dir="2700000" algn="tl">
                    <a:srgbClr val="FFFFFF"/>
                  </a:outerShdw>
                </a:effectLst>
              </a:rPr>
              <a:t>0</a:t>
            </a:r>
            <a:r>
              <a:rPr lang="zh-CN" altLang="en-US" sz="2000">
                <a:solidFill>
                  <a:schemeClr val="tx1"/>
                </a:solidFill>
                <a:effectLst>
                  <a:outerShdw blurRad="38100" dist="38100" dir="2700000" algn="tl">
                    <a:srgbClr val="FFFFFF"/>
                  </a:outerShdw>
                </a:effectLst>
              </a:rPr>
              <a:t>。</a:t>
            </a:r>
          </a:p>
          <a:p>
            <a:pPr algn="just">
              <a:lnSpc>
                <a:spcPts val="30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rgbClr val="FF0000"/>
                </a:solidFill>
                <a:effectLst>
                  <a:outerShdw blurRad="38100" dist="38100" dir="2700000" algn="tl">
                    <a:srgbClr val="FFFFFF"/>
                  </a:outerShdw>
                </a:effectLst>
              </a:rPr>
              <a:t>） 最近没有使用（</a:t>
            </a:r>
            <a:r>
              <a:rPr lang="en-US" altLang="zh-CN" sz="2000">
                <a:solidFill>
                  <a:srgbClr val="FF0000"/>
                </a:solidFill>
                <a:effectLst>
                  <a:outerShdw blurRad="38100" dist="38100" dir="2700000" algn="tl">
                    <a:srgbClr val="FFFFFF"/>
                  </a:outerShdw>
                </a:effectLst>
              </a:rPr>
              <a:t>NRU</a:t>
            </a:r>
            <a:r>
              <a:rPr lang="zh-CN" altLang="en-US" sz="2000">
                <a:solidFill>
                  <a:srgbClr val="FF0000"/>
                </a:solidFill>
                <a:effectLst>
                  <a:outerShdw blurRad="38100" dist="38100" dir="2700000" algn="tl">
                    <a:srgbClr val="FFFFFF"/>
                  </a:outerShdw>
                </a:effectLst>
              </a:rPr>
              <a:t>）算法。</a:t>
            </a:r>
            <a:r>
              <a:rPr lang="zh-CN" altLang="en-US" sz="2000">
                <a:solidFill>
                  <a:schemeClr val="tx1"/>
                </a:solidFill>
                <a:effectLst>
                  <a:outerShdw blurRad="38100" dist="38100" dir="2700000" algn="tl">
                    <a:srgbClr val="FFFFFF"/>
                  </a:outerShdw>
                </a:effectLst>
              </a:rPr>
              <a:t>在需要淘汰一个页时，从那些最近一个时间段内未被访问的页中随机选择一个页淘汰。该算法只需在页表中为每个页增设一个访问位就可以实现。当某个页被访问时，该页对应页表项中的访问位置</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，而系统对页表中所有页表项的访问位定时清</a:t>
            </a:r>
            <a:r>
              <a:rPr lang="en-US" altLang="zh-CN" sz="2000">
                <a:solidFill>
                  <a:schemeClr val="tx1"/>
                </a:solidFill>
                <a:effectLst>
                  <a:outerShdw blurRad="38100" dist="38100" dir="2700000" algn="tl">
                    <a:srgbClr val="FFFFFF"/>
                  </a:outerShdw>
                </a:effectLst>
              </a:rPr>
              <a:t>0</a:t>
            </a:r>
            <a:r>
              <a:rPr lang="zh-CN" altLang="en-US" sz="2000">
                <a:solidFill>
                  <a:schemeClr val="tx1"/>
                </a:solidFill>
                <a:effectLst>
                  <a:outerShdw blurRad="38100" dist="38100" dir="2700000" algn="tl">
                    <a:srgbClr val="FFFFFF"/>
                  </a:outerShdw>
                </a:effectLst>
              </a:rPr>
              <a:t>，当系统需要淘汰某个页时，就从当前访问位为</a:t>
            </a:r>
            <a:r>
              <a:rPr lang="en-US" altLang="zh-CN" sz="2000">
                <a:solidFill>
                  <a:schemeClr val="tx1"/>
                </a:solidFill>
                <a:effectLst>
                  <a:outerShdw blurRad="38100" dist="38100" dir="2700000" algn="tl">
                    <a:srgbClr val="FFFFFF"/>
                  </a:outerShdw>
                </a:effectLst>
              </a:rPr>
              <a:t>0</a:t>
            </a:r>
            <a:r>
              <a:rPr lang="zh-CN" altLang="en-US" sz="2000">
                <a:solidFill>
                  <a:schemeClr val="tx1"/>
                </a:solidFill>
                <a:effectLst>
                  <a:outerShdw blurRad="38100" dist="38100" dir="2700000" algn="tl">
                    <a:srgbClr val="FFFFFF"/>
                  </a:outerShdw>
                </a:effectLst>
              </a:rPr>
              <a:t>的页中随机选择一个页将其淘汰。</a:t>
            </a:r>
          </a:p>
          <a:p>
            <a:pPr algn="just">
              <a:buFont typeface="Wingdings" pitchFamily="2" charset="2"/>
              <a:buNone/>
            </a:pPr>
            <a:endParaRPr lang="zh-CN" altLang="en-US" sz="2000">
              <a:solidFill>
                <a:schemeClr val="tx1"/>
              </a:solidFill>
              <a:effectLst>
                <a:outerShdw blurRad="38100" dist="38100" dir="2700000" algn="tl">
                  <a:srgbClr val="FFFFFF"/>
                </a:outerShdw>
              </a:effectLst>
            </a:endParaRPr>
          </a:p>
          <a:p>
            <a:pPr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a:extLst>
              <a:ext uri="{FF2B5EF4-FFF2-40B4-BE49-F238E27FC236}">
                <a16:creationId xmlns:a16="http://schemas.microsoft.com/office/drawing/2014/main" id="{540ACE9D-1E19-664C-B9F9-678BBB11E7D2}"/>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8307" name="Rectangle 3">
            <a:extLst>
              <a:ext uri="{FF2B5EF4-FFF2-40B4-BE49-F238E27FC236}">
                <a16:creationId xmlns:a16="http://schemas.microsoft.com/office/drawing/2014/main" id="{BA371465-8CBF-2D47-818B-FCBCC437AEC5}"/>
              </a:ext>
            </a:extLst>
          </p:cNvPr>
          <p:cNvSpPr>
            <a:spLocks noGrp="1" noChangeArrowheads="1"/>
          </p:cNvSpPr>
          <p:nvPr>
            <p:ph type="body" sz="half" idx="1"/>
          </p:nvPr>
        </p:nvSpPr>
        <p:spPr>
          <a:xfrm>
            <a:off x="0" y="1285875"/>
            <a:ext cx="8929688" cy="5357813"/>
          </a:xfrm>
        </p:spPr>
        <p:txBody>
          <a:bodyPr/>
          <a:lstStyle/>
          <a:p>
            <a:pPr marL="0" indent="0" eaLnBrk="1" hangingPunct="1">
              <a:lnSpc>
                <a:spcPts val="2800"/>
              </a:lnSpc>
              <a:buFont typeface="Wingdings" pitchFamily="2" charset="2"/>
              <a:buNone/>
            </a:pPr>
            <a:r>
              <a:rPr lang="en-US" altLang="zh-CN" sz="2200">
                <a:solidFill>
                  <a:srgbClr val="FF0000"/>
                </a:solidFill>
                <a:effectLst/>
                <a:latin typeface="宋体" panose="02010600030101010101" pitchFamily="2" charset="-122"/>
              </a:rPr>
              <a:t>   5. </a:t>
            </a:r>
            <a:r>
              <a:rPr lang="zh-CN" altLang="en-US" sz="2200">
                <a:solidFill>
                  <a:srgbClr val="FF0000"/>
                </a:solidFill>
                <a:effectLst/>
                <a:latin typeface="宋体" panose="02010600030101010101" pitchFamily="2" charset="-122"/>
              </a:rPr>
              <a:t>页分配和页置换策略</a:t>
            </a:r>
          </a:p>
          <a:p>
            <a:pPr marL="0" indent="0">
              <a:lnSpc>
                <a:spcPts val="2800"/>
              </a:lnSpc>
              <a:buFont typeface="Wingdings" pitchFamily="2" charset="2"/>
              <a:buNone/>
            </a:pPr>
            <a:r>
              <a:rPr lang="zh-CN" altLang="en-US" sz="2000">
                <a:solidFill>
                  <a:srgbClr val="FF0000"/>
                </a:solidFill>
                <a:effectLst>
                  <a:outerShdw blurRad="38100" dist="38100" dir="2700000" algn="tl">
                    <a:srgbClr val="FFFFFF"/>
                  </a:outerShdw>
                </a:effectLst>
              </a:rPr>
              <a:t>        页分配策略：</a:t>
            </a:r>
            <a:endParaRPr lang="en-US" altLang="zh-CN" sz="2000">
              <a:solidFill>
                <a:srgbClr val="FF0000"/>
              </a:solidFill>
              <a:effectLst>
                <a:outerShdw blurRad="38100" dist="38100" dir="2700000" algn="tl">
                  <a:srgbClr val="FFFFFF"/>
                </a:outerShdw>
              </a:effectLst>
            </a:endParaRP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在请求分页存储管理方式中，系统允许在内存中同时装入多个进程，在为进程分配物理块时，可以采用以下两种页分配策略：</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固定分配。指系统在创建进程时，根据进程的类型或用户的需求，为进程分配固定数目的物理块。分配物理块的数量要保证进程能够正常运行，且在进程的整个运行期间不再改变。采用固定分配策略时，既可以根据进程的数量或进程的大小，按平均或按比例分配内存中的所有物理块，也可以将进程的大小和优先级结合起来决定物理块的分配。</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可变分配。指先为进程分配一定数量的物理块，在进程运行过程中，若出现缺页，再为该进程追加分配物理块。要实现这种分配策略，系统必须预留一个空闲物理块队列。系统在进程运行过程中会根据其缺页情况，从空闲物理块队列中取出相应数量的物理块追加分配给该进程，直到空闲物理块队列变空。</a:t>
            </a:r>
          </a:p>
          <a:p>
            <a:pPr marL="0" indent="0" eaLnBrk="1" hangingPunct="1">
              <a:lnSpc>
                <a:spcPts val="3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a:extLst>
              <a:ext uri="{FF2B5EF4-FFF2-40B4-BE49-F238E27FC236}">
                <a16:creationId xmlns:a16="http://schemas.microsoft.com/office/drawing/2014/main" id="{B74182FB-5822-BC43-A64C-94F7BC4ED2C8}"/>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8307" name="Rectangle 3">
            <a:extLst>
              <a:ext uri="{FF2B5EF4-FFF2-40B4-BE49-F238E27FC236}">
                <a16:creationId xmlns:a16="http://schemas.microsoft.com/office/drawing/2014/main" id="{40099DCF-7E98-7C41-8BBE-E4FE0AD29ADC}"/>
              </a:ext>
            </a:extLst>
          </p:cNvPr>
          <p:cNvSpPr>
            <a:spLocks noGrp="1" noChangeArrowheads="1"/>
          </p:cNvSpPr>
          <p:nvPr>
            <p:ph type="body" sz="half" idx="1"/>
          </p:nvPr>
        </p:nvSpPr>
        <p:spPr>
          <a:xfrm>
            <a:off x="357188" y="1357313"/>
            <a:ext cx="8358187" cy="4824412"/>
          </a:xfrm>
        </p:spPr>
        <p:txBody>
          <a:bodyPr/>
          <a:lstStyle/>
          <a:p>
            <a:pPr>
              <a:lnSpc>
                <a:spcPts val="4000"/>
              </a:lnSpc>
              <a:buFont typeface="Wingdings" pitchFamily="2" charset="2"/>
              <a:buNone/>
            </a:pPr>
            <a:r>
              <a:rPr lang="zh-CN" altLang="en-US" sz="2000">
                <a:solidFill>
                  <a:schemeClr val="tx1"/>
                </a:solidFill>
                <a:effectLst/>
                <a:latin typeface="宋体" panose="02010600030101010101" pitchFamily="2" charset="-122"/>
              </a:rPr>
              <a:t>  </a:t>
            </a:r>
            <a:r>
              <a:rPr lang="zh-CN" altLang="en-US" sz="2200">
                <a:solidFill>
                  <a:srgbClr val="FF0000"/>
                </a:solidFill>
                <a:effectLst/>
                <a:latin typeface="宋体" panose="02010600030101010101" pitchFamily="2" charset="-122"/>
              </a:rPr>
              <a:t>页置换策略：</a:t>
            </a:r>
            <a:endParaRPr lang="en-US" altLang="zh-CN" sz="2200">
              <a:solidFill>
                <a:srgbClr val="FF0000"/>
              </a:solidFill>
              <a:effectLst/>
              <a:latin typeface="宋体" panose="02010600030101010101" pitchFamily="2" charset="-122"/>
            </a:endParaRPr>
          </a:p>
          <a:p>
            <a:pPr>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在产生缺页中断时，系统会把进程运行所需要的页由外存调入内存，但如果此时的内存物理块已经分配完，就必须选择一个在内存中的页予以淘汰，以便释放其占有的物理块，并将其分配给需要调入内存的页。进行页置换时可采用以下两种策略。</a:t>
            </a:r>
          </a:p>
          <a:p>
            <a:pPr>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）全局置换。当一个进程产生缺页中断时，系统从内存中的所有页中选择一个予以淘汰，同时把所缺的页调入内存。</a:t>
            </a:r>
          </a:p>
          <a:p>
            <a:pPr>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）局部置换。当一个进程产生缺页中断时，系统只从该进程在内存的页中选择一个予以淘汰，同时把所缺的页调入内存。</a:t>
            </a:r>
          </a:p>
          <a:p>
            <a:pPr eaLnBrk="1" hangingPunct="1">
              <a:lnSpc>
                <a:spcPct val="150000"/>
              </a:lnSpc>
              <a:buFont typeface="Wingdings" pitchFamily="2" charset="2"/>
              <a:buNone/>
            </a:pPr>
            <a:endParaRPr lang="zh-CN" altLang="en-US" sz="2000">
              <a:solidFill>
                <a:schemeClr val="tx1"/>
              </a:solidFill>
              <a:effectLst/>
              <a:latin typeface="宋体" panose="02010600030101010101" pitchFamily="2" charset="-122"/>
            </a:endParaRPr>
          </a:p>
          <a:p>
            <a:pPr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3DAEB149-1FDA-934C-9CAA-33865FC1A9BA}"/>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8307" name="Rectangle 3">
            <a:extLst>
              <a:ext uri="{FF2B5EF4-FFF2-40B4-BE49-F238E27FC236}">
                <a16:creationId xmlns:a16="http://schemas.microsoft.com/office/drawing/2014/main" id="{7635595C-6881-9E48-BDC5-41237F2D57C9}"/>
              </a:ext>
            </a:extLst>
          </p:cNvPr>
          <p:cNvSpPr>
            <a:spLocks noGrp="1" noChangeArrowheads="1"/>
          </p:cNvSpPr>
          <p:nvPr>
            <p:ph type="body" sz="half" idx="1"/>
          </p:nvPr>
        </p:nvSpPr>
        <p:spPr>
          <a:xfrm>
            <a:off x="0" y="1214438"/>
            <a:ext cx="9001125" cy="5429250"/>
          </a:xfrm>
        </p:spPr>
        <p:txBody>
          <a:bodyPr/>
          <a:lstStyle/>
          <a:p>
            <a:pPr algn="just">
              <a:buFont typeface="Wingdings" pitchFamily="2" charset="2"/>
              <a:buNone/>
            </a:pPr>
            <a:r>
              <a:rPr lang="zh-CN" altLang="en-US" sz="2000">
                <a:solidFill>
                  <a:schemeClr val="tx1"/>
                </a:solidFill>
                <a:effectLst>
                  <a:outerShdw blurRad="38100" dist="38100" dir="2700000" algn="tl">
                    <a:srgbClr val="FFFFFF"/>
                  </a:outerShdw>
                </a:effectLst>
              </a:rPr>
              <a:t>    </a:t>
            </a:r>
            <a:r>
              <a:rPr lang="zh-CN" altLang="en-US" sz="2000">
                <a:solidFill>
                  <a:srgbClr val="FF0000"/>
                </a:solidFill>
                <a:effectLst>
                  <a:outerShdw blurRad="38100" dist="38100" dir="2700000" algn="tl">
                    <a:srgbClr val="FFFFFF"/>
                  </a:outerShdw>
                </a:effectLst>
              </a:rPr>
              <a:t>不同页分配策略与不同页置换策略结合就形成了以下实用可行的策略：</a:t>
            </a:r>
          </a:p>
          <a:p>
            <a:pPr algn="just">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固定分配局部置换。系统为进程分配一定的物理块，需要进行页置换时，只能从该进程已分配了物理块的页中选择一个予以淘汰，然后再将该淘汰页所使用的物理块分配给需要调入的页，以确保分配给该进程的物理块数在进程运行期间保持不变。</a:t>
            </a:r>
          </a:p>
          <a:p>
            <a:pPr algn="just">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可变分配全局置换。每个进程首先从系统中获得一定数量的物理块，同时系统预留一个空闲物理块队列。当某个进程产生缺页中断时，系统就从空闲物理块队列中取出一个物理块分配给该进程。只要空闲物理块队列中的物理块尚未分配完，产生缺页中断的进程就可以从这个空闲队列中分到物理块。当空闲物理块队列中的物理块分配完后，若再产生缺页中断，系统就从内存所有页中选择一个页予以淘汰，用来满足缺页需求。</a:t>
            </a:r>
          </a:p>
          <a:p>
            <a:pPr algn="just">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3</a:t>
            </a:r>
            <a:r>
              <a:rPr lang="zh-CN" altLang="en-US" sz="2000">
                <a:solidFill>
                  <a:schemeClr val="tx1"/>
                </a:solidFill>
                <a:effectLst>
                  <a:outerShdw blurRad="38100" dist="38100" dir="2700000" algn="tl">
                    <a:srgbClr val="FFFFFF"/>
                  </a:outerShdw>
                </a:effectLst>
              </a:rPr>
              <a:t>）可变分配局部置换。每个进程首先从系统中获得一定数量的物理块，同时系统预留一个空闲物理块队列。当某个进程产生缺页中断时，系统从该进程已分配了物理块的页中选择一个予以淘汰，再将该淘汰页所使用的物理块分配给需要调入的页。仅当某个进程的缺页率高到一定程度时，系统才从空闲物理块队列中取出若干个物理块分配给该进程使用，使得该进程的缺页率降低到某个适当的程度。</a:t>
            </a:r>
          </a:p>
          <a:p>
            <a:pPr eaLnBrk="1" hangingPunct="1">
              <a:lnSpc>
                <a:spcPct val="150000"/>
              </a:lnSpc>
              <a:buFont typeface="Wingdings" pitchFamily="2" charset="2"/>
              <a:buNone/>
            </a:pPr>
            <a:endParaRPr lang="zh-CN" altLang="en-US" sz="2000">
              <a:solidFill>
                <a:schemeClr val="tx1"/>
              </a:solidFill>
              <a:effectLst/>
              <a:latin typeface="宋体" panose="02010600030101010101" pitchFamily="2" charset="-122"/>
            </a:endParaRPr>
          </a:p>
          <a:p>
            <a:pPr eaLnBrk="1" hangingPunct="1">
              <a:lnSpc>
                <a:spcPct val="15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a:extLst>
              <a:ext uri="{FF2B5EF4-FFF2-40B4-BE49-F238E27FC236}">
                <a16:creationId xmlns:a16="http://schemas.microsoft.com/office/drawing/2014/main" id="{577B8300-571B-0C40-9CD0-D42DDB4FB9E8}"/>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9331" name="Rectangle 3">
            <a:extLst>
              <a:ext uri="{FF2B5EF4-FFF2-40B4-BE49-F238E27FC236}">
                <a16:creationId xmlns:a16="http://schemas.microsoft.com/office/drawing/2014/main" id="{D1C79E88-9FE2-EF4D-8AC9-E50B4742B642}"/>
              </a:ext>
            </a:extLst>
          </p:cNvPr>
          <p:cNvSpPr>
            <a:spLocks noGrp="1" noChangeArrowheads="1"/>
          </p:cNvSpPr>
          <p:nvPr>
            <p:ph type="body" sz="half" idx="1"/>
          </p:nvPr>
        </p:nvSpPr>
        <p:spPr>
          <a:xfrm>
            <a:off x="0" y="1271588"/>
            <a:ext cx="9001125" cy="5229225"/>
          </a:xfrm>
        </p:spPr>
        <p:txBody>
          <a:bodyPr/>
          <a:lstStyle/>
          <a:p>
            <a:pPr marL="0" indent="0" eaLnBrk="1" hangingPunct="1">
              <a:lnSpc>
                <a:spcPts val="3000"/>
              </a:lnSpc>
              <a:spcBef>
                <a:spcPct val="0"/>
              </a:spcBef>
              <a:buFont typeface="Wingdings" pitchFamily="2" charset="2"/>
              <a:buNone/>
            </a:pPr>
            <a:r>
              <a:rPr lang="en-US" altLang="zh-CN" sz="2200">
                <a:solidFill>
                  <a:srgbClr val="FF0000"/>
                </a:solidFill>
                <a:effectLst/>
                <a:latin typeface="宋体" panose="02010600030101010101" pitchFamily="2" charset="-122"/>
              </a:rPr>
              <a:t>    6. </a:t>
            </a:r>
            <a:r>
              <a:rPr lang="zh-CN" altLang="en-US" sz="2200">
                <a:solidFill>
                  <a:srgbClr val="FF0000"/>
                </a:solidFill>
                <a:effectLst/>
                <a:latin typeface="宋体" panose="02010600030101010101" pitchFamily="2" charset="-122"/>
              </a:rPr>
              <a:t>页</a:t>
            </a:r>
            <a:r>
              <a:rPr lang="zh-CN" altLang="en-US" sz="2000">
                <a:solidFill>
                  <a:srgbClr val="000000"/>
                </a:solidFill>
                <a:effectLst>
                  <a:outerShdw blurRad="38100" dist="38100" dir="2700000" algn="tl">
                    <a:srgbClr val="FFFFFF"/>
                  </a:outerShdw>
                </a:effectLst>
              </a:rPr>
              <a:t>调入策略</a:t>
            </a:r>
            <a:endParaRPr lang="zh-CN" altLang="en-US" sz="2200">
              <a:solidFill>
                <a:srgbClr val="FF0000"/>
              </a:solidFill>
              <a:effectLst/>
              <a:latin typeface="宋体" panose="02010600030101010101" pitchFamily="2" charset="-122"/>
            </a:endParaRPr>
          </a:p>
          <a:p>
            <a:pPr marL="0" indent="0">
              <a:lnSpc>
                <a:spcPts val="3000"/>
              </a:lnSpc>
              <a:buFont typeface="Wingdings" pitchFamily="2" charset="2"/>
              <a:buNone/>
            </a:pPr>
            <a:r>
              <a:rPr lang="zh-CN" altLang="en-US" sz="1800">
                <a:solidFill>
                  <a:schemeClr val="tx1"/>
                </a:solidFill>
                <a:effectLst>
                  <a:outerShdw blurRad="38100" dist="38100" dir="2700000" algn="tl">
                    <a:srgbClr val="FFFFFF"/>
                  </a:outerShdw>
                </a:effectLst>
              </a:rPr>
              <a:t>     </a:t>
            </a:r>
            <a:r>
              <a:rPr lang="zh-CN" altLang="en-US" sz="2000">
                <a:solidFill>
                  <a:schemeClr val="tx1"/>
                </a:solidFill>
                <a:effectLst>
                  <a:outerShdw blurRad="38100" dist="38100" dir="2700000" algn="tl">
                    <a:srgbClr val="FFFFFF"/>
                  </a:outerShdw>
                </a:effectLst>
              </a:rPr>
              <a:t>请求分页存储管理中，页调入有以下两种策略：</a:t>
            </a:r>
          </a:p>
          <a:p>
            <a:pPr marL="0" indent="0">
              <a:lnSpc>
                <a:spcPts val="30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a:t>
            </a:r>
            <a:r>
              <a:rPr lang="zh-CN" altLang="en-US" sz="2000">
                <a:solidFill>
                  <a:srgbClr val="FF0000"/>
                </a:solidFill>
                <a:effectLst>
                  <a:outerShdw blurRad="38100" dist="38100" dir="2700000" algn="tl">
                    <a:srgbClr val="FFFFFF"/>
                  </a:outerShdw>
                </a:effectLst>
              </a:rPr>
              <a:t>预调页策略。</a:t>
            </a:r>
            <a:r>
              <a:rPr lang="zh-CN" altLang="en-US" sz="2000">
                <a:solidFill>
                  <a:schemeClr val="tx1"/>
                </a:solidFill>
                <a:effectLst>
                  <a:outerShdw blurRad="38100" dist="38100" dir="2700000" algn="tl">
                    <a:srgbClr val="FFFFFF"/>
                  </a:outerShdw>
                </a:effectLst>
              </a:rPr>
              <a:t>在进程运行前或运行过程中，将不久将要访问的页预先调入内存。这种页调入方法如果对执行的页走向预测比较准确，将获得较好的效果，但由于这是一种基于局部性原理的预测，如果预调入内存中的页大多数在较长时间内都不会被访问，则预调页策略的效果就差。目前所使用的预调页策略的成功率大约为</a:t>
            </a:r>
            <a:r>
              <a:rPr lang="en-US" altLang="zh-CN" sz="2000">
                <a:solidFill>
                  <a:schemeClr val="tx1"/>
                </a:solidFill>
                <a:effectLst>
                  <a:outerShdw blurRad="38100" dist="38100" dir="2700000" algn="tl">
                    <a:srgbClr val="FFFFFF"/>
                  </a:outerShdw>
                </a:effectLst>
              </a:rPr>
              <a:t>50%</a:t>
            </a:r>
            <a:r>
              <a:rPr lang="zh-CN" altLang="en-US" sz="2000">
                <a:solidFill>
                  <a:schemeClr val="tx1"/>
                </a:solidFill>
                <a:effectLst>
                  <a:outerShdw blurRad="38100" dist="38100" dir="2700000" algn="tl">
                    <a:srgbClr val="FFFFFF"/>
                  </a:outerShdw>
                </a:effectLst>
              </a:rPr>
              <a:t>，一般只有在进程首次调页时使用。</a:t>
            </a:r>
          </a:p>
          <a:p>
            <a:pPr marL="0" indent="0">
              <a:lnSpc>
                <a:spcPts val="30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a:t>
            </a:r>
            <a:r>
              <a:rPr lang="zh-CN" altLang="en-US" sz="2000">
                <a:solidFill>
                  <a:srgbClr val="FF0000"/>
                </a:solidFill>
                <a:effectLst>
                  <a:outerShdw blurRad="38100" dist="38100" dir="2700000" algn="tl">
                    <a:srgbClr val="FFFFFF"/>
                  </a:outerShdw>
                </a:effectLst>
              </a:rPr>
              <a:t>请求调页策略。</a:t>
            </a:r>
            <a:r>
              <a:rPr lang="zh-CN" altLang="en-US" sz="2000">
                <a:solidFill>
                  <a:schemeClr val="tx1"/>
                </a:solidFill>
                <a:effectLst>
                  <a:outerShdw blurRad="38100" dist="38100" dir="2700000" algn="tl">
                    <a:srgbClr val="FFFFFF"/>
                  </a:outerShdw>
                </a:effectLst>
              </a:rPr>
              <a:t>进程在运行过程中当要访问的页不在内存时，通过发出缺页中断由系统将所缺的页调入内存。由于通过请求调页策略所调入内存的页一定会被访问（因需要才调入），而且请求调页策略比较容易实现，因此目前大多数请求分页的虚拟存储器系统都采用这种策略。但是这种调页策略是通过缺页中断来实现的，这不仅增加了磁盘</a:t>
            </a:r>
            <a:r>
              <a:rPr lang="en-US" altLang="zh-CN" sz="2000">
                <a:solidFill>
                  <a:schemeClr val="tx1"/>
                </a:solidFill>
                <a:effectLst>
                  <a:outerShdw blurRad="38100" dist="38100" dir="2700000" algn="tl">
                    <a:srgbClr val="FFFFFF"/>
                  </a:outerShdw>
                </a:effectLst>
              </a:rPr>
              <a:t>I/O</a:t>
            </a:r>
            <a:r>
              <a:rPr lang="zh-CN" altLang="en-US" sz="2000">
                <a:solidFill>
                  <a:schemeClr val="tx1"/>
                </a:solidFill>
                <a:effectLst>
                  <a:outerShdw blurRad="38100" dist="38100" dir="2700000" algn="tl">
                    <a:srgbClr val="FFFFFF"/>
                  </a:outerShdw>
                </a:effectLst>
              </a:rPr>
              <a:t>的启动次数，而且需要花费较大的系统开销。</a:t>
            </a:r>
          </a:p>
          <a:p>
            <a:pPr marL="0" indent="0" eaLnBrk="1" hangingPunct="1">
              <a:lnSpc>
                <a:spcPts val="3000"/>
              </a:lnSpc>
              <a:spcBef>
                <a:spcPct val="0"/>
              </a:spcBef>
              <a:buFont typeface="Wingdings" pitchFamily="2" charset="2"/>
              <a:buNone/>
            </a:pPr>
            <a:endParaRPr lang="en-US" altLang="zh-CN" sz="1800">
              <a:solidFill>
                <a:schemeClr val="tx1"/>
              </a:solidFill>
              <a:effectLst/>
              <a:latin typeface="宋体" panose="02010600030101010101" pitchFamily="2" charset="-122"/>
            </a:endParaRPr>
          </a:p>
        </p:txBody>
      </p:sp>
    </p:spTree>
  </p:cSld>
  <p:clrMapOvr>
    <a:masterClrMapping/>
  </p:clrMapOvr>
  <p:transition>
    <p:random/>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9CF4DC18-034D-6F40-9B69-5ECAA3DC734D}"/>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9331" name="Rectangle 3">
            <a:extLst>
              <a:ext uri="{FF2B5EF4-FFF2-40B4-BE49-F238E27FC236}">
                <a16:creationId xmlns:a16="http://schemas.microsoft.com/office/drawing/2014/main" id="{4442A1B4-2B17-9142-A96D-AB86C41E51D8}"/>
              </a:ext>
            </a:extLst>
          </p:cNvPr>
          <p:cNvSpPr>
            <a:spLocks noGrp="1" noChangeArrowheads="1"/>
          </p:cNvSpPr>
          <p:nvPr>
            <p:ph type="body" sz="half" idx="1"/>
          </p:nvPr>
        </p:nvSpPr>
        <p:spPr>
          <a:xfrm>
            <a:off x="-107950" y="1271588"/>
            <a:ext cx="9037638" cy="5470525"/>
          </a:xfrm>
        </p:spPr>
        <p:txBody>
          <a:bodyPr/>
          <a:lstStyle/>
          <a:p>
            <a:pPr marL="0" indent="0" eaLnBrk="1" hangingPunct="1">
              <a:lnSpc>
                <a:spcPts val="2800"/>
              </a:lnSpc>
              <a:spcBef>
                <a:spcPct val="0"/>
              </a:spcBef>
              <a:buFont typeface="Wingdings" pitchFamily="2" charset="2"/>
              <a:buNone/>
            </a:pPr>
            <a:r>
              <a:rPr lang="en-US" altLang="zh-CN" sz="1800">
                <a:solidFill>
                  <a:schemeClr val="tx1"/>
                </a:solidFill>
                <a:effectLst/>
                <a:latin typeface="宋体" panose="02010600030101010101" pitchFamily="2" charset="-122"/>
              </a:rPr>
              <a:t>    </a:t>
            </a:r>
            <a:r>
              <a:rPr lang="en-US" altLang="zh-CN" sz="2200">
                <a:solidFill>
                  <a:srgbClr val="FF0000"/>
                </a:solidFill>
                <a:effectLst/>
                <a:latin typeface="宋体" panose="02010600030101010101" pitchFamily="2" charset="-122"/>
              </a:rPr>
              <a:t>7. </a:t>
            </a:r>
            <a:r>
              <a:rPr lang="zh-CN" altLang="en-US" sz="2200">
                <a:solidFill>
                  <a:srgbClr val="FF0000"/>
                </a:solidFill>
                <a:effectLst/>
                <a:latin typeface="宋体" panose="02010600030101010101" pitchFamily="2" charset="-122"/>
              </a:rPr>
              <a:t>抖动现象的消除</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请求分页管理中每个进程只能分配到所需内存的一部分，因此经常需要进行页置换，这就是抖动产生的原因。预防抖动的方法主要有以下</a:t>
            </a:r>
            <a:r>
              <a:rPr lang="en-US" altLang="zh-CN" sz="2000">
                <a:solidFill>
                  <a:schemeClr val="tx1"/>
                </a:solidFill>
                <a:effectLst>
                  <a:outerShdw blurRad="38100" dist="38100" dir="2700000" algn="tl">
                    <a:srgbClr val="FFFFFF"/>
                  </a:outerShdw>
                </a:effectLst>
              </a:rPr>
              <a:t>4</a:t>
            </a:r>
            <a:r>
              <a:rPr lang="zh-CN" altLang="en-US" sz="2000">
                <a:solidFill>
                  <a:schemeClr val="tx1"/>
                </a:solidFill>
                <a:effectLst>
                  <a:outerShdw blurRad="38100" dist="38100" dir="2700000" algn="tl">
                    <a:srgbClr val="FFFFFF"/>
                  </a:outerShdw>
                </a:effectLst>
              </a:rPr>
              <a:t>种：</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）采取局部置换策略。当某个进程产生缺页时，仅在系统分配给它的物理块范围内置换，不允许从其他进程那里获得新的物理块。这样，即使有某个进程发生了抖动，也不会导致其他进程产生抖动。</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）在作业调度中引入工作集算法。即在作业调度程序从外存向内存调入新的程序（创建新的进程）之前，必须检查每个进程在内存的驻留集是否足够大，足够大时才允许从外存调入新的程序到内存。</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3</a:t>
            </a:r>
            <a:r>
              <a:rPr lang="zh-CN" altLang="en-US" sz="2000">
                <a:solidFill>
                  <a:schemeClr val="tx1"/>
                </a:solidFill>
                <a:effectLst>
                  <a:outerShdw blurRad="38100" dist="38100" dir="2700000" algn="tl">
                    <a:srgbClr val="FFFFFF"/>
                  </a:outerShdw>
                </a:effectLst>
              </a:rPr>
              <a:t>）使用</a:t>
            </a:r>
            <a:r>
              <a:rPr lang="en-US" altLang="zh-CN" sz="2000">
                <a:solidFill>
                  <a:schemeClr val="tx1"/>
                </a:solidFill>
                <a:effectLst>
                  <a:outerShdw blurRad="38100" dist="38100" dir="2700000" algn="tl">
                    <a:srgbClr val="FFFFFF"/>
                  </a:outerShdw>
                </a:effectLst>
              </a:rPr>
              <a:t>P.Denning</a:t>
            </a:r>
            <a:r>
              <a:rPr lang="zh-CN" altLang="en-US" sz="2000">
                <a:solidFill>
                  <a:schemeClr val="tx1"/>
                </a:solidFill>
                <a:effectLst>
                  <a:outerShdw blurRad="38100" dist="38100" dir="2700000" algn="tl">
                    <a:srgbClr val="FFFFFF"/>
                  </a:outerShdw>
                </a:effectLst>
              </a:rPr>
              <a:t>于</a:t>
            </a:r>
            <a:r>
              <a:rPr lang="en-US" altLang="zh-CN" sz="2000">
                <a:solidFill>
                  <a:schemeClr val="tx1"/>
                </a:solidFill>
                <a:effectLst>
                  <a:outerShdw blurRad="38100" dist="38100" dir="2700000" algn="tl">
                    <a:srgbClr val="FFFFFF"/>
                  </a:outerShdw>
                </a:effectLst>
              </a:rPr>
              <a:t>1980</a:t>
            </a:r>
            <a:r>
              <a:rPr lang="zh-CN" altLang="en-US" sz="2000">
                <a:solidFill>
                  <a:schemeClr val="tx1"/>
                </a:solidFill>
                <a:effectLst>
                  <a:outerShdw blurRad="38100" dist="38100" dir="2700000" algn="tl">
                    <a:srgbClr val="FFFFFF"/>
                  </a:outerShdw>
                </a:effectLst>
              </a:rPr>
              <a:t>年提出的</a:t>
            </a:r>
            <a:r>
              <a:rPr lang="en-US" altLang="zh-CN" sz="2000">
                <a:solidFill>
                  <a:schemeClr val="tx1"/>
                </a:solidFill>
                <a:effectLst>
                  <a:outerShdw blurRad="38100" dist="38100" dir="2700000" algn="tl">
                    <a:srgbClr val="FFFFFF"/>
                  </a:outerShdw>
                </a:effectLst>
              </a:rPr>
              <a:t>L=S</a:t>
            </a:r>
            <a:r>
              <a:rPr lang="zh-CN" altLang="en-US" sz="2000">
                <a:solidFill>
                  <a:schemeClr val="tx1"/>
                </a:solidFill>
                <a:effectLst>
                  <a:outerShdw blurRad="38100" dist="38100" dir="2700000" algn="tl">
                    <a:srgbClr val="FFFFFF"/>
                  </a:outerShdw>
                </a:effectLst>
              </a:rPr>
              <a:t>准则来调整多道程序的个数，使此时的进程产生缺页的平均时间</a:t>
            </a:r>
            <a:r>
              <a:rPr lang="en-US" altLang="zh-CN" sz="2000">
                <a:solidFill>
                  <a:schemeClr val="tx1"/>
                </a:solidFill>
                <a:effectLst>
                  <a:outerShdw blurRad="38100" dist="38100" dir="2700000" algn="tl">
                    <a:srgbClr val="FFFFFF"/>
                  </a:outerShdw>
                </a:effectLst>
              </a:rPr>
              <a:t>L</a:t>
            </a:r>
            <a:r>
              <a:rPr lang="zh-CN" altLang="en-US" sz="2000">
                <a:solidFill>
                  <a:schemeClr val="tx1"/>
                </a:solidFill>
                <a:effectLst>
                  <a:outerShdw blurRad="38100" dist="38100" dir="2700000" algn="tl">
                    <a:srgbClr val="FFFFFF"/>
                  </a:outerShdw>
                </a:effectLst>
              </a:rPr>
              <a:t>等于系统处理进程缺页的平均时间</a:t>
            </a:r>
            <a:r>
              <a:rPr lang="en-US" altLang="zh-CN" sz="2000">
                <a:solidFill>
                  <a:schemeClr val="tx1"/>
                </a:solidFill>
                <a:effectLst>
                  <a:outerShdw blurRad="38100" dist="38100" dir="2700000" algn="tl">
                    <a:srgbClr val="FFFFFF"/>
                  </a:outerShdw>
                </a:effectLst>
              </a:rPr>
              <a:t>S</a:t>
            </a:r>
            <a:r>
              <a:rPr lang="zh-CN" altLang="en-US" sz="2000">
                <a:solidFill>
                  <a:schemeClr val="tx1"/>
                </a:solidFill>
                <a:effectLst>
                  <a:outerShdw blurRad="38100" dist="38100" dir="2700000" algn="tl">
                    <a:srgbClr val="FFFFFF"/>
                  </a:outerShdw>
                </a:effectLst>
              </a:rPr>
              <a:t>。实践证明，此时</a:t>
            </a:r>
            <a:r>
              <a:rPr lang="en-US" altLang="zh-CN" sz="2000">
                <a:solidFill>
                  <a:schemeClr val="tx1"/>
                </a:solidFill>
                <a:effectLst>
                  <a:outerShdw blurRad="38100" dist="38100" dir="2700000" algn="tl">
                    <a:srgbClr val="FFFFFF"/>
                  </a:outerShdw>
                </a:effectLst>
              </a:rPr>
              <a:t>CPU</a:t>
            </a:r>
            <a:r>
              <a:rPr lang="zh-CN" altLang="en-US" sz="2000">
                <a:solidFill>
                  <a:schemeClr val="tx1"/>
                </a:solidFill>
                <a:effectLst>
                  <a:outerShdw blurRad="38100" dist="38100" dir="2700000" algn="tl">
                    <a:srgbClr val="FFFFFF"/>
                  </a:outerShdw>
                </a:effectLst>
              </a:rPr>
              <a:t>利用的最佳。</a:t>
            </a:r>
          </a:p>
          <a:p>
            <a:pPr marL="0" indent="0">
              <a:lnSpc>
                <a:spcPts val="2800"/>
              </a:lnSpc>
              <a:buFont typeface="Wingdings" pitchFamily="2" charset="2"/>
              <a:buNone/>
            </a:pPr>
            <a:r>
              <a:rPr lang="zh-CN" altLang="en-US" sz="2000">
                <a:solidFill>
                  <a:schemeClr val="tx1"/>
                </a:solidFill>
                <a:effectLst>
                  <a:outerShdw blurRad="38100" dist="38100" dir="2700000" algn="tl">
                    <a:srgbClr val="FFFFFF"/>
                  </a:outerShdw>
                </a:effectLst>
              </a:rPr>
              <a:t>     （</a:t>
            </a:r>
            <a:r>
              <a:rPr lang="en-US" altLang="zh-CN" sz="2000">
                <a:solidFill>
                  <a:schemeClr val="tx1"/>
                </a:solidFill>
                <a:effectLst>
                  <a:outerShdw blurRad="38100" dist="38100" dir="2700000" algn="tl">
                    <a:srgbClr val="FFFFFF"/>
                  </a:outerShdw>
                </a:effectLst>
              </a:rPr>
              <a:t>4</a:t>
            </a:r>
            <a:r>
              <a:rPr lang="zh-CN" altLang="en-US" sz="2000">
                <a:solidFill>
                  <a:schemeClr val="tx1"/>
                </a:solidFill>
                <a:effectLst>
                  <a:outerShdw blurRad="38100" dist="38100" dir="2700000" algn="tl">
                    <a:srgbClr val="FFFFFF"/>
                  </a:outerShdw>
                </a:effectLst>
              </a:rPr>
              <a:t>） 挂起若干进程。被挂起的进程一般是选择优先权最低或较低的，或选择一个不很重要但又比较大的进程，或是具有最多剩余执行时间的进程。</a:t>
            </a:r>
          </a:p>
          <a:p>
            <a:pPr marL="0" indent="0" eaLnBrk="1" hangingPunct="1">
              <a:lnSpc>
                <a:spcPts val="2700"/>
              </a:lnSpc>
              <a:spcBef>
                <a:spcPct val="0"/>
              </a:spcBef>
              <a:buFont typeface="Wingdings" pitchFamily="2" charset="2"/>
              <a:buNone/>
            </a:pPr>
            <a:endParaRPr lang="en-US" altLang="zh-CN" sz="1800">
              <a:solidFill>
                <a:schemeClr val="tx1"/>
              </a:solidFill>
              <a:effectLst/>
              <a:latin typeface="宋体" panose="02010600030101010101" pitchFamily="2" charset="-122"/>
            </a:endParaRPr>
          </a:p>
        </p:txBody>
      </p:sp>
    </p:spTree>
  </p:cSld>
  <p:clrMapOvr>
    <a:masterClrMapping/>
  </p:clrMapOvr>
  <p:transition>
    <p:random/>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430E7179-948C-B548-A215-B5FF540B86E9}"/>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请求分页存储管理</a:t>
            </a:r>
          </a:p>
        </p:txBody>
      </p:sp>
      <p:sp>
        <p:nvSpPr>
          <p:cNvPr id="99331" name="Rectangle 3">
            <a:extLst>
              <a:ext uri="{FF2B5EF4-FFF2-40B4-BE49-F238E27FC236}">
                <a16:creationId xmlns:a16="http://schemas.microsoft.com/office/drawing/2014/main" id="{E41D3F32-280A-BE42-AC03-438E4EE76FE4}"/>
              </a:ext>
            </a:extLst>
          </p:cNvPr>
          <p:cNvSpPr>
            <a:spLocks noGrp="1" noChangeArrowheads="1"/>
          </p:cNvSpPr>
          <p:nvPr>
            <p:ph type="body" sz="half" idx="1"/>
          </p:nvPr>
        </p:nvSpPr>
        <p:spPr>
          <a:xfrm>
            <a:off x="571500" y="1357313"/>
            <a:ext cx="8358188" cy="5229225"/>
          </a:xfrm>
        </p:spPr>
        <p:txBody>
          <a:bodyPr/>
          <a:lstStyle/>
          <a:p>
            <a:pPr marL="0" indent="0" eaLnBrk="1" hangingPunct="1">
              <a:lnSpc>
                <a:spcPts val="3200"/>
              </a:lnSpc>
              <a:spcBef>
                <a:spcPct val="0"/>
              </a:spcBef>
              <a:buFont typeface="Wingdings" pitchFamily="2" charset="2"/>
              <a:buNone/>
            </a:pPr>
            <a:r>
              <a:rPr lang="en-US" altLang="zh-CN" sz="2200">
                <a:solidFill>
                  <a:srgbClr val="FF0000"/>
                </a:solidFill>
                <a:effectLst/>
                <a:latin typeface="宋体" panose="02010600030101010101" pitchFamily="2" charset="-122"/>
              </a:rPr>
              <a:t>8. </a:t>
            </a:r>
            <a:r>
              <a:rPr lang="zh-CN" altLang="en-US" sz="2200">
                <a:solidFill>
                  <a:srgbClr val="FF0000"/>
                </a:solidFill>
                <a:effectLst/>
                <a:latin typeface="宋体" panose="02010600030101010101" pitchFamily="2" charset="-122"/>
              </a:rPr>
              <a:t>请求分页存储管理的优缺点</a:t>
            </a:r>
          </a:p>
          <a:p>
            <a:pPr marL="0" indent="0" eaLnBrk="1" hangingPunct="1">
              <a:lnSpc>
                <a:spcPts val="3200"/>
              </a:lnSpc>
              <a:spcBef>
                <a:spcPct val="0"/>
              </a:spcBef>
              <a:buFont typeface="Wingdings" pitchFamily="2" charset="2"/>
              <a:buNone/>
            </a:pPr>
            <a:r>
              <a:rPr lang="zh-CN" altLang="en-US" sz="2000">
                <a:solidFill>
                  <a:srgbClr val="FF0000"/>
                </a:solidFill>
                <a:effectLst/>
                <a:latin typeface="宋体" panose="02010600030101010101" pitchFamily="2" charset="-122"/>
              </a:rPr>
              <a:t>   优点：</a:t>
            </a: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）不要求进程的程序和数据在内存中连续存放，有效地解决了外部碎片问题。</a:t>
            </a: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a:t>
            </a:r>
            <a:r>
              <a:rPr lang="zh-CN" altLang="en-US" sz="2000">
                <a:solidFill>
                  <a:schemeClr val="tx1"/>
                </a:solidFill>
                <a:effectLst>
                  <a:outerShdw blurRad="38100" dist="38100" dir="2700000" algn="tl">
                    <a:srgbClr val="FFFFFF"/>
                  </a:outerShdw>
                </a:effectLst>
              </a:rPr>
              <a:t>提供了虚拟存储器，不要求进程中的程序和数据一次性全部装入内存，因此提高了内存的利用率，有利于多道程序的运行。</a:t>
            </a: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  </a:t>
            </a:r>
            <a:r>
              <a:rPr lang="zh-CN" altLang="en-US" sz="2000">
                <a:solidFill>
                  <a:srgbClr val="FF0000"/>
                </a:solidFill>
                <a:effectLst/>
                <a:latin typeface="宋体" panose="02010600030101010101" pitchFamily="2" charset="-122"/>
              </a:rPr>
              <a:t> 缺点：</a:t>
            </a: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）增加了硬件成本。必须有相应的硬件支持，如地址转换机构、缺页中断机构和选择淘汰页等都需要硬件支持。</a:t>
            </a:r>
          </a:p>
          <a:p>
            <a:pPr marL="0" indent="0" eaLnBrk="1" hangingPunct="1">
              <a:lnSpc>
                <a:spcPts val="34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）可能因逻辑地址空间过大或多道程序的个数过多而造成系统抖动现象的产生。</a:t>
            </a:r>
          </a:p>
          <a:p>
            <a:pPr marL="0" indent="0" eaLnBrk="1" hangingPunct="1">
              <a:lnSpc>
                <a:spcPts val="32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）虽然消除了外部碎片，但进程的最后一页还存在内部碎片问题。</a:t>
            </a:r>
          </a:p>
          <a:p>
            <a:pPr marL="0" indent="0" eaLnBrk="1" hangingPunct="1">
              <a:lnSpc>
                <a:spcPct val="150000"/>
              </a:lnSpc>
              <a:spcBef>
                <a:spcPct val="0"/>
              </a:spcBef>
              <a:buFont typeface="Wingdings" pitchFamily="2" charset="2"/>
              <a:buNone/>
            </a:pPr>
            <a:endParaRPr lang="en-US" altLang="zh-CN" sz="1800">
              <a:solidFill>
                <a:schemeClr val="tx1"/>
              </a:solidFill>
              <a:effectLst/>
              <a:latin typeface="宋体" panose="02010600030101010101" pitchFamily="2" charset="-122"/>
            </a:endParaRPr>
          </a:p>
        </p:txBody>
      </p:sp>
    </p:spTree>
  </p:cSld>
  <p:clrMapOvr>
    <a:masterClrMapping/>
  </p:clrMapOvr>
  <p:transition>
    <p:random/>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A8DE36E4-3813-2648-9FF2-D6EFBBC5F5B3}"/>
              </a:ext>
            </a:extLst>
          </p:cNvPr>
          <p:cNvSpPr>
            <a:spLocks noGrp="1" noChangeArrowheads="1"/>
          </p:cNvSpPr>
          <p:nvPr>
            <p:ph type="body" idx="1"/>
          </p:nvPr>
        </p:nvSpPr>
        <p:spPr>
          <a:xfrm>
            <a:off x="34925" y="1714500"/>
            <a:ext cx="8713788" cy="4572000"/>
          </a:xfrm>
        </p:spPr>
        <p:txBody>
          <a:bodyPr/>
          <a:lstStyle/>
          <a:p>
            <a:pPr>
              <a:buFont typeface="Wingdings" pitchFamily="2" charset="2"/>
              <a:buNone/>
            </a:pPr>
            <a:r>
              <a:rPr lang="en-US" altLang="zh-CN" sz="3200">
                <a:solidFill>
                  <a:srgbClr val="FF0000"/>
                </a:solidFill>
                <a:effectLst>
                  <a:outerShdw blurRad="38100" dist="38100" dir="2700000" algn="tl">
                    <a:srgbClr val="FFFFFF"/>
                  </a:outerShdw>
                </a:effectLst>
              </a:rPr>
              <a:t>    </a:t>
            </a:r>
            <a:r>
              <a:rPr lang="en-US" altLang="zh-CN">
                <a:solidFill>
                  <a:srgbClr val="FF0000"/>
                </a:solidFill>
                <a:effectLst>
                  <a:outerShdw blurRad="38100" dist="38100" dir="2700000" algn="tl">
                    <a:srgbClr val="FFFFFF"/>
                  </a:outerShdw>
                </a:effectLst>
              </a:rPr>
              <a:t>4.7.3  </a:t>
            </a:r>
            <a:r>
              <a:rPr lang="zh-CN" altLang="en-US">
                <a:solidFill>
                  <a:srgbClr val="FF0000"/>
                </a:solidFill>
                <a:effectLst>
                  <a:outerShdw blurRad="38100" dist="38100" dir="2700000" algn="tl">
                    <a:srgbClr val="FFFFFF"/>
                  </a:outerShdw>
                </a:effectLst>
              </a:rPr>
              <a:t>请求分段存储管理</a:t>
            </a:r>
          </a:p>
          <a:p>
            <a:pPr>
              <a:lnSpc>
                <a:spcPts val="4500"/>
              </a:lnSpc>
              <a:buFont typeface="Wingdings" pitchFamily="2" charset="2"/>
              <a:buNone/>
            </a:pPr>
            <a:r>
              <a:rPr lang="zh-CN" altLang="en-US" sz="3200">
                <a:solidFill>
                  <a:schemeClr val="tx1"/>
                </a:solidFill>
                <a:effectLst>
                  <a:outerShdw blurRad="38100" dist="38100" dir="2700000" algn="tl">
                    <a:srgbClr val="FFFFFF"/>
                  </a:outerShdw>
                </a:effectLst>
              </a:rPr>
              <a:t>       </a:t>
            </a:r>
            <a:r>
              <a:rPr lang="zh-CN" altLang="en-US" sz="2200">
                <a:solidFill>
                  <a:schemeClr val="tx1"/>
                </a:solidFill>
                <a:effectLst>
                  <a:outerShdw blurRad="38100" dist="38100" dir="2700000" algn="tl">
                    <a:srgbClr val="FFFFFF"/>
                  </a:outerShdw>
                </a:effectLst>
              </a:rPr>
              <a:t>请求分段存储管理是在分段存储管理的基础上，增加了</a:t>
            </a:r>
            <a:r>
              <a:rPr lang="zh-CN" altLang="en-US" sz="2200">
                <a:solidFill>
                  <a:srgbClr val="FF0000"/>
                </a:solidFill>
                <a:effectLst>
                  <a:outerShdw blurRad="38100" dist="38100" dir="2700000" algn="tl">
                    <a:srgbClr val="FFFFFF"/>
                  </a:outerShdw>
                </a:effectLst>
              </a:rPr>
              <a:t>请求分段功能</a:t>
            </a:r>
            <a:r>
              <a:rPr lang="zh-CN" altLang="en-US" sz="2200">
                <a:solidFill>
                  <a:schemeClr val="tx1"/>
                </a:solidFill>
                <a:effectLst>
                  <a:outerShdw blurRad="38100" dist="38100" dir="2700000" algn="tl">
                    <a:srgbClr val="FFFFFF"/>
                  </a:outerShdw>
                </a:effectLst>
              </a:rPr>
              <a:t>和</a:t>
            </a:r>
            <a:r>
              <a:rPr lang="zh-CN" altLang="en-US" sz="2200">
                <a:solidFill>
                  <a:srgbClr val="FF0000"/>
                </a:solidFill>
                <a:effectLst>
                  <a:outerShdw blurRad="38100" dist="38100" dir="2700000" algn="tl">
                    <a:srgbClr val="FFFFFF"/>
                  </a:outerShdw>
                </a:effectLst>
              </a:rPr>
              <a:t>分段置换功能</a:t>
            </a:r>
            <a:r>
              <a:rPr lang="zh-CN" altLang="en-US" sz="2200">
                <a:solidFill>
                  <a:schemeClr val="tx1"/>
                </a:solidFill>
                <a:effectLst>
                  <a:outerShdw blurRad="38100" dist="38100" dir="2700000" algn="tl">
                    <a:srgbClr val="FFFFFF"/>
                  </a:outerShdw>
                </a:effectLst>
              </a:rPr>
              <a:t>后形成的一种段式虚拟存储管理。在请求分段存储管理中，进程在运行前并不需要将它的所有分段都装入内存，仅把当前所需的若干个分段装入内存即可启动运行。在进程运行过程中，若需要访问的段不在内存，则产生缺段中断信号，并由系统从外存将该段调入内存。</a:t>
            </a:r>
            <a:r>
              <a:rPr lang="zh-CN" altLang="zh-CN">
                <a:solidFill>
                  <a:srgbClr val="FF0000"/>
                </a:solidFill>
                <a:effectLst/>
                <a:latin typeface="Times New Roman" panose="02020603050405020304" pitchFamily="18" charset="0"/>
                <a:cs typeface="Times New Roman" panose="02020603050405020304" pitchFamily="18" charset="0"/>
              </a:rPr>
              <a:t>与缺页中断一样，缺段中断处理结束后，还要重新执行刚发生缺段中断的那条指令</a:t>
            </a:r>
            <a:r>
              <a:rPr lang="zh-CN" altLang="en-US" sz="2200">
                <a:solidFill>
                  <a:schemeClr val="tx1"/>
                </a:solidFill>
                <a:effectLst>
                  <a:outerShdw blurRad="38100" dist="38100" dir="2700000" algn="tl">
                    <a:srgbClr val="FFFFFF"/>
                  </a:outerShdw>
                </a:effectLst>
              </a:rPr>
              <a:t>。</a:t>
            </a:r>
            <a:endParaRPr lang="zh-CN" altLang="en-US" sz="2200">
              <a:solidFill>
                <a:schemeClr val="tx1"/>
              </a:solidFill>
              <a:effectLst/>
              <a:latin typeface="宋体" panose="02010600030101010101" pitchFamily="2" charset="-122"/>
            </a:endParaRPr>
          </a:p>
        </p:txBody>
      </p:sp>
      <p:sp>
        <p:nvSpPr>
          <p:cNvPr id="121859" name="AutoShape 3">
            <a:extLst>
              <a:ext uri="{FF2B5EF4-FFF2-40B4-BE49-F238E27FC236}">
                <a16:creationId xmlns:a16="http://schemas.microsoft.com/office/drawing/2014/main" id="{0E1FB047-C6FB-5741-9A01-20C305BD681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E9F1EE83-16B7-C843-B5D1-F3874029D6EF}"/>
              </a:ext>
            </a:extLst>
          </p:cNvPr>
          <p:cNvSpPr>
            <a:spLocks noGrp="1" noChangeArrowheads="1"/>
          </p:cNvSpPr>
          <p:nvPr>
            <p:ph type="body" idx="1"/>
          </p:nvPr>
        </p:nvSpPr>
        <p:spPr>
          <a:xfrm>
            <a:off x="374650" y="2024063"/>
            <a:ext cx="8102600" cy="4500562"/>
          </a:xfrm>
        </p:spPr>
        <p:txBody>
          <a:bodyPr/>
          <a:lstStyle/>
          <a:p>
            <a:pPr>
              <a:lnSpc>
                <a:spcPts val="4000"/>
              </a:lnSpc>
              <a:buFont typeface="Wingdings" pitchFamily="2" charset="2"/>
              <a:buNone/>
            </a:pPr>
            <a:r>
              <a:rPr lang="en-US" altLang="zh-CN">
                <a:solidFill>
                  <a:srgbClr val="FF0000"/>
                </a:solidFill>
                <a:effectLst>
                  <a:outerShdw blurRad="38100" dist="38100" dir="2700000" algn="tl">
                    <a:srgbClr val="FFFFFF"/>
                  </a:outerShdw>
                </a:effectLst>
              </a:rPr>
              <a:t>1</a:t>
            </a:r>
            <a:r>
              <a:rPr lang="zh-CN" altLang="en-US">
                <a:solidFill>
                  <a:srgbClr val="FF0000"/>
                </a:solidFill>
                <a:effectLst>
                  <a:outerShdw blurRad="38100" dist="38100" dir="2700000" algn="tl">
                    <a:srgbClr val="FFFFFF"/>
                  </a:outerShdw>
                </a:effectLst>
              </a:rPr>
              <a:t>．请求分段的段表机制</a:t>
            </a:r>
          </a:p>
          <a:p>
            <a:pPr>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为了实现段式虚拟存储器，请求分段存储管理对分段存储管理中的段表进行了扩充，增加了一些相关的字段。新增的字段包括访问位、修改位、中断位（状态位）、增补位、存取方式和外存始址等，请求分段存储管理中的段表项结构如下图所示：</a:t>
            </a:r>
          </a:p>
          <a:p>
            <a:pPr eaLnBrk="1" hangingPunct="1">
              <a:lnSpc>
                <a:spcPct val="150000"/>
              </a:lnSpc>
              <a:spcBef>
                <a:spcPct val="35000"/>
              </a:spcBef>
              <a:buFont typeface="Wingdings" pitchFamily="2" charset="2"/>
              <a:buAutoNum type="arabicPeriod"/>
            </a:pPr>
            <a:endParaRPr lang="zh-CN" altLang="en-US">
              <a:solidFill>
                <a:schemeClr val="tx1"/>
              </a:solidFill>
              <a:effectLst/>
              <a:latin typeface="宋体" panose="02010600030101010101" pitchFamily="2" charset="-122"/>
            </a:endParaRPr>
          </a:p>
          <a:p>
            <a:pPr eaLnBrk="1" hangingPunct="1">
              <a:lnSpc>
                <a:spcPct val="150000"/>
              </a:lnSpc>
              <a:spcBef>
                <a:spcPct val="35000"/>
              </a:spcBef>
              <a:buFont typeface="Wingdings" pitchFamily="2" charset="2"/>
              <a:buNone/>
            </a:pPr>
            <a:endParaRPr lang="zh-CN" altLang="en-US">
              <a:solidFill>
                <a:schemeClr val="tx1"/>
              </a:solidFill>
              <a:effectLst/>
              <a:latin typeface="宋体" panose="02010600030101010101" pitchFamily="2" charset="-122"/>
            </a:endParaRPr>
          </a:p>
        </p:txBody>
      </p:sp>
      <p:sp>
        <p:nvSpPr>
          <p:cNvPr id="121859" name="AutoShape 3">
            <a:extLst>
              <a:ext uri="{FF2B5EF4-FFF2-40B4-BE49-F238E27FC236}">
                <a16:creationId xmlns:a16="http://schemas.microsoft.com/office/drawing/2014/main" id="{452669A8-1267-5C46-BEA6-F9E4F32363DC}"/>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pic>
        <p:nvPicPr>
          <p:cNvPr id="123908" name="图片 43" descr="4t40">
            <a:extLst>
              <a:ext uri="{FF2B5EF4-FFF2-40B4-BE49-F238E27FC236}">
                <a16:creationId xmlns:a16="http://schemas.microsoft.com/office/drawing/2014/main" id="{668C25BC-957F-A047-A8AD-B22B3D6FD8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875" y="5214938"/>
            <a:ext cx="8858250" cy="500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91E34FC9-B982-A140-9BF8-4E41857E7968}"/>
              </a:ext>
            </a:extLst>
          </p:cNvPr>
          <p:cNvSpPr>
            <a:spLocks noGrp="1" noChangeArrowheads="1"/>
          </p:cNvSpPr>
          <p:nvPr>
            <p:ph type="body" idx="1"/>
          </p:nvPr>
        </p:nvSpPr>
        <p:spPr>
          <a:xfrm>
            <a:off x="0" y="1368425"/>
            <a:ext cx="8786813" cy="5373688"/>
          </a:xfrm>
        </p:spPr>
        <p:txBody>
          <a:bodyPr/>
          <a:lstStyle/>
          <a:p>
            <a:pPr marL="457200" indent="-457200" algn="just" eaLnBrk="1" hangingPunct="1">
              <a:lnSpc>
                <a:spcPct val="150000"/>
              </a:lnSpc>
              <a:spcBef>
                <a:spcPct val="35000"/>
              </a:spcBef>
              <a:buFont typeface="Wingdings" pitchFamily="2" charset="2"/>
              <a:buNone/>
            </a:pPr>
            <a:r>
              <a:rPr lang="en-US" altLang="zh-CN">
                <a:solidFill>
                  <a:schemeClr val="tx1"/>
                </a:solidFill>
                <a:effectLst/>
                <a:latin typeface="宋体" panose="02010600030101010101" pitchFamily="2" charset="-122"/>
              </a:rPr>
              <a:t>    </a:t>
            </a:r>
            <a:r>
              <a:rPr lang="en-US" altLang="zh-CN">
                <a:solidFill>
                  <a:srgbClr val="FF0000"/>
                </a:solidFill>
                <a:effectLst/>
                <a:latin typeface="宋体" panose="02010600030101010101" pitchFamily="2" charset="-122"/>
              </a:rPr>
              <a:t>2. </a:t>
            </a:r>
            <a:r>
              <a:rPr lang="zh-CN" altLang="en-US">
                <a:solidFill>
                  <a:srgbClr val="FF0000"/>
                </a:solidFill>
                <a:effectLst/>
                <a:latin typeface="宋体" panose="02010600030101010101" pitchFamily="2" charset="-122"/>
              </a:rPr>
              <a:t>缺段中断处理</a:t>
            </a:r>
            <a:endParaRPr lang="en-US" altLang="zh-CN">
              <a:solidFill>
                <a:srgbClr val="FF0000"/>
              </a:solidFill>
              <a:effectLst/>
              <a:latin typeface="宋体" panose="02010600030101010101" pitchFamily="2" charset="-122"/>
            </a:endParaRPr>
          </a:p>
          <a:p>
            <a:pPr marL="457200" indent="-457200" algn="just" eaLnBrk="1" hangingPunct="1">
              <a:lnSpc>
                <a:spcPts val="3400"/>
              </a:lnSpc>
              <a:spcBef>
                <a:spcPct val="35000"/>
              </a:spcBef>
              <a:buFont typeface="Wingdings" pitchFamily="2" charset="2"/>
              <a:buNone/>
            </a:pPr>
            <a:r>
              <a:rPr lang="zh-CN" altLang="en-US" sz="2000">
                <a:solidFill>
                  <a:schemeClr val="tx1"/>
                </a:solidFill>
                <a:effectLst>
                  <a:outerShdw blurRad="38100" dist="38100" dir="2700000" algn="tl">
                    <a:srgbClr val="FFFFFF"/>
                  </a:outerShdw>
                </a:effectLst>
              </a:rPr>
              <a:t>           当进程运行过程中所要访问的段尚未调入内存，就产生缺段中段信号。一旦某进程产生缺段中断，就会执行缺段中断处理程序进行处理，其处理过程与请求分页系统中的缺页处理过程类似，即系统首先判断内存中是否有一个连续的空闲空间能够装入所缺的段，若有，则直接将该段装入内存，同时修改相关的数据结构；若内存中没有满足需求的一个连续空闲空间，则判断内存中各连续空闲空间的总和是否能满足该段的需求。若能满足，则可以采用紧凑技术将内存中各连续空闲空间进行合并，形成一个大的连续空闲空间，然后再装入该段；若不能满足，就必须根据一定的置换算法将内存中的一个或若干个段淘汰，以便腾出内存空间装入该段，被淘汰的段若在内存中被修改过，还必须将其写回外存。</a:t>
            </a:r>
          </a:p>
          <a:p>
            <a:pPr marL="457200" indent="-457200" eaLnBrk="1" hangingPunct="1">
              <a:lnSpc>
                <a:spcPct val="150000"/>
              </a:lnSpc>
              <a:spcBef>
                <a:spcPct val="35000"/>
              </a:spcBef>
              <a:buFont typeface="Wingdings" pitchFamily="2" charset="2"/>
              <a:buNone/>
            </a:pPr>
            <a:endParaRPr lang="zh-CN" altLang="en-US">
              <a:solidFill>
                <a:schemeClr val="tx1"/>
              </a:solidFill>
              <a:effectLst/>
              <a:latin typeface="宋体" panose="02010600030101010101" pitchFamily="2" charset="-122"/>
            </a:endParaRPr>
          </a:p>
        </p:txBody>
      </p:sp>
      <p:sp>
        <p:nvSpPr>
          <p:cNvPr id="121859" name="AutoShape 3">
            <a:extLst>
              <a:ext uri="{FF2B5EF4-FFF2-40B4-BE49-F238E27FC236}">
                <a16:creationId xmlns:a16="http://schemas.microsoft.com/office/drawing/2014/main" id="{C225D1D3-AC18-D741-926A-85D536DDC0D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3">
            <a:extLst>
              <a:ext uri="{FF2B5EF4-FFF2-40B4-BE49-F238E27FC236}">
                <a16:creationId xmlns:a16="http://schemas.microsoft.com/office/drawing/2014/main" id="{69AF6CA0-5084-D64D-A884-CF5FE99A2A18}"/>
              </a:ext>
            </a:extLst>
          </p:cNvPr>
          <p:cNvSpPr>
            <a:spLocks noGrp="1" noChangeArrowheads="1"/>
          </p:cNvSpPr>
          <p:nvPr>
            <p:ph type="body" sz="half" idx="1"/>
          </p:nvPr>
        </p:nvSpPr>
        <p:spPr>
          <a:xfrm>
            <a:off x="142875" y="1412875"/>
            <a:ext cx="785813" cy="1158875"/>
          </a:xfrm>
        </p:spPr>
        <p:txBody>
          <a:bodyPr/>
          <a:lstStyle/>
          <a:p>
            <a:pPr marL="0" indent="0" eaLnBrk="1" hangingPunct="1">
              <a:buFont typeface="Wingdings" pitchFamily="2" charset="2"/>
              <a:buNone/>
            </a:pPr>
            <a:r>
              <a:rPr lang="en-US" altLang="en-US" sz="2000">
                <a:solidFill>
                  <a:srgbClr val="FF0000"/>
                </a:solidFill>
                <a:effectLst/>
                <a:latin typeface="宋体" panose="02010600030101010101" pitchFamily="2" charset="-122"/>
              </a:rPr>
              <a:t>3. </a:t>
            </a:r>
          </a:p>
          <a:p>
            <a:pPr marL="0" indent="0" eaLnBrk="1" hangingPunct="1">
              <a:buFont typeface="Wingdings" pitchFamily="2" charset="2"/>
              <a:buNone/>
            </a:pPr>
            <a:r>
              <a:rPr lang="en-US" altLang="en-US" sz="2000">
                <a:solidFill>
                  <a:srgbClr val="FF0000"/>
                </a:solidFill>
                <a:effectLst/>
                <a:latin typeface="宋体" panose="02010600030101010101" pitchFamily="2" charset="-122"/>
              </a:rPr>
              <a:t>地址</a:t>
            </a:r>
          </a:p>
          <a:p>
            <a:pPr marL="0" indent="0" eaLnBrk="1" hangingPunct="1">
              <a:buFont typeface="Wingdings" pitchFamily="2" charset="2"/>
              <a:buNone/>
            </a:pPr>
            <a:r>
              <a:rPr lang="en-US" altLang="en-US" sz="2000">
                <a:solidFill>
                  <a:srgbClr val="FF0000"/>
                </a:solidFill>
                <a:effectLst/>
                <a:latin typeface="宋体" panose="02010600030101010101" pitchFamily="2" charset="-122"/>
              </a:rPr>
              <a:t>转换</a:t>
            </a:r>
            <a:endParaRPr lang="zh-CN" altLang="en-US" sz="2000">
              <a:solidFill>
                <a:srgbClr val="FF0000"/>
              </a:solidFill>
              <a:effectLst/>
              <a:latin typeface="宋体" panose="02010600030101010101" pitchFamily="2" charset="-122"/>
            </a:endParaRPr>
          </a:p>
        </p:txBody>
      </p:sp>
      <p:pic>
        <p:nvPicPr>
          <p:cNvPr id="125955" name="Picture 5">
            <a:extLst>
              <a:ext uri="{FF2B5EF4-FFF2-40B4-BE49-F238E27FC236}">
                <a16:creationId xmlns:a16="http://schemas.microsoft.com/office/drawing/2014/main" id="{EC90A062-D92B-B147-805F-8D7F72DBBE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0"/>
            <a:ext cx="8174037" cy="6742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2">
            <a:extLst>
              <a:ext uri="{FF2B5EF4-FFF2-40B4-BE49-F238E27FC236}">
                <a16:creationId xmlns:a16="http://schemas.microsoft.com/office/drawing/2014/main" id="{FADC48F9-650B-4842-84EB-8FCB87A739E2}"/>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请求分段存储管理</a:t>
            </a:r>
          </a:p>
        </p:txBody>
      </p:sp>
      <p:sp>
        <p:nvSpPr>
          <p:cNvPr id="102403" name="Rectangle 3">
            <a:extLst>
              <a:ext uri="{FF2B5EF4-FFF2-40B4-BE49-F238E27FC236}">
                <a16:creationId xmlns:a16="http://schemas.microsoft.com/office/drawing/2014/main" id="{D986139D-2479-7444-9CF1-71E3FA55371B}"/>
              </a:ext>
            </a:extLst>
          </p:cNvPr>
          <p:cNvSpPr>
            <a:spLocks noGrp="1" noChangeArrowheads="1"/>
          </p:cNvSpPr>
          <p:nvPr>
            <p:ph type="body" sz="half" idx="1"/>
          </p:nvPr>
        </p:nvSpPr>
        <p:spPr>
          <a:xfrm>
            <a:off x="142875" y="1285875"/>
            <a:ext cx="8858250" cy="5456238"/>
          </a:xfrm>
        </p:spPr>
        <p:txBody>
          <a:bodyPr/>
          <a:lstStyle/>
          <a:p>
            <a:pPr marL="0" indent="0" eaLnBrk="1" hangingPunct="1">
              <a:lnSpc>
                <a:spcPts val="3200"/>
              </a:lnSpc>
              <a:buFont typeface="Wingdings" pitchFamily="2" charset="2"/>
              <a:buNone/>
            </a:pPr>
            <a:r>
              <a:rPr lang="zh-CN" altLang="en-US" sz="1800">
                <a:solidFill>
                  <a:srgbClr val="FF0000"/>
                </a:solidFill>
                <a:effectLst/>
                <a:latin typeface="Times New Roman" panose="02020603050405020304" pitchFamily="18" charset="0"/>
                <a:cs typeface="Times New Roman" panose="02020603050405020304" pitchFamily="18" charset="0"/>
              </a:rPr>
              <a:t>说明：</a:t>
            </a:r>
            <a:r>
              <a:rPr lang="zh-CN" altLang="zh-CN" sz="1800">
                <a:solidFill>
                  <a:schemeClr val="tx1"/>
                </a:solidFill>
                <a:effectLst/>
                <a:latin typeface="Times New Roman" panose="02020603050405020304" pitchFamily="18" charset="0"/>
                <a:cs typeface="Times New Roman" panose="02020603050405020304" pitchFamily="18" charset="0"/>
              </a:rPr>
              <a:t>在地址转换过程中，在段表中查找该段对应的段表项时，若由此段表项中的中断位（状态位）得知该段不在内存中，则发出缺段中断请求。这时，由缺段中断处理程序将该段调入内存。在缺段中断处理中，如果内存中有合适的空闲区能够装入该段，则将该段装入这个空闲区。如果没有合适的空闲区可用，则首先查看内存中所有的空闲区之和是否满足该段的要求，若能满足，则采用紧凑法将这些空闲区拼接出一个满足要求的大空闲区来装入该段；否则，根据内存中各段所对应的段表项中访问位信息（访问的次数或最近有多久未被访问过）及修改位信息（该段调入内存后是否被修改过），按照某种置换算法淘汰内存中的一个或几个段，以腾出内存空间来装入该段（若淘汰的是几个段，则可能需要采用紧凑法将这些段分散使用的内存区拼接出一个满足要求的大空闲区）。当该段已在内存中时，则按分段存储管理中逻辑地址到内存物理地址的转换方法，先访问内存中的段表，找到与该段对应的段表项，从中得到该段在内存中的起始地址（内存始址），然后由这个内存始址加上逻辑地址中的段内地址，就得到要访问的内存物理地址</a:t>
            </a:r>
            <a:r>
              <a:rPr lang="zh-CN" altLang="en-US" sz="1800">
                <a:solidFill>
                  <a:schemeClr val="tx1"/>
                </a:solidFill>
                <a:effectLst/>
                <a:latin typeface="Times New Roman" panose="02020603050405020304" pitchFamily="18" charset="0"/>
                <a:cs typeface="Times New Roman" panose="02020603050405020304" pitchFamily="18" charset="0"/>
              </a:rPr>
              <a:t>。</a:t>
            </a:r>
            <a:endParaRPr lang="zh-CN" altLang="en-US" sz="1800">
              <a:solidFill>
                <a:schemeClr val="tx1"/>
              </a:solidFill>
              <a:effectLst/>
              <a:latin typeface="宋体" panose="02010600030101010101" pitchFamily="2" charset="-122"/>
            </a:endParaRPr>
          </a:p>
          <a:p>
            <a:pPr marL="0" indent="0" eaLnBrk="1" hangingPunct="1">
              <a:lnSpc>
                <a:spcPct val="20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a:extLst>
              <a:ext uri="{FF2B5EF4-FFF2-40B4-BE49-F238E27FC236}">
                <a16:creationId xmlns:a16="http://schemas.microsoft.com/office/drawing/2014/main" id="{6C235491-3716-784B-A70D-E75A557D577D}"/>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请求分段存储管理</a:t>
            </a:r>
          </a:p>
        </p:txBody>
      </p:sp>
      <p:sp>
        <p:nvSpPr>
          <p:cNvPr id="102403" name="Rectangle 3">
            <a:extLst>
              <a:ext uri="{FF2B5EF4-FFF2-40B4-BE49-F238E27FC236}">
                <a16:creationId xmlns:a16="http://schemas.microsoft.com/office/drawing/2014/main" id="{D27EB4A7-A159-124D-ADA0-9A5307B0825E}"/>
              </a:ext>
            </a:extLst>
          </p:cNvPr>
          <p:cNvSpPr>
            <a:spLocks noGrp="1" noChangeArrowheads="1"/>
          </p:cNvSpPr>
          <p:nvPr>
            <p:ph type="body" sz="half" idx="1"/>
          </p:nvPr>
        </p:nvSpPr>
        <p:spPr>
          <a:xfrm>
            <a:off x="142875" y="1285875"/>
            <a:ext cx="8858250" cy="5286375"/>
          </a:xfrm>
        </p:spPr>
        <p:txBody>
          <a:bodyPr/>
          <a:lstStyle/>
          <a:p>
            <a:pPr marL="0" indent="0" eaLnBrk="1" hangingPunct="1">
              <a:lnSpc>
                <a:spcPts val="3300"/>
              </a:lnSpc>
              <a:buFont typeface="Wingdings" pitchFamily="2" charset="2"/>
              <a:buNone/>
            </a:pPr>
            <a:r>
              <a:rPr lang="en-US" altLang="zh-CN" sz="2200">
                <a:solidFill>
                  <a:srgbClr val="FF0000"/>
                </a:solidFill>
                <a:effectLst/>
                <a:latin typeface="宋体" panose="02010600030101010101" pitchFamily="2" charset="-122"/>
              </a:rPr>
              <a:t>4. </a:t>
            </a:r>
            <a:r>
              <a:rPr lang="zh-CN" altLang="en-US" sz="2200">
                <a:solidFill>
                  <a:srgbClr val="FF0000"/>
                </a:solidFill>
                <a:effectLst/>
                <a:latin typeface="宋体" panose="02010600030101010101" pitchFamily="2" charset="-122"/>
              </a:rPr>
              <a:t>分段共享与存储保护</a:t>
            </a:r>
          </a:p>
          <a:p>
            <a:pPr marL="0" indent="0" eaLnBrk="1" hangingPunct="1">
              <a:lnSpc>
                <a:spcPts val="33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）共享段数据结构：</a:t>
            </a:r>
            <a:r>
              <a:rPr lang="zh-CN" altLang="en-US" sz="2000">
                <a:solidFill>
                  <a:schemeClr val="tx1"/>
                </a:solidFill>
                <a:effectLst>
                  <a:outerShdw blurRad="38100" dist="38100" dir="2700000" algn="tl">
                    <a:srgbClr val="FFFFFF"/>
                  </a:outerShdw>
                </a:effectLst>
              </a:rPr>
              <a:t>用共享段表来记录每一个共享段的段号、段长、内存始址、状态位（是否在内存）等信息，并记录共享此段的每个进程的情况。</a:t>
            </a:r>
            <a:endParaRPr lang="zh-CN" altLang="en-US" sz="2000">
              <a:solidFill>
                <a:schemeClr val="tx1"/>
              </a:solidFill>
              <a:effectLst/>
              <a:latin typeface="宋体" panose="02010600030101010101" pitchFamily="2" charset="-122"/>
            </a:endParaRPr>
          </a:p>
          <a:p>
            <a:pPr marL="0" indent="0" eaLnBrk="1" hangingPunct="1">
              <a:lnSpc>
                <a:spcPts val="3300"/>
              </a:lnSpc>
              <a:buFont typeface="Wingdings" pitchFamily="2" charset="2"/>
              <a:buNone/>
            </a:pPr>
            <a:endParaRPr lang="zh-CN" altLang="en-US" sz="2000">
              <a:solidFill>
                <a:schemeClr val="tx1"/>
              </a:solidFill>
              <a:effectLst/>
              <a:latin typeface="宋体" panose="02010600030101010101" pitchFamily="2" charset="-122"/>
            </a:endParaRPr>
          </a:p>
          <a:p>
            <a:pPr marL="0" indent="0">
              <a:lnSpc>
                <a:spcPts val="3300"/>
              </a:lnSpc>
            </a:pPr>
            <a:endParaRPr lang="en-US" altLang="zh-CN" sz="2000"/>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其中：</a:t>
            </a:r>
            <a:endParaRPr lang="en-US" altLang="zh-CN" sz="2000">
              <a:solidFill>
                <a:schemeClr val="tx1"/>
              </a:solidFill>
              <a:effectLst>
                <a:outerShdw blurRad="38100" dist="38100" dir="2700000" algn="tl">
                  <a:srgbClr val="FFFFFF"/>
                </a:outerShdw>
              </a:effectLst>
            </a:endParaRPr>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①  共享进程计数器（整型变量</a:t>
            </a:r>
            <a:r>
              <a:rPr lang="en-US" altLang="zh-CN" sz="2000">
                <a:solidFill>
                  <a:schemeClr val="tx1"/>
                </a:solidFill>
                <a:effectLst>
                  <a:outerShdw blurRad="38100" dist="38100" dir="2700000" algn="tl">
                    <a:srgbClr val="FFFFFF"/>
                  </a:outerShdw>
                </a:effectLst>
              </a:rPr>
              <a:t>count</a:t>
            </a:r>
            <a:r>
              <a:rPr lang="zh-CN" altLang="en-US" sz="2000">
                <a:solidFill>
                  <a:schemeClr val="tx1"/>
                </a:solidFill>
                <a:effectLst>
                  <a:outerShdw blurRad="38100" dist="38100" dir="2700000" algn="tl">
                    <a:srgbClr val="FFFFFF"/>
                  </a:outerShdw>
                </a:effectLst>
              </a:rPr>
              <a:t>）。记录有多少个进程在共享该段。</a:t>
            </a:r>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②  存取控制。说明不同的进程对该段不同的存取权限。</a:t>
            </a:r>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③  段号</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。对同一个共享段，不同的进程可以使用不同的段号去共享该段。</a:t>
            </a:r>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④  状态</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。该段是否在内存。</a:t>
            </a:r>
          </a:p>
          <a:p>
            <a:pPr marL="0" indent="0">
              <a:lnSpc>
                <a:spcPts val="3300"/>
              </a:lnSpc>
              <a:buFont typeface="Wingdings" pitchFamily="2" charset="2"/>
              <a:buNone/>
            </a:pPr>
            <a:r>
              <a:rPr lang="zh-CN" altLang="en-US" sz="2000">
                <a:solidFill>
                  <a:schemeClr val="tx1"/>
                </a:solidFill>
                <a:effectLst>
                  <a:outerShdw blurRad="38100" dist="38100" dir="2700000" algn="tl">
                    <a:srgbClr val="FFFFFF"/>
                  </a:outerShdw>
                </a:effectLst>
              </a:rPr>
              <a:t> ⑤  状态</a:t>
            </a:r>
            <a:r>
              <a:rPr lang="en-US" altLang="zh-CN" sz="2000">
                <a:solidFill>
                  <a:schemeClr val="tx1"/>
                </a:solidFill>
                <a:effectLst>
                  <a:outerShdw blurRad="38100" dist="38100" dir="2700000" algn="tl">
                    <a:srgbClr val="FFFFFF"/>
                  </a:outerShdw>
                </a:effectLst>
              </a:rPr>
              <a:t>2</a:t>
            </a:r>
            <a:r>
              <a:rPr lang="zh-CN" altLang="en-US" sz="2000">
                <a:solidFill>
                  <a:schemeClr val="tx1"/>
                </a:solidFill>
                <a:effectLst>
                  <a:outerShdw blurRad="38100" dist="38100" dir="2700000" algn="tl">
                    <a:srgbClr val="FFFFFF"/>
                  </a:outerShdw>
                </a:effectLst>
              </a:rPr>
              <a:t>。该进程是否在内存。</a:t>
            </a:r>
          </a:p>
          <a:p>
            <a:pPr marL="0" indent="0" eaLnBrk="1" hangingPunct="1">
              <a:lnSpc>
                <a:spcPts val="3000"/>
              </a:lnSpc>
              <a:buFont typeface="Wingdings" pitchFamily="2" charset="2"/>
              <a:buNone/>
            </a:pPr>
            <a:endParaRPr lang="zh-CN" altLang="en-US" sz="2000">
              <a:solidFill>
                <a:schemeClr val="tx1"/>
              </a:solidFill>
              <a:effectLst/>
              <a:latin typeface="宋体" panose="02010600030101010101" pitchFamily="2" charset="-122"/>
            </a:endParaRPr>
          </a:p>
          <a:p>
            <a:pPr marL="0" indent="0" eaLnBrk="1" hangingPunct="1">
              <a:lnSpc>
                <a:spcPct val="200000"/>
              </a:lnSpc>
              <a:buFont typeface="Wingdings" pitchFamily="2" charset="2"/>
              <a:buNone/>
            </a:pPr>
            <a:endParaRPr lang="en-US" altLang="zh-CN" sz="2000">
              <a:solidFill>
                <a:schemeClr val="tx1"/>
              </a:solidFill>
              <a:effectLst/>
              <a:latin typeface="宋体" panose="02010600030101010101" pitchFamily="2" charset="-122"/>
            </a:endParaRPr>
          </a:p>
        </p:txBody>
      </p:sp>
      <p:pic>
        <p:nvPicPr>
          <p:cNvPr id="128004" name="图片 45" descr="4t42">
            <a:extLst>
              <a:ext uri="{FF2B5EF4-FFF2-40B4-BE49-F238E27FC236}">
                <a16:creationId xmlns:a16="http://schemas.microsoft.com/office/drawing/2014/main" id="{7B3829C8-B139-6447-A930-8C538DDFEB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857500"/>
            <a:ext cx="9155113"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a:extLst>
              <a:ext uri="{FF2B5EF4-FFF2-40B4-BE49-F238E27FC236}">
                <a16:creationId xmlns:a16="http://schemas.microsoft.com/office/drawing/2014/main" id="{6B64BC99-3CBC-A747-9C8C-2CAC31B2DF45}"/>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请求分段存储管理</a:t>
            </a:r>
          </a:p>
        </p:txBody>
      </p:sp>
      <p:sp>
        <p:nvSpPr>
          <p:cNvPr id="102403" name="Rectangle 3">
            <a:extLst>
              <a:ext uri="{FF2B5EF4-FFF2-40B4-BE49-F238E27FC236}">
                <a16:creationId xmlns:a16="http://schemas.microsoft.com/office/drawing/2014/main" id="{A6366EDF-60A2-8A41-94EF-451C6C07E00F}"/>
              </a:ext>
            </a:extLst>
          </p:cNvPr>
          <p:cNvSpPr>
            <a:spLocks noGrp="1" noChangeArrowheads="1"/>
          </p:cNvSpPr>
          <p:nvPr>
            <p:ph type="body" sz="half" idx="1"/>
          </p:nvPr>
        </p:nvSpPr>
        <p:spPr>
          <a:xfrm>
            <a:off x="285750" y="1571625"/>
            <a:ext cx="8715375" cy="4857750"/>
          </a:xfrm>
        </p:spPr>
        <p:txBody>
          <a:bodyPr/>
          <a:lstStyle/>
          <a:p>
            <a:pPr marL="0" indent="0" algn="just" eaLnBrk="1" hangingPunct="1">
              <a:lnSpc>
                <a:spcPts val="4000"/>
              </a:lnSpc>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）共享段的分配与回收</a:t>
            </a:r>
            <a:endParaRPr lang="en-US" altLang="zh-CN" sz="2000">
              <a:solidFill>
                <a:schemeClr val="tx1"/>
              </a:solidFill>
              <a:effectLst/>
              <a:latin typeface="宋体" panose="02010600030101010101" pitchFamily="2" charset="-122"/>
            </a:endParaRPr>
          </a:p>
          <a:p>
            <a:pPr marL="0" indent="0" algn="just">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①  共享段的分配。当某进程第一个请求使用该共享段时，由系统为该共享段分配一个内存空闲区并将其调入该区，同时将该区的起始地址填入该进程段表中该段对应段表项的内存始址栏，并在共享段表中增加一个表项填入有关信息，且使共享进程计数器</a:t>
            </a:r>
            <a:r>
              <a:rPr lang="en-US" altLang="zh-CN" sz="2000">
                <a:solidFill>
                  <a:schemeClr val="tx1"/>
                </a:solidFill>
                <a:effectLst>
                  <a:outerShdw blurRad="38100" dist="38100" dir="2700000" algn="tl">
                    <a:srgbClr val="FFFFFF"/>
                  </a:outerShdw>
                </a:effectLst>
              </a:rPr>
              <a:t>count</a:t>
            </a:r>
            <a:r>
              <a:rPr lang="zh-CN" altLang="en-US" sz="2000">
                <a:solidFill>
                  <a:schemeClr val="tx1"/>
                </a:solidFill>
                <a:effectLst>
                  <a:outerShdw blurRad="38100" dist="38100" dir="2700000" algn="tl">
                    <a:srgbClr val="FFFFFF"/>
                  </a:outerShdw>
                </a:effectLst>
              </a:rPr>
              <a:t>加</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a:t>
            </a:r>
          </a:p>
          <a:p>
            <a:pPr marL="0" indent="0" algn="just">
              <a:lnSpc>
                <a:spcPts val="4000"/>
              </a:lnSpc>
              <a:buFont typeface="Wingdings" pitchFamily="2" charset="2"/>
              <a:buNone/>
            </a:pPr>
            <a:r>
              <a:rPr lang="zh-CN" altLang="en-US" sz="2000">
                <a:solidFill>
                  <a:schemeClr val="tx1"/>
                </a:solidFill>
                <a:effectLst>
                  <a:outerShdw blurRad="38100" dist="38100" dir="2700000" algn="tl">
                    <a:srgbClr val="FFFFFF"/>
                  </a:outerShdw>
                </a:effectLst>
              </a:rPr>
              <a:t>     ②  共享段的回收。当共享此段的某进程不再需要它时，取消该进程在共享段表中对应的表项，并使共享进程计数器</a:t>
            </a:r>
            <a:r>
              <a:rPr lang="en-US" altLang="zh-CN" sz="2000">
                <a:solidFill>
                  <a:schemeClr val="tx1"/>
                </a:solidFill>
                <a:effectLst>
                  <a:outerShdw blurRad="38100" dist="38100" dir="2700000" algn="tl">
                    <a:srgbClr val="FFFFFF"/>
                  </a:outerShdw>
                </a:effectLst>
              </a:rPr>
              <a:t>count</a:t>
            </a:r>
            <a:r>
              <a:rPr lang="zh-CN" altLang="en-US" sz="2000">
                <a:solidFill>
                  <a:schemeClr val="tx1"/>
                </a:solidFill>
                <a:effectLst>
                  <a:outerShdw blurRad="38100" dist="38100" dir="2700000" algn="tl">
                    <a:srgbClr val="FFFFFF"/>
                  </a:outerShdw>
                </a:effectLst>
              </a:rPr>
              <a:t>减</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，如果减</a:t>
            </a:r>
            <a:r>
              <a:rPr lang="en-US" altLang="zh-CN" sz="2000">
                <a:solidFill>
                  <a:schemeClr val="tx1"/>
                </a:solidFill>
                <a:effectLst>
                  <a:outerShdw blurRad="38100" dist="38100" dir="2700000" algn="tl">
                    <a:srgbClr val="FFFFFF"/>
                  </a:outerShdw>
                </a:effectLst>
              </a:rPr>
              <a:t>1</a:t>
            </a:r>
            <a:r>
              <a:rPr lang="zh-CN" altLang="en-US" sz="2000">
                <a:solidFill>
                  <a:schemeClr val="tx1"/>
                </a:solidFill>
                <a:effectLst>
                  <a:outerShdw blurRad="38100" dist="38100" dir="2700000" algn="tl">
                    <a:srgbClr val="FFFFFF"/>
                  </a:outerShdw>
                </a:effectLst>
              </a:rPr>
              <a:t>后其值为</a:t>
            </a:r>
            <a:r>
              <a:rPr lang="en-US" altLang="zh-CN" sz="2000">
                <a:solidFill>
                  <a:schemeClr val="tx1"/>
                </a:solidFill>
                <a:effectLst>
                  <a:outerShdw blurRad="38100" dist="38100" dir="2700000" algn="tl">
                    <a:srgbClr val="FFFFFF"/>
                  </a:outerShdw>
                </a:effectLst>
              </a:rPr>
              <a:t>0</a:t>
            </a:r>
            <a:r>
              <a:rPr lang="zh-CN" altLang="en-US" sz="2000">
                <a:solidFill>
                  <a:schemeClr val="tx1"/>
                </a:solidFill>
                <a:effectLst>
                  <a:outerShdw blurRad="38100" dist="38100" dir="2700000" algn="tl">
                    <a:srgbClr val="FFFFFF"/>
                  </a:outerShdw>
                </a:effectLst>
              </a:rPr>
              <a:t>，则表明此时已经没有进程使用该共享段了，即应将该共享段释放，这时由系统回收该共享段占用的内存空间。</a:t>
            </a:r>
          </a:p>
          <a:p>
            <a:pPr marL="0" indent="0" eaLnBrk="1" hangingPunct="1">
              <a:lnSpc>
                <a:spcPts val="3000"/>
              </a:lnSpc>
              <a:buFont typeface="Wingdings" pitchFamily="2" charset="2"/>
              <a:buNone/>
            </a:pPr>
            <a:endParaRPr lang="zh-CN" altLang="en-US" sz="2000">
              <a:solidFill>
                <a:schemeClr val="tx1"/>
              </a:solidFill>
              <a:effectLst/>
              <a:latin typeface="宋体" panose="02010600030101010101" pitchFamily="2" charset="-122"/>
            </a:endParaRPr>
          </a:p>
          <a:p>
            <a:pPr marL="0" indent="0" eaLnBrk="1" hangingPunct="1">
              <a:lnSpc>
                <a:spcPct val="20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a:extLst>
              <a:ext uri="{FF2B5EF4-FFF2-40B4-BE49-F238E27FC236}">
                <a16:creationId xmlns:a16="http://schemas.microsoft.com/office/drawing/2014/main" id="{F5641056-61EE-4B47-A169-C308012991F3}"/>
              </a:ext>
            </a:extLst>
          </p:cNvPr>
          <p:cNvSpPr>
            <a:spLocks noGrp="1" noChangeArrowheads="1"/>
          </p:cNvSpPr>
          <p:nvPr>
            <p:ph type="title"/>
          </p:nvPr>
        </p:nvSpPr>
        <p:spPr>
          <a:noFill/>
        </p:spPr>
        <p:txBody>
          <a:bodyPr/>
          <a:lstStyle/>
          <a:p>
            <a:pPr eaLnBrk="1" hangingPunct="1"/>
            <a:r>
              <a:rPr lang="zh-CN" altLang="en-US" sz="2800">
                <a:solidFill>
                  <a:srgbClr val="FF0000"/>
                </a:solidFill>
                <a:latin typeface="宋体" panose="02010600030101010101" pitchFamily="2" charset="-122"/>
              </a:rPr>
              <a:t> 请求分段存储管理</a:t>
            </a:r>
          </a:p>
        </p:txBody>
      </p:sp>
      <p:sp>
        <p:nvSpPr>
          <p:cNvPr id="102403" name="Rectangle 3">
            <a:extLst>
              <a:ext uri="{FF2B5EF4-FFF2-40B4-BE49-F238E27FC236}">
                <a16:creationId xmlns:a16="http://schemas.microsoft.com/office/drawing/2014/main" id="{333C54D4-0663-0F4C-8329-76F51677F4A9}"/>
              </a:ext>
            </a:extLst>
          </p:cNvPr>
          <p:cNvSpPr>
            <a:spLocks noGrp="1" noChangeArrowheads="1"/>
          </p:cNvSpPr>
          <p:nvPr>
            <p:ph type="body" sz="half" idx="1"/>
          </p:nvPr>
        </p:nvSpPr>
        <p:spPr>
          <a:xfrm>
            <a:off x="0" y="1285875"/>
            <a:ext cx="9001125" cy="4714875"/>
          </a:xfrm>
        </p:spPr>
        <p:txBody>
          <a:bodyPr/>
          <a:lstStyle/>
          <a:p>
            <a:pPr algn="just">
              <a:lnSpc>
                <a:spcPts val="3800"/>
              </a:lnSpc>
              <a:buFont typeface="Wingdings" pitchFamily="2" charset="2"/>
              <a:buNone/>
            </a:pPr>
            <a:r>
              <a:rPr lang="zh-CN" altLang="en-US" sz="2000">
                <a:solidFill>
                  <a:schemeClr val="tx1"/>
                </a:solidFill>
                <a:effectLst/>
                <a:latin typeface="宋体" panose="02010600030101010101" pitchFamily="2" charset="-122"/>
              </a:rPr>
              <a:t>  </a:t>
            </a:r>
            <a:r>
              <a:rPr lang="zh-CN" altLang="en-US" sz="2000">
                <a:solidFill>
                  <a:schemeClr val="tx1"/>
                </a:solidFill>
                <a:effectLst>
                  <a:outerShdw blurRad="38100" dist="38100" dir="2700000" algn="tl">
                    <a:srgbClr val="FFFFFF"/>
                  </a:outerShdw>
                </a:effectLst>
              </a:rPr>
              <a:t>（</a:t>
            </a:r>
            <a:r>
              <a:rPr lang="en-US" altLang="zh-CN" sz="2000">
                <a:solidFill>
                  <a:schemeClr val="tx1"/>
                </a:solidFill>
                <a:effectLst>
                  <a:outerShdw blurRad="38100" dist="38100" dir="2700000" algn="tl">
                    <a:srgbClr val="FFFFFF"/>
                  </a:outerShdw>
                </a:effectLst>
              </a:rPr>
              <a:t>3</a:t>
            </a:r>
            <a:r>
              <a:rPr lang="zh-CN" altLang="en-US" sz="2000">
                <a:solidFill>
                  <a:schemeClr val="tx1"/>
                </a:solidFill>
                <a:effectLst>
                  <a:outerShdw blurRad="38100" dist="38100" dir="2700000" algn="tl">
                    <a:srgbClr val="FFFFFF"/>
                  </a:outerShdw>
                </a:effectLst>
              </a:rPr>
              <a:t>）存储保护</a:t>
            </a:r>
          </a:p>
          <a:p>
            <a:pPr algn="just">
              <a:lnSpc>
                <a:spcPts val="3800"/>
              </a:lnSpc>
              <a:buFont typeface="Wingdings" pitchFamily="2" charset="2"/>
              <a:buNone/>
            </a:pPr>
            <a:r>
              <a:rPr lang="zh-CN" altLang="en-US" sz="2000">
                <a:solidFill>
                  <a:schemeClr val="tx1"/>
                </a:solidFill>
                <a:effectLst>
                  <a:outerShdw blurRad="38100" dist="38100" dir="2700000" algn="tl">
                    <a:srgbClr val="FFFFFF"/>
                  </a:outerShdw>
                </a:effectLst>
              </a:rPr>
              <a:t>      请求分段存储管理存储保护的方法有以下两种。</a:t>
            </a:r>
          </a:p>
          <a:p>
            <a:pPr algn="just">
              <a:lnSpc>
                <a:spcPts val="3800"/>
              </a:lnSpc>
              <a:buFont typeface="Wingdings" pitchFamily="2" charset="2"/>
              <a:buNone/>
            </a:pPr>
            <a:r>
              <a:rPr lang="zh-CN" altLang="en-US" sz="2000">
                <a:solidFill>
                  <a:schemeClr val="tx1"/>
                </a:solidFill>
                <a:effectLst>
                  <a:outerShdw blurRad="38100" dist="38100" dir="2700000" algn="tl">
                    <a:srgbClr val="FFFFFF"/>
                  </a:outerShdw>
                </a:effectLst>
              </a:rPr>
              <a:t>      ①  越界检查。在进程的段表中存放了每个段的段长，而段表控制寄存器中则存放运行进程的段表长度（最大段号）信息。在执行涉及访存地址的指令时，首先，把指令中逻辑地址里的段号与段表控制寄存器中段表长度进行比较，如果段号大于段表长度则发出地址越界中断；其次，还需检查逻辑地址中的段内地址是否大于进程段表中该段的段长，若是，则产生地址越界中断。从而确保每个进程只在属于自己的各内存区间内进行操作或执行。</a:t>
            </a:r>
          </a:p>
          <a:p>
            <a:pPr algn="just">
              <a:lnSpc>
                <a:spcPts val="3800"/>
              </a:lnSpc>
              <a:buFont typeface="Wingdings" pitchFamily="2" charset="2"/>
              <a:buNone/>
            </a:pPr>
            <a:r>
              <a:rPr lang="zh-CN" altLang="en-US" sz="2000">
                <a:solidFill>
                  <a:schemeClr val="tx1"/>
                </a:solidFill>
                <a:effectLst>
                  <a:outerShdw blurRad="38100" dist="38100" dir="2700000" algn="tl">
                    <a:srgbClr val="FFFFFF"/>
                  </a:outerShdw>
                </a:effectLst>
              </a:rPr>
              <a:t>      ②  存取控制检查。在段表的每个表项中均设有存取控制字段，用于规定该段的访问方式。通常设置的访问方式有只读、读写、只执行等。</a:t>
            </a:r>
          </a:p>
          <a:p>
            <a:pPr eaLnBrk="1" hangingPunct="1">
              <a:lnSpc>
                <a:spcPct val="200000"/>
              </a:lnSpc>
              <a:buFont typeface="Wingdings" pitchFamily="2" charset="2"/>
              <a:buNone/>
            </a:pPr>
            <a:endParaRPr lang="en-US" altLang="zh-CN" sz="2000">
              <a:solidFill>
                <a:schemeClr val="tx1"/>
              </a:solidFill>
              <a:effectLst/>
              <a:latin typeface="宋体" panose="02010600030101010101" pitchFamily="2" charset="-122"/>
            </a:endParaRPr>
          </a:p>
        </p:txBody>
      </p:sp>
    </p:spTree>
  </p:cSld>
  <p:clrMapOvr>
    <a:masterClrMapping/>
  </p:clrMapOvr>
  <p:transition>
    <p:random/>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2">
            <a:extLst>
              <a:ext uri="{FF2B5EF4-FFF2-40B4-BE49-F238E27FC236}">
                <a16:creationId xmlns:a16="http://schemas.microsoft.com/office/drawing/2014/main" id="{7E18A225-5019-EB4D-836A-98E53000B1D4}"/>
              </a:ext>
            </a:extLst>
          </p:cNvPr>
          <p:cNvSpPr>
            <a:spLocks noGrp="1" noChangeArrowheads="1"/>
          </p:cNvSpPr>
          <p:nvPr>
            <p:ph type="title"/>
          </p:nvPr>
        </p:nvSpPr>
        <p:spPr>
          <a:noFill/>
        </p:spPr>
        <p:txBody>
          <a:bodyPr/>
          <a:lstStyle/>
          <a:p>
            <a:pPr eaLnBrk="1" hangingPunct="1"/>
            <a:r>
              <a:rPr lang="zh-CN" altLang="en-US" sz="2800">
                <a:solidFill>
                  <a:schemeClr val="tx1"/>
                </a:solidFill>
                <a:latin typeface="宋体" panose="02010600030101010101" pitchFamily="2" charset="-122"/>
              </a:rPr>
              <a:t> </a:t>
            </a:r>
            <a:r>
              <a:rPr lang="zh-CN" altLang="en-US" sz="2800">
                <a:solidFill>
                  <a:srgbClr val="FF0000"/>
                </a:solidFill>
                <a:latin typeface="宋体" panose="02010600030101010101" pitchFamily="2" charset="-122"/>
              </a:rPr>
              <a:t>请求分段存储管理</a:t>
            </a:r>
          </a:p>
        </p:txBody>
      </p:sp>
      <p:sp>
        <p:nvSpPr>
          <p:cNvPr id="131075" name="Rectangle 3">
            <a:extLst>
              <a:ext uri="{FF2B5EF4-FFF2-40B4-BE49-F238E27FC236}">
                <a16:creationId xmlns:a16="http://schemas.microsoft.com/office/drawing/2014/main" id="{F43D1F91-45D3-F945-9D3A-569DB85C05FF}"/>
              </a:ext>
            </a:extLst>
          </p:cNvPr>
          <p:cNvSpPr>
            <a:spLocks noGrp="1" noChangeArrowheads="1"/>
          </p:cNvSpPr>
          <p:nvPr>
            <p:ph type="body" sz="half" idx="1"/>
          </p:nvPr>
        </p:nvSpPr>
        <p:spPr>
          <a:xfrm>
            <a:off x="714375" y="1143000"/>
            <a:ext cx="8001000" cy="5643563"/>
          </a:xfrm>
        </p:spPr>
        <p:txBody>
          <a:bodyPr/>
          <a:lstStyle/>
          <a:p>
            <a:pPr marL="0" indent="0" eaLnBrk="1" hangingPunct="1">
              <a:lnSpc>
                <a:spcPts val="3500"/>
              </a:lnSpc>
              <a:spcBef>
                <a:spcPct val="0"/>
              </a:spcBef>
              <a:buFont typeface="Wingdings" pitchFamily="2" charset="2"/>
              <a:buNone/>
            </a:pPr>
            <a:r>
              <a:rPr lang="en-US" altLang="zh-CN" sz="2200">
                <a:solidFill>
                  <a:srgbClr val="FF0000"/>
                </a:solidFill>
                <a:effectLst/>
                <a:latin typeface="宋体" panose="02010600030101010101" pitchFamily="2" charset="-122"/>
              </a:rPr>
              <a:t>5. </a:t>
            </a:r>
            <a:r>
              <a:rPr lang="zh-CN" altLang="en-US" sz="2200">
                <a:solidFill>
                  <a:srgbClr val="FF0000"/>
                </a:solidFill>
                <a:effectLst/>
                <a:latin typeface="宋体" panose="02010600030101010101" pitchFamily="2" charset="-122"/>
              </a:rPr>
              <a:t>请求分段存储管理的优缺点</a:t>
            </a:r>
          </a:p>
          <a:p>
            <a:pPr marL="0" indent="0" eaLnBrk="1" hangingPunct="1">
              <a:lnSpc>
                <a:spcPts val="3500"/>
              </a:lnSpc>
              <a:spcBef>
                <a:spcPct val="0"/>
              </a:spcBef>
              <a:buFont typeface="Wingdings" pitchFamily="2" charset="2"/>
              <a:buNone/>
            </a:pPr>
            <a:r>
              <a:rPr lang="zh-CN" altLang="en-US" sz="2000">
                <a:solidFill>
                  <a:srgbClr val="FF0000"/>
                </a:solidFill>
                <a:effectLst/>
                <a:latin typeface="宋体" panose="02010600030101010101" pitchFamily="2" charset="-122"/>
              </a:rPr>
              <a:t>   优点：</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1</a:t>
            </a:r>
            <a:r>
              <a:rPr lang="zh-CN" altLang="en-US" sz="2000">
                <a:solidFill>
                  <a:schemeClr val="tx1"/>
                </a:solidFill>
                <a:effectLst/>
                <a:latin typeface="宋体" panose="02010600030101010101" pitchFamily="2" charset="-122"/>
              </a:rPr>
              <a:t>）可提供大容量的虚存</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2</a:t>
            </a:r>
            <a:r>
              <a:rPr lang="zh-CN" altLang="en-US" sz="2000">
                <a:solidFill>
                  <a:schemeClr val="tx1"/>
                </a:solidFill>
                <a:effectLst/>
                <a:latin typeface="宋体" panose="02010600030101010101" pitchFamily="2" charset="-122"/>
              </a:rPr>
              <a:t>）允许动态增加段的长度</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3</a:t>
            </a:r>
            <a:r>
              <a:rPr lang="zh-CN" altLang="en-US" sz="2000">
                <a:solidFill>
                  <a:schemeClr val="tx1"/>
                </a:solidFill>
                <a:effectLst/>
                <a:latin typeface="宋体" panose="02010600030101010101" pitchFamily="2" charset="-122"/>
              </a:rPr>
              <a:t>）允许段的动态增长特性便于处理变化的数据结构，如表格和数据段等</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4</a:t>
            </a:r>
            <a:r>
              <a:rPr lang="zh-CN" altLang="en-US" sz="2000">
                <a:solidFill>
                  <a:schemeClr val="tx1"/>
                </a:solidFill>
                <a:effectLst/>
                <a:latin typeface="宋体" panose="02010600030101010101" pitchFamily="2" charset="-122"/>
              </a:rPr>
              <a:t>）便于段的动态链接</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5</a:t>
            </a:r>
            <a:r>
              <a:rPr lang="zh-CN" altLang="en-US" sz="2000">
                <a:solidFill>
                  <a:schemeClr val="tx1"/>
                </a:solidFill>
                <a:effectLst/>
                <a:latin typeface="宋体" panose="02010600030101010101" pitchFamily="2" charset="-122"/>
              </a:rPr>
              <a:t>）便于实现程序段的共享</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a:t>
            </a:r>
            <a:r>
              <a:rPr lang="en-US" altLang="zh-CN" sz="2000">
                <a:solidFill>
                  <a:schemeClr val="tx1"/>
                </a:solidFill>
                <a:effectLst/>
                <a:latin typeface="宋体" panose="02010600030101010101" pitchFamily="2" charset="-122"/>
              </a:rPr>
              <a:t>6</a:t>
            </a:r>
            <a:r>
              <a:rPr lang="zh-CN" altLang="en-US" sz="2000">
                <a:solidFill>
                  <a:schemeClr val="tx1"/>
                </a:solidFill>
                <a:effectLst/>
                <a:latin typeface="宋体" panose="02010600030101010101" pitchFamily="2" charset="-122"/>
              </a:rPr>
              <a:t>）便于实现存储保护</a:t>
            </a:r>
          </a:p>
          <a:p>
            <a:pPr marL="0" indent="0" eaLnBrk="1" hangingPunct="1">
              <a:lnSpc>
                <a:spcPts val="3500"/>
              </a:lnSpc>
              <a:spcBef>
                <a:spcPct val="0"/>
              </a:spcBef>
              <a:buFont typeface="Wingdings" pitchFamily="2" charset="2"/>
              <a:buNone/>
            </a:pPr>
            <a:r>
              <a:rPr lang="zh-CN" altLang="en-US" sz="2000">
                <a:solidFill>
                  <a:srgbClr val="FF0000"/>
                </a:solidFill>
                <a:effectLst/>
                <a:latin typeface="宋体" panose="02010600030101010101" pitchFamily="2" charset="-122"/>
              </a:rPr>
              <a:t>   缺点：</a:t>
            </a:r>
          </a:p>
          <a:p>
            <a:pPr marL="0" indent="0" eaLnBrk="1" hangingPunct="1">
              <a:lnSpc>
                <a:spcPts val="3500"/>
              </a:lnSpc>
              <a:spcBef>
                <a:spcPct val="0"/>
              </a:spcBef>
              <a:buFont typeface="Wingdings" pitchFamily="2" charset="2"/>
              <a:buNone/>
            </a:pPr>
            <a:r>
              <a:rPr lang="zh-CN" altLang="en-US" sz="2000">
                <a:solidFill>
                  <a:schemeClr val="tx1"/>
                </a:solidFill>
                <a:effectLst/>
                <a:latin typeface="宋体" panose="02010600030101010101" pitchFamily="2" charset="-122"/>
              </a:rPr>
              <a:t>   进行地址转换和实现紧凑操作都要花费</a:t>
            </a:r>
            <a:r>
              <a:rPr lang="en-US" altLang="zh-CN" sz="2000">
                <a:solidFill>
                  <a:schemeClr val="tx1"/>
                </a:solidFill>
                <a:effectLst/>
                <a:latin typeface="宋体" panose="02010600030101010101" pitchFamily="2" charset="-122"/>
              </a:rPr>
              <a:t>CPU</a:t>
            </a:r>
            <a:r>
              <a:rPr lang="zh-CN" altLang="en-US" sz="2000">
                <a:solidFill>
                  <a:schemeClr val="tx1"/>
                </a:solidFill>
                <a:effectLst/>
                <a:latin typeface="宋体" panose="02010600030101010101" pitchFamily="2" charset="-122"/>
              </a:rPr>
              <a:t>的时间；各段还要设立若干表格而占用额外的存储空间。</a:t>
            </a:r>
          </a:p>
        </p:txBody>
      </p:sp>
    </p:spTree>
  </p:cSld>
  <p:clrMapOvr>
    <a:masterClrMapping/>
  </p:clrMapOvr>
  <p:transition>
    <p:random/>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2">
            <a:extLst>
              <a:ext uri="{FF2B5EF4-FFF2-40B4-BE49-F238E27FC236}">
                <a16:creationId xmlns:a16="http://schemas.microsoft.com/office/drawing/2014/main" id="{8572DA83-D21E-C747-9088-BD5EED533296}"/>
              </a:ext>
            </a:extLst>
          </p:cNvPr>
          <p:cNvSpPr>
            <a:spLocks noGrp="1" noChangeArrowheads="1"/>
          </p:cNvSpPr>
          <p:nvPr>
            <p:ph type="body" idx="1"/>
          </p:nvPr>
        </p:nvSpPr>
        <p:spPr>
          <a:xfrm>
            <a:off x="0" y="1697038"/>
            <a:ext cx="8748713" cy="5143500"/>
          </a:xfrm>
        </p:spPr>
        <p:txBody>
          <a:bodyPr/>
          <a:lstStyle/>
          <a:p>
            <a:pPr>
              <a:lnSpc>
                <a:spcPts val="4300"/>
              </a:lnSpc>
              <a:buFont typeface="Wingdings" pitchFamily="2" charset="2"/>
              <a:buNone/>
            </a:pPr>
            <a:r>
              <a:rPr lang="en-US" altLang="zh-CN">
                <a:effectLst/>
                <a:latin typeface="Times New Roman" panose="02020603050405020304" pitchFamily="18" charset="0"/>
                <a:cs typeface="Times New Roman" panose="02020603050405020304" pitchFamily="18" charset="0"/>
              </a:rPr>
              <a:t>     </a:t>
            </a:r>
            <a:r>
              <a:rPr lang="zh-CN" altLang="zh-CN" sz="2000">
                <a:solidFill>
                  <a:srgbClr val="FF0000"/>
                </a:solidFill>
                <a:effectLst/>
                <a:latin typeface="Times New Roman" panose="02020603050405020304" pitchFamily="18" charset="0"/>
                <a:cs typeface="Times New Roman" panose="02020603050405020304" pitchFamily="18" charset="0"/>
              </a:rPr>
              <a:t>请求分段存储管理仍然存在着两个问题：</a:t>
            </a:r>
            <a:r>
              <a:rPr lang="zh-CN" altLang="zh-CN" sz="2000">
                <a:solidFill>
                  <a:schemeClr val="tx1"/>
                </a:solidFill>
                <a:effectLst/>
                <a:latin typeface="Times New Roman" panose="02020603050405020304" pitchFamily="18" charset="0"/>
                <a:cs typeface="Times New Roman" panose="02020603050405020304" pitchFamily="18" charset="0"/>
              </a:rPr>
              <a:t>一是一个段的长度不能大于实际的内存容量（每个段必须占用一段连续的内存空间）；二是存在外部碎片问题，当外部碎片影响到内存使用时，必须通过紧凑（移动）技术来拼接外部碎片，且这种移动需要较大的系统开销。</a:t>
            </a:r>
            <a:endParaRPr lang="en-US" altLang="zh-CN" sz="2000">
              <a:solidFill>
                <a:schemeClr val="tx1"/>
              </a:solidFill>
              <a:effectLst/>
              <a:latin typeface="Times New Roman" panose="02020603050405020304" pitchFamily="18" charset="0"/>
              <a:cs typeface="Times New Roman" panose="02020603050405020304" pitchFamily="18" charset="0"/>
            </a:endParaRPr>
          </a:p>
          <a:p>
            <a:pPr>
              <a:lnSpc>
                <a:spcPts val="4300"/>
              </a:lnSpc>
              <a:buFont typeface="Wingdings" pitchFamily="2" charset="2"/>
              <a:buNone/>
            </a:pPr>
            <a:r>
              <a:rPr lang="en-US" altLang="zh-CN" sz="2000">
                <a:solidFill>
                  <a:schemeClr val="tx1"/>
                </a:solidFill>
                <a:effectLst/>
                <a:latin typeface="Times New Roman" panose="02020603050405020304" pitchFamily="18" charset="0"/>
                <a:cs typeface="Times New Roman" panose="02020603050405020304" pitchFamily="18" charset="0"/>
              </a:rPr>
              <a:t>            </a:t>
            </a:r>
            <a:r>
              <a:rPr lang="zh-CN" altLang="zh-CN" sz="2000">
                <a:solidFill>
                  <a:schemeClr val="tx1"/>
                </a:solidFill>
                <a:effectLst/>
                <a:latin typeface="Times New Roman" panose="02020603050405020304" pitchFamily="18" charset="0"/>
                <a:cs typeface="Times New Roman" panose="02020603050405020304" pitchFamily="18" charset="0"/>
              </a:rPr>
              <a:t>如果在请求分段的基础上，对每个段以页为单位离散分配内存，就避免了外部碎片问题，并且段内的页也不必全部装入内存，按请求分页的方法只装入段中的部分页就可使进程投入运行，那么段的长度大于实际内存容量的问题就得到了解决，这就是请求段页式存储管理的思想</a:t>
            </a:r>
            <a:r>
              <a:rPr lang="zh-CN" altLang="en-US" sz="2000">
                <a:solidFill>
                  <a:schemeClr val="tx1"/>
                </a:solidFill>
                <a:effectLst>
                  <a:outerShdw blurRad="38100" dist="38100" dir="2700000" algn="tl">
                    <a:srgbClr val="FFFFFF"/>
                  </a:outerShdw>
                </a:effectLst>
              </a:rPr>
              <a:t>。</a:t>
            </a:r>
          </a:p>
        </p:txBody>
      </p:sp>
      <p:sp>
        <p:nvSpPr>
          <p:cNvPr id="125955" name="AutoShape 3">
            <a:extLst>
              <a:ext uri="{FF2B5EF4-FFF2-40B4-BE49-F238E27FC236}">
                <a16:creationId xmlns:a16="http://schemas.microsoft.com/office/drawing/2014/main" id="{EFBF466F-A372-184B-96F5-B9054977B97B}"/>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2">
            <a:extLst>
              <a:ext uri="{FF2B5EF4-FFF2-40B4-BE49-F238E27FC236}">
                <a16:creationId xmlns:a16="http://schemas.microsoft.com/office/drawing/2014/main" id="{C16FA05B-C27F-DD42-9907-1DA36190234B}"/>
              </a:ext>
            </a:extLst>
          </p:cNvPr>
          <p:cNvSpPr>
            <a:spLocks noGrp="1" noChangeArrowheads="1"/>
          </p:cNvSpPr>
          <p:nvPr>
            <p:ph type="body" idx="1"/>
          </p:nvPr>
        </p:nvSpPr>
        <p:spPr>
          <a:xfrm>
            <a:off x="0" y="1357313"/>
            <a:ext cx="8786813" cy="5143500"/>
          </a:xfrm>
        </p:spPr>
        <p:txBody>
          <a:bodyPr/>
          <a:lstStyle/>
          <a:p>
            <a:pPr>
              <a:lnSpc>
                <a:spcPts val="3200"/>
              </a:lnSpc>
              <a:buFont typeface="Wingdings" pitchFamily="2" charset="2"/>
              <a:buNone/>
            </a:pPr>
            <a:r>
              <a:rPr lang="en-US" altLang="zh-CN" sz="2800">
                <a:solidFill>
                  <a:srgbClr val="FF0000"/>
                </a:solidFill>
                <a:effectLst>
                  <a:outerShdw blurRad="38100" dist="38100" dir="2700000" algn="tl">
                    <a:srgbClr val="FFFFFF"/>
                  </a:outerShdw>
                </a:effectLst>
              </a:rPr>
              <a:t>  </a:t>
            </a:r>
            <a:r>
              <a:rPr lang="en-US" altLang="zh-CN">
                <a:solidFill>
                  <a:srgbClr val="FF0000"/>
                </a:solidFill>
                <a:effectLst>
                  <a:outerShdw blurRad="38100" dist="38100" dir="2700000" algn="tl">
                    <a:srgbClr val="FFFFFF"/>
                  </a:outerShdw>
                </a:effectLst>
              </a:rPr>
              <a:t>4.7.4  </a:t>
            </a:r>
            <a:r>
              <a:rPr lang="zh-CN" altLang="en-US">
                <a:solidFill>
                  <a:srgbClr val="FF0000"/>
                </a:solidFill>
                <a:effectLst>
                  <a:outerShdw blurRad="38100" dist="38100" dir="2700000" algn="tl">
                    <a:srgbClr val="FFFFFF"/>
                  </a:outerShdw>
                </a:effectLst>
              </a:rPr>
              <a:t>请求段页式存储管理</a:t>
            </a:r>
          </a:p>
          <a:p>
            <a:pPr>
              <a:lnSpc>
                <a:spcPts val="3200"/>
              </a:lnSpc>
              <a:buFont typeface="Wingdings" pitchFamily="2" charset="2"/>
              <a:buNone/>
            </a:pPr>
            <a:r>
              <a:rPr lang="zh-CN" altLang="en-US" sz="2000">
                <a:solidFill>
                  <a:schemeClr val="tx1"/>
                </a:solidFill>
                <a:effectLst>
                  <a:outerShdw blurRad="38100" dist="38100" dir="2700000" algn="tl">
                    <a:srgbClr val="FFFFFF"/>
                  </a:outerShdw>
                </a:effectLst>
              </a:rPr>
              <a:t>          请求段页式存储管理是建立在段页式存储管理基础上的一种段页式虚拟存储管理。</a:t>
            </a:r>
            <a:endParaRPr lang="en-US" altLang="zh-CN" sz="2000">
              <a:solidFill>
                <a:schemeClr val="tx1"/>
              </a:solidFill>
              <a:effectLst>
                <a:outerShdw blurRad="38100" dist="38100" dir="2700000" algn="tl">
                  <a:srgbClr val="FFFFFF"/>
                </a:outerShdw>
              </a:effectLst>
            </a:endParaRPr>
          </a:p>
          <a:p>
            <a:pPr>
              <a:lnSpc>
                <a:spcPts val="3200"/>
              </a:lnSpc>
              <a:buFont typeface="Wingdings" pitchFamily="2" charset="2"/>
              <a:buNone/>
            </a:pPr>
            <a:r>
              <a:rPr lang="en-US" altLang="zh-CN" sz="2000">
                <a:solidFill>
                  <a:schemeClr val="tx1"/>
                </a:solidFill>
                <a:effectLst>
                  <a:outerShdw blurRad="38100" dist="38100" dir="2700000" algn="tl">
                    <a:srgbClr val="FFFFFF"/>
                  </a:outerShdw>
                </a:effectLst>
              </a:rPr>
              <a:t>          </a:t>
            </a:r>
            <a:r>
              <a:rPr lang="zh-CN" altLang="en-US" sz="2000">
                <a:solidFill>
                  <a:schemeClr val="tx1"/>
                </a:solidFill>
                <a:effectLst>
                  <a:outerShdw blurRad="38100" dist="38100" dir="2700000" algn="tl">
                    <a:srgbClr val="FFFFFF"/>
                  </a:outerShdw>
                </a:effectLst>
              </a:rPr>
              <a:t>根据段页式存储管理的思想，请求段页式存储管理首先按照程序自身的逻辑结构，将其划分为若干个不同的分段，在每个段内则按页的大小划分为不同的页，内存空间则按照页的大小划分为若干个物理块。</a:t>
            </a:r>
            <a:endParaRPr lang="en-US" altLang="zh-CN" sz="2000">
              <a:solidFill>
                <a:schemeClr val="tx1"/>
              </a:solidFill>
              <a:effectLst>
                <a:outerShdw blurRad="38100" dist="38100" dir="2700000" algn="tl">
                  <a:srgbClr val="FFFFFF"/>
                </a:outerShdw>
              </a:effectLst>
            </a:endParaRPr>
          </a:p>
          <a:p>
            <a:pPr>
              <a:lnSpc>
                <a:spcPts val="3200"/>
              </a:lnSpc>
              <a:buFont typeface="Wingdings" pitchFamily="2" charset="2"/>
              <a:buNone/>
            </a:pPr>
            <a:r>
              <a:rPr lang="en-US" altLang="zh-CN" sz="2000">
                <a:solidFill>
                  <a:schemeClr val="tx1"/>
                </a:solidFill>
                <a:effectLst>
                  <a:outerShdw blurRad="38100" dist="38100" dir="2700000" algn="tl">
                    <a:srgbClr val="FFFFFF"/>
                  </a:outerShdw>
                </a:effectLst>
              </a:rPr>
              <a:t>          </a:t>
            </a:r>
            <a:r>
              <a:rPr lang="zh-CN" altLang="en-US" sz="2000">
                <a:solidFill>
                  <a:schemeClr val="tx1"/>
                </a:solidFill>
                <a:effectLst>
                  <a:outerShdw blurRad="38100" dist="38100" dir="2700000" algn="tl">
                    <a:srgbClr val="FFFFFF"/>
                  </a:outerShdw>
                </a:effectLst>
              </a:rPr>
              <a:t>内存以物理块为单位进行离散分配，不必将进程所有的页装入内存就可启动运行。</a:t>
            </a:r>
            <a:endParaRPr lang="en-US" altLang="zh-CN" sz="2000">
              <a:solidFill>
                <a:schemeClr val="tx1"/>
              </a:solidFill>
              <a:effectLst>
                <a:outerShdw blurRad="38100" dist="38100" dir="2700000" algn="tl">
                  <a:srgbClr val="FFFFFF"/>
                </a:outerShdw>
              </a:effectLst>
            </a:endParaRPr>
          </a:p>
          <a:p>
            <a:pPr>
              <a:lnSpc>
                <a:spcPts val="3200"/>
              </a:lnSpc>
              <a:buFont typeface="Wingdings" pitchFamily="2" charset="2"/>
              <a:buNone/>
            </a:pPr>
            <a:r>
              <a:rPr lang="en-US" altLang="zh-CN" sz="2000">
                <a:solidFill>
                  <a:schemeClr val="tx1"/>
                </a:solidFill>
                <a:effectLst>
                  <a:outerShdw blurRad="38100" dist="38100" dir="2700000" algn="tl">
                    <a:srgbClr val="FFFFFF"/>
                  </a:outerShdw>
                </a:effectLst>
              </a:rPr>
              <a:t>          </a:t>
            </a:r>
            <a:r>
              <a:rPr lang="zh-CN" altLang="en-US" sz="2000">
                <a:solidFill>
                  <a:schemeClr val="tx1"/>
                </a:solidFill>
                <a:effectLst>
                  <a:outerShdw blurRad="38100" dist="38100" dir="2700000" algn="tl">
                    <a:srgbClr val="FFFFFF"/>
                  </a:outerShdw>
                </a:effectLst>
              </a:rPr>
              <a:t>当进程运行过程中，访问到不在内存的页时，若该页所在的段在内存，则只产生缺页中断，将所缺的页调入内存；若该页所在的段不在内存，则先产生缺段中断再产生缺页中断，将所缺的页调入内存。若进程需要访问的页已在内存，则对页的管理与段页式存储管理相同。</a:t>
            </a:r>
          </a:p>
        </p:txBody>
      </p:sp>
      <p:sp>
        <p:nvSpPr>
          <p:cNvPr id="125955" name="AutoShape 3">
            <a:extLst>
              <a:ext uri="{FF2B5EF4-FFF2-40B4-BE49-F238E27FC236}">
                <a16:creationId xmlns:a16="http://schemas.microsoft.com/office/drawing/2014/main" id="{36D2345D-C82F-0B46-A45E-D68A0E005BBE}"/>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2">
            <a:extLst>
              <a:ext uri="{FF2B5EF4-FFF2-40B4-BE49-F238E27FC236}">
                <a16:creationId xmlns:a16="http://schemas.microsoft.com/office/drawing/2014/main" id="{1A7E62B1-BCC0-1642-B704-B97009673DD3}"/>
              </a:ext>
            </a:extLst>
          </p:cNvPr>
          <p:cNvSpPr>
            <a:spLocks noGrp="1" noChangeArrowheads="1"/>
          </p:cNvSpPr>
          <p:nvPr>
            <p:ph type="body" idx="1"/>
          </p:nvPr>
        </p:nvSpPr>
        <p:spPr>
          <a:xfrm>
            <a:off x="0" y="1196975"/>
            <a:ext cx="8786813" cy="5303838"/>
          </a:xfrm>
        </p:spPr>
        <p:txBody>
          <a:bodyPr/>
          <a:lstStyle/>
          <a:p>
            <a:pPr>
              <a:buFont typeface="Wingdings" pitchFamily="2" charset="2"/>
              <a:buNone/>
            </a:pPr>
            <a:r>
              <a:rPr lang="en-US" altLang="zh-CN" sz="2800">
                <a:solidFill>
                  <a:srgbClr val="FF0000"/>
                </a:solidFill>
                <a:effectLst>
                  <a:outerShdw blurRad="38100" dist="38100" dir="2700000" algn="tl">
                    <a:srgbClr val="FFFFFF"/>
                  </a:outerShdw>
                </a:effectLst>
              </a:rPr>
              <a:t>  </a:t>
            </a:r>
            <a:r>
              <a:rPr lang="en-US" altLang="zh-CN" sz="2200">
                <a:solidFill>
                  <a:srgbClr val="FF0000"/>
                </a:solidFill>
                <a:effectLst>
                  <a:outerShdw blurRad="38100" dist="38100" dir="2700000" algn="tl">
                    <a:srgbClr val="FFFFFF"/>
                  </a:outerShdw>
                </a:effectLst>
              </a:rPr>
              <a:t>1</a:t>
            </a:r>
            <a:r>
              <a:rPr lang="zh-CN" altLang="en-US" sz="2200">
                <a:solidFill>
                  <a:srgbClr val="FF0000"/>
                </a:solidFill>
                <a:effectLst>
                  <a:outerShdw blurRad="38100" dist="38100" dir="2700000" algn="tl">
                    <a:srgbClr val="FFFFFF"/>
                  </a:outerShdw>
                </a:effectLst>
              </a:rPr>
              <a:t>．段表及页表机制</a:t>
            </a:r>
          </a:p>
          <a:p>
            <a:pPr>
              <a:buFont typeface="Wingdings" pitchFamily="2" charset="2"/>
              <a:buNone/>
            </a:pPr>
            <a:r>
              <a:rPr lang="zh-CN" altLang="en-US" sz="2000">
                <a:solidFill>
                  <a:srgbClr val="000000"/>
                </a:solidFill>
                <a:effectLst>
                  <a:outerShdw blurRad="38100" dist="38100" dir="2700000" algn="tl">
                    <a:srgbClr val="FFFFFF"/>
                  </a:outerShdw>
                </a:effectLst>
              </a:rPr>
              <a:t>         请求段页式存储管理中的页表和段表是两个重要的数据结构。页表的结构与请求分页存储管理中的页表相似，段表则在段页式存储管理中的段表基础上增加了一些新的字段，这些新增的字段包括中断位（状态位）、修改位和外存始址等，用来支持实现虚拟存储器。</a:t>
            </a:r>
            <a:endParaRPr lang="en-US" altLang="zh-CN" sz="2000">
              <a:solidFill>
                <a:srgbClr val="000000"/>
              </a:solidFill>
              <a:effectLst>
                <a:outerShdw blurRad="38100" dist="38100" dir="2700000" algn="tl">
                  <a:srgbClr val="FFFFFF"/>
                </a:outerShdw>
              </a:effectLst>
            </a:endParaRPr>
          </a:p>
          <a:p>
            <a:pPr>
              <a:buFont typeface="Wingdings" pitchFamily="2" charset="2"/>
              <a:buNone/>
            </a:pPr>
            <a:r>
              <a:rPr lang="en-US" altLang="zh-CN" sz="2000">
                <a:solidFill>
                  <a:srgbClr val="FF0000"/>
                </a:solidFill>
                <a:effectLst/>
                <a:latin typeface="宋体" panose="02010600030101010101" pitchFamily="2" charset="-122"/>
              </a:rPr>
              <a:t>   </a:t>
            </a:r>
            <a:r>
              <a:rPr lang="en-US" altLang="zh-CN" sz="2200">
                <a:solidFill>
                  <a:srgbClr val="FF0000"/>
                </a:solidFill>
                <a:effectLst/>
                <a:latin typeface="宋体" panose="02010600030101010101" pitchFamily="2" charset="-122"/>
              </a:rPr>
              <a:t>2. </a:t>
            </a:r>
            <a:r>
              <a:rPr lang="zh-CN" altLang="en-US" sz="2200">
                <a:solidFill>
                  <a:srgbClr val="FF0000"/>
                </a:solidFill>
                <a:effectLst/>
                <a:latin typeface="宋体" panose="02010600030101010101" pitchFamily="2" charset="-122"/>
              </a:rPr>
              <a:t>中断处理机</a:t>
            </a:r>
            <a:r>
              <a:rPr lang="zh-CN" altLang="en-US" sz="2200">
                <a:solidFill>
                  <a:srgbClr val="FF0000"/>
                </a:solidFill>
                <a:effectLst>
                  <a:outerShdw blurRad="38100" dist="38100" dir="2700000" algn="tl">
                    <a:srgbClr val="FFFFFF"/>
                  </a:outerShdw>
                </a:effectLst>
              </a:rPr>
              <a:t>制</a:t>
            </a:r>
          </a:p>
          <a:p>
            <a:pPr>
              <a:buFont typeface="Wingdings" pitchFamily="2" charset="2"/>
              <a:buNone/>
            </a:pPr>
            <a:r>
              <a:rPr lang="zh-CN" altLang="en-US" sz="2000">
                <a:solidFill>
                  <a:srgbClr val="000000"/>
                </a:solidFill>
                <a:effectLst>
                  <a:outerShdw blurRad="38100" dist="38100" dir="2700000" algn="tl">
                    <a:srgbClr val="FFFFFF"/>
                  </a:outerShdw>
                </a:effectLst>
              </a:rPr>
              <a:t>          内存空间的分配是以页为单位，当某个进程在运行过程中发现所需页不在内存时，就先判断该页所在段的页表是否在内存，若页表已在内存，则只产生缺页中断将缺页由外存调入内存；若缺页所在段的页表不在内存则表明该段不在内存，这时先产生缺段中断由缺段中断处理程序为该段在内存中建立一张页表，将该页表的内存始址存入段表相应的段表项中，然后再产生缺页中断，将缺页由外存调入内存。由于内存的分配是以页为单位进行的，产生中断一定是因为进程所访问的页不在内存，所以没有必要将包含该页的整个段调入内存，即在处理缺段中断时不必为整个段申请内存空间，于是在请求段页式存储管理中，缺段处理仅为所缺的段在内存中建立一张页表。这种处理方式与请求分段存储管理中的缺段中断处理方式显然不同。</a:t>
            </a:r>
          </a:p>
        </p:txBody>
      </p:sp>
      <p:sp>
        <p:nvSpPr>
          <p:cNvPr id="125955" name="AutoShape 3">
            <a:extLst>
              <a:ext uri="{FF2B5EF4-FFF2-40B4-BE49-F238E27FC236}">
                <a16:creationId xmlns:a16="http://schemas.microsoft.com/office/drawing/2014/main" id="{550B8A67-DBE6-954E-8DE7-1A43E1DF733D}"/>
              </a:ext>
            </a:extLst>
          </p:cNvPr>
          <p:cNvSpPr>
            <a:spLocks noChangeArrowheads="1"/>
          </p:cNvSpPr>
          <p:nvPr/>
        </p:nvSpPr>
        <p:spPr bwMode="auto">
          <a:xfrm>
            <a:off x="468313" y="549275"/>
            <a:ext cx="6048375" cy="560388"/>
          </a:xfrm>
          <a:prstGeom prst="roundRect">
            <a:avLst>
              <a:gd name="adj" fmla="val 50000"/>
            </a:avLst>
          </a:prstGeom>
          <a:gradFill rotWithShape="1">
            <a:gsLst>
              <a:gs pos="0">
                <a:schemeClr val="hlink">
                  <a:gamma/>
                  <a:shade val="60784"/>
                  <a:invGamma/>
                </a:schemeClr>
              </a:gs>
              <a:gs pos="50000">
                <a:schemeClr val="hlink"/>
              </a:gs>
              <a:gs pos="100000">
                <a:schemeClr val="hlink">
                  <a:gamma/>
                  <a:shade val="60784"/>
                  <a:invGamma/>
                </a:schemeClr>
              </a:gs>
            </a:gsLst>
            <a:lin ang="5400000" scaled="1"/>
          </a:gradFill>
          <a:ln w="25400">
            <a:solidFill>
              <a:schemeClr val="bg1"/>
            </a:solidFill>
            <a:round/>
            <a:headEnd/>
            <a:tailEnd/>
          </a:ln>
          <a:effectLst/>
        </p:spPr>
        <p:txBody>
          <a:bodyPr wrap="none" anchor="ctr"/>
          <a:lstStyle>
            <a:lvl1pPr>
              <a:defRPr sz="2000" b="1">
                <a:solidFill>
                  <a:schemeClr val="tx1"/>
                </a:solidFill>
                <a:latin typeface="宋体" panose="02010600030101010101" pitchFamily="2" charset="-122"/>
                <a:ea typeface="宋体" panose="02010600030101010101" pitchFamily="2" charset="-122"/>
              </a:defRPr>
            </a:lvl1pPr>
            <a:lvl2pPr marL="742950" indent="-285750">
              <a:defRPr sz="2000" b="1">
                <a:solidFill>
                  <a:schemeClr val="tx1"/>
                </a:solidFill>
                <a:latin typeface="宋体" panose="02010600030101010101" pitchFamily="2" charset="-122"/>
                <a:ea typeface="宋体" panose="02010600030101010101" pitchFamily="2" charset="-122"/>
              </a:defRPr>
            </a:lvl2pPr>
            <a:lvl3pPr marL="1143000" indent="-228600">
              <a:defRPr sz="2000" b="1">
                <a:solidFill>
                  <a:schemeClr val="tx1"/>
                </a:solidFill>
                <a:latin typeface="宋体" panose="02010600030101010101" pitchFamily="2" charset="-122"/>
                <a:ea typeface="宋体" panose="02010600030101010101" pitchFamily="2" charset="-122"/>
              </a:defRPr>
            </a:lvl3pPr>
            <a:lvl4pPr marL="1600200" indent="-228600">
              <a:defRPr sz="2000" b="1">
                <a:solidFill>
                  <a:schemeClr val="tx1"/>
                </a:solidFill>
                <a:latin typeface="宋体" panose="02010600030101010101" pitchFamily="2" charset="-122"/>
                <a:ea typeface="宋体" panose="02010600030101010101" pitchFamily="2" charset="-122"/>
              </a:defRPr>
            </a:lvl4pPr>
            <a:lvl5pPr marL="2057400" indent="-228600">
              <a:defRPr sz="2000" b="1">
                <a:solidFill>
                  <a:schemeClr val="tx1"/>
                </a:solidFill>
                <a:latin typeface="宋体" panose="02010600030101010101" pitchFamily="2" charset="-122"/>
                <a:ea typeface="宋体" panose="02010600030101010101" pitchFamily="2" charset="-122"/>
              </a:defRPr>
            </a:lvl5pPr>
            <a:lvl6pPr marL="25146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6pPr>
            <a:lvl7pPr marL="29718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7pPr>
            <a:lvl8pPr marL="34290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8pPr>
            <a:lvl9pPr marL="3886200" indent="-228600" eaLnBrk="0" fontAlgn="base" hangingPunct="0">
              <a:spcBef>
                <a:spcPct val="0"/>
              </a:spcBef>
              <a:spcAft>
                <a:spcPct val="0"/>
              </a:spcAft>
              <a:defRPr sz="2000" b="1">
                <a:solidFill>
                  <a:schemeClr val="tx1"/>
                </a:solidFill>
                <a:latin typeface="宋体" panose="02010600030101010101" pitchFamily="2" charset="-122"/>
                <a:ea typeface="宋体" panose="02010600030101010101" pitchFamily="2" charset="-122"/>
              </a:defRPr>
            </a:lvl9pPr>
          </a:lstStyle>
          <a:p>
            <a:pPr algn="ctr"/>
            <a:r>
              <a:rPr lang="en-US" altLang="en-US" sz="2800" b="0">
                <a:solidFill>
                  <a:srgbClr val="FF0000"/>
                </a:solidFill>
                <a:latin typeface="Verdana" panose="020B0604030504040204" pitchFamily="34" charset="0"/>
                <a:ea typeface="黑体" panose="02010609060101010101" pitchFamily="49" charset="-122"/>
              </a:rPr>
              <a:t>4.7 虚拟存储管理</a:t>
            </a:r>
          </a:p>
        </p:txBody>
      </p:sp>
    </p:spTree>
  </p:cSld>
  <p:clrMapOvr>
    <a:masterClrMapping/>
  </p:clrMapOvr>
  <p:transition>
    <p:random/>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86E051A-CB15-8345-A021-B1BC00EA6158}"/>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sp>
        <p:nvSpPr>
          <p:cNvPr id="3" name="Rectangle 2">
            <a:extLst>
              <a:ext uri="{FF2B5EF4-FFF2-40B4-BE49-F238E27FC236}">
                <a16:creationId xmlns:a16="http://schemas.microsoft.com/office/drawing/2014/main" id="{A8C9532E-94B2-A345-8790-F0CB1D9D0028}"/>
              </a:ext>
            </a:extLst>
          </p:cNvPr>
          <p:cNvSpPr/>
          <p:nvPr/>
        </p:nvSpPr>
        <p:spPr>
          <a:xfrm>
            <a:off x="251520" y="2078850"/>
            <a:ext cx="8478942" cy="2308324"/>
          </a:xfrm>
          <a:prstGeom prst="rect">
            <a:avLst/>
          </a:prstGeom>
        </p:spPr>
        <p:txBody>
          <a:bodyPr wrap="square">
            <a:spAutoFit/>
          </a:bodyPr>
          <a:lstStyle/>
          <a:p>
            <a:r>
              <a:rPr lang="en-US" altLang="zh-CN" sz="1800" dirty="0"/>
              <a:t>1.</a:t>
            </a:r>
            <a:r>
              <a:rPr lang="zh-CN" altLang="en-US" sz="1800" dirty="0"/>
              <a:t> </a:t>
            </a:r>
            <a:r>
              <a:rPr lang="en-US" sz="1800" dirty="0" err="1"/>
              <a:t>在操作系统的各个内存管理策略中，更适合信息共享的存储管理方式是</a:t>
            </a:r>
            <a:r>
              <a:rPr lang="en-US" altLang="zh-CN" sz="1800" dirty="0"/>
              <a:t>(</a:t>
            </a:r>
            <a:r>
              <a:rPr lang="zh-CN" altLang="en-US" sz="1800" dirty="0"/>
              <a:t>    </a:t>
            </a:r>
            <a:r>
              <a:rPr lang="en-US" altLang="zh-CN" sz="1800" dirty="0"/>
              <a:t>)</a:t>
            </a:r>
            <a:endParaRPr lang="en-US" sz="1800" dirty="0"/>
          </a:p>
          <a:p>
            <a:r>
              <a:rPr lang="en-US" sz="1800" dirty="0"/>
              <a:t>A.</a:t>
            </a:r>
            <a:r>
              <a:rPr lang="zh-CN" altLang="en-US" sz="1800" dirty="0"/>
              <a:t> </a:t>
            </a:r>
            <a:r>
              <a:rPr lang="en-US" sz="1800" dirty="0" err="1"/>
              <a:t>分段存储管理</a:t>
            </a:r>
            <a:r>
              <a:rPr lang="en-US" sz="1800" dirty="0"/>
              <a:t>			</a:t>
            </a:r>
            <a:r>
              <a:rPr lang="en-US" sz="1800" dirty="0" err="1"/>
              <a:t>B．分页存储管理</a:t>
            </a:r>
            <a:endParaRPr lang="en-US" sz="1800" dirty="0"/>
          </a:p>
          <a:p>
            <a:r>
              <a:rPr lang="en-US" sz="1800" dirty="0"/>
              <a:t>C.</a:t>
            </a:r>
            <a:r>
              <a:rPr lang="zh-CN" altLang="en-US" sz="1800" dirty="0"/>
              <a:t> </a:t>
            </a:r>
            <a:r>
              <a:rPr lang="en-US" sz="1800" dirty="0" err="1"/>
              <a:t>固定分区存储管理</a:t>
            </a:r>
            <a:r>
              <a:rPr lang="en-US" sz="1800" dirty="0"/>
              <a:t>		D. </a:t>
            </a:r>
            <a:r>
              <a:rPr lang="en-US" sz="1800" dirty="0" err="1"/>
              <a:t>动态分区存储管理</a:t>
            </a:r>
            <a:endParaRPr lang="en-US" sz="1800" dirty="0"/>
          </a:p>
          <a:p>
            <a:endParaRPr lang="en-US" sz="1800" dirty="0"/>
          </a:p>
          <a:p>
            <a:r>
              <a:rPr lang="en-US" altLang="zh-CN" sz="1800" dirty="0"/>
              <a:t>2.</a:t>
            </a:r>
            <a:r>
              <a:rPr lang="zh-CN" altLang="en-US" sz="1800" dirty="0"/>
              <a:t> </a:t>
            </a:r>
            <a:r>
              <a:rPr lang="zh-TW" altLang="en-US" sz="1800" dirty="0"/>
              <a:t>采用动态分区分配管理时，现需要回收一个释放区，以下会增加一个新空闲区的情况是</a:t>
            </a:r>
            <a:r>
              <a:rPr lang="en-US" altLang="zh-CN" sz="1800" dirty="0"/>
              <a:t>(</a:t>
            </a:r>
            <a:r>
              <a:rPr lang="zh-CN" altLang="en-US" sz="1800" dirty="0"/>
              <a:t>    </a:t>
            </a:r>
            <a:r>
              <a:rPr lang="en-US" altLang="zh-CN" sz="1800" dirty="0"/>
              <a:t>)</a:t>
            </a:r>
            <a:endParaRPr lang="zh-TW" altLang="en-US" sz="1800" dirty="0"/>
          </a:p>
          <a:p>
            <a:r>
              <a:rPr lang="en-US" sz="1800" dirty="0"/>
              <a:t>A.</a:t>
            </a:r>
            <a:r>
              <a:rPr lang="zh-TW" altLang="en-US" sz="1800" dirty="0"/>
              <a:t>释放区前后都没有相邻的空闲分区 </a:t>
            </a:r>
            <a:r>
              <a:rPr lang="en-US" altLang="zh-TW" sz="1800" dirty="0"/>
              <a:t>	</a:t>
            </a:r>
            <a:r>
              <a:rPr lang="en-US" sz="1800" dirty="0"/>
              <a:t>B.</a:t>
            </a:r>
            <a:r>
              <a:rPr lang="zh-TW" altLang="en-US" sz="1800" dirty="0"/>
              <a:t>释放区的后面有相邻的空闲分区</a:t>
            </a:r>
          </a:p>
          <a:p>
            <a:r>
              <a:rPr lang="en-US" sz="1800" dirty="0"/>
              <a:t>C. </a:t>
            </a:r>
            <a:r>
              <a:rPr lang="zh-TW" altLang="en-US" sz="1800" dirty="0"/>
              <a:t>释放区前后都有相邻的空闲分区 </a:t>
            </a:r>
            <a:r>
              <a:rPr lang="en-US" altLang="zh-TW" sz="1800" dirty="0"/>
              <a:t>	</a:t>
            </a:r>
            <a:r>
              <a:rPr lang="en-US" sz="1800" dirty="0"/>
              <a:t>D. </a:t>
            </a:r>
            <a:r>
              <a:rPr lang="zh-TW" altLang="en-US" sz="1800" dirty="0"/>
              <a:t>释放区的前面有相邻的空闲分区</a:t>
            </a:r>
            <a:endParaRPr lang="en-US" sz="1800" dirty="0"/>
          </a:p>
        </p:txBody>
      </p:sp>
      <p:sp>
        <p:nvSpPr>
          <p:cNvPr id="4" name="TextBox 3">
            <a:extLst>
              <a:ext uri="{FF2B5EF4-FFF2-40B4-BE49-F238E27FC236}">
                <a16:creationId xmlns:a16="http://schemas.microsoft.com/office/drawing/2014/main" id="{BFD6B767-CCDA-0047-9DA1-B5EEEE6BB5CD}"/>
              </a:ext>
            </a:extLst>
          </p:cNvPr>
          <p:cNvSpPr txBox="1"/>
          <p:nvPr/>
        </p:nvSpPr>
        <p:spPr>
          <a:xfrm flipH="1">
            <a:off x="7994650" y="2078850"/>
            <a:ext cx="324036" cy="415498"/>
          </a:xfrm>
          <a:prstGeom prst="rect">
            <a:avLst/>
          </a:prstGeom>
          <a:noFill/>
        </p:spPr>
        <p:txBody>
          <a:bodyPr wrap="square" rtlCol="0">
            <a:spAutoFit/>
          </a:bodyPr>
          <a:lstStyle/>
          <a:p>
            <a:r>
              <a:rPr lang="en-US" altLang="zh-CN" sz="2100" dirty="0"/>
              <a:t>A</a:t>
            </a:r>
            <a:endParaRPr lang="en-US" sz="2100" dirty="0"/>
          </a:p>
        </p:txBody>
      </p:sp>
      <p:sp>
        <p:nvSpPr>
          <p:cNvPr id="5" name="TextBox 4">
            <a:extLst>
              <a:ext uri="{FF2B5EF4-FFF2-40B4-BE49-F238E27FC236}">
                <a16:creationId xmlns:a16="http://schemas.microsoft.com/office/drawing/2014/main" id="{31A26A53-36F3-7E4A-B98B-3AD837C44268}"/>
              </a:ext>
            </a:extLst>
          </p:cNvPr>
          <p:cNvSpPr txBox="1"/>
          <p:nvPr/>
        </p:nvSpPr>
        <p:spPr>
          <a:xfrm flipH="1">
            <a:off x="1403648" y="3573016"/>
            <a:ext cx="324036" cy="415498"/>
          </a:xfrm>
          <a:prstGeom prst="rect">
            <a:avLst/>
          </a:prstGeom>
          <a:noFill/>
        </p:spPr>
        <p:txBody>
          <a:bodyPr wrap="square" rtlCol="0">
            <a:spAutoFit/>
          </a:bodyPr>
          <a:lstStyle/>
          <a:p>
            <a:r>
              <a:rPr lang="en-US" altLang="zh-CN" sz="2100" dirty="0"/>
              <a:t>C</a:t>
            </a:r>
            <a:endParaRPr lang="en-US" sz="2100" dirty="0"/>
          </a:p>
        </p:txBody>
      </p:sp>
    </p:spTree>
    <p:extLst>
      <p:ext uri="{BB962C8B-B14F-4D97-AF65-F5344CB8AC3E}">
        <p14:creationId xmlns:p14="http://schemas.microsoft.com/office/powerpoint/2010/main" val="376383933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blinds(horizontal)">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1D368EE-A13C-5F43-914D-ECF6C6CDED20}"/>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sp>
        <p:nvSpPr>
          <p:cNvPr id="4" name="TextBox 3">
            <a:extLst>
              <a:ext uri="{FF2B5EF4-FFF2-40B4-BE49-F238E27FC236}">
                <a16:creationId xmlns:a16="http://schemas.microsoft.com/office/drawing/2014/main" id="{9A968793-0472-344A-8212-1AD9D2082473}"/>
              </a:ext>
            </a:extLst>
          </p:cNvPr>
          <p:cNvSpPr txBox="1"/>
          <p:nvPr/>
        </p:nvSpPr>
        <p:spPr>
          <a:xfrm>
            <a:off x="845586" y="1808820"/>
            <a:ext cx="7975260" cy="3139321"/>
          </a:xfrm>
          <a:prstGeom prst="rect">
            <a:avLst/>
          </a:prstGeom>
          <a:noFill/>
        </p:spPr>
        <p:txBody>
          <a:bodyPr wrap="none" rtlCol="0">
            <a:spAutoFit/>
          </a:bodyPr>
          <a:lstStyle/>
          <a:p>
            <a:r>
              <a:rPr lang="en-US" altLang="zh-TW" sz="1800" dirty="0"/>
              <a:t>3</a:t>
            </a:r>
            <a:r>
              <a:rPr lang="zh-TW" altLang="en-US" sz="1800" dirty="0"/>
              <a:t>、在动态分区式内存管理中</a:t>
            </a:r>
            <a:r>
              <a:rPr lang="en-US" altLang="zh-TW" sz="1800" dirty="0"/>
              <a:t>,</a:t>
            </a:r>
            <a:r>
              <a:rPr lang="zh-TW" altLang="en-US" sz="1800" dirty="0"/>
              <a:t>优先使用低地址部分空闲区的算法是（ </a:t>
            </a:r>
            <a:r>
              <a:rPr lang="zh-CN" altLang="en-US" sz="1800" dirty="0"/>
              <a:t>  </a:t>
            </a:r>
            <a:r>
              <a:rPr lang="zh-TW" altLang="en-US" sz="1800" dirty="0"/>
              <a:t>）。</a:t>
            </a:r>
          </a:p>
          <a:p>
            <a:r>
              <a:rPr lang="en-US" sz="1800" dirty="0"/>
              <a:t>A、 </a:t>
            </a:r>
            <a:r>
              <a:rPr lang="zh-TW" altLang="en-US" sz="1800" dirty="0"/>
              <a:t>最佳适应算法</a:t>
            </a:r>
            <a:r>
              <a:rPr lang="en-US" altLang="zh-TW" sz="1800" dirty="0"/>
              <a:t>			</a:t>
            </a:r>
            <a:r>
              <a:rPr lang="en-US" sz="1800" dirty="0"/>
              <a:t>B、 </a:t>
            </a:r>
            <a:r>
              <a:rPr lang="zh-TW" altLang="en-US" sz="1800" dirty="0"/>
              <a:t>首次适应算法</a:t>
            </a:r>
          </a:p>
          <a:p>
            <a:r>
              <a:rPr lang="en-US" sz="1800" dirty="0"/>
              <a:t>C、 </a:t>
            </a:r>
            <a:r>
              <a:rPr lang="zh-TW" altLang="en-US" sz="1800" dirty="0"/>
              <a:t>最坏适应算法</a:t>
            </a:r>
            <a:r>
              <a:rPr lang="en-US" altLang="zh-TW" sz="1800" dirty="0"/>
              <a:t>			</a:t>
            </a:r>
            <a:r>
              <a:rPr lang="en-US" sz="1800" dirty="0"/>
              <a:t>D、 </a:t>
            </a:r>
            <a:r>
              <a:rPr lang="zh-TW" altLang="en-US" sz="1800" dirty="0"/>
              <a:t>循环首次适应算法</a:t>
            </a:r>
          </a:p>
          <a:p>
            <a:endParaRPr lang="en-US" sz="1800" dirty="0"/>
          </a:p>
          <a:p>
            <a:r>
              <a:rPr lang="en-US" sz="1800" dirty="0"/>
              <a:t>4、</a:t>
            </a:r>
            <a:r>
              <a:rPr lang="zh-TW" altLang="en-US" sz="1800" dirty="0"/>
              <a:t>在下列内存管理方案中</a:t>
            </a:r>
            <a:r>
              <a:rPr lang="en-US" altLang="zh-TW" sz="1800" dirty="0"/>
              <a:t>,</a:t>
            </a:r>
            <a:r>
              <a:rPr lang="zh-TW" altLang="en-US" sz="1800" dirty="0"/>
              <a:t>不适合多道程序的是（</a:t>
            </a:r>
            <a:r>
              <a:rPr lang="zh-CN" altLang="en-US" sz="1800" dirty="0"/>
              <a:t>   </a:t>
            </a:r>
            <a:r>
              <a:rPr lang="zh-TW" altLang="en-US" sz="1800" dirty="0"/>
              <a:t> ）。</a:t>
            </a:r>
          </a:p>
          <a:p>
            <a:r>
              <a:rPr lang="en-US" sz="1800" dirty="0"/>
              <a:t>A、 </a:t>
            </a:r>
            <a:r>
              <a:rPr lang="zh-TW" altLang="en-US" sz="1800" dirty="0"/>
              <a:t>单一连续模式</a:t>
            </a:r>
            <a:r>
              <a:rPr lang="en-US" altLang="zh-TW" sz="1800" dirty="0"/>
              <a:t>			</a:t>
            </a:r>
            <a:r>
              <a:rPr lang="en-US" sz="1800" dirty="0"/>
              <a:t>B、 </a:t>
            </a:r>
            <a:r>
              <a:rPr lang="zh-TW" altLang="en-US" sz="1800" dirty="0"/>
              <a:t>固定分区模式</a:t>
            </a:r>
          </a:p>
          <a:p>
            <a:r>
              <a:rPr lang="en-US" sz="1800" dirty="0"/>
              <a:t>C、 </a:t>
            </a:r>
            <a:r>
              <a:rPr lang="zh-TW" altLang="en-US" sz="1800" dirty="0"/>
              <a:t>可变分区模式</a:t>
            </a:r>
            <a:r>
              <a:rPr lang="en-US" altLang="zh-TW" sz="1800" dirty="0"/>
              <a:t>			</a:t>
            </a:r>
            <a:r>
              <a:rPr lang="en-US" sz="1800" dirty="0"/>
              <a:t>D、 </a:t>
            </a:r>
            <a:r>
              <a:rPr lang="zh-TW" altLang="en-US" sz="1800" dirty="0"/>
              <a:t>段页式存储管理模式</a:t>
            </a:r>
          </a:p>
          <a:p>
            <a:endParaRPr lang="en-US" sz="1800" dirty="0"/>
          </a:p>
          <a:p>
            <a:r>
              <a:rPr lang="en-US" sz="1800" dirty="0"/>
              <a:t>5、</a:t>
            </a:r>
            <a:r>
              <a:rPr lang="zh-TW" altLang="en-US" sz="1800" dirty="0"/>
              <a:t>在实行分页式存储管理系统中</a:t>
            </a:r>
            <a:r>
              <a:rPr lang="en-US" altLang="zh-TW" sz="1800" dirty="0"/>
              <a:t>,</a:t>
            </a:r>
            <a:r>
              <a:rPr lang="zh-TW" altLang="en-US" sz="1800" dirty="0"/>
              <a:t>分页是由（ ）完成的。</a:t>
            </a:r>
          </a:p>
          <a:p>
            <a:r>
              <a:rPr lang="en-US" sz="1800" dirty="0"/>
              <a:t>A、 </a:t>
            </a:r>
            <a:r>
              <a:rPr lang="zh-TW" altLang="en-US" sz="1800" dirty="0"/>
              <a:t>程序员</a:t>
            </a:r>
            <a:r>
              <a:rPr lang="en-US" altLang="zh-TW" sz="1800" dirty="0"/>
              <a:t>			</a:t>
            </a:r>
            <a:r>
              <a:rPr lang="en-US" sz="1800" dirty="0"/>
              <a:t>B、 </a:t>
            </a:r>
            <a:r>
              <a:rPr lang="zh-TW" altLang="en-US" sz="1800" dirty="0"/>
              <a:t>用户</a:t>
            </a:r>
          </a:p>
          <a:p>
            <a:r>
              <a:rPr lang="en-US" sz="1800" dirty="0"/>
              <a:t>C、 </a:t>
            </a:r>
            <a:r>
              <a:rPr lang="zh-TW" altLang="en-US" sz="1800" dirty="0"/>
              <a:t>操作员</a:t>
            </a:r>
            <a:r>
              <a:rPr lang="en-US" altLang="zh-TW" sz="1800" dirty="0"/>
              <a:t>			</a:t>
            </a:r>
            <a:r>
              <a:rPr lang="en-US" sz="1800" dirty="0"/>
              <a:t>D、 </a:t>
            </a:r>
            <a:r>
              <a:rPr lang="zh-TW" altLang="en-US" sz="1800" dirty="0"/>
              <a:t>系统</a:t>
            </a:r>
            <a:endParaRPr lang="en-US" altLang="zh-TW" sz="1800" dirty="0"/>
          </a:p>
        </p:txBody>
      </p:sp>
      <p:sp>
        <p:nvSpPr>
          <p:cNvPr id="5" name="TextBox 4">
            <a:extLst>
              <a:ext uri="{FF2B5EF4-FFF2-40B4-BE49-F238E27FC236}">
                <a16:creationId xmlns:a16="http://schemas.microsoft.com/office/drawing/2014/main" id="{9FD69687-CB07-B94C-8A38-C22E0996D29C}"/>
              </a:ext>
            </a:extLst>
          </p:cNvPr>
          <p:cNvSpPr txBox="1"/>
          <p:nvPr/>
        </p:nvSpPr>
        <p:spPr>
          <a:xfrm>
            <a:off x="7812360" y="1834490"/>
            <a:ext cx="594066" cy="461665"/>
          </a:xfrm>
          <a:prstGeom prst="rect">
            <a:avLst/>
          </a:prstGeom>
          <a:noFill/>
        </p:spPr>
        <p:txBody>
          <a:bodyPr wrap="square" rtlCol="0">
            <a:spAutoFit/>
          </a:bodyPr>
          <a:lstStyle/>
          <a:p>
            <a:r>
              <a:rPr lang="en-US" altLang="zh-CN" sz="2400" dirty="0"/>
              <a:t>B</a:t>
            </a:r>
            <a:endParaRPr lang="en-US" sz="2400" dirty="0"/>
          </a:p>
        </p:txBody>
      </p:sp>
      <p:sp>
        <p:nvSpPr>
          <p:cNvPr id="6" name="TextBox 5">
            <a:extLst>
              <a:ext uri="{FF2B5EF4-FFF2-40B4-BE49-F238E27FC236}">
                <a16:creationId xmlns:a16="http://schemas.microsoft.com/office/drawing/2014/main" id="{4A5CDC6B-1DB0-864C-97B3-C89F4CF2E7D1}"/>
              </a:ext>
            </a:extLst>
          </p:cNvPr>
          <p:cNvSpPr txBox="1"/>
          <p:nvPr/>
        </p:nvSpPr>
        <p:spPr>
          <a:xfrm>
            <a:off x="6018050" y="2780928"/>
            <a:ext cx="594066" cy="461665"/>
          </a:xfrm>
          <a:prstGeom prst="rect">
            <a:avLst/>
          </a:prstGeom>
          <a:noFill/>
        </p:spPr>
        <p:txBody>
          <a:bodyPr wrap="square" rtlCol="0">
            <a:spAutoFit/>
          </a:bodyPr>
          <a:lstStyle/>
          <a:p>
            <a:r>
              <a:rPr lang="en-US" altLang="zh-CN" sz="2400" dirty="0"/>
              <a:t>A</a:t>
            </a:r>
            <a:endParaRPr lang="en-US" sz="2400" dirty="0"/>
          </a:p>
        </p:txBody>
      </p:sp>
      <p:sp>
        <p:nvSpPr>
          <p:cNvPr id="7" name="TextBox 6">
            <a:extLst>
              <a:ext uri="{FF2B5EF4-FFF2-40B4-BE49-F238E27FC236}">
                <a16:creationId xmlns:a16="http://schemas.microsoft.com/office/drawing/2014/main" id="{22096701-A871-AE42-BF09-506D4362B9FD}"/>
              </a:ext>
            </a:extLst>
          </p:cNvPr>
          <p:cNvSpPr txBox="1"/>
          <p:nvPr/>
        </p:nvSpPr>
        <p:spPr>
          <a:xfrm>
            <a:off x="5423984" y="3983868"/>
            <a:ext cx="594066" cy="461665"/>
          </a:xfrm>
          <a:prstGeom prst="rect">
            <a:avLst/>
          </a:prstGeom>
          <a:noFill/>
        </p:spPr>
        <p:txBody>
          <a:bodyPr wrap="square" rtlCol="0">
            <a:spAutoFit/>
          </a:bodyPr>
          <a:lstStyle/>
          <a:p>
            <a:r>
              <a:rPr lang="en-US" altLang="zh-CN" sz="2400" dirty="0"/>
              <a:t>D</a:t>
            </a:r>
            <a:endParaRPr lang="en-US" sz="2400" dirty="0"/>
          </a:p>
        </p:txBody>
      </p:sp>
    </p:spTree>
    <p:extLst>
      <p:ext uri="{BB962C8B-B14F-4D97-AF65-F5344CB8AC3E}">
        <p14:creationId xmlns:p14="http://schemas.microsoft.com/office/powerpoint/2010/main" val="211359069"/>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linds(horizontal)">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linds(horizontal)">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72B8C62-184A-DA42-948C-2A3F78DB9F94}"/>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sp>
        <p:nvSpPr>
          <p:cNvPr id="3" name="Rectangle 2">
            <a:extLst>
              <a:ext uri="{FF2B5EF4-FFF2-40B4-BE49-F238E27FC236}">
                <a16:creationId xmlns:a16="http://schemas.microsoft.com/office/drawing/2014/main" id="{4AF26FCC-33D6-F64B-9FE6-4E6711BE9D73}"/>
              </a:ext>
            </a:extLst>
          </p:cNvPr>
          <p:cNvSpPr/>
          <p:nvPr/>
        </p:nvSpPr>
        <p:spPr>
          <a:xfrm>
            <a:off x="413538" y="1700808"/>
            <a:ext cx="8730462" cy="2862322"/>
          </a:xfrm>
          <a:prstGeom prst="rect">
            <a:avLst/>
          </a:prstGeom>
        </p:spPr>
        <p:txBody>
          <a:bodyPr wrap="square">
            <a:spAutoFit/>
          </a:bodyPr>
          <a:lstStyle/>
          <a:p>
            <a:r>
              <a:rPr lang="en-US" altLang="zh-CN" sz="1800" dirty="0"/>
              <a:t>6</a:t>
            </a:r>
            <a:r>
              <a:rPr lang="zh-TW" altLang="en-US" sz="1800" dirty="0"/>
              <a:t>、在段页式存储管理系统中</a:t>
            </a:r>
            <a:r>
              <a:rPr lang="en-US" altLang="zh-TW" sz="1800" dirty="0"/>
              <a:t>,</a:t>
            </a:r>
            <a:r>
              <a:rPr lang="zh-TW" altLang="en-US" sz="1800" dirty="0"/>
              <a:t>从逻辑地址到物理地址映射是通过（ </a:t>
            </a:r>
            <a:r>
              <a:rPr lang="zh-CN" altLang="en-US" sz="1800" dirty="0"/>
              <a:t>  </a:t>
            </a:r>
            <a:r>
              <a:rPr lang="zh-TW" altLang="en-US" sz="1800" dirty="0"/>
              <a:t>）实现的。</a:t>
            </a:r>
          </a:p>
          <a:p>
            <a:r>
              <a:rPr lang="en-US" altLang="zh-TW" sz="1800" dirty="0"/>
              <a:t>A</a:t>
            </a:r>
            <a:r>
              <a:rPr lang="zh-TW" altLang="en-US" sz="1800" dirty="0"/>
              <a:t>、 段表</a:t>
            </a:r>
            <a:r>
              <a:rPr lang="en-US" altLang="zh-TW" sz="1800" dirty="0"/>
              <a:t>			B</a:t>
            </a:r>
            <a:r>
              <a:rPr lang="zh-TW" altLang="en-US" sz="1800" dirty="0"/>
              <a:t>、 段表和页表结合</a:t>
            </a:r>
          </a:p>
          <a:p>
            <a:r>
              <a:rPr lang="en-US" altLang="zh-TW" sz="1800" dirty="0"/>
              <a:t>C</a:t>
            </a:r>
            <a:r>
              <a:rPr lang="zh-TW" altLang="en-US" sz="1800" dirty="0"/>
              <a:t>、 页表</a:t>
            </a:r>
            <a:r>
              <a:rPr lang="en-US" altLang="zh-TW" sz="1800" dirty="0"/>
              <a:t>			D</a:t>
            </a:r>
            <a:r>
              <a:rPr lang="zh-TW" altLang="en-US" sz="1800" dirty="0"/>
              <a:t>、 连续分区表</a:t>
            </a:r>
            <a:endParaRPr lang="en-US" altLang="zh-TW" sz="1800" dirty="0"/>
          </a:p>
          <a:p>
            <a:r>
              <a:rPr lang="en-US" altLang="zh-CN" sz="1800" dirty="0"/>
              <a:t>7</a:t>
            </a:r>
            <a:r>
              <a:rPr lang="zh-TW" altLang="en-US" sz="1800" dirty="0"/>
              <a:t>、下面最有可能使得高地址空间成为大的空闲区的分配算法是</a:t>
            </a:r>
            <a:r>
              <a:rPr lang="en-US" altLang="zh-TW" sz="1800" dirty="0"/>
              <a:t>(</a:t>
            </a:r>
            <a:r>
              <a:rPr lang="zh-CN" altLang="en-US" sz="1800" dirty="0"/>
              <a:t>    </a:t>
            </a:r>
            <a:r>
              <a:rPr lang="en-US" altLang="zh-TW" sz="1800" dirty="0"/>
              <a:t> )</a:t>
            </a:r>
            <a:r>
              <a:rPr lang="zh-TW" altLang="en-US" sz="1800" dirty="0"/>
              <a:t>。</a:t>
            </a:r>
          </a:p>
          <a:p>
            <a:r>
              <a:rPr lang="en-US" altLang="zh-TW" sz="1800" dirty="0"/>
              <a:t>A</a:t>
            </a:r>
            <a:r>
              <a:rPr lang="zh-TW" altLang="en-US" sz="1800" dirty="0"/>
              <a:t>、 首次适应法</a:t>
            </a:r>
            <a:r>
              <a:rPr lang="zh-CN" altLang="en-US" sz="1800" dirty="0"/>
              <a:t> </a:t>
            </a:r>
            <a:r>
              <a:rPr lang="en-US" altLang="zh-CN" sz="1800" dirty="0"/>
              <a:t>		</a:t>
            </a:r>
            <a:r>
              <a:rPr lang="en-US" altLang="zh-TW" sz="1800" dirty="0"/>
              <a:t>B</a:t>
            </a:r>
            <a:r>
              <a:rPr lang="zh-TW" altLang="en-US" sz="1800" dirty="0"/>
              <a:t>、 最佳适应法</a:t>
            </a:r>
            <a:r>
              <a:rPr lang="zh-CN" altLang="en-US" sz="1800" dirty="0"/>
              <a:t> </a:t>
            </a:r>
            <a:endParaRPr lang="en-US" altLang="zh-CN" sz="1800" dirty="0"/>
          </a:p>
          <a:p>
            <a:r>
              <a:rPr lang="en-US" altLang="zh-TW" sz="1800" dirty="0"/>
              <a:t>C</a:t>
            </a:r>
            <a:r>
              <a:rPr lang="zh-TW" altLang="en-US" sz="1800" dirty="0"/>
              <a:t>、 最坏适应法</a:t>
            </a:r>
            <a:r>
              <a:rPr lang="zh-CN" altLang="en-US" sz="1800" dirty="0"/>
              <a:t> </a:t>
            </a:r>
            <a:r>
              <a:rPr lang="en-US" altLang="zh-CN" sz="1800" dirty="0"/>
              <a:t>		</a:t>
            </a:r>
            <a:r>
              <a:rPr lang="en-US" altLang="zh-TW" sz="1800" dirty="0"/>
              <a:t>D</a:t>
            </a:r>
            <a:r>
              <a:rPr lang="zh-TW" altLang="en-US" sz="1800" dirty="0"/>
              <a:t>、 循环首次适应法</a:t>
            </a:r>
            <a:endParaRPr lang="en-US" altLang="zh-TW" sz="1800" dirty="0"/>
          </a:p>
          <a:p>
            <a:r>
              <a:rPr lang="en-US" altLang="zh-CN" sz="1800" dirty="0"/>
              <a:t>8</a:t>
            </a:r>
            <a:r>
              <a:rPr lang="zh-TW" altLang="en-US" sz="1800" dirty="0"/>
              <a:t>、某基于动态分区存储管理的计算机</a:t>
            </a:r>
            <a:r>
              <a:rPr lang="en-US" altLang="zh-TW" sz="1800" dirty="0"/>
              <a:t>,</a:t>
            </a:r>
            <a:r>
              <a:rPr lang="zh-TW" altLang="en-US" sz="1800" dirty="0"/>
              <a:t>其主存容量为</a:t>
            </a:r>
            <a:r>
              <a:rPr lang="en-US" altLang="zh-TW" sz="1800" dirty="0"/>
              <a:t>55 MB(</a:t>
            </a:r>
            <a:r>
              <a:rPr lang="zh-TW" altLang="en-US" sz="1800" dirty="0"/>
              <a:t>初始为空闲</a:t>
            </a:r>
            <a:r>
              <a:rPr lang="en-US" altLang="zh-TW" sz="1800" dirty="0"/>
              <a:t>),</a:t>
            </a:r>
            <a:r>
              <a:rPr lang="zh-TW" altLang="en-US" sz="1800" dirty="0"/>
              <a:t>采用最佳适配</a:t>
            </a:r>
            <a:r>
              <a:rPr lang="en-US" altLang="zh-TW" sz="1800" dirty="0"/>
              <a:t>(Best Fit)</a:t>
            </a:r>
            <a:r>
              <a:rPr lang="zh-TW" altLang="en-US" sz="1800" dirty="0"/>
              <a:t>算法</a:t>
            </a:r>
            <a:r>
              <a:rPr lang="en-US" altLang="zh-TW" sz="1800" dirty="0"/>
              <a:t>,</a:t>
            </a:r>
            <a:r>
              <a:rPr lang="zh-TW" altLang="en-US" sz="1800" dirty="0"/>
              <a:t>分配和释放的顺序为</a:t>
            </a:r>
            <a:r>
              <a:rPr lang="en-US" altLang="zh-TW" sz="1800" dirty="0"/>
              <a:t>:</a:t>
            </a:r>
            <a:r>
              <a:rPr lang="zh-TW" altLang="en-US" sz="1800" dirty="0"/>
              <a:t>分配</a:t>
            </a:r>
            <a:r>
              <a:rPr lang="en-US" altLang="zh-TW" sz="1800" dirty="0"/>
              <a:t>15 MB</a:t>
            </a:r>
            <a:r>
              <a:rPr lang="zh-TW" altLang="en-US" sz="1800" dirty="0"/>
              <a:t>、分配</a:t>
            </a:r>
            <a:r>
              <a:rPr lang="en-US" altLang="zh-TW" sz="1800" dirty="0"/>
              <a:t>30 MB</a:t>
            </a:r>
            <a:r>
              <a:rPr lang="zh-TW" altLang="en-US" sz="1800" dirty="0"/>
              <a:t>、释放</a:t>
            </a:r>
            <a:r>
              <a:rPr lang="en-US" altLang="zh-TW" sz="1800" dirty="0"/>
              <a:t>15 MB</a:t>
            </a:r>
            <a:r>
              <a:rPr lang="zh-TW" altLang="en-US" sz="1800" dirty="0"/>
              <a:t>、分配</a:t>
            </a:r>
            <a:r>
              <a:rPr lang="en-US" altLang="zh-TW" sz="1800" dirty="0"/>
              <a:t>8 MB</a:t>
            </a:r>
            <a:r>
              <a:rPr lang="zh-TW" altLang="en-US" sz="1800" dirty="0"/>
              <a:t>、分配</a:t>
            </a:r>
            <a:r>
              <a:rPr lang="en-US" altLang="zh-TW" sz="1800" dirty="0"/>
              <a:t>6 MB,</a:t>
            </a:r>
            <a:r>
              <a:rPr lang="zh-TW" altLang="en-US" sz="1800" dirty="0"/>
              <a:t>此时主存中最大空闲分区的大小是（ </a:t>
            </a:r>
            <a:r>
              <a:rPr lang="zh-CN" altLang="en-US" sz="1800" dirty="0"/>
              <a:t>  </a:t>
            </a:r>
            <a:r>
              <a:rPr lang="zh-TW" altLang="en-US" sz="1800" dirty="0"/>
              <a:t>）。</a:t>
            </a:r>
          </a:p>
          <a:p>
            <a:r>
              <a:rPr lang="en-US" altLang="zh-TW" sz="1800" dirty="0"/>
              <a:t>A</a:t>
            </a:r>
            <a:r>
              <a:rPr lang="zh-TW" altLang="en-US" sz="1800" dirty="0"/>
              <a:t>、 </a:t>
            </a:r>
            <a:r>
              <a:rPr lang="en-US" altLang="zh-TW" sz="1800" dirty="0"/>
              <a:t>7 MB	B</a:t>
            </a:r>
            <a:r>
              <a:rPr lang="zh-TW" altLang="en-US" sz="1800" dirty="0"/>
              <a:t>、 </a:t>
            </a:r>
            <a:r>
              <a:rPr lang="en-US" altLang="zh-TW" sz="1800" dirty="0"/>
              <a:t>9 MB	C</a:t>
            </a:r>
            <a:r>
              <a:rPr lang="zh-TW" altLang="en-US" sz="1800" dirty="0"/>
              <a:t>、 </a:t>
            </a:r>
            <a:r>
              <a:rPr lang="en-US" altLang="zh-TW" sz="1800" dirty="0"/>
              <a:t>10 MB	D</a:t>
            </a:r>
            <a:r>
              <a:rPr lang="zh-TW" altLang="en-US" sz="1800" dirty="0"/>
              <a:t>、 </a:t>
            </a:r>
            <a:r>
              <a:rPr lang="en-US" altLang="zh-TW" sz="1800" dirty="0"/>
              <a:t>15 MB</a:t>
            </a:r>
          </a:p>
        </p:txBody>
      </p:sp>
      <p:sp>
        <p:nvSpPr>
          <p:cNvPr id="4" name="TextBox 3">
            <a:extLst>
              <a:ext uri="{FF2B5EF4-FFF2-40B4-BE49-F238E27FC236}">
                <a16:creationId xmlns:a16="http://schemas.microsoft.com/office/drawing/2014/main" id="{8791EBDD-3B3B-D544-9D5F-D66166444F2B}"/>
              </a:ext>
            </a:extLst>
          </p:cNvPr>
          <p:cNvSpPr txBox="1"/>
          <p:nvPr/>
        </p:nvSpPr>
        <p:spPr>
          <a:xfrm>
            <a:off x="7067901" y="1700033"/>
            <a:ext cx="594066" cy="461665"/>
          </a:xfrm>
          <a:prstGeom prst="rect">
            <a:avLst/>
          </a:prstGeom>
          <a:noFill/>
        </p:spPr>
        <p:txBody>
          <a:bodyPr wrap="square" rtlCol="0">
            <a:spAutoFit/>
          </a:bodyPr>
          <a:lstStyle/>
          <a:p>
            <a:r>
              <a:rPr lang="en-US" altLang="zh-CN" sz="2400" dirty="0"/>
              <a:t>B</a:t>
            </a:r>
            <a:endParaRPr lang="en-US" sz="2400" dirty="0"/>
          </a:p>
        </p:txBody>
      </p:sp>
      <p:sp>
        <p:nvSpPr>
          <p:cNvPr id="5" name="TextBox 4">
            <a:extLst>
              <a:ext uri="{FF2B5EF4-FFF2-40B4-BE49-F238E27FC236}">
                <a16:creationId xmlns:a16="http://schemas.microsoft.com/office/drawing/2014/main" id="{360DAE5D-B7D6-5C4C-8515-E9399D3A5EB3}"/>
              </a:ext>
            </a:extLst>
          </p:cNvPr>
          <p:cNvSpPr txBox="1"/>
          <p:nvPr/>
        </p:nvSpPr>
        <p:spPr>
          <a:xfrm>
            <a:off x="7042150" y="2618910"/>
            <a:ext cx="594066" cy="461665"/>
          </a:xfrm>
          <a:prstGeom prst="rect">
            <a:avLst/>
          </a:prstGeom>
          <a:noFill/>
        </p:spPr>
        <p:txBody>
          <a:bodyPr wrap="square" rtlCol="0">
            <a:spAutoFit/>
          </a:bodyPr>
          <a:lstStyle/>
          <a:p>
            <a:r>
              <a:rPr lang="en-US" altLang="zh-CN" sz="2400" dirty="0"/>
              <a:t>A</a:t>
            </a:r>
            <a:endParaRPr lang="en-US" sz="2400" dirty="0"/>
          </a:p>
        </p:txBody>
      </p:sp>
      <p:sp>
        <p:nvSpPr>
          <p:cNvPr id="6" name="TextBox 5">
            <a:extLst>
              <a:ext uri="{FF2B5EF4-FFF2-40B4-BE49-F238E27FC236}">
                <a16:creationId xmlns:a16="http://schemas.microsoft.com/office/drawing/2014/main" id="{B105B5DD-5FC0-2A48-ACC5-500C8A44ECAA}"/>
              </a:ext>
            </a:extLst>
          </p:cNvPr>
          <p:cNvSpPr txBox="1"/>
          <p:nvPr/>
        </p:nvSpPr>
        <p:spPr>
          <a:xfrm>
            <a:off x="5652120" y="3861048"/>
            <a:ext cx="594066" cy="461665"/>
          </a:xfrm>
          <a:prstGeom prst="rect">
            <a:avLst/>
          </a:prstGeom>
          <a:noFill/>
        </p:spPr>
        <p:txBody>
          <a:bodyPr wrap="square" rtlCol="0">
            <a:spAutoFit/>
          </a:bodyPr>
          <a:lstStyle/>
          <a:p>
            <a:r>
              <a:rPr lang="en-US" altLang="zh-CN" sz="2400" dirty="0"/>
              <a:t>B</a:t>
            </a:r>
            <a:endParaRPr lang="en-US" sz="2400" dirty="0"/>
          </a:p>
        </p:txBody>
      </p:sp>
    </p:spTree>
    <p:extLst>
      <p:ext uri="{BB962C8B-B14F-4D97-AF65-F5344CB8AC3E}">
        <p14:creationId xmlns:p14="http://schemas.microsoft.com/office/powerpoint/2010/main" val="794427465"/>
      </p:ext>
    </p:extLst>
  </p:cSld>
  <p:clrMapOvr>
    <a:masterClrMapping/>
  </p:clrMapOvr>
  <p:transition>
    <p:rand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blinds(horizontal)">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blinds(horizontal)">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A92FAE8C-4D2E-064B-AC2E-F6C58B2915F1}"/>
              </a:ext>
            </a:extLst>
          </p:cNvPr>
          <p:cNvSpPr>
            <a:spLocks noGrp="1"/>
          </p:cNvSpPr>
          <p:nvPr>
            <p:ph idx="1"/>
          </p:nvPr>
        </p:nvSpPr>
        <p:spPr>
          <a:xfrm>
            <a:off x="214313" y="1989138"/>
            <a:ext cx="8281987" cy="4335462"/>
          </a:xfrm>
        </p:spPr>
        <p:txBody>
          <a:bodyPr/>
          <a:lstStyle/>
          <a:p>
            <a:pPr>
              <a:buFont typeface="Wingdings" pitchFamily="2" charset="2"/>
              <a:buNone/>
            </a:pPr>
            <a:r>
              <a:rPr lang="en-US" altLang="zh-CN">
                <a:solidFill>
                  <a:srgbClr val="FF0000"/>
                </a:solidFill>
                <a:effectLst/>
                <a:latin typeface="宋体" panose="02010600030101010101" pitchFamily="2" charset="-122"/>
              </a:rPr>
              <a:t>3. </a:t>
            </a:r>
          </a:p>
          <a:p>
            <a:pPr>
              <a:buFont typeface="Wingdings" pitchFamily="2" charset="2"/>
              <a:buNone/>
            </a:pPr>
            <a:r>
              <a:rPr lang="zh-CN" altLang="en-US">
                <a:solidFill>
                  <a:srgbClr val="FF0000"/>
                </a:solidFill>
                <a:effectLst/>
                <a:latin typeface="宋体" panose="02010600030101010101" pitchFamily="2" charset="-122"/>
              </a:rPr>
              <a:t>地址转换</a:t>
            </a:r>
          </a:p>
          <a:p>
            <a:endParaRPr lang="zh-CN" altLang="en-US"/>
          </a:p>
        </p:txBody>
      </p:sp>
      <p:pic>
        <p:nvPicPr>
          <p:cNvPr id="135171" name="Picture 4">
            <a:extLst>
              <a:ext uri="{FF2B5EF4-FFF2-40B4-BE49-F238E27FC236}">
                <a16:creationId xmlns:a16="http://schemas.microsoft.com/office/drawing/2014/main" id="{AD30CAFA-46A9-3249-BB16-987ADDC3EB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613" y="0"/>
            <a:ext cx="67691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D79B6A-BD49-8D49-BD31-97DF6172B820}"/>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D4DC1376-8BEC-504F-9877-0160EF1076DE}"/>
              </a:ext>
            </a:extLst>
          </p:cNvPr>
          <p:cNvPicPr>
            <a:picLocks noChangeAspect="1"/>
          </p:cNvPicPr>
          <p:nvPr/>
        </p:nvPicPr>
        <p:blipFill>
          <a:blip r:embed="rId2"/>
          <a:stretch>
            <a:fillRect/>
          </a:stretch>
        </p:blipFill>
        <p:spPr>
          <a:xfrm>
            <a:off x="7132" y="872970"/>
            <a:ext cx="9490067" cy="4878288"/>
          </a:xfrm>
          <a:prstGeom prst="rect">
            <a:avLst/>
          </a:prstGeom>
        </p:spPr>
      </p:pic>
    </p:spTree>
    <p:extLst>
      <p:ext uri="{BB962C8B-B14F-4D97-AF65-F5344CB8AC3E}">
        <p14:creationId xmlns:p14="http://schemas.microsoft.com/office/powerpoint/2010/main" val="3770095775"/>
      </p:ext>
    </p:extLst>
  </p:cSld>
  <p:clrMapOvr>
    <a:masterClrMapping/>
  </p:clrMapOvr>
  <p:transition>
    <p:random/>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774D00-E220-B741-A9E5-18A618AD8D84}"/>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AE72CC3F-B10F-1245-B904-770B8495221A}"/>
              </a:ext>
            </a:extLst>
          </p:cNvPr>
          <p:cNvPicPr>
            <a:picLocks noChangeAspect="1"/>
          </p:cNvPicPr>
          <p:nvPr/>
        </p:nvPicPr>
        <p:blipFill>
          <a:blip r:embed="rId2"/>
          <a:stretch>
            <a:fillRect/>
          </a:stretch>
        </p:blipFill>
        <p:spPr>
          <a:xfrm>
            <a:off x="1007604" y="857250"/>
            <a:ext cx="7183462" cy="5143500"/>
          </a:xfrm>
          <a:prstGeom prst="rect">
            <a:avLst/>
          </a:prstGeom>
        </p:spPr>
      </p:pic>
    </p:spTree>
    <p:extLst>
      <p:ext uri="{BB962C8B-B14F-4D97-AF65-F5344CB8AC3E}">
        <p14:creationId xmlns:p14="http://schemas.microsoft.com/office/powerpoint/2010/main" val="1570070981"/>
      </p:ext>
    </p:extLst>
  </p:cSld>
  <p:clrMapOvr>
    <a:masterClrMapping/>
  </p:clrMapOvr>
  <p:transition>
    <p:random/>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C23967-64E0-7942-8506-491C44F8A3AD}"/>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278D0347-6074-5D48-A157-92DB4E049B9C}"/>
              </a:ext>
            </a:extLst>
          </p:cNvPr>
          <p:cNvPicPr>
            <a:picLocks noChangeAspect="1"/>
          </p:cNvPicPr>
          <p:nvPr/>
        </p:nvPicPr>
        <p:blipFill>
          <a:blip r:embed="rId2"/>
          <a:stretch>
            <a:fillRect/>
          </a:stretch>
        </p:blipFill>
        <p:spPr>
          <a:xfrm>
            <a:off x="1277634" y="857250"/>
            <a:ext cx="6355320" cy="5143500"/>
          </a:xfrm>
          <a:prstGeom prst="rect">
            <a:avLst/>
          </a:prstGeom>
        </p:spPr>
      </p:pic>
    </p:spTree>
    <p:extLst>
      <p:ext uri="{BB962C8B-B14F-4D97-AF65-F5344CB8AC3E}">
        <p14:creationId xmlns:p14="http://schemas.microsoft.com/office/powerpoint/2010/main" val="907085853"/>
      </p:ext>
    </p:extLst>
  </p:cSld>
  <p:clrMapOvr>
    <a:masterClrMapping/>
  </p:clrMapOvr>
  <p:transition>
    <p:random/>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12B678F-FA38-2C4E-A19B-F0ED783D624B}"/>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772955F8-1F0F-464C-B97A-1458DF7E4EB1}"/>
              </a:ext>
            </a:extLst>
          </p:cNvPr>
          <p:cNvPicPr>
            <a:picLocks noChangeAspect="1"/>
          </p:cNvPicPr>
          <p:nvPr/>
        </p:nvPicPr>
        <p:blipFill>
          <a:blip r:embed="rId2"/>
          <a:stretch>
            <a:fillRect/>
          </a:stretch>
        </p:blipFill>
        <p:spPr>
          <a:xfrm>
            <a:off x="120113" y="1970838"/>
            <a:ext cx="8903774" cy="2660898"/>
          </a:xfrm>
          <a:prstGeom prst="rect">
            <a:avLst/>
          </a:prstGeom>
        </p:spPr>
      </p:pic>
    </p:spTree>
    <p:extLst>
      <p:ext uri="{BB962C8B-B14F-4D97-AF65-F5344CB8AC3E}">
        <p14:creationId xmlns:p14="http://schemas.microsoft.com/office/powerpoint/2010/main" val="3083143519"/>
      </p:ext>
    </p:extLst>
  </p:cSld>
  <p:clrMapOvr>
    <a:masterClrMapping/>
  </p:clrMapOvr>
  <p:transition>
    <p:random/>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0D413AC-4DCA-0A4A-85F0-FD20C9C1D636}"/>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sp>
        <p:nvSpPr>
          <p:cNvPr id="3" name="TextBox 2">
            <a:extLst>
              <a:ext uri="{FF2B5EF4-FFF2-40B4-BE49-F238E27FC236}">
                <a16:creationId xmlns:a16="http://schemas.microsoft.com/office/drawing/2014/main" id="{307E8DF9-D18A-3E41-94AB-BF0613EB67A1}"/>
              </a:ext>
            </a:extLst>
          </p:cNvPr>
          <p:cNvSpPr txBox="1"/>
          <p:nvPr/>
        </p:nvSpPr>
        <p:spPr>
          <a:xfrm>
            <a:off x="143508" y="1754815"/>
            <a:ext cx="8856984" cy="4616648"/>
          </a:xfrm>
          <a:prstGeom prst="rect">
            <a:avLst/>
          </a:prstGeom>
          <a:noFill/>
        </p:spPr>
        <p:txBody>
          <a:bodyPr wrap="square" rtlCol="0">
            <a:spAutoFit/>
          </a:bodyPr>
          <a:lstStyle/>
          <a:p>
            <a:r>
              <a:rPr lang="zh-TW" altLang="en-US" sz="2100" dirty="0"/>
              <a:t>已知某分页系统，主存容量为</a:t>
            </a:r>
            <a:r>
              <a:rPr lang="en-US" altLang="zh-TW" sz="2100" dirty="0"/>
              <a:t>64</a:t>
            </a:r>
            <a:r>
              <a:rPr lang="en-US" sz="2100" dirty="0"/>
              <a:t>K，</a:t>
            </a:r>
            <a:r>
              <a:rPr lang="zh-TW" altLang="en-US" sz="2100" dirty="0"/>
              <a:t>页面大小为</a:t>
            </a:r>
            <a:r>
              <a:rPr lang="en-US" altLang="zh-TW" sz="2100" dirty="0"/>
              <a:t>1</a:t>
            </a:r>
            <a:r>
              <a:rPr lang="en-US" sz="2100" dirty="0"/>
              <a:t>K，</a:t>
            </a:r>
            <a:r>
              <a:rPr lang="zh-TW" altLang="en-US" sz="2100" dirty="0"/>
              <a:t>对一个</a:t>
            </a:r>
            <a:r>
              <a:rPr lang="en-US" altLang="zh-TW" sz="2100" dirty="0"/>
              <a:t>4</a:t>
            </a:r>
            <a:r>
              <a:rPr lang="zh-TW" altLang="en-US" sz="2100" dirty="0"/>
              <a:t>页大的作业，其</a:t>
            </a:r>
            <a:r>
              <a:rPr lang="en-US" altLang="zh-TW" sz="2100" dirty="0"/>
              <a:t>0</a:t>
            </a:r>
            <a:r>
              <a:rPr lang="zh-TW" altLang="en-US" sz="2100" dirty="0"/>
              <a:t>、</a:t>
            </a:r>
            <a:r>
              <a:rPr lang="en-US" altLang="zh-TW" sz="2100" dirty="0"/>
              <a:t>1</a:t>
            </a:r>
            <a:r>
              <a:rPr lang="zh-TW" altLang="en-US" sz="2100" dirty="0"/>
              <a:t>、</a:t>
            </a:r>
            <a:r>
              <a:rPr lang="en-US" altLang="zh-TW" sz="2100" dirty="0"/>
              <a:t>2</a:t>
            </a:r>
            <a:r>
              <a:rPr lang="zh-TW" altLang="en-US" sz="2100" dirty="0"/>
              <a:t>、</a:t>
            </a:r>
            <a:r>
              <a:rPr lang="en-US" altLang="zh-TW" sz="2100" dirty="0"/>
              <a:t>3</a:t>
            </a:r>
            <a:r>
              <a:rPr lang="zh-TW" altLang="en-US" sz="2100" dirty="0"/>
              <a:t>页分别被分配到主存的</a:t>
            </a:r>
            <a:r>
              <a:rPr lang="en-US" altLang="zh-TW" sz="2100" dirty="0"/>
              <a:t>2</a:t>
            </a:r>
            <a:r>
              <a:rPr lang="zh-TW" altLang="en-US" sz="2100" dirty="0"/>
              <a:t>、</a:t>
            </a:r>
            <a:r>
              <a:rPr lang="en-US" altLang="zh-TW" sz="2100" dirty="0"/>
              <a:t>4</a:t>
            </a:r>
            <a:r>
              <a:rPr lang="zh-TW" altLang="en-US" sz="2100" dirty="0"/>
              <a:t>、</a:t>
            </a:r>
            <a:r>
              <a:rPr lang="en-US" altLang="zh-TW" sz="2100" dirty="0"/>
              <a:t>6</a:t>
            </a:r>
            <a:r>
              <a:rPr lang="zh-TW" altLang="en-US" sz="2100" dirty="0"/>
              <a:t>、</a:t>
            </a:r>
            <a:r>
              <a:rPr lang="en-US" altLang="zh-TW" sz="2100" dirty="0"/>
              <a:t>7</a:t>
            </a:r>
            <a:r>
              <a:rPr lang="zh-TW" altLang="en-US" sz="2100" dirty="0"/>
              <a:t>块中，将十进制的逻辑地址</a:t>
            </a:r>
            <a:r>
              <a:rPr lang="en-US" altLang="zh-TW" sz="2100" dirty="0"/>
              <a:t>1023</a:t>
            </a:r>
            <a:r>
              <a:rPr lang="zh-TW" altLang="en-US" sz="2100" dirty="0"/>
              <a:t>、</a:t>
            </a:r>
            <a:r>
              <a:rPr lang="en-US" altLang="zh-TW" sz="2100" dirty="0"/>
              <a:t>2500</a:t>
            </a:r>
            <a:r>
              <a:rPr lang="zh-TW" altLang="en-US" sz="2100" dirty="0"/>
              <a:t>、</a:t>
            </a:r>
            <a:r>
              <a:rPr lang="en-US" altLang="zh-TW" sz="2100" dirty="0"/>
              <a:t>3500</a:t>
            </a:r>
            <a:r>
              <a:rPr lang="zh-TW" altLang="en-US" sz="2100" dirty="0"/>
              <a:t>、</a:t>
            </a:r>
            <a:r>
              <a:rPr lang="en-US" altLang="zh-TW" sz="2100" dirty="0"/>
              <a:t>4500</a:t>
            </a:r>
            <a:r>
              <a:rPr lang="zh-TW" altLang="en-US" sz="2100" dirty="0"/>
              <a:t>转换物理地址。</a:t>
            </a:r>
            <a:endParaRPr lang="en-US" altLang="zh-TW" sz="2100" dirty="0"/>
          </a:p>
          <a:p>
            <a:r>
              <a:rPr lang="zh-TW" altLang="en-US" sz="2100" dirty="0"/>
              <a:t>答：（</a:t>
            </a:r>
            <a:r>
              <a:rPr lang="en-US" altLang="zh-TW" sz="2100" dirty="0"/>
              <a:t>1</a:t>
            </a:r>
            <a:r>
              <a:rPr lang="zh-TW" altLang="en-US" sz="2100" dirty="0"/>
              <a:t>）逻辑地址为</a:t>
            </a:r>
            <a:r>
              <a:rPr lang="en-US" altLang="zh-TW" sz="2100" dirty="0"/>
              <a:t>1023</a:t>
            </a:r>
            <a:r>
              <a:rPr lang="zh-TW" altLang="en-US" sz="2100" dirty="0"/>
              <a:t>，则它所在的页号为</a:t>
            </a:r>
            <a:r>
              <a:rPr lang="en-US" altLang="zh-TW" sz="2100" dirty="0"/>
              <a:t>1023/1</a:t>
            </a:r>
            <a:r>
              <a:rPr lang="en-US" sz="2100" dirty="0"/>
              <a:t>K=0,</a:t>
            </a:r>
            <a:r>
              <a:rPr lang="zh-TW" altLang="en-US" sz="2100" dirty="0"/>
              <a:t>它的偏移量为</a:t>
            </a:r>
            <a:r>
              <a:rPr lang="en-US" altLang="zh-TW" sz="2100" dirty="0"/>
              <a:t>1023</a:t>
            </a:r>
            <a:r>
              <a:rPr lang="en-US" sz="2100" dirty="0"/>
              <a:t>MOD1K=1023,</a:t>
            </a:r>
            <a:r>
              <a:rPr lang="zh-TW" altLang="en-US" sz="2100" dirty="0"/>
              <a:t>所以它对应的主存块为</a:t>
            </a:r>
            <a:r>
              <a:rPr lang="en-US" altLang="zh-TW" sz="2100" dirty="0"/>
              <a:t>2</a:t>
            </a:r>
            <a:r>
              <a:rPr lang="zh-TW" altLang="en-US" sz="2100" dirty="0"/>
              <a:t>号块，物理地址为</a:t>
            </a:r>
            <a:r>
              <a:rPr lang="en-US" altLang="zh-TW" sz="2100" dirty="0"/>
              <a:t>2×1</a:t>
            </a:r>
            <a:r>
              <a:rPr lang="en-US" sz="2100" dirty="0"/>
              <a:t>K+1023=3071</a:t>
            </a:r>
          </a:p>
          <a:p>
            <a:r>
              <a:rPr lang="en-US" sz="2100" dirty="0"/>
              <a:t>（2）</a:t>
            </a:r>
            <a:r>
              <a:rPr lang="zh-TW" altLang="en-US" sz="2100" dirty="0"/>
              <a:t>逻辑地址为</a:t>
            </a:r>
            <a:r>
              <a:rPr lang="en-US" altLang="zh-TW" sz="2100" dirty="0"/>
              <a:t>2500</a:t>
            </a:r>
            <a:r>
              <a:rPr lang="zh-TW" altLang="en-US" sz="2100" dirty="0"/>
              <a:t>，则它所在的页号为</a:t>
            </a:r>
            <a:r>
              <a:rPr lang="en-US" altLang="zh-TW" sz="2100" dirty="0"/>
              <a:t>2500/1</a:t>
            </a:r>
            <a:r>
              <a:rPr lang="en-US" sz="2100" dirty="0"/>
              <a:t>K=2,</a:t>
            </a:r>
            <a:r>
              <a:rPr lang="zh-TW" altLang="en-US" sz="2100" dirty="0"/>
              <a:t>它的偏移量为</a:t>
            </a:r>
            <a:r>
              <a:rPr lang="en-US" altLang="zh-TW" sz="2100" dirty="0"/>
              <a:t>2500</a:t>
            </a:r>
            <a:r>
              <a:rPr lang="en-US" sz="2100" dirty="0"/>
              <a:t>MOD1K=452,</a:t>
            </a:r>
            <a:r>
              <a:rPr lang="zh-TW" altLang="en-US" sz="2100" dirty="0"/>
              <a:t>所以它对应的主存块为</a:t>
            </a:r>
            <a:r>
              <a:rPr lang="en-US" altLang="zh-TW" sz="2100" dirty="0"/>
              <a:t>6</a:t>
            </a:r>
            <a:r>
              <a:rPr lang="zh-TW" altLang="en-US" sz="2100" dirty="0"/>
              <a:t>号块，物理地址为</a:t>
            </a:r>
            <a:r>
              <a:rPr lang="en-US" altLang="zh-TW" sz="2100" dirty="0"/>
              <a:t>6×1</a:t>
            </a:r>
            <a:r>
              <a:rPr lang="en-US" sz="2100" dirty="0"/>
              <a:t>K+452=6596</a:t>
            </a:r>
          </a:p>
          <a:p>
            <a:r>
              <a:rPr lang="en-US" sz="2100" dirty="0"/>
              <a:t>（3）</a:t>
            </a:r>
            <a:r>
              <a:rPr lang="zh-TW" altLang="en-US" sz="2100" dirty="0"/>
              <a:t>逻辑地址为</a:t>
            </a:r>
            <a:r>
              <a:rPr lang="en-US" altLang="zh-TW" sz="2100" dirty="0"/>
              <a:t>3500</a:t>
            </a:r>
            <a:r>
              <a:rPr lang="zh-TW" altLang="en-US" sz="2100" dirty="0"/>
              <a:t>，则它所在的页号为</a:t>
            </a:r>
            <a:r>
              <a:rPr lang="en-US" altLang="zh-TW" sz="2100" dirty="0"/>
              <a:t>3500/1</a:t>
            </a:r>
            <a:r>
              <a:rPr lang="en-US" sz="2100" dirty="0"/>
              <a:t>K=3,</a:t>
            </a:r>
            <a:r>
              <a:rPr lang="zh-TW" altLang="en-US" sz="2100" dirty="0"/>
              <a:t>它的偏移量为</a:t>
            </a:r>
            <a:r>
              <a:rPr lang="en-US" altLang="zh-TW" sz="2100" dirty="0"/>
              <a:t>3500</a:t>
            </a:r>
            <a:r>
              <a:rPr lang="en-US" sz="2100" dirty="0"/>
              <a:t>MOD1K=428,</a:t>
            </a:r>
            <a:r>
              <a:rPr lang="zh-TW" altLang="en-US" sz="2100" dirty="0"/>
              <a:t>所以它对应的主存块为</a:t>
            </a:r>
            <a:r>
              <a:rPr lang="en-US" altLang="zh-TW" sz="2100" dirty="0"/>
              <a:t>7</a:t>
            </a:r>
            <a:r>
              <a:rPr lang="zh-TW" altLang="en-US" sz="2100" dirty="0"/>
              <a:t>号块，物理地址为</a:t>
            </a:r>
            <a:r>
              <a:rPr lang="en-US" altLang="zh-TW" sz="2100" dirty="0"/>
              <a:t>7×1</a:t>
            </a:r>
            <a:r>
              <a:rPr lang="en-US" sz="2100" dirty="0"/>
              <a:t>K+428=7596</a:t>
            </a:r>
          </a:p>
          <a:p>
            <a:r>
              <a:rPr lang="en-US" sz="2100" dirty="0"/>
              <a:t>（4）</a:t>
            </a:r>
            <a:r>
              <a:rPr lang="zh-TW" altLang="en-US" sz="2100" dirty="0"/>
              <a:t>逻辑地址为</a:t>
            </a:r>
            <a:r>
              <a:rPr lang="en-US" altLang="zh-TW" sz="2100" dirty="0"/>
              <a:t>4500</a:t>
            </a:r>
            <a:r>
              <a:rPr lang="zh-TW" altLang="en-US" sz="2100" dirty="0"/>
              <a:t>，则它所在的页号为</a:t>
            </a:r>
            <a:r>
              <a:rPr lang="en-US" altLang="zh-TW" sz="2100" dirty="0"/>
              <a:t>4500/1</a:t>
            </a:r>
            <a:r>
              <a:rPr lang="en-US" sz="2100" dirty="0"/>
              <a:t>K=4，</a:t>
            </a:r>
            <a:r>
              <a:rPr lang="zh-TW" altLang="en-US" sz="2100" dirty="0"/>
              <a:t>不存在此页号。所以是越界中断，</a:t>
            </a:r>
            <a:r>
              <a:rPr lang="en-US" altLang="zh-TW" sz="2100" dirty="0"/>
              <a:t>4500</a:t>
            </a:r>
            <a:r>
              <a:rPr lang="zh-TW" altLang="en-US" sz="2100" dirty="0"/>
              <a:t>这个逻辑地址有误，超过了此进程的最大页</a:t>
            </a:r>
            <a:endParaRPr lang="en-US" sz="2100" dirty="0"/>
          </a:p>
        </p:txBody>
      </p:sp>
    </p:spTree>
    <p:extLst>
      <p:ext uri="{BB962C8B-B14F-4D97-AF65-F5344CB8AC3E}">
        <p14:creationId xmlns:p14="http://schemas.microsoft.com/office/powerpoint/2010/main" val="2980220219"/>
      </p:ext>
    </p:extLst>
  </p:cSld>
  <p:clrMapOvr>
    <a:masterClrMapping/>
  </p:clrMapOvr>
  <p:transition>
    <p:random/>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7954A6-3801-2244-B23A-A207B2CAEC95}"/>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EBC8EBA4-269A-DD42-A745-01C5A7467C73}"/>
              </a:ext>
            </a:extLst>
          </p:cNvPr>
          <p:cNvPicPr>
            <a:picLocks noChangeAspect="1"/>
          </p:cNvPicPr>
          <p:nvPr/>
        </p:nvPicPr>
        <p:blipFill>
          <a:blip r:embed="rId2"/>
          <a:stretch>
            <a:fillRect/>
          </a:stretch>
        </p:blipFill>
        <p:spPr>
          <a:xfrm>
            <a:off x="136795" y="1269914"/>
            <a:ext cx="8870411" cy="4270065"/>
          </a:xfrm>
          <a:prstGeom prst="rect">
            <a:avLst/>
          </a:prstGeom>
        </p:spPr>
      </p:pic>
    </p:spTree>
    <p:extLst>
      <p:ext uri="{BB962C8B-B14F-4D97-AF65-F5344CB8AC3E}">
        <p14:creationId xmlns:p14="http://schemas.microsoft.com/office/powerpoint/2010/main" val="4186220624"/>
      </p:ext>
    </p:extLst>
  </p:cSld>
  <p:clrMapOvr>
    <a:masterClrMapping/>
  </p:clrMapOvr>
  <p:transition>
    <p:random/>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B897E6-B600-6541-BAD2-8852AFCF434A}"/>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BC58C7D0-D5B6-444E-9D4C-48BD40DE7970}"/>
              </a:ext>
            </a:extLst>
          </p:cNvPr>
          <p:cNvPicPr>
            <a:picLocks noChangeAspect="1"/>
          </p:cNvPicPr>
          <p:nvPr/>
        </p:nvPicPr>
        <p:blipFill>
          <a:blip r:embed="rId2"/>
          <a:stretch>
            <a:fillRect/>
          </a:stretch>
        </p:blipFill>
        <p:spPr>
          <a:xfrm>
            <a:off x="823913" y="909638"/>
            <a:ext cx="7496175" cy="5038725"/>
          </a:xfrm>
          <a:prstGeom prst="rect">
            <a:avLst/>
          </a:prstGeom>
        </p:spPr>
      </p:pic>
    </p:spTree>
    <p:extLst>
      <p:ext uri="{BB962C8B-B14F-4D97-AF65-F5344CB8AC3E}">
        <p14:creationId xmlns:p14="http://schemas.microsoft.com/office/powerpoint/2010/main" val="3301315258"/>
      </p:ext>
    </p:extLst>
  </p:cSld>
  <p:clrMapOvr>
    <a:masterClrMapping/>
  </p:clrMapOvr>
  <p:transition>
    <p:random/>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EB3F569-01DE-2647-A79A-95EBD53D3987}"/>
              </a:ext>
            </a:extLst>
          </p:cNvPr>
          <p:cNvSpPr>
            <a:spLocks noGrp="1"/>
          </p:cNvSpPr>
          <p:nvPr>
            <p:ph type="sldNum" sz="quarter" idx="12"/>
          </p:nvPr>
        </p:nvSpPr>
        <p:spPr bwMode="auto">
          <a:xfrm>
            <a:off x="9389533" y="6243638"/>
            <a:ext cx="2540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spcBef>
                <a:spcPct val="0"/>
              </a:spcBef>
              <a:spcAft>
                <a:spcPct val="0"/>
              </a:spcAft>
              <a:defRPr kumimoji="0" sz="1400" kern="1200">
                <a:solidFill>
                  <a:schemeClr val="tx1"/>
                </a:solidFill>
                <a:latin typeface="Tahoma" panose="020B0604030504040204" pitchFamily="34" charset="0"/>
                <a:ea typeface="宋体" panose="02010600030101010101" pitchFamily="2" charset="-122"/>
                <a:cs typeface="+mn-cs"/>
              </a:defRPr>
            </a:lvl1pPr>
            <a:lvl2pPr marL="4572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2pPr>
            <a:lvl3pPr marL="9144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3pPr>
            <a:lvl4pPr marL="13716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4pPr>
            <a:lvl5pPr marL="1828800" algn="l" rtl="0" fontAlgn="base">
              <a:spcBef>
                <a:spcPct val="20000"/>
              </a:spcBef>
              <a:spcAft>
                <a:spcPct val="0"/>
              </a:spcAft>
              <a:defRPr kumimoji="1" sz="800"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kumimoji="1" sz="800" kern="1200">
                <a:solidFill>
                  <a:schemeClr val="tx1"/>
                </a:solidFill>
                <a:latin typeface="宋体" panose="02010600030101010101" pitchFamily="2" charset="-122"/>
                <a:ea typeface="宋体" panose="02010600030101010101" pitchFamily="2" charset="-122"/>
                <a:cs typeface="+mn-cs"/>
              </a:defRPr>
            </a:lvl9pPr>
          </a:lstStyle>
          <a:p>
            <a:fld id="{0EC01821-FBC1-0943-A98A-47205D9EC5A4}" type="slidenum">
              <a:rPr lang="zh-CN" altLang="en-US" smtClean="0"/>
              <a:pPr/>
              <a:t>‹#›</a:t>
            </a:fld>
            <a:endParaRPr lang="en-US" altLang="zh-CN"/>
          </a:p>
        </p:txBody>
      </p:sp>
      <p:pic>
        <p:nvPicPr>
          <p:cNvPr id="3" name="Picture 2">
            <a:extLst>
              <a:ext uri="{FF2B5EF4-FFF2-40B4-BE49-F238E27FC236}">
                <a16:creationId xmlns:a16="http://schemas.microsoft.com/office/drawing/2014/main" id="{CA577A1B-A24C-8642-AD61-823FA4DAC457}"/>
              </a:ext>
            </a:extLst>
          </p:cNvPr>
          <p:cNvPicPr>
            <a:picLocks noChangeAspect="1"/>
          </p:cNvPicPr>
          <p:nvPr/>
        </p:nvPicPr>
        <p:blipFill>
          <a:blip r:embed="rId2"/>
          <a:stretch>
            <a:fillRect/>
          </a:stretch>
        </p:blipFill>
        <p:spPr>
          <a:xfrm>
            <a:off x="413538" y="964826"/>
            <a:ext cx="8613320" cy="4786432"/>
          </a:xfrm>
          <a:prstGeom prst="rect">
            <a:avLst/>
          </a:prstGeom>
        </p:spPr>
      </p:pic>
    </p:spTree>
    <p:extLst>
      <p:ext uri="{BB962C8B-B14F-4D97-AF65-F5344CB8AC3E}">
        <p14:creationId xmlns:p14="http://schemas.microsoft.com/office/powerpoint/2010/main" val="1288721532"/>
      </p:ext>
    </p:extLst>
  </p:cSld>
  <p:clrMapOvr>
    <a:masterClrMapping/>
  </p:clrMapOvr>
  <p:transition>
    <p:random/>
  </p:transition>
</p:sld>
</file>

<file path=ppt/theme/theme1.xml><?xml version="1.0" encoding="utf-8"?>
<a:theme xmlns:a="http://schemas.openxmlformats.org/drawingml/2006/main" name="06_neo_3d_circle">
  <a:themeElements>
    <a:clrScheme name="06_neo_3d_circle 3">
      <a:dk1>
        <a:srgbClr val="000000"/>
      </a:dk1>
      <a:lt1>
        <a:srgbClr val="FFFFFF"/>
      </a:lt1>
      <a:dk2>
        <a:srgbClr val="FFFFFF"/>
      </a:dk2>
      <a:lt2>
        <a:srgbClr val="DDDDDD"/>
      </a:lt2>
      <a:accent1>
        <a:srgbClr val="0099FF"/>
      </a:accent1>
      <a:accent2>
        <a:srgbClr val="003E68"/>
      </a:accent2>
      <a:accent3>
        <a:srgbClr val="FFFFFF"/>
      </a:accent3>
      <a:accent4>
        <a:srgbClr val="000000"/>
      </a:accent4>
      <a:accent5>
        <a:srgbClr val="AACAFF"/>
      </a:accent5>
      <a:accent6>
        <a:srgbClr val="00375E"/>
      </a:accent6>
      <a:hlink>
        <a:srgbClr val="83CDFF"/>
      </a:hlink>
      <a:folHlink>
        <a:srgbClr val="878FA5"/>
      </a:folHlink>
    </a:clrScheme>
    <a:fontScheme name="06_neo_3d_circle">
      <a:majorFont>
        <a:latin typeface="Verdana"/>
        <a:ea typeface="宋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1">
          <a:gsLst>
            <a:gs pos="0">
              <a:srgbClr val="8DF5CD">
                <a:gamma/>
                <a:shade val="89020"/>
                <a:invGamma/>
              </a:srgbClr>
            </a:gs>
            <a:gs pos="100000">
              <a:srgbClr val="8DF5CD"/>
            </a:gs>
          </a:gsLst>
          <a:path path="rect">
            <a:fillToRect l="50000" t="50000" r="50000" b="50000"/>
          </a:path>
        </a:gradFill>
        <a:ln w="25400" cap="flat" cmpd="sng" algn="ctr">
          <a:solidFill>
            <a:schemeClr val="bg1"/>
          </a:solidFill>
          <a:prstDash val="solid"/>
          <a:round/>
          <a:headEnd type="none" w="med" len="med"/>
          <a:tailEnd type="none" w="med" len="med"/>
        </a:ln>
        <a:effectLst/>
      </a:spPr>
      <a:bodyPr vert="horz" wrap="square" lIns="91433" tIns="45716" rIns="91433" bIns="45716"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2000" b="1" i="0" u="none" strike="noStrike" cap="none" normalizeH="0" baseline="0" smtClean="0">
            <a:ln>
              <a:noFill/>
            </a:ln>
            <a:solidFill>
              <a:schemeClr val="tx1"/>
            </a:solidFill>
            <a:effectLst/>
            <a:latin typeface="宋体" pitchFamily="2" charset="-122"/>
            <a:ea typeface="宋体" pitchFamily="2" charset="-122"/>
          </a:defRPr>
        </a:defPPr>
      </a:lstStyle>
    </a:spDef>
    <a:lnDef>
      <a:spPr bwMode="auto">
        <a:xfrm>
          <a:off x="0" y="0"/>
          <a:ext cx="1" cy="1"/>
        </a:xfrm>
        <a:custGeom>
          <a:avLst/>
          <a:gdLst/>
          <a:ahLst/>
          <a:cxnLst/>
          <a:rect l="0" t="0" r="0" b="0"/>
          <a:pathLst/>
        </a:custGeom>
        <a:gradFill rotWithShape="1">
          <a:gsLst>
            <a:gs pos="0">
              <a:srgbClr val="8DF5CD">
                <a:gamma/>
                <a:shade val="89020"/>
                <a:invGamma/>
              </a:srgbClr>
            </a:gs>
            <a:gs pos="100000">
              <a:srgbClr val="8DF5CD"/>
            </a:gs>
          </a:gsLst>
          <a:path path="rect">
            <a:fillToRect l="50000" t="50000" r="50000" b="50000"/>
          </a:path>
        </a:gradFill>
        <a:ln w="25400" cap="flat" cmpd="sng" algn="ctr">
          <a:solidFill>
            <a:schemeClr val="bg1"/>
          </a:solidFill>
          <a:prstDash val="solid"/>
          <a:round/>
          <a:headEnd type="none" w="med" len="med"/>
          <a:tailEnd type="none" w="med" len="med"/>
        </a:ln>
        <a:effectLst/>
      </a:spPr>
      <a:bodyPr vert="horz" wrap="square" lIns="91433" tIns="45716" rIns="91433" bIns="45716"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2000" b="1" i="0" u="none" strike="noStrike" cap="none" normalizeH="0" baseline="0" smtClean="0">
            <a:ln>
              <a:noFill/>
            </a:ln>
            <a:solidFill>
              <a:schemeClr val="tx1"/>
            </a:solidFill>
            <a:effectLst/>
            <a:latin typeface="宋体" pitchFamily="2" charset="-122"/>
            <a:ea typeface="宋体" pitchFamily="2" charset="-122"/>
          </a:defRPr>
        </a:defPPr>
      </a:lstStyle>
    </a:lnDef>
  </a:objectDefaults>
  <a:extraClrSchemeLst>
    <a:extraClrScheme>
      <a:clrScheme name="06_neo_3d_circle 1">
        <a:dk1>
          <a:srgbClr val="000000"/>
        </a:dk1>
        <a:lt1>
          <a:srgbClr val="FFFFFF"/>
        </a:lt1>
        <a:dk2>
          <a:srgbClr val="FFFFFF"/>
        </a:dk2>
        <a:lt2>
          <a:srgbClr val="DDDDDD"/>
        </a:lt2>
        <a:accent1>
          <a:srgbClr val="CC9900"/>
        </a:accent1>
        <a:accent2>
          <a:srgbClr val="684D00"/>
        </a:accent2>
        <a:accent3>
          <a:srgbClr val="FFFFFF"/>
        </a:accent3>
        <a:accent4>
          <a:srgbClr val="000000"/>
        </a:accent4>
        <a:accent5>
          <a:srgbClr val="E2CAAA"/>
        </a:accent5>
        <a:accent6>
          <a:srgbClr val="5E4500"/>
        </a:accent6>
        <a:hlink>
          <a:srgbClr val="FFD765"/>
        </a:hlink>
        <a:folHlink>
          <a:srgbClr val="878FA5"/>
        </a:folHlink>
      </a:clrScheme>
      <a:clrMap bg1="lt1" tx1="dk1" bg2="lt2" tx2="dk2" accent1="accent1" accent2="accent2" accent3="accent3" accent4="accent4" accent5="accent5" accent6="accent6" hlink="hlink" folHlink="folHlink"/>
    </a:extraClrScheme>
    <a:extraClrScheme>
      <a:clrScheme name="06_neo_3d_circle 2">
        <a:dk1>
          <a:srgbClr val="000000"/>
        </a:dk1>
        <a:lt1>
          <a:srgbClr val="FFFFFF"/>
        </a:lt1>
        <a:dk2>
          <a:srgbClr val="FFFFFF"/>
        </a:dk2>
        <a:lt2>
          <a:srgbClr val="DDDDDD"/>
        </a:lt2>
        <a:accent1>
          <a:srgbClr val="9933FF"/>
        </a:accent1>
        <a:accent2>
          <a:srgbClr val="36006C"/>
        </a:accent2>
        <a:accent3>
          <a:srgbClr val="FFFFFF"/>
        </a:accent3>
        <a:accent4>
          <a:srgbClr val="000000"/>
        </a:accent4>
        <a:accent5>
          <a:srgbClr val="CAADFF"/>
        </a:accent5>
        <a:accent6>
          <a:srgbClr val="300061"/>
        </a:accent6>
        <a:hlink>
          <a:srgbClr val="C387FF"/>
        </a:hlink>
        <a:folHlink>
          <a:srgbClr val="878FA5"/>
        </a:folHlink>
      </a:clrScheme>
      <a:clrMap bg1="lt1" tx1="dk1" bg2="lt2" tx2="dk2" accent1="accent1" accent2="accent2" accent3="accent3" accent4="accent4" accent5="accent5" accent6="accent6" hlink="hlink" folHlink="folHlink"/>
    </a:extraClrScheme>
    <a:extraClrScheme>
      <a:clrScheme name="06_neo_3d_circle 3">
        <a:dk1>
          <a:srgbClr val="000000"/>
        </a:dk1>
        <a:lt1>
          <a:srgbClr val="FFFFFF"/>
        </a:lt1>
        <a:dk2>
          <a:srgbClr val="FFFFFF"/>
        </a:dk2>
        <a:lt2>
          <a:srgbClr val="DDDDDD"/>
        </a:lt2>
        <a:accent1>
          <a:srgbClr val="0099FF"/>
        </a:accent1>
        <a:accent2>
          <a:srgbClr val="003E68"/>
        </a:accent2>
        <a:accent3>
          <a:srgbClr val="FFFFFF"/>
        </a:accent3>
        <a:accent4>
          <a:srgbClr val="000000"/>
        </a:accent4>
        <a:accent5>
          <a:srgbClr val="AACAFF"/>
        </a:accent5>
        <a:accent6>
          <a:srgbClr val="00375E"/>
        </a:accent6>
        <a:hlink>
          <a:srgbClr val="83CDFF"/>
        </a:hlink>
        <a:folHlink>
          <a:srgbClr val="878FA5"/>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OS</Template>
  <TotalTime>6358</TotalTime>
  <Words>25497</Words>
  <Application>Microsoft Macintosh PowerPoint</Application>
  <PresentationFormat>On-screen Show (4:3)</PresentationFormat>
  <Paragraphs>1885</Paragraphs>
  <Slides>193</Slides>
  <Notes>1</Notes>
  <HiddenSlides>0</HiddenSlides>
  <MMClips>0</MMClips>
  <ScaleCrop>false</ScaleCrop>
  <HeadingPairs>
    <vt:vector size="6" baseType="variant">
      <vt:variant>
        <vt:lpstr>Fonts Used</vt:lpstr>
      </vt:variant>
      <vt:variant>
        <vt:i4>22</vt:i4>
      </vt:variant>
      <vt:variant>
        <vt:lpstr>Theme</vt:lpstr>
      </vt:variant>
      <vt:variant>
        <vt:i4>1</vt:i4>
      </vt:variant>
      <vt:variant>
        <vt:lpstr>Slide Titles</vt:lpstr>
      </vt:variant>
      <vt:variant>
        <vt:i4>193</vt:i4>
      </vt:variant>
    </vt:vector>
  </HeadingPairs>
  <TitlesOfParts>
    <vt:vector size="216" baseType="lpstr">
      <vt:lpstr>等线</vt:lpstr>
      <vt:lpstr>Microsoft YaHei</vt:lpstr>
      <vt:lpstr>Microsoft YaHei</vt:lpstr>
      <vt:lpstr>黑体</vt:lpstr>
      <vt:lpstr>宋体</vt:lpstr>
      <vt:lpstr>宋体</vt:lpstr>
      <vt:lpstr>华文行楷</vt:lpstr>
      <vt:lpstr>华文新魏</vt:lpstr>
      <vt:lpstr>华文中宋</vt:lpstr>
      <vt:lpstr>幼圆</vt:lpstr>
      <vt:lpstr>方正小标宋_GBK</vt:lpstr>
      <vt:lpstr>方正正粗黑简体</vt:lpstr>
      <vt:lpstr>方正粗黑宋简体</vt:lpstr>
      <vt:lpstr>Arial</vt:lpstr>
      <vt:lpstr>Arial Black</vt:lpstr>
      <vt:lpstr>Arial Narrow</vt:lpstr>
      <vt:lpstr>Calibri</vt:lpstr>
      <vt:lpstr>Monotype Sorts</vt:lpstr>
      <vt:lpstr>Tahoma</vt:lpstr>
      <vt:lpstr>Times New Roman</vt:lpstr>
      <vt:lpstr>Verdana</vt:lpstr>
      <vt:lpstr>Wingdings</vt:lpstr>
      <vt:lpstr>06_neo_3d_circle</vt:lpstr>
      <vt:lpstr>第4章 存储管理</vt:lpstr>
      <vt:lpstr>什么是内存？有何作用？</vt:lpstr>
      <vt:lpstr>什么是内存？有何作用？</vt:lpstr>
      <vt:lpstr>第4章 存储管理</vt:lpstr>
      <vt:lpstr>第4章 存储管理</vt:lpstr>
      <vt:lpstr>第4章 存储管理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单一连续分区存储管理</vt:lpstr>
      <vt:lpstr>  单一连续分区存储管理</vt:lpstr>
      <vt:lpstr>  单一连续分区存储管理</vt:lpstr>
      <vt:lpstr>PowerPoint Presentation</vt:lpstr>
      <vt:lpstr>  单一连续分区存储管理</vt:lpstr>
      <vt:lpstr>  单一连续分区存储管理</vt:lpstr>
      <vt:lpstr>  单一连续分区存储管理</vt:lpstr>
      <vt:lpstr>PowerPoint Presentation</vt:lpstr>
      <vt:lpstr>PowerPoint Presentation</vt:lpstr>
      <vt:lpstr>PowerPoint Presentation</vt:lpstr>
      <vt:lpstr>  固定分区存储管理</vt:lpstr>
      <vt:lpstr>  固定分区存储管理</vt:lpstr>
      <vt:lpstr>PowerPoint Presentation</vt:lpstr>
      <vt:lpstr>PowerPoint Presentation</vt:lpstr>
      <vt:lpstr>  固定分区存储管理</vt:lpstr>
      <vt:lpstr>  固定分区存储管理</vt:lpstr>
      <vt:lpstr>   固定分区存储管理</vt:lpstr>
      <vt:lpstr>PowerPoint Presentation</vt:lpstr>
      <vt:lpstr>PowerPoint Presentation</vt:lpstr>
      <vt:lpstr>PowerPoint Presentation</vt:lpstr>
      <vt:lpstr>  固定分区存储管理</vt:lpstr>
      <vt:lpstr>  固定分区存储管理</vt:lpstr>
      <vt:lpstr>PowerPoint Presentation</vt:lpstr>
      <vt:lpstr>   固定分区存储管理</vt:lpstr>
      <vt:lpstr>PowerPoint Presentation</vt:lpstr>
      <vt:lpstr>PowerPoint Presentation</vt:lpstr>
      <vt:lpstr>  可变分区存储管理</vt:lpstr>
      <vt:lpstr>PowerPoint Presentation</vt:lpstr>
      <vt:lpstr>PowerPoint Presentation</vt:lpstr>
      <vt:lpstr>PowerPoint Presentation</vt:lpstr>
      <vt:lpstr>PowerPoint Presentation</vt:lpstr>
      <vt:lpstr>  可变分区存储管理</vt:lpstr>
      <vt:lpstr>PowerPoint Presentation</vt:lpstr>
      <vt:lpstr>  可变分区存储管理</vt:lpstr>
      <vt:lpstr>PowerPoint Presentation</vt:lpstr>
      <vt:lpstr>  可变分区存储管理</vt:lpstr>
      <vt:lpstr>  可变分区存储管理</vt:lpstr>
      <vt:lpstr>PowerPoint Presentation</vt:lpstr>
      <vt:lpstr>PowerPoint Presentation</vt:lpstr>
      <vt:lpstr>  可变分区存储管理</vt:lpstr>
      <vt:lpstr>  可变分区存储管理</vt:lpstr>
      <vt:lpstr>PowerPoint Presentation</vt:lpstr>
      <vt:lpstr>  可变分区存储管理</vt:lpstr>
      <vt:lpstr>PowerPoint Presentation</vt:lpstr>
      <vt:lpstr>   可变分区存储管理</vt:lpstr>
      <vt:lpstr>PowerPoint Presentation</vt:lpstr>
      <vt:lpstr>PowerPoint Presentation</vt:lpstr>
      <vt:lpstr>  可变分区存储管理</vt:lpstr>
      <vt:lpstr>PowerPoint Presentation</vt:lpstr>
      <vt:lpstr>  可变分区存储管理</vt:lpstr>
      <vt:lpstr>  固定分区存储管理</vt:lpstr>
      <vt:lpstr>PowerPoint Presentation</vt:lpstr>
      <vt:lpstr>PowerPoint Presentation</vt:lpstr>
      <vt:lpstr>PowerPoint Presentation</vt:lpstr>
      <vt:lpstr>  覆盖与交换技术</vt:lpstr>
      <vt:lpstr>  覆盖与交换技术</vt:lpstr>
      <vt:lpstr>PowerPoint Presentation</vt:lpstr>
      <vt:lpstr>PowerPoint Presentation</vt:lpstr>
      <vt:lpstr>PowerPoint Presentation</vt:lpstr>
      <vt:lpstr>  分页存储管理的基本原理</vt:lpstr>
      <vt:lpstr>  分页存储管理的基本原理</vt:lpstr>
      <vt:lpstr>PowerPoint Presentation</vt:lpstr>
      <vt:lpstr>分页存储管理的地址转换与存储保护</vt:lpstr>
      <vt:lpstr>PowerPoint Presentation</vt:lpstr>
      <vt:lpstr>分页存储管理的地址转换与存储保护</vt:lpstr>
      <vt:lpstr>分页存储管理的地址转换与存储保护</vt:lpstr>
      <vt:lpstr> 分页存储管理的地址转换与存储保护</vt:lpstr>
      <vt:lpstr> 分页存储管理的地址转换与存储保护</vt:lpstr>
      <vt:lpstr>PowerPoint Presentation</vt:lpstr>
      <vt:lpstr>  两级页表和多级页表</vt:lpstr>
      <vt:lpstr>  两级页表和多级页表</vt:lpstr>
      <vt:lpstr>  两级页表和多级页表</vt:lpstr>
      <vt:lpstr>  两级页表和多级页表</vt:lpstr>
      <vt:lpstr>PowerPoint Presentation</vt:lpstr>
      <vt:lpstr>  内存物理块的分配与回收</vt:lpstr>
      <vt:lpstr>PowerPoint Presentation</vt:lpstr>
      <vt:lpstr>PowerPoint Presentation</vt:lpstr>
      <vt:lpstr>   分段存储管理的基本原理</vt:lpstr>
      <vt:lpstr>  分段存储管理的基本原理</vt:lpstr>
      <vt:lpstr>PowerPoint Presentation</vt:lpstr>
      <vt:lpstr>PowerPoint Presentation</vt:lpstr>
      <vt:lpstr>  地址转换与存储保护</vt:lpstr>
      <vt:lpstr>  地址转换与存储保护</vt:lpstr>
      <vt:lpstr>  地址转换与存储保护</vt:lpstr>
      <vt:lpstr>  地址转换与存储保护</vt:lpstr>
      <vt:lpstr>PowerPoint Presentation</vt:lpstr>
      <vt:lpstr>PowerPoint Presentation</vt:lpstr>
      <vt:lpstr>PowerPoint Presentation</vt:lpstr>
      <vt:lpstr>PowerPoint Presentation</vt:lpstr>
      <vt:lpstr>PowerPoint Presentation</vt:lpstr>
      <vt:lpstr>PowerPoint Presentation</vt:lpstr>
      <vt:lpstr>  段页式存储管理的基本原理</vt:lpstr>
      <vt:lpstr>PowerPoint Presentation</vt:lpstr>
      <vt:lpstr> 段页式存储管理的地址转换与特点</vt:lpstr>
      <vt:lpstr>  段页式存储管理的地址转换与特点</vt:lpstr>
      <vt:lpstr>  段页式存储管理的地址转换与特点</vt:lpstr>
      <vt:lpstr>  段页式存储管理的地址转换与特点</vt:lpstr>
      <vt:lpstr>PowerPoint Presentation</vt:lpstr>
      <vt:lpstr>PowerPoint Presentation</vt:lpstr>
      <vt:lpstr>PowerPoint Presentation</vt:lpstr>
      <vt:lpstr>   虚拟存储器的概念</vt:lpstr>
      <vt:lpstr>   虚拟存储器的概念</vt:lpstr>
      <vt:lpstr>PowerPoint Presentation</vt:lpstr>
      <vt:lpstr>  请求分页存储管理</vt:lpstr>
      <vt:lpstr>  请求分页存储管理</vt:lpstr>
      <vt:lpstr>请求分页存储管理</vt:lpstr>
      <vt:lpstr>  请求分页存储管理</vt:lpstr>
      <vt:lpstr>  请求分页存储管理</vt:lpstr>
      <vt:lpstr>  请求分页存储管理</vt:lpstr>
      <vt:lpstr>  请求分页存储管理</vt:lpstr>
      <vt:lpstr>  请求分页存储管理</vt:lpstr>
      <vt:lpstr>  请求分页存储管理</vt:lpstr>
      <vt:lpstr>  请求分页存储管理</vt:lpstr>
      <vt:lpstr>  请求分页存储管理</vt:lpstr>
      <vt:lpstr>   请求分页存储管理</vt:lpstr>
      <vt:lpstr>  请求分页存储管理</vt:lpstr>
      <vt:lpstr>  请求分页存储管理</vt:lpstr>
      <vt:lpstr>PowerPoint Presentation</vt:lpstr>
      <vt:lpstr>PowerPoint Presentation</vt:lpstr>
      <vt:lpstr>PowerPoint Presentation</vt:lpstr>
      <vt:lpstr>PowerPoint Presentation</vt:lpstr>
      <vt:lpstr> 请求分段存储管理</vt:lpstr>
      <vt:lpstr> 请求分段存储管理</vt:lpstr>
      <vt:lpstr> 请求分段存储管理</vt:lpstr>
      <vt:lpstr> 请求分段存储管理</vt:lpstr>
      <vt:lpstr> 请求分段存储管理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操作系统原理教程</dc:title>
  <dc:creator>微软用户</dc:creator>
  <cp:lastModifiedBy>Microsoft Office User</cp:lastModifiedBy>
  <cp:revision>268</cp:revision>
  <dcterms:created xsi:type="dcterms:W3CDTF">2014-06-03T00:32:21Z</dcterms:created>
  <dcterms:modified xsi:type="dcterms:W3CDTF">2026-10-13T04:50:15Z</dcterms:modified>
</cp:coreProperties>
</file>